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제5회 기아 PBV 아이디어 공모전 일반 부문에 PV5 GroundWatch, PV5 지하안전 순찰차를 제안합니다. 저희 팀 이름은 한 명이라도 살릴 수 있다면입니다. 같은 길을 반복해서 보고, 구멍이 되기 전의 변화를 찾는 것이 이 제안의 전부입니다. 표지는 새벽 서울 도로를 순찰하는 PV5와 도로 아래 GPR 탐사를 표현한 연출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2025년 3월 24일 저녁, 서울 강동구 명일동의 평범한 도로가 약 1~2분 만에 길이 22m, 폭 18m, 깊이 16m로 무너졌습니다. 오토바이 운전자 한 분이 숨지고 차량 운전자 한 분이 다쳤습니다(국토교통부 사고조사 결과 발표 2025.12.3, https://www.korea.kr/briefing/policyBriefingView.do?newsId=156732996 — 원문 "약 1~2분 후 만에 길이 22m, 폭 18m, 깊이 16m 규모로 땅꺼짐이 급속하게 확대"). 그보다 7개월 앞선 2024년 8월 29일 서대문구 연희동 성산로에서도 가로 6m, 세로 4m, 깊이 2.5m 땅꺼짐에 차량이 빠져 조수석의 70대 동승자가 숨졌습니다. 이 도로는 그해 5월 GPR 탐사에서 공동이 없었습니다(아시아경제 2024.8.30 https://view.asiae.co.kr/article/2024083008514160198, 세계일보 2025.9.25 https://www.segye.com/newsView/20250925503464). 붕괴는 갑자기 보였지만 위험은 지하에서 먼저 시작됐습니다. 오른쪽은 실제 명일동 일대 지도(© OpenStreetMap contributors)에 보도된 사고 지점을 표시한 것입니다.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땅꺼짐은 깊이에 따라 막는 방법이 다릅니다. 전국 지반침하 867건(2020~2024) 가운데 394건, 45.4%가 하수관 손상 때문이었습니다(국토교통부 통계, 한경비즈니스 2025.4.15 https://magazine.hankyung.com/business/article/202504151399b). 하수관이 새면 흙이 쓸려 나가 공동이 먼저 생기고, 공동이 자라는 동안 도로 표면은 멀쩡해 보입니다. 이 얕은 공동은 차량형 GPR(탐사 깊이 약 2m)로 함몰 전에 찾을 수 있습니다. 반면 명일동 사고는 심층풍화대에서 불연속면 3개가 교차해 만든 쐐기형 토체가 미끄러진 심부 붕괴였고, 터널 공사로 지하수위가 약 3m에서 26m까지 낮아진 것과 노후 하수관 누수, 지보 성능 한계가 간접 원인이었습니다(국토교통부 사조위, 2025.12.3). 이런 깊은 붕괴는 지표 GPR로 확인하기 어렵고 공사장 계측과 지반조사가 맡습니다. 그래서 GroundWatch는 명일동 사고를 막을 수 있었다고 말하지 않습니다. 반대로 깊이 2.5m였던 연희동 같은 얕은 함몰이 우리의 대상입니다. 우리의 대상은 원인 1위인 얕은 공동이고, 한 번의 탐사가 아니라 회차 사이의 변화로 찾습니다. 단면도는 원리 설명용 도식이며 깊이 비례가 아닙니다.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서울시는 이미 체계를 갖추고 있습니다. 차량형 GPR이 한 번 지나가며 폭 약 2.4~3m를 탐사하고, 2014년부터 2025년 9월까지 누적 33,129km를 탐사해 공동 7,760개를 찾았습니다(메트로신문 2025.10.19 https://www.metroseoul.co.kr/article/20251019500165). 2026년에는 16,423km를 탐사하고 GPR 인력을 9명에서 19명으로 늘리며, 장비는 차량형 6대·전동형 1대·핸드형 3대입니다(머니투데이 2026.3.23 https://www.mt.co.kr/estate/2026/03/23/2026032311394354905). 누적 실적을 나누면 약 4.3km마다 공동 하나가 나왔습니다. 서울시는 2025년 4월 공동탐사 정기점검 주기를 5년에서 1년으로 줄였습니다(이투데이 2025.4.23 https://www.etoday.co.kr/news/view/2464676). 법정 주기(지하안전법상 지하시설물관리자의 GPR 공동조사)는 5년에 1회 이상입니다. 그런데 2024년 연희동 성산로는 5월 7일부터 16일까지 정기 GPR 탐사에서 공동이 발견되지 않았고, 8월 29일 도로가 함몰됐습니다(뉴시스 2024.8.30 https://www.newsis.com/view/NISX20240830_0002869815). 탐사의 실패가 아니라 한 시점의 결과는 그 시점만 말해 준다는 뜻입니다. GroundWatch는 기존 GPR을 대체하지 않고, 측정과 측정 사이의 시간과 현장 업무를 연결합니다. 서울시 차량탑재형 GPR 소개는 https://news.seoul.go.kr/safe/archives/41339 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반복 주행하며 GPR과 카메라 데이터를 함께 모으고, 위치·깊이·시간 기준으로 4D 지도에 저장합니다. AI가 이전 회차와 달라진 곳을 고르면 전문가가 원시 데이터를 보고 승인하고, 승인된 지점만 다음 순찰에서 AR 글래스와 수동 GPR로 다시 확인합니다. 필요하면 관계기관 승인과 교통통제 후 천공·내시경으로 최종 확인합니다. 확인과 보수 결과는 다시 지도에 저장돼 다음 순찰과 AI 검증에 쓰입니다. AI는 검토 순서를 정할 뿐 공동을 확정하지 않습니다. B-scan 비교 화면은 설명용 예시입니다.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PV5는 탐사 장비를 싣고, 켜고, 고정하고, 여러 대에 복제하는 구조를 차량과 기아 순정 액세서리로 제공합니다. 카고룸은 4,420L이고 롱레인지 3도어의 최대 적재는 600kg입니다(기아 국내 제원 https://www.kia.com/kr/vehicles/pv5-cargo/specification). 실내·실외 V2L로 GPR 제어부와 엣지 PC를 상시 구동하고 AR 글래스와 수동 GPR을 현장에서 충전합니다. V2L 최대 출력 3.6kW는 해외(독일·호주) 공개 제원이며 국내 공식 kW 수치는 확인 중입니다. L-Track과 몰리 패널은 기아 순정 액세서리(선택 사양)로, 장비를 회차마다 같은 위치에 고정해 반복 측정 환경을 유지하는 데 씁니다. 플렉시블 바디는 표준 차체에 모듈을 조합하는 방식으로(현대차그룹 PV5 테크 데이 2025.7.23), GPR 탐사 키트도 같은 방식으로 표준화하는 것이 저희 제안입니다. 두 번째 사진은 PV5 실내 사진(Alexander Migl, CC BY-SA 4.0)의 디스플레이에 장비 전원 화면을 합성한 예시로, 장비별 전력 합계 1.2kW와 배터리 86%에서 30% 하한까지 약 12시간 운용은 주행 약 2kWh/h와 장비 1.2kW를 가정한 값입니다. 1·3번은 장비 배치도 확대(콘셉트), 4번은 PV5 카고 실차 사진(Alexander Migl, CC BY-SA 4.0)입니다.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화물실 전방에는 Edge Gateway와 엣지 AI 컴퓨터, GPR 제어장치를, 측면에는 수동 GPR과 AR 글래스, RTK 이동국을, 후방에는 내시경과 안전 장비를 둡니다. 롱 카고룸은 2,255×1,565×1,520mm, 적재고는 419mm입니다. 차량형 다채널 GPR은 두 가지 장착안을 검토합니다. 배치도처럼 후륜 주변 차체 하부에 다는 하부형과, 표지처럼 뒷범퍼 뒤 프레임에 다는 후방 장착형입니다. PV5는 앞뒤 바퀴 사이 바닥 아래에 배터리 팩이 있으므로 지상고와 배터리 팩·구동계 간섭을 시험해 하나로 확정합니다. 적재·전력 예산은 가설입니다. 장비 합계 약 300kg으로 최대 적재 600kg의 절반, 장비 소비전력 1.5kW 이하로 V2L 최대 출력(해외 제원 3.6kW) 안, 하루 3시간·시속 10km 순찰(약 30km)과 장비 전력을 합쳐 약 10kWh로 배터리 71.2kWh의 약 14%입니다. 수동 GPR 카트 무게는 GSSI UtilityScan Pro 브로셔의 60~75lb(약 27~34kg, 카트에 따라 다름)를 참고했습니다. 총중량·축하중·전자파 간섭·구조변경 승인은 실증이 필요합니다. 배치도는 PV5 기반 콘셉트 이미지입니다.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 업무는 클라우드, PV5 Patrol 앱, Edge Gateway, AR 글래스, 수동 GPR로 이어집니다. 차량 앱은 업무와 경로를, 게이트웨이는 센서 동기화와 로컬 통신을, AR 글래스는 현장 위치 정합과 탐사 안내를 맡습니다. 이렇게 나누면 차량 API 접근이 일부 막혀도 GPR과 AR 기능 전체가 멈추지 않습니다. AR 글래스는 차량 화면의 단순 미러링이 아니라 보안 Wi-Fi로 작업 데이터만 주고받습니다. 현장은 2인 1조로, 한 명은 운전과 주변 교통 확인·안전통제를, 한 명은 GPR·AR 글래스와 현장 판독을 맡습니다. 태블릿이 아니라 AR 글래스인 이유는 수동 GPR을 두 손으로 밀어야 하기 때문입니다. 장비는 RealWear Navigator 520(제조사 판매가 US$3,750)급 산업용 헤드셋을 기준으로 하며, 2024년 단종된 HoloLens 2는 쓰지 않습니다. AR 글래스는 차량이 정차한 뒤 차 밖의 작업자만 쓰고, 맨홀·차선·경계석·RTK 중 두세 가지로 위치를 맞춘 뒤 공동의 모양이 아니라 수동 GPR로 다시 볼 범위만 표시합니다. 화면의 AI 신뢰도는 검토 우선순위를 위한 값이고, 현장에 표시되는 지점은 전문가가 승인한 지점입니다. PV5는 Android Automotive OS 기반 PBV 전용 인포테인먼트와 Pleos App Market을 지원하며, 앱 배포와 차량 데이터 접근은 기아 PBV 파트너 승인과 공식 API 범위 확인이 필요합니다(https://eu-www.kia.com/uk/pbv/solutions/software/). 도로 장면은 연출 이미지이고 화면 수치는 예시이며, 실내 사진은 Alexander Migl(CC BY-SA 4.0)에 화면을 합성했습니다.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현대차그룹 전기 상용차는 용도가 나뉘어 있습니다. 스타리아 일렉트릭 카고는 승합 기반 밴, ST1은 물류 특화 카고, 포터II·봉고III EV는 1톤 트럭입니다. 탐사·판독·재검증을 한 차에서 하려면 밀폐 공간, 장비 전원, 장비 고정, 그리고 같은 사양으로 여러 대를 만드는 컨버전 체계가 필요하고, 이 용도에 맞는 차가 PV5 카고입니다. 가격은 PV5 카고 롱 베이직 롱레인지 4,520만 원(기아 가격표 2026.10.1), 스타리아 일렉트릭 카고 3인승 5,792만 원(2026.4.23 출시), ST1 카고 스타일 5,874만 원(2025.7.16)이고, 1회 충전은 377km, 387km, 317km(현대차그룹 뉴스룸), 217km(포터·봉고 2025년형)입니다. 다만 차값 차이는 최대 1,354만 원인데 차량형 GPR은 대당 2억~8억 원이라(시사저널 2025.4.25, 경기도청 인용), 저희는 가격으로 고르지 않았다고 밝힙니다. PV5는 국내 특장 파트너 10개사, 3D CAD와 기술 가이드를 주는 PBV 컨버전 포털, 12V 전력 연결 블록과 PIM을 기본 제공합니다(오토뷰 2026 https://www.autoview.co.kr/ko-kr/articles/98843). 불리한 점으로 주행거리가 스타리아보다 10km 짧고 전폭이 포터·봉고보다 155mm 넓지만, 하루 약 30km 순찰이라는 가설에서는 충분합니다.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반복 탐사가 의미 있다는 근거는 일본 국토교통성 위탁연구(도쿄대 桑野玲子 교수 대표, 지오서치 참여, 2018~2020)입니다. 실제 도로 모니터링에서 지하 1.64m에 묻힌 합류식 하수관(Φ800) 위의 공동이 급격히 자란 것을 확인해 굴착 조사했고, 하수관 내부 카메라로는 보이지 않는 경미한 손상도 공동의 원인이 될 수 있었습니다. 연구진은 토사 유출 조건이 갖춰지면 종래 생각보다 단기간에 공동이 성장할 가능성을 보고했습니다(개요 https://www.mlit.go.jp/road/tech/hyouka/r1/30-5_gaiyou.pdf). 성장 속도의 정량화는 과제로 남아 있습니다(https://www.mlit.go.jp/road/tech/jigo/r03/pdf/houkokusyo30-5.pdf). 회차 간 3D GPR 정합 기법은 Ling et al., Remote Sensing 14(7):1593(2022)을 참고합니다. 먼저 실증할 것은 전자파 간섭, 회차별 위치 정합, AI 탐지율과 오탐률(계절별 함수비 변화 보정 포함), 야간 AR 위치 오차입니다. 인허가로는 도로 영상의 개인정보보호법 제25조의2(이동형 영상정보처리기기, 2023.9.15 시행)에 따라 차량 외부에 촬영 사실을 표시하고, GPR 전파 적합성평가와 장비 장착의 튜닝 승인 해당 여부는 사업화 전에 국립전파연구원과 한국교통안전공단에 확인하며, 장착은 기아 공식 컨버전 파트너를 거칩니다.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실증은 네 단계로 넓힙니다. 폐쇄 시험장에서 장착 구조와 전력, 전자파 간섭, 통신 누락을 확인해 차량형 측정이 가능한지 판정하고, 공동 모사체가 있는 통제 구간을 같은 속도와 경로로 반복 측정해 회차 비교가 가능한지 봅니다. 이후 지자체와 조사기업이 고른 실제 위험구간에서 기존 전문 장비, 전문가 판독, 천공 결과와 비교해 효용을 입증하고 실증서를 받습니다. 마지막으로 새벽 순찰 시간과 재확인부터 현장 도착까지 걸린 시간, AR 보정 성공률, 재방문 감소량을 측정해 연간 관제 계약으로 넘어갑니다. 정량 목표치는 파일럿 설계 때 발주기관과 확정하며 지금은 임의 수치를 제시하지 않습니다.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대의 순찰차로 지하철 공사구간과 노후 하수관 주변 파일럿을 시작해, 자치구 단위 정기 순찰, 여러 대의 PV5가 권역을 나누는 플릿 운영, 하수관·굴착공사·지하수·강우·보수 이력과의 데이터 결합, 계약기관이 쓰는 4D 도시 지하 변화지도로 넓힙니다. 위험도가 높은 구간일수록 순찰 주기를 짧게 잡으며, 지도의 주기는 예시로 발주기관과 합의해 정합니다. 서울시도 명일동 사고 이후 공사장 탐사를 월 1회, 대형 굴착 구간을 주 1회로 강화했습니다(머니투데이 2026.3.23). 지하 데이터는 판매하지 않고 계약기관 내부의 접근제어형 관제 서비스로만 제공합니다. 지도 데이터는 OpenStreetMap contributors이며 지하공간 데이터 표준 OGC MUDDI(https://www.ogc.org/standards/muddi/)를 참고합니다.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기아에게는 PV5 컨버전 플릿 판매와 Pleos 앱 마켓의 공공 업무 앱이라는 기회가 생깁니다. 첫 고객은 이미 GPR 용역을 발주하는 서울 자치구로, 2026년 강동구 노면하부공동탐사 연간단가 용역의 배정예산이 1.6억 원, 도봉구 GPR 정기점검 용역 공고 금액이 2억 1,604만 원입니다(나라장터, 산군 재게시). 첫 계약은 기존 GPR 조사기관과 공동 수행하고, 가격은 첫 해 기존 용역 단가 수준에서 시작하고, 연간 관제는 관리 구간 km와 재확인 건수 기준으로 산정합니다(가설). 지하정보는 제3자에게 판매하지 않습니다.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시장은 지자체가 관리하는 도로 96,712km(전국 116,775km의 83%, e-나라지표 2025.12)와 226개 시·군·구입니다. 정부 지반탐사는 2024년 2,308km에서 2026년 11,380km로 약 5배 늘고 2028년 15,000km가 계획돼 있으며(머니투데이 2025.12.23), 2026년 국비는 국토안전관리원 GPR 13대→32대 87억 원과 지자체 지원 44억 원입니다(뉴스서울 2025.12.3). 차량 1대의 연간 비용은 가설로, PV5 4,520만 원과 차량형 GPR 2억~5억 원(경기도청 인용 대당 2억~8억, 서울시 3대 15억 원)을 5년 감가하고 2인 1조 인건비 1억 원, 수동 GPR·AR·분석·유지 0.3억 원을 더해 약 1.8~2.4억 원입니다. 수입 근거는 자치구 연간 GPR 용역 발주 규모 1.6억~2.2억 원(강동구·도봉구 2026)이므로, 차량 1대가 자치구 2곳을 맡으면 약 3.2~4.3억 원으로 비용을 넘고 3곳이면 4.8~6.5억 원입니다. 하루 30km, 연 220일이면 6,600km라 서울 자치구 평균 도로(약 334km) 3곳, 약 1,000km를 연 6회 반복할 수 있습니다. 기아에는 장비 포함 대당 2억 원 이상의 고부가 컨버전 PV5와 공공 반복 수요, Pleos 공공 업무 앱 레퍼런스가 생깁니다. 인건비·유지비·주행 가정은 파일럿에서 확정합니다.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새 예산을 만들지 않고 지자체가 이미 쓰는 GPR 탐사 예산에서 시작합니다. 2026년 지자체 GPR 탐사 용역은 보령 4,558만 원, 안양 8,522만 원, 용인 기흥구 1억 7,736만 원에 낙찰됐습니다(나라장터 개찰 결과, 2026.5~6). 경기도는 2025년 9월 16개 시·군 1,080km 탐사를 21.6억 원(국비·도비·시군비)으로 지원했는데, 장비를 사지 않고 용역으로 수행합니다(헤럴드경제 2025.9.7 https://www.heraldk.com/article/2025090714512710835). 2025년 4월 기준 경기도와 31개 시·군은 GPR을 한 대도 보유하지 않았습니다(시사저널 2025.4.25). 0~1년차에는 테스트베드서울 2.0(과제당 최대 2억 원, 서울시장 명의 실증확인서, https://news.seoul.go.kr/economy/archives/571787)으로 공사구간 1곳을 기존 조사기관과 공동 실증하고, 1~2년차에는 시·군 탐사 용역에 컨소시엄으로 참여해 1회 탐사를 반복 탐사로 바꾸자고 제안합니다. 2~3년차에는 조달청 혁신제품 지정을 신청해 최대 6년 수의계약 길을 열고 자치구 연간 반복관제 계약으로 전환하며, 3년차 이후 GPR이 없는 시·군의 운영 대행과 도시철도·상하수도 기관, 광역지자체 PV5 플릿 구매로 넓힙니다. 단계별 기간은 목표이며 가설입니다.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조사 결과가 시점별 파일로 남고, 변화 구간을 사람이 다시 찾아야 하고, 현장에서 과거 위치를 찾기 어려웠던 문제를 같은 경로의 데이터 누적, AI 후보 선별과 전문가 승인, RTK와 기준점 기반 AR 검색 범위로 바꿉니다. 각 변화는 비교 가능한 도로 비율, 검토시간, 재확인 소요시간, 위치 오차 같은 지표로 확인합니다. GroundWatch의 가치는 지도를 만드는 데서 끝나지 않고, 한 번의 측정을 다음 판단과 현장 행동으로 연결하는 데 있습니다. 한 번의 조기 발견이 한 사람의 무사 귀가가 되도록, PV5 GroundWatch를 제안합니다. 감사합니다. 사진은 Alexander Migl(CC BY-SA 4.0)의 PV5 실차 사진을 편집했습니다.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4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4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3c6e490630558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5bc060d85d3377.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0845049425906c7.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07f31730e47894.jpg"/>
  <Relationship Id="rId3" Type="http://schemas.openxmlformats.org/officeDocument/2006/relationships/image" Target="../media/image_2c16b89a98ad91c5.png"/>
  <Relationship Id="rId4" Type="http://schemas.openxmlformats.org/officeDocument/2006/relationships/image" Target="../media/image_0ba21e85bd198504.png"/>
  <Relationship Id="rId5" Type="http://schemas.openxmlformats.org/officeDocument/2006/relationships/image" Target="../media/image_dd06cf8563a8bfb2.jpg"/>
  <Relationship Id="rId6" Type="http://schemas.openxmlformats.org/officeDocument/2006/relationships/image" Target="../media/image_329025b77b0feaef.png"/>
  <Relationship Id="rId7"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d8cc0b0a3dff260.jpg"/>
  <Relationship Id="rId3" Type="http://schemas.openxmlformats.org/officeDocument/2006/relationships/image" Target="../media/image_8a43ddd8d25e96dc.jpg"/>
  <Relationship Id="rId4" Type="http://schemas.openxmlformats.org/officeDocument/2006/relationships/image" Target="../media/image_5f189a97dd4402f5.jpg"/>
  <Relationship Id="rId5" Type="http://schemas.openxmlformats.org/officeDocument/2006/relationships/image" Target="../media/image_d2867e63209abf3f.jpg"/>
  <Relationship Id="rId6"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5692c53d38fa013.png"/>
  <Relationship Id="rId3" Type="http://schemas.openxmlformats.org/officeDocument/2006/relationships/image" Target="../media/image_4c4db85e0554fd0e.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d7ae1915439d98.png"/>
  <Relationship Id="rId3" Type="http://schemas.openxmlformats.org/officeDocument/2006/relationships/image" Target="../media/image_e709a568109f40a6.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29025b77b0feaef.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9244a9ee8f3b83d.jpg"/>
  <Relationship Id="rId3"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0" t="26" r="0" b="27"/>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rgbClr val="0B1E3C">
                  <a:alpha val="94000"/>
                </a:srgbClr>
              </a:gs>
              <a:gs pos="42000">
                <a:srgbClr val="0B1E3C">
                  <a:alpha val="72000"/>
                </a:srgbClr>
              </a:gs>
              <a:gs pos="70000">
                <a:srgbClr val="0B1E3C">
                  <a:alpha val="0"/>
                </a:srgbClr>
              </a:gs>
            </a:gsLst>
            <a:lin ang="0" scaled="1"/>
          </a:gradFill>
          <a:ln>
            <a:noFill/>
          </a:ln>
        </p:spPr>
      </p:sp>
      <p:grpSp>
        <p:nvGrpSpPr>
          <p:cNvPr id="5" name="cover-date"/>
          <p:cNvGrpSpPr/>
          <p:nvPr/>
        </p:nvGrpSpPr>
        <p:grpSpPr>
          <a:xfrm>
            <a:off x="11182347" y="6477000"/>
            <a:ext cx="557406" cy="191643"/>
            <a:chOff x="11182347" y="6477000"/>
            <a:chExt cx="557406" cy="191643"/>
          </a:xfrm>
        </p:grpSpPr>
        <p:sp>
          <p:nvSpPr>
            <p:cNvPr id="4" name="TextBox 4"/>
            <p:cNvSpPr txBox="1"/>
            <p:nvPr/>
          </p:nvSpPr>
          <p:spPr>
            <a:xfrm>
              <a:off x="11182347" y="6477000"/>
              <a:ext cx="557406" cy="191643"/>
            </a:xfrm>
            <a:prstGeom prst="rect">
              <a:avLst/>
            </a:prstGeom>
            <a:noFill/>
            <a:ln>
              <a:noFill/>
            </a:ln>
          </p:spPr>
          <p:txBody>
            <a:bodyPr wrap="none" lIns="0" tIns="0" rIns="0" bIns="0" anchor="t" anchorCtr="0">
              <a:spAutoFit/>
            </a:bodyPr>
            <a:lstStyle/>
            <a:p>
              <a:pPr algn="r"/>
              <a:r>
                <a:rPr lang="ko-KR" sz="980" dirty="0">
                  <a:solidFill>
                    <a:srgbClr val="C3CCD9"/>
                  </a:solidFill>
                  <a:latin typeface="+mn-lt"/>
                  <a:ea typeface="+mn-ea"/>
                  <a:cs typeface="+mn-cs"/>
                </a:rPr>
                <a:t>2026. 10</a:t>
              </a:r>
            </a:p>
          </p:txBody>
        </p:sp>
      </p:grpSp>
      <p:grpSp>
        <p:nvGrpSpPr>
          <p:cNvPr id="7" name="cover-kicker"/>
          <p:cNvGrpSpPr/>
          <p:nvPr/>
        </p:nvGrpSpPr>
        <p:grpSpPr>
          <a:xfrm>
            <a:off x="603123" y="1924050"/>
            <a:ext cx="3498208" cy="250317"/>
            <a:chOff x="603123" y="1924050"/>
            <a:chExt cx="3498208" cy="250317"/>
          </a:xfrm>
        </p:grpSpPr>
        <p:sp>
          <p:nvSpPr>
            <p:cNvPr id="6" name="TextBox 6"/>
            <p:cNvSpPr txBox="1"/>
            <p:nvPr/>
          </p:nvSpPr>
          <p:spPr>
            <a:xfrm>
              <a:off x="603123" y="1924050"/>
              <a:ext cx="349820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제5회 기아 PBV 아이디어 공모전 · 일반 부문</a:t>
              </a:r>
            </a:p>
          </p:txBody>
        </p:sp>
      </p:grpSp>
      <p:grpSp>
        <p:nvGrpSpPr>
          <p:cNvPr id="10" name="cover-title"/>
          <p:cNvGrpSpPr/>
          <p:nvPr/>
        </p:nvGrpSpPr>
        <p:grpSpPr>
          <a:xfrm>
            <a:off x="590550" y="2254250"/>
            <a:ext cx="3634424" cy="1600200"/>
            <a:chOff x="590550" y="2254250"/>
            <a:chExt cx="3634424" cy="1600200"/>
          </a:xfrm>
        </p:grpSpPr>
        <p:sp>
          <p:nvSpPr>
            <p:cNvPr id="8" name="TextBox 8"/>
            <p:cNvSpPr txBox="1"/>
            <p:nvPr/>
          </p:nvSpPr>
          <p:spPr>
            <a:xfrm>
              <a:off x="590550" y="2254250"/>
              <a:ext cx="1263035" cy="990600"/>
            </a:xfrm>
            <a:prstGeom prst="rect">
              <a:avLst/>
            </a:prstGeom>
            <a:noFill/>
            <a:ln>
              <a:noFill/>
            </a:ln>
          </p:spPr>
          <p:txBody>
            <a:bodyPr wrap="none" lIns="0" tIns="0" rIns="0" bIns="0" anchor="t" anchorCtr="0">
              <a:spAutoFit/>
            </a:bodyPr>
            <a:lstStyle/>
            <a:p>
              <a:pPr algn="l"/>
              <a:r>
                <a:rPr lang="en-US" sz="5100" b="1" spc="-112" dirty="0">
                  <a:solidFill>
                    <a:srgbClr val="FFFFFF"/>
                  </a:solidFill>
                  <a:latin typeface="+mn-lt"/>
                  <a:ea typeface="+mn-ea"/>
                  <a:cs typeface="+mn-cs"/>
                </a:rPr>
                <a:t>PV5</a:t>
              </a:r>
            </a:p>
          </p:txBody>
        </p:sp>
        <p:sp>
          <p:nvSpPr>
            <p:cNvPr id="9" name="TextBox 9"/>
            <p:cNvSpPr txBox="1"/>
            <p:nvPr/>
          </p:nvSpPr>
          <p:spPr>
            <a:xfrm>
              <a:off x="590550" y="3035300"/>
              <a:ext cx="3634424" cy="819150"/>
            </a:xfrm>
            <a:prstGeom prst="rect">
              <a:avLst/>
            </a:prstGeom>
            <a:noFill/>
            <a:ln>
              <a:noFill/>
            </a:ln>
          </p:spPr>
          <p:txBody>
            <a:bodyPr wrap="none" lIns="0" tIns="0" rIns="0" bIns="0" anchor="t" anchorCtr="0">
              <a:spAutoFit/>
            </a:bodyPr>
            <a:lstStyle/>
            <a:p>
              <a:pPr algn="l"/>
              <a:r>
                <a:rPr lang="en-US" sz="4200" b="1" spc="-112" dirty="0">
                  <a:solidFill>
                    <a:srgbClr val="FFFFFF"/>
                  </a:solidFill>
                  <a:latin typeface="+mn-lt"/>
                  <a:ea typeface="+mn-ea"/>
                  <a:cs typeface="+mn-cs"/>
                </a:rPr>
                <a:t>GroundWatch</a:t>
              </a:r>
            </a:p>
          </p:txBody>
        </p:sp>
      </p:grpSp>
      <p:grpSp>
        <p:nvGrpSpPr>
          <p:cNvPr id="12" name="cover-subtitle"/>
          <p:cNvGrpSpPr/>
          <p:nvPr/>
        </p:nvGrpSpPr>
        <p:grpSpPr>
          <a:xfrm>
            <a:off x="598170" y="3797300"/>
            <a:ext cx="2837548" cy="440055"/>
            <a:chOff x="598170" y="3797300"/>
            <a:chExt cx="2837548" cy="440055"/>
          </a:xfrm>
        </p:grpSpPr>
        <p:sp>
          <p:nvSpPr>
            <p:cNvPr id="11" name="TextBox 11"/>
            <p:cNvSpPr txBox="1"/>
            <p:nvPr/>
          </p:nvSpPr>
          <p:spPr>
            <a:xfrm>
              <a:off x="598170" y="3797300"/>
              <a:ext cx="2837548" cy="440055"/>
            </a:xfrm>
            <a:prstGeom prst="rect">
              <a:avLst/>
            </a:prstGeom>
            <a:noFill/>
            <a:ln>
              <a:noFill/>
            </a:ln>
          </p:spPr>
          <p:txBody>
            <a:bodyPr wrap="none" lIns="0" tIns="0" rIns="0" bIns="0" anchor="t" anchorCtr="0">
              <a:spAutoFit/>
            </a:bodyPr>
            <a:lstStyle/>
            <a:p>
              <a:pPr algn="l"/>
              <a:r>
                <a:rPr lang="ko-KR" sz="2250" b="1" spc="-38" dirty="0">
                  <a:solidFill>
                    <a:srgbClr val="D7DEE8"/>
                  </a:solidFill>
                  <a:latin typeface="+mn-lt"/>
                  <a:ea typeface="+mn-ea"/>
                  <a:cs typeface="+mn-cs"/>
                </a:rPr>
                <a:t>PV5 지하안전 순찰차</a:t>
              </a:r>
            </a:p>
          </p:txBody>
        </p:sp>
      </p:grpSp>
      <p:grpSp>
        <p:nvGrpSpPr>
          <p:cNvPr id="15" name="cover-tagline"/>
          <p:cNvGrpSpPr/>
          <p:nvPr/>
        </p:nvGrpSpPr>
        <p:grpSpPr>
          <a:xfrm>
            <a:off x="601599" y="4381500"/>
            <a:ext cx="3176397" cy="785241"/>
            <a:chOff x="601599" y="4381500"/>
            <a:chExt cx="3176397" cy="785241"/>
          </a:xfrm>
        </p:grpSpPr>
        <p:sp>
          <p:nvSpPr>
            <p:cNvPr id="13" name="Rectangle 13"/>
            <p:cNvSpPr/>
            <p:nvPr/>
          </p:nvSpPr>
          <p:spPr>
            <a:xfrm>
              <a:off x="609600" y="4381500"/>
              <a:ext cx="457200" cy="28575"/>
            </a:xfrm>
            <a:prstGeom prst="rect">
              <a:avLst/>
            </a:prstGeom>
            <a:solidFill>
              <a:srgbClr val="F5B700"/>
            </a:solidFill>
            <a:ln>
              <a:noFill/>
            </a:ln>
          </p:spPr>
        </p:sp>
        <p:sp>
          <p:nvSpPr>
            <p:cNvPr id="14" name="TextBox 14"/>
            <p:cNvSpPr txBox="1"/>
            <p:nvPr/>
          </p:nvSpPr>
          <p:spPr>
            <a:xfrm>
              <a:off x="601599" y="4552950"/>
              <a:ext cx="3176397" cy="613791"/>
            </a:xfrm>
            <a:prstGeom prst="rect">
              <a:avLst/>
            </a:prstGeom>
            <a:noFill/>
            <a:ln>
              <a:noFill/>
            </a:ln>
          </p:spPr>
          <p:txBody>
            <a:bodyPr wrap="none" lIns="0" tIns="0" rIns="0" bIns="0" anchor="t" anchorCtr="0">
              <a:spAutoFit/>
            </a:bodyPr>
            <a:lstStyle/>
            <a:p>
              <a:pPr algn="l">
                <a:lnSpc>
                  <a:spcPts val="2400"/>
                </a:lnSpc>
              </a:pPr>
              <a:r>
                <a:rPr lang="ko-KR" sz="1580" dirty="0">
                  <a:solidFill>
                    <a:srgbClr val="C3CCD9"/>
                  </a:solidFill>
                  <a:latin typeface="+mn-lt"/>
                  <a:ea typeface="+mn-ea"/>
                  <a:cs typeface="+mn-cs"/>
                </a:rPr>
                <a:t>같은 길을 반복해서 보고,</a:t>
              </a:r>
              <a:br>
                <a:rPr lang="ko-KR" sz="1580" dirty="0">
                  <a:solidFill>
                    <a:srgbClr val="C3CCD9"/>
                  </a:solidFill>
                  <a:latin typeface="+mn-lt"/>
                  <a:ea typeface="+mn-ea"/>
                  <a:cs typeface="+mn-cs"/>
                </a:rPr>
              </a:br>
              <a:r>
                <a:rPr lang="ko-KR" sz="1580" dirty="0">
                  <a:solidFill>
                    <a:srgbClr val="C3CCD9"/>
                  </a:solidFill>
                  <a:latin typeface="+mn-lt"/>
                  <a:ea typeface="+mn-ea"/>
                  <a:cs typeface="+mn-cs"/>
                </a:rPr>
                <a:t>구멍이 되기 전의 변화를 찾습니다.</a:t>
              </a:r>
            </a:p>
          </p:txBody>
        </p:sp>
      </p:grpSp>
      <p:grpSp>
        <p:nvGrpSpPr>
          <p:cNvPr id="18" name="cover-team"/>
          <p:cNvGrpSpPr/>
          <p:nvPr/>
        </p:nvGrpSpPr>
        <p:grpSpPr>
          <a:xfrm>
            <a:off x="601218" y="5797550"/>
            <a:ext cx="2739992" cy="570357"/>
            <a:chOff x="601218" y="5797550"/>
            <a:chExt cx="2739992" cy="570357"/>
          </a:xfrm>
        </p:grpSpPr>
        <p:sp>
          <p:nvSpPr>
            <p:cNvPr id="16" name="TextBox 16"/>
            <p:cNvSpPr txBox="1"/>
            <p:nvPr/>
          </p:nvSpPr>
          <p:spPr>
            <a:xfrm>
              <a:off x="604266" y="5797550"/>
              <a:ext cx="387035" cy="205359"/>
            </a:xfrm>
            <a:prstGeom prst="rect">
              <a:avLst/>
            </a:prstGeom>
            <a:noFill/>
            <a:ln>
              <a:noFill/>
            </a:ln>
          </p:spPr>
          <p:txBody>
            <a:bodyPr wrap="none" lIns="0" tIns="0" rIns="0" bIns="0" anchor="t" anchorCtr="0">
              <a:spAutoFit/>
            </a:bodyPr>
            <a:lstStyle/>
            <a:p>
              <a:pPr algn="l"/>
              <a:r>
                <a:rPr lang="en-US" sz="1050" b="1" dirty="0">
                  <a:solidFill>
                    <a:srgbClr val="F5B700"/>
                  </a:solidFill>
                  <a:latin typeface="+mn-lt"/>
                  <a:ea typeface="+mn-ea"/>
                  <a:cs typeface="+mn-cs"/>
                </a:rPr>
                <a:t>TEAM</a:t>
              </a:r>
            </a:p>
          </p:txBody>
        </p:sp>
        <p:sp>
          <p:nvSpPr>
            <p:cNvPr id="17" name="TextBox 17"/>
            <p:cNvSpPr txBox="1"/>
            <p:nvPr/>
          </p:nvSpPr>
          <p:spPr>
            <a:xfrm>
              <a:off x="601218" y="6045200"/>
              <a:ext cx="273999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한 명이라도 살릴 수 있다면</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5181600" cy="333375"/>
            <a:chOff x="533400" y="266700"/>
            <a:chExt cx="51816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19100" cy="228600"/>
            </a:xfrm>
            <a:prstGeom prst="rect">
              <a:avLst/>
            </a:prstGeom>
            <a:solidFill>
              <a:srgbClr val="F5B700"/>
            </a:solidFill>
            <a:ln>
              <a:noFill/>
            </a:ln>
          </p:spPr>
        </p:sp>
        <p:sp>
          <p:nvSpPr>
            <p:cNvPr id="5" name="TextBox 5"/>
            <p:cNvSpPr txBox="1"/>
            <p:nvPr/>
          </p:nvSpPr>
          <p:spPr>
            <a:xfrm>
              <a:off x="1939569" y="301625"/>
              <a:ext cx="273761"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문제</a:t>
              </a:r>
            </a:p>
          </p:txBody>
        </p:sp>
        <p:sp>
          <p:nvSpPr>
            <p:cNvPr id="6" name="TextBox 6"/>
            <p:cNvSpPr txBox="1"/>
            <p:nvPr/>
          </p:nvSpPr>
          <p:spPr>
            <a:xfrm>
              <a:off x="2394966" y="301625"/>
              <a:ext cx="901179"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현재 문제상황</a:t>
              </a:r>
            </a:p>
          </p:txBody>
        </p:sp>
        <p:sp>
          <p:nvSpPr>
            <p:cNvPr id="7" name="Line 7"/>
            <p:cNvSpPr/>
            <p:nvPr/>
          </p:nvSpPr>
          <p:spPr>
            <a:xfrm>
              <a:off x="533400" y="590550"/>
              <a:ext cx="5181600" cy="9525"/>
            </a:xfrm>
            <a:custGeom>
              <a:avLst/>
              <a:gdLst/>
              <a:ahLst/>
              <a:cxnLst/>
              <a:rect l="l" t="t" r="r" b="b"/>
              <a:pathLst>
                <a:path w="5181600" h="9525">
                  <a:moveTo>
                    <a:pt x="0" y="0"/>
                  </a:moveTo>
                  <a:lnTo>
                    <a:pt x="5181600" y="0"/>
                  </a:lnTo>
                </a:path>
              </a:pathLst>
            </a:custGeom>
            <a:noFill/>
            <a:ln w="9525">
              <a:solidFill>
                <a:srgbClr val="0B1E3C"/>
              </a:solidFill>
            </a:ln>
          </p:spPr>
        </p:sp>
      </p:grpSp>
      <p:grpSp>
        <p:nvGrpSpPr>
          <p:cNvPr id="21" name="incident-map"/>
          <p:cNvGrpSpPr/>
          <p:nvPr/>
        </p:nvGrpSpPr>
        <p:grpSpPr>
          <a:xfrm>
            <a:off x="6096000" y="0"/>
            <a:ext cx="6096000" cy="6858000"/>
            <a:chOff x="6096000" y="0"/>
            <a:chExt cx="6096000" cy="6858000"/>
          </a:xfrm>
        </p:grpSpPr>
        <p:pic>
          <p:nvPicPr>
            <p:cNvPr id="9" name="Image 9"/>
            <p:cNvPicPr>
              <a:picLocks noChangeAspect="1"/>
            </p:cNvPicPr>
            <p:nvPr/>
          </p:nvPicPr>
          <p:blipFill>
            <a:blip r:embed="rId2"/>
            <a:stretch>
              <a:fillRect/>
            </a:stretch>
          </p:blipFill>
          <p:spPr>
            <a:xfrm>
              <a:off x="6096000" y="0"/>
              <a:ext cx="6096000" cy="6858000"/>
            </a:xfrm>
            <a:prstGeom prst="rect">
              <a:avLst/>
            </a:prstGeom>
          </p:spPr>
        </p:pic>
        <p:sp>
          <p:nvSpPr>
            <p:cNvPr id="10" name="Rectangle 10"/>
            <p:cNvSpPr/>
            <p:nvPr/>
          </p:nvSpPr>
          <p:spPr>
            <a:xfrm>
              <a:off x="6096000" y="3619500"/>
              <a:ext cx="6096000" cy="3238500"/>
            </a:xfrm>
            <a:prstGeom prst="rect">
              <a:avLst/>
            </a:prstGeom>
            <a:gradFill>
              <a:gsLst>
                <a:gs pos="0">
                  <a:srgbClr val="05070B">
                    <a:alpha val="0"/>
                  </a:srgbClr>
                </a:gs>
                <a:gs pos="100000">
                  <a:srgbClr val="05070B">
                    <a:alpha val="85000"/>
                  </a:srgbClr>
                </a:gs>
              </a:gsLst>
              <a:lin ang="5400000" scaled="1"/>
            </a:gradFill>
            <a:ln>
              <a:noFill/>
            </a:ln>
          </p:spPr>
        </p:sp>
        <p:sp>
          <p:nvSpPr>
            <p:cNvPr id="11" name="Ellipse 11"/>
            <p:cNvSpPr/>
            <p:nvPr/>
          </p:nvSpPr>
          <p:spPr>
            <a:xfrm>
              <a:off x="9972675" y="3590925"/>
              <a:ext cx="1028700" cy="1028700"/>
            </a:xfrm>
            <a:prstGeom prst="ellipse">
              <a:avLst/>
            </a:prstGeom>
            <a:solidFill>
              <a:srgbClr val="E5484D">
                <a:alpha val="14000"/>
              </a:srgbClr>
            </a:solidFill>
            <a:ln>
              <a:noFill/>
            </a:ln>
          </p:spPr>
        </p:sp>
        <p:sp>
          <p:nvSpPr>
            <p:cNvPr id="12" name="Ellipse 12"/>
            <p:cNvSpPr/>
            <p:nvPr/>
          </p:nvSpPr>
          <p:spPr>
            <a:xfrm>
              <a:off x="10220325" y="3838575"/>
              <a:ext cx="533400" cy="533400"/>
            </a:xfrm>
            <a:prstGeom prst="ellipse">
              <a:avLst/>
            </a:prstGeom>
            <a:solidFill>
              <a:srgbClr val="E5484D">
                <a:alpha val="32000"/>
              </a:srgbClr>
            </a:solidFill>
            <a:ln>
              <a:noFill/>
            </a:ln>
          </p:spPr>
        </p:sp>
        <p:sp>
          <p:nvSpPr>
            <p:cNvPr id="13" name="Ellipse 13"/>
            <p:cNvSpPr/>
            <p:nvPr/>
          </p:nvSpPr>
          <p:spPr>
            <a:xfrm>
              <a:off x="10410825" y="4029075"/>
              <a:ext cx="152400" cy="152400"/>
            </a:xfrm>
            <a:prstGeom prst="ellipse">
              <a:avLst/>
            </a:prstGeom>
            <a:solidFill>
              <a:srgbClr val="FF5A5F"/>
            </a:solidFill>
            <a:ln w="19050">
              <a:solidFill>
                <a:srgbClr val="FFFFFF"/>
              </a:solidFill>
            </a:ln>
          </p:spPr>
        </p:sp>
        <p:sp>
          <p:nvSpPr>
            <p:cNvPr id="14" name="Rectangle 14"/>
            <p:cNvSpPr/>
            <p:nvPr/>
          </p:nvSpPr>
          <p:spPr>
            <a:xfrm>
              <a:off x="8058150" y="2971800"/>
              <a:ext cx="2152650" cy="552450"/>
            </a:xfrm>
            <a:prstGeom prst="roundRect">
              <a:avLst>
                <a:gd name="adj" fmla="val 6897"/>
              </a:avLst>
            </a:prstGeom>
            <a:solidFill>
              <a:srgbClr val="0B1E3C">
                <a:alpha val="92000"/>
              </a:srgbClr>
            </a:solidFill>
            <a:ln>
              <a:noFill/>
            </a:ln>
          </p:spPr>
        </p:sp>
        <p:sp>
          <p:nvSpPr>
            <p:cNvPr id="15" name="TextBox 15"/>
            <p:cNvSpPr txBox="1"/>
            <p:nvPr/>
          </p:nvSpPr>
          <p:spPr>
            <a:xfrm>
              <a:off x="8185404" y="3048000"/>
              <a:ext cx="1701538"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2025. 3. 24 사고 지점</a:t>
              </a:r>
            </a:p>
          </p:txBody>
        </p:sp>
        <p:sp>
          <p:nvSpPr>
            <p:cNvPr id="16" name="TextBox 16"/>
            <p:cNvSpPr txBox="1"/>
            <p:nvPr/>
          </p:nvSpPr>
          <p:spPr>
            <a:xfrm>
              <a:off x="8186166" y="3282950"/>
              <a:ext cx="1834096"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동남로 대명초교 사거리 인근</a:t>
              </a:r>
            </a:p>
          </p:txBody>
        </p:sp>
        <p:sp>
          <p:nvSpPr>
            <p:cNvPr id="17" name="Line 17"/>
            <p:cNvSpPr/>
            <p:nvPr/>
          </p:nvSpPr>
          <p:spPr>
            <a:xfrm>
              <a:off x="10153650" y="3429000"/>
              <a:ext cx="190500" cy="514350"/>
            </a:xfrm>
            <a:custGeom>
              <a:avLst/>
              <a:gdLst/>
              <a:ahLst/>
              <a:cxnLst/>
              <a:rect l="l" t="t" r="r" b="b"/>
              <a:pathLst>
                <a:path w="190500" h="514350">
                  <a:moveTo>
                    <a:pt x="0" y="0"/>
                  </a:moveTo>
                  <a:lnTo>
                    <a:pt x="190500" y="514350"/>
                  </a:lnTo>
                </a:path>
              </a:pathLst>
            </a:custGeom>
            <a:noFill/>
            <a:ln w="11430">
              <a:solidFill>
                <a:srgbClr val="FFFFFF"/>
              </a:solidFill>
            </a:ln>
          </p:spPr>
        </p:sp>
        <p:sp>
          <p:nvSpPr>
            <p:cNvPr id="18" name="TextBox 18"/>
            <p:cNvSpPr txBox="1"/>
            <p:nvPr/>
          </p:nvSpPr>
          <p:spPr>
            <a:xfrm>
              <a:off x="6465570" y="4978400"/>
              <a:ext cx="4548426" cy="859155"/>
            </a:xfrm>
            <a:prstGeom prst="rect">
              <a:avLst/>
            </a:prstGeom>
            <a:noFill/>
            <a:ln>
              <a:noFill/>
            </a:ln>
          </p:spPr>
          <p:txBody>
            <a:bodyPr wrap="none" lIns="0" tIns="0" rIns="0" bIns="0" anchor="t" anchorCtr="0">
              <a:spAutoFit/>
            </a:bodyPr>
            <a:lstStyle/>
            <a:p>
              <a:pPr algn="l">
                <a:lnSpc>
                  <a:spcPts val="3300"/>
                </a:lnSpc>
              </a:pPr>
              <a:r>
                <a:rPr lang="ko-KR" sz="2250" b="1" dirty="0">
                  <a:solidFill>
                    <a:srgbClr val="FFFFFF"/>
                  </a:solidFill>
                  <a:latin typeface="+mn-lt"/>
                  <a:ea typeface="+mn-ea"/>
                  <a:cs typeface="+mn-cs"/>
                </a:rPr>
                <a:t>평범한 도로가</a:t>
              </a:r>
              <a:br>
                <a:rPr lang="ko-KR" sz="2250" b="1" dirty="0">
                  <a:solidFill>
                    <a:srgbClr val="FFFFFF"/>
                  </a:solidFill>
                  <a:latin typeface="+mn-lt"/>
                  <a:ea typeface="+mn-ea"/>
                  <a:cs typeface="+mn-cs"/>
                </a:rPr>
              </a:br>
              <a:r>
                <a:rPr lang="ko-KR" sz="2250" b="1" dirty="0">
                  <a:solidFill>
                    <a:srgbClr val="FFFFFF"/>
                  </a:solidFill>
                  <a:latin typeface="+mn-lt"/>
                  <a:ea typeface="+mn-ea"/>
                  <a:cs typeface="+mn-cs"/>
                </a:rPr>
                <a:t>한 사람의 마지막 길이 되었습니다.</a:t>
              </a:r>
            </a:p>
          </p:txBody>
        </p:sp>
        <p:sp>
          <p:nvSpPr>
            <p:cNvPr id="19" name="TextBox 19"/>
            <p:cNvSpPr txBox="1"/>
            <p:nvPr/>
          </p:nvSpPr>
          <p:spPr>
            <a:xfrm>
              <a:off x="6470142" y="6045200"/>
              <a:ext cx="5110530" cy="264033"/>
            </a:xfrm>
            <a:prstGeom prst="rect">
              <a:avLst/>
            </a:prstGeom>
            <a:noFill/>
            <a:ln>
              <a:noFill/>
            </a:ln>
          </p:spPr>
          <p:txBody>
            <a:bodyPr wrap="none" lIns="0" tIns="0" rIns="0" bIns="0" anchor="t" anchorCtr="0">
              <a:spAutoFit/>
            </a:bodyPr>
            <a:lstStyle/>
            <a:p>
              <a:pPr algn="l"/>
              <a:r>
                <a:rPr lang="ko-KR" sz="1350" b="1" dirty="0">
                  <a:solidFill>
                    <a:srgbClr val="F5B700"/>
                  </a:solidFill>
                  <a:latin typeface="+mn-lt"/>
                  <a:ea typeface="+mn-ea"/>
                  <a:cs typeface="+mn-cs"/>
                </a:rPr>
                <a:t>붕괴는 갑자기 보였지만, 위험은 지하에서 먼저 시작됐습니다.</a:t>
              </a:r>
            </a:p>
          </p:txBody>
        </p:sp>
        <p:sp>
          <p:nvSpPr>
            <p:cNvPr id="20" name="TextBox 20"/>
            <p:cNvSpPr txBox="1"/>
            <p:nvPr/>
          </p:nvSpPr>
          <p:spPr>
            <a:xfrm>
              <a:off x="6472238" y="6457950"/>
              <a:ext cx="5602430" cy="176212"/>
            </a:xfrm>
            <a:prstGeom prst="rect">
              <a:avLst/>
            </a:prstGeom>
            <a:noFill/>
            <a:ln>
              <a:noFill/>
            </a:ln>
          </p:spPr>
          <p:txBody>
            <a:bodyPr wrap="none" lIns="0" tIns="0" rIns="0" bIns="0" anchor="t" anchorCtr="0">
              <a:spAutoFit/>
            </a:bodyPr>
            <a:lstStyle/>
            <a:p>
              <a:pPr algn="l"/>
              <a:r>
                <a:rPr lang="ko-KR" sz="900" dirty="0">
                  <a:solidFill>
                    <a:srgbClr val="C3CCD9"/>
                  </a:solidFill>
                  <a:latin typeface="+mn-lt"/>
                  <a:ea typeface="+mn-ea"/>
                  <a:cs typeface="+mn-cs"/>
                </a:rPr>
                <a:t>서울 강동구 명일동 일대 · 지도 데이터 © OpenStreetMap contributors · 위치는 보도 기준 인근 표시</a:t>
              </a:r>
            </a:p>
          </p:txBody>
        </p:sp>
      </p:grpSp>
      <p:grpSp>
        <p:nvGrpSpPr>
          <p:cNvPr id="23" name="incident-date"/>
          <p:cNvGrpSpPr/>
          <p:nvPr/>
        </p:nvGrpSpPr>
        <p:grpSpPr>
          <a:xfrm>
            <a:off x="526542" y="1282700"/>
            <a:ext cx="2860626" cy="264033"/>
            <a:chOff x="526542" y="1282700"/>
            <a:chExt cx="2860626" cy="264033"/>
          </a:xfrm>
        </p:grpSpPr>
        <p:sp>
          <p:nvSpPr>
            <p:cNvPr id="22" name="TextBox 22"/>
            <p:cNvSpPr txBox="1"/>
            <p:nvPr/>
          </p:nvSpPr>
          <p:spPr>
            <a:xfrm>
              <a:off x="526542" y="1282700"/>
              <a:ext cx="2860626"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2025. 3. 24 · 서울 강동구 명일동</a:t>
              </a:r>
            </a:p>
          </p:txBody>
        </p:sp>
      </p:grpSp>
      <p:grpSp>
        <p:nvGrpSpPr>
          <p:cNvPr id="26" name="title"/>
          <p:cNvGrpSpPr/>
          <p:nvPr/>
        </p:nvGrpSpPr>
        <p:grpSpPr>
          <a:xfrm>
            <a:off x="476250" y="1593850"/>
            <a:ext cx="3744620" cy="1778000"/>
            <a:chOff x="476250" y="1593850"/>
            <a:chExt cx="3744620" cy="1778000"/>
          </a:xfrm>
        </p:grpSpPr>
        <p:sp>
          <p:nvSpPr>
            <p:cNvPr id="24" name="TextBox 24"/>
            <p:cNvSpPr txBox="1"/>
            <p:nvPr/>
          </p:nvSpPr>
          <p:spPr>
            <a:xfrm>
              <a:off x="518160" y="1593850"/>
              <a:ext cx="370271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도로가 무너지기까지</a:t>
              </a:r>
            </a:p>
          </p:txBody>
        </p:sp>
        <p:sp>
          <p:nvSpPr>
            <p:cNvPr id="25" name="TextBox 25"/>
            <p:cNvSpPr txBox="1"/>
            <p:nvPr/>
          </p:nvSpPr>
          <p:spPr>
            <a:xfrm>
              <a:off x="476250" y="1981200"/>
              <a:ext cx="2597460" cy="1390650"/>
            </a:xfrm>
            <a:prstGeom prst="rect">
              <a:avLst/>
            </a:prstGeom>
            <a:noFill/>
            <a:ln>
              <a:noFill/>
            </a:ln>
          </p:spPr>
          <p:txBody>
            <a:bodyPr wrap="none" lIns="0" tIns="0" rIns="0" bIns="0" anchor="t" anchorCtr="0">
              <a:spAutoFit/>
            </a:bodyPr>
            <a:lstStyle/>
            <a:p>
              <a:pPr algn="l"/>
              <a:r>
                <a:rPr lang="ko-KR" sz="7200" b="1" spc="-225" dirty="0">
                  <a:solidFill>
                    <a:srgbClr val="C62828"/>
                  </a:solidFill>
                  <a:latin typeface="+mn-lt"/>
                  <a:ea typeface="+mn-ea"/>
                  <a:cs typeface="+mn-cs"/>
                </a:rPr>
                <a:t>1~2분</a:t>
              </a:r>
            </a:p>
          </p:txBody>
        </p:sp>
      </p:grpSp>
      <p:grpSp>
        <p:nvGrpSpPr>
          <p:cNvPr id="30" name="fact-size"/>
          <p:cNvGrpSpPr/>
          <p:nvPr/>
        </p:nvGrpSpPr>
        <p:grpSpPr>
          <a:xfrm>
            <a:off x="519684" y="3295650"/>
            <a:ext cx="5201793" cy="616966"/>
            <a:chOff x="519684" y="3295650"/>
            <a:chExt cx="5201793" cy="616966"/>
          </a:xfrm>
        </p:grpSpPr>
        <p:sp>
          <p:nvSpPr>
            <p:cNvPr id="27" name="Line 27"/>
            <p:cNvSpPr/>
            <p:nvPr/>
          </p:nvSpPr>
          <p:spPr>
            <a:xfrm>
              <a:off x="533400" y="3295650"/>
              <a:ext cx="5181600" cy="9525"/>
            </a:xfrm>
            <a:custGeom>
              <a:avLst/>
              <a:gdLst/>
              <a:ahLst/>
              <a:cxnLst/>
              <a:rect l="l" t="t" r="r" b="b"/>
              <a:pathLst>
                <a:path w="5181600" h="9525">
                  <a:moveTo>
                    <a:pt x="0" y="0"/>
                  </a:moveTo>
                  <a:lnTo>
                    <a:pt x="5181600" y="0"/>
                  </a:lnTo>
                </a:path>
              </a:pathLst>
            </a:custGeom>
            <a:noFill/>
            <a:ln w="9525">
              <a:solidFill>
                <a:srgbClr val="D5DAE1"/>
              </a:solidFill>
            </a:ln>
          </p:spPr>
        </p:sp>
        <p:sp>
          <p:nvSpPr>
            <p:cNvPr id="28" name="TextBox 28"/>
            <p:cNvSpPr txBox="1"/>
            <p:nvPr/>
          </p:nvSpPr>
          <p:spPr>
            <a:xfrm>
              <a:off x="519684" y="3384550"/>
              <a:ext cx="1878423" cy="528066"/>
            </a:xfrm>
            <a:prstGeom prst="rect">
              <a:avLst/>
            </a:prstGeom>
            <a:noFill/>
            <a:ln>
              <a:noFill/>
            </a:ln>
          </p:spPr>
          <p:txBody>
            <a:bodyPr wrap="none" lIns="0" tIns="0" rIns="0" bIns="0" anchor="t" anchorCtr="0">
              <a:spAutoFit/>
            </a:bodyPr>
            <a:lstStyle/>
            <a:p>
              <a:pPr algn="l"/>
              <a:r>
                <a:rPr lang="en-US" sz="2700" b="1" dirty="0">
                  <a:solidFill>
                    <a:srgbClr val="111827"/>
                  </a:solidFill>
                  <a:latin typeface="+mn-lt"/>
                  <a:ea typeface="+mn-ea"/>
                  <a:cs typeface="+mn-cs"/>
                </a:rPr>
                <a:t>22m × 18m</a:t>
              </a:r>
            </a:p>
          </p:txBody>
        </p:sp>
        <p:sp>
          <p:nvSpPr>
            <p:cNvPr id="29" name="TextBox 29"/>
            <p:cNvSpPr txBox="1"/>
            <p:nvPr/>
          </p:nvSpPr>
          <p:spPr>
            <a:xfrm>
              <a:off x="4011234" y="3543300"/>
              <a:ext cx="1710243" cy="250317"/>
            </a:xfrm>
            <a:prstGeom prst="rect">
              <a:avLst/>
            </a:prstGeom>
            <a:noFill/>
            <a:ln>
              <a:noFill/>
            </a:ln>
          </p:spPr>
          <p:txBody>
            <a:bodyPr wrap="none" lIns="0" tIns="0" rIns="0" bIns="0" anchor="t" anchorCtr="0">
              <a:spAutoFit/>
            </a:bodyPr>
            <a:lstStyle/>
            <a:p>
              <a:pPr algn="r"/>
              <a:r>
                <a:rPr lang="ko-KR" sz="1280" dirty="0">
                  <a:solidFill>
                    <a:srgbClr val="374151"/>
                  </a:solidFill>
                  <a:latin typeface="+mn-lt"/>
                  <a:ea typeface="+mn-ea"/>
                  <a:cs typeface="+mn-cs"/>
                </a:rPr>
                <a:t>붕괴 규모 (길이 × 폭)</a:t>
              </a:r>
            </a:p>
          </p:txBody>
        </p:sp>
      </p:grpSp>
      <p:grpSp>
        <p:nvGrpSpPr>
          <p:cNvPr id="34" name="fact-depth"/>
          <p:cNvGrpSpPr/>
          <p:nvPr/>
        </p:nvGrpSpPr>
        <p:grpSpPr>
          <a:xfrm>
            <a:off x="519684" y="3962400"/>
            <a:ext cx="5201793" cy="616966"/>
            <a:chOff x="519684" y="3962400"/>
            <a:chExt cx="5201793" cy="616966"/>
          </a:xfrm>
        </p:grpSpPr>
        <p:sp>
          <p:nvSpPr>
            <p:cNvPr id="31" name="Line 31"/>
            <p:cNvSpPr/>
            <p:nvPr/>
          </p:nvSpPr>
          <p:spPr>
            <a:xfrm>
              <a:off x="533400" y="3962400"/>
              <a:ext cx="5181600" cy="9525"/>
            </a:xfrm>
            <a:custGeom>
              <a:avLst/>
              <a:gdLst/>
              <a:ahLst/>
              <a:cxnLst/>
              <a:rect l="l" t="t" r="r" b="b"/>
              <a:pathLst>
                <a:path w="5181600" h="9525">
                  <a:moveTo>
                    <a:pt x="0" y="0"/>
                  </a:moveTo>
                  <a:lnTo>
                    <a:pt x="5181600" y="0"/>
                  </a:lnTo>
                </a:path>
              </a:pathLst>
            </a:custGeom>
            <a:noFill/>
            <a:ln w="9525">
              <a:solidFill>
                <a:srgbClr val="D5DAE1"/>
              </a:solidFill>
            </a:ln>
          </p:spPr>
        </p:sp>
        <p:sp>
          <p:nvSpPr>
            <p:cNvPr id="32" name="TextBox 32"/>
            <p:cNvSpPr txBox="1"/>
            <p:nvPr/>
          </p:nvSpPr>
          <p:spPr>
            <a:xfrm>
              <a:off x="519684" y="4051300"/>
              <a:ext cx="733480" cy="528066"/>
            </a:xfrm>
            <a:prstGeom prst="rect">
              <a:avLst/>
            </a:prstGeom>
            <a:noFill/>
            <a:ln>
              <a:noFill/>
            </a:ln>
          </p:spPr>
          <p:txBody>
            <a:bodyPr wrap="none" lIns="0" tIns="0" rIns="0" bIns="0" anchor="t" anchorCtr="0">
              <a:spAutoFit/>
            </a:bodyPr>
            <a:lstStyle/>
            <a:p>
              <a:pPr algn="l"/>
              <a:r>
                <a:rPr lang="en-US" sz="2700" b="1" dirty="0">
                  <a:solidFill>
                    <a:srgbClr val="111827"/>
                  </a:solidFill>
                  <a:latin typeface="+mn-lt"/>
                  <a:ea typeface="+mn-ea"/>
                  <a:cs typeface="+mn-cs"/>
                </a:rPr>
                <a:t>16m</a:t>
              </a:r>
            </a:p>
          </p:txBody>
        </p:sp>
        <p:sp>
          <p:nvSpPr>
            <p:cNvPr id="33" name="TextBox 33"/>
            <p:cNvSpPr txBox="1"/>
            <p:nvPr/>
          </p:nvSpPr>
          <p:spPr>
            <a:xfrm>
              <a:off x="5363896" y="4197350"/>
              <a:ext cx="357581" cy="250317"/>
            </a:xfrm>
            <a:prstGeom prst="rect">
              <a:avLst/>
            </a:prstGeom>
            <a:noFill/>
            <a:ln>
              <a:noFill/>
            </a:ln>
          </p:spPr>
          <p:txBody>
            <a:bodyPr wrap="none" lIns="0" tIns="0" rIns="0" bIns="0" anchor="t" anchorCtr="0">
              <a:spAutoFit/>
            </a:bodyPr>
            <a:lstStyle/>
            <a:p>
              <a:pPr algn="r"/>
              <a:r>
                <a:rPr lang="ko-KR" sz="1280" dirty="0">
                  <a:solidFill>
                    <a:srgbClr val="374151"/>
                  </a:solidFill>
                  <a:latin typeface="+mn-lt"/>
                  <a:ea typeface="+mn-ea"/>
                  <a:cs typeface="+mn-cs"/>
                </a:rPr>
                <a:t>깊이</a:t>
              </a:r>
            </a:p>
          </p:txBody>
        </p:sp>
      </p:grpSp>
      <p:grpSp>
        <p:nvGrpSpPr>
          <p:cNvPr id="39" name="fact-casualty"/>
          <p:cNvGrpSpPr/>
          <p:nvPr/>
        </p:nvGrpSpPr>
        <p:grpSpPr>
          <a:xfrm>
            <a:off x="519684" y="4629150"/>
            <a:ext cx="5201793" cy="616966"/>
            <a:chOff x="519684" y="4629150"/>
            <a:chExt cx="5201793" cy="616966"/>
          </a:xfrm>
        </p:grpSpPr>
        <p:sp>
          <p:nvSpPr>
            <p:cNvPr id="35" name="Line 35"/>
            <p:cNvSpPr/>
            <p:nvPr/>
          </p:nvSpPr>
          <p:spPr>
            <a:xfrm>
              <a:off x="533400" y="4629150"/>
              <a:ext cx="5181600" cy="9525"/>
            </a:xfrm>
            <a:custGeom>
              <a:avLst/>
              <a:gdLst/>
              <a:ahLst/>
              <a:cxnLst/>
              <a:rect l="l" t="t" r="r" b="b"/>
              <a:pathLst>
                <a:path w="5181600" h="9525">
                  <a:moveTo>
                    <a:pt x="0" y="0"/>
                  </a:moveTo>
                  <a:lnTo>
                    <a:pt x="5181600" y="0"/>
                  </a:lnTo>
                </a:path>
              </a:pathLst>
            </a:custGeom>
            <a:noFill/>
            <a:ln w="9525">
              <a:solidFill>
                <a:srgbClr val="D5DAE1"/>
              </a:solidFill>
            </a:ln>
          </p:spPr>
        </p:sp>
        <p:sp>
          <p:nvSpPr>
            <p:cNvPr id="36" name="TextBox 36"/>
            <p:cNvSpPr txBox="1"/>
            <p:nvPr/>
          </p:nvSpPr>
          <p:spPr>
            <a:xfrm>
              <a:off x="519684" y="4718050"/>
              <a:ext cx="2569024" cy="528066"/>
            </a:xfrm>
            <a:prstGeom prst="rect">
              <a:avLst/>
            </a:prstGeom>
            <a:noFill/>
            <a:ln>
              <a:noFill/>
            </a:ln>
          </p:spPr>
          <p:txBody>
            <a:bodyPr wrap="none" lIns="0" tIns="0" rIns="0" bIns="0" anchor="t" anchorCtr="0">
              <a:spAutoFit/>
            </a:bodyPr>
            <a:lstStyle/>
            <a:p>
              <a:pPr algn="l"/>
              <a:r>
                <a:rPr lang="ko-KR" sz="2700" b="1" dirty="0">
                  <a:solidFill>
                    <a:srgbClr val="111827"/>
                  </a:solidFill>
                  <a:latin typeface="+mn-lt"/>
                  <a:ea typeface="+mn-ea"/>
                  <a:cs typeface="+mn-cs"/>
                </a:rPr>
                <a:t>사망 1 · 부상 1</a:t>
              </a:r>
            </a:p>
          </p:txBody>
        </p:sp>
        <p:sp>
          <p:nvSpPr>
            <p:cNvPr id="37" name="TextBox 37"/>
            <p:cNvSpPr txBox="1"/>
            <p:nvPr/>
          </p:nvSpPr>
          <p:spPr>
            <a:xfrm>
              <a:off x="4967575" y="4876800"/>
              <a:ext cx="753902" cy="250317"/>
            </a:xfrm>
            <a:prstGeom prst="rect">
              <a:avLst/>
            </a:prstGeom>
            <a:noFill/>
            <a:ln>
              <a:noFill/>
            </a:ln>
          </p:spPr>
          <p:txBody>
            <a:bodyPr wrap="none" lIns="0" tIns="0" rIns="0" bIns="0" anchor="t" anchorCtr="0">
              <a:spAutoFit/>
            </a:bodyPr>
            <a:lstStyle/>
            <a:p>
              <a:pPr algn="r"/>
              <a:r>
                <a:rPr lang="ko-KR" sz="1280" dirty="0">
                  <a:solidFill>
                    <a:srgbClr val="374151"/>
                  </a:solidFill>
                  <a:latin typeface="+mn-lt"/>
                  <a:ea typeface="+mn-ea"/>
                  <a:cs typeface="+mn-cs"/>
                </a:rPr>
                <a:t>인명 피해</a:t>
              </a:r>
            </a:p>
          </p:txBody>
        </p:sp>
        <p:sp>
          <p:nvSpPr>
            <p:cNvPr id="38" name="Line 38"/>
            <p:cNvSpPr/>
            <p:nvPr/>
          </p:nvSpPr>
          <p:spPr>
            <a:xfrm>
              <a:off x="533400" y="5200650"/>
              <a:ext cx="5181600" cy="9525"/>
            </a:xfrm>
            <a:custGeom>
              <a:avLst/>
              <a:gdLst/>
              <a:ahLst/>
              <a:cxnLst/>
              <a:rect l="l" t="t" r="r" b="b"/>
              <a:pathLst>
                <a:path w="5181600" h="9525">
                  <a:moveTo>
                    <a:pt x="0" y="0"/>
                  </a:moveTo>
                  <a:lnTo>
                    <a:pt x="5181600" y="0"/>
                  </a:lnTo>
                </a:path>
              </a:pathLst>
            </a:custGeom>
            <a:noFill/>
            <a:ln w="9525">
              <a:solidFill>
                <a:srgbClr val="D5DAE1"/>
              </a:solidFill>
            </a:ln>
          </p:spPr>
        </p:sp>
      </p:grpSp>
      <p:grpSp>
        <p:nvGrpSpPr>
          <p:cNvPr id="45" name="second-incident"/>
          <p:cNvGrpSpPr/>
          <p:nvPr/>
        </p:nvGrpSpPr>
        <p:grpSpPr>
          <a:xfrm>
            <a:off x="533400" y="5334000"/>
            <a:ext cx="5181600" cy="857250"/>
            <a:chOff x="533400" y="5334000"/>
            <a:chExt cx="5181600" cy="857250"/>
          </a:xfrm>
        </p:grpSpPr>
        <p:sp>
          <p:nvSpPr>
            <p:cNvPr id="40" name="Rectangle 40"/>
            <p:cNvSpPr/>
            <p:nvPr/>
          </p:nvSpPr>
          <p:spPr>
            <a:xfrm>
              <a:off x="533400" y="5334000"/>
              <a:ext cx="5181600" cy="857250"/>
            </a:xfrm>
            <a:prstGeom prst="rect">
              <a:avLst/>
            </a:prstGeom>
            <a:solidFill>
              <a:srgbClr val="F3F5F8"/>
            </a:solidFill>
            <a:ln>
              <a:noFill/>
            </a:ln>
          </p:spPr>
        </p:sp>
        <p:sp>
          <p:nvSpPr>
            <p:cNvPr id="41" name="Rectangle 41"/>
            <p:cNvSpPr/>
            <p:nvPr/>
          </p:nvSpPr>
          <p:spPr>
            <a:xfrm>
              <a:off x="533400" y="5334000"/>
              <a:ext cx="38100" cy="857250"/>
            </a:xfrm>
            <a:prstGeom prst="rect">
              <a:avLst/>
            </a:prstGeom>
            <a:solidFill>
              <a:srgbClr val="C62828"/>
            </a:solidFill>
            <a:ln>
              <a:noFill/>
            </a:ln>
          </p:spPr>
        </p:sp>
        <p:sp>
          <p:nvSpPr>
            <p:cNvPr id="42" name="TextBox 42"/>
            <p:cNvSpPr txBox="1"/>
            <p:nvPr/>
          </p:nvSpPr>
          <p:spPr>
            <a:xfrm>
              <a:off x="718185" y="5441950"/>
              <a:ext cx="3460017"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7개월 앞서 · 2024. 8. 29 서대문구 연희동 성산로</a:t>
              </a:r>
            </a:p>
          </p:txBody>
        </p:sp>
        <p:sp>
          <p:nvSpPr>
            <p:cNvPr id="43" name="TextBox 43"/>
            <p:cNvSpPr txBox="1"/>
            <p:nvPr/>
          </p:nvSpPr>
          <p:spPr>
            <a:xfrm>
              <a:off x="717042" y="5673725"/>
              <a:ext cx="4303164"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6m × 4m × 깊이 2.5m · 차량 추락, 동승자 1명 사망</a:t>
              </a:r>
            </a:p>
          </p:txBody>
        </p:sp>
        <p:sp>
          <p:nvSpPr>
            <p:cNvPr id="44" name="TextBox 44"/>
            <p:cNvSpPr txBox="1"/>
            <p:nvPr/>
          </p:nvSpPr>
          <p:spPr>
            <a:xfrm>
              <a:off x="718185" y="5937250"/>
              <a:ext cx="464418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그 도로는 3개월 전(2024.5) GPR 탐사에서 ‘공동 없음’이었습니다.</a:t>
              </a:r>
            </a:p>
          </p:txBody>
        </p:sp>
      </p:grpSp>
      <p:grpSp>
        <p:nvGrpSpPr>
          <p:cNvPr id="47" name="source"/>
          <p:cNvGrpSpPr/>
          <p:nvPr/>
        </p:nvGrpSpPr>
        <p:grpSpPr>
          <a:xfrm>
            <a:off x="528638" y="6299200"/>
            <a:ext cx="4838700" cy="319088"/>
            <a:chOff x="528638" y="6299200"/>
            <a:chExt cx="4838700" cy="319088"/>
          </a:xfrm>
        </p:grpSpPr>
        <p:sp>
          <p:nvSpPr>
            <p:cNvPr id="46" name="TextBox 46"/>
            <p:cNvSpPr txBox="1"/>
            <p:nvPr/>
          </p:nvSpPr>
          <p:spPr>
            <a:xfrm>
              <a:off x="528638" y="6299200"/>
              <a:ext cx="4838700" cy="319088"/>
            </a:xfrm>
            <a:prstGeom prst="rect">
              <a:avLst/>
            </a:prstGeom>
            <a:noFill/>
            <a:ln>
              <a:noFill/>
            </a:ln>
          </p:spPr>
          <p:txBody>
            <a:bodyPr wrap="none" lIns="0" tIns="0" rIns="0" bIns="0" anchor="t" anchorCtr="0">
              <a:spAutoFit/>
            </a:bodyPr>
            <a:lstStyle/>
            <a:p>
              <a:pPr algn="l">
                <a:lnSpc>
                  <a:spcPts val="1125"/>
                </a:lnSpc>
              </a:pPr>
              <a:r>
                <a:rPr lang="ko-KR" sz="900" dirty="0">
                  <a:solidFill>
                    <a:srgbClr val="4B5563"/>
                  </a:solidFill>
                  <a:latin typeface="+mn-lt"/>
                  <a:ea typeface="+mn-ea"/>
                  <a:cs typeface="+mn-cs"/>
                </a:rPr>
                <a:t>출처: 국토교통부 「땅꺼짐 사고 조사결과 발표」(2025.12.3) · 명일동 사고조사 최종보고서</a:t>
              </a:r>
              <a:br>
                <a:rPr lang="ko-KR" sz="900" dirty="0">
                  <a:solidFill>
                    <a:srgbClr val="4B5563"/>
                  </a:solidFill>
                  <a:latin typeface="+mn-lt"/>
                  <a:ea typeface="+mn-ea"/>
                  <a:cs typeface="+mn-cs"/>
                </a:rPr>
              </a:br>
              <a:r>
                <a:rPr lang="ko-KR" sz="900" dirty="0">
                  <a:solidFill>
                    <a:srgbClr val="4B5563"/>
                  </a:solidFill>
                  <a:latin typeface="+mn-lt"/>
                  <a:ea typeface="+mn-ea"/>
                  <a:cs typeface="+mn-cs"/>
                </a:rPr>
                <a:t>아시아경제(2024.8.30) 연희동 규모·사전 GPR 탐사 · 세계일보(2025.9.25) 연희동 인명피해</a:t>
              </a:r>
            </a:p>
          </p:txBody>
        </p:sp>
      </p:grpSp>
      <p:grpSp>
        <p:nvGrpSpPr>
          <p:cNvPr id="50" name="footer"/>
          <p:cNvGrpSpPr/>
          <p:nvPr/>
        </p:nvGrpSpPr>
        <p:grpSpPr>
          <a:xfrm>
            <a:off x="528638" y="6610350"/>
            <a:ext cx="5191124" cy="176212"/>
            <a:chOff x="528638" y="6610350"/>
            <a:chExt cx="5191124" cy="176212"/>
          </a:xfrm>
        </p:grpSpPr>
        <p:sp>
          <p:nvSpPr>
            <p:cNvPr id="48" name="TextBox 48"/>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49" name="TextBox 49"/>
            <p:cNvSpPr txBox="1"/>
            <p:nvPr/>
          </p:nvSpPr>
          <p:spPr>
            <a:xfrm>
              <a:off x="53043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02 / 16</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19100" cy="228600"/>
            </a:xfrm>
            <a:prstGeom prst="rect">
              <a:avLst/>
            </a:prstGeom>
            <a:solidFill>
              <a:srgbClr val="F5B700"/>
            </a:solidFill>
            <a:ln>
              <a:noFill/>
            </a:ln>
          </p:spPr>
        </p:sp>
        <p:sp>
          <p:nvSpPr>
            <p:cNvPr id="5" name="TextBox 5"/>
            <p:cNvSpPr txBox="1"/>
            <p:nvPr/>
          </p:nvSpPr>
          <p:spPr>
            <a:xfrm>
              <a:off x="1939569" y="301625"/>
              <a:ext cx="273761"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문제</a:t>
              </a:r>
            </a:p>
          </p:txBody>
        </p:sp>
        <p:sp>
          <p:nvSpPr>
            <p:cNvPr id="6" name="TextBox 6"/>
            <p:cNvSpPr txBox="1"/>
            <p:nvPr/>
          </p:nvSpPr>
          <p:spPr>
            <a:xfrm>
              <a:off x="2394966" y="301625"/>
              <a:ext cx="230301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땅꺼짐 유형과 GroundWatch의 대상</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7322830" cy="557403"/>
            <a:chOff x="518922" y="781050"/>
            <a:chExt cx="7322830" cy="557403"/>
          </a:xfrm>
        </p:grpSpPr>
        <p:sp>
          <p:nvSpPr>
            <p:cNvPr id="9" name="TextBox 9"/>
            <p:cNvSpPr txBox="1"/>
            <p:nvPr/>
          </p:nvSpPr>
          <p:spPr>
            <a:xfrm>
              <a:off x="518922" y="781050"/>
              <a:ext cx="7322830"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땅꺼짐은 깊이에 따라 막는 방법이 다릅니다</a:t>
              </a:r>
            </a:p>
          </p:txBody>
        </p:sp>
      </p:grpSp>
      <p:grpSp>
        <p:nvGrpSpPr>
          <p:cNvPr id="20" name="depth-bands"/>
          <p:cNvGrpSpPr/>
          <p:nvPr/>
        </p:nvGrpSpPr>
        <p:grpSpPr>
          <a:xfrm>
            <a:off x="725767" y="1981200"/>
            <a:ext cx="1198283" cy="2705100"/>
            <a:chOff x="725767" y="1981200"/>
            <a:chExt cx="1198283" cy="2705100"/>
          </a:xfrm>
        </p:grpSpPr>
        <p:sp>
          <p:nvSpPr>
            <p:cNvPr id="11" name="Rectangle 11"/>
            <p:cNvSpPr/>
            <p:nvPr/>
          </p:nvSpPr>
          <p:spPr>
            <a:xfrm>
              <a:off x="1885950" y="1981200"/>
              <a:ext cx="38100" cy="1466850"/>
            </a:xfrm>
            <a:prstGeom prst="rect">
              <a:avLst/>
            </a:prstGeom>
            <a:solidFill>
              <a:srgbClr val="F5B700"/>
            </a:solidFill>
            <a:ln>
              <a:noFill/>
            </a:ln>
          </p:spPr>
        </p:sp>
        <p:sp>
          <p:nvSpPr>
            <p:cNvPr id="12" name="TextBox 12"/>
            <p:cNvSpPr txBox="1"/>
            <p:nvPr/>
          </p:nvSpPr>
          <p:spPr>
            <a:xfrm>
              <a:off x="1249086" y="2228850"/>
              <a:ext cx="547710" cy="234696"/>
            </a:xfrm>
            <a:prstGeom prst="rect">
              <a:avLst/>
            </a:prstGeom>
            <a:noFill/>
            <a:ln>
              <a:noFill/>
            </a:ln>
          </p:spPr>
          <p:txBody>
            <a:bodyPr wrap="none" lIns="0" tIns="0" rIns="0" bIns="0" anchor="t" anchorCtr="0">
              <a:spAutoFit/>
            </a:bodyPr>
            <a:lstStyle/>
            <a:p>
              <a:pPr algn="r"/>
              <a:r>
                <a:rPr lang="ko-KR" sz="1200" b="1" dirty="0">
                  <a:solidFill>
                    <a:srgbClr val="0B1E3C"/>
                  </a:solidFill>
                  <a:latin typeface="+mn-lt"/>
                  <a:ea typeface="+mn-ea"/>
                  <a:cs typeface="+mn-cs"/>
                </a:rPr>
                <a:t>얕은 층</a:t>
              </a:r>
            </a:p>
          </p:txBody>
        </p:sp>
        <p:sp>
          <p:nvSpPr>
            <p:cNvPr id="13" name="TextBox 13"/>
            <p:cNvSpPr txBox="1"/>
            <p:nvPr/>
          </p:nvSpPr>
          <p:spPr>
            <a:xfrm>
              <a:off x="1046190" y="2451100"/>
              <a:ext cx="750225" cy="220028"/>
            </a:xfrm>
            <a:prstGeom prst="rect">
              <a:avLst/>
            </a:prstGeom>
            <a:noFill/>
            <a:ln>
              <a:noFill/>
            </a:ln>
          </p:spPr>
          <p:txBody>
            <a:bodyPr wrap="none" lIns="0" tIns="0" rIns="0" bIns="0" anchor="t" anchorCtr="0">
              <a:spAutoFit/>
            </a:bodyPr>
            <a:lstStyle/>
            <a:p>
              <a:pPr algn="r"/>
              <a:r>
                <a:rPr lang="ko-KR" sz="1120" dirty="0">
                  <a:solidFill>
                    <a:srgbClr val="111827"/>
                  </a:solidFill>
                  <a:latin typeface="+mn-lt"/>
                  <a:ea typeface="+mn-ea"/>
                  <a:cs typeface="+mn-cs"/>
                </a:rPr>
                <a:t>약 2m 이내</a:t>
              </a:r>
            </a:p>
          </p:txBody>
        </p:sp>
        <p:sp>
          <p:nvSpPr>
            <p:cNvPr id="14" name="TextBox 14"/>
            <p:cNvSpPr txBox="1"/>
            <p:nvPr/>
          </p:nvSpPr>
          <p:spPr>
            <a:xfrm>
              <a:off x="725767" y="2768600"/>
              <a:ext cx="1070267" cy="205359"/>
            </a:xfrm>
            <a:prstGeom prst="rect">
              <a:avLst/>
            </a:prstGeom>
            <a:noFill/>
            <a:ln>
              <a:noFill/>
            </a:ln>
          </p:spPr>
          <p:txBody>
            <a:bodyPr wrap="none" lIns="0" tIns="0" rIns="0" bIns="0" anchor="t" anchorCtr="0">
              <a:spAutoFit/>
            </a:bodyPr>
            <a:lstStyle/>
            <a:p>
              <a:pPr algn="r"/>
              <a:r>
                <a:rPr lang="ko-KR" sz="1050" b="1" dirty="0">
                  <a:solidFill>
                    <a:srgbClr val="8A5A00"/>
                  </a:solidFill>
                  <a:latin typeface="+mn-lt"/>
                  <a:ea typeface="+mn-ea"/>
                  <a:cs typeface="+mn-cs"/>
                </a:rPr>
                <a:t>차량형 GPR 순찰</a:t>
              </a:r>
            </a:p>
          </p:txBody>
        </p:sp>
        <p:sp>
          <p:nvSpPr>
            <p:cNvPr id="15" name="TextBox 15"/>
            <p:cNvSpPr txBox="1"/>
            <p:nvPr/>
          </p:nvSpPr>
          <p:spPr>
            <a:xfrm>
              <a:off x="725767" y="2959100"/>
              <a:ext cx="1070267" cy="205359"/>
            </a:xfrm>
            <a:prstGeom prst="rect">
              <a:avLst/>
            </a:prstGeom>
            <a:noFill/>
            <a:ln>
              <a:noFill/>
            </a:ln>
          </p:spPr>
          <p:txBody>
            <a:bodyPr wrap="none" lIns="0" tIns="0" rIns="0" bIns="0" anchor="t" anchorCtr="0">
              <a:spAutoFit/>
            </a:bodyPr>
            <a:lstStyle/>
            <a:p>
              <a:pPr algn="r"/>
              <a:r>
                <a:rPr lang="ko-KR" sz="1050" b="1" dirty="0">
                  <a:solidFill>
                    <a:srgbClr val="8A5A00"/>
                  </a:solidFill>
                  <a:latin typeface="+mn-lt"/>
                  <a:ea typeface="+mn-ea"/>
                  <a:cs typeface="+mn-cs"/>
                </a:rPr>
                <a:t>수동 GPR 재확인</a:t>
              </a:r>
            </a:p>
          </p:txBody>
        </p:sp>
        <p:sp>
          <p:nvSpPr>
            <p:cNvPr id="16" name="Rectangle 16"/>
            <p:cNvSpPr/>
            <p:nvPr/>
          </p:nvSpPr>
          <p:spPr>
            <a:xfrm>
              <a:off x="1885950" y="3505200"/>
              <a:ext cx="38100" cy="1181100"/>
            </a:xfrm>
            <a:prstGeom prst="rect">
              <a:avLst/>
            </a:prstGeom>
            <a:solidFill>
              <a:srgbClr val="9AA3AF"/>
            </a:solidFill>
            <a:ln>
              <a:noFill/>
            </a:ln>
          </p:spPr>
        </p:sp>
        <p:sp>
          <p:nvSpPr>
            <p:cNvPr id="17" name="TextBox 17"/>
            <p:cNvSpPr txBox="1"/>
            <p:nvPr/>
          </p:nvSpPr>
          <p:spPr>
            <a:xfrm>
              <a:off x="1249086" y="3790950"/>
              <a:ext cx="547710" cy="234696"/>
            </a:xfrm>
            <a:prstGeom prst="rect">
              <a:avLst/>
            </a:prstGeom>
            <a:noFill/>
            <a:ln>
              <a:noFill/>
            </a:ln>
          </p:spPr>
          <p:txBody>
            <a:bodyPr wrap="none" lIns="0" tIns="0" rIns="0" bIns="0" anchor="t" anchorCtr="0">
              <a:spAutoFit/>
            </a:bodyPr>
            <a:lstStyle/>
            <a:p>
              <a:pPr algn="r"/>
              <a:r>
                <a:rPr lang="ko-KR" sz="1200" b="1" dirty="0">
                  <a:solidFill>
                    <a:srgbClr val="374151"/>
                  </a:solidFill>
                  <a:latin typeface="+mn-lt"/>
                  <a:ea typeface="+mn-ea"/>
                  <a:cs typeface="+mn-cs"/>
                </a:rPr>
                <a:t>깊은 층</a:t>
              </a:r>
            </a:p>
          </p:txBody>
        </p:sp>
        <p:sp>
          <p:nvSpPr>
            <p:cNvPr id="18" name="TextBox 18"/>
            <p:cNvSpPr txBox="1"/>
            <p:nvPr/>
          </p:nvSpPr>
          <p:spPr>
            <a:xfrm>
              <a:off x="1036206" y="4064000"/>
              <a:ext cx="759828" cy="205359"/>
            </a:xfrm>
            <a:prstGeom prst="rect">
              <a:avLst/>
            </a:prstGeom>
            <a:noFill/>
            <a:ln>
              <a:noFill/>
            </a:ln>
          </p:spPr>
          <p:txBody>
            <a:bodyPr wrap="none" lIns="0" tIns="0" rIns="0" bIns="0" anchor="t" anchorCtr="0">
              <a:spAutoFit/>
            </a:bodyPr>
            <a:lstStyle/>
            <a:p>
              <a:pPr algn="r"/>
              <a:r>
                <a:rPr lang="ko-KR" sz="1050" dirty="0">
                  <a:solidFill>
                    <a:srgbClr val="374151"/>
                  </a:solidFill>
                  <a:latin typeface="+mn-lt"/>
                  <a:ea typeface="+mn-ea"/>
                  <a:cs typeface="+mn-cs"/>
                </a:rPr>
                <a:t>공사장 계측</a:t>
              </a:r>
            </a:p>
          </p:txBody>
        </p:sp>
        <p:sp>
          <p:nvSpPr>
            <p:cNvPr id="19" name="TextBox 19"/>
            <p:cNvSpPr txBox="1"/>
            <p:nvPr/>
          </p:nvSpPr>
          <p:spPr>
            <a:xfrm>
              <a:off x="1219962" y="4254500"/>
              <a:ext cx="576072" cy="205359"/>
            </a:xfrm>
            <a:prstGeom prst="rect">
              <a:avLst/>
            </a:prstGeom>
            <a:noFill/>
            <a:ln>
              <a:noFill/>
            </a:ln>
          </p:spPr>
          <p:txBody>
            <a:bodyPr wrap="none" lIns="0" tIns="0" rIns="0" bIns="0" anchor="t" anchorCtr="0">
              <a:spAutoFit/>
            </a:bodyPr>
            <a:lstStyle/>
            <a:p>
              <a:pPr algn="r"/>
              <a:r>
                <a:rPr lang="ko-KR" sz="1050" dirty="0">
                  <a:solidFill>
                    <a:srgbClr val="374151"/>
                  </a:solidFill>
                  <a:latin typeface="+mn-lt"/>
                  <a:ea typeface="+mn-ea"/>
                  <a:cs typeface="+mn-cs"/>
                </a:rPr>
                <a:t>지반조사</a:t>
              </a:r>
            </a:p>
          </p:txBody>
        </p:sp>
      </p:grpSp>
      <p:grpSp>
        <p:nvGrpSpPr>
          <p:cNvPr id="37" name="section-figure"/>
          <p:cNvGrpSpPr/>
          <p:nvPr/>
        </p:nvGrpSpPr>
        <p:grpSpPr>
          <a:xfrm>
            <a:off x="2019300" y="1638300"/>
            <a:ext cx="4953000" cy="3152775"/>
            <a:chOff x="2019300" y="1638300"/>
            <a:chExt cx="4953000" cy="3152775"/>
          </a:xfrm>
        </p:grpSpPr>
        <p:pic>
          <p:nvPicPr>
            <p:cNvPr id="21" name="Image 21"/>
            <p:cNvPicPr>
              <a:picLocks noChangeAspect="1"/>
            </p:cNvPicPr>
            <p:nvPr/>
          </p:nvPicPr>
          <p:blipFill>
            <a:blip r:embed="rId2"/>
            <a:stretch>
              <a:fillRect/>
            </a:stretch>
          </p:blipFill>
          <p:spPr>
            <a:xfrm>
              <a:off x="2019300" y="1638300"/>
              <a:ext cx="4953000" cy="3152775"/>
            </a:xfrm>
            <a:prstGeom prst="rect">
              <a:avLst/>
            </a:prstGeom>
          </p:spPr>
        </p:pic>
        <p:grpSp>
          <p:nvGrpSpPr>
            <p:cNvPr id="36" name="Group 36"/>
            <p:cNvGrpSpPr/>
            <p:nvPr/>
          </p:nvGrpSpPr>
          <p:grpSpPr>
            <a:xfrm>
              <a:off x="2495550" y="2038350"/>
              <a:ext cx="3390900" cy="2040509"/>
              <a:chOff x="2495550" y="2038350"/>
              <a:chExt cx="3390900" cy="2040509"/>
            </a:xfrm>
          </p:grpSpPr>
          <p:sp>
            <p:nvSpPr>
              <p:cNvPr id="22" name="Rectangle 22"/>
              <p:cNvSpPr/>
              <p:nvPr/>
            </p:nvSpPr>
            <p:spPr>
              <a:xfrm>
                <a:off x="3848100" y="2038350"/>
                <a:ext cx="990600" cy="247650"/>
              </a:xfrm>
              <a:prstGeom prst="roundRect">
                <a:avLst>
                  <a:gd name="adj" fmla="val 50000"/>
                </a:avLst>
              </a:prstGeom>
              <a:solidFill>
                <a:srgbClr val="0B1E3C"/>
              </a:solidFill>
              <a:ln>
                <a:noFill/>
              </a:ln>
            </p:spPr>
          </p:sp>
          <p:sp>
            <p:nvSpPr>
              <p:cNvPr id="23" name="Ellipse 23"/>
              <p:cNvSpPr/>
              <p:nvPr/>
            </p:nvSpPr>
            <p:spPr>
              <a:xfrm>
                <a:off x="3886200" y="2066925"/>
                <a:ext cx="190500" cy="190500"/>
              </a:xfrm>
              <a:prstGeom prst="ellipse">
                <a:avLst/>
              </a:prstGeom>
              <a:solidFill>
                <a:srgbClr val="F5B700"/>
              </a:solidFill>
              <a:ln>
                <a:noFill/>
              </a:ln>
            </p:spPr>
          </p:sp>
          <p:sp>
            <p:nvSpPr>
              <p:cNvPr id="24" name="TextBox 24"/>
              <p:cNvSpPr txBox="1"/>
              <p:nvPr/>
            </p:nvSpPr>
            <p:spPr>
              <a:xfrm>
                <a:off x="3941703" y="2095500"/>
                <a:ext cx="79494" cy="176212"/>
              </a:xfrm>
              <a:prstGeom prst="rect">
                <a:avLst/>
              </a:prstGeom>
              <a:noFill/>
              <a:ln>
                <a:noFill/>
              </a:ln>
            </p:spPr>
            <p:txBody>
              <a:bodyPr wrap="none" lIns="0" tIns="0" rIns="0" bIns="0" anchor="t" anchorCtr="0">
                <a:spAutoFit/>
              </a:bodyPr>
              <a:lstStyle/>
              <a:p>
                <a:pPr algn="ctr"/>
                <a:r>
                  <a:rPr lang="ko-KR" sz="900" b="1" dirty="0">
                    <a:solidFill>
                      <a:srgbClr val="0B1E3C"/>
                    </a:solidFill>
                    <a:latin typeface="+mn-lt"/>
                    <a:ea typeface="+mn-ea"/>
                    <a:cs typeface="+mn-cs"/>
                  </a:rPr>
                  <a:t>3</a:t>
                </a:r>
              </a:p>
            </p:txBody>
          </p:sp>
          <p:sp>
            <p:nvSpPr>
              <p:cNvPr id="25" name="TextBox 25"/>
              <p:cNvSpPr txBox="1"/>
              <p:nvPr/>
            </p:nvSpPr>
            <p:spPr>
              <a:xfrm>
                <a:off x="4128516" y="2082800"/>
                <a:ext cx="620598" cy="205359"/>
              </a:xfrm>
              <a:prstGeom prst="rect">
                <a:avLst/>
              </a:prstGeom>
              <a:noFill/>
              <a:ln>
                <a:noFill/>
              </a:ln>
            </p:spPr>
            <p:txBody>
              <a:bodyPr wrap="none" lIns="0" tIns="0" rIns="0" bIns="0" anchor="t" anchorCtr="0">
                <a:spAutoFit/>
              </a:bodyPr>
              <a:lstStyle/>
              <a:p>
                <a:pPr algn="l"/>
                <a:r>
                  <a:rPr lang="ko-KR" sz="1050" b="1" dirty="0">
                    <a:solidFill>
                      <a:srgbClr val="FFFFFF"/>
                    </a:solidFill>
                    <a:latin typeface="+mn-lt"/>
                    <a:ea typeface="+mn-ea"/>
                    <a:cs typeface="+mn-cs"/>
                  </a:rPr>
                  <a:t>노면 침하</a:t>
                </a:r>
              </a:p>
            </p:txBody>
          </p:sp>
          <p:sp>
            <p:nvSpPr>
              <p:cNvPr id="26" name="Rectangle 26"/>
              <p:cNvSpPr/>
              <p:nvPr/>
            </p:nvSpPr>
            <p:spPr>
              <a:xfrm>
                <a:off x="2495550" y="2571750"/>
                <a:ext cx="990600" cy="247650"/>
              </a:xfrm>
              <a:prstGeom prst="roundRect">
                <a:avLst>
                  <a:gd name="adj" fmla="val 50000"/>
                </a:avLst>
              </a:prstGeom>
              <a:solidFill>
                <a:srgbClr val="0B1E3C"/>
              </a:solidFill>
              <a:ln>
                <a:noFill/>
              </a:ln>
            </p:spPr>
          </p:sp>
          <p:sp>
            <p:nvSpPr>
              <p:cNvPr id="27" name="Ellipse 27"/>
              <p:cNvSpPr/>
              <p:nvPr/>
            </p:nvSpPr>
            <p:spPr>
              <a:xfrm>
                <a:off x="2533650" y="2600325"/>
                <a:ext cx="190500" cy="190500"/>
              </a:xfrm>
              <a:prstGeom prst="ellipse">
                <a:avLst/>
              </a:prstGeom>
              <a:solidFill>
                <a:srgbClr val="F5B700"/>
              </a:solidFill>
              <a:ln>
                <a:noFill/>
              </a:ln>
            </p:spPr>
          </p:sp>
          <p:sp>
            <p:nvSpPr>
              <p:cNvPr id="28" name="TextBox 28"/>
              <p:cNvSpPr txBox="1"/>
              <p:nvPr/>
            </p:nvSpPr>
            <p:spPr>
              <a:xfrm>
                <a:off x="2589153" y="2628900"/>
                <a:ext cx="79494" cy="176212"/>
              </a:xfrm>
              <a:prstGeom prst="rect">
                <a:avLst/>
              </a:prstGeom>
              <a:noFill/>
              <a:ln>
                <a:noFill/>
              </a:ln>
            </p:spPr>
            <p:txBody>
              <a:bodyPr wrap="none" lIns="0" tIns="0" rIns="0" bIns="0" anchor="t" anchorCtr="0">
                <a:spAutoFit/>
              </a:bodyPr>
              <a:lstStyle/>
              <a:p>
                <a:pPr algn="ctr"/>
                <a:r>
                  <a:rPr lang="ko-KR" sz="900" b="1" dirty="0">
                    <a:solidFill>
                      <a:srgbClr val="0B1E3C"/>
                    </a:solidFill>
                    <a:latin typeface="+mn-lt"/>
                    <a:ea typeface="+mn-ea"/>
                    <a:cs typeface="+mn-cs"/>
                  </a:rPr>
                  <a:t>2</a:t>
                </a:r>
              </a:p>
            </p:txBody>
          </p:sp>
          <p:sp>
            <p:nvSpPr>
              <p:cNvPr id="29" name="TextBox 29"/>
              <p:cNvSpPr txBox="1"/>
              <p:nvPr/>
            </p:nvSpPr>
            <p:spPr>
              <a:xfrm>
                <a:off x="2775966" y="2616200"/>
                <a:ext cx="620598" cy="205359"/>
              </a:xfrm>
              <a:prstGeom prst="rect">
                <a:avLst/>
              </a:prstGeom>
              <a:noFill/>
              <a:ln>
                <a:noFill/>
              </a:ln>
            </p:spPr>
            <p:txBody>
              <a:bodyPr wrap="none" lIns="0" tIns="0" rIns="0" bIns="0" anchor="t" anchorCtr="0">
                <a:spAutoFit/>
              </a:bodyPr>
              <a:lstStyle/>
              <a:p>
                <a:pPr algn="l"/>
                <a:r>
                  <a:rPr lang="ko-KR" sz="1050" b="1" dirty="0">
                    <a:solidFill>
                      <a:srgbClr val="FFFFFF"/>
                    </a:solidFill>
                    <a:latin typeface="+mn-lt"/>
                    <a:ea typeface="+mn-ea"/>
                    <a:cs typeface="+mn-cs"/>
                  </a:rPr>
                  <a:t>공동 형성</a:t>
                </a:r>
              </a:p>
            </p:txBody>
          </p:sp>
          <p:sp>
            <p:nvSpPr>
              <p:cNvPr id="30" name="Rectangle 30"/>
              <p:cNvSpPr/>
              <p:nvPr/>
            </p:nvSpPr>
            <p:spPr>
              <a:xfrm>
                <a:off x="4762500" y="3048000"/>
                <a:ext cx="1123950" cy="247650"/>
              </a:xfrm>
              <a:prstGeom prst="roundRect">
                <a:avLst>
                  <a:gd name="adj" fmla="val 50000"/>
                </a:avLst>
              </a:prstGeom>
              <a:solidFill>
                <a:srgbClr val="0B1E3C"/>
              </a:solidFill>
              <a:ln>
                <a:noFill/>
              </a:ln>
            </p:spPr>
          </p:sp>
          <p:sp>
            <p:nvSpPr>
              <p:cNvPr id="31" name="Ellipse 31"/>
              <p:cNvSpPr/>
              <p:nvPr/>
            </p:nvSpPr>
            <p:spPr>
              <a:xfrm>
                <a:off x="4800600" y="3076575"/>
                <a:ext cx="190500" cy="190500"/>
              </a:xfrm>
              <a:prstGeom prst="ellipse">
                <a:avLst/>
              </a:prstGeom>
              <a:solidFill>
                <a:srgbClr val="F5B700"/>
              </a:solidFill>
              <a:ln>
                <a:noFill/>
              </a:ln>
            </p:spPr>
          </p:sp>
          <p:sp>
            <p:nvSpPr>
              <p:cNvPr id="32" name="TextBox 32"/>
              <p:cNvSpPr txBox="1"/>
              <p:nvPr/>
            </p:nvSpPr>
            <p:spPr>
              <a:xfrm>
                <a:off x="4856103" y="3105150"/>
                <a:ext cx="79494" cy="176212"/>
              </a:xfrm>
              <a:prstGeom prst="rect">
                <a:avLst/>
              </a:prstGeom>
              <a:noFill/>
              <a:ln>
                <a:noFill/>
              </a:ln>
            </p:spPr>
            <p:txBody>
              <a:bodyPr wrap="none" lIns="0" tIns="0" rIns="0" bIns="0" anchor="t" anchorCtr="0">
                <a:spAutoFit/>
              </a:bodyPr>
              <a:lstStyle/>
              <a:p>
                <a:pPr algn="ctr"/>
                <a:r>
                  <a:rPr lang="ko-KR" sz="900" b="1" dirty="0">
                    <a:solidFill>
                      <a:srgbClr val="0B1E3C"/>
                    </a:solidFill>
                    <a:latin typeface="+mn-lt"/>
                    <a:ea typeface="+mn-ea"/>
                    <a:cs typeface="+mn-cs"/>
                  </a:rPr>
                  <a:t>1</a:t>
                </a:r>
              </a:p>
            </p:txBody>
          </p:sp>
          <p:sp>
            <p:nvSpPr>
              <p:cNvPr id="33" name="TextBox 33"/>
              <p:cNvSpPr txBox="1"/>
              <p:nvPr/>
            </p:nvSpPr>
            <p:spPr>
              <a:xfrm>
                <a:off x="5042916" y="3092450"/>
                <a:ext cx="761949" cy="205359"/>
              </a:xfrm>
              <a:prstGeom prst="rect">
                <a:avLst/>
              </a:prstGeom>
              <a:noFill/>
              <a:ln>
                <a:noFill/>
              </a:ln>
            </p:spPr>
            <p:txBody>
              <a:bodyPr wrap="none" lIns="0" tIns="0" rIns="0" bIns="0" anchor="t" anchorCtr="0">
                <a:spAutoFit/>
              </a:bodyPr>
              <a:lstStyle/>
              <a:p>
                <a:pPr algn="l"/>
                <a:r>
                  <a:rPr lang="ko-KR" sz="1050" b="1" dirty="0">
                    <a:solidFill>
                      <a:srgbClr val="FFFFFF"/>
                    </a:solidFill>
                    <a:latin typeface="+mn-lt"/>
                    <a:ea typeface="+mn-ea"/>
                    <a:cs typeface="+mn-cs"/>
                  </a:rPr>
                  <a:t>하수관 누수</a:t>
                </a:r>
              </a:p>
            </p:txBody>
          </p:sp>
          <p:sp>
            <p:nvSpPr>
              <p:cNvPr id="34" name="Rectangle 34"/>
              <p:cNvSpPr/>
              <p:nvPr/>
            </p:nvSpPr>
            <p:spPr>
              <a:xfrm>
                <a:off x="3524250" y="3829050"/>
                <a:ext cx="1524000" cy="247650"/>
              </a:xfrm>
              <a:prstGeom prst="roundRect">
                <a:avLst>
                  <a:gd name="adj" fmla="val 50000"/>
                </a:avLst>
              </a:prstGeom>
              <a:solidFill>
                <a:srgbClr val="FFFFFF"/>
              </a:solidFill>
              <a:ln w="9525">
                <a:solidFill>
                  <a:srgbClr val="9AA3AF"/>
                </a:solidFill>
              </a:ln>
            </p:spPr>
          </p:sp>
          <p:sp>
            <p:nvSpPr>
              <p:cNvPr id="35" name="TextBox 35"/>
              <p:cNvSpPr txBox="1"/>
              <p:nvPr/>
            </p:nvSpPr>
            <p:spPr>
              <a:xfrm>
                <a:off x="3630171" y="3873500"/>
                <a:ext cx="1312157" cy="205359"/>
              </a:xfrm>
              <a:prstGeom prst="rect">
                <a:avLst/>
              </a:prstGeom>
              <a:noFill/>
              <a:ln>
                <a:noFill/>
              </a:ln>
            </p:spPr>
            <p:txBody>
              <a:bodyPr wrap="none" lIns="0" tIns="0" rIns="0" bIns="0" anchor="t" anchorCtr="0">
                <a:spAutoFit/>
              </a:bodyPr>
              <a:lstStyle/>
              <a:p>
                <a:pPr algn="ctr"/>
                <a:r>
                  <a:rPr lang="ko-KR" sz="1050" b="1" dirty="0">
                    <a:solidFill>
                      <a:srgbClr val="374151"/>
                    </a:solidFill>
                    <a:latin typeface="+mn-lt"/>
                    <a:ea typeface="+mn-ea"/>
                    <a:cs typeface="+mn-cs"/>
                  </a:rPr>
                  <a:t>터널·깊은 지층 결함</a:t>
                </a:r>
              </a:p>
            </p:txBody>
          </p:sp>
        </p:grpSp>
      </p:grpSp>
      <p:grpSp>
        <p:nvGrpSpPr>
          <p:cNvPr id="40" name="figure-caption"/>
          <p:cNvGrpSpPr/>
          <p:nvPr/>
        </p:nvGrpSpPr>
        <p:grpSpPr>
          <a:xfrm>
            <a:off x="527304" y="4991100"/>
            <a:ext cx="3622700" cy="482346"/>
            <a:chOff x="527304" y="4991100"/>
            <a:chExt cx="3622700" cy="482346"/>
          </a:xfrm>
        </p:grpSpPr>
        <p:sp>
          <p:nvSpPr>
            <p:cNvPr id="38" name="TextBox 38"/>
            <p:cNvSpPr txBox="1"/>
            <p:nvPr/>
          </p:nvSpPr>
          <p:spPr>
            <a:xfrm>
              <a:off x="527304" y="4991100"/>
              <a:ext cx="301166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하수관 누수 → 흙 유실 → 공동 → 노면 침하</a:t>
              </a:r>
            </a:p>
          </p:txBody>
        </p:sp>
        <p:sp>
          <p:nvSpPr>
            <p:cNvPr id="39" name="TextBox 39"/>
            <p:cNvSpPr txBox="1"/>
            <p:nvPr/>
          </p:nvSpPr>
          <p:spPr>
            <a:xfrm>
              <a:off x="527304" y="5238750"/>
              <a:ext cx="3622700"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공동이 자라는 동안 도로 표면은 멀쩡해 보입니다.</a:t>
              </a:r>
            </a:p>
          </p:txBody>
        </p:sp>
      </p:grpSp>
      <p:grpSp>
        <p:nvGrpSpPr>
          <p:cNvPr id="45" name="cause-stat"/>
          <p:cNvGrpSpPr/>
          <p:nvPr/>
        </p:nvGrpSpPr>
        <p:grpSpPr>
          <a:xfrm>
            <a:off x="7315200" y="1568450"/>
            <a:ext cx="4512644" cy="762000"/>
            <a:chOff x="7315200" y="1568450"/>
            <a:chExt cx="4512644" cy="762000"/>
          </a:xfrm>
        </p:grpSpPr>
        <p:sp>
          <p:nvSpPr>
            <p:cNvPr id="41" name="TextBox 41"/>
            <p:cNvSpPr txBox="1"/>
            <p:nvPr/>
          </p:nvSpPr>
          <p:spPr>
            <a:xfrm>
              <a:off x="7315200" y="1568450"/>
              <a:ext cx="1604033" cy="762000"/>
            </a:xfrm>
            <a:prstGeom prst="rect">
              <a:avLst/>
            </a:prstGeom>
            <a:noFill/>
            <a:ln>
              <a:noFill/>
            </a:ln>
          </p:spPr>
          <p:txBody>
            <a:bodyPr wrap="none" lIns="0" tIns="0" rIns="0" bIns="0" anchor="t" anchorCtr="0">
              <a:spAutoFit/>
            </a:bodyPr>
            <a:lstStyle/>
            <a:p>
              <a:pPr algn="l"/>
              <a:r>
                <a:rPr lang="ko-KR" sz="3900" b="1" spc="-112" dirty="0">
                  <a:solidFill>
                    <a:srgbClr val="0B1E3C"/>
                  </a:solidFill>
                  <a:latin typeface="+mn-lt"/>
                  <a:ea typeface="+mn-ea"/>
                  <a:cs typeface="+mn-cs"/>
                </a:rPr>
                <a:t>45.4%</a:t>
              </a:r>
            </a:p>
          </p:txBody>
        </p:sp>
        <p:sp>
          <p:nvSpPr>
            <p:cNvPr id="42" name="TextBox 42"/>
            <p:cNvSpPr txBox="1"/>
            <p:nvPr/>
          </p:nvSpPr>
          <p:spPr>
            <a:xfrm>
              <a:off x="9137142" y="1663700"/>
              <a:ext cx="2690702"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지반침하 원인 1위 · 하수관 손상</a:t>
              </a:r>
            </a:p>
          </p:txBody>
        </p:sp>
        <p:sp>
          <p:nvSpPr>
            <p:cNvPr id="43" name="TextBox 43"/>
            <p:cNvSpPr txBox="1"/>
            <p:nvPr/>
          </p:nvSpPr>
          <p:spPr>
            <a:xfrm>
              <a:off x="9138285" y="1917700"/>
              <a:ext cx="2355972"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전국 867건 중 394건 (2020~2024)</a:t>
              </a:r>
            </a:p>
          </p:txBody>
        </p:sp>
        <p:sp>
          <p:nvSpPr>
            <p:cNvPr id="44" name="Line 44"/>
            <p:cNvSpPr/>
            <p:nvPr/>
          </p:nvSpPr>
          <p:spPr>
            <a:xfrm>
              <a:off x="7334250" y="2247900"/>
              <a:ext cx="4324350" cy="9525"/>
            </a:xfrm>
            <a:custGeom>
              <a:avLst/>
              <a:gdLst/>
              <a:ahLst/>
              <a:cxnLst/>
              <a:rect l="l" t="t" r="r" b="b"/>
              <a:pathLst>
                <a:path w="4324350" h="9525">
                  <a:moveTo>
                    <a:pt x="0" y="0"/>
                  </a:moveTo>
                  <a:lnTo>
                    <a:pt x="4324350" y="0"/>
                  </a:lnTo>
                </a:path>
              </a:pathLst>
            </a:custGeom>
            <a:noFill/>
            <a:ln w="9525">
              <a:solidFill>
                <a:srgbClr val="D5DAE1"/>
              </a:solidFill>
            </a:ln>
          </p:spPr>
        </p:sp>
      </p:grpSp>
      <p:grpSp>
        <p:nvGrpSpPr>
          <p:cNvPr id="67" name="type-table"/>
          <p:cNvGrpSpPr/>
          <p:nvPr/>
        </p:nvGrpSpPr>
        <p:grpSpPr>
          <a:xfrm>
            <a:off x="7328916" y="2400300"/>
            <a:ext cx="4329684" cy="2114550"/>
            <a:chOff x="7328916" y="2400300"/>
            <a:chExt cx="4329684" cy="2114550"/>
          </a:xfrm>
        </p:grpSpPr>
        <p:sp>
          <p:nvSpPr>
            <p:cNvPr id="46" name="Rectangle 46"/>
            <p:cNvSpPr/>
            <p:nvPr/>
          </p:nvSpPr>
          <p:spPr>
            <a:xfrm>
              <a:off x="7943850" y="2400300"/>
              <a:ext cx="1809750" cy="476250"/>
            </a:xfrm>
            <a:prstGeom prst="rect">
              <a:avLst/>
            </a:prstGeom>
            <a:solidFill>
              <a:srgbClr val="F5B700"/>
            </a:solidFill>
            <a:ln>
              <a:noFill/>
            </a:ln>
          </p:spPr>
        </p:sp>
        <p:sp>
          <p:nvSpPr>
            <p:cNvPr id="47" name="TextBox 47"/>
            <p:cNvSpPr txBox="1"/>
            <p:nvPr/>
          </p:nvSpPr>
          <p:spPr>
            <a:xfrm>
              <a:off x="8071104" y="2447925"/>
              <a:ext cx="870798"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얕은 공동형</a:t>
              </a:r>
            </a:p>
          </p:txBody>
        </p:sp>
        <p:sp>
          <p:nvSpPr>
            <p:cNvPr id="48" name="TextBox 48"/>
            <p:cNvSpPr txBox="1"/>
            <p:nvPr/>
          </p:nvSpPr>
          <p:spPr>
            <a:xfrm>
              <a:off x="8072247" y="2676525"/>
              <a:ext cx="1452534" cy="191643"/>
            </a:xfrm>
            <a:prstGeom prst="rect">
              <a:avLst/>
            </a:prstGeom>
            <a:noFill/>
            <a:ln>
              <a:noFill/>
            </a:ln>
          </p:spPr>
          <p:txBody>
            <a:bodyPr wrap="none" lIns="0" tIns="0" rIns="0" bIns="0" anchor="t" anchorCtr="0">
              <a:spAutoFit/>
            </a:bodyPr>
            <a:lstStyle/>
            <a:p>
              <a:pPr algn="l"/>
              <a:r>
                <a:rPr lang="ko-KR" sz="980" b="1" dirty="0">
                  <a:solidFill>
                    <a:srgbClr val="0B1E3C"/>
                  </a:solidFill>
                  <a:latin typeface="+mn-lt"/>
                  <a:ea typeface="+mn-ea"/>
                  <a:cs typeface="+mn-cs"/>
                </a:rPr>
                <a:t>대상 · 예: 연희동 2.5m</a:t>
              </a:r>
            </a:p>
          </p:txBody>
        </p:sp>
        <p:sp>
          <p:nvSpPr>
            <p:cNvPr id="49" name="Rectangle 49"/>
            <p:cNvSpPr/>
            <p:nvPr/>
          </p:nvSpPr>
          <p:spPr>
            <a:xfrm>
              <a:off x="9848850" y="2400300"/>
              <a:ext cx="1809750" cy="476250"/>
            </a:xfrm>
            <a:prstGeom prst="rect">
              <a:avLst/>
            </a:prstGeom>
            <a:solidFill>
              <a:srgbClr val="E5E7EB"/>
            </a:solidFill>
            <a:ln>
              <a:noFill/>
            </a:ln>
          </p:spPr>
        </p:sp>
        <p:sp>
          <p:nvSpPr>
            <p:cNvPr id="50" name="TextBox 50"/>
            <p:cNvSpPr txBox="1"/>
            <p:nvPr/>
          </p:nvSpPr>
          <p:spPr>
            <a:xfrm>
              <a:off x="9976104" y="2447925"/>
              <a:ext cx="870798" cy="234696"/>
            </a:xfrm>
            <a:prstGeom prst="rect">
              <a:avLst/>
            </a:prstGeom>
            <a:noFill/>
            <a:ln>
              <a:noFill/>
            </a:ln>
          </p:spPr>
          <p:txBody>
            <a:bodyPr wrap="none" lIns="0" tIns="0" rIns="0" bIns="0" anchor="t" anchorCtr="0">
              <a:spAutoFit/>
            </a:bodyPr>
            <a:lstStyle/>
            <a:p>
              <a:pPr algn="l"/>
              <a:r>
                <a:rPr lang="ko-KR" sz="1200" b="1" dirty="0">
                  <a:solidFill>
                    <a:srgbClr val="374151"/>
                  </a:solidFill>
                  <a:latin typeface="+mn-lt"/>
                  <a:ea typeface="+mn-ea"/>
                  <a:cs typeface="+mn-cs"/>
                </a:rPr>
                <a:t>심부 붕괴형</a:t>
              </a:r>
            </a:p>
          </p:txBody>
        </p:sp>
        <p:sp>
          <p:nvSpPr>
            <p:cNvPr id="51" name="TextBox 51"/>
            <p:cNvSpPr txBox="1"/>
            <p:nvPr/>
          </p:nvSpPr>
          <p:spPr>
            <a:xfrm>
              <a:off x="9977247" y="2676525"/>
              <a:ext cx="1520477" cy="191643"/>
            </a:xfrm>
            <a:prstGeom prst="rect">
              <a:avLst/>
            </a:prstGeom>
            <a:noFill/>
            <a:ln>
              <a:noFill/>
            </a:ln>
          </p:spPr>
          <p:txBody>
            <a:bodyPr wrap="none" lIns="0" tIns="0" rIns="0" bIns="0" anchor="t" anchorCtr="0">
              <a:spAutoFit/>
            </a:bodyPr>
            <a:lstStyle/>
            <a:p>
              <a:pPr algn="l"/>
              <a:r>
                <a:rPr lang="ko-KR" sz="980" dirty="0">
                  <a:solidFill>
                    <a:srgbClr val="374151"/>
                  </a:solidFill>
                  <a:latin typeface="+mn-lt"/>
                  <a:ea typeface="+mn-ea"/>
                  <a:cs typeface="+mn-cs"/>
                </a:rPr>
                <a:t>범위 밖 · 예: 명일동 16m</a:t>
              </a:r>
            </a:p>
          </p:txBody>
        </p:sp>
        <p:sp>
          <p:nvSpPr>
            <p:cNvPr id="52" name="Rectangle 52"/>
            <p:cNvSpPr/>
            <p:nvPr/>
          </p:nvSpPr>
          <p:spPr>
            <a:xfrm>
              <a:off x="7943850" y="2876550"/>
              <a:ext cx="1809750" cy="1638300"/>
            </a:xfrm>
            <a:prstGeom prst="rect">
              <a:avLst/>
            </a:prstGeom>
            <a:solidFill>
              <a:srgbClr val="FFF6D6"/>
            </a:solidFill>
            <a:ln>
              <a:noFill/>
            </a:ln>
          </p:spPr>
        </p:sp>
        <p:grpSp>
          <p:nvGrpSpPr>
            <p:cNvPr id="56" name="Group 56"/>
            <p:cNvGrpSpPr/>
            <p:nvPr/>
          </p:nvGrpSpPr>
          <p:grpSpPr>
            <a:xfrm>
              <a:off x="7328916" y="3035300"/>
              <a:ext cx="293370" cy="1310259"/>
              <a:chOff x="7328916" y="3035300"/>
              <a:chExt cx="293370" cy="1310259"/>
            </a:xfrm>
          </p:grpSpPr>
          <p:sp>
            <p:nvSpPr>
              <p:cNvPr id="53" name="TextBox 53"/>
              <p:cNvSpPr txBox="1"/>
              <p:nvPr/>
            </p:nvSpPr>
            <p:spPr>
              <a:xfrm>
                <a:off x="7328916" y="3035300"/>
                <a:ext cx="293370" cy="205359"/>
              </a:xfrm>
              <a:prstGeom prst="rect">
                <a:avLst/>
              </a:prstGeom>
              <a:noFill/>
              <a:ln>
                <a:noFill/>
              </a:ln>
            </p:spPr>
            <p:txBody>
              <a:bodyPr wrap="none" lIns="0" tIns="0" rIns="0" bIns="0" anchor="t" anchorCtr="0">
                <a:spAutoFit/>
              </a:bodyPr>
              <a:lstStyle/>
              <a:p>
                <a:pPr algn="l"/>
                <a:r>
                  <a:rPr lang="ko-KR" sz="1050" b="1" dirty="0">
                    <a:solidFill>
                      <a:srgbClr val="374151"/>
                    </a:solidFill>
                    <a:latin typeface="+mn-lt"/>
                    <a:ea typeface="+mn-ea"/>
                    <a:cs typeface="+mn-cs"/>
                  </a:rPr>
                  <a:t>원인</a:t>
                </a:r>
              </a:p>
            </p:txBody>
          </p:sp>
          <p:sp>
            <p:nvSpPr>
              <p:cNvPr id="54" name="TextBox 54"/>
              <p:cNvSpPr txBox="1"/>
              <p:nvPr/>
            </p:nvSpPr>
            <p:spPr>
              <a:xfrm>
                <a:off x="7328916" y="3587750"/>
                <a:ext cx="293370" cy="205359"/>
              </a:xfrm>
              <a:prstGeom prst="rect">
                <a:avLst/>
              </a:prstGeom>
              <a:noFill/>
              <a:ln>
                <a:noFill/>
              </a:ln>
            </p:spPr>
            <p:txBody>
              <a:bodyPr wrap="none" lIns="0" tIns="0" rIns="0" bIns="0" anchor="t" anchorCtr="0">
                <a:spAutoFit/>
              </a:bodyPr>
              <a:lstStyle/>
              <a:p>
                <a:pPr algn="l"/>
                <a:r>
                  <a:rPr lang="ko-KR" sz="1050" b="1" dirty="0">
                    <a:solidFill>
                      <a:srgbClr val="374151"/>
                    </a:solidFill>
                    <a:latin typeface="+mn-lt"/>
                    <a:ea typeface="+mn-ea"/>
                    <a:cs typeface="+mn-cs"/>
                  </a:rPr>
                  <a:t>징후</a:t>
                </a:r>
              </a:p>
            </p:txBody>
          </p:sp>
          <p:sp>
            <p:nvSpPr>
              <p:cNvPr id="55" name="TextBox 55"/>
              <p:cNvSpPr txBox="1"/>
              <p:nvPr/>
            </p:nvSpPr>
            <p:spPr>
              <a:xfrm>
                <a:off x="7328916" y="4140200"/>
                <a:ext cx="293370" cy="205359"/>
              </a:xfrm>
              <a:prstGeom prst="rect">
                <a:avLst/>
              </a:prstGeom>
              <a:noFill/>
              <a:ln>
                <a:noFill/>
              </a:ln>
            </p:spPr>
            <p:txBody>
              <a:bodyPr wrap="none" lIns="0" tIns="0" rIns="0" bIns="0" anchor="t" anchorCtr="0">
                <a:spAutoFit/>
              </a:bodyPr>
              <a:lstStyle/>
              <a:p>
                <a:pPr algn="l"/>
                <a:r>
                  <a:rPr lang="ko-KR" sz="1050" b="1" dirty="0">
                    <a:solidFill>
                      <a:srgbClr val="374151"/>
                    </a:solidFill>
                    <a:latin typeface="+mn-lt"/>
                    <a:ea typeface="+mn-ea"/>
                    <a:cs typeface="+mn-cs"/>
                  </a:rPr>
                  <a:t>대응</a:t>
                </a:r>
              </a:p>
            </p:txBody>
          </p:sp>
        </p:grpSp>
        <p:sp>
          <p:nvSpPr>
            <p:cNvPr id="57" name="Line 57"/>
            <p:cNvSpPr/>
            <p:nvPr/>
          </p:nvSpPr>
          <p:spPr>
            <a:xfrm>
              <a:off x="7334250" y="3429000"/>
              <a:ext cx="4324350" cy="9525"/>
            </a:xfrm>
            <a:custGeom>
              <a:avLst/>
              <a:gdLst/>
              <a:ahLst/>
              <a:cxnLst/>
              <a:rect l="l" t="t" r="r" b="b"/>
              <a:pathLst>
                <a:path w="4324350" h="9525">
                  <a:moveTo>
                    <a:pt x="0" y="0"/>
                  </a:moveTo>
                  <a:lnTo>
                    <a:pt x="4324350" y="0"/>
                  </a:lnTo>
                </a:path>
              </a:pathLst>
            </a:custGeom>
            <a:noFill/>
            <a:ln w="9525">
              <a:solidFill>
                <a:srgbClr val="E5E7EB"/>
              </a:solidFill>
            </a:ln>
          </p:spPr>
        </p:sp>
        <p:sp>
          <p:nvSpPr>
            <p:cNvPr id="58" name="Line 58"/>
            <p:cNvSpPr/>
            <p:nvPr/>
          </p:nvSpPr>
          <p:spPr>
            <a:xfrm>
              <a:off x="7334250" y="3981450"/>
              <a:ext cx="4324350" cy="9525"/>
            </a:xfrm>
            <a:custGeom>
              <a:avLst/>
              <a:gdLst/>
              <a:ahLst/>
              <a:cxnLst/>
              <a:rect l="l" t="t" r="r" b="b"/>
              <a:pathLst>
                <a:path w="4324350" h="9525">
                  <a:moveTo>
                    <a:pt x="0" y="0"/>
                  </a:moveTo>
                  <a:lnTo>
                    <a:pt x="4324350" y="0"/>
                  </a:lnTo>
                </a:path>
              </a:pathLst>
            </a:custGeom>
            <a:noFill/>
            <a:ln w="9525">
              <a:solidFill>
                <a:srgbClr val="E5E7EB"/>
              </a:solidFill>
            </a:ln>
          </p:spPr>
        </p:sp>
        <p:grpSp>
          <p:nvGrpSpPr>
            <p:cNvPr id="62" name="Group 62"/>
            <p:cNvGrpSpPr/>
            <p:nvPr/>
          </p:nvGrpSpPr>
          <p:grpSpPr>
            <a:xfrm>
              <a:off x="8071485" y="2946400"/>
              <a:ext cx="1369822" cy="1515428"/>
              <a:chOff x="8071485" y="2946400"/>
              <a:chExt cx="1369822" cy="1515428"/>
            </a:xfrm>
          </p:grpSpPr>
          <p:sp>
            <p:nvSpPr>
              <p:cNvPr id="59" name="TextBox 59"/>
              <p:cNvSpPr txBox="1"/>
              <p:nvPr/>
            </p:nvSpPr>
            <p:spPr>
              <a:xfrm>
                <a:off x="8071485" y="2946400"/>
                <a:ext cx="1049782"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111827"/>
                    </a:solidFill>
                    <a:latin typeface="+mn-lt"/>
                    <a:ea typeface="+mn-ea"/>
                    <a:cs typeface="+mn-cs"/>
                  </a:rPr>
                  <a:t>하수관 손상으로</a:t>
                </a:r>
                <a:br>
                  <a:rPr lang="ko-KR" sz="1120" dirty="0">
                    <a:solidFill>
                      <a:srgbClr val="111827"/>
                    </a:solidFill>
                    <a:latin typeface="+mn-lt"/>
                    <a:ea typeface="+mn-ea"/>
                    <a:cs typeface="+mn-cs"/>
                  </a:rPr>
                </a:br>
                <a:r>
                  <a:rPr lang="ko-KR" sz="1120" dirty="0">
                    <a:solidFill>
                      <a:srgbClr val="111827"/>
                    </a:solidFill>
                    <a:latin typeface="+mn-lt"/>
                    <a:ea typeface="+mn-ea"/>
                    <a:cs typeface="+mn-cs"/>
                  </a:rPr>
                  <a:t>흙이 쓸려 나감</a:t>
                </a:r>
              </a:p>
            </p:txBody>
          </p:sp>
          <p:sp>
            <p:nvSpPr>
              <p:cNvPr id="60" name="TextBox 60"/>
              <p:cNvSpPr txBox="1"/>
              <p:nvPr/>
            </p:nvSpPr>
            <p:spPr>
              <a:xfrm>
                <a:off x="8071485" y="3498850"/>
                <a:ext cx="1141527"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111827"/>
                    </a:solidFill>
                    <a:latin typeface="+mn-lt"/>
                    <a:ea typeface="+mn-ea"/>
                    <a:cs typeface="+mn-cs"/>
                  </a:rPr>
                  <a:t>공동이 먼저 생김</a:t>
                </a:r>
                <a:br>
                  <a:rPr lang="ko-KR" sz="1120" dirty="0">
                    <a:solidFill>
                      <a:srgbClr val="111827"/>
                    </a:solidFill>
                    <a:latin typeface="+mn-lt"/>
                    <a:ea typeface="+mn-ea"/>
                    <a:cs typeface="+mn-cs"/>
                  </a:rPr>
                </a:br>
                <a:r>
                  <a:rPr lang="ko-KR" sz="1120" b="1" dirty="0">
                    <a:solidFill>
                      <a:srgbClr val="111827"/>
                    </a:solidFill>
                    <a:latin typeface="+mn-lt"/>
                    <a:ea typeface="+mn-ea"/>
                    <a:cs typeface="+mn-cs"/>
                  </a:rPr>
                  <a:t>함몰 전 탐지 가능</a:t>
                </a:r>
              </a:p>
            </p:txBody>
          </p:sp>
          <p:sp>
            <p:nvSpPr>
              <p:cNvPr id="61" name="TextBox 61"/>
              <p:cNvSpPr txBox="1"/>
              <p:nvPr/>
            </p:nvSpPr>
            <p:spPr>
              <a:xfrm>
                <a:off x="8071485" y="4051300"/>
                <a:ext cx="1369822"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111827"/>
                    </a:solidFill>
                    <a:latin typeface="+mn-lt"/>
                    <a:ea typeface="+mn-ea"/>
                    <a:cs typeface="+mn-cs"/>
                  </a:rPr>
                  <a:t>차량형 GPR 반복 순찰</a:t>
                </a:r>
                <a:br>
                  <a:rPr lang="ko-KR" sz="1120" dirty="0">
                    <a:solidFill>
                      <a:srgbClr val="111827"/>
                    </a:solidFill>
                    <a:latin typeface="+mn-lt"/>
                    <a:ea typeface="+mn-ea"/>
                    <a:cs typeface="+mn-cs"/>
                  </a:rPr>
                </a:br>
                <a:r>
                  <a:rPr lang="ko-KR" sz="1120" dirty="0">
                    <a:solidFill>
                      <a:srgbClr val="111827"/>
                    </a:solidFill>
                    <a:latin typeface="+mn-lt"/>
                    <a:ea typeface="+mn-ea"/>
                    <a:cs typeface="+mn-cs"/>
                  </a:rPr>
                  <a:t>+ 수동 GPR 재확인</a:t>
                </a:r>
              </a:p>
            </p:txBody>
          </p:sp>
        </p:grpSp>
        <p:grpSp>
          <p:nvGrpSpPr>
            <p:cNvPr id="66" name="Group 66"/>
            <p:cNvGrpSpPr/>
            <p:nvPr/>
          </p:nvGrpSpPr>
          <p:grpSpPr>
            <a:xfrm>
              <a:off x="9976485" y="2946400"/>
              <a:ext cx="1597406" cy="1515428"/>
              <a:chOff x="9976485" y="2946400"/>
              <a:chExt cx="1597406" cy="1515428"/>
            </a:xfrm>
          </p:grpSpPr>
          <p:sp>
            <p:nvSpPr>
              <p:cNvPr id="63" name="TextBox 63"/>
              <p:cNvSpPr txBox="1"/>
              <p:nvPr/>
            </p:nvSpPr>
            <p:spPr>
              <a:xfrm>
                <a:off x="9976485" y="2946400"/>
                <a:ext cx="1597406"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374151"/>
                    </a:solidFill>
                    <a:latin typeface="+mn-lt"/>
                    <a:ea typeface="+mn-ea"/>
                    <a:cs typeface="+mn-cs"/>
                  </a:rPr>
                  <a:t>깊은 지층 결함·지하수위</a:t>
                </a:r>
                <a:br>
                  <a:rPr lang="ko-KR" sz="1120" dirty="0">
                    <a:solidFill>
                      <a:srgbClr val="374151"/>
                    </a:solidFill>
                    <a:latin typeface="+mn-lt"/>
                    <a:ea typeface="+mn-ea"/>
                    <a:cs typeface="+mn-cs"/>
                  </a:rPr>
                </a:br>
                <a:r>
                  <a:rPr lang="ko-KR" sz="1120" dirty="0">
                    <a:solidFill>
                      <a:srgbClr val="374151"/>
                    </a:solidFill>
                    <a:latin typeface="+mn-lt"/>
                    <a:ea typeface="+mn-ea"/>
                    <a:cs typeface="+mn-cs"/>
                  </a:rPr>
                  <a:t>저하·터널 공사 영향</a:t>
                </a:r>
              </a:p>
            </p:txBody>
          </p:sp>
          <p:sp>
            <p:nvSpPr>
              <p:cNvPr id="64" name="TextBox 64"/>
              <p:cNvSpPr txBox="1"/>
              <p:nvPr/>
            </p:nvSpPr>
            <p:spPr>
              <a:xfrm>
                <a:off x="9976485" y="3498850"/>
                <a:ext cx="907542"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374151"/>
                    </a:solidFill>
                    <a:latin typeface="+mn-lt"/>
                    <a:ea typeface="+mn-ea"/>
                    <a:cs typeface="+mn-cs"/>
                  </a:rPr>
                  <a:t>지표 탐사로는</a:t>
                </a:r>
                <a:br>
                  <a:rPr lang="ko-KR" sz="1120" dirty="0">
                    <a:solidFill>
                      <a:srgbClr val="374151"/>
                    </a:solidFill>
                    <a:latin typeface="+mn-lt"/>
                    <a:ea typeface="+mn-ea"/>
                    <a:cs typeface="+mn-cs"/>
                  </a:rPr>
                </a:br>
                <a:r>
                  <a:rPr lang="ko-KR" sz="1120" dirty="0">
                    <a:solidFill>
                      <a:srgbClr val="374151"/>
                    </a:solidFill>
                    <a:latin typeface="+mn-lt"/>
                    <a:ea typeface="+mn-ea"/>
                    <a:cs typeface="+mn-cs"/>
                  </a:rPr>
                  <a:t>확인이 어려움</a:t>
                </a:r>
              </a:p>
            </p:txBody>
          </p:sp>
          <p:sp>
            <p:nvSpPr>
              <p:cNvPr id="65" name="TextBox 65"/>
              <p:cNvSpPr txBox="1"/>
              <p:nvPr/>
            </p:nvSpPr>
            <p:spPr>
              <a:xfrm>
                <a:off x="9976485" y="4051300"/>
                <a:ext cx="1568958" cy="410528"/>
              </a:xfrm>
              <a:prstGeom prst="rect">
                <a:avLst/>
              </a:prstGeom>
              <a:noFill/>
              <a:ln>
                <a:noFill/>
              </a:ln>
            </p:spPr>
            <p:txBody>
              <a:bodyPr wrap="none" lIns="0" tIns="0" rIns="0" bIns="0" anchor="t" anchorCtr="0">
                <a:spAutoFit/>
              </a:bodyPr>
              <a:lstStyle/>
              <a:p>
                <a:pPr algn="l">
                  <a:lnSpc>
                    <a:spcPts val="1500"/>
                  </a:lnSpc>
                </a:pPr>
                <a:r>
                  <a:rPr lang="ko-KR" sz="1120" dirty="0">
                    <a:solidFill>
                      <a:srgbClr val="374151"/>
                    </a:solidFill>
                    <a:latin typeface="+mn-lt"/>
                    <a:ea typeface="+mn-ea"/>
                    <a:cs typeface="+mn-cs"/>
                  </a:rPr>
                  <a:t>공사장 계측·지반조사</a:t>
                </a:r>
                <a:br>
                  <a:rPr lang="ko-KR" sz="1120" dirty="0">
                    <a:solidFill>
                      <a:srgbClr val="374151"/>
                    </a:solidFill>
                    <a:latin typeface="+mn-lt"/>
                    <a:ea typeface="+mn-ea"/>
                    <a:cs typeface="+mn-cs"/>
                  </a:rPr>
                </a:br>
                <a:r>
                  <a:rPr lang="ko-KR" sz="1120" dirty="0">
                    <a:solidFill>
                      <a:srgbClr val="374151"/>
                    </a:solidFill>
                    <a:latin typeface="+mn-lt"/>
                    <a:ea typeface="+mn-ea"/>
                    <a:cs typeface="+mn-cs"/>
                  </a:rPr>
                  <a:t>(GroundWatch 범위 밖)</a:t>
                </a:r>
              </a:p>
            </p:txBody>
          </p:sp>
        </p:grpSp>
      </p:grpSp>
      <p:grpSp>
        <p:nvGrpSpPr>
          <p:cNvPr id="80" name="method"/>
          <p:cNvGrpSpPr/>
          <p:nvPr/>
        </p:nvGrpSpPr>
        <p:grpSpPr>
          <a:xfrm>
            <a:off x="7328535" y="4699000"/>
            <a:ext cx="4330065" cy="863600"/>
            <a:chOff x="7328535" y="4699000"/>
            <a:chExt cx="4330065" cy="863600"/>
          </a:xfrm>
        </p:grpSpPr>
        <p:sp>
          <p:nvSpPr>
            <p:cNvPr id="68" name="TextBox 68"/>
            <p:cNvSpPr txBox="1"/>
            <p:nvPr/>
          </p:nvSpPr>
          <p:spPr>
            <a:xfrm>
              <a:off x="7328535" y="4699000"/>
              <a:ext cx="2708790"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GroundWatch가 얕은 공동을 찾는 방법</a:t>
              </a:r>
            </a:p>
          </p:txBody>
        </p:sp>
        <p:sp>
          <p:nvSpPr>
            <p:cNvPr id="69" name="Rectangle 69"/>
            <p:cNvSpPr/>
            <p:nvPr/>
          </p:nvSpPr>
          <p:spPr>
            <a:xfrm>
              <a:off x="7334250" y="4953000"/>
              <a:ext cx="1257300" cy="609600"/>
            </a:xfrm>
            <a:prstGeom prst="rect">
              <a:avLst/>
            </a:prstGeom>
            <a:solidFill>
              <a:srgbClr val="F3F5F8"/>
            </a:solidFill>
            <a:ln>
              <a:noFill/>
            </a:ln>
          </p:spPr>
        </p:sp>
        <p:sp>
          <p:nvSpPr>
            <p:cNvPr id="70" name="TextBox 70"/>
            <p:cNvSpPr txBox="1"/>
            <p:nvPr/>
          </p:nvSpPr>
          <p:spPr>
            <a:xfrm>
              <a:off x="7442835" y="5060950"/>
              <a:ext cx="860290"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같은 길 반복</a:t>
              </a:r>
            </a:p>
          </p:txBody>
        </p:sp>
        <p:sp>
          <p:nvSpPr>
            <p:cNvPr id="71" name="TextBox 71"/>
            <p:cNvSpPr txBox="1"/>
            <p:nvPr/>
          </p:nvSpPr>
          <p:spPr>
            <a:xfrm>
              <a:off x="7443597" y="5295900"/>
              <a:ext cx="983183" cy="191643"/>
            </a:xfrm>
            <a:prstGeom prst="rect">
              <a:avLst/>
            </a:prstGeom>
            <a:noFill/>
            <a:ln>
              <a:noFill/>
            </a:ln>
          </p:spPr>
          <p:txBody>
            <a:bodyPr wrap="none" lIns="0" tIns="0" rIns="0" bIns="0" anchor="t" anchorCtr="0">
              <a:spAutoFit/>
            </a:bodyPr>
            <a:lstStyle/>
            <a:p>
              <a:pPr algn="l"/>
              <a:r>
                <a:rPr lang="ko-KR" sz="980" dirty="0">
                  <a:solidFill>
                    <a:srgbClr val="374151"/>
                  </a:solidFill>
                  <a:latin typeface="+mn-lt"/>
                  <a:ea typeface="+mn-ea"/>
                  <a:cs typeface="+mn-cs"/>
                </a:rPr>
                <a:t>차량형 GPR 순찰</a:t>
              </a:r>
            </a:p>
          </p:txBody>
        </p:sp>
        <p:sp>
          <p:nvSpPr>
            <p:cNvPr id="72" name="Line 72"/>
            <p:cNvSpPr/>
            <p:nvPr/>
          </p:nvSpPr>
          <p:spPr>
            <a:xfrm>
              <a:off x="8610600" y="5257800"/>
              <a:ext cx="228600" cy="1"/>
            </a:xfrm>
            <a:prstGeom prst="line">
              <a:avLst/>
            </a:prstGeom>
            <a:noFill/>
            <a:ln w="19050">
              <a:solidFill>
                <a:srgbClr val="0B1E3C"/>
              </a:solidFill>
              <a:tailEnd type="triangle" w="lg" len="lg"/>
            </a:ln>
          </p:spPr>
        </p:sp>
        <p:sp>
          <p:nvSpPr>
            <p:cNvPr id="73" name="Rectangle 73"/>
            <p:cNvSpPr/>
            <p:nvPr/>
          </p:nvSpPr>
          <p:spPr>
            <a:xfrm>
              <a:off x="8867775" y="4953000"/>
              <a:ext cx="1257300" cy="609600"/>
            </a:xfrm>
            <a:prstGeom prst="rect">
              <a:avLst/>
            </a:prstGeom>
            <a:solidFill>
              <a:srgbClr val="F3F5F8"/>
            </a:solidFill>
            <a:ln>
              <a:noFill/>
            </a:ln>
          </p:spPr>
        </p:sp>
        <p:sp>
          <p:nvSpPr>
            <p:cNvPr id="74" name="TextBox 74"/>
            <p:cNvSpPr txBox="1"/>
            <p:nvPr/>
          </p:nvSpPr>
          <p:spPr>
            <a:xfrm>
              <a:off x="8976360" y="5060950"/>
              <a:ext cx="662022"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회차 비교</a:t>
              </a:r>
            </a:p>
          </p:txBody>
        </p:sp>
        <p:sp>
          <p:nvSpPr>
            <p:cNvPr id="75" name="TextBox 75"/>
            <p:cNvSpPr txBox="1"/>
            <p:nvPr/>
          </p:nvSpPr>
          <p:spPr>
            <a:xfrm>
              <a:off x="8977122" y="5295900"/>
              <a:ext cx="1205842" cy="191643"/>
            </a:xfrm>
            <a:prstGeom prst="rect">
              <a:avLst/>
            </a:prstGeom>
            <a:noFill/>
            <a:ln>
              <a:noFill/>
            </a:ln>
          </p:spPr>
          <p:txBody>
            <a:bodyPr wrap="none" lIns="0" tIns="0" rIns="0" bIns="0" anchor="t" anchorCtr="0">
              <a:spAutoFit/>
            </a:bodyPr>
            <a:lstStyle/>
            <a:p>
              <a:pPr algn="l"/>
              <a:r>
                <a:rPr lang="ko-KR" sz="980" dirty="0">
                  <a:solidFill>
                    <a:srgbClr val="374151"/>
                  </a:solidFill>
                  <a:latin typeface="+mn-lt"/>
                  <a:ea typeface="+mn-ea"/>
                  <a:cs typeface="+mn-cs"/>
                </a:rPr>
                <a:t>AI 후보·전문가 승인</a:t>
              </a:r>
            </a:p>
          </p:txBody>
        </p:sp>
        <p:sp>
          <p:nvSpPr>
            <p:cNvPr id="76" name="Line 76"/>
            <p:cNvSpPr/>
            <p:nvPr/>
          </p:nvSpPr>
          <p:spPr>
            <a:xfrm>
              <a:off x="10144125" y="5257800"/>
              <a:ext cx="228600" cy="1"/>
            </a:xfrm>
            <a:prstGeom prst="line">
              <a:avLst/>
            </a:prstGeom>
            <a:noFill/>
            <a:ln w="19050">
              <a:solidFill>
                <a:srgbClr val="0B1E3C"/>
              </a:solidFill>
              <a:tailEnd type="triangle" w="lg" len="lg"/>
            </a:ln>
          </p:spPr>
        </p:sp>
        <p:sp>
          <p:nvSpPr>
            <p:cNvPr id="77" name="Rectangle 77"/>
            <p:cNvSpPr/>
            <p:nvPr/>
          </p:nvSpPr>
          <p:spPr>
            <a:xfrm>
              <a:off x="10401300" y="4953000"/>
              <a:ext cx="1257300" cy="609600"/>
            </a:xfrm>
            <a:prstGeom prst="rect">
              <a:avLst/>
            </a:prstGeom>
            <a:solidFill>
              <a:srgbClr val="0B1E3C"/>
            </a:solidFill>
            <a:ln>
              <a:noFill/>
            </a:ln>
          </p:spPr>
        </p:sp>
        <p:sp>
          <p:nvSpPr>
            <p:cNvPr id="78" name="TextBox 78"/>
            <p:cNvSpPr txBox="1"/>
            <p:nvPr/>
          </p:nvSpPr>
          <p:spPr>
            <a:xfrm>
              <a:off x="10509885" y="5060950"/>
              <a:ext cx="812796"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변한 지점만</a:t>
              </a:r>
            </a:p>
          </p:txBody>
        </p:sp>
        <p:sp>
          <p:nvSpPr>
            <p:cNvPr id="79" name="TextBox 79"/>
            <p:cNvSpPr txBox="1"/>
            <p:nvPr/>
          </p:nvSpPr>
          <p:spPr>
            <a:xfrm>
              <a:off x="10510647" y="5295900"/>
              <a:ext cx="983183" cy="191643"/>
            </a:xfrm>
            <a:prstGeom prst="rect">
              <a:avLst/>
            </a:prstGeom>
            <a:noFill/>
            <a:ln>
              <a:noFill/>
            </a:ln>
          </p:spPr>
          <p:txBody>
            <a:bodyPr wrap="none" lIns="0" tIns="0" rIns="0" bIns="0" anchor="t" anchorCtr="0">
              <a:spAutoFit/>
            </a:bodyPr>
            <a:lstStyle/>
            <a:p>
              <a:pPr algn="l"/>
              <a:r>
                <a:rPr lang="ko-KR" sz="980" dirty="0">
                  <a:solidFill>
                    <a:srgbClr val="F5B700"/>
                  </a:solidFill>
                  <a:latin typeface="+mn-lt"/>
                  <a:ea typeface="+mn-ea"/>
                  <a:cs typeface="+mn-cs"/>
                </a:rPr>
                <a:t>수동 GPR 재확인</a:t>
              </a:r>
            </a:p>
          </p:txBody>
        </p:sp>
      </p:grpSp>
      <p:grpSp>
        <p:nvGrpSpPr>
          <p:cNvPr id="83" name="conclusion"/>
          <p:cNvGrpSpPr/>
          <p:nvPr/>
        </p:nvGrpSpPr>
        <p:grpSpPr>
          <a:xfrm>
            <a:off x="533400" y="5753100"/>
            <a:ext cx="11125200" cy="476250"/>
            <a:chOff x="533400" y="5753100"/>
            <a:chExt cx="11125200" cy="476250"/>
          </a:xfrm>
        </p:grpSpPr>
        <p:sp>
          <p:nvSpPr>
            <p:cNvPr id="81" name="Rectangle 81"/>
            <p:cNvSpPr/>
            <p:nvPr/>
          </p:nvSpPr>
          <p:spPr>
            <a:xfrm>
              <a:off x="533400" y="5753100"/>
              <a:ext cx="11125200" cy="476250"/>
            </a:xfrm>
            <a:prstGeom prst="rect">
              <a:avLst/>
            </a:prstGeom>
            <a:solidFill>
              <a:srgbClr val="0B1E3C"/>
            </a:solidFill>
            <a:ln>
              <a:noFill/>
            </a:ln>
          </p:spPr>
        </p:sp>
        <p:sp>
          <p:nvSpPr>
            <p:cNvPr id="82" name="TextBox 82"/>
            <p:cNvSpPr txBox="1"/>
            <p:nvPr/>
          </p:nvSpPr>
          <p:spPr>
            <a:xfrm>
              <a:off x="754380" y="5880100"/>
              <a:ext cx="7006057"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xml:space="preserve">한 번의 탐사가 아니라 </a:t>
              </a:r>
              <a:r>
                <a:rPr lang="ko-KR" sz="1500" b="1" dirty="0">
                  <a:solidFill>
                    <a:srgbClr val="F5B700"/>
                  </a:solidFill>
                  <a:latin typeface="+mn-lt"/>
                  <a:ea typeface="+mn-ea"/>
                  <a:cs typeface="+mn-cs"/>
                </a:rPr>
                <a:t>회차 사이의 변화</a:t>
              </a:r>
              <a:r>
                <a:rPr lang="ko-KR" sz="1500" b="1" dirty="0">
                  <a:solidFill>
                    <a:srgbClr val="FFFFFF"/>
                  </a:solidFill>
                  <a:latin typeface="+mn-lt"/>
                  <a:ea typeface="+mn-ea"/>
                  <a:cs typeface="+mn-cs"/>
                </a:rPr>
                <a:t>로, 얕은 공동을 함몰 전에 찾습니다.</a:t>
              </a:r>
            </a:p>
          </p:txBody>
        </p:sp>
      </p:grpSp>
      <p:grpSp>
        <p:nvGrpSpPr>
          <p:cNvPr id="85" name="source"/>
          <p:cNvGrpSpPr/>
          <p:nvPr/>
        </p:nvGrpSpPr>
        <p:grpSpPr>
          <a:xfrm>
            <a:off x="528638" y="6343650"/>
            <a:ext cx="10450601" cy="176212"/>
            <a:chOff x="528638" y="6343650"/>
            <a:chExt cx="10450601" cy="176212"/>
          </a:xfrm>
        </p:grpSpPr>
        <p:sp>
          <p:nvSpPr>
            <p:cNvPr id="84" name="TextBox 84"/>
            <p:cNvSpPr txBox="1"/>
            <p:nvPr/>
          </p:nvSpPr>
          <p:spPr>
            <a:xfrm>
              <a:off x="528638" y="6343650"/>
              <a:ext cx="10450601"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국토교통부 지반침하 원인 통계(2020~2024, 867건) · 국토교통부 명일동 사고조사 결과(2025.12.3) · 서울시 차량형 GPR 탐사 깊이 약 2m · 단면도는 원리 설명용 도식(깊이 비례 아님)</a:t>
              </a:r>
            </a:p>
          </p:txBody>
        </p:sp>
      </p:grpSp>
      <p:grpSp>
        <p:nvGrpSpPr>
          <p:cNvPr id="88" name="footer"/>
          <p:cNvGrpSpPr/>
          <p:nvPr/>
        </p:nvGrpSpPr>
        <p:grpSpPr>
          <a:xfrm>
            <a:off x="528638" y="6610350"/>
            <a:ext cx="11134724" cy="176212"/>
            <a:chOff x="528638" y="6610350"/>
            <a:chExt cx="11134724" cy="176212"/>
          </a:xfrm>
        </p:grpSpPr>
        <p:sp>
          <p:nvSpPr>
            <p:cNvPr id="86" name="TextBox 8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87" name="TextBox 8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03 / 16</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704850" cy="228600"/>
            </a:xfrm>
            <a:prstGeom prst="rect">
              <a:avLst/>
            </a:prstGeom>
            <a:solidFill>
              <a:srgbClr val="F5B700"/>
            </a:solidFill>
            <a:ln>
              <a:noFill/>
            </a:ln>
          </p:spPr>
        </p:sp>
        <p:sp>
          <p:nvSpPr>
            <p:cNvPr id="5" name="TextBox 5"/>
            <p:cNvSpPr txBox="1"/>
            <p:nvPr/>
          </p:nvSpPr>
          <p:spPr>
            <a:xfrm>
              <a:off x="1929738" y="314325"/>
              <a:ext cx="579174"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기존 방식</a:t>
              </a:r>
            </a:p>
          </p:txBody>
        </p:sp>
        <p:sp>
          <p:nvSpPr>
            <p:cNvPr id="6" name="TextBox 6"/>
            <p:cNvSpPr txBox="1"/>
            <p:nvPr/>
          </p:nvSpPr>
          <p:spPr>
            <a:xfrm>
              <a:off x="2680716" y="301625"/>
              <a:ext cx="943585"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기존 조사 방식</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800100"/>
            <a:ext cx="9999527" cy="557403"/>
            <a:chOff x="518922" y="800100"/>
            <a:chExt cx="9999527" cy="557403"/>
          </a:xfrm>
        </p:grpSpPr>
        <p:sp>
          <p:nvSpPr>
            <p:cNvPr id="9" name="TextBox 9"/>
            <p:cNvSpPr txBox="1"/>
            <p:nvPr/>
          </p:nvSpPr>
          <p:spPr>
            <a:xfrm>
              <a:off x="518922" y="800100"/>
              <a:ext cx="9999527"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서울시는 이미 넓게 탐사하고, 의심 지점을 다시 확인합니다</a:t>
              </a:r>
            </a:p>
          </p:txBody>
        </p:sp>
      </p:grpSp>
      <p:grpSp>
        <p:nvGrpSpPr>
          <p:cNvPr id="19" name="seoul-found"/>
          <p:cNvGrpSpPr/>
          <p:nvPr/>
        </p:nvGrpSpPr>
        <p:grpSpPr>
          <a:xfrm>
            <a:off x="533400" y="1447800"/>
            <a:ext cx="4953000" cy="1428750"/>
            <a:chOff x="533400" y="1447800"/>
            <a:chExt cx="4953000" cy="1428750"/>
          </a:xfrm>
        </p:grpSpPr>
        <p:sp>
          <p:nvSpPr>
            <p:cNvPr id="11" name="Rectangle 11"/>
            <p:cNvSpPr/>
            <p:nvPr/>
          </p:nvSpPr>
          <p:spPr>
            <a:xfrm>
              <a:off x="533400" y="1447800"/>
              <a:ext cx="4953000" cy="1428750"/>
            </a:xfrm>
            <a:prstGeom prst="rect">
              <a:avLst/>
            </a:prstGeom>
            <a:solidFill>
              <a:srgbClr val="0B1E3C"/>
            </a:solidFill>
            <a:ln>
              <a:noFill/>
            </a:ln>
          </p:spPr>
        </p:sp>
        <p:sp>
          <p:nvSpPr>
            <p:cNvPr id="12" name="TextBox 12"/>
            <p:cNvSpPr txBox="1"/>
            <p:nvPr/>
          </p:nvSpPr>
          <p:spPr>
            <a:xfrm>
              <a:off x="756285" y="1612900"/>
              <a:ext cx="2979609"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서울시 차량 GPR 탐사 누적 · 2014~2025.9</a:t>
              </a:r>
            </a:p>
          </p:txBody>
        </p:sp>
        <p:sp>
          <p:nvSpPr>
            <p:cNvPr id="13" name="TextBox 13"/>
            <p:cNvSpPr txBox="1"/>
            <p:nvPr/>
          </p:nvSpPr>
          <p:spPr>
            <a:xfrm>
              <a:off x="746760" y="1879600"/>
              <a:ext cx="1981124"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33,129km</a:t>
              </a:r>
            </a:p>
          </p:txBody>
        </p:sp>
        <p:sp>
          <p:nvSpPr>
            <p:cNvPr id="14" name="TextBox 14"/>
            <p:cNvSpPr txBox="1"/>
            <p:nvPr/>
          </p:nvSpPr>
          <p:spPr>
            <a:xfrm>
              <a:off x="2677668" y="2044700"/>
              <a:ext cx="145040" cy="322707"/>
            </a:xfrm>
            <a:prstGeom prst="rect">
              <a:avLst/>
            </a:prstGeom>
            <a:noFill/>
            <a:ln>
              <a:noFill/>
            </a:ln>
          </p:spPr>
          <p:txBody>
            <a:bodyPr wrap="none" lIns="0" tIns="0" rIns="0" bIns="0" anchor="t" anchorCtr="0">
              <a:spAutoFit/>
            </a:bodyPr>
            <a:lstStyle/>
            <a:p>
              <a:pPr algn="l"/>
              <a:r>
                <a:rPr lang="ko-KR" sz="1650" b="1" dirty="0">
                  <a:solidFill>
                    <a:srgbClr val="D6DDE8"/>
                  </a:solidFill>
                  <a:latin typeface="+mn-lt"/>
                  <a:ea typeface="+mn-ea"/>
                  <a:cs typeface="+mn-cs"/>
                </a:rPr>
                <a:t>→</a:t>
              </a:r>
            </a:p>
          </p:txBody>
        </p:sp>
        <p:sp>
          <p:nvSpPr>
            <p:cNvPr id="15" name="TextBox 15"/>
            <p:cNvSpPr txBox="1"/>
            <p:nvPr/>
          </p:nvSpPr>
          <p:spPr>
            <a:xfrm>
              <a:off x="2994660" y="1879600"/>
              <a:ext cx="1600486" cy="586740"/>
            </a:xfrm>
            <a:prstGeom prst="rect">
              <a:avLst/>
            </a:prstGeom>
            <a:noFill/>
            <a:ln>
              <a:noFill/>
            </a:ln>
          </p:spPr>
          <p:txBody>
            <a:bodyPr wrap="none" lIns="0" tIns="0" rIns="0" bIns="0" anchor="t" anchorCtr="0">
              <a:spAutoFit/>
            </a:bodyPr>
            <a:lstStyle/>
            <a:p>
              <a:pPr algn="l"/>
              <a:r>
                <a:rPr lang="ko-KR" sz="3000" b="1" dirty="0">
                  <a:solidFill>
                    <a:srgbClr val="FFFFFF"/>
                  </a:solidFill>
                  <a:latin typeface="+mn-lt"/>
                  <a:ea typeface="+mn-ea"/>
                  <a:cs typeface="+mn-cs"/>
                </a:rPr>
                <a:t>7,760개</a:t>
              </a:r>
            </a:p>
          </p:txBody>
        </p:sp>
        <p:sp>
          <p:nvSpPr>
            <p:cNvPr id="16" name="TextBox 16"/>
            <p:cNvSpPr txBox="1"/>
            <p:nvPr/>
          </p:nvSpPr>
          <p:spPr>
            <a:xfrm>
              <a:off x="755904" y="2400300"/>
              <a:ext cx="1239926"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탐사한 도로 연장</a:t>
              </a:r>
            </a:p>
          </p:txBody>
        </p:sp>
        <p:sp>
          <p:nvSpPr>
            <p:cNvPr id="17" name="TextBox 17"/>
            <p:cNvSpPr txBox="1"/>
            <p:nvPr/>
          </p:nvSpPr>
          <p:spPr>
            <a:xfrm>
              <a:off x="3003804" y="2400300"/>
              <a:ext cx="868375"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발견한 공동</a:t>
              </a:r>
            </a:p>
          </p:txBody>
        </p:sp>
        <p:sp>
          <p:nvSpPr>
            <p:cNvPr id="18" name="TextBox 18"/>
            <p:cNvSpPr txBox="1"/>
            <p:nvPr/>
          </p:nvSpPr>
          <p:spPr>
            <a:xfrm>
              <a:off x="756285" y="2622550"/>
              <a:ext cx="3107582"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 xml:space="preserve">약 4.3km마다 공동 1개 </a:t>
              </a:r>
              <a:r>
                <a:rPr lang="en-US" sz="1120" dirty="0">
                  <a:solidFill>
                    <a:srgbClr val="D6DDE8"/>
                  </a:solidFill>
                  <a:latin typeface="+mn-lt"/>
                  <a:ea typeface="+mn-ea"/>
                  <a:cs typeface="+mn-cs"/>
                </a:rPr>
                <a:t>(7,760 ÷ 33,129km)</a:t>
              </a:r>
            </a:p>
          </p:txBody>
        </p:sp>
      </p:grpSp>
      <p:grpSp>
        <p:nvGrpSpPr>
          <p:cNvPr id="33" name="seoul-fleet"/>
          <p:cNvGrpSpPr/>
          <p:nvPr/>
        </p:nvGrpSpPr>
        <p:grpSpPr>
          <a:xfrm>
            <a:off x="527685" y="3098800"/>
            <a:ext cx="4958715" cy="1320800"/>
            <a:chOff x="527685" y="3098800"/>
            <a:chExt cx="4958715" cy="1320800"/>
          </a:xfrm>
        </p:grpSpPr>
        <p:sp>
          <p:nvSpPr>
            <p:cNvPr id="20" name="TextBox 20"/>
            <p:cNvSpPr txBox="1"/>
            <p:nvPr/>
          </p:nvSpPr>
          <p:spPr>
            <a:xfrm>
              <a:off x="527685" y="3098800"/>
              <a:ext cx="2044431"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2026 서울시 GPR 장비 · 10대</a:t>
              </a:r>
            </a:p>
          </p:txBody>
        </p:sp>
        <p:sp>
          <p:nvSpPr>
            <p:cNvPr id="21" name="Rectangle 21"/>
            <p:cNvSpPr/>
            <p:nvPr/>
          </p:nvSpPr>
          <p:spPr>
            <a:xfrm>
              <a:off x="533400" y="3352800"/>
              <a:ext cx="1562100" cy="1066800"/>
            </a:xfrm>
            <a:prstGeom prst="rect">
              <a:avLst/>
            </a:prstGeom>
            <a:solidFill>
              <a:srgbClr val="F3F5F8"/>
            </a:solidFill>
            <a:ln>
              <a:noFill/>
            </a:ln>
          </p:spPr>
        </p:sp>
        <p:sp>
          <p:nvSpPr>
            <p:cNvPr id="22" name="TextBox 22"/>
            <p:cNvSpPr txBox="1"/>
            <p:nvPr/>
          </p:nvSpPr>
          <p:spPr>
            <a:xfrm>
              <a:off x="689610" y="3479800"/>
              <a:ext cx="465639" cy="586740"/>
            </a:xfrm>
            <a:prstGeom prst="rect">
              <a:avLst/>
            </a:prstGeom>
            <a:noFill/>
            <a:ln>
              <a:noFill/>
            </a:ln>
          </p:spPr>
          <p:txBody>
            <a:bodyPr wrap="none" lIns="0" tIns="0" rIns="0" bIns="0" anchor="t" anchorCtr="0">
              <a:spAutoFit/>
            </a:bodyPr>
            <a:lstStyle/>
            <a:p>
              <a:pPr algn="l"/>
              <a:r>
                <a:rPr lang="ko-KR" sz="3000" b="1" dirty="0">
                  <a:solidFill>
                    <a:srgbClr val="0B1E3C"/>
                  </a:solidFill>
                  <a:latin typeface="+mn-lt"/>
                  <a:ea typeface="+mn-ea"/>
                  <a:cs typeface="+mn-cs"/>
                </a:rPr>
                <a:t>6</a:t>
              </a:r>
              <a:r>
                <a:rPr lang="ko-KR" sz="1500" b="1" dirty="0">
                  <a:solidFill>
                    <a:srgbClr val="0B1E3C"/>
                  </a:solidFill>
                  <a:latin typeface="+mn-lt"/>
                  <a:ea typeface="+mn-ea"/>
                  <a:cs typeface="+mn-cs"/>
                </a:rPr>
                <a:t>대</a:t>
              </a:r>
            </a:p>
          </p:txBody>
        </p:sp>
        <p:sp>
          <p:nvSpPr>
            <p:cNvPr id="23" name="TextBox 23"/>
            <p:cNvSpPr txBox="1"/>
            <p:nvPr/>
          </p:nvSpPr>
          <p:spPr>
            <a:xfrm>
              <a:off x="698754" y="3962400"/>
              <a:ext cx="496824"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차량형</a:t>
              </a:r>
            </a:p>
          </p:txBody>
        </p:sp>
        <p:sp>
          <p:nvSpPr>
            <p:cNvPr id="24" name="TextBox 24"/>
            <p:cNvSpPr txBox="1"/>
            <p:nvPr/>
          </p:nvSpPr>
          <p:spPr>
            <a:xfrm>
              <a:off x="699897" y="4191000"/>
              <a:ext cx="1184062" cy="191643"/>
            </a:xfrm>
            <a:prstGeom prst="rect">
              <a:avLst/>
            </a:prstGeom>
            <a:noFill/>
            <a:ln>
              <a:noFill/>
            </a:ln>
          </p:spPr>
          <p:txBody>
            <a:bodyPr wrap="none" lIns="0" tIns="0" rIns="0" bIns="0" anchor="t" anchorCtr="0">
              <a:spAutoFit/>
            </a:bodyPr>
            <a:lstStyle/>
            <a:p>
              <a:pPr algn="l"/>
              <a:r>
                <a:rPr lang="ko-KR" sz="980" dirty="0">
                  <a:solidFill>
                    <a:srgbClr val="374151"/>
                  </a:solidFill>
                  <a:latin typeface="+mn-lt"/>
                  <a:ea typeface="+mn-ea"/>
                  <a:cs typeface="+mn-cs"/>
                </a:rPr>
                <a:t>차에 싣고 주행 탐사</a:t>
              </a:r>
            </a:p>
          </p:txBody>
        </p:sp>
        <p:sp>
          <p:nvSpPr>
            <p:cNvPr id="25" name="Rectangle 25"/>
            <p:cNvSpPr/>
            <p:nvPr/>
          </p:nvSpPr>
          <p:spPr>
            <a:xfrm>
              <a:off x="2228850" y="3352800"/>
              <a:ext cx="1562100" cy="1066800"/>
            </a:xfrm>
            <a:prstGeom prst="rect">
              <a:avLst/>
            </a:prstGeom>
            <a:solidFill>
              <a:srgbClr val="F3F5F8"/>
            </a:solidFill>
            <a:ln>
              <a:noFill/>
            </a:ln>
          </p:spPr>
        </p:sp>
        <p:sp>
          <p:nvSpPr>
            <p:cNvPr id="26" name="TextBox 26"/>
            <p:cNvSpPr txBox="1"/>
            <p:nvPr/>
          </p:nvSpPr>
          <p:spPr>
            <a:xfrm>
              <a:off x="2385060" y="3479800"/>
              <a:ext cx="465639" cy="586740"/>
            </a:xfrm>
            <a:prstGeom prst="rect">
              <a:avLst/>
            </a:prstGeom>
            <a:noFill/>
            <a:ln>
              <a:noFill/>
            </a:ln>
          </p:spPr>
          <p:txBody>
            <a:bodyPr wrap="none" lIns="0" tIns="0" rIns="0" bIns="0" anchor="t" anchorCtr="0">
              <a:spAutoFit/>
            </a:bodyPr>
            <a:lstStyle/>
            <a:p>
              <a:pPr algn="l"/>
              <a:r>
                <a:rPr lang="ko-KR" sz="3000" b="1" dirty="0">
                  <a:solidFill>
                    <a:srgbClr val="0B1E3C"/>
                  </a:solidFill>
                  <a:latin typeface="+mn-lt"/>
                  <a:ea typeface="+mn-ea"/>
                  <a:cs typeface="+mn-cs"/>
                </a:rPr>
                <a:t>1</a:t>
              </a:r>
              <a:r>
                <a:rPr lang="ko-KR" sz="1500" b="1" dirty="0">
                  <a:solidFill>
                    <a:srgbClr val="0B1E3C"/>
                  </a:solidFill>
                  <a:latin typeface="+mn-lt"/>
                  <a:ea typeface="+mn-ea"/>
                  <a:cs typeface="+mn-cs"/>
                </a:rPr>
                <a:t>대</a:t>
              </a:r>
            </a:p>
          </p:txBody>
        </p:sp>
        <p:sp>
          <p:nvSpPr>
            <p:cNvPr id="27" name="TextBox 27"/>
            <p:cNvSpPr txBox="1"/>
            <p:nvPr/>
          </p:nvSpPr>
          <p:spPr>
            <a:xfrm>
              <a:off x="2394204" y="3962400"/>
              <a:ext cx="496824"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전동형</a:t>
              </a:r>
            </a:p>
          </p:txBody>
        </p:sp>
        <p:sp>
          <p:nvSpPr>
            <p:cNvPr id="28" name="TextBox 28"/>
            <p:cNvSpPr txBox="1"/>
            <p:nvPr/>
          </p:nvSpPr>
          <p:spPr>
            <a:xfrm>
              <a:off x="2395347" y="4191000"/>
              <a:ext cx="1012556" cy="191643"/>
            </a:xfrm>
            <a:prstGeom prst="rect">
              <a:avLst/>
            </a:prstGeom>
            <a:noFill/>
            <a:ln>
              <a:noFill/>
            </a:ln>
          </p:spPr>
          <p:txBody>
            <a:bodyPr wrap="none" lIns="0" tIns="0" rIns="0" bIns="0" anchor="t" anchorCtr="0">
              <a:spAutoFit/>
            </a:bodyPr>
            <a:lstStyle/>
            <a:p>
              <a:pPr algn="l"/>
              <a:r>
                <a:rPr lang="ko-KR" sz="980" dirty="0">
                  <a:solidFill>
                    <a:srgbClr val="374151"/>
                  </a:solidFill>
                  <a:latin typeface="+mn-lt"/>
                  <a:ea typeface="+mn-ea"/>
                  <a:cs typeface="+mn-cs"/>
                </a:rPr>
                <a:t>자체 구동 카트형</a:t>
              </a:r>
            </a:p>
          </p:txBody>
        </p:sp>
        <p:sp>
          <p:nvSpPr>
            <p:cNvPr id="29" name="Rectangle 29"/>
            <p:cNvSpPr/>
            <p:nvPr/>
          </p:nvSpPr>
          <p:spPr>
            <a:xfrm>
              <a:off x="3924300" y="3352800"/>
              <a:ext cx="1562100" cy="1066800"/>
            </a:xfrm>
            <a:prstGeom prst="rect">
              <a:avLst/>
            </a:prstGeom>
            <a:solidFill>
              <a:srgbClr val="F3F5F8"/>
            </a:solidFill>
            <a:ln>
              <a:noFill/>
            </a:ln>
          </p:spPr>
        </p:sp>
        <p:sp>
          <p:nvSpPr>
            <p:cNvPr id="30" name="TextBox 30"/>
            <p:cNvSpPr txBox="1"/>
            <p:nvPr/>
          </p:nvSpPr>
          <p:spPr>
            <a:xfrm>
              <a:off x="4080510" y="3479800"/>
              <a:ext cx="465639" cy="586740"/>
            </a:xfrm>
            <a:prstGeom prst="rect">
              <a:avLst/>
            </a:prstGeom>
            <a:noFill/>
            <a:ln>
              <a:noFill/>
            </a:ln>
          </p:spPr>
          <p:txBody>
            <a:bodyPr wrap="none" lIns="0" tIns="0" rIns="0" bIns="0" anchor="t" anchorCtr="0">
              <a:spAutoFit/>
            </a:bodyPr>
            <a:lstStyle/>
            <a:p>
              <a:pPr algn="l"/>
              <a:r>
                <a:rPr lang="ko-KR" sz="3000" b="1" dirty="0">
                  <a:solidFill>
                    <a:srgbClr val="0B1E3C"/>
                  </a:solidFill>
                  <a:latin typeface="+mn-lt"/>
                  <a:ea typeface="+mn-ea"/>
                  <a:cs typeface="+mn-cs"/>
                </a:rPr>
                <a:t>3</a:t>
              </a:r>
              <a:r>
                <a:rPr lang="ko-KR" sz="1500" b="1" dirty="0">
                  <a:solidFill>
                    <a:srgbClr val="0B1E3C"/>
                  </a:solidFill>
                  <a:latin typeface="+mn-lt"/>
                  <a:ea typeface="+mn-ea"/>
                  <a:cs typeface="+mn-cs"/>
                </a:rPr>
                <a:t>대</a:t>
              </a:r>
            </a:p>
          </p:txBody>
        </p:sp>
        <p:sp>
          <p:nvSpPr>
            <p:cNvPr id="31" name="TextBox 31"/>
            <p:cNvSpPr txBox="1"/>
            <p:nvPr/>
          </p:nvSpPr>
          <p:spPr>
            <a:xfrm>
              <a:off x="4089654" y="3962400"/>
              <a:ext cx="496824"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핸드형</a:t>
              </a:r>
            </a:p>
          </p:txBody>
        </p:sp>
        <p:sp>
          <p:nvSpPr>
            <p:cNvPr id="32" name="TextBox 32"/>
            <p:cNvSpPr txBox="1"/>
            <p:nvPr/>
          </p:nvSpPr>
          <p:spPr>
            <a:xfrm>
              <a:off x="4090797" y="4191000"/>
              <a:ext cx="1012556" cy="191643"/>
            </a:xfrm>
            <a:prstGeom prst="rect">
              <a:avLst/>
            </a:prstGeom>
            <a:noFill/>
            <a:ln>
              <a:noFill/>
            </a:ln>
          </p:spPr>
          <p:txBody>
            <a:bodyPr wrap="none" lIns="0" tIns="0" rIns="0" bIns="0" anchor="t" anchorCtr="0">
              <a:spAutoFit/>
            </a:bodyPr>
            <a:lstStyle/>
            <a:p>
              <a:pPr algn="l"/>
              <a:r>
                <a:rPr lang="ko-KR" sz="980" dirty="0">
                  <a:solidFill>
                    <a:srgbClr val="374151"/>
                  </a:solidFill>
                  <a:latin typeface="+mn-lt"/>
                  <a:ea typeface="+mn-ea"/>
                  <a:cs typeface="+mn-cs"/>
                </a:rPr>
                <a:t>사람이 밀어 탐사</a:t>
              </a:r>
            </a:p>
          </p:txBody>
        </p:sp>
      </p:grpSp>
      <p:grpSp>
        <p:nvGrpSpPr>
          <p:cNvPr id="41" name="seoul-kpis"/>
          <p:cNvGrpSpPr/>
          <p:nvPr/>
        </p:nvGrpSpPr>
        <p:grpSpPr>
          <a:xfrm>
            <a:off x="521970" y="4648200"/>
            <a:ext cx="4964430" cy="909002"/>
            <a:chOff x="521970" y="4648200"/>
            <a:chExt cx="4964430" cy="909002"/>
          </a:xfrm>
        </p:grpSpPr>
        <p:sp>
          <p:nvSpPr>
            <p:cNvPr id="34" name="Line 34"/>
            <p:cNvSpPr/>
            <p:nvPr/>
          </p:nvSpPr>
          <p:spPr>
            <a:xfrm>
              <a:off x="533400" y="4648200"/>
              <a:ext cx="4953000" cy="9525"/>
            </a:xfrm>
            <a:custGeom>
              <a:avLst/>
              <a:gdLst/>
              <a:ahLst/>
              <a:cxnLst/>
              <a:rect l="l" t="t" r="r" b="b"/>
              <a:pathLst>
                <a:path w="4953000" h="9525">
                  <a:moveTo>
                    <a:pt x="0" y="0"/>
                  </a:moveTo>
                  <a:lnTo>
                    <a:pt x="4953000" y="0"/>
                  </a:lnTo>
                </a:path>
              </a:pathLst>
            </a:custGeom>
            <a:noFill/>
            <a:ln w="19050">
              <a:solidFill>
                <a:srgbClr val="0B1E3C"/>
              </a:solidFill>
            </a:ln>
          </p:spPr>
        </p:sp>
        <p:sp>
          <p:nvSpPr>
            <p:cNvPr id="35" name="TextBox 35"/>
            <p:cNvSpPr txBox="1"/>
            <p:nvPr/>
          </p:nvSpPr>
          <p:spPr>
            <a:xfrm>
              <a:off x="521970" y="4768850"/>
              <a:ext cx="1485843" cy="440055"/>
            </a:xfrm>
            <a:prstGeom prst="rect">
              <a:avLst/>
            </a:prstGeom>
            <a:noFill/>
            <a:ln>
              <a:noFill/>
            </a:ln>
          </p:spPr>
          <p:txBody>
            <a:bodyPr wrap="none" lIns="0" tIns="0" rIns="0" bIns="0" anchor="t" anchorCtr="0">
              <a:spAutoFit/>
            </a:bodyPr>
            <a:lstStyle/>
            <a:p>
              <a:pPr algn="l"/>
              <a:r>
                <a:rPr lang="en-US" sz="2250" b="1" dirty="0">
                  <a:solidFill>
                    <a:srgbClr val="0B1E3C"/>
                  </a:solidFill>
                  <a:latin typeface="+mn-lt"/>
                  <a:ea typeface="+mn-ea"/>
                  <a:cs typeface="+mn-cs"/>
                </a:rPr>
                <a:t>16,423km</a:t>
              </a:r>
            </a:p>
          </p:txBody>
        </p:sp>
        <p:sp>
          <p:nvSpPr>
            <p:cNvPr id="36" name="TextBox 36"/>
            <p:cNvSpPr txBox="1"/>
            <p:nvPr/>
          </p:nvSpPr>
          <p:spPr>
            <a:xfrm>
              <a:off x="527685" y="5156200"/>
              <a:ext cx="118747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2026년 탐사 계획</a:t>
              </a:r>
            </a:p>
          </p:txBody>
        </p:sp>
        <p:sp>
          <p:nvSpPr>
            <p:cNvPr id="37" name="TextBox 37"/>
            <p:cNvSpPr txBox="1"/>
            <p:nvPr/>
          </p:nvSpPr>
          <p:spPr>
            <a:xfrm>
              <a:off x="2236470" y="4768850"/>
              <a:ext cx="1216266" cy="440055"/>
            </a:xfrm>
            <a:prstGeom prst="rect">
              <a:avLst/>
            </a:prstGeom>
            <a:noFill/>
            <a:ln>
              <a:noFill/>
            </a:ln>
          </p:spPr>
          <p:txBody>
            <a:bodyPr wrap="none" lIns="0" tIns="0" rIns="0" bIns="0" anchor="t" anchorCtr="0">
              <a:spAutoFit/>
            </a:bodyPr>
            <a:lstStyle/>
            <a:p>
              <a:pPr algn="l"/>
              <a:r>
                <a:rPr lang="ko-KR" sz="2250" b="1" dirty="0">
                  <a:solidFill>
                    <a:srgbClr val="0B1E3C"/>
                  </a:solidFill>
                  <a:latin typeface="+mn-lt"/>
                  <a:ea typeface="+mn-ea"/>
                  <a:cs typeface="+mn-cs"/>
                </a:rPr>
                <a:t>9 → 19명</a:t>
              </a:r>
            </a:p>
          </p:txBody>
        </p:sp>
        <p:sp>
          <p:nvSpPr>
            <p:cNvPr id="38" name="TextBox 38"/>
            <p:cNvSpPr txBox="1"/>
            <p:nvPr/>
          </p:nvSpPr>
          <p:spPr>
            <a:xfrm>
              <a:off x="2242185" y="5156200"/>
              <a:ext cx="970412"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GPR 전담 인력</a:t>
              </a:r>
            </a:p>
          </p:txBody>
        </p:sp>
        <p:sp>
          <p:nvSpPr>
            <p:cNvPr id="39" name="TextBox 39"/>
            <p:cNvSpPr txBox="1"/>
            <p:nvPr/>
          </p:nvSpPr>
          <p:spPr>
            <a:xfrm>
              <a:off x="3893820" y="4768850"/>
              <a:ext cx="1344239" cy="440055"/>
            </a:xfrm>
            <a:prstGeom prst="rect">
              <a:avLst/>
            </a:prstGeom>
            <a:noFill/>
            <a:ln>
              <a:noFill/>
            </a:ln>
          </p:spPr>
          <p:txBody>
            <a:bodyPr wrap="none" lIns="0" tIns="0" rIns="0" bIns="0" anchor="t" anchorCtr="0">
              <a:spAutoFit/>
            </a:bodyPr>
            <a:lstStyle/>
            <a:p>
              <a:pPr algn="l"/>
              <a:r>
                <a:rPr lang="ko-KR" sz="2250" b="1" dirty="0">
                  <a:solidFill>
                    <a:srgbClr val="0B1E3C"/>
                  </a:solidFill>
                  <a:latin typeface="+mn-lt"/>
                  <a:ea typeface="+mn-ea"/>
                  <a:cs typeface="+mn-cs"/>
                </a:rPr>
                <a:t>5년 → 1년</a:t>
              </a:r>
            </a:p>
          </p:txBody>
        </p:sp>
        <p:sp>
          <p:nvSpPr>
            <p:cNvPr id="40" name="TextBox 40"/>
            <p:cNvSpPr txBox="1"/>
            <p:nvPr/>
          </p:nvSpPr>
          <p:spPr>
            <a:xfrm>
              <a:off x="3899535" y="5156200"/>
              <a:ext cx="1234694" cy="401002"/>
            </a:xfrm>
            <a:prstGeom prst="rect">
              <a:avLst/>
            </a:prstGeom>
            <a:noFill/>
            <a:ln>
              <a:noFill/>
            </a:ln>
          </p:spPr>
          <p:txBody>
            <a:bodyPr wrap="none" lIns="0" tIns="0" rIns="0" bIns="0" anchor="t" anchorCtr="0">
              <a:spAutoFit/>
            </a:bodyPr>
            <a:lstStyle/>
            <a:p>
              <a:pPr algn="l">
                <a:lnSpc>
                  <a:spcPts val="1425"/>
                </a:lnSpc>
              </a:pPr>
              <a:r>
                <a:rPr lang="ko-KR" sz="1120" dirty="0">
                  <a:solidFill>
                    <a:srgbClr val="374151"/>
                  </a:solidFill>
                  <a:latin typeface="+mn-lt"/>
                  <a:ea typeface="+mn-ea"/>
                  <a:cs typeface="+mn-cs"/>
                </a:rPr>
                <a:t>정기점검 주기 단축</a:t>
              </a:r>
              <a:br>
                <a:rPr lang="ko-KR" sz="1120" dirty="0">
                  <a:solidFill>
                    <a:srgbClr val="374151"/>
                  </a:solidFill>
                  <a:latin typeface="+mn-lt"/>
                  <a:ea typeface="+mn-ea"/>
                  <a:cs typeface="+mn-cs"/>
                </a:rPr>
              </a:br>
              <a:r>
                <a:rPr lang="ko-KR" sz="1120" dirty="0">
                  <a:solidFill>
                    <a:srgbClr val="374151"/>
                  </a:solidFill>
                  <a:latin typeface="+mn-lt"/>
                  <a:ea typeface="+mn-ea"/>
                  <a:cs typeface="+mn-cs"/>
                </a:rPr>
                <a:t>(서울시, 2025.4)</a:t>
              </a:r>
            </a:p>
          </p:txBody>
        </p:sp>
      </p:grpSp>
      <p:grpSp>
        <p:nvGrpSpPr>
          <p:cNvPr id="62" name="current-flow"/>
          <p:cNvGrpSpPr/>
          <p:nvPr/>
        </p:nvGrpSpPr>
        <p:grpSpPr>
          <a:xfrm>
            <a:off x="5937123" y="1485900"/>
            <a:ext cx="4812637" cy="2329752"/>
            <a:chOff x="5937123" y="1485900"/>
            <a:chExt cx="4812637" cy="2329752"/>
          </a:xfrm>
        </p:grpSpPr>
        <p:sp>
          <p:nvSpPr>
            <p:cNvPr id="42" name="TextBox 42"/>
            <p:cNvSpPr txBox="1"/>
            <p:nvPr/>
          </p:nvSpPr>
          <p:spPr>
            <a:xfrm>
              <a:off x="5937123" y="148590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현재 업무 흐름</a:t>
              </a:r>
            </a:p>
          </p:txBody>
        </p:sp>
        <p:grpSp>
          <p:nvGrpSpPr>
            <p:cNvPr id="61" name="Group 61"/>
            <p:cNvGrpSpPr/>
            <p:nvPr/>
          </p:nvGrpSpPr>
          <p:grpSpPr>
            <a:xfrm>
              <a:off x="5943600" y="1819275"/>
              <a:ext cx="4806160" cy="1996377"/>
              <a:chOff x="5943600" y="1819275"/>
              <a:chExt cx="4806160" cy="1996377"/>
            </a:xfrm>
          </p:grpSpPr>
          <p:sp>
            <p:nvSpPr>
              <p:cNvPr id="43" name="Ellipse 43"/>
              <p:cNvSpPr/>
              <p:nvPr/>
            </p:nvSpPr>
            <p:spPr>
              <a:xfrm>
                <a:off x="5943600" y="1819275"/>
                <a:ext cx="228600" cy="228600"/>
              </a:xfrm>
              <a:prstGeom prst="ellipse">
                <a:avLst/>
              </a:prstGeom>
              <a:solidFill>
                <a:srgbClr val="0B1E3C"/>
              </a:solidFill>
              <a:ln>
                <a:noFill/>
              </a:ln>
            </p:spPr>
          </p:sp>
          <p:sp>
            <p:nvSpPr>
              <p:cNvPr id="44" name="TextBox 44"/>
              <p:cNvSpPr txBox="1"/>
              <p:nvPr/>
            </p:nvSpPr>
            <p:spPr>
              <a:xfrm>
                <a:off x="6014853" y="18669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1</a:t>
                </a:r>
              </a:p>
            </p:txBody>
          </p:sp>
          <p:sp>
            <p:nvSpPr>
              <p:cNvPr id="45" name="TextBox 45"/>
              <p:cNvSpPr txBox="1"/>
              <p:nvPr/>
            </p:nvSpPr>
            <p:spPr>
              <a:xfrm>
                <a:off x="6279261" y="1822450"/>
                <a:ext cx="3895034"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민원·노후 관로·공사구간으로 조사 대상 선정</a:t>
                </a:r>
              </a:p>
            </p:txBody>
          </p:sp>
          <p:sp>
            <p:nvSpPr>
              <p:cNvPr id="46" name="Ellipse 46"/>
              <p:cNvSpPr/>
              <p:nvPr/>
            </p:nvSpPr>
            <p:spPr>
              <a:xfrm>
                <a:off x="5943600" y="2162175"/>
                <a:ext cx="228600" cy="228600"/>
              </a:xfrm>
              <a:prstGeom prst="ellipse">
                <a:avLst/>
              </a:prstGeom>
              <a:solidFill>
                <a:srgbClr val="0B1E3C"/>
              </a:solidFill>
              <a:ln>
                <a:noFill/>
              </a:ln>
            </p:spPr>
          </p:sp>
          <p:sp>
            <p:nvSpPr>
              <p:cNvPr id="47" name="TextBox 47"/>
              <p:cNvSpPr txBox="1"/>
              <p:nvPr/>
            </p:nvSpPr>
            <p:spPr>
              <a:xfrm>
                <a:off x="6014853" y="22098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2</a:t>
                </a:r>
              </a:p>
            </p:txBody>
          </p:sp>
          <p:sp>
            <p:nvSpPr>
              <p:cNvPr id="48" name="TextBox 48"/>
              <p:cNvSpPr txBox="1"/>
              <p:nvPr/>
            </p:nvSpPr>
            <p:spPr>
              <a:xfrm>
                <a:off x="6279261" y="2165350"/>
                <a:ext cx="4470499"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차량형 GPR이 도로를 넓게 스캔 (1회 폭 약 2.4~3m)</a:t>
                </a:r>
              </a:p>
            </p:txBody>
          </p:sp>
          <p:sp>
            <p:nvSpPr>
              <p:cNvPr id="49" name="Ellipse 49"/>
              <p:cNvSpPr/>
              <p:nvPr/>
            </p:nvSpPr>
            <p:spPr>
              <a:xfrm>
                <a:off x="5943600" y="2505075"/>
                <a:ext cx="228600" cy="228600"/>
              </a:xfrm>
              <a:prstGeom prst="ellipse">
                <a:avLst/>
              </a:prstGeom>
              <a:solidFill>
                <a:srgbClr val="0B1E3C"/>
              </a:solidFill>
              <a:ln>
                <a:noFill/>
              </a:ln>
            </p:spPr>
          </p:sp>
          <p:sp>
            <p:nvSpPr>
              <p:cNvPr id="50" name="TextBox 50"/>
              <p:cNvSpPr txBox="1"/>
              <p:nvPr/>
            </p:nvSpPr>
            <p:spPr>
              <a:xfrm>
                <a:off x="6014853" y="25527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3</a:t>
                </a:r>
              </a:p>
            </p:txBody>
          </p:sp>
          <p:sp>
            <p:nvSpPr>
              <p:cNvPr id="51" name="TextBox 51"/>
              <p:cNvSpPr txBox="1"/>
              <p:nvPr/>
            </p:nvSpPr>
            <p:spPr>
              <a:xfrm>
                <a:off x="6279261" y="2508250"/>
                <a:ext cx="3168625"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분석자가 판독해 공동 의심 지점 선별</a:t>
                </a:r>
              </a:p>
            </p:txBody>
          </p:sp>
          <p:sp>
            <p:nvSpPr>
              <p:cNvPr id="52" name="Ellipse 52"/>
              <p:cNvSpPr/>
              <p:nvPr/>
            </p:nvSpPr>
            <p:spPr>
              <a:xfrm>
                <a:off x="5943600" y="2847975"/>
                <a:ext cx="228600" cy="228600"/>
              </a:xfrm>
              <a:prstGeom prst="ellipse">
                <a:avLst/>
              </a:prstGeom>
              <a:solidFill>
                <a:srgbClr val="0B1E3C"/>
              </a:solidFill>
              <a:ln>
                <a:noFill/>
              </a:ln>
            </p:spPr>
          </p:sp>
          <p:sp>
            <p:nvSpPr>
              <p:cNvPr id="53" name="TextBox 53"/>
              <p:cNvSpPr txBox="1"/>
              <p:nvPr/>
            </p:nvSpPr>
            <p:spPr>
              <a:xfrm>
                <a:off x="6014853" y="28956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4</a:t>
                </a:r>
              </a:p>
            </p:txBody>
          </p:sp>
          <p:sp>
            <p:nvSpPr>
              <p:cNvPr id="54" name="TextBox 54"/>
              <p:cNvSpPr txBox="1"/>
              <p:nvPr/>
            </p:nvSpPr>
            <p:spPr>
              <a:xfrm>
                <a:off x="6279261" y="2851150"/>
                <a:ext cx="2683149"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작업자가 수동 GPR로 다시 조사</a:t>
                </a:r>
              </a:p>
            </p:txBody>
          </p:sp>
          <p:sp>
            <p:nvSpPr>
              <p:cNvPr id="55" name="Ellipse 55"/>
              <p:cNvSpPr/>
              <p:nvPr/>
            </p:nvSpPr>
            <p:spPr>
              <a:xfrm>
                <a:off x="5943600" y="3190875"/>
                <a:ext cx="228600" cy="228600"/>
              </a:xfrm>
              <a:prstGeom prst="ellipse">
                <a:avLst/>
              </a:prstGeom>
              <a:solidFill>
                <a:srgbClr val="0B1E3C"/>
              </a:solidFill>
              <a:ln>
                <a:noFill/>
              </a:ln>
            </p:spPr>
          </p:sp>
          <p:sp>
            <p:nvSpPr>
              <p:cNvPr id="56" name="TextBox 56"/>
              <p:cNvSpPr txBox="1"/>
              <p:nvPr/>
            </p:nvSpPr>
            <p:spPr>
              <a:xfrm>
                <a:off x="6014853" y="32385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5</a:t>
                </a:r>
              </a:p>
            </p:txBody>
          </p:sp>
          <p:sp>
            <p:nvSpPr>
              <p:cNvPr id="57" name="TextBox 57"/>
              <p:cNvSpPr txBox="1"/>
              <p:nvPr/>
            </p:nvSpPr>
            <p:spPr>
              <a:xfrm>
                <a:off x="6279261" y="3194050"/>
                <a:ext cx="3455365"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승인·교통통제 후 천공·내시경으로 확인</a:t>
                </a:r>
              </a:p>
            </p:txBody>
          </p:sp>
          <p:sp>
            <p:nvSpPr>
              <p:cNvPr id="58" name="Ellipse 58"/>
              <p:cNvSpPr/>
              <p:nvPr/>
            </p:nvSpPr>
            <p:spPr>
              <a:xfrm>
                <a:off x="5943600" y="3533775"/>
                <a:ext cx="228600" cy="228600"/>
              </a:xfrm>
              <a:prstGeom prst="ellipse">
                <a:avLst/>
              </a:prstGeom>
              <a:solidFill>
                <a:srgbClr val="0B1E3C"/>
              </a:solidFill>
              <a:ln>
                <a:noFill/>
              </a:ln>
            </p:spPr>
          </p:sp>
          <p:sp>
            <p:nvSpPr>
              <p:cNvPr id="59" name="TextBox 59"/>
              <p:cNvSpPr txBox="1"/>
              <p:nvPr/>
            </p:nvSpPr>
            <p:spPr>
              <a:xfrm>
                <a:off x="6014853" y="3581400"/>
                <a:ext cx="8609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6</a:t>
                </a:r>
              </a:p>
            </p:txBody>
          </p:sp>
          <p:sp>
            <p:nvSpPr>
              <p:cNvPr id="60" name="TextBox 60"/>
              <p:cNvSpPr txBox="1"/>
              <p:nvPr/>
            </p:nvSpPr>
            <p:spPr>
              <a:xfrm>
                <a:off x="6279261" y="3536950"/>
                <a:ext cx="2528237" cy="278702"/>
              </a:xfrm>
              <a:prstGeom prst="rect">
                <a:avLst/>
              </a:prstGeom>
              <a:noFill/>
              <a:ln>
                <a:noFill/>
              </a:ln>
            </p:spPr>
            <p:txBody>
              <a:bodyPr wrap="none" lIns="0" tIns="0" rIns="0" bIns="0" anchor="t" anchorCtr="0">
                <a:spAutoFit/>
              </a:bodyPr>
              <a:lstStyle/>
              <a:p>
                <a:pPr algn="l"/>
                <a:r>
                  <a:rPr lang="ko-KR" sz="1420" dirty="0">
                    <a:solidFill>
                      <a:srgbClr val="111827"/>
                    </a:solidFill>
                    <a:latin typeface="+mn-lt"/>
                    <a:ea typeface="+mn-ea"/>
                    <a:cs typeface="+mn-cs"/>
                  </a:rPr>
                  <a:t>공동이 확인되면 복구·재포장</a:t>
                </a:r>
              </a:p>
            </p:txBody>
          </p:sp>
        </p:grpSp>
      </p:grpSp>
      <p:grpSp>
        <p:nvGrpSpPr>
          <p:cNvPr id="77" name="gap-timeline"/>
          <p:cNvGrpSpPr/>
          <p:nvPr/>
        </p:nvGrpSpPr>
        <p:grpSpPr>
          <a:xfrm>
            <a:off x="5937123" y="4038600"/>
            <a:ext cx="5628346" cy="1509078"/>
            <a:chOff x="5937123" y="4038600"/>
            <a:chExt cx="5628346" cy="1509078"/>
          </a:xfrm>
        </p:grpSpPr>
        <p:sp>
          <p:nvSpPr>
            <p:cNvPr id="63" name="TextBox 63"/>
            <p:cNvSpPr txBox="1"/>
            <p:nvPr/>
          </p:nvSpPr>
          <p:spPr>
            <a:xfrm>
              <a:off x="5937123" y="4038600"/>
              <a:ext cx="3076259" cy="250317"/>
            </a:xfrm>
            <a:prstGeom prst="rect">
              <a:avLst/>
            </a:prstGeom>
            <a:noFill/>
            <a:ln>
              <a:noFill/>
            </a:ln>
          </p:spPr>
          <p:txBody>
            <a:bodyPr wrap="none" lIns="0" tIns="0" rIns="0" bIns="0" anchor="t" anchorCtr="0">
              <a:spAutoFit/>
            </a:bodyPr>
            <a:lstStyle/>
            <a:p>
              <a:pPr algn="l"/>
              <a:r>
                <a:rPr lang="ko-KR" sz="1280" b="1" dirty="0">
                  <a:solidFill>
                    <a:srgbClr val="C62828"/>
                  </a:solidFill>
                  <a:latin typeface="+mn-lt"/>
                  <a:ea typeface="+mn-ea"/>
                  <a:cs typeface="+mn-cs"/>
                </a:rPr>
                <a:t>그 사이의 공백 · 2024년 연희동 성산로</a:t>
              </a:r>
            </a:p>
          </p:txBody>
        </p:sp>
        <p:sp>
          <p:nvSpPr>
            <p:cNvPr id="64" name="Rectangle 64"/>
            <p:cNvSpPr/>
            <p:nvPr/>
          </p:nvSpPr>
          <p:spPr>
            <a:xfrm>
              <a:off x="6915150" y="4629150"/>
              <a:ext cx="4391025" cy="133350"/>
            </a:xfrm>
            <a:prstGeom prst="rect">
              <a:avLst/>
            </a:prstGeom>
            <a:solidFill>
              <a:srgbClr val="F5B700">
                <a:alpha val="28000"/>
              </a:srgbClr>
            </a:solidFill>
            <a:ln>
              <a:noFill/>
            </a:ln>
          </p:spPr>
        </p:sp>
        <p:sp>
          <p:nvSpPr>
            <p:cNvPr id="65" name="Line 65"/>
            <p:cNvSpPr/>
            <p:nvPr/>
          </p:nvSpPr>
          <p:spPr>
            <a:xfrm>
              <a:off x="6286500" y="4695825"/>
              <a:ext cx="5143500" cy="9525"/>
            </a:xfrm>
            <a:custGeom>
              <a:avLst/>
              <a:gdLst/>
              <a:ahLst/>
              <a:cxnLst/>
              <a:rect l="l" t="t" r="r" b="b"/>
              <a:pathLst>
                <a:path w="5143500" h="9525">
                  <a:moveTo>
                    <a:pt x="0" y="0"/>
                  </a:moveTo>
                  <a:lnTo>
                    <a:pt x="5143500" y="0"/>
                  </a:lnTo>
                </a:path>
              </a:pathLst>
            </a:custGeom>
            <a:noFill/>
            <a:ln w="19050">
              <a:solidFill>
                <a:srgbClr val="9AA3AF"/>
              </a:solidFill>
            </a:ln>
          </p:spPr>
        </p:sp>
        <p:grpSp>
          <p:nvGrpSpPr>
            <p:cNvPr id="70" name="Group 70"/>
            <p:cNvGrpSpPr/>
            <p:nvPr/>
          </p:nvGrpSpPr>
          <p:grpSpPr>
            <a:xfrm>
              <a:off x="6179303" y="4838700"/>
              <a:ext cx="4014869" cy="191643"/>
              <a:chOff x="6179303" y="4838700"/>
              <a:chExt cx="4014869" cy="191643"/>
            </a:xfrm>
          </p:grpSpPr>
          <p:sp>
            <p:nvSpPr>
              <p:cNvPr id="66" name="TextBox 66"/>
              <p:cNvSpPr txBox="1"/>
              <p:nvPr/>
            </p:nvSpPr>
            <p:spPr>
              <a:xfrm>
                <a:off x="6179303" y="4838700"/>
                <a:ext cx="214394"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5월</a:t>
                </a:r>
              </a:p>
            </p:txBody>
          </p:sp>
          <p:sp>
            <p:nvSpPr>
              <p:cNvPr id="67" name="TextBox 67"/>
              <p:cNvSpPr txBox="1"/>
              <p:nvPr/>
            </p:nvSpPr>
            <p:spPr>
              <a:xfrm>
                <a:off x="7436603" y="4838700"/>
                <a:ext cx="214394"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6월</a:t>
                </a:r>
              </a:p>
            </p:txBody>
          </p:sp>
          <p:sp>
            <p:nvSpPr>
              <p:cNvPr id="68" name="TextBox 68"/>
              <p:cNvSpPr txBox="1"/>
              <p:nvPr/>
            </p:nvSpPr>
            <p:spPr>
              <a:xfrm>
                <a:off x="8693903" y="4838700"/>
                <a:ext cx="214394"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7월</a:t>
                </a:r>
              </a:p>
            </p:txBody>
          </p:sp>
          <p:sp>
            <p:nvSpPr>
              <p:cNvPr id="69" name="TextBox 69"/>
              <p:cNvSpPr txBox="1"/>
              <p:nvPr/>
            </p:nvSpPr>
            <p:spPr>
              <a:xfrm>
                <a:off x="9979778" y="4838700"/>
                <a:ext cx="214394"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8월</a:t>
                </a:r>
              </a:p>
            </p:txBody>
          </p:sp>
        </p:grpSp>
        <p:sp>
          <p:nvSpPr>
            <p:cNvPr id="71" name="Rectangle 71"/>
            <p:cNvSpPr/>
            <p:nvPr/>
          </p:nvSpPr>
          <p:spPr>
            <a:xfrm>
              <a:off x="6534150" y="4619625"/>
              <a:ext cx="381000" cy="152400"/>
            </a:xfrm>
            <a:prstGeom prst="roundRect">
              <a:avLst>
                <a:gd name="adj" fmla="val 18750"/>
              </a:avLst>
            </a:prstGeom>
            <a:solidFill>
              <a:srgbClr val="0B1E3C"/>
            </a:solidFill>
            <a:ln>
              <a:noFill/>
            </a:ln>
          </p:spPr>
        </p:sp>
        <p:sp>
          <p:nvSpPr>
            <p:cNvPr id="72" name="TextBox 72"/>
            <p:cNvSpPr txBox="1"/>
            <p:nvPr/>
          </p:nvSpPr>
          <p:spPr>
            <a:xfrm>
              <a:off x="6528435" y="4375150"/>
              <a:ext cx="2544248"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5.7~16 정기 GPR 탐사 · 공동 미발견</a:t>
              </a:r>
            </a:p>
          </p:txBody>
        </p:sp>
        <p:sp>
          <p:nvSpPr>
            <p:cNvPr id="73" name="Ellipse 73"/>
            <p:cNvSpPr/>
            <p:nvPr/>
          </p:nvSpPr>
          <p:spPr>
            <a:xfrm>
              <a:off x="11220450" y="4610100"/>
              <a:ext cx="171450" cy="171450"/>
            </a:xfrm>
            <a:prstGeom prst="ellipse">
              <a:avLst/>
            </a:prstGeom>
            <a:solidFill>
              <a:srgbClr val="C62828"/>
            </a:solidFill>
            <a:ln>
              <a:noFill/>
            </a:ln>
          </p:spPr>
        </p:sp>
        <p:sp>
          <p:nvSpPr>
            <p:cNvPr id="74" name="TextBox 74"/>
            <p:cNvSpPr txBox="1"/>
            <p:nvPr/>
          </p:nvSpPr>
          <p:spPr>
            <a:xfrm>
              <a:off x="10425405" y="4375150"/>
              <a:ext cx="1010310" cy="220028"/>
            </a:xfrm>
            <a:prstGeom prst="rect">
              <a:avLst/>
            </a:prstGeom>
            <a:noFill/>
            <a:ln>
              <a:noFill/>
            </a:ln>
          </p:spPr>
          <p:txBody>
            <a:bodyPr wrap="none" lIns="0" tIns="0" rIns="0" bIns="0" anchor="t" anchorCtr="0">
              <a:spAutoFit/>
            </a:bodyPr>
            <a:lstStyle/>
            <a:p>
              <a:pPr algn="r"/>
              <a:r>
                <a:rPr lang="ko-KR" sz="1120" b="1" dirty="0">
                  <a:solidFill>
                    <a:srgbClr val="C62828"/>
                  </a:solidFill>
                  <a:latin typeface="+mn-lt"/>
                  <a:ea typeface="+mn-ea"/>
                  <a:cs typeface="+mn-cs"/>
                </a:rPr>
                <a:t>8.29 도로함몰</a:t>
              </a:r>
            </a:p>
          </p:txBody>
        </p:sp>
        <p:sp>
          <p:nvSpPr>
            <p:cNvPr id="75" name="TextBox 75"/>
            <p:cNvSpPr txBox="1"/>
            <p:nvPr/>
          </p:nvSpPr>
          <p:spPr>
            <a:xfrm>
              <a:off x="7041137" y="5067300"/>
              <a:ext cx="4129526" cy="250317"/>
            </a:xfrm>
            <a:prstGeom prst="rect">
              <a:avLst/>
            </a:prstGeom>
            <a:noFill/>
            <a:ln>
              <a:noFill/>
            </a:ln>
          </p:spPr>
          <p:txBody>
            <a:bodyPr wrap="none" lIns="0" tIns="0" rIns="0" bIns="0" anchor="t" anchorCtr="0">
              <a:spAutoFit/>
            </a:bodyPr>
            <a:lstStyle/>
            <a:p>
              <a:pPr algn="ctr"/>
              <a:r>
                <a:rPr lang="ko-KR" sz="1280" b="1" dirty="0">
                  <a:solidFill>
                    <a:srgbClr val="0B1E3C"/>
                  </a:solidFill>
                  <a:latin typeface="+mn-lt"/>
                  <a:ea typeface="+mn-ea"/>
                  <a:cs typeface="+mn-cs"/>
                </a:rPr>
                <a:t>이 사이의 지하 변화는 어디에도 기록되지 않았습니다</a:t>
              </a:r>
            </a:p>
          </p:txBody>
        </p:sp>
        <p:sp>
          <p:nvSpPr>
            <p:cNvPr id="76" name="TextBox 76"/>
            <p:cNvSpPr txBox="1"/>
            <p:nvPr/>
          </p:nvSpPr>
          <p:spPr>
            <a:xfrm>
              <a:off x="6646332" y="5327650"/>
              <a:ext cx="4919137"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탐사의 실패가 아니라, 한 시점의 결과는 그 시점만 말해 준다는 뜻입니다</a:t>
              </a:r>
            </a:p>
          </p:txBody>
        </p:sp>
      </p:grpSp>
      <p:grpSp>
        <p:nvGrpSpPr>
          <p:cNvPr id="80" name="conclusion"/>
          <p:cNvGrpSpPr/>
          <p:nvPr/>
        </p:nvGrpSpPr>
        <p:grpSpPr>
          <a:xfrm>
            <a:off x="533400" y="5715000"/>
            <a:ext cx="11125200" cy="495300"/>
            <a:chOff x="533400" y="5715000"/>
            <a:chExt cx="11125200" cy="495300"/>
          </a:xfrm>
        </p:grpSpPr>
        <p:sp>
          <p:nvSpPr>
            <p:cNvPr id="78" name="Rectangle 78"/>
            <p:cNvSpPr/>
            <p:nvPr/>
          </p:nvSpPr>
          <p:spPr>
            <a:xfrm>
              <a:off x="533400" y="5715000"/>
              <a:ext cx="11125200" cy="495300"/>
            </a:xfrm>
            <a:prstGeom prst="rect">
              <a:avLst/>
            </a:prstGeom>
            <a:solidFill>
              <a:srgbClr val="0B1E3C"/>
            </a:solidFill>
            <a:ln>
              <a:noFill/>
            </a:ln>
          </p:spPr>
        </p:sp>
        <p:sp>
          <p:nvSpPr>
            <p:cNvPr id="79" name="TextBox 79"/>
            <p:cNvSpPr txBox="1"/>
            <p:nvPr/>
          </p:nvSpPr>
          <p:spPr>
            <a:xfrm>
              <a:off x="753999" y="5848350"/>
              <a:ext cx="8746448"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 xml:space="preserve">기존 GPR을 대체하지 않습니다. </a:t>
              </a:r>
              <a:r>
                <a:rPr lang="ko-KR" sz="1580" b="1" dirty="0">
                  <a:solidFill>
                    <a:srgbClr val="F5B700"/>
                  </a:solidFill>
                  <a:latin typeface="+mn-lt"/>
                  <a:ea typeface="+mn-ea"/>
                  <a:cs typeface="+mn-cs"/>
                </a:rPr>
                <a:t>측정과 측정 사이의 시간</a:t>
              </a:r>
              <a:r>
                <a:rPr lang="ko-KR" sz="1580" b="1" dirty="0">
                  <a:solidFill>
                    <a:srgbClr val="FFFFFF"/>
                  </a:solidFill>
                  <a:latin typeface="+mn-lt"/>
                  <a:ea typeface="+mn-ea"/>
                  <a:cs typeface="+mn-cs"/>
                </a:rPr>
                <a:t>, 그리고 현장 업무를 연결합니다.</a:t>
              </a:r>
            </a:p>
          </p:txBody>
        </p:sp>
      </p:grpSp>
      <p:grpSp>
        <p:nvGrpSpPr>
          <p:cNvPr id="82" name="source"/>
          <p:cNvGrpSpPr/>
          <p:nvPr/>
        </p:nvGrpSpPr>
        <p:grpSpPr>
          <a:xfrm>
            <a:off x="528638" y="6324600"/>
            <a:ext cx="9593123" cy="176212"/>
            <a:chOff x="528638" y="6324600"/>
            <a:chExt cx="9593123" cy="176212"/>
          </a:xfrm>
        </p:grpSpPr>
        <p:sp>
          <p:nvSpPr>
            <p:cNvPr id="81" name="TextBox 81"/>
            <p:cNvSpPr txBox="1"/>
            <p:nvPr/>
          </p:nvSpPr>
          <p:spPr>
            <a:xfrm>
              <a:off x="528638" y="6324600"/>
              <a:ext cx="959312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메트로신문(2025.10.19) 서울시 누적 탐사 · 머니투데이(2026.3.23) 서울시 2026 계획·장비 현황 · 이투데이(2025.4.23) 점검 주기 · 뉴시스(2024.8.30) 연희동 함몰</a:t>
              </a:r>
            </a:p>
          </p:txBody>
        </p:sp>
      </p:grpSp>
      <p:grpSp>
        <p:nvGrpSpPr>
          <p:cNvPr id="85" name="footer"/>
          <p:cNvGrpSpPr/>
          <p:nvPr/>
        </p:nvGrpSpPr>
        <p:grpSpPr>
          <a:xfrm>
            <a:off x="528638" y="6610350"/>
            <a:ext cx="11134724" cy="176212"/>
            <a:chOff x="528638" y="6610350"/>
            <a:chExt cx="11134724" cy="176212"/>
          </a:xfrm>
        </p:grpSpPr>
        <p:sp>
          <p:nvSpPr>
            <p:cNvPr id="83" name="TextBox 83"/>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84" name="TextBox 8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04 / 16</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704850" cy="228600"/>
            </a:xfrm>
            <a:prstGeom prst="rect">
              <a:avLst/>
            </a:prstGeom>
            <a:solidFill>
              <a:srgbClr val="F5B700"/>
            </a:solidFill>
            <a:ln>
              <a:noFill/>
            </a:ln>
          </p:spPr>
        </p:sp>
        <p:sp>
          <p:nvSpPr>
            <p:cNvPr id="5" name="TextBox 5"/>
            <p:cNvSpPr txBox="1"/>
            <p:nvPr/>
          </p:nvSpPr>
          <p:spPr>
            <a:xfrm>
              <a:off x="1929738" y="314325"/>
              <a:ext cx="579174"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운영 방식</a:t>
              </a:r>
            </a:p>
          </p:txBody>
        </p:sp>
        <p:sp>
          <p:nvSpPr>
            <p:cNvPr id="6" name="TextBox 6"/>
            <p:cNvSpPr txBox="1"/>
            <p:nvPr/>
          </p:nvSpPr>
          <p:spPr>
            <a:xfrm>
              <a:off x="2680716" y="301625"/>
              <a:ext cx="197790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GroundWatch 운영 파이프라인</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800100"/>
            <a:ext cx="9040915" cy="557403"/>
            <a:chOff x="518922" y="800100"/>
            <a:chExt cx="9040915" cy="557403"/>
          </a:xfrm>
        </p:grpSpPr>
        <p:sp>
          <p:nvSpPr>
            <p:cNvPr id="9" name="TextBox 9"/>
            <p:cNvSpPr txBox="1"/>
            <p:nvPr/>
          </p:nvSpPr>
          <p:spPr>
            <a:xfrm>
              <a:off x="518922" y="800100"/>
              <a:ext cx="9040915"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반복 순찰이 탐사 결과를 다음 현장 업무로 연결합니다</a:t>
              </a:r>
            </a:p>
          </p:txBody>
        </p:sp>
      </p:grpSp>
      <p:grpSp>
        <p:nvGrpSpPr>
          <p:cNvPr id="12" name="lead"/>
          <p:cNvGrpSpPr/>
          <p:nvPr/>
        </p:nvGrpSpPr>
        <p:grpSpPr>
          <a:xfrm>
            <a:off x="526161" y="1365250"/>
            <a:ext cx="8043215" cy="278702"/>
            <a:chOff x="526161" y="1365250"/>
            <a:chExt cx="8043215" cy="278702"/>
          </a:xfrm>
        </p:grpSpPr>
        <p:sp>
          <p:nvSpPr>
            <p:cNvPr id="11" name="TextBox 11"/>
            <p:cNvSpPr txBox="1"/>
            <p:nvPr/>
          </p:nvSpPr>
          <p:spPr>
            <a:xfrm>
              <a:off x="526161" y="1365250"/>
              <a:ext cx="8043215" cy="278702"/>
            </a:xfrm>
            <a:prstGeom prst="rect">
              <a:avLst/>
            </a:prstGeom>
            <a:noFill/>
            <a:ln>
              <a:noFill/>
            </a:ln>
          </p:spPr>
          <p:txBody>
            <a:bodyPr wrap="none" lIns="0" tIns="0" rIns="0" bIns="0" anchor="t" anchorCtr="0">
              <a:spAutoFit/>
            </a:bodyPr>
            <a:lstStyle/>
            <a:p>
              <a:pPr algn="l"/>
              <a:r>
                <a:rPr lang="ko-KR" sz="1420" dirty="0">
                  <a:solidFill>
                    <a:srgbClr val="4B5563"/>
                  </a:solidFill>
                  <a:latin typeface="+mn-lt"/>
                  <a:ea typeface="+mn-ea"/>
                  <a:cs typeface="+mn-cs"/>
                </a:rPr>
                <a:t>한 번의 탐사로 끝내지 않고, 같은 길을 회차마다 다시 보며 달라진 곳만 현장에서 확인합니다.</a:t>
              </a:r>
            </a:p>
          </p:txBody>
        </p:sp>
      </p:grpSp>
      <p:grpSp>
        <p:nvGrpSpPr>
          <p:cNvPr id="23" name="stage-1"/>
          <p:cNvGrpSpPr/>
          <p:nvPr/>
        </p:nvGrpSpPr>
        <p:grpSpPr>
          <a:xfrm>
            <a:off x="524256" y="1733550"/>
            <a:ext cx="2618994" cy="3145917"/>
            <a:chOff x="524256" y="1733550"/>
            <a:chExt cx="2618994" cy="3145917"/>
          </a:xfrm>
        </p:grpSpPr>
        <p:pic>
          <p:nvPicPr>
            <p:cNvPr id="13" name="Image 13"/>
            <p:cNvPicPr>
              <a:picLocks noChangeAspect="1"/>
            </p:cNvPicPr>
            <p:nvPr/>
          </p:nvPicPr>
          <p:blipFill>
            <a:blip r:embed="rId2"/>
            <a:srcRect l="0" t="3467" r="0" b="3467"/>
            <a:stretch>
              <a:fillRect/>
            </a:stretch>
          </p:blipFill>
          <p:spPr>
            <a:xfrm>
              <a:off x="533400" y="1733550"/>
              <a:ext cx="2609850" cy="1619250"/>
            </a:xfrm>
            <a:prstGeom prst="rect">
              <a:avLst/>
            </a:prstGeom>
          </p:spPr>
        </p:pic>
        <p:sp>
          <p:nvSpPr>
            <p:cNvPr id="14" name="TextBox 14"/>
            <p:cNvSpPr txBox="1"/>
            <p:nvPr/>
          </p:nvSpPr>
          <p:spPr>
            <a:xfrm>
              <a:off x="528066" y="3530600"/>
              <a:ext cx="575219" cy="205359"/>
            </a:xfrm>
            <a:prstGeom prst="rect">
              <a:avLst/>
            </a:prstGeom>
            <a:noFill/>
            <a:ln>
              <a:noFill/>
            </a:ln>
          </p:spPr>
          <p:txBody>
            <a:bodyPr wrap="none" lIns="0" tIns="0" rIns="0" bIns="0" anchor="t" anchorCtr="0">
              <a:spAutoFit/>
            </a:bodyPr>
            <a:lstStyle/>
            <a:p>
              <a:pPr algn="l"/>
              <a:r>
                <a:rPr lang="en-US" sz="1050" b="1" dirty="0">
                  <a:solidFill>
                    <a:srgbClr val="4B5563"/>
                  </a:solidFill>
                  <a:latin typeface="+mn-lt"/>
                  <a:ea typeface="+mn-ea"/>
                  <a:cs typeface="+mn-cs"/>
                </a:rPr>
                <a:t>STEP 01</a:t>
              </a:r>
            </a:p>
          </p:txBody>
        </p:sp>
        <p:sp>
          <p:nvSpPr>
            <p:cNvPr id="15" name="TextBox 15"/>
            <p:cNvSpPr txBox="1"/>
            <p:nvPr/>
          </p:nvSpPr>
          <p:spPr>
            <a:xfrm>
              <a:off x="524256" y="372745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반복 측정</a:t>
              </a:r>
            </a:p>
          </p:txBody>
        </p:sp>
        <p:grpSp>
          <p:nvGrpSpPr>
            <p:cNvPr id="22" name="Group 22"/>
            <p:cNvGrpSpPr/>
            <p:nvPr/>
          </p:nvGrpSpPr>
          <p:grpSpPr>
            <a:xfrm>
              <a:off x="533400" y="4095750"/>
              <a:ext cx="2242053" cy="783717"/>
              <a:chOff x="533400" y="4095750"/>
              <a:chExt cx="2242053" cy="783717"/>
            </a:xfrm>
          </p:grpSpPr>
          <p:sp>
            <p:nvSpPr>
              <p:cNvPr id="16" name="Rectangle 16"/>
              <p:cNvSpPr/>
              <p:nvPr/>
            </p:nvSpPr>
            <p:spPr>
              <a:xfrm>
                <a:off x="533400" y="4171950"/>
                <a:ext cx="57150" cy="57150"/>
              </a:xfrm>
              <a:prstGeom prst="rect">
                <a:avLst/>
              </a:prstGeom>
              <a:solidFill>
                <a:srgbClr val="F5B700"/>
              </a:solidFill>
              <a:ln>
                <a:noFill/>
              </a:ln>
            </p:spPr>
          </p:sp>
          <p:sp>
            <p:nvSpPr>
              <p:cNvPr id="17" name="TextBox 17"/>
              <p:cNvSpPr txBox="1"/>
              <p:nvPr/>
            </p:nvSpPr>
            <p:spPr>
              <a:xfrm>
                <a:off x="660273" y="4095750"/>
                <a:ext cx="193425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위험·정기 순찰구간 등록</a:t>
                </a:r>
              </a:p>
            </p:txBody>
          </p:sp>
          <p:sp>
            <p:nvSpPr>
              <p:cNvPr id="18" name="Rectangle 18"/>
              <p:cNvSpPr/>
              <p:nvPr/>
            </p:nvSpPr>
            <p:spPr>
              <a:xfrm>
                <a:off x="533400" y="4438650"/>
                <a:ext cx="57150" cy="57150"/>
              </a:xfrm>
              <a:prstGeom prst="rect">
                <a:avLst/>
              </a:prstGeom>
              <a:solidFill>
                <a:srgbClr val="F5B700"/>
              </a:solidFill>
              <a:ln>
                <a:noFill/>
              </a:ln>
            </p:spPr>
          </p:sp>
          <p:sp>
            <p:nvSpPr>
              <p:cNvPr id="19" name="TextBox 19"/>
              <p:cNvSpPr txBox="1"/>
              <p:nvPr/>
            </p:nvSpPr>
            <p:spPr>
              <a:xfrm>
                <a:off x="660273" y="4362450"/>
                <a:ext cx="211518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새벽에 같은 경로 반복 주행</a:t>
                </a:r>
              </a:p>
            </p:txBody>
          </p:sp>
          <p:sp>
            <p:nvSpPr>
              <p:cNvPr id="20" name="Rectangle 20"/>
              <p:cNvSpPr/>
              <p:nvPr/>
            </p:nvSpPr>
            <p:spPr>
              <a:xfrm>
                <a:off x="533400" y="4705350"/>
                <a:ext cx="57150" cy="57150"/>
              </a:xfrm>
              <a:prstGeom prst="rect">
                <a:avLst/>
              </a:prstGeom>
              <a:solidFill>
                <a:srgbClr val="F5B700"/>
              </a:solidFill>
              <a:ln>
                <a:noFill/>
              </a:ln>
            </p:spPr>
          </p:sp>
          <p:sp>
            <p:nvSpPr>
              <p:cNvPr id="21" name="TextBox 21"/>
              <p:cNvSpPr txBox="1"/>
              <p:nvPr/>
            </p:nvSpPr>
            <p:spPr>
              <a:xfrm>
                <a:off x="660273" y="4629150"/>
                <a:ext cx="1723085"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GPR·카메라 동시 수집</a:t>
                </a:r>
              </a:p>
            </p:txBody>
          </p:sp>
        </p:grpSp>
      </p:grpSp>
      <p:grpSp>
        <p:nvGrpSpPr>
          <p:cNvPr id="25" name="arrow-12"/>
          <p:cNvGrpSpPr/>
          <p:nvPr/>
        </p:nvGrpSpPr>
        <p:grpSpPr>
          <a:xfrm>
            <a:off x="3171825" y="2543175"/>
            <a:ext cx="161925" cy="1"/>
            <a:chOff x="3171825" y="2543175"/>
            <a:chExt cx="161925" cy="1"/>
          </a:xfrm>
        </p:grpSpPr>
        <p:sp>
          <p:nvSpPr>
            <p:cNvPr id="24" name="Line 24"/>
            <p:cNvSpPr/>
            <p:nvPr/>
          </p:nvSpPr>
          <p:spPr>
            <a:xfrm>
              <a:off x="3171825" y="2543175"/>
              <a:ext cx="161925" cy="1"/>
            </a:xfrm>
            <a:prstGeom prst="line">
              <a:avLst/>
            </a:prstGeom>
            <a:noFill/>
            <a:ln w="19050">
              <a:solidFill>
                <a:srgbClr val="0B1E3C"/>
              </a:solidFill>
              <a:tailEnd type="triangle" w="lg" len="lg"/>
            </a:ln>
          </p:spPr>
        </p:sp>
      </p:grpSp>
      <p:grpSp>
        <p:nvGrpSpPr>
          <p:cNvPr id="43" name="stage-2"/>
          <p:cNvGrpSpPr/>
          <p:nvPr/>
        </p:nvGrpSpPr>
        <p:grpSpPr>
          <a:xfrm>
            <a:off x="3362706" y="1733550"/>
            <a:ext cx="2618994" cy="3145917"/>
            <a:chOff x="3362706" y="1733550"/>
            <a:chExt cx="2618994" cy="3145917"/>
          </a:xfrm>
        </p:grpSpPr>
        <p:sp>
          <p:nvSpPr>
            <p:cNvPr id="26" name="Rectangle 26"/>
            <p:cNvSpPr/>
            <p:nvPr/>
          </p:nvSpPr>
          <p:spPr>
            <a:xfrm>
              <a:off x="3371850" y="1733550"/>
              <a:ext cx="2609850" cy="1619250"/>
            </a:xfrm>
            <a:prstGeom prst="rect">
              <a:avLst/>
            </a:prstGeom>
            <a:solidFill>
              <a:srgbClr val="2A2E33"/>
            </a:solidFill>
            <a:ln>
              <a:noFill/>
            </a:ln>
          </p:spPr>
        </p:sp>
        <p:pic>
          <p:nvPicPr>
            <p:cNvPr id="27" name="Image 27"/>
            <p:cNvPicPr>
              <a:picLocks noChangeAspect="1"/>
            </p:cNvPicPr>
            <p:nvPr/>
          </p:nvPicPr>
          <p:blipFill>
            <a:blip r:embed="rId3"/>
            <a:srcRect l="1410" t="0" r="1411" b="0"/>
            <a:stretch>
              <a:fillRect/>
            </a:stretch>
          </p:blipFill>
          <p:spPr>
            <a:xfrm>
              <a:off x="3371850" y="1733550"/>
              <a:ext cx="2609850" cy="790575"/>
            </a:xfrm>
            <a:prstGeom prst="rect">
              <a:avLst/>
            </a:prstGeom>
          </p:spPr>
        </p:pic>
        <p:pic>
          <p:nvPicPr>
            <p:cNvPr id="28" name="Image 28"/>
            <p:cNvPicPr>
              <a:picLocks noChangeAspect="1"/>
            </p:cNvPicPr>
            <p:nvPr/>
          </p:nvPicPr>
          <p:blipFill>
            <a:blip r:embed="rId4"/>
            <a:srcRect l="1410" t="0" r="1411" b="0"/>
            <a:stretch>
              <a:fillRect/>
            </a:stretch>
          </p:blipFill>
          <p:spPr>
            <a:xfrm>
              <a:off x="3371850" y="2562225"/>
              <a:ext cx="2609850" cy="790575"/>
            </a:xfrm>
            <a:prstGeom prst="rect">
              <a:avLst/>
            </a:prstGeom>
          </p:spPr>
        </p:pic>
        <p:sp>
          <p:nvSpPr>
            <p:cNvPr id="29" name="Rectangle 29"/>
            <p:cNvSpPr/>
            <p:nvPr/>
          </p:nvSpPr>
          <p:spPr>
            <a:xfrm>
              <a:off x="3429000" y="1790700"/>
              <a:ext cx="590550" cy="190500"/>
            </a:xfrm>
            <a:prstGeom prst="roundRect">
              <a:avLst>
                <a:gd name="adj" fmla="val 15000"/>
              </a:avLst>
            </a:prstGeom>
            <a:solidFill>
              <a:srgbClr val="0B1E3C">
                <a:alpha val="85000"/>
              </a:srgbClr>
            </a:solidFill>
            <a:ln>
              <a:noFill/>
            </a:ln>
          </p:spPr>
        </p:sp>
        <p:sp>
          <p:nvSpPr>
            <p:cNvPr id="30" name="TextBox 30"/>
            <p:cNvSpPr txBox="1"/>
            <p:nvPr/>
          </p:nvSpPr>
          <p:spPr>
            <a:xfrm>
              <a:off x="3434688" y="1819275"/>
              <a:ext cx="57917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이전 회차</a:t>
              </a:r>
            </a:p>
          </p:txBody>
        </p:sp>
        <p:sp>
          <p:nvSpPr>
            <p:cNvPr id="31" name="Rectangle 31"/>
            <p:cNvSpPr/>
            <p:nvPr/>
          </p:nvSpPr>
          <p:spPr>
            <a:xfrm>
              <a:off x="3429000" y="2619375"/>
              <a:ext cx="590550" cy="190500"/>
            </a:xfrm>
            <a:prstGeom prst="roundRect">
              <a:avLst>
                <a:gd name="adj" fmla="val 15000"/>
              </a:avLst>
            </a:prstGeom>
            <a:solidFill>
              <a:srgbClr val="0B1E3C">
                <a:alpha val="85000"/>
              </a:srgbClr>
            </a:solidFill>
            <a:ln>
              <a:noFill/>
            </a:ln>
          </p:spPr>
        </p:sp>
        <p:sp>
          <p:nvSpPr>
            <p:cNvPr id="32" name="TextBox 32"/>
            <p:cNvSpPr txBox="1"/>
            <p:nvPr/>
          </p:nvSpPr>
          <p:spPr>
            <a:xfrm>
              <a:off x="3434688" y="2647950"/>
              <a:ext cx="579174"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이번 회차</a:t>
              </a:r>
            </a:p>
          </p:txBody>
        </p:sp>
        <p:sp>
          <p:nvSpPr>
            <p:cNvPr id="33" name="Rectangle 33"/>
            <p:cNvSpPr/>
            <p:nvPr/>
          </p:nvSpPr>
          <p:spPr>
            <a:xfrm>
              <a:off x="4419600" y="2733675"/>
              <a:ext cx="1352550" cy="552450"/>
            </a:xfrm>
            <a:prstGeom prst="rect">
              <a:avLst/>
            </a:prstGeom>
            <a:noFill/>
            <a:ln w="23812">
              <a:solidFill>
                <a:srgbClr val="F5B700"/>
              </a:solidFill>
            </a:ln>
          </p:spPr>
        </p:sp>
        <p:sp>
          <p:nvSpPr>
            <p:cNvPr id="34" name="TextBox 34"/>
            <p:cNvSpPr txBox="1"/>
            <p:nvPr/>
          </p:nvSpPr>
          <p:spPr>
            <a:xfrm>
              <a:off x="3366516" y="3530600"/>
              <a:ext cx="575219" cy="205359"/>
            </a:xfrm>
            <a:prstGeom prst="rect">
              <a:avLst/>
            </a:prstGeom>
            <a:noFill/>
            <a:ln>
              <a:noFill/>
            </a:ln>
          </p:spPr>
          <p:txBody>
            <a:bodyPr wrap="none" lIns="0" tIns="0" rIns="0" bIns="0" anchor="t" anchorCtr="0">
              <a:spAutoFit/>
            </a:bodyPr>
            <a:lstStyle/>
            <a:p>
              <a:pPr algn="l"/>
              <a:r>
                <a:rPr lang="en-US" sz="1050" b="1" dirty="0">
                  <a:solidFill>
                    <a:srgbClr val="4B5563"/>
                  </a:solidFill>
                  <a:latin typeface="+mn-lt"/>
                  <a:ea typeface="+mn-ea"/>
                  <a:cs typeface="+mn-cs"/>
                </a:rPr>
                <a:t>STEP 02</a:t>
              </a:r>
            </a:p>
          </p:txBody>
        </p:sp>
        <p:sp>
          <p:nvSpPr>
            <p:cNvPr id="35" name="TextBox 35"/>
            <p:cNvSpPr txBox="1"/>
            <p:nvPr/>
          </p:nvSpPr>
          <p:spPr>
            <a:xfrm>
              <a:off x="3362706" y="372745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변화 감지</a:t>
              </a:r>
            </a:p>
          </p:txBody>
        </p:sp>
        <p:grpSp>
          <p:nvGrpSpPr>
            <p:cNvPr id="42" name="Group 42"/>
            <p:cNvGrpSpPr/>
            <p:nvPr/>
          </p:nvGrpSpPr>
          <p:grpSpPr>
            <a:xfrm>
              <a:off x="3371850" y="4095750"/>
              <a:ext cx="2362672" cy="783717"/>
              <a:chOff x="3371850" y="4095750"/>
              <a:chExt cx="2362672" cy="783717"/>
            </a:xfrm>
          </p:grpSpPr>
          <p:sp>
            <p:nvSpPr>
              <p:cNvPr id="36" name="Rectangle 36"/>
              <p:cNvSpPr/>
              <p:nvPr/>
            </p:nvSpPr>
            <p:spPr>
              <a:xfrm>
                <a:off x="3371850" y="4171950"/>
                <a:ext cx="57150" cy="57150"/>
              </a:xfrm>
              <a:prstGeom prst="rect">
                <a:avLst/>
              </a:prstGeom>
              <a:solidFill>
                <a:srgbClr val="F5B700"/>
              </a:solidFill>
              <a:ln>
                <a:noFill/>
              </a:ln>
            </p:spPr>
          </p:sp>
          <p:sp>
            <p:nvSpPr>
              <p:cNvPr id="37" name="TextBox 37"/>
              <p:cNvSpPr txBox="1"/>
              <p:nvPr/>
            </p:nvSpPr>
            <p:spPr>
              <a:xfrm>
                <a:off x="3498723" y="4095750"/>
                <a:ext cx="223514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위치·깊이·시간으로 4D 저장</a:t>
                </a:r>
              </a:p>
            </p:txBody>
          </p:sp>
          <p:sp>
            <p:nvSpPr>
              <p:cNvPr id="38" name="Rectangle 38"/>
              <p:cNvSpPr/>
              <p:nvPr/>
            </p:nvSpPr>
            <p:spPr>
              <a:xfrm>
                <a:off x="3371850" y="4438650"/>
                <a:ext cx="57150" cy="57150"/>
              </a:xfrm>
              <a:prstGeom prst="rect">
                <a:avLst/>
              </a:prstGeom>
              <a:solidFill>
                <a:srgbClr val="F5B700"/>
              </a:solidFill>
              <a:ln>
                <a:noFill/>
              </a:ln>
            </p:spPr>
          </p:sp>
          <p:sp>
            <p:nvSpPr>
              <p:cNvPr id="39" name="TextBox 39"/>
              <p:cNvSpPr txBox="1"/>
              <p:nvPr/>
            </p:nvSpPr>
            <p:spPr>
              <a:xfrm>
                <a:off x="3498723" y="4362450"/>
                <a:ext cx="2097623"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AI가 이전 회차와 변화 선별</a:t>
                </a:r>
              </a:p>
            </p:txBody>
          </p:sp>
          <p:sp>
            <p:nvSpPr>
              <p:cNvPr id="40" name="Rectangle 40"/>
              <p:cNvSpPr/>
              <p:nvPr/>
            </p:nvSpPr>
            <p:spPr>
              <a:xfrm>
                <a:off x="3371850" y="4705350"/>
                <a:ext cx="57150" cy="57150"/>
              </a:xfrm>
              <a:prstGeom prst="rect">
                <a:avLst/>
              </a:prstGeom>
              <a:solidFill>
                <a:srgbClr val="F5B700"/>
              </a:solidFill>
              <a:ln>
                <a:noFill/>
              </a:ln>
            </p:spPr>
          </p:sp>
          <p:sp>
            <p:nvSpPr>
              <p:cNvPr id="41" name="TextBox 41"/>
              <p:cNvSpPr txBox="1"/>
              <p:nvPr/>
            </p:nvSpPr>
            <p:spPr>
              <a:xfrm>
                <a:off x="3498723" y="4629150"/>
                <a:ext cx="223579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전문가가 원시 데이터로 승인</a:t>
                </a:r>
              </a:p>
            </p:txBody>
          </p:sp>
        </p:grpSp>
      </p:grpSp>
      <p:grpSp>
        <p:nvGrpSpPr>
          <p:cNvPr id="45" name="arrow-23"/>
          <p:cNvGrpSpPr/>
          <p:nvPr/>
        </p:nvGrpSpPr>
        <p:grpSpPr>
          <a:xfrm>
            <a:off x="6010275" y="2543175"/>
            <a:ext cx="161925" cy="1"/>
            <a:chOff x="6010275" y="2543175"/>
            <a:chExt cx="161925" cy="1"/>
          </a:xfrm>
        </p:grpSpPr>
        <p:sp>
          <p:nvSpPr>
            <p:cNvPr id="44" name="Line 44"/>
            <p:cNvSpPr/>
            <p:nvPr/>
          </p:nvSpPr>
          <p:spPr>
            <a:xfrm>
              <a:off x="6010275" y="2543175"/>
              <a:ext cx="161925" cy="1"/>
            </a:xfrm>
            <a:prstGeom prst="line">
              <a:avLst/>
            </a:prstGeom>
            <a:noFill/>
            <a:ln w="19050">
              <a:solidFill>
                <a:srgbClr val="0B1E3C"/>
              </a:solidFill>
              <a:tailEnd type="triangle" w="lg" len="lg"/>
            </a:ln>
          </p:spPr>
        </p:sp>
      </p:grpSp>
      <p:grpSp>
        <p:nvGrpSpPr>
          <p:cNvPr id="59" name="stage-3"/>
          <p:cNvGrpSpPr/>
          <p:nvPr/>
        </p:nvGrpSpPr>
        <p:grpSpPr>
          <a:xfrm>
            <a:off x="6201156" y="1733550"/>
            <a:ext cx="2618994" cy="3145917"/>
            <a:chOff x="6201156" y="1733550"/>
            <a:chExt cx="2618994" cy="3145917"/>
          </a:xfrm>
        </p:grpSpPr>
        <p:pic>
          <p:nvPicPr>
            <p:cNvPr id="46" name="Image 46"/>
            <p:cNvPicPr>
              <a:picLocks noChangeAspect="1"/>
            </p:cNvPicPr>
            <p:nvPr/>
          </p:nvPicPr>
          <p:blipFill>
            <a:blip r:embed="rId5"/>
            <a:srcRect l="0" t="3467" r="0" b="3467"/>
            <a:stretch>
              <a:fillRect/>
            </a:stretch>
          </p:blipFill>
          <p:spPr>
            <a:xfrm>
              <a:off x="6210300" y="1733550"/>
              <a:ext cx="2609850" cy="1619250"/>
            </a:xfrm>
            <a:prstGeom prst="rect">
              <a:avLst/>
            </a:prstGeom>
          </p:spPr>
        </p:pic>
        <p:sp>
          <p:nvSpPr>
            <p:cNvPr id="47" name="Polygon 47"/>
            <p:cNvSpPr/>
            <p:nvPr/>
          </p:nvSpPr>
          <p:spPr>
            <a:xfrm>
              <a:off x="7153275" y="2647950"/>
              <a:ext cx="885825" cy="314325"/>
            </a:xfrm>
            <a:custGeom>
              <a:avLst/>
              <a:gdLst/>
              <a:ahLst/>
              <a:cxnLst/>
              <a:rect l="l" t="t" r="r" b="b"/>
              <a:pathLst>
                <a:path w="885825" h="314325">
                  <a:moveTo>
                    <a:pt x="257175" y="0"/>
                  </a:moveTo>
                  <a:lnTo>
                    <a:pt x="619125" y="0"/>
                  </a:lnTo>
                  <a:lnTo>
                    <a:pt x="885825" y="314325"/>
                  </a:lnTo>
                  <a:lnTo>
                    <a:pt x="0" y="314325"/>
                  </a:lnTo>
                  <a:close/>
                </a:path>
              </a:pathLst>
            </a:custGeom>
            <a:solidFill>
              <a:srgbClr val="F5B700">
                <a:alpha val="30000"/>
              </a:srgbClr>
            </a:solidFill>
            <a:ln w="19050">
              <a:solidFill>
                <a:srgbClr val="F5B700"/>
              </a:solidFill>
            </a:ln>
          </p:spPr>
        </p:sp>
        <p:sp>
          <p:nvSpPr>
            <p:cNvPr id="48" name="Rectangle 48"/>
            <p:cNvSpPr/>
            <p:nvPr/>
          </p:nvSpPr>
          <p:spPr>
            <a:xfrm>
              <a:off x="6267450" y="1790700"/>
              <a:ext cx="990600" cy="190500"/>
            </a:xfrm>
            <a:prstGeom prst="roundRect">
              <a:avLst>
                <a:gd name="adj" fmla="val 15000"/>
              </a:avLst>
            </a:prstGeom>
            <a:solidFill>
              <a:srgbClr val="0B1E3C">
                <a:alpha val="85000"/>
              </a:srgbClr>
            </a:solidFill>
            <a:ln>
              <a:noFill/>
            </a:ln>
          </p:spPr>
        </p:sp>
        <p:sp>
          <p:nvSpPr>
            <p:cNvPr id="49" name="TextBox 49"/>
            <p:cNvSpPr txBox="1"/>
            <p:nvPr/>
          </p:nvSpPr>
          <p:spPr>
            <a:xfrm>
              <a:off x="6304744" y="1819275"/>
              <a:ext cx="916012"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AR 재탐사 범위</a:t>
              </a:r>
            </a:p>
          </p:txBody>
        </p:sp>
        <p:sp>
          <p:nvSpPr>
            <p:cNvPr id="50" name="TextBox 50"/>
            <p:cNvSpPr txBox="1"/>
            <p:nvPr/>
          </p:nvSpPr>
          <p:spPr>
            <a:xfrm>
              <a:off x="6204966" y="3530600"/>
              <a:ext cx="575219" cy="205359"/>
            </a:xfrm>
            <a:prstGeom prst="rect">
              <a:avLst/>
            </a:prstGeom>
            <a:noFill/>
            <a:ln>
              <a:noFill/>
            </a:ln>
          </p:spPr>
          <p:txBody>
            <a:bodyPr wrap="none" lIns="0" tIns="0" rIns="0" bIns="0" anchor="t" anchorCtr="0">
              <a:spAutoFit/>
            </a:bodyPr>
            <a:lstStyle/>
            <a:p>
              <a:pPr algn="l"/>
              <a:r>
                <a:rPr lang="en-US" sz="1050" b="1" dirty="0">
                  <a:solidFill>
                    <a:srgbClr val="4B5563"/>
                  </a:solidFill>
                  <a:latin typeface="+mn-lt"/>
                  <a:ea typeface="+mn-ea"/>
                  <a:cs typeface="+mn-cs"/>
                </a:rPr>
                <a:t>STEP 03</a:t>
              </a:r>
            </a:p>
          </p:txBody>
        </p:sp>
        <p:sp>
          <p:nvSpPr>
            <p:cNvPr id="51" name="TextBox 51"/>
            <p:cNvSpPr txBox="1"/>
            <p:nvPr/>
          </p:nvSpPr>
          <p:spPr>
            <a:xfrm>
              <a:off x="6201156" y="3727450"/>
              <a:ext cx="1306198"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현장 재확인</a:t>
              </a:r>
            </a:p>
          </p:txBody>
        </p:sp>
        <p:grpSp>
          <p:nvGrpSpPr>
            <p:cNvPr id="58" name="Group 58"/>
            <p:cNvGrpSpPr/>
            <p:nvPr/>
          </p:nvGrpSpPr>
          <p:grpSpPr>
            <a:xfrm>
              <a:off x="6210300" y="4095750"/>
              <a:ext cx="2509139" cy="783717"/>
              <a:chOff x="6210300" y="4095750"/>
              <a:chExt cx="2509139" cy="783717"/>
            </a:xfrm>
          </p:grpSpPr>
          <p:sp>
            <p:nvSpPr>
              <p:cNvPr id="52" name="Rectangle 52"/>
              <p:cNvSpPr/>
              <p:nvPr/>
            </p:nvSpPr>
            <p:spPr>
              <a:xfrm>
                <a:off x="6210300" y="4171950"/>
                <a:ext cx="57150" cy="57150"/>
              </a:xfrm>
              <a:prstGeom prst="rect">
                <a:avLst/>
              </a:prstGeom>
              <a:solidFill>
                <a:srgbClr val="F5B700"/>
              </a:solidFill>
              <a:ln>
                <a:noFill/>
              </a:ln>
            </p:spPr>
          </p:sp>
          <p:sp>
            <p:nvSpPr>
              <p:cNvPr id="53" name="TextBox 53"/>
              <p:cNvSpPr txBox="1"/>
              <p:nvPr/>
            </p:nvSpPr>
            <p:spPr>
              <a:xfrm>
                <a:off x="6337173" y="4095750"/>
                <a:ext cx="2382266"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앱이 지점·안전 정차 위치 안내</a:t>
                </a:r>
              </a:p>
            </p:txBody>
          </p:sp>
          <p:sp>
            <p:nvSpPr>
              <p:cNvPr id="54" name="Rectangle 54"/>
              <p:cNvSpPr/>
              <p:nvPr/>
            </p:nvSpPr>
            <p:spPr>
              <a:xfrm>
                <a:off x="6210300" y="4438650"/>
                <a:ext cx="57150" cy="57150"/>
              </a:xfrm>
              <a:prstGeom prst="rect">
                <a:avLst/>
              </a:prstGeom>
              <a:solidFill>
                <a:srgbClr val="F5B700"/>
              </a:solidFill>
              <a:ln>
                <a:noFill/>
              </a:ln>
            </p:spPr>
          </p:sp>
          <p:sp>
            <p:nvSpPr>
              <p:cNvPr id="55" name="TextBox 55"/>
              <p:cNvSpPr txBox="1"/>
              <p:nvPr/>
            </p:nvSpPr>
            <p:spPr>
              <a:xfrm>
                <a:off x="6337173" y="4362450"/>
                <a:ext cx="225416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AR 글래스 + 수동 GPR 재탐사</a:t>
                </a:r>
              </a:p>
            </p:txBody>
          </p:sp>
          <p:sp>
            <p:nvSpPr>
              <p:cNvPr id="56" name="Rectangle 56"/>
              <p:cNvSpPr/>
              <p:nvPr/>
            </p:nvSpPr>
            <p:spPr>
              <a:xfrm>
                <a:off x="6210300" y="4705350"/>
                <a:ext cx="57150" cy="57150"/>
              </a:xfrm>
              <a:prstGeom prst="rect">
                <a:avLst/>
              </a:prstGeom>
              <a:solidFill>
                <a:srgbClr val="F5B700"/>
              </a:solidFill>
              <a:ln>
                <a:noFill/>
              </a:ln>
            </p:spPr>
          </p:sp>
          <p:sp>
            <p:nvSpPr>
              <p:cNvPr id="57" name="TextBox 57"/>
              <p:cNvSpPr txBox="1"/>
              <p:nvPr/>
            </p:nvSpPr>
            <p:spPr>
              <a:xfrm>
                <a:off x="6337173" y="4629150"/>
                <a:ext cx="1985945"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필요 시 천공·내시경 요청</a:t>
                </a:r>
              </a:p>
            </p:txBody>
          </p:sp>
        </p:grpSp>
      </p:grpSp>
      <p:grpSp>
        <p:nvGrpSpPr>
          <p:cNvPr id="61" name="arrow-34"/>
          <p:cNvGrpSpPr/>
          <p:nvPr/>
        </p:nvGrpSpPr>
        <p:grpSpPr>
          <a:xfrm>
            <a:off x="8848725" y="2543175"/>
            <a:ext cx="161925" cy="1"/>
            <a:chOff x="8848725" y="2543175"/>
            <a:chExt cx="161925" cy="1"/>
          </a:xfrm>
        </p:grpSpPr>
        <p:sp>
          <p:nvSpPr>
            <p:cNvPr id="60" name="Line 60"/>
            <p:cNvSpPr/>
            <p:nvPr/>
          </p:nvSpPr>
          <p:spPr>
            <a:xfrm>
              <a:off x="8848725" y="2543175"/>
              <a:ext cx="161925" cy="1"/>
            </a:xfrm>
            <a:prstGeom prst="line">
              <a:avLst/>
            </a:prstGeom>
            <a:noFill/>
            <a:ln w="19050">
              <a:solidFill>
                <a:srgbClr val="0B1E3C"/>
              </a:solidFill>
              <a:tailEnd type="triangle" w="lg" len="lg"/>
            </a:ln>
          </p:spPr>
        </p:sp>
      </p:grpSp>
      <p:grpSp>
        <p:nvGrpSpPr>
          <p:cNvPr id="74" name="stage-4"/>
          <p:cNvGrpSpPr/>
          <p:nvPr/>
        </p:nvGrpSpPr>
        <p:grpSpPr>
          <a:xfrm>
            <a:off x="9039606" y="1733550"/>
            <a:ext cx="2618994" cy="3145917"/>
            <a:chOff x="9039606" y="1733550"/>
            <a:chExt cx="2618994" cy="3145917"/>
          </a:xfrm>
        </p:grpSpPr>
        <p:pic>
          <p:nvPicPr>
            <p:cNvPr id="62" name="Image 62"/>
            <p:cNvPicPr>
              <a:picLocks noChangeAspect="1"/>
            </p:cNvPicPr>
            <p:nvPr/>
          </p:nvPicPr>
          <p:blipFill>
            <a:blip r:embed="rId6"/>
            <a:srcRect l="4562" t="0" r="4562" b="0"/>
            <a:stretch>
              <a:fillRect/>
            </a:stretch>
          </p:blipFill>
          <p:spPr>
            <a:xfrm>
              <a:off x="9048750" y="1733550"/>
              <a:ext cx="2609850" cy="1619250"/>
            </a:xfrm>
            <a:prstGeom prst="rect">
              <a:avLst/>
            </a:prstGeom>
          </p:spPr>
        </p:pic>
        <p:sp>
          <p:nvSpPr>
            <p:cNvPr id="63" name="Rectangle 63"/>
            <p:cNvSpPr/>
            <p:nvPr/>
          </p:nvSpPr>
          <p:spPr>
            <a:xfrm>
              <a:off x="9105900" y="1790700"/>
              <a:ext cx="876300" cy="190500"/>
            </a:xfrm>
            <a:prstGeom prst="roundRect">
              <a:avLst>
                <a:gd name="adj" fmla="val 15000"/>
              </a:avLst>
            </a:prstGeom>
            <a:solidFill>
              <a:srgbClr val="0B1E3C">
                <a:alpha val="85000"/>
              </a:srgbClr>
            </a:solidFill>
            <a:ln>
              <a:noFill/>
            </a:ln>
          </p:spPr>
        </p:sp>
        <p:sp>
          <p:nvSpPr>
            <p:cNvPr id="64" name="TextBox 64"/>
            <p:cNvSpPr txBox="1"/>
            <p:nvPr/>
          </p:nvSpPr>
          <p:spPr>
            <a:xfrm>
              <a:off x="9101757" y="1819275"/>
              <a:ext cx="884586"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회차 이력 지도</a:t>
              </a:r>
            </a:p>
          </p:txBody>
        </p:sp>
        <p:sp>
          <p:nvSpPr>
            <p:cNvPr id="65" name="TextBox 65"/>
            <p:cNvSpPr txBox="1"/>
            <p:nvPr/>
          </p:nvSpPr>
          <p:spPr>
            <a:xfrm>
              <a:off x="9043416" y="3530600"/>
              <a:ext cx="575219" cy="205359"/>
            </a:xfrm>
            <a:prstGeom prst="rect">
              <a:avLst/>
            </a:prstGeom>
            <a:noFill/>
            <a:ln>
              <a:noFill/>
            </a:ln>
          </p:spPr>
          <p:txBody>
            <a:bodyPr wrap="none" lIns="0" tIns="0" rIns="0" bIns="0" anchor="t" anchorCtr="0">
              <a:spAutoFit/>
            </a:bodyPr>
            <a:lstStyle/>
            <a:p>
              <a:pPr algn="l"/>
              <a:r>
                <a:rPr lang="en-US" sz="1050" b="1" dirty="0">
                  <a:solidFill>
                    <a:srgbClr val="4B5563"/>
                  </a:solidFill>
                  <a:latin typeface="+mn-lt"/>
                  <a:ea typeface="+mn-ea"/>
                  <a:cs typeface="+mn-cs"/>
                </a:rPr>
                <a:t>STEP 04</a:t>
              </a:r>
            </a:p>
          </p:txBody>
        </p:sp>
        <p:sp>
          <p:nvSpPr>
            <p:cNvPr id="66" name="TextBox 66"/>
            <p:cNvSpPr txBox="1"/>
            <p:nvPr/>
          </p:nvSpPr>
          <p:spPr>
            <a:xfrm>
              <a:off x="9039606" y="372745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결과 축적</a:t>
              </a:r>
            </a:p>
          </p:txBody>
        </p:sp>
        <p:grpSp>
          <p:nvGrpSpPr>
            <p:cNvPr id="73" name="Group 73"/>
            <p:cNvGrpSpPr/>
            <p:nvPr/>
          </p:nvGrpSpPr>
          <p:grpSpPr>
            <a:xfrm>
              <a:off x="9048750" y="4095750"/>
              <a:ext cx="2457445" cy="783717"/>
              <a:chOff x="9048750" y="4095750"/>
              <a:chExt cx="2457445" cy="783717"/>
            </a:xfrm>
          </p:grpSpPr>
          <p:sp>
            <p:nvSpPr>
              <p:cNvPr id="67" name="Rectangle 67"/>
              <p:cNvSpPr/>
              <p:nvPr/>
            </p:nvSpPr>
            <p:spPr>
              <a:xfrm>
                <a:off x="9048750" y="4171950"/>
                <a:ext cx="57150" cy="57150"/>
              </a:xfrm>
              <a:prstGeom prst="rect">
                <a:avLst/>
              </a:prstGeom>
              <a:solidFill>
                <a:srgbClr val="F5B700"/>
              </a:solidFill>
              <a:ln>
                <a:noFill/>
              </a:ln>
            </p:spPr>
          </p:sp>
          <p:sp>
            <p:nvSpPr>
              <p:cNvPr id="68" name="TextBox 68"/>
              <p:cNvSpPr txBox="1"/>
              <p:nvPr/>
            </p:nvSpPr>
            <p:spPr>
              <a:xfrm>
                <a:off x="9175623" y="4095750"/>
                <a:ext cx="233057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확인·보수 이력을 지도에 저장</a:t>
                </a:r>
              </a:p>
            </p:txBody>
          </p:sp>
          <p:sp>
            <p:nvSpPr>
              <p:cNvPr id="69" name="Rectangle 69"/>
              <p:cNvSpPr/>
              <p:nvPr/>
            </p:nvSpPr>
            <p:spPr>
              <a:xfrm>
                <a:off x="9048750" y="4438650"/>
                <a:ext cx="57150" cy="57150"/>
              </a:xfrm>
              <a:prstGeom prst="rect">
                <a:avLst/>
              </a:prstGeom>
              <a:solidFill>
                <a:srgbClr val="F5B700"/>
              </a:solidFill>
              <a:ln>
                <a:noFill/>
              </a:ln>
            </p:spPr>
          </p:sp>
          <p:sp>
            <p:nvSpPr>
              <p:cNvPr id="70" name="TextBox 70"/>
              <p:cNvSpPr txBox="1"/>
              <p:nvPr/>
            </p:nvSpPr>
            <p:spPr>
              <a:xfrm>
                <a:off x="9175623" y="4362450"/>
                <a:ext cx="211518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다음 회차 순찰 경로에 반영</a:t>
                </a:r>
              </a:p>
            </p:txBody>
          </p:sp>
          <p:sp>
            <p:nvSpPr>
              <p:cNvPr id="71" name="Rectangle 71"/>
              <p:cNvSpPr/>
              <p:nvPr/>
            </p:nvSpPr>
            <p:spPr>
              <a:xfrm>
                <a:off x="9048750" y="4705350"/>
                <a:ext cx="57150" cy="57150"/>
              </a:xfrm>
              <a:prstGeom prst="rect">
                <a:avLst/>
              </a:prstGeom>
              <a:solidFill>
                <a:srgbClr val="F5B700"/>
              </a:solidFill>
              <a:ln>
                <a:noFill/>
              </a:ln>
            </p:spPr>
          </p:sp>
          <p:sp>
            <p:nvSpPr>
              <p:cNvPr id="72" name="TextBox 72"/>
              <p:cNvSpPr txBox="1"/>
              <p:nvPr/>
            </p:nvSpPr>
            <p:spPr>
              <a:xfrm>
                <a:off x="9175623" y="4629150"/>
                <a:ext cx="17042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AI 검증 데이터로 축적</a:t>
                </a:r>
              </a:p>
            </p:txBody>
          </p:sp>
        </p:grpSp>
      </p:grpSp>
      <p:grpSp>
        <p:nvGrpSpPr>
          <p:cNvPr id="78" name="return-loop"/>
          <p:cNvGrpSpPr/>
          <p:nvPr/>
        </p:nvGrpSpPr>
        <p:grpSpPr>
          <a:xfrm>
            <a:off x="1838325" y="4991100"/>
            <a:ext cx="8515350" cy="421767"/>
            <a:chOff x="1838325" y="4991100"/>
            <a:chExt cx="8515350" cy="421767"/>
          </a:xfrm>
        </p:grpSpPr>
        <p:sp>
          <p:nvSpPr>
            <p:cNvPr id="75" name="Freeform 75"/>
            <p:cNvSpPr/>
            <p:nvPr/>
          </p:nvSpPr>
          <p:spPr>
            <a:xfrm>
              <a:off x="1838325" y="4991100"/>
              <a:ext cx="8515350" cy="266700"/>
            </a:xfrm>
            <a:custGeom>
              <a:avLst/>
              <a:gdLst/>
              <a:ahLst/>
              <a:cxnLst/>
              <a:rect l="l" t="t" r="r" b="b"/>
              <a:pathLst>
                <a:path w="8515350" h="266700">
                  <a:moveTo>
                    <a:pt x="8515350" y="0"/>
                  </a:moveTo>
                  <a:lnTo>
                    <a:pt x="8515350" y="266700"/>
                  </a:lnTo>
                  <a:lnTo>
                    <a:pt x="0" y="266700"/>
                  </a:lnTo>
                  <a:lnTo>
                    <a:pt x="0" y="57150"/>
                  </a:lnTo>
                </a:path>
              </a:pathLst>
            </a:custGeom>
            <a:noFill/>
            <a:ln w="14288">
              <a:solidFill>
                <a:srgbClr val="4B5563"/>
              </a:solidFill>
              <a:custDash>
                <a:ds d="333333" sp="333333"/>
              </a:custDash>
              <a:tailEnd type="triangle" w="lg" len="lg"/>
            </a:ln>
          </p:spPr>
        </p:sp>
        <p:sp>
          <p:nvSpPr>
            <p:cNvPr id="76" name="Rectangle 76"/>
            <p:cNvSpPr/>
            <p:nvPr/>
          </p:nvSpPr>
          <p:spPr>
            <a:xfrm>
              <a:off x="4476750" y="5114925"/>
              <a:ext cx="3238500" cy="285750"/>
            </a:xfrm>
            <a:prstGeom prst="rect">
              <a:avLst/>
            </a:prstGeom>
            <a:solidFill>
              <a:srgbClr val="FFFFFF"/>
            </a:solidFill>
            <a:ln>
              <a:noFill/>
            </a:ln>
          </p:spPr>
        </p:sp>
        <p:sp>
          <p:nvSpPr>
            <p:cNvPr id="77" name="TextBox 77"/>
            <p:cNvSpPr txBox="1"/>
            <p:nvPr/>
          </p:nvSpPr>
          <p:spPr>
            <a:xfrm>
              <a:off x="4688613" y="5162550"/>
              <a:ext cx="2814773" cy="250317"/>
            </a:xfrm>
            <a:prstGeom prst="rect">
              <a:avLst/>
            </a:prstGeom>
            <a:noFill/>
            <a:ln>
              <a:noFill/>
            </a:ln>
          </p:spPr>
          <p:txBody>
            <a:bodyPr wrap="none" lIns="0" tIns="0" rIns="0" bIns="0" anchor="t" anchorCtr="0">
              <a:spAutoFit/>
            </a:bodyPr>
            <a:lstStyle/>
            <a:p>
              <a:pPr algn="ctr"/>
              <a:r>
                <a:rPr lang="ko-KR" sz="1280" b="1" dirty="0">
                  <a:solidFill>
                    <a:srgbClr val="0B1E3C"/>
                  </a:solidFill>
                  <a:latin typeface="+mn-lt"/>
                  <a:ea typeface="+mn-ea"/>
                  <a:cs typeface="+mn-cs"/>
                </a:rPr>
                <a:t>확인 결과가 다음 순찰로 돌아갑니다</a:t>
              </a:r>
            </a:p>
          </p:txBody>
        </p:sp>
      </p:grpSp>
      <p:grpSp>
        <p:nvGrpSpPr>
          <p:cNvPr id="81" name="role-band"/>
          <p:cNvGrpSpPr/>
          <p:nvPr/>
        </p:nvGrpSpPr>
        <p:grpSpPr>
          <a:xfrm>
            <a:off x="533400" y="5600700"/>
            <a:ext cx="11125200" cy="495300"/>
            <a:chOff x="533400" y="5600700"/>
            <a:chExt cx="11125200" cy="495300"/>
          </a:xfrm>
        </p:grpSpPr>
        <p:sp>
          <p:nvSpPr>
            <p:cNvPr id="79" name="Rectangle 79"/>
            <p:cNvSpPr/>
            <p:nvPr/>
          </p:nvSpPr>
          <p:spPr>
            <a:xfrm>
              <a:off x="533400" y="5600700"/>
              <a:ext cx="11125200" cy="495300"/>
            </a:xfrm>
            <a:prstGeom prst="rect">
              <a:avLst/>
            </a:prstGeom>
            <a:solidFill>
              <a:srgbClr val="0B1E3C"/>
            </a:solidFill>
            <a:ln>
              <a:noFill/>
            </a:ln>
          </p:spPr>
        </p:sp>
        <p:sp>
          <p:nvSpPr>
            <p:cNvPr id="80" name="TextBox 80"/>
            <p:cNvSpPr txBox="1"/>
            <p:nvPr/>
          </p:nvSpPr>
          <p:spPr>
            <a:xfrm>
              <a:off x="753999" y="5724525"/>
              <a:ext cx="7904609" cy="308991"/>
            </a:xfrm>
            <a:prstGeom prst="rect">
              <a:avLst/>
            </a:prstGeom>
            <a:noFill/>
            <a:ln>
              <a:noFill/>
            </a:ln>
          </p:spPr>
          <p:txBody>
            <a:bodyPr wrap="none" lIns="0" tIns="0" rIns="0" bIns="0" anchor="t" anchorCtr="0">
              <a:spAutoFit/>
            </a:bodyPr>
            <a:lstStyle/>
            <a:p>
              <a:pPr algn="l"/>
              <a:r>
                <a:rPr lang="ko-KR" sz="1580" b="1" dirty="0">
                  <a:solidFill>
                    <a:srgbClr val="FFFFFF"/>
                  </a:solidFill>
                  <a:latin typeface="+mn-lt"/>
                  <a:ea typeface="+mn-ea"/>
                  <a:cs typeface="+mn-cs"/>
                </a:rPr>
                <a:t xml:space="preserve">AI는 </a:t>
              </a:r>
              <a:r>
                <a:rPr lang="ko-KR" sz="1580" b="1" dirty="0">
                  <a:solidFill>
                    <a:srgbClr val="F5B700"/>
                  </a:solidFill>
                  <a:latin typeface="+mn-lt"/>
                  <a:ea typeface="+mn-ea"/>
                  <a:cs typeface="+mn-cs"/>
                </a:rPr>
                <a:t>검토 순서</a:t>
              </a:r>
              <a:r>
                <a:rPr lang="ko-KR" sz="1580" b="1" dirty="0">
                  <a:solidFill>
                    <a:srgbClr val="FFFFFF"/>
                  </a:solidFill>
                  <a:latin typeface="+mn-lt"/>
                  <a:ea typeface="+mn-ea"/>
                  <a:cs typeface="+mn-cs"/>
                </a:rPr>
                <a:t xml:space="preserve">를 정하고, 판정은 </a:t>
              </a:r>
              <a:r>
                <a:rPr lang="ko-KR" sz="1580" b="1" dirty="0">
                  <a:solidFill>
                    <a:srgbClr val="F5B700"/>
                  </a:solidFill>
                  <a:latin typeface="+mn-lt"/>
                  <a:ea typeface="+mn-ea"/>
                  <a:cs typeface="+mn-cs"/>
                </a:rPr>
                <a:t>전문가</a:t>
              </a:r>
              <a:r>
                <a:rPr lang="ko-KR" sz="1580" b="1" dirty="0">
                  <a:solidFill>
                    <a:srgbClr val="FFFFFF"/>
                  </a:solidFill>
                  <a:latin typeface="+mn-lt"/>
                  <a:ea typeface="+mn-ea"/>
                  <a:cs typeface="+mn-cs"/>
                </a:rPr>
                <a:t xml:space="preserve">가, 최종 확인은 </a:t>
              </a:r>
              <a:r>
                <a:rPr lang="ko-KR" sz="1580" b="1" dirty="0">
                  <a:solidFill>
                    <a:srgbClr val="F5B700"/>
                  </a:solidFill>
                  <a:latin typeface="+mn-lt"/>
                  <a:ea typeface="+mn-ea"/>
                  <a:cs typeface="+mn-cs"/>
                </a:rPr>
                <a:t>천공·내시경</a:t>
              </a:r>
              <a:r>
                <a:rPr lang="ko-KR" sz="1580" b="1" dirty="0">
                  <a:solidFill>
                    <a:srgbClr val="FFFFFF"/>
                  </a:solidFill>
                  <a:latin typeface="+mn-lt"/>
                  <a:ea typeface="+mn-ea"/>
                  <a:cs typeface="+mn-cs"/>
                </a:rPr>
                <a:t>이 맡습니다.</a:t>
              </a:r>
            </a:p>
          </p:txBody>
        </p:sp>
      </p:grpSp>
      <p:grpSp>
        <p:nvGrpSpPr>
          <p:cNvPr id="83" name="source"/>
          <p:cNvGrpSpPr/>
          <p:nvPr/>
        </p:nvGrpSpPr>
        <p:grpSpPr>
          <a:xfrm>
            <a:off x="528638" y="6229350"/>
            <a:ext cx="7551807" cy="176212"/>
            <a:chOff x="528638" y="6229350"/>
            <a:chExt cx="7551807" cy="176212"/>
          </a:xfrm>
        </p:grpSpPr>
        <p:sp>
          <p:nvSpPr>
            <p:cNvPr id="82" name="TextBox 82"/>
            <p:cNvSpPr txBox="1"/>
            <p:nvPr/>
          </p:nvSpPr>
          <p:spPr>
            <a:xfrm>
              <a:off x="528638" y="6229350"/>
              <a:ext cx="7551807"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B-scan 비교는 설명용 예시 · PV5: 실차 사진 기반 편집 이미지 · 도로 장면은 연출 이미지 · 지도 데이터 © OpenStreetMap contributors</a:t>
              </a:r>
            </a:p>
          </p:txBody>
        </p:sp>
      </p:grpSp>
      <p:grpSp>
        <p:nvGrpSpPr>
          <p:cNvPr id="86" name="footer"/>
          <p:cNvGrpSpPr/>
          <p:nvPr/>
        </p:nvGrpSpPr>
        <p:grpSpPr>
          <a:xfrm>
            <a:off x="528638" y="6610350"/>
            <a:ext cx="11134724" cy="176212"/>
            <a:chOff x="528638" y="6610350"/>
            <a:chExt cx="11134724" cy="176212"/>
          </a:xfrm>
        </p:grpSpPr>
        <p:sp>
          <p:nvSpPr>
            <p:cNvPr id="84" name="TextBox 84"/>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85" name="TextBox 8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05 / 16</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952500" cy="228600"/>
            </a:xfrm>
            <a:prstGeom prst="rect">
              <a:avLst/>
            </a:prstGeom>
            <a:solidFill>
              <a:srgbClr val="F5B700"/>
            </a:solidFill>
            <a:ln>
              <a:noFill/>
            </a:ln>
          </p:spPr>
        </p:sp>
        <p:sp>
          <p:nvSpPr>
            <p:cNvPr id="5" name="TextBox 5"/>
            <p:cNvSpPr txBox="1"/>
            <p:nvPr/>
          </p:nvSpPr>
          <p:spPr>
            <a:xfrm>
              <a:off x="1997600" y="314325"/>
              <a:ext cx="691100"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PV5 탐사실</a:t>
              </a:r>
            </a:p>
          </p:txBody>
        </p:sp>
        <p:sp>
          <p:nvSpPr>
            <p:cNvPr id="6" name="TextBox 6"/>
            <p:cNvSpPr txBox="1"/>
            <p:nvPr/>
          </p:nvSpPr>
          <p:spPr>
            <a:xfrm>
              <a:off x="2928366" y="301625"/>
              <a:ext cx="193917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PV5가 순정으로 제공하는 구조</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9647532" cy="557403"/>
            <a:chOff x="518922" y="781050"/>
            <a:chExt cx="9647532" cy="557403"/>
          </a:xfrm>
        </p:grpSpPr>
        <p:sp>
          <p:nvSpPr>
            <p:cNvPr id="9" name="TextBox 9"/>
            <p:cNvSpPr txBox="1"/>
            <p:nvPr/>
          </p:nvSpPr>
          <p:spPr>
            <a:xfrm>
              <a:off x="518922" y="781050"/>
              <a:ext cx="9647532"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PV5가 순정으로 제공하는 구조 위에 GPR 장비를 끼웁니다</a:t>
              </a:r>
            </a:p>
          </p:txBody>
        </p:sp>
      </p:grpSp>
      <p:grpSp>
        <p:nvGrpSpPr>
          <p:cNvPr id="12" name="lead"/>
          <p:cNvGrpSpPr/>
          <p:nvPr/>
        </p:nvGrpSpPr>
        <p:grpSpPr>
          <a:xfrm>
            <a:off x="526542" y="1339850"/>
            <a:ext cx="7973797" cy="264033"/>
            <a:chOff x="526542" y="1339850"/>
            <a:chExt cx="7973797" cy="264033"/>
          </a:xfrm>
        </p:grpSpPr>
        <p:sp>
          <p:nvSpPr>
            <p:cNvPr id="11" name="TextBox 11"/>
            <p:cNvSpPr txBox="1"/>
            <p:nvPr/>
          </p:nvSpPr>
          <p:spPr>
            <a:xfrm>
              <a:off x="526542" y="1339850"/>
              <a:ext cx="7973797"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싣고, 켜고, 고정하고, 여러 대에 복제하는 구조를 차량과 기아 순정 액세서리가 이미 제공합니다.</a:t>
              </a:r>
            </a:p>
          </p:txBody>
        </p:sp>
      </p:grpSp>
      <p:grpSp>
        <p:nvGrpSpPr>
          <p:cNvPr id="25" name="feat-1"/>
          <p:cNvGrpSpPr/>
          <p:nvPr/>
        </p:nvGrpSpPr>
        <p:grpSpPr>
          <a:xfrm>
            <a:off x="533400" y="1752600"/>
            <a:ext cx="5455092" cy="1638300"/>
            <a:chOff x="533400" y="1752600"/>
            <a:chExt cx="5455092" cy="1638300"/>
          </a:xfrm>
        </p:grpSpPr>
        <p:pic>
          <p:nvPicPr>
            <p:cNvPr id="13" name="Image 13"/>
            <p:cNvPicPr>
              <a:picLocks noChangeAspect="1"/>
            </p:cNvPicPr>
            <p:nvPr/>
          </p:nvPicPr>
          <p:blipFill>
            <a:blip r:embed="rId2"/>
            <a:stretch>
              <a:fillRect/>
            </a:stretch>
          </p:blipFill>
          <p:spPr>
            <a:xfrm>
              <a:off x="533400" y="1752600"/>
              <a:ext cx="2457450" cy="1638300"/>
            </a:xfrm>
            <a:prstGeom prst="rect">
              <a:avLst/>
            </a:prstGeom>
          </p:spPr>
        </p:pic>
        <p:sp>
          <p:nvSpPr>
            <p:cNvPr id="14" name="Rectangle 14"/>
            <p:cNvSpPr/>
            <p:nvPr/>
          </p:nvSpPr>
          <p:spPr>
            <a:xfrm>
              <a:off x="590550" y="1809750"/>
              <a:ext cx="895350" cy="209550"/>
            </a:xfrm>
            <a:prstGeom prst="roundRect">
              <a:avLst>
                <a:gd name="adj" fmla="val 13636"/>
              </a:avLst>
            </a:prstGeom>
            <a:solidFill>
              <a:srgbClr val="0B1E3C">
                <a:alpha val="88000"/>
              </a:srgbClr>
            </a:solidFill>
            <a:ln>
              <a:noFill/>
            </a:ln>
          </p:spPr>
        </p:sp>
        <p:sp>
          <p:nvSpPr>
            <p:cNvPr id="15" name="TextBox 15"/>
            <p:cNvSpPr txBox="1"/>
            <p:nvPr/>
          </p:nvSpPr>
          <p:spPr>
            <a:xfrm>
              <a:off x="595932" y="1847850"/>
              <a:ext cx="884586"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화물실 전방 랙</a:t>
              </a:r>
            </a:p>
          </p:txBody>
        </p:sp>
        <p:sp>
          <p:nvSpPr>
            <p:cNvPr id="16" name="TextBox 16"/>
            <p:cNvSpPr txBox="1"/>
            <p:nvPr/>
          </p:nvSpPr>
          <p:spPr>
            <a:xfrm>
              <a:off x="3195066" y="1835150"/>
              <a:ext cx="806954"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PV5 특징 01</a:t>
              </a:r>
            </a:p>
          </p:txBody>
        </p:sp>
        <p:sp>
          <p:nvSpPr>
            <p:cNvPr id="17" name="TextBox 17"/>
            <p:cNvSpPr txBox="1"/>
            <p:nvPr/>
          </p:nvSpPr>
          <p:spPr>
            <a:xfrm>
              <a:off x="3191256" y="2032000"/>
              <a:ext cx="1306198"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넉넉한 적재</a:t>
              </a:r>
            </a:p>
          </p:txBody>
        </p:sp>
        <p:grpSp>
          <p:nvGrpSpPr>
            <p:cNvPr id="24" name="Group 24"/>
            <p:cNvGrpSpPr/>
            <p:nvPr/>
          </p:nvGrpSpPr>
          <p:grpSpPr>
            <a:xfrm>
              <a:off x="3200400" y="2400300"/>
              <a:ext cx="2788092" cy="783717"/>
              <a:chOff x="3200400" y="2400300"/>
              <a:chExt cx="2788092" cy="783717"/>
            </a:xfrm>
          </p:grpSpPr>
          <p:sp>
            <p:nvSpPr>
              <p:cNvPr id="18" name="Rectangle 18"/>
              <p:cNvSpPr/>
              <p:nvPr/>
            </p:nvSpPr>
            <p:spPr>
              <a:xfrm>
                <a:off x="3200400" y="2476500"/>
                <a:ext cx="57150" cy="57150"/>
              </a:xfrm>
              <a:prstGeom prst="rect">
                <a:avLst/>
              </a:prstGeom>
              <a:solidFill>
                <a:srgbClr val="F5B700"/>
              </a:solidFill>
              <a:ln>
                <a:noFill/>
              </a:ln>
            </p:spPr>
          </p:sp>
          <p:sp>
            <p:nvSpPr>
              <p:cNvPr id="19" name="TextBox 19"/>
              <p:cNvSpPr txBox="1"/>
              <p:nvPr/>
            </p:nvSpPr>
            <p:spPr>
              <a:xfrm>
                <a:off x="3327273" y="2400300"/>
                <a:ext cx="266121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카고룸 4,420L · 최대 적재 600kg</a:t>
                </a:r>
              </a:p>
            </p:txBody>
          </p:sp>
          <p:sp>
            <p:nvSpPr>
              <p:cNvPr id="20" name="Rectangle 20"/>
              <p:cNvSpPr/>
              <p:nvPr/>
            </p:nvSpPr>
            <p:spPr>
              <a:xfrm>
                <a:off x="3200400" y="2743200"/>
                <a:ext cx="57150" cy="57150"/>
              </a:xfrm>
              <a:prstGeom prst="rect">
                <a:avLst/>
              </a:prstGeom>
              <a:solidFill>
                <a:srgbClr val="F5B700"/>
              </a:solidFill>
              <a:ln>
                <a:noFill/>
              </a:ln>
            </p:spPr>
          </p:sp>
          <p:sp>
            <p:nvSpPr>
              <p:cNvPr id="21" name="TextBox 21"/>
              <p:cNvSpPr txBox="1"/>
              <p:nvPr/>
            </p:nvSpPr>
            <p:spPr>
              <a:xfrm>
                <a:off x="3327273" y="2667000"/>
                <a:ext cx="219954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GPR 카트·엣지 PC를 한 번에</a:t>
                </a:r>
              </a:p>
            </p:txBody>
          </p:sp>
          <p:sp>
            <p:nvSpPr>
              <p:cNvPr id="22" name="Rectangle 22"/>
              <p:cNvSpPr/>
              <p:nvPr/>
            </p:nvSpPr>
            <p:spPr>
              <a:xfrm>
                <a:off x="3200400" y="3009900"/>
                <a:ext cx="57150" cy="57150"/>
              </a:xfrm>
              <a:prstGeom prst="rect">
                <a:avLst/>
              </a:prstGeom>
              <a:solidFill>
                <a:srgbClr val="F5B700"/>
              </a:solidFill>
              <a:ln>
                <a:noFill/>
              </a:ln>
            </p:spPr>
          </p:sp>
          <p:sp>
            <p:nvSpPr>
              <p:cNvPr id="23" name="TextBox 23"/>
              <p:cNvSpPr txBox="1"/>
              <p:nvPr/>
            </p:nvSpPr>
            <p:spPr>
              <a:xfrm>
                <a:off x="3327273" y="2933700"/>
                <a:ext cx="205487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내시경·안전장비까지 적재</a:t>
                </a:r>
              </a:p>
            </p:txBody>
          </p:sp>
        </p:grpSp>
      </p:grpSp>
      <p:grpSp>
        <p:nvGrpSpPr>
          <p:cNvPr id="38" name="feat-2"/>
          <p:cNvGrpSpPr/>
          <p:nvPr/>
        </p:nvGrpSpPr>
        <p:grpSpPr>
          <a:xfrm>
            <a:off x="6210300" y="1752600"/>
            <a:ext cx="5168661" cy="1638300"/>
            <a:chOff x="6210300" y="1752600"/>
            <a:chExt cx="5168661" cy="1638300"/>
          </a:xfrm>
        </p:grpSpPr>
        <p:pic>
          <p:nvPicPr>
            <p:cNvPr id="26" name="Image 26"/>
            <p:cNvPicPr>
              <a:picLocks noChangeAspect="1"/>
            </p:cNvPicPr>
            <p:nvPr/>
          </p:nvPicPr>
          <p:blipFill>
            <a:blip r:embed="rId3"/>
            <a:stretch>
              <a:fillRect/>
            </a:stretch>
          </p:blipFill>
          <p:spPr>
            <a:xfrm>
              <a:off x="6210300" y="1752600"/>
              <a:ext cx="2457450" cy="1638300"/>
            </a:xfrm>
            <a:prstGeom prst="rect">
              <a:avLst/>
            </a:prstGeom>
          </p:spPr>
        </p:pic>
        <p:sp>
          <p:nvSpPr>
            <p:cNvPr id="27" name="Rectangle 27"/>
            <p:cNvSpPr/>
            <p:nvPr/>
          </p:nvSpPr>
          <p:spPr>
            <a:xfrm>
              <a:off x="6267450" y="1809750"/>
              <a:ext cx="1257300" cy="209550"/>
            </a:xfrm>
            <a:prstGeom prst="roundRect">
              <a:avLst>
                <a:gd name="adj" fmla="val 13636"/>
              </a:avLst>
            </a:prstGeom>
            <a:solidFill>
              <a:srgbClr val="0B1E3C">
                <a:alpha val="88000"/>
              </a:srgbClr>
            </a:solidFill>
            <a:ln>
              <a:noFill/>
            </a:ln>
          </p:spPr>
        </p:sp>
        <p:sp>
          <p:nvSpPr>
            <p:cNvPr id="28" name="TextBox 28"/>
            <p:cNvSpPr txBox="1"/>
            <p:nvPr/>
          </p:nvSpPr>
          <p:spPr>
            <a:xfrm>
              <a:off x="6224913" y="1847850"/>
              <a:ext cx="1342375"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[화면 예시] 장비 전원</a:t>
              </a:r>
            </a:p>
          </p:txBody>
        </p:sp>
        <p:sp>
          <p:nvSpPr>
            <p:cNvPr id="29" name="TextBox 29"/>
            <p:cNvSpPr txBox="1"/>
            <p:nvPr/>
          </p:nvSpPr>
          <p:spPr>
            <a:xfrm>
              <a:off x="8871966" y="1835150"/>
              <a:ext cx="806954"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PV5 특징 02</a:t>
              </a:r>
            </a:p>
          </p:txBody>
        </p:sp>
        <p:sp>
          <p:nvSpPr>
            <p:cNvPr id="30" name="TextBox 30"/>
            <p:cNvSpPr txBox="1"/>
            <p:nvPr/>
          </p:nvSpPr>
          <p:spPr>
            <a:xfrm>
              <a:off x="8868156" y="203200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즉시 전원</a:t>
              </a:r>
            </a:p>
          </p:txBody>
        </p:sp>
        <p:grpSp>
          <p:nvGrpSpPr>
            <p:cNvPr id="37" name="Group 37"/>
            <p:cNvGrpSpPr/>
            <p:nvPr/>
          </p:nvGrpSpPr>
          <p:grpSpPr>
            <a:xfrm>
              <a:off x="8877300" y="2400300"/>
              <a:ext cx="2501661" cy="783717"/>
              <a:chOff x="8877300" y="2400300"/>
              <a:chExt cx="2501661" cy="783717"/>
            </a:xfrm>
          </p:grpSpPr>
          <p:sp>
            <p:nvSpPr>
              <p:cNvPr id="31" name="Rectangle 31"/>
              <p:cNvSpPr/>
              <p:nvPr/>
            </p:nvSpPr>
            <p:spPr>
              <a:xfrm>
                <a:off x="8877300" y="2476500"/>
                <a:ext cx="57150" cy="57150"/>
              </a:xfrm>
              <a:prstGeom prst="rect">
                <a:avLst/>
              </a:prstGeom>
              <a:solidFill>
                <a:srgbClr val="F5B700"/>
              </a:solidFill>
              <a:ln>
                <a:noFill/>
              </a:ln>
            </p:spPr>
          </p:sp>
          <p:sp>
            <p:nvSpPr>
              <p:cNvPr id="32" name="TextBox 32"/>
              <p:cNvSpPr txBox="1"/>
              <p:nvPr/>
            </p:nvSpPr>
            <p:spPr>
              <a:xfrm>
                <a:off x="9004173" y="2400300"/>
                <a:ext cx="2281885"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실내·실외 V2L · 최대 3.6kW</a:t>
                </a:r>
              </a:p>
            </p:txBody>
          </p:sp>
          <p:sp>
            <p:nvSpPr>
              <p:cNvPr id="33" name="Rectangle 33"/>
              <p:cNvSpPr/>
              <p:nvPr/>
            </p:nvSpPr>
            <p:spPr>
              <a:xfrm>
                <a:off x="8877300" y="2743200"/>
                <a:ext cx="57150" cy="57150"/>
              </a:xfrm>
              <a:prstGeom prst="rect">
                <a:avLst/>
              </a:prstGeom>
              <a:solidFill>
                <a:srgbClr val="F5B700"/>
              </a:solidFill>
              <a:ln>
                <a:noFill/>
              </a:ln>
            </p:spPr>
          </p:sp>
          <p:sp>
            <p:nvSpPr>
              <p:cNvPr id="34" name="TextBox 34"/>
              <p:cNvSpPr txBox="1"/>
              <p:nvPr/>
            </p:nvSpPr>
            <p:spPr>
              <a:xfrm>
                <a:off x="9004173" y="2667000"/>
                <a:ext cx="237478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GPR 제어부·엣지 PC 상시 구동</a:t>
                </a:r>
              </a:p>
            </p:txBody>
          </p:sp>
          <p:sp>
            <p:nvSpPr>
              <p:cNvPr id="35" name="Rectangle 35"/>
              <p:cNvSpPr/>
              <p:nvPr/>
            </p:nvSpPr>
            <p:spPr>
              <a:xfrm>
                <a:off x="8877300" y="3009900"/>
                <a:ext cx="57150" cy="57150"/>
              </a:xfrm>
              <a:prstGeom prst="rect">
                <a:avLst/>
              </a:prstGeom>
              <a:solidFill>
                <a:srgbClr val="F5B700"/>
              </a:solidFill>
              <a:ln>
                <a:noFill/>
              </a:ln>
            </p:spPr>
          </p:sp>
          <p:sp>
            <p:nvSpPr>
              <p:cNvPr id="36" name="TextBox 36"/>
              <p:cNvSpPr txBox="1"/>
              <p:nvPr/>
            </p:nvSpPr>
            <p:spPr>
              <a:xfrm>
                <a:off x="9004173" y="2933700"/>
                <a:ext cx="237478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AR 글래스·수동 GPR 현장 충전</a:t>
                </a:r>
              </a:p>
            </p:txBody>
          </p:sp>
        </p:grpSp>
      </p:grpSp>
      <p:grpSp>
        <p:nvGrpSpPr>
          <p:cNvPr id="51" name="feat-3"/>
          <p:cNvGrpSpPr/>
          <p:nvPr/>
        </p:nvGrpSpPr>
        <p:grpSpPr>
          <a:xfrm>
            <a:off x="533400" y="3619500"/>
            <a:ext cx="5647075" cy="1638300"/>
            <a:chOff x="533400" y="3619500"/>
            <a:chExt cx="5647075" cy="1638300"/>
          </a:xfrm>
        </p:grpSpPr>
        <p:pic>
          <p:nvPicPr>
            <p:cNvPr id="39" name="Image 39"/>
            <p:cNvPicPr>
              <a:picLocks noChangeAspect="1"/>
            </p:cNvPicPr>
            <p:nvPr/>
          </p:nvPicPr>
          <p:blipFill>
            <a:blip r:embed="rId4"/>
            <a:stretch>
              <a:fillRect/>
            </a:stretch>
          </p:blipFill>
          <p:spPr>
            <a:xfrm>
              <a:off x="533400" y="3619500"/>
              <a:ext cx="2457450" cy="1638300"/>
            </a:xfrm>
            <a:prstGeom prst="rect">
              <a:avLst/>
            </a:prstGeom>
          </p:spPr>
        </p:pic>
        <p:sp>
          <p:nvSpPr>
            <p:cNvPr id="40" name="Rectangle 40"/>
            <p:cNvSpPr/>
            <p:nvPr/>
          </p:nvSpPr>
          <p:spPr>
            <a:xfrm>
              <a:off x="590550" y="3676650"/>
              <a:ext cx="895350" cy="209550"/>
            </a:xfrm>
            <a:prstGeom prst="roundRect">
              <a:avLst>
                <a:gd name="adj" fmla="val 13636"/>
              </a:avLst>
            </a:prstGeom>
            <a:solidFill>
              <a:srgbClr val="0B1E3C">
                <a:alpha val="88000"/>
              </a:srgbClr>
            </a:solidFill>
            <a:ln>
              <a:noFill/>
            </a:ln>
          </p:spPr>
        </p:sp>
        <p:sp>
          <p:nvSpPr>
            <p:cNvPr id="41" name="TextBox 41"/>
            <p:cNvSpPr txBox="1"/>
            <p:nvPr/>
          </p:nvSpPr>
          <p:spPr>
            <a:xfrm>
              <a:off x="644580" y="3714750"/>
              <a:ext cx="787289"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랙·장비 고정</a:t>
              </a:r>
            </a:p>
          </p:txBody>
        </p:sp>
        <p:sp>
          <p:nvSpPr>
            <p:cNvPr id="42" name="TextBox 42"/>
            <p:cNvSpPr txBox="1"/>
            <p:nvPr/>
          </p:nvSpPr>
          <p:spPr>
            <a:xfrm>
              <a:off x="3195066" y="3702050"/>
              <a:ext cx="806954"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PV5 특징 03</a:t>
              </a:r>
            </a:p>
          </p:txBody>
        </p:sp>
        <p:sp>
          <p:nvSpPr>
            <p:cNvPr id="43" name="TextBox 43"/>
            <p:cNvSpPr txBox="1"/>
            <p:nvPr/>
          </p:nvSpPr>
          <p:spPr>
            <a:xfrm>
              <a:off x="3191256" y="3898900"/>
              <a:ext cx="1063882"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레일 고정</a:t>
              </a:r>
            </a:p>
          </p:txBody>
        </p:sp>
        <p:grpSp>
          <p:nvGrpSpPr>
            <p:cNvPr id="50" name="Group 50"/>
            <p:cNvGrpSpPr/>
            <p:nvPr/>
          </p:nvGrpSpPr>
          <p:grpSpPr>
            <a:xfrm>
              <a:off x="3200400" y="4267200"/>
              <a:ext cx="2980075" cy="783717"/>
              <a:chOff x="3200400" y="4267200"/>
              <a:chExt cx="2980075" cy="783717"/>
            </a:xfrm>
          </p:grpSpPr>
          <p:sp>
            <p:nvSpPr>
              <p:cNvPr id="44" name="Rectangle 44"/>
              <p:cNvSpPr/>
              <p:nvPr/>
            </p:nvSpPr>
            <p:spPr>
              <a:xfrm>
                <a:off x="3200400" y="4343400"/>
                <a:ext cx="57150" cy="57150"/>
              </a:xfrm>
              <a:prstGeom prst="rect">
                <a:avLst/>
              </a:prstGeom>
              <a:solidFill>
                <a:srgbClr val="F5B700"/>
              </a:solidFill>
              <a:ln>
                <a:noFill/>
              </a:ln>
            </p:spPr>
          </p:sp>
          <p:sp>
            <p:nvSpPr>
              <p:cNvPr id="45" name="TextBox 45"/>
              <p:cNvSpPr txBox="1"/>
              <p:nvPr/>
            </p:nvSpPr>
            <p:spPr>
              <a:xfrm>
                <a:off x="3327273" y="4267200"/>
                <a:ext cx="285320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L-Track·몰리 패널 (순정 액세서리)</a:t>
                </a:r>
              </a:p>
            </p:txBody>
          </p:sp>
          <p:sp>
            <p:nvSpPr>
              <p:cNvPr id="46" name="Rectangle 46"/>
              <p:cNvSpPr/>
              <p:nvPr/>
            </p:nvSpPr>
            <p:spPr>
              <a:xfrm>
                <a:off x="3200400" y="4610100"/>
                <a:ext cx="57150" cy="57150"/>
              </a:xfrm>
              <a:prstGeom prst="rect">
                <a:avLst/>
              </a:prstGeom>
              <a:solidFill>
                <a:srgbClr val="F5B700"/>
              </a:solidFill>
              <a:ln>
                <a:noFill/>
              </a:ln>
            </p:spPr>
          </p:sp>
          <p:sp>
            <p:nvSpPr>
              <p:cNvPr id="47" name="TextBox 47"/>
              <p:cNvSpPr txBox="1"/>
              <p:nvPr/>
            </p:nvSpPr>
            <p:spPr>
              <a:xfrm>
                <a:off x="3327273" y="4533900"/>
                <a:ext cx="211696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GPR 카트·장비 케이스 고정</a:t>
                </a:r>
              </a:p>
            </p:txBody>
          </p:sp>
          <p:sp>
            <p:nvSpPr>
              <p:cNvPr id="48" name="Rectangle 48"/>
              <p:cNvSpPr/>
              <p:nvPr/>
            </p:nvSpPr>
            <p:spPr>
              <a:xfrm>
                <a:off x="3200400" y="4876800"/>
                <a:ext cx="57150" cy="57150"/>
              </a:xfrm>
              <a:prstGeom prst="rect">
                <a:avLst/>
              </a:prstGeom>
              <a:solidFill>
                <a:srgbClr val="F5B700"/>
              </a:solidFill>
              <a:ln>
                <a:noFill/>
              </a:ln>
            </p:spPr>
          </p:sp>
          <p:sp>
            <p:nvSpPr>
              <p:cNvPr id="49" name="TextBox 49"/>
              <p:cNvSpPr txBox="1"/>
              <p:nvPr/>
            </p:nvSpPr>
            <p:spPr>
              <a:xfrm>
                <a:off x="3327273" y="4800600"/>
                <a:ext cx="2063486"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회차마다 같은 위치에 장착</a:t>
                </a:r>
              </a:p>
            </p:txBody>
          </p:sp>
        </p:grpSp>
      </p:grpSp>
      <p:grpSp>
        <p:nvGrpSpPr>
          <p:cNvPr id="64" name="feat-4"/>
          <p:cNvGrpSpPr/>
          <p:nvPr/>
        </p:nvGrpSpPr>
        <p:grpSpPr>
          <a:xfrm>
            <a:off x="6210300" y="3619500"/>
            <a:ext cx="5453629" cy="1638300"/>
            <a:chOff x="6210300" y="3619500"/>
            <a:chExt cx="5453629" cy="1638300"/>
          </a:xfrm>
        </p:grpSpPr>
        <p:pic>
          <p:nvPicPr>
            <p:cNvPr id="52" name="Image 52"/>
            <p:cNvPicPr>
              <a:picLocks noChangeAspect="1"/>
            </p:cNvPicPr>
            <p:nvPr/>
          </p:nvPicPr>
          <p:blipFill>
            <a:blip r:embed="rId5"/>
            <a:srcRect l="7" t="0" r="7" b="0"/>
            <a:stretch>
              <a:fillRect/>
            </a:stretch>
          </p:blipFill>
          <p:spPr>
            <a:xfrm>
              <a:off x="6210300" y="3619500"/>
              <a:ext cx="2457450" cy="1638300"/>
            </a:xfrm>
            <a:prstGeom prst="rect">
              <a:avLst/>
            </a:prstGeom>
          </p:spPr>
        </p:pic>
        <p:sp>
          <p:nvSpPr>
            <p:cNvPr id="53" name="Rectangle 53"/>
            <p:cNvSpPr/>
            <p:nvPr/>
          </p:nvSpPr>
          <p:spPr>
            <a:xfrm>
              <a:off x="6267450" y="3676650"/>
              <a:ext cx="1600200" cy="209550"/>
            </a:xfrm>
            <a:prstGeom prst="roundRect">
              <a:avLst>
                <a:gd name="adj" fmla="val 13636"/>
              </a:avLst>
            </a:prstGeom>
            <a:solidFill>
              <a:srgbClr val="0B1E3C">
                <a:alpha val="88000"/>
              </a:srgbClr>
            </a:solidFill>
            <a:ln>
              <a:noFill/>
            </a:ln>
          </p:spPr>
        </p:sp>
        <p:sp>
          <p:nvSpPr>
            <p:cNvPr id="54" name="TextBox 54"/>
            <p:cNvSpPr txBox="1"/>
            <p:nvPr/>
          </p:nvSpPr>
          <p:spPr>
            <a:xfrm>
              <a:off x="6270972" y="3714750"/>
              <a:ext cx="1593155"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PV5 카고 실차 · 표준 차체</a:t>
              </a:r>
            </a:p>
          </p:txBody>
        </p:sp>
        <p:sp>
          <p:nvSpPr>
            <p:cNvPr id="55" name="TextBox 55"/>
            <p:cNvSpPr txBox="1"/>
            <p:nvPr/>
          </p:nvSpPr>
          <p:spPr>
            <a:xfrm>
              <a:off x="8871966" y="3702050"/>
              <a:ext cx="806954"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PV5 특징 04</a:t>
              </a:r>
            </a:p>
          </p:txBody>
        </p:sp>
        <p:sp>
          <p:nvSpPr>
            <p:cNvPr id="56" name="TextBox 56"/>
            <p:cNvSpPr txBox="1"/>
            <p:nvPr/>
          </p:nvSpPr>
          <p:spPr>
            <a:xfrm>
              <a:off x="8868156" y="3898900"/>
              <a:ext cx="1548514"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컨버전 생태계</a:t>
              </a:r>
            </a:p>
          </p:txBody>
        </p:sp>
        <p:grpSp>
          <p:nvGrpSpPr>
            <p:cNvPr id="63" name="Group 63"/>
            <p:cNvGrpSpPr/>
            <p:nvPr/>
          </p:nvGrpSpPr>
          <p:grpSpPr>
            <a:xfrm>
              <a:off x="8877300" y="4267200"/>
              <a:ext cx="2786629" cy="783717"/>
              <a:chOff x="8877300" y="4267200"/>
              <a:chExt cx="2786629" cy="783717"/>
            </a:xfrm>
          </p:grpSpPr>
          <p:sp>
            <p:nvSpPr>
              <p:cNvPr id="57" name="Rectangle 57"/>
              <p:cNvSpPr/>
              <p:nvPr/>
            </p:nvSpPr>
            <p:spPr>
              <a:xfrm>
                <a:off x="8877300" y="4343400"/>
                <a:ext cx="57150" cy="57150"/>
              </a:xfrm>
              <a:prstGeom prst="rect">
                <a:avLst/>
              </a:prstGeom>
              <a:solidFill>
                <a:srgbClr val="F5B700"/>
              </a:solidFill>
              <a:ln>
                <a:noFill/>
              </a:ln>
            </p:spPr>
          </p:sp>
          <p:sp>
            <p:nvSpPr>
              <p:cNvPr id="58" name="TextBox 58"/>
              <p:cNvSpPr txBox="1"/>
              <p:nvPr/>
            </p:nvSpPr>
            <p:spPr>
              <a:xfrm>
                <a:off x="9004173" y="4267200"/>
                <a:ext cx="2528733"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플렉시블 바디: 표준 차체 + 모듈</a:t>
                </a:r>
              </a:p>
            </p:txBody>
          </p:sp>
          <p:sp>
            <p:nvSpPr>
              <p:cNvPr id="59" name="Rectangle 59"/>
              <p:cNvSpPr/>
              <p:nvPr/>
            </p:nvSpPr>
            <p:spPr>
              <a:xfrm>
                <a:off x="8877300" y="4610100"/>
                <a:ext cx="57150" cy="57150"/>
              </a:xfrm>
              <a:prstGeom prst="rect">
                <a:avLst/>
              </a:prstGeom>
              <a:solidFill>
                <a:srgbClr val="F5B700"/>
              </a:solidFill>
              <a:ln>
                <a:noFill/>
              </a:ln>
            </p:spPr>
          </p:sp>
          <p:sp>
            <p:nvSpPr>
              <p:cNvPr id="60" name="TextBox 60"/>
              <p:cNvSpPr txBox="1"/>
              <p:nvPr/>
            </p:nvSpPr>
            <p:spPr>
              <a:xfrm>
                <a:off x="9004173" y="4533900"/>
                <a:ext cx="229220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파트너사 PV5 전용 랙킹·선반</a:t>
                </a:r>
              </a:p>
            </p:txBody>
          </p:sp>
          <p:sp>
            <p:nvSpPr>
              <p:cNvPr id="61" name="Rectangle 61"/>
              <p:cNvSpPr/>
              <p:nvPr/>
            </p:nvSpPr>
            <p:spPr>
              <a:xfrm>
                <a:off x="8877300" y="4876800"/>
                <a:ext cx="57150" cy="57150"/>
              </a:xfrm>
              <a:prstGeom prst="rect">
                <a:avLst/>
              </a:prstGeom>
              <a:solidFill>
                <a:srgbClr val="F5B700"/>
              </a:solidFill>
              <a:ln>
                <a:noFill/>
              </a:ln>
            </p:spPr>
          </p:sp>
          <p:sp>
            <p:nvSpPr>
              <p:cNvPr id="62" name="TextBox 62"/>
              <p:cNvSpPr txBox="1"/>
              <p:nvPr/>
            </p:nvSpPr>
            <p:spPr>
              <a:xfrm>
                <a:off x="9004173" y="4800600"/>
                <a:ext cx="2659756"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GPR 탐사 키트도 같은 방식 </a:t>
                </a:r>
                <a:r>
                  <a:rPr lang="ko-KR" sz="1280" dirty="0">
                    <a:solidFill>
                      <a:srgbClr val="4B5563"/>
                    </a:solidFill>
                    <a:latin typeface="+mn-lt"/>
                    <a:ea typeface="+mn-ea"/>
                    <a:cs typeface="+mn-cs"/>
                  </a:rPr>
                  <a:t>[제안]</a:t>
                </a:r>
              </a:p>
            </p:txBody>
          </p:sp>
        </p:grpSp>
      </p:grpSp>
      <p:grpSp>
        <p:nvGrpSpPr>
          <p:cNvPr id="67" name="conclusion"/>
          <p:cNvGrpSpPr/>
          <p:nvPr/>
        </p:nvGrpSpPr>
        <p:grpSpPr>
          <a:xfrm>
            <a:off x="533400" y="5524500"/>
            <a:ext cx="11125200" cy="495300"/>
            <a:chOff x="533400" y="5524500"/>
            <a:chExt cx="11125200" cy="495300"/>
          </a:xfrm>
        </p:grpSpPr>
        <p:sp>
          <p:nvSpPr>
            <p:cNvPr id="65" name="Rectangle 65"/>
            <p:cNvSpPr/>
            <p:nvPr/>
          </p:nvSpPr>
          <p:spPr>
            <a:xfrm>
              <a:off x="533400" y="5524500"/>
              <a:ext cx="11125200" cy="495300"/>
            </a:xfrm>
            <a:prstGeom prst="rect">
              <a:avLst/>
            </a:prstGeom>
            <a:solidFill>
              <a:srgbClr val="0B1E3C"/>
            </a:solidFill>
            <a:ln>
              <a:noFill/>
            </a:ln>
          </p:spPr>
        </p:sp>
        <p:sp>
          <p:nvSpPr>
            <p:cNvPr id="66" name="TextBox 66"/>
            <p:cNvSpPr txBox="1"/>
            <p:nvPr/>
          </p:nvSpPr>
          <p:spPr>
            <a:xfrm>
              <a:off x="754380" y="5661025"/>
              <a:ext cx="8621497"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xml:space="preserve">개조해서 매다는 짐이 아니라 </a:t>
              </a:r>
              <a:r>
                <a:rPr lang="ko-KR" sz="1500" b="1" dirty="0">
                  <a:solidFill>
                    <a:srgbClr val="F5B700"/>
                  </a:solidFill>
                  <a:latin typeface="+mn-lt"/>
                  <a:ea typeface="+mn-ea"/>
                  <a:cs typeface="+mn-cs"/>
                </a:rPr>
                <a:t>처음부터 끼우는 모듈</a:t>
              </a:r>
              <a:r>
                <a:rPr lang="ko-KR" sz="1500" b="1" dirty="0">
                  <a:solidFill>
                    <a:srgbClr val="FFFFFF"/>
                  </a:solidFill>
                  <a:latin typeface="+mn-lt"/>
                  <a:ea typeface="+mn-ea"/>
                  <a:cs typeface="+mn-cs"/>
                </a:rPr>
                <a:t>이라, 같은 사양으로 여러 대에 복제합니다.</a:t>
              </a:r>
            </a:p>
          </p:txBody>
        </p:sp>
      </p:grpSp>
      <p:grpSp>
        <p:nvGrpSpPr>
          <p:cNvPr id="69" name="source"/>
          <p:cNvGrpSpPr/>
          <p:nvPr/>
        </p:nvGrpSpPr>
        <p:grpSpPr>
          <a:xfrm>
            <a:off x="528638" y="6146800"/>
            <a:ext cx="10136505" cy="347662"/>
            <a:chOff x="528638" y="6146800"/>
            <a:chExt cx="10136505" cy="347662"/>
          </a:xfrm>
        </p:grpSpPr>
        <p:sp>
          <p:nvSpPr>
            <p:cNvPr id="68" name="TextBox 68"/>
            <p:cNvSpPr txBox="1"/>
            <p:nvPr/>
          </p:nvSpPr>
          <p:spPr>
            <a:xfrm>
              <a:off x="528638" y="6146800"/>
              <a:ext cx="10136505" cy="347662"/>
            </a:xfrm>
            <a:prstGeom prst="rect">
              <a:avLst/>
            </a:prstGeom>
            <a:noFill/>
            <a:ln>
              <a:noFill/>
            </a:ln>
          </p:spPr>
          <p:txBody>
            <a:bodyPr wrap="none" lIns="0" tIns="0" rIns="0" bIns="0" anchor="t" anchorCtr="0">
              <a:spAutoFit/>
            </a:bodyPr>
            <a:lstStyle/>
            <a:p>
              <a:pPr algn="l">
                <a:lnSpc>
                  <a:spcPts val="1350"/>
                </a:lnSpc>
              </a:pPr>
              <a:r>
                <a:rPr lang="ko-KR" sz="900" dirty="0">
                  <a:solidFill>
                    <a:srgbClr val="4B5563"/>
                  </a:solidFill>
                  <a:latin typeface="+mn-lt"/>
                  <a:ea typeface="+mn-ea"/>
                  <a:cs typeface="+mn-cs"/>
                </a:rPr>
                <a:t>출처: 기아 PV5 카고 가격표·제원(카고룸·최대 적재 600kg은 롱레인지 3도어) · 기아 PV5 카고 특징·액세서리(L-Track·몰리 패널) · 현대차그룹 PV5 테크 데이(2025.7.23, 플렉시블 바디·컨버전)</a:t>
              </a:r>
              <a:br>
                <a:rPr lang="ko-KR" sz="900" dirty="0">
                  <a:solidFill>
                    <a:srgbClr val="4B5563"/>
                  </a:solidFill>
                  <a:latin typeface="+mn-lt"/>
                  <a:ea typeface="+mn-ea"/>
                  <a:cs typeface="+mn-cs"/>
                </a:rPr>
              </a:br>
              <a:r>
                <a:rPr lang="ko-KR" sz="900" dirty="0">
                  <a:solidFill>
                    <a:srgbClr val="4B5563"/>
                  </a:solidFill>
                  <a:latin typeface="+mn-lt"/>
                  <a:ea typeface="+mn-ea"/>
                  <a:cs typeface="+mn-cs"/>
                </a:rPr>
                <a:t>V2L 3.6kW는 해외 공개 제원 · 사진: 02 PV5 실내 Alexander Migl, CC BY-SA 4.0(화면 합성, 수치는 예시) · 01·03 장비 배치도 확대(콘셉트) · 04 PV5 카고 실차 Alexander Migl, CC BY-SA 4.0</a:t>
              </a:r>
            </a:p>
          </p:txBody>
        </p:sp>
      </p:grpSp>
      <p:grpSp>
        <p:nvGrpSpPr>
          <p:cNvPr id="72" name="footer"/>
          <p:cNvGrpSpPr/>
          <p:nvPr/>
        </p:nvGrpSpPr>
        <p:grpSpPr>
          <a:xfrm>
            <a:off x="528638" y="6610350"/>
            <a:ext cx="11134724" cy="176212"/>
            <a:chOff x="528638" y="6610350"/>
            <a:chExt cx="11134724" cy="176212"/>
          </a:xfrm>
        </p:grpSpPr>
        <p:sp>
          <p:nvSpPr>
            <p:cNvPr id="70" name="TextBox 70"/>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71" name="TextBox 71"/>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06 / 16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952500" cy="228600"/>
            </a:xfrm>
            <a:prstGeom prst="rect">
              <a:avLst/>
            </a:prstGeom>
            <a:solidFill>
              <a:srgbClr val="F5B700"/>
            </a:solidFill>
            <a:ln>
              <a:noFill/>
            </a:ln>
          </p:spPr>
        </p:sp>
        <p:sp>
          <p:nvSpPr>
            <p:cNvPr id="5" name="TextBox 5"/>
            <p:cNvSpPr txBox="1"/>
            <p:nvPr/>
          </p:nvSpPr>
          <p:spPr>
            <a:xfrm>
              <a:off x="1997600" y="314325"/>
              <a:ext cx="691100"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PV5 탐사실</a:t>
              </a:r>
            </a:p>
          </p:txBody>
        </p:sp>
        <p:sp>
          <p:nvSpPr>
            <p:cNvPr id="6" name="TextBox 6"/>
            <p:cNvSpPr txBox="1"/>
            <p:nvPr/>
          </p:nvSpPr>
          <p:spPr>
            <a:xfrm>
              <a:off x="2928366" y="301625"/>
              <a:ext cx="119241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 이동형 탐사실</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9082268" cy="557403"/>
            <a:chOff x="518922" y="781050"/>
            <a:chExt cx="9082268" cy="557403"/>
          </a:xfrm>
        </p:grpSpPr>
        <p:sp>
          <p:nvSpPr>
            <p:cNvPr id="9" name="TextBox 9"/>
            <p:cNvSpPr txBox="1"/>
            <p:nvPr/>
          </p:nvSpPr>
          <p:spPr>
            <a:xfrm>
              <a:off x="518922" y="781050"/>
              <a:ext cx="9082268"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PV5 한 대가 측정 장비와 재검증 장비를 함께 싣습니다</a:t>
              </a:r>
            </a:p>
          </p:txBody>
        </p:sp>
      </p:grpSp>
      <p:grpSp>
        <p:nvGrpSpPr>
          <p:cNvPr id="19" name="cutaway"/>
          <p:cNvGrpSpPr/>
          <p:nvPr/>
        </p:nvGrpSpPr>
        <p:grpSpPr>
          <a:xfrm>
            <a:off x="533400" y="1333500"/>
            <a:ext cx="6343650" cy="4229100"/>
            <a:chOff x="533400" y="1333500"/>
            <a:chExt cx="6343650" cy="4229100"/>
          </a:xfrm>
        </p:grpSpPr>
        <p:pic>
          <p:nvPicPr>
            <p:cNvPr id="11" name="Image 11"/>
            <p:cNvPicPr>
              <a:picLocks noChangeAspect="1"/>
            </p:cNvPicPr>
            <p:nvPr/>
          </p:nvPicPr>
          <p:blipFill>
            <a:blip r:embed="rId2"/>
            <a:stretch>
              <a:fillRect/>
            </a:stretch>
          </p:blipFill>
          <p:spPr>
            <a:xfrm>
              <a:off x="533400" y="1333500"/>
              <a:ext cx="6343650" cy="4229100"/>
            </a:xfrm>
            <a:prstGeom prst="rect">
              <a:avLst/>
            </a:prstGeom>
          </p:spPr>
        </p:pic>
        <p:grpSp>
          <p:nvGrpSpPr>
            <p:cNvPr id="18" name="Group 18"/>
            <p:cNvGrpSpPr/>
            <p:nvPr/>
          </p:nvGrpSpPr>
          <p:grpSpPr>
            <a:xfrm>
              <a:off x="3133725" y="2695575"/>
              <a:ext cx="2771775" cy="914400"/>
              <a:chOff x="3133725" y="2695575"/>
              <a:chExt cx="2771775" cy="914400"/>
            </a:xfrm>
          </p:grpSpPr>
          <p:sp>
            <p:nvSpPr>
              <p:cNvPr id="12" name="Ellipse 12"/>
              <p:cNvSpPr/>
              <p:nvPr/>
            </p:nvSpPr>
            <p:spPr>
              <a:xfrm>
                <a:off x="3133725" y="3286125"/>
                <a:ext cx="323850" cy="323850"/>
              </a:xfrm>
              <a:prstGeom prst="ellipse">
                <a:avLst/>
              </a:prstGeom>
              <a:solidFill>
                <a:srgbClr val="F5B700"/>
              </a:solidFill>
              <a:ln w="19050">
                <a:solidFill>
                  <a:srgbClr val="0B1E3C"/>
                </a:solidFill>
              </a:ln>
            </p:spPr>
          </p:sp>
          <p:sp>
            <p:nvSpPr>
              <p:cNvPr id="13" name="TextBox 13"/>
              <p:cNvSpPr txBox="1"/>
              <p:nvPr/>
            </p:nvSpPr>
            <p:spPr>
              <a:xfrm>
                <a:off x="3240268" y="33528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14" name="Ellipse 14"/>
              <p:cNvSpPr/>
              <p:nvPr/>
            </p:nvSpPr>
            <p:spPr>
              <a:xfrm>
                <a:off x="4200525" y="2695575"/>
                <a:ext cx="323850" cy="323850"/>
              </a:xfrm>
              <a:prstGeom prst="ellipse">
                <a:avLst/>
              </a:prstGeom>
              <a:solidFill>
                <a:srgbClr val="F5B700"/>
              </a:solidFill>
              <a:ln w="19050">
                <a:solidFill>
                  <a:srgbClr val="0B1E3C"/>
                </a:solidFill>
              </a:ln>
            </p:spPr>
          </p:sp>
          <p:sp>
            <p:nvSpPr>
              <p:cNvPr id="15" name="TextBox 15"/>
              <p:cNvSpPr txBox="1"/>
              <p:nvPr/>
            </p:nvSpPr>
            <p:spPr>
              <a:xfrm>
                <a:off x="4307068" y="27622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16" name="Ellipse 16"/>
              <p:cNvSpPr/>
              <p:nvPr/>
            </p:nvSpPr>
            <p:spPr>
              <a:xfrm>
                <a:off x="5581650" y="2867025"/>
                <a:ext cx="323850" cy="323850"/>
              </a:xfrm>
              <a:prstGeom prst="ellipse">
                <a:avLst/>
              </a:prstGeom>
              <a:solidFill>
                <a:srgbClr val="F5B700"/>
              </a:solidFill>
              <a:ln w="19050">
                <a:solidFill>
                  <a:srgbClr val="0B1E3C"/>
                </a:solidFill>
              </a:ln>
            </p:spPr>
          </p:sp>
          <p:sp>
            <p:nvSpPr>
              <p:cNvPr id="17" name="TextBox 17"/>
              <p:cNvSpPr txBox="1"/>
              <p:nvPr/>
            </p:nvSpPr>
            <p:spPr>
              <a:xfrm>
                <a:off x="5688193" y="29337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grpSp>
      </p:grpSp>
      <p:grpSp>
        <p:nvGrpSpPr>
          <p:cNvPr id="33" name="zone-legend"/>
          <p:cNvGrpSpPr/>
          <p:nvPr/>
        </p:nvGrpSpPr>
        <p:grpSpPr>
          <a:xfrm>
            <a:off x="7232904" y="1409700"/>
            <a:ext cx="4572579" cy="2783967"/>
            <a:chOff x="7232904" y="1409700"/>
            <a:chExt cx="4572579" cy="2783967"/>
          </a:xfrm>
        </p:grpSpPr>
        <p:sp>
          <p:nvSpPr>
            <p:cNvPr id="20" name="TextBox 20"/>
            <p:cNvSpPr txBox="1"/>
            <p:nvPr/>
          </p:nvSpPr>
          <p:spPr>
            <a:xfrm>
              <a:off x="7232904" y="1409700"/>
              <a:ext cx="457257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 xml:space="preserve">화물실 구성 </a:t>
              </a:r>
              <a:r>
                <a:rPr lang="ko-KR" sz="1200" dirty="0">
                  <a:solidFill>
                    <a:srgbClr val="374151"/>
                  </a:solidFill>
                  <a:latin typeface="+mn-lt"/>
                  <a:ea typeface="+mn-ea"/>
                  <a:cs typeface="+mn-cs"/>
                </a:rPr>
                <a:t>· 카고룸 2,255×1,565×1,520mm · 적재고 419mm</a:t>
              </a:r>
            </a:p>
          </p:txBody>
        </p:sp>
        <p:sp>
          <p:nvSpPr>
            <p:cNvPr id="21" name="Ellipse 21"/>
            <p:cNvSpPr/>
            <p:nvPr/>
          </p:nvSpPr>
          <p:spPr>
            <a:xfrm>
              <a:off x="7239000" y="1771650"/>
              <a:ext cx="266700" cy="266700"/>
            </a:xfrm>
            <a:prstGeom prst="ellipse">
              <a:avLst/>
            </a:prstGeom>
            <a:solidFill>
              <a:srgbClr val="F5B700"/>
            </a:solidFill>
            <a:ln>
              <a:noFill/>
            </a:ln>
          </p:spPr>
        </p:sp>
        <p:sp>
          <p:nvSpPr>
            <p:cNvPr id="22" name="TextBox 22"/>
            <p:cNvSpPr txBox="1"/>
            <p:nvPr/>
          </p:nvSpPr>
          <p:spPr>
            <a:xfrm>
              <a:off x="7320635" y="1822450"/>
              <a:ext cx="103431" cy="220028"/>
            </a:xfrm>
            <a:prstGeom prst="rect">
              <a:avLst/>
            </a:prstGeom>
            <a:noFill/>
            <a:ln>
              <a:noFill/>
            </a:ln>
          </p:spPr>
          <p:txBody>
            <a:bodyPr wrap="none" lIns="0" tIns="0" rIns="0" bIns="0" anchor="t" anchorCtr="0">
              <a:spAutoFit/>
            </a:bodyPr>
            <a:lstStyle/>
            <a:p>
              <a:pPr algn="ctr"/>
              <a:r>
                <a:rPr lang="en-US" sz="1120" b="1" dirty="0">
                  <a:solidFill>
                    <a:srgbClr val="0B1E3C"/>
                  </a:solidFill>
                  <a:latin typeface="+mn-lt"/>
                  <a:ea typeface="+mn-ea"/>
                  <a:cs typeface="+mn-cs"/>
                </a:rPr>
                <a:t>A</a:t>
              </a:r>
            </a:p>
          </p:txBody>
        </p:sp>
        <p:sp>
          <p:nvSpPr>
            <p:cNvPr id="23" name="TextBox 23"/>
            <p:cNvSpPr txBox="1"/>
            <p:nvPr/>
          </p:nvSpPr>
          <p:spPr>
            <a:xfrm>
              <a:off x="7611999" y="1781175"/>
              <a:ext cx="182873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화물실 전방 · 분석</a:t>
              </a:r>
            </a:p>
          </p:txBody>
        </p:sp>
        <p:sp>
          <p:nvSpPr>
            <p:cNvPr id="24" name="TextBox 24"/>
            <p:cNvSpPr txBox="1"/>
            <p:nvPr/>
          </p:nvSpPr>
          <p:spPr>
            <a:xfrm>
              <a:off x="7613523" y="2063750"/>
              <a:ext cx="3589274" cy="469392"/>
            </a:xfrm>
            <a:prstGeom prst="rect">
              <a:avLst/>
            </a:prstGeom>
            <a:noFill/>
            <a:ln>
              <a:noFill/>
            </a:ln>
          </p:spPr>
          <p:txBody>
            <a:bodyPr wrap="none" lIns="0" tIns="0" rIns="0" bIns="0" anchor="t" anchorCtr="0">
              <a:spAutoFit/>
            </a:bodyPr>
            <a:lstStyle/>
            <a:p>
              <a:pPr algn="l">
                <a:lnSpc>
                  <a:spcPts val="1725"/>
                </a:lnSpc>
              </a:pPr>
              <a:r>
                <a:rPr lang="ko-KR" sz="1280" dirty="0">
                  <a:solidFill>
                    <a:srgbClr val="374151"/>
                  </a:solidFill>
                  <a:latin typeface="+mn-lt"/>
                  <a:ea typeface="+mn-ea"/>
                  <a:cs typeface="+mn-cs"/>
                </a:rPr>
                <a:t>Edge Gateway · 엣지 AI 컴퓨터 · GPR 제어</a:t>
              </a:r>
              <a:br>
                <a:rPr lang="ko-KR" sz="1280" dirty="0">
                  <a:solidFill>
                    <a:srgbClr val="374151"/>
                  </a:solidFill>
                  <a:latin typeface="+mn-lt"/>
                  <a:ea typeface="+mn-ea"/>
                  <a:cs typeface="+mn-cs"/>
                </a:rPr>
              </a:br>
              <a:r>
                <a:rPr lang="ko-KR" sz="1280" dirty="0">
                  <a:solidFill>
                    <a:srgbClr val="374151"/>
                  </a:solidFill>
                  <a:latin typeface="+mn-lt"/>
                  <a:ea typeface="+mn-ea"/>
                  <a:cs typeface="+mn-cs"/>
                </a:rPr>
                <a:t>저장장치 · 보안 네트워크 · RTK 수신 · 전원 분배</a:t>
              </a:r>
            </a:p>
          </p:txBody>
        </p:sp>
        <p:sp>
          <p:nvSpPr>
            <p:cNvPr id="25" name="Ellipse 25"/>
            <p:cNvSpPr/>
            <p:nvPr/>
          </p:nvSpPr>
          <p:spPr>
            <a:xfrm>
              <a:off x="7239000" y="2705100"/>
              <a:ext cx="266700" cy="266700"/>
            </a:xfrm>
            <a:prstGeom prst="ellipse">
              <a:avLst/>
            </a:prstGeom>
            <a:solidFill>
              <a:srgbClr val="F5B700"/>
            </a:solidFill>
            <a:ln>
              <a:noFill/>
            </a:ln>
          </p:spPr>
        </p:sp>
        <p:sp>
          <p:nvSpPr>
            <p:cNvPr id="26" name="TextBox 26"/>
            <p:cNvSpPr txBox="1"/>
            <p:nvPr/>
          </p:nvSpPr>
          <p:spPr>
            <a:xfrm>
              <a:off x="7320635" y="2755900"/>
              <a:ext cx="103431" cy="220028"/>
            </a:xfrm>
            <a:prstGeom prst="rect">
              <a:avLst/>
            </a:prstGeom>
            <a:noFill/>
            <a:ln>
              <a:noFill/>
            </a:ln>
          </p:spPr>
          <p:txBody>
            <a:bodyPr wrap="none" lIns="0" tIns="0" rIns="0" bIns="0" anchor="t" anchorCtr="0">
              <a:spAutoFit/>
            </a:bodyPr>
            <a:lstStyle/>
            <a:p>
              <a:pPr algn="ctr"/>
              <a:r>
                <a:rPr lang="en-US" sz="1120" b="1" dirty="0">
                  <a:solidFill>
                    <a:srgbClr val="0B1E3C"/>
                  </a:solidFill>
                  <a:latin typeface="+mn-lt"/>
                  <a:ea typeface="+mn-ea"/>
                  <a:cs typeface="+mn-cs"/>
                </a:rPr>
                <a:t>B</a:t>
              </a:r>
            </a:p>
          </p:txBody>
        </p:sp>
        <p:sp>
          <p:nvSpPr>
            <p:cNvPr id="27" name="TextBox 27"/>
            <p:cNvSpPr txBox="1"/>
            <p:nvPr/>
          </p:nvSpPr>
          <p:spPr>
            <a:xfrm>
              <a:off x="7611999" y="2714625"/>
              <a:ext cx="204143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화물실 측면 · 재검증</a:t>
              </a:r>
            </a:p>
          </p:txBody>
        </p:sp>
        <p:sp>
          <p:nvSpPr>
            <p:cNvPr id="28" name="TextBox 28"/>
            <p:cNvSpPr txBox="1"/>
            <p:nvPr/>
          </p:nvSpPr>
          <p:spPr>
            <a:xfrm>
              <a:off x="7613523" y="2997200"/>
              <a:ext cx="3345434" cy="469392"/>
            </a:xfrm>
            <a:prstGeom prst="rect">
              <a:avLst/>
            </a:prstGeom>
            <a:noFill/>
            <a:ln>
              <a:noFill/>
            </a:ln>
          </p:spPr>
          <p:txBody>
            <a:bodyPr wrap="none" lIns="0" tIns="0" rIns="0" bIns="0" anchor="t" anchorCtr="0">
              <a:spAutoFit/>
            </a:bodyPr>
            <a:lstStyle/>
            <a:p>
              <a:pPr algn="l">
                <a:lnSpc>
                  <a:spcPts val="1725"/>
                </a:lnSpc>
              </a:pPr>
              <a:r>
                <a:rPr lang="ko-KR" sz="1280" dirty="0">
                  <a:solidFill>
                    <a:srgbClr val="374151"/>
                  </a:solidFill>
                  <a:latin typeface="+mn-lt"/>
                  <a:ea typeface="+mn-ea"/>
                  <a:cs typeface="+mn-cs"/>
                </a:rPr>
                <a:t>지면 밀착형 수동 GPR · 산업용 AR 글래스</a:t>
              </a:r>
              <a:br>
                <a:rPr lang="ko-KR" sz="1280" dirty="0">
                  <a:solidFill>
                    <a:srgbClr val="374151"/>
                  </a:solidFill>
                  <a:latin typeface="+mn-lt"/>
                  <a:ea typeface="+mn-ea"/>
                  <a:cs typeface="+mn-cs"/>
                </a:rPr>
              </a:br>
              <a:r>
                <a:rPr lang="ko-KR" sz="1280" dirty="0">
                  <a:solidFill>
                    <a:srgbClr val="374151"/>
                  </a:solidFill>
                  <a:latin typeface="+mn-lt"/>
                  <a:ea typeface="+mn-ea"/>
                  <a:cs typeface="+mn-cs"/>
                </a:rPr>
                <a:t>AR 충전·보관함 · RTK 이동국 · 교체형 안테나</a:t>
              </a:r>
            </a:p>
          </p:txBody>
        </p:sp>
        <p:sp>
          <p:nvSpPr>
            <p:cNvPr id="29" name="Ellipse 29"/>
            <p:cNvSpPr/>
            <p:nvPr/>
          </p:nvSpPr>
          <p:spPr>
            <a:xfrm>
              <a:off x="7239000" y="3638550"/>
              <a:ext cx="266700" cy="266700"/>
            </a:xfrm>
            <a:prstGeom prst="ellipse">
              <a:avLst/>
            </a:prstGeom>
            <a:solidFill>
              <a:srgbClr val="F5B700"/>
            </a:solidFill>
            <a:ln>
              <a:noFill/>
            </a:ln>
          </p:spPr>
        </p:sp>
        <p:sp>
          <p:nvSpPr>
            <p:cNvPr id="30" name="TextBox 30"/>
            <p:cNvSpPr txBox="1"/>
            <p:nvPr/>
          </p:nvSpPr>
          <p:spPr>
            <a:xfrm>
              <a:off x="7320635" y="3689350"/>
              <a:ext cx="103431" cy="220028"/>
            </a:xfrm>
            <a:prstGeom prst="rect">
              <a:avLst/>
            </a:prstGeom>
            <a:noFill/>
            <a:ln>
              <a:noFill/>
            </a:ln>
          </p:spPr>
          <p:txBody>
            <a:bodyPr wrap="none" lIns="0" tIns="0" rIns="0" bIns="0" anchor="t" anchorCtr="0">
              <a:spAutoFit/>
            </a:bodyPr>
            <a:lstStyle/>
            <a:p>
              <a:pPr algn="ctr"/>
              <a:r>
                <a:rPr lang="en-US" sz="1120" b="1" dirty="0">
                  <a:solidFill>
                    <a:srgbClr val="0B1E3C"/>
                  </a:solidFill>
                  <a:latin typeface="+mn-lt"/>
                  <a:ea typeface="+mn-ea"/>
                  <a:cs typeface="+mn-cs"/>
                </a:rPr>
                <a:t>C</a:t>
              </a:r>
            </a:p>
          </p:txBody>
        </p:sp>
        <p:sp>
          <p:nvSpPr>
            <p:cNvPr id="31" name="TextBox 31"/>
            <p:cNvSpPr txBox="1"/>
            <p:nvPr/>
          </p:nvSpPr>
          <p:spPr>
            <a:xfrm>
              <a:off x="7611999" y="3648075"/>
              <a:ext cx="182873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화물실 후방 · 안전</a:t>
              </a:r>
            </a:p>
          </p:txBody>
        </p:sp>
        <p:sp>
          <p:nvSpPr>
            <p:cNvPr id="32" name="TextBox 32"/>
            <p:cNvSpPr txBox="1"/>
            <p:nvPr/>
          </p:nvSpPr>
          <p:spPr>
            <a:xfrm>
              <a:off x="7613523" y="3943350"/>
              <a:ext cx="3812469" cy="250317"/>
            </a:xfrm>
            <a:prstGeom prst="rect">
              <a:avLst/>
            </a:prstGeom>
            <a:noFill/>
            <a:ln>
              <a:noFill/>
            </a:ln>
          </p:spPr>
          <p:txBody>
            <a:bodyPr wrap="none" lIns="0" tIns="0" rIns="0" bIns="0" anchor="t" anchorCtr="0">
              <a:spAutoFit/>
            </a:bodyPr>
            <a:lstStyle/>
            <a:p>
              <a:pPr algn="l"/>
              <a:r>
                <a:rPr lang="ko-KR" sz="1280" dirty="0">
                  <a:solidFill>
                    <a:srgbClr val="374151"/>
                  </a:solidFill>
                  <a:latin typeface="+mn-lt"/>
                  <a:ea typeface="+mn-ea"/>
                  <a:cs typeface="+mn-cs"/>
                </a:rPr>
                <a:t>관로 내시경 · 작업 조명 · 라바콘 · 개인보호장비</a:t>
              </a:r>
            </a:p>
          </p:txBody>
        </p:sp>
      </p:grpSp>
      <p:grpSp>
        <p:nvGrpSpPr>
          <p:cNvPr id="40" name="under-gpr"/>
          <p:cNvGrpSpPr/>
          <p:nvPr/>
        </p:nvGrpSpPr>
        <p:grpSpPr>
          <a:xfrm>
            <a:off x="7239000" y="4362450"/>
            <a:ext cx="4419600" cy="1162050"/>
            <a:chOff x="7239000" y="4362450"/>
            <a:chExt cx="4419600" cy="1162050"/>
          </a:xfrm>
        </p:grpSpPr>
        <p:sp>
          <p:nvSpPr>
            <p:cNvPr id="34" name="Line 34"/>
            <p:cNvSpPr/>
            <p:nvPr/>
          </p:nvSpPr>
          <p:spPr>
            <a:xfrm>
              <a:off x="7239000" y="4362450"/>
              <a:ext cx="4419600" cy="9525"/>
            </a:xfrm>
            <a:custGeom>
              <a:avLst/>
              <a:gdLst/>
              <a:ahLst/>
              <a:cxnLst/>
              <a:rect l="l" t="t" r="r" b="b"/>
              <a:pathLst>
                <a:path w="4419600" h="9525">
                  <a:moveTo>
                    <a:pt x="0" y="0"/>
                  </a:moveTo>
                  <a:lnTo>
                    <a:pt x="4419600" y="0"/>
                  </a:lnTo>
                </a:path>
              </a:pathLst>
            </a:custGeom>
            <a:noFill/>
            <a:ln w="9525">
              <a:solidFill>
                <a:srgbClr val="D5DAE1"/>
              </a:solidFill>
            </a:ln>
          </p:spPr>
        </p:sp>
        <p:pic>
          <p:nvPicPr>
            <p:cNvPr id="35" name="Image 35"/>
            <p:cNvPicPr>
              <a:picLocks noChangeAspect="1"/>
            </p:cNvPicPr>
            <p:nvPr/>
          </p:nvPicPr>
          <p:blipFill>
            <a:blip r:embed="rId3"/>
            <a:srcRect l="93" t="0" r="93" b="0"/>
            <a:stretch>
              <a:fillRect/>
            </a:stretch>
          </p:blipFill>
          <p:spPr>
            <a:xfrm>
              <a:off x="7239000" y="4495800"/>
              <a:ext cx="1714500" cy="1028700"/>
            </a:xfrm>
            <a:prstGeom prst="rect">
              <a:avLst/>
            </a:prstGeom>
          </p:spPr>
        </p:pic>
        <p:sp>
          <p:nvSpPr>
            <p:cNvPr id="36" name="Rectangle 36"/>
            <p:cNvSpPr/>
            <p:nvPr/>
          </p:nvSpPr>
          <p:spPr>
            <a:xfrm>
              <a:off x="7277100" y="4533900"/>
              <a:ext cx="685800" cy="190500"/>
            </a:xfrm>
            <a:prstGeom prst="roundRect">
              <a:avLst>
                <a:gd name="adj" fmla="val 15000"/>
              </a:avLst>
            </a:prstGeom>
            <a:solidFill>
              <a:srgbClr val="0B1E3C">
                <a:alpha val="88000"/>
              </a:srgbClr>
            </a:solidFill>
            <a:ln>
              <a:noFill/>
            </a:ln>
          </p:spPr>
        </p:sp>
        <p:sp>
          <p:nvSpPr>
            <p:cNvPr id="37" name="TextBox 37"/>
            <p:cNvSpPr txBox="1"/>
            <p:nvPr/>
          </p:nvSpPr>
          <p:spPr>
            <a:xfrm>
              <a:off x="7293260" y="4562475"/>
              <a:ext cx="653480"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후방 장착형</a:t>
              </a:r>
            </a:p>
          </p:txBody>
        </p:sp>
        <p:sp>
          <p:nvSpPr>
            <p:cNvPr id="38" name="TextBox 38"/>
            <p:cNvSpPr txBox="1"/>
            <p:nvPr/>
          </p:nvSpPr>
          <p:spPr>
            <a:xfrm>
              <a:off x="9117711" y="4527550"/>
              <a:ext cx="1635212" cy="278702"/>
            </a:xfrm>
            <a:prstGeom prst="rect">
              <a:avLst/>
            </a:prstGeom>
            <a:noFill/>
            <a:ln>
              <a:noFill/>
            </a:ln>
          </p:spPr>
          <p:txBody>
            <a:bodyPr wrap="none" lIns="0" tIns="0" rIns="0" bIns="0" anchor="t" anchorCtr="0">
              <a:spAutoFit/>
            </a:bodyPr>
            <a:lstStyle/>
            <a:p>
              <a:pPr algn="l"/>
              <a:r>
                <a:rPr lang="ko-KR" sz="1420" b="1" dirty="0">
                  <a:solidFill>
                    <a:srgbClr val="111827"/>
                  </a:solidFill>
                  <a:latin typeface="+mn-lt"/>
                  <a:ea typeface="+mn-ea"/>
                  <a:cs typeface="+mn-cs"/>
                </a:rPr>
                <a:t>차량형 다채널 GPR</a:t>
              </a:r>
            </a:p>
          </p:txBody>
        </p:sp>
        <p:sp>
          <p:nvSpPr>
            <p:cNvPr id="39" name="TextBox 39"/>
            <p:cNvSpPr txBox="1"/>
            <p:nvPr/>
          </p:nvSpPr>
          <p:spPr>
            <a:xfrm>
              <a:off x="9119235" y="4800600"/>
              <a:ext cx="2258822" cy="620078"/>
            </a:xfrm>
            <a:prstGeom prst="rect">
              <a:avLst/>
            </a:prstGeom>
            <a:noFill/>
            <a:ln>
              <a:noFill/>
            </a:ln>
          </p:spPr>
          <p:txBody>
            <a:bodyPr wrap="none" lIns="0" tIns="0" rIns="0" bIns="0" anchor="t" anchorCtr="0">
              <a:spAutoFit/>
            </a:bodyPr>
            <a:lstStyle/>
            <a:p>
              <a:pPr algn="l">
                <a:lnSpc>
                  <a:spcPts val="1575"/>
                </a:lnSpc>
              </a:pPr>
              <a:r>
                <a:rPr lang="ko-KR" sz="1120" dirty="0">
                  <a:solidFill>
                    <a:srgbClr val="374151"/>
                  </a:solidFill>
                  <a:latin typeface="+mn-lt"/>
                  <a:ea typeface="+mn-ea"/>
                  <a:cs typeface="+mn-cs"/>
                </a:rPr>
                <a:t>하부형(왼쪽)과 후방 장착형(사진)</a:t>
              </a:r>
              <a:br>
                <a:rPr lang="ko-KR" sz="1120" dirty="0">
                  <a:solidFill>
                    <a:srgbClr val="374151"/>
                  </a:solidFill>
                  <a:latin typeface="+mn-lt"/>
                  <a:ea typeface="+mn-ea"/>
                  <a:cs typeface="+mn-cs"/>
                </a:rPr>
              </a:br>
              <a:r>
                <a:rPr lang="ko-KR" sz="1120" dirty="0">
                  <a:solidFill>
                    <a:srgbClr val="374151"/>
                  </a:solidFill>
                  <a:latin typeface="+mn-lt"/>
                  <a:ea typeface="+mn-ea"/>
                  <a:cs typeface="+mn-cs"/>
                </a:rPr>
                <a:t>중 지상고·배터리 팩 간섭</a:t>
              </a:r>
              <a:br>
                <a:rPr lang="ko-KR" sz="1120" dirty="0">
                  <a:solidFill>
                    <a:srgbClr val="374151"/>
                  </a:solidFill>
                  <a:latin typeface="+mn-lt"/>
                  <a:ea typeface="+mn-ea"/>
                  <a:cs typeface="+mn-cs"/>
                </a:rPr>
              </a:br>
              <a:r>
                <a:rPr lang="ko-KR" sz="1120" dirty="0">
                  <a:solidFill>
                    <a:srgbClr val="374151"/>
                  </a:solidFill>
                  <a:latin typeface="+mn-lt"/>
                  <a:ea typeface="+mn-ea"/>
                  <a:cs typeface="+mn-cs"/>
                </a:rPr>
                <a:t xml:space="preserve">시험으로 확정 </a:t>
              </a:r>
              <a:r>
                <a:rPr lang="ko-KR" sz="1120" dirty="0">
                  <a:solidFill>
                    <a:srgbClr val="4B5563"/>
                  </a:solidFill>
                  <a:latin typeface="+mn-lt"/>
                  <a:ea typeface="+mn-ea"/>
                  <a:cs typeface="+mn-cs"/>
                </a:rPr>
                <a:t>[설계 판단]</a:t>
              </a:r>
            </a:p>
          </p:txBody>
        </p:sp>
      </p:grpSp>
      <p:grpSp>
        <p:nvGrpSpPr>
          <p:cNvPr id="50" name="budget"/>
          <p:cNvGrpSpPr/>
          <p:nvPr/>
        </p:nvGrpSpPr>
        <p:grpSpPr>
          <a:xfrm>
            <a:off x="526161" y="5695950"/>
            <a:ext cx="11132439" cy="592709"/>
            <a:chOff x="526161" y="5695950"/>
            <a:chExt cx="11132439" cy="592709"/>
          </a:xfrm>
        </p:grpSpPr>
        <p:sp>
          <p:nvSpPr>
            <p:cNvPr id="41" name="Line 41"/>
            <p:cNvSpPr/>
            <p:nvPr/>
          </p:nvSpPr>
          <p:spPr>
            <a:xfrm>
              <a:off x="533400" y="5695950"/>
              <a:ext cx="11125200" cy="9525"/>
            </a:xfrm>
            <a:custGeom>
              <a:avLst/>
              <a:gdLst/>
              <a:ahLst/>
              <a:cxnLst/>
              <a:rect l="l" t="t" r="r" b="b"/>
              <a:pathLst>
                <a:path w="11125200" h="9525">
                  <a:moveTo>
                    <a:pt x="0" y="0"/>
                  </a:moveTo>
                  <a:lnTo>
                    <a:pt x="11125200" y="0"/>
                  </a:lnTo>
                </a:path>
              </a:pathLst>
            </a:custGeom>
            <a:noFill/>
            <a:ln w="19050">
              <a:solidFill>
                <a:srgbClr val="0B1E3C"/>
              </a:solidFill>
            </a:ln>
          </p:spPr>
        </p:sp>
        <p:sp>
          <p:nvSpPr>
            <p:cNvPr id="42" name="TextBox 42"/>
            <p:cNvSpPr txBox="1"/>
            <p:nvPr/>
          </p:nvSpPr>
          <p:spPr>
            <a:xfrm>
              <a:off x="526161" y="5803900"/>
              <a:ext cx="133205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적재·전력 예산</a:t>
              </a:r>
            </a:p>
          </p:txBody>
        </p:sp>
        <p:sp>
          <p:nvSpPr>
            <p:cNvPr id="43" name="TextBox 43"/>
            <p:cNvSpPr txBox="1"/>
            <p:nvPr/>
          </p:nvSpPr>
          <p:spPr>
            <a:xfrm>
              <a:off x="528066" y="6083300"/>
              <a:ext cx="138177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[가설] 실증으로 확인</a:t>
              </a:r>
            </a:p>
          </p:txBody>
        </p:sp>
        <p:sp>
          <p:nvSpPr>
            <p:cNvPr id="44" name="TextBox 44"/>
            <p:cNvSpPr txBox="1"/>
            <p:nvPr/>
          </p:nvSpPr>
          <p:spPr>
            <a:xfrm>
              <a:off x="2848356" y="5784850"/>
              <a:ext cx="1799916"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 xml:space="preserve">약 300kg </a:t>
              </a:r>
              <a:r>
                <a:rPr lang="ko-KR" sz="1350" b="1" dirty="0">
                  <a:solidFill>
                    <a:srgbClr val="4B5563"/>
                  </a:solidFill>
                  <a:latin typeface="+mn-lt"/>
                  <a:ea typeface="+mn-ea"/>
                  <a:cs typeface="+mn-cs"/>
                </a:rPr>
                <a:t xml:space="preserve">/ </a:t>
              </a:r>
              <a:r>
                <a:rPr lang="en-US" sz="1350" b="1" dirty="0">
                  <a:solidFill>
                    <a:srgbClr val="4B5563"/>
                  </a:solidFill>
                  <a:latin typeface="+mn-lt"/>
                  <a:ea typeface="+mn-ea"/>
                  <a:cs typeface="+mn-cs"/>
                </a:rPr>
                <a:t>600kg</a:t>
              </a:r>
            </a:p>
          </p:txBody>
        </p:sp>
        <p:sp>
          <p:nvSpPr>
            <p:cNvPr id="45" name="TextBox 45"/>
            <p:cNvSpPr txBox="1"/>
            <p:nvPr/>
          </p:nvSpPr>
          <p:spPr>
            <a:xfrm>
              <a:off x="2852166" y="6083300"/>
              <a:ext cx="1855299"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장비 합계 · 최대 적재의 절반</a:t>
              </a:r>
            </a:p>
          </p:txBody>
        </p:sp>
        <p:sp>
          <p:nvSpPr>
            <p:cNvPr id="46" name="TextBox 46"/>
            <p:cNvSpPr txBox="1"/>
            <p:nvPr/>
          </p:nvSpPr>
          <p:spPr>
            <a:xfrm>
              <a:off x="5801106" y="5784850"/>
              <a:ext cx="1935053"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 xml:space="preserve">약 1.5kW </a:t>
              </a:r>
              <a:r>
                <a:rPr lang="en-US" sz="1350" b="1" dirty="0">
                  <a:solidFill>
                    <a:srgbClr val="4B5563"/>
                  </a:solidFill>
                  <a:latin typeface="+mn-lt"/>
                  <a:ea typeface="+mn-ea"/>
                  <a:cs typeface="+mn-cs"/>
                </a:rPr>
                <a:t>/ 3.6kW</a:t>
              </a:r>
            </a:p>
          </p:txBody>
        </p:sp>
        <p:sp>
          <p:nvSpPr>
            <p:cNvPr id="47" name="TextBox 47"/>
            <p:cNvSpPr txBox="1"/>
            <p:nvPr/>
          </p:nvSpPr>
          <p:spPr>
            <a:xfrm>
              <a:off x="5804916" y="6083300"/>
              <a:ext cx="291903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장비 소비전력 · V2L 최대 출력(해외 제원) 안</a:t>
              </a:r>
            </a:p>
          </p:txBody>
        </p:sp>
        <p:sp>
          <p:nvSpPr>
            <p:cNvPr id="48" name="TextBox 48"/>
            <p:cNvSpPr txBox="1"/>
            <p:nvPr/>
          </p:nvSpPr>
          <p:spPr>
            <a:xfrm>
              <a:off x="8753856" y="5784850"/>
              <a:ext cx="2133558"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 xml:space="preserve">약 10kWh </a:t>
              </a:r>
              <a:r>
                <a:rPr lang="en-US" sz="1350" b="1" dirty="0">
                  <a:solidFill>
                    <a:srgbClr val="4B5563"/>
                  </a:solidFill>
                  <a:latin typeface="+mn-lt"/>
                  <a:ea typeface="+mn-ea"/>
                  <a:cs typeface="+mn-cs"/>
                </a:rPr>
                <a:t>/ 71.2kWh</a:t>
              </a:r>
            </a:p>
          </p:txBody>
        </p:sp>
        <p:sp>
          <p:nvSpPr>
            <p:cNvPr id="49" name="TextBox 49"/>
            <p:cNvSpPr txBox="1"/>
            <p:nvPr/>
          </p:nvSpPr>
          <p:spPr>
            <a:xfrm>
              <a:off x="8757666" y="6083300"/>
              <a:ext cx="2194541"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하루 주행+장비 · 배터리의 약 14%</a:t>
              </a:r>
            </a:p>
          </p:txBody>
        </p:sp>
      </p:grpSp>
      <p:grpSp>
        <p:nvGrpSpPr>
          <p:cNvPr id="52" name="source"/>
          <p:cNvGrpSpPr/>
          <p:nvPr/>
        </p:nvGrpSpPr>
        <p:grpSpPr>
          <a:xfrm>
            <a:off x="528638" y="6318250"/>
            <a:ext cx="8221980" cy="319088"/>
            <a:chOff x="528638" y="6318250"/>
            <a:chExt cx="8221980" cy="319088"/>
          </a:xfrm>
        </p:grpSpPr>
        <p:sp>
          <p:nvSpPr>
            <p:cNvPr id="51" name="TextBox 51"/>
            <p:cNvSpPr txBox="1"/>
            <p:nvPr/>
          </p:nvSpPr>
          <p:spPr>
            <a:xfrm>
              <a:off x="528638" y="6318250"/>
              <a:ext cx="8221980" cy="319088"/>
            </a:xfrm>
            <a:prstGeom prst="rect">
              <a:avLst/>
            </a:prstGeom>
            <a:noFill/>
            <a:ln>
              <a:noFill/>
            </a:ln>
          </p:spPr>
          <p:txBody>
            <a:bodyPr wrap="none" lIns="0" tIns="0" rIns="0" bIns="0" anchor="t" anchorCtr="0">
              <a:spAutoFit/>
            </a:bodyPr>
            <a:lstStyle/>
            <a:p>
              <a:pPr algn="l">
                <a:lnSpc>
                  <a:spcPts val="1125"/>
                </a:lnSpc>
              </a:pPr>
              <a:r>
                <a:rPr lang="ko-KR" sz="900" dirty="0">
                  <a:solidFill>
                    <a:srgbClr val="4B5563"/>
                  </a:solidFill>
                  <a:latin typeface="+mn-lt"/>
                  <a:ea typeface="+mn-ea"/>
                  <a:cs typeface="+mn-cs"/>
                </a:rPr>
                <a:t>가정: 하루 3시간·시속 10km 순찰(30km, 서울시 차량 GPR 운용 시속 5~30km) · 장비 1.5kW 이하 · 수동 GPR 카트 약 27~34kg(GSSI UtilityScan Pro, 60~75lb)</a:t>
              </a:r>
              <a:br>
                <a:rPr lang="ko-KR" sz="900" dirty="0">
                  <a:solidFill>
                    <a:srgbClr val="4B5563"/>
                  </a:solidFill>
                  <a:latin typeface="+mn-lt"/>
                  <a:ea typeface="+mn-ea"/>
                  <a:cs typeface="+mn-cs"/>
                </a:rPr>
              </a:br>
              <a:r>
                <a:rPr lang="ko-KR" sz="900" dirty="0">
                  <a:solidFill>
                    <a:srgbClr val="4B5563"/>
                  </a:solidFill>
                  <a:latin typeface="+mn-lt"/>
                  <a:ea typeface="+mn-ea"/>
                  <a:cs typeface="+mn-cs"/>
                </a:rPr>
                <a:t>실증 필요: 총중량·축하중·전자파 간섭·구조변경 승인 · 출처: 기아 PV5 카고 제원 · 배치도는 PV5 기반 콘셉트 이미지</a:t>
              </a:r>
            </a:p>
          </p:txBody>
        </p:sp>
      </p:grpSp>
      <p:grpSp>
        <p:nvGrpSpPr>
          <p:cNvPr id="55" name="footer"/>
          <p:cNvGrpSpPr/>
          <p:nvPr/>
        </p:nvGrpSpPr>
        <p:grpSpPr>
          <a:xfrm>
            <a:off x="528638" y="6610350"/>
            <a:ext cx="11134724" cy="176212"/>
            <a:chOff x="528638" y="6610350"/>
            <a:chExt cx="11134724" cy="176212"/>
          </a:xfrm>
        </p:grpSpPr>
        <p:sp>
          <p:nvSpPr>
            <p:cNvPr id="53" name="TextBox 53"/>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4" name="TextBox 5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07 / 16</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828675" cy="228600"/>
            </a:xfrm>
            <a:prstGeom prst="rect">
              <a:avLst/>
            </a:prstGeom>
            <a:solidFill>
              <a:srgbClr val="F5B700"/>
            </a:solidFill>
            <a:ln>
              <a:noFill/>
            </a:ln>
          </p:spPr>
        </p:sp>
        <p:sp>
          <p:nvSpPr>
            <p:cNvPr id="5" name="TextBox 5"/>
            <p:cNvSpPr txBox="1"/>
            <p:nvPr/>
          </p:nvSpPr>
          <p:spPr>
            <a:xfrm>
              <a:off x="1925687" y="314325"/>
              <a:ext cx="711101"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현장 재확인</a:t>
              </a:r>
            </a:p>
          </p:txBody>
        </p:sp>
        <p:sp>
          <p:nvSpPr>
            <p:cNvPr id="6" name="TextBox 6"/>
            <p:cNvSpPr txBox="1"/>
            <p:nvPr/>
          </p:nvSpPr>
          <p:spPr>
            <a:xfrm>
              <a:off x="2804541" y="301625"/>
              <a:ext cx="162153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차량 앱과 AR 현장 재확인</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800100"/>
            <a:ext cx="9676154" cy="557403"/>
            <a:chOff x="518922" y="800100"/>
            <a:chExt cx="9676154" cy="557403"/>
          </a:xfrm>
        </p:grpSpPr>
        <p:sp>
          <p:nvSpPr>
            <p:cNvPr id="9" name="TextBox 9"/>
            <p:cNvSpPr txBox="1"/>
            <p:nvPr/>
          </p:nvSpPr>
          <p:spPr>
            <a:xfrm>
              <a:off x="518922" y="800100"/>
              <a:ext cx="9676154"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차량에서 만든 재확인 업무가 작업자 시야까지 이어집니다</a:t>
              </a:r>
            </a:p>
          </p:txBody>
        </p:sp>
      </p:grpSp>
      <p:grpSp>
        <p:nvGrpSpPr>
          <p:cNvPr id="37" name="system-chain"/>
          <p:cNvGrpSpPr/>
          <p:nvPr/>
        </p:nvGrpSpPr>
        <p:grpSpPr>
          <a:xfrm>
            <a:off x="533400" y="1428750"/>
            <a:ext cx="11125200" cy="839343"/>
            <a:chOff x="533400" y="1428750"/>
            <a:chExt cx="11125200" cy="839343"/>
          </a:xfrm>
        </p:grpSpPr>
        <p:grpSp>
          <p:nvGrpSpPr>
            <p:cNvPr id="31" name="Group 31"/>
            <p:cNvGrpSpPr/>
            <p:nvPr/>
          </p:nvGrpSpPr>
          <p:grpSpPr>
            <a:xfrm>
              <a:off x="533400" y="1428750"/>
              <a:ext cx="11125200" cy="839343"/>
              <a:chOff x="533400" y="1428750"/>
              <a:chExt cx="11125200" cy="839343"/>
            </a:xfrm>
          </p:grpSpPr>
          <p:sp>
            <p:nvSpPr>
              <p:cNvPr id="11" name="Rectangle 11"/>
              <p:cNvSpPr/>
              <p:nvPr/>
            </p:nvSpPr>
            <p:spPr>
              <a:xfrm>
                <a:off x="533400" y="1428750"/>
                <a:ext cx="1905000" cy="552450"/>
              </a:xfrm>
              <a:prstGeom prst="roundRect">
                <a:avLst>
                  <a:gd name="adj" fmla="val 13793"/>
                </a:avLst>
              </a:prstGeom>
              <a:solidFill>
                <a:srgbClr val="0B1E3C"/>
              </a:solidFill>
              <a:ln>
                <a:noFill/>
              </a:ln>
            </p:spPr>
          </p:sp>
          <p:sp>
            <p:nvSpPr>
              <p:cNvPr id="12" name="TextBox 12"/>
              <p:cNvSpPr txBox="1"/>
              <p:nvPr/>
            </p:nvSpPr>
            <p:spPr>
              <a:xfrm>
                <a:off x="704122" y="1504950"/>
                <a:ext cx="1563556"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GroundWatch Cloud</a:t>
                </a:r>
              </a:p>
            </p:txBody>
          </p:sp>
          <p:sp>
            <p:nvSpPr>
              <p:cNvPr id="13" name="TextBox 13"/>
              <p:cNvSpPr txBox="1"/>
              <p:nvPr/>
            </p:nvSpPr>
            <p:spPr>
              <a:xfrm>
                <a:off x="698935" y="1739900"/>
                <a:ext cx="1573930" cy="205359"/>
              </a:xfrm>
              <a:prstGeom prst="rect">
                <a:avLst/>
              </a:prstGeom>
              <a:noFill/>
              <a:ln>
                <a:noFill/>
              </a:ln>
            </p:spPr>
            <p:txBody>
              <a:bodyPr wrap="none" lIns="0" tIns="0" rIns="0" bIns="0" anchor="t" anchorCtr="0">
                <a:spAutoFit/>
              </a:bodyPr>
              <a:lstStyle/>
              <a:p>
                <a:pPr algn="ctr"/>
                <a:r>
                  <a:rPr lang="ko-KR" sz="1050" dirty="0">
                    <a:solidFill>
                      <a:srgbClr val="D6DDE8"/>
                    </a:solidFill>
                    <a:latin typeface="+mn-lt"/>
                    <a:ea typeface="+mn-ea"/>
                    <a:cs typeface="+mn-cs"/>
                  </a:rPr>
                  <a:t>4D 지도 · AI 분석 · 경로</a:t>
                </a:r>
              </a:p>
            </p:txBody>
          </p:sp>
          <p:sp>
            <p:nvSpPr>
              <p:cNvPr id="14" name="Rectangle 14"/>
              <p:cNvSpPr/>
              <p:nvPr/>
            </p:nvSpPr>
            <p:spPr>
              <a:xfrm>
                <a:off x="2838450" y="1428750"/>
                <a:ext cx="1905000" cy="552450"/>
              </a:xfrm>
              <a:prstGeom prst="roundRect">
                <a:avLst>
                  <a:gd name="adj" fmla="val 13793"/>
                </a:avLst>
              </a:prstGeom>
              <a:solidFill>
                <a:srgbClr val="0B1E3C"/>
              </a:solidFill>
              <a:ln>
                <a:noFill/>
              </a:ln>
            </p:spPr>
          </p:sp>
          <p:sp>
            <p:nvSpPr>
              <p:cNvPr id="15" name="TextBox 15"/>
              <p:cNvSpPr txBox="1"/>
              <p:nvPr/>
            </p:nvSpPr>
            <p:spPr>
              <a:xfrm>
                <a:off x="3230299" y="1504950"/>
                <a:ext cx="1121302" cy="234696"/>
              </a:xfrm>
              <a:prstGeom prst="rect">
                <a:avLst/>
              </a:prstGeom>
              <a:noFill/>
              <a:ln>
                <a:noFill/>
              </a:ln>
            </p:spPr>
            <p:txBody>
              <a:bodyPr wrap="none" lIns="0" tIns="0" rIns="0" bIns="0" anchor="t" anchorCtr="0">
                <a:spAutoFit/>
              </a:bodyPr>
              <a:lstStyle/>
              <a:p>
                <a:pPr algn="ctr"/>
                <a:r>
                  <a:rPr lang="ko-KR" sz="1200" b="1" dirty="0">
                    <a:solidFill>
                      <a:srgbClr val="FFFFFF"/>
                    </a:solidFill>
                    <a:latin typeface="+mn-lt"/>
                    <a:ea typeface="+mn-ea"/>
                    <a:cs typeface="+mn-cs"/>
                  </a:rPr>
                  <a:t>Patrol 차량 앱</a:t>
                </a:r>
              </a:p>
            </p:txBody>
          </p:sp>
          <p:sp>
            <p:nvSpPr>
              <p:cNvPr id="16" name="TextBox 16"/>
              <p:cNvSpPr txBox="1"/>
              <p:nvPr/>
            </p:nvSpPr>
            <p:spPr>
              <a:xfrm>
                <a:off x="3301489" y="1739900"/>
                <a:ext cx="978922" cy="205359"/>
              </a:xfrm>
              <a:prstGeom prst="rect">
                <a:avLst/>
              </a:prstGeom>
              <a:noFill/>
              <a:ln>
                <a:noFill/>
              </a:ln>
            </p:spPr>
            <p:txBody>
              <a:bodyPr wrap="none" lIns="0" tIns="0" rIns="0" bIns="0" anchor="t" anchorCtr="0">
                <a:spAutoFit/>
              </a:bodyPr>
              <a:lstStyle/>
              <a:p>
                <a:pPr algn="ctr"/>
                <a:r>
                  <a:rPr lang="ko-KR" sz="1050" dirty="0">
                    <a:solidFill>
                      <a:srgbClr val="D6DDE8"/>
                    </a:solidFill>
                    <a:latin typeface="+mn-lt"/>
                    <a:ea typeface="+mn-ea"/>
                    <a:cs typeface="+mn-cs"/>
                  </a:rPr>
                  <a:t>업무·경로 관리</a:t>
                </a:r>
              </a:p>
            </p:txBody>
          </p:sp>
          <p:sp>
            <p:nvSpPr>
              <p:cNvPr id="17" name="Rectangle 17"/>
              <p:cNvSpPr/>
              <p:nvPr/>
            </p:nvSpPr>
            <p:spPr>
              <a:xfrm>
                <a:off x="5143500" y="1428750"/>
                <a:ext cx="1905000" cy="552450"/>
              </a:xfrm>
              <a:prstGeom prst="roundRect">
                <a:avLst>
                  <a:gd name="adj" fmla="val 13793"/>
                </a:avLst>
              </a:prstGeom>
              <a:solidFill>
                <a:srgbClr val="0B1E3C"/>
              </a:solidFill>
              <a:ln>
                <a:noFill/>
              </a:ln>
            </p:spPr>
          </p:sp>
          <p:sp>
            <p:nvSpPr>
              <p:cNvPr id="18" name="TextBox 18"/>
              <p:cNvSpPr txBox="1"/>
              <p:nvPr/>
            </p:nvSpPr>
            <p:spPr>
              <a:xfrm>
                <a:off x="5528677" y="1504950"/>
                <a:ext cx="113464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Edge Gateway</a:t>
                </a:r>
              </a:p>
            </p:txBody>
          </p:sp>
          <p:sp>
            <p:nvSpPr>
              <p:cNvPr id="19" name="TextBox 19"/>
              <p:cNvSpPr txBox="1"/>
              <p:nvPr/>
            </p:nvSpPr>
            <p:spPr>
              <a:xfrm>
                <a:off x="5373310" y="1739900"/>
                <a:ext cx="1445381" cy="205359"/>
              </a:xfrm>
              <a:prstGeom prst="rect">
                <a:avLst/>
              </a:prstGeom>
              <a:noFill/>
              <a:ln>
                <a:noFill/>
              </a:ln>
            </p:spPr>
            <p:txBody>
              <a:bodyPr wrap="none" lIns="0" tIns="0" rIns="0" bIns="0" anchor="t" anchorCtr="0">
                <a:spAutoFit/>
              </a:bodyPr>
              <a:lstStyle/>
              <a:p>
                <a:pPr algn="ctr"/>
                <a:r>
                  <a:rPr lang="ko-KR" sz="1050" dirty="0">
                    <a:solidFill>
                      <a:srgbClr val="D6DDE8"/>
                    </a:solidFill>
                    <a:latin typeface="+mn-lt"/>
                    <a:ea typeface="+mn-ea"/>
                    <a:cs typeface="+mn-cs"/>
                  </a:rPr>
                  <a:t>센서 동기화·로컬 통신</a:t>
                </a:r>
              </a:p>
            </p:txBody>
          </p:sp>
          <p:sp>
            <p:nvSpPr>
              <p:cNvPr id="20" name="Rectangle 20"/>
              <p:cNvSpPr/>
              <p:nvPr/>
            </p:nvSpPr>
            <p:spPr>
              <a:xfrm>
                <a:off x="7448550" y="1428750"/>
                <a:ext cx="1905000" cy="552450"/>
              </a:xfrm>
              <a:prstGeom prst="roundRect">
                <a:avLst>
                  <a:gd name="adj" fmla="val 13793"/>
                </a:avLst>
              </a:prstGeom>
              <a:solidFill>
                <a:srgbClr val="FFFFFF"/>
              </a:solidFill>
              <a:ln w="19050">
                <a:solidFill>
                  <a:srgbClr val="0B1E3C"/>
                </a:solidFill>
              </a:ln>
            </p:spPr>
          </p:sp>
          <p:sp>
            <p:nvSpPr>
              <p:cNvPr id="21" name="TextBox 21"/>
              <p:cNvSpPr txBox="1"/>
              <p:nvPr/>
            </p:nvSpPr>
            <p:spPr>
              <a:xfrm>
                <a:off x="8027182" y="1504950"/>
                <a:ext cx="747735"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AR 글래스</a:t>
                </a:r>
              </a:p>
            </p:txBody>
          </p:sp>
          <p:sp>
            <p:nvSpPr>
              <p:cNvPr id="22" name="TextBox 22"/>
              <p:cNvSpPr txBox="1"/>
              <p:nvPr/>
            </p:nvSpPr>
            <p:spPr>
              <a:xfrm>
                <a:off x="7749035" y="1739900"/>
                <a:ext cx="1304030"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위치 정합·탐사 안내</a:t>
                </a:r>
              </a:p>
            </p:txBody>
          </p:sp>
          <p:sp>
            <p:nvSpPr>
              <p:cNvPr id="23" name="Rectangle 23"/>
              <p:cNvSpPr/>
              <p:nvPr/>
            </p:nvSpPr>
            <p:spPr>
              <a:xfrm>
                <a:off x="9753600" y="1428750"/>
                <a:ext cx="1905000" cy="552450"/>
              </a:xfrm>
              <a:prstGeom prst="roundRect">
                <a:avLst>
                  <a:gd name="adj" fmla="val 13793"/>
                </a:avLst>
              </a:prstGeom>
              <a:solidFill>
                <a:srgbClr val="FFFFFF"/>
              </a:solidFill>
              <a:ln w="19050">
                <a:solidFill>
                  <a:srgbClr val="0B1E3C"/>
                </a:solidFill>
              </a:ln>
            </p:spPr>
          </p:sp>
          <p:sp>
            <p:nvSpPr>
              <p:cNvPr id="24" name="TextBox 24"/>
              <p:cNvSpPr txBox="1"/>
              <p:nvPr/>
            </p:nvSpPr>
            <p:spPr>
              <a:xfrm>
                <a:off x="10363718" y="1504950"/>
                <a:ext cx="684764" cy="234696"/>
              </a:xfrm>
              <a:prstGeom prst="rect">
                <a:avLst/>
              </a:prstGeom>
              <a:noFill/>
              <a:ln>
                <a:noFill/>
              </a:ln>
            </p:spPr>
            <p:txBody>
              <a:bodyPr wrap="none" lIns="0" tIns="0" rIns="0" bIns="0" anchor="t" anchorCtr="0">
                <a:spAutoFit/>
              </a:bodyPr>
              <a:lstStyle/>
              <a:p>
                <a:pPr algn="ctr"/>
                <a:r>
                  <a:rPr lang="ko-KR" sz="1200" b="1" dirty="0">
                    <a:solidFill>
                      <a:srgbClr val="0B1E3C"/>
                    </a:solidFill>
                    <a:latin typeface="+mn-lt"/>
                    <a:ea typeface="+mn-ea"/>
                    <a:cs typeface="+mn-cs"/>
                  </a:rPr>
                  <a:t>수동 GPR</a:t>
                </a:r>
              </a:p>
            </p:txBody>
          </p:sp>
          <p:sp>
            <p:nvSpPr>
              <p:cNvPr id="25" name="TextBox 25"/>
              <p:cNvSpPr txBox="1"/>
              <p:nvPr/>
            </p:nvSpPr>
            <p:spPr>
              <a:xfrm>
                <a:off x="9842059" y="1739900"/>
                <a:ext cx="1728083" cy="205359"/>
              </a:xfrm>
              <a:prstGeom prst="rect">
                <a:avLst/>
              </a:prstGeom>
              <a:noFill/>
              <a:ln>
                <a:noFill/>
              </a:ln>
            </p:spPr>
            <p:txBody>
              <a:bodyPr wrap="none" lIns="0" tIns="0" rIns="0" bIns="0" anchor="t" anchorCtr="0">
                <a:spAutoFit/>
              </a:bodyPr>
              <a:lstStyle/>
              <a:p>
                <a:pPr algn="ctr"/>
                <a:r>
                  <a:rPr lang="ko-KR" sz="1050" dirty="0">
                    <a:solidFill>
                      <a:srgbClr val="374151"/>
                    </a:solidFill>
                    <a:latin typeface="+mn-lt"/>
                    <a:ea typeface="+mn-ea"/>
                    <a:cs typeface="+mn-cs"/>
                  </a:rPr>
                  <a:t>다른 주파수·방향 교차검증</a:t>
                </a:r>
              </a:p>
            </p:txBody>
          </p:sp>
          <p:grpSp>
            <p:nvGrpSpPr>
              <p:cNvPr id="30" name="Group 30"/>
              <p:cNvGrpSpPr/>
              <p:nvPr/>
            </p:nvGrpSpPr>
            <p:grpSpPr>
              <a:xfrm>
                <a:off x="2349828" y="2076450"/>
                <a:ext cx="7492345" cy="191643"/>
                <a:chOff x="2349828" y="2076450"/>
                <a:chExt cx="7492345" cy="191643"/>
              </a:xfrm>
            </p:grpSpPr>
            <p:sp>
              <p:nvSpPr>
                <p:cNvPr id="26" name="TextBox 26"/>
                <p:cNvSpPr txBox="1"/>
                <p:nvPr/>
              </p:nvSpPr>
              <p:spPr>
                <a:xfrm>
                  <a:off x="2349828" y="2076450"/>
                  <a:ext cx="577195"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보안 통신</a:t>
                  </a:r>
                </a:p>
              </p:txBody>
            </p:sp>
            <p:sp>
              <p:nvSpPr>
                <p:cNvPr id="27" name="TextBox 27"/>
                <p:cNvSpPr txBox="1"/>
                <p:nvPr/>
              </p:nvSpPr>
              <p:spPr>
                <a:xfrm>
                  <a:off x="4688108" y="2076450"/>
                  <a:ext cx="510733"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로컬 API</a:t>
                  </a:r>
                </a:p>
              </p:txBody>
            </p:sp>
            <p:sp>
              <p:nvSpPr>
                <p:cNvPr id="28" name="TextBox 28"/>
                <p:cNvSpPr txBox="1"/>
                <p:nvPr/>
              </p:nvSpPr>
              <p:spPr>
                <a:xfrm>
                  <a:off x="6925110" y="2076450"/>
                  <a:ext cx="646830"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보안 Wi-Fi</a:t>
                  </a:r>
                </a:p>
              </p:txBody>
            </p:sp>
            <p:sp>
              <p:nvSpPr>
                <p:cNvPr id="29" name="TextBox 29"/>
                <p:cNvSpPr txBox="1"/>
                <p:nvPr/>
              </p:nvSpPr>
              <p:spPr>
                <a:xfrm>
                  <a:off x="9264978" y="2076450"/>
                  <a:ext cx="577195" cy="191643"/>
                </a:xfrm>
                <a:prstGeom prst="rect">
                  <a:avLst/>
                </a:prstGeom>
                <a:noFill/>
                <a:ln>
                  <a:noFill/>
                </a:ln>
              </p:spPr>
              <p:txBody>
                <a:bodyPr wrap="none" lIns="0" tIns="0" rIns="0" bIns="0" anchor="t" anchorCtr="0">
                  <a:spAutoFit/>
                </a:bodyPr>
                <a:lstStyle/>
                <a:p>
                  <a:pPr algn="ctr"/>
                  <a:r>
                    <a:rPr lang="ko-KR" sz="980" dirty="0">
                      <a:solidFill>
                        <a:srgbClr val="4B5563"/>
                      </a:solidFill>
                      <a:latin typeface="+mn-lt"/>
                      <a:ea typeface="+mn-ea"/>
                      <a:cs typeface="+mn-cs"/>
                    </a:rPr>
                    <a:t>작업 안내</a:t>
                  </a:r>
                </a:p>
              </p:txBody>
            </p:sp>
          </p:grpSp>
        </p:grpSp>
        <p:grpSp>
          <p:nvGrpSpPr>
            <p:cNvPr id="36" name="Group 36"/>
            <p:cNvGrpSpPr/>
            <p:nvPr/>
          </p:nvGrpSpPr>
          <p:grpSpPr>
            <a:xfrm>
              <a:off x="2466975" y="1704975"/>
              <a:ext cx="7258050" cy="1"/>
              <a:chOff x="2466975" y="1704975"/>
              <a:chExt cx="7258050" cy="1"/>
            </a:xfrm>
          </p:grpSpPr>
          <p:sp>
            <p:nvSpPr>
              <p:cNvPr id="32" name="Line 32"/>
              <p:cNvSpPr/>
              <p:nvPr/>
            </p:nvSpPr>
            <p:spPr>
              <a:xfrm>
                <a:off x="2466975" y="1704975"/>
                <a:ext cx="342900" cy="1"/>
              </a:xfrm>
              <a:prstGeom prst="line">
                <a:avLst/>
              </a:prstGeom>
              <a:noFill/>
              <a:ln w="19050">
                <a:solidFill>
                  <a:srgbClr val="0B1E3C"/>
                </a:solidFill>
                <a:headEnd type="triangle" w="lg" len="lg"/>
                <a:tailEnd type="triangle" w="lg" len="lg"/>
              </a:ln>
            </p:spPr>
          </p:sp>
          <p:sp>
            <p:nvSpPr>
              <p:cNvPr id="33" name="Line 33"/>
              <p:cNvSpPr/>
              <p:nvPr/>
            </p:nvSpPr>
            <p:spPr>
              <a:xfrm>
                <a:off x="4772025" y="1704975"/>
                <a:ext cx="342900" cy="1"/>
              </a:xfrm>
              <a:prstGeom prst="line">
                <a:avLst/>
              </a:prstGeom>
              <a:noFill/>
              <a:ln w="19050">
                <a:solidFill>
                  <a:srgbClr val="0B1E3C"/>
                </a:solidFill>
                <a:headEnd type="triangle" w="lg" len="lg"/>
                <a:tailEnd type="triangle" w="lg" len="lg"/>
              </a:ln>
            </p:spPr>
          </p:sp>
          <p:sp>
            <p:nvSpPr>
              <p:cNvPr id="34" name="Line 34"/>
              <p:cNvSpPr/>
              <p:nvPr/>
            </p:nvSpPr>
            <p:spPr>
              <a:xfrm>
                <a:off x="7077075" y="1704975"/>
                <a:ext cx="342900" cy="1"/>
              </a:xfrm>
              <a:prstGeom prst="line">
                <a:avLst/>
              </a:prstGeom>
              <a:noFill/>
              <a:ln w="19050">
                <a:solidFill>
                  <a:srgbClr val="0B1E3C"/>
                </a:solidFill>
                <a:headEnd type="triangle" w="lg" len="lg"/>
                <a:tailEnd type="triangle" w="lg" len="lg"/>
              </a:ln>
            </p:spPr>
          </p:sp>
          <p:sp>
            <p:nvSpPr>
              <p:cNvPr id="35" name="Line 35"/>
              <p:cNvSpPr/>
              <p:nvPr/>
            </p:nvSpPr>
            <p:spPr>
              <a:xfrm>
                <a:off x="9382125" y="1704975"/>
                <a:ext cx="342900" cy="1"/>
              </a:xfrm>
              <a:prstGeom prst="line">
                <a:avLst/>
              </a:prstGeom>
              <a:noFill/>
              <a:ln w="19050">
                <a:solidFill>
                  <a:srgbClr val="0B1E3C"/>
                </a:solidFill>
                <a:headEnd type="triangle" w="lg" len="lg"/>
                <a:tailEnd type="triangle" w="lg" len="lg"/>
              </a:ln>
            </p:spPr>
          </p:sp>
        </p:grpSp>
      </p:grpSp>
      <p:grpSp>
        <p:nvGrpSpPr>
          <p:cNvPr id="43" name="cabin-panel"/>
          <p:cNvGrpSpPr/>
          <p:nvPr/>
        </p:nvGrpSpPr>
        <p:grpSpPr>
          <a:xfrm>
            <a:off x="526542" y="2381250"/>
            <a:ext cx="5302758" cy="3739896"/>
            <a:chOff x="526542" y="2381250"/>
            <a:chExt cx="5302758" cy="3739896"/>
          </a:xfrm>
        </p:grpSpPr>
        <p:pic>
          <p:nvPicPr>
            <p:cNvPr id="38" name="Image 38"/>
            <p:cNvPicPr>
              <a:picLocks noChangeAspect="1"/>
            </p:cNvPicPr>
            <p:nvPr/>
          </p:nvPicPr>
          <p:blipFill>
            <a:blip r:embed="rId2"/>
            <a:srcRect l="12" t="0" r="11" b="0"/>
            <a:stretch>
              <a:fillRect/>
            </a:stretch>
          </p:blipFill>
          <p:spPr>
            <a:xfrm>
              <a:off x="533400" y="2381250"/>
              <a:ext cx="5295900" cy="3143250"/>
            </a:xfrm>
            <a:prstGeom prst="rect">
              <a:avLst/>
            </a:prstGeom>
          </p:spPr>
        </p:pic>
        <p:sp>
          <p:nvSpPr>
            <p:cNvPr id="39" name="Rectangle 39"/>
            <p:cNvSpPr/>
            <p:nvPr/>
          </p:nvSpPr>
          <p:spPr>
            <a:xfrm>
              <a:off x="628650" y="2476500"/>
              <a:ext cx="1314450" cy="228600"/>
            </a:xfrm>
            <a:prstGeom prst="roundRect">
              <a:avLst>
                <a:gd name="adj" fmla="val 12500"/>
              </a:avLst>
            </a:prstGeom>
            <a:solidFill>
              <a:srgbClr val="0B1E3C"/>
            </a:solidFill>
            <a:ln>
              <a:noFill/>
            </a:ln>
          </p:spPr>
        </p:sp>
        <p:sp>
          <p:nvSpPr>
            <p:cNvPr id="40" name="TextBox 40"/>
            <p:cNvSpPr txBox="1"/>
            <p:nvPr/>
          </p:nvSpPr>
          <p:spPr>
            <a:xfrm>
              <a:off x="680651" y="2524125"/>
              <a:ext cx="1210447"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[화면 예시] 운행 전</a:t>
              </a:r>
            </a:p>
          </p:txBody>
        </p:sp>
        <p:sp>
          <p:nvSpPr>
            <p:cNvPr id="41" name="TextBox 41"/>
            <p:cNvSpPr txBox="1"/>
            <p:nvPr/>
          </p:nvSpPr>
          <p:spPr>
            <a:xfrm>
              <a:off x="526542" y="5626100"/>
              <a:ext cx="2870330"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운전석 · GroundWatch Patrol 앱</a:t>
              </a:r>
            </a:p>
          </p:txBody>
        </p:sp>
        <p:sp>
          <p:nvSpPr>
            <p:cNvPr id="42" name="TextBox 42"/>
            <p:cNvSpPr txBox="1"/>
            <p:nvPr/>
          </p:nvSpPr>
          <p:spPr>
            <a:xfrm>
              <a:off x="527304" y="5886450"/>
              <a:ext cx="454350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순찰경로·재확인 지점·장비 상태, 도착 전 안전 정차 위치 안내</a:t>
              </a:r>
            </a:p>
          </p:txBody>
        </p:sp>
      </p:grpSp>
      <p:grpSp>
        <p:nvGrpSpPr>
          <p:cNvPr id="64" name="ar-panel"/>
          <p:cNvGrpSpPr/>
          <p:nvPr/>
        </p:nvGrpSpPr>
        <p:grpSpPr>
          <a:xfrm>
            <a:off x="6089142" y="2381250"/>
            <a:ext cx="5569458" cy="3739896"/>
            <a:chOff x="6089142" y="2381250"/>
            <a:chExt cx="5569458" cy="3739896"/>
          </a:xfrm>
        </p:grpSpPr>
        <p:pic>
          <p:nvPicPr>
            <p:cNvPr id="44" name="Image 44"/>
            <p:cNvPicPr>
              <a:picLocks noChangeAspect="1"/>
            </p:cNvPicPr>
            <p:nvPr/>
          </p:nvPicPr>
          <p:blipFill>
            <a:blip r:embed="rId3"/>
            <a:srcRect l="0" t="7620" r="0" b="7620"/>
            <a:stretch>
              <a:fillRect/>
            </a:stretch>
          </p:blipFill>
          <p:spPr>
            <a:xfrm>
              <a:off x="6096000" y="2381250"/>
              <a:ext cx="5562600" cy="3143250"/>
            </a:xfrm>
            <a:prstGeom prst="rect">
              <a:avLst/>
            </a:prstGeom>
          </p:spPr>
        </p:pic>
        <p:sp>
          <p:nvSpPr>
            <p:cNvPr id="45" name="Polygon 45"/>
            <p:cNvSpPr/>
            <p:nvPr/>
          </p:nvSpPr>
          <p:spPr>
            <a:xfrm>
              <a:off x="8096250" y="4171950"/>
              <a:ext cx="1895475" cy="666750"/>
            </a:xfrm>
            <a:custGeom>
              <a:avLst/>
              <a:gdLst/>
              <a:ahLst/>
              <a:cxnLst/>
              <a:rect l="l" t="t" r="r" b="b"/>
              <a:pathLst>
                <a:path w="1895475" h="666750">
                  <a:moveTo>
                    <a:pt x="561975" y="0"/>
                  </a:moveTo>
                  <a:lnTo>
                    <a:pt x="1333500" y="0"/>
                  </a:lnTo>
                  <a:lnTo>
                    <a:pt x="1895475" y="666750"/>
                  </a:lnTo>
                  <a:lnTo>
                    <a:pt x="0" y="666750"/>
                  </a:lnTo>
                  <a:close/>
                </a:path>
              </a:pathLst>
            </a:custGeom>
            <a:solidFill>
              <a:srgbClr val="F5B700">
                <a:alpha val="26000"/>
              </a:srgbClr>
            </a:solidFill>
            <a:ln w="23812">
              <a:solidFill>
                <a:srgbClr val="F5B700"/>
              </a:solidFill>
            </a:ln>
          </p:spPr>
        </p:sp>
        <p:grpSp>
          <p:nvGrpSpPr>
            <p:cNvPr id="49" name="Group 49"/>
            <p:cNvGrpSpPr/>
            <p:nvPr/>
          </p:nvGrpSpPr>
          <p:grpSpPr>
            <a:xfrm>
              <a:off x="8229600" y="4343400"/>
              <a:ext cx="1628775" cy="352425"/>
              <a:chOff x="8229600" y="4343400"/>
              <a:chExt cx="1628775" cy="352425"/>
            </a:xfrm>
          </p:grpSpPr>
          <p:sp>
            <p:nvSpPr>
              <p:cNvPr id="46" name="Line 46"/>
              <p:cNvSpPr/>
              <p:nvPr/>
            </p:nvSpPr>
            <p:spPr>
              <a:xfrm>
                <a:off x="8515350" y="4343400"/>
                <a:ext cx="1057275" cy="9525"/>
              </a:xfrm>
              <a:custGeom>
                <a:avLst/>
                <a:gdLst/>
                <a:ahLst/>
                <a:cxnLst/>
                <a:rect l="l" t="t" r="r" b="b"/>
                <a:pathLst>
                  <a:path w="1057275" h="9525">
                    <a:moveTo>
                      <a:pt x="0" y="0"/>
                    </a:moveTo>
                    <a:lnTo>
                      <a:pt x="1057275" y="0"/>
                    </a:lnTo>
                  </a:path>
                </a:pathLst>
              </a:custGeom>
              <a:noFill/>
              <a:ln w="14288">
                <a:solidFill>
                  <a:srgbClr val="F5B700"/>
                </a:solidFill>
                <a:custDash>
                  <a:ds d="400000" sp="266667"/>
                </a:custDash>
              </a:ln>
            </p:spPr>
          </p:sp>
          <p:sp>
            <p:nvSpPr>
              <p:cNvPr id="47" name="Line 47"/>
              <p:cNvSpPr/>
              <p:nvPr/>
            </p:nvSpPr>
            <p:spPr>
              <a:xfrm>
                <a:off x="8372475" y="4514850"/>
                <a:ext cx="1343025" cy="9525"/>
              </a:xfrm>
              <a:custGeom>
                <a:avLst/>
                <a:gdLst/>
                <a:ahLst/>
                <a:cxnLst/>
                <a:rect l="l" t="t" r="r" b="b"/>
                <a:pathLst>
                  <a:path w="1343025" h="9525">
                    <a:moveTo>
                      <a:pt x="0" y="0"/>
                    </a:moveTo>
                    <a:lnTo>
                      <a:pt x="1343025" y="0"/>
                    </a:lnTo>
                  </a:path>
                </a:pathLst>
              </a:custGeom>
              <a:noFill/>
              <a:ln w="14288">
                <a:solidFill>
                  <a:srgbClr val="F5B700"/>
                </a:solidFill>
                <a:custDash>
                  <a:ds d="400000" sp="266667"/>
                </a:custDash>
              </a:ln>
            </p:spPr>
          </p:sp>
          <p:sp>
            <p:nvSpPr>
              <p:cNvPr id="48" name="Line 48"/>
              <p:cNvSpPr/>
              <p:nvPr/>
            </p:nvSpPr>
            <p:spPr>
              <a:xfrm>
                <a:off x="8229600" y="4686300"/>
                <a:ext cx="1628775" cy="9525"/>
              </a:xfrm>
              <a:custGeom>
                <a:avLst/>
                <a:gdLst/>
                <a:ahLst/>
                <a:cxnLst/>
                <a:rect l="l" t="t" r="r" b="b"/>
                <a:pathLst>
                  <a:path w="1628775" h="9525">
                    <a:moveTo>
                      <a:pt x="0" y="0"/>
                    </a:moveTo>
                    <a:lnTo>
                      <a:pt x="1628775" y="0"/>
                    </a:lnTo>
                  </a:path>
                </a:pathLst>
              </a:custGeom>
              <a:noFill/>
              <a:ln w="14288">
                <a:solidFill>
                  <a:srgbClr val="F5B700"/>
                </a:solidFill>
                <a:custDash>
                  <a:ds d="400000" sp="266667"/>
                </a:custDash>
              </a:ln>
            </p:spPr>
          </p:sp>
        </p:grpSp>
        <p:sp>
          <p:nvSpPr>
            <p:cNvPr id="50" name="Ellipse 50"/>
            <p:cNvSpPr/>
            <p:nvPr/>
          </p:nvSpPr>
          <p:spPr>
            <a:xfrm>
              <a:off x="7943850" y="4933950"/>
              <a:ext cx="1866900" cy="628650"/>
            </a:xfrm>
            <a:prstGeom prst="ellipse">
              <a:avLst/>
            </a:prstGeom>
            <a:noFill/>
            <a:ln w="23812">
              <a:solidFill>
                <a:srgbClr val="FFFFFF"/>
              </a:solidFill>
            </a:ln>
          </p:spPr>
        </p:sp>
        <p:sp>
          <p:nvSpPr>
            <p:cNvPr id="51" name="Rectangle 51"/>
            <p:cNvSpPr/>
            <p:nvPr/>
          </p:nvSpPr>
          <p:spPr>
            <a:xfrm>
              <a:off x="9906000" y="5086350"/>
              <a:ext cx="1066800" cy="209550"/>
            </a:xfrm>
            <a:prstGeom prst="roundRect">
              <a:avLst>
                <a:gd name="adj" fmla="val 13636"/>
              </a:avLst>
            </a:prstGeom>
            <a:solidFill>
              <a:srgbClr val="0B1E3C">
                <a:alpha val="85000"/>
              </a:srgbClr>
            </a:solidFill>
            <a:ln>
              <a:noFill/>
            </a:ln>
          </p:spPr>
        </p:sp>
        <p:sp>
          <p:nvSpPr>
            <p:cNvPr id="52" name="TextBox 52"/>
            <p:cNvSpPr txBox="1"/>
            <p:nvPr/>
          </p:nvSpPr>
          <p:spPr>
            <a:xfrm>
              <a:off x="10004527" y="5124450"/>
              <a:ext cx="869747"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1 · 맨홀</a:t>
              </a:r>
            </a:p>
          </p:txBody>
        </p:sp>
        <p:sp>
          <p:nvSpPr>
            <p:cNvPr id="53" name="Ellipse 53"/>
            <p:cNvSpPr/>
            <p:nvPr/>
          </p:nvSpPr>
          <p:spPr>
            <a:xfrm>
              <a:off x="7267575" y="4705350"/>
              <a:ext cx="133350" cy="133350"/>
            </a:xfrm>
            <a:prstGeom prst="ellipse">
              <a:avLst/>
            </a:prstGeom>
            <a:noFill/>
            <a:ln w="23812">
              <a:solidFill>
                <a:srgbClr val="FFFFFF"/>
              </a:solidFill>
            </a:ln>
          </p:spPr>
        </p:sp>
        <p:sp>
          <p:nvSpPr>
            <p:cNvPr id="54" name="Rectangle 54"/>
            <p:cNvSpPr/>
            <p:nvPr/>
          </p:nvSpPr>
          <p:spPr>
            <a:xfrm>
              <a:off x="6286500" y="4362450"/>
              <a:ext cx="1181100" cy="209550"/>
            </a:xfrm>
            <a:prstGeom prst="roundRect">
              <a:avLst>
                <a:gd name="adj" fmla="val 13636"/>
              </a:avLst>
            </a:prstGeom>
            <a:solidFill>
              <a:srgbClr val="0B1E3C">
                <a:alpha val="85000"/>
              </a:srgbClr>
            </a:solidFill>
            <a:ln>
              <a:noFill/>
            </a:ln>
          </p:spPr>
        </p:sp>
        <p:sp>
          <p:nvSpPr>
            <p:cNvPr id="55" name="TextBox 55"/>
            <p:cNvSpPr txBox="1"/>
            <p:nvPr/>
          </p:nvSpPr>
          <p:spPr>
            <a:xfrm>
              <a:off x="6381598" y="4400550"/>
              <a:ext cx="99090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2 · 경계석</a:t>
              </a:r>
            </a:p>
          </p:txBody>
        </p:sp>
        <p:sp>
          <p:nvSpPr>
            <p:cNvPr id="56" name="Rectangle 56"/>
            <p:cNvSpPr/>
            <p:nvPr/>
          </p:nvSpPr>
          <p:spPr>
            <a:xfrm>
              <a:off x="6096000" y="2381250"/>
              <a:ext cx="5562600" cy="228600"/>
            </a:xfrm>
            <a:prstGeom prst="rect">
              <a:avLst/>
            </a:prstGeom>
            <a:solidFill>
              <a:srgbClr val="C62828">
                <a:alpha val="92000"/>
              </a:srgbClr>
            </a:solidFill>
            <a:ln>
              <a:noFill/>
            </a:ln>
          </p:spPr>
        </p:sp>
        <p:sp>
          <p:nvSpPr>
            <p:cNvPr id="57" name="TextBox 57"/>
            <p:cNvSpPr txBox="1"/>
            <p:nvPr/>
          </p:nvSpPr>
          <p:spPr>
            <a:xfrm>
              <a:off x="6762062" y="2428875"/>
              <a:ext cx="423047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GPR 기반 추정 위치입니다. 굴착 전 정밀조사와 관계기관 승인이 필요합니다.</a:t>
              </a:r>
            </a:p>
          </p:txBody>
        </p:sp>
        <p:sp>
          <p:nvSpPr>
            <p:cNvPr id="58" name="Rectangle 58"/>
            <p:cNvSpPr/>
            <p:nvPr/>
          </p:nvSpPr>
          <p:spPr>
            <a:xfrm>
              <a:off x="6248400" y="2724150"/>
              <a:ext cx="2571750" cy="685800"/>
            </a:xfrm>
            <a:prstGeom prst="roundRect">
              <a:avLst>
                <a:gd name="adj" fmla="val 8333"/>
              </a:avLst>
            </a:prstGeom>
            <a:solidFill>
              <a:srgbClr val="0B1E3C">
                <a:alpha val="85000"/>
              </a:srgbClr>
            </a:solidFill>
            <a:ln>
              <a:noFill/>
            </a:ln>
          </p:spPr>
        </p:sp>
        <p:sp>
          <p:nvSpPr>
            <p:cNvPr id="59" name="TextBox 59"/>
            <p:cNvSpPr txBox="1"/>
            <p:nvPr/>
          </p:nvSpPr>
          <p:spPr>
            <a:xfrm>
              <a:off x="6395085" y="2813050"/>
              <a:ext cx="226510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재확인 R-0427 · 재탐사 3 / 4회</a:t>
              </a:r>
            </a:p>
          </p:txBody>
        </p:sp>
        <p:sp>
          <p:nvSpPr>
            <p:cNvPr id="60" name="TextBox 60"/>
            <p:cNvSpPr txBox="1"/>
            <p:nvPr/>
          </p:nvSpPr>
          <p:spPr>
            <a:xfrm>
              <a:off x="6395847" y="3038475"/>
              <a:ext cx="2242345" cy="191643"/>
            </a:xfrm>
            <a:prstGeom prst="rect">
              <a:avLst/>
            </a:prstGeom>
            <a:noFill/>
            <a:ln>
              <a:noFill/>
            </a:ln>
          </p:spPr>
          <p:txBody>
            <a:bodyPr wrap="none" lIns="0" tIns="0" rIns="0" bIns="0" anchor="t" anchorCtr="0">
              <a:spAutoFit/>
            </a:bodyPr>
            <a:lstStyle/>
            <a:p>
              <a:pPr algn="l"/>
              <a:r>
                <a:rPr lang="ko-KR" sz="980" dirty="0">
                  <a:solidFill>
                    <a:srgbClr val="E5E9F0"/>
                  </a:solidFill>
                  <a:latin typeface="+mn-lt"/>
                  <a:ea typeface="+mn-ea"/>
                  <a:cs typeface="+mn-cs"/>
                </a:rPr>
                <a:t>추정 깊이 0.9~1.3m · AI 신뢰도 84%</a:t>
              </a:r>
            </a:p>
          </p:txBody>
        </p:sp>
        <p:sp>
          <p:nvSpPr>
            <p:cNvPr id="61" name="TextBox 61"/>
            <p:cNvSpPr txBox="1"/>
            <p:nvPr/>
          </p:nvSpPr>
          <p:spPr>
            <a:xfrm>
              <a:off x="6396038" y="3209925"/>
              <a:ext cx="2559901" cy="176212"/>
            </a:xfrm>
            <a:prstGeom prst="rect">
              <a:avLst/>
            </a:prstGeom>
            <a:noFill/>
            <a:ln>
              <a:noFill/>
            </a:ln>
          </p:spPr>
          <p:txBody>
            <a:bodyPr wrap="none" lIns="0" tIns="0" rIns="0" bIns="0" anchor="t" anchorCtr="0">
              <a:spAutoFit/>
            </a:bodyPr>
            <a:lstStyle/>
            <a:p>
              <a:pPr algn="l"/>
              <a:r>
                <a:rPr lang="ko-KR" sz="900" dirty="0">
                  <a:solidFill>
                    <a:srgbClr val="C9D3E2"/>
                  </a:solidFill>
                  <a:latin typeface="+mn-lt"/>
                  <a:ea typeface="+mn-ea"/>
                  <a:cs typeface="+mn-cs"/>
                </a:rPr>
                <a:t>[화면 예시] 전문가 승인 · 위치 오차 기준 충족</a:t>
              </a:r>
            </a:p>
          </p:txBody>
        </p:sp>
        <p:sp>
          <p:nvSpPr>
            <p:cNvPr id="62" name="TextBox 62"/>
            <p:cNvSpPr txBox="1"/>
            <p:nvPr/>
          </p:nvSpPr>
          <p:spPr>
            <a:xfrm>
              <a:off x="6089142" y="5626100"/>
              <a:ext cx="392261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차량 밖 · 산업용 AR 글래스 (정차 후 작업자만)</a:t>
              </a:r>
            </a:p>
          </p:txBody>
        </p:sp>
        <p:sp>
          <p:nvSpPr>
            <p:cNvPr id="63" name="TextBox 63"/>
            <p:cNvSpPr txBox="1"/>
            <p:nvPr/>
          </p:nvSpPr>
          <p:spPr>
            <a:xfrm>
              <a:off x="6089904" y="5886450"/>
              <a:ext cx="4286707"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두 손으로 수동 GPR을 미는 동안 재탐사 범위를 눈앞에 표시</a:t>
              </a:r>
            </a:p>
          </p:txBody>
        </p:sp>
      </p:grpSp>
      <p:grpSp>
        <p:nvGrpSpPr>
          <p:cNvPr id="67" name="source"/>
          <p:cNvGrpSpPr/>
          <p:nvPr/>
        </p:nvGrpSpPr>
        <p:grpSpPr>
          <a:xfrm>
            <a:off x="528447" y="6210300"/>
            <a:ext cx="9751306" cy="366712"/>
            <a:chOff x="528447" y="6210300"/>
            <a:chExt cx="9751306" cy="366712"/>
          </a:xfrm>
        </p:grpSpPr>
        <p:sp>
          <p:nvSpPr>
            <p:cNvPr id="65" name="TextBox 65"/>
            <p:cNvSpPr txBox="1"/>
            <p:nvPr/>
          </p:nvSpPr>
          <p:spPr>
            <a:xfrm>
              <a:off x="528447" y="6210300"/>
              <a:ext cx="7577435" cy="191643"/>
            </a:xfrm>
            <a:prstGeom prst="rect">
              <a:avLst/>
            </a:prstGeom>
            <a:noFill/>
            <a:ln>
              <a:noFill/>
            </a:ln>
          </p:spPr>
          <p:txBody>
            <a:bodyPr wrap="none" lIns="0" tIns="0" rIns="0" bIns="0" anchor="t" anchorCtr="0">
              <a:spAutoFit/>
            </a:bodyPr>
            <a:lstStyle/>
            <a:p>
              <a:pPr algn="l"/>
              <a:r>
                <a:rPr lang="ko-KR" sz="980" b="1" dirty="0">
                  <a:solidFill>
                    <a:srgbClr val="0B1E3C"/>
                  </a:solidFill>
                  <a:latin typeface="+mn-lt"/>
                  <a:ea typeface="+mn-ea"/>
                  <a:cs typeface="+mn-cs"/>
                </a:rPr>
                <a:t>운용 원칙</a:t>
              </a:r>
              <a:r>
                <a:rPr lang="ko-KR" sz="980" dirty="0">
                  <a:solidFill>
                    <a:srgbClr val="111827"/>
                  </a:solidFill>
                  <a:latin typeface="+mn-lt"/>
                  <a:ea typeface="+mn-ea"/>
                  <a:cs typeface="+mn-cs"/>
                </a:rPr>
                <a:t xml:space="preserve"> 2인 1조(운전·안전통제 / 탐사·판독) · 운전자는 주행 중 AR 미사용 · 기준점 2~3개로 위치 정합 · 재탐사 범위만 안내</a:t>
              </a:r>
            </a:p>
          </p:txBody>
        </p:sp>
        <p:sp>
          <p:nvSpPr>
            <p:cNvPr id="66" name="TextBox 66"/>
            <p:cNvSpPr txBox="1"/>
            <p:nvPr/>
          </p:nvSpPr>
          <p:spPr>
            <a:xfrm>
              <a:off x="528638" y="6400800"/>
              <a:ext cx="9751115"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앱 배포·차량 데이터 접근은 기아 PBV 파트너 승인·공식 API 범위 확인 필요 · 도로 장면은 연출 이미지 · 화면 수치는 예시 · 실내 사진: Alexander Migl, CC BY-SA 4.0(화면 합성)</a:t>
              </a:r>
            </a:p>
          </p:txBody>
        </p:sp>
      </p:grpSp>
      <p:grpSp>
        <p:nvGrpSpPr>
          <p:cNvPr id="70" name="footer"/>
          <p:cNvGrpSpPr/>
          <p:nvPr/>
        </p:nvGrpSpPr>
        <p:grpSpPr>
          <a:xfrm>
            <a:off x="528638" y="6629400"/>
            <a:ext cx="11134724" cy="176212"/>
            <a:chOff x="528638" y="6629400"/>
            <a:chExt cx="11134724" cy="176212"/>
          </a:xfrm>
        </p:grpSpPr>
        <p:sp>
          <p:nvSpPr>
            <p:cNvPr id="68" name="TextBox 68"/>
            <p:cNvSpPr txBox="1"/>
            <p:nvPr/>
          </p:nvSpPr>
          <p:spPr>
            <a:xfrm>
              <a:off x="528638" y="662940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9" name="TextBox 69"/>
            <p:cNvSpPr txBox="1"/>
            <p:nvPr/>
          </p:nvSpPr>
          <p:spPr>
            <a:xfrm>
              <a:off x="11247958" y="662940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08 / 16</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590550" cy="228600"/>
            </a:xfrm>
            <a:prstGeom prst="rect">
              <a:avLst/>
            </a:prstGeom>
            <a:solidFill>
              <a:srgbClr val="F5B700"/>
            </a:solidFill>
            <a:ln>
              <a:noFill/>
            </a:ln>
          </p:spPr>
        </p:sp>
        <p:sp>
          <p:nvSpPr>
            <p:cNvPr id="5" name="TextBox 5"/>
            <p:cNvSpPr txBox="1"/>
            <p:nvPr/>
          </p:nvSpPr>
          <p:spPr>
            <a:xfrm>
              <a:off x="1948552" y="314325"/>
              <a:ext cx="427245"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왜 PV5</a:t>
              </a:r>
            </a:p>
          </p:txBody>
        </p:sp>
        <p:sp>
          <p:nvSpPr>
            <p:cNvPr id="6" name="TextBox 6"/>
            <p:cNvSpPr txBox="1"/>
            <p:nvPr/>
          </p:nvSpPr>
          <p:spPr>
            <a:xfrm>
              <a:off x="2566416" y="301625"/>
              <a:ext cx="206025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그룹 전기 상용차 중 용도별 위치</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7443974" cy="557403"/>
            <a:chOff x="518922" y="781050"/>
            <a:chExt cx="7443974" cy="557403"/>
          </a:xfrm>
        </p:grpSpPr>
        <p:sp>
          <p:nvSpPr>
            <p:cNvPr id="9" name="TextBox 9"/>
            <p:cNvSpPr txBox="1"/>
            <p:nvPr/>
          </p:nvSpPr>
          <p:spPr>
            <a:xfrm>
              <a:off x="518922" y="781050"/>
              <a:ext cx="7443974"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GPR 탐사실이라는 용도에는 PV5가 맞습니다</a:t>
              </a:r>
            </a:p>
          </p:txBody>
        </p:sp>
      </p:grpSp>
      <p:grpSp>
        <p:nvGrpSpPr>
          <p:cNvPr id="12" name="lead"/>
          <p:cNvGrpSpPr/>
          <p:nvPr/>
        </p:nvGrpSpPr>
        <p:grpSpPr>
          <a:xfrm>
            <a:off x="526542" y="1339850"/>
            <a:ext cx="9427693" cy="264033"/>
            <a:chOff x="526542" y="1339850"/>
            <a:chExt cx="9427693" cy="264033"/>
          </a:xfrm>
        </p:grpSpPr>
        <p:sp>
          <p:nvSpPr>
            <p:cNvPr id="11" name="TextBox 11"/>
            <p:cNvSpPr txBox="1"/>
            <p:nvPr/>
          </p:nvSpPr>
          <p:spPr>
            <a:xfrm>
              <a:off x="526542" y="1339850"/>
              <a:ext cx="9427693"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그룹 전기 상용차는 용도가 나뉘어 있습니다. 탐사·판독·재검증을 한 차에서 하려면 무엇이 필요한지로 골랐습니다.</a:t>
              </a:r>
            </a:p>
          </p:txBody>
        </p:sp>
      </p:grpSp>
      <p:grpSp>
        <p:nvGrpSpPr>
          <p:cNvPr id="45" name="compare"/>
          <p:cNvGrpSpPr/>
          <p:nvPr/>
        </p:nvGrpSpPr>
        <p:grpSpPr>
          <a:xfrm>
            <a:off x="527685" y="1733550"/>
            <a:ext cx="11130915" cy="2362200"/>
            <a:chOff x="527685" y="1733550"/>
            <a:chExt cx="11130915" cy="2362200"/>
          </a:xfrm>
        </p:grpSpPr>
        <p:sp>
          <p:nvSpPr>
            <p:cNvPr id="13" name="Rectangle 13"/>
            <p:cNvSpPr/>
            <p:nvPr/>
          </p:nvSpPr>
          <p:spPr>
            <a:xfrm>
              <a:off x="2057400" y="1733550"/>
              <a:ext cx="2400300" cy="2362200"/>
            </a:xfrm>
            <a:prstGeom prst="rect">
              <a:avLst/>
            </a:prstGeom>
            <a:solidFill>
              <a:srgbClr val="FFF6D6"/>
            </a:solidFill>
            <a:ln>
              <a:noFill/>
            </a:ln>
          </p:spPr>
        </p:sp>
        <p:sp>
          <p:nvSpPr>
            <p:cNvPr id="14" name="Rectangle 14"/>
            <p:cNvSpPr/>
            <p:nvPr/>
          </p:nvSpPr>
          <p:spPr>
            <a:xfrm>
              <a:off x="2057400" y="1733550"/>
              <a:ext cx="2400300" cy="38100"/>
            </a:xfrm>
            <a:prstGeom prst="rect">
              <a:avLst/>
            </a:prstGeom>
            <a:solidFill>
              <a:srgbClr val="F5B700"/>
            </a:solidFill>
            <a:ln>
              <a:noFill/>
            </a:ln>
          </p:spPr>
        </p:sp>
        <p:grpSp>
          <p:nvGrpSpPr>
            <p:cNvPr id="19" name="Group 19"/>
            <p:cNvGrpSpPr/>
            <p:nvPr/>
          </p:nvGrpSpPr>
          <p:grpSpPr>
            <a:xfrm>
              <a:off x="2203323" y="1885950"/>
              <a:ext cx="8562647" cy="250317"/>
              <a:chOff x="2203323" y="1885950"/>
              <a:chExt cx="8562647" cy="250317"/>
            </a:xfrm>
          </p:grpSpPr>
          <p:sp>
            <p:nvSpPr>
              <p:cNvPr id="15" name="TextBox 15"/>
              <p:cNvSpPr txBox="1"/>
              <p:nvPr/>
            </p:nvSpPr>
            <p:spPr>
              <a:xfrm>
                <a:off x="2203323" y="1885950"/>
                <a:ext cx="1132342"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기아 PV5 카고</a:t>
                </a:r>
              </a:p>
            </p:txBody>
          </p:sp>
          <p:sp>
            <p:nvSpPr>
              <p:cNvPr id="16" name="TextBox 16"/>
              <p:cNvSpPr txBox="1"/>
              <p:nvPr/>
            </p:nvSpPr>
            <p:spPr>
              <a:xfrm>
                <a:off x="4603623" y="1885950"/>
                <a:ext cx="1844648"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스타리아 일렉트릭 카고</a:t>
                </a:r>
              </a:p>
            </p:txBody>
          </p:sp>
          <p:sp>
            <p:nvSpPr>
              <p:cNvPr id="17" name="TextBox 17"/>
              <p:cNvSpPr txBox="1"/>
              <p:nvPr/>
            </p:nvSpPr>
            <p:spPr>
              <a:xfrm>
                <a:off x="7003923" y="1885950"/>
                <a:ext cx="1132342"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현대 ST1 카고</a:t>
                </a:r>
              </a:p>
            </p:txBody>
          </p:sp>
          <p:sp>
            <p:nvSpPr>
              <p:cNvPr id="18" name="TextBox 18"/>
              <p:cNvSpPr txBox="1"/>
              <p:nvPr/>
            </p:nvSpPr>
            <p:spPr>
              <a:xfrm>
                <a:off x="9404223" y="1885950"/>
                <a:ext cx="1361747" cy="250317"/>
              </a:xfrm>
              <a:prstGeom prst="rect">
                <a:avLst/>
              </a:prstGeom>
              <a:noFill/>
              <a:ln>
                <a:noFill/>
              </a:ln>
            </p:spPr>
            <p:txBody>
              <a:bodyPr wrap="none" lIns="0" tIns="0" rIns="0" bIns="0" anchor="t" anchorCtr="0">
                <a:spAutoFit/>
              </a:bodyPr>
              <a:lstStyle/>
              <a:p>
                <a:pPr algn="l"/>
                <a:r>
                  <a:rPr lang="ko-KR" sz="1280" b="1" dirty="0">
                    <a:solidFill>
                      <a:srgbClr val="374151"/>
                    </a:solidFill>
                    <a:latin typeface="+mn-lt"/>
                    <a:ea typeface="+mn-ea"/>
                    <a:cs typeface="+mn-cs"/>
                  </a:rPr>
                  <a:t>포터II·봉고III EV</a:t>
                </a:r>
              </a:p>
            </p:txBody>
          </p:sp>
        </p:grpSp>
        <p:grpSp>
          <p:nvGrpSpPr>
            <p:cNvPr id="24" name="Group 24"/>
            <p:cNvGrpSpPr/>
            <p:nvPr/>
          </p:nvGrpSpPr>
          <p:grpSpPr>
            <a:xfrm>
              <a:off x="2204466" y="2120900"/>
              <a:ext cx="7882985" cy="205359"/>
              <a:chOff x="2204466" y="2120900"/>
              <a:chExt cx="7882985" cy="205359"/>
            </a:xfrm>
          </p:grpSpPr>
          <p:sp>
            <p:nvSpPr>
              <p:cNvPr id="20" name="TextBox 20"/>
              <p:cNvSpPr txBox="1"/>
              <p:nvPr/>
            </p:nvSpPr>
            <p:spPr>
              <a:xfrm>
                <a:off x="2204466" y="2120900"/>
                <a:ext cx="87997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롱 · 롱레인지</a:t>
                </a:r>
              </a:p>
            </p:txBody>
          </p:sp>
          <p:sp>
            <p:nvSpPr>
              <p:cNvPr id="21" name="TextBox 21"/>
              <p:cNvSpPr txBox="1"/>
              <p:nvPr/>
            </p:nvSpPr>
            <p:spPr>
              <a:xfrm>
                <a:off x="4604766" y="2120900"/>
                <a:ext cx="37111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3인승</a:t>
                </a:r>
              </a:p>
            </p:txBody>
          </p:sp>
          <p:sp>
            <p:nvSpPr>
              <p:cNvPr id="22" name="TextBox 22"/>
              <p:cNvSpPr txBox="1"/>
              <p:nvPr/>
            </p:nvSpPr>
            <p:spPr>
              <a:xfrm>
                <a:off x="7005066" y="2120900"/>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카고 스타일</a:t>
                </a:r>
              </a:p>
            </p:txBody>
          </p:sp>
          <p:sp>
            <p:nvSpPr>
              <p:cNvPr id="23" name="TextBox 23"/>
              <p:cNvSpPr txBox="1"/>
              <p:nvPr/>
            </p:nvSpPr>
            <p:spPr>
              <a:xfrm>
                <a:off x="9405366" y="2120900"/>
                <a:ext cx="6820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2025년형~</a:t>
                </a:r>
              </a:p>
            </p:txBody>
          </p:sp>
        </p:grpSp>
        <p:sp>
          <p:nvSpPr>
            <p:cNvPr id="25" name="Line 25"/>
            <p:cNvSpPr/>
            <p:nvPr/>
          </p:nvSpPr>
          <p:spPr>
            <a:xfrm>
              <a:off x="533400" y="2381250"/>
              <a:ext cx="11125200" cy="9525"/>
            </a:xfrm>
            <a:custGeom>
              <a:avLst/>
              <a:gdLst/>
              <a:ahLst/>
              <a:cxnLst/>
              <a:rect l="l" t="t" r="r" b="b"/>
              <a:pathLst>
                <a:path w="11125200" h="9525">
                  <a:moveTo>
                    <a:pt x="0" y="0"/>
                  </a:moveTo>
                  <a:lnTo>
                    <a:pt x="11125200" y="0"/>
                  </a:lnTo>
                </a:path>
              </a:pathLst>
            </a:custGeom>
            <a:noFill/>
            <a:ln w="14288">
              <a:solidFill>
                <a:srgbClr val="0B1E3C"/>
              </a:solidFill>
            </a:ln>
          </p:spPr>
        </p:sp>
        <p:grpSp>
          <p:nvGrpSpPr>
            <p:cNvPr id="29" name="Group 29"/>
            <p:cNvGrpSpPr/>
            <p:nvPr/>
          </p:nvGrpSpPr>
          <p:grpSpPr>
            <a:xfrm>
              <a:off x="527685" y="2527300"/>
              <a:ext cx="662022" cy="1458278"/>
              <a:chOff x="527685" y="2527300"/>
              <a:chExt cx="662022" cy="1458278"/>
            </a:xfrm>
          </p:grpSpPr>
          <p:sp>
            <p:nvSpPr>
              <p:cNvPr id="26" name="TextBox 26"/>
              <p:cNvSpPr txBox="1"/>
              <p:nvPr/>
            </p:nvSpPr>
            <p:spPr>
              <a:xfrm>
                <a:off x="527685" y="2527300"/>
                <a:ext cx="6620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차체 성격</a:t>
                </a:r>
              </a:p>
            </p:txBody>
          </p:sp>
          <p:sp>
            <p:nvSpPr>
              <p:cNvPr id="27" name="TextBox 27"/>
              <p:cNvSpPr txBox="1"/>
              <p:nvPr/>
            </p:nvSpPr>
            <p:spPr>
              <a:xfrm>
                <a:off x="527685" y="3270250"/>
                <a:ext cx="6620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차량 가격</a:t>
                </a:r>
              </a:p>
            </p:txBody>
          </p:sp>
          <p:sp>
            <p:nvSpPr>
              <p:cNvPr id="28" name="TextBox 28"/>
              <p:cNvSpPr txBox="1"/>
              <p:nvPr/>
            </p:nvSpPr>
            <p:spPr>
              <a:xfrm>
                <a:off x="527685" y="3765550"/>
                <a:ext cx="598319"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1회 충전</a:t>
                </a:r>
              </a:p>
            </p:txBody>
          </p:sp>
        </p:grpSp>
        <p:grpSp>
          <p:nvGrpSpPr>
            <p:cNvPr id="44" name="Group 44"/>
            <p:cNvGrpSpPr/>
            <p:nvPr/>
          </p:nvGrpSpPr>
          <p:grpSpPr>
            <a:xfrm>
              <a:off x="533400" y="2495550"/>
              <a:ext cx="11125200" cy="1583944"/>
              <a:chOff x="533400" y="2495550"/>
              <a:chExt cx="11125200" cy="1583944"/>
            </a:xfrm>
          </p:grpSpPr>
          <p:sp>
            <p:nvSpPr>
              <p:cNvPr id="30" name="TextBox 30"/>
              <p:cNvSpPr txBox="1"/>
              <p:nvPr/>
            </p:nvSpPr>
            <p:spPr>
              <a:xfrm>
                <a:off x="2203704" y="2495550"/>
                <a:ext cx="1932432" cy="634746"/>
              </a:xfrm>
              <a:prstGeom prst="rect">
                <a:avLst/>
              </a:prstGeom>
              <a:noFill/>
              <a:ln>
                <a:noFill/>
              </a:ln>
            </p:spPr>
            <p:txBody>
              <a:bodyPr wrap="none" lIns="0" tIns="0" rIns="0" bIns="0" anchor="t" anchorCtr="0">
                <a:spAutoFit/>
              </a:bodyPr>
              <a:lstStyle/>
              <a:p>
                <a:pPr algn="l">
                  <a:lnSpc>
                    <a:spcPts val="1575"/>
                  </a:lnSpc>
                </a:pPr>
                <a:r>
                  <a:rPr lang="ko-KR" sz="1200" b="1" dirty="0">
                    <a:solidFill>
                      <a:srgbClr val="0B1E3C"/>
                    </a:solidFill>
                    <a:latin typeface="+mn-lt"/>
                    <a:ea typeface="+mn-ea"/>
                    <a:cs typeface="+mn-cs"/>
                  </a:rPr>
                  <a:t>컨버전 전제 소형 PBV</a:t>
                </a:r>
                <a:br>
                  <a:rPr lang="ko-KR" sz="1200" b="1" dirty="0">
                    <a:solidFill>
                      <a:srgbClr val="0B1E3C"/>
                    </a:solidFill>
                    <a:latin typeface="+mn-lt"/>
                    <a:ea typeface="+mn-ea"/>
                    <a:cs typeface="+mn-cs"/>
                  </a:rPr>
                </a:br>
                <a:r>
                  <a:rPr lang="ko-KR" sz="1200" dirty="0">
                    <a:solidFill>
                      <a:srgbClr val="374151"/>
                    </a:solidFill>
                    <a:latin typeface="+mn-lt"/>
                    <a:ea typeface="+mn-ea"/>
                    <a:cs typeface="+mn-cs"/>
                  </a:rPr>
                  <a:t>밀폐 카고룸 4,420L · V2L</a:t>
                </a:r>
                <a:br>
                  <a:rPr lang="ko-KR" sz="1200" dirty="0">
                    <a:solidFill>
                      <a:srgbClr val="374151"/>
                    </a:solidFill>
                    <a:latin typeface="+mn-lt"/>
                    <a:ea typeface="+mn-ea"/>
                    <a:cs typeface="+mn-cs"/>
                  </a:rPr>
                </a:br>
                <a:r>
                  <a:rPr lang="ko-KR" sz="1200" dirty="0">
                    <a:solidFill>
                      <a:srgbClr val="374151"/>
                    </a:solidFill>
                    <a:latin typeface="+mn-lt"/>
                    <a:ea typeface="+mn-ea"/>
                    <a:cs typeface="+mn-cs"/>
                  </a:rPr>
                  <a:t>L-Track · 공식 컨버전 체계</a:t>
                </a:r>
              </a:p>
            </p:txBody>
          </p:sp>
          <p:sp>
            <p:nvSpPr>
              <p:cNvPr id="31" name="TextBox 31"/>
              <p:cNvSpPr txBox="1"/>
              <p:nvPr/>
            </p:nvSpPr>
            <p:spPr>
              <a:xfrm>
                <a:off x="4604004" y="2495550"/>
                <a:ext cx="86563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승합 기반 밴</a:t>
                </a:r>
                <a:br>
                  <a:rPr lang="ko-KR" sz="1200" dirty="0">
                    <a:solidFill>
                      <a:srgbClr val="111827"/>
                    </a:solidFill>
                    <a:latin typeface="+mn-lt"/>
                    <a:ea typeface="+mn-ea"/>
                    <a:cs typeface="+mn-cs"/>
                  </a:rPr>
                </a:br>
                <a:r>
                  <a:rPr lang="ko-KR" sz="1200" dirty="0">
                    <a:solidFill>
                      <a:srgbClr val="374151"/>
                    </a:solidFill>
                    <a:latin typeface="+mn-lt"/>
                    <a:ea typeface="+mn-ea"/>
                    <a:cs typeface="+mn-cs"/>
                  </a:rPr>
                  <a:t>밀폐 카고</a:t>
                </a:r>
              </a:p>
            </p:txBody>
          </p:sp>
          <p:sp>
            <p:nvSpPr>
              <p:cNvPr id="32" name="TextBox 32"/>
              <p:cNvSpPr txBox="1"/>
              <p:nvPr/>
            </p:nvSpPr>
            <p:spPr>
              <a:xfrm>
                <a:off x="7004304" y="2495550"/>
                <a:ext cx="101803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물류 특화 카고</a:t>
                </a:r>
                <a:br>
                  <a:rPr lang="ko-KR" sz="1200" dirty="0">
                    <a:solidFill>
                      <a:srgbClr val="111827"/>
                    </a:solidFill>
                    <a:latin typeface="+mn-lt"/>
                    <a:ea typeface="+mn-ea"/>
                    <a:cs typeface="+mn-cs"/>
                  </a:rPr>
                </a:br>
                <a:r>
                  <a:rPr lang="ko-KR" sz="1200" dirty="0">
                    <a:solidFill>
                      <a:srgbClr val="374151"/>
                    </a:solidFill>
                    <a:latin typeface="+mn-lt"/>
                    <a:ea typeface="+mn-ea"/>
                    <a:cs typeface="+mn-cs"/>
                  </a:rPr>
                  <a:t>밀폐 카고 박스</a:t>
                </a:r>
              </a:p>
            </p:txBody>
          </p:sp>
          <p:sp>
            <p:nvSpPr>
              <p:cNvPr id="33" name="TextBox 33"/>
              <p:cNvSpPr txBox="1"/>
              <p:nvPr/>
            </p:nvSpPr>
            <p:spPr>
              <a:xfrm>
                <a:off x="9404604" y="2495550"/>
                <a:ext cx="972312" cy="434721"/>
              </a:xfrm>
              <a:prstGeom prst="rect">
                <a:avLst/>
              </a:prstGeom>
              <a:noFill/>
              <a:ln>
                <a:noFill/>
              </a:ln>
            </p:spPr>
            <p:txBody>
              <a:bodyPr wrap="none" lIns="0" tIns="0" rIns="0" bIns="0" anchor="t" anchorCtr="0">
                <a:spAutoFit/>
              </a:bodyPr>
              <a:lstStyle/>
              <a:p>
                <a:pPr algn="l">
                  <a:lnSpc>
                    <a:spcPts val="1575"/>
                  </a:lnSpc>
                </a:pPr>
                <a:r>
                  <a:rPr lang="ko-KR" sz="1200" dirty="0">
                    <a:solidFill>
                      <a:srgbClr val="111827"/>
                    </a:solidFill>
                    <a:latin typeface="+mn-lt"/>
                    <a:ea typeface="+mn-ea"/>
                    <a:cs typeface="+mn-cs"/>
                  </a:rPr>
                  <a:t>1톤 트럭</a:t>
                </a:r>
                <a:br>
                  <a:rPr lang="ko-KR" sz="1200" dirty="0">
                    <a:solidFill>
                      <a:srgbClr val="111827"/>
                    </a:solidFill>
                    <a:latin typeface="+mn-lt"/>
                    <a:ea typeface="+mn-ea"/>
                    <a:cs typeface="+mn-cs"/>
                  </a:rPr>
                </a:br>
                <a:r>
                  <a:rPr lang="ko-KR" sz="1200" dirty="0">
                    <a:solidFill>
                      <a:srgbClr val="374151"/>
                    </a:solidFill>
                    <a:latin typeface="+mn-lt"/>
                    <a:ea typeface="+mn-ea"/>
                    <a:cs typeface="+mn-cs"/>
                  </a:rPr>
                  <a:t>개방형 적재함</a:t>
                </a:r>
              </a:p>
            </p:txBody>
          </p:sp>
          <p:sp>
            <p:nvSpPr>
              <p:cNvPr id="34" name="Line 34"/>
              <p:cNvSpPr/>
              <p:nvPr/>
            </p:nvSpPr>
            <p:spPr>
              <a:xfrm>
                <a:off x="533400" y="31432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5" name="TextBox 35"/>
              <p:cNvSpPr txBox="1"/>
              <p:nvPr/>
            </p:nvSpPr>
            <p:spPr>
              <a:xfrm>
                <a:off x="2200656" y="3232150"/>
                <a:ext cx="1278937"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4,520만 원</a:t>
                </a:r>
              </a:p>
            </p:txBody>
          </p:sp>
          <p:sp>
            <p:nvSpPr>
              <p:cNvPr id="36" name="TextBox 36"/>
              <p:cNvSpPr txBox="1"/>
              <p:nvPr/>
            </p:nvSpPr>
            <p:spPr>
              <a:xfrm>
                <a:off x="4602099" y="3257550"/>
                <a:ext cx="1090135" cy="308991"/>
              </a:xfrm>
              <a:prstGeom prst="rect">
                <a:avLst/>
              </a:prstGeom>
              <a:noFill/>
              <a:ln>
                <a:noFill/>
              </a:ln>
            </p:spPr>
            <p:txBody>
              <a:bodyPr wrap="none" lIns="0" tIns="0" rIns="0" bIns="0" anchor="t" anchorCtr="0">
                <a:spAutoFit/>
              </a:bodyPr>
              <a:lstStyle/>
              <a:p>
                <a:pPr algn="l"/>
                <a:r>
                  <a:rPr lang="ko-KR" sz="1580" dirty="0">
                    <a:solidFill>
                      <a:srgbClr val="111827"/>
                    </a:solidFill>
                    <a:latin typeface="+mn-lt"/>
                    <a:ea typeface="+mn-ea"/>
                    <a:cs typeface="+mn-cs"/>
                  </a:rPr>
                  <a:t>5,792만 원</a:t>
                </a:r>
              </a:p>
            </p:txBody>
          </p:sp>
          <p:sp>
            <p:nvSpPr>
              <p:cNvPr id="37" name="TextBox 37"/>
              <p:cNvSpPr txBox="1"/>
              <p:nvPr/>
            </p:nvSpPr>
            <p:spPr>
              <a:xfrm>
                <a:off x="7002399" y="3257550"/>
                <a:ext cx="1090135" cy="308991"/>
              </a:xfrm>
              <a:prstGeom prst="rect">
                <a:avLst/>
              </a:prstGeom>
              <a:noFill/>
              <a:ln>
                <a:noFill/>
              </a:ln>
            </p:spPr>
            <p:txBody>
              <a:bodyPr wrap="none" lIns="0" tIns="0" rIns="0" bIns="0" anchor="t" anchorCtr="0">
                <a:spAutoFit/>
              </a:bodyPr>
              <a:lstStyle/>
              <a:p>
                <a:pPr algn="l"/>
                <a:r>
                  <a:rPr lang="ko-KR" sz="1580" dirty="0">
                    <a:solidFill>
                      <a:srgbClr val="111827"/>
                    </a:solidFill>
                    <a:latin typeface="+mn-lt"/>
                    <a:ea typeface="+mn-ea"/>
                    <a:cs typeface="+mn-cs"/>
                  </a:rPr>
                  <a:t>5,874만 원</a:t>
                </a:r>
              </a:p>
            </p:txBody>
          </p:sp>
          <p:sp>
            <p:nvSpPr>
              <p:cNvPr id="38" name="TextBox 38"/>
              <p:cNvSpPr txBox="1"/>
              <p:nvPr/>
            </p:nvSpPr>
            <p:spPr>
              <a:xfrm>
                <a:off x="9404985" y="3308350"/>
                <a:ext cx="1677487"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탑 개조 필요 · 비교 제외</a:t>
                </a:r>
              </a:p>
            </p:txBody>
          </p:sp>
          <p:sp>
            <p:nvSpPr>
              <p:cNvPr id="39" name="Line 39"/>
              <p:cNvSpPr/>
              <p:nvPr/>
            </p:nvSpPr>
            <p:spPr>
              <a:xfrm>
                <a:off x="533400" y="36385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0" name="TextBox 40"/>
              <p:cNvSpPr txBox="1"/>
              <p:nvPr/>
            </p:nvSpPr>
            <p:spPr>
              <a:xfrm>
                <a:off x="2200656" y="3727450"/>
                <a:ext cx="768862" cy="352044"/>
              </a:xfrm>
              <a:prstGeom prst="rect">
                <a:avLst/>
              </a:prstGeom>
              <a:noFill/>
              <a:ln>
                <a:noFill/>
              </a:ln>
            </p:spPr>
            <p:txBody>
              <a:bodyPr wrap="none" lIns="0" tIns="0" rIns="0" bIns="0" anchor="t" anchorCtr="0">
                <a:spAutoFit/>
              </a:bodyPr>
              <a:lstStyle/>
              <a:p>
                <a:pPr algn="l"/>
                <a:r>
                  <a:rPr lang="en-US" sz="1800" b="1" dirty="0">
                    <a:solidFill>
                      <a:srgbClr val="0B1E3C"/>
                    </a:solidFill>
                    <a:latin typeface="+mn-lt"/>
                    <a:ea typeface="+mn-ea"/>
                    <a:cs typeface="+mn-cs"/>
                  </a:rPr>
                  <a:t>377km</a:t>
                </a:r>
              </a:p>
            </p:txBody>
          </p:sp>
          <p:sp>
            <p:nvSpPr>
              <p:cNvPr id="41" name="TextBox 41"/>
              <p:cNvSpPr txBox="1"/>
              <p:nvPr/>
            </p:nvSpPr>
            <p:spPr>
              <a:xfrm>
                <a:off x="46020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387km</a:t>
                </a:r>
              </a:p>
            </p:txBody>
          </p:sp>
          <p:sp>
            <p:nvSpPr>
              <p:cNvPr id="42" name="TextBox 42"/>
              <p:cNvSpPr txBox="1"/>
              <p:nvPr/>
            </p:nvSpPr>
            <p:spPr>
              <a:xfrm>
                <a:off x="70023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317km</a:t>
                </a:r>
              </a:p>
            </p:txBody>
          </p:sp>
          <p:sp>
            <p:nvSpPr>
              <p:cNvPr id="43" name="TextBox 43"/>
              <p:cNvSpPr txBox="1"/>
              <p:nvPr/>
            </p:nvSpPr>
            <p:spPr>
              <a:xfrm>
                <a:off x="9402699" y="3752850"/>
                <a:ext cx="643466" cy="308991"/>
              </a:xfrm>
              <a:prstGeom prst="rect">
                <a:avLst/>
              </a:prstGeom>
              <a:noFill/>
              <a:ln>
                <a:noFill/>
              </a:ln>
            </p:spPr>
            <p:txBody>
              <a:bodyPr wrap="none" lIns="0" tIns="0" rIns="0" bIns="0" anchor="t" anchorCtr="0">
                <a:spAutoFit/>
              </a:bodyPr>
              <a:lstStyle/>
              <a:p>
                <a:pPr algn="l"/>
                <a:r>
                  <a:rPr lang="en-US" sz="1580" dirty="0">
                    <a:solidFill>
                      <a:srgbClr val="111827"/>
                    </a:solidFill>
                    <a:latin typeface="+mn-lt"/>
                    <a:ea typeface="+mn-ea"/>
                    <a:cs typeface="+mn-cs"/>
                  </a:rPr>
                  <a:t>217km</a:t>
                </a:r>
              </a:p>
            </p:txBody>
          </p:sp>
        </p:grpSp>
      </p:grpSp>
      <p:grpSp>
        <p:nvGrpSpPr>
          <p:cNvPr id="55" name="honest"/>
          <p:cNvGrpSpPr/>
          <p:nvPr/>
        </p:nvGrpSpPr>
        <p:grpSpPr>
          <a:xfrm>
            <a:off x="533400" y="4248150"/>
            <a:ext cx="11125200" cy="1276350"/>
            <a:chOff x="533400" y="4248150"/>
            <a:chExt cx="11125200" cy="1276350"/>
          </a:xfrm>
        </p:grpSpPr>
        <p:sp>
          <p:nvSpPr>
            <p:cNvPr id="46" name="Rectangle 46"/>
            <p:cNvSpPr/>
            <p:nvPr/>
          </p:nvSpPr>
          <p:spPr>
            <a:xfrm>
              <a:off x="533400" y="4248150"/>
              <a:ext cx="3581400" cy="1276350"/>
            </a:xfrm>
            <a:prstGeom prst="rect">
              <a:avLst/>
            </a:prstGeom>
            <a:solidFill>
              <a:srgbClr val="F3F5F8"/>
            </a:solidFill>
            <a:ln>
              <a:noFill/>
            </a:ln>
          </p:spPr>
        </p:sp>
        <p:sp>
          <p:nvSpPr>
            <p:cNvPr id="47" name="TextBox 47"/>
            <p:cNvSpPr txBox="1"/>
            <p:nvPr/>
          </p:nvSpPr>
          <p:spPr>
            <a:xfrm>
              <a:off x="718185" y="4375150"/>
              <a:ext cx="1764936" cy="220028"/>
            </a:xfrm>
            <a:prstGeom prst="rect">
              <a:avLst/>
            </a:prstGeom>
            <a:noFill/>
            <a:ln>
              <a:noFill/>
            </a:ln>
          </p:spPr>
          <p:txBody>
            <a:bodyPr wrap="none" lIns="0" tIns="0" rIns="0" bIns="0" anchor="t" anchorCtr="0">
              <a:spAutoFit/>
            </a:bodyPr>
            <a:lstStyle/>
            <a:p>
              <a:pPr algn="l"/>
              <a:r>
                <a:rPr lang="ko-KR" sz="1120" b="1" dirty="0">
                  <a:solidFill>
                    <a:srgbClr val="8A5A00"/>
                  </a:solidFill>
                  <a:latin typeface="+mn-lt"/>
                  <a:ea typeface="+mn-ea"/>
                  <a:cs typeface="+mn-cs"/>
                </a:rPr>
                <a:t>가격으로 고르지 않습니다</a:t>
              </a:r>
            </a:p>
          </p:txBody>
        </p:sp>
        <p:sp>
          <p:nvSpPr>
            <p:cNvPr id="48" name="TextBox 48"/>
            <p:cNvSpPr txBox="1"/>
            <p:nvPr/>
          </p:nvSpPr>
          <p:spPr>
            <a:xfrm>
              <a:off x="718185" y="4610100"/>
              <a:ext cx="2023770" cy="820102"/>
            </a:xfrm>
            <a:prstGeom prst="rect">
              <a:avLst/>
            </a:prstGeom>
            <a:noFill/>
            <a:ln>
              <a:noFill/>
            </a:ln>
          </p:spPr>
          <p:txBody>
            <a:bodyPr wrap="none" lIns="0" tIns="0" rIns="0" bIns="0" anchor="t" anchorCtr="0">
              <a:spAutoFit/>
            </a:bodyPr>
            <a:lstStyle/>
            <a:p>
              <a:pPr algn="l">
                <a:lnSpc>
                  <a:spcPts val="1575"/>
                </a:lnSpc>
              </a:pPr>
              <a:r>
                <a:rPr lang="ko-KR" sz="1120" dirty="0">
                  <a:solidFill>
                    <a:srgbClr val="111827"/>
                  </a:solidFill>
                  <a:latin typeface="+mn-lt"/>
                  <a:ea typeface="+mn-ea"/>
                  <a:cs typeface="+mn-cs"/>
                </a:rPr>
                <a:t>차값 차이는 최대 1,354만 원,</a:t>
              </a:r>
              <a:br>
                <a:rPr lang="ko-KR" sz="1120" dirty="0">
                  <a:solidFill>
                    <a:srgbClr val="111827"/>
                  </a:solidFill>
                  <a:latin typeface="+mn-lt"/>
                  <a:ea typeface="+mn-ea"/>
                  <a:cs typeface="+mn-cs"/>
                </a:rPr>
              </a:br>
              <a:r>
                <a:rPr lang="ko-KR" sz="1120" dirty="0">
                  <a:solidFill>
                    <a:srgbClr val="111827"/>
                  </a:solidFill>
                  <a:latin typeface="+mn-lt"/>
                  <a:ea typeface="+mn-ea"/>
                  <a:cs typeface="+mn-cs"/>
                </a:rPr>
                <a:t xml:space="preserve">차량형 GPR은 대당 </a:t>
              </a:r>
              <a:r>
                <a:rPr lang="ko-KR" sz="1120" b="1" dirty="0">
                  <a:solidFill>
                    <a:srgbClr val="111827"/>
                  </a:solidFill>
                  <a:latin typeface="+mn-lt"/>
                  <a:ea typeface="+mn-ea"/>
                  <a:cs typeface="+mn-cs"/>
                </a:rPr>
                <a:t>2억~8억 원</a:t>
              </a:r>
              <a:r>
                <a:rPr lang="ko-KR" sz="1120" dirty="0">
                  <a:solidFill>
                    <a:srgbClr val="111827"/>
                  </a:solidFill>
                  <a:latin typeface="+mn-lt"/>
                  <a:ea typeface="+mn-ea"/>
                  <a:cs typeface="+mn-cs"/>
                </a:rPr>
                <a:t>.</a:t>
              </a:r>
              <a:br>
                <a:rPr lang="ko-KR" sz="1120" dirty="0">
                  <a:solidFill>
                    <a:srgbClr val="111827"/>
                  </a:solidFill>
                  <a:latin typeface="+mn-lt"/>
                  <a:ea typeface="+mn-ea"/>
                  <a:cs typeface="+mn-cs"/>
                </a:rPr>
              </a:br>
              <a:r>
                <a:rPr lang="ko-KR" sz="1120" dirty="0">
                  <a:solidFill>
                    <a:srgbClr val="111827"/>
                  </a:solidFill>
                  <a:latin typeface="+mn-lt"/>
                  <a:ea typeface="+mn-ea"/>
                  <a:cs typeface="+mn-cs"/>
                </a:rPr>
                <a:t>차이를 가르는 건 구조와</a:t>
              </a:r>
              <a:br>
                <a:rPr lang="ko-KR" sz="1120" dirty="0">
                  <a:solidFill>
                    <a:srgbClr val="111827"/>
                  </a:solidFill>
                  <a:latin typeface="+mn-lt"/>
                  <a:ea typeface="+mn-ea"/>
                  <a:cs typeface="+mn-cs"/>
                </a:rPr>
              </a:br>
              <a:r>
                <a:rPr lang="ko-KR" sz="1120" dirty="0">
                  <a:solidFill>
                    <a:srgbClr val="111827"/>
                  </a:solidFill>
                  <a:latin typeface="+mn-lt"/>
                  <a:ea typeface="+mn-ea"/>
                  <a:cs typeface="+mn-cs"/>
                </a:rPr>
                <a:t>지원 체계입니다.</a:t>
              </a:r>
            </a:p>
          </p:txBody>
        </p:sp>
        <p:sp>
          <p:nvSpPr>
            <p:cNvPr id="49" name="Rectangle 49"/>
            <p:cNvSpPr/>
            <p:nvPr/>
          </p:nvSpPr>
          <p:spPr>
            <a:xfrm>
              <a:off x="4305300" y="4248150"/>
              <a:ext cx="3581400" cy="1276350"/>
            </a:xfrm>
            <a:prstGeom prst="rect">
              <a:avLst/>
            </a:prstGeom>
            <a:solidFill>
              <a:srgbClr val="F3F5F8"/>
            </a:solidFill>
            <a:ln>
              <a:noFill/>
            </a:ln>
          </p:spPr>
        </p:sp>
        <p:sp>
          <p:nvSpPr>
            <p:cNvPr id="50" name="TextBox 50"/>
            <p:cNvSpPr txBox="1"/>
            <p:nvPr/>
          </p:nvSpPr>
          <p:spPr>
            <a:xfrm>
              <a:off x="4490085" y="4375150"/>
              <a:ext cx="1488023"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PV5 공식 컨버전 체계</a:t>
              </a:r>
            </a:p>
          </p:txBody>
        </p:sp>
        <p:sp>
          <p:nvSpPr>
            <p:cNvPr id="51" name="TextBox 51"/>
            <p:cNvSpPr txBox="1"/>
            <p:nvPr/>
          </p:nvSpPr>
          <p:spPr>
            <a:xfrm>
              <a:off x="4490085" y="4610100"/>
              <a:ext cx="2429510" cy="820102"/>
            </a:xfrm>
            <a:prstGeom prst="rect">
              <a:avLst/>
            </a:prstGeom>
            <a:noFill/>
            <a:ln>
              <a:noFill/>
            </a:ln>
          </p:spPr>
          <p:txBody>
            <a:bodyPr wrap="none" lIns="0" tIns="0" rIns="0" bIns="0" anchor="t" anchorCtr="0">
              <a:spAutoFit/>
            </a:bodyPr>
            <a:lstStyle/>
            <a:p>
              <a:pPr algn="l">
                <a:lnSpc>
                  <a:spcPts val="1575"/>
                </a:lnSpc>
              </a:pPr>
              <a:r>
                <a:rPr lang="ko-KR" sz="1120" dirty="0">
                  <a:solidFill>
                    <a:srgbClr val="111827"/>
                  </a:solidFill>
                  <a:latin typeface="+mn-lt"/>
                  <a:ea typeface="+mn-ea"/>
                  <a:cs typeface="+mn-cs"/>
                </a:rPr>
                <a:t>국내 특장 파트너 10개사 선정</a:t>
              </a:r>
              <a:br>
                <a:rPr lang="ko-KR" sz="1120" dirty="0">
                  <a:solidFill>
                    <a:srgbClr val="111827"/>
                  </a:solidFill>
                  <a:latin typeface="+mn-lt"/>
                  <a:ea typeface="+mn-ea"/>
                  <a:cs typeface="+mn-cs"/>
                </a:rPr>
              </a:br>
              <a:r>
                <a:rPr lang="ko-KR" sz="1120" dirty="0">
                  <a:solidFill>
                    <a:srgbClr val="111827"/>
                  </a:solidFill>
                  <a:latin typeface="+mn-lt"/>
                  <a:ea typeface="+mn-ea"/>
                  <a:cs typeface="+mn-cs"/>
                </a:rPr>
                <a:t>PBV 컨버전 포털: 3D CAD·기술 가이드</a:t>
              </a:r>
              <a:br>
                <a:rPr lang="ko-KR" sz="1120" dirty="0">
                  <a:solidFill>
                    <a:srgbClr val="111827"/>
                  </a:solidFill>
                  <a:latin typeface="+mn-lt"/>
                  <a:ea typeface="+mn-ea"/>
                  <a:cs typeface="+mn-cs"/>
                </a:rPr>
              </a:br>
              <a:r>
                <a:rPr lang="ko-KR" sz="1120" dirty="0">
                  <a:solidFill>
                    <a:srgbClr val="111827"/>
                  </a:solidFill>
                  <a:latin typeface="+mn-lt"/>
                  <a:ea typeface="+mn-ea"/>
                  <a:cs typeface="+mn-cs"/>
                </a:rPr>
                <a:t>12V 전력 연결 블록·PIM 기본 적용</a:t>
              </a:r>
              <a:br>
                <a:rPr lang="ko-KR" sz="1120" dirty="0">
                  <a:solidFill>
                    <a:srgbClr val="111827"/>
                  </a:solidFill>
                  <a:latin typeface="+mn-lt"/>
                  <a:ea typeface="+mn-ea"/>
                  <a:cs typeface="+mn-cs"/>
                </a:rPr>
              </a:br>
              <a:r>
                <a:rPr lang="ko-KR" sz="1120" dirty="0">
                  <a:solidFill>
                    <a:srgbClr val="111827"/>
                  </a:solidFill>
                  <a:latin typeface="+mn-lt"/>
                  <a:ea typeface="+mn-ea"/>
                  <a:cs typeface="+mn-cs"/>
                </a:rPr>
                <a:t>→ GPR 키트 표준화의 바탕</a:t>
              </a:r>
            </a:p>
          </p:txBody>
        </p:sp>
        <p:sp>
          <p:nvSpPr>
            <p:cNvPr id="52" name="Rectangle 52"/>
            <p:cNvSpPr/>
            <p:nvPr/>
          </p:nvSpPr>
          <p:spPr>
            <a:xfrm>
              <a:off x="8077200" y="4248150"/>
              <a:ext cx="3581400" cy="1276350"/>
            </a:xfrm>
            <a:prstGeom prst="rect">
              <a:avLst/>
            </a:prstGeom>
            <a:solidFill>
              <a:srgbClr val="F3F5F8"/>
            </a:solidFill>
            <a:ln>
              <a:noFill/>
            </a:ln>
          </p:spPr>
        </p:sp>
        <p:sp>
          <p:nvSpPr>
            <p:cNvPr id="53" name="TextBox 53"/>
            <p:cNvSpPr txBox="1"/>
            <p:nvPr/>
          </p:nvSpPr>
          <p:spPr>
            <a:xfrm>
              <a:off x="8261985" y="4375150"/>
              <a:ext cx="1136292"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PV5가 불리한 점</a:t>
              </a:r>
            </a:p>
          </p:txBody>
        </p:sp>
        <p:sp>
          <p:nvSpPr>
            <p:cNvPr id="54" name="TextBox 54"/>
            <p:cNvSpPr txBox="1"/>
            <p:nvPr/>
          </p:nvSpPr>
          <p:spPr>
            <a:xfrm>
              <a:off x="8261985" y="4610100"/>
              <a:ext cx="2593086" cy="820102"/>
            </a:xfrm>
            <a:prstGeom prst="rect">
              <a:avLst/>
            </a:prstGeom>
            <a:noFill/>
            <a:ln>
              <a:noFill/>
            </a:ln>
          </p:spPr>
          <p:txBody>
            <a:bodyPr wrap="none" lIns="0" tIns="0" rIns="0" bIns="0" anchor="t" anchorCtr="0">
              <a:spAutoFit/>
            </a:bodyPr>
            <a:lstStyle/>
            <a:p>
              <a:pPr algn="l">
                <a:lnSpc>
                  <a:spcPts val="1575"/>
                </a:lnSpc>
              </a:pPr>
              <a:r>
                <a:rPr lang="ko-KR" sz="1120" dirty="0">
                  <a:solidFill>
                    <a:srgbClr val="111827"/>
                  </a:solidFill>
                  <a:latin typeface="+mn-lt"/>
                  <a:ea typeface="+mn-ea"/>
                  <a:cs typeface="+mn-cs"/>
                </a:rPr>
                <a:t>주행거리는 스타리아보다 10km 짧고,</a:t>
              </a:r>
              <a:br>
                <a:rPr lang="ko-KR" sz="1120" dirty="0">
                  <a:solidFill>
                    <a:srgbClr val="111827"/>
                  </a:solidFill>
                  <a:latin typeface="+mn-lt"/>
                  <a:ea typeface="+mn-ea"/>
                  <a:cs typeface="+mn-cs"/>
                </a:rPr>
              </a:br>
              <a:r>
                <a:rPr lang="ko-KR" sz="1120" dirty="0">
                  <a:solidFill>
                    <a:srgbClr val="111827"/>
                  </a:solidFill>
                  <a:latin typeface="+mn-lt"/>
                  <a:ea typeface="+mn-ea"/>
                  <a:cs typeface="+mn-cs"/>
                </a:rPr>
                <a:t>전폭은 포터·봉고보다 155mm 넓습니다.</a:t>
              </a:r>
              <a:br>
                <a:rPr lang="ko-KR" sz="1120" dirty="0">
                  <a:solidFill>
                    <a:srgbClr val="111827"/>
                  </a:solidFill>
                  <a:latin typeface="+mn-lt"/>
                  <a:ea typeface="+mn-ea"/>
                  <a:cs typeface="+mn-cs"/>
                </a:rPr>
              </a:br>
              <a:r>
                <a:rPr lang="ko-KR" sz="1120" dirty="0">
                  <a:solidFill>
                    <a:srgbClr val="111827"/>
                  </a:solidFill>
                  <a:latin typeface="+mn-lt"/>
                  <a:ea typeface="+mn-ea"/>
                  <a:cs typeface="+mn-cs"/>
                </a:rPr>
                <a:t xml:space="preserve">→ 하루 순찰 약 30km </a:t>
              </a:r>
              <a:r>
                <a:rPr lang="ko-KR" sz="1120" dirty="0">
                  <a:solidFill>
                    <a:srgbClr val="4B5563"/>
                  </a:solidFill>
                  <a:latin typeface="+mn-lt"/>
                  <a:ea typeface="+mn-ea"/>
                  <a:cs typeface="+mn-cs"/>
                </a:rPr>
                <a:t>[가설]</a:t>
              </a:r>
              <a:r>
                <a:rPr lang="ko-KR" sz="1120" dirty="0">
                  <a:solidFill>
                    <a:srgbClr val="111827"/>
                  </a:solidFill>
                  <a:latin typeface="+mn-lt"/>
                  <a:ea typeface="+mn-ea"/>
                  <a:cs typeface="+mn-cs"/>
                </a:rPr>
                <a:t>에는</a:t>
              </a:r>
              <a:br>
                <a:rPr lang="ko-KR" sz="1120" dirty="0">
                  <a:solidFill>
                    <a:srgbClr val="111827"/>
                  </a:solidFill>
                  <a:latin typeface="+mn-lt"/>
                  <a:ea typeface="+mn-ea"/>
                  <a:cs typeface="+mn-cs"/>
                </a:rPr>
              </a:br>
              <a:r>
                <a:rPr lang="ko-KR" sz="1120" dirty="0">
                  <a:solidFill>
                    <a:srgbClr val="111827"/>
                  </a:solidFill>
                  <a:latin typeface="+mn-lt"/>
                  <a:ea typeface="+mn-ea"/>
                  <a:cs typeface="+mn-cs"/>
                </a:rPr>
                <a:t>377km로 충분합니다.</a:t>
              </a:r>
            </a:p>
          </p:txBody>
        </p:sp>
      </p:grpSp>
      <p:grpSp>
        <p:nvGrpSpPr>
          <p:cNvPr id="58" name="conclusion"/>
          <p:cNvGrpSpPr/>
          <p:nvPr/>
        </p:nvGrpSpPr>
        <p:grpSpPr>
          <a:xfrm>
            <a:off x="533400" y="5657850"/>
            <a:ext cx="11125200" cy="495300"/>
            <a:chOff x="533400" y="5657850"/>
            <a:chExt cx="11125200" cy="495300"/>
          </a:xfrm>
        </p:grpSpPr>
        <p:sp>
          <p:nvSpPr>
            <p:cNvPr id="56" name="Rectangle 56"/>
            <p:cNvSpPr/>
            <p:nvPr/>
          </p:nvSpPr>
          <p:spPr>
            <a:xfrm>
              <a:off x="533400" y="5657850"/>
              <a:ext cx="11125200" cy="495300"/>
            </a:xfrm>
            <a:prstGeom prst="rect">
              <a:avLst/>
            </a:prstGeom>
            <a:solidFill>
              <a:srgbClr val="0B1E3C"/>
            </a:solidFill>
            <a:ln>
              <a:noFill/>
            </a:ln>
          </p:spPr>
        </p:sp>
        <p:sp>
          <p:nvSpPr>
            <p:cNvPr id="57" name="TextBox 57"/>
            <p:cNvSpPr txBox="1"/>
            <p:nvPr/>
          </p:nvSpPr>
          <p:spPr>
            <a:xfrm>
              <a:off x="754380" y="5794375"/>
              <a:ext cx="8771106"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xml:space="preserve">전원·고정 구조와 </a:t>
              </a:r>
              <a:r>
                <a:rPr lang="ko-KR" sz="1500" b="1" dirty="0">
                  <a:solidFill>
                    <a:srgbClr val="F5B700"/>
                  </a:solidFill>
                  <a:latin typeface="+mn-lt"/>
                  <a:ea typeface="+mn-ea"/>
                  <a:cs typeface="+mn-cs"/>
                </a:rPr>
                <a:t>공식 컨버전 체계</a:t>
              </a:r>
              <a:r>
                <a:rPr lang="ko-KR" sz="1500" b="1" dirty="0">
                  <a:solidFill>
                    <a:srgbClr val="FFFFFF"/>
                  </a:solidFill>
                  <a:latin typeface="+mn-lt"/>
                  <a:ea typeface="+mn-ea"/>
                  <a:cs typeface="+mn-cs"/>
                </a:rPr>
                <a:t>를 갖춘 PV5로, 같은 탐사실을 여러 대에 그대로 복제합니다.</a:t>
              </a:r>
            </a:p>
          </p:txBody>
        </p:sp>
      </p:grpSp>
      <p:grpSp>
        <p:nvGrpSpPr>
          <p:cNvPr id="60" name="source"/>
          <p:cNvGrpSpPr/>
          <p:nvPr/>
        </p:nvGrpSpPr>
        <p:grpSpPr>
          <a:xfrm>
            <a:off x="528638" y="6248400"/>
            <a:ext cx="9925050" cy="328612"/>
            <a:chOff x="528638" y="6248400"/>
            <a:chExt cx="9925050" cy="328612"/>
          </a:xfrm>
        </p:grpSpPr>
        <p:sp>
          <p:nvSpPr>
            <p:cNvPr id="59" name="TextBox 59"/>
            <p:cNvSpPr txBox="1"/>
            <p:nvPr/>
          </p:nvSpPr>
          <p:spPr>
            <a:xfrm>
              <a:off x="528638" y="6248400"/>
              <a:ext cx="9925050" cy="328612"/>
            </a:xfrm>
            <a:prstGeom prst="rect">
              <a:avLst/>
            </a:prstGeom>
            <a:noFill/>
            <a:ln>
              <a:noFill/>
            </a:ln>
          </p:spPr>
          <p:txBody>
            <a:bodyPr wrap="none" lIns="0" tIns="0" rIns="0" bIns="0" anchor="t" anchorCtr="0">
              <a:spAutoFit/>
            </a:bodyPr>
            <a:lstStyle/>
            <a:p>
              <a:pPr algn="l">
                <a:lnSpc>
                  <a:spcPts val="1200"/>
                </a:lnSpc>
              </a:pPr>
              <a:r>
                <a:rPr lang="ko-KR" sz="900" dirty="0">
                  <a:solidFill>
                    <a:srgbClr val="4B5563"/>
                  </a:solidFill>
                  <a:latin typeface="+mn-lt"/>
                  <a:ea typeface="+mn-ea"/>
                  <a:cs typeface="+mn-cs"/>
                </a:rPr>
                <a:t>출처: 기아 PV5 카고 가격표(2026.10.1)·제원 · 오토뷰(2026, PV5 공식 컨버전 파트너·포털) · 스타리아 일렉트릭 출시(2026.4.23) · 2026 ST1 출시(2025.7.16)·현대차그룹 뉴스룸(317km)</a:t>
              </a:r>
              <a:br>
                <a:rPr lang="ko-KR" sz="900" dirty="0">
                  <a:solidFill>
                    <a:srgbClr val="4B5563"/>
                  </a:solidFill>
                  <a:latin typeface="+mn-lt"/>
                  <a:ea typeface="+mn-ea"/>
                  <a:cs typeface="+mn-cs"/>
                </a:rPr>
              </a:br>
              <a:r>
                <a:rPr lang="ko-KR" sz="900" dirty="0">
                  <a:solidFill>
                    <a:srgbClr val="4B5563"/>
                  </a:solidFill>
                  <a:latin typeface="+mn-lt"/>
                  <a:ea typeface="+mn-ea"/>
                  <a:cs typeface="+mn-cs"/>
                </a:rPr>
                <a:t>포터II·봉고III EV 2025년형 발표(217km) · 시사저널(2025.4.25, 경기도청 인용 GPR 대당 2억~8억 원) · 가격은 표기한 트림 기준, 보조금 제외</a:t>
              </a:r>
            </a:p>
          </p:txBody>
        </p:sp>
      </p:grpSp>
      <p:grpSp>
        <p:nvGrpSpPr>
          <p:cNvPr id="63" name="footer"/>
          <p:cNvGrpSpPr/>
          <p:nvPr/>
        </p:nvGrpSpPr>
        <p:grpSpPr>
          <a:xfrm>
            <a:off x="528638" y="6610350"/>
            <a:ext cx="11134724" cy="176212"/>
            <a:chOff x="528638" y="6610350"/>
            <a:chExt cx="11134724" cy="176212"/>
          </a:xfrm>
        </p:grpSpPr>
        <p:sp>
          <p:nvSpPr>
            <p:cNvPr id="61" name="TextBox 61"/>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2" name="TextBox 6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09 / 16</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19100" cy="228600"/>
            </a:xfrm>
            <a:prstGeom prst="rect">
              <a:avLst/>
            </a:prstGeom>
            <a:solidFill>
              <a:srgbClr val="F5B700"/>
            </a:solidFill>
            <a:ln>
              <a:noFill/>
            </a:ln>
          </p:spPr>
        </p:sp>
        <p:sp>
          <p:nvSpPr>
            <p:cNvPr id="5" name="TextBox 5"/>
            <p:cNvSpPr txBox="1"/>
            <p:nvPr/>
          </p:nvSpPr>
          <p:spPr>
            <a:xfrm>
              <a:off x="1939569" y="301625"/>
              <a:ext cx="273761"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검증</a:t>
              </a:r>
            </a:p>
          </p:txBody>
        </p:sp>
        <p:sp>
          <p:nvSpPr>
            <p:cNvPr id="6" name="TextBox 6"/>
            <p:cNvSpPr txBox="1"/>
            <p:nvPr/>
          </p:nvSpPr>
          <p:spPr>
            <a:xfrm>
              <a:off x="2394966" y="301625"/>
              <a:ext cx="141004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기술 근거와 실증 항목</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10373097" cy="557403"/>
            <a:chOff x="518922" y="781050"/>
            <a:chExt cx="10373097" cy="557403"/>
          </a:xfrm>
        </p:grpSpPr>
        <p:sp>
          <p:nvSpPr>
            <p:cNvPr id="9" name="TextBox 9"/>
            <p:cNvSpPr txBox="1"/>
            <p:nvPr/>
          </p:nvSpPr>
          <p:spPr>
            <a:xfrm>
              <a:off x="518922" y="781050"/>
              <a:ext cx="10373097"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반복 탐사의 효과는 연구로 확인됐고, 차량 통합은 실증합니다</a:t>
              </a:r>
            </a:p>
          </p:txBody>
        </p:sp>
      </p:grpSp>
      <p:grpSp>
        <p:nvGrpSpPr>
          <p:cNvPr id="15" name="evidence"/>
          <p:cNvGrpSpPr/>
          <p:nvPr/>
        </p:nvGrpSpPr>
        <p:grpSpPr>
          <a:xfrm>
            <a:off x="533400" y="1333500"/>
            <a:ext cx="11125200" cy="1066800"/>
            <a:chOff x="533400" y="1333500"/>
            <a:chExt cx="11125200" cy="1066800"/>
          </a:xfrm>
        </p:grpSpPr>
        <p:sp>
          <p:nvSpPr>
            <p:cNvPr id="11" name="Rectangle 11"/>
            <p:cNvSpPr/>
            <p:nvPr/>
          </p:nvSpPr>
          <p:spPr>
            <a:xfrm>
              <a:off x="533400" y="1333500"/>
              <a:ext cx="11125200" cy="1066800"/>
            </a:xfrm>
            <a:prstGeom prst="rect">
              <a:avLst/>
            </a:prstGeom>
            <a:solidFill>
              <a:srgbClr val="0B1E3C"/>
            </a:solidFill>
            <a:ln>
              <a:noFill/>
            </a:ln>
          </p:spPr>
        </p:sp>
        <p:sp>
          <p:nvSpPr>
            <p:cNvPr id="12" name="TextBox 12"/>
            <p:cNvSpPr txBox="1"/>
            <p:nvPr/>
          </p:nvSpPr>
          <p:spPr>
            <a:xfrm>
              <a:off x="756285" y="1479550"/>
              <a:ext cx="4483399"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근거 · 일본 국토교통성 위탁연구(도쿄대·지오서치, 2018~2020)</a:t>
              </a:r>
            </a:p>
          </p:txBody>
        </p:sp>
        <p:sp>
          <p:nvSpPr>
            <p:cNvPr id="13" name="TextBox 13"/>
            <p:cNvSpPr txBox="1"/>
            <p:nvPr/>
          </p:nvSpPr>
          <p:spPr>
            <a:xfrm>
              <a:off x="753618" y="1739900"/>
              <a:ext cx="7146357"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 xml:space="preserve">같은 도로를 반복 조사하자 </a:t>
              </a:r>
              <a:r>
                <a:rPr lang="ko-KR" sz="1650" b="1" dirty="0">
                  <a:solidFill>
                    <a:srgbClr val="F5B700"/>
                  </a:solidFill>
                  <a:latin typeface="+mn-lt"/>
                  <a:ea typeface="+mn-ea"/>
                  <a:cs typeface="+mn-cs"/>
                </a:rPr>
                <a:t>예상보다 빨리 자라는 공동</a:t>
              </a:r>
              <a:r>
                <a:rPr lang="ko-KR" sz="1650" b="1" dirty="0">
                  <a:solidFill>
                    <a:srgbClr val="FFFFFF"/>
                  </a:solidFill>
                  <a:latin typeface="+mn-lt"/>
                  <a:ea typeface="+mn-ea"/>
                  <a:cs typeface="+mn-cs"/>
                </a:rPr>
                <a:t>이 확인됐습니다.</a:t>
              </a:r>
            </a:p>
          </p:txBody>
        </p:sp>
        <p:sp>
          <p:nvSpPr>
            <p:cNvPr id="14" name="TextBox 14"/>
            <p:cNvSpPr txBox="1"/>
            <p:nvPr/>
          </p:nvSpPr>
          <p:spPr>
            <a:xfrm>
              <a:off x="755904" y="2076450"/>
              <a:ext cx="9148115"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지하 1.64m 하수관(Φ800) 위 공동이 급격히 성장 · 관 내부 카메라로 안 보이는 경미한 손상도 원인 · 성장 속도 정량화는 과제</a:t>
              </a:r>
            </a:p>
          </p:txBody>
        </p:sp>
      </p:grpSp>
      <p:grpSp>
        <p:nvGrpSpPr>
          <p:cNvPr id="43" name="matrix"/>
          <p:cNvGrpSpPr/>
          <p:nvPr/>
        </p:nvGrpSpPr>
        <p:grpSpPr>
          <a:xfrm>
            <a:off x="527304" y="2616200"/>
            <a:ext cx="11131296" cy="2434209"/>
            <a:chOff x="527304" y="2616200"/>
            <a:chExt cx="11131296" cy="2434209"/>
          </a:xfrm>
        </p:grpSpPr>
        <p:grpSp>
          <p:nvGrpSpPr>
            <p:cNvPr id="20" name="Group 20"/>
            <p:cNvGrpSpPr/>
            <p:nvPr/>
          </p:nvGrpSpPr>
          <p:grpSpPr>
            <a:xfrm>
              <a:off x="528066" y="2616200"/>
              <a:ext cx="10374198" cy="205359"/>
              <a:chOff x="528066" y="2616200"/>
              <a:chExt cx="10374198" cy="205359"/>
            </a:xfrm>
          </p:grpSpPr>
          <p:sp>
            <p:nvSpPr>
              <p:cNvPr id="16" name="TextBox 16"/>
              <p:cNvSpPr txBox="1"/>
              <p:nvPr/>
            </p:nvSpPr>
            <p:spPr>
              <a:xfrm>
                <a:off x="528066" y="2616200"/>
                <a:ext cx="1170806"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먼저 실증할 4가지</a:t>
                </a:r>
              </a:p>
            </p:txBody>
          </p:sp>
          <p:sp>
            <p:nvSpPr>
              <p:cNvPr id="17" name="TextBox 17"/>
              <p:cNvSpPr txBox="1"/>
              <p:nvPr/>
            </p:nvSpPr>
            <p:spPr>
              <a:xfrm>
                <a:off x="3614166" y="2616200"/>
                <a:ext cx="576072"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실패하면</a:t>
                </a:r>
              </a:p>
            </p:txBody>
          </p:sp>
          <p:sp>
            <p:nvSpPr>
              <p:cNvPr id="18" name="TextBox 18"/>
              <p:cNvSpPr txBox="1"/>
              <p:nvPr/>
            </p:nvSpPr>
            <p:spPr>
              <a:xfrm>
                <a:off x="6662166" y="2616200"/>
                <a:ext cx="1044651"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어떻게 확인하나</a:t>
                </a:r>
              </a:p>
            </p:txBody>
          </p:sp>
          <p:sp>
            <p:nvSpPr>
              <p:cNvPr id="19" name="TextBox 19"/>
              <p:cNvSpPr txBox="1"/>
              <p:nvPr/>
            </p:nvSpPr>
            <p:spPr>
              <a:xfrm>
                <a:off x="10281666" y="2616200"/>
                <a:ext cx="620598"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실증 단계</a:t>
                </a:r>
              </a:p>
            </p:txBody>
          </p:sp>
        </p:grpSp>
        <p:sp>
          <p:nvSpPr>
            <p:cNvPr id="21" name="Line 21"/>
            <p:cNvSpPr/>
            <p:nvPr/>
          </p:nvSpPr>
          <p:spPr>
            <a:xfrm>
              <a:off x="533400" y="2838450"/>
              <a:ext cx="11125200" cy="9525"/>
            </a:xfrm>
            <a:custGeom>
              <a:avLst/>
              <a:gdLst/>
              <a:ahLst/>
              <a:cxnLst/>
              <a:rect l="l" t="t" r="r" b="b"/>
              <a:pathLst>
                <a:path w="11125200" h="9525">
                  <a:moveTo>
                    <a:pt x="0" y="0"/>
                  </a:moveTo>
                  <a:lnTo>
                    <a:pt x="11125200" y="0"/>
                  </a:lnTo>
                </a:path>
              </a:pathLst>
            </a:custGeom>
            <a:noFill/>
            <a:ln w="14288">
              <a:solidFill>
                <a:srgbClr val="0B1E3C"/>
              </a:solidFill>
            </a:ln>
          </p:spPr>
        </p:sp>
        <p:grpSp>
          <p:nvGrpSpPr>
            <p:cNvPr id="41" name="Group 41"/>
            <p:cNvGrpSpPr/>
            <p:nvPr/>
          </p:nvGrpSpPr>
          <p:grpSpPr>
            <a:xfrm>
              <a:off x="527304" y="2990850"/>
              <a:ext cx="11131296" cy="1663446"/>
              <a:chOff x="527304" y="2990850"/>
              <a:chExt cx="11131296" cy="1663446"/>
            </a:xfrm>
          </p:grpSpPr>
          <p:sp>
            <p:nvSpPr>
              <p:cNvPr id="22" name="TextBox 22"/>
              <p:cNvSpPr txBox="1"/>
              <p:nvPr/>
            </p:nvSpPr>
            <p:spPr>
              <a:xfrm>
                <a:off x="527304" y="2990850"/>
                <a:ext cx="2161931"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EV 구동계 × GPR 전자파 간섭</a:t>
                </a:r>
              </a:p>
            </p:txBody>
          </p:sp>
          <p:sp>
            <p:nvSpPr>
              <p:cNvPr id="23" name="TextBox 23"/>
              <p:cNvSpPr txBox="1"/>
              <p:nvPr/>
            </p:nvSpPr>
            <p:spPr>
              <a:xfrm>
                <a:off x="3613404" y="2990850"/>
                <a:ext cx="1773022" cy="234696"/>
              </a:xfrm>
              <a:prstGeom prst="rect">
                <a:avLst/>
              </a:prstGeom>
              <a:noFill/>
              <a:ln>
                <a:noFill/>
              </a:ln>
            </p:spPr>
            <p:txBody>
              <a:bodyPr wrap="none" lIns="0" tIns="0" rIns="0" bIns="0" anchor="t" anchorCtr="0">
                <a:spAutoFit/>
              </a:bodyPr>
              <a:lstStyle/>
              <a:p>
                <a:pPr algn="l"/>
                <a:r>
                  <a:rPr lang="ko-KR" sz="1200" dirty="0">
                    <a:solidFill>
                      <a:srgbClr val="C62828"/>
                    </a:solidFill>
                    <a:latin typeface="+mn-lt"/>
                    <a:ea typeface="+mn-ea"/>
                    <a:cs typeface="+mn-cs"/>
                  </a:rPr>
                  <a:t>차량형 측정 자체가 불가</a:t>
                </a:r>
              </a:p>
            </p:txBody>
          </p:sp>
          <p:sp>
            <p:nvSpPr>
              <p:cNvPr id="24" name="TextBox 24"/>
              <p:cNvSpPr txBox="1"/>
              <p:nvPr/>
            </p:nvSpPr>
            <p:spPr>
              <a:xfrm>
                <a:off x="6661404" y="2990850"/>
                <a:ext cx="240167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주행·정차·V2L 상태별 잡음 비교</a:t>
                </a:r>
              </a:p>
            </p:txBody>
          </p:sp>
          <p:sp>
            <p:nvSpPr>
              <p:cNvPr id="25" name="TextBox 25"/>
              <p:cNvSpPr txBox="1"/>
              <p:nvPr/>
            </p:nvSpPr>
            <p:spPr>
              <a:xfrm>
                <a:off x="10280904" y="2990850"/>
                <a:ext cx="428572"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1단계</a:t>
                </a:r>
              </a:p>
            </p:txBody>
          </p:sp>
          <p:sp>
            <p:nvSpPr>
              <p:cNvPr id="26" name="Line 26"/>
              <p:cNvSpPr/>
              <p:nvPr/>
            </p:nvSpPr>
            <p:spPr>
              <a:xfrm>
                <a:off x="533400" y="33147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27" name="TextBox 27"/>
              <p:cNvSpPr txBox="1"/>
              <p:nvPr/>
            </p:nvSpPr>
            <p:spPr>
              <a:xfrm>
                <a:off x="527304" y="3467100"/>
                <a:ext cx="1244773"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회차별 위치 정합</a:t>
                </a:r>
              </a:p>
            </p:txBody>
          </p:sp>
          <p:sp>
            <p:nvSpPr>
              <p:cNvPr id="28" name="TextBox 28"/>
              <p:cNvSpPr txBox="1"/>
              <p:nvPr/>
            </p:nvSpPr>
            <p:spPr>
              <a:xfrm>
                <a:off x="3613404" y="3467100"/>
                <a:ext cx="1239926" cy="234696"/>
              </a:xfrm>
              <a:prstGeom prst="rect">
                <a:avLst/>
              </a:prstGeom>
              <a:noFill/>
              <a:ln>
                <a:noFill/>
              </a:ln>
            </p:spPr>
            <p:txBody>
              <a:bodyPr wrap="none" lIns="0" tIns="0" rIns="0" bIns="0" anchor="t" anchorCtr="0">
                <a:spAutoFit/>
              </a:bodyPr>
              <a:lstStyle/>
              <a:p>
                <a:pPr algn="l"/>
                <a:r>
                  <a:rPr lang="ko-KR" sz="1200" dirty="0">
                    <a:solidFill>
                      <a:srgbClr val="C62828"/>
                    </a:solidFill>
                    <a:latin typeface="+mn-lt"/>
                    <a:ea typeface="+mn-ea"/>
                    <a:cs typeface="+mn-cs"/>
                  </a:rPr>
                  <a:t>변화 비교가 불가</a:t>
                </a:r>
              </a:p>
            </p:txBody>
          </p:sp>
          <p:sp>
            <p:nvSpPr>
              <p:cNvPr id="29" name="TextBox 29"/>
              <p:cNvSpPr txBox="1"/>
              <p:nvPr/>
            </p:nvSpPr>
            <p:spPr>
              <a:xfrm>
                <a:off x="6661404" y="3467100"/>
                <a:ext cx="306583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RTK·IMU·휠 인코더 · 시계열 3D GPR 정합</a:t>
                </a:r>
              </a:p>
            </p:txBody>
          </p:sp>
          <p:sp>
            <p:nvSpPr>
              <p:cNvPr id="30" name="TextBox 30"/>
              <p:cNvSpPr txBox="1"/>
              <p:nvPr/>
            </p:nvSpPr>
            <p:spPr>
              <a:xfrm>
                <a:off x="10280904" y="3467100"/>
                <a:ext cx="428572"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2단계</a:t>
                </a:r>
              </a:p>
            </p:txBody>
          </p:sp>
          <p:sp>
            <p:nvSpPr>
              <p:cNvPr id="31" name="Line 31"/>
              <p:cNvSpPr/>
              <p:nvPr/>
            </p:nvSpPr>
            <p:spPr>
              <a:xfrm>
                <a:off x="533400" y="37909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2" name="TextBox 32"/>
              <p:cNvSpPr txBox="1"/>
              <p:nvPr/>
            </p:nvSpPr>
            <p:spPr>
              <a:xfrm>
                <a:off x="527304" y="3943350"/>
                <a:ext cx="1654828"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AI 변화 탐지율·오탐률</a:t>
                </a:r>
              </a:p>
            </p:txBody>
          </p:sp>
          <p:sp>
            <p:nvSpPr>
              <p:cNvPr id="33" name="TextBox 33"/>
              <p:cNvSpPr txBox="1"/>
              <p:nvPr/>
            </p:nvSpPr>
            <p:spPr>
              <a:xfrm>
                <a:off x="3613404" y="3943350"/>
                <a:ext cx="1401470" cy="234696"/>
              </a:xfrm>
              <a:prstGeom prst="rect">
                <a:avLst/>
              </a:prstGeom>
              <a:noFill/>
              <a:ln>
                <a:noFill/>
              </a:ln>
            </p:spPr>
            <p:txBody>
              <a:bodyPr wrap="none" lIns="0" tIns="0" rIns="0" bIns="0" anchor="t" anchorCtr="0">
                <a:spAutoFit/>
              </a:bodyPr>
              <a:lstStyle/>
              <a:p>
                <a:pPr algn="l"/>
                <a:r>
                  <a:rPr lang="ko-KR" sz="1200" dirty="0">
                    <a:solidFill>
                      <a:srgbClr val="C62828"/>
                    </a:solidFill>
                    <a:latin typeface="+mn-lt"/>
                    <a:ea typeface="+mn-ea"/>
                    <a:cs typeface="+mn-cs"/>
                  </a:rPr>
                  <a:t>재확인 출동이 과다</a:t>
                </a:r>
              </a:p>
            </p:txBody>
          </p:sp>
          <p:sp>
            <p:nvSpPr>
              <p:cNvPr id="34" name="TextBox 34"/>
              <p:cNvSpPr txBox="1"/>
              <p:nvPr/>
            </p:nvSpPr>
            <p:spPr>
              <a:xfrm>
                <a:off x="6661404" y="3943350"/>
                <a:ext cx="281498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공동 모사체 구간 · 계절별 함수비 보정</a:t>
                </a:r>
              </a:p>
            </p:txBody>
          </p:sp>
          <p:sp>
            <p:nvSpPr>
              <p:cNvPr id="35" name="TextBox 35"/>
              <p:cNvSpPr txBox="1"/>
              <p:nvPr/>
            </p:nvSpPr>
            <p:spPr>
              <a:xfrm>
                <a:off x="10280904" y="3943350"/>
                <a:ext cx="615155"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2~3단계</a:t>
                </a:r>
              </a:p>
            </p:txBody>
          </p:sp>
          <p:sp>
            <p:nvSpPr>
              <p:cNvPr id="36" name="Line 36"/>
              <p:cNvSpPr/>
              <p:nvPr/>
            </p:nvSpPr>
            <p:spPr>
              <a:xfrm>
                <a:off x="533400" y="42672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7" name="TextBox 37"/>
              <p:cNvSpPr txBox="1"/>
              <p:nvPr/>
            </p:nvSpPr>
            <p:spPr>
              <a:xfrm>
                <a:off x="527304" y="4419600"/>
                <a:ext cx="133702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야간 AR 위치 오차</a:t>
                </a:r>
              </a:p>
            </p:txBody>
          </p:sp>
          <p:sp>
            <p:nvSpPr>
              <p:cNvPr id="38" name="TextBox 38"/>
              <p:cNvSpPr txBox="1"/>
              <p:nvPr/>
            </p:nvSpPr>
            <p:spPr>
              <a:xfrm>
                <a:off x="3613404" y="4419600"/>
                <a:ext cx="1611478" cy="234696"/>
              </a:xfrm>
              <a:prstGeom prst="rect">
                <a:avLst/>
              </a:prstGeom>
              <a:noFill/>
              <a:ln>
                <a:noFill/>
              </a:ln>
            </p:spPr>
            <p:txBody>
              <a:bodyPr wrap="none" lIns="0" tIns="0" rIns="0" bIns="0" anchor="t" anchorCtr="0">
                <a:spAutoFit/>
              </a:bodyPr>
              <a:lstStyle/>
              <a:p>
                <a:pPr algn="l"/>
                <a:r>
                  <a:rPr lang="ko-KR" sz="1200" dirty="0">
                    <a:solidFill>
                      <a:srgbClr val="C62828"/>
                    </a:solidFill>
                    <a:latin typeface="+mn-lt"/>
                    <a:ea typeface="+mn-ea"/>
                    <a:cs typeface="+mn-cs"/>
                  </a:rPr>
                  <a:t>수동 탐색 범위가 커짐</a:t>
                </a:r>
              </a:p>
            </p:txBody>
          </p:sp>
          <p:sp>
            <p:nvSpPr>
              <p:cNvPr id="39" name="TextBox 39"/>
              <p:cNvSpPr txBox="1"/>
              <p:nvPr/>
            </p:nvSpPr>
            <p:spPr>
              <a:xfrm>
                <a:off x="6661404" y="4419600"/>
                <a:ext cx="268574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맨홀·경계석 기준점, 야간·우천 오차</a:t>
                </a:r>
              </a:p>
            </p:txBody>
          </p:sp>
          <p:sp>
            <p:nvSpPr>
              <p:cNvPr id="40" name="TextBox 40"/>
              <p:cNvSpPr txBox="1"/>
              <p:nvPr/>
            </p:nvSpPr>
            <p:spPr>
              <a:xfrm>
                <a:off x="10280904" y="4419600"/>
                <a:ext cx="428572"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3단계</a:t>
                </a:r>
              </a:p>
            </p:txBody>
          </p:sp>
        </p:grpSp>
        <p:sp>
          <p:nvSpPr>
            <p:cNvPr id="42" name="TextBox 42"/>
            <p:cNvSpPr txBox="1"/>
            <p:nvPr/>
          </p:nvSpPr>
          <p:spPr>
            <a:xfrm>
              <a:off x="528066" y="4845050"/>
              <a:ext cx="10155876" cy="205359"/>
            </a:xfrm>
            <a:prstGeom prst="rect">
              <a:avLst/>
            </a:prstGeom>
            <a:noFill/>
            <a:ln>
              <a:noFill/>
            </a:ln>
          </p:spPr>
          <p:txBody>
            <a:bodyPr wrap="none" lIns="0" tIns="0" rIns="0" bIns="0" anchor="t" anchorCtr="0">
              <a:spAutoFit/>
            </a:bodyPr>
            <a:lstStyle/>
            <a:p>
              <a:pPr algn="l"/>
              <a:r>
                <a:rPr lang="ko-KR" sz="1050" b="1" dirty="0">
                  <a:solidFill>
                    <a:srgbClr val="0B1E3C"/>
                  </a:solidFill>
                  <a:latin typeface="+mn-lt"/>
                  <a:ea typeface="+mn-ea"/>
                  <a:cs typeface="+mn-cs"/>
                </a:rPr>
                <a:t>이미 상용</a:t>
              </a:r>
              <a:r>
                <a:rPr lang="ko-KR" sz="1050" dirty="0">
                  <a:solidFill>
                    <a:srgbClr val="374151"/>
                  </a:solidFill>
                  <a:latin typeface="+mn-lt"/>
                  <a:ea typeface="+mn-ea"/>
                  <a:cs typeface="+mn-cs"/>
                </a:rPr>
                <a:t xml:space="preserve"> 차량형·수동 GPR · RTK-GNSS·IMU · 노면 카메라 · 엣지 컴퓨터 · GIS 이력 관리 · AAOS 앱 생태계 · 산업용 AR 글래스(RealWear Navigator 520 등)</a:t>
              </a:r>
            </a:p>
          </p:txBody>
        </p:sp>
      </p:grpSp>
      <p:grpSp>
        <p:nvGrpSpPr>
          <p:cNvPr id="49" name="regulation"/>
          <p:cNvGrpSpPr/>
          <p:nvPr/>
        </p:nvGrpSpPr>
        <p:grpSpPr>
          <a:xfrm>
            <a:off x="533400" y="5200650"/>
            <a:ext cx="11125200" cy="876300"/>
            <a:chOff x="533400" y="5200650"/>
            <a:chExt cx="11125200" cy="876300"/>
          </a:xfrm>
        </p:grpSpPr>
        <p:sp>
          <p:nvSpPr>
            <p:cNvPr id="44" name="Rectangle 44"/>
            <p:cNvSpPr/>
            <p:nvPr/>
          </p:nvSpPr>
          <p:spPr>
            <a:xfrm>
              <a:off x="533400" y="5200650"/>
              <a:ext cx="11125200" cy="876300"/>
            </a:xfrm>
            <a:prstGeom prst="rect">
              <a:avLst/>
            </a:prstGeom>
            <a:solidFill>
              <a:srgbClr val="F3F5F8"/>
            </a:solidFill>
            <a:ln>
              <a:noFill/>
            </a:ln>
          </p:spPr>
        </p:sp>
        <p:sp>
          <p:nvSpPr>
            <p:cNvPr id="45" name="TextBox 45"/>
            <p:cNvSpPr txBox="1"/>
            <p:nvPr/>
          </p:nvSpPr>
          <p:spPr>
            <a:xfrm>
              <a:off x="718185" y="5327650"/>
              <a:ext cx="947362" cy="220028"/>
            </a:xfrm>
            <a:prstGeom prst="rect">
              <a:avLst/>
            </a:prstGeom>
            <a:noFill/>
            <a:ln>
              <a:noFill/>
            </a:ln>
          </p:spPr>
          <p:txBody>
            <a:bodyPr wrap="none" lIns="0" tIns="0" rIns="0" bIns="0" anchor="t" anchorCtr="0">
              <a:spAutoFit/>
            </a:bodyPr>
            <a:lstStyle/>
            <a:p>
              <a:pPr algn="l"/>
              <a:r>
                <a:rPr lang="ko-KR" sz="1120" b="1" dirty="0">
                  <a:solidFill>
                    <a:srgbClr val="8A5A00"/>
                  </a:solidFill>
                  <a:latin typeface="+mn-lt"/>
                  <a:ea typeface="+mn-ea"/>
                  <a:cs typeface="+mn-cs"/>
                </a:rPr>
                <a:t>인허가 · 법규</a:t>
              </a:r>
            </a:p>
          </p:txBody>
        </p:sp>
        <p:sp>
          <p:nvSpPr>
            <p:cNvPr id="46" name="TextBox 46"/>
            <p:cNvSpPr txBox="1"/>
            <p:nvPr/>
          </p:nvSpPr>
          <p:spPr>
            <a:xfrm>
              <a:off x="1994535" y="5327650"/>
              <a:ext cx="7363944"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도로 영상</a:t>
              </a:r>
              <a:r>
                <a:rPr lang="ko-KR" sz="1120" dirty="0">
                  <a:solidFill>
                    <a:srgbClr val="111827"/>
                  </a:solidFill>
                  <a:latin typeface="+mn-lt"/>
                  <a:ea typeface="+mn-ea"/>
                  <a:cs typeface="+mn-cs"/>
                </a:rPr>
                <a:t xml:space="preserve"> 개인정보보호법 제25조의2(이동형 영상정보처리기기, 2023.9 시행) → 차량 외부에 촬영 사실 표시</a:t>
              </a:r>
            </a:p>
          </p:txBody>
        </p:sp>
        <p:sp>
          <p:nvSpPr>
            <p:cNvPr id="47" name="TextBox 47"/>
            <p:cNvSpPr txBox="1"/>
            <p:nvPr/>
          </p:nvSpPr>
          <p:spPr>
            <a:xfrm>
              <a:off x="1994535" y="5565775"/>
              <a:ext cx="4823153"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GPR 전파</a:t>
              </a:r>
              <a:r>
                <a:rPr lang="ko-KR" sz="1120" dirty="0">
                  <a:solidFill>
                    <a:srgbClr val="111827"/>
                  </a:solidFill>
                  <a:latin typeface="+mn-lt"/>
                  <a:ea typeface="+mn-ea"/>
                  <a:cs typeface="+mn-cs"/>
                </a:rPr>
                <a:t xml:space="preserve"> 국립전파연구원 적합성평가 대상·기준 확인 </a:t>
              </a:r>
              <a:r>
                <a:rPr lang="ko-KR" sz="1120" dirty="0">
                  <a:solidFill>
                    <a:srgbClr val="4B5563"/>
                  </a:solidFill>
                  <a:latin typeface="+mn-lt"/>
                  <a:ea typeface="+mn-ea"/>
                  <a:cs typeface="+mn-cs"/>
                </a:rPr>
                <a:t>[사업화 전 확인]</a:t>
              </a:r>
            </a:p>
          </p:txBody>
        </p:sp>
        <p:sp>
          <p:nvSpPr>
            <p:cNvPr id="48" name="TextBox 48"/>
            <p:cNvSpPr txBox="1"/>
            <p:nvPr/>
          </p:nvSpPr>
          <p:spPr>
            <a:xfrm>
              <a:off x="1994535" y="5803900"/>
              <a:ext cx="781626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차량 장착</a:t>
              </a:r>
              <a:r>
                <a:rPr lang="ko-KR" sz="1120" dirty="0">
                  <a:solidFill>
                    <a:srgbClr val="111827"/>
                  </a:solidFill>
                  <a:latin typeface="+mn-lt"/>
                  <a:ea typeface="+mn-ea"/>
                  <a:cs typeface="+mn-cs"/>
                </a:rPr>
                <a:t xml:space="preserve"> 튜닝 승인 해당 여부를 한국교통안전공단에 확인 · 기아 공식 컨버전 파트너를 거쳐 장착 </a:t>
              </a:r>
              <a:r>
                <a:rPr lang="ko-KR" sz="1120" dirty="0">
                  <a:solidFill>
                    <a:srgbClr val="4B5563"/>
                  </a:solidFill>
                  <a:latin typeface="+mn-lt"/>
                  <a:ea typeface="+mn-ea"/>
                  <a:cs typeface="+mn-cs"/>
                </a:rPr>
                <a:t>[사업화 전 확인]</a:t>
              </a:r>
            </a:p>
          </p:txBody>
        </p:sp>
      </p:grpSp>
      <p:grpSp>
        <p:nvGrpSpPr>
          <p:cNvPr id="52" name="source"/>
          <p:cNvGrpSpPr/>
          <p:nvPr/>
        </p:nvGrpSpPr>
        <p:grpSpPr>
          <a:xfrm>
            <a:off x="528638" y="6191250"/>
            <a:ext cx="9584485" cy="328612"/>
            <a:chOff x="528638" y="6191250"/>
            <a:chExt cx="9584485" cy="328612"/>
          </a:xfrm>
        </p:grpSpPr>
        <p:sp>
          <p:nvSpPr>
            <p:cNvPr id="50" name="TextBox 50"/>
            <p:cNvSpPr txBox="1"/>
            <p:nvPr/>
          </p:nvSpPr>
          <p:spPr>
            <a:xfrm>
              <a:off x="528638" y="6191250"/>
              <a:ext cx="9584485"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일본 국토교통성 도로정책 연구 30-5 연구종료보고서(2021)·중간 개요 · Ling et al., Remote Sensing 14(7):1593(2022, 시계열 3D GPR) · 개인정보보호법 제25조의2</a:t>
              </a:r>
            </a:p>
          </p:txBody>
        </p:sp>
        <p:sp>
          <p:nvSpPr>
            <p:cNvPr id="51" name="TextBox 51"/>
            <p:cNvSpPr txBox="1"/>
            <p:nvPr/>
          </p:nvSpPr>
          <p:spPr>
            <a:xfrm>
              <a:off x="528638" y="6343650"/>
              <a:ext cx="7615644"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자동차관리법 시행규칙 제55조(튜닝 승인 대상) · RealWear Navigator 520 제조사 판매가 US$3,750 · HoloLens 2는 2024년 단종으로 제외</a:t>
              </a:r>
            </a:p>
          </p:txBody>
        </p:sp>
      </p:grpSp>
      <p:grpSp>
        <p:nvGrpSpPr>
          <p:cNvPr id="55" name="footer"/>
          <p:cNvGrpSpPr/>
          <p:nvPr/>
        </p:nvGrpSpPr>
        <p:grpSpPr>
          <a:xfrm>
            <a:off x="528638" y="6610350"/>
            <a:ext cx="11134724" cy="176212"/>
            <a:chOff x="528638" y="6610350"/>
            <a:chExt cx="11134724" cy="176212"/>
          </a:xfrm>
        </p:grpSpPr>
        <p:sp>
          <p:nvSpPr>
            <p:cNvPr id="53" name="TextBox 53"/>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4" name="TextBox 5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10 / 16</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19100" cy="228600"/>
            </a:xfrm>
            <a:prstGeom prst="rect">
              <a:avLst/>
            </a:prstGeom>
            <a:solidFill>
              <a:srgbClr val="F5B700"/>
            </a:solidFill>
            <a:ln>
              <a:noFill/>
            </a:ln>
          </p:spPr>
        </p:sp>
        <p:sp>
          <p:nvSpPr>
            <p:cNvPr id="5" name="TextBox 5"/>
            <p:cNvSpPr txBox="1"/>
            <p:nvPr/>
          </p:nvSpPr>
          <p:spPr>
            <a:xfrm>
              <a:off x="1939569" y="301625"/>
              <a:ext cx="273761"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검증</a:t>
              </a:r>
            </a:p>
          </p:txBody>
        </p:sp>
        <p:sp>
          <p:nvSpPr>
            <p:cNvPr id="6" name="TextBox 6"/>
            <p:cNvSpPr txBox="1"/>
            <p:nvPr/>
          </p:nvSpPr>
          <p:spPr>
            <a:xfrm>
              <a:off x="2394966" y="301625"/>
              <a:ext cx="108493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단계별 실증 계획</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800100"/>
            <a:ext cx="9788056" cy="557403"/>
            <a:chOff x="518922" y="800100"/>
            <a:chExt cx="9788056" cy="557403"/>
          </a:xfrm>
        </p:grpSpPr>
        <p:sp>
          <p:nvSpPr>
            <p:cNvPr id="9" name="TextBox 9"/>
            <p:cNvSpPr txBox="1"/>
            <p:nvPr/>
          </p:nvSpPr>
          <p:spPr>
            <a:xfrm>
              <a:off x="518922" y="800100"/>
              <a:ext cx="9788056"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폐쇄 구간에서 시작해 실제 도로까지 검증 범위를 넓힙니다</a:t>
              </a:r>
            </a:p>
          </p:txBody>
        </p:sp>
      </p:grpSp>
      <p:grpSp>
        <p:nvGrpSpPr>
          <p:cNvPr id="12" name="lead"/>
          <p:cNvGrpSpPr/>
          <p:nvPr/>
        </p:nvGrpSpPr>
        <p:grpSpPr>
          <a:xfrm>
            <a:off x="526161" y="1365250"/>
            <a:ext cx="6944043" cy="278702"/>
            <a:chOff x="526161" y="1365250"/>
            <a:chExt cx="6944043" cy="278702"/>
          </a:xfrm>
        </p:grpSpPr>
        <p:sp>
          <p:nvSpPr>
            <p:cNvPr id="11" name="TextBox 11"/>
            <p:cNvSpPr txBox="1"/>
            <p:nvPr/>
          </p:nvSpPr>
          <p:spPr>
            <a:xfrm>
              <a:off x="526161" y="1365250"/>
              <a:ext cx="6944043" cy="278702"/>
            </a:xfrm>
            <a:prstGeom prst="rect">
              <a:avLst/>
            </a:prstGeom>
            <a:noFill/>
            <a:ln>
              <a:noFill/>
            </a:ln>
          </p:spPr>
          <p:txBody>
            <a:bodyPr wrap="none" lIns="0" tIns="0" rIns="0" bIns="0" anchor="t" anchorCtr="0">
              <a:spAutoFit/>
            </a:bodyPr>
            <a:lstStyle/>
            <a:p>
              <a:pPr algn="l"/>
              <a:r>
                <a:rPr lang="ko-KR" sz="1420" dirty="0">
                  <a:solidFill>
                    <a:srgbClr val="4B5563"/>
                  </a:solidFill>
                  <a:latin typeface="+mn-lt"/>
                  <a:ea typeface="+mn-ea"/>
                  <a:cs typeface="+mn-cs"/>
                </a:rPr>
                <a:t>장비 안정성 → 같은 길의 반복 일관성 → 실제 도로에서의 효용 순서로 검증합니다.</a:t>
              </a:r>
            </a:p>
          </p:txBody>
        </p:sp>
      </p:grpSp>
      <p:grpSp>
        <p:nvGrpSpPr>
          <p:cNvPr id="20" name="stage-1"/>
          <p:cNvGrpSpPr/>
          <p:nvPr/>
        </p:nvGrpSpPr>
        <p:grpSpPr>
          <a:xfrm>
            <a:off x="527685" y="3575050"/>
            <a:ext cx="2672715" cy="1987550"/>
            <a:chOff x="527685" y="3575050"/>
            <a:chExt cx="2672715" cy="1987550"/>
          </a:xfrm>
        </p:grpSpPr>
        <p:sp>
          <p:nvSpPr>
            <p:cNvPr id="13" name="TextBox 13"/>
            <p:cNvSpPr txBox="1"/>
            <p:nvPr/>
          </p:nvSpPr>
          <p:spPr>
            <a:xfrm>
              <a:off x="527685" y="3575050"/>
              <a:ext cx="1645448"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폐쇄 시험장 · 장비 단위</a:t>
              </a:r>
            </a:p>
          </p:txBody>
        </p:sp>
        <p:sp>
          <p:nvSpPr>
            <p:cNvPr id="14" name="Rectangle 14"/>
            <p:cNvSpPr/>
            <p:nvPr/>
          </p:nvSpPr>
          <p:spPr>
            <a:xfrm>
              <a:off x="533400" y="3810000"/>
              <a:ext cx="2667000" cy="1752600"/>
            </a:xfrm>
            <a:prstGeom prst="rect">
              <a:avLst/>
            </a:prstGeom>
            <a:solidFill>
              <a:srgbClr val="E8ECF2"/>
            </a:solidFill>
            <a:ln>
              <a:noFill/>
            </a:ln>
          </p:spPr>
        </p:sp>
        <p:sp>
          <p:nvSpPr>
            <p:cNvPr id="15" name="TextBox 15"/>
            <p:cNvSpPr txBox="1"/>
            <p:nvPr/>
          </p:nvSpPr>
          <p:spPr>
            <a:xfrm>
              <a:off x="718566" y="3968750"/>
              <a:ext cx="37500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1단계</a:t>
              </a:r>
            </a:p>
          </p:txBody>
        </p:sp>
        <p:sp>
          <p:nvSpPr>
            <p:cNvPr id="16" name="TextBox 16"/>
            <p:cNvSpPr txBox="1"/>
            <p:nvPr/>
          </p:nvSpPr>
          <p:spPr>
            <a:xfrm>
              <a:off x="715518" y="4178300"/>
              <a:ext cx="1489439"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장비 통합 시험</a:t>
              </a:r>
            </a:p>
          </p:txBody>
        </p:sp>
        <p:sp>
          <p:nvSpPr>
            <p:cNvPr id="17" name="TextBox 17"/>
            <p:cNvSpPr txBox="1"/>
            <p:nvPr/>
          </p:nvSpPr>
          <p:spPr>
            <a:xfrm>
              <a:off x="717804" y="4527550"/>
              <a:ext cx="2039112" cy="4632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장착 구조·진동 · 전력 사용량</a:t>
              </a:r>
              <a:br>
                <a:rPr lang="ko-KR" sz="1200" dirty="0">
                  <a:solidFill>
                    <a:srgbClr val="111827"/>
                  </a:solidFill>
                  <a:latin typeface="+mn-lt"/>
                  <a:ea typeface="+mn-ea"/>
                  <a:cs typeface="+mn-cs"/>
                </a:rPr>
              </a:br>
              <a:r>
                <a:rPr lang="ko-KR" sz="1200" dirty="0">
                  <a:solidFill>
                    <a:srgbClr val="111827"/>
                  </a:solidFill>
                  <a:latin typeface="+mn-lt"/>
                  <a:ea typeface="+mn-ea"/>
                  <a:cs typeface="+mn-cs"/>
                </a:rPr>
                <a:t>전자파 간섭 · 통신 지연·누락</a:t>
              </a:r>
            </a:p>
          </p:txBody>
        </p:sp>
        <p:sp>
          <p:nvSpPr>
            <p:cNvPr id="18" name="Line 18"/>
            <p:cNvSpPr/>
            <p:nvPr/>
          </p:nvSpPr>
          <p:spPr>
            <a:xfrm>
              <a:off x="723900" y="5124450"/>
              <a:ext cx="2286000" cy="9525"/>
            </a:xfrm>
            <a:custGeom>
              <a:avLst/>
              <a:gdLst/>
              <a:ahLst/>
              <a:cxnLst/>
              <a:rect l="l" t="t" r="r" b="b"/>
              <a:pathLst>
                <a:path w="2286000" h="9525">
                  <a:moveTo>
                    <a:pt x="0" y="0"/>
                  </a:moveTo>
                  <a:lnTo>
                    <a:pt x="2286000" y="0"/>
                  </a:lnTo>
                </a:path>
              </a:pathLst>
            </a:custGeom>
            <a:noFill/>
            <a:ln w="9525">
              <a:solidFill>
                <a:srgbClr val="B4BFCF"/>
              </a:solidFill>
            </a:ln>
          </p:spPr>
        </p:sp>
        <p:sp>
          <p:nvSpPr>
            <p:cNvPr id="19" name="TextBox 19"/>
            <p:cNvSpPr txBox="1"/>
            <p:nvPr/>
          </p:nvSpPr>
          <p:spPr>
            <a:xfrm>
              <a:off x="718185" y="5251450"/>
              <a:ext cx="1645448"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통과 → 차량형 측정 가능</a:t>
              </a:r>
            </a:p>
          </p:txBody>
        </p:sp>
      </p:grpSp>
      <p:grpSp>
        <p:nvGrpSpPr>
          <p:cNvPr id="28" name="stage-2"/>
          <p:cNvGrpSpPr/>
          <p:nvPr/>
        </p:nvGrpSpPr>
        <p:grpSpPr>
          <a:xfrm>
            <a:off x="3347085" y="3051175"/>
            <a:ext cx="2672715" cy="2511425"/>
            <a:chOff x="3347085" y="3051175"/>
            <a:chExt cx="2672715" cy="2511425"/>
          </a:xfrm>
        </p:grpSpPr>
        <p:sp>
          <p:nvSpPr>
            <p:cNvPr id="21" name="TextBox 21"/>
            <p:cNvSpPr txBox="1"/>
            <p:nvPr/>
          </p:nvSpPr>
          <p:spPr>
            <a:xfrm>
              <a:off x="3347085" y="3051175"/>
              <a:ext cx="1161839"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통제된 시험 구간</a:t>
              </a:r>
            </a:p>
          </p:txBody>
        </p:sp>
        <p:sp>
          <p:nvSpPr>
            <p:cNvPr id="22" name="Rectangle 22"/>
            <p:cNvSpPr/>
            <p:nvPr/>
          </p:nvSpPr>
          <p:spPr>
            <a:xfrm>
              <a:off x="3352800" y="3286125"/>
              <a:ext cx="2667000" cy="2276475"/>
            </a:xfrm>
            <a:prstGeom prst="rect">
              <a:avLst/>
            </a:prstGeom>
            <a:solidFill>
              <a:srgbClr val="C9D3E2"/>
            </a:solidFill>
            <a:ln>
              <a:noFill/>
            </a:ln>
          </p:spPr>
        </p:sp>
        <p:sp>
          <p:nvSpPr>
            <p:cNvPr id="23" name="TextBox 23"/>
            <p:cNvSpPr txBox="1"/>
            <p:nvPr/>
          </p:nvSpPr>
          <p:spPr>
            <a:xfrm>
              <a:off x="3537966" y="3444875"/>
              <a:ext cx="37500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2단계</a:t>
              </a:r>
            </a:p>
          </p:txBody>
        </p:sp>
        <p:sp>
          <p:nvSpPr>
            <p:cNvPr id="24" name="TextBox 24"/>
            <p:cNvSpPr txBox="1"/>
            <p:nvPr/>
          </p:nvSpPr>
          <p:spPr>
            <a:xfrm>
              <a:off x="3534918" y="3654425"/>
              <a:ext cx="1711562" cy="322707"/>
            </a:xfrm>
            <a:prstGeom prst="rect">
              <a:avLst/>
            </a:prstGeom>
            <a:noFill/>
            <a:ln>
              <a:noFill/>
            </a:ln>
          </p:spPr>
          <p:txBody>
            <a:bodyPr wrap="none" lIns="0" tIns="0" rIns="0" bIns="0" anchor="t" anchorCtr="0">
              <a:spAutoFit/>
            </a:bodyPr>
            <a:lstStyle/>
            <a:p>
              <a:pPr algn="l"/>
              <a:r>
                <a:rPr lang="ko-KR" sz="1650" b="1" dirty="0">
                  <a:solidFill>
                    <a:srgbClr val="0B1E3C"/>
                  </a:solidFill>
                  <a:latin typeface="+mn-lt"/>
                  <a:ea typeface="+mn-ea"/>
                  <a:cs typeface="+mn-cs"/>
                </a:rPr>
                <a:t>통제된 반복 주행</a:t>
              </a:r>
            </a:p>
          </p:txBody>
        </p:sp>
        <p:sp>
          <p:nvSpPr>
            <p:cNvPr id="25" name="TextBox 25"/>
            <p:cNvSpPr txBox="1"/>
            <p:nvPr/>
          </p:nvSpPr>
          <p:spPr>
            <a:xfrm>
              <a:off x="3537204" y="4003675"/>
              <a:ext cx="187147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공동 모사체 구간 반복 측정</a:t>
              </a:r>
              <a:br>
                <a:rPr lang="ko-KR" sz="1200" dirty="0">
                  <a:solidFill>
                    <a:srgbClr val="111827"/>
                  </a:solidFill>
                  <a:latin typeface="+mn-lt"/>
                  <a:ea typeface="+mn-ea"/>
                  <a:cs typeface="+mn-cs"/>
                </a:rPr>
              </a:br>
              <a:r>
                <a:rPr lang="ko-KR" sz="1200" dirty="0">
                  <a:solidFill>
                    <a:srgbClr val="111827"/>
                  </a:solidFill>
                  <a:latin typeface="+mn-lt"/>
                  <a:ea typeface="+mn-ea"/>
                  <a:cs typeface="+mn-cs"/>
                </a:rPr>
                <a:t>위치 정합 오차·회차 편차</a:t>
              </a:r>
              <a:br>
                <a:rPr lang="ko-KR" sz="1200" dirty="0">
                  <a:solidFill>
                    <a:srgbClr val="111827"/>
                  </a:solidFill>
                  <a:latin typeface="+mn-lt"/>
                  <a:ea typeface="+mn-ea"/>
                  <a:cs typeface="+mn-cs"/>
                </a:rPr>
              </a:br>
              <a:r>
                <a:rPr lang="ko-KR" sz="1200" dirty="0">
                  <a:solidFill>
                    <a:srgbClr val="111827"/>
                  </a:solidFill>
                  <a:latin typeface="+mn-lt"/>
                  <a:ea typeface="+mn-ea"/>
                  <a:cs typeface="+mn-cs"/>
                </a:rPr>
                <a:t>AI의 기존·신규 신호 구분</a:t>
              </a:r>
            </a:p>
          </p:txBody>
        </p:sp>
        <p:sp>
          <p:nvSpPr>
            <p:cNvPr id="26" name="Line 26"/>
            <p:cNvSpPr/>
            <p:nvPr/>
          </p:nvSpPr>
          <p:spPr>
            <a:xfrm>
              <a:off x="3543300" y="5124450"/>
              <a:ext cx="2286000" cy="9525"/>
            </a:xfrm>
            <a:custGeom>
              <a:avLst/>
              <a:gdLst/>
              <a:ahLst/>
              <a:cxnLst/>
              <a:rect l="l" t="t" r="r" b="b"/>
              <a:pathLst>
                <a:path w="2286000" h="9525">
                  <a:moveTo>
                    <a:pt x="0" y="0"/>
                  </a:moveTo>
                  <a:lnTo>
                    <a:pt x="2286000" y="0"/>
                  </a:lnTo>
                </a:path>
              </a:pathLst>
            </a:custGeom>
            <a:noFill/>
            <a:ln w="9525">
              <a:solidFill>
                <a:srgbClr val="9DABC0"/>
              </a:solidFill>
            </a:ln>
          </p:spPr>
        </p:sp>
        <p:sp>
          <p:nvSpPr>
            <p:cNvPr id="27" name="TextBox 27"/>
            <p:cNvSpPr txBox="1"/>
            <p:nvPr/>
          </p:nvSpPr>
          <p:spPr>
            <a:xfrm>
              <a:off x="3537585" y="5251450"/>
              <a:ext cx="1494673"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통과 → 회차 비교 가능</a:t>
              </a:r>
            </a:p>
          </p:txBody>
        </p:sp>
      </p:grpSp>
      <p:grpSp>
        <p:nvGrpSpPr>
          <p:cNvPr id="36" name="stage-3"/>
          <p:cNvGrpSpPr/>
          <p:nvPr/>
        </p:nvGrpSpPr>
        <p:grpSpPr>
          <a:xfrm>
            <a:off x="6166485" y="2527300"/>
            <a:ext cx="2672715" cy="3035300"/>
            <a:chOff x="6166485" y="2527300"/>
            <a:chExt cx="2672715" cy="3035300"/>
          </a:xfrm>
        </p:grpSpPr>
        <p:sp>
          <p:nvSpPr>
            <p:cNvPr id="29" name="TextBox 29"/>
            <p:cNvSpPr txBox="1"/>
            <p:nvPr/>
          </p:nvSpPr>
          <p:spPr>
            <a:xfrm>
              <a:off x="6166485" y="2527300"/>
              <a:ext cx="1312613"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실제 도로 위험구간</a:t>
              </a:r>
            </a:p>
          </p:txBody>
        </p:sp>
        <p:sp>
          <p:nvSpPr>
            <p:cNvPr id="30" name="Rectangle 30"/>
            <p:cNvSpPr/>
            <p:nvPr/>
          </p:nvSpPr>
          <p:spPr>
            <a:xfrm>
              <a:off x="6172200" y="2762250"/>
              <a:ext cx="2667000" cy="2800350"/>
            </a:xfrm>
            <a:prstGeom prst="rect">
              <a:avLst/>
            </a:prstGeom>
            <a:solidFill>
              <a:srgbClr val="2E4A78"/>
            </a:solidFill>
            <a:ln>
              <a:noFill/>
            </a:ln>
          </p:spPr>
        </p:sp>
        <p:sp>
          <p:nvSpPr>
            <p:cNvPr id="31" name="TextBox 31"/>
            <p:cNvSpPr txBox="1"/>
            <p:nvPr/>
          </p:nvSpPr>
          <p:spPr>
            <a:xfrm>
              <a:off x="6357366" y="2921000"/>
              <a:ext cx="375000" cy="205359"/>
            </a:xfrm>
            <a:prstGeom prst="rect">
              <a:avLst/>
            </a:prstGeom>
            <a:noFill/>
            <a:ln>
              <a:noFill/>
            </a:ln>
          </p:spPr>
          <p:txBody>
            <a:bodyPr wrap="none" lIns="0" tIns="0" rIns="0" bIns="0" anchor="t" anchorCtr="0">
              <a:spAutoFit/>
            </a:bodyPr>
            <a:lstStyle/>
            <a:p>
              <a:pPr algn="l"/>
              <a:r>
                <a:rPr lang="ko-KR" sz="1050" b="1" dirty="0">
                  <a:solidFill>
                    <a:srgbClr val="D6DDE8"/>
                  </a:solidFill>
                  <a:latin typeface="+mn-lt"/>
                  <a:ea typeface="+mn-ea"/>
                  <a:cs typeface="+mn-cs"/>
                </a:rPr>
                <a:t>3단계</a:t>
              </a:r>
            </a:p>
          </p:txBody>
        </p:sp>
        <p:sp>
          <p:nvSpPr>
            <p:cNvPr id="32" name="TextBox 32"/>
            <p:cNvSpPr txBox="1"/>
            <p:nvPr/>
          </p:nvSpPr>
          <p:spPr>
            <a:xfrm>
              <a:off x="6354318" y="3130550"/>
              <a:ext cx="1711562"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실제 도로 파일럿</a:t>
              </a:r>
            </a:p>
          </p:txBody>
        </p:sp>
        <p:sp>
          <p:nvSpPr>
            <p:cNvPr id="33" name="TextBox 33"/>
            <p:cNvSpPr txBox="1"/>
            <p:nvPr/>
          </p:nvSpPr>
          <p:spPr>
            <a:xfrm>
              <a:off x="6356604" y="3479800"/>
              <a:ext cx="201625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E5E9F0"/>
                  </a:solidFill>
                  <a:latin typeface="+mn-lt"/>
                  <a:ea typeface="+mn-ea"/>
                  <a:cs typeface="+mn-cs"/>
                </a:rPr>
                <a:t>지자체·조사기업과 구간 선정</a:t>
              </a:r>
              <a:br>
                <a:rPr lang="ko-KR" sz="1200" dirty="0">
                  <a:solidFill>
                    <a:srgbClr val="E5E9F0"/>
                  </a:solidFill>
                  <a:latin typeface="+mn-lt"/>
                  <a:ea typeface="+mn-ea"/>
                  <a:cs typeface="+mn-cs"/>
                </a:rPr>
              </a:br>
              <a:r>
                <a:rPr lang="ko-KR" sz="1200" dirty="0">
                  <a:solidFill>
                    <a:srgbClr val="E5E9F0"/>
                  </a:solidFill>
                  <a:latin typeface="+mn-lt"/>
                  <a:ea typeface="+mn-ea"/>
                  <a:cs typeface="+mn-cs"/>
                </a:rPr>
                <a:t>기존 전문 장비 결과와 비교</a:t>
              </a:r>
              <a:br>
                <a:rPr lang="ko-KR" sz="1200" dirty="0">
                  <a:solidFill>
                    <a:srgbClr val="E5E9F0"/>
                  </a:solidFill>
                  <a:latin typeface="+mn-lt"/>
                  <a:ea typeface="+mn-ea"/>
                  <a:cs typeface="+mn-cs"/>
                </a:rPr>
              </a:br>
              <a:r>
                <a:rPr lang="ko-KR" sz="1200" dirty="0">
                  <a:solidFill>
                    <a:srgbClr val="E5E9F0"/>
                  </a:solidFill>
                  <a:latin typeface="+mn-lt"/>
                  <a:ea typeface="+mn-ea"/>
                  <a:cs typeface="+mn-cs"/>
                </a:rPr>
                <a:t>전문가 판독·천공으로 검증</a:t>
              </a:r>
            </a:p>
          </p:txBody>
        </p:sp>
        <p:sp>
          <p:nvSpPr>
            <p:cNvPr id="34" name="Line 34"/>
            <p:cNvSpPr/>
            <p:nvPr/>
          </p:nvSpPr>
          <p:spPr>
            <a:xfrm>
              <a:off x="6362700" y="5124450"/>
              <a:ext cx="2286000" cy="9525"/>
            </a:xfrm>
            <a:custGeom>
              <a:avLst/>
              <a:gdLst/>
              <a:ahLst/>
              <a:cxnLst/>
              <a:rect l="l" t="t" r="r" b="b"/>
              <a:pathLst>
                <a:path w="2286000" h="9525">
                  <a:moveTo>
                    <a:pt x="0" y="0"/>
                  </a:moveTo>
                  <a:lnTo>
                    <a:pt x="2286000" y="0"/>
                  </a:lnTo>
                </a:path>
              </a:pathLst>
            </a:custGeom>
            <a:noFill/>
            <a:ln w="9525">
              <a:solidFill>
                <a:srgbClr val="5B739B"/>
              </a:solidFill>
            </a:ln>
          </p:spPr>
        </p:sp>
        <p:sp>
          <p:nvSpPr>
            <p:cNvPr id="35" name="TextBox 35"/>
            <p:cNvSpPr txBox="1"/>
            <p:nvPr/>
          </p:nvSpPr>
          <p:spPr>
            <a:xfrm>
              <a:off x="6356985" y="5251450"/>
              <a:ext cx="1685026"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통과 → 효용 입증·실증서</a:t>
              </a:r>
            </a:p>
          </p:txBody>
        </p:sp>
      </p:grpSp>
      <p:grpSp>
        <p:nvGrpSpPr>
          <p:cNvPr id="44" name="stage-4"/>
          <p:cNvGrpSpPr/>
          <p:nvPr/>
        </p:nvGrpSpPr>
        <p:grpSpPr>
          <a:xfrm>
            <a:off x="8985885" y="2003425"/>
            <a:ext cx="2672715" cy="3559175"/>
            <a:chOff x="8985885" y="2003425"/>
            <a:chExt cx="2672715" cy="3559175"/>
          </a:xfrm>
        </p:grpSpPr>
        <p:sp>
          <p:nvSpPr>
            <p:cNvPr id="37" name="TextBox 37"/>
            <p:cNvSpPr txBox="1"/>
            <p:nvPr/>
          </p:nvSpPr>
          <p:spPr>
            <a:xfrm>
              <a:off x="8985885" y="2003425"/>
              <a:ext cx="1011064"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실제 운영 환경</a:t>
              </a:r>
            </a:p>
          </p:txBody>
        </p:sp>
        <p:sp>
          <p:nvSpPr>
            <p:cNvPr id="38" name="Rectangle 38"/>
            <p:cNvSpPr/>
            <p:nvPr/>
          </p:nvSpPr>
          <p:spPr>
            <a:xfrm>
              <a:off x="8991600" y="2238375"/>
              <a:ext cx="2667000" cy="3324225"/>
            </a:xfrm>
            <a:prstGeom prst="rect">
              <a:avLst/>
            </a:prstGeom>
            <a:solidFill>
              <a:srgbClr val="0B1E3C"/>
            </a:solidFill>
            <a:ln>
              <a:noFill/>
            </a:ln>
          </p:spPr>
        </p:sp>
        <p:sp>
          <p:nvSpPr>
            <p:cNvPr id="39" name="TextBox 39"/>
            <p:cNvSpPr txBox="1"/>
            <p:nvPr/>
          </p:nvSpPr>
          <p:spPr>
            <a:xfrm>
              <a:off x="9176766" y="2397125"/>
              <a:ext cx="375000"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4단계</a:t>
              </a:r>
            </a:p>
          </p:txBody>
        </p:sp>
        <p:sp>
          <p:nvSpPr>
            <p:cNvPr id="40" name="TextBox 40"/>
            <p:cNvSpPr txBox="1"/>
            <p:nvPr/>
          </p:nvSpPr>
          <p:spPr>
            <a:xfrm>
              <a:off x="9173718" y="2606675"/>
              <a:ext cx="1197348"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운영성 검증</a:t>
              </a:r>
            </a:p>
          </p:txBody>
        </p:sp>
        <p:sp>
          <p:nvSpPr>
            <p:cNvPr id="41" name="TextBox 41"/>
            <p:cNvSpPr txBox="1"/>
            <p:nvPr/>
          </p:nvSpPr>
          <p:spPr>
            <a:xfrm>
              <a:off x="9176004" y="2955925"/>
              <a:ext cx="2001012" cy="920496"/>
            </a:xfrm>
            <a:prstGeom prst="rect">
              <a:avLst/>
            </a:prstGeom>
            <a:noFill/>
            <a:ln>
              <a:noFill/>
            </a:ln>
          </p:spPr>
          <p:txBody>
            <a:bodyPr wrap="none" lIns="0" tIns="0" rIns="0" bIns="0" anchor="t" anchorCtr="0">
              <a:spAutoFit/>
            </a:bodyPr>
            <a:lstStyle/>
            <a:p>
              <a:pPr algn="l">
                <a:lnSpc>
                  <a:spcPts val="1800"/>
                </a:lnSpc>
              </a:pPr>
              <a:r>
                <a:rPr lang="ko-KR" sz="1200" dirty="0">
                  <a:solidFill>
                    <a:srgbClr val="E5E9F0"/>
                  </a:solidFill>
                  <a:latin typeface="+mn-lt"/>
                  <a:ea typeface="+mn-ea"/>
                  <a:cs typeface="+mn-cs"/>
                </a:rPr>
                <a:t>새벽 순찰 소요시간</a:t>
              </a:r>
              <a:br>
                <a:rPr lang="ko-KR" sz="1200" dirty="0">
                  <a:solidFill>
                    <a:srgbClr val="E5E9F0"/>
                  </a:solidFill>
                  <a:latin typeface="+mn-lt"/>
                  <a:ea typeface="+mn-ea"/>
                  <a:cs typeface="+mn-cs"/>
                </a:rPr>
              </a:br>
              <a:r>
                <a:rPr lang="ko-KR" sz="1200" dirty="0">
                  <a:solidFill>
                    <a:srgbClr val="E5E9F0"/>
                  </a:solidFill>
                  <a:latin typeface="+mn-lt"/>
                  <a:ea typeface="+mn-ea"/>
                  <a:cs typeface="+mn-cs"/>
                </a:rPr>
                <a:t>재확인 생성 → 현장 도착 시간</a:t>
              </a:r>
              <a:br>
                <a:rPr lang="ko-KR" sz="1200" dirty="0">
                  <a:solidFill>
                    <a:srgbClr val="E5E9F0"/>
                  </a:solidFill>
                  <a:latin typeface="+mn-lt"/>
                  <a:ea typeface="+mn-ea"/>
                  <a:cs typeface="+mn-cs"/>
                </a:rPr>
              </a:br>
              <a:r>
                <a:rPr lang="ko-KR" sz="1200" dirty="0">
                  <a:solidFill>
                    <a:srgbClr val="E5E9F0"/>
                  </a:solidFill>
                  <a:latin typeface="+mn-lt"/>
                  <a:ea typeface="+mn-ea"/>
                  <a:cs typeface="+mn-cs"/>
                </a:rPr>
                <a:t>AR 위치 보정 성공률</a:t>
              </a:r>
              <a:br>
                <a:rPr lang="ko-KR" sz="1200" dirty="0">
                  <a:solidFill>
                    <a:srgbClr val="E5E9F0"/>
                  </a:solidFill>
                  <a:latin typeface="+mn-lt"/>
                  <a:ea typeface="+mn-ea"/>
                  <a:cs typeface="+mn-cs"/>
                </a:rPr>
              </a:br>
              <a:r>
                <a:rPr lang="ko-KR" sz="1200" dirty="0">
                  <a:solidFill>
                    <a:srgbClr val="E5E9F0"/>
                  </a:solidFill>
                  <a:latin typeface="+mn-lt"/>
                  <a:ea typeface="+mn-ea"/>
                  <a:cs typeface="+mn-cs"/>
                </a:rPr>
                <a:t>재방문·수작업 입력 감소량</a:t>
              </a:r>
            </a:p>
          </p:txBody>
        </p:sp>
        <p:sp>
          <p:nvSpPr>
            <p:cNvPr id="42" name="Line 42"/>
            <p:cNvSpPr/>
            <p:nvPr/>
          </p:nvSpPr>
          <p:spPr>
            <a:xfrm>
              <a:off x="9182100" y="5124450"/>
              <a:ext cx="2286000" cy="9525"/>
            </a:xfrm>
            <a:custGeom>
              <a:avLst/>
              <a:gdLst/>
              <a:ahLst/>
              <a:cxnLst/>
              <a:rect l="l" t="t" r="r" b="b"/>
              <a:pathLst>
                <a:path w="2286000" h="9525">
                  <a:moveTo>
                    <a:pt x="0" y="0"/>
                  </a:moveTo>
                  <a:lnTo>
                    <a:pt x="2286000" y="0"/>
                  </a:lnTo>
                </a:path>
              </a:pathLst>
            </a:custGeom>
            <a:noFill/>
            <a:ln w="9525">
              <a:solidFill>
                <a:srgbClr val="3A4F73"/>
              </a:solidFill>
            </a:ln>
          </p:spPr>
        </p:sp>
        <p:sp>
          <p:nvSpPr>
            <p:cNvPr id="43" name="TextBox 43"/>
            <p:cNvSpPr txBox="1"/>
            <p:nvPr/>
          </p:nvSpPr>
          <p:spPr>
            <a:xfrm>
              <a:off x="9176385" y="5251450"/>
              <a:ext cx="1494673"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통과 → 연간 관제 계약</a:t>
              </a:r>
            </a:p>
          </p:txBody>
        </p:sp>
      </p:grpSp>
      <p:grpSp>
        <p:nvGrpSpPr>
          <p:cNvPr id="48" name="target-note"/>
          <p:cNvGrpSpPr/>
          <p:nvPr/>
        </p:nvGrpSpPr>
        <p:grpSpPr>
          <a:xfrm>
            <a:off x="533400" y="5753100"/>
            <a:ext cx="11125200" cy="457200"/>
            <a:chOff x="533400" y="5753100"/>
            <a:chExt cx="11125200" cy="457200"/>
          </a:xfrm>
        </p:grpSpPr>
        <p:sp>
          <p:nvSpPr>
            <p:cNvPr id="45" name="Rectangle 45"/>
            <p:cNvSpPr/>
            <p:nvPr/>
          </p:nvSpPr>
          <p:spPr>
            <a:xfrm>
              <a:off x="533400" y="5753100"/>
              <a:ext cx="11125200" cy="457200"/>
            </a:xfrm>
            <a:prstGeom prst="rect">
              <a:avLst/>
            </a:prstGeom>
            <a:solidFill>
              <a:srgbClr val="FFF6DC"/>
            </a:solidFill>
            <a:ln>
              <a:noFill/>
            </a:ln>
          </p:spPr>
        </p:sp>
        <p:sp>
          <p:nvSpPr>
            <p:cNvPr id="46" name="Rectangle 46"/>
            <p:cNvSpPr/>
            <p:nvPr/>
          </p:nvSpPr>
          <p:spPr>
            <a:xfrm>
              <a:off x="533400" y="5753100"/>
              <a:ext cx="47625" cy="457200"/>
            </a:xfrm>
            <a:prstGeom prst="rect">
              <a:avLst/>
            </a:prstGeom>
            <a:solidFill>
              <a:srgbClr val="F5B700"/>
            </a:solidFill>
            <a:ln>
              <a:noFill/>
            </a:ln>
          </p:spPr>
        </p:sp>
        <p:sp>
          <p:nvSpPr>
            <p:cNvPr id="47" name="TextBox 47"/>
            <p:cNvSpPr txBox="1"/>
            <p:nvPr/>
          </p:nvSpPr>
          <p:spPr>
            <a:xfrm>
              <a:off x="755142" y="5873750"/>
              <a:ext cx="8758446"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정량 목표치는 파일럿 설계 때 발주기관과 확정합니다.</a:t>
              </a:r>
              <a:r>
                <a:rPr lang="ko-KR" sz="1350" dirty="0">
                  <a:solidFill>
                    <a:srgbClr val="0B1E3C"/>
                  </a:solidFill>
                  <a:latin typeface="+mn-lt"/>
                  <a:ea typeface="+mn-ea"/>
                  <a:cs typeface="+mn-cs"/>
                </a:rPr>
                <a:t xml:space="preserve"> 지금은 근거 없는 정확도 수치를 제시하지 않습니다.</a:t>
              </a:r>
            </a:p>
          </p:txBody>
        </p:sp>
      </p:grpSp>
      <p:grpSp>
        <p:nvGrpSpPr>
          <p:cNvPr id="51" name="footer"/>
          <p:cNvGrpSpPr/>
          <p:nvPr/>
        </p:nvGrpSpPr>
        <p:grpSpPr>
          <a:xfrm>
            <a:off x="528638" y="6610350"/>
            <a:ext cx="11134724" cy="176212"/>
            <a:chOff x="528638" y="6610350"/>
            <a:chExt cx="11134724" cy="176212"/>
          </a:xfrm>
        </p:grpSpPr>
        <p:sp>
          <p:nvSpPr>
            <p:cNvPr id="49" name="TextBox 49"/>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0" name="TextBox 50"/>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11 / 16</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419100" cy="228600"/>
            </a:xfrm>
            <a:prstGeom prst="rect">
              <a:avLst/>
            </a:prstGeom>
            <a:solidFill>
              <a:srgbClr val="F5B700"/>
            </a:solidFill>
            <a:ln>
              <a:noFill/>
            </a:ln>
          </p:spPr>
        </p:sp>
        <p:sp>
          <p:nvSpPr>
            <p:cNvPr id="5" name="TextBox 5"/>
            <p:cNvSpPr txBox="1"/>
            <p:nvPr/>
          </p:nvSpPr>
          <p:spPr>
            <a:xfrm>
              <a:off x="1939569" y="301625"/>
              <a:ext cx="273761"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확장</a:t>
              </a:r>
            </a:p>
          </p:txBody>
        </p:sp>
        <p:sp>
          <p:nvSpPr>
            <p:cNvPr id="6" name="TextBox 6"/>
            <p:cNvSpPr txBox="1"/>
            <p:nvPr/>
          </p:nvSpPr>
          <p:spPr>
            <a:xfrm>
              <a:off x="2394966" y="301625"/>
              <a:ext cx="759828"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확장 가능성</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800100"/>
            <a:ext cx="9788056" cy="557403"/>
            <a:chOff x="518922" y="800100"/>
            <a:chExt cx="9788056" cy="557403"/>
          </a:xfrm>
        </p:grpSpPr>
        <p:sp>
          <p:nvSpPr>
            <p:cNvPr id="9" name="TextBox 9"/>
            <p:cNvSpPr txBox="1"/>
            <p:nvPr/>
          </p:nvSpPr>
          <p:spPr>
            <a:xfrm>
              <a:off x="518922" y="800100"/>
              <a:ext cx="9788056"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한 대의 반복 순찰차에서 도시 지하 안전망으로 확장합니다</a:t>
              </a:r>
            </a:p>
          </p:txBody>
        </p:sp>
      </p:grpSp>
      <p:grpSp>
        <p:nvGrpSpPr>
          <p:cNvPr id="26" name="patrol-map"/>
          <p:cNvGrpSpPr/>
          <p:nvPr/>
        </p:nvGrpSpPr>
        <p:grpSpPr>
          <a:xfrm>
            <a:off x="533400" y="1428750"/>
            <a:ext cx="6477000" cy="4221734"/>
            <a:chOff x="533400" y="1428750"/>
            <a:chExt cx="6477000" cy="4221734"/>
          </a:xfrm>
        </p:grpSpPr>
        <p:pic>
          <p:nvPicPr>
            <p:cNvPr id="11" name="Image 11"/>
            <p:cNvPicPr>
              <a:picLocks noChangeAspect="1"/>
            </p:cNvPicPr>
            <p:nvPr/>
          </p:nvPicPr>
          <p:blipFill>
            <a:blip r:embed="rId2"/>
            <a:srcRect l="0" t="52" r="0" b="53"/>
            <a:stretch>
              <a:fillRect/>
            </a:stretch>
          </p:blipFill>
          <p:spPr>
            <a:xfrm>
              <a:off x="533400" y="1428750"/>
              <a:ext cx="6477000" cy="3648075"/>
            </a:xfrm>
            <a:prstGeom prst="rect">
              <a:avLst/>
            </a:prstGeom>
          </p:spPr>
        </p:pic>
        <p:sp>
          <p:nvSpPr>
            <p:cNvPr id="12" name="Rectangle 12"/>
            <p:cNvSpPr/>
            <p:nvPr/>
          </p:nvSpPr>
          <p:spPr>
            <a:xfrm>
              <a:off x="647700" y="1543050"/>
              <a:ext cx="2400300" cy="228600"/>
            </a:xfrm>
            <a:prstGeom prst="roundRect">
              <a:avLst>
                <a:gd name="adj" fmla="val 12500"/>
              </a:avLst>
            </a:prstGeom>
            <a:solidFill>
              <a:srgbClr val="0B1E3C">
                <a:alpha val="85000"/>
              </a:srgbClr>
            </a:solidFill>
            <a:ln>
              <a:noFill/>
            </a:ln>
          </p:spPr>
        </p:sp>
        <p:sp>
          <p:nvSpPr>
            <p:cNvPr id="13" name="TextBox 13"/>
            <p:cNvSpPr txBox="1"/>
            <p:nvPr/>
          </p:nvSpPr>
          <p:spPr>
            <a:xfrm>
              <a:off x="757047" y="1590675"/>
              <a:ext cx="2751691" cy="191643"/>
            </a:xfrm>
            <a:prstGeom prst="rect">
              <a:avLst/>
            </a:prstGeom>
            <a:noFill/>
            <a:ln>
              <a:noFill/>
            </a:ln>
          </p:spPr>
          <p:txBody>
            <a:bodyPr wrap="none" lIns="0" tIns="0" rIns="0" bIns="0" anchor="t" anchorCtr="0">
              <a:spAutoFit/>
            </a:bodyPr>
            <a:lstStyle/>
            <a:p>
              <a:pPr algn="l"/>
              <a:r>
                <a:rPr lang="ko-KR" sz="980" b="1" dirty="0">
                  <a:solidFill>
                    <a:srgbClr val="FFFFFF"/>
                  </a:solidFill>
                  <a:latin typeface="+mn-lt"/>
                  <a:ea typeface="+mn-ea"/>
                  <a:cs typeface="+mn-cs"/>
                </a:rPr>
                <a:t>위험도별 순찰 경로 예시 · 강동구 명일동 일대</a:t>
              </a:r>
            </a:p>
          </p:txBody>
        </p:sp>
        <p:grpSp>
          <p:nvGrpSpPr>
            <p:cNvPr id="25" name="Group 25"/>
            <p:cNvGrpSpPr/>
            <p:nvPr/>
          </p:nvGrpSpPr>
          <p:grpSpPr>
            <a:xfrm>
              <a:off x="533400" y="5197475"/>
              <a:ext cx="5984748" cy="453009"/>
              <a:chOff x="533400" y="5197475"/>
              <a:chExt cx="5984748" cy="453009"/>
            </a:xfrm>
          </p:grpSpPr>
          <p:sp>
            <p:nvSpPr>
              <p:cNvPr id="14" name="Rectangle 14"/>
              <p:cNvSpPr/>
              <p:nvPr/>
            </p:nvSpPr>
            <p:spPr>
              <a:xfrm>
                <a:off x="533400" y="5257800"/>
                <a:ext cx="209550" cy="57150"/>
              </a:xfrm>
              <a:prstGeom prst="rect">
                <a:avLst/>
              </a:prstGeom>
              <a:solidFill>
                <a:srgbClr val="E03131"/>
              </a:solidFill>
              <a:ln>
                <a:noFill/>
              </a:ln>
            </p:spPr>
          </p:sp>
          <p:sp>
            <p:nvSpPr>
              <p:cNvPr id="15" name="TextBox 15"/>
              <p:cNvSpPr txBox="1"/>
              <p:nvPr/>
            </p:nvSpPr>
            <p:spPr>
              <a:xfrm>
                <a:off x="794766" y="5197475"/>
                <a:ext cx="1381773"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집중관리 매일~주 1회</a:t>
                </a:r>
              </a:p>
            </p:txBody>
          </p:sp>
          <p:sp>
            <p:nvSpPr>
              <p:cNvPr id="16" name="Rectangle 16"/>
              <p:cNvSpPr/>
              <p:nvPr/>
            </p:nvSpPr>
            <p:spPr>
              <a:xfrm>
                <a:off x="2381250" y="5257800"/>
                <a:ext cx="209550" cy="57150"/>
              </a:xfrm>
              <a:prstGeom prst="rect">
                <a:avLst/>
              </a:prstGeom>
              <a:solidFill>
                <a:srgbClr val="F08C00"/>
              </a:solidFill>
              <a:ln>
                <a:noFill/>
              </a:ln>
            </p:spPr>
          </p:sp>
          <p:sp>
            <p:nvSpPr>
              <p:cNvPr id="17" name="TextBox 17"/>
              <p:cNvSpPr txBox="1"/>
              <p:nvPr/>
            </p:nvSpPr>
            <p:spPr>
              <a:xfrm>
                <a:off x="2642616" y="5197475"/>
                <a:ext cx="1706880"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노후 하수관·공사장 주 1회</a:t>
                </a:r>
              </a:p>
            </p:txBody>
          </p:sp>
          <p:sp>
            <p:nvSpPr>
              <p:cNvPr id="18" name="Rectangle 18"/>
              <p:cNvSpPr/>
              <p:nvPr/>
            </p:nvSpPr>
            <p:spPr>
              <a:xfrm>
                <a:off x="4533900" y="5257800"/>
                <a:ext cx="209550" cy="57150"/>
              </a:xfrm>
              <a:prstGeom prst="rect">
                <a:avLst/>
              </a:prstGeom>
              <a:solidFill>
                <a:srgbClr val="4E8FD9"/>
              </a:solidFill>
              <a:ln>
                <a:noFill/>
              </a:ln>
            </p:spPr>
          </p:sp>
          <p:sp>
            <p:nvSpPr>
              <p:cNvPr id="19" name="TextBox 19"/>
              <p:cNvSpPr txBox="1"/>
              <p:nvPr/>
            </p:nvSpPr>
            <p:spPr>
              <a:xfrm>
                <a:off x="4795266" y="5197475"/>
                <a:ext cx="879977"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역세권 월 1회</a:t>
                </a:r>
              </a:p>
            </p:txBody>
          </p:sp>
          <p:sp>
            <p:nvSpPr>
              <p:cNvPr id="20" name="Rectangle 20"/>
              <p:cNvSpPr/>
              <p:nvPr/>
            </p:nvSpPr>
            <p:spPr>
              <a:xfrm>
                <a:off x="533400" y="5505450"/>
                <a:ext cx="209550" cy="57150"/>
              </a:xfrm>
              <a:prstGeom prst="rect">
                <a:avLst/>
              </a:prstGeom>
              <a:solidFill>
                <a:srgbClr val="3BA55C"/>
              </a:solidFill>
              <a:ln>
                <a:noFill/>
              </a:ln>
            </p:spPr>
          </p:sp>
          <p:sp>
            <p:nvSpPr>
              <p:cNvPr id="21" name="TextBox 21"/>
              <p:cNvSpPr txBox="1"/>
              <p:nvPr/>
            </p:nvSpPr>
            <p:spPr>
              <a:xfrm>
                <a:off x="794766" y="5445125"/>
                <a:ext cx="1304030"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일반 관리 분기~반기</a:t>
                </a:r>
              </a:p>
            </p:txBody>
          </p:sp>
          <p:sp>
            <p:nvSpPr>
              <p:cNvPr id="22" name="Rectangle 22"/>
              <p:cNvSpPr/>
              <p:nvPr/>
            </p:nvSpPr>
            <p:spPr>
              <a:xfrm>
                <a:off x="2381250" y="5505450"/>
                <a:ext cx="209550" cy="57150"/>
              </a:xfrm>
              <a:prstGeom prst="rect">
                <a:avLst/>
              </a:prstGeom>
              <a:solidFill>
                <a:srgbClr val="8B5CF6"/>
              </a:solidFill>
              <a:ln>
                <a:noFill/>
              </a:ln>
            </p:spPr>
          </p:sp>
          <p:sp>
            <p:nvSpPr>
              <p:cNvPr id="23" name="TextBox 23"/>
              <p:cNvSpPr txBox="1"/>
              <p:nvPr/>
            </p:nvSpPr>
            <p:spPr>
              <a:xfrm>
                <a:off x="2642616" y="5445125"/>
                <a:ext cx="1551394" cy="205359"/>
              </a:xfrm>
              <a:prstGeom prst="rect">
                <a:avLst/>
              </a:prstGeom>
              <a:noFill/>
              <a:ln>
                <a:noFill/>
              </a:ln>
            </p:spPr>
            <p:txBody>
              <a:bodyPr wrap="none" lIns="0" tIns="0" rIns="0" bIns="0" anchor="t" anchorCtr="0">
                <a:spAutoFit/>
              </a:bodyPr>
              <a:lstStyle/>
              <a:p>
                <a:pPr algn="l"/>
                <a:r>
                  <a:rPr lang="ko-KR" sz="1050" dirty="0">
                    <a:solidFill>
                      <a:srgbClr val="111827"/>
                    </a:solidFill>
                    <a:latin typeface="+mn-lt"/>
                    <a:ea typeface="+mn-ea"/>
                    <a:cs typeface="+mn-cs"/>
                  </a:rPr>
                  <a:t>집중호우 이후 긴급 조사</a:t>
                </a:r>
              </a:p>
            </p:txBody>
          </p:sp>
          <p:sp>
            <p:nvSpPr>
              <p:cNvPr id="24" name="TextBox 24"/>
              <p:cNvSpPr txBox="1"/>
              <p:nvPr/>
            </p:nvSpPr>
            <p:spPr>
              <a:xfrm>
                <a:off x="4528566" y="5445125"/>
                <a:ext cx="1989582"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주기는 발주기관과 합의 [예시]</a:t>
                </a:r>
              </a:p>
            </p:txBody>
          </p:sp>
        </p:grpSp>
      </p:grpSp>
      <p:grpSp>
        <p:nvGrpSpPr>
          <p:cNvPr id="50" name="stages"/>
          <p:cNvGrpSpPr/>
          <p:nvPr/>
        </p:nvGrpSpPr>
        <p:grpSpPr>
          <a:xfrm>
            <a:off x="7400925" y="1533525"/>
            <a:ext cx="3674598" cy="3917442"/>
            <a:chOff x="7400925" y="1533525"/>
            <a:chExt cx="3674598" cy="3917442"/>
          </a:xfrm>
        </p:grpSpPr>
        <p:sp>
          <p:nvSpPr>
            <p:cNvPr id="27" name="Line 27"/>
            <p:cNvSpPr/>
            <p:nvPr/>
          </p:nvSpPr>
          <p:spPr>
            <a:xfrm>
              <a:off x="7543800" y="1733550"/>
              <a:ext cx="9525" cy="3352800"/>
            </a:xfrm>
            <a:custGeom>
              <a:avLst/>
              <a:gdLst/>
              <a:ahLst/>
              <a:cxnLst/>
              <a:rect l="l" t="t" r="r" b="b"/>
              <a:pathLst>
                <a:path w="9525" h="3352800">
                  <a:moveTo>
                    <a:pt x="0" y="0"/>
                  </a:moveTo>
                  <a:lnTo>
                    <a:pt x="0" y="3352800"/>
                  </a:lnTo>
                </a:path>
              </a:pathLst>
            </a:custGeom>
            <a:noFill/>
            <a:ln w="19050">
              <a:solidFill>
                <a:srgbClr val="C9D3E2"/>
              </a:solidFill>
            </a:ln>
          </p:spPr>
        </p:sp>
        <p:grpSp>
          <p:nvGrpSpPr>
            <p:cNvPr id="38" name="Group 38"/>
            <p:cNvGrpSpPr/>
            <p:nvPr/>
          </p:nvGrpSpPr>
          <p:grpSpPr>
            <a:xfrm>
              <a:off x="7400925" y="1533525"/>
              <a:ext cx="285750" cy="3638550"/>
              <a:chOff x="7400925" y="1533525"/>
              <a:chExt cx="285750" cy="3638550"/>
            </a:xfrm>
          </p:grpSpPr>
          <p:sp>
            <p:nvSpPr>
              <p:cNvPr id="28" name="Ellipse 28"/>
              <p:cNvSpPr/>
              <p:nvPr/>
            </p:nvSpPr>
            <p:spPr>
              <a:xfrm>
                <a:off x="7400925" y="1533525"/>
                <a:ext cx="285750" cy="285750"/>
              </a:xfrm>
              <a:prstGeom prst="ellipse">
                <a:avLst/>
              </a:prstGeom>
              <a:solidFill>
                <a:srgbClr val="E8ECF2"/>
              </a:solidFill>
              <a:ln>
                <a:noFill/>
              </a:ln>
            </p:spPr>
          </p:sp>
          <p:sp>
            <p:nvSpPr>
              <p:cNvPr id="29" name="TextBox 29"/>
              <p:cNvSpPr txBox="1"/>
              <p:nvPr/>
            </p:nvSpPr>
            <p:spPr>
              <a:xfrm>
                <a:off x="7494549" y="1584325"/>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1</a:t>
                </a:r>
              </a:p>
            </p:txBody>
          </p:sp>
          <p:sp>
            <p:nvSpPr>
              <p:cNvPr id="30" name="Ellipse 30"/>
              <p:cNvSpPr/>
              <p:nvPr/>
            </p:nvSpPr>
            <p:spPr>
              <a:xfrm>
                <a:off x="7400925" y="2371725"/>
                <a:ext cx="285750" cy="285750"/>
              </a:xfrm>
              <a:prstGeom prst="ellipse">
                <a:avLst/>
              </a:prstGeom>
              <a:solidFill>
                <a:srgbClr val="C9D3E2"/>
              </a:solidFill>
              <a:ln>
                <a:noFill/>
              </a:ln>
            </p:spPr>
          </p:sp>
          <p:sp>
            <p:nvSpPr>
              <p:cNvPr id="31" name="TextBox 31"/>
              <p:cNvSpPr txBox="1"/>
              <p:nvPr/>
            </p:nvSpPr>
            <p:spPr>
              <a:xfrm>
                <a:off x="7494549" y="2422525"/>
                <a:ext cx="98502" cy="220028"/>
              </a:xfrm>
              <a:prstGeom prst="rect">
                <a:avLst/>
              </a:prstGeom>
              <a:noFill/>
              <a:ln>
                <a:noFill/>
              </a:ln>
            </p:spPr>
            <p:txBody>
              <a:bodyPr wrap="none" lIns="0" tIns="0" rIns="0" bIns="0" anchor="t" anchorCtr="0">
                <a:spAutoFit/>
              </a:bodyPr>
              <a:lstStyle/>
              <a:p>
                <a:pPr algn="ctr"/>
                <a:r>
                  <a:rPr lang="ko-KR" sz="1120" b="1" dirty="0">
                    <a:solidFill>
                      <a:srgbClr val="0B1E3C"/>
                    </a:solidFill>
                    <a:latin typeface="+mn-lt"/>
                    <a:ea typeface="+mn-ea"/>
                    <a:cs typeface="+mn-cs"/>
                  </a:rPr>
                  <a:t>2</a:t>
                </a:r>
              </a:p>
            </p:txBody>
          </p:sp>
          <p:sp>
            <p:nvSpPr>
              <p:cNvPr id="32" name="Ellipse 32"/>
              <p:cNvSpPr/>
              <p:nvPr/>
            </p:nvSpPr>
            <p:spPr>
              <a:xfrm>
                <a:off x="7400925" y="3209925"/>
                <a:ext cx="285750" cy="285750"/>
              </a:xfrm>
              <a:prstGeom prst="ellipse">
                <a:avLst/>
              </a:prstGeom>
              <a:solidFill>
                <a:srgbClr val="2E4A78"/>
              </a:solidFill>
              <a:ln>
                <a:noFill/>
              </a:ln>
            </p:spPr>
          </p:sp>
          <p:sp>
            <p:nvSpPr>
              <p:cNvPr id="33" name="TextBox 33"/>
              <p:cNvSpPr txBox="1"/>
              <p:nvPr/>
            </p:nvSpPr>
            <p:spPr>
              <a:xfrm>
                <a:off x="7494549" y="32607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a:t>
                </a:r>
              </a:p>
            </p:txBody>
          </p:sp>
          <p:sp>
            <p:nvSpPr>
              <p:cNvPr id="34" name="Ellipse 34"/>
              <p:cNvSpPr/>
              <p:nvPr/>
            </p:nvSpPr>
            <p:spPr>
              <a:xfrm>
                <a:off x="7400925" y="4048125"/>
                <a:ext cx="285750" cy="285750"/>
              </a:xfrm>
              <a:prstGeom prst="ellipse">
                <a:avLst/>
              </a:prstGeom>
              <a:solidFill>
                <a:srgbClr val="1C2F52"/>
              </a:solidFill>
              <a:ln>
                <a:noFill/>
              </a:ln>
            </p:spPr>
          </p:sp>
          <p:sp>
            <p:nvSpPr>
              <p:cNvPr id="35" name="TextBox 35"/>
              <p:cNvSpPr txBox="1"/>
              <p:nvPr/>
            </p:nvSpPr>
            <p:spPr>
              <a:xfrm>
                <a:off x="7494549" y="40989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4</a:t>
                </a:r>
              </a:p>
            </p:txBody>
          </p:sp>
          <p:sp>
            <p:nvSpPr>
              <p:cNvPr id="36" name="Ellipse 36"/>
              <p:cNvSpPr/>
              <p:nvPr/>
            </p:nvSpPr>
            <p:spPr>
              <a:xfrm>
                <a:off x="7400925" y="4886325"/>
                <a:ext cx="285750" cy="285750"/>
              </a:xfrm>
              <a:prstGeom prst="ellipse">
                <a:avLst/>
              </a:prstGeom>
              <a:solidFill>
                <a:srgbClr val="0B1E3C"/>
              </a:solidFill>
              <a:ln>
                <a:noFill/>
              </a:ln>
            </p:spPr>
          </p:sp>
          <p:sp>
            <p:nvSpPr>
              <p:cNvPr id="37" name="TextBox 37"/>
              <p:cNvSpPr txBox="1"/>
              <p:nvPr/>
            </p:nvSpPr>
            <p:spPr>
              <a:xfrm>
                <a:off x="7494549" y="4937125"/>
                <a:ext cx="98502" cy="220028"/>
              </a:xfrm>
              <a:prstGeom prst="rect">
                <a:avLst/>
              </a:prstGeom>
              <a:noFill/>
              <a:ln>
                <a:noFill/>
              </a:ln>
            </p:spPr>
            <p:txBody>
              <a:bodyPr wrap="none" lIns="0" tIns="0" rIns="0" bIns="0" anchor="t" anchorCtr="0">
                <a:spAutoFit/>
              </a:bodyPr>
              <a:lstStyle/>
              <a:p>
                <a:pPr algn="ctr"/>
                <a:r>
                  <a:rPr lang="ko-KR" sz="1120" b="1" dirty="0">
                    <a:solidFill>
                      <a:srgbClr val="F5B700"/>
                    </a:solidFill>
                    <a:latin typeface="+mn-lt"/>
                    <a:ea typeface="+mn-ea"/>
                    <a:cs typeface="+mn-cs"/>
                  </a:rPr>
                  <a:t>5</a:t>
                </a:r>
              </a:p>
            </p:txBody>
          </p:sp>
        </p:grpSp>
        <p:grpSp>
          <p:nvGrpSpPr>
            <p:cNvPr id="49" name="Group 49"/>
            <p:cNvGrpSpPr/>
            <p:nvPr/>
          </p:nvGrpSpPr>
          <p:grpSpPr>
            <a:xfrm>
              <a:off x="7821549" y="1549400"/>
              <a:ext cx="3253974" cy="3901567"/>
              <a:chOff x="7821549" y="1549400"/>
              <a:chExt cx="3253974" cy="3901567"/>
            </a:xfrm>
          </p:grpSpPr>
          <p:sp>
            <p:nvSpPr>
              <p:cNvPr id="39" name="TextBox 39"/>
              <p:cNvSpPr txBox="1"/>
              <p:nvPr/>
            </p:nvSpPr>
            <p:spPr>
              <a:xfrm>
                <a:off x="7821549" y="1549400"/>
                <a:ext cx="654101"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파일럿</a:t>
                </a:r>
              </a:p>
            </p:txBody>
          </p:sp>
          <p:sp>
            <p:nvSpPr>
              <p:cNvPr id="40" name="TextBox 40"/>
              <p:cNvSpPr txBox="1"/>
              <p:nvPr/>
            </p:nvSpPr>
            <p:spPr>
              <a:xfrm>
                <a:off x="7823073" y="1847850"/>
                <a:ext cx="2675199"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지하철 공사구간·노후 하수관 주변</a:t>
                </a:r>
              </a:p>
            </p:txBody>
          </p:sp>
          <p:sp>
            <p:nvSpPr>
              <p:cNvPr id="41" name="TextBox 41"/>
              <p:cNvSpPr txBox="1"/>
              <p:nvPr/>
            </p:nvSpPr>
            <p:spPr>
              <a:xfrm>
                <a:off x="7821549" y="2400300"/>
                <a:ext cx="1638900"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자치구 정기 순찰</a:t>
                </a:r>
              </a:p>
            </p:txBody>
          </p:sp>
          <p:sp>
            <p:nvSpPr>
              <p:cNvPr id="42" name="TextBox 42"/>
              <p:cNvSpPr txBox="1"/>
              <p:nvPr/>
            </p:nvSpPr>
            <p:spPr>
              <a:xfrm>
                <a:off x="7823073" y="2686050"/>
                <a:ext cx="2856128"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위험도별 주기로 같은 길을 반복 관리</a:t>
                </a:r>
              </a:p>
            </p:txBody>
          </p:sp>
          <p:sp>
            <p:nvSpPr>
              <p:cNvPr id="43" name="TextBox 43"/>
              <p:cNvSpPr txBox="1"/>
              <p:nvPr/>
            </p:nvSpPr>
            <p:spPr>
              <a:xfrm>
                <a:off x="7821549" y="3238500"/>
                <a:ext cx="1393954"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PV5 플릿 운영</a:t>
                </a:r>
              </a:p>
            </p:txBody>
          </p:sp>
          <p:sp>
            <p:nvSpPr>
              <p:cNvPr id="44" name="TextBox 44"/>
              <p:cNvSpPr txBox="1"/>
              <p:nvPr/>
            </p:nvSpPr>
            <p:spPr>
              <a:xfrm>
                <a:off x="7823073" y="3524250"/>
                <a:ext cx="3252450"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여러 대가 권역을 나눠 같은 기준으로 순찰</a:t>
                </a:r>
              </a:p>
            </p:txBody>
          </p:sp>
          <p:sp>
            <p:nvSpPr>
              <p:cNvPr id="45" name="TextBox 45"/>
              <p:cNvSpPr txBox="1"/>
              <p:nvPr/>
            </p:nvSpPr>
            <p:spPr>
              <a:xfrm>
                <a:off x="7821549" y="4076700"/>
                <a:ext cx="1638900"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지하 데이터 결합</a:t>
                </a:r>
              </a:p>
            </p:txBody>
          </p:sp>
          <p:sp>
            <p:nvSpPr>
              <p:cNvPr id="46" name="TextBox 46"/>
              <p:cNvSpPr txBox="1"/>
              <p:nvPr/>
            </p:nvSpPr>
            <p:spPr>
              <a:xfrm>
                <a:off x="7823073" y="4362450"/>
                <a:ext cx="3200756"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하수관·굴착공사·지하수·강우·보수 이력</a:t>
                </a:r>
              </a:p>
            </p:txBody>
          </p:sp>
          <p:sp>
            <p:nvSpPr>
              <p:cNvPr id="47" name="TextBox 47"/>
              <p:cNvSpPr txBox="1"/>
              <p:nvPr/>
            </p:nvSpPr>
            <p:spPr>
              <a:xfrm>
                <a:off x="7821549" y="4914900"/>
                <a:ext cx="2181966" cy="308991"/>
              </a:xfrm>
              <a:prstGeom prst="rect">
                <a:avLst/>
              </a:prstGeom>
              <a:noFill/>
              <a:ln>
                <a:noFill/>
              </a:ln>
            </p:spPr>
            <p:txBody>
              <a:bodyPr wrap="none" lIns="0" tIns="0" rIns="0" bIns="0" anchor="t" anchorCtr="0">
                <a:spAutoFit/>
              </a:bodyPr>
              <a:lstStyle/>
              <a:p>
                <a:pPr algn="l"/>
                <a:r>
                  <a:rPr lang="ko-KR" sz="1580" b="1" dirty="0">
                    <a:solidFill>
                      <a:srgbClr val="111827"/>
                    </a:solidFill>
                    <a:latin typeface="+mn-lt"/>
                    <a:ea typeface="+mn-ea"/>
                    <a:cs typeface="+mn-cs"/>
                  </a:rPr>
                  <a:t>4D 도시 지하 변화지도</a:t>
                </a:r>
              </a:p>
            </p:txBody>
          </p:sp>
          <p:sp>
            <p:nvSpPr>
              <p:cNvPr id="48" name="TextBox 48"/>
              <p:cNvSpPr txBox="1"/>
              <p:nvPr/>
            </p:nvSpPr>
            <p:spPr>
              <a:xfrm>
                <a:off x="7823073" y="5200650"/>
                <a:ext cx="2580427" cy="250317"/>
              </a:xfrm>
              <a:prstGeom prst="rect">
                <a:avLst/>
              </a:prstGeom>
              <a:noFill/>
              <a:ln>
                <a:noFill/>
              </a:ln>
            </p:spPr>
            <p:txBody>
              <a:bodyPr wrap="none" lIns="0" tIns="0" rIns="0" bIns="0" anchor="t" anchorCtr="0">
                <a:spAutoFit/>
              </a:bodyPr>
              <a:lstStyle/>
              <a:p>
                <a:pPr algn="l"/>
                <a:r>
                  <a:rPr lang="ko-KR" sz="1280" dirty="0">
                    <a:solidFill>
                      <a:srgbClr val="4B5563"/>
                    </a:solidFill>
                    <a:latin typeface="+mn-lt"/>
                    <a:ea typeface="+mn-ea"/>
                    <a:cs typeface="+mn-cs"/>
                  </a:rPr>
                  <a:t>계약기관이 접근권한 안에서 활용</a:t>
                </a:r>
              </a:p>
            </p:txBody>
          </p:sp>
        </p:grpSp>
      </p:grpSp>
      <p:grpSp>
        <p:nvGrpSpPr>
          <p:cNvPr id="63" name="targets"/>
          <p:cNvGrpSpPr/>
          <p:nvPr/>
        </p:nvGrpSpPr>
        <p:grpSpPr>
          <a:xfrm>
            <a:off x="527304" y="5810250"/>
            <a:ext cx="10369296" cy="304800"/>
            <a:chOff x="527304" y="5810250"/>
            <a:chExt cx="10369296" cy="304800"/>
          </a:xfrm>
        </p:grpSpPr>
        <p:sp>
          <p:nvSpPr>
            <p:cNvPr id="51" name="TextBox 51"/>
            <p:cNvSpPr txBox="1"/>
            <p:nvPr/>
          </p:nvSpPr>
          <p:spPr>
            <a:xfrm>
              <a:off x="527304" y="5867400"/>
              <a:ext cx="709254"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확장 대상</a:t>
              </a:r>
            </a:p>
          </p:txBody>
        </p:sp>
        <p:grpSp>
          <p:nvGrpSpPr>
            <p:cNvPr id="62" name="Group 62"/>
            <p:cNvGrpSpPr/>
            <p:nvPr/>
          </p:nvGrpSpPr>
          <p:grpSpPr>
            <a:xfrm>
              <a:off x="1333500" y="5810250"/>
              <a:ext cx="9563100" cy="304800"/>
              <a:chOff x="1333500" y="5810250"/>
              <a:chExt cx="9563100" cy="304800"/>
            </a:xfrm>
          </p:grpSpPr>
          <p:sp>
            <p:nvSpPr>
              <p:cNvPr id="52" name="Rectangle 52"/>
              <p:cNvSpPr/>
              <p:nvPr/>
            </p:nvSpPr>
            <p:spPr>
              <a:xfrm>
                <a:off x="1333500" y="5810250"/>
                <a:ext cx="1866900" cy="304800"/>
              </a:xfrm>
              <a:prstGeom prst="roundRect">
                <a:avLst>
                  <a:gd name="adj" fmla="val 50000"/>
                </a:avLst>
              </a:prstGeom>
              <a:noFill/>
              <a:ln w="9525">
                <a:solidFill>
                  <a:srgbClr val="9AA3AF"/>
                </a:solidFill>
              </a:ln>
            </p:spPr>
          </p:sp>
          <p:sp>
            <p:nvSpPr>
              <p:cNvPr id="53" name="TextBox 53"/>
              <p:cNvSpPr txBox="1"/>
              <p:nvPr/>
            </p:nvSpPr>
            <p:spPr>
              <a:xfrm>
                <a:off x="1443284" y="5870575"/>
                <a:ext cx="1647332"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서울시·자치구 도로관리</a:t>
                </a:r>
              </a:p>
            </p:txBody>
          </p:sp>
          <p:sp>
            <p:nvSpPr>
              <p:cNvPr id="54" name="Rectangle 54"/>
              <p:cNvSpPr/>
              <p:nvPr/>
            </p:nvSpPr>
            <p:spPr>
              <a:xfrm>
                <a:off x="3314700" y="5810250"/>
                <a:ext cx="1771650" cy="304800"/>
              </a:xfrm>
              <a:prstGeom prst="roundRect">
                <a:avLst>
                  <a:gd name="adj" fmla="val 50000"/>
                </a:avLst>
              </a:prstGeom>
              <a:noFill/>
              <a:ln w="9525">
                <a:solidFill>
                  <a:srgbClr val="9AA3AF"/>
                </a:solidFill>
              </a:ln>
            </p:spPr>
          </p:sp>
          <p:sp>
            <p:nvSpPr>
              <p:cNvPr id="55" name="TextBox 55"/>
              <p:cNvSpPr txBox="1"/>
              <p:nvPr/>
            </p:nvSpPr>
            <p:spPr>
              <a:xfrm>
                <a:off x="3395706" y="5870575"/>
                <a:ext cx="1609639"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도시철도 공사 영향구간</a:t>
                </a:r>
              </a:p>
            </p:txBody>
          </p:sp>
          <p:sp>
            <p:nvSpPr>
              <p:cNvPr id="56" name="Rectangle 56"/>
              <p:cNvSpPr/>
              <p:nvPr/>
            </p:nvSpPr>
            <p:spPr>
              <a:xfrm>
                <a:off x="5200650" y="5810250"/>
                <a:ext cx="1524000" cy="304800"/>
              </a:xfrm>
              <a:prstGeom prst="roundRect">
                <a:avLst>
                  <a:gd name="adj" fmla="val 50000"/>
                </a:avLst>
              </a:prstGeom>
              <a:noFill/>
              <a:ln w="9525">
                <a:solidFill>
                  <a:srgbClr val="9AA3AF"/>
                </a:solidFill>
              </a:ln>
            </p:spPr>
          </p:sp>
          <p:sp>
            <p:nvSpPr>
              <p:cNvPr id="57" name="TextBox 57"/>
              <p:cNvSpPr txBox="1"/>
              <p:nvPr/>
            </p:nvSpPr>
            <p:spPr>
              <a:xfrm>
                <a:off x="5331221" y="5870575"/>
                <a:ext cx="1262858"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상하수도 관리기관</a:t>
                </a:r>
              </a:p>
            </p:txBody>
          </p:sp>
          <p:sp>
            <p:nvSpPr>
              <p:cNvPr id="58" name="Rectangle 58"/>
              <p:cNvSpPr/>
              <p:nvPr/>
            </p:nvSpPr>
            <p:spPr>
              <a:xfrm>
                <a:off x="6838950" y="5810250"/>
                <a:ext cx="2247900" cy="304800"/>
              </a:xfrm>
              <a:prstGeom prst="roundRect">
                <a:avLst>
                  <a:gd name="adj" fmla="val 50000"/>
                </a:avLst>
              </a:prstGeom>
              <a:noFill/>
              <a:ln w="9525">
                <a:solidFill>
                  <a:srgbClr val="9AA3AF"/>
                </a:solidFill>
              </a:ln>
            </p:spPr>
          </p:sp>
          <p:sp>
            <p:nvSpPr>
              <p:cNvPr id="59" name="TextBox 59"/>
              <p:cNvSpPr txBox="1"/>
              <p:nvPr/>
            </p:nvSpPr>
            <p:spPr>
              <a:xfrm>
                <a:off x="6890456" y="5870575"/>
                <a:ext cx="2144888"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대형 굴착공사 발주기관·시공사</a:t>
                </a:r>
              </a:p>
            </p:txBody>
          </p:sp>
          <p:sp>
            <p:nvSpPr>
              <p:cNvPr id="60" name="Rectangle 60"/>
              <p:cNvSpPr/>
              <p:nvPr/>
            </p:nvSpPr>
            <p:spPr>
              <a:xfrm>
                <a:off x="9201150" y="5810250"/>
                <a:ext cx="1695450" cy="304800"/>
              </a:xfrm>
              <a:prstGeom prst="roundRect">
                <a:avLst>
                  <a:gd name="adj" fmla="val 50000"/>
                </a:avLst>
              </a:prstGeom>
              <a:noFill/>
              <a:ln w="9525">
                <a:solidFill>
                  <a:srgbClr val="9AA3AF"/>
                </a:solidFill>
              </a:ln>
            </p:spPr>
          </p:sp>
          <p:sp>
            <p:nvSpPr>
              <p:cNvPr id="61" name="TextBox 61"/>
              <p:cNvSpPr txBox="1"/>
              <p:nvPr/>
            </p:nvSpPr>
            <p:spPr>
              <a:xfrm>
                <a:off x="9296827" y="5870575"/>
                <a:ext cx="1504097" cy="220028"/>
              </a:xfrm>
              <a:prstGeom prst="rect">
                <a:avLst/>
              </a:prstGeom>
              <a:noFill/>
              <a:ln>
                <a:noFill/>
              </a:ln>
            </p:spPr>
            <p:txBody>
              <a:bodyPr wrap="none" lIns="0" tIns="0" rIns="0" bIns="0" anchor="t" anchorCtr="0">
                <a:spAutoFit/>
              </a:bodyPr>
              <a:lstStyle/>
              <a:p>
                <a:pPr algn="ctr"/>
                <a:r>
                  <a:rPr lang="ko-KR" sz="1120" dirty="0">
                    <a:solidFill>
                      <a:srgbClr val="0B1E3C"/>
                    </a:solidFill>
                    <a:latin typeface="+mn-lt"/>
                    <a:ea typeface="+mn-ea"/>
                    <a:cs typeface="+mn-cs"/>
                  </a:rPr>
                  <a:t>집중호우 후 긴급 탐사</a:t>
                </a:r>
              </a:p>
            </p:txBody>
          </p:sp>
        </p:grpSp>
      </p:grpSp>
      <p:grpSp>
        <p:nvGrpSpPr>
          <p:cNvPr id="65" name="data-policy"/>
          <p:cNvGrpSpPr/>
          <p:nvPr/>
        </p:nvGrpSpPr>
        <p:grpSpPr>
          <a:xfrm>
            <a:off x="527685" y="6261100"/>
            <a:ext cx="9544407" cy="220028"/>
            <a:chOff x="527685" y="6261100"/>
            <a:chExt cx="9544407" cy="220028"/>
          </a:xfrm>
        </p:grpSpPr>
        <p:sp>
          <p:nvSpPr>
            <p:cNvPr id="64" name="TextBox 64"/>
            <p:cNvSpPr txBox="1"/>
            <p:nvPr/>
          </p:nvSpPr>
          <p:spPr>
            <a:xfrm>
              <a:off x="527685" y="6261100"/>
              <a:ext cx="9544407" cy="220028"/>
            </a:xfrm>
            <a:prstGeom prst="rect">
              <a:avLst/>
            </a:prstGeom>
            <a:noFill/>
            <a:ln>
              <a:noFill/>
            </a:ln>
          </p:spPr>
          <p:txBody>
            <a:bodyPr wrap="none" lIns="0" tIns="0" rIns="0" bIns="0" anchor="t" anchorCtr="0">
              <a:spAutoFit/>
            </a:bodyPr>
            <a:lstStyle/>
            <a:p>
              <a:pPr algn="l"/>
              <a:r>
                <a:rPr lang="ko-KR" sz="1120" b="1" dirty="0">
                  <a:solidFill>
                    <a:srgbClr val="C62828"/>
                  </a:solidFill>
                  <a:latin typeface="+mn-lt"/>
                  <a:ea typeface="+mn-ea"/>
                  <a:cs typeface="+mn-cs"/>
                </a:rPr>
                <a:t>지하 데이터는 판매하지 않습니다.</a:t>
              </a:r>
              <a:r>
                <a:rPr lang="ko-KR" sz="1120" dirty="0">
                  <a:solidFill>
                    <a:srgbClr val="4B5563"/>
                  </a:solidFill>
                  <a:latin typeface="+mn-lt"/>
                  <a:ea typeface="+mn-ea"/>
                  <a:cs typeface="+mn-cs"/>
                </a:rPr>
                <a:t xml:space="preserve"> 계약기관 내부의 접근제어형 관제 서비스로만 제공합니다 · 지도 데이터 © OpenStreetMap contributors</a:t>
              </a:r>
            </a:p>
          </p:txBody>
        </p:sp>
      </p:grpSp>
      <p:grpSp>
        <p:nvGrpSpPr>
          <p:cNvPr id="68" name="footer"/>
          <p:cNvGrpSpPr/>
          <p:nvPr/>
        </p:nvGrpSpPr>
        <p:grpSpPr>
          <a:xfrm>
            <a:off x="528638" y="6610350"/>
            <a:ext cx="11134724" cy="176212"/>
            <a:chOff x="528638" y="6610350"/>
            <a:chExt cx="11134724" cy="176212"/>
          </a:xfrm>
        </p:grpSpPr>
        <p:sp>
          <p:nvSpPr>
            <p:cNvPr id="66" name="TextBox 6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7" name="TextBox 6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12 / 16</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704850" cy="228600"/>
            </a:xfrm>
            <a:prstGeom prst="rect">
              <a:avLst/>
            </a:prstGeom>
            <a:solidFill>
              <a:srgbClr val="F5B700"/>
            </a:solidFill>
            <a:ln>
              <a:noFill/>
            </a:ln>
          </p:spPr>
        </p:sp>
        <p:sp>
          <p:nvSpPr>
            <p:cNvPr id="5" name="TextBox 5"/>
            <p:cNvSpPr txBox="1"/>
            <p:nvPr/>
          </p:nvSpPr>
          <p:spPr>
            <a:xfrm>
              <a:off x="1929738" y="314325"/>
              <a:ext cx="579174"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사업 모델</a:t>
              </a:r>
            </a:p>
          </p:txBody>
        </p:sp>
        <p:sp>
          <p:nvSpPr>
            <p:cNvPr id="6" name="TextBox 6"/>
            <p:cNvSpPr txBox="1"/>
            <p:nvPr/>
          </p:nvSpPr>
          <p:spPr>
            <a:xfrm>
              <a:off x="2680716" y="301625"/>
              <a:ext cx="1192416" cy="205359"/>
            </a:xfrm>
            <a:prstGeom prst="rect">
              <a:avLst/>
            </a:prstGeom>
            <a:noFill/>
            <a:ln>
              <a:noFill/>
            </a:ln>
          </p:spPr>
          <p:txBody>
            <a:bodyPr wrap="none" lIns="0" tIns="0" rIns="0" bIns="0" anchor="t" anchorCtr="0">
              <a:spAutoFit/>
            </a:bodyPr>
            <a:lstStyle/>
            <a:p>
              <a:pPr algn="l"/>
              <a:r>
                <a:rPr lang="ko-KR" sz="1050" dirty="0">
                  <a:solidFill>
                    <a:srgbClr val="4B5563"/>
                  </a:solidFill>
                  <a:latin typeface="+mn-lt"/>
                  <a:ea typeface="+mn-ea"/>
                  <a:cs typeface="+mn-cs"/>
                </a:rPr>
                <a:t>B2G 비즈니스 모델</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800100"/>
            <a:ext cx="9676154" cy="557403"/>
            <a:chOff x="518922" y="800100"/>
            <a:chExt cx="9676154" cy="557403"/>
          </a:xfrm>
        </p:grpSpPr>
        <p:sp>
          <p:nvSpPr>
            <p:cNvPr id="9" name="TextBox 9"/>
            <p:cNvSpPr txBox="1"/>
            <p:nvPr/>
          </p:nvSpPr>
          <p:spPr>
            <a:xfrm>
              <a:off x="518922" y="800100"/>
              <a:ext cx="9676154"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지자체 탐사 용역으로 시작해 연간 반복관제로 전환합니다</a:t>
              </a:r>
            </a:p>
          </p:txBody>
        </p:sp>
      </p:grpSp>
      <p:grpSp>
        <p:nvGrpSpPr>
          <p:cNvPr id="27" name="revenue-steps"/>
          <p:cNvGrpSpPr/>
          <p:nvPr/>
        </p:nvGrpSpPr>
        <p:grpSpPr>
          <a:xfrm>
            <a:off x="518160" y="1498600"/>
            <a:ext cx="5037201" cy="3088767"/>
            <a:chOff x="518160" y="1498600"/>
            <a:chExt cx="5037201" cy="3088767"/>
          </a:xfrm>
        </p:grpSpPr>
        <p:grpSp>
          <p:nvGrpSpPr>
            <p:cNvPr id="14" name="rev-1"/>
            <p:cNvGrpSpPr/>
            <p:nvPr/>
          </p:nvGrpSpPr>
          <p:grpSpPr>
            <a:xfrm>
              <a:off x="518160" y="1498600"/>
              <a:ext cx="3956177" cy="802767"/>
              <a:chOff x="518160" y="1498600"/>
              <a:chExt cx="3956177" cy="802767"/>
            </a:xfrm>
          </p:grpSpPr>
          <p:sp>
            <p:nvSpPr>
              <p:cNvPr id="11" name="TextBox 11"/>
              <p:cNvSpPr txBox="1"/>
              <p:nvPr/>
            </p:nvSpPr>
            <p:spPr>
              <a:xfrm>
                <a:off x="518160" y="1498600"/>
                <a:ext cx="496938" cy="586740"/>
              </a:xfrm>
              <a:prstGeom prst="rect">
                <a:avLst/>
              </a:prstGeom>
              <a:noFill/>
              <a:ln>
                <a:noFill/>
              </a:ln>
            </p:spPr>
            <p:txBody>
              <a:bodyPr wrap="none" lIns="0" tIns="0" rIns="0" bIns="0" anchor="t" anchorCtr="0">
                <a:spAutoFit/>
              </a:bodyPr>
              <a:lstStyle/>
              <a:p>
                <a:pPr algn="l"/>
                <a:r>
                  <a:rPr lang="ko-KR" sz="3000" b="1" dirty="0">
                    <a:solidFill>
                      <a:srgbClr val="C9D3E2"/>
                    </a:solidFill>
                    <a:latin typeface="+mn-lt"/>
                    <a:ea typeface="+mn-ea"/>
                    <a:cs typeface="+mn-cs"/>
                  </a:rPr>
                  <a:t>01</a:t>
                </a:r>
              </a:p>
            </p:txBody>
          </p:sp>
          <p:sp>
            <p:nvSpPr>
              <p:cNvPr id="12" name="TextBox 12"/>
              <p:cNvSpPr txBox="1"/>
              <p:nvPr/>
            </p:nvSpPr>
            <p:spPr>
              <a:xfrm>
                <a:off x="1248156" y="1517650"/>
                <a:ext cx="1867159"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파일럿 탐사 용역</a:t>
                </a:r>
              </a:p>
            </p:txBody>
          </p:sp>
          <p:sp>
            <p:nvSpPr>
              <p:cNvPr id="13" name="TextBox 13"/>
              <p:cNvSpPr txBox="1"/>
              <p:nvPr/>
            </p:nvSpPr>
            <p:spPr>
              <a:xfrm>
                <a:off x="1250823" y="1822450"/>
                <a:ext cx="3223514"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4B5563"/>
                    </a:solidFill>
                    <a:latin typeface="+mn-lt"/>
                    <a:ea typeface="+mn-ea"/>
                    <a:cs typeface="+mn-cs"/>
                  </a:rPr>
                  <a:t>위험구간·공사구간의 거리와 회차 기준 계약</a:t>
                </a:r>
                <a:br>
                  <a:rPr lang="ko-KR" sz="1280" dirty="0">
                    <a:solidFill>
                      <a:srgbClr val="4B5563"/>
                    </a:solidFill>
                    <a:latin typeface="+mn-lt"/>
                    <a:ea typeface="+mn-ea"/>
                    <a:cs typeface="+mn-cs"/>
                  </a:rPr>
                </a:br>
                <a:r>
                  <a:rPr lang="ko-KR" sz="1280" dirty="0">
                    <a:solidFill>
                      <a:srgbClr val="4B5563"/>
                    </a:solidFill>
                    <a:latin typeface="+mn-lt"/>
                    <a:ea typeface="+mn-ea"/>
                    <a:cs typeface="+mn-cs"/>
                  </a:rPr>
                  <a:t>기존 조사 결과와 비교한 실증 보고서 제공</a:t>
                </a:r>
              </a:p>
            </p:txBody>
          </p:sp>
        </p:grpSp>
        <p:sp>
          <p:nvSpPr>
            <p:cNvPr id="15" name="Line 15"/>
            <p:cNvSpPr/>
            <p:nvPr/>
          </p:nvSpPr>
          <p:spPr>
            <a:xfrm>
              <a:off x="762000" y="2057400"/>
              <a:ext cx="1" cy="495300"/>
            </a:xfrm>
            <a:prstGeom prst="line">
              <a:avLst/>
            </a:prstGeom>
            <a:noFill/>
            <a:ln w="19050">
              <a:solidFill>
                <a:srgbClr val="9AA3AF"/>
              </a:solidFill>
              <a:tailEnd type="triangle" w="lg" len="lg"/>
            </a:ln>
          </p:spPr>
        </p:sp>
        <p:grpSp>
          <p:nvGrpSpPr>
            <p:cNvPr id="21" name="rev-2"/>
            <p:cNvGrpSpPr/>
            <p:nvPr/>
          </p:nvGrpSpPr>
          <p:grpSpPr>
            <a:xfrm>
              <a:off x="518160" y="2641600"/>
              <a:ext cx="4460113" cy="802767"/>
              <a:chOff x="518160" y="2641600"/>
              <a:chExt cx="4460113" cy="802767"/>
            </a:xfrm>
          </p:grpSpPr>
          <p:sp>
            <p:nvSpPr>
              <p:cNvPr id="16" name="TextBox 16"/>
              <p:cNvSpPr txBox="1"/>
              <p:nvPr/>
            </p:nvSpPr>
            <p:spPr>
              <a:xfrm>
                <a:off x="518160" y="2641600"/>
                <a:ext cx="496938" cy="586740"/>
              </a:xfrm>
              <a:prstGeom prst="rect">
                <a:avLst/>
              </a:prstGeom>
              <a:noFill/>
              <a:ln>
                <a:noFill/>
              </a:ln>
            </p:spPr>
            <p:txBody>
              <a:bodyPr wrap="none" lIns="0" tIns="0" rIns="0" bIns="0" anchor="t" anchorCtr="0">
                <a:spAutoFit/>
              </a:bodyPr>
              <a:lstStyle/>
              <a:p>
                <a:pPr algn="l"/>
                <a:r>
                  <a:rPr lang="ko-KR" sz="3000" b="1" dirty="0">
                    <a:solidFill>
                      <a:srgbClr val="2E4A78"/>
                    </a:solidFill>
                    <a:latin typeface="+mn-lt"/>
                    <a:ea typeface="+mn-ea"/>
                    <a:cs typeface="+mn-cs"/>
                  </a:rPr>
                  <a:t>02</a:t>
                </a:r>
              </a:p>
            </p:txBody>
          </p:sp>
          <p:sp>
            <p:nvSpPr>
              <p:cNvPr id="17" name="TextBox 17"/>
              <p:cNvSpPr txBox="1"/>
              <p:nvPr/>
            </p:nvSpPr>
            <p:spPr>
              <a:xfrm>
                <a:off x="1248156" y="2660650"/>
                <a:ext cx="2109475"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연간 반복관제 계약</a:t>
                </a:r>
              </a:p>
            </p:txBody>
          </p:sp>
          <p:sp>
            <p:nvSpPr>
              <p:cNvPr id="18" name="TextBox 18"/>
              <p:cNvSpPr txBox="1"/>
              <p:nvPr/>
            </p:nvSpPr>
            <p:spPr>
              <a:xfrm>
                <a:off x="1250823" y="2965450"/>
                <a:ext cx="3727450"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4B5563"/>
                    </a:solidFill>
                    <a:latin typeface="+mn-lt"/>
                    <a:ea typeface="+mn-ea"/>
                    <a:cs typeface="+mn-cs"/>
                  </a:rPr>
                  <a:t>정기 순찰·변화 감지·재확인 업무·기관용 대시보드</a:t>
                </a:r>
                <a:br>
                  <a:rPr lang="ko-KR" sz="1280" dirty="0">
                    <a:solidFill>
                      <a:srgbClr val="4B5563"/>
                    </a:solidFill>
                    <a:latin typeface="+mn-lt"/>
                    <a:ea typeface="+mn-ea"/>
                    <a:cs typeface="+mn-cs"/>
                  </a:rPr>
                </a:br>
                <a:r>
                  <a:rPr lang="ko-KR" sz="1280" dirty="0">
                    <a:solidFill>
                      <a:srgbClr val="4B5563"/>
                    </a:solidFill>
                    <a:latin typeface="+mn-lt"/>
                    <a:ea typeface="+mn-ea"/>
                    <a:cs typeface="+mn-cs"/>
                  </a:rPr>
                  <a:t>집중호우·민원 발생 시 긴급조사 옵션</a:t>
                </a:r>
              </a:p>
            </p:txBody>
          </p:sp>
          <p:sp>
            <p:nvSpPr>
              <p:cNvPr id="19" name="Rectangle 19"/>
              <p:cNvSpPr/>
              <p:nvPr/>
            </p:nvSpPr>
            <p:spPr>
              <a:xfrm>
                <a:off x="3638550" y="2705100"/>
                <a:ext cx="1066800" cy="228600"/>
              </a:xfrm>
              <a:prstGeom prst="roundRect">
                <a:avLst>
                  <a:gd name="adj" fmla="val 16667"/>
                </a:avLst>
              </a:prstGeom>
              <a:noFill/>
              <a:ln w="14288">
                <a:solidFill>
                  <a:srgbClr val="C99600"/>
                </a:solidFill>
              </a:ln>
            </p:spPr>
          </p:sp>
          <p:sp>
            <p:nvSpPr>
              <p:cNvPr id="20" name="TextBox 20"/>
              <p:cNvSpPr txBox="1"/>
              <p:nvPr/>
            </p:nvSpPr>
            <p:spPr>
              <a:xfrm>
                <a:off x="3698037" y="2740025"/>
                <a:ext cx="947825" cy="205359"/>
              </a:xfrm>
              <a:prstGeom prst="rect">
                <a:avLst/>
              </a:prstGeom>
              <a:noFill/>
              <a:ln>
                <a:noFill/>
              </a:ln>
            </p:spPr>
            <p:txBody>
              <a:bodyPr wrap="none" lIns="0" tIns="0" rIns="0" bIns="0" anchor="t" anchorCtr="0">
                <a:spAutoFit/>
              </a:bodyPr>
              <a:lstStyle/>
              <a:p>
                <a:pPr algn="ctr"/>
                <a:r>
                  <a:rPr lang="ko-KR" sz="1050" b="1" dirty="0">
                    <a:solidFill>
                      <a:srgbClr val="8A5A00"/>
                    </a:solidFill>
                    <a:latin typeface="+mn-lt"/>
                    <a:ea typeface="+mn-ea"/>
                    <a:cs typeface="+mn-cs"/>
                  </a:rPr>
                  <a:t>핵심 반복 매출</a:t>
                </a:r>
              </a:p>
            </p:txBody>
          </p:sp>
        </p:grpSp>
        <p:sp>
          <p:nvSpPr>
            <p:cNvPr id="22" name="Line 22"/>
            <p:cNvSpPr/>
            <p:nvPr/>
          </p:nvSpPr>
          <p:spPr>
            <a:xfrm>
              <a:off x="762000" y="3200400"/>
              <a:ext cx="1" cy="495300"/>
            </a:xfrm>
            <a:prstGeom prst="line">
              <a:avLst/>
            </a:prstGeom>
            <a:noFill/>
            <a:ln w="19050">
              <a:solidFill>
                <a:srgbClr val="9AA3AF"/>
              </a:solidFill>
              <a:tailEnd type="triangle" w="lg" len="lg"/>
            </a:ln>
          </p:spPr>
        </p:sp>
        <p:grpSp>
          <p:nvGrpSpPr>
            <p:cNvPr id="26" name="rev-3"/>
            <p:cNvGrpSpPr/>
            <p:nvPr/>
          </p:nvGrpSpPr>
          <p:grpSpPr>
            <a:xfrm>
              <a:off x="518160" y="3784600"/>
              <a:ext cx="5037201" cy="802767"/>
              <a:chOff x="518160" y="3784600"/>
              <a:chExt cx="5037201" cy="802767"/>
            </a:xfrm>
          </p:grpSpPr>
          <p:sp>
            <p:nvSpPr>
              <p:cNvPr id="23" name="TextBox 23"/>
              <p:cNvSpPr txBox="1"/>
              <p:nvPr/>
            </p:nvSpPr>
            <p:spPr>
              <a:xfrm>
                <a:off x="518160" y="3784600"/>
                <a:ext cx="496938" cy="586740"/>
              </a:xfrm>
              <a:prstGeom prst="rect">
                <a:avLst/>
              </a:prstGeom>
              <a:noFill/>
              <a:ln>
                <a:noFill/>
              </a:ln>
            </p:spPr>
            <p:txBody>
              <a:bodyPr wrap="none" lIns="0" tIns="0" rIns="0" bIns="0" anchor="t" anchorCtr="0">
                <a:spAutoFit/>
              </a:bodyPr>
              <a:lstStyle/>
              <a:p>
                <a:pPr algn="l"/>
                <a:r>
                  <a:rPr lang="ko-KR" sz="3000" b="1" dirty="0">
                    <a:solidFill>
                      <a:srgbClr val="0B1E3C"/>
                    </a:solidFill>
                    <a:latin typeface="+mn-lt"/>
                    <a:ea typeface="+mn-ea"/>
                    <a:cs typeface="+mn-cs"/>
                  </a:rPr>
                  <a:t>03</a:t>
                </a:r>
              </a:p>
            </p:txBody>
          </p:sp>
          <p:sp>
            <p:nvSpPr>
              <p:cNvPr id="24" name="TextBox 24"/>
              <p:cNvSpPr txBox="1"/>
              <p:nvPr/>
            </p:nvSpPr>
            <p:spPr>
              <a:xfrm>
                <a:off x="1248156" y="3803650"/>
                <a:ext cx="2657715" cy="352044"/>
              </a:xfrm>
              <a:prstGeom prst="rect">
                <a:avLst/>
              </a:prstGeom>
              <a:noFill/>
              <a:ln>
                <a:noFill/>
              </a:ln>
            </p:spPr>
            <p:txBody>
              <a:bodyPr wrap="none" lIns="0" tIns="0" rIns="0" bIns="0" anchor="t" anchorCtr="0">
                <a:spAutoFit/>
              </a:bodyPr>
              <a:lstStyle/>
              <a:p>
                <a:pPr algn="l"/>
                <a:r>
                  <a:rPr lang="ko-KR" sz="1800" b="1" dirty="0">
                    <a:solidFill>
                      <a:srgbClr val="0B1E3C"/>
                    </a:solidFill>
                    <a:latin typeface="+mn-lt"/>
                    <a:ea typeface="+mn-ea"/>
                    <a:cs typeface="+mn-cs"/>
                  </a:rPr>
                  <a:t>차량·소프트웨어 패키지</a:t>
                </a:r>
              </a:p>
            </p:txBody>
          </p:sp>
          <p:sp>
            <p:nvSpPr>
              <p:cNvPr id="25" name="TextBox 25"/>
              <p:cNvSpPr txBox="1"/>
              <p:nvPr/>
            </p:nvSpPr>
            <p:spPr>
              <a:xfrm>
                <a:off x="1250823" y="4108450"/>
                <a:ext cx="4304538"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4B5563"/>
                    </a:solidFill>
                    <a:latin typeface="+mn-lt"/>
                    <a:ea typeface="+mn-ea"/>
                    <a:cs typeface="+mn-cs"/>
                  </a:rPr>
                  <a:t>검증 이후 PV5 컨버전 차량·센서·Patrol 앱·Edge Gateway</a:t>
                </a:r>
                <a:br>
                  <a:rPr lang="ko-KR" sz="1280" dirty="0">
                    <a:solidFill>
                      <a:srgbClr val="4B5563"/>
                    </a:solidFill>
                    <a:latin typeface="+mn-lt"/>
                    <a:ea typeface="+mn-ea"/>
                    <a:cs typeface="+mn-cs"/>
                  </a:rPr>
                </a:br>
                <a:r>
                  <a:rPr lang="ko-KR" sz="1280" dirty="0">
                    <a:solidFill>
                      <a:srgbClr val="4B5563"/>
                    </a:solidFill>
                    <a:latin typeface="+mn-lt"/>
                    <a:ea typeface="+mn-ea"/>
                    <a:cs typeface="+mn-cs"/>
                  </a:rPr>
                  <a:t>AI 분석·관제 대시보드·AR·교육·유지보수 일괄 제공</a:t>
                </a:r>
              </a:p>
            </p:txBody>
          </p:sp>
        </p:grpSp>
      </p:grpSp>
      <p:grpSp>
        <p:nvGrpSpPr>
          <p:cNvPr id="40" name="stakeholders"/>
          <p:cNvGrpSpPr/>
          <p:nvPr/>
        </p:nvGrpSpPr>
        <p:grpSpPr>
          <a:xfrm>
            <a:off x="7239000" y="1428750"/>
            <a:ext cx="4636391" cy="3257550"/>
            <a:chOff x="7239000" y="1428750"/>
            <a:chExt cx="4636391" cy="3257550"/>
          </a:xfrm>
        </p:grpSpPr>
        <p:sp>
          <p:nvSpPr>
            <p:cNvPr id="28" name="Rectangle 28"/>
            <p:cNvSpPr/>
            <p:nvPr/>
          </p:nvSpPr>
          <p:spPr>
            <a:xfrm>
              <a:off x="7239000" y="1428750"/>
              <a:ext cx="4419600" cy="3257550"/>
            </a:xfrm>
            <a:prstGeom prst="roundRect">
              <a:avLst>
                <a:gd name="adj" fmla="val 2924"/>
              </a:avLst>
            </a:prstGeom>
            <a:solidFill>
              <a:srgbClr val="F3F5F8"/>
            </a:solidFill>
            <a:ln>
              <a:noFill/>
            </a:ln>
          </p:spPr>
        </p:sp>
        <p:sp>
          <p:nvSpPr>
            <p:cNvPr id="29" name="TextBox 29"/>
            <p:cNvSpPr txBox="1"/>
            <p:nvPr/>
          </p:nvSpPr>
          <p:spPr>
            <a:xfrm>
              <a:off x="7461885" y="1574800"/>
              <a:ext cx="463753"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구매자</a:t>
              </a:r>
            </a:p>
          </p:txBody>
        </p:sp>
        <p:sp>
          <p:nvSpPr>
            <p:cNvPr id="30" name="TextBox 30"/>
            <p:cNvSpPr txBox="1"/>
            <p:nvPr/>
          </p:nvSpPr>
          <p:spPr>
            <a:xfrm>
              <a:off x="7461123" y="1765300"/>
              <a:ext cx="2516378"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111827"/>
                  </a:solidFill>
                  <a:latin typeface="+mn-lt"/>
                  <a:ea typeface="+mn-ea"/>
                  <a:cs typeface="+mn-cs"/>
                </a:rPr>
                <a:t>서울시·자치구·도시철도 발주기관</a:t>
              </a:r>
              <a:br>
                <a:rPr lang="ko-KR" sz="1280" dirty="0">
                  <a:solidFill>
                    <a:srgbClr val="111827"/>
                  </a:solidFill>
                  <a:latin typeface="+mn-lt"/>
                  <a:ea typeface="+mn-ea"/>
                  <a:cs typeface="+mn-cs"/>
                </a:rPr>
              </a:br>
              <a:r>
                <a:rPr lang="ko-KR" sz="1280" dirty="0">
                  <a:solidFill>
                    <a:srgbClr val="111827"/>
                  </a:solidFill>
                  <a:latin typeface="+mn-lt"/>
                  <a:ea typeface="+mn-ea"/>
                  <a:cs typeface="+mn-cs"/>
                </a:rPr>
                <a:t>공공시설 관리기관</a:t>
              </a:r>
            </a:p>
          </p:txBody>
        </p:sp>
        <p:sp>
          <p:nvSpPr>
            <p:cNvPr id="31" name="Line 31"/>
            <p:cNvSpPr/>
            <p:nvPr/>
          </p:nvSpPr>
          <p:spPr>
            <a:xfrm>
              <a:off x="7467600" y="2343150"/>
              <a:ext cx="3962400" cy="9525"/>
            </a:xfrm>
            <a:custGeom>
              <a:avLst/>
              <a:gdLst/>
              <a:ahLst/>
              <a:cxnLst/>
              <a:rect l="l" t="t" r="r" b="b"/>
              <a:pathLst>
                <a:path w="3962400" h="9525">
                  <a:moveTo>
                    <a:pt x="0" y="0"/>
                  </a:moveTo>
                  <a:lnTo>
                    <a:pt x="3962400" y="0"/>
                  </a:lnTo>
                </a:path>
              </a:pathLst>
            </a:custGeom>
            <a:noFill/>
            <a:ln w="9525">
              <a:solidFill>
                <a:srgbClr val="D5DAE1"/>
              </a:solidFill>
            </a:ln>
          </p:spPr>
        </p:sp>
        <p:sp>
          <p:nvSpPr>
            <p:cNvPr id="32" name="TextBox 32"/>
            <p:cNvSpPr txBox="1"/>
            <p:nvPr/>
          </p:nvSpPr>
          <p:spPr>
            <a:xfrm>
              <a:off x="7461885" y="2451100"/>
              <a:ext cx="812796"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실제 사용자</a:t>
              </a:r>
            </a:p>
          </p:txBody>
        </p:sp>
        <p:sp>
          <p:nvSpPr>
            <p:cNvPr id="33" name="TextBox 33"/>
            <p:cNvSpPr txBox="1"/>
            <p:nvPr/>
          </p:nvSpPr>
          <p:spPr>
            <a:xfrm>
              <a:off x="7461123" y="2641600"/>
              <a:ext cx="2142490"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111827"/>
                  </a:solidFill>
                  <a:latin typeface="+mn-lt"/>
                  <a:ea typeface="+mn-ea"/>
                  <a:cs typeface="+mn-cs"/>
                </a:rPr>
                <a:t>지하안전·도로관리 담당자</a:t>
              </a:r>
              <a:br>
                <a:rPr lang="ko-KR" sz="1280" dirty="0">
                  <a:solidFill>
                    <a:srgbClr val="111827"/>
                  </a:solidFill>
                  <a:latin typeface="+mn-lt"/>
                  <a:ea typeface="+mn-ea"/>
                  <a:cs typeface="+mn-cs"/>
                </a:rPr>
              </a:br>
              <a:r>
                <a:rPr lang="ko-KR" sz="1280" dirty="0">
                  <a:solidFill>
                    <a:srgbClr val="111827"/>
                  </a:solidFill>
                  <a:latin typeface="+mn-lt"/>
                  <a:ea typeface="+mn-ea"/>
                  <a:cs typeface="+mn-cs"/>
                </a:rPr>
                <a:t>GPR 판독 전문가·현장 조사원</a:t>
              </a:r>
            </a:p>
          </p:txBody>
        </p:sp>
        <p:sp>
          <p:nvSpPr>
            <p:cNvPr id="34" name="Line 34"/>
            <p:cNvSpPr/>
            <p:nvPr/>
          </p:nvSpPr>
          <p:spPr>
            <a:xfrm>
              <a:off x="7467600" y="3219450"/>
              <a:ext cx="3962400" cy="9525"/>
            </a:xfrm>
            <a:custGeom>
              <a:avLst/>
              <a:gdLst/>
              <a:ahLst/>
              <a:cxnLst/>
              <a:rect l="l" t="t" r="r" b="b"/>
              <a:pathLst>
                <a:path w="3962400" h="9525">
                  <a:moveTo>
                    <a:pt x="0" y="0"/>
                  </a:moveTo>
                  <a:lnTo>
                    <a:pt x="3962400" y="0"/>
                  </a:lnTo>
                </a:path>
              </a:pathLst>
            </a:custGeom>
            <a:noFill/>
            <a:ln w="9525">
              <a:solidFill>
                <a:srgbClr val="D5DAE1"/>
              </a:solidFill>
            </a:ln>
          </p:spPr>
        </p:sp>
        <p:sp>
          <p:nvSpPr>
            <p:cNvPr id="35" name="TextBox 35"/>
            <p:cNvSpPr txBox="1"/>
            <p:nvPr/>
          </p:nvSpPr>
          <p:spPr>
            <a:xfrm>
              <a:off x="7461885" y="3327400"/>
              <a:ext cx="463753"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협력사</a:t>
              </a:r>
            </a:p>
          </p:txBody>
        </p:sp>
        <p:sp>
          <p:nvSpPr>
            <p:cNvPr id="36" name="TextBox 36"/>
            <p:cNvSpPr txBox="1"/>
            <p:nvPr/>
          </p:nvSpPr>
          <p:spPr>
            <a:xfrm>
              <a:off x="7461123" y="3517900"/>
              <a:ext cx="2321306" cy="478917"/>
            </a:xfrm>
            <a:prstGeom prst="rect">
              <a:avLst/>
            </a:prstGeom>
            <a:noFill/>
            <a:ln>
              <a:noFill/>
            </a:ln>
          </p:spPr>
          <p:txBody>
            <a:bodyPr wrap="none" lIns="0" tIns="0" rIns="0" bIns="0" anchor="t" anchorCtr="0">
              <a:spAutoFit/>
            </a:bodyPr>
            <a:lstStyle/>
            <a:p>
              <a:pPr algn="l">
                <a:lnSpc>
                  <a:spcPts val="1800"/>
                </a:lnSpc>
              </a:pPr>
              <a:r>
                <a:rPr lang="ko-KR" sz="1280" dirty="0">
                  <a:solidFill>
                    <a:srgbClr val="111827"/>
                  </a:solidFill>
                  <a:latin typeface="+mn-lt"/>
                  <a:ea typeface="+mn-ea"/>
                  <a:cs typeface="+mn-cs"/>
                </a:rPr>
                <a:t>GPR 전문기업·PV5 특장업체</a:t>
              </a:r>
              <a:br>
                <a:rPr lang="ko-KR" sz="1280" dirty="0">
                  <a:solidFill>
                    <a:srgbClr val="111827"/>
                  </a:solidFill>
                  <a:latin typeface="+mn-lt"/>
                  <a:ea typeface="+mn-ea"/>
                  <a:cs typeface="+mn-cs"/>
                </a:rPr>
              </a:br>
              <a:r>
                <a:rPr lang="ko-KR" sz="1280" dirty="0">
                  <a:solidFill>
                    <a:srgbClr val="111827"/>
                  </a:solidFill>
                  <a:latin typeface="+mn-lt"/>
                  <a:ea typeface="+mn-ea"/>
                  <a:cs typeface="+mn-cs"/>
                </a:rPr>
                <a:t>GIS·클라우드 사업자·AR 장비사</a:t>
              </a:r>
            </a:p>
          </p:txBody>
        </p:sp>
        <p:sp>
          <p:nvSpPr>
            <p:cNvPr id="37" name="Line 37"/>
            <p:cNvSpPr/>
            <p:nvPr/>
          </p:nvSpPr>
          <p:spPr>
            <a:xfrm>
              <a:off x="7467600" y="4095750"/>
              <a:ext cx="3962400" cy="9525"/>
            </a:xfrm>
            <a:custGeom>
              <a:avLst/>
              <a:gdLst/>
              <a:ahLst/>
              <a:cxnLst/>
              <a:rect l="l" t="t" r="r" b="b"/>
              <a:pathLst>
                <a:path w="3962400" h="9525">
                  <a:moveTo>
                    <a:pt x="0" y="0"/>
                  </a:moveTo>
                  <a:lnTo>
                    <a:pt x="3962400" y="0"/>
                  </a:lnTo>
                </a:path>
              </a:pathLst>
            </a:custGeom>
            <a:noFill/>
            <a:ln w="9525">
              <a:solidFill>
                <a:srgbClr val="D5DAE1"/>
              </a:solidFill>
            </a:ln>
          </p:spPr>
        </p:sp>
        <p:sp>
          <p:nvSpPr>
            <p:cNvPr id="38" name="TextBox 38"/>
            <p:cNvSpPr txBox="1"/>
            <p:nvPr/>
          </p:nvSpPr>
          <p:spPr>
            <a:xfrm>
              <a:off x="7461885" y="4260850"/>
              <a:ext cx="312979" cy="220028"/>
            </a:xfrm>
            <a:prstGeom prst="rect">
              <a:avLst/>
            </a:prstGeom>
            <a:noFill/>
            <a:ln>
              <a:noFill/>
            </a:ln>
          </p:spPr>
          <p:txBody>
            <a:bodyPr wrap="none" lIns="0" tIns="0" rIns="0" bIns="0" anchor="t" anchorCtr="0">
              <a:spAutoFit/>
            </a:bodyPr>
            <a:lstStyle/>
            <a:p>
              <a:pPr algn="l"/>
              <a:r>
                <a:rPr lang="ko-KR" sz="1120" b="1" dirty="0">
                  <a:solidFill>
                    <a:srgbClr val="0B1E3C"/>
                  </a:solidFill>
                  <a:latin typeface="+mn-lt"/>
                  <a:ea typeface="+mn-ea"/>
                  <a:cs typeface="+mn-cs"/>
                </a:rPr>
                <a:t>기아</a:t>
              </a:r>
            </a:p>
          </p:txBody>
        </p:sp>
        <p:sp>
          <p:nvSpPr>
            <p:cNvPr id="39" name="TextBox 39"/>
            <p:cNvSpPr txBox="1"/>
            <p:nvPr/>
          </p:nvSpPr>
          <p:spPr>
            <a:xfrm>
              <a:off x="7899273" y="4248150"/>
              <a:ext cx="3976118" cy="250317"/>
            </a:xfrm>
            <a:prstGeom prst="rect">
              <a:avLst/>
            </a:prstGeom>
            <a:noFill/>
            <a:ln>
              <a:noFill/>
            </a:ln>
          </p:spPr>
          <p:txBody>
            <a:bodyPr wrap="none" lIns="0" tIns="0" rIns="0" bIns="0" anchor="t" anchorCtr="0">
              <a:spAutoFit/>
            </a:bodyPr>
            <a:lstStyle/>
            <a:p>
              <a:pPr algn="l"/>
              <a:r>
                <a:rPr lang="ko-KR" sz="1280" b="1" dirty="0">
                  <a:solidFill>
                    <a:srgbClr val="111827"/>
                  </a:solidFill>
                  <a:latin typeface="+mn-lt"/>
                  <a:ea typeface="+mn-ea"/>
                  <a:cs typeface="+mn-cs"/>
                </a:rPr>
                <a:t xml:space="preserve">PV5 컨버전 플릿 판매 </a:t>
              </a:r>
              <a:r>
                <a:rPr lang="ko-KR" sz="1280" dirty="0">
                  <a:solidFill>
                    <a:srgbClr val="111827"/>
                  </a:solidFill>
                  <a:latin typeface="+mn-lt"/>
                  <a:ea typeface="+mn-ea"/>
                  <a:cs typeface="+mn-cs"/>
                </a:rPr>
                <a:t>· Pleos 앱 마켓 공공 업무 앱</a:t>
              </a:r>
            </a:p>
          </p:txBody>
        </p:sp>
      </p:grpSp>
      <p:grpSp>
        <p:nvGrpSpPr>
          <p:cNvPr id="45" name="demand"/>
          <p:cNvGrpSpPr/>
          <p:nvPr/>
        </p:nvGrpSpPr>
        <p:grpSpPr>
          <a:xfrm>
            <a:off x="533400" y="5010150"/>
            <a:ext cx="11125200" cy="762000"/>
            <a:chOff x="533400" y="5010150"/>
            <a:chExt cx="11125200" cy="762000"/>
          </a:xfrm>
        </p:grpSpPr>
        <p:sp>
          <p:nvSpPr>
            <p:cNvPr id="41" name="Rectangle 41"/>
            <p:cNvSpPr/>
            <p:nvPr/>
          </p:nvSpPr>
          <p:spPr>
            <a:xfrm>
              <a:off x="533400" y="5010150"/>
              <a:ext cx="11125200" cy="762000"/>
            </a:xfrm>
            <a:prstGeom prst="rect">
              <a:avLst/>
            </a:prstGeom>
            <a:solidFill>
              <a:srgbClr val="0B1E3C"/>
            </a:solidFill>
            <a:ln>
              <a:noFill/>
            </a:ln>
          </p:spPr>
        </p:sp>
        <p:sp>
          <p:nvSpPr>
            <p:cNvPr id="42" name="TextBox 42"/>
            <p:cNvSpPr txBox="1"/>
            <p:nvPr/>
          </p:nvSpPr>
          <p:spPr>
            <a:xfrm>
              <a:off x="756285" y="5156200"/>
              <a:ext cx="3322998" cy="220028"/>
            </a:xfrm>
            <a:prstGeom prst="rect">
              <a:avLst/>
            </a:prstGeom>
            <a:noFill/>
            <a:ln>
              <a:noFill/>
            </a:ln>
          </p:spPr>
          <p:txBody>
            <a:bodyPr wrap="none" lIns="0" tIns="0" rIns="0" bIns="0" anchor="t" anchorCtr="0">
              <a:spAutoFit/>
            </a:bodyPr>
            <a:lstStyle/>
            <a:p>
              <a:pPr algn="l"/>
              <a:r>
                <a:rPr lang="ko-KR" sz="1120" b="1" dirty="0">
                  <a:solidFill>
                    <a:srgbClr val="F5B700"/>
                  </a:solidFill>
                  <a:latin typeface="+mn-lt"/>
                  <a:ea typeface="+mn-ea"/>
                  <a:cs typeface="+mn-cs"/>
                </a:rPr>
                <a:t>첫 고객 · 이미 GPR 용역을 발주하는 서울 자치구</a:t>
              </a:r>
            </a:p>
          </p:txBody>
        </p:sp>
        <p:sp>
          <p:nvSpPr>
            <p:cNvPr id="43" name="TextBox 43"/>
            <p:cNvSpPr txBox="1"/>
            <p:nvPr/>
          </p:nvSpPr>
          <p:spPr>
            <a:xfrm>
              <a:off x="752856" y="5394325"/>
              <a:ext cx="5731791"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mn-lt"/>
                  <a:ea typeface="+mn-ea"/>
                  <a:cs typeface="+mn-cs"/>
                </a:rPr>
                <a:t>자치구 연간 GPR 용역 1.6억~2.2억 원 (2026 발주)</a:t>
              </a:r>
            </a:p>
          </p:txBody>
        </p:sp>
        <p:sp>
          <p:nvSpPr>
            <p:cNvPr id="44" name="TextBox 44"/>
            <p:cNvSpPr txBox="1"/>
            <p:nvPr/>
          </p:nvSpPr>
          <p:spPr>
            <a:xfrm>
              <a:off x="9383761" y="5305425"/>
              <a:ext cx="2052716" cy="250317"/>
            </a:xfrm>
            <a:prstGeom prst="rect">
              <a:avLst/>
            </a:prstGeom>
            <a:noFill/>
            <a:ln>
              <a:noFill/>
            </a:ln>
          </p:spPr>
          <p:txBody>
            <a:bodyPr wrap="none" lIns="0" tIns="0" rIns="0" bIns="0" anchor="t" anchorCtr="0">
              <a:spAutoFit/>
            </a:bodyPr>
            <a:lstStyle/>
            <a:p>
              <a:pPr algn="r"/>
              <a:r>
                <a:rPr lang="ko-KR" sz="1280" b="1" dirty="0">
                  <a:solidFill>
                    <a:srgbClr val="D6DDE8"/>
                  </a:solidFill>
                  <a:latin typeface="+mn-lt"/>
                  <a:ea typeface="+mn-ea"/>
                  <a:cs typeface="+mn-cs"/>
                </a:rPr>
                <a:t>차량 1대의 수지는 다음 장</a:t>
              </a:r>
            </a:p>
          </p:txBody>
        </p:sp>
      </p:grpSp>
      <p:grpSp>
        <p:nvGrpSpPr>
          <p:cNvPr id="48" name="procurement"/>
          <p:cNvGrpSpPr/>
          <p:nvPr/>
        </p:nvGrpSpPr>
        <p:grpSpPr>
          <a:xfrm>
            <a:off x="527304" y="5886450"/>
            <a:ext cx="8693948" cy="463296"/>
            <a:chOff x="527304" y="5886450"/>
            <a:chExt cx="8693948" cy="463296"/>
          </a:xfrm>
        </p:grpSpPr>
        <p:sp>
          <p:nvSpPr>
            <p:cNvPr id="46" name="TextBox 46"/>
            <p:cNvSpPr txBox="1"/>
            <p:nvPr/>
          </p:nvSpPr>
          <p:spPr>
            <a:xfrm>
              <a:off x="527304" y="5886450"/>
              <a:ext cx="8693948"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조달 접근</a:t>
              </a:r>
              <a:r>
                <a:rPr lang="ko-KR" sz="1200" dirty="0">
                  <a:solidFill>
                    <a:srgbClr val="111827"/>
                  </a:solidFill>
                  <a:latin typeface="+mn-lt"/>
                  <a:ea typeface="+mn-ea"/>
                  <a:cs typeface="+mn-cs"/>
                </a:rPr>
                <a:t xml:space="preserve"> 첫 계약은 기존 GPR 조사기관과 공동 수행해 실적과 신뢰를 확보하고, 한 위험구간 입증 후 인접 구역으로 확장</a:t>
              </a:r>
            </a:p>
          </p:txBody>
        </p:sp>
        <p:sp>
          <p:nvSpPr>
            <p:cNvPr id="47" name="TextBox 47"/>
            <p:cNvSpPr txBox="1"/>
            <p:nvPr/>
          </p:nvSpPr>
          <p:spPr>
            <a:xfrm>
              <a:off x="527304" y="6115050"/>
              <a:ext cx="6958584" cy="234696"/>
            </a:xfrm>
            <a:prstGeom prst="rect">
              <a:avLst/>
            </a:prstGeom>
            <a:noFill/>
            <a:ln>
              <a:noFill/>
            </a:ln>
          </p:spPr>
          <p:txBody>
            <a:bodyPr wrap="none" lIns="0" tIns="0" rIns="0" bIns="0" anchor="t" anchorCtr="0">
              <a:spAutoFit/>
            </a:bodyPr>
            <a:lstStyle/>
            <a:p>
              <a:pPr algn="l"/>
              <a:r>
                <a:rPr lang="ko-KR" sz="1200" b="1" dirty="0">
                  <a:solidFill>
                    <a:srgbClr val="111827"/>
                  </a:solidFill>
                  <a:latin typeface="+mn-lt"/>
                  <a:ea typeface="+mn-ea"/>
                  <a:cs typeface="+mn-cs"/>
                </a:rPr>
                <a:t>가격</a:t>
              </a:r>
              <a:r>
                <a:rPr lang="ko-KR" sz="1200" dirty="0">
                  <a:solidFill>
                    <a:srgbClr val="111827"/>
                  </a:solidFill>
                  <a:latin typeface="+mn-lt"/>
                  <a:ea typeface="+mn-ea"/>
                  <a:cs typeface="+mn-cs"/>
                </a:rPr>
                <a:t xml:space="preserve"> 첫 해는 기존 용역 단가 수준, 연간 관제는 관리 구간 km·재확인 건수 기준으로 산정 </a:t>
              </a:r>
              <a:r>
                <a:rPr lang="ko-KR" sz="1200" dirty="0">
                  <a:solidFill>
                    <a:srgbClr val="4B5563"/>
                  </a:solidFill>
                  <a:latin typeface="+mn-lt"/>
                  <a:ea typeface="+mn-ea"/>
                  <a:cs typeface="+mn-cs"/>
                </a:rPr>
                <a:t>[가설]</a:t>
              </a:r>
            </a:p>
          </p:txBody>
        </p:sp>
      </p:grpSp>
      <p:grpSp>
        <p:nvGrpSpPr>
          <p:cNvPr id="50" name="source"/>
          <p:cNvGrpSpPr/>
          <p:nvPr/>
        </p:nvGrpSpPr>
        <p:grpSpPr>
          <a:xfrm>
            <a:off x="528638" y="6381750"/>
            <a:ext cx="9114549" cy="176212"/>
            <a:chOff x="528638" y="6381750"/>
            <a:chExt cx="9114549" cy="176212"/>
          </a:xfrm>
        </p:grpSpPr>
        <p:sp>
          <p:nvSpPr>
            <p:cNvPr id="49" name="TextBox 49"/>
            <p:cNvSpPr txBox="1"/>
            <p:nvPr/>
          </p:nvSpPr>
          <p:spPr>
            <a:xfrm>
              <a:off x="528638" y="6381750"/>
              <a:ext cx="9114549"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나라장터 공고(산군 재게시, 2026) 강동구 배정예산 1.6억 원·도봉구 216,040,000원 · 지하정보는 제3자에게 판매하지 않고 계약기관 접근제어형 서비스로 제공</a:t>
              </a:r>
            </a:p>
          </p:txBody>
        </p:sp>
      </p:grpSp>
      <p:grpSp>
        <p:nvGrpSpPr>
          <p:cNvPr id="53" name="footer"/>
          <p:cNvGrpSpPr/>
          <p:nvPr/>
        </p:nvGrpSpPr>
        <p:grpSpPr>
          <a:xfrm>
            <a:off x="528638" y="6610350"/>
            <a:ext cx="11134724" cy="176212"/>
            <a:chOff x="528638" y="6610350"/>
            <a:chExt cx="11134724" cy="176212"/>
          </a:xfrm>
        </p:grpSpPr>
        <p:sp>
          <p:nvSpPr>
            <p:cNvPr id="51" name="TextBox 51"/>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52" name="TextBox 5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13 / 16</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704850" cy="228600"/>
            </a:xfrm>
            <a:prstGeom prst="rect">
              <a:avLst/>
            </a:prstGeom>
            <a:solidFill>
              <a:srgbClr val="F5B700"/>
            </a:solidFill>
            <a:ln>
              <a:noFill/>
            </a:ln>
          </p:spPr>
        </p:sp>
        <p:sp>
          <p:nvSpPr>
            <p:cNvPr id="5" name="TextBox 5"/>
            <p:cNvSpPr txBox="1"/>
            <p:nvPr/>
          </p:nvSpPr>
          <p:spPr>
            <a:xfrm>
              <a:off x="1929738" y="314325"/>
              <a:ext cx="579174"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사업 모델</a:t>
              </a:r>
            </a:p>
          </p:txBody>
        </p:sp>
        <p:sp>
          <p:nvSpPr>
            <p:cNvPr id="6" name="TextBox 6"/>
            <p:cNvSpPr txBox="1"/>
            <p:nvPr/>
          </p:nvSpPr>
          <p:spPr>
            <a:xfrm>
              <a:off x="2680716" y="301625"/>
              <a:ext cx="181289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시장 규모와 차량 1대의 수지</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8654186" cy="557403"/>
            <a:chOff x="518922" y="781050"/>
            <a:chExt cx="8654186" cy="557403"/>
          </a:xfrm>
        </p:grpSpPr>
        <p:sp>
          <p:nvSpPr>
            <p:cNvPr id="9" name="TextBox 9"/>
            <p:cNvSpPr txBox="1"/>
            <p:nvPr/>
          </p:nvSpPr>
          <p:spPr>
            <a:xfrm>
              <a:off x="518922" y="781050"/>
              <a:ext cx="8654186"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차량 1대가 자치구 2~3곳을 맡으면 수지가 맞습니다</a:t>
              </a:r>
            </a:p>
          </p:txBody>
        </p:sp>
      </p:grpSp>
      <p:grpSp>
        <p:nvGrpSpPr>
          <p:cNvPr id="23" name="market"/>
          <p:cNvGrpSpPr/>
          <p:nvPr/>
        </p:nvGrpSpPr>
        <p:grpSpPr>
          <a:xfrm>
            <a:off x="533400" y="1333500"/>
            <a:ext cx="11125200" cy="990600"/>
            <a:chOff x="533400" y="1333500"/>
            <a:chExt cx="11125200" cy="990600"/>
          </a:xfrm>
        </p:grpSpPr>
        <p:sp>
          <p:nvSpPr>
            <p:cNvPr id="11" name="Rectangle 11"/>
            <p:cNvSpPr/>
            <p:nvPr/>
          </p:nvSpPr>
          <p:spPr>
            <a:xfrm>
              <a:off x="533400" y="1333500"/>
              <a:ext cx="3581400" cy="990600"/>
            </a:xfrm>
            <a:prstGeom prst="rect">
              <a:avLst/>
            </a:prstGeom>
            <a:solidFill>
              <a:srgbClr val="0B1E3C"/>
            </a:solidFill>
            <a:ln>
              <a:noFill/>
            </a:ln>
          </p:spPr>
        </p:sp>
        <p:sp>
          <p:nvSpPr>
            <p:cNvPr id="12" name="TextBox 12"/>
            <p:cNvSpPr txBox="1"/>
            <p:nvPr/>
          </p:nvSpPr>
          <p:spPr>
            <a:xfrm>
              <a:off x="712470" y="1454150"/>
              <a:ext cx="1485843" cy="440055"/>
            </a:xfrm>
            <a:prstGeom prst="rect">
              <a:avLst/>
            </a:prstGeom>
            <a:noFill/>
            <a:ln>
              <a:noFill/>
            </a:ln>
          </p:spPr>
          <p:txBody>
            <a:bodyPr wrap="none" lIns="0" tIns="0" rIns="0" bIns="0" anchor="t" anchorCtr="0">
              <a:spAutoFit/>
            </a:bodyPr>
            <a:lstStyle/>
            <a:p>
              <a:pPr algn="l"/>
              <a:r>
                <a:rPr lang="en-US" sz="2250" b="1" dirty="0">
                  <a:solidFill>
                    <a:srgbClr val="F5B700"/>
                  </a:solidFill>
                  <a:latin typeface="+mn-lt"/>
                  <a:ea typeface="+mn-ea"/>
                  <a:cs typeface="+mn-cs"/>
                </a:rPr>
                <a:t>96,712km</a:t>
              </a:r>
            </a:p>
          </p:txBody>
        </p:sp>
        <p:sp>
          <p:nvSpPr>
            <p:cNvPr id="13" name="TextBox 13"/>
            <p:cNvSpPr txBox="1"/>
            <p:nvPr/>
          </p:nvSpPr>
          <p:spPr>
            <a:xfrm>
              <a:off x="718185" y="1841500"/>
              <a:ext cx="2628497"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지자체가 관리하는 도로 (전국의 83%)</a:t>
              </a:r>
            </a:p>
          </p:txBody>
        </p:sp>
        <p:sp>
          <p:nvSpPr>
            <p:cNvPr id="14" name="TextBox 14"/>
            <p:cNvSpPr txBox="1"/>
            <p:nvPr/>
          </p:nvSpPr>
          <p:spPr>
            <a:xfrm>
              <a:off x="718566" y="2063750"/>
              <a:ext cx="1657407"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고객 후보 226개 시·군·구</a:t>
              </a:r>
            </a:p>
          </p:txBody>
        </p:sp>
        <p:sp>
          <p:nvSpPr>
            <p:cNvPr id="15" name="Rectangle 15"/>
            <p:cNvSpPr/>
            <p:nvPr/>
          </p:nvSpPr>
          <p:spPr>
            <a:xfrm>
              <a:off x="4305300" y="1333500"/>
              <a:ext cx="3581400" cy="990600"/>
            </a:xfrm>
            <a:prstGeom prst="rect">
              <a:avLst/>
            </a:prstGeom>
            <a:solidFill>
              <a:srgbClr val="0B1E3C"/>
            </a:solidFill>
            <a:ln>
              <a:noFill/>
            </a:ln>
          </p:spPr>
        </p:sp>
        <p:sp>
          <p:nvSpPr>
            <p:cNvPr id="16" name="TextBox 16"/>
            <p:cNvSpPr txBox="1"/>
            <p:nvPr/>
          </p:nvSpPr>
          <p:spPr>
            <a:xfrm>
              <a:off x="4484370" y="1454150"/>
              <a:ext cx="2726198" cy="440055"/>
            </a:xfrm>
            <a:prstGeom prst="rect">
              <a:avLst/>
            </a:prstGeom>
            <a:noFill/>
            <a:ln>
              <a:noFill/>
            </a:ln>
          </p:spPr>
          <p:txBody>
            <a:bodyPr wrap="none" lIns="0" tIns="0" rIns="0" bIns="0" anchor="t" anchorCtr="0">
              <a:spAutoFit/>
            </a:bodyPr>
            <a:lstStyle/>
            <a:p>
              <a:pPr algn="l"/>
              <a:r>
                <a:rPr lang="en-US" sz="2250" b="1" dirty="0">
                  <a:solidFill>
                    <a:srgbClr val="F5B700"/>
                  </a:solidFill>
                  <a:latin typeface="+mn-lt"/>
                  <a:ea typeface="+mn-ea"/>
                  <a:cs typeface="+mn-cs"/>
                </a:rPr>
                <a:t>2,308 → 11,380km</a:t>
              </a:r>
            </a:p>
          </p:txBody>
        </p:sp>
        <p:sp>
          <p:nvSpPr>
            <p:cNvPr id="17" name="TextBox 17"/>
            <p:cNvSpPr txBox="1"/>
            <p:nvPr/>
          </p:nvSpPr>
          <p:spPr>
            <a:xfrm>
              <a:off x="4490085" y="1841500"/>
              <a:ext cx="2238745"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정부 지반탐사 연장 2024 → 2026</a:t>
              </a:r>
            </a:p>
          </p:txBody>
        </p:sp>
        <p:sp>
          <p:nvSpPr>
            <p:cNvPr id="18" name="TextBox 18"/>
            <p:cNvSpPr txBox="1"/>
            <p:nvPr/>
          </p:nvSpPr>
          <p:spPr>
            <a:xfrm>
              <a:off x="4490466" y="2063750"/>
              <a:ext cx="2448973"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2년 새 약 5배, 2028년 15,000km 계획</a:t>
              </a:r>
            </a:p>
          </p:txBody>
        </p:sp>
        <p:sp>
          <p:nvSpPr>
            <p:cNvPr id="19" name="Rectangle 19"/>
            <p:cNvSpPr/>
            <p:nvPr/>
          </p:nvSpPr>
          <p:spPr>
            <a:xfrm>
              <a:off x="8077200" y="1333500"/>
              <a:ext cx="3581400" cy="990600"/>
            </a:xfrm>
            <a:prstGeom prst="rect">
              <a:avLst/>
            </a:prstGeom>
            <a:solidFill>
              <a:srgbClr val="0B1E3C"/>
            </a:solidFill>
            <a:ln>
              <a:noFill/>
            </a:ln>
          </p:spPr>
        </p:sp>
        <p:sp>
          <p:nvSpPr>
            <p:cNvPr id="20" name="TextBox 20"/>
            <p:cNvSpPr txBox="1"/>
            <p:nvPr/>
          </p:nvSpPr>
          <p:spPr>
            <a:xfrm>
              <a:off x="8256270" y="1454150"/>
              <a:ext cx="1248828" cy="440055"/>
            </a:xfrm>
            <a:prstGeom prst="rect">
              <a:avLst/>
            </a:prstGeom>
            <a:noFill/>
            <a:ln>
              <a:noFill/>
            </a:ln>
          </p:spPr>
          <p:txBody>
            <a:bodyPr wrap="none" lIns="0" tIns="0" rIns="0" bIns="0" anchor="t" anchorCtr="0">
              <a:spAutoFit/>
            </a:bodyPr>
            <a:lstStyle/>
            <a:p>
              <a:pPr algn="l"/>
              <a:r>
                <a:rPr lang="ko-KR" sz="2250" b="1" dirty="0">
                  <a:solidFill>
                    <a:srgbClr val="F5B700"/>
                  </a:solidFill>
                  <a:latin typeface="+mn-lt"/>
                  <a:ea typeface="+mn-ea"/>
                  <a:cs typeface="+mn-cs"/>
                </a:rPr>
                <a:t>131억 원</a:t>
              </a:r>
            </a:p>
          </p:txBody>
        </p:sp>
        <p:sp>
          <p:nvSpPr>
            <p:cNvPr id="21" name="TextBox 21"/>
            <p:cNvSpPr txBox="1"/>
            <p:nvPr/>
          </p:nvSpPr>
          <p:spPr>
            <a:xfrm>
              <a:off x="8261985" y="1841500"/>
              <a:ext cx="325711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2026 국비 · GPR 장비 87억 + 지자체 지원 44억</a:t>
              </a:r>
            </a:p>
          </p:txBody>
        </p:sp>
        <p:sp>
          <p:nvSpPr>
            <p:cNvPr id="22" name="TextBox 22"/>
            <p:cNvSpPr txBox="1"/>
            <p:nvPr/>
          </p:nvSpPr>
          <p:spPr>
            <a:xfrm>
              <a:off x="8262366" y="2063750"/>
              <a:ext cx="1876501"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탐사 예산이 이미 편성돼 있음</a:t>
              </a:r>
            </a:p>
          </p:txBody>
        </p:sp>
      </p:grpSp>
      <p:grpSp>
        <p:nvGrpSpPr>
          <p:cNvPr id="41" name="cost"/>
          <p:cNvGrpSpPr/>
          <p:nvPr/>
        </p:nvGrpSpPr>
        <p:grpSpPr>
          <a:xfrm>
            <a:off x="527304" y="2552700"/>
            <a:ext cx="5346192" cy="2381250"/>
            <a:chOff x="527304" y="2552700"/>
            <a:chExt cx="5346192" cy="2381250"/>
          </a:xfrm>
        </p:grpSpPr>
        <p:sp>
          <p:nvSpPr>
            <p:cNvPr id="24" name="TextBox 24"/>
            <p:cNvSpPr txBox="1"/>
            <p:nvPr/>
          </p:nvSpPr>
          <p:spPr>
            <a:xfrm>
              <a:off x="527304" y="2552700"/>
              <a:ext cx="1940624"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 xml:space="preserve">차량 1대 연간 비용 </a:t>
              </a:r>
              <a:r>
                <a:rPr lang="ko-KR" sz="1200" dirty="0">
                  <a:solidFill>
                    <a:srgbClr val="4B5563"/>
                  </a:solidFill>
                  <a:latin typeface="+mn-lt"/>
                  <a:ea typeface="+mn-ea"/>
                  <a:cs typeface="+mn-cs"/>
                </a:rPr>
                <a:t>[가설]</a:t>
              </a:r>
            </a:p>
          </p:txBody>
        </p:sp>
        <p:sp>
          <p:nvSpPr>
            <p:cNvPr id="25" name="Line 25"/>
            <p:cNvSpPr/>
            <p:nvPr/>
          </p:nvSpPr>
          <p:spPr>
            <a:xfrm>
              <a:off x="533400" y="2819400"/>
              <a:ext cx="5334000" cy="9525"/>
            </a:xfrm>
            <a:custGeom>
              <a:avLst/>
              <a:gdLst/>
              <a:ahLst/>
              <a:cxnLst/>
              <a:rect l="l" t="t" r="r" b="b"/>
              <a:pathLst>
                <a:path w="5334000" h="9525">
                  <a:moveTo>
                    <a:pt x="0" y="0"/>
                  </a:moveTo>
                  <a:lnTo>
                    <a:pt x="5334000" y="0"/>
                  </a:lnTo>
                </a:path>
              </a:pathLst>
            </a:custGeom>
            <a:noFill/>
            <a:ln w="14288">
              <a:solidFill>
                <a:srgbClr val="0B1E3C"/>
              </a:solidFill>
            </a:ln>
          </p:spPr>
        </p:sp>
        <p:grpSp>
          <p:nvGrpSpPr>
            <p:cNvPr id="37" name="Group 37"/>
            <p:cNvGrpSpPr/>
            <p:nvPr/>
          </p:nvGrpSpPr>
          <p:grpSpPr>
            <a:xfrm>
              <a:off x="527304" y="2952750"/>
              <a:ext cx="5346192" cy="1491996"/>
              <a:chOff x="527304" y="2952750"/>
              <a:chExt cx="5346192" cy="1491996"/>
            </a:xfrm>
          </p:grpSpPr>
          <p:sp>
            <p:nvSpPr>
              <p:cNvPr id="26" name="TextBox 26"/>
              <p:cNvSpPr txBox="1"/>
              <p:nvPr/>
            </p:nvSpPr>
            <p:spPr>
              <a:xfrm>
                <a:off x="527304" y="2952750"/>
                <a:ext cx="234010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PV5 카고 4,520만 원 · 5년 감가</a:t>
                </a:r>
              </a:p>
            </p:txBody>
          </p:sp>
          <p:sp>
            <p:nvSpPr>
              <p:cNvPr id="27" name="TextBox 27"/>
              <p:cNvSpPr txBox="1"/>
              <p:nvPr/>
            </p:nvSpPr>
            <p:spPr>
              <a:xfrm>
                <a:off x="5326593" y="2952750"/>
                <a:ext cx="54690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0.09억</a:t>
                </a:r>
              </a:p>
            </p:txBody>
          </p:sp>
          <p:sp>
            <p:nvSpPr>
              <p:cNvPr id="28" name="Line 28"/>
              <p:cNvSpPr/>
              <p:nvPr/>
            </p:nvSpPr>
            <p:spPr>
              <a:xfrm>
                <a:off x="533400" y="323850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29" name="TextBox 29"/>
              <p:cNvSpPr txBox="1"/>
              <p:nvPr/>
            </p:nvSpPr>
            <p:spPr>
              <a:xfrm>
                <a:off x="527304" y="3371850"/>
                <a:ext cx="249326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차량형 GPR 2억~5억 원 · 5년 감가</a:t>
                </a:r>
              </a:p>
            </p:txBody>
          </p:sp>
          <p:sp>
            <p:nvSpPr>
              <p:cNvPr id="30" name="TextBox 30"/>
              <p:cNvSpPr txBox="1"/>
              <p:nvPr/>
            </p:nvSpPr>
            <p:spPr>
              <a:xfrm>
                <a:off x="4860135" y="3371850"/>
                <a:ext cx="1013361"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0.40~1.00억</a:t>
                </a:r>
              </a:p>
            </p:txBody>
          </p:sp>
          <p:sp>
            <p:nvSpPr>
              <p:cNvPr id="31" name="Line 31"/>
              <p:cNvSpPr/>
              <p:nvPr/>
            </p:nvSpPr>
            <p:spPr>
              <a:xfrm>
                <a:off x="533400" y="365760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2" name="TextBox 32"/>
              <p:cNvSpPr txBox="1"/>
              <p:nvPr/>
            </p:nvSpPr>
            <p:spPr>
              <a:xfrm>
                <a:off x="527304" y="3790950"/>
                <a:ext cx="297652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2인 1조 인건비 (운전·안전 / 탐사·판독)</a:t>
                </a:r>
              </a:p>
            </p:txBody>
          </p:sp>
          <p:sp>
            <p:nvSpPr>
              <p:cNvPr id="33" name="TextBox 33"/>
              <p:cNvSpPr txBox="1"/>
              <p:nvPr/>
            </p:nvSpPr>
            <p:spPr>
              <a:xfrm>
                <a:off x="5326593" y="3790950"/>
                <a:ext cx="54690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1.00억</a:t>
                </a:r>
              </a:p>
            </p:txBody>
          </p:sp>
          <p:sp>
            <p:nvSpPr>
              <p:cNvPr id="34" name="Line 34"/>
              <p:cNvSpPr/>
              <p:nvPr/>
            </p:nvSpPr>
            <p:spPr>
              <a:xfrm>
                <a:off x="533400" y="407670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5" name="TextBox 35"/>
              <p:cNvSpPr txBox="1"/>
              <p:nvPr/>
            </p:nvSpPr>
            <p:spPr>
              <a:xfrm>
                <a:off x="527304" y="4210050"/>
                <a:ext cx="2632558"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수동 GPR·AR 글래스·분석·유지보수</a:t>
                </a:r>
              </a:p>
            </p:txBody>
          </p:sp>
          <p:sp>
            <p:nvSpPr>
              <p:cNvPr id="36" name="TextBox 36"/>
              <p:cNvSpPr txBox="1"/>
              <p:nvPr/>
            </p:nvSpPr>
            <p:spPr>
              <a:xfrm>
                <a:off x="5326593" y="4210050"/>
                <a:ext cx="54690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0.30억</a:t>
                </a:r>
              </a:p>
            </p:txBody>
          </p:sp>
        </p:grpSp>
        <p:sp>
          <p:nvSpPr>
            <p:cNvPr id="38" name="Rectangle 38"/>
            <p:cNvSpPr/>
            <p:nvPr/>
          </p:nvSpPr>
          <p:spPr>
            <a:xfrm>
              <a:off x="533400" y="4514850"/>
              <a:ext cx="5334000" cy="419100"/>
            </a:xfrm>
            <a:prstGeom prst="rect">
              <a:avLst/>
            </a:prstGeom>
            <a:solidFill>
              <a:srgbClr val="F3F5F8"/>
            </a:solidFill>
            <a:ln>
              <a:noFill/>
            </a:ln>
          </p:spPr>
        </p:sp>
        <p:sp>
          <p:nvSpPr>
            <p:cNvPr id="39" name="TextBox 39"/>
            <p:cNvSpPr txBox="1"/>
            <p:nvPr/>
          </p:nvSpPr>
          <p:spPr>
            <a:xfrm>
              <a:off x="679323" y="4625975"/>
              <a:ext cx="35758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합계</a:t>
              </a:r>
            </a:p>
          </p:txBody>
        </p:sp>
        <p:sp>
          <p:nvSpPr>
            <p:cNvPr id="40" name="TextBox 40"/>
            <p:cNvSpPr txBox="1"/>
            <p:nvPr/>
          </p:nvSpPr>
          <p:spPr>
            <a:xfrm>
              <a:off x="3512043" y="4587875"/>
              <a:ext cx="2211339" cy="322707"/>
            </a:xfrm>
            <a:prstGeom prst="rect">
              <a:avLst/>
            </a:prstGeom>
            <a:noFill/>
            <a:ln>
              <a:noFill/>
            </a:ln>
          </p:spPr>
          <p:txBody>
            <a:bodyPr wrap="none" lIns="0" tIns="0" rIns="0" bIns="0" anchor="t" anchorCtr="0">
              <a:spAutoFit/>
            </a:bodyPr>
            <a:lstStyle/>
            <a:p>
              <a:pPr algn="r"/>
              <a:r>
                <a:rPr lang="ko-KR" sz="1650" b="1" dirty="0">
                  <a:solidFill>
                    <a:srgbClr val="0B1E3C"/>
                  </a:solidFill>
                  <a:latin typeface="+mn-lt"/>
                  <a:ea typeface="+mn-ea"/>
                  <a:cs typeface="+mn-cs"/>
                </a:rPr>
                <a:t>약 1.8~2.4억 원 / 년</a:t>
              </a:r>
            </a:p>
          </p:txBody>
        </p:sp>
      </p:grpSp>
      <p:grpSp>
        <p:nvGrpSpPr>
          <p:cNvPr id="58" name="revenue"/>
          <p:cNvGrpSpPr/>
          <p:nvPr/>
        </p:nvGrpSpPr>
        <p:grpSpPr>
          <a:xfrm>
            <a:off x="6318504" y="2552700"/>
            <a:ext cx="5346192" cy="2381250"/>
            <a:chOff x="6318504" y="2552700"/>
            <a:chExt cx="5346192" cy="2381250"/>
          </a:xfrm>
        </p:grpSpPr>
        <p:sp>
          <p:nvSpPr>
            <p:cNvPr id="42" name="TextBox 42"/>
            <p:cNvSpPr txBox="1"/>
            <p:nvPr/>
          </p:nvSpPr>
          <p:spPr>
            <a:xfrm>
              <a:off x="6318504" y="2552700"/>
              <a:ext cx="384784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수입 근거 · 자치구 연간 GPR 용역 발주 규모 (2026)</a:t>
              </a:r>
            </a:p>
          </p:txBody>
        </p:sp>
        <p:sp>
          <p:nvSpPr>
            <p:cNvPr id="43" name="Line 43"/>
            <p:cNvSpPr/>
            <p:nvPr/>
          </p:nvSpPr>
          <p:spPr>
            <a:xfrm>
              <a:off x="6324600" y="2819400"/>
              <a:ext cx="5334000" cy="9525"/>
            </a:xfrm>
            <a:custGeom>
              <a:avLst/>
              <a:gdLst/>
              <a:ahLst/>
              <a:cxnLst/>
              <a:rect l="l" t="t" r="r" b="b"/>
              <a:pathLst>
                <a:path w="5334000" h="9525">
                  <a:moveTo>
                    <a:pt x="0" y="0"/>
                  </a:moveTo>
                  <a:lnTo>
                    <a:pt x="5334000" y="0"/>
                  </a:lnTo>
                </a:path>
              </a:pathLst>
            </a:custGeom>
            <a:noFill/>
            <a:ln w="14288">
              <a:solidFill>
                <a:srgbClr val="0B1E3C"/>
              </a:solidFill>
            </a:ln>
          </p:spPr>
        </p:sp>
        <p:grpSp>
          <p:nvGrpSpPr>
            <p:cNvPr id="55" name="Group 55"/>
            <p:cNvGrpSpPr/>
            <p:nvPr/>
          </p:nvGrpSpPr>
          <p:grpSpPr>
            <a:xfrm>
              <a:off x="6318504" y="2952750"/>
              <a:ext cx="5346192" cy="1491996"/>
              <a:chOff x="6318504" y="2952750"/>
              <a:chExt cx="5346192" cy="1491996"/>
            </a:xfrm>
          </p:grpSpPr>
          <p:sp>
            <p:nvSpPr>
              <p:cNvPr id="44" name="TextBox 44"/>
              <p:cNvSpPr txBox="1"/>
              <p:nvPr/>
            </p:nvSpPr>
            <p:spPr>
              <a:xfrm>
                <a:off x="6318504" y="2952750"/>
                <a:ext cx="257266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서울 강동구 (연간단가 · 배정예산)</a:t>
                </a:r>
              </a:p>
            </p:txBody>
          </p:sp>
          <p:sp>
            <p:nvSpPr>
              <p:cNvPr id="45" name="TextBox 45"/>
              <p:cNvSpPr txBox="1"/>
              <p:nvPr/>
            </p:nvSpPr>
            <p:spPr>
              <a:xfrm>
                <a:off x="11117793" y="2952750"/>
                <a:ext cx="54690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1.60억</a:t>
                </a:r>
              </a:p>
            </p:txBody>
          </p:sp>
          <p:sp>
            <p:nvSpPr>
              <p:cNvPr id="46" name="Line 46"/>
              <p:cNvSpPr/>
              <p:nvPr/>
            </p:nvSpPr>
            <p:spPr>
              <a:xfrm>
                <a:off x="6324600" y="323850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47" name="TextBox 47"/>
              <p:cNvSpPr txBox="1"/>
              <p:nvPr/>
            </p:nvSpPr>
            <p:spPr>
              <a:xfrm>
                <a:off x="6318504" y="3371850"/>
                <a:ext cx="2621128"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서울 도봉구 (정기점검 · 공고 금액)</a:t>
                </a:r>
              </a:p>
            </p:txBody>
          </p:sp>
          <p:sp>
            <p:nvSpPr>
              <p:cNvPr id="48" name="TextBox 48"/>
              <p:cNvSpPr txBox="1"/>
              <p:nvPr/>
            </p:nvSpPr>
            <p:spPr>
              <a:xfrm>
                <a:off x="11117793" y="3371850"/>
                <a:ext cx="54690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2.16억</a:t>
                </a:r>
              </a:p>
            </p:txBody>
          </p:sp>
          <p:sp>
            <p:nvSpPr>
              <p:cNvPr id="49" name="Line 49"/>
              <p:cNvSpPr/>
              <p:nvPr/>
            </p:nvSpPr>
            <p:spPr>
              <a:xfrm>
                <a:off x="6324600" y="365760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50" name="TextBox 50"/>
              <p:cNvSpPr txBox="1"/>
              <p:nvPr/>
            </p:nvSpPr>
            <p:spPr>
              <a:xfrm>
                <a:off x="6318504" y="3790950"/>
                <a:ext cx="1538783"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자치구 2곳을 맡을 때</a:t>
                </a:r>
              </a:p>
            </p:txBody>
          </p:sp>
          <p:sp>
            <p:nvSpPr>
              <p:cNvPr id="51" name="TextBox 51"/>
              <p:cNvSpPr txBox="1"/>
              <p:nvPr/>
            </p:nvSpPr>
            <p:spPr>
              <a:xfrm>
                <a:off x="10625488" y="3790950"/>
                <a:ext cx="1039208"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약 3.2~4.3억</a:t>
                </a:r>
              </a:p>
            </p:txBody>
          </p:sp>
          <p:sp>
            <p:nvSpPr>
              <p:cNvPr id="52" name="Line 52"/>
              <p:cNvSpPr/>
              <p:nvPr/>
            </p:nvSpPr>
            <p:spPr>
              <a:xfrm>
                <a:off x="6324600" y="407670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53" name="TextBox 53"/>
              <p:cNvSpPr txBox="1"/>
              <p:nvPr/>
            </p:nvSpPr>
            <p:spPr>
              <a:xfrm>
                <a:off x="6318504" y="4210050"/>
                <a:ext cx="1538783"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자치구 3곳을 맡을 때</a:t>
                </a:r>
              </a:p>
            </p:txBody>
          </p:sp>
          <p:sp>
            <p:nvSpPr>
              <p:cNvPr id="54" name="TextBox 54"/>
              <p:cNvSpPr txBox="1"/>
              <p:nvPr/>
            </p:nvSpPr>
            <p:spPr>
              <a:xfrm>
                <a:off x="10625488" y="4210050"/>
                <a:ext cx="1039208"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약 4.8~6.5억</a:t>
                </a:r>
              </a:p>
            </p:txBody>
          </p:sp>
        </p:grpSp>
        <p:sp>
          <p:nvSpPr>
            <p:cNvPr id="56" name="Rectangle 56"/>
            <p:cNvSpPr/>
            <p:nvPr/>
          </p:nvSpPr>
          <p:spPr>
            <a:xfrm>
              <a:off x="6324600" y="4514850"/>
              <a:ext cx="5334000" cy="419100"/>
            </a:xfrm>
            <a:prstGeom prst="rect">
              <a:avLst/>
            </a:prstGeom>
            <a:solidFill>
              <a:srgbClr val="FFF6D6"/>
            </a:solidFill>
            <a:ln>
              <a:noFill/>
            </a:ln>
          </p:spPr>
        </p:sp>
        <p:sp>
          <p:nvSpPr>
            <p:cNvPr id="57" name="TextBox 57"/>
            <p:cNvSpPr txBox="1"/>
            <p:nvPr/>
          </p:nvSpPr>
          <p:spPr>
            <a:xfrm>
              <a:off x="6471285" y="4651375"/>
              <a:ext cx="4345063"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감당 가능?</a:t>
              </a:r>
              <a:r>
                <a:rPr lang="ko-KR" sz="1120" dirty="0">
                  <a:solidFill>
                    <a:srgbClr val="111827"/>
                  </a:solidFill>
                  <a:latin typeface="+mn-lt"/>
                  <a:ea typeface="+mn-ea"/>
                  <a:cs typeface="+mn-cs"/>
                </a:rPr>
                <a:t xml:space="preserve"> 연 6,600km(30km×220일) → 3개 구 1,000km 연 6회</a:t>
              </a:r>
            </a:p>
          </p:txBody>
        </p:sp>
      </p:grpSp>
      <p:grpSp>
        <p:nvGrpSpPr>
          <p:cNvPr id="60" name="kia"/>
          <p:cNvGrpSpPr/>
          <p:nvPr/>
        </p:nvGrpSpPr>
        <p:grpSpPr>
          <a:xfrm>
            <a:off x="527304" y="5238750"/>
            <a:ext cx="11216792" cy="234696"/>
            <a:chOff x="527304" y="5238750"/>
            <a:chExt cx="11216792" cy="234696"/>
          </a:xfrm>
        </p:grpSpPr>
        <p:sp>
          <p:nvSpPr>
            <p:cNvPr id="59" name="TextBox 59"/>
            <p:cNvSpPr txBox="1"/>
            <p:nvPr/>
          </p:nvSpPr>
          <p:spPr>
            <a:xfrm>
              <a:off x="527304" y="5238750"/>
              <a:ext cx="1121679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기아에게</a:t>
              </a:r>
              <a:r>
                <a:rPr lang="ko-KR" sz="1200" dirty="0">
                  <a:solidFill>
                    <a:srgbClr val="111827"/>
                  </a:solidFill>
                  <a:latin typeface="+mn-lt"/>
                  <a:ea typeface="+mn-ea"/>
                  <a:cs typeface="+mn-cs"/>
                </a:rPr>
                <a:t xml:space="preserve"> 장비 포함 대당 2억 원 이상의 고부가 컨버전 PV5 · 공공 반복 수요(시·군·구, 국토안전관리원 GPR 13→32대 확충) · Pleos 공공 업무 앱 레퍼런스</a:t>
              </a:r>
            </a:p>
          </p:txBody>
        </p:sp>
      </p:grpSp>
      <p:grpSp>
        <p:nvGrpSpPr>
          <p:cNvPr id="63" name="conclusion"/>
          <p:cNvGrpSpPr/>
          <p:nvPr/>
        </p:nvGrpSpPr>
        <p:grpSpPr>
          <a:xfrm>
            <a:off x="533400" y="5638800"/>
            <a:ext cx="11125200" cy="495300"/>
            <a:chOff x="533400" y="5638800"/>
            <a:chExt cx="11125200" cy="495300"/>
          </a:xfrm>
        </p:grpSpPr>
        <p:sp>
          <p:nvSpPr>
            <p:cNvPr id="61" name="Rectangle 61"/>
            <p:cNvSpPr/>
            <p:nvPr/>
          </p:nvSpPr>
          <p:spPr>
            <a:xfrm>
              <a:off x="533400" y="5638800"/>
              <a:ext cx="11125200" cy="495300"/>
            </a:xfrm>
            <a:prstGeom prst="rect">
              <a:avLst/>
            </a:prstGeom>
            <a:solidFill>
              <a:srgbClr val="0B1E3C"/>
            </a:solidFill>
            <a:ln>
              <a:noFill/>
            </a:ln>
          </p:spPr>
        </p:sp>
        <p:sp>
          <p:nvSpPr>
            <p:cNvPr id="62" name="TextBox 62"/>
            <p:cNvSpPr txBox="1"/>
            <p:nvPr/>
          </p:nvSpPr>
          <p:spPr>
            <a:xfrm>
              <a:off x="754380" y="5775325"/>
              <a:ext cx="8894102"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xml:space="preserve">비용은 연 약 2억 원, 자치구 한 곳의 연간 용역 발주가 </a:t>
              </a:r>
              <a:r>
                <a:rPr lang="ko-KR" sz="1500" b="1" dirty="0">
                  <a:solidFill>
                    <a:srgbClr val="F5B700"/>
                  </a:solidFill>
                  <a:latin typeface="+mn-lt"/>
                  <a:ea typeface="+mn-ea"/>
                  <a:cs typeface="+mn-cs"/>
                </a:rPr>
                <a:t>1.6~2.2억 원</a:t>
              </a:r>
              <a:r>
                <a:rPr lang="ko-KR" sz="1500" b="1" dirty="0">
                  <a:solidFill>
                    <a:srgbClr val="FFFFFF"/>
                  </a:solidFill>
                  <a:latin typeface="+mn-lt"/>
                  <a:ea typeface="+mn-ea"/>
                  <a:cs typeface="+mn-cs"/>
                </a:rPr>
                <a:t xml:space="preserve"> — 2곳부터 흑자 구간입니다.</a:t>
              </a:r>
            </a:p>
          </p:txBody>
        </p:sp>
      </p:grpSp>
      <p:grpSp>
        <p:nvGrpSpPr>
          <p:cNvPr id="66" name="source"/>
          <p:cNvGrpSpPr/>
          <p:nvPr/>
        </p:nvGrpSpPr>
        <p:grpSpPr>
          <a:xfrm>
            <a:off x="528638" y="6229350"/>
            <a:ext cx="9132837" cy="328612"/>
            <a:chOff x="528638" y="6229350"/>
            <a:chExt cx="9132837" cy="328612"/>
          </a:xfrm>
        </p:grpSpPr>
        <p:sp>
          <p:nvSpPr>
            <p:cNvPr id="64" name="TextBox 64"/>
            <p:cNvSpPr txBox="1"/>
            <p:nvPr/>
          </p:nvSpPr>
          <p:spPr>
            <a:xfrm>
              <a:off x="528638" y="6229350"/>
              <a:ext cx="9132837"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e-나라지표 도로현황(2025.12) · 머니투데이(2025.12.23) · 뉴스서울(2025.12.3) · 시사저널(2025.4.25, GPR 2억~8억) · 이투데이(2025.4.23, 3대 15억)</a:t>
              </a:r>
            </a:p>
          </p:txBody>
        </p:sp>
        <p:sp>
          <p:nvSpPr>
            <p:cNvPr id="65" name="TextBox 65"/>
            <p:cNvSpPr txBox="1"/>
            <p:nvPr/>
          </p:nvSpPr>
          <p:spPr>
            <a:xfrm>
              <a:off x="528638" y="6381750"/>
              <a:ext cx="77757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나라장터 공고(산군 재게시, 2026) 강동구·도봉구 · 인건비·유지비·하루 30km·220일은 가설, 파일럿에서 확정 · 감가는 잔존가치 0 단순 계산</a:t>
              </a:r>
            </a:p>
          </p:txBody>
        </p:sp>
      </p:grpSp>
      <p:grpSp>
        <p:nvGrpSpPr>
          <p:cNvPr id="69" name="footer"/>
          <p:cNvGrpSpPr/>
          <p:nvPr/>
        </p:nvGrpSpPr>
        <p:grpSpPr>
          <a:xfrm>
            <a:off x="528638" y="6610350"/>
            <a:ext cx="11134724" cy="176212"/>
            <a:chOff x="528638" y="6610350"/>
            <a:chExt cx="11134724" cy="176212"/>
          </a:xfrm>
        </p:grpSpPr>
        <p:sp>
          <p:nvSpPr>
            <p:cNvPr id="67" name="TextBox 67"/>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8" name="TextBox 68"/>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14 / 16</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704850" cy="228600"/>
            </a:xfrm>
            <a:prstGeom prst="rect">
              <a:avLst/>
            </a:prstGeom>
            <a:solidFill>
              <a:srgbClr val="F5B700"/>
            </a:solidFill>
            <a:ln>
              <a:noFill/>
            </a:ln>
          </p:spPr>
        </p:sp>
        <p:sp>
          <p:nvSpPr>
            <p:cNvPr id="5" name="TextBox 5"/>
            <p:cNvSpPr txBox="1"/>
            <p:nvPr/>
          </p:nvSpPr>
          <p:spPr>
            <a:xfrm>
              <a:off x="1929738" y="314325"/>
              <a:ext cx="579174"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사업 모델</a:t>
              </a:r>
            </a:p>
          </p:txBody>
        </p:sp>
        <p:sp>
          <p:nvSpPr>
            <p:cNvPr id="6" name="TextBox 6"/>
            <p:cNvSpPr txBox="1"/>
            <p:nvPr/>
          </p:nvSpPr>
          <p:spPr>
            <a:xfrm>
              <a:off x="2680716" y="301625"/>
              <a:ext cx="141004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초기 고객과 확장 전략</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8378691" cy="557403"/>
            <a:chOff x="518922" y="781050"/>
            <a:chExt cx="8378691" cy="557403"/>
          </a:xfrm>
        </p:grpSpPr>
        <p:sp>
          <p:nvSpPr>
            <p:cNvPr id="9" name="TextBox 9"/>
            <p:cNvSpPr txBox="1"/>
            <p:nvPr/>
          </p:nvSpPr>
          <p:spPr>
            <a:xfrm>
              <a:off x="518922" y="781050"/>
              <a:ext cx="8378691"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이미 GPR 탐사를 발주하는 지자체에서 시작합니다</a:t>
              </a:r>
            </a:p>
          </p:txBody>
        </p:sp>
      </p:grpSp>
      <p:grpSp>
        <p:nvGrpSpPr>
          <p:cNvPr id="12" name="lead"/>
          <p:cNvGrpSpPr/>
          <p:nvPr/>
        </p:nvGrpSpPr>
        <p:grpSpPr>
          <a:xfrm>
            <a:off x="526542" y="1339850"/>
            <a:ext cx="7746625" cy="264033"/>
            <a:chOff x="526542" y="1339850"/>
            <a:chExt cx="7746625" cy="264033"/>
          </a:xfrm>
        </p:grpSpPr>
        <p:sp>
          <p:nvSpPr>
            <p:cNvPr id="11" name="TextBox 11"/>
            <p:cNvSpPr txBox="1"/>
            <p:nvPr/>
          </p:nvSpPr>
          <p:spPr>
            <a:xfrm>
              <a:off x="526542" y="1339850"/>
              <a:ext cx="7746625"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새 예산을 만들지 않고, 지금 있는 탐사 예산과 공공 실증·혁신조달 제도로 들어가 넓혀 갑니다.</a:t>
              </a:r>
            </a:p>
          </p:txBody>
        </p:sp>
      </p:grpSp>
      <p:grpSp>
        <p:nvGrpSpPr>
          <p:cNvPr id="25" name="market-facts"/>
          <p:cNvGrpSpPr/>
          <p:nvPr/>
        </p:nvGrpSpPr>
        <p:grpSpPr>
          <a:xfrm>
            <a:off x="533400" y="1714500"/>
            <a:ext cx="11125200" cy="1066800"/>
            <a:chOff x="533400" y="1714500"/>
            <a:chExt cx="11125200" cy="1066800"/>
          </a:xfrm>
        </p:grpSpPr>
        <p:sp>
          <p:nvSpPr>
            <p:cNvPr id="13" name="Rectangle 13"/>
            <p:cNvSpPr/>
            <p:nvPr/>
          </p:nvSpPr>
          <p:spPr>
            <a:xfrm>
              <a:off x="533400" y="1714500"/>
              <a:ext cx="3581400" cy="1066800"/>
            </a:xfrm>
            <a:prstGeom prst="rect">
              <a:avLst/>
            </a:prstGeom>
            <a:solidFill>
              <a:srgbClr val="0B1E3C"/>
            </a:solidFill>
            <a:ln>
              <a:noFill/>
            </a:ln>
          </p:spPr>
        </p:sp>
        <p:sp>
          <p:nvSpPr>
            <p:cNvPr id="14" name="TextBox 14"/>
            <p:cNvSpPr txBox="1"/>
            <p:nvPr/>
          </p:nvSpPr>
          <p:spPr>
            <a:xfrm>
              <a:off x="730758" y="1860550"/>
              <a:ext cx="2451583" cy="469392"/>
            </a:xfrm>
            <a:prstGeom prst="rect">
              <a:avLst/>
            </a:prstGeom>
            <a:noFill/>
            <a:ln>
              <a:noFill/>
            </a:ln>
          </p:spPr>
          <p:txBody>
            <a:bodyPr wrap="none" lIns="0" tIns="0" rIns="0" bIns="0" anchor="t" anchorCtr="0">
              <a:spAutoFit/>
            </a:bodyPr>
            <a:lstStyle/>
            <a:p>
              <a:pPr algn="l"/>
              <a:r>
                <a:rPr lang="ko-KR" sz="2400" b="1" dirty="0">
                  <a:solidFill>
                    <a:srgbClr val="F5B700"/>
                  </a:solidFill>
                  <a:latin typeface="+mn-lt"/>
                  <a:ea typeface="+mn-ea"/>
                  <a:cs typeface="+mn-cs"/>
                </a:rPr>
                <a:t>0.46~1.77억 원</a:t>
              </a:r>
            </a:p>
          </p:txBody>
        </p:sp>
        <p:sp>
          <p:nvSpPr>
            <p:cNvPr id="15" name="TextBox 15"/>
            <p:cNvSpPr txBox="1"/>
            <p:nvPr/>
          </p:nvSpPr>
          <p:spPr>
            <a:xfrm>
              <a:off x="736854" y="2266950"/>
              <a:ext cx="2718252"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2026년 지자체 GPR 탐사 용역 낙찰액</a:t>
              </a:r>
            </a:p>
          </p:txBody>
        </p:sp>
        <p:sp>
          <p:nvSpPr>
            <p:cNvPr id="16" name="TextBox 16"/>
            <p:cNvSpPr txBox="1"/>
            <p:nvPr/>
          </p:nvSpPr>
          <p:spPr>
            <a:xfrm>
              <a:off x="737616" y="2501900"/>
              <a:ext cx="2830620"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보령·안양·용인(기흥구) 낙찰, 이미 집행 중</a:t>
              </a:r>
            </a:p>
          </p:txBody>
        </p:sp>
        <p:sp>
          <p:nvSpPr>
            <p:cNvPr id="17" name="Rectangle 17"/>
            <p:cNvSpPr/>
            <p:nvPr/>
          </p:nvSpPr>
          <p:spPr>
            <a:xfrm>
              <a:off x="4305300" y="1714500"/>
              <a:ext cx="3581400" cy="1066800"/>
            </a:xfrm>
            <a:prstGeom prst="rect">
              <a:avLst/>
            </a:prstGeom>
            <a:solidFill>
              <a:srgbClr val="0B1E3C"/>
            </a:solidFill>
            <a:ln>
              <a:noFill/>
            </a:ln>
          </p:spPr>
        </p:sp>
        <p:sp>
          <p:nvSpPr>
            <p:cNvPr id="18" name="TextBox 18"/>
            <p:cNvSpPr txBox="1"/>
            <p:nvPr/>
          </p:nvSpPr>
          <p:spPr>
            <a:xfrm>
              <a:off x="4502658" y="1860550"/>
              <a:ext cx="1518666" cy="469392"/>
            </a:xfrm>
            <a:prstGeom prst="rect">
              <a:avLst/>
            </a:prstGeom>
            <a:noFill/>
            <a:ln>
              <a:noFill/>
            </a:ln>
          </p:spPr>
          <p:txBody>
            <a:bodyPr wrap="none" lIns="0" tIns="0" rIns="0" bIns="0" anchor="t" anchorCtr="0">
              <a:spAutoFit/>
            </a:bodyPr>
            <a:lstStyle/>
            <a:p>
              <a:pPr algn="l"/>
              <a:r>
                <a:rPr lang="ko-KR" sz="2400" b="1" dirty="0">
                  <a:solidFill>
                    <a:srgbClr val="F5B700"/>
                  </a:solidFill>
                  <a:latin typeface="+mn-lt"/>
                  <a:ea typeface="+mn-ea"/>
                  <a:cs typeface="+mn-cs"/>
                </a:rPr>
                <a:t>21.6억 원</a:t>
              </a:r>
            </a:p>
          </p:txBody>
        </p:sp>
        <p:sp>
          <p:nvSpPr>
            <p:cNvPr id="19" name="TextBox 19"/>
            <p:cNvSpPr txBox="1"/>
            <p:nvPr/>
          </p:nvSpPr>
          <p:spPr>
            <a:xfrm>
              <a:off x="4508754" y="2266950"/>
              <a:ext cx="246341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경기도 16개 시·군 GPR 탐사 지원</a:t>
              </a:r>
            </a:p>
          </p:txBody>
        </p:sp>
        <p:sp>
          <p:nvSpPr>
            <p:cNvPr id="20" name="TextBox 20"/>
            <p:cNvSpPr txBox="1"/>
            <p:nvPr/>
          </p:nvSpPr>
          <p:spPr>
            <a:xfrm>
              <a:off x="4509516" y="2501900"/>
              <a:ext cx="2971971"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1,080km를 장비 구매 대신 용역으로 (2025.9)</a:t>
              </a:r>
            </a:p>
          </p:txBody>
        </p:sp>
        <p:sp>
          <p:nvSpPr>
            <p:cNvPr id="21" name="Rectangle 21"/>
            <p:cNvSpPr/>
            <p:nvPr/>
          </p:nvSpPr>
          <p:spPr>
            <a:xfrm>
              <a:off x="8077200" y="1714500"/>
              <a:ext cx="3581400" cy="1066800"/>
            </a:xfrm>
            <a:prstGeom prst="rect">
              <a:avLst/>
            </a:prstGeom>
            <a:solidFill>
              <a:srgbClr val="0B1E3C"/>
            </a:solidFill>
            <a:ln>
              <a:noFill/>
            </a:ln>
          </p:spPr>
        </p:sp>
        <p:sp>
          <p:nvSpPr>
            <p:cNvPr id="22" name="TextBox 22"/>
            <p:cNvSpPr txBox="1"/>
            <p:nvPr/>
          </p:nvSpPr>
          <p:spPr>
            <a:xfrm>
              <a:off x="8274558" y="1860550"/>
              <a:ext cx="1282004" cy="469392"/>
            </a:xfrm>
            <a:prstGeom prst="rect">
              <a:avLst/>
            </a:prstGeom>
            <a:noFill/>
            <a:ln>
              <a:noFill/>
            </a:ln>
          </p:spPr>
          <p:txBody>
            <a:bodyPr wrap="none" lIns="0" tIns="0" rIns="0" bIns="0" anchor="t" anchorCtr="0">
              <a:spAutoFit/>
            </a:bodyPr>
            <a:lstStyle/>
            <a:p>
              <a:pPr algn="l"/>
              <a:r>
                <a:rPr lang="ko-KR" sz="2400" b="1" dirty="0">
                  <a:solidFill>
                    <a:srgbClr val="F5B700"/>
                  </a:solidFill>
                  <a:latin typeface="+mn-lt"/>
                  <a:ea typeface="+mn-ea"/>
                  <a:cs typeface="+mn-cs"/>
                </a:rPr>
                <a:t>최대 6년</a:t>
              </a:r>
            </a:p>
          </p:txBody>
        </p:sp>
        <p:sp>
          <p:nvSpPr>
            <p:cNvPr id="23" name="TextBox 23"/>
            <p:cNvSpPr txBox="1"/>
            <p:nvPr/>
          </p:nvSpPr>
          <p:spPr>
            <a:xfrm>
              <a:off x="8280654" y="2266950"/>
              <a:ext cx="1890949"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조달청 혁신제품 수의계약</a:t>
              </a:r>
            </a:p>
          </p:txBody>
        </p:sp>
        <p:sp>
          <p:nvSpPr>
            <p:cNvPr id="24" name="TextBox 24"/>
            <p:cNvSpPr txBox="1"/>
            <p:nvPr/>
          </p:nvSpPr>
          <p:spPr>
            <a:xfrm>
              <a:off x="8281416" y="2501900"/>
              <a:ext cx="1918906" cy="205359"/>
            </a:xfrm>
            <a:prstGeom prst="rect">
              <a:avLst/>
            </a:prstGeom>
            <a:noFill/>
            <a:ln>
              <a:noFill/>
            </a:ln>
          </p:spPr>
          <p:txBody>
            <a:bodyPr wrap="none" lIns="0" tIns="0" rIns="0" bIns="0" anchor="t" anchorCtr="0">
              <a:spAutoFit/>
            </a:bodyPr>
            <a:lstStyle/>
            <a:p>
              <a:pPr algn="l"/>
              <a:r>
                <a:rPr lang="ko-KR" sz="1050" dirty="0">
                  <a:solidFill>
                    <a:srgbClr val="D6DDE8"/>
                  </a:solidFill>
                  <a:latin typeface="+mn-lt"/>
                  <a:ea typeface="+mn-ea"/>
                  <a:cs typeface="+mn-cs"/>
                </a:rPr>
                <a:t>실증 후 반복 계약으로 가는 길</a:t>
              </a:r>
            </a:p>
          </p:txBody>
        </p:sp>
      </p:grpSp>
      <p:grpSp>
        <p:nvGrpSpPr>
          <p:cNvPr id="58" name="steps"/>
          <p:cNvGrpSpPr/>
          <p:nvPr/>
        </p:nvGrpSpPr>
        <p:grpSpPr>
          <a:xfrm>
            <a:off x="524637" y="3009900"/>
            <a:ext cx="11133963" cy="1847850"/>
            <a:chOff x="524637" y="3009900"/>
            <a:chExt cx="11133963" cy="1847850"/>
          </a:xfrm>
        </p:grpSpPr>
        <p:sp>
          <p:nvSpPr>
            <p:cNvPr id="26" name="Rectangle 26"/>
            <p:cNvSpPr/>
            <p:nvPr/>
          </p:nvSpPr>
          <p:spPr>
            <a:xfrm>
              <a:off x="533400" y="3009900"/>
              <a:ext cx="2609850" cy="38100"/>
            </a:xfrm>
            <a:prstGeom prst="rect">
              <a:avLst/>
            </a:prstGeom>
            <a:solidFill>
              <a:srgbClr val="0B1E3C"/>
            </a:solidFill>
            <a:ln>
              <a:noFill/>
            </a:ln>
          </p:spPr>
        </p:sp>
        <p:sp>
          <p:nvSpPr>
            <p:cNvPr id="27" name="Rectangle 27"/>
            <p:cNvSpPr/>
            <p:nvPr/>
          </p:nvSpPr>
          <p:spPr>
            <a:xfrm>
              <a:off x="3371850" y="3009900"/>
              <a:ext cx="2609850" cy="38100"/>
            </a:xfrm>
            <a:prstGeom prst="rect">
              <a:avLst/>
            </a:prstGeom>
            <a:solidFill>
              <a:srgbClr val="0B1E3C"/>
            </a:solidFill>
            <a:ln>
              <a:noFill/>
            </a:ln>
          </p:spPr>
        </p:sp>
        <p:sp>
          <p:nvSpPr>
            <p:cNvPr id="28" name="Rectangle 28"/>
            <p:cNvSpPr/>
            <p:nvPr/>
          </p:nvSpPr>
          <p:spPr>
            <a:xfrm>
              <a:off x="6210300" y="3009900"/>
              <a:ext cx="2609850" cy="38100"/>
            </a:xfrm>
            <a:prstGeom prst="rect">
              <a:avLst/>
            </a:prstGeom>
            <a:solidFill>
              <a:srgbClr val="0B1E3C"/>
            </a:solidFill>
            <a:ln>
              <a:noFill/>
            </a:ln>
          </p:spPr>
        </p:sp>
        <p:sp>
          <p:nvSpPr>
            <p:cNvPr id="29" name="Rectangle 29"/>
            <p:cNvSpPr/>
            <p:nvPr/>
          </p:nvSpPr>
          <p:spPr>
            <a:xfrm>
              <a:off x="9048750" y="3009900"/>
              <a:ext cx="2609850" cy="38100"/>
            </a:xfrm>
            <a:prstGeom prst="rect">
              <a:avLst/>
            </a:prstGeom>
            <a:solidFill>
              <a:srgbClr val="F5B700"/>
            </a:solidFill>
            <a:ln>
              <a:noFill/>
            </a:ln>
          </p:spPr>
        </p:sp>
        <p:grpSp>
          <p:nvGrpSpPr>
            <p:cNvPr id="34" name="Group 34"/>
            <p:cNvGrpSpPr/>
            <p:nvPr/>
          </p:nvGrpSpPr>
          <p:grpSpPr>
            <a:xfrm>
              <a:off x="528066" y="3168650"/>
              <a:ext cx="8830629" cy="205359"/>
              <a:chOff x="528066" y="3168650"/>
              <a:chExt cx="8830629" cy="205359"/>
            </a:xfrm>
          </p:grpSpPr>
          <p:sp>
            <p:nvSpPr>
              <p:cNvPr id="30" name="TextBox 30"/>
              <p:cNvSpPr txBox="1"/>
              <p:nvPr/>
            </p:nvSpPr>
            <p:spPr>
              <a:xfrm>
                <a:off x="528066" y="3168650"/>
                <a:ext cx="39691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0~1년</a:t>
                </a:r>
              </a:p>
            </p:txBody>
          </p:sp>
          <p:sp>
            <p:nvSpPr>
              <p:cNvPr id="31" name="TextBox 31"/>
              <p:cNvSpPr txBox="1"/>
              <p:nvPr/>
            </p:nvSpPr>
            <p:spPr>
              <a:xfrm>
                <a:off x="3366516" y="3168650"/>
                <a:ext cx="39691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1~2년</a:t>
                </a:r>
              </a:p>
            </p:txBody>
          </p:sp>
          <p:sp>
            <p:nvSpPr>
              <p:cNvPr id="32" name="TextBox 32"/>
              <p:cNvSpPr txBox="1"/>
              <p:nvPr/>
            </p:nvSpPr>
            <p:spPr>
              <a:xfrm>
                <a:off x="6204966" y="3168650"/>
                <a:ext cx="39691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2~3년</a:t>
                </a:r>
              </a:p>
            </p:txBody>
          </p:sp>
          <p:sp>
            <p:nvSpPr>
              <p:cNvPr id="33" name="TextBox 33"/>
              <p:cNvSpPr txBox="1"/>
              <p:nvPr/>
            </p:nvSpPr>
            <p:spPr>
              <a:xfrm>
                <a:off x="9043416" y="3168650"/>
                <a:ext cx="315279"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3년~</a:t>
                </a:r>
              </a:p>
            </p:txBody>
          </p:sp>
        </p:grpSp>
        <p:grpSp>
          <p:nvGrpSpPr>
            <p:cNvPr id="39" name="Group 39"/>
            <p:cNvGrpSpPr/>
            <p:nvPr/>
          </p:nvGrpSpPr>
          <p:grpSpPr>
            <a:xfrm>
              <a:off x="524637" y="3365500"/>
              <a:ext cx="10128810" cy="337376"/>
              <a:chOff x="524637" y="3365500"/>
              <a:chExt cx="10128810" cy="337376"/>
            </a:xfrm>
          </p:grpSpPr>
          <p:sp>
            <p:nvSpPr>
              <p:cNvPr id="35" name="TextBox 35"/>
              <p:cNvSpPr txBox="1"/>
              <p:nvPr/>
            </p:nvSpPr>
            <p:spPr>
              <a:xfrm>
                <a:off x="524637" y="3365500"/>
                <a:ext cx="147974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실증 레퍼런스</a:t>
                </a:r>
              </a:p>
            </p:txBody>
          </p:sp>
          <p:sp>
            <p:nvSpPr>
              <p:cNvPr id="36" name="TextBox 36"/>
              <p:cNvSpPr txBox="1"/>
              <p:nvPr/>
            </p:nvSpPr>
            <p:spPr>
              <a:xfrm>
                <a:off x="3363087" y="3365500"/>
                <a:ext cx="132113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첫 용역 수주</a:t>
                </a:r>
              </a:p>
            </p:txBody>
          </p:sp>
          <p:sp>
            <p:nvSpPr>
              <p:cNvPr id="37" name="TextBox 37"/>
              <p:cNvSpPr txBox="1"/>
              <p:nvPr/>
            </p:nvSpPr>
            <p:spPr>
              <a:xfrm>
                <a:off x="6201537" y="3365500"/>
                <a:ext cx="1479742"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반복관제 전환</a:t>
                </a:r>
              </a:p>
            </p:txBody>
          </p:sp>
          <p:sp>
            <p:nvSpPr>
              <p:cNvPr id="38" name="TextBox 38"/>
              <p:cNvSpPr txBox="1"/>
              <p:nvPr/>
            </p:nvSpPr>
            <p:spPr>
              <a:xfrm>
                <a:off x="9039987" y="3365500"/>
                <a:ext cx="1613460"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권역·기관 확장</a:t>
                </a:r>
              </a:p>
            </p:txBody>
          </p:sp>
        </p:grpSp>
        <p:grpSp>
          <p:nvGrpSpPr>
            <p:cNvPr id="43" name="Group 43"/>
            <p:cNvGrpSpPr/>
            <p:nvPr/>
          </p:nvGrpSpPr>
          <p:grpSpPr>
            <a:xfrm>
              <a:off x="3181350" y="3505200"/>
              <a:ext cx="5810250" cy="1"/>
              <a:chOff x="3181350" y="3505200"/>
              <a:chExt cx="5810250" cy="1"/>
            </a:xfrm>
          </p:grpSpPr>
          <p:sp>
            <p:nvSpPr>
              <p:cNvPr id="40" name="Line 40"/>
              <p:cNvSpPr/>
              <p:nvPr/>
            </p:nvSpPr>
            <p:spPr>
              <a:xfrm>
                <a:off x="3181350" y="3505200"/>
                <a:ext cx="133350" cy="1"/>
              </a:xfrm>
              <a:prstGeom prst="line">
                <a:avLst/>
              </a:prstGeom>
              <a:noFill/>
              <a:ln w="14288">
                <a:solidFill>
                  <a:srgbClr val="9AA3AF"/>
                </a:solidFill>
                <a:tailEnd type="triangle" w="lg" len="lg"/>
              </a:ln>
            </p:spPr>
          </p:sp>
          <p:sp>
            <p:nvSpPr>
              <p:cNvPr id="41" name="Line 41"/>
              <p:cNvSpPr/>
              <p:nvPr/>
            </p:nvSpPr>
            <p:spPr>
              <a:xfrm>
                <a:off x="6019800" y="3505200"/>
                <a:ext cx="133350" cy="1"/>
              </a:xfrm>
              <a:prstGeom prst="line">
                <a:avLst/>
              </a:prstGeom>
              <a:noFill/>
              <a:ln w="14288">
                <a:solidFill>
                  <a:srgbClr val="9AA3AF"/>
                </a:solidFill>
                <a:tailEnd type="triangle" w="lg" len="lg"/>
              </a:ln>
            </p:spPr>
          </p:sp>
          <p:sp>
            <p:nvSpPr>
              <p:cNvPr id="42" name="Line 42"/>
              <p:cNvSpPr/>
              <p:nvPr/>
            </p:nvSpPr>
            <p:spPr>
              <a:xfrm>
                <a:off x="8858250" y="3505200"/>
                <a:ext cx="133350" cy="1"/>
              </a:xfrm>
              <a:prstGeom prst="line">
                <a:avLst/>
              </a:prstGeom>
              <a:noFill/>
              <a:ln w="14288">
                <a:solidFill>
                  <a:srgbClr val="9AA3AF"/>
                </a:solidFill>
                <a:tailEnd type="triangle" w="lg" len="lg"/>
              </a:ln>
            </p:spPr>
          </p:sp>
        </p:grpSp>
        <p:grpSp>
          <p:nvGrpSpPr>
            <p:cNvPr id="48" name="Group 48"/>
            <p:cNvGrpSpPr/>
            <p:nvPr/>
          </p:nvGrpSpPr>
          <p:grpSpPr>
            <a:xfrm>
              <a:off x="527304" y="3689350"/>
              <a:ext cx="10287762" cy="691896"/>
              <a:chOff x="527304" y="3689350"/>
              <a:chExt cx="10287762" cy="691896"/>
            </a:xfrm>
          </p:grpSpPr>
          <p:sp>
            <p:nvSpPr>
              <p:cNvPr id="44" name="TextBox 44"/>
              <p:cNvSpPr txBox="1"/>
              <p:nvPr/>
            </p:nvSpPr>
            <p:spPr>
              <a:xfrm>
                <a:off x="527304" y="3689350"/>
                <a:ext cx="178003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테스트베드서울 실증 신청</a:t>
                </a:r>
                <a:br>
                  <a:rPr lang="ko-KR" sz="1200" dirty="0">
                    <a:solidFill>
                      <a:srgbClr val="111827"/>
                    </a:solidFill>
                    <a:latin typeface="+mn-lt"/>
                    <a:ea typeface="+mn-ea"/>
                    <a:cs typeface="+mn-cs"/>
                  </a:rPr>
                </a:br>
                <a:r>
                  <a:rPr lang="ko-KR" sz="1200" dirty="0">
                    <a:solidFill>
                      <a:srgbClr val="111827"/>
                    </a:solidFill>
                    <a:latin typeface="+mn-lt"/>
                    <a:ea typeface="+mn-ea"/>
                    <a:cs typeface="+mn-cs"/>
                  </a:rPr>
                  <a:t>공사구간 1곳 파일럿</a:t>
                </a:r>
                <a:br>
                  <a:rPr lang="ko-KR" sz="1200" dirty="0">
                    <a:solidFill>
                      <a:srgbClr val="111827"/>
                    </a:solidFill>
                    <a:latin typeface="+mn-lt"/>
                    <a:ea typeface="+mn-ea"/>
                    <a:cs typeface="+mn-cs"/>
                  </a:rPr>
                </a:br>
                <a:r>
                  <a:rPr lang="ko-KR" sz="1200" dirty="0">
                    <a:solidFill>
                      <a:srgbClr val="111827"/>
                    </a:solidFill>
                    <a:latin typeface="+mn-lt"/>
                    <a:ea typeface="+mn-ea"/>
                    <a:cs typeface="+mn-cs"/>
                  </a:rPr>
                  <a:t>기존 GPR 조사기관과 공동</a:t>
                </a:r>
              </a:p>
            </p:txBody>
          </p:sp>
          <p:sp>
            <p:nvSpPr>
              <p:cNvPr id="45" name="TextBox 45"/>
              <p:cNvSpPr txBox="1"/>
              <p:nvPr/>
            </p:nvSpPr>
            <p:spPr>
              <a:xfrm>
                <a:off x="3365754" y="3689350"/>
                <a:ext cx="178003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시·군 GPR 탐사 용역 입찰</a:t>
                </a:r>
                <a:br>
                  <a:rPr lang="ko-KR" sz="1200" dirty="0">
                    <a:solidFill>
                      <a:srgbClr val="111827"/>
                    </a:solidFill>
                    <a:latin typeface="+mn-lt"/>
                    <a:ea typeface="+mn-ea"/>
                    <a:cs typeface="+mn-cs"/>
                  </a:rPr>
                </a:br>
                <a:r>
                  <a:rPr lang="ko-KR" sz="1200" dirty="0">
                    <a:solidFill>
                      <a:srgbClr val="111827"/>
                    </a:solidFill>
                    <a:latin typeface="+mn-lt"/>
                    <a:ea typeface="+mn-ea"/>
                    <a:cs typeface="+mn-cs"/>
                  </a:rPr>
                  <a:t>조사기관과 컨소시엄 참여</a:t>
                </a:r>
                <a:br>
                  <a:rPr lang="ko-KR" sz="1200" dirty="0">
                    <a:solidFill>
                      <a:srgbClr val="111827"/>
                    </a:solidFill>
                    <a:latin typeface="+mn-lt"/>
                    <a:ea typeface="+mn-ea"/>
                    <a:cs typeface="+mn-cs"/>
                  </a:rPr>
                </a:br>
                <a:r>
                  <a:rPr lang="ko-KR" sz="1200" dirty="0">
                    <a:solidFill>
                      <a:srgbClr val="111827"/>
                    </a:solidFill>
                    <a:latin typeface="+mn-lt"/>
                    <a:ea typeface="+mn-ea"/>
                    <a:cs typeface="+mn-cs"/>
                  </a:rPr>
                  <a:t>1회 탐사 → 반복 탐사 제안</a:t>
                </a:r>
              </a:p>
            </p:txBody>
          </p:sp>
          <p:sp>
            <p:nvSpPr>
              <p:cNvPr id="46" name="TextBox 46"/>
              <p:cNvSpPr txBox="1"/>
              <p:nvPr/>
            </p:nvSpPr>
            <p:spPr>
              <a:xfrm>
                <a:off x="6204204" y="3689350"/>
                <a:ext cx="182575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조달청 혁신제품 지정 신청</a:t>
                </a:r>
                <a:br>
                  <a:rPr lang="ko-KR" sz="1200" dirty="0">
                    <a:solidFill>
                      <a:srgbClr val="111827"/>
                    </a:solidFill>
                    <a:latin typeface="+mn-lt"/>
                    <a:ea typeface="+mn-ea"/>
                    <a:cs typeface="+mn-cs"/>
                  </a:rPr>
                </a:br>
                <a:r>
                  <a:rPr lang="ko-KR" sz="1200" dirty="0">
                    <a:solidFill>
                      <a:srgbClr val="111827"/>
                    </a:solidFill>
                    <a:latin typeface="+mn-lt"/>
                    <a:ea typeface="+mn-ea"/>
                    <a:cs typeface="+mn-cs"/>
                  </a:rPr>
                  <a:t>지정 시 최대 6년 수의계약</a:t>
                </a:r>
                <a:br>
                  <a:rPr lang="ko-KR" sz="1200" dirty="0">
                    <a:solidFill>
                      <a:srgbClr val="111827"/>
                    </a:solidFill>
                    <a:latin typeface="+mn-lt"/>
                    <a:ea typeface="+mn-ea"/>
                    <a:cs typeface="+mn-cs"/>
                  </a:rPr>
                </a:br>
                <a:r>
                  <a:rPr lang="ko-KR" sz="1200" dirty="0">
                    <a:solidFill>
                      <a:srgbClr val="111827"/>
                    </a:solidFill>
                    <a:latin typeface="+mn-lt"/>
                    <a:ea typeface="+mn-ea"/>
                    <a:cs typeface="+mn-cs"/>
                  </a:rPr>
                  <a:t>자치구 연간 반복관제 계약</a:t>
                </a:r>
              </a:p>
            </p:txBody>
          </p:sp>
          <p:sp>
            <p:nvSpPr>
              <p:cNvPr id="47" name="TextBox 47"/>
              <p:cNvSpPr txBox="1"/>
              <p:nvPr/>
            </p:nvSpPr>
            <p:spPr>
              <a:xfrm>
                <a:off x="9042654" y="3689350"/>
                <a:ext cx="1772412" cy="691896"/>
              </a:xfrm>
              <a:prstGeom prst="rect">
                <a:avLst/>
              </a:prstGeom>
              <a:noFill/>
              <a:ln>
                <a:noFill/>
              </a:ln>
            </p:spPr>
            <p:txBody>
              <a:bodyPr wrap="none" lIns="0" tIns="0" rIns="0" bIns="0" anchor="t" anchorCtr="0">
                <a:spAutoFit/>
              </a:bodyPr>
              <a:lstStyle/>
              <a:p>
                <a:pPr algn="l">
                  <a:lnSpc>
                    <a:spcPts val="1800"/>
                  </a:lnSpc>
                </a:pPr>
                <a:r>
                  <a:rPr lang="ko-KR" sz="1200" dirty="0">
                    <a:solidFill>
                      <a:srgbClr val="111827"/>
                    </a:solidFill>
                    <a:latin typeface="+mn-lt"/>
                    <a:ea typeface="+mn-ea"/>
                    <a:cs typeface="+mn-cs"/>
                  </a:rPr>
                  <a:t>GPR 없는 시·군 운영 대행</a:t>
                </a:r>
                <a:br>
                  <a:rPr lang="ko-KR" sz="1200" dirty="0">
                    <a:solidFill>
                      <a:srgbClr val="111827"/>
                    </a:solidFill>
                    <a:latin typeface="+mn-lt"/>
                    <a:ea typeface="+mn-ea"/>
                    <a:cs typeface="+mn-cs"/>
                  </a:rPr>
                </a:br>
                <a:r>
                  <a:rPr lang="ko-KR" sz="1200" dirty="0">
                    <a:solidFill>
                      <a:srgbClr val="111827"/>
                    </a:solidFill>
                    <a:latin typeface="+mn-lt"/>
                    <a:ea typeface="+mn-ea"/>
                    <a:cs typeface="+mn-cs"/>
                  </a:rPr>
                  <a:t>도시철도·상하수도 기관</a:t>
                </a:r>
                <a:br>
                  <a:rPr lang="ko-KR" sz="1200" dirty="0">
                    <a:solidFill>
                      <a:srgbClr val="111827"/>
                    </a:solidFill>
                    <a:latin typeface="+mn-lt"/>
                    <a:ea typeface="+mn-ea"/>
                    <a:cs typeface="+mn-cs"/>
                  </a:rPr>
                </a:br>
                <a:r>
                  <a:rPr lang="ko-KR" sz="1200" dirty="0">
                    <a:solidFill>
                      <a:srgbClr val="111827"/>
                    </a:solidFill>
                    <a:latin typeface="+mn-lt"/>
                    <a:ea typeface="+mn-ea"/>
                    <a:cs typeface="+mn-cs"/>
                  </a:rPr>
                  <a:t>광역지자체 PV5 플릿 구매</a:t>
                </a:r>
              </a:p>
            </p:txBody>
          </p:sp>
        </p:grpSp>
        <p:grpSp>
          <p:nvGrpSpPr>
            <p:cNvPr id="57" name="Group 57"/>
            <p:cNvGrpSpPr/>
            <p:nvPr/>
          </p:nvGrpSpPr>
          <p:grpSpPr>
            <a:xfrm>
              <a:off x="533400" y="4533900"/>
              <a:ext cx="11125200" cy="323850"/>
              <a:chOff x="533400" y="4533900"/>
              <a:chExt cx="11125200" cy="323850"/>
            </a:xfrm>
          </p:grpSpPr>
          <p:sp>
            <p:nvSpPr>
              <p:cNvPr id="49" name="Rectangle 49"/>
              <p:cNvSpPr/>
              <p:nvPr/>
            </p:nvSpPr>
            <p:spPr>
              <a:xfrm>
                <a:off x="533400" y="4533900"/>
                <a:ext cx="2609850" cy="323850"/>
              </a:xfrm>
              <a:prstGeom prst="rect">
                <a:avLst/>
              </a:prstGeom>
              <a:solidFill>
                <a:srgbClr val="F3F5F8"/>
              </a:solidFill>
              <a:ln>
                <a:noFill/>
              </a:ln>
            </p:spPr>
          </p:sp>
          <p:sp>
            <p:nvSpPr>
              <p:cNvPr id="50" name="TextBox 50"/>
              <p:cNvSpPr txBox="1"/>
              <p:nvPr/>
            </p:nvSpPr>
            <p:spPr>
              <a:xfrm>
                <a:off x="642366" y="4616450"/>
                <a:ext cx="2387485"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다음 조건</a:t>
                </a:r>
                <a:r>
                  <a:rPr lang="ko-KR" sz="1050" dirty="0">
                    <a:solidFill>
                      <a:srgbClr val="111827"/>
                    </a:solidFill>
                    <a:latin typeface="+mn-lt"/>
                    <a:ea typeface="+mn-ea"/>
                    <a:cs typeface="+mn-cs"/>
                  </a:rPr>
                  <a:t xml:space="preserve"> 기존 장비와 같은 공동 탐지</a:t>
                </a:r>
              </a:p>
            </p:txBody>
          </p:sp>
          <p:sp>
            <p:nvSpPr>
              <p:cNvPr id="51" name="Rectangle 51"/>
              <p:cNvSpPr/>
              <p:nvPr/>
            </p:nvSpPr>
            <p:spPr>
              <a:xfrm>
                <a:off x="3371850" y="4533900"/>
                <a:ext cx="2609850" cy="323850"/>
              </a:xfrm>
              <a:prstGeom prst="rect">
                <a:avLst/>
              </a:prstGeom>
              <a:solidFill>
                <a:srgbClr val="F3F5F8"/>
              </a:solidFill>
              <a:ln>
                <a:noFill/>
              </a:ln>
            </p:spPr>
          </p:sp>
          <p:sp>
            <p:nvSpPr>
              <p:cNvPr id="52" name="TextBox 52"/>
              <p:cNvSpPr txBox="1"/>
              <p:nvPr/>
            </p:nvSpPr>
            <p:spPr>
              <a:xfrm>
                <a:off x="3480816" y="4616450"/>
                <a:ext cx="2055310"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다음 조건</a:t>
                </a:r>
                <a:r>
                  <a:rPr lang="ko-KR" sz="1050" dirty="0">
                    <a:solidFill>
                      <a:srgbClr val="111827"/>
                    </a:solidFill>
                    <a:latin typeface="+mn-lt"/>
                    <a:ea typeface="+mn-ea"/>
                    <a:cs typeface="+mn-cs"/>
                  </a:rPr>
                  <a:t xml:space="preserve"> 실증확인서·용역 실적</a:t>
                </a:r>
              </a:p>
            </p:txBody>
          </p:sp>
          <p:sp>
            <p:nvSpPr>
              <p:cNvPr id="53" name="Rectangle 53"/>
              <p:cNvSpPr/>
              <p:nvPr/>
            </p:nvSpPr>
            <p:spPr>
              <a:xfrm>
                <a:off x="6210300" y="4533900"/>
                <a:ext cx="2609850" cy="323850"/>
              </a:xfrm>
              <a:prstGeom prst="rect">
                <a:avLst/>
              </a:prstGeom>
              <a:solidFill>
                <a:srgbClr val="F3F5F8"/>
              </a:solidFill>
              <a:ln>
                <a:noFill/>
              </a:ln>
            </p:spPr>
          </p:sp>
          <p:sp>
            <p:nvSpPr>
              <p:cNvPr id="54" name="TextBox 54"/>
              <p:cNvSpPr txBox="1"/>
              <p:nvPr/>
            </p:nvSpPr>
            <p:spPr>
              <a:xfrm>
                <a:off x="6319266" y="4616450"/>
                <a:ext cx="2479363"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다음 조건</a:t>
                </a:r>
                <a:r>
                  <a:rPr lang="ko-KR" sz="1050" dirty="0">
                    <a:solidFill>
                      <a:srgbClr val="111827"/>
                    </a:solidFill>
                    <a:latin typeface="+mn-lt"/>
                    <a:ea typeface="+mn-ea"/>
                    <a:cs typeface="+mn-cs"/>
                  </a:rPr>
                  <a:t xml:space="preserve"> 자치구 2곳 연간 계약 </a:t>
                </a:r>
                <a:r>
                  <a:rPr lang="ko-KR" sz="1050" dirty="0">
                    <a:solidFill>
                      <a:srgbClr val="4B5563"/>
                    </a:solidFill>
                    <a:latin typeface="+mn-lt"/>
                    <a:ea typeface="+mn-ea"/>
                    <a:cs typeface="+mn-cs"/>
                  </a:rPr>
                  <a:t>[목표]</a:t>
                </a:r>
              </a:p>
            </p:txBody>
          </p:sp>
          <p:sp>
            <p:nvSpPr>
              <p:cNvPr id="55" name="Rectangle 55"/>
              <p:cNvSpPr/>
              <p:nvPr/>
            </p:nvSpPr>
            <p:spPr>
              <a:xfrm>
                <a:off x="9048750" y="4533900"/>
                <a:ext cx="2609850" cy="323850"/>
              </a:xfrm>
              <a:prstGeom prst="rect">
                <a:avLst/>
              </a:prstGeom>
              <a:solidFill>
                <a:srgbClr val="FFF6D6"/>
              </a:solidFill>
              <a:ln>
                <a:noFill/>
              </a:ln>
            </p:spPr>
          </p:sp>
          <p:sp>
            <p:nvSpPr>
              <p:cNvPr id="56" name="TextBox 56"/>
              <p:cNvSpPr txBox="1"/>
              <p:nvPr/>
            </p:nvSpPr>
            <p:spPr>
              <a:xfrm>
                <a:off x="9157716" y="4616450"/>
                <a:ext cx="1703680" cy="205359"/>
              </a:xfrm>
              <a:prstGeom prst="rect">
                <a:avLst/>
              </a:prstGeom>
              <a:noFill/>
              <a:ln>
                <a:noFill/>
              </a:ln>
            </p:spPr>
            <p:txBody>
              <a:bodyPr wrap="none" lIns="0" tIns="0" rIns="0" bIns="0" anchor="t" anchorCtr="0">
                <a:spAutoFit/>
              </a:bodyPr>
              <a:lstStyle/>
              <a:p>
                <a:pPr algn="l"/>
                <a:r>
                  <a:rPr lang="ko-KR" sz="1050" b="1" dirty="0">
                    <a:solidFill>
                      <a:srgbClr val="8A5A00"/>
                    </a:solidFill>
                    <a:latin typeface="+mn-lt"/>
                    <a:ea typeface="+mn-ea"/>
                    <a:cs typeface="+mn-cs"/>
                  </a:rPr>
                  <a:t>목표</a:t>
                </a:r>
                <a:r>
                  <a:rPr lang="ko-KR" sz="1050" dirty="0">
                    <a:solidFill>
                      <a:srgbClr val="111827"/>
                    </a:solidFill>
                    <a:latin typeface="+mn-lt"/>
                    <a:ea typeface="+mn-ea"/>
                    <a:cs typeface="+mn-cs"/>
                  </a:rPr>
                  <a:t xml:space="preserve"> 권역별 PV5 플릿 운영</a:t>
                </a:r>
              </a:p>
            </p:txBody>
          </p:sp>
        </p:grpSp>
      </p:grpSp>
      <p:grpSp>
        <p:nvGrpSpPr>
          <p:cNvPr id="60" name="partner"/>
          <p:cNvGrpSpPr/>
          <p:nvPr/>
        </p:nvGrpSpPr>
        <p:grpSpPr>
          <a:xfrm>
            <a:off x="527304" y="5181600"/>
            <a:ext cx="11313773" cy="234696"/>
            <a:chOff x="527304" y="5181600"/>
            <a:chExt cx="11313773" cy="234696"/>
          </a:xfrm>
        </p:grpSpPr>
        <p:sp>
          <p:nvSpPr>
            <p:cNvPr id="59" name="TextBox 59"/>
            <p:cNvSpPr txBox="1"/>
            <p:nvPr/>
          </p:nvSpPr>
          <p:spPr>
            <a:xfrm>
              <a:off x="527304" y="5181600"/>
              <a:ext cx="11313773"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협력 원칙</a:t>
              </a:r>
              <a:r>
                <a:rPr lang="ko-KR" sz="1200" dirty="0">
                  <a:solidFill>
                    <a:srgbClr val="111827"/>
                  </a:solidFill>
                  <a:latin typeface="+mn-lt"/>
                  <a:ea typeface="+mn-ea"/>
                  <a:cs typeface="+mn-cs"/>
                </a:rPr>
                <a:t xml:space="preserve"> 기존 GPR 조사기관은 경쟁자가 아니라 공동 수행 파트너입니다. 탐사 자격·실적은 협력사가, 반복 비교·현장 재확인은 GroundWatch가 맡습니다.</a:t>
              </a:r>
            </a:p>
          </p:txBody>
        </p:sp>
      </p:grpSp>
      <p:grpSp>
        <p:nvGrpSpPr>
          <p:cNvPr id="63" name="conclusion"/>
          <p:cNvGrpSpPr/>
          <p:nvPr/>
        </p:nvGrpSpPr>
        <p:grpSpPr>
          <a:xfrm>
            <a:off x="533400" y="5562600"/>
            <a:ext cx="11125200" cy="495300"/>
            <a:chOff x="533400" y="5562600"/>
            <a:chExt cx="11125200" cy="495300"/>
          </a:xfrm>
        </p:grpSpPr>
        <p:sp>
          <p:nvSpPr>
            <p:cNvPr id="61" name="Rectangle 61"/>
            <p:cNvSpPr/>
            <p:nvPr/>
          </p:nvSpPr>
          <p:spPr>
            <a:xfrm>
              <a:off x="533400" y="5562600"/>
              <a:ext cx="11125200" cy="495300"/>
            </a:xfrm>
            <a:prstGeom prst="rect">
              <a:avLst/>
            </a:prstGeom>
            <a:solidFill>
              <a:srgbClr val="0B1E3C"/>
            </a:solidFill>
            <a:ln>
              <a:noFill/>
            </a:ln>
          </p:spPr>
        </p:sp>
        <p:sp>
          <p:nvSpPr>
            <p:cNvPr id="62" name="TextBox 62"/>
            <p:cNvSpPr txBox="1"/>
            <p:nvPr/>
          </p:nvSpPr>
          <p:spPr>
            <a:xfrm>
              <a:off x="754380" y="5699125"/>
              <a:ext cx="7180974"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 xml:space="preserve">새 예산이 아니라, </a:t>
              </a:r>
              <a:r>
                <a:rPr lang="ko-KR" sz="1500" b="1" dirty="0">
                  <a:solidFill>
                    <a:srgbClr val="F5B700"/>
                  </a:solidFill>
                  <a:latin typeface="+mn-lt"/>
                  <a:ea typeface="+mn-ea"/>
                  <a:cs typeface="+mn-cs"/>
                </a:rPr>
                <a:t>지자체가 이미 쓰는 GPR 탐사 예산</a:t>
              </a:r>
              <a:r>
                <a:rPr lang="ko-KR" sz="1500" b="1" dirty="0">
                  <a:solidFill>
                    <a:srgbClr val="FFFFFF"/>
                  </a:solidFill>
                  <a:latin typeface="+mn-lt"/>
                  <a:ea typeface="+mn-ea"/>
                  <a:cs typeface="+mn-cs"/>
                </a:rPr>
                <a:t>에서 첫 계약을 만듭니다.</a:t>
              </a:r>
            </a:p>
          </p:txBody>
        </p:sp>
      </p:grpSp>
      <p:grpSp>
        <p:nvGrpSpPr>
          <p:cNvPr id="65" name="source"/>
          <p:cNvGrpSpPr/>
          <p:nvPr/>
        </p:nvGrpSpPr>
        <p:grpSpPr>
          <a:xfrm>
            <a:off x="528638" y="6191250"/>
            <a:ext cx="9467850" cy="328612"/>
            <a:chOff x="528638" y="6191250"/>
            <a:chExt cx="9467850" cy="328612"/>
          </a:xfrm>
        </p:grpSpPr>
        <p:sp>
          <p:nvSpPr>
            <p:cNvPr id="64" name="TextBox 64"/>
            <p:cNvSpPr txBox="1"/>
            <p:nvPr/>
          </p:nvSpPr>
          <p:spPr>
            <a:xfrm>
              <a:off x="528638" y="6191250"/>
              <a:ext cx="9467850" cy="328612"/>
            </a:xfrm>
            <a:prstGeom prst="rect">
              <a:avLst/>
            </a:prstGeom>
            <a:noFill/>
            <a:ln>
              <a:noFill/>
            </a:ln>
          </p:spPr>
          <p:txBody>
            <a:bodyPr wrap="none" lIns="0" tIns="0" rIns="0" bIns="0" anchor="t" anchorCtr="0">
              <a:spAutoFit/>
            </a:bodyPr>
            <a:lstStyle/>
            <a:p>
              <a:pPr algn="l">
                <a:lnSpc>
                  <a:spcPts val="1200"/>
                </a:lnSpc>
              </a:pPr>
              <a:r>
                <a:rPr lang="ko-KR" sz="900" dirty="0">
                  <a:solidFill>
                    <a:srgbClr val="4B5563"/>
                  </a:solidFill>
                  <a:latin typeface="+mn-lt"/>
                  <a:ea typeface="+mn-ea"/>
                  <a:cs typeface="+mn-cs"/>
                </a:rPr>
                <a:t>출처: 나라장터 2026년 GPR 탐사 용역 낙찰(보령 4,558만·안양 8,522만·용인 기흥구 1억 7,736만 원, 2026.5~6 개찰) · 헤럴드경제(2025.9.7, 경기도 지원사업 21.6억 원·1,080km)</a:t>
              </a:r>
              <a:br>
                <a:rPr lang="ko-KR" sz="900" dirty="0">
                  <a:solidFill>
                    <a:srgbClr val="4B5563"/>
                  </a:solidFill>
                  <a:latin typeface="+mn-lt"/>
                  <a:ea typeface="+mn-ea"/>
                  <a:cs typeface="+mn-cs"/>
                </a:rPr>
              </a:br>
              <a:r>
                <a:rPr lang="ko-KR" sz="900" dirty="0">
                  <a:solidFill>
                    <a:srgbClr val="4B5563"/>
                  </a:solidFill>
                  <a:latin typeface="+mn-lt"/>
                  <a:ea typeface="+mn-ea"/>
                  <a:cs typeface="+mn-cs"/>
                </a:rPr>
                <a:t>조달청 혁신제품 지정제도(최대 6년 수의계약) · 서울시 테스트베드서울 2.0(과제당 최대 2억 원, 서울시장 명의 실증확인서) · 단계별 기간은 목표 [가설]</a:t>
              </a:r>
            </a:p>
          </p:txBody>
        </p:sp>
      </p:grpSp>
      <p:grpSp>
        <p:nvGrpSpPr>
          <p:cNvPr id="68" name="footer"/>
          <p:cNvGrpSpPr/>
          <p:nvPr/>
        </p:nvGrpSpPr>
        <p:grpSpPr>
          <a:xfrm>
            <a:off x="528638" y="6610350"/>
            <a:ext cx="11134724" cy="176212"/>
            <a:chOff x="528638" y="6610350"/>
            <a:chExt cx="11134724" cy="176212"/>
          </a:xfrm>
        </p:grpSpPr>
        <p:sp>
          <p:nvSpPr>
            <p:cNvPr id="66" name="TextBox 66"/>
            <p:cNvSpPr txBox="1"/>
            <p:nvPr/>
          </p:nvSpPr>
          <p:spPr>
            <a:xfrm>
              <a:off x="528638" y="6610350"/>
              <a:ext cx="148765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한 명이라도 살릴 수 있다면</a:t>
              </a:r>
            </a:p>
          </p:txBody>
        </p:sp>
        <p:sp>
          <p:nvSpPr>
            <p:cNvPr id="67" name="TextBox 6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15 / 16</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Rectangle 4"/>
            <p:cNvSpPr/>
            <p:nvPr/>
          </p:nvSpPr>
          <p:spPr>
            <a:xfrm>
              <a:off x="1866900" y="266700"/>
              <a:ext cx="704850" cy="228600"/>
            </a:xfrm>
            <a:prstGeom prst="rect">
              <a:avLst/>
            </a:prstGeom>
            <a:solidFill>
              <a:srgbClr val="F5B700"/>
            </a:solidFill>
            <a:ln>
              <a:noFill/>
            </a:ln>
          </p:spPr>
        </p:sp>
        <p:sp>
          <p:nvSpPr>
            <p:cNvPr id="5" name="TextBox 5"/>
            <p:cNvSpPr txBox="1"/>
            <p:nvPr/>
          </p:nvSpPr>
          <p:spPr>
            <a:xfrm>
              <a:off x="1929738" y="314325"/>
              <a:ext cx="579174" cy="191643"/>
            </a:xfrm>
            <a:prstGeom prst="rect">
              <a:avLst/>
            </a:prstGeom>
            <a:noFill/>
            <a:ln>
              <a:noFill/>
            </a:ln>
          </p:spPr>
          <p:txBody>
            <a:bodyPr wrap="none" lIns="0" tIns="0" rIns="0" bIns="0" anchor="t" anchorCtr="0">
              <a:spAutoFit/>
            </a:bodyPr>
            <a:lstStyle/>
            <a:p>
              <a:pPr algn="ctr"/>
              <a:r>
                <a:rPr lang="ko-KR" sz="980" b="1" dirty="0">
                  <a:solidFill>
                    <a:srgbClr val="0B1E3C"/>
                  </a:solidFill>
                  <a:latin typeface="+mn-lt"/>
                  <a:ea typeface="+mn-ea"/>
                  <a:cs typeface="+mn-cs"/>
                </a:rPr>
                <a:t>기대 효과</a:t>
              </a:r>
            </a:p>
          </p:txBody>
        </p:sp>
        <p:sp>
          <p:nvSpPr>
            <p:cNvPr id="6" name="TextBox 6"/>
            <p:cNvSpPr txBox="1"/>
            <p:nvPr/>
          </p:nvSpPr>
          <p:spPr>
            <a:xfrm>
              <a:off x="2680716" y="301625"/>
              <a:ext cx="141004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기존 문제와 개선 결과</a:t>
              </a:r>
            </a:p>
          </p:txBody>
        </p:sp>
        <p:sp>
          <p:nvSpPr>
            <p:cNvPr id="7" name="Line 7"/>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0" name="title"/>
          <p:cNvGrpSpPr/>
          <p:nvPr/>
        </p:nvGrpSpPr>
        <p:grpSpPr>
          <a:xfrm>
            <a:off x="518922" y="781050"/>
            <a:ext cx="9302584" cy="557403"/>
            <a:chOff x="518922" y="781050"/>
            <a:chExt cx="9302584" cy="557403"/>
          </a:xfrm>
        </p:grpSpPr>
        <p:sp>
          <p:nvSpPr>
            <p:cNvPr id="9" name="TextBox 9"/>
            <p:cNvSpPr txBox="1"/>
            <p:nvPr/>
          </p:nvSpPr>
          <p:spPr>
            <a:xfrm>
              <a:off x="518922" y="781050"/>
              <a:ext cx="9302584" cy="557403"/>
            </a:xfrm>
            <a:prstGeom prst="rect">
              <a:avLst/>
            </a:prstGeom>
            <a:noFill/>
            <a:ln>
              <a:noFill/>
            </a:ln>
          </p:spPr>
          <p:txBody>
            <a:bodyPr wrap="none" lIns="0" tIns="0" rIns="0" bIns="0" anchor="t" anchorCtr="0">
              <a:spAutoFit/>
            </a:bodyPr>
            <a:lstStyle/>
            <a:p>
              <a:pPr algn="l"/>
              <a:r>
                <a:rPr lang="ko-KR" sz="2850" b="1" spc="-75" dirty="0">
                  <a:solidFill>
                    <a:srgbClr val="0B1E3C"/>
                  </a:solidFill>
                  <a:latin typeface="+mn-lt"/>
                  <a:ea typeface="+mn-ea"/>
                  <a:cs typeface="+mn-cs"/>
                </a:rPr>
                <a:t>측정 결과가 다음 행동으로 이어지는 지하안전 관리체계</a:t>
              </a:r>
            </a:p>
          </p:txBody>
        </p:sp>
      </p:grpSp>
      <p:grpSp>
        <p:nvGrpSpPr>
          <p:cNvPr id="49" name="change-table"/>
          <p:cNvGrpSpPr/>
          <p:nvPr/>
        </p:nvGrpSpPr>
        <p:grpSpPr>
          <a:xfrm>
            <a:off x="533400" y="1333500"/>
            <a:ext cx="11125200" cy="3028950"/>
            <a:chOff x="533400" y="1333500"/>
            <a:chExt cx="11125200" cy="3028950"/>
          </a:xfrm>
        </p:grpSpPr>
        <p:sp>
          <p:nvSpPr>
            <p:cNvPr id="11" name="Rectangle 11"/>
            <p:cNvSpPr/>
            <p:nvPr/>
          </p:nvSpPr>
          <p:spPr>
            <a:xfrm>
              <a:off x="533400" y="1333500"/>
              <a:ext cx="11125200" cy="285750"/>
            </a:xfrm>
            <a:prstGeom prst="rect">
              <a:avLst/>
            </a:prstGeom>
            <a:solidFill>
              <a:srgbClr val="F3F5F8"/>
            </a:solidFill>
            <a:ln>
              <a:noFill/>
            </a:ln>
          </p:spPr>
        </p:sp>
        <p:sp>
          <p:nvSpPr>
            <p:cNvPr id="12" name="Rectangle 12"/>
            <p:cNvSpPr/>
            <p:nvPr/>
          </p:nvSpPr>
          <p:spPr>
            <a:xfrm>
              <a:off x="4724400" y="1333500"/>
              <a:ext cx="4000500" cy="285750"/>
            </a:xfrm>
            <a:prstGeom prst="rect">
              <a:avLst/>
            </a:prstGeom>
            <a:solidFill>
              <a:srgbClr val="0B1E3C"/>
            </a:solidFill>
            <a:ln>
              <a:noFill/>
            </a:ln>
          </p:spPr>
        </p:sp>
        <p:grpSp>
          <p:nvGrpSpPr>
            <p:cNvPr id="17" name="Group 17"/>
            <p:cNvGrpSpPr/>
            <p:nvPr/>
          </p:nvGrpSpPr>
          <p:grpSpPr>
            <a:xfrm>
              <a:off x="642366" y="1397000"/>
              <a:ext cx="9318776" cy="205359"/>
              <a:chOff x="642366" y="1397000"/>
              <a:chExt cx="9318776" cy="205359"/>
            </a:xfrm>
          </p:grpSpPr>
          <p:sp>
            <p:nvSpPr>
              <p:cNvPr id="13" name="TextBox 13"/>
              <p:cNvSpPr txBox="1"/>
              <p:nvPr/>
            </p:nvSpPr>
            <p:spPr>
              <a:xfrm>
                <a:off x="642366" y="1397000"/>
                <a:ext cx="293370" cy="205359"/>
              </a:xfrm>
              <a:prstGeom prst="rect">
                <a:avLst/>
              </a:prstGeom>
              <a:noFill/>
              <a:ln>
                <a:noFill/>
              </a:ln>
            </p:spPr>
            <p:txBody>
              <a:bodyPr wrap="none" lIns="0" tIns="0" rIns="0" bIns="0" anchor="t" anchorCtr="0">
                <a:spAutoFit/>
              </a:bodyPr>
              <a:lstStyle/>
              <a:p>
                <a:pPr algn="l"/>
                <a:r>
                  <a:rPr lang="ko-KR" sz="1050" b="1" dirty="0">
                    <a:solidFill>
                      <a:srgbClr val="4B5563"/>
                    </a:solidFill>
                    <a:latin typeface="+mn-lt"/>
                    <a:ea typeface="+mn-ea"/>
                    <a:cs typeface="+mn-cs"/>
                  </a:rPr>
                  <a:t>구분</a:t>
                </a:r>
              </a:p>
            </p:txBody>
          </p:sp>
          <p:sp>
            <p:nvSpPr>
              <p:cNvPr id="14" name="TextBox 14"/>
              <p:cNvSpPr txBox="1"/>
              <p:nvPr/>
            </p:nvSpPr>
            <p:spPr>
              <a:xfrm>
                <a:off x="1671066" y="1397000"/>
                <a:ext cx="620598" cy="205359"/>
              </a:xfrm>
              <a:prstGeom prst="rect">
                <a:avLst/>
              </a:prstGeom>
              <a:noFill/>
              <a:ln>
                <a:noFill/>
              </a:ln>
            </p:spPr>
            <p:txBody>
              <a:bodyPr wrap="none" lIns="0" tIns="0" rIns="0" bIns="0" anchor="t" anchorCtr="0">
                <a:spAutoFit/>
              </a:bodyPr>
              <a:lstStyle/>
              <a:p>
                <a:pPr algn="l"/>
                <a:r>
                  <a:rPr lang="ko-KR" sz="1050" b="1" dirty="0">
                    <a:solidFill>
                      <a:srgbClr val="C62828"/>
                    </a:solidFill>
                    <a:latin typeface="+mn-lt"/>
                    <a:ea typeface="+mn-ea"/>
                    <a:cs typeface="+mn-cs"/>
                  </a:rPr>
                  <a:t>기존 문제</a:t>
                </a:r>
              </a:p>
            </p:txBody>
          </p:sp>
          <p:sp>
            <p:nvSpPr>
              <p:cNvPr id="15" name="TextBox 15"/>
              <p:cNvSpPr txBox="1"/>
              <p:nvPr/>
            </p:nvSpPr>
            <p:spPr>
              <a:xfrm>
                <a:off x="4871466" y="1397000"/>
                <a:ext cx="1743637" cy="205359"/>
              </a:xfrm>
              <a:prstGeom prst="rect">
                <a:avLst/>
              </a:prstGeom>
              <a:noFill/>
              <a:ln>
                <a:noFill/>
              </a:ln>
            </p:spPr>
            <p:txBody>
              <a:bodyPr wrap="none" lIns="0" tIns="0" rIns="0" bIns="0" anchor="t" anchorCtr="0">
                <a:spAutoFit/>
              </a:bodyPr>
              <a:lstStyle/>
              <a:p>
                <a:pPr algn="l"/>
                <a:r>
                  <a:rPr lang="ko-KR" sz="1050" b="1" dirty="0">
                    <a:solidFill>
                      <a:srgbClr val="FFFFFF"/>
                    </a:solidFill>
                    <a:latin typeface="+mn-lt"/>
                    <a:ea typeface="+mn-ea"/>
                    <a:cs typeface="+mn-cs"/>
                  </a:rPr>
                  <a:t>GroundWatch의 해결 방식</a:t>
                </a:r>
              </a:p>
            </p:txBody>
          </p:sp>
          <p:sp>
            <p:nvSpPr>
              <p:cNvPr id="16" name="TextBox 16"/>
              <p:cNvSpPr txBox="1"/>
              <p:nvPr/>
            </p:nvSpPr>
            <p:spPr>
              <a:xfrm>
                <a:off x="8871966" y="1397000"/>
                <a:ext cx="1089176" cy="205359"/>
              </a:xfrm>
              <a:prstGeom prst="rect">
                <a:avLst/>
              </a:prstGeom>
              <a:noFill/>
              <a:ln>
                <a:noFill/>
              </a:ln>
            </p:spPr>
            <p:txBody>
              <a:bodyPr wrap="none" lIns="0" tIns="0" rIns="0" bIns="0" anchor="t" anchorCtr="0">
                <a:spAutoFit/>
              </a:bodyPr>
              <a:lstStyle/>
              <a:p>
                <a:pPr algn="l"/>
                <a:r>
                  <a:rPr lang="ko-KR" sz="1050" b="1" dirty="0">
                    <a:solidFill>
                      <a:srgbClr val="374151"/>
                    </a:solidFill>
                    <a:latin typeface="+mn-lt"/>
                    <a:ea typeface="+mn-ea"/>
                    <a:cs typeface="+mn-cs"/>
                  </a:rPr>
                  <a:t>확인할 개선 지표</a:t>
                </a:r>
              </a:p>
            </p:txBody>
          </p:sp>
        </p:grpSp>
        <p:sp>
          <p:nvSpPr>
            <p:cNvPr id="18" name="Rectangle 18"/>
            <p:cNvSpPr/>
            <p:nvPr/>
          </p:nvSpPr>
          <p:spPr>
            <a:xfrm>
              <a:off x="4724400" y="1619250"/>
              <a:ext cx="4000500" cy="2743200"/>
            </a:xfrm>
            <a:prstGeom prst="rect">
              <a:avLst/>
            </a:prstGeom>
            <a:solidFill>
              <a:srgbClr val="EEF2F7"/>
            </a:solidFill>
            <a:ln>
              <a:noFill/>
            </a:ln>
          </p:spPr>
        </p:sp>
        <p:grpSp>
          <p:nvGrpSpPr>
            <p:cNvPr id="48" name="Group 48"/>
            <p:cNvGrpSpPr/>
            <p:nvPr/>
          </p:nvGrpSpPr>
          <p:grpSpPr>
            <a:xfrm>
              <a:off x="533400" y="1733550"/>
              <a:ext cx="11125200" cy="2520696"/>
              <a:chOff x="533400" y="1733550"/>
              <a:chExt cx="11125200" cy="2520696"/>
            </a:xfrm>
          </p:grpSpPr>
          <p:sp>
            <p:nvSpPr>
              <p:cNvPr id="19" name="TextBox 19"/>
              <p:cNvSpPr txBox="1"/>
              <p:nvPr/>
            </p:nvSpPr>
            <p:spPr>
              <a:xfrm>
                <a:off x="641604" y="1733550"/>
                <a:ext cx="570327" cy="234696"/>
              </a:xfrm>
              <a:prstGeom prst="rect">
                <a:avLst/>
              </a:prstGeom>
              <a:noFill/>
              <a:ln>
                <a:noFill/>
              </a:ln>
            </p:spPr>
            <p:txBody>
              <a:bodyPr wrap="none" lIns="0" tIns="0" rIns="0" bIns="0" anchor="t" anchorCtr="0">
                <a:spAutoFit/>
              </a:bodyPr>
              <a:lstStyle/>
              <a:p>
                <a:pPr algn="l"/>
                <a:r>
                  <a:rPr lang="ko-KR" sz="1200" b="1" dirty="0">
                    <a:solidFill>
                      <a:srgbClr val="4B5563"/>
                    </a:solidFill>
                    <a:latin typeface="+mn-lt"/>
                    <a:ea typeface="+mn-ea"/>
                    <a:cs typeface="+mn-cs"/>
                  </a:rPr>
                  <a:t>01</a:t>
                </a:r>
                <a:r>
                  <a:rPr lang="ko-KR" sz="1200" dirty="0">
                    <a:solidFill>
                      <a:srgbClr val="111827"/>
                    </a:solidFill>
                    <a:latin typeface="+mn-lt"/>
                    <a:ea typeface="+mn-ea"/>
                    <a:cs typeface="+mn-cs"/>
                  </a:rPr>
                  <a:t xml:space="preserve"> </a:t>
                </a:r>
                <a:r>
                  <a:rPr lang="ko-KR" sz="1200" b="1" dirty="0">
                    <a:solidFill>
                      <a:srgbClr val="111827"/>
                    </a:solidFill>
                    <a:latin typeface="+mn-lt"/>
                    <a:ea typeface="+mn-ea"/>
                    <a:cs typeface="+mn-cs"/>
                  </a:rPr>
                  <a:t>기록</a:t>
                </a:r>
              </a:p>
            </p:txBody>
          </p:sp>
          <p:sp>
            <p:nvSpPr>
              <p:cNvPr id="20" name="TextBox 20"/>
              <p:cNvSpPr txBox="1"/>
              <p:nvPr/>
            </p:nvSpPr>
            <p:spPr>
              <a:xfrm>
                <a:off x="1670304" y="1733550"/>
                <a:ext cx="262920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조사 결과가 시점별 파일로 남습니다</a:t>
                </a:r>
              </a:p>
            </p:txBody>
          </p:sp>
          <p:sp>
            <p:nvSpPr>
              <p:cNvPr id="21" name="TextBox 21"/>
              <p:cNvSpPr txBox="1"/>
              <p:nvPr/>
            </p:nvSpPr>
            <p:spPr>
              <a:xfrm>
                <a:off x="4870704" y="1733550"/>
                <a:ext cx="326770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같은 경로 데이터를 위치·시간 기준으로 누적</a:t>
                </a:r>
              </a:p>
            </p:txBody>
          </p:sp>
          <p:sp>
            <p:nvSpPr>
              <p:cNvPr id="22" name="TextBox 22"/>
              <p:cNvSpPr txBox="1"/>
              <p:nvPr/>
            </p:nvSpPr>
            <p:spPr>
              <a:xfrm>
                <a:off x="8871204" y="1733550"/>
                <a:ext cx="2306117"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시점별 비교가 가능한 도로 비율</a:t>
                </a:r>
              </a:p>
            </p:txBody>
          </p:sp>
          <p:sp>
            <p:nvSpPr>
              <p:cNvPr id="23" name="Line 23"/>
              <p:cNvSpPr/>
              <p:nvPr/>
            </p:nvSpPr>
            <p:spPr>
              <a:xfrm>
                <a:off x="533400" y="20764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24" name="TextBox 24"/>
              <p:cNvSpPr txBox="1"/>
              <p:nvPr/>
            </p:nvSpPr>
            <p:spPr>
              <a:xfrm>
                <a:off x="641604" y="2190750"/>
                <a:ext cx="570327" cy="234696"/>
              </a:xfrm>
              <a:prstGeom prst="rect">
                <a:avLst/>
              </a:prstGeom>
              <a:noFill/>
              <a:ln>
                <a:noFill/>
              </a:ln>
            </p:spPr>
            <p:txBody>
              <a:bodyPr wrap="none" lIns="0" tIns="0" rIns="0" bIns="0" anchor="t" anchorCtr="0">
                <a:spAutoFit/>
              </a:bodyPr>
              <a:lstStyle/>
              <a:p>
                <a:pPr algn="l"/>
                <a:r>
                  <a:rPr lang="ko-KR" sz="1200" b="1" dirty="0">
                    <a:solidFill>
                      <a:srgbClr val="4B5563"/>
                    </a:solidFill>
                    <a:latin typeface="+mn-lt"/>
                    <a:ea typeface="+mn-ea"/>
                    <a:cs typeface="+mn-cs"/>
                  </a:rPr>
                  <a:t>02</a:t>
                </a:r>
                <a:r>
                  <a:rPr lang="ko-KR" sz="1200" dirty="0">
                    <a:solidFill>
                      <a:srgbClr val="111827"/>
                    </a:solidFill>
                    <a:latin typeface="+mn-lt"/>
                    <a:ea typeface="+mn-ea"/>
                    <a:cs typeface="+mn-cs"/>
                  </a:rPr>
                  <a:t xml:space="preserve"> </a:t>
                </a:r>
                <a:r>
                  <a:rPr lang="ko-KR" sz="1200" b="1" dirty="0">
                    <a:solidFill>
                      <a:srgbClr val="111827"/>
                    </a:solidFill>
                    <a:latin typeface="+mn-lt"/>
                    <a:ea typeface="+mn-ea"/>
                    <a:cs typeface="+mn-cs"/>
                  </a:rPr>
                  <a:t>선별</a:t>
                </a:r>
              </a:p>
            </p:txBody>
          </p:sp>
          <p:sp>
            <p:nvSpPr>
              <p:cNvPr id="25" name="TextBox 25"/>
              <p:cNvSpPr txBox="1"/>
              <p:nvPr/>
            </p:nvSpPr>
            <p:spPr>
              <a:xfrm>
                <a:off x="1670304" y="2190750"/>
                <a:ext cx="283921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변화 구간을 사람이 다시 찾아야 합니다</a:t>
                </a:r>
              </a:p>
            </p:txBody>
          </p:sp>
          <p:sp>
            <p:nvSpPr>
              <p:cNvPr id="26" name="TextBox 26"/>
              <p:cNvSpPr txBox="1"/>
              <p:nvPr/>
            </p:nvSpPr>
            <p:spPr>
              <a:xfrm>
                <a:off x="4870704" y="2190750"/>
                <a:ext cx="2773871"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AI가 변화 후보를 선별, 전문가가 승인</a:t>
                </a:r>
              </a:p>
            </p:txBody>
          </p:sp>
          <p:sp>
            <p:nvSpPr>
              <p:cNvPr id="27" name="TextBox 27"/>
              <p:cNvSpPr txBox="1"/>
              <p:nvPr/>
            </p:nvSpPr>
            <p:spPr>
              <a:xfrm>
                <a:off x="8871204" y="2190750"/>
                <a:ext cx="2136496"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전문가 검토시간·후보 적중률</a:t>
                </a:r>
              </a:p>
            </p:txBody>
          </p:sp>
          <p:sp>
            <p:nvSpPr>
              <p:cNvPr id="28" name="Line 28"/>
              <p:cNvSpPr/>
              <p:nvPr/>
            </p:nvSpPr>
            <p:spPr>
              <a:xfrm>
                <a:off x="533400" y="25336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29" name="TextBox 29"/>
              <p:cNvSpPr txBox="1"/>
              <p:nvPr/>
            </p:nvSpPr>
            <p:spPr>
              <a:xfrm>
                <a:off x="641604" y="2647950"/>
                <a:ext cx="893415" cy="234696"/>
              </a:xfrm>
              <a:prstGeom prst="rect">
                <a:avLst/>
              </a:prstGeom>
              <a:noFill/>
              <a:ln>
                <a:noFill/>
              </a:ln>
            </p:spPr>
            <p:txBody>
              <a:bodyPr wrap="none" lIns="0" tIns="0" rIns="0" bIns="0" anchor="t" anchorCtr="0">
                <a:spAutoFit/>
              </a:bodyPr>
              <a:lstStyle/>
              <a:p>
                <a:pPr algn="l"/>
                <a:r>
                  <a:rPr lang="ko-KR" sz="1200" b="1" dirty="0">
                    <a:solidFill>
                      <a:srgbClr val="4B5563"/>
                    </a:solidFill>
                    <a:latin typeface="+mn-lt"/>
                    <a:ea typeface="+mn-ea"/>
                    <a:cs typeface="+mn-cs"/>
                  </a:rPr>
                  <a:t>03</a:t>
                </a:r>
                <a:r>
                  <a:rPr lang="ko-KR" sz="1200" dirty="0">
                    <a:solidFill>
                      <a:srgbClr val="111827"/>
                    </a:solidFill>
                    <a:latin typeface="+mn-lt"/>
                    <a:ea typeface="+mn-ea"/>
                    <a:cs typeface="+mn-cs"/>
                  </a:rPr>
                  <a:t xml:space="preserve"> </a:t>
                </a:r>
                <a:r>
                  <a:rPr lang="ko-KR" sz="1200" b="1" dirty="0">
                    <a:solidFill>
                      <a:srgbClr val="111827"/>
                    </a:solidFill>
                    <a:latin typeface="+mn-lt"/>
                    <a:ea typeface="+mn-ea"/>
                    <a:cs typeface="+mn-cs"/>
                  </a:rPr>
                  <a:t>우선순위</a:t>
                </a:r>
              </a:p>
            </p:txBody>
          </p:sp>
          <p:sp>
            <p:nvSpPr>
              <p:cNvPr id="30" name="TextBox 30"/>
              <p:cNvSpPr txBox="1"/>
              <p:nvPr/>
            </p:nvSpPr>
            <p:spPr>
              <a:xfrm>
                <a:off x="1670304" y="2647950"/>
                <a:ext cx="262920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다음 조사 순서가 경험에 의존합니다</a:t>
                </a:r>
              </a:p>
            </p:txBody>
          </p:sp>
          <p:sp>
            <p:nvSpPr>
              <p:cNvPr id="31" name="TextBox 31"/>
              <p:cNvSpPr txBox="1"/>
              <p:nvPr/>
            </p:nvSpPr>
            <p:spPr>
              <a:xfrm>
                <a:off x="4870704" y="2647950"/>
                <a:ext cx="309768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변화량·신뢰도·주변 위험요인을 함께 표시</a:t>
                </a:r>
              </a:p>
            </p:txBody>
          </p:sp>
          <p:sp>
            <p:nvSpPr>
              <p:cNvPr id="32" name="TextBox 32"/>
              <p:cNvSpPr txBox="1"/>
              <p:nvPr/>
            </p:nvSpPr>
            <p:spPr>
              <a:xfrm>
                <a:off x="8871204" y="2647950"/>
                <a:ext cx="2096110"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고위험 구간 재확인 소요시간</a:t>
                </a:r>
              </a:p>
            </p:txBody>
          </p:sp>
          <p:sp>
            <p:nvSpPr>
              <p:cNvPr id="33" name="Line 33"/>
              <p:cNvSpPr/>
              <p:nvPr/>
            </p:nvSpPr>
            <p:spPr>
              <a:xfrm>
                <a:off x="533400" y="29908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4" name="TextBox 34"/>
              <p:cNvSpPr txBox="1"/>
              <p:nvPr/>
            </p:nvSpPr>
            <p:spPr>
              <a:xfrm>
                <a:off x="641604" y="3105150"/>
                <a:ext cx="944301" cy="234696"/>
              </a:xfrm>
              <a:prstGeom prst="rect">
                <a:avLst/>
              </a:prstGeom>
              <a:noFill/>
              <a:ln>
                <a:noFill/>
              </a:ln>
            </p:spPr>
            <p:txBody>
              <a:bodyPr wrap="none" lIns="0" tIns="0" rIns="0" bIns="0" anchor="t" anchorCtr="0">
                <a:spAutoFit/>
              </a:bodyPr>
              <a:lstStyle/>
              <a:p>
                <a:pPr algn="l"/>
                <a:r>
                  <a:rPr lang="ko-KR" sz="1200" b="1" dirty="0">
                    <a:solidFill>
                      <a:srgbClr val="4B5563"/>
                    </a:solidFill>
                    <a:latin typeface="+mn-lt"/>
                    <a:ea typeface="+mn-ea"/>
                    <a:cs typeface="+mn-cs"/>
                  </a:rPr>
                  <a:t>04</a:t>
                </a:r>
                <a:r>
                  <a:rPr lang="ko-KR" sz="1200" dirty="0">
                    <a:solidFill>
                      <a:srgbClr val="111827"/>
                    </a:solidFill>
                    <a:latin typeface="+mn-lt"/>
                    <a:ea typeface="+mn-ea"/>
                    <a:cs typeface="+mn-cs"/>
                  </a:rPr>
                  <a:t xml:space="preserve"> </a:t>
                </a:r>
                <a:r>
                  <a:rPr lang="ko-KR" sz="1200" b="1" dirty="0">
                    <a:solidFill>
                      <a:srgbClr val="111827"/>
                    </a:solidFill>
                    <a:latin typeface="+mn-lt"/>
                    <a:ea typeface="+mn-ea"/>
                    <a:cs typeface="+mn-cs"/>
                  </a:rPr>
                  <a:t>현장 위치</a:t>
                </a:r>
              </a:p>
            </p:txBody>
          </p:sp>
          <p:sp>
            <p:nvSpPr>
              <p:cNvPr id="35" name="TextBox 35"/>
              <p:cNvSpPr txBox="1"/>
              <p:nvPr/>
            </p:nvSpPr>
            <p:spPr>
              <a:xfrm>
                <a:off x="1670304" y="3105150"/>
                <a:ext cx="246766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과거 측정 위치를 찾기 어렵습니다</a:t>
                </a:r>
              </a:p>
            </p:txBody>
          </p:sp>
          <p:sp>
            <p:nvSpPr>
              <p:cNvPr id="36" name="TextBox 36"/>
              <p:cNvSpPr txBox="1"/>
              <p:nvPr/>
            </p:nvSpPr>
            <p:spPr>
              <a:xfrm>
                <a:off x="4870704" y="3105150"/>
                <a:ext cx="3077748"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RTK와 현장 기준점으로 AR 검색 범위 표시</a:t>
                </a:r>
              </a:p>
            </p:txBody>
          </p:sp>
          <p:sp>
            <p:nvSpPr>
              <p:cNvPr id="37" name="TextBox 37"/>
              <p:cNvSpPr txBox="1"/>
              <p:nvPr/>
            </p:nvSpPr>
            <p:spPr>
              <a:xfrm>
                <a:off x="8871204" y="3105150"/>
                <a:ext cx="181340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현장 위치 오차·탐색시간</a:t>
                </a:r>
              </a:p>
            </p:txBody>
          </p:sp>
          <p:sp>
            <p:nvSpPr>
              <p:cNvPr id="38" name="Line 38"/>
              <p:cNvSpPr/>
              <p:nvPr/>
            </p:nvSpPr>
            <p:spPr>
              <a:xfrm>
                <a:off x="533400" y="34480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9" name="TextBox 39"/>
              <p:cNvSpPr txBox="1"/>
              <p:nvPr/>
            </p:nvSpPr>
            <p:spPr>
              <a:xfrm>
                <a:off x="641604" y="3562350"/>
                <a:ext cx="944301" cy="234696"/>
              </a:xfrm>
              <a:prstGeom prst="rect">
                <a:avLst/>
              </a:prstGeom>
              <a:noFill/>
              <a:ln>
                <a:noFill/>
              </a:ln>
            </p:spPr>
            <p:txBody>
              <a:bodyPr wrap="none" lIns="0" tIns="0" rIns="0" bIns="0" anchor="t" anchorCtr="0">
                <a:spAutoFit/>
              </a:bodyPr>
              <a:lstStyle/>
              <a:p>
                <a:pPr algn="l"/>
                <a:r>
                  <a:rPr lang="ko-KR" sz="1200" b="1" dirty="0">
                    <a:solidFill>
                      <a:srgbClr val="4B5563"/>
                    </a:solidFill>
                    <a:latin typeface="+mn-lt"/>
                    <a:ea typeface="+mn-ea"/>
                    <a:cs typeface="+mn-cs"/>
                  </a:rPr>
                  <a:t>05</a:t>
                </a:r>
                <a:r>
                  <a:rPr lang="ko-KR" sz="1200" dirty="0">
                    <a:solidFill>
                      <a:srgbClr val="111827"/>
                    </a:solidFill>
                    <a:latin typeface="+mn-lt"/>
                    <a:ea typeface="+mn-ea"/>
                    <a:cs typeface="+mn-cs"/>
                  </a:rPr>
                  <a:t xml:space="preserve"> </a:t>
                </a:r>
                <a:r>
                  <a:rPr lang="ko-KR" sz="1200" b="1" dirty="0">
                    <a:solidFill>
                      <a:srgbClr val="111827"/>
                    </a:solidFill>
                    <a:latin typeface="+mn-lt"/>
                    <a:ea typeface="+mn-ea"/>
                    <a:cs typeface="+mn-cs"/>
                  </a:rPr>
                  <a:t>업무 연결</a:t>
                </a:r>
              </a:p>
            </p:txBody>
          </p:sp>
          <p:sp>
            <p:nvSpPr>
              <p:cNvPr id="40" name="TextBox 40"/>
              <p:cNvSpPr txBox="1"/>
              <p:nvPr/>
            </p:nvSpPr>
            <p:spPr>
              <a:xfrm>
                <a:off x="1670304" y="3562350"/>
                <a:ext cx="258074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넓은 탐사와 정밀조사가 분리됩니다</a:t>
                </a:r>
              </a:p>
            </p:txBody>
          </p:sp>
          <p:sp>
            <p:nvSpPr>
              <p:cNvPr id="41" name="TextBox 41"/>
              <p:cNvSpPr txBox="1"/>
              <p:nvPr/>
            </p:nvSpPr>
            <p:spPr>
              <a:xfrm>
                <a:off x="4870704" y="3562350"/>
                <a:ext cx="318208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차량형 GPR 결과를 수동 GPR 작업으로 전환</a:t>
                </a:r>
              </a:p>
            </p:txBody>
          </p:sp>
          <p:sp>
            <p:nvSpPr>
              <p:cNvPr id="42" name="TextBox 42"/>
              <p:cNvSpPr txBox="1"/>
              <p:nvPr/>
            </p:nvSpPr>
            <p:spPr>
              <a:xfrm>
                <a:off x="8871204" y="3562350"/>
                <a:ext cx="197495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재방문 횟수·업무 인계시간</a:t>
                </a:r>
              </a:p>
            </p:txBody>
          </p:sp>
          <p:sp>
            <p:nvSpPr>
              <p:cNvPr id="43" name="Line 43"/>
              <p:cNvSpPr/>
              <p:nvPr/>
            </p:nvSpPr>
            <p:spPr>
              <a:xfrm>
                <a:off x="533400" y="390525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4" name="TextBox 44"/>
              <p:cNvSpPr txBox="1"/>
              <p:nvPr/>
            </p:nvSpPr>
            <p:spPr>
              <a:xfrm>
                <a:off x="641604" y="4019550"/>
                <a:ext cx="944301" cy="234696"/>
              </a:xfrm>
              <a:prstGeom prst="rect">
                <a:avLst/>
              </a:prstGeom>
              <a:noFill/>
              <a:ln>
                <a:noFill/>
              </a:ln>
            </p:spPr>
            <p:txBody>
              <a:bodyPr wrap="none" lIns="0" tIns="0" rIns="0" bIns="0" anchor="t" anchorCtr="0">
                <a:spAutoFit/>
              </a:bodyPr>
              <a:lstStyle/>
              <a:p>
                <a:pPr algn="l"/>
                <a:r>
                  <a:rPr lang="ko-KR" sz="1200" b="1" dirty="0">
                    <a:solidFill>
                      <a:srgbClr val="4B5563"/>
                    </a:solidFill>
                    <a:latin typeface="+mn-lt"/>
                    <a:ea typeface="+mn-ea"/>
                    <a:cs typeface="+mn-cs"/>
                  </a:rPr>
                  <a:t>06</a:t>
                </a:r>
                <a:r>
                  <a:rPr lang="ko-KR" sz="1200" dirty="0">
                    <a:solidFill>
                      <a:srgbClr val="111827"/>
                    </a:solidFill>
                    <a:latin typeface="+mn-lt"/>
                    <a:ea typeface="+mn-ea"/>
                    <a:cs typeface="+mn-cs"/>
                  </a:rPr>
                  <a:t xml:space="preserve"> </a:t>
                </a:r>
                <a:r>
                  <a:rPr lang="ko-KR" sz="1200" b="1" dirty="0">
                    <a:solidFill>
                      <a:srgbClr val="111827"/>
                    </a:solidFill>
                    <a:latin typeface="+mn-lt"/>
                    <a:ea typeface="+mn-ea"/>
                    <a:cs typeface="+mn-cs"/>
                  </a:rPr>
                  <a:t>이력 환류</a:t>
                </a:r>
              </a:p>
            </p:txBody>
          </p:sp>
          <p:sp>
            <p:nvSpPr>
              <p:cNvPr id="45" name="TextBox 45"/>
              <p:cNvSpPr txBox="1"/>
              <p:nvPr/>
            </p:nvSpPr>
            <p:spPr>
              <a:xfrm>
                <a:off x="1670304" y="4019550"/>
                <a:ext cx="283921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복구 결과가 다음 조사에 덜 반영됩니다</a:t>
                </a:r>
              </a:p>
            </p:txBody>
          </p:sp>
          <p:sp>
            <p:nvSpPr>
              <p:cNvPr id="46" name="TextBox 46"/>
              <p:cNvSpPr txBox="1"/>
              <p:nvPr/>
            </p:nvSpPr>
            <p:spPr>
              <a:xfrm>
                <a:off x="4870704" y="4019550"/>
                <a:ext cx="282443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확인·보수 이력을 4D 지도에 다시 저장</a:t>
                </a:r>
              </a:p>
            </p:txBody>
          </p:sp>
          <p:sp>
            <p:nvSpPr>
              <p:cNvPr id="47" name="TextBox 47"/>
              <p:cNvSpPr txBox="1"/>
              <p:nvPr/>
            </p:nvSpPr>
            <p:spPr>
              <a:xfrm>
                <a:off x="8871204" y="4019550"/>
                <a:ext cx="172455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보수구간 재검증 완료율</a:t>
                </a:r>
              </a:p>
            </p:txBody>
          </p:sp>
        </p:grpSp>
      </p:grpSp>
      <p:grpSp>
        <p:nvGrpSpPr>
          <p:cNvPr id="58" name="closing-band"/>
          <p:cNvGrpSpPr/>
          <p:nvPr/>
        </p:nvGrpSpPr>
        <p:grpSpPr>
          <a:xfrm>
            <a:off x="0" y="4572000"/>
            <a:ext cx="12192000" cy="2286000"/>
            <a:chOff x="0" y="4572000"/>
            <a:chExt cx="12192000" cy="2286000"/>
          </a:xfrm>
        </p:grpSpPr>
        <p:sp>
          <p:nvSpPr>
            <p:cNvPr id="50" name="Rectangle 50"/>
            <p:cNvSpPr/>
            <p:nvPr/>
          </p:nvSpPr>
          <p:spPr>
            <a:xfrm>
              <a:off x="0" y="4572000"/>
              <a:ext cx="12192000" cy="2286000"/>
            </a:xfrm>
            <a:prstGeom prst="rect">
              <a:avLst/>
            </a:prstGeom>
            <a:solidFill>
              <a:srgbClr val="0B1E3C"/>
            </a:solidFill>
            <a:ln>
              <a:noFill/>
            </a:ln>
          </p:spPr>
        </p:sp>
        <p:pic>
          <p:nvPicPr>
            <p:cNvPr id="51" name="Image 51"/>
            <p:cNvPicPr>
              <a:picLocks noChangeAspect="1"/>
            </p:cNvPicPr>
            <p:nvPr/>
          </p:nvPicPr>
          <p:blipFill>
            <a:blip r:embed="rId2"/>
            <a:srcRect l="0" t="15384" r="0" b="15385"/>
            <a:stretch>
              <a:fillRect/>
            </a:stretch>
          </p:blipFill>
          <p:spPr>
            <a:xfrm>
              <a:off x="7239000" y="4572000"/>
              <a:ext cx="4953000" cy="2286000"/>
            </a:xfrm>
            <a:prstGeom prst="rect">
              <a:avLst/>
            </a:prstGeom>
          </p:spPr>
        </p:pic>
        <p:sp>
          <p:nvSpPr>
            <p:cNvPr id="52" name="Rectangle 52"/>
            <p:cNvSpPr/>
            <p:nvPr/>
          </p:nvSpPr>
          <p:spPr>
            <a:xfrm>
              <a:off x="7239000" y="4572000"/>
              <a:ext cx="1905000" cy="2286000"/>
            </a:xfrm>
            <a:prstGeom prst="rect">
              <a:avLst/>
            </a:prstGeom>
            <a:gradFill>
              <a:gsLst>
                <a:gs pos="0">
                  <a:srgbClr val="0B1E3C"/>
                </a:gs>
                <a:gs pos="100000">
                  <a:srgbClr val="0B1E3C">
                    <a:alpha val="0"/>
                  </a:srgbClr>
                </a:gs>
              </a:gsLst>
              <a:lin ang="0" scaled="1"/>
            </a:gradFill>
            <a:ln>
              <a:noFill/>
            </a:ln>
          </p:spPr>
        </p:sp>
        <p:sp>
          <p:nvSpPr>
            <p:cNvPr id="53" name="TextBox 53"/>
            <p:cNvSpPr txBox="1"/>
            <p:nvPr/>
          </p:nvSpPr>
          <p:spPr>
            <a:xfrm>
              <a:off x="526923" y="4800600"/>
              <a:ext cx="4499610" cy="497967"/>
            </a:xfrm>
            <a:prstGeom prst="rect">
              <a:avLst/>
            </a:prstGeom>
            <a:noFill/>
            <a:ln>
              <a:noFill/>
            </a:ln>
          </p:spPr>
          <p:txBody>
            <a:bodyPr wrap="none" lIns="0" tIns="0" rIns="0" bIns="0" anchor="t" anchorCtr="0">
              <a:spAutoFit/>
            </a:bodyPr>
            <a:lstStyle/>
            <a:p>
              <a:pPr algn="l">
                <a:lnSpc>
                  <a:spcPts val="1950"/>
                </a:lnSpc>
              </a:pPr>
              <a:r>
                <a:rPr lang="ko-KR" sz="1280" dirty="0">
                  <a:solidFill>
                    <a:srgbClr val="D6DDE8"/>
                  </a:solidFill>
                  <a:latin typeface="+mn-lt"/>
                  <a:ea typeface="+mn-ea"/>
                  <a:cs typeface="+mn-cs"/>
                </a:rPr>
                <a:t>GroundWatch의 가치는 지도를 만드는 데서 끝나지 않습니다.</a:t>
              </a:r>
              <a:br>
                <a:rPr lang="ko-KR" sz="1280" dirty="0">
                  <a:solidFill>
                    <a:srgbClr val="D6DDE8"/>
                  </a:solidFill>
                  <a:latin typeface="+mn-lt"/>
                  <a:ea typeface="+mn-ea"/>
                  <a:cs typeface="+mn-cs"/>
                </a:rPr>
              </a:br>
              <a:r>
                <a:rPr lang="ko-KR" sz="1280" dirty="0">
                  <a:solidFill>
                    <a:srgbClr val="D6DDE8"/>
                  </a:solidFill>
                  <a:latin typeface="+mn-lt"/>
                  <a:ea typeface="+mn-ea"/>
                  <a:cs typeface="+mn-cs"/>
                </a:rPr>
                <a:t>한 번의 측정을 다음 판단과 현장 행동으로 연결합니다.</a:t>
              </a:r>
            </a:p>
          </p:txBody>
        </p:sp>
        <p:sp>
          <p:nvSpPr>
            <p:cNvPr id="54" name="Rectangle 54"/>
            <p:cNvSpPr/>
            <p:nvPr/>
          </p:nvSpPr>
          <p:spPr>
            <a:xfrm>
              <a:off x="533400" y="5448300"/>
              <a:ext cx="457200" cy="28575"/>
            </a:xfrm>
            <a:prstGeom prst="rect">
              <a:avLst/>
            </a:prstGeom>
            <a:solidFill>
              <a:srgbClr val="F5B700"/>
            </a:solidFill>
            <a:ln>
              <a:noFill/>
            </a:ln>
          </p:spPr>
        </p:sp>
        <p:sp>
          <p:nvSpPr>
            <p:cNvPr id="55" name="TextBox 55"/>
            <p:cNvSpPr txBox="1"/>
            <p:nvPr/>
          </p:nvSpPr>
          <p:spPr>
            <a:xfrm>
              <a:off x="520446" y="5594350"/>
              <a:ext cx="4507182" cy="936879"/>
            </a:xfrm>
            <a:prstGeom prst="rect">
              <a:avLst/>
            </a:prstGeom>
            <a:noFill/>
            <a:ln>
              <a:noFill/>
            </a:ln>
          </p:spPr>
          <p:txBody>
            <a:bodyPr wrap="none" lIns="0" tIns="0" rIns="0" bIns="0" anchor="t" anchorCtr="0">
              <a:spAutoFit/>
            </a:bodyPr>
            <a:lstStyle/>
            <a:p>
              <a:pPr algn="l">
                <a:lnSpc>
                  <a:spcPts val="3450"/>
                </a:lnSpc>
              </a:pPr>
              <a:r>
                <a:rPr lang="ko-KR" sz="2550" b="1" dirty="0">
                  <a:solidFill>
                    <a:srgbClr val="FFFFFF"/>
                  </a:solidFill>
                  <a:latin typeface="+mn-lt"/>
                  <a:ea typeface="+mn-ea"/>
                  <a:cs typeface="+mn-cs"/>
                </a:rPr>
                <a:t>한 번의 조기 발견이,</a:t>
              </a:r>
              <a:br>
                <a:rPr lang="ko-KR" sz="2550" b="1" dirty="0">
                  <a:solidFill>
                    <a:srgbClr val="FFFFFF"/>
                  </a:solidFill>
                  <a:latin typeface="+mn-lt"/>
                  <a:ea typeface="+mn-ea"/>
                  <a:cs typeface="+mn-cs"/>
                </a:rPr>
              </a:br>
              <a:r>
                <a:rPr lang="ko-KR" sz="2550" b="1" dirty="0">
                  <a:solidFill>
                    <a:srgbClr val="FFFFFF"/>
                  </a:solidFill>
                  <a:latin typeface="+mn-lt"/>
                  <a:ea typeface="+mn-ea"/>
                  <a:cs typeface="+mn-cs"/>
                </a:rPr>
                <a:t>한 사람의 무사 귀가가 되도록.</a:t>
              </a:r>
            </a:p>
          </p:txBody>
        </p:sp>
        <p:sp>
          <p:nvSpPr>
            <p:cNvPr id="56" name="TextBox 56"/>
            <p:cNvSpPr txBox="1"/>
            <p:nvPr/>
          </p:nvSpPr>
          <p:spPr>
            <a:xfrm>
              <a:off x="9504226" y="6413500"/>
              <a:ext cx="2235337" cy="161925"/>
            </a:xfrm>
            <a:prstGeom prst="rect">
              <a:avLst/>
            </a:prstGeom>
            <a:noFill/>
            <a:ln>
              <a:noFill/>
            </a:ln>
          </p:spPr>
          <p:txBody>
            <a:bodyPr wrap="none" lIns="0" tIns="0" rIns="0" bIns="0" anchor="t" anchorCtr="0">
              <a:spAutoFit/>
            </a:bodyPr>
            <a:lstStyle/>
            <a:p>
              <a:pPr algn="r"/>
              <a:r>
                <a:rPr lang="ko-KR" sz="820" dirty="0">
                  <a:solidFill>
                    <a:srgbClr val="D6DDE8"/>
                  </a:solidFill>
                  <a:latin typeface="+mn-lt"/>
                  <a:ea typeface="+mn-ea"/>
                  <a:cs typeface="+mn-cs"/>
                </a:rPr>
                <a:t>사진: Alexander Migl, CC BY-SA 4.0(편집)</a:t>
              </a:r>
            </a:p>
          </p:txBody>
        </p:sp>
        <p:sp>
          <p:nvSpPr>
            <p:cNvPr id="57" name="TextBox 57"/>
            <p:cNvSpPr txBox="1"/>
            <p:nvPr/>
          </p:nvSpPr>
          <p:spPr>
            <a:xfrm>
              <a:off x="9093871" y="6591300"/>
              <a:ext cx="2645882" cy="191643"/>
            </a:xfrm>
            <a:prstGeom prst="rect">
              <a:avLst/>
            </a:prstGeom>
            <a:noFill/>
            <a:ln>
              <a:noFill/>
            </a:ln>
          </p:spPr>
          <p:txBody>
            <a:bodyPr wrap="none" lIns="0" tIns="0" rIns="0" bIns="0" anchor="t" anchorCtr="0">
              <a:spAutoFit/>
            </a:bodyPr>
            <a:lstStyle/>
            <a:p>
              <a:pPr algn="r"/>
              <a:r>
                <a:rPr lang="ko-KR" sz="980" b="1" dirty="0">
                  <a:solidFill>
                    <a:srgbClr val="F5B700"/>
                  </a:solidFill>
                  <a:latin typeface="+mn-lt"/>
                  <a:ea typeface="+mn-ea"/>
                  <a:cs typeface="+mn-cs"/>
                </a:rPr>
                <a:t>TEAM 한 명이라도 살릴 수 있다면 · 16 / 16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4">
  <a:themeElements>
    <a:clrScheme name="deck_v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4">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4">
  <a:themeElements>
    <a:clrScheme name="deck_v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4">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2026-10-22T09:34:00Z</dcterms:created>
  <dcterms:modified xsi:type="dcterms:W3CDTF">2026-10-22T09:34:00Z</dcterms:modified>
  <cp:category/>
  <cp:contentStatus/>
</cp:coreProperties>
</file>