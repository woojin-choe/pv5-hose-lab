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6a6f8f43-646e-cdbb-364f-fee32bda540c}">
          <p14:sldIdLst>
            <p14:sldId id="256"/>
            <p14:sldId id="257"/>
            <p14:sldId id="258"/>
            <p14:sldId id="259"/>
            <p14:sldId id="260"/>
          </p14:sldIdLst>
        </p14:section>
        <p14:section name="운영 모델" id="{669ec1ef-0de7-1e65-8c4f-85abc0a0da67}">
          <p14:sldIdLst>
            <p14:sldId id="261"/>
            <p14:sldId id="262"/>
            <p14:sldId id="263"/>
            <p14:sldId id="264"/>
            <p14:sldId id="265"/>
            <p14:sldId id="266"/>
            <p14:sldId id="267"/>
            <p14:sldId id="268"/>
            <p14:sldId id="269"/>
            <p14:sldId id="270"/>
            <p14:sldId id="271"/>
            <p14:sldId id="272"/>
          </p14:sldIdLst>
        </p14:section>
        <p14:section name="확장" id="{83863ceb-d773-2ac2-7a90-71b8d7fb73a6}">
          <p14:sldIdLst>
            <p14:sldId id="273"/>
            <p14:sldId id="274"/>
            <p14:sldId id="275"/>
            <p14:sldId id="276"/>
            <p14:sldId id="277"/>
            <p14:sldId id="278"/>
          </p14:sldIdLst>
        </p14:section>
        <p14:section name="부록" id="{7fc24d65-0074-9b62-336e-bc274bf0e7a0}">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r_front_n" descr="/Users/seohogyun/Documents/git_workspace/pv5-hose-lab/groundwatch/images/r_front_n.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212080"/>
            <a:ext cx="5486400" cy="292608"/>
          </a:xfrm>
          <a:prstGeom prst="rect">
            <a:avLst/>
          </a:prstGeom>
          <a:noFill/>
          <a:ln/>
        </p:spPr>
        <p:txBody>
          <a:bodyPr wrap="square" lIns="0" tIns="0" rIns="0" bIns="0" rtlCol="0" anchor="ctr"/>
          <a:lstStyle/>
          <a:p>
            <a:pPr indent="0" marL="0">
              <a:buNone/>
            </a:pPr>
            <a:r>
              <a:rPr lang="en-US" sz="1300" dirty="0">
                <a:solidFill>
                  <a:srgbClr val="5B6573"/>
                </a:solidFill>
              </a:rPr>
              <a:t>팀  </a:t>
            </a:r>
            <a:pPr indent="0" marL="0">
              <a:buNone/>
            </a:pPr>
            <a:r>
              <a:rPr lang="en-US" sz="1300" b="1" dirty="0">
                <a:solidFill>
                  <a:srgbClr val="101828"/>
                </a:solidFill>
              </a:rPr>
              <a:t>한 명이라도 살릴 수 있다면</a:t>
            </a:r>
            <a:endParaRPr lang="en-US" sz="1300" dirty="0"/>
          </a:p>
        </p:txBody>
      </p:sp>
      <p:sp>
        <p:nvSpPr>
          <p:cNvPr id="11" name="Text 7"/>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2" name="Text 8"/>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 우측: 장착 예상 이미지(PV5 실차 사진 Alexander Migl, CC BY-SA 4.0 기반 AI 생성)</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팀 한 명이라도 살릴 수 있다면</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r_front" descr="/Users/seohogyun/Documents/git_workspace/pv5-hose-lab/groundwatch/images/r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 사진: Alexander Migl, CC BY-SA 4.0,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r_rear_n" descr="/Users/seohogyun/Documents/git_workspace/pv5-hose-lab/groundwatch/images/r_rear_n.jpg">    </p:cNvPr>
          <p:cNvPicPr>
            <a:picLocks noChangeAspect="1"/>
          </p:cNvPicPr>
          <p:nvPr/>
        </p:nvPicPr>
        <p:blipFill>
          <a:blip r:embed="rId1"/>
          <a:stretch>
            <a:fillRect/>
          </a:stretch>
        </p:blipFill>
        <p:spPr>
          <a:xfrm>
            <a:off x="6766560" y="1620622"/>
            <a:ext cx="5425135" cy="3616757"/>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
        <p:nvSpPr>
          <p:cNvPr id="8" name="Text 5"/>
          <p:cNvSpPr txBox="1"/>
          <p:nvPr/>
        </p:nvSpPr>
        <p:spPr>
          <a:xfrm>
            <a:off x="6858000" y="6537960"/>
            <a:ext cx="5212080" cy="219456"/>
          </a:xfrm>
          <a:prstGeom prst="rect">
            <a:avLst/>
          </a:prstGeom>
          <a:noFill/>
          <a:ln/>
        </p:spPr>
        <p:txBody>
          <a:bodyPr wrap="square" lIns="0" tIns="0" rIns="0" bIns="0" rtlCol="0" anchor="ctr"/>
          <a:lstStyle/>
          <a:p>
            <a:pPr algn="r" indent="0" marL="0">
              <a:buNone/>
            </a:pPr>
            <a:r>
              <a:rPr lang="en-US" sz="850" dirty="0">
                <a:solidFill>
                  <a:srgbClr val="D8DEE6"/>
                </a:solidFill>
              </a:rPr>
              <a:t>장착 예상 이미지: PV5 실차 사진(Alexander Migl, CC BY-SA 4.0) 기반 AI 생성</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r_patrol" descr="/Users/seohogyun/Documents/git_workspace/pv5-hose-lab/groundwatch/images/r_patrol.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장착 예상 이미지(경광등·GNSS 안테나, AI 생성)</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PV5 실차 사진(Alexander Migl, CC BY-SA 4.0)을 바탕으로 AI로 생성한 예상 이미지입니다. 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cut3d" descr="/Users/seohogyun/Documents/git_workspace/pv5-hose-lab/groundwatch/images/cut3d.jpg">    </p:cNvPr>
          <p:cNvPicPr>
            <a:picLocks noChangeAspect="1"/>
          </p:cNvPicPr>
          <p:nvPr/>
        </p:nvPicPr>
        <p:blipFill>
          <a:blip r:embed="rId1"/>
          <a:stretch>
            <a:fillRect/>
          </a:stretch>
        </p:blipFill>
        <p:spPr>
          <a:xfrm>
            <a:off x="548640" y="1463040"/>
            <a:ext cx="6903720" cy="3883457"/>
          </a:xfrm>
          <a:prstGeom prst="rect">
            <a:avLst/>
          </a:prstGeom>
        </p:spPr>
      </p:pic>
      <p:sp>
        <p:nvSpPr>
          <p:cNvPr id="6" name="caption"/>
          <p:cNvSpPr txBox="1"/>
          <p:nvPr/>
        </p:nvSpPr>
        <p:spPr>
          <a:xfrm>
            <a:off x="548640" y="5383073"/>
            <a:ext cx="690372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PV5 GroundWatch 카고룸 장비 배치 3D 절개도(제안 예시)</a:t>
            </a:r>
            <a:endParaRPr lang="en-US" sz="950" dirty="0"/>
          </a:p>
        </p:txBody>
      </p:sp>
      <p:sp>
        <p:nvSpPr>
          <p:cNvPr id="7" name="pin"/>
          <p:cNvSpPr txBox="1"/>
          <p:nvPr/>
        </p:nvSpPr>
        <p:spPr>
          <a:xfrm>
            <a:off x="5589270" y="2530471"/>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8" name="pin"/>
          <p:cNvSpPr txBox="1"/>
          <p:nvPr/>
        </p:nvSpPr>
        <p:spPr>
          <a:xfrm>
            <a:off x="5049917" y="2404618"/>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9" name="pin"/>
          <p:cNvSpPr txBox="1"/>
          <p:nvPr/>
        </p:nvSpPr>
        <p:spPr>
          <a:xfrm>
            <a:off x="4978003" y="2027060"/>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0" name="pin"/>
          <p:cNvSpPr txBox="1"/>
          <p:nvPr/>
        </p:nvSpPr>
        <p:spPr>
          <a:xfrm>
            <a:off x="5517356" y="4004746"/>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1" name="pin"/>
          <p:cNvSpPr txBox="1"/>
          <p:nvPr/>
        </p:nvSpPr>
        <p:spPr>
          <a:xfrm>
            <a:off x="4402693" y="2512492"/>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2" name="pin"/>
          <p:cNvSpPr txBox="1"/>
          <p:nvPr/>
        </p:nvSpPr>
        <p:spPr>
          <a:xfrm>
            <a:off x="3575685" y="3339524"/>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3" name="pin"/>
          <p:cNvSpPr txBox="1"/>
          <p:nvPr/>
        </p:nvSpPr>
        <p:spPr>
          <a:xfrm>
            <a:off x="4186952" y="2098976"/>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4" name="pin"/>
          <p:cNvSpPr txBox="1"/>
          <p:nvPr/>
        </p:nvSpPr>
        <p:spPr>
          <a:xfrm>
            <a:off x="2928461" y="2260786"/>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15" name="pin"/>
          <p:cNvSpPr txBox="1"/>
          <p:nvPr/>
        </p:nvSpPr>
        <p:spPr>
          <a:xfrm>
            <a:off x="1921669" y="3914851"/>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16" name="pin"/>
          <p:cNvSpPr txBox="1"/>
          <p:nvPr/>
        </p:nvSpPr>
        <p:spPr>
          <a:xfrm>
            <a:off x="2461022" y="4130599"/>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17" name="Text 14"/>
          <p:cNvSpPr txBox="1"/>
          <p:nvPr/>
        </p:nvSpPr>
        <p:spPr>
          <a:xfrm>
            <a:off x="548640"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1 </a:t>
            </a:r>
            <a:pPr indent="0" marL="0">
              <a:buNone/>
            </a:pPr>
            <a:r>
              <a:rPr lang="en-US" sz="950" dirty="0">
                <a:solidFill>
                  <a:srgbClr val="101828"/>
                </a:solidFill>
              </a:rPr>
              <a:t>전방 카메라</a:t>
            </a:r>
            <a:endParaRPr lang="en-US" sz="950" dirty="0"/>
          </a:p>
        </p:txBody>
      </p:sp>
      <p:sp>
        <p:nvSpPr>
          <p:cNvPr id="18" name="Text 15"/>
          <p:cNvSpPr txBox="1"/>
          <p:nvPr/>
        </p:nvSpPr>
        <p:spPr>
          <a:xfrm>
            <a:off x="1929384"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2 </a:t>
            </a:r>
            <a:pPr indent="0" marL="0">
              <a:buNone/>
            </a:pPr>
            <a:r>
              <a:rPr lang="en-US" sz="950" dirty="0">
                <a:solidFill>
                  <a:srgbClr val="101828"/>
                </a:solidFill>
              </a:rPr>
              <a:t>경광등</a:t>
            </a:r>
            <a:endParaRPr lang="en-US" sz="950" dirty="0"/>
          </a:p>
        </p:txBody>
      </p:sp>
      <p:sp>
        <p:nvSpPr>
          <p:cNvPr id="19" name="Text 16"/>
          <p:cNvSpPr txBox="1"/>
          <p:nvPr/>
        </p:nvSpPr>
        <p:spPr>
          <a:xfrm>
            <a:off x="3310128"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3 </a:t>
            </a:r>
            <a:pPr indent="0" marL="0">
              <a:buNone/>
            </a:pPr>
            <a:r>
              <a:rPr lang="en-US" sz="950" dirty="0">
                <a:solidFill>
                  <a:srgbClr val="101828"/>
                </a:solidFill>
              </a:rPr>
              <a:t>RTK-GNSS 안테나</a:t>
            </a:r>
            <a:endParaRPr lang="en-US" sz="950" dirty="0"/>
          </a:p>
        </p:txBody>
      </p:sp>
      <p:sp>
        <p:nvSpPr>
          <p:cNvPr id="20" name="Text 17"/>
          <p:cNvSpPr txBox="1"/>
          <p:nvPr/>
        </p:nvSpPr>
        <p:spPr>
          <a:xfrm>
            <a:off x="4690872"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4 </a:t>
            </a:r>
            <a:pPr indent="0" marL="0">
              <a:buNone/>
            </a:pPr>
            <a:r>
              <a:rPr lang="en-US" sz="950" dirty="0">
                <a:solidFill>
                  <a:srgbClr val="101828"/>
                </a:solidFill>
              </a:rPr>
              <a:t>측면 카메라</a:t>
            </a:r>
            <a:endParaRPr lang="en-US" sz="950" dirty="0"/>
          </a:p>
        </p:txBody>
      </p:sp>
      <p:sp>
        <p:nvSpPr>
          <p:cNvPr id="21" name="Text 18"/>
          <p:cNvSpPr txBox="1"/>
          <p:nvPr/>
        </p:nvSpPr>
        <p:spPr>
          <a:xfrm>
            <a:off x="6071616"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5 </a:t>
            </a:r>
            <a:pPr indent="0" marL="0">
              <a:buNone/>
            </a:pPr>
            <a:r>
              <a:rPr lang="en-US" sz="950" dirty="0">
                <a:solidFill>
                  <a:srgbClr val="101828"/>
                </a:solidFill>
              </a:rPr>
              <a:t>Edge Gateway 랙</a:t>
            </a:r>
            <a:endParaRPr lang="en-US" sz="950" dirty="0"/>
          </a:p>
        </p:txBody>
      </p:sp>
      <p:sp>
        <p:nvSpPr>
          <p:cNvPr id="22" name="Text 19"/>
          <p:cNvSpPr txBox="1"/>
          <p:nvPr/>
        </p:nvSpPr>
        <p:spPr>
          <a:xfrm>
            <a:off x="548640"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6 </a:t>
            </a:r>
            <a:pPr indent="0" marL="0">
              <a:buNone/>
            </a:pPr>
            <a:r>
              <a:rPr lang="en-US" sz="950" dirty="0">
                <a:solidFill>
                  <a:srgbClr val="101828"/>
                </a:solidFill>
              </a:rPr>
              <a:t>수동 GPR 카트</a:t>
            </a:r>
            <a:endParaRPr lang="en-US" sz="950" dirty="0"/>
          </a:p>
        </p:txBody>
      </p:sp>
      <p:sp>
        <p:nvSpPr>
          <p:cNvPr id="23" name="Text 20"/>
          <p:cNvSpPr txBox="1"/>
          <p:nvPr/>
        </p:nvSpPr>
        <p:spPr>
          <a:xfrm>
            <a:off x="1929384"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7 </a:t>
            </a:r>
            <a:pPr indent="0" marL="0">
              <a:buNone/>
            </a:pPr>
            <a:r>
              <a:rPr lang="en-US" sz="950" dirty="0">
                <a:solidFill>
                  <a:srgbClr val="101828"/>
                </a:solidFill>
              </a:rPr>
              <a:t>AR 글래스 충전함</a:t>
            </a:r>
            <a:endParaRPr lang="en-US" sz="950" dirty="0"/>
          </a:p>
        </p:txBody>
      </p:sp>
      <p:sp>
        <p:nvSpPr>
          <p:cNvPr id="24" name="Text 21"/>
          <p:cNvSpPr txBox="1"/>
          <p:nvPr/>
        </p:nvSpPr>
        <p:spPr>
          <a:xfrm>
            <a:off x="3310128"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8 </a:t>
            </a:r>
            <a:pPr indent="0" marL="0">
              <a:buNone/>
            </a:pPr>
            <a:r>
              <a:rPr lang="en-US" sz="950" dirty="0">
                <a:solidFill>
                  <a:srgbClr val="101828"/>
                </a:solidFill>
              </a:rPr>
              <a:t>장비 수납장</a:t>
            </a:r>
            <a:endParaRPr lang="en-US" sz="950" dirty="0"/>
          </a:p>
        </p:txBody>
      </p:sp>
      <p:sp>
        <p:nvSpPr>
          <p:cNvPr id="25" name="Text 22"/>
          <p:cNvSpPr txBox="1"/>
          <p:nvPr/>
        </p:nvSpPr>
        <p:spPr>
          <a:xfrm>
            <a:off x="4690872"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9 </a:t>
            </a:r>
            <a:pPr indent="0" marL="0">
              <a:buNone/>
            </a:pPr>
            <a:r>
              <a:rPr lang="en-US" sz="950" dirty="0">
                <a:solidFill>
                  <a:srgbClr val="101828"/>
                </a:solidFill>
              </a:rPr>
              <a:t>후방 하부 다채널 GPR</a:t>
            </a:r>
            <a:endParaRPr lang="en-US" sz="950" dirty="0"/>
          </a:p>
        </p:txBody>
      </p:sp>
      <p:sp>
        <p:nvSpPr>
          <p:cNvPr id="26" name="Text 23"/>
          <p:cNvSpPr txBox="1"/>
          <p:nvPr/>
        </p:nvSpPr>
        <p:spPr>
          <a:xfrm>
            <a:off x="6071616"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10 </a:t>
            </a:r>
            <a:pPr indent="0" marL="0">
              <a:buNone/>
            </a:pPr>
            <a:r>
              <a:rPr lang="en-US" sz="950" dirty="0">
                <a:solidFill>
                  <a:srgbClr val="101828"/>
                </a:solidFill>
              </a:rPr>
              <a:t>휠 인코더</a:t>
            </a:r>
            <a:endParaRPr lang="en-US" sz="950" dirty="0"/>
          </a:p>
        </p:txBody>
      </p:sp>
      <p:sp>
        <p:nvSpPr>
          <p:cNvPr id="27"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8" name="Text 25"/>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9" name="Text 26"/>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30"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31" name="Text 28"/>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32" name="Text 29"/>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3"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4" name="Text 31"/>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5" name="Text 32"/>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6"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7" name="Text 34"/>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8" name="Text 35"/>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9" name="rule"/>
          <p:cNvSpPr/>
          <p:nvPr/>
        </p:nvSpPr>
        <p:spPr>
          <a:xfrm>
            <a:off x="7726680" y="4526280"/>
            <a:ext cx="3913632" cy="0"/>
          </a:xfrm>
          <a:prstGeom prst="line">
            <a:avLst/>
          </a:prstGeom>
          <a:noFill/>
          <a:ln w="12700">
            <a:solidFill>
              <a:srgbClr val="DCE1E8"/>
            </a:solidFill>
            <a:prstDash val="solid"/>
          </a:ln>
        </p:spPr>
      </p:sp>
      <p:sp>
        <p:nvSpPr>
          <p:cNvPr id="40" name="Text 37"/>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41" name="Text 38"/>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42" name="Text 39"/>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3" name="Text 40"/>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4" name="Text 41"/>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5" name="Text 42"/>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6" name="Text 43"/>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목업 화면.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 화면은 목업입니다.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AR 기준점 인식과 위치 보정 화면(실사 합성 목업)</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AR 화면은 실사 위에 합성한 목업입니다. 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재탐사 범위 안내 화면(실사 합성 목업)</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실사 위 합성 목업, 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r_front_b" descr="/Users/seohogyun/Documents/git_workspace/pv5-hose-lab/groundwatch/images/r_front_b.jpg">    </p:cNvPr>
          <p:cNvPicPr>
            <a:picLocks noChangeAspect="1"/>
          </p:cNvPicPr>
          <p:nvPr/>
        </p:nvPicPr>
        <p:blipFill>
          <a:blip r:embed="rId1"/>
          <a:stretch>
            <a:fillRect/>
          </a:stretch>
        </p:blipFill>
        <p:spPr>
          <a:xfrm>
            <a:off x="6766560" y="1620622"/>
            <a:ext cx="5425135" cy="3616757"/>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
        <p:nvSpPr>
          <p:cNvPr id="8" name="Text 5"/>
          <p:cNvSpPr txBox="1"/>
          <p:nvPr/>
        </p:nvSpPr>
        <p:spPr>
          <a:xfrm>
            <a:off x="6858000" y="6537960"/>
            <a:ext cx="5212080" cy="219456"/>
          </a:xfrm>
          <a:prstGeom prst="rect">
            <a:avLst/>
          </a:prstGeom>
          <a:noFill/>
          <a:ln/>
        </p:spPr>
        <p:txBody>
          <a:bodyPr wrap="square" lIns="0" tIns="0" rIns="0" bIns="0" rtlCol="0" anchor="ctr"/>
          <a:lstStyle/>
          <a:p>
            <a:pPr algn="r" indent="0" marL="0">
              <a:buNone/>
            </a:pPr>
            <a:r>
              <a:rPr lang="en-US" sz="850" dirty="0">
                <a:solidFill>
                  <a:srgbClr val="D8DEE6"/>
                </a:solidFill>
              </a:rPr>
              <a:t>장착 예상 이미지: PV5 실차 사진(Alexander Migl, CC BY-SA 4.0) 기반 AI 생성</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개념 일러스트. 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r_rear" descr="/Users/seohogyun/Documents/git_workspace/pv5-hose-lab/groundwatch/images/r_rear.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r>
              <a:rPr lang="en-US" sz="1200" dirty="0">
                <a:solidFill>
                  <a:srgbClr val="5B6573"/>
                </a:solidFill>
              </a:rPr>
              <a:t>   팀 한 명이라도 살릴 수 있다면</a:t>
            </a: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
        <p:nvSpPr>
          <p:cNvPr id="10" name="Text 7"/>
          <p:cNvSpPr txBox="1"/>
          <p:nvPr/>
        </p:nvSpPr>
        <p:spPr>
          <a:xfrm>
            <a:off x="6400800" y="6537960"/>
            <a:ext cx="5669280" cy="219456"/>
          </a:xfrm>
          <a:prstGeom prst="rect">
            <a:avLst/>
          </a:prstGeom>
          <a:noFill/>
          <a:ln/>
        </p:spPr>
        <p:txBody>
          <a:bodyPr wrap="square" lIns="0" tIns="0" rIns="0" bIns="0" rtlCol="0" anchor="ctr"/>
          <a:lstStyle/>
          <a:p>
            <a:pPr algn="r" indent="0" marL="0">
              <a:buNone/>
            </a:pPr>
            <a:r>
              <a:rPr lang="en-US" sz="850" dirty="0">
                <a:solidFill>
                  <a:srgbClr val="D8DEE6"/>
                </a:solidFill>
              </a:rPr>
              <a:t>장착 예상 이미지: PV5 실차 사진(Alexander Migl, CC BY-SA 4.0) 기반 AI 생성</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한 명이라도 살릴 수 있다면</cp:lastModifiedBy>
  <cp:revision>1</cp:revision>
  <dcterms:created xsi:type="dcterms:W3CDTF">2026-10-11T13:25:56Z</dcterms:created>
  <dcterms:modified xsi:type="dcterms:W3CDTF">2026-10-11T13:25:56Z</dcterms:modified>
</cp:coreProperties>
</file>