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5d5c7661-2243-1560-b45d-26177e8d9b7f}">
          <p14:sldIdLst>
            <p14:sldId id="256"/>
            <p14:sldId id="257"/>
            <p14:sldId id="258"/>
            <p14:sldId id="259"/>
            <p14:sldId id="260"/>
          </p14:sldIdLst>
        </p14:section>
        <p14:section name="운영 모델" id="{2195f893-1a9c-0f93-bffa-82348b7bd9b9}">
          <p14:sldIdLst>
            <p14:sldId id="261"/>
            <p14:sldId id="262"/>
            <p14:sldId id="263"/>
            <p14:sldId id="264"/>
            <p14:sldId id="265"/>
            <p14:sldId id="266"/>
            <p14:sldId id="267"/>
            <p14:sldId id="268"/>
            <p14:sldId id="269"/>
            <p14:sldId id="270"/>
            <p14:sldId id="271"/>
            <p14:sldId id="272"/>
          </p14:sldIdLst>
        </p14:section>
        <p14:section name="확장" id="{660a9a9d-a9c8-6847-6b6a-ca1a311b4229}">
          <p14:sldIdLst>
            <p14:sldId id="273"/>
            <p14:sldId id="274"/>
            <p14:sldId id="275"/>
            <p14:sldId id="276"/>
            <p14:sldId id="277"/>
            <p14:sldId id="278"/>
          </p14:sldIdLst>
        </p14:section>
        <p14:section name="부록" id="{69498101-f106-bb6f-1caf-8ba52a62d856}">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배경은 사고 현장이 아닌 해외 야간 도로 사진(PattayaPatrol, CC BY-SA 4.0)에 노면 아래 공동 단면을 합성한 개념 이미지입니다.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https://commons.wikimedia.org/wiki/File:Kia_PV5_Cargo_IMG_7825.jpg)에 장비와 랩핑을 합성한 예상도.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1783080" cy="384048"/>
          </a:xfrm>
          <a:prstGeom prst="rect">
            <a:avLst/>
          </a:prstGeom>
          <a:solidFill>
            <a:srgbClr val="0B1F3A"/>
          </a:solidFill>
          <a:ln/>
        </p:spPr>
      </p:sp>
      <p:sp>
        <p:nvSpPr>
          <p:cNvPr id="3" name="Text 1"/>
          <p:cNvSpPr/>
          <p:nvPr/>
        </p:nvSpPr>
        <p:spPr>
          <a:xfrm>
            <a:off x="548640" y="384048"/>
            <a:ext cx="17830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Pretendard" pitchFamily="34" charset="0"/>
                <a:ea typeface="Pretendard" pitchFamily="34" charset="-122"/>
                <a:cs typeface="Pretendard" pitchFamily="34" charset="-120"/>
              </a:rPr>
              <a:t>PV5 GroundWatch</a:t>
            </a:r>
            <a:endParaRPr lang="en-US" sz="1200" dirty="0"/>
          </a:p>
        </p:txBody>
      </p:sp>
      <p:sp>
        <p:nvSpPr>
          <p:cNvPr id="4" name="Text 2"/>
          <p:cNvSpPr/>
          <p:nvPr>
            <p:ph idx="102" type="title" hasCustomPrompt="1"/>
          </p:nvPr>
        </p:nvSpPr>
        <p:spPr>
          <a:xfrm>
            <a:off x="4434840" y="384048"/>
            <a:ext cx="7223760" cy="384048"/>
          </a:xfrm>
          <a:prstGeom prst="rect">
            <a:avLst/>
          </a:prstGeom>
          <a:noFill/>
          <a:ln/>
        </p:spPr>
        <p:txBody>
          <a:bodyPr wrap="square" rtlCol="0"/>
          <a:lstStyle>
            <a:lvl1pPr indent="0" marL="0">
              <a:buNone/>
              <a:defRPr lang="en-US" sz="1700" b="1" dirty="0">
                <a:solidFill>
                  <a:srgbClr val="101828"/>
                </a:solidFill>
                <a:latin typeface="Pretendard" pitchFamily="34" charset="0"/>
                <a:ea typeface="Pretendard" pitchFamily="34" charset="-122"/>
                <a:cs typeface="Pretendard" pitchFamily="34" charset="-120"/>
              </a:defRPr>
            </a:lvl1pPr>
          </a:lstStyle>
          <a:p>
            <a:pPr indent="0" marL="0">
              <a:buNone/>
            </a:pPr>
            <a:endParaRPr lang="en-US" sz="17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DIVIDER">
    <p:bg>
      <p:bgPr>
        <a:solidFill>
          <a:srgbClr val="0A162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11094415" cy="822960"/>
          </a:xfrm>
          <a:prstGeom prst="rect">
            <a:avLst/>
          </a:prstGeom>
          <a:noFill/>
          <a:ln/>
        </p:spPr>
        <p:txBody>
          <a:bodyPr wrap="square" rtlCol="0"/>
          <a:lstStyle>
            <a:lvl1pPr algn="ctr" indent="0" marL="0">
              <a:buNone/>
              <a:defRPr lang="en-US" sz="3200" b="1" dirty="0">
                <a:solidFill>
                  <a:srgbClr val="FFFFFF"/>
                </a:solidFill>
                <a:latin typeface="Pretendard" pitchFamily="34" charset="0"/>
                <a:ea typeface="Pretendard" pitchFamily="34" charset="-122"/>
                <a:cs typeface="Pretendard" pitchFamily="34" charset="-120"/>
              </a:defRPr>
            </a:lvl1pPr>
          </a:lstStyle>
          <a:p>
            <a:pPr algn="ctr" indent="0" marL="0">
              <a:buNone/>
            </a:pPr>
            <a:endParaRPr lang="en-US" sz="3200" dirty="0"/>
          </a:p>
        </p:txBody>
      </p:sp>
      <p:sp>
        <p:nvSpPr>
          <p:cNvPr id="3" name="Text 0"/>
          <p:cNvSpPr/>
          <p:nvPr>
            <p:ph idx="101" type="body" hasCustomPrompt="1"/>
          </p:nvPr>
        </p:nvSpPr>
        <p:spPr>
          <a:xfrm>
            <a:off x="3108960" y="1965960"/>
            <a:ext cx="5971032" cy="548640"/>
          </a:xfrm>
          <a:prstGeom prst="rect">
            <a:avLst/>
          </a:prstGeom>
          <a:noFill/>
          <a:ln/>
        </p:spPr>
        <p:txBody>
          <a:bodyPr wrap="square" rtlCol="0"/>
          <a:lstStyle>
            <a:lvl1pPr algn="ctr" indent="0" marL="0">
              <a:buNone/>
              <a:defRPr lang="en-US" sz="1800" b="1" dirty="0">
                <a:solidFill>
                  <a:srgbClr val="FFFFFF"/>
                </a:solidFill>
                <a:latin typeface="Pretendard" pitchFamily="34" charset="0"/>
                <a:ea typeface="Pretendard" pitchFamily="34" charset="-122"/>
                <a:cs typeface="Pretendard" pitchFamily="34" charset="-120"/>
              </a:defRPr>
            </a:lvl1pPr>
          </a:lstStyle>
          <a:p>
            <a:pPr algn="ctr" indent="0" marL="0">
              <a:buNone/>
            </a:pPr>
            <a:endParaRPr lang="en-US" sz="18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h_cover" descr="/Users/seohogyun/Documents/git_workspace/pv5-hose-lab/groundwatch/images/ph_cover.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914400"/>
            <a:ext cx="6766560" cy="1920240"/>
          </a:xfrm>
          <a:prstGeom prst="rect">
            <a:avLst/>
          </a:prstGeom>
          <a:noFill/>
          <a:ln/>
        </p:spPr>
        <p:txBody>
          <a:bodyPr wrap="square" lIns="0" tIns="0" rIns="0" bIns="0" rtlCol="0" anchor="t"/>
          <a:lstStyle/>
          <a:p>
            <a:pPr indent="0" marL="0">
              <a:lnSpc>
                <a:spcPct val="105000"/>
              </a:lnSpc>
              <a:buNone/>
            </a:pPr>
            <a:r>
              <a:rPr lang="en-US" sz="3700" b="1" dirty="0">
                <a:solidFill>
                  <a:srgbClr val="FFFFFF"/>
                </a:solidFill>
              </a:rPr>
              <a:t>도로가 무너지기까지,</a:t>
            </a:r>
            <a:endParaRPr lang="en-US" sz="3700" dirty="0"/>
          </a:p>
          <a:p>
            <a:pPr indent="0" marL="0">
              <a:lnSpc>
                <a:spcPct val="105000"/>
              </a:lnSpc>
              <a:buNone/>
            </a:pPr>
            <a:r>
              <a:rPr lang="en-US" sz="3700" b="1" dirty="0">
                <a:solidFill>
                  <a:srgbClr val="FFFFFF"/>
                </a:solidFill>
              </a:rPr>
              <a:t>1~2분.</a:t>
            </a:r>
            <a:endParaRPr lang="en-US" sz="3700" dirty="0"/>
          </a:p>
        </p:txBody>
      </p:sp>
      <p:sp>
        <p:nvSpPr>
          <p:cNvPr id="4" name="Text 1"/>
          <p:cNvSpPr txBox="1"/>
          <p:nvPr/>
        </p:nvSpPr>
        <p:spPr>
          <a:xfrm>
            <a:off x="640080" y="2880360"/>
            <a:ext cx="6583680" cy="457200"/>
          </a:xfrm>
          <a:prstGeom prst="rect">
            <a:avLst/>
          </a:prstGeom>
          <a:noFill/>
          <a:ln/>
        </p:spPr>
        <p:txBody>
          <a:bodyPr wrap="square" lIns="0" tIns="0" rIns="0" bIns="0" rtlCol="0" anchor="ctr"/>
          <a:lstStyle/>
          <a:p>
            <a:pPr indent="0" marL="0">
              <a:buNone/>
            </a:pPr>
            <a:r>
              <a:rPr lang="en-US" sz="2100" dirty="0">
                <a:solidFill>
                  <a:srgbClr val="C9D3E0"/>
                </a:solidFill>
              </a:rPr>
              <a:t>그 아래의 변화는 더 먼저 시작됐습니다.</a:t>
            </a:r>
            <a:endParaRPr lang="en-US" sz="2100" dirty="0"/>
          </a:p>
        </p:txBody>
      </p:sp>
      <p:sp>
        <p:nvSpPr>
          <p:cNvPr id="5" name="Text 2"/>
          <p:cNvSpPr txBox="1"/>
          <p:nvPr/>
        </p:nvSpPr>
        <p:spPr>
          <a:xfrm>
            <a:off x="640080" y="3520440"/>
            <a:ext cx="2057400" cy="384048"/>
          </a:xfrm>
          <a:prstGeom prst="rect">
            <a:avLst/>
          </a:prstGeom>
          <a:noFill/>
          <a:ln/>
        </p:spPr>
        <p:txBody>
          <a:bodyPr wrap="square" lIns="0" tIns="0" rIns="0" bIns="0" rtlCol="0" anchor="ctr"/>
          <a:lstStyle/>
          <a:p>
            <a:pPr indent="0" marL="0">
              <a:buNone/>
            </a:pPr>
            <a:r>
              <a:rPr lang="en-US" sz="1800" b="1" dirty="0">
                <a:solidFill>
                  <a:srgbClr val="FFFFFF"/>
                </a:solidFill>
              </a:rPr>
              <a:t>2025.3.24</a:t>
            </a:r>
            <a:endParaRPr lang="en-US" sz="1800" dirty="0"/>
          </a:p>
        </p:txBody>
      </p:sp>
      <p:sp>
        <p:nvSpPr>
          <p:cNvPr id="6" name="Text 3"/>
          <p:cNvSpPr txBox="1"/>
          <p:nvPr/>
        </p:nvSpPr>
        <p:spPr>
          <a:xfrm>
            <a:off x="640080" y="3904488"/>
            <a:ext cx="2057400" cy="292608"/>
          </a:xfrm>
          <a:prstGeom prst="rect">
            <a:avLst/>
          </a:prstGeom>
          <a:noFill/>
          <a:ln/>
        </p:spPr>
        <p:txBody>
          <a:bodyPr wrap="square" lIns="0" tIns="0" rIns="0" bIns="0" rtlCol="0" anchor="ctr"/>
          <a:lstStyle/>
          <a:p>
            <a:pPr indent="0" marL="0">
              <a:buNone/>
            </a:pPr>
            <a:r>
              <a:rPr lang="en-US" sz="1200" dirty="0">
                <a:solidFill>
                  <a:srgbClr val="9AA8BC"/>
                </a:solidFill>
              </a:rPr>
              <a:t>서울 강동구 명일동</a:t>
            </a:r>
            <a:endParaRPr lang="en-US" sz="1200" dirty="0"/>
          </a:p>
        </p:txBody>
      </p:sp>
      <p:sp>
        <p:nvSpPr>
          <p:cNvPr id="7" name="Text 4"/>
          <p:cNvSpPr txBox="1"/>
          <p:nvPr/>
        </p:nvSpPr>
        <p:spPr>
          <a:xfrm>
            <a:off x="2788920" y="3520440"/>
            <a:ext cx="2057400" cy="384048"/>
          </a:xfrm>
          <a:prstGeom prst="rect">
            <a:avLst/>
          </a:prstGeom>
          <a:noFill/>
          <a:ln/>
        </p:spPr>
        <p:txBody>
          <a:bodyPr wrap="square" lIns="0" tIns="0" rIns="0" bIns="0" rtlCol="0" anchor="ctr"/>
          <a:lstStyle/>
          <a:p>
            <a:pPr indent="0" marL="0">
              <a:buNone/>
            </a:pPr>
            <a:r>
              <a:rPr lang="en-US" sz="1800" b="1" dirty="0">
                <a:solidFill>
                  <a:srgbClr val="FFFFFF"/>
                </a:solidFill>
              </a:rPr>
              <a:t>22×18×16m</a:t>
            </a:r>
            <a:endParaRPr lang="en-US" sz="1800" dirty="0"/>
          </a:p>
        </p:txBody>
      </p:sp>
      <p:sp>
        <p:nvSpPr>
          <p:cNvPr id="8" name="Text 5"/>
          <p:cNvSpPr txBox="1"/>
          <p:nvPr/>
        </p:nvSpPr>
        <p:spPr>
          <a:xfrm>
            <a:off x="2788920" y="3904488"/>
            <a:ext cx="2057400" cy="292608"/>
          </a:xfrm>
          <a:prstGeom prst="rect">
            <a:avLst/>
          </a:prstGeom>
          <a:noFill/>
          <a:ln/>
        </p:spPr>
        <p:txBody>
          <a:bodyPr wrap="square" lIns="0" tIns="0" rIns="0" bIns="0" rtlCol="0" anchor="ctr"/>
          <a:lstStyle/>
          <a:p>
            <a:pPr indent="0" marL="0">
              <a:buNone/>
            </a:pPr>
            <a:r>
              <a:rPr lang="en-US" sz="1200" dirty="0">
                <a:solidFill>
                  <a:srgbClr val="9AA8BC"/>
                </a:solidFill>
              </a:rPr>
              <a:t>길이, 폭, 깊이</a:t>
            </a:r>
            <a:endParaRPr lang="en-US" sz="1200" dirty="0"/>
          </a:p>
        </p:txBody>
      </p:sp>
      <p:sp>
        <p:nvSpPr>
          <p:cNvPr id="9" name="Text 6"/>
          <p:cNvSpPr txBox="1"/>
          <p:nvPr/>
        </p:nvSpPr>
        <p:spPr>
          <a:xfrm>
            <a:off x="4937760" y="3520440"/>
            <a:ext cx="2057400" cy="384048"/>
          </a:xfrm>
          <a:prstGeom prst="rect">
            <a:avLst/>
          </a:prstGeom>
          <a:noFill/>
          <a:ln/>
        </p:spPr>
        <p:txBody>
          <a:bodyPr wrap="square" lIns="0" tIns="0" rIns="0" bIns="0" rtlCol="0" anchor="ctr"/>
          <a:lstStyle/>
          <a:p>
            <a:pPr indent="0" marL="0">
              <a:buNone/>
            </a:pPr>
            <a:r>
              <a:rPr lang="en-US" sz="1800" b="1" dirty="0">
                <a:solidFill>
                  <a:srgbClr val="FFFFFF"/>
                </a:solidFill>
              </a:rPr>
              <a:t>사망 1 부상 1</a:t>
            </a:r>
            <a:endParaRPr lang="en-US" sz="1800" dirty="0"/>
          </a:p>
        </p:txBody>
      </p:sp>
      <p:sp>
        <p:nvSpPr>
          <p:cNvPr id="10" name="Text 7"/>
          <p:cNvSpPr txBox="1"/>
          <p:nvPr/>
        </p:nvSpPr>
        <p:spPr>
          <a:xfrm>
            <a:off x="4937760" y="3904488"/>
            <a:ext cx="2057400" cy="292608"/>
          </a:xfrm>
          <a:prstGeom prst="rect">
            <a:avLst/>
          </a:prstGeom>
          <a:noFill/>
          <a:ln/>
        </p:spPr>
        <p:txBody>
          <a:bodyPr wrap="square" lIns="0" tIns="0" rIns="0" bIns="0" rtlCol="0" anchor="ctr"/>
          <a:lstStyle/>
          <a:p>
            <a:pPr indent="0" marL="0">
              <a:buNone/>
            </a:pPr>
            <a:r>
              <a:rPr lang="en-US" sz="1200" dirty="0">
                <a:solidFill>
                  <a:srgbClr val="9AA8BC"/>
                </a:solidFill>
              </a:rPr>
              <a:t>인명 피해</a:t>
            </a:r>
            <a:endParaRPr lang="en-US" sz="1200" dirty="0"/>
          </a:p>
        </p:txBody>
      </p:sp>
      <p:sp>
        <p:nvSpPr>
          <p:cNvPr id="11" name="Text 8"/>
          <p:cNvSpPr txBox="1"/>
          <p:nvPr/>
        </p:nvSpPr>
        <p:spPr>
          <a:xfrm>
            <a:off x="640080" y="4370832"/>
            <a:ext cx="6400800" cy="457200"/>
          </a:xfrm>
          <a:prstGeom prst="rect">
            <a:avLst/>
          </a:prstGeom>
          <a:noFill/>
          <a:ln/>
        </p:spPr>
        <p:txBody>
          <a:bodyPr wrap="square" lIns="0" tIns="0" rIns="0" bIns="0" rtlCol="0" anchor="ctr"/>
          <a:lstStyle/>
          <a:p>
            <a:pPr indent="0" marL="0">
              <a:buNone/>
            </a:pPr>
            <a:r>
              <a:rPr lang="en-US" sz="2100" b="1" dirty="0">
                <a:solidFill>
                  <a:srgbClr val="FFFFFF"/>
                </a:solidFill>
              </a:rPr>
              <a:t>PV5 GroundWatch</a:t>
            </a:r>
            <a:endParaRPr lang="en-US" sz="2100" dirty="0"/>
          </a:p>
        </p:txBody>
      </p:sp>
      <p:sp>
        <p:nvSpPr>
          <p:cNvPr id="12" name="Text 9"/>
          <p:cNvSpPr txBox="1"/>
          <p:nvPr/>
        </p:nvSpPr>
        <p:spPr>
          <a:xfrm>
            <a:off x="640080" y="4828032"/>
            <a:ext cx="10058400" cy="347472"/>
          </a:xfrm>
          <a:prstGeom prst="rect">
            <a:avLst/>
          </a:prstGeom>
          <a:noFill/>
          <a:ln/>
        </p:spPr>
        <p:txBody>
          <a:bodyPr wrap="square" lIns="0" tIns="0" rIns="0" bIns="0" rtlCol="0" anchor="ctr"/>
          <a:lstStyle/>
          <a:p>
            <a:pPr indent="0" marL="0">
              <a:buNone/>
            </a:pPr>
            <a:r>
              <a:rPr lang="en-US" sz="1400" dirty="0">
                <a:solidFill>
                  <a:srgbClr val="C9D3E0"/>
                </a:solidFill>
              </a:rPr>
              <a:t>같은 도로를 반복 측정해 지하의 변화를 찾는 PV5 지하안전 순찰차   </a:t>
            </a:r>
            <a:pPr indent="0" marL="0">
              <a:buNone/>
            </a:pPr>
            <a:r>
              <a:rPr lang="en-US" sz="1400" b="1" dirty="0">
                <a:solidFill>
                  <a:srgbClr val="F5B400"/>
                </a:solidFill>
              </a:rPr>
              <a:t>팀 한 명이라도 살릴 수 있다면</a:t>
            </a:r>
            <a:endParaRPr lang="en-US" sz="1400" dirty="0"/>
          </a:p>
        </p:txBody>
      </p:sp>
      <p:sp>
        <p:nvSpPr>
          <p:cNvPr id="13" name="Text 10"/>
          <p:cNvSpPr txBox="1"/>
          <p:nvPr/>
        </p:nvSpPr>
        <p:spPr>
          <a:xfrm>
            <a:off x="548640" y="6473952"/>
            <a:ext cx="6949440" cy="237744"/>
          </a:xfrm>
          <a:prstGeom prst="rect">
            <a:avLst/>
          </a:prstGeom>
          <a:noFill/>
          <a:ln/>
        </p:spPr>
        <p:txBody>
          <a:bodyPr wrap="square" lIns="0" tIns="0" rIns="0" bIns="0" rtlCol="0" anchor="ctr"/>
          <a:lstStyle/>
          <a:p>
            <a:pPr indent="0" marL="0">
              <a:buNone/>
            </a:pPr>
            <a:r>
              <a:rPr lang="en-US" sz="900" dirty="0">
                <a:solidFill>
                  <a:srgbClr val="D8DEE6"/>
                </a:solidFill>
              </a:rPr>
              <a:t>출처: 국토교통부·중앙지하사고조사위원회 조사결과(2025.12.3). 배경: PattayaPatrol, CC BY-SA 4.0 사진에 단면 합성</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B4232A"/>
            </a:solidFill>
          </a:ln>
        </p:spPr>
        <p:txBody>
          <a:bodyPr wrap="square" lIns="0" tIns="0" rIns="0" bIns="0" rtlCol="0" anchor="ctr"/>
          <a:lstStyle/>
          <a:p>
            <a:pPr algn="ctr" indent="0" marL="0">
              <a:buNone/>
            </a:pPr>
            <a:r>
              <a:rPr lang="en-US" sz="1300" b="1" dirty="0">
                <a:solidFill>
                  <a:srgbClr val="B4232A"/>
                </a:solidFill>
              </a:rPr>
              <a:t>제안 배경</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붕괴는 갑자기 보였지만, 원인은 지하에서 쌓이고 있었다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사고조사위원회는 하나의 원인이 아니라 지하에서 오래 쌓인 조건들이 겹쳤다고 발표했습니다.</a:t>
            </a:r>
            <a:endParaRPr lang="en-US" sz="15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Text 3"/>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7" name="Text 4"/>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8" name="Text 5"/>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9" name="Text 6"/>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0" name="Text 7"/>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1" name="Text 8"/>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2" name="Text 9"/>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3" name="Text 10"/>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4" name="rule"/>
          <p:cNvSpPr/>
          <p:nvPr/>
        </p:nvSpPr>
        <p:spPr>
          <a:xfrm>
            <a:off x="7498080" y="4663440"/>
            <a:ext cx="4142232" cy="0"/>
          </a:xfrm>
          <a:prstGeom prst="line">
            <a:avLst/>
          </a:prstGeom>
          <a:noFill/>
          <a:ln w="12700">
            <a:solidFill>
              <a:srgbClr val="DCE1E8"/>
            </a:solidFill>
            <a:prstDash val="solid"/>
          </a:ln>
        </p:spPr>
      </p:sp>
      <p:sp>
        <p:nvSpPr>
          <p:cNvPr id="15" name="Text 12"/>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6" name="Text 13"/>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7" name="arrow"/>
          <p:cNvSpPr/>
          <p:nvPr/>
        </p:nvSpPr>
        <p:spPr>
          <a:xfrm>
            <a:off x="2258568" y="5513832"/>
            <a:ext cx="420624" cy="914"/>
          </a:xfrm>
          <a:prstGeom prst="line">
            <a:avLst/>
          </a:prstGeom>
          <a:noFill/>
          <a:ln w="22225">
            <a:solidFill>
              <a:srgbClr val="8A94A3"/>
            </a:solidFill>
            <a:prstDash val="solid"/>
            <a:tailEnd type="triangle"/>
          </a:ln>
        </p:spPr>
      </p:sp>
      <p:sp>
        <p:nvSpPr>
          <p:cNvPr id="18" name="Text 15"/>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19" name="arrow"/>
          <p:cNvSpPr/>
          <p:nvPr/>
        </p:nvSpPr>
        <p:spPr>
          <a:xfrm>
            <a:off x="3675888" y="5513832"/>
            <a:ext cx="420624" cy="914"/>
          </a:xfrm>
          <a:prstGeom prst="line">
            <a:avLst/>
          </a:prstGeom>
          <a:noFill/>
          <a:ln w="22225">
            <a:solidFill>
              <a:srgbClr val="8A94A3"/>
            </a:solidFill>
            <a:prstDash val="solid"/>
            <a:tailEnd type="triangle"/>
          </a:ln>
        </p:spPr>
      </p:sp>
      <p:sp>
        <p:nvSpPr>
          <p:cNvPr id="20" name="Text 17"/>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1" name="Text 18"/>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2"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3" name="Text 20"/>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팀 한 명이라도 살릴 수 있다면</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국토교통부 땅꺼짐 사고 조사결과(2025.12.3). 단면도는 조사 요소를 단순화한 개념도이며, GroundWatch가 이 사고를 막을 수 있었다는 뜻이 아닙니다.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현재 탐사 방식</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서울시는 이미 GPR로 도로 아래를 탐사하고 있다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차량형 GPR로 넓게 선별하고 수동 GPR과 천공·내시경으로 확인합니다. GroundWatch는 이 체계를 보완합니다.</a:t>
            </a:r>
            <a:endParaRPr lang="en-US" sz="15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703320"/>
          </a:xfrm>
          <a:prstGeom prst="rect">
            <a:avLst/>
          </a:prstGeom>
        </p:spPr>
      </p:pic>
      <p:sp>
        <p:nvSpPr>
          <p:cNvPr id="6" name="Text 3"/>
          <p:cNvSpPr txBox="1"/>
          <p:nvPr/>
        </p:nvSpPr>
        <p:spPr>
          <a:xfrm>
            <a:off x="548640" y="5303520"/>
            <a:ext cx="4937760" cy="274320"/>
          </a:xfrm>
          <a:prstGeom prst="rect">
            <a:avLst/>
          </a:prstGeom>
          <a:noFill/>
          <a:ln/>
        </p:spPr>
        <p:txBody>
          <a:bodyPr wrap="square" lIns="0" tIns="0" rIns="0" bIns="0" rtlCol="0" anchor="ctr"/>
          <a:lstStyle/>
          <a:p>
            <a:pPr indent="0" marL="0">
              <a:buNone/>
            </a:pPr>
            <a:r>
              <a:rPr lang="en-US" sz="1200" dirty="0">
                <a:solidFill>
                  <a:srgbClr val="5B6573"/>
                </a:solidFill>
              </a:rPr>
              <a:t>수동(손수레형) GPR 실제 장비</a:t>
            </a:r>
            <a:endParaRPr lang="en-US" sz="120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서울시 GPR 도입 자료, 서울시 지반침하 예방체계 강화 보도자료, 경향신문 2025.10.19, 세이프타임즈. 사진: The Charles Machine Works, CC BY-SA 2.0, Wikimedia Commons</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B4232A"/>
            </a:solidFill>
          </a:ln>
        </p:spPr>
        <p:txBody>
          <a:bodyPr wrap="square" lIns="0" tIns="0" rIns="0" bIns="0" rtlCol="0" anchor="ctr"/>
          <a:lstStyle/>
          <a:p>
            <a:pPr algn="ctr" indent="0" marL="0">
              <a:buNone/>
            </a:pPr>
            <a:r>
              <a:rPr lang="en-US" sz="1300" b="1" dirty="0">
                <a:solidFill>
                  <a:srgbClr val="B4232A"/>
                </a:solidFill>
              </a:rPr>
              <a:t>현재 방식의 공백</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탐사와 탐사 사이, 지하의 변화는 기록되지 않는다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2024년 연희동 성산로는 5월 정기 GPR 탐사에서 공동이 발견되지 않았고, 8월 29일 도로가 함몰됐습니다.</a:t>
            </a:r>
            <a:endParaRPr lang="en-US" sz="15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pic>
        <p:nvPicPr>
          <p:cNvPr id="6"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7" name="Text 3"/>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8" name="keyMessage"/>
          <p:cNvSpPr txBox="1"/>
          <p:nvPr/>
        </p:nvSpPr>
        <p:spPr>
          <a:xfrm>
            <a:off x="2743200" y="3611880"/>
            <a:ext cx="3383280" cy="502920"/>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5월엔 없었고, 8월엔 무너졌습니다.</a:t>
            </a:r>
            <a:endParaRPr lang="en-US" sz="1400" dirty="0"/>
          </a:p>
        </p:txBody>
      </p:sp>
      <p:sp>
        <p:nvSpPr>
          <p:cNvPr id="9" name="rule"/>
          <p:cNvSpPr/>
          <p:nvPr/>
        </p:nvSpPr>
        <p:spPr>
          <a:xfrm>
            <a:off x="548640" y="4343400"/>
            <a:ext cx="2606040" cy="0"/>
          </a:xfrm>
          <a:prstGeom prst="line">
            <a:avLst/>
          </a:prstGeom>
          <a:noFill/>
          <a:ln w="12700">
            <a:solidFill>
              <a:srgbClr val="101828"/>
            </a:solidFill>
            <a:prstDash val="solid"/>
          </a:ln>
        </p:spPr>
      </p:sp>
      <p:sp>
        <p:nvSpPr>
          <p:cNvPr id="10" name="Text 6"/>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600" b="1" dirty="0">
                <a:solidFill>
                  <a:srgbClr val="101828"/>
                </a:solidFill>
              </a:rPr>
              <a:t>한 시점의 결과</a:t>
            </a:r>
            <a:endParaRPr lang="en-US" sz="1600" dirty="0"/>
          </a:p>
        </p:txBody>
      </p:sp>
      <p:sp>
        <p:nvSpPr>
          <p:cNvPr id="11" name="Text 7"/>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2" name="rule"/>
          <p:cNvSpPr/>
          <p:nvPr/>
        </p:nvSpPr>
        <p:spPr>
          <a:xfrm>
            <a:off x="3383280" y="4343400"/>
            <a:ext cx="2606040" cy="0"/>
          </a:xfrm>
          <a:prstGeom prst="line">
            <a:avLst/>
          </a:prstGeom>
          <a:noFill/>
          <a:ln w="12700">
            <a:solidFill>
              <a:srgbClr val="101828"/>
            </a:solidFill>
            <a:prstDash val="solid"/>
          </a:ln>
        </p:spPr>
      </p:sp>
      <p:sp>
        <p:nvSpPr>
          <p:cNvPr id="13" name="Text 9"/>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600" b="1" dirty="0">
                <a:solidFill>
                  <a:srgbClr val="101828"/>
                </a:solidFill>
              </a:rPr>
              <a:t>변화 추적</a:t>
            </a:r>
            <a:endParaRPr lang="en-US" sz="1600" dirty="0"/>
          </a:p>
        </p:txBody>
      </p:sp>
      <p:sp>
        <p:nvSpPr>
          <p:cNvPr id="14" name="Text 10"/>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5" name="rule"/>
          <p:cNvSpPr/>
          <p:nvPr/>
        </p:nvSpPr>
        <p:spPr>
          <a:xfrm>
            <a:off x="6217920" y="4343400"/>
            <a:ext cx="2606040" cy="0"/>
          </a:xfrm>
          <a:prstGeom prst="line">
            <a:avLst/>
          </a:prstGeom>
          <a:noFill/>
          <a:ln w="12700">
            <a:solidFill>
              <a:srgbClr val="101828"/>
            </a:solidFill>
            <a:prstDash val="solid"/>
          </a:ln>
        </p:spPr>
      </p:sp>
      <p:sp>
        <p:nvSpPr>
          <p:cNvPr id="16" name="Text 12"/>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600" b="1" dirty="0">
                <a:solidFill>
                  <a:srgbClr val="101828"/>
                </a:solidFill>
              </a:rPr>
              <a:t>다음 조사 순서</a:t>
            </a:r>
            <a:endParaRPr lang="en-US" sz="1600" dirty="0"/>
          </a:p>
        </p:txBody>
      </p:sp>
      <p:sp>
        <p:nvSpPr>
          <p:cNvPr id="17" name="Text 13"/>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8" name="rule"/>
          <p:cNvSpPr/>
          <p:nvPr/>
        </p:nvSpPr>
        <p:spPr>
          <a:xfrm>
            <a:off x="9052560" y="4343400"/>
            <a:ext cx="2606040" cy="0"/>
          </a:xfrm>
          <a:prstGeom prst="line">
            <a:avLst/>
          </a:prstGeom>
          <a:noFill/>
          <a:ln w="12700">
            <a:solidFill>
              <a:srgbClr val="101828"/>
            </a:solidFill>
            <a:prstDash val="solid"/>
          </a:ln>
        </p:spPr>
      </p:sp>
      <p:sp>
        <p:nvSpPr>
          <p:cNvPr id="19" name="Text 15"/>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600" b="1" dirty="0">
                <a:solidFill>
                  <a:srgbClr val="101828"/>
                </a:solidFill>
              </a:rPr>
              <a:t>같은 지점 찾기</a:t>
            </a:r>
            <a:endParaRPr lang="en-US" sz="1600" dirty="0"/>
          </a:p>
        </p:txBody>
      </p:sp>
      <p:sp>
        <p:nvSpPr>
          <p:cNvPr id="20" name="Text 16"/>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1" name="Text 17"/>
          <p:cNvSpPr txBox="1"/>
          <p:nvPr/>
        </p:nvSpPr>
        <p:spPr>
          <a:xfrm>
            <a:off x="548640" y="5897880"/>
            <a:ext cx="11094415"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뉴시스 2024.8.30(서울시 설명: 5.7~5.16 GPR 탐사차량 2대, 인력 16명 투입, 당시 빈 공간 미발견), 이투데이 2024.9. 연희동 함몰 규모는 공식 확인 전이라 쓰지 않았습니다. 사진: Famartin, CC BY-SA 4.0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솔루션 개요</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같은 길을 반복해서 보고, 달라진 곳만 다시 확인한다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순찰, 비교, 현장 재확인이 한 바퀴를 돌 때마다 같은 도로의 기록이 한 겹씩 쌓입니다.</a:t>
            </a:r>
            <a:endParaRPr lang="en-US" sz="1500" dirty="0"/>
          </a:p>
        </p:txBody>
      </p:sp>
      <p:pic>
        <p:nvPicPr>
          <p:cNvPr id="5" name="gw_front_n" descr="/Users/seohogyun/Documents/git_workspace/pv5-hose-lab/groundwatch/images/gw_front_n.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600" b="1" dirty="0">
                <a:solidFill>
                  <a:srgbClr val="101828"/>
                </a:solidFill>
              </a:rPr>
              <a:t>1  새벽 순찰</a:t>
            </a:r>
            <a:endParaRPr lang="en-US" sz="16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600" b="1" dirty="0">
                <a:solidFill>
                  <a:srgbClr val="101828"/>
                </a:solidFill>
              </a:rPr>
              <a:t>2  기록과 비교</a:t>
            </a:r>
            <a:endParaRPr lang="en-US" sz="16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600" b="1" dirty="0">
                <a:solidFill>
                  <a:srgbClr val="101828"/>
                </a:solidFill>
              </a:rPr>
              <a:t>3  현장 재확인</a:t>
            </a:r>
            <a:endParaRPr lang="en-US" sz="16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구성은 제안안이며 장비 사양과 통신 구조는 실증 단계에서 확정합니다. 사진: Alexander Migl, CC BY-SA 4.0, Wikimedia Commons</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11094415" cy="822960"/>
          </a:xfrm>
          <a:prstGeom prst="rect">
            <a:avLst/>
          </a:prstGeom>
          <a:noFill/>
          <a:ln/>
        </p:spPr>
        <p:txBody>
          <a:bodyPr wrap="square" lIns="0" tIns="0" rIns="0" bIns="0" rtlCol="0" anchor="ctr"/>
          <a:lstStyle/>
          <a:p>
            <a:pPr algn="ctr" indent="0" marL="0">
              <a:buNone/>
            </a:pPr>
            <a:r>
              <a:rPr lang="en-US" sz="3200" b="1" dirty="0">
                <a:solidFill>
                  <a:srgbClr val="FFFFFF"/>
                </a:solidFill>
                <a:latin typeface="Pretendard" pitchFamily="34" charset="0"/>
                <a:ea typeface="Pretendard" pitchFamily="34" charset="-122"/>
                <a:cs typeface="Pretendard" pitchFamily="34" charset="-120"/>
              </a:rPr>
              <a:t>PV5 GroundWatch</a:t>
            </a:r>
            <a:endParaRPr lang="en-US" sz="3200" dirty="0"/>
          </a:p>
        </p:txBody>
      </p:sp>
      <p:sp>
        <p:nvSpPr>
          <p:cNvPr id="3" name="sectionBand"/>
          <p:cNvSpPr/>
          <p:nvPr/>
        </p:nvSpPr>
        <p:spPr>
          <a:xfrm>
            <a:off x="3108960" y="1965960"/>
            <a:ext cx="5971032" cy="548640"/>
          </a:xfrm>
          <a:prstGeom prst="rect">
            <a:avLst/>
          </a:prstGeom>
          <a:solidFill>
            <a:srgbClr val="1A2E4F"/>
          </a:solidFill>
          <a:ln w="9525">
            <a:solidFill>
              <a:srgbClr val="3A5070"/>
            </a:solidFill>
            <a:prstDash val="solid"/>
          </a:ln>
        </p:spPr>
      </p:sp>
      <p:sp>
        <p:nvSpPr>
          <p:cNvPr id="4" name="Text 0"/>
          <p:cNvSpPr/>
          <p:nvPr>
            <p:ph idx="101" type="body" hasCustomPrompt="1"/>
          </p:nvPr>
        </p:nvSpPr>
        <p:spPr>
          <a:xfrm>
            <a:off x="3108960" y="1965960"/>
            <a:ext cx="5971032"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지금 바로 적용 가능한 운영 모델</a:t>
            </a:r>
            <a:endParaRPr lang="en-US" sz="1800" dirty="0"/>
          </a:p>
        </p:txBody>
      </p:sp>
      <p:pic>
        <p:nvPicPr>
          <p:cNvPr id="5" name="gw_rear_n_169" descr="/Users/seohogyun/Documents/git_workspace/pv5-hose-lab/groundwatch/images/gw_rear_n_169.jpg">    </p:cNvPr>
          <p:cNvPicPr>
            <a:picLocks noChangeAspect="1"/>
          </p:cNvPicPr>
          <p:nvPr/>
        </p:nvPicPr>
        <p:blipFill>
          <a:blip r:embed="rId1"/>
          <a:stretch>
            <a:fillRect/>
          </a:stretch>
        </p:blipFill>
        <p:spPr>
          <a:xfrm>
            <a:off x="1417320" y="3017520"/>
            <a:ext cx="4526280" cy="2542032"/>
          </a:xfrm>
          <a:prstGeom prst="rect">
            <a:avLst/>
          </a:prstGeom>
        </p:spPr>
      </p:pic>
      <p:pic>
        <p:nvPicPr>
          <p:cNvPr id="6" name="gw_front_169" descr="/Users/seohogyun/Documents/git_workspace/pv5-hose-lab/groundwatch/images/gw_front_169.jpg">    </p:cNvPr>
          <p:cNvPicPr>
            <a:picLocks noChangeAspect="1"/>
          </p:cNvPicPr>
          <p:nvPr/>
        </p:nvPicPr>
        <p:blipFill>
          <a:blip r:embed="rId2"/>
          <a:stretch>
            <a:fillRect/>
          </a:stretch>
        </p:blipFill>
        <p:spPr>
          <a:xfrm>
            <a:off x="6263640" y="3017520"/>
            <a:ext cx="4526280" cy="2542032"/>
          </a:xfrm>
          <a:prstGeom prst="rect">
            <a:avLst/>
          </a:prstGeom>
        </p:spPr>
      </p:pic>
      <p:sp>
        <p:nvSpPr>
          <p:cNvPr id="7" name="Text 3"/>
          <p:cNvSpPr txBox="1"/>
          <p:nvPr/>
        </p:nvSpPr>
        <p:spPr>
          <a:xfrm>
            <a:off x="1417320" y="5669280"/>
            <a:ext cx="4526280" cy="365760"/>
          </a:xfrm>
          <a:prstGeom prst="rect">
            <a:avLst/>
          </a:prstGeom>
          <a:noFill/>
          <a:ln/>
        </p:spPr>
        <p:txBody>
          <a:bodyPr wrap="square" lIns="0" tIns="0" rIns="0" bIns="0" rtlCol="0" anchor="ctr"/>
          <a:lstStyle/>
          <a:p>
            <a:pPr algn="ctr" indent="0" marL="0">
              <a:buNone/>
            </a:pPr>
            <a:r>
              <a:rPr lang="en-US" sz="1500" b="1" dirty="0">
                <a:solidFill>
                  <a:srgbClr val="FFFFFF"/>
                </a:solidFill>
              </a:rPr>
              <a:t>새벽 정기순찰</a:t>
            </a:r>
            <a:endParaRPr lang="en-US" sz="1500" dirty="0"/>
          </a:p>
        </p:txBody>
      </p:sp>
      <p:sp>
        <p:nvSpPr>
          <p:cNvPr id="8" name="Text 4"/>
          <p:cNvSpPr txBox="1"/>
          <p:nvPr/>
        </p:nvSpPr>
        <p:spPr>
          <a:xfrm>
            <a:off x="6263640" y="5669280"/>
            <a:ext cx="4526280" cy="365760"/>
          </a:xfrm>
          <a:prstGeom prst="rect">
            <a:avLst/>
          </a:prstGeom>
          <a:noFill/>
          <a:ln/>
        </p:spPr>
        <p:txBody>
          <a:bodyPr wrap="square" lIns="0" tIns="0" rIns="0" bIns="0" rtlCol="0" anchor="ctr"/>
          <a:lstStyle/>
          <a:p>
            <a:pPr algn="ctr" indent="0" marL="0">
              <a:buNone/>
            </a:pPr>
            <a:r>
              <a:rPr lang="en-US" sz="1500" b="1" dirty="0">
                <a:solidFill>
                  <a:srgbClr val="FFFFFF"/>
                </a:solidFill>
              </a:rPr>
              <a:t>PV5 이동형 탐사실</a:t>
            </a:r>
            <a:endParaRPr lang="en-US" sz="1500" dirty="0"/>
          </a:p>
        </p:txBody>
      </p:sp>
      <p:sp>
        <p:nvSpPr>
          <p:cNvPr id="9"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C9BB0"/>
                </a:solidFill>
              </a:rPr>
              <a:t>PV5 실차 사진(Alexander Migl, CC BY-SA 4.0) 위에 장비와 랩핑을 합성한 예상도</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#1 새벽 순찰</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교통량이 적은 시간에 도로 아래 변화를 기록합니다</a:t>
            </a:r>
            <a:endParaRPr lang="en-US" sz="1700" dirty="0"/>
          </a:p>
        </p:txBody>
      </p:sp>
      <p:sp>
        <p:nvSpPr>
          <p:cNvPr id="4" name="panel"/>
          <p:cNvSpPr/>
          <p:nvPr/>
        </p:nvSpPr>
        <p:spPr>
          <a:xfrm>
            <a:off x="0" y="960120"/>
            <a:ext cx="12191695" cy="5349240"/>
          </a:xfrm>
          <a:prstGeom prst="rect">
            <a:avLst/>
          </a:prstGeom>
          <a:solidFill>
            <a:srgbClr val="0A1628"/>
          </a:solidFill>
          <a:ln w="12700">
            <a:solidFill>
              <a:srgbClr val="0A1628"/>
            </a:solidFill>
            <a:prstDash val="solid"/>
          </a:ln>
        </p:spPr>
      </p:sp>
      <p:pic>
        <p:nvPicPr>
          <p:cNvPr id="5" name="gw_rear_n_169" descr="/Users/seohogyun/Documents/git_workspace/pv5-hose-lab/groundwatch/images/gw_rear_n_169.jpg">    </p:cNvPr>
          <p:cNvPicPr>
            <a:picLocks noChangeAspect="1"/>
          </p:cNvPicPr>
          <p:nvPr/>
        </p:nvPicPr>
        <p:blipFill>
          <a:blip r:embed="rId1"/>
          <a:stretch>
            <a:fillRect/>
          </a:stretch>
        </p:blipFill>
        <p:spPr>
          <a:xfrm>
            <a:off x="4572000" y="960120"/>
            <a:ext cx="7619695" cy="5349240"/>
          </a:xfrm>
          <a:prstGeom prst="rect">
            <a:avLst/>
          </a:prstGeom>
        </p:spPr>
      </p:pic>
      <p:sp>
        <p:nvSpPr>
          <p:cNvPr id="6" name="Text 3"/>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7"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8" name="Text 4"/>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9"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0" name="Text 5"/>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1"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2" name="Text 6"/>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3"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4" name="Text 7"/>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5" name="keyMessage"/>
          <p:cNvSpPr txBox="1"/>
          <p:nvPr/>
        </p:nvSpPr>
        <p:spPr>
          <a:xfrm>
            <a:off x="640080" y="5440680"/>
            <a:ext cx="3840480" cy="502920"/>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어제와 같은 길, 같은 장비, 같은 속도</a:t>
            </a:r>
            <a:endParaRPr lang="en-US" sz="1400" dirty="0"/>
          </a:p>
        </p:txBody>
      </p:sp>
      <p:sp>
        <p:nvSpPr>
          <p:cNvPr id="1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새벽 순찰 장착 예상도(PV5 실차 사진 Alexander Migl, CC BY-SA 4.0 위 합성). 저속 운행 시 실제 소음과 주행거리 영향은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#2 이동형 탐사실</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PV5는 센서 운반차가 아니라 이동형 탐사·분석·검증 플랫폼</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장비를 차량에 고정해 회차마다 같은 측정 환경을 유지하고, 차 안에서 분석하고, 내려서 검증합니다.</a:t>
            </a:r>
            <a:endParaRPr lang="en-US" sz="1500" dirty="0"/>
          </a:p>
        </p:txBody>
      </p:sp>
      <p:pic>
        <p:nvPicPr>
          <p:cNvPr id="5" name="gw_front" descr="/Users/seohogyun/Documents/git_workspace/pv5-hose-lab/groundwatch/images/gw_front.jpg">    </p:cNvPr>
          <p:cNvPicPr>
            <a:picLocks noChangeAspect="1"/>
          </p:cNvPicPr>
          <p:nvPr/>
        </p:nvPicPr>
        <p:blipFill>
          <a:blip r:embed="rId1"/>
          <a:stretch>
            <a:fillRect/>
          </a:stretch>
        </p:blipFill>
        <p:spPr>
          <a:xfrm>
            <a:off x="548640" y="1508760"/>
            <a:ext cx="6903720" cy="4599432"/>
          </a:xfrm>
          <a:prstGeom prst="rect">
            <a:avLst/>
          </a:prstGeom>
        </p:spPr>
      </p:pic>
      <p:sp>
        <p:nvSpPr>
          <p:cNvPr id="6" name="leader"/>
          <p:cNvSpPr/>
          <p:nvPr/>
        </p:nvSpPr>
        <p:spPr>
          <a:xfrm flipH="1" flipV="1">
            <a:off x="1975104" y="1783080"/>
            <a:ext cx="734400" cy="484586"/>
          </a:xfrm>
          <a:prstGeom prst="line">
            <a:avLst/>
          </a:prstGeom>
          <a:noFill/>
          <a:ln w="15875">
            <a:solidFill>
              <a:srgbClr val="F5B400"/>
            </a:solidFill>
            <a:prstDash val="solid"/>
          </a:ln>
        </p:spPr>
      </p:sp>
      <p:sp>
        <p:nvSpPr>
          <p:cNvPr id="7" name="pin"/>
          <p:cNvSpPr/>
          <p:nvPr/>
        </p:nvSpPr>
        <p:spPr>
          <a:xfrm>
            <a:off x="2636352" y="2194514"/>
            <a:ext cx="146304" cy="146304"/>
          </a:xfrm>
          <a:prstGeom prst="ellipse">
            <a:avLst/>
          </a:prstGeom>
          <a:solidFill>
            <a:srgbClr val="F5B400"/>
          </a:solidFill>
          <a:ln w="19050">
            <a:solidFill>
              <a:srgbClr val="FFFFFF"/>
            </a:solidFill>
            <a:prstDash val="solid"/>
          </a:ln>
        </p:spPr>
      </p:sp>
      <p:sp>
        <p:nvSpPr>
          <p:cNvPr id="8" name="calloutLabel"/>
          <p:cNvSpPr txBox="1"/>
          <p:nvPr/>
        </p:nvSpPr>
        <p:spPr>
          <a:xfrm>
            <a:off x="731520" y="1627632"/>
            <a:ext cx="1243584"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1  </a:t>
            </a:r>
            <a:pPr algn="l" indent="0" marL="0">
              <a:buNone/>
            </a:pPr>
            <a:r>
              <a:rPr lang="en-US" sz="1200" dirty="0">
                <a:solidFill>
                  <a:srgbClr val="FFFFFF"/>
                </a:solidFill>
              </a:rPr>
              <a:t>전방 카메라</a:t>
            </a:r>
            <a:endParaRPr lang="en-US" sz="1200" dirty="0"/>
          </a:p>
        </p:txBody>
      </p:sp>
      <p:sp>
        <p:nvSpPr>
          <p:cNvPr id="9" name="leader"/>
          <p:cNvSpPr/>
          <p:nvPr/>
        </p:nvSpPr>
        <p:spPr>
          <a:xfrm flipH="1" flipV="1">
            <a:off x="3982212" y="1783080"/>
            <a:ext cx="667238" cy="415595"/>
          </a:xfrm>
          <a:prstGeom prst="line">
            <a:avLst/>
          </a:prstGeom>
          <a:noFill/>
          <a:ln w="15875">
            <a:solidFill>
              <a:srgbClr val="F5B400"/>
            </a:solidFill>
            <a:prstDash val="solid"/>
          </a:ln>
        </p:spPr>
      </p:sp>
      <p:sp>
        <p:nvSpPr>
          <p:cNvPr id="10" name="pin"/>
          <p:cNvSpPr/>
          <p:nvPr/>
        </p:nvSpPr>
        <p:spPr>
          <a:xfrm>
            <a:off x="4576298" y="2125523"/>
            <a:ext cx="146304" cy="146304"/>
          </a:xfrm>
          <a:prstGeom prst="ellipse">
            <a:avLst/>
          </a:prstGeom>
          <a:solidFill>
            <a:srgbClr val="F5B400"/>
          </a:solidFill>
          <a:ln w="19050">
            <a:solidFill>
              <a:srgbClr val="FFFFFF"/>
            </a:solidFill>
            <a:prstDash val="solid"/>
          </a:ln>
        </p:spPr>
      </p:sp>
      <p:sp>
        <p:nvSpPr>
          <p:cNvPr id="11" name="calloutLabel"/>
          <p:cNvSpPr txBox="1"/>
          <p:nvPr/>
        </p:nvSpPr>
        <p:spPr>
          <a:xfrm>
            <a:off x="3108960" y="1627632"/>
            <a:ext cx="873252"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2  </a:t>
            </a:r>
            <a:pPr algn="l" indent="0" marL="0">
              <a:buNone/>
            </a:pPr>
            <a:r>
              <a:rPr lang="en-US" sz="1200" dirty="0">
                <a:solidFill>
                  <a:srgbClr val="FFFFFF"/>
                </a:solidFill>
              </a:rPr>
              <a:t>경광등</a:t>
            </a:r>
            <a:endParaRPr lang="en-US" sz="1200" dirty="0"/>
          </a:p>
        </p:txBody>
      </p:sp>
      <p:sp>
        <p:nvSpPr>
          <p:cNvPr id="12" name="leader"/>
          <p:cNvSpPr/>
          <p:nvPr/>
        </p:nvSpPr>
        <p:spPr>
          <a:xfrm flipV="1">
            <a:off x="6161364" y="1938528"/>
            <a:ext cx="914" cy="237150"/>
          </a:xfrm>
          <a:prstGeom prst="line">
            <a:avLst/>
          </a:prstGeom>
          <a:noFill/>
          <a:ln w="15875">
            <a:solidFill>
              <a:srgbClr val="F5B400"/>
            </a:solidFill>
            <a:prstDash val="solid"/>
          </a:ln>
        </p:spPr>
      </p:sp>
      <p:sp>
        <p:nvSpPr>
          <p:cNvPr id="13" name="pin"/>
          <p:cNvSpPr/>
          <p:nvPr/>
        </p:nvSpPr>
        <p:spPr>
          <a:xfrm>
            <a:off x="6088212" y="2102526"/>
            <a:ext cx="146304" cy="146304"/>
          </a:xfrm>
          <a:prstGeom prst="ellipse">
            <a:avLst/>
          </a:prstGeom>
          <a:solidFill>
            <a:srgbClr val="F5B400"/>
          </a:solidFill>
          <a:ln w="19050">
            <a:solidFill>
              <a:srgbClr val="FFFFFF"/>
            </a:solidFill>
            <a:prstDash val="solid"/>
          </a:ln>
        </p:spPr>
      </p:sp>
      <p:sp>
        <p:nvSpPr>
          <p:cNvPr id="14" name="calloutLabel"/>
          <p:cNvSpPr txBox="1"/>
          <p:nvPr/>
        </p:nvSpPr>
        <p:spPr>
          <a:xfrm>
            <a:off x="5074920" y="1627632"/>
            <a:ext cx="1984248"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3  </a:t>
            </a:r>
            <a:pPr algn="l" indent="0" marL="0">
              <a:buNone/>
            </a:pPr>
            <a:r>
              <a:rPr lang="en-US" sz="1200" dirty="0">
                <a:solidFill>
                  <a:srgbClr val="FFFFFF"/>
                </a:solidFill>
              </a:rPr>
              <a:t>RTK-GNSS 안테나</a:t>
            </a:r>
            <a:endParaRPr lang="en-US" sz="1200" dirty="0"/>
          </a:p>
        </p:txBody>
      </p:sp>
      <p:sp>
        <p:nvSpPr>
          <p:cNvPr id="15" name="leader"/>
          <p:cNvSpPr/>
          <p:nvPr/>
        </p:nvSpPr>
        <p:spPr>
          <a:xfrm flipV="1">
            <a:off x="2619756" y="2898648"/>
            <a:ext cx="914" cy="127925"/>
          </a:xfrm>
          <a:prstGeom prst="line">
            <a:avLst/>
          </a:prstGeom>
          <a:noFill/>
          <a:ln w="15875">
            <a:solidFill>
              <a:srgbClr val="F5B400"/>
            </a:solidFill>
            <a:prstDash val="solid"/>
          </a:ln>
        </p:spPr>
      </p:sp>
      <p:sp>
        <p:nvSpPr>
          <p:cNvPr id="16" name="pin"/>
          <p:cNvSpPr/>
          <p:nvPr/>
        </p:nvSpPr>
        <p:spPr>
          <a:xfrm>
            <a:off x="2546604" y="2953421"/>
            <a:ext cx="146304" cy="146304"/>
          </a:xfrm>
          <a:prstGeom prst="ellipse">
            <a:avLst/>
          </a:prstGeom>
          <a:solidFill>
            <a:srgbClr val="F5B400"/>
          </a:solidFill>
          <a:ln w="19050">
            <a:solidFill>
              <a:srgbClr val="FFFFFF"/>
            </a:solidFill>
            <a:prstDash val="solid"/>
          </a:ln>
        </p:spPr>
      </p:sp>
      <p:sp>
        <p:nvSpPr>
          <p:cNvPr id="17" name="calloutLabel"/>
          <p:cNvSpPr txBox="1"/>
          <p:nvPr/>
        </p:nvSpPr>
        <p:spPr>
          <a:xfrm>
            <a:off x="731520" y="2587752"/>
            <a:ext cx="2231136"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4  </a:t>
            </a:r>
            <a:pPr algn="l" indent="0" marL="0">
              <a:buNone/>
            </a:pPr>
            <a:r>
              <a:rPr lang="en-US" sz="1200" dirty="0">
                <a:solidFill>
                  <a:srgbClr val="FFFFFF"/>
                </a:solidFill>
              </a:rPr>
              <a:t>운전석 12.9인치 IVI</a:t>
            </a:r>
            <a:endParaRPr lang="en-US" sz="1200" dirty="0"/>
          </a:p>
        </p:txBody>
      </p:sp>
      <p:sp>
        <p:nvSpPr>
          <p:cNvPr id="18" name="leader"/>
          <p:cNvSpPr/>
          <p:nvPr/>
        </p:nvSpPr>
        <p:spPr>
          <a:xfrm>
            <a:off x="6416802" y="3670493"/>
            <a:ext cx="914" cy="517459"/>
          </a:xfrm>
          <a:prstGeom prst="line">
            <a:avLst/>
          </a:prstGeom>
          <a:noFill/>
          <a:ln w="15875">
            <a:solidFill>
              <a:srgbClr val="F5B400"/>
            </a:solidFill>
            <a:prstDash val="solid"/>
          </a:ln>
        </p:spPr>
      </p:sp>
      <p:sp>
        <p:nvSpPr>
          <p:cNvPr id="19" name="pin"/>
          <p:cNvSpPr/>
          <p:nvPr/>
        </p:nvSpPr>
        <p:spPr>
          <a:xfrm>
            <a:off x="6343650" y="3597341"/>
            <a:ext cx="146304" cy="146304"/>
          </a:xfrm>
          <a:prstGeom prst="ellipse">
            <a:avLst/>
          </a:prstGeom>
          <a:solidFill>
            <a:srgbClr val="F5B400"/>
          </a:solidFill>
          <a:ln w="19050">
            <a:solidFill>
              <a:srgbClr val="FFFFFF"/>
            </a:solidFill>
            <a:prstDash val="solid"/>
          </a:ln>
        </p:spPr>
      </p:sp>
      <p:sp>
        <p:nvSpPr>
          <p:cNvPr id="20" name="calloutLabel"/>
          <p:cNvSpPr txBox="1"/>
          <p:nvPr/>
        </p:nvSpPr>
        <p:spPr>
          <a:xfrm>
            <a:off x="4663440" y="4187952"/>
            <a:ext cx="2107692"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5  </a:t>
            </a:r>
            <a:pPr algn="l" indent="0" marL="0">
              <a:buNone/>
            </a:pPr>
            <a:r>
              <a:rPr lang="en-US" sz="1200" dirty="0">
                <a:solidFill>
                  <a:srgbClr val="FFFFFF"/>
                </a:solidFill>
              </a:rPr>
              <a:t>화물실 엣지·수동 GPR</a:t>
            </a:r>
            <a:endParaRPr lang="en-US" sz="1200" dirty="0"/>
          </a:p>
        </p:txBody>
      </p:sp>
      <p:sp>
        <p:nvSpPr>
          <p:cNvPr id="21" name="leader"/>
          <p:cNvSpPr/>
          <p:nvPr/>
        </p:nvSpPr>
        <p:spPr>
          <a:xfrm flipH="1">
            <a:off x="6771132" y="4636374"/>
            <a:ext cx="474116" cy="438546"/>
          </a:xfrm>
          <a:prstGeom prst="line">
            <a:avLst/>
          </a:prstGeom>
          <a:noFill/>
          <a:ln w="15875">
            <a:solidFill>
              <a:srgbClr val="F5B400"/>
            </a:solidFill>
            <a:prstDash val="solid"/>
          </a:ln>
        </p:spPr>
      </p:sp>
      <p:sp>
        <p:nvSpPr>
          <p:cNvPr id="22" name="pin"/>
          <p:cNvSpPr/>
          <p:nvPr/>
        </p:nvSpPr>
        <p:spPr>
          <a:xfrm>
            <a:off x="7172096" y="4563222"/>
            <a:ext cx="146304" cy="146304"/>
          </a:xfrm>
          <a:prstGeom prst="ellipse">
            <a:avLst/>
          </a:prstGeom>
          <a:solidFill>
            <a:srgbClr val="F5B400"/>
          </a:solidFill>
          <a:ln w="19050">
            <a:solidFill>
              <a:srgbClr val="FFFFFF"/>
            </a:solidFill>
            <a:prstDash val="solid"/>
          </a:ln>
        </p:spPr>
      </p:sp>
      <p:sp>
        <p:nvSpPr>
          <p:cNvPr id="23" name="calloutLabel"/>
          <p:cNvSpPr txBox="1"/>
          <p:nvPr/>
        </p:nvSpPr>
        <p:spPr>
          <a:xfrm>
            <a:off x="4663440" y="4919472"/>
            <a:ext cx="2107692" cy="310896"/>
          </a:xfrm>
          <a:prstGeom prst="rect">
            <a:avLst/>
          </a:prstGeom>
          <a:solidFill>
            <a:srgbClr val="0A1628">
              <a:alpha val="90000"/>
            </a:srgbClr>
          </a:solidFill>
          <a:ln>
            <a:solidFill>
              <a:srgbClr val="0A1628"/>
            </a:solidFill>
          </a:ln>
        </p:spPr>
        <p:txBody>
          <a:bodyPr wrap="square" lIns="50800" tIns="50800" rIns="50800" bIns="50800" rtlCol="0" anchor="ctr"/>
          <a:lstStyle/>
          <a:p>
            <a:pPr algn="l" indent="0" marL="0">
              <a:buNone/>
            </a:pPr>
            <a:r>
              <a:rPr lang="en-US" sz="1200" b="1" dirty="0">
                <a:solidFill>
                  <a:srgbClr val="F5B400"/>
                </a:solidFill>
              </a:rPr>
              <a:t>6  </a:t>
            </a:r>
            <a:pPr algn="l" indent="0" marL="0">
              <a:buNone/>
            </a:pPr>
            <a:r>
              <a:rPr lang="en-US" sz="1200" dirty="0">
                <a:solidFill>
                  <a:srgbClr val="FFFFFF"/>
                </a:solidFill>
              </a:rPr>
              <a:t>후방 하부 다채널 GPR</a:t>
            </a:r>
            <a:endParaRPr lang="en-US" sz="1200" dirty="0"/>
          </a:p>
        </p:txBody>
      </p:sp>
      <p:sp>
        <p:nvSpPr>
          <p:cNvPr id="24"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5" name="Text 22"/>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6" name="Text 23"/>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27"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28" name="Text 25"/>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29" name="Text 26"/>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0"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31" name="Text 28"/>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2" name="Text 29"/>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3"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4" name="Text 31"/>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5" name="Text 32"/>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6" name="rule"/>
          <p:cNvSpPr/>
          <p:nvPr/>
        </p:nvSpPr>
        <p:spPr>
          <a:xfrm>
            <a:off x="7726680" y="4526280"/>
            <a:ext cx="3913632" cy="0"/>
          </a:xfrm>
          <a:prstGeom prst="line">
            <a:avLst/>
          </a:prstGeom>
          <a:noFill/>
          <a:ln w="12700">
            <a:solidFill>
              <a:srgbClr val="DCE1E8"/>
            </a:solidFill>
            <a:prstDash val="solid"/>
          </a:ln>
        </p:spPr>
      </p:sp>
      <p:sp>
        <p:nvSpPr>
          <p:cNvPr id="37" name="Text 34"/>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38" name="Text 35"/>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39" name="Text 36"/>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0" name="Text 37"/>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1" name="Text 38"/>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2" name="Text 39"/>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3" name="Text 40"/>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기아 PV5 카고 제원과 특징, 현대차그룹 「PV5의 모든 것」. 장비 위치는 제안안입니다. 사진: Alexander Migl, CC BY-SA 4.0(장비·랩핑 합성 예상도)</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#3 4D 변화지도</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실제로 달린 도로만, 위치·깊이·시간으로 기록합니다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서울 전체의 완성된 지하지도가 아닙니다. PV5가 측정한 도로를 X·Y 위치, Z 깊이, T 시간으로 쌓은 기록입니다.</a:t>
            </a:r>
            <a:endParaRPr lang="en-US" sz="15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55556"/>
            <a:ext cx="7543800" cy="3993776"/>
          </a:xfrm>
          <a:prstGeom prst="rect">
            <a:avLst/>
          </a:prstGeom>
        </p:spPr>
      </p:pic>
      <p:sp>
        <p:nvSpPr>
          <p:cNvPr id="6" name="Text 3"/>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7" name="Text 4"/>
          <p:cNvSpPr txBox="1"/>
          <p:nvPr/>
        </p:nvSpPr>
        <p:spPr>
          <a:xfrm>
            <a:off x="8366760" y="1965960"/>
            <a:ext cx="3273552" cy="2103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5B6573"/>
                </a:solidFill>
              </a:rPr>
              <a:t>마지막 조사일과 반복 조사 횟수</a:t>
            </a:r>
            <a:endParaRPr lang="en-US" sz="1400" dirty="0"/>
          </a:p>
          <a:p>
            <a:pPr marL="342900" indent="-342900">
              <a:spcAft>
                <a:spcPts val="600"/>
              </a:spcAft>
              <a:buSzPct val="100000"/>
              <a:buChar char="•"/>
            </a:pPr>
            <a:r>
              <a:rPr lang="en-US" sz="1400" dirty="0">
                <a:solidFill>
                  <a:srgbClr val="5B6573"/>
                </a:solidFill>
              </a:rPr>
              <a:t>탐사 가능 깊이와 이상 신호 추정 깊이</a:t>
            </a:r>
            <a:endParaRPr lang="en-US" sz="1400" dirty="0"/>
          </a:p>
          <a:p>
            <a:pPr marL="342900" indent="-342900">
              <a:spcAft>
                <a:spcPts val="600"/>
              </a:spcAft>
              <a:buSzPct val="100000"/>
              <a:buChar char="•"/>
            </a:pPr>
            <a:r>
              <a:rPr lang="en-US" sz="1400" dirty="0">
                <a:solidFill>
                  <a:srgbClr val="5B6573"/>
                </a:solidFill>
              </a:rPr>
              <a:t>이전 회차 대비 변화량</a:t>
            </a:r>
            <a:endParaRPr lang="en-US" sz="1400" dirty="0"/>
          </a:p>
          <a:p>
            <a:pPr marL="342900" indent="-342900">
              <a:spcAft>
                <a:spcPts val="600"/>
              </a:spcAft>
              <a:buSzPct val="100000"/>
              <a:buChar char="•"/>
            </a:pPr>
            <a:r>
              <a:rPr lang="en-US" sz="1400" dirty="0">
                <a:solidFill>
                  <a:srgbClr val="5B6573"/>
                </a:solidFill>
              </a:rPr>
              <a:t>AI 위험점수, 신뢰도, 위치 오차</a:t>
            </a:r>
            <a:endParaRPr lang="en-US" sz="1400" dirty="0"/>
          </a:p>
          <a:p>
            <a:pPr marL="342900" indent="-342900">
              <a:spcAft>
                <a:spcPts val="600"/>
              </a:spcAft>
              <a:buSzPct val="100000"/>
              <a:buChar char="•"/>
            </a:pPr>
            <a:r>
              <a:rPr lang="en-US" sz="1400" dirty="0">
                <a:solidFill>
                  <a:srgbClr val="5B6573"/>
                </a:solidFill>
              </a:rPr>
              <a:t>전문가 검토와 정밀조사 결과</a:t>
            </a:r>
            <a:endParaRPr lang="en-US" sz="1400" dirty="0"/>
          </a:p>
          <a:p>
            <a:pPr marL="342900" indent="-342900">
              <a:spcAft>
                <a:spcPts val="600"/>
              </a:spcAft>
              <a:buSzPct val="100000"/>
              <a:buChar char="•"/>
            </a:pPr>
            <a:r>
              <a:rPr lang="en-US" sz="1400" dirty="0">
                <a:solidFill>
                  <a:srgbClr val="5B6573"/>
                </a:solidFill>
              </a:rPr>
              <a:t>보수 완료 여부</a:t>
            </a:r>
            <a:endParaRPr lang="en-US" sz="1400" dirty="0"/>
          </a:p>
        </p:txBody>
      </p:sp>
      <p:sp>
        <p:nvSpPr>
          <p:cNvPr id="8" name="keyMessage"/>
          <p:cNvSpPr txBox="1"/>
          <p:nvPr/>
        </p:nvSpPr>
        <p:spPr>
          <a:xfrm>
            <a:off x="8366760" y="4251960"/>
            <a:ext cx="3273552" cy="777240"/>
          </a:xfrm>
          <a:prstGeom prst="rect">
            <a:avLst/>
          </a:prstGeom>
          <a:solidFill>
            <a:srgbClr val="F2F4F7"/>
          </a:solidFill>
          <a:ln w="9525">
            <a:solidFill>
              <a:srgbClr val="DCE1E8"/>
            </a:solidFill>
          </a:ln>
        </p:spPr>
        <p:txBody>
          <a:bodyPr wrap="square" lIns="127000" tIns="127000" rIns="127000" bIns="127000" rtlCol="0" anchor="ctr"/>
          <a:lstStyle/>
          <a:p>
            <a:pPr algn="l" indent="0" marL="0">
              <a:buNone/>
            </a:pPr>
            <a:r>
              <a:rPr lang="en-US" sz="1400" b="1" dirty="0">
                <a:solidFill>
                  <a:srgbClr val="101828"/>
                </a:solidFill>
              </a:rPr>
              <a:t>지난 조사보다 이상 반사 면적이 17% 늘었습니다</a:t>
            </a:r>
            <a:endParaRPr lang="en-US" sz="1400" dirty="0"/>
          </a:p>
        </p:txBody>
      </p:sp>
      <p:sp>
        <p:nvSpPr>
          <p:cNvPr id="9" name="Text 6"/>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0" name="Text 7"/>
          <p:cNvSpPr txBox="1"/>
          <p:nvPr/>
        </p:nvSpPr>
        <p:spPr>
          <a:xfrm>
            <a:off x="548640" y="5669280"/>
            <a:ext cx="11094415" cy="594360"/>
          </a:xfrm>
          <a:prstGeom prst="rect">
            <a:avLst/>
          </a:prstGeom>
          <a:noFill/>
          <a:ln/>
        </p:spPr>
        <p:txBody>
          <a:bodyPr wrap="square" lIns="0" tIns="0" rIns="0" bIns="0" rtlCol="0" anchor="t"/>
          <a:lstStyle/>
          <a:p>
            <a:pPr indent="0" marL="0">
              <a:buNone/>
            </a:pPr>
            <a:r>
              <a:rPr lang="en-US" sz="14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400" dirty="0"/>
          </a:p>
        </p:txBody>
      </p:sp>
      <p:sp>
        <p:nvSpPr>
          <p:cNvPr id="11"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목업 화면. 회색 미조사, 초록 변화 없음, 노랑 새 이상 신호, 주황 확대 의심, 빨강 정밀 재탐사, 점선 신뢰도 낮음</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#4 AI 변화 감지</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AI는 공동을 확정하지 않고, 달라진 곳의 검토 순서를 정합니다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같은 위치의 이전 회차와 현재 회차 GPR 신호를 비교해, 새로 생기거나 커진 신호를 먼저 찾습니다.</a:t>
            </a:r>
            <a:endParaRPr lang="en-US" sz="15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pic>
        <p:nvPicPr>
          <p:cNvPr id="6" name="surface_crack" descr="/Users/seohogyun/Documents/git_workspace/pv5-hose-lab/groundwatch/images/surface_crack.png">    </p:cNvPr>
          <p:cNvPicPr>
            <a:picLocks noChangeAspect="1"/>
          </p:cNvPicPr>
          <p:nvPr/>
        </p:nvPicPr>
        <p:blipFill>
          <a:blip r:embed="rId2"/>
          <a:stretch>
            <a:fillRect/>
          </a:stretch>
        </p:blipFill>
        <p:spPr>
          <a:xfrm>
            <a:off x="8412480" y="1555394"/>
            <a:ext cx="3227832" cy="1936699"/>
          </a:xfrm>
          <a:prstGeom prst="rect">
            <a:avLst/>
          </a:prstGeom>
        </p:spPr>
      </p:pic>
      <p:sp>
        <p:nvSpPr>
          <p:cNvPr id="7" name="Text 3"/>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8" name="rule"/>
          <p:cNvSpPr/>
          <p:nvPr/>
        </p:nvSpPr>
        <p:spPr>
          <a:xfrm>
            <a:off x="548640" y="4434840"/>
            <a:ext cx="11094415" cy="0"/>
          </a:xfrm>
          <a:prstGeom prst="line">
            <a:avLst/>
          </a:prstGeom>
          <a:noFill/>
          <a:ln w="12700">
            <a:solidFill>
              <a:srgbClr val="DCE1E8"/>
            </a:solidFill>
            <a:prstDash val="solid"/>
          </a:ln>
        </p:spPr>
      </p:sp>
      <p:sp>
        <p:nvSpPr>
          <p:cNvPr id="9" name="Text 5"/>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0" name="Text 6"/>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1" name="Text 7"/>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2" name="Text 8"/>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3"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4"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5" name="Text 10"/>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참고: 3D GPR 딥러닝 공동 탐지 연구. 탐지율과 오탐률은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#5 재확인 포인트</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전문가가 승인한 지점만 다음 순찰의 재확인 업무가 됩니다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‘전날과 다음날’이 아니라 ‘이전 탐사 회차와 다음 탐사 회차’를 기준으로 관리합니다.</a:t>
            </a:r>
            <a:endParaRPr lang="en-US" sz="15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600" b="1" dirty="0">
                <a:solidFill>
                  <a:srgbClr val="101828"/>
                </a:solidFill>
              </a:rPr>
              <a:t>AI 후보 등록</a:t>
            </a:r>
            <a:endParaRPr lang="en-US" sz="16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600" b="1" dirty="0">
                <a:solidFill>
                  <a:srgbClr val="101828"/>
                </a:solidFill>
              </a:rPr>
              <a:t>전문가 검토</a:t>
            </a:r>
            <a:endParaRPr lang="en-US" sz="16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600" b="1" dirty="0">
                <a:solidFill>
                  <a:srgbClr val="101828"/>
                </a:solidFill>
              </a:rPr>
              <a:t>재확인 대기열</a:t>
            </a:r>
            <a:endParaRPr lang="en-US" sz="16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600" b="1" dirty="0">
                <a:solidFill>
                  <a:srgbClr val="101828"/>
                </a:solidFill>
              </a:rPr>
              <a:t>다음 순찰 업무</a:t>
            </a:r>
            <a:endParaRPr lang="en-US" sz="16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대기열 항목과 등급은 설명용 예시입니다.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#6 Patrol 앱</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PV5의 디스플레이가 새벽 순찰의 업무 화면이 된다</a:t>
            </a:r>
            <a:endParaRPr lang="en-US" sz="1700" dirty="0"/>
          </a:p>
        </p:txBody>
      </p:sp>
      <p:sp>
        <p:nvSpPr>
          <p:cNvPr id="4" name="lead"/>
          <p:cNvSpPr txBox="1"/>
          <p:nvPr/>
        </p:nvSpPr>
        <p:spPr>
          <a:xfrm>
            <a:off x="548640" y="987552"/>
            <a:ext cx="11094415" cy="548640"/>
          </a:xfrm>
          <a:prstGeom prst="rect">
            <a:avLst/>
          </a:prstGeom>
          <a:noFill/>
          <a:ln/>
        </p:spPr>
        <p:txBody>
          <a:bodyPr wrap="square" lIns="0" tIns="0" rIns="0" bIns="0" rtlCol="0" anchor="t"/>
          <a:lstStyle/>
          <a:p>
            <a:pPr indent="0" marL="0">
              <a:buNone/>
            </a:pPr>
            <a:r>
              <a:rPr lang="en-US" sz="1500" dirty="0">
                <a:solidFill>
                  <a:srgbClr val="5B6573"/>
                </a:solidFill>
              </a:rPr>
              <a:t>PV5는 Android Automotive OS 기반 PBV 전용 인포테인먼트와 Pleos App Market을 지원합니다. GroundWatch Patrol은 이 환경의 B2B 업무용 앱을 목표로 합니다.</a:t>
            </a:r>
            <a:endParaRPr lang="en-US" sz="1500" dirty="0"/>
          </a:p>
        </p:txBody>
      </p:sp>
      <p:pic>
        <p:nvPicPr>
          <p:cNvPr id="5" name="ivi_pre" descr="/Users/seohogyun/Documents/git_workspace/pv5-hose-lab/groundwatch/images/ivi_pr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Kia PBV IVI·App Market(AAOS 기반, 개발 목표 고지), 기아 PBV 소프트웨어 솔루션(준비 중인 솔루션, 내용 변경 가능). 화면은 목업입니다.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#7 SW 브리지</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차량 앱과 엣지 게이트웨이가 AR 글래스에 작업정보를 전달한다</a:t>
            </a:r>
            <a:endParaRPr lang="en-US" sz="1700" dirty="0"/>
          </a:p>
        </p:txBody>
      </p:sp>
      <p:sp>
        <p:nvSpPr>
          <p:cNvPr id="4" name="lead"/>
          <p:cNvSpPr txBox="1"/>
          <p:nvPr/>
        </p:nvSpPr>
        <p:spPr>
          <a:xfrm>
            <a:off x="548640" y="987552"/>
            <a:ext cx="11094415" cy="548640"/>
          </a:xfrm>
          <a:prstGeom prst="rect">
            <a:avLst/>
          </a:prstGeom>
          <a:noFill/>
          <a:ln/>
        </p:spPr>
        <p:txBody>
          <a:bodyPr wrap="square" lIns="0" tIns="0" rIns="0" bIns="0" rtlCol="0" anchor="t"/>
          <a:lstStyle/>
          <a:p>
            <a:pPr indent="0" marL="0">
              <a:buNone/>
            </a:pPr>
            <a:r>
              <a:rPr lang="en-US" sz="1500" dirty="0">
                <a:solidFill>
                  <a:srgbClr val="5B6573"/>
                </a:solidFill>
              </a:rPr>
              <a:t>AR 글래스는 차량 화면의 미러링이 아닙니다. 역할을 나눠 두면 차량 API가 일부 막혀도 GPR과 AR 기능은 멈추지 않습니다.</a:t>
            </a:r>
            <a:endParaRPr lang="en-US" sz="15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600" b="1" dirty="0">
                <a:solidFill>
                  <a:srgbClr val="101828"/>
                </a:solidFill>
              </a:rPr>
              <a:t>글래스로 보내는 정보</a:t>
            </a:r>
            <a:endParaRPr lang="en-US" sz="16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600" b="1" dirty="0">
                <a:solidFill>
                  <a:srgbClr val="101828"/>
                </a:solidFill>
              </a:rPr>
              <a:t>글래스가 돌려보내는 정보</a:t>
            </a:r>
            <a:endParaRPr lang="en-US" sz="16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600" b="1" dirty="0">
                <a:solidFill>
                  <a:srgbClr val="101828"/>
                </a:solidFill>
              </a:rPr>
              <a:t>통신 원칙</a:t>
            </a:r>
            <a:endParaRPr lang="en-US" sz="16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통신 구조는 제안안입니다. 통신 지연과 끊김 시 동작은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#8 AR 위치 보정</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작업자는 고정된 기준점을 인식해 지하 데이터의 위치를 맞춘다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AR 글래스는 PV5가 안전하게 정차하고 작업자가 내린 뒤에만 켭니다. 운전자는 주행 중 착용하지 않습니다.</a:t>
            </a:r>
            <a:endParaRPr lang="en-US" sz="15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8"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6"/>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0"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8"/>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2"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0"/>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4"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2"/>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6"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4"/>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8"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6"/>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0" name="keyMessage"/>
          <p:cNvSpPr txBox="1"/>
          <p:nvPr/>
        </p:nvSpPr>
        <p:spPr>
          <a:xfrm>
            <a:off x="548640" y="5577840"/>
            <a:ext cx="6400800" cy="548640"/>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맨홀 하나로 확정하지 않고, 기준점 2~3개를 결합합니다</a:t>
            </a:r>
            <a:endParaRPr lang="en-US" sz="1400" dirty="0"/>
          </a:p>
        </p:txBody>
      </p:sp>
      <p:sp>
        <p:nvSpPr>
          <p:cNvPr id="21" name="Text 18"/>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AR 화면은 실사 위에 합성한 목업입니다. 위치 오차 기준과 야간 인식 성능은 [실증 필요]. 사진: PattayaPatrol, CC BY-SA 4.0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#9 AR 재탐사</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AR이 표시한 검색 범위를 따라 양손으로 수동 GPR을 조작한다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AR은 공동의 실제 모양이 아니라, AI가 지정한 재탐사 검색 범위를 도로 위에 맞춰 보여줍니다.</a:t>
            </a:r>
            <a:endParaRPr lang="en-US" sz="15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Text 3"/>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7" name="Text 4"/>
          <p:cNvSpPr txBox="1"/>
          <p:nvPr/>
        </p:nvSpPr>
        <p:spPr>
          <a:xfrm>
            <a:off x="8092440" y="1938528"/>
            <a:ext cx="3547872" cy="13716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5B6573"/>
                </a:solidFill>
              </a:rPr>
              <a:t>탐사 시작점과 종료점</a:t>
            </a:r>
            <a:endParaRPr lang="en-US" sz="1400" dirty="0"/>
          </a:p>
          <a:p>
            <a:pPr marL="342900" indent="-342900">
              <a:spcAft>
                <a:spcPts val="500"/>
              </a:spcAft>
              <a:buSzPct val="100000"/>
              <a:buChar char="•"/>
            </a:pPr>
            <a:r>
              <a:rPr lang="en-US" sz="1400" dirty="0">
                <a:solidFill>
                  <a:srgbClr val="5B6573"/>
                </a:solidFill>
              </a:rPr>
              <a:t>진행 방향과 반복 횟수</a:t>
            </a:r>
            <a:endParaRPr lang="en-US" sz="1400" dirty="0"/>
          </a:p>
          <a:p>
            <a:pPr marL="342900" indent="-342900">
              <a:spcAft>
                <a:spcPts val="500"/>
              </a:spcAft>
              <a:buSzPct val="100000"/>
              <a:buChar char="•"/>
            </a:pPr>
            <a:r>
              <a:rPr lang="en-US" sz="1400" dirty="0">
                <a:solidFill>
                  <a:srgbClr val="5B6573"/>
                </a:solidFill>
              </a:rPr>
              <a:t>추정 깊이와 이전 대비 변화량</a:t>
            </a:r>
            <a:endParaRPr lang="en-US" sz="1400" dirty="0"/>
          </a:p>
          <a:p>
            <a:pPr marL="342900" indent="-342900">
              <a:spcAft>
                <a:spcPts val="500"/>
              </a:spcAft>
              <a:buSzPct val="100000"/>
              <a:buChar char="•"/>
            </a:pPr>
            <a:r>
              <a:rPr lang="en-US" sz="1400" dirty="0">
                <a:solidFill>
                  <a:srgbClr val="5B6573"/>
                </a:solidFill>
              </a:rPr>
              <a:t>위치 오차와 AI 신뢰도</a:t>
            </a:r>
            <a:endParaRPr lang="en-US" sz="1400" dirty="0"/>
          </a:p>
        </p:txBody>
      </p:sp>
      <p:pic>
        <p:nvPicPr>
          <p:cNvPr id="8"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9" name="Text 5"/>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0" name="Text 6"/>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1" name="keyMessage"/>
          <p:cNvSpPr txBox="1"/>
          <p:nvPr/>
        </p:nvSpPr>
        <p:spPr>
          <a:xfrm>
            <a:off x="548640" y="5577840"/>
            <a:ext cx="3291840" cy="594360"/>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두 손은 장비에, 눈은 도로에</a:t>
            </a:r>
            <a:endParaRPr lang="en-US" sz="1400" dirty="0"/>
          </a:p>
        </p:txBody>
      </p:sp>
      <p:sp>
        <p:nvSpPr>
          <p:cNvPr id="12" name="Text 8"/>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실사 위 합성 목업, 수치는 설명용 예시입니다. 검색 범위는 공동의 모양이 아니라 재탐사 영역입니다. 사진: PattayaPatrol, CC BY-SA 4.0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#10 교차검증</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넓게 선별하고, 좁게 다른 방향으로 다시 본다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수동 GPR이 차량형보다 늘 더 깊게 보는 것은 아닙니다. 두 장비는 역할이 다릅니다.</a:t>
            </a:r>
            <a:endParaRPr lang="en-US" sz="15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7" name="Text 4"/>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600" b="1" dirty="0">
                <a:solidFill>
                  <a:srgbClr val="101828"/>
                </a:solidFill>
              </a:rPr>
              <a:t>차량형 다채널 GPR</a:t>
            </a:r>
            <a:endParaRPr lang="en-US" sz="1600" dirty="0"/>
          </a:p>
        </p:txBody>
      </p:sp>
      <p:sp>
        <p:nvSpPr>
          <p:cNvPr id="8" name="Text 5"/>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9"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0" name="Text 7"/>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600" b="1" dirty="0">
                <a:solidFill>
                  <a:srgbClr val="101828"/>
                </a:solidFill>
              </a:rPr>
              <a:t>지면 밀착형 수동 GPR</a:t>
            </a:r>
            <a:endParaRPr lang="en-US" sz="1600" dirty="0"/>
          </a:p>
        </p:txBody>
      </p:sp>
      <p:sp>
        <p:nvSpPr>
          <p:cNvPr id="11" name="Text 8"/>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2"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3" name="Text 10"/>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600" b="1" dirty="0">
                <a:solidFill>
                  <a:srgbClr val="101828"/>
                </a:solidFill>
              </a:rPr>
              <a:t>내시경</a:t>
            </a:r>
            <a:endParaRPr lang="en-US" sz="1600" dirty="0"/>
          </a:p>
        </p:txBody>
      </p:sp>
      <p:sp>
        <p:nvSpPr>
          <p:cNvPr id="14" name="Text 11"/>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5" name="rule"/>
          <p:cNvSpPr/>
          <p:nvPr/>
        </p:nvSpPr>
        <p:spPr>
          <a:xfrm>
            <a:off x="548640" y="4937760"/>
            <a:ext cx="11094415" cy="0"/>
          </a:xfrm>
          <a:prstGeom prst="line">
            <a:avLst/>
          </a:prstGeom>
          <a:noFill/>
          <a:ln w="12700">
            <a:solidFill>
              <a:srgbClr val="DCE1E8"/>
            </a:solidFill>
            <a:prstDash val="solid"/>
          </a:ln>
        </p:spPr>
      </p:sp>
      <p:sp>
        <p:nvSpPr>
          <p:cNvPr id="16" name="Text 13"/>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7" name="Text 14"/>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8" name="Text 15"/>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19" name="keyMessage"/>
          <p:cNvSpPr txBox="1"/>
          <p:nvPr/>
        </p:nvSpPr>
        <p:spPr>
          <a:xfrm>
            <a:off x="548640" y="5623560"/>
            <a:ext cx="6400800" cy="566928"/>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다른 각도로 한 번 더 본 결과만 정밀조사 요청으로 올라갑니다</a:t>
            </a:r>
            <a:endParaRPr lang="en-US" sz="1400" dirty="0"/>
          </a:p>
        </p:txBody>
      </p:sp>
      <p:sp>
        <p:nvSpPr>
          <p:cNvPr id="20"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참고: FHWA GPR 기술 설명(다중·스텝 주파수 안테나). 교차검증 효과는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#11 결과 저장</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확인 결과는 지도와 AI로 돌아가 다음 판단을 더 정확하게 만든다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천공과 내시경은 관계기관 승인과 교통통제 뒤에만 합니다. 내시경만으로 차량이 공동을 바로 확정하지 않습니다.</a:t>
            </a:r>
            <a:endParaRPr lang="en-US" sz="15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342900" indent="-3429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342900" indent="-342900">
              <a:spcAft>
                <a:spcPts val="600"/>
              </a:spcAft>
              <a:buSzPct val="100000"/>
              <a:buChar char="•"/>
            </a:pPr>
            <a:r>
              <a:rPr lang="en-US" sz="1400" dirty="0">
                <a:solidFill>
                  <a:srgbClr val="FFFFFF"/>
                </a:solidFill>
              </a:rPr>
              <a:t>오탐과 미탐 사례로 AI 성능을 점검하고 고칩니다</a:t>
            </a:r>
            <a:endParaRPr lang="en-US" sz="1400" dirty="0"/>
          </a:p>
          <a:p>
            <a:pPr marL="342900" indent="-3429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일반적인 공동 확인 흐름을 바탕으로 한 제안안입니다. 실제 승인 절차는 관할 기관 기준을 따릅니다. 사진: Famartin, CC BY-SA 4.0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11094415" cy="822960"/>
          </a:xfrm>
          <a:prstGeom prst="rect">
            <a:avLst/>
          </a:prstGeom>
          <a:noFill/>
          <a:ln/>
        </p:spPr>
        <p:txBody>
          <a:bodyPr wrap="square" lIns="0" tIns="0" rIns="0" bIns="0" rtlCol="0" anchor="ctr"/>
          <a:lstStyle/>
          <a:p>
            <a:pPr algn="ctr" indent="0" marL="0">
              <a:buNone/>
            </a:pPr>
            <a:r>
              <a:rPr lang="en-US" sz="3200" b="1" dirty="0">
                <a:solidFill>
                  <a:srgbClr val="FFFFFF"/>
                </a:solidFill>
                <a:latin typeface="Pretendard" pitchFamily="34" charset="0"/>
                <a:ea typeface="Pretendard" pitchFamily="34" charset="-122"/>
                <a:cs typeface="Pretendard" pitchFamily="34" charset="-120"/>
              </a:rPr>
              <a:t>PV5 GroundWatch</a:t>
            </a:r>
            <a:endParaRPr lang="en-US" sz="3200" dirty="0"/>
          </a:p>
        </p:txBody>
      </p:sp>
      <p:sp>
        <p:nvSpPr>
          <p:cNvPr id="3" name="sectionBand"/>
          <p:cNvSpPr/>
          <p:nvPr/>
        </p:nvSpPr>
        <p:spPr>
          <a:xfrm>
            <a:off x="3108960" y="1965960"/>
            <a:ext cx="5971032" cy="548640"/>
          </a:xfrm>
          <a:prstGeom prst="rect">
            <a:avLst/>
          </a:prstGeom>
          <a:solidFill>
            <a:srgbClr val="1A2E4F"/>
          </a:solidFill>
          <a:ln w="9525">
            <a:solidFill>
              <a:srgbClr val="3A5070"/>
            </a:solidFill>
            <a:prstDash val="solid"/>
          </a:ln>
        </p:spPr>
      </p:sp>
      <p:sp>
        <p:nvSpPr>
          <p:cNvPr id="4" name="Text 0"/>
          <p:cNvSpPr/>
          <p:nvPr>
            <p:ph idx="101" type="body" hasCustomPrompt="1"/>
          </p:nvPr>
        </p:nvSpPr>
        <p:spPr>
          <a:xfrm>
            <a:off x="3108960" y="1965960"/>
            <a:ext cx="5971032"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도시 지하 안전망으로의 확장</a:t>
            </a:r>
            <a:endParaRPr lang="en-US" sz="18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1417320" y="3017520"/>
            <a:ext cx="4526280" cy="2542032"/>
          </a:xfrm>
          <a:prstGeom prst="rect">
            <a:avLst/>
          </a:prstGeom>
        </p:spPr>
      </p:pic>
      <p:pic>
        <p:nvPicPr>
          <p:cNvPr id="6" name="twin" descr="/Users/seohogyun/Documents/git_workspace/pv5-hose-lab/groundwatch/images/twin.png">    </p:cNvPr>
          <p:cNvPicPr>
            <a:picLocks noChangeAspect="1"/>
          </p:cNvPicPr>
          <p:nvPr/>
        </p:nvPicPr>
        <p:blipFill>
          <a:blip r:embed="rId2"/>
          <a:stretch>
            <a:fillRect/>
          </a:stretch>
        </p:blipFill>
        <p:spPr>
          <a:xfrm>
            <a:off x="6263640" y="3017520"/>
            <a:ext cx="4526280" cy="2542032"/>
          </a:xfrm>
          <a:prstGeom prst="rect">
            <a:avLst/>
          </a:prstGeom>
        </p:spPr>
      </p:pic>
      <p:sp>
        <p:nvSpPr>
          <p:cNvPr id="7" name="Text 3"/>
          <p:cNvSpPr txBox="1"/>
          <p:nvPr/>
        </p:nvSpPr>
        <p:spPr>
          <a:xfrm>
            <a:off x="1417320" y="5669280"/>
            <a:ext cx="4526280" cy="365760"/>
          </a:xfrm>
          <a:prstGeom prst="rect">
            <a:avLst/>
          </a:prstGeom>
          <a:noFill/>
          <a:ln/>
        </p:spPr>
        <p:txBody>
          <a:bodyPr wrap="square" lIns="0" tIns="0" rIns="0" bIns="0" rtlCol="0" anchor="ctr"/>
          <a:lstStyle/>
          <a:p>
            <a:pPr algn="ctr" indent="0" marL="0">
              <a:buNone/>
            </a:pPr>
            <a:r>
              <a:rPr lang="en-US" sz="1500" b="1" dirty="0">
                <a:solidFill>
                  <a:srgbClr val="FFFFFF"/>
                </a:solidFill>
              </a:rPr>
              <a:t>위험도별 순찰망</a:t>
            </a:r>
            <a:endParaRPr lang="en-US" sz="1500" dirty="0"/>
          </a:p>
        </p:txBody>
      </p:sp>
      <p:sp>
        <p:nvSpPr>
          <p:cNvPr id="8" name="Text 4"/>
          <p:cNvSpPr txBox="1"/>
          <p:nvPr/>
        </p:nvSpPr>
        <p:spPr>
          <a:xfrm>
            <a:off x="6263640" y="5669280"/>
            <a:ext cx="4526280" cy="365760"/>
          </a:xfrm>
          <a:prstGeom prst="rect">
            <a:avLst/>
          </a:prstGeom>
          <a:noFill/>
          <a:ln/>
        </p:spPr>
        <p:txBody>
          <a:bodyPr wrap="square" lIns="0" tIns="0" rIns="0" bIns="0" rtlCol="0" anchor="ctr"/>
          <a:lstStyle/>
          <a:p>
            <a:pPr algn="ctr" indent="0" marL="0">
              <a:buNone/>
            </a:pPr>
            <a:r>
              <a:rPr lang="en-US" sz="1500" b="1" dirty="0">
                <a:solidFill>
                  <a:srgbClr val="FFFFFF"/>
                </a:solidFill>
              </a:rPr>
              <a:t>4D 도시 지하 디지털 트윈</a:t>
            </a:r>
            <a:endParaRPr lang="en-US" sz="15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B4232A"/>
            </a:solidFill>
          </a:ln>
        </p:spPr>
        <p:txBody>
          <a:bodyPr wrap="square" lIns="0" tIns="0" rIns="0" bIns="0" rtlCol="0" anchor="ctr"/>
          <a:lstStyle/>
          <a:p>
            <a:pPr algn="ctr" indent="0" marL="0">
              <a:buNone/>
            </a:pPr>
            <a:r>
              <a:rPr lang="en-US" sz="1300" b="1" dirty="0">
                <a:solidFill>
                  <a:srgbClr val="B4232A"/>
                </a:solidFill>
              </a:rPr>
              <a:t>확장 1 순찰망</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위험한 곳은 더 자주, 비가 온 뒤에는 바로</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구간 위험도에 따라 조사 주기를 다르게 잡습니다. 아래 주기는 [예시]이며 발주기관과 협의해 정합니다.</a:t>
            </a:r>
            <a:endParaRPr lang="en-US" sz="15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7" name="Text 4"/>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8" name="Text 5"/>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9"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0" name="Text 7"/>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1" name="Text 8"/>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2"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3" name="Text 10"/>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4" name="Text 11"/>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5"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6" name="Text 13"/>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7" name="Text 14"/>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8"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19" name="Text 16"/>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0" name="Text 17"/>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1"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2" name="Text 19"/>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3" name="Text 20"/>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4" name="keyMessage"/>
          <p:cNvSpPr txBox="1"/>
          <p:nvPr/>
        </p:nvSpPr>
        <p:spPr>
          <a:xfrm>
            <a:off x="548640" y="5577840"/>
            <a:ext cx="6766560" cy="621792"/>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지하철역 주변, 노후 하수관, 굴착공사 주변, 반복 침하 구간부터 시작합니다</a:t>
            </a:r>
            <a:endParaRPr lang="en-US" sz="1400" dirty="0"/>
          </a:p>
        </p:txBody>
      </p:sp>
      <p:sp>
        <p:nvSpPr>
          <p:cNvPr id="25" name="Text 22"/>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서울시 지반침하 예방체계 강화 보도자료(굴착공사장 점검 주기 강화). 조사 주기 표는 제안 예시입니다.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B4232A"/>
            </a:solidFill>
          </a:ln>
        </p:spPr>
        <p:txBody>
          <a:bodyPr wrap="square" lIns="0" tIns="0" rIns="0" bIns="0" rtlCol="0" anchor="ctr"/>
          <a:lstStyle/>
          <a:p>
            <a:pPr algn="ctr" indent="0" marL="0">
              <a:buNone/>
            </a:pPr>
            <a:r>
              <a:rPr lang="en-US" sz="1300" b="1" dirty="0">
                <a:solidFill>
                  <a:srgbClr val="B4232A"/>
                </a:solidFill>
              </a:rPr>
              <a:t>확장 2 플릿</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여러 대의 PV5가 권역을 나눠 같은 기준으로 순찰한다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권역을 나누고, 관제센터에서 실시간 상태를 보며, 차량별 순찰거리와 재확인 업무를 배정합니다.</a:t>
            </a:r>
            <a:endParaRPr lang="en-US" sz="15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Text 3"/>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600" b="1" dirty="0">
                <a:solidFill>
                  <a:srgbClr val="101828"/>
                </a:solidFill>
              </a:rPr>
              <a:t>같은 사양, 같은 기준</a:t>
            </a:r>
            <a:endParaRPr lang="en-US" sz="1600" dirty="0"/>
          </a:p>
        </p:txBody>
      </p:sp>
      <p:sp>
        <p:nvSpPr>
          <p:cNvPr id="7" name="Text 4"/>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8" name="Text 5"/>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600" b="1" dirty="0">
                <a:solidFill>
                  <a:srgbClr val="101828"/>
                </a:solidFill>
              </a:rPr>
              <a:t>관제 연동 [추가 확인 필요]</a:t>
            </a:r>
            <a:endParaRPr lang="en-US" sz="1600" dirty="0"/>
          </a:p>
        </p:txBody>
      </p:sp>
      <p:sp>
        <p:nvSpPr>
          <p:cNvPr id="9" name="Text 6"/>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0" name="Text 7"/>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600" b="1" dirty="0">
                <a:solidFill>
                  <a:srgbClr val="101828"/>
                </a:solidFill>
              </a:rPr>
              <a:t>배정 기준</a:t>
            </a:r>
            <a:endParaRPr lang="en-US" sz="1600" dirty="0"/>
          </a:p>
        </p:txBody>
      </p:sp>
      <p:sp>
        <p:nvSpPr>
          <p:cNvPr id="11" name="Text 8"/>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2" name="keyMessage"/>
          <p:cNvSpPr txBox="1"/>
          <p:nvPr/>
        </p:nvSpPr>
        <p:spPr>
          <a:xfrm>
            <a:off x="548640" y="5532120"/>
            <a:ext cx="5669280" cy="621792"/>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한 대의 시제품이 아니라, 복제할 수 있는 순찰 체계</a:t>
            </a:r>
            <a:endParaRPr lang="en-US" sz="1400" dirty="0"/>
          </a:p>
        </p:txBody>
      </p:sp>
      <p:sp>
        <p:nvSpPr>
          <p:cNvPr id="1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기아 PV5 카고 특징(Pleos Fleet 차량관제솔루션). 관제 화면 수치는 예시입니다.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B4232A"/>
            </a:solidFill>
          </a:ln>
        </p:spPr>
        <p:txBody>
          <a:bodyPr wrap="square" lIns="0" tIns="0" rIns="0" bIns="0" rtlCol="0" anchor="ctr"/>
          <a:lstStyle/>
          <a:p>
            <a:pPr algn="ctr" indent="0" marL="0">
              <a:buNone/>
            </a:pPr>
            <a:r>
              <a:rPr lang="en-US" sz="1300" b="1" dirty="0">
                <a:solidFill>
                  <a:srgbClr val="B4232A"/>
                </a:solidFill>
              </a:rPr>
              <a:t>확장 3 데이터 통합</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GPR 변화 신호를 도시의 다른 지하 데이터와 겹쳐 본다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하수관, 굴착공사, 지하철 구조물, 지하수, 강우, 보수 이력과 함께 볼 때 원인을 짐작하기 쉬워집니다.</a:t>
            </a:r>
            <a:endParaRPr lang="en-US" sz="15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pic>
        <p:nvPicPr>
          <p:cNvPr id="6"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7" name="Text 3"/>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600" b="1" dirty="0">
                <a:solidFill>
                  <a:srgbClr val="101828"/>
                </a:solidFill>
              </a:rPr>
              <a:t>보안과 접근권한</a:t>
            </a:r>
            <a:endParaRPr lang="en-US" sz="1600" dirty="0"/>
          </a:p>
        </p:txBody>
      </p:sp>
      <p:sp>
        <p:nvSpPr>
          <p:cNvPr id="8" name="Text 4"/>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9"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0" name="Text 5"/>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600" b="1" dirty="0">
                <a:solidFill>
                  <a:srgbClr val="101828"/>
                </a:solidFill>
              </a:rPr>
              <a:t>데이터 표준</a:t>
            </a:r>
            <a:endParaRPr lang="en-US" sz="1600" dirty="0"/>
          </a:p>
        </p:txBody>
      </p:sp>
      <p:sp>
        <p:nvSpPr>
          <p:cNvPr id="11" name="Text 6"/>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2"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3" name="Text 7"/>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600" b="1" dirty="0">
                <a:solidFill>
                  <a:srgbClr val="101828"/>
                </a:solidFill>
              </a:rPr>
              <a:t>지하 데이터는 팔지 않습니다</a:t>
            </a:r>
            <a:endParaRPr lang="en-US" sz="1600" dirty="0"/>
          </a:p>
        </p:txBody>
      </p:sp>
      <p:sp>
        <p:nvSpPr>
          <p:cNvPr id="14" name="Text 8"/>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5" name="keyMessage"/>
          <p:cNvSpPr txBox="1"/>
          <p:nvPr/>
        </p:nvSpPr>
        <p:spPr>
          <a:xfrm>
            <a:off x="548640" y="5532120"/>
            <a:ext cx="5669280" cy="621792"/>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한 기관의 데이터만으로는 원인을 보기 어렵습니다</a:t>
            </a:r>
            <a:endParaRPr lang="en-US" sz="1400" dirty="0"/>
          </a:p>
        </p:txBody>
      </p:sp>
      <p:sp>
        <p:nvSpPr>
          <p:cNvPr id="16"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참고: OGC MUDDI(ogc.org/standards/muddi), 국토부 지하공간통합지도와 지하안전정보시스템(JIS) 연계 방향(2025.5.27 보도자료)</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B4232A"/>
            </a:solidFill>
          </a:ln>
        </p:spPr>
        <p:txBody>
          <a:bodyPr wrap="square" lIns="0" tIns="0" rIns="0" bIns="0" rtlCol="0" anchor="ctr"/>
          <a:lstStyle/>
          <a:p>
            <a:pPr algn="ctr" indent="0" marL="0">
              <a:buNone/>
            </a:pPr>
            <a:r>
              <a:rPr lang="en-US" sz="1300" b="1" dirty="0">
                <a:solidFill>
                  <a:srgbClr val="B4232A"/>
                </a:solidFill>
              </a:rPr>
              <a:t>확장 4 디지털 트윈</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시간이 쌓이면, 도로 아래가 변하는 모습이 보인다</a:t>
            </a:r>
            <a:endParaRPr lang="en-US" sz="17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indent="0" marL="0">
              <a:buNone/>
            </a:pPr>
            <a:r>
              <a:rPr lang="en-US" sz="1500" dirty="0">
                <a:solidFill>
                  <a:srgbClr val="5B6573"/>
                </a:solidFill>
              </a:rPr>
              <a:t>지상 지도, 지하 시설물, 공동 의심 신호, 시간에 따른 변화를 하나의 모델에서 봅니다.</a:t>
            </a:r>
            <a:endParaRPr lang="en-US" sz="15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Text 3"/>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공사 전후 비교</a:t>
            </a:r>
            <a:endParaRPr lang="en-US" sz="1500" dirty="0"/>
          </a:p>
        </p:txBody>
      </p:sp>
      <p:sp>
        <p:nvSpPr>
          <p:cNvPr id="7" name="Text 4"/>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8" name="Text 5"/>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재난 대응</a:t>
            </a:r>
            <a:endParaRPr lang="en-US" sz="1500" dirty="0"/>
          </a:p>
        </p:txBody>
      </p:sp>
      <p:sp>
        <p:nvSpPr>
          <p:cNvPr id="9" name="Text 6"/>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0" name="Text 7"/>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유지관리 계획</a:t>
            </a:r>
            <a:endParaRPr lang="en-US" sz="1500" dirty="0"/>
          </a:p>
        </p:txBody>
      </p:sp>
      <p:sp>
        <p:nvSpPr>
          <p:cNvPr id="11" name="Text 8"/>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2" name="Text 9"/>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범위 원칙</a:t>
            </a:r>
            <a:endParaRPr lang="en-US" sz="1500" dirty="0"/>
          </a:p>
        </p:txBody>
      </p:sp>
      <p:sp>
        <p:nvSpPr>
          <p:cNvPr id="13" name="Text 10"/>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4" name="keyMessage"/>
          <p:cNvSpPr txBox="1"/>
          <p:nvPr/>
        </p:nvSpPr>
        <p:spPr>
          <a:xfrm>
            <a:off x="548640" y="5440680"/>
            <a:ext cx="6766560" cy="640080"/>
          </a:xfrm>
          <a:prstGeom prst="rect">
            <a:avLst/>
          </a:prstGeom>
          <a:solidFill>
            <a:srgbClr val="0B1F3A"/>
          </a:solidFill>
          <a:ln w="9525">
            <a:solidFill>
              <a:srgbClr val="0B1F3A"/>
            </a:solidFill>
          </a:ln>
        </p:spPr>
        <p:txBody>
          <a:bodyPr wrap="square" lIns="127000" tIns="127000" rIns="127000" bIns="127000" rtlCol="0" anchor="ctr"/>
          <a:lstStyle/>
          <a:p>
            <a:pPr algn="l" indent="0" marL="0">
              <a:buNone/>
            </a:pPr>
            <a:r>
              <a:rPr lang="en-US" sz="1400" b="1" dirty="0">
                <a:solidFill>
                  <a:srgbClr val="FFFFFF"/>
                </a:solidFill>
              </a:rPr>
              <a:t>도시가 같은 길을 기억하면, 작은 변화도 놓치지 않을 수 있습니다</a:t>
            </a:r>
            <a:endParaRPr lang="en-US" sz="1400" dirty="0"/>
          </a:p>
        </p:txBody>
      </p:sp>
      <p:sp>
        <p:nvSpPr>
          <p:cNvPr id="15"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개념 일러스트. 디지털 트윈은 운영 데이터가 충분히 쌓인 뒤의 장기 확장 방향입니다.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1628"/>
        </a:solidFill>
      </p:bgPr>
    </p:bg>
    <p:spTree>
      <p:nvGrpSpPr>
        <p:cNvPr id="1" name=""/>
        <p:cNvGrpSpPr/>
        <p:nvPr/>
      </p:nvGrpSpPr>
      <p:grpSpPr>
        <a:xfrm>
          <a:off x="0" y="0"/>
          <a:ext cx="0" cy="0"/>
          <a:chOff x="0" y="0"/>
          <a:chExt cx="0" cy="0"/>
        </a:xfrm>
      </p:grpSpPr>
      <p:pic>
        <p:nvPicPr>
          <p:cNvPr id="2" name="gw_front_n" descr="/Users/seohogyun/Documents/git_workspace/pv5-hose-lab/groundwatch/images/gw_front_n.jpg">    </p:cNvPr>
          <p:cNvPicPr>
            <a:picLocks noChangeAspect="1"/>
          </p:cNvPicPr>
          <p:nvPr/>
        </p:nvPicPr>
        <p:blipFill>
          <a:blip r:embed="rId1"/>
          <a:stretch>
            <a:fillRect/>
          </a:stretch>
        </p:blipFill>
        <p:spPr>
          <a:xfrm>
            <a:off x="4754880" y="953935"/>
            <a:ext cx="7436815" cy="4950130"/>
          </a:xfrm>
          <a:prstGeom prst="rect">
            <a:avLst/>
          </a:prstGeom>
        </p:spPr>
      </p:pic>
      <p:sp>
        <p:nvSpPr>
          <p:cNvPr id="3" name="panel"/>
          <p:cNvSpPr/>
          <p:nvPr/>
        </p:nvSpPr>
        <p:spPr>
          <a:xfrm>
            <a:off x="0" y="0"/>
            <a:ext cx="5120640" cy="6858000"/>
          </a:xfrm>
          <a:prstGeom prst="rect">
            <a:avLst/>
          </a:prstGeom>
          <a:solidFill>
            <a:srgbClr val="0A1628"/>
          </a:solidFill>
          <a:ln w="12700">
            <a:solidFill>
              <a:srgbClr val="0A1628"/>
            </a:solidFill>
            <a:prstDash val="solid"/>
          </a:ln>
        </p:spPr>
      </p:sp>
      <p:sp>
        <p:nvSpPr>
          <p:cNvPr id="4" name="Text 1"/>
          <p:cNvSpPr txBox="1"/>
          <p:nvPr/>
        </p:nvSpPr>
        <p:spPr>
          <a:xfrm>
            <a:off x="640080" y="1828800"/>
            <a:ext cx="4754880" cy="1463040"/>
          </a:xfrm>
          <a:prstGeom prst="rect">
            <a:avLst/>
          </a:prstGeom>
          <a:noFill/>
          <a:ln/>
        </p:spPr>
        <p:txBody>
          <a:bodyPr wrap="square" lIns="0" tIns="0" rIns="0" bIns="0" rtlCol="0" anchor="t"/>
          <a:lstStyle/>
          <a:p>
            <a:pPr indent="0" marL="0">
              <a:buNone/>
            </a:pPr>
            <a:r>
              <a:rPr lang="en-US" sz="2400" b="1" dirty="0">
                <a:solidFill>
                  <a:srgbClr val="FFFFFF"/>
                </a:solidFill>
              </a:rPr>
              <a:t>한 번의 조기 발견이,</a:t>
            </a:r>
            <a:endParaRPr lang="en-US" sz="2400" dirty="0"/>
          </a:p>
          <a:p>
            <a:pPr indent="0" marL="0">
              <a:buNone/>
            </a:pPr>
            <a:r>
              <a:rPr lang="en-US" sz="2400" b="1" dirty="0">
                <a:solidFill>
                  <a:srgbClr val="FFFFFF"/>
                </a:solidFill>
              </a:rPr>
              <a:t>한 사람의 무사 귀가가 되도록.</a:t>
            </a:r>
            <a:endParaRPr lang="en-US" sz="2400" dirty="0"/>
          </a:p>
        </p:txBody>
      </p:sp>
      <p:sp>
        <p:nvSpPr>
          <p:cNvPr id="5" name="Text 2"/>
          <p:cNvSpPr txBox="1"/>
          <p:nvPr/>
        </p:nvSpPr>
        <p:spPr>
          <a:xfrm>
            <a:off x="640080" y="3611880"/>
            <a:ext cx="4389120" cy="384048"/>
          </a:xfrm>
          <a:prstGeom prst="rect">
            <a:avLst/>
          </a:prstGeom>
          <a:noFill/>
          <a:ln/>
        </p:spPr>
        <p:txBody>
          <a:bodyPr wrap="square" lIns="0" tIns="0" rIns="0" bIns="0" rtlCol="0" anchor="ctr"/>
          <a:lstStyle/>
          <a:p>
            <a:pPr indent="0" marL="0">
              <a:buNone/>
            </a:pPr>
            <a:r>
              <a:rPr lang="en-US" sz="1700" b="1" dirty="0">
                <a:solidFill>
                  <a:srgbClr val="F5B400"/>
                </a:solidFill>
              </a:rPr>
              <a:t>PV5 GroundWatch</a:t>
            </a:r>
            <a:endParaRPr lang="en-US" sz="1700" dirty="0"/>
          </a:p>
        </p:txBody>
      </p:sp>
      <p:sp>
        <p:nvSpPr>
          <p:cNvPr id="6" name="Text 3"/>
          <p:cNvSpPr txBox="1"/>
          <p:nvPr/>
        </p:nvSpPr>
        <p:spPr>
          <a:xfrm>
            <a:off x="640080" y="4023360"/>
            <a:ext cx="4206240" cy="640080"/>
          </a:xfrm>
          <a:prstGeom prst="rect">
            <a:avLst/>
          </a:prstGeom>
          <a:noFill/>
          <a:ln/>
        </p:spPr>
        <p:txBody>
          <a:bodyPr wrap="square" lIns="0" tIns="0" rIns="0" bIns="0" rtlCol="0" anchor="t"/>
          <a:lstStyle/>
          <a:p>
            <a:pPr indent="0" marL="0">
              <a:buNone/>
            </a:pPr>
            <a:r>
              <a:rPr lang="en-US" sz="1300" dirty="0">
                <a:solidFill>
                  <a:srgbClr val="C9D3E0"/>
                </a:solidFill>
              </a:rPr>
              <a:t>같은 도로를 반복 측정해 지하의 변화를 찾는 PV5 지하안전 순찰차</a:t>
            </a:r>
            <a:endParaRPr lang="en-US" sz="1300" dirty="0"/>
          </a:p>
        </p:txBody>
      </p:sp>
      <p:sp>
        <p:nvSpPr>
          <p:cNvPr id="7" name="Text 4"/>
          <p:cNvSpPr txBox="1"/>
          <p:nvPr/>
        </p:nvSpPr>
        <p:spPr>
          <a:xfrm>
            <a:off x="640080" y="4892040"/>
            <a:ext cx="4206240" cy="329184"/>
          </a:xfrm>
          <a:prstGeom prst="rect">
            <a:avLst/>
          </a:prstGeom>
          <a:noFill/>
          <a:ln/>
        </p:spPr>
        <p:txBody>
          <a:bodyPr wrap="square" lIns="0" tIns="0" rIns="0" bIns="0" rtlCol="0" anchor="ctr"/>
          <a:lstStyle/>
          <a:p>
            <a:pPr indent="0" marL="0">
              <a:buNone/>
            </a:pPr>
            <a:r>
              <a:rPr lang="en-US" sz="1300" dirty="0">
                <a:solidFill>
                  <a:srgbClr val="C9D3E0"/>
                </a:solidFill>
              </a:rPr>
              <a:t>팀 한 명이라도 살릴 수 있다면</a:t>
            </a:r>
            <a:endParaRPr lang="en-US" sz="1300" dirty="0"/>
          </a:p>
        </p:txBody>
      </p:sp>
      <p:sp>
        <p:nvSpPr>
          <p:cNvPr id="8" name="Text 5"/>
          <p:cNvSpPr txBox="1"/>
          <p:nvPr/>
        </p:nvSpPr>
        <p:spPr>
          <a:xfrm>
            <a:off x="640080" y="5989320"/>
            <a:ext cx="2743200" cy="292608"/>
          </a:xfrm>
          <a:prstGeom prst="rect">
            <a:avLst/>
          </a:prstGeom>
          <a:noFill/>
          <a:ln/>
        </p:spPr>
        <p:txBody>
          <a:bodyPr wrap="square" lIns="0" tIns="0" rIns="0" bIns="0" rtlCol="0" anchor="ctr"/>
          <a:lstStyle/>
          <a:p>
            <a:pPr indent="0" marL="0">
              <a:buNone/>
            </a:pPr>
            <a:r>
              <a:rPr lang="en-US" sz="1200" dirty="0">
                <a:solidFill>
                  <a:srgbClr val="8C9BB0"/>
                </a:solidFill>
              </a:rPr>
              <a:t>감사합니다</a:t>
            </a:r>
            <a:endParaRPr lang="en-US" sz="1200" dirty="0"/>
          </a:p>
        </p:txBody>
      </p:sp>
      <p:sp>
        <p:nvSpPr>
          <p:cNvPr id="9" name="Text 6"/>
          <p:cNvSpPr txBox="1"/>
          <p:nvPr/>
        </p:nvSpPr>
        <p:spPr>
          <a:xfrm>
            <a:off x="4937760" y="6446520"/>
            <a:ext cx="6858000" cy="237744"/>
          </a:xfrm>
          <a:prstGeom prst="rect">
            <a:avLst/>
          </a:prstGeom>
          <a:noFill/>
          <a:ln/>
        </p:spPr>
        <p:txBody>
          <a:bodyPr wrap="square" lIns="0" tIns="0" rIns="0" bIns="0" rtlCol="0" anchor="ctr"/>
          <a:lstStyle/>
          <a:p>
            <a:pPr algn="r" indent="0" marL="0">
              <a:buNone/>
            </a:pPr>
            <a:r>
              <a:rPr lang="en-US" sz="900" dirty="0">
                <a:solidFill>
                  <a:srgbClr val="B8C4D4"/>
                </a:solidFill>
              </a:rPr>
              <a:t>PV5 실차 사진(Alexander Migl, CC BY-SA 4.0) 위 장비 합성 예상도</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부록 1 GPR 한계</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GPR은 만능이 아니다. 깊이, 토질, 금속의 한계를 먼저 밝힌다</a:t>
            </a:r>
            <a:endParaRPr lang="en-US" sz="17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05840"/>
            <a:ext cx="5760720" cy="2880360"/>
          </a:xfrm>
          <a:prstGeom prst="rect">
            <a:avLst/>
          </a:prstGeom>
        </p:spPr>
      </p:pic>
      <p:sp>
        <p:nvSpPr>
          <p:cNvPr id="5" name="Text 2"/>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6" name="Text 3"/>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7" name="Text 4"/>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8" name="Text 5"/>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9" name="Text 6"/>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0" name="Text 7"/>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1" name="Text 8"/>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2" name="Text 9"/>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3" name="Text 10"/>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4" name="Text 11"/>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5" name="rule"/>
          <p:cNvSpPr/>
          <p:nvPr/>
        </p:nvSpPr>
        <p:spPr>
          <a:xfrm>
            <a:off x="548640" y="4114800"/>
            <a:ext cx="11094415" cy="0"/>
          </a:xfrm>
          <a:prstGeom prst="line">
            <a:avLst/>
          </a:prstGeom>
          <a:noFill/>
          <a:ln w="12700">
            <a:solidFill>
              <a:srgbClr val="DCE1E8"/>
            </a:solidFill>
            <a:prstDash val="solid"/>
          </a:ln>
        </p:spPr>
      </p:sp>
      <p:sp>
        <p:nvSpPr>
          <p:cNvPr id="16" name="Text 13"/>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7" name="Text 14"/>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신호가 비슷합니다</a:t>
            </a:r>
            <a:endParaRPr lang="en-US" sz="1400" dirty="0"/>
          </a:p>
        </p:txBody>
      </p:sp>
      <p:sp>
        <p:nvSpPr>
          <p:cNvPr id="18" name="Text 15"/>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19" name="Text 16"/>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검증 데이터가 아직 없습니다</a:t>
            </a:r>
            <a:endParaRPr lang="en-US" sz="1400" dirty="0"/>
          </a:p>
        </p:txBody>
      </p:sp>
      <p:sp>
        <p:nvSpPr>
          <p:cNvPr id="20" name="Text 17"/>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1" name="Text 18"/>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책임 주체가 필요합니다</a:t>
            </a:r>
            <a:endParaRPr lang="en-US" sz="1400" dirty="0"/>
          </a:p>
        </p:txBody>
      </p:sp>
      <p:sp>
        <p:nvSpPr>
          <p:cNvPr id="22" name="Text 19"/>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3"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출처: FHWA GPR 기술 설명, 서울시 설명 인용 보도(고주파 GPR 약 2m), 서울시 복합탐사(지하 5~40m) 시범 도입 보도(2025.12.30)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부록 2 안전과 운영</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새벽 도로 작업은 사람이 먼저 안전해야 한다</a:t>
            </a:r>
            <a:endParaRPr lang="en-US" sz="17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600" b="1" dirty="0">
                <a:solidFill>
                  <a:srgbClr val="F5B400"/>
                </a:solidFill>
              </a:rPr>
              <a:t>1명  운전과 안전</a:t>
            </a:r>
            <a:endParaRPr lang="en-US" sz="16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600" b="1" dirty="0">
                <a:solidFill>
                  <a:srgbClr val="F5B400"/>
                </a:solidFill>
              </a:rPr>
              <a:t>2명  장비와 판독</a:t>
            </a:r>
            <a:endParaRPr lang="en-US" sz="16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600" b="1" dirty="0">
                <a:solidFill>
                  <a:srgbClr val="101828"/>
                </a:solidFill>
              </a:rPr>
              <a:t>안전 정차</a:t>
            </a:r>
            <a:endParaRPr lang="en-US" sz="16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600" b="1" dirty="0">
                <a:solidFill>
                  <a:srgbClr val="101828"/>
                </a:solidFill>
              </a:rPr>
              <a:t>주행 중 AR 금지</a:t>
            </a:r>
            <a:endParaRPr lang="en-US" sz="16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600" b="1" dirty="0">
                <a:solidFill>
                  <a:srgbClr val="101828"/>
                </a:solidFill>
              </a:rPr>
              <a:t>교통통제</a:t>
            </a:r>
            <a:endParaRPr lang="en-US" sz="16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600" b="1" dirty="0">
                <a:solidFill>
                  <a:srgbClr val="101828"/>
                </a:solidFill>
              </a:rPr>
              <a:t>천공과 내시경</a:t>
            </a:r>
            <a:endParaRPr lang="en-US" sz="16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600" b="1" dirty="0">
                <a:solidFill>
                  <a:srgbClr val="101828"/>
                </a:solidFill>
              </a:rPr>
              <a:t>AR 위치 오차</a:t>
            </a:r>
            <a:endParaRPr lang="en-US" sz="16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600" b="1" dirty="0">
                <a:solidFill>
                  <a:srgbClr val="101828"/>
                </a:solidFill>
              </a:rPr>
              <a:t>개인정보</a:t>
            </a:r>
            <a:endParaRPr lang="en-US" sz="16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운영 원칙은 제안안입니다. 실제 운영 전 산업안전보건, 도로교통, 개인정보보호 관련 법령 검토가 필요합니다.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부록 3 사업 모델</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탐사 용역에서 시작해 연간 관제 계약과 패키지로 넓힌다</a:t>
            </a:r>
            <a:endParaRPr lang="en-US" sz="17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01828"/>
                </a:solidFill>
              </a:rPr>
              <a:t>주행 거리 기반 과금</a:t>
            </a:r>
            <a:endParaRPr lang="en-US" sz="1400" dirty="0"/>
          </a:p>
          <a:p>
            <a:pPr marL="342900" indent="-342900">
              <a:spcAft>
                <a:spcPts val="700"/>
              </a:spcAft>
              <a:buSzPct val="100000"/>
              <a:buChar char="•"/>
            </a:pPr>
            <a:r>
              <a:rPr lang="en-US" sz="1400" dirty="0">
                <a:solidFill>
                  <a:srgbClr val="101828"/>
                </a:solidFill>
              </a:rPr>
              <a:t>위험지역 집중 탐사</a:t>
            </a:r>
            <a:endParaRPr lang="en-US" sz="1400" dirty="0"/>
          </a:p>
          <a:p>
            <a:pPr marL="342900" indent="-342900">
              <a:spcAft>
                <a:spcPts val="700"/>
              </a:spcAft>
              <a:buSzPct val="100000"/>
              <a:buChar char="•"/>
            </a:pPr>
            <a:r>
              <a:rPr lang="en-US" sz="1400" dirty="0">
                <a:solidFill>
                  <a:srgbClr val="101828"/>
                </a:solidFill>
              </a:rPr>
              <a:t>공사 전후 비교 탐사</a:t>
            </a:r>
            <a:endParaRPr lang="en-US" sz="1400" dirty="0"/>
          </a:p>
          <a:p>
            <a:pPr marL="342900" indent="-342900">
              <a:spcAft>
                <a:spcPts val="700"/>
              </a:spcAft>
              <a:buSzPct val="100000"/>
              <a:buChar char="•"/>
            </a:pPr>
            <a:r>
              <a:rPr lang="en-US" sz="1400" dirty="0">
                <a:solidFill>
                  <a:srgbClr val="101828"/>
                </a:solidFill>
              </a:rPr>
              <a:t>집중호우 후 긴급 탐사</a:t>
            </a:r>
            <a:endParaRPr lang="en-US" sz="1400" dirty="0"/>
          </a:p>
          <a:p>
            <a:pPr marL="342900" indent="-3429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01828"/>
                </a:solidFill>
              </a:rPr>
              <a:t>정기 순찰과 4D 변화지도</a:t>
            </a:r>
            <a:endParaRPr lang="en-US" sz="1400" dirty="0"/>
          </a:p>
          <a:p>
            <a:pPr marL="342900" indent="-342900">
              <a:spcAft>
                <a:spcPts val="700"/>
              </a:spcAft>
              <a:buSzPct val="100000"/>
              <a:buChar char="•"/>
            </a:pPr>
            <a:r>
              <a:rPr lang="en-US" sz="1400" dirty="0">
                <a:solidFill>
                  <a:srgbClr val="101828"/>
                </a:solidFill>
              </a:rPr>
              <a:t>AI 변화 감지와 GIS 대시보드</a:t>
            </a:r>
            <a:endParaRPr lang="en-US" sz="1400" dirty="0"/>
          </a:p>
          <a:p>
            <a:pPr marL="342900" indent="-342900">
              <a:spcAft>
                <a:spcPts val="700"/>
              </a:spcAft>
              <a:buSzPct val="100000"/>
              <a:buChar char="•"/>
            </a:pPr>
            <a:r>
              <a:rPr lang="en-US" sz="1400" dirty="0">
                <a:solidFill>
                  <a:srgbClr val="101828"/>
                </a:solidFill>
              </a:rPr>
              <a:t>정기 보고서와 우선순위</a:t>
            </a:r>
            <a:endParaRPr lang="en-US" sz="1400" dirty="0"/>
          </a:p>
          <a:p>
            <a:pPr marL="342900" indent="-342900">
              <a:spcAft>
                <a:spcPts val="700"/>
              </a:spcAft>
              <a:buSzPct val="100000"/>
              <a:buChar char="•"/>
            </a:pPr>
            <a:r>
              <a:rPr lang="en-US" sz="1400" dirty="0">
                <a:solidFill>
                  <a:srgbClr val="101828"/>
                </a:solidFill>
              </a:rPr>
              <a:t>이력 관리와 보수 후 재검증</a:t>
            </a:r>
            <a:endParaRPr lang="en-US" sz="1400" dirty="0"/>
          </a:p>
          <a:p>
            <a:pPr marL="342900" indent="-3429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01828"/>
                </a:solidFill>
              </a:rPr>
              <a:t>PV5 GroundWatch 컨버전 차량</a:t>
            </a:r>
            <a:endParaRPr lang="en-US" sz="1400" dirty="0"/>
          </a:p>
          <a:p>
            <a:pPr marL="342900" indent="-342900">
              <a:spcAft>
                <a:spcPts val="700"/>
              </a:spcAft>
              <a:buSzPct val="100000"/>
              <a:buChar char="•"/>
            </a:pPr>
            <a:r>
              <a:rPr lang="en-US" sz="1400" dirty="0">
                <a:solidFill>
                  <a:srgbClr val="101828"/>
                </a:solidFill>
              </a:rPr>
              <a:t>GPR·카메라 센서 패키지</a:t>
            </a:r>
            <a:endParaRPr lang="en-US" sz="1400" dirty="0"/>
          </a:p>
          <a:p>
            <a:pPr marL="342900" indent="-342900">
              <a:spcAft>
                <a:spcPts val="700"/>
              </a:spcAft>
              <a:buSzPct val="100000"/>
              <a:buChar char="•"/>
            </a:pPr>
            <a:r>
              <a:rPr lang="en-US" sz="1400" dirty="0">
                <a:solidFill>
                  <a:srgbClr val="101828"/>
                </a:solidFill>
              </a:rPr>
              <a:t>Patrol 앱, Edge Gateway, AR</a:t>
            </a:r>
            <a:endParaRPr lang="en-US" sz="1400" dirty="0"/>
          </a:p>
          <a:p>
            <a:pPr marL="342900" indent="-342900">
              <a:spcAft>
                <a:spcPts val="700"/>
              </a:spcAft>
              <a:buSzPct val="100000"/>
              <a:buChar char="•"/>
            </a:pPr>
            <a:r>
              <a:rPr lang="en-US" sz="1400" dirty="0">
                <a:solidFill>
                  <a:srgbClr val="101828"/>
                </a:solidFill>
              </a:rPr>
              <a:t>AI 분석 SW와 관제 대시보드</a:t>
            </a:r>
            <a:endParaRPr lang="en-US" sz="1400" dirty="0"/>
          </a:p>
          <a:p>
            <a:pPr marL="342900" indent="-3429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B2G 중심, B2B 확장. 단가와 계약 형태는 실증 단계에서 확정합니다.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FFFFF"/>
          </a:solidFill>
          <a:ln w="12700">
            <a:solidFill>
              <a:srgbClr val="0B1F3A"/>
            </a:solidFill>
          </a:ln>
        </p:spPr>
        <p:txBody>
          <a:bodyPr wrap="square" lIns="0" tIns="0" rIns="0" bIns="0" rtlCol="0" anchor="ctr"/>
          <a:lstStyle/>
          <a:p>
            <a:pPr algn="ctr" indent="0" marL="0">
              <a:buNone/>
            </a:pPr>
            <a:r>
              <a:rPr lang="en-US" sz="1300" b="1" dirty="0">
                <a:solidFill>
                  <a:srgbClr val="0B1F3A"/>
                </a:solidFill>
              </a:rPr>
              <a:t>부록 4 근거와 검증</a:t>
            </a:r>
            <a:endParaRPr lang="en-US" sz="1300" dirty="0"/>
          </a:p>
        </p:txBody>
      </p:sp>
      <p:sp>
        <p:nvSpPr>
          <p:cNvPr id="3" name="Text 2"/>
          <p:cNvSpPr/>
          <p:nvPr>
            <p:ph idx="102" type="title" hasCustomPrompt="1"/>
          </p:nvPr>
        </p:nvSpPr>
        <p:spPr>
          <a:xfrm>
            <a:off x="4434840" y="384048"/>
            <a:ext cx="7223760" cy="384048"/>
          </a:xfrm>
          <a:prstGeom prst="rect">
            <a:avLst/>
          </a:prstGeom>
          <a:noFill/>
          <a:ln/>
        </p:spPr>
        <p:txBody>
          <a:bodyPr wrap="square" lIns="0" tIns="0" rIns="0" bIns="0" rtlCol="0" anchor="ctr"/>
          <a:lstStyle/>
          <a:p>
            <a:pPr indent="0" marL="0">
              <a:buNone/>
            </a:pPr>
            <a:r>
              <a:rPr lang="en-US" sz="1700" b="1" dirty="0">
                <a:solidFill>
                  <a:srgbClr val="101828"/>
                </a:solidFill>
                <a:latin typeface="Pretendard" pitchFamily="34" charset="0"/>
                <a:ea typeface="Pretendard" pitchFamily="34" charset="-122"/>
                <a:cs typeface="Pretendard" pitchFamily="34" charset="-120"/>
              </a:rPr>
              <a:t>확인된 사실과 검증할 가설을 나눠 관리한다</a:t>
            </a:r>
            <a:endParaRPr lang="en-US" sz="17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01828"/>
                </a:solidFill>
              </a:rPr>
              <a:t>GPR와 전기차 전자파 간섭, 배터리팩 영향</a:t>
            </a:r>
            <a:endParaRPr lang="en-US" sz="1400" dirty="0"/>
          </a:p>
          <a:p>
            <a:pPr marL="342900" indent="-342900">
              <a:spcAft>
                <a:spcPts val="500"/>
              </a:spcAft>
              <a:buSzPct val="100000"/>
              <a:buChar char="•"/>
            </a:pPr>
            <a:r>
              <a:rPr lang="en-US" sz="1400" dirty="0">
                <a:solidFill>
                  <a:srgbClr val="101828"/>
                </a:solidFill>
              </a:rPr>
              <a:t>장비 소비전력과 V2L 운용, 주행거리 영향</a:t>
            </a:r>
            <a:endParaRPr lang="en-US" sz="1400" dirty="0"/>
          </a:p>
          <a:p>
            <a:pPr marL="342900" indent="-342900">
              <a:spcAft>
                <a:spcPts val="500"/>
              </a:spcAft>
              <a:buSzPct val="100000"/>
              <a:buChar char="•"/>
            </a:pPr>
            <a:r>
              <a:rPr lang="en-US" sz="1400" dirty="0">
                <a:solidFill>
                  <a:srgbClr val="101828"/>
                </a:solidFill>
              </a:rPr>
              <a:t>적재중량, 차량총중량, 축하중, 구조변경</a:t>
            </a:r>
            <a:endParaRPr lang="en-US" sz="1400" dirty="0"/>
          </a:p>
          <a:p>
            <a:pPr marL="342900" indent="-342900">
              <a:spcAft>
                <a:spcPts val="500"/>
              </a:spcAft>
              <a:buSzPct val="100000"/>
              <a:buChar char="•"/>
            </a:pPr>
            <a:r>
              <a:rPr lang="en-US" sz="1400" dirty="0">
                <a:solidFill>
                  <a:srgbClr val="101828"/>
                </a:solidFill>
              </a:rPr>
              <a:t>AR 위치 정확도와 야간 기준점 인식</a:t>
            </a:r>
            <a:endParaRPr lang="en-US" sz="1400" dirty="0"/>
          </a:p>
          <a:p>
            <a:pPr marL="342900" indent="-342900">
              <a:spcAft>
                <a:spcPts val="500"/>
              </a:spcAft>
              <a:buSzPct val="100000"/>
              <a:buChar char="•"/>
            </a:pPr>
            <a:r>
              <a:rPr lang="en-US" sz="1400" dirty="0">
                <a:solidFill>
                  <a:srgbClr val="101828"/>
                </a:solidFill>
              </a:rPr>
              <a:t>차량 앱 배포 경로와 공식 API 범위</a:t>
            </a:r>
            <a:endParaRPr lang="en-US" sz="1400" dirty="0"/>
          </a:p>
          <a:p>
            <a:pPr marL="342900" indent="-342900">
              <a:spcAft>
                <a:spcPts val="500"/>
              </a:spcAft>
              <a:buSzPct val="100000"/>
              <a:buChar char="•"/>
            </a:pPr>
            <a:r>
              <a:rPr lang="en-US" sz="1400" dirty="0">
                <a:solidFill>
                  <a:srgbClr val="101828"/>
                </a:solidFill>
              </a:rPr>
              <a:t>앱, 게이트웨이, 글래스 통신 지연과 단절 대응</a:t>
            </a:r>
            <a:endParaRPr lang="en-US" sz="1400" dirty="0"/>
          </a:p>
          <a:p>
            <a:pPr marL="342900" indent="-342900">
              <a:spcAft>
                <a:spcPts val="500"/>
              </a:spcAft>
              <a:buSzPct val="100000"/>
              <a:buChar char="•"/>
            </a:pPr>
            <a:r>
              <a:rPr lang="en-US" sz="1400" dirty="0">
                <a:solidFill>
                  <a:srgbClr val="101828"/>
                </a:solidFill>
              </a:rPr>
              <a:t>AI 탐지율, 오탐률, 미탐률(천공 확인 기준)</a:t>
            </a:r>
            <a:endParaRPr lang="en-US" sz="1400" dirty="0"/>
          </a:p>
          <a:p>
            <a:pPr marL="342900" indent="-3429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400800"/>
            <a:ext cx="10424160" cy="256032"/>
          </a:xfrm>
          <a:prstGeom prst="rect">
            <a:avLst/>
          </a:prstGeom>
          <a:noFill/>
          <a:ln/>
        </p:spPr>
        <p:txBody>
          <a:bodyPr wrap="square" lIns="0" tIns="0" rIns="0" bIns="0" rtlCol="0" anchor="ctr"/>
          <a:lstStyle/>
          <a:p>
            <a:pPr indent="0" marL="0">
              <a:buNone/>
            </a:pPr>
            <a:r>
              <a:rPr lang="en-US" sz="1000" dirty="0">
                <a:solidFill>
                  <a:srgbClr val="8A94A3"/>
                </a:solidFill>
              </a:rPr>
              <a:t>공식 자료를 우선하고, 언론 보도는 공식 발표를 인용한 경우만 썼습니다. 값이 다르면 공식 수치를 채택했습니다(서울시 2026 탐사 16,423km).</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한 명이라도 살릴 수 있다면</dc:creator>
  <cp:lastModifiedBy>한 명이라도 살릴 수 있다면</cp:lastModifiedBy>
  <cp:revision>1</cp:revision>
  <dcterms:created xsi:type="dcterms:W3CDTF">2026-10-11T11:45:31Z</dcterms:created>
  <dcterms:modified xsi:type="dcterms:W3CDTF">2026-10-11T11:45:31Z</dcterms:modified>
</cp:coreProperties>
</file>