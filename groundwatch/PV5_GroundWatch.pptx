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992895df-571b-7a98-e34a-17a781c6af97}">
          <p14:sldIdLst>
            <p14:sldId id="256"/>
            <p14:sldId id="257"/>
            <p14:sldId id="258"/>
            <p14:sldId id="259"/>
            <p14:sldId id="260"/>
          </p14:sldIdLst>
        </p14:section>
        <p14:section name="운영 모델" id="{3cbdc311-ab16-7ded-7459-07661f89452e}">
          <p14:sldIdLst>
            <p14:sldId id="261"/>
            <p14:sldId id="262"/>
            <p14:sldId id="263"/>
            <p14:sldId id="264"/>
            <p14:sldId id="265"/>
            <p14:sldId id="266"/>
            <p14:sldId id="267"/>
            <p14:sldId id="268"/>
            <p14:sldId id="269"/>
            <p14:sldId id="270"/>
            <p14:sldId id="271"/>
            <p14:sldId id="272"/>
          </p14:sldIdLst>
        </p14:section>
        <p14:section name="확장" id="{bc3f873f-5172-4fd1-1457-27a0db9f6886}">
          <p14:sldIdLst>
            <p14:sldId id="273"/>
            <p14:sldId id="274"/>
            <p14:sldId id="275"/>
            <p14:sldId id="276"/>
            <p14:sldId id="277"/>
            <p14:sldId id="278"/>
          </p14:sldIdLst>
        </p14:section>
        <p14:section name="부록" id="{a8985504-8331-def0-39d8-657508b7b398}">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배경은 실제 사고 사진이 아닌 개념 일러스트입니다.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1783080" cy="384048"/>
          </a:xfrm>
          <a:prstGeom prst="rect">
            <a:avLst/>
          </a:prstGeom>
          <a:solidFill>
            <a:srgbClr val="0B1F3A"/>
          </a:solidFill>
          <a:ln/>
        </p:spPr>
      </p:sp>
      <p:sp>
        <p:nvSpPr>
          <p:cNvPr id="3" name="Text 1"/>
          <p:cNvSpPr/>
          <p:nvPr/>
        </p:nvSpPr>
        <p:spPr>
          <a:xfrm>
            <a:off x="548640" y="384048"/>
            <a:ext cx="17830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PV5 GroundWatch</a:t>
            </a:r>
            <a:endParaRPr lang="en-US" sz="1300" dirty="0"/>
          </a:p>
        </p:txBody>
      </p:sp>
      <p:sp>
        <p:nvSpPr>
          <p:cNvPr id="4" name="Text 2"/>
          <p:cNvSpPr/>
          <p:nvPr>
            <p:ph idx="102" type="title" hasCustomPrompt="1"/>
          </p:nvPr>
        </p:nvSpPr>
        <p:spPr>
          <a:xfrm>
            <a:off x="4434840" y="384048"/>
            <a:ext cx="7223760" cy="384048"/>
          </a:xfrm>
          <a:prstGeom prst="rect">
            <a:avLst/>
          </a:prstGeom>
          <a:noFill/>
          <a:ln/>
        </p:spPr>
        <p:txBody>
          <a:bodyPr wrap="square" rtlCol="0"/>
          <a:lstStyle>
            <a:lvl1pPr indent="0" marL="0">
              <a:buNone/>
              <a:defRPr lang="en-US" sz="1900" b="1" dirty="0">
                <a:solidFill>
                  <a:srgbClr val="101828"/>
                </a:solidFill>
                <a:latin typeface="Pretendard" pitchFamily="34" charset="0"/>
                <a:ea typeface="Pretendard" pitchFamily="34" charset="-122"/>
                <a:cs typeface="Pretendard" pitchFamily="34" charset="-120"/>
              </a:defRPr>
            </a:lvl1pPr>
          </a:lstStyle>
          <a:p>
            <a:pPr indent="0" marL="0">
              <a:buNone/>
            </a:pPr>
            <a:endParaRPr lang="en-US" sz="19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DIVIDER">
    <p:bg>
      <p:bgPr>
        <a:solidFill>
          <a:srgbClr val="0A162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rtlCol="0"/>
          <a:lstStyle>
            <a:lvl1pPr algn="ctr" indent="0" marL="0">
              <a:buNone/>
              <a:defRPr lang="en-US" sz="4000" b="1" dirty="0">
                <a:solidFill>
                  <a:srgbClr val="FFFFFF"/>
                </a:solidFill>
                <a:latin typeface="Pretendard" pitchFamily="34" charset="0"/>
                <a:ea typeface="Pretendard" pitchFamily="34" charset="-122"/>
                <a:cs typeface="Pretendard" pitchFamily="34" charset="-120"/>
              </a:defRPr>
            </a:lvl1pPr>
          </a:lstStyle>
          <a:p>
            <a:pPr algn="ctr" indent="0" marL="0">
              <a:buNone/>
            </a:pPr>
            <a:endParaRPr lang="en-US" sz="4000" dirty="0"/>
          </a:p>
        </p:txBody>
      </p:sp>
      <p:sp>
        <p:nvSpPr>
          <p:cNvPr id="3" name="Text 0"/>
          <p:cNvSpPr/>
          <p:nvPr>
            <p:ph idx="101" type="body" hasCustomPrompt="1"/>
          </p:nvPr>
        </p:nvSpPr>
        <p:spPr>
          <a:xfrm>
            <a:off x="3108960" y="1965960"/>
            <a:ext cx="5971032" cy="548640"/>
          </a:xfrm>
          <a:prstGeom prst="rect">
            <a:avLst/>
          </a:prstGeom>
          <a:noFill/>
          <a:ln/>
        </p:spPr>
        <p:txBody>
          <a:bodyPr wrap="square" rtlCol="0"/>
          <a:lstStyle>
            <a:lvl1pPr algn="ctr" indent="0" marL="0">
              <a:buNone/>
              <a:defRPr lang="en-US" sz="2200" b="1" dirty="0">
                <a:solidFill>
                  <a:srgbClr val="101828"/>
                </a:solidFill>
                <a:latin typeface="Pretendard" pitchFamily="34" charset="0"/>
                <a:ea typeface="Pretendard" pitchFamily="34" charset="-122"/>
                <a:cs typeface="Pretendard" pitchFamily="34" charset="-120"/>
              </a:defRPr>
            </a:lvl1pPr>
          </a:lstStyle>
          <a:p>
            <a:pPr algn="ctr" indent="0" marL="0">
              <a:buNone/>
            </a:pPr>
            <a:endParaRPr lang="en-US" sz="22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descr="/Users/seohogyun/Documents/git_workspace/pv5-hose-lab/groundwatch/images/cov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914400"/>
            <a:ext cx="6766560" cy="1920240"/>
          </a:xfrm>
          <a:prstGeom prst="rect">
            <a:avLst/>
          </a:prstGeom>
          <a:noFill/>
          <a:ln/>
        </p:spPr>
        <p:txBody>
          <a:bodyPr wrap="square" lIns="0" tIns="0" rIns="0" bIns="0" rtlCol="0" anchor="t"/>
          <a:lstStyle/>
          <a:p>
            <a:pPr indent="0" marL="0">
              <a:lnSpc>
                <a:spcPct val="105000"/>
              </a:lnSpc>
              <a:buNone/>
            </a:pPr>
            <a:r>
              <a:rPr lang="en-US" sz="5200" b="1" dirty="0">
                <a:solidFill>
                  <a:srgbClr val="FFFFFF"/>
                </a:solidFill>
              </a:rPr>
              <a:t>도로가 무너지기까지,</a:t>
            </a:r>
            <a:endParaRPr lang="en-US" sz="5200" dirty="0"/>
          </a:p>
          <a:p>
            <a:pPr indent="0" marL="0">
              <a:lnSpc>
                <a:spcPct val="105000"/>
              </a:lnSpc>
              <a:buNone/>
            </a:pPr>
            <a:r>
              <a:rPr lang="en-US" sz="5200" b="1" dirty="0">
                <a:solidFill>
                  <a:srgbClr val="FFFFFF"/>
                </a:solidFill>
              </a:rPr>
              <a:t>1~2분.</a:t>
            </a:r>
            <a:endParaRPr lang="en-US" sz="5200" dirty="0"/>
          </a:p>
        </p:txBody>
      </p:sp>
      <p:sp>
        <p:nvSpPr>
          <p:cNvPr id="4" name="Text 1"/>
          <p:cNvSpPr txBox="1"/>
          <p:nvPr/>
        </p:nvSpPr>
        <p:spPr>
          <a:xfrm>
            <a:off x="640080" y="2880360"/>
            <a:ext cx="6583680" cy="457200"/>
          </a:xfrm>
          <a:prstGeom prst="rect">
            <a:avLst/>
          </a:prstGeom>
          <a:noFill/>
          <a:ln/>
        </p:spPr>
        <p:txBody>
          <a:bodyPr wrap="square" lIns="0" tIns="0" rIns="0" bIns="0" rtlCol="0" anchor="ctr"/>
          <a:lstStyle/>
          <a:p>
            <a:pPr indent="0" marL="0">
              <a:buNone/>
            </a:pPr>
            <a:r>
              <a:rPr lang="en-US" sz="2200" dirty="0">
                <a:solidFill>
                  <a:srgbClr val="C9D3E0"/>
                </a:solidFill>
              </a:rPr>
              <a:t>그 아래의 변화는 더 먼저 시작됐습니다.</a:t>
            </a:r>
            <a:endParaRPr lang="en-US" sz="2200" dirty="0"/>
          </a:p>
        </p:txBody>
      </p:sp>
      <p:sp>
        <p:nvSpPr>
          <p:cNvPr id="5" name="Text 2"/>
          <p:cNvSpPr txBox="1"/>
          <p:nvPr/>
        </p:nvSpPr>
        <p:spPr>
          <a:xfrm>
            <a:off x="640080" y="3703320"/>
            <a:ext cx="2057400" cy="384048"/>
          </a:xfrm>
          <a:prstGeom prst="rect">
            <a:avLst/>
          </a:prstGeom>
          <a:noFill/>
          <a:ln/>
        </p:spPr>
        <p:txBody>
          <a:bodyPr wrap="square" lIns="0" tIns="0" rIns="0" bIns="0" rtlCol="0" anchor="ctr"/>
          <a:lstStyle/>
          <a:p>
            <a:pPr indent="0" marL="0">
              <a:buNone/>
            </a:pPr>
            <a:r>
              <a:rPr lang="en-US" sz="1900" b="1" dirty="0">
                <a:solidFill>
                  <a:srgbClr val="FFFFFF"/>
                </a:solidFill>
              </a:rPr>
              <a:t>2025.3.24</a:t>
            </a:r>
            <a:endParaRPr lang="en-US" sz="1900" dirty="0"/>
          </a:p>
        </p:txBody>
      </p:sp>
      <p:sp>
        <p:nvSpPr>
          <p:cNvPr id="6" name="Text 3"/>
          <p:cNvSpPr txBox="1"/>
          <p:nvPr/>
        </p:nvSpPr>
        <p:spPr>
          <a:xfrm>
            <a:off x="640080" y="4087368"/>
            <a:ext cx="2057400" cy="292608"/>
          </a:xfrm>
          <a:prstGeom prst="rect">
            <a:avLst/>
          </a:prstGeom>
          <a:noFill/>
          <a:ln/>
        </p:spPr>
        <p:txBody>
          <a:bodyPr wrap="square" lIns="0" tIns="0" rIns="0" bIns="0" rtlCol="0" anchor="ctr"/>
          <a:lstStyle/>
          <a:p>
            <a:pPr indent="0" marL="0">
              <a:buNone/>
            </a:pPr>
            <a:r>
              <a:rPr lang="en-US" sz="1200" dirty="0">
                <a:solidFill>
                  <a:srgbClr val="9AA8BC"/>
                </a:solidFill>
              </a:rPr>
              <a:t>서울 강동구 명일동</a:t>
            </a:r>
            <a:endParaRPr lang="en-US" sz="1200" dirty="0"/>
          </a:p>
        </p:txBody>
      </p:sp>
      <p:sp>
        <p:nvSpPr>
          <p:cNvPr id="7" name="Text 4"/>
          <p:cNvSpPr txBox="1"/>
          <p:nvPr/>
        </p:nvSpPr>
        <p:spPr>
          <a:xfrm>
            <a:off x="2788920" y="3703320"/>
            <a:ext cx="2057400" cy="384048"/>
          </a:xfrm>
          <a:prstGeom prst="rect">
            <a:avLst/>
          </a:prstGeom>
          <a:noFill/>
          <a:ln/>
        </p:spPr>
        <p:txBody>
          <a:bodyPr wrap="square" lIns="0" tIns="0" rIns="0" bIns="0" rtlCol="0" anchor="ctr"/>
          <a:lstStyle/>
          <a:p>
            <a:pPr indent="0" marL="0">
              <a:buNone/>
            </a:pPr>
            <a:r>
              <a:rPr lang="en-US" sz="1900" b="1" dirty="0">
                <a:solidFill>
                  <a:srgbClr val="FFFFFF"/>
                </a:solidFill>
              </a:rPr>
              <a:t>22×18×16m</a:t>
            </a:r>
            <a:endParaRPr lang="en-US" sz="1900" dirty="0"/>
          </a:p>
        </p:txBody>
      </p:sp>
      <p:sp>
        <p:nvSpPr>
          <p:cNvPr id="8" name="Text 5"/>
          <p:cNvSpPr txBox="1"/>
          <p:nvPr/>
        </p:nvSpPr>
        <p:spPr>
          <a:xfrm>
            <a:off x="2788920" y="4087368"/>
            <a:ext cx="2057400" cy="292608"/>
          </a:xfrm>
          <a:prstGeom prst="rect">
            <a:avLst/>
          </a:prstGeom>
          <a:noFill/>
          <a:ln/>
        </p:spPr>
        <p:txBody>
          <a:bodyPr wrap="square" lIns="0" tIns="0" rIns="0" bIns="0" rtlCol="0" anchor="ctr"/>
          <a:lstStyle/>
          <a:p>
            <a:pPr indent="0" marL="0">
              <a:buNone/>
            </a:pPr>
            <a:r>
              <a:rPr lang="en-US" sz="1200" dirty="0">
                <a:solidFill>
                  <a:srgbClr val="9AA8BC"/>
                </a:solidFill>
              </a:rPr>
              <a:t>길이, 폭, 깊이</a:t>
            </a:r>
            <a:endParaRPr lang="en-US" sz="1200" dirty="0"/>
          </a:p>
        </p:txBody>
      </p:sp>
      <p:sp>
        <p:nvSpPr>
          <p:cNvPr id="9" name="Text 6"/>
          <p:cNvSpPr txBox="1"/>
          <p:nvPr/>
        </p:nvSpPr>
        <p:spPr>
          <a:xfrm>
            <a:off x="4937760" y="3703320"/>
            <a:ext cx="2057400" cy="384048"/>
          </a:xfrm>
          <a:prstGeom prst="rect">
            <a:avLst/>
          </a:prstGeom>
          <a:noFill/>
          <a:ln/>
        </p:spPr>
        <p:txBody>
          <a:bodyPr wrap="square" lIns="0" tIns="0" rIns="0" bIns="0" rtlCol="0" anchor="ctr"/>
          <a:lstStyle/>
          <a:p>
            <a:pPr indent="0" marL="0">
              <a:buNone/>
            </a:pPr>
            <a:r>
              <a:rPr lang="en-US" sz="1900" b="1" dirty="0">
                <a:solidFill>
                  <a:srgbClr val="FFFFFF"/>
                </a:solidFill>
              </a:rPr>
              <a:t>사망 1 부상 1</a:t>
            </a:r>
            <a:endParaRPr lang="en-US" sz="1900" dirty="0"/>
          </a:p>
        </p:txBody>
      </p:sp>
      <p:sp>
        <p:nvSpPr>
          <p:cNvPr id="10" name="Text 7"/>
          <p:cNvSpPr txBox="1"/>
          <p:nvPr/>
        </p:nvSpPr>
        <p:spPr>
          <a:xfrm>
            <a:off x="4937760" y="4087368"/>
            <a:ext cx="2057400" cy="292608"/>
          </a:xfrm>
          <a:prstGeom prst="rect">
            <a:avLst/>
          </a:prstGeom>
          <a:noFill/>
          <a:ln/>
        </p:spPr>
        <p:txBody>
          <a:bodyPr wrap="square" lIns="0" tIns="0" rIns="0" bIns="0" rtlCol="0" anchor="ctr"/>
          <a:lstStyle/>
          <a:p>
            <a:pPr indent="0" marL="0">
              <a:buNone/>
            </a:pPr>
            <a:r>
              <a:rPr lang="en-US" sz="1200" dirty="0">
                <a:solidFill>
                  <a:srgbClr val="9AA8BC"/>
                </a:solidFill>
              </a:rPr>
              <a:t>인명 피해</a:t>
            </a:r>
            <a:endParaRPr lang="en-US" sz="1200" dirty="0"/>
          </a:p>
        </p:txBody>
      </p:sp>
      <p:sp>
        <p:nvSpPr>
          <p:cNvPr id="11" name="Text 8"/>
          <p:cNvSpPr txBox="1"/>
          <p:nvPr/>
        </p:nvSpPr>
        <p:spPr>
          <a:xfrm>
            <a:off x="640080" y="4892040"/>
            <a:ext cx="6400800" cy="502920"/>
          </a:xfrm>
          <a:prstGeom prst="rect">
            <a:avLst/>
          </a:prstGeom>
          <a:noFill/>
          <a:ln/>
        </p:spPr>
        <p:txBody>
          <a:bodyPr wrap="square" lIns="0" tIns="0" rIns="0" bIns="0" rtlCol="0" anchor="ctr"/>
          <a:lstStyle/>
          <a:p>
            <a:pPr indent="0" marL="0">
              <a:buNone/>
            </a:pPr>
            <a:r>
              <a:rPr lang="en-US" sz="2800" b="1" dirty="0">
                <a:solidFill>
                  <a:srgbClr val="FFFFFF"/>
                </a:solidFill>
              </a:rPr>
              <a:t>PV5 GroundWatch</a:t>
            </a:r>
            <a:endParaRPr lang="en-US" sz="2800" dirty="0"/>
          </a:p>
        </p:txBody>
      </p:sp>
      <p:sp>
        <p:nvSpPr>
          <p:cNvPr id="12" name="Text 9"/>
          <p:cNvSpPr txBox="1"/>
          <p:nvPr/>
        </p:nvSpPr>
        <p:spPr>
          <a:xfrm>
            <a:off x="640080" y="5394960"/>
            <a:ext cx="7315200" cy="365760"/>
          </a:xfrm>
          <a:prstGeom prst="rect">
            <a:avLst/>
          </a:prstGeom>
          <a:noFill/>
          <a:ln/>
        </p:spPr>
        <p:txBody>
          <a:bodyPr wrap="square" lIns="0" tIns="0" rIns="0" bIns="0" rtlCol="0" anchor="ctr"/>
          <a:lstStyle/>
          <a:p>
            <a:pPr indent="0" marL="0">
              <a:buNone/>
            </a:pPr>
            <a:r>
              <a:rPr lang="en-US" sz="1600" dirty="0">
                <a:solidFill>
                  <a:srgbClr val="C9D3E0"/>
                </a:solidFill>
              </a:rPr>
              <a:t>같은 도로를 반복 측정해 지하의 변화를 찾는 PV5 지하안전 순찰차</a:t>
            </a:r>
            <a:endParaRPr lang="en-US" sz="1600" dirty="0"/>
          </a:p>
        </p:txBody>
      </p:sp>
      <p:sp>
        <p:nvSpPr>
          <p:cNvPr id="13" name="Text 10"/>
          <p:cNvSpPr txBox="1"/>
          <p:nvPr/>
        </p:nvSpPr>
        <p:spPr>
          <a:xfrm>
            <a:off x="640080" y="5806440"/>
            <a:ext cx="6400800" cy="347472"/>
          </a:xfrm>
          <a:prstGeom prst="rect">
            <a:avLst/>
          </a:prstGeom>
          <a:noFill/>
          <a:ln/>
        </p:spPr>
        <p:txBody>
          <a:bodyPr wrap="square" lIns="0" tIns="0" rIns="0" bIns="0" rtlCol="0" anchor="ctr"/>
          <a:lstStyle/>
          <a:p>
            <a:pPr indent="0" marL="0">
              <a:buNone/>
            </a:pPr>
            <a:r>
              <a:rPr lang="en-US" sz="1500" b="1" dirty="0">
                <a:solidFill>
                  <a:srgbClr val="F5B400"/>
                </a:solidFill>
              </a:rPr>
              <a:t>팀 한 명이라도 살릴 수 있다면</a:t>
            </a:r>
            <a:endParaRPr lang="en-US" sz="1500" dirty="0"/>
          </a:p>
        </p:txBody>
      </p:sp>
      <p:sp>
        <p:nvSpPr>
          <p:cNvPr id="1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C9BB0"/>
                </a:solidFill>
              </a:rPr>
              <a:t>출처: 국토교통부, 중앙지하사고조사위원회 「서울 명일동 땅꺼짐 사고 조사결과」(2025.12.3). 배경은 개념 일러스트입니다.</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제안 배경</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붕괴는 갑자기 보였지만, 원인은 지하에서 쌓이고 있었다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사고조사위원회는 하나의 원인이 아니라 지하에서 오래 쌓인 조건들이 겹쳤다고 발표했습니다.</a:t>
            </a:r>
            <a:endParaRPr lang="en-US" sz="16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Text 3"/>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7" name="Text 4"/>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500" dirty="0">
                <a:solidFill>
                  <a:srgbClr val="101828"/>
                </a:solidFill>
              </a:rPr>
              <a:t>심층풍화대 불연속면이 만든 쐐기형 토체가 터널 굴착 중 미끄러짐</a:t>
            </a:r>
            <a:endParaRPr lang="en-US" sz="1500" dirty="0"/>
          </a:p>
        </p:txBody>
      </p:sp>
      <p:sp>
        <p:nvSpPr>
          <p:cNvPr id="8" name="Text 5"/>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9" name="Text 6"/>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500" dirty="0">
                <a:solidFill>
                  <a:srgbClr val="101828"/>
                </a:solidFill>
              </a:rPr>
              <a:t>인근 터널공사로 지하수위 최대 26m 저하</a:t>
            </a:r>
            <a:endParaRPr lang="en-US" sz="1500" dirty="0"/>
          </a:p>
        </p:txBody>
      </p:sp>
      <p:sp>
        <p:nvSpPr>
          <p:cNvPr id="10" name="Text 7"/>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1" name="Text 8"/>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500" dirty="0">
                <a:solidFill>
                  <a:srgbClr val="101828"/>
                </a:solidFill>
              </a:rPr>
              <a:t>노후 하수관의 장기 누수로 경계면 강도 저하</a:t>
            </a:r>
            <a:endParaRPr lang="en-US" sz="1500" dirty="0"/>
          </a:p>
        </p:txBody>
      </p:sp>
      <p:sp>
        <p:nvSpPr>
          <p:cNvPr id="12" name="Text 9"/>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3" name="Text 10"/>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500" dirty="0">
                <a:solidFill>
                  <a:srgbClr val="101828"/>
                </a:solidFill>
              </a:rPr>
              <a:t>강관보강 그라우팅의 지보 성능 한계</a:t>
            </a:r>
            <a:endParaRPr lang="en-US" sz="1500" dirty="0"/>
          </a:p>
        </p:txBody>
      </p:sp>
      <p:sp>
        <p:nvSpPr>
          <p:cNvPr id="14" name="rule"/>
          <p:cNvSpPr/>
          <p:nvPr/>
        </p:nvSpPr>
        <p:spPr>
          <a:xfrm>
            <a:off x="7498080" y="4663440"/>
            <a:ext cx="4142232" cy="0"/>
          </a:xfrm>
          <a:prstGeom prst="line">
            <a:avLst/>
          </a:prstGeom>
          <a:noFill/>
          <a:ln w="12700">
            <a:solidFill>
              <a:srgbClr val="DCE1E8"/>
            </a:solidFill>
            <a:prstDash val="solid"/>
          </a:ln>
        </p:spPr>
      </p:sp>
      <p:sp>
        <p:nvSpPr>
          <p:cNvPr id="15" name="Text 12"/>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500" b="1" dirty="0">
                <a:solidFill>
                  <a:srgbClr val="101828"/>
                </a:solidFill>
              </a:rPr>
              <a:t>결과: 도로 중앙선 부근에서 시작해 약 1~2분 만에 22×18×16m로 확대</a:t>
            </a:r>
            <a:endParaRPr lang="en-US" sz="1500" dirty="0"/>
          </a:p>
        </p:txBody>
      </p:sp>
      <p:sp>
        <p:nvSpPr>
          <p:cNvPr id="16" name="Text 13"/>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100" b="1" dirty="0">
                <a:solidFill>
                  <a:srgbClr val="5B6573"/>
                </a:solidFill>
              </a:rPr>
              <a:t>보이지 않음</a:t>
            </a:r>
            <a:endParaRPr lang="en-US" sz="2100" dirty="0"/>
          </a:p>
        </p:txBody>
      </p:sp>
      <p:sp>
        <p:nvSpPr>
          <p:cNvPr id="17" name="arrow"/>
          <p:cNvSpPr/>
          <p:nvPr/>
        </p:nvSpPr>
        <p:spPr>
          <a:xfrm>
            <a:off x="2258568" y="5513832"/>
            <a:ext cx="420624" cy="914"/>
          </a:xfrm>
          <a:prstGeom prst="line">
            <a:avLst/>
          </a:prstGeom>
          <a:noFill/>
          <a:ln w="22225">
            <a:solidFill>
              <a:srgbClr val="8A94A3"/>
            </a:solidFill>
            <a:prstDash val="solid"/>
            <a:tailEnd type="triangle"/>
          </a:ln>
        </p:spPr>
      </p:sp>
      <p:sp>
        <p:nvSpPr>
          <p:cNvPr id="18" name="Text 15"/>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100" b="1" dirty="0">
                <a:solidFill>
                  <a:srgbClr val="5B6573"/>
                </a:solidFill>
              </a:rPr>
              <a:t>쌓임</a:t>
            </a:r>
            <a:endParaRPr lang="en-US" sz="2100" dirty="0"/>
          </a:p>
        </p:txBody>
      </p:sp>
      <p:sp>
        <p:nvSpPr>
          <p:cNvPr id="19" name="arrow"/>
          <p:cNvSpPr/>
          <p:nvPr/>
        </p:nvSpPr>
        <p:spPr>
          <a:xfrm>
            <a:off x="3675888" y="5513832"/>
            <a:ext cx="420624" cy="914"/>
          </a:xfrm>
          <a:prstGeom prst="line">
            <a:avLst/>
          </a:prstGeom>
          <a:noFill/>
          <a:ln w="22225">
            <a:solidFill>
              <a:srgbClr val="8A94A3"/>
            </a:solidFill>
            <a:prstDash val="solid"/>
            <a:tailEnd type="triangle"/>
          </a:ln>
        </p:spPr>
      </p:sp>
      <p:sp>
        <p:nvSpPr>
          <p:cNvPr id="20" name="Text 17"/>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100" b="1" dirty="0">
                <a:solidFill>
                  <a:srgbClr val="D93025"/>
                </a:solidFill>
              </a:rPr>
              <a:t>갑자기 드러남</a:t>
            </a:r>
            <a:endParaRPr lang="en-US" sz="2100" dirty="0"/>
          </a:p>
        </p:txBody>
      </p:sp>
      <p:sp>
        <p:nvSpPr>
          <p:cNvPr id="21" name="Text 18"/>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800" b="1" dirty="0">
                <a:solidFill>
                  <a:srgbClr val="0B1F3A"/>
                </a:solidFill>
              </a:rPr>
              <a:t>사고 뒤의 복구보다, 사고 전의 변화를 관리해야 합니다.</a:t>
            </a:r>
            <a:endParaRPr lang="en-US" sz="1800" dirty="0"/>
          </a:p>
        </p:txBody>
      </p:sp>
      <p:sp>
        <p:nvSpPr>
          <p:cNvPr id="22"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3" name="Text 20"/>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팀 한 명이라도 살릴 수 있다면</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국토교통부 땅꺼짐 사고 조사결과(2025.12.3). 단면도는 조사 요소를 단순화한 개념도이며, GroundWatch가 이 사고를 막을 수 있었다는 뜻이 아닙니다.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현재 탐사 방식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서울시는 이미 GPR로 도로 아래를 탐사하고 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차량형 GPR로 넓게 선별하고 수동 GPR과 천공·내시경으로 확인합니다. GroundWatch는 이 체계를 보완합니다.</a:t>
            </a:r>
            <a:endParaRPr lang="en-US" sz="1600" dirty="0"/>
          </a:p>
        </p:txBody>
      </p:sp>
      <p:pic>
        <p:nvPicPr>
          <p:cNvPr id="5" name="method_vehicle" descr="/Users/seohogyun/Documents/git_workspace/pv5-hose-lab/groundwatch/images/method_vehicle.png">    </p:cNvPr>
          <p:cNvPicPr>
            <a:picLocks noChangeAspect="1"/>
          </p:cNvPicPr>
          <p:nvPr/>
        </p:nvPicPr>
        <p:blipFill>
          <a:blip r:embed="rId1"/>
          <a:stretch>
            <a:fillRect/>
          </a:stretch>
        </p:blipFill>
        <p:spPr>
          <a:xfrm>
            <a:off x="548640" y="1691640"/>
            <a:ext cx="3520440" cy="2103120"/>
          </a:xfrm>
          <a:prstGeom prst="rect">
            <a:avLst/>
          </a:prstGeom>
        </p:spPr>
      </p:pic>
      <p:sp>
        <p:nvSpPr>
          <p:cNvPr id="6" name="Text 3"/>
          <p:cNvSpPr txBox="1"/>
          <p:nvPr/>
        </p:nvSpPr>
        <p:spPr>
          <a:xfrm>
            <a:off x="548640" y="3931920"/>
            <a:ext cx="3520440" cy="365760"/>
          </a:xfrm>
          <a:prstGeom prst="rect">
            <a:avLst/>
          </a:prstGeom>
          <a:noFill/>
          <a:ln/>
        </p:spPr>
        <p:txBody>
          <a:bodyPr wrap="square" lIns="0" tIns="0" rIns="0" bIns="0" rtlCol="0" anchor="ctr"/>
          <a:lstStyle/>
          <a:p>
            <a:pPr indent="0" marL="0">
              <a:buNone/>
            </a:pPr>
            <a:r>
              <a:rPr lang="en-US" sz="1800" b="1" dirty="0">
                <a:solidFill>
                  <a:srgbClr val="101828"/>
                </a:solidFill>
              </a:rPr>
              <a:t>차량형 GPR</a:t>
            </a:r>
            <a:endParaRPr lang="en-US" sz="1800" dirty="0"/>
          </a:p>
        </p:txBody>
      </p:sp>
      <p:sp>
        <p:nvSpPr>
          <p:cNvPr id="7" name="Text 4"/>
          <p:cNvSpPr txBox="1"/>
          <p:nvPr/>
        </p:nvSpPr>
        <p:spPr>
          <a:xfrm>
            <a:off x="548640" y="4315968"/>
            <a:ext cx="3520440" cy="64008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8" name="Text 5"/>
          <p:cNvSpPr txBox="1"/>
          <p:nvPr/>
        </p:nvSpPr>
        <p:spPr>
          <a:xfrm>
            <a:off x="548640" y="4956048"/>
            <a:ext cx="3520440" cy="292608"/>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9" name="method_cart" descr="/Users/seohogyun/Documents/git_workspace/pv5-hose-lab/groundwatch/images/method_cart.png">    </p:cNvPr>
          <p:cNvPicPr>
            <a:picLocks noChangeAspect="1"/>
          </p:cNvPicPr>
          <p:nvPr/>
        </p:nvPicPr>
        <p:blipFill>
          <a:blip r:embed="rId2"/>
          <a:stretch>
            <a:fillRect/>
          </a:stretch>
        </p:blipFill>
        <p:spPr>
          <a:xfrm>
            <a:off x="4343400" y="1691640"/>
            <a:ext cx="3520440" cy="2103120"/>
          </a:xfrm>
          <a:prstGeom prst="rect">
            <a:avLst/>
          </a:prstGeom>
        </p:spPr>
      </p:pic>
      <p:sp>
        <p:nvSpPr>
          <p:cNvPr id="10" name="Text 6"/>
          <p:cNvSpPr txBox="1"/>
          <p:nvPr/>
        </p:nvSpPr>
        <p:spPr>
          <a:xfrm>
            <a:off x="4343400" y="3931920"/>
            <a:ext cx="3520440" cy="365760"/>
          </a:xfrm>
          <a:prstGeom prst="rect">
            <a:avLst/>
          </a:prstGeom>
          <a:noFill/>
          <a:ln/>
        </p:spPr>
        <p:txBody>
          <a:bodyPr wrap="square" lIns="0" tIns="0" rIns="0" bIns="0" rtlCol="0" anchor="ctr"/>
          <a:lstStyle/>
          <a:p>
            <a:pPr indent="0" marL="0">
              <a:buNone/>
            </a:pPr>
            <a:r>
              <a:rPr lang="en-US" sz="1800" b="1" dirty="0">
                <a:solidFill>
                  <a:srgbClr val="101828"/>
                </a:solidFill>
              </a:rPr>
              <a:t>수동(손수레형) GPR</a:t>
            </a:r>
            <a:endParaRPr lang="en-US" sz="1800" dirty="0"/>
          </a:p>
        </p:txBody>
      </p:sp>
      <p:sp>
        <p:nvSpPr>
          <p:cNvPr id="11" name="Text 7"/>
          <p:cNvSpPr txBox="1"/>
          <p:nvPr/>
        </p:nvSpPr>
        <p:spPr>
          <a:xfrm>
            <a:off x="4343400" y="4315968"/>
            <a:ext cx="3520440" cy="64008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2" name="Text 8"/>
          <p:cNvSpPr txBox="1"/>
          <p:nvPr/>
        </p:nvSpPr>
        <p:spPr>
          <a:xfrm>
            <a:off x="4343400" y="4956048"/>
            <a:ext cx="3520440" cy="292608"/>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3" name="method_scope" descr="/Users/seohogyun/Documents/git_workspace/pv5-hose-lab/groundwatch/images/method_scope.png">    </p:cNvPr>
          <p:cNvPicPr>
            <a:picLocks noChangeAspect="1"/>
          </p:cNvPicPr>
          <p:nvPr/>
        </p:nvPicPr>
        <p:blipFill>
          <a:blip r:embed="rId3"/>
          <a:stretch>
            <a:fillRect/>
          </a:stretch>
        </p:blipFill>
        <p:spPr>
          <a:xfrm>
            <a:off x="8138160" y="1691640"/>
            <a:ext cx="3520440" cy="2103120"/>
          </a:xfrm>
          <a:prstGeom prst="rect">
            <a:avLst/>
          </a:prstGeom>
        </p:spPr>
      </p:pic>
      <p:sp>
        <p:nvSpPr>
          <p:cNvPr id="14" name="Text 9"/>
          <p:cNvSpPr txBox="1"/>
          <p:nvPr/>
        </p:nvSpPr>
        <p:spPr>
          <a:xfrm>
            <a:off x="8138160" y="3931920"/>
            <a:ext cx="3520440" cy="365760"/>
          </a:xfrm>
          <a:prstGeom prst="rect">
            <a:avLst/>
          </a:prstGeom>
          <a:noFill/>
          <a:ln/>
        </p:spPr>
        <p:txBody>
          <a:bodyPr wrap="square" lIns="0" tIns="0" rIns="0" bIns="0" rtlCol="0" anchor="ctr"/>
          <a:lstStyle/>
          <a:p>
            <a:pPr indent="0" marL="0">
              <a:buNone/>
            </a:pPr>
            <a:r>
              <a:rPr lang="en-US" sz="1800" b="1" dirty="0">
                <a:solidFill>
                  <a:srgbClr val="101828"/>
                </a:solidFill>
              </a:rPr>
              <a:t>천공과 내시경</a:t>
            </a:r>
            <a:endParaRPr lang="en-US" sz="1800" dirty="0"/>
          </a:p>
        </p:txBody>
      </p:sp>
      <p:sp>
        <p:nvSpPr>
          <p:cNvPr id="15" name="Text 10"/>
          <p:cNvSpPr txBox="1"/>
          <p:nvPr/>
        </p:nvSpPr>
        <p:spPr>
          <a:xfrm>
            <a:off x="8138160" y="4315968"/>
            <a:ext cx="3520440" cy="64008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6" name="Text 11"/>
          <p:cNvSpPr txBox="1"/>
          <p:nvPr/>
        </p:nvSpPr>
        <p:spPr>
          <a:xfrm>
            <a:off x="8138160" y="4956048"/>
            <a:ext cx="3520440" cy="292608"/>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7" name="rule"/>
          <p:cNvSpPr/>
          <p:nvPr/>
        </p:nvSpPr>
        <p:spPr>
          <a:xfrm>
            <a:off x="548640" y="5440680"/>
            <a:ext cx="11094415" cy="0"/>
          </a:xfrm>
          <a:prstGeom prst="line">
            <a:avLst/>
          </a:prstGeom>
          <a:noFill/>
          <a:ln w="12700">
            <a:solidFill>
              <a:srgbClr val="DCE1E8"/>
            </a:solidFill>
            <a:prstDash val="solid"/>
          </a:ln>
        </p:spPr>
      </p:sp>
      <p:sp>
        <p:nvSpPr>
          <p:cNvPr id="18" name="Text 13"/>
          <p:cNvSpPr txBox="1"/>
          <p:nvPr/>
        </p:nvSpPr>
        <p:spPr>
          <a:xfrm>
            <a:off x="548640" y="5468112"/>
            <a:ext cx="2743200" cy="566928"/>
          </a:xfrm>
          <a:prstGeom prst="rect">
            <a:avLst/>
          </a:prstGeom>
          <a:noFill/>
          <a:ln/>
        </p:spPr>
        <p:txBody>
          <a:bodyPr wrap="square" lIns="0" tIns="0" rIns="0" bIns="0" rtlCol="0" anchor="b"/>
          <a:lstStyle/>
          <a:p>
            <a:pPr indent="0" marL="0">
              <a:buNone/>
            </a:pPr>
            <a:r>
              <a:rPr lang="en-US" sz="2600" b="1" dirty="0">
                <a:solidFill>
                  <a:srgbClr val="0B1F3A"/>
                </a:solidFill>
              </a:rPr>
              <a:t>33,129km</a:t>
            </a:r>
            <a:endParaRPr lang="en-US" sz="2600" dirty="0"/>
          </a:p>
        </p:txBody>
      </p:sp>
      <p:sp>
        <p:nvSpPr>
          <p:cNvPr id="19" name="Text 14"/>
          <p:cNvSpPr txBox="1"/>
          <p:nvPr/>
        </p:nvSpPr>
        <p:spPr>
          <a:xfrm>
            <a:off x="548640" y="6071616"/>
            <a:ext cx="2743200" cy="457200"/>
          </a:xfrm>
          <a:prstGeom prst="rect">
            <a:avLst/>
          </a:prstGeom>
          <a:noFill/>
          <a:ln/>
        </p:spPr>
        <p:txBody>
          <a:bodyPr wrap="square" lIns="0" tIns="0" rIns="0" bIns="0" rtlCol="0" anchor="t"/>
          <a:lstStyle/>
          <a:p>
            <a:pPr indent="0" marL="0">
              <a:buNone/>
            </a:pPr>
            <a:r>
              <a:rPr lang="en-US" sz="1300" dirty="0">
                <a:solidFill>
                  <a:srgbClr val="5B6573"/>
                </a:solidFill>
              </a:rPr>
              <a:t>누적 탐사 거리(2014~2025.9)</a:t>
            </a:r>
            <a:endParaRPr lang="en-US" sz="1300" dirty="0"/>
          </a:p>
        </p:txBody>
      </p:sp>
      <p:sp>
        <p:nvSpPr>
          <p:cNvPr id="20" name="Text 15"/>
          <p:cNvSpPr txBox="1"/>
          <p:nvPr/>
        </p:nvSpPr>
        <p:spPr>
          <a:xfrm>
            <a:off x="3383280" y="5468112"/>
            <a:ext cx="2743200" cy="566928"/>
          </a:xfrm>
          <a:prstGeom prst="rect">
            <a:avLst/>
          </a:prstGeom>
          <a:noFill/>
          <a:ln/>
        </p:spPr>
        <p:txBody>
          <a:bodyPr wrap="square" lIns="0" tIns="0" rIns="0" bIns="0" rtlCol="0" anchor="b"/>
          <a:lstStyle/>
          <a:p>
            <a:pPr indent="0" marL="0">
              <a:buNone/>
            </a:pPr>
            <a:r>
              <a:rPr lang="en-US" sz="2600" b="1" dirty="0">
                <a:solidFill>
                  <a:srgbClr val="0B1F3A"/>
                </a:solidFill>
              </a:rPr>
              <a:t>7,760개</a:t>
            </a:r>
            <a:endParaRPr lang="en-US" sz="2600" dirty="0"/>
          </a:p>
        </p:txBody>
      </p:sp>
      <p:sp>
        <p:nvSpPr>
          <p:cNvPr id="21" name="Text 16"/>
          <p:cNvSpPr txBox="1"/>
          <p:nvPr/>
        </p:nvSpPr>
        <p:spPr>
          <a:xfrm>
            <a:off x="3383280" y="6071616"/>
            <a:ext cx="2743200" cy="457200"/>
          </a:xfrm>
          <a:prstGeom prst="rect">
            <a:avLst/>
          </a:prstGeom>
          <a:noFill/>
          <a:ln/>
        </p:spPr>
        <p:txBody>
          <a:bodyPr wrap="square" lIns="0" tIns="0" rIns="0" bIns="0" rtlCol="0" anchor="t"/>
          <a:lstStyle/>
          <a:p>
            <a:pPr indent="0" marL="0">
              <a:buNone/>
            </a:pPr>
            <a:r>
              <a:rPr lang="en-US" sz="1300" dirty="0">
                <a:solidFill>
                  <a:srgbClr val="5B6573"/>
                </a:solidFill>
              </a:rPr>
              <a:t>같은 기간 발견한 공동</a:t>
            </a:r>
            <a:endParaRPr lang="en-US" sz="1300" dirty="0"/>
          </a:p>
        </p:txBody>
      </p:sp>
      <p:sp>
        <p:nvSpPr>
          <p:cNvPr id="22" name="Text 17"/>
          <p:cNvSpPr txBox="1"/>
          <p:nvPr/>
        </p:nvSpPr>
        <p:spPr>
          <a:xfrm>
            <a:off x="6217920" y="5468112"/>
            <a:ext cx="2743200" cy="566928"/>
          </a:xfrm>
          <a:prstGeom prst="rect">
            <a:avLst/>
          </a:prstGeom>
          <a:noFill/>
          <a:ln/>
        </p:spPr>
        <p:txBody>
          <a:bodyPr wrap="square" lIns="0" tIns="0" rIns="0" bIns="0" rtlCol="0" anchor="b"/>
          <a:lstStyle/>
          <a:p>
            <a:pPr indent="0" marL="0">
              <a:buNone/>
            </a:pPr>
            <a:r>
              <a:rPr lang="en-US" sz="2600" b="1" dirty="0">
                <a:solidFill>
                  <a:srgbClr val="0B1F3A"/>
                </a:solidFill>
              </a:rPr>
              <a:t>16,423km</a:t>
            </a:r>
            <a:endParaRPr lang="en-US" sz="2600" dirty="0"/>
          </a:p>
        </p:txBody>
      </p:sp>
      <p:sp>
        <p:nvSpPr>
          <p:cNvPr id="23" name="Text 18"/>
          <p:cNvSpPr txBox="1"/>
          <p:nvPr/>
        </p:nvSpPr>
        <p:spPr>
          <a:xfrm>
            <a:off x="6217920" y="6071616"/>
            <a:ext cx="2743200" cy="457200"/>
          </a:xfrm>
          <a:prstGeom prst="rect">
            <a:avLst/>
          </a:prstGeom>
          <a:noFill/>
          <a:ln/>
        </p:spPr>
        <p:txBody>
          <a:bodyPr wrap="square" lIns="0" tIns="0" rIns="0" bIns="0" rtlCol="0" anchor="t"/>
          <a:lstStyle/>
          <a:p>
            <a:pPr indent="0" marL="0">
              <a:buNone/>
            </a:pPr>
            <a:r>
              <a:rPr lang="en-US" sz="1300" dirty="0">
                <a:solidFill>
                  <a:srgbClr val="5B6573"/>
                </a:solidFill>
              </a:rPr>
              <a:t>2026년 탐사 계획</a:t>
            </a:r>
            <a:endParaRPr lang="en-US" sz="1300" dirty="0"/>
          </a:p>
        </p:txBody>
      </p:sp>
      <p:sp>
        <p:nvSpPr>
          <p:cNvPr id="24" name="Text 19"/>
          <p:cNvSpPr txBox="1"/>
          <p:nvPr/>
        </p:nvSpPr>
        <p:spPr>
          <a:xfrm>
            <a:off x="9052560" y="5468112"/>
            <a:ext cx="2743200" cy="566928"/>
          </a:xfrm>
          <a:prstGeom prst="rect">
            <a:avLst/>
          </a:prstGeom>
          <a:noFill/>
          <a:ln/>
        </p:spPr>
        <p:txBody>
          <a:bodyPr wrap="square" lIns="0" tIns="0" rIns="0" bIns="0" rtlCol="0" anchor="b"/>
          <a:lstStyle/>
          <a:p>
            <a:pPr indent="0" marL="0">
              <a:buNone/>
            </a:pPr>
            <a:r>
              <a:rPr lang="en-US" sz="2600" b="1" dirty="0">
                <a:solidFill>
                  <a:srgbClr val="0B1F3A"/>
                </a:solidFill>
              </a:rPr>
              <a:t>9명 → 19명</a:t>
            </a:r>
            <a:endParaRPr lang="en-US" sz="2600" dirty="0"/>
          </a:p>
        </p:txBody>
      </p:sp>
      <p:sp>
        <p:nvSpPr>
          <p:cNvPr id="25" name="Text 20"/>
          <p:cNvSpPr txBox="1"/>
          <p:nvPr/>
        </p:nvSpPr>
        <p:spPr>
          <a:xfrm>
            <a:off x="9052560" y="6071616"/>
            <a:ext cx="2743200" cy="457200"/>
          </a:xfrm>
          <a:prstGeom prst="rect">
            <a:avLst/>
          </a:prstGeom>
          <a:noFill/>
          <a:ln/>
        </p:spPr>
        <p:txBody>
          <a:bodyPr wrap="square" lIns="0" tIns="0" rIns="0" bIns="0" rtlCol="0" anchor="t"/>
          <a:lstStyle/>
          <a:p>
            <a:pPr indent="0" marL="0">
              <a:buNone/>
            </a:pPr>
            <a:r>
              <a:rPr lang="en-US" sz="1300" dirty="0">
                <a:solidFill>
                  <a:srgbClr val="5B6573"/>
                </a:solidFill>
              </a:rPr>
              <a:t>GPR 전담 인력</a:t>
            </a:r>
            <a:endParaRPr lang="en-US" sz="1300" dirty="0"/>
          </a:p>
        </p:txBody>
      </p:sp>
      <p:sp>
        <p:nvSpPr>
          <p:cNvPr id="2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서울시 차량탑재형 GPR 도입 자료, 서울시 지반침하 예방체계 강화 보도자료, 경향신문 2025.10.19(서울시 발표 인용), 세이프타임즈(탐지 깊이 2m)</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현재 방식의 공백</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탐사와 탐사 사이, 지하의 변화는 기록되지 않는다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2024년 연희동 성산로는 5월 정기 GPR 탐사에서 공동이 발견되지 않았고, 8월 29일 도로가 함몰됐습니다.</a:t>
            </a:r>
            <a:endParaRPr lang="en-US" sz="16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1006776" y="1554480"/>
            <a:ext cx="10178143" cy="2514600"/>
          </a:xfrm>
          <a:prstGeom prst="rect">
            <a:avLst/>
          </a:prstGeom>
        </p:spPr>
      </p:pic>
      <p:sp>
        <p:nvSpPr>
          <p:cNvPr id="6" name="bubble"/>
          <p:cNvSpPr txBox="1"/>
          <p:nvPr/>
        </p:nvSpPr>
        <p:spPr>
          <a:xfrm>
            <a:off x="4480560" y="1600200"/>
            <a:ext cx="3246120" cy="502920"/>
          </a:xfrm>
          <a:prstGeom prst="wedgeRectCallout">
            <a:avLst/>
          </a:prstGeom>
          <a:solidFill>
            <a:srgbClr val="D93025"/>
          </a:solidFill>
          <a:ln>
            <a:solidFill>
              <a:srgbClr val="D93025"/>
            </a:solidFill>
          </a:ln>
        </p:spPr>
        <p:txBody>
          <a:bodyPr wrap="square" lIns="76200" tIns="76200" rIns="76200" bIns="76200" rtlCol="0" anchor="ctr"/>
          <a:lstStyle/>
          <a:p>
            <a:pPr algn="ctr" indent="0" marL="0">
              <a:buNone/>
            </a:pPr>
            <a:r>
              <a:rPr lang="en-US" sz="1500" b="1" dirty="0">
                <a:solidFill>
                  <a:srgbClr val="FFFFFF"/>
                </a:solidFill>
              </a:rPr>
              <a:t>5월엔 없었고, 8월엔 무너졌습니다.</a:t>
            </a:r>
            <a:endParaRPr lang="en-US" sz="1500" dirty="0"/>
          </a:p>
        </p:txBody>
      </p:sp>
      <p:sp>
        <p:nvSpPr>
          <p:cNvPr id="7" name="rule"/>
          <p:cNvSpPr/>
          <p:nvPr/>
        </p:nvSpPr>
        <p:spPr>
          <a:xfrm>
            <a:off x="548640" y="4343400"/>
            <a:ext cx="2606040" cy="0"/>
          </a:xfrm>
          <a:prstGeom prst="line">
            <a:avLst/>
          </a:prstGeom>
          <a:noFill/>
          <a:ln w="12700">
            <a:solidFill>
              <a:srgbClr val="101828"/>
            </a:solidFill>
            <a:prstDash val="solid"/>
          </a:ln>
        </p:spPr>
      </p:sp>
      <p:sp>
        <p:nvSpPr>
          <p:cNvPr id="8" name="Text 5"/>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한 시점의 결과</a:t>
            </a:r>
            <a:endParaRPr lang="en-US" sz="1700" dirty="0"/>
          </a:p>
        </p:txBody>
      </p:sp>
      <p:sp>
        <p:nvSpPr>
          <p:cNvPr id="9" name="Text 6"/>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0" name="rule"/>
          <p:cNvSpPr/>
          <p:nvPr/>
        </p:nvSpPr>
        <p:spPr>
          <a:xfrm>
            <a:off x="3383280" y="4343400"/>
            <a:ext cx="2606040" cy="0"/>
          </a:xfrm>
          <a:prstGeom prst="line">
            <a:avLst/>
          </a:prstGeom>
          <a:noFill/>
          <a:ln w="12700">
            <a:solidFill>
              <a:srgbClr val="101828"/>
            </a:solidFill>
            <a:prstDash val="solid"/>
          </a:ln>
        </p:spPr>
      </p:sp>
      <p:sp>
        <p:nvSpPr>
          <p:cNvPr id="11" name="Text 8"/>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변화 추적</a:t>
            </a:r>
            <a:endParaRPr lang="en-US" sz="1700" dirty="0"/>
          </a:p>
        </p:txBody>
      </p:sp>
      <p:sp>
        <p:nvSpPr>
          <p:cNvPr id="12" name="Text 9"/>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3" name="rule"/>
          <p:cNvSpPr/>
          <p:nvPr/>
        </p:nvSpPr>
        <p:spPr>
          <a:xfrm>
            <a:off x="6217920" y="4343400"/>
            <a:ext cx="2606040" cy="0"/>
          </a:xfrm>
          <a:prstGeom prst="line">
            <a:avLst/>
          </a:prstGeom>
          <a:noFill/>
          <a:ln w="12700">
            <a:solidFill>
              <a:srgbClr val="101828"/>
            </a:solidFill>
            <a:prstDash val="solid"/>
          </a:ln>
        </p:spPr>
      </p:sp>
      <p:sp>
        <p:nvSpPr>
          <p:cNvPr id="14" name="Text 11"/>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다음 조사 순서</a:t>
            </a:r>
            <a:endParaRPr lang="en-US" sz="1700" dirty="0"/>
          </a:p>
        </p:txBody>
      </p:sp>
      <p:sp>
        <p:nvSpPr>
          <p:cNvPr id="15" name="Text 12"/>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6" name="rule"/>
          <p:cNvSpPr/>
          <p:nvPr/>
        </p:nvSpPr>
        <p:spPr>
          <a:xfrm>
            <a:off x="9052560" y="4343400"/>
            <a:ext cx="2606040" cy="0"/>
          </a:xfrm>
          <a:prstGeom prst="line">
            <a:avLst/>
          </a:prstGeom>
          <a:noFill/>
          <a:ln w="12700">
            <a:solidFill>
              <a:srgbClr val="101828"/>
            </a:solidFill>
            <a:prstDash val="solid"/>
          </a:ln>
        </p:spPr>
      </p:sp>
      <p:sp>
        <p:nvSpPr>
          <p:cNvPr id="17" name="Text 14"/>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700" b="1" dirty="0">
                <a:solidFill>
                  <a:srgbClr val="101828"/>
                </a:solidFill>
              </a:rPr>
              <a:t>같은 지점 찾기</a:t>
            </a:r>
            <a:endParaRPr lang="en-US" sz="1700" dirty="0"/>
          </a:p>
        </p:txBody>
      </p:sp>
      <p:sp>
        <p:nvSpPr>
          <p:cNvPr id="18" name="Text 15"/>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19" name="Text 16"/>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0"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뉴시스 2024.8.30(서울시 설명: 5.7~5.16 GPR 탐사차량 2대, 인력 16명 투입, 당시 빈 공간 미발견), 이투데이 2024.9. 연희동 함몰 규모는 공식 확인 전이라 쓰지 않았습니다.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솔루션 개요</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같은 길을 반복해서 보고, 달라진 곳만 다시 확인한다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순찰, 비교, 현장 재확인이 한 바퀴를 돌 때마다 같은 도로의 기록이 한 겹씩 쌓입니다.</a:t>
            </a:r>
            <a:endParaRPr lang="en-US" sz="1600" dirty="0"/>
          </a:p>
        </p:txBody>
      </p:sp>
      <p:pic>
        <p:nvPicPr>
          <p:cNvPr id="5" name="overview_pv5" descr="/Users/seohogyun/Documents/git_workspace/pv5-hose-lab/groundwatch/images/overview_pv5.pn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700" b="1" dirty="0">
                <a:solidFill>
                  <a:srgbClr val="101828"/>
                </a:solidFill>
              </a:rPr>
              <a:t>1  새벽 순찰</a:t>
            </a:r>
            <a:endParaRPr lang="en-US" sz="17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500" b="1" dirty="0">
                <a:solidFill>
                  <a:srgbClr val="FFFFFF"/>
                </a:solidFill>
              </a:rPr>
              <a:t>GPR, 카메라 수집</a:t>
            </a:r>
            <a:endParaRPr lang="en-US" sz="15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500" b="1" dirty="0">
                <a:solidFill>
                  <a:srgbClr val="FFFFFF"/>
                </a:solidFill>
              </a:rPr>
              <a:t>위치, 깊이, 시간 기록</a:t>
            </a:r>
            <a:endParaRPr lang="en-US" sz="15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500" b="1" dirty="0">
                <a:solidFill>
                  <a:srgbClr val="F5B400"/>
                </a:solidFill>
              </a:rPr>
              <a:t>이전 회차와 비교</a:t>
            </a:r>
            <a:endParaRPr lang="en-US" sz="15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500" b="1" dirty="0">
                <a:solidFill>
                  <a:srgbClr val="FFFFFF"/>
                </a:solidFill>
              </a:rPr>
              <a:t>4D 지하 변화지도</a:t>
            </a:r>
            <a:endParaRPr lang="en-US" sz="15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2  기록과 비교</a:t>
            </a:r>
            <a:endParaRPr lang="en-US" sz="17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500" b="1" dirty="0">
                <a:solidFill>
                  <a:srgbClr val="101828"/>
                </a:solidFill>
              </a:rPr>
              <a:t>차량 앱과 Edge Gateway</a:t>
            </a:r>
            <a:endParaRPr lang="en-US" sz="15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500" b="1" dirty="0">
                <a:solidFill>
                  <a:srgbClr val="101828"/>
                </a:solidFill>
              </a:rPr>
              <a:t>AR 글래스</a:t>
            </a:r>
            <a:endParaRPr lang="en-US" sz="15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500" b="1" dirty="0">
                <a:solidFill>
                  <a:srgbClr val="101828"/>
                </a:solidFill>
              </a:rPr>
              <a:t>수동 GPR 재탐사</a:t>
            </a:r>
            <a:endParaRPr lang="en-US" sz="15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700" b="1" dirty="0">
                <a:solidFill>
                  <a:srgbClr val="101828"/>
                </a:solidFill>
              </a:rPr>
              <a:t>3  현장 재확인</a:t>
            </a:r>
            <a:endParaRPr lang="en-US" sz="17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500" b="1" dirty="0">
                <a:solidFill>
                  <a:srgbClr val="0B1F3A"/>
                </a:solidFill>
              </a:rPr>
              <a:t>4  확인 결과가 다음 순찰과 AI 개선으로 돌아갑니다</a:t>
            </a:r>
            <a:endParaRPr lang="en-US" sz="1500" dirty="0"/>
          </a:p>
        </p:txBody>
      </p:sp>
      <p:sp>
        <p:nvSpPr>
          <p:cNvPr id="3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구성은 제안안이며 장비 사양과 통신 구조는 실증 단계에서 확정합니다.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Pretendard" pitchFamily="34" charset="0"/>
                <a:ea typeface="Pretendard" pitchFamily="34" charset="-122"/>
                <a:cs typeface="Pretendard" pitchFamily="34" charset="-120"/>
              </a:rPr>
              <a:t>PV5 GroundWatch</a:t>
            </a:r>
            <a:endParaRPr lang="en-US" sz="4000" dirty="0"/>
          </a:p>
        </p:txBody>
      </p:sp>
      <p:sp>
        <p:nvSpPr>
          <p:cNvPr id="3" name="sectionBand"/>
          <p:cNvSpPr/>
          <p:nvPr/>
        </p:nvSpPr>
        <p:spPr>
          <a:xfrm>
            <a:off x="3108960" y="1965960"/>
            <a:ext cx="5971032" cy="548640"/>
          </a:xfrm>
          <a:prstGeom prst="rect">
            <a:avLst/>
          </a:prstGeom>
          <a:solidFill>
            <a:srgbClr val="F5B400"/>
          </a:solidFill>
          <a:ln w="12700">
            <a:solidFill>
              <a:srgbClr val="F5B400"/>
            </a:solidFill>
            <a:prstDash val="solid"/>
          </a:ln>
        </p:spPr>
      </p:sp>
      <p:sp>
        <p:nvSpPr>
          <p:cNvPr id="4" name="Text 0"/>
          <p:cNvSpPr/>
          <p:nvPr>
            <p:ph idx="101" type="body" hasCustomPrompt="1"/>
          </p:nvPr>
        </p:nvSpPr>
        <p:spPr>
          <a:xfrm>
            <a:off x="3108960" y="1965960"/>
            <a:ext cx="5971032" cy="548640"/>
          </a:xfrm>
          <a:prstGeom prst="rect">
            <a:avLst/>
          </a:prstGeom>
          <a:noFill/>
          <a:ln/>
        </p:spPr>
        <p:txBody>
          <a:bodyPr wrap="square" lIns="0" tIns="0" rIns="0" bIns="0" rtlCol="0" anchor="ctr"/>
          <a:lstStyle/>
          <a:p>
            <a:pPr algn="ctr" indent="0" marL="0">
              <a:buNone/>
            </a:pPr>
            <a:r>
              <a:rPr lang="en-US" sz="2200" b="1" dirty="0">
                <a:solidFill>
                  <a:srgbClr val="101828"/>
                </a:solidFill>
                <a:latin typeface="Pretendard" pitchFamily="34" charset="0"/>
                <a:ea typeface="Pretendard" pitchFamily="34" charset="-122"/>
                <a:cs typeface="Pretendard" pitchFamily="34" charset="-120"/>
              </a:rPr>
              <a:t>지금 바로 적용 가능한 운영 모델</a:t>
            </a:r>
            <a:endParaRPr lang="en-US" sz="2200" dirty="0"/>
          </a:p>
        </p:txBody>
      </p:sp>
      <p:pic>
        <p:nvPicPr>
          <p:cNvPr id="5" name="dawn_plain" descr="/Users/seohogyun/Documents/git_workspace/pv5-hose-lab/groundwatch/images/dawn_plain.png">    </p:cNvPr>
          <p:cNvPicPr>
            <a:picLocks noChangeAspect="1"/>
          </p:cNvPicPr>
          <p:nvPr/>
        </p:nvPicPr>
        <p:blipFill>
          <a:blip r:embed="rId1"/>
          <a:stretch>
            <a:fillRect/>
          </a:stretch>
        </p:blipFill>
        <p:spPr>
          <a:xfrm>
            <a:off x="1417320" y="3017520"/>
            <a:ext cx="4526280" cy="2542032"/>
          </a:xfrm>
          <a:prstGeom prst="rect">
            <a:avLst/>
          </a:prstGeom>
        </p:spPr>
      </p:pic>
      <p:pic>
        <p:nvPicPr>
          <p:cNvPr id="6" name="cutaway" descr="/Users/seohogyun/Documents/git_workspace/pv5-hose-lab/groundwatch/images/cutaway.png">    </p:cNvPr>
          <p:cNvPicPr>
            <a:picLocks noChangeAspect="1"/>
          </p:cNvPicPr>
          <p:nvPr/>
        </p:nvPicPr>
        <p:blipFill>
          <a:blip r:embed="rId2"/>
          <a:stretch>
            <a:fillRect/>
          </a:stretch>
        </p:blipFill>
        <p:spPr>
          <a:xfrm>
            <a:off x="6263640" y="3276779"/>
            <a:ext cx="4526280" cy="2023513"/>
          </a:xfrm>
          <a:prstGeom prst="rect">
            <a:avLst/>
          </a:prstGeom>
        </p:spPr>
      </p:pic>
      <p:sp>
        <p:nvSpPr>
          <p:cNvPr id="7" name="Text 3"/>
          <p:cNvSpPr txBox="1"/>
          <p:nvPr/>
        </p:nvSpPr>
        <p:spPr>
          <a:xfrm>
            <a:off x="141732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새벽 정기순찰</a:t>
            </a:r>
            <a:endParaRPr lang="en-US" sz="1600" dirty="0"/>
          </a:p>
        </p:txBody>
      </p:sp>
      <p:sp>
        <p:nvSpPr>
          <p:cNvPr id="8" name="Text 4"/>
          <p:cNvSpPr txBox="1"/>
          <p:nvPr/>
        </p:nvSpPr>
        <p:spPr>
          <a:xfrm>
            <a:off x="626364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PV5 이동형 탐사실</a:t>
            </a:r>
            <a:endParaRPr lang="en-US" sz="16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 새벽 순찰</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교통량이 적은 시간에 도로 아래 변화를 기록합니다</a:t>
            </a:r>
            <a:endParaRPr lang="en-US" sz="1900" dirty="0"/>
          </a:p>
        </p:txBody>
      </p:sp>
      <p:pic>
        <p:nvPicPr>
          <p:cNvPr id="4" name="dawn_patrol" descr="/Users/seohogyun/Documents/git_workspace/pv5-hose-lab/groundwatch/images/dawn_patrol.png">    </p:cNvPr>
          <p:cNvPicPr>
            <a:picLocks noChangeAspect="1"/>
          </p:cNvPicPr>
          <p:nvPr/>
        </p:nvPicPr>
        <p:blipFill>
          <a:blip r:embed="rId1"/>
          <a:stretch>
            <a:fillRect/>
          </a:stretch>
        </p:blipFill>
        <p:spPr>
          <a:xfrm>
            <a:off x="0" y="960120"/>
            <a:ext cx="12191695" cy="5349240"/>
          </a:xfrm>
          <a:prstGeom prst="rect">
            <a:avLst/>
          </a:prstGeom>
        </p:spPr>
      </p:pic>
      <p:sp>
        <p:nvSpPr>
          <p:cNvPr id="5" name="Text 2"/>
          <p:cNvSpPr txBox="1"/>
          <p:nvPr/>
        </p:nvSpPr>
        <p:spPr>
          <a:xfrm>
            <a:off x="640080" y="1325880"/>
            <a:ext cx="5486400" cy="1188720"/>
          </a:xfrm>
          <a:prstGeom prst="rect">
            <a:avLst/>
          </a:prstGeom>
          <a:noFill/>
          <a:ln/>
        </p:spPr>
        <p:txBody>
          <a:bodyPr wrap="square" lIns="0" tIns="0" rIns="0" bIns="0" rtlCol="0" anchor="t"/>
          <a:lstStyle/>
          <a:p>
            <a:pPr indent="0" marL="0">
              <a:buNone/>
            </a:pPr>
            <a:r>
              <a:rPr lang="en-US" sz="3000" b="1" dirty="0">
                <a:solidFill>
                  <a:srgbClr val="FFFFFF"/>
                </a:solidFill>
              </a:rPr>
              <a:t>보이지 않는 위험은,</a:t>
            </a:r>
            <a:endParaRPr lang="en-US" sz="3000" dirty="0"/>
          </a:p>
          <a:p>
            <a:pPr indent="0" marL="0">
              <a:buNone/>
            </a:pPr>
            <a:r>
              <a:rPr lang="en-US" sz="3000" b="1" dirty="0">
                <a:solidFill>
                  <a:srgbClr val="FFFFFF"/>
                </a:solidFill>
              </a:rPr>
              <a:t>반복해서 봐야 보입니다.</a:t>
            </a:r>
            <a:endParaRPr lang="en-US" sz="3000" dirty="0"/>
          </a:p>
        </p:txBody>
      </p:sp>
      <p:pic>
        <p:nvPicPr>
          <p:cNvPr id="6" name="icon_moon_w" descr="/Users/seohogyun/Documents/git_workspace/pv5-hose-lab/groundwatch/images/ico_moon_w.png">    </p:cNvPr>
          <p:cNvPicPr>
            <a:picLocks noChangeAspect="1"/>
          </p:cNvPicPr>
          <p:nvPr/>
        </p:nvPicPr>
        <p:blipFill>
          <a:blip r:embed="rId2"/>
          <a:stretch>
            <a:fillRect/>
          </a:stretch>
        </p:blipFill>
        <p:spPr>
          <a:xfrm>
            <a:off x="640080" y="2880360"/>
            <a:ext cx="329184" cy="329184"/>
          </a:xfrm>
          <a:prstGeom prst="rect">
            <a:avLst/>
          </a:prstGeom>
        </p:spPr>
      </p:pic>
      <p:sp>
        <p:nvSpPr>
          <p:cNvPr id="7" name="Text 3"/>
          <p:cNvSpPr txBox="1"/>
          <p:nvPr/>
        </p:nvSpPr>
        <p:spPr>
          <a:xfrm>
            <a:off x="1115568" y="2852928"/>
            <a:ext cx="5486400" cy="402336"/>
          </a:xfrm>
          <a:prstGeom prst="rect">
            <a:avLst/>
          </a:prstGeom>
          <a:noFill/>
          <a:ln/>
        </p:spPr>
        <p:txBody>
          <a:bodyPr wrap="square" lIns="0" tIns="0" rIns="0" bIns="0" rtlCol="0" anchor="ctr"/>
          <a:lstStyle/>
          <a:p>
            <a:pPr indent="0" marL="0">
              <a:buNone/>
            </a:pPr>
            <a:r>
              <a:rPr lang="en-US" sz="1600" dirty="0">
                <a:solidFill>
                  <a:srgbClr val="E2E8F0"/>
                </a:solidFill>
              </a:rPr>
              <a:t>차량과 보행이 가장 적은 새벽에 반복 주행</a:t>
            </a:r>
            <a:endParaRPr lang="en-US" sz="1600" dirty="0"/>
          </a:p>
        </p:txBody>
      </p:sp>
      <p:pic>
        <p:nvPicPr>
          <p:cNvPr id="8" name="icon_car_w" descr="/Users/seohogyun/Documents/git_workspace/pv5-hose-lab/groundwatch/images/ico_car_w.png">    </p:cNvPr>
          <p:cNvPicPr>
            <a:picLocks noChangeAspect="1"/>
          </p:cNvPicPr>
          <p:nvPr/>
        </p:nvPicPr>
        <p:blipFill>
          <a:blip r:embed="rId3"/>
          <a:stretch>
            <a:fillRect/>
          </a:stretch>
        </p:blipFill>
        <p:spPr>
          <a:xfrm>
            <a:off x="640080" y="3447288"/>
            <a:ext cx="329184" cy="329184"/>
          </a:xfrm>
          <a:prstGeom prst="rect">
            <a:avLst/>
          </a:prstGeom>
        </p:spPr>
      </p:pic>
      <p:sp>
        <p:nvSpPr>
          <p:cNvPr id="9" name="Text 4"/>
          <p:cNvSpPr txBox="1"/>
          <p:nvPr/>
        </p:nvSpPr>
        <p:spPr>
          <a:xfrm>
            <a:off x="1115568" y="3419856"/>
            <a:ext cx="5486400" cy="402336"/>
          </a:xfrm>
          <a:prstGeom prst="rect">
            <a:avLst/>
          </a:prstGeom>
          <a:noFill/>
          <a:ln/>
        </p:spPr>
        <p:txBody>
          <a:bodyPr wrap="square" lIns="0" tIns="0" rIns="0" bIns="0" rtlCol="0" anchor="ctr"/>
          <a:lstStyle/>
          <a:p>
            <a:pPr indent="0" marL="0">
              <a:buNone/>
            </a:pPr>
            <a:r>
              <a:rPr lang="en-US" sz="1600" dirty="0">
                <a:solidFill>
                  <a:srgbClr val="E2E8F0"/>
                </a:solidFill>
              </a:rPr>
              <a:t>엔진 소음과 배기가스 없이 주택가 저속 운행</a:t>
            </a:r>
            <a:endParaRPr lang="en-US" sz="1600" dirty="0"/>
          </a:p>
        </p:txBody>
      </p:sp>
      <p:pic>
        <p:nvPicPr>
          <p:cNvPr id="10" name="icon_route_w" descr="/Users/seohogyun/Documents/git_workspace/pv5-hose-lab/groundwatch/images/ico_route_w.png">    </p:cNvPr>
          <p:cNvPicPr>
            <a:picLocks noChangeAspect="1"/>
          </p:cNvPicPr>
          <p:nvPr/>
        </p:nvPicPr>
        <p:blipFill>
          <a:blip r:embed="rId4"/>
          <a:stretch>
            <a:fillRect/>
          </a:stretch>
        </p:blipFill>
        <p:spPr>
          <a:xfrm>
            <a:off x="640080" y="4014216"/>
            <a:ext cx="329184" cy="329184"/>
          </a:xfrm>
          <a:prstGeom prst="rect">
            <a:avLst/>
          </a:prstGeom>
        </p:spPr>
      </p:pic>
      <p:sp>
        <p:nvSpPr>
          <p:cNvPr id="11" name="Text 5"/>
          <p:cNvSpPr txBox="1"/>
          <p:nvPr/>
        </p:nvSpPr>
        <p:spPr>
          <a:xfrm>
            <a:off x="1115568" y="3986784"/>
            <a:ext cx="5486400" cy="402336"/>
          </a:xfrm>
          <a:prstGeom prst="rect">
            <a:avLst/>
          </a:prstGeom>
          <a:noFill/>
          <a:ln/>
        </p:spPr>
        <p:txBody>
          <a:bodyPr wrap="square" lIns="0" tIns="0" rIns="0" bIns="0" rtlCol="0" anchor="ctr"/>
          <a:lstStyle/>
          <a:p>
            <a:pPr indent="0" marL="0">
              <a:buNone/>
            </a:pPr>
            <a:r>
              <a:rPr lang="en-US" sz="1600" dirty="0">
                <a:solidFill>
                  <a:srgbClr val="E2E8F0"/>
                </a:solidFill>
              </a:rPr>
              <a:t>같은 경로, 같은 장비로 회차끼리 비교</a:t>
            </a:r>
            <a:endParaRPr lang="en-US" sz="1600" dirty="0"/>
          </a:p>
        </p:txBody>
      </p:sp>
      <p:sp>
        <p:nvSpPr>
          <p:cNvPr id="12" name="bubble"/>
          <p:cNvSpPr txBox="1"/>
          <p:nvPr/>
        </p:nvSpPr>
        <p:spPr>
          <a:xfrm>
            <a:off x="7863840" y="1280160"/>
            <a:ext cx="3566160" cy="566928"/>
          </a:xfrm>
          <a:prstGeom prst="wedgeRectCallout">
            <a:avLst/>
          </a:prstGeom>
          <a:solidFill>
            <a:srgbClr val="F5B400"/>
          </a:solidFill>
          <a:ln>
            <a:solidFill>
              <a:srgbClr val="F5B400"/>
            </a:solidFill>
          </a:ln>
        </p:spPr>
        <p:txBody>
          <a:bodyPr wrap="square" lIns="76200" tIns="76200" rIns="76200" bIns="76200" rtlCol="0" anchor="ctr"/>
          <a:lstStyle/>
          <a:p>
            <a:pPr algn="ctr" indent="0" marL="0">
              <a:buNone/>
            </a:pPr>
            <a:r>
              <a:rPr lang="en-US" sz="1400" b="1" dirty="0">
                <a:solidFill>
                  <a:srgbClr val="101828"/>
                </a:solidFill>
              </a:rPr>
              <a:t>어제와 같은 길, 같은 장비, 같은 속도</a:t>
            </a:r>
            <a:endParaRPr lang="en-US" sz="14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개념 일러스트. 저속 운행 시 실제 소음과 주행거리 영향은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 이동형 탐사실</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PV5는 센서 운반차가 아니라 이동형 탐사·분석·검증 플랫폼</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장비를 차량에 고정해 회차마다 같은 측정 환경을 유지하고, 차 안에서 분석하고, 내려서 검증합니다.</a:t>
            </a:r>
            <a:endParaRPr lang="en-US" sz="1600" dirty="0"/>
          </a:p>
        </p:txBody>
      </p:sp>
      <p:pic>
        <p:nvPicPr>
          <p:cNvPr id="5" name="cutaway" descr="/Users/seohogyun/Documents/git_workspace/pv5-hose-lab/groundwatch/images/cutaway.png">    </p:cNvPr>
          <p:cNvPicPr>
            <a:picLocks noChangeAspect="1"/>
          </p:cNvPicPr>
          <p:nvPr/>
        </p:nvPicPr>
        <p:blipFill>
          <a:blip r:embed="rId1"/>
          <a:stretch>
            <a:fillRect/>
          </a:stretch>
        </p:blipFill>
        <p:spPr>
          <a:xfrm>
            <a:off x="548640" y="1555287"/>
            <a:ext cx="6766560" cy="3025050"/>
          </a:xfrm>
          <a:prstGeom prst="rect">
            <a:avLst/>
          </a:prstGeom>
        </p:spPr>
      </p:pic>
      <p:sp>
        <p:nvSpPr>
          <p:cNvPr id="6" name="dot"/>
          <p:cNvSpPr/>
          <p:nvPr/>
        </p:nvSpPr>
        <p:spPr>
          <a:xfrm>
            <a:off x="7589520" y="1563624"/>
            <a:ext cx="146304" cy="146304"/>
          </a:xfrm>
          <a:prstGeom prst="ellipse">
            <a:avLst/>
          </a:prstGeom>
          <a:solidFill>
            <a:srgbClr val="101828"/>
          </a:solidFill>
          <a:ln w="12700">
            <a:solidFill>
              <a:srgbClr val="101828"/>
            </a:solidFill>
            <a:prstDash val="solid"/>
          </a:ln>
        </p:spPr>
      </p:sp>
      <p:sp>
        <p:nvSpPr>
          <p:cNvPr id="7" name="Text 4"/>
          <p:cNvSpPr txBox="1"/>
          <p:nvPr/>
        </p:nvSpPr>
        <p:spPr>
          <a:xfrm>
            <a:off x="7845552" y="1481328"/>
            <a:ext cx="3794760" cy="310896"/>
          </a:xfrm>
          <a:prstGeom prst="rect">
            <a:avLst/>
          </a:prstGeom>
          <a:noFill/>
          <a:ln/>
        </p:spPr>
        <p:txBody>
          <a:bodyPr wrap="square" lIns="0" tIns="0" rIns="0" bIns="0" rtlCol="0" anchor="ctr"/>
          <a:lstStyle/>
          <a:p>
            <a:pPr indent="0" marL="0">
              <a:buNone/>
            </a:pPr>
            <a:r>
              <a:rPr lang="en-US" sz="1500" b="1" dirty="0">
                <a:solidFill>
                  <a:srgbClr val="101828"/>
                </a:solidFill>
              </a:rPr>
              <a:t>외부</a:t>
            </a:r>
            <a:endParaRPr lang="en-US" sz="1500" dirty="0"/>
          </a:p>
        </p:txBody>
      </p:sp>
      <p:sp>
        <p:nvSpPr>
          <p:cNvPr id="8" name="Text 5"/>
          <p:cNvSpPr txBox="1"/>
          <p:nvPr/>
        </p:nvSpPr>
        <p:spPr>
          <a:xfrm>
            <a:off x="7845552" y="1773936"/>
            <a:ext cx="3794760" cy="512064"/>
          </a:xfrm>
          <a:prstGeom prst="rect">
            <a:avLst/>
          </a:prstGeom>
          <a:noFill/>
          <a:ln/>
        </p:spPr>
        <p:txBody>
          <a:bodyPr wrap="square" lIns="0" tIns="0" rIns="0" bIns="0" rtlCol="0" anchor="t"/>
          <a:lstStyle/>
          <a:p>
            <a:pPr indent="0" marL="0">
              <a:buNone/>
            </a:pPr>
            <a:r>
              <a:rPr lang="en-US" sz="1200" dirty="0">
                <a:solidFill>
                  <a:srgbClr val="5B6573"/>
                </a:solidFill>
              </a:rPr>
              <a:t>후방 하부 다채널 GPR, 전방·좌우·후방 카메라, RTK-GNSS, IMU, 휠 인코더, 거리 센서, 노면 조명과 경광장치</a:t>
            </a:r>
            <a:endParaRPr lang="en-US" sz="1200" dirty="0"/>
          </a:p>
        </p:txBody>
      </p:sp>
      <p:sp>
        <p:nvSpPr>
          <p:cNvPr id="9" name="dot"/>
          <p:cNvSpPr/>
          <p:nvPr/>
        </p:nvSpPr>
        <p:spPr>
          <a:xfrm>
            <a:off x="7589520" y="2386584"/>
            <a:ext cx="146304" cy="146304"/>
          </a:xfrm>
          <a:prstGeom prst="ellipse">
            <a:avLst/>
          </a:prstGeom>
          <a:solidFill>
            <a:srgbClr val="1C64B5"/>
          </a:solidFill>
          <a:ln w="12700">
            <a:solidFill>
              <a:srgbClr val="1C64B5"/>
            </a:solidFill>
            <a:prstDash val="solid"/>
          </a:ln>
        </p:spPr>
      </p:sp>
      <p:sp>
        <p:nvSpPr>
          <p:cNvPr id="10" name="Text 7"/>
          <p:cNvSpPr txBox="1"/>
          <p:nvPr/>
        </p:nvSpPr>
        <p:spPr>
          <a:xfrm>
            <a:off x="7845552" y="2304288"/>
            <a:ext cx="3794760" cy="310896"/>
          </a:xfrm>
          <a:prstGeom prst="rect">
            <a:avLst/>
          </a:prstGeom>
          <a:noFill/>
          <a:ln/>
        </p:spPr>
        <p:txBody>
          <a:bodyPr wrap="square" lIns="0" tIns="0" rIns="0" bIns="0" rtlCol="0" anchor="ctr"/>
          <a:lstStyle/>
          <a:p>
            <a:pPr indent="0" marL="0">
              <a:buNone/>
            </a:pPr>
            <a:r>
              <a:rPr lang="en-US" sz="1500" b="1" dirty="0">
                <a:solidFill>
                  <a:srgbClr val="101828"/>
                </a:solidFill>
              </a:rPr>
              <a:t>화물실 전방</a:t>
            </a:r>
            <a:endParaRPr lang="en-US" sz="1500" dirty="0"/>
          </a:p>
        </p:txBody>
      </p:sp>
      <p:sp>
        <p:nvSpPr>
          <p:cNvPr id="11" name="Text 8"/>
          <p:cNvSpPr txBox="1"/>
          <p:nvPr/>
        </p:nvSpPr>
        <p:spPr>
          <a:xfrm>
            <a:off x="7845552" y="2596896"/>
            <a:ext cx="3794760" cy="512064"/>
          </a:xfrm>
          <a:prstGeom prst="rect">
            <a:avLst/>
          </a:prstGeom>
          <a:noFill/>
          <a:ln/>
        </p:spPr>
        <p:txBody>
          <a:bodyPr wrap="square" lIns="0" tIns="0" rIns="0" bIns="0" rtlCol="0" anchor="t"/>
          <a:lstStyle/>
          <a:p>
            <a:pPr indent="0" marL="0">
              <a:buNone/>
            </a:pPr>
            <a:r>
              <a:rPr lang="en-US" sz="1200" dirty="0">
                <a:solidFill>
                  <a:srgbClr val="5B6573"/>
                </a:solidFill>
              </a:rPr>
              <a:t>Edge Gateway, 산업용 엣지 AI 컴퓨터, GPR 제어장치, 저장장치, 보안 네트워크, RTK 수신, 전원 분배</a:t>
            </a:r>
            <a:endParaRPr lang="en-US" sz="1200" dirty="0"/>
          </a:p>
        </p:txBody>
      </p:sp>
      <p:sp>
        <p:nvSpPr>
          <p:cNvPr id="12" name="dot"/>
          <p:cNvSpPr/>
          <p:nvPr/>
        </p:nvSpPr>
        <p:spPr>
          <a:xfrm>
            <a:off x="7589520" y="3209544"/>
            <a:ext cx="146304" cy="146304"/>
          </a:xfrm>
          <a:prstGeom prst="ellipse">
            <a:avLst/>
          </a:prstGeom>
          <a:solidFill>
            <a:srgbClr val="0B1F3A"/>
          </a:solidFill>
          <a:ln w="12700">
            <a:solidFill>
              <a:srgbClr val="0B1F3A"/>
            </a:solidFill>
            <a:prstDash val="solid"/>
          </a:ln>
        </p:spPr>
      </p:sp>
      <p:sp>
        <p:nvSpPr>
          <p:cNvPr id="13" name="Text 10"/>
          <p:cNvSpPr txBox="1"/>
          <p:nvPr/>
        </p:nvSpPr>
        <p:spPr>
          <a:xfrm>
            <a:off x="7845552" y="3127248"/>
            <a:ext cx="3794760" cy="310896"/>
          </a:xfrm>
          <a:prstGeom prst="rect">
            <a:avLst/>
          </a:prstGeom>
          <a:noFill/>
          <a:ln/>
        </p:spPr>
        <p:txBody>
          <a:bodyPr wrap="square" lIns="0" tIns="0" rIns="0" bIns="0" rtlCol="0" anchor="ctr"/>
          <a:lstStyle/>
          <a:p>
            <a:pPr indent="0" marL="0">
              <a:buNone/>
            </a:pPr>
            <a:r>
              <a:rPr lang="en-US" sz="1500" b="1" dirty="0">
                <a:solidFill>
                  <a:srgbClr val="101828"/>
                </a:solidFill>
              </a:rPr>
              <a:t>화물실 측면</a:t>
            </a:r>
            <a:endParaRPr lang="en-US" sz="1500" dirty="0"/>
          </a:p>
        </p:txBody>
      </p:sp>
      <p:sp>
        <p:nvSpPr>
          <p:cNvPr id="14" name="Text 11"/>
          <p:cNvSpPr txBox="1"/>
          <p:nvPr/>
        </p:nvSpPr>
        <p:spPr>
          <a:xfrm>
            <a:off x="7845552" y="3419856"/>
            <a:ext cx="3794760" cy="512064"/>
          </a:xfrm>
          <a:prstGeom prst="rect">
            <a:avLst/>
          </a:prstGeom>
          <a:noFill/>
          <a:ln/>
        </p:spPr>
        <p:txBody>
          <a:bodyPr wrap="square" lIns="0" tIns="0" rIns="0" bIns="0" rtlCol="0" anchor="t"/>
          <a:lstStyle/>
          <a:p>
            <a:pPr indent="0" marL="0">
              <a:buNone/>
            </a:pPr>
            <a:r>
              <a:rPr lang="en-US" sz="1200" dirty="0">
                <a:solidFill>
                  <a:srgbClr val="5B6573"/>
                </a:solidFill>
              </a:rPr>
              <a:t>지면 밀착형 수동 GPR, AR 글래스와 충전 보관함, RTK 이동국, 현장 기준 마커, 교체형 안테나</a:t>
            </a:r>
            <a:endParaRPr lang="en-US" sz="1200" dirty="0"/>
          </a:p>
        </p:txBody>
      </p:sp>
      <p:sp>
        <p:nvSpPr>
          <p:cNvPr id="15" name="dot"/>
          <p:cNvSpPr/>
          <p:nvPr/>
        </p:nvSpPr>
        <p:spPr>
          <a:xfrm>
            <a:off x="7589520" y="4032504"/>
            <a:ext cx="146304" cy="146304"/>
          </a:xfrm>
          <a:prstGeom prst="ellipse">
            <a:avLst/>
          </a:prstGeom>
          <a:solidFill>
            <a:srgbClr val="B4232A"/>
          </a:solidFill>
          <a:ln w="12700">
            <a:solidFill>
              <a:srgbClr val="B4232A"/>
            </a:solidFill>
            <a:prstDash val="solid"/>
          </a:ln>
        </p:spPr>
      </p:sp>
      <p:sp>
        <p:nvSpPr>
          <p:cNvPr id="16" name="Text 13"/>
          <p:cNvSpPr txBox="1"/>
          <p:nvPr/>
        </p:nvSpPr>
        <p:spPr>
          <a:xfrm>
            <a:off x="7845552" y="3950208"/>
            <a:ext cx="3794760" cy="310896"/>
          </a:xfrm>
          <a:prstGeom prst="rect">
            <a:avLst/>
          </a:prstGeom>
          <a:noFill/>
          <a:ln/>
        </p:spPr>
        <p:txBody>
          <a:bodyPr wrap="square" lIns="0" tIns="0" rIns="0" bIns="0" rtlCol="0" anchor="ctr"/>
          <a:lstStyle/>
          <a:p>
            <a:pPr indent="0" marL="0">
              <a:buNone/>
            </a:pPr>
            <a:r>
              <a:rPr lang="en-US" sz="1500" b="1" dirty="0">
                <a:solidFill>
                  <a:srgbClr val="101828"/>
                </a:solidFill>
              </a:rPr>
              <a:t>화물실 후방</a:t>
            </a:r>
            <a:endParaRPr lang="en-US" sz="1500" dirty="0"/>
          </a:p>
        </p:txBody>
      </p:sp>
      <p:sp>
        <p:nvSpPr>
          <p:cNvPr id="17" name="Text 14"/>
          <p:cNvSpPr txBox="1"/>
          <p:nvPr/>
        </p:nvSpPr>
        <p:spPr>
          <a:xfrm>
            <a:off x="7845552" y="4242816"/>
            <a:ext cx="3794760" cy="512064"/>
          </a:xfrm>
          <a:prstGeom prst="rect">
            <a:avLst/>
          </a:prstGeom>
          <a:noFill/>
          <a:ln/>
        </p:spPr>
        <p:txBody>
          <a:bodyPr wrap="square" lIns="0" tIns="0" rIns="0" bIns="0" rtlCol="0" anchor="t"/>
          <a:lstStyle/>
          <a:p>
            <a:pPr indent="0" marL="0">
              <a:buNone/>
            </a:pPr>
            <a:r>
              <a:rPr lang="en-US" sz="1200" dirty="0">
                <a:solidFill>
                  <a:srgbClr val="5B6573"/>
                </a:solidFill>
              </a:rPr>
              <a:t>관로 내시경, 작업 조명, 안전 표지판, 라바콘, 반사조끼, 개인보호장비, 세척·점검 도구</a:t>
            </a:r>
            <a:endParaRPr lang="en-US" sz="1200" dirty="0"/>
          </a:p>
        </p:txBody>
      </p:sp>
      <p:sp>
        <p:nvSpPr>
          <p:cNvPr id="18" name="rule"/>
          <p:cNvSpPr/>
          <p:nvPr/>
        </p:nvSpPr>
        <p:spPr>
          <a:xfrm>
            <a:off x="548640" y="4846320"/>
            <a:ext cx="11094415" cy="0"/>
          </a:xfrm>
          <a:prstGeom prst="line">
            <a:avLst/>
          </a:prstGeom>
          <a:noFill/>
          <a:ln w="12700">
            <a:solidFill>
              <a:srgbClr val="DCE1E8"/>
            </a:solidFill>
            <a:prstDash val="solid"/>
          </a:ln>
        </p:spPr>
      </p:sp>
      <p:sp>
        <p:nvSpPr>
          <p:cNvPr id="19" name="Text 16"/>
          <p:cNvSpPr txBox="1"/>
          <p:nvPr/>
        </p:nvSpPr>
        <p:spPr>
          <a:xfrm>
            <a:off x="548640" y="4919472"/>
            <a:ext cx="2423160" cy="566928"/>
          </a:xfrm>
          <a:prstGeom prst="rect">
            <a:avLst/>
          </a:prstGeom>
          <a:noFill/>
          <a:ln/>
        </p:spPr>
        <p:txBody>
          <a:bodyPr wrap="square" lIns="0" tIns="0" rIns="0" bIns="0" rtlCol="0" anchor="b"/>
          <a:lstStyle/>
          <a:p>
            <a:pPr indent="0" marL="0">
              <a:buNone/>
            </a:pPr>
            <a:r>
              <a:rPr lang="en-US" sz="1800" b="1" dirty="0">
                <a:solidFill>
                  <a:srgbClr val="0B1F3A"/>
                </a:solidFill>
              </a:rPr>
              <a:t>2,255×1,565×1,520mm</a:t>
            </a:r>
            <a:endParaRPr lang="en-US" sz="1800" dirty="0"/>
          </a:p>
        </p:txBody>
      </p:sp>
      <p:sp>
        <p:nvSpPr>
          <p:cNvPr id="20" name="Text 17"/>
          <p:cNvSpPr txBox="1"/>
          <p:nvPr/>
        </p:nvSpPr>
        <p:spPr>
          <a:xfrm>
            <a:off x="548640" y="5522976"/>
            <a:ext cx="2423160" cy="457200"/>
          </a:xfrm>
          <a:prstGeom prst="rect">
            <a:avLst/>
          </a:prstGeom>
          <a:noFill/>
          <a:ln/>
        </p:spPr>
        <p:txBody>
          <a:bodyPr wrap="square" lIns="0" tIns="0" rIns="0" bIns="0" rtlCol="0" anchor="t"/>
          <a:lstStyle/>
          <a:p>
            <a:pPr indent="0" marL="0">
              <a:buNone/>
            </a:pPr>
            <a:r>
              <a:rPr lang="en-US" sz="1300" dirty="0">
                <a:solidFill>
                  <a:srgbClr val="5B6573"/>
                </a:solidFill>
              </a:rPr>
              <a:t>카고룸 길이, 폭, 높이(4,420L)</a:t>
            </a:r>
            <a:endParaRPr lang="en-US" sz="1300" dirty="0"/>
          </a:p>
        </p:txBody>
      </p:sp>
      <p:sp>
        <p:nvSpPr>
          <p:cNvPr id="21" name="Text 18"/>
          <p:cNvSpPr txBox="1"/>
          <p:nvPr/>
        </p:nvSpPr>
        <p:spPr>
          <a:xfrm>
            <a:off x="3063240" y="4919472"/>
            <a:ext cx="2423160" cy="566928"/>
          </a:xfrm>
          <a:prstGeom prst="rect">
            <a:avLst/>
          </a:prstGeom>
          <a:noFill/>
          <a:ln/>
        </p:spPr>
        <p:txBody>
          <a:bodyPr wrap="square" lIns="0" tIns="0" rIns="0" bIns="0" rtlCol="0" anchor="b"/>
          <a:lstStyle/>
          <a:p>
            <a:pPr indent="0" marL="0">
              <a:buNone/>
            </a:pPr>
            <a:r>
              <a:rPr lang="en-US" sz="2400" b="1" dirty="0">
                <a:solidFill>
                  <a:srgbClr val="0B1F3A"/>
                </a:solidFill>
              </a:rPr>
              <a:t>419mm</a:t>
            </a:r>
            <a:endParaRPr lang="en-US" sz="2400" dirty="0"/>
          </a:p>
        </p:txBody>
      </p:sp>
      <p:sp>
        <p:nvSpPr>
          <p:cNvPr id="22" name="Text 19"/>
          <p:cNvSpPr txBox="1"/>
          <p:nvPr/>
        </p:nvSpPr>
        <p:spPr>
          <a:xfrm>
            <a:off x="3063240" y="5522976"/>
            <a:ext cx="2423160" cy="457200"/>
          </a:xfrm>
          <a:prstGeom prst="rect">
            <a:avLst/>
          </a:prstGeom>
          <a:noFill/>
          <a:ln/>
        </p:spPr>
        <p:txBody>
          <a:bodyPr wrap="square" lIns="0" tIns="0" rIns="0" bIns="0" rtlCol="0" anchor="t"/>
          <a:lstStyle/>
          <a:p>
            <a:pPr indent="0" marL="0">
              <a:buNone/>
            </a:pPr>
            <a:r>
              <a:rPr lang="en-US" sz="1300" dirty="0">
                <a:solidFill>
                  <a:srgbClr val="5B6573"/>
                </a:solidFill>
              </a:rPr>
              <a:t>적재고, 장비 상하차</a:t>
            </a:r>
            <a:endParaRPr lang="en-US" sz="1300" dirty="0"/>
          </a:p>
        </p:txBody>
      </p:sp>
      <p:sp>
        <p:nvSpPr>
          <p:cNvPr id="23" name="Text 20"/>
          <p:cNvSpPr txBox="1"/>
          <p:nvPr/>
        </p:nvSpPr>
        <p:spPr>
          <a:xfrm>
            <a:off x="5577840" y="4919472"/>
            <a:ext cx="2423160" cy="566928"/>
          </a:xfrm>
          <a:prstGeom prst="rect">
            <a:avLst/>
          </a:prstGeom>
          <a:noFill/>
          <a:ln/>
        </p:spPr>
        <p:txBody>
          <a:bodyPr wrap="square" lIns="0" tIns="0" rIns="0" bIns="0" rtlCol="0" anchor="b"/>
          <a:lstStyle/>
          <a:p>
            <a:pPr indent="0" marL="0">
              <a:buNone/>
            </a:pPr>
            <a:r>
              <a:rPr lang="en-US" sz="2400" b="1" dirty="0">
                <a:solidFill>
                  <a:srgbClr val="0B1F3A"/>
                </a:solidFill>
              </a:rPr>
              <a:t>최대 3.6kW</a:t>
            </a:r>
            <a:endParaRPr lang="en-US" sz="2400" dirty="0"/>
          </a:p>
        </p:txBody>
      </p:sp>
      <p:sp>
        <p:nvSpPr>
          <p:cNvPr id="24" name="Text 21"/>
          <p:cNvSpPr txBox="1"/>
          <p:nvPr/>
        </p:nvSpPr>
        <p:spPr>
          <a:xfrm>
            <a:off x="5577840" y="5522976"/>
            <a:ext cx="2423160" cy="457200"/>
          </a:xfrm>
          <a:prstGeom prst="rect">
            <a:avLst/>
          </a:prstGeom>
          <a:noFill/>
          <a:ln/>
        </p:spPr>
        <p:txBody>
          <a:bodyPr wrap="square" lIns="0" tIns="0" rIns="0" bIns="0" rtlCol="0" anchor="t"/>
          <a:lstStyle/>
          <a:p>
            <a:pPr indent="0" marL="0">
              <a:buNone/>
            </a:pPr>
            <a:r>
              <a:rPr lang="en-US" sz="1300" dirty="0">
                <a:solidFill>
                  <a:srgbClr val="5B6573"/>
                </a:solidFill>
              </a:rPr>
              <a:t>실내·실외 220V V2L</a:t>
            </a:r>
            <a:endParaRPr lang="en-US" sz="1300" dirty="0"/>
          </a:p>
        </p:txBody>
      </p:sp>
      <p:sp>
        <p:nvSpPr>
          <p:cNvPr id="25" name="Text 22"/>
          <p:cNvSpPr txBox="1"/>
          <p:nvPr/>
        </p:nvSpPr>
        <p:spPr>
          <a:xfrm>
            <a:off x="8138160" y="4983480"/>
            <a:ext cx="3502152" cy="1234440"/>
          </a:xfrm>
          <a:prstGeom prst="rect">
            <a:avLst/>
          </a:prstGeom>
          <a:noFill/>
          <a:ln/>
        </p:spPr>
        <p:txBody>
          <a:bodyPr wrap="square" lIns="0" tIns="0" rIns="0" bIns="0" rtlCol="0" anchor="t"/>
          <a:lstStyle/>
          <a:p>
            <a:pPr indent="0" marL="0">
              <a:buNone/>
            </a:pPr>
            <a:r>
              <a:rPr lang="en-US" sz="1200" b="1" dirty="0">
                <a:solidFill>
                  <a:srgbClr val="D93025"/>
                </a:solidFill>
              </a:rPr>
              <a:t>[실증 필요] </a:t>
            </a:r>
            <a:pPr indent="0" marL="0">
              <a:buNone/>
            </a:pPr>
            <a:r>
              <a:rPr lang="en-US" sz="1200" dirty="0">
                <a:solidFill>
                  <a:srgbClr val="101828"/>
                </a:solidFill>
              </a:rPr>
              <a:t>애프터마켓 장비를 달면 적재중량, 차량총중량, 전후축 하중, 전자파 간섭, 구조변경 승인을 검토해야 합니다. 태블릿은 핵심 장비에서 뺍니다.</a:t>
            </a:r>
            <a:endParaRPr lang="en-US" sz="1200" dirty="0"/>
          </a:p>
        </p:txBody>
      </p:sp>
      <p:sp>
        <p:nvSpPr>
          <p:cNvPr id="2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기아 PV5 카고 제원과 특징(kia.com), 현대차그룹 「PV5의 모든 것」(V2L 최대 3.6kW). 장비 구성은 제안안입니다.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#3 4D 변화지도</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실제로 달린 도로만, 위치·깊이·시간으로 기록합니다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서울 전체의 완성된 지하지도가 아닙니다. PV5가 측정한 도로를 X·Y 위치, Z 깊이, T 시간으로 쌓은 기록입니다.</a:t>
            </a:r>
            <a:endParaRPr lang="en-US" sz="16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55556"/>
            <a:ext cx="7543800" cy="3993776"/>
          </a:xfrm>
          <a:prstGeom prst="rect">
            <a:avLst/>
          </a:prstGeom>
        </p:spPr>
      </p:pic>
      <p:sp>
        <p:nvSpPr>
          <p:cNvPr id="6" name="Text 3"/>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600" b="1" dirty="0">
                <a:solidFill>
                  <a:srgbClr val="101828"/>
                </a:solidFill>
              </a:rPr>
              <a:t>구간마다 남기는 정보</a:t>
            </a:r>
            <a:endParaRPr lang="en-US" sz="1600" dirty="0"/>
          </a:p>
        </p:txBody>
      </p:sp>
      <p:sp>
        <p:nvSpPr>
          <p:cNvPr id="7" name="Text 4"/>
          <p:cNvSpPr txBox="1"/>
          <p:nvPr/>
        </p:nvSpPr>
        <p:spPr>
          <a:xfrm>
            <a:off x="8366760" y="1965960"/>
            <a:ext cx="3273552"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5B6573"/>
                </a:solidFill>
              </a:rPr>
              <a:t>마지막 조사일과 반복 조사 횟수</a:t>
            </a:r>
            <a:endParaRPr lang="en-US" sz="1400" dirty="0"/>
          </a:p>
          <a:p>
            <a:pPr marL="342900" indent="-342900">
              <a:spcAft>
                <a:spcPts val="600"/>
              </a:spcAft>
              <a:buSzPct val="100000"/>
              <a:buChar char="•"/>
            </a:pPr>
            <a:r>
              <a:rPr lang="en-US" sz="1400" dirty="0">
                <a:solidFill>
                  <a:srgbClr val="5B6573"/>
                </a:solidFill>
              </a:rPr>
              <a:t>탐사 가능 깊이와 이상 신호 추정 깊이</a:t>
            </a:r>
            <a:endParaRPr lang="en-US" sz="1400" dirty="0"/>
          </a:p>
          <a:p>
            <a:pPr marL="342900" indent="-342900">
              <a:spcAft>
                <a:spcPts val="600"/>
              </a:spcAft>
              <a:buSzPct val="100000"/>
              <a:buChar char="•"/>
            </a:pPr>
            <a:r>
              <a:rPr lang="en-US" sz="1400" dirty="0">
                <a:solidFill>
                  <a:srgbClr val="5B6573"/>
                </a:solidFill>
              </a:rPr>
              <a:t>이전 회차 대비 변화량</a:t>
            </a:r>
            <a:endParaRPr lang="en-US" sz="1400" dirty="0"/>
          </a:p>
          <a:p>
            <a:pPr marL="342900" indent="-342900">
              <a:spcAft>
                <a:spcPts val="600"/>
              </a:spcAft>
              <a:buSzPct val="100000"/>
              <a:buChar char="•"/>
            </a:pPr>
            <a:r>
              <a:rPr lang="en-US" sz="1400" dirty="0">
                <a:solidFill>
                  <a:srgbClr val="5B6573"/>
                </a:solidFill>
              </a:rPr>
              <a:t>AI 위험점수, 신뢰도, 위치 오차</a:t>
            </a:r>
            <a:endParaRPr lang="en-US" sz="1400" dirty="0"/>
          </a:p>
          <a:p>
            <a:pPr marL="342900" indent="-342900">
              <a:spcAft>
                <a:spcPts val="600"/>
              </a:spcAft>
              <a:buSzPct val="100000"/>
              <a:buChar char="•"/>
            </a:pPr>
            <a:r>
              <a:rPr lang="en-US" sz="1400" dirty="0">
                <a:solidFill>
                  <a:srgbClr val="5B6573"/>
                </a:solidFill>
              </a:rPr>
              <a:t>전문가 검토와 정밀조사 결과</a:t>
            </a:r>
            <a:endParaRPr lang="en-US" sz="1400" dirty="0"/>
          </a:p>
          <a:p>
            <a:pPr marL="342900" indent="-342900">
              <a:spcAft>
                <a:spcPts val="600"/>
              </a:spcAft>
              <a:buSzPct val="100000"/>
              <a:buChar char="•"/>
            </a:pPr>
            <a:r>
              <a:rPr lang="en-US" sz="1400" dirty="0">
                <a:solidFill>
                  <a:srgbClr val="5B6573"/>
                </a:solidFill>
              </a:rPr>
              <a:t>보수 완료 여부</a:t>
            </a:r>
            <a:endParaRPr lang="en-US" sz="1400" dirty="0"/>
          </a:p>
        </p:txBody>
      </p:sp>
      <p:sp>
        <p:nvSpPr>
          <p:cNvPr id="8" name="bubble"/>
          <p:cNvSpPr txBox="1"/>
          <p:nvPr/>
        </p:nvSpPr>
        <p:spPr>
          <a:xfrm>
            <a:off x="8366760" y="4251960"/>
            <a:ext cx="3273552" cy="777240"/>
          </a:xfrm>
          <a:prstGeom prst="wedgeRectCallout">
            <a:avLst/>
          </a:prstGeom>
          <a:solidFill>
            <a:srgbClr val="F5B400"/>
          </a:solidFill>
          <a:ln>
            <a:solidFill>
              <a:srgbClr val="F5B400"/>
            </a:solidFill>
          </a:ln>
        </p:spPr>
        <p:txBody>
          <a:bodyPr wrap="square" lIns="76200" tIns="76200" rIns="76200" bIns="76200" rtlCol="0" anchor="ctr"/>
          <a:lstStyle/>
          <a:p>
            <a:pPr algn="ctr" indent="0" marL="0">
              <a:buNone/>
            </a:pPr>
            <a:r>
              <a:rPr lang="en-US" sz="1400" b="1" dirty="0">
                <a:solidFill>
                  <a:srgbClr val="101828"/>
                </a:solidFill>
              </a:rPr>
              <a:t>지난 조사보다 이상 반사 면적이 17% 늘었습니다</a:t>
            </a:r>
            <a:endParaRPr lang="en-US" sz="1400" dirty="0"/>
          </a:p>
        </p:txBody>
      </p:sp>
      <p:sp>
        <p:nvSpPr>
          <p:cNvPr id="9" name="Text 6"/>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0" name="Text 7"/>
          <p:cNvSpPr txBox="1"/>
          <p:nvPr/>
        </p:nvSpPr>
        <p:spPr>
          <a:xfrm>
            <a:off x="548640" y="5669280"/>
            <a:ext cx="11094415" cy="594360"/>
          </a:xfrm>
          <a:prstGeom prst="rect">
            <a:avLst/>
          </a:prstGeom>
          <a:noFill/>
          <a:ln/>
        </p:spPr>
        <p:txBody>
          <a:bodyPr wrap="square" lIns="0" tIns="0" rIns="0" bIns="0" rtlCol="0" anchor="t"/>
          <a:lstStyle/>
          <a:p>
            <a:pPr indent="0" marL="0">
              <a:buNone/>
            </a:pPr>
            <a:r>
              <a:rPr lang="en-US" sz="15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500" dirty="0"/>
          </a:p>
        </p:txBody>
      </p:sp>
      <p:sp>
        <p:nvSpPr>
          <p:cNvPr id="11"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목업 화면. 회색 미조사, 초록 변화 없음, 노랑 새 이상 신호, 주황 확대 의심, 빨강 정밀 재탐사, 점선 신뢰도 낮음</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#4 AI 변화 감지</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AI는 공동을 확정하지 않고, 달라진 곳의 검토 순서를 정합니다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같은 위치의 이전 회차와 현재 회차 GPR 신호를 비교해, 새로 생기거나 커진 신호를 먼저 찾습니다.</a:t>
            </a:r>
            <a:endParaRPr lang="en-US" sz="16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pic>
        <p:nvPicPr>
          <p:cNvPr id="6" name="surface_crack" descr="/Users/seohogyun/Documents/git_workspace/pv5-hose-lab/groundwatch/images/surface_crack.png">    </p:cNvPr>
          <p:cNvPicPr>
            <a:picLocks noChangeAspect="1"/>
          </p:cNvPicPr>
          <p:nvPr/>
        </p:nvPicPr>
        <p:blipFill>
          <a:blip r:embed="rId2"/>
          <a:stretch>
            <a:fillRect/>
          </a:stretch>
        </p:blipFill>
        <p:spPr>
          <a:xfrm>
            <a:off x="8412480" y="1555394"/>
            <a:ext cx="3227832" cy="1936699"/>
          </a:xfrm>
          <a:prstGeom prst="rect">
            <a:avLst/>
          </a:prstGeom>
        </p:spPr>
      </p:pic>
      <p:sp>
        <p:nvSpPr>
          <p:cNvPr id="7" name="Text 3"/>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8" name="rule"/>
          <p:cNvSpPr/>
          <p:nvPr/>
        </p:nvSpPr>
        <p:spPr>
          <a:xfrm>
            <a:off x="548640" y="4434840"/>
            <a:ext cx="11094415" cy="0"/>
          </a:xfrm>
          <a:prstGeom prst="line">
            <a:avLst/>
          </a:prstGeom>
          <a:noFill/>
          <a:ln w="12700">
            <a:solidFill>
              <a:srgbClr val="DCE1E8"/>
            </a:solidFill>
            <a:prstDash val="solid"/>
          </a:ln>
        </p:spPr>
      </p:sp>
      <p:sp>
        <p:nvSpPr>
          <p:cNvPr id="9" name="Text 5"/>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500" b="1" dirty="0">
                <a:solidFill>
                  <a:srgbClr val="101828"/>
                </a:solidFill>
              </a:rPr>
              <a:t>AI 결과에 함께 표시하는 것</a:t>
            </a:r>
            <a:endParaRPr lang="en-US" sz="1500" dirty="0"/>
          </a:p>
        </p:txBody>
      </p:sp>
      <p:sp>
        <p:nvSpPr>
          <p:cNvPr id="10" name="Text 6"/>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500" dirty="0">
                <a:solidFill>
                  <a:srgbClr val="5B6573"/>
                </a:solidFill>
              </a:rPr>
              <a:t>위험등급, 변화량, 신뢰도, 위치 오차, 권장 후속조치, 전문가 승인 여부</a:t>
            </a:r>
            <a:endParaRPr lang="en-US" sz="1500" dirty="0"/>
          </a:p>
        </p:txBody>
      </p:sp>
      <p:sp>
        <p:nvSpPr>
          <p:cNvPr id="11" name="Text 7"/>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500" b="1" dirty="0">
                <a:solidFill>
                  <a:srgbClr val="101828"/>
                </a:solidFill>
              </a:rPr>
              <a:t>비교에 쓰는 데이터</a:t>
            </a:r>
            <a:endParaRPr lang="en-US" sz="1500" dirty="0"/>
          </a:p>
        </p:txBody>
      </p:sp>
      <p:sp>
        <p:nvSpPr>
          <p:cNvPr id="12" name="Text 8"/>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3"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4"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5" name="Text 10"/>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900" b="1" dirty="0">
                <a:solidFill>
                  <a:srgbClr val="D93025"/>
                </a:solidFill>
              </a:rPr>
              <a:t>AI는 공동을 확정하지 않습니다</a:t>
            </a:r>
            <a:endParaRPr lang="en-US" sz="1900" dirty="0"/>
          </a:p>
          <a:p>
            <a:pPr indent="0" marL="0">
              <a:spcAft>
                <a:spcPts val="400"/>
              </a:spcAft>
              <a:buNone/>
            </a:pPr>
            <a:r>
              <a:rPr lang="en-US" sz="1400" dirty="0">
                <a:solidFill>
                  <a:srgbClr val="101828"/>
                </a:solidFill>
              </a:rPr>
              <a:t>AI 분석 결과와 전문가 검토 결과를 언제나 따로 표시합니다.</a:t>
            </a:r>
            <a:endParaRPr lang="en-US" sz="1900" dirty="0"/>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3D GPR 딥러닝 공동 탐지 연구. 탐지율과 오탐률은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#5 재확인 포인트</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전문가가 승인한 지점만 다음 순찰의 재확인 업무가 됩니다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‘전날과 다음날’이 아니라 ‘이전 탐사 회차와 다음 탐사 회차’를 기준으로 관리합니다.</a:t>
            </a:r>
            <a:endParaRPr lang="en-US" sz="16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AI 후보 등록</a:t>
            </a:r>
            <a:endParaRPr lang="en-US" sz="17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전문가 검토</a:t>
            </a:r>
            <a:endParaRPr lang="en-US" sz="17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재확인 대기열</a:t>
            </a:r>
            <a:endParaRPr lang="en-US" sz="17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700" b="1" dirty="0">
                <a:solidFill>
                  <a:srgbClr val="101828"/>
                </a:solidFill>
              </a:rPr>
              <a:t>다음 순찰 업무</a:t>
            </a:r>
            <a:endParaRPr lang="en-US" sz="17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600" b="1" dirty="0">
                <a:solidFill>
                  <a:srgbClr val="101828"/>
                </a:solidFill>
              </a:rPr>
              <a:t>재확인 대기열 [예시]</a:t>
            </a:r>
            <a:endParaRPr lang="en-US" sz="16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bubble"/>
          <p:cNvSpPr txBox="1"/>
          <p:nvPr/>
        </p:nvSpPr>
        <p:spPr>
          <a:xfrm>
            <a:off x="8458200" y="3840480"/>
            <a:ext cx="3182112" cy="91440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검토하지 않은 AI 결과는</a:t>
            </a:r>
            <a:endParaRPr lang="en-US" sz="1400" dirty="0"/>
          </a:p>
          <a:p>
            <a:pPr algn="ctr" indent="0" marL="0">
              <a:buNone/>
            </a:pPr>
            <a:r>
              <a:rPr lang="en-US" sz="1400" b="1" dirty="0">
                <a:solidFill>
                  <a:srgbClr val="FFFFFF"/>
                </a:solidFill>
              </a:rPr>
              <a:t>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대기열 항목과 등급은 설명용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#6 Patrol 앱</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PV5의 디스플레이가 새벽 순찰의 업무 화면이 된다</a:t>
            </a:r>
            <a:endParaRPr lang="en-US" sz="1900" dirty="0"/>
          </a:p>
        </p:txBody>
      </p:sp>
      <p:sp>
        <p:nvSpPr>
          <p:cNvPr id="4" name="lead"/>
          <p:cNvSpPr txBox="1"/>
          <p:nvPr/>
        </p:nvSpPr>
        <p:spPr>
          <a:xfrm>
            <a:off x="548640" y="987552"/>
            <a:ext cx="11094415" cy="548640"/>
          </a:xfrm>
          <a:prstGeom prst="rect">
            <a:avLst/>
          </a:prstGeom>
          <a:noFill/>
          <a:ln/>
        </p:spPr>
        <p:txBody>
          <a:bodyPr wrap="square" lIns="0" tIns="0" rIns="0" bIns="0" rtlCol="0" anchor="t"/>
          <a:lstStyle/>
          <a:p>
            <a:pPr indent="0" marL="0">
              <a:buNone/>
            </a:pPr>
            <a:r>
              <a:rPr lang="en-US" sz="1600" dirty="0">
                <a:solidFill>
                  <a:srgbClr val="5B6573"/>
                </a:solidFill>
              </a:rPr>
              <a:t>PV5는 Android Automotive OS 기반 PBV 전용 인포테인먼트와 Pleos App Market을 지원합니다. GroundWatch Patrol은 이 환경의 B2B 업무용 앱을 목표로 합니다.</a:t>
            </a:r>
            <a:endParaRPr lang="en-US" sz="1600" dirty="0"/>
          </a:p>
        </p:txBody>
      </p:sp>
      <p:pic>
        <p:nvPicPr>
          <p:cNvPr id="5" name="dashboard" descr="/Users/seohogyun/Documents/git_workspace/pv5-hose-lab/groundwatch/images/dashboard.png">    </p:cNvPr>
          <p:cNvPicPr>
            <a:picLocks noChangeAspect="1"/>
          </p:cNvPicPr>
          <p:nvPr/>
        </p:nvPicPr>
        <p:blipFill>
          <a:blip r:embed="rId1"/>
          <a:stretch>
            <a:fillRect/>
          </a:stretch>
        </p:blipFill>
        <p:spPr>
          <a:xfrm>
            <a:off x="548640" y="1645920"/>
            <a:ext cx="6667901" cy="2980944"/>
          </a:xfrm>
          <a:prstGeom prst="rect">
            <a:avLst/>
          </a:prstGeom>
        </p:spPr>
      </p:pic>
      <p:pic>
        <p:nvPicPr>
          <p:cNvPr id="6" name="ivi_pre" descr="/Users/seohogyun/Documents/git_workspace/pv5-hose-lab/groundwatch/images/ivi_pre.png">    </p:cNvPr>
          <p:cNvPicPr>
            <a:picLocks noChangeAspect="1"/>
          </p:cNvPicPr>
          <p:nvPr/>
        </p:nvPicPr>
        <p:blipFill>
          <a:blip r:embed="rId2"/>
          <a:stretch>
            <a:fillRect/>
          </a:stretch>
        </p:blipFill>
        <p:spPr>
          <a:xfrm>
            <a:off x="2113256" y="1944014"/>
            <a:ext cx="3538669" cy="1371234"/>
          </a:xfrm>
          <a:prstGeom prst="rect">
            <a:avLst/>
          </a:prstGeom>
        </p:spPr>
      </p:pic>
      <p:sp>
        <p:nvSpPr>
          <p:cNvPr id="7" name="Text 3"/>
          <p:cNvSpPr txBox="1"/>
          <p:nvPr/>
        </p:nvSpPr>
        <p:spPr>
          <a:xfrm>
            <a:off x="548640" y="468172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8" name="ivi_drive" descr="/Users/seohogyun/Documents/git_workspace/pv5-hose-lab/groundwatch/images/ivi_drive.png">    </p:cNvPr>
          <p:cNvPicPr>
            <a:picLocks noChangeAspect="1"/>
          </p:cNvPicPr>
          <p:nvPr/>
        </p:nvPicPr>
        <p:blipFill>
          <a:blip r:embed="rId3"/>
          <a:stretch>
            <a:fillRect/>
          </a:stretch>
        </p:blipFill>
        <p:spPr>
          <a:xfrm>
            <a:off x="7452360" y="1648320"/>
            <a:ext cx="4187952" cy="1622831"/>
          </a:xfrm>
          <a:prstGeom prst="rect">
            <a:avLst/>
          </a:prstGeom>
        </p:spPr>
      </p:pic>
      <p:sp>
        <p:nvSpPr>
          <p:cNvPr id="9"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10" name="ivi_stop" descr="/Users/seohogyun/Documents/git_workspace/pv5-hose-lab/groundwatch/images/ivi_stop.png">    </p:cNvPr>
          <p:cNvPicPr>
            <a:picLocks noChangeAspect="1"/>
          </p:cNvPicPr>
          <p:nvPr/>
        </p:nvPicPr>
        <p:blipFill>
          <a:blip r:embed="rId4"/>
          <a:stretch>
            <a:fillRect/>
          </a:stretch>
        </p:blipFill>
        <p:spPr>
          <a:xfrm>
            <a:off x="7452360" y="3641712"/>
            <a:ext cx="4187952" cy="1622831"/>
          </a:xfrm>
          <a:prstGeom prst="rect">
            <a:avLst/>
          </a:prstGeom>
        </p:spPr>
      </p:pic>
      <p:sp>
        <p:nvSpPr>
          <p:cNvPr id="11"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2" name="bubble"/>
          <p:cNvSpPr txBox="1"/>
          <p:nvPr/>
        </p:nvSpPr>
        <p:spPr>
          <a:xfrm>
            <a:off x="548640" y="5120640"/>
            <a:ext cx="6675120" cy="50292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주행 중에는 분석 화면을 띄우지도, 조작하게 하지도 않습니다</a:t>
            </a:r>
            <a:endParaRPr lang="en-US" sz="1400" dirty="0"/>
          </a:p>
        </p:txBody>
      </p:sp>
      <p:sp>
        <p:nvSpPr>
          <p:cNvPr id="13"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4"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5"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Kia PBV IVI·App Market(AAOS 기반, 개발 목표 고지), 기아 PBV 소프트웨어 솔루션(준비 중인 솔루션, 내용 변경 가능). 화면은 목업입니다.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#7 SW 브리지</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차량 앱과 엣지 게이트웨이가 AR 글래스에 작업정보를 전달한다</a:t>
            </a:r>
            <a:endParaRPr lang="en-US" sz="1900" dirty="0"/>
          </a:p>
        </p:txBody>
      </p:sp>
      <p:sp>
        <p:nvSpPr>
          <p:cNvPr id="4" name="lead"/>
          <p:cNvSpPr txBox="1"/>
          <p:nvPr/>
        </p:nvSpPr>
        <p:spPr>
          <a:xfrm>
            <a:off x="548640" y="987552"/>
            <a:ext cx="11094415" cy="548640"/>
          </a:xfrm>
          <a:prstGeom prst="rect">
            <a:avLst/>
          </a:prstGeom>
          <a:noFill/>
          <a:ln/>
        </p:spPr>
        <p:txBody>
          <a:bodyPr wrap="square" lIns="0" tIns="0" rIns="0" bIns="0" rtlCol="0" anchor="t"/>
          <a:lstStyle/>
          <a:p>
            <a:pPr indent="0" marL="0">
              <a:buNone/>
            </a:pPr>
            <a:r>
              <a:rPr lang="en-US" sz="1600" dirty="0">
                <a:solidFill>
                  <a:srgbClr val="5B6573"/>
                </a:solidFill>
              </a:rPr>
              <a:t>AR 글래스는 차량 화면의 미러링이 아닙니다. 역할을 나눠 두면 차량 API가 일부 막혀도 GPR과 AR 기능은 멈추지 않습니다.</a:t>
            </a:r>
            <a:endParaRPr lang="en-US" sz="16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GroundWatch Cloud</a:t>
            </a:r>
            <a:endParaRPr lang="en-US" sz="16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PV5 Patrol 앱</a:t>
            </a:r>
            <a:endParaRPr lang="en-US" sz="16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Edge Gateway</a:t>
            </a:r>
            <a:endParaRPr lang="en-US" sz="16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600" b="1" dirty="0">
                <a:solidFill>
                  <a:srgbClr val="101828"/>
                </a:solidFill>
              </a:rPr>
              <a:t>AR 글래스</a:t>
            </a:r>
            <a:endParaRPr lang="en-US" sz="16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700" b="1" dirty="0">
                <a:solidFill>
                  <a:srgbClr val="101828"/>
                </a:solidFill>
              </a:rPr>
              <a:t>글래스로 보내는 정보</a:t>
            </a:r>
            <a:endParaRPr lang="en-US" sz="17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700" b="1" dirty="0">
                <a:solidFill>
                  <a:srgbClr val="101828"/>
                </a:solidFill>
              </a:rPr>
              <a:t>글래스가 돌려보내는 정보</a:t>
            </a:r>
            <a:endParaRPr lang="en-US" sz="17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700" b="1" dirty="0">
                <a:solidFill>
                  <a:srgbClr val="101828"/>
                </a:solidFill>
              </a:rPr>
              <a:t>통신 원칙</a:t>
            </a:r>
            <a:endParaRPr lang="en-US" sz="17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통신 구조는 제안안입니다. 통신 지연과 끊김 시 동작은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#8 AR 위치 보정</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작업자는 고정된 기준점을 인식해 지하 데이터의 위치를 맞춘다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AR 글래스는 PV5가 안전하게 정차하고 작업자가 내린 뒤에만 켭니다. 운전자는 주행 중 착용하지 않습니다.</a:t>
            </a:r>
            <a:endParaRPr lang="en-US" sz="1600" dirty="0"/>
          </a:p>
        </p:txBody>
      </p:sp>
      <p:pic>
        <p:nvPicPr>
          <p:cNvPr id="5" name="ar_calib" descr="/Users/seohogyun/Documents/git_workspace/pv5-hose-lab/groundwatch/images/ar_calib.png">    </p:cNvPr>
          <p:cNvPicPr>
            <a:picLocks noChangeAspect="1"/>
          </p:cNvPicPr>
          <p:nvPr/>
        </p:nvPicPr>
        <p:blipFill>
          <a:blip r:embed="rId1"/>
          <a:stretch>
            <a:fillRect/>
          </a:stretch>
        </p:blipFill>
        <p:spPr>
          <a:xfrm>
            <a:off x="548640" y="1556632"/>
            <a:ext cx="7315200" cy="3872753"/>
          </a:xfrm>
          <a:prstGeom prst="rect">
            <a:avLst/>
          </a:prstGeom>
        </p:spPr>
      </p:pic>
      <p:sp>
        <p:nvSpPr>
          <p:cNvPr id="6"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8"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6"/>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0"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8"/>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2"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0"/>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4"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2"/>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6"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4"/>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8"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6"/>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0" name="bubble"/>
          <p:cNvSpPr txBox="1"/>
          <p:nvPr/>
        </p:nvSpPr>
        <p:spPr>
          <a:xfrm>
            <a:off x="548640" y="5577840"/>
            <a:ext cx="6400800" cy="658368"/>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맨홀 하나로 위치를 확정하지 않습니다. 맨홀, 경계석, 차선, RTK 중 2~3개를 결합합니다</a:t>
            </a:r>
            <a:endParaRPr lang="en-US" sz="1400" dirty="0"/>
          </a:p>
        </p:txBody>
      </p:sp>
      <p:sp>
        <p:nvSpPr>
          <p:cNvPr id="21" name="Text 18"/>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AR 화면은 목업입니다. 위치 오차 기준과 야간 인식 성능은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#9 AR 재탐사</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AR이 표시한 검색 범위를 따라 양손으로 수동 GPR을 조작한다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AR은 공동의 실제 모양이 아니라, AI가 지정한 재탐사 검색 범위를 도로 위에 맞춰 보여줍니다.</a:t>
            </a:r>
            <a:endParaRPr lang="en-US" sz="1600" dirty="0"/>
          </a:p>
        </p:txBody>
      </p:sp>
      <p:pic>
        <p:nvPicPr>
          <p:cNvPr id="5" name="ar_scan" descr="/Users/seohogyun/Documents/git_workspace/pv5-hose-lab/groundwatch/images/ar_scan.png">    </p:cNvPr>
          <p:cNvPicPr>
            <a:picLocks noChangeAspect="1"/>
          </p:cNvPicPr>
          <p:nvPr/>
        </p:nvPicPr>
        <p:blipFill>
          <a:blip r:embed="rId1"/>
          <a:stretch>
            <a:fillRect/>
          </a:stretch>
        </p:blipFill>
        <p:spPr>
          <a:xfrm>
            <a:off x="548640" y="1556632"/>
            <a:ext cx="7315200" cy="3872753"/>
          </a:xfrm>
          <a:prstGeom prst="rect">
            <a:avLst/>
          </a:prstGeom>
        </p:spPr>
      </p:pic>
      <p:sp>
        <p:nvSpPr>
          <p:cNvPr id="6" name="Text 3"/>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600" b="1" dirty="0">
                <a:solidFill>
                  <a:srgbClr val="101828"/>
                </a:solidFill>
              </a:rPr>
              <a:t>화면에 보이는 것</a:t>
            </a:r>
            <a:endParaRPr lang="en-US" sz="1600" dirty="0"/>
          </a:p>
        </p:txBody>
      </p:sp>
      <p:sp>
        <p:nvSpPr>
          <p:cNvPr id="7" name="Text 4"/>
          <p:cNvSpPr txBox="1"/>
          <p:nvPr/>
        </p:nvSpPr>
        <p:spPr>
          <a:xfrm>
            <a:off x="8092440" y="1938528"/>
            <a:ext cx="3547872" cy="13716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5B6573"/>
                </a:solidFill>
              </a:rPr>
              <a:t>탐사 시작점과 종료점</a:t>
            </a:r>
            <a:endParaRPr lang="en-US" sz="1400" dirty="0"/>
          </a:p>
          <a:p>
            <a:pPr marL="342900" indent="-342900">
              <a:spcAft>
                <a:spcPts val="500"/>
              </a:spcAft>
              <a:buSzPct val="100000"/>
              <a:buChar char="•"/>
            </a:pPr>
            <a:r>
              <a:rPr lang="en-US" sz="1400" dirty="0">
                <a:solidFill>
                  <a:srgbClr val="5B6573"/>
                </a:solidFill>
              </a:rPr>
              <a:t>진행 방향과 반복 횟수</a:t>
            </a:r>
            <a:endParaRPr lang="en-US" sz="1400" dirty="0"/>
          </a:p>
          <a:p>
            <a:pPr marL="342900" indent="-342900">
              <a:spcAft>
                <a:spcPts val="500"/>
              </a:spcAft>
              <a:buSzPct val="100000"/>
              <a:buChar char="•"/>
            </a:pPr>
            <a:r>
              <a:rPr lang="en-US" sz="1400" dirty="0">
                <a:solidFill>
                  <a:srgbClr val="5B6573"/>
                </a:solidFill>
              </a:rPr>
              <a:t>추정 깊이와 이전 대비 변화량</a:t>
            </a:r>
            <a:endParaRPr lang="en-US" sz="1400" dirty="0"/>
          </a:p>
          <a:p>
            <a:pPr marL="342900" indent="-342900">
              <a:spcAft>
                <a:spcPts val="500"/>
              </a:spcAft>
              <a:buSzPct val="100000"/>
              <a:buChar char="•"/>
            </a:pPr>
            <a:r>
              <a:rPr lang="en-US" sz="1400" dirty="0">
                <a:solidFill>
                  <a:srgbClr val="5B6573"/>
                </a:solidFill>
              </a:rPr>
              <a:t>위치 오차와 AI 신뢰도</a:t>
            </a:r>
            <a:endParaRPr lang="en-US" sz="1400" dirty="0"/>
          </a:p>
        </p:txBody>
      </p:sp>
      <p:pic>
        <p:nvPicPr>
          <p:cNvPr id="8"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9" name="Text 5"/>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600" b="1" dirty="0">
                <a:solidFill>
                  <a:srgbClr val="101828"/>
                </a:solidFill>
              </a:rPr>
              <a:t>음성으로 실행</a:t>
            </a:r>
            <a:endParaRPr lang="en-US" sz="1600" dirty="0"/>
          </a:p>
        </p:txBody>
      </p:sp>
      <p:sp>
        <p:nvSpPr>
          <p:cNvPr id="10" name="Text 6"/>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1" name="bubble"/>
          <p:cNvSpPr txBox="1"/>
          <p:nvPr/>
        </p:nvSpPr>
        <p:spPr>
          <a:xfrm>
            <a:off x="548640" y="5577840"/>
            <a:ext cx="3291840" cy="59436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두 손은 장비에, 눈은 도로에</a:t>
            </a:r>
            <a:endParaRPr lang="en-US" sz="1500" dirty="0"/>
          </a:p>
        </p:txBody>
      </p:sp>
      <p:sp>
        <p:nvSpPr>
          <p:cNvPr id="12" name="Text 8"/>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AR 화면 수치는 설명용 예시입니다. 검색 범위는 공동의 모양이 아니라 재탐사 영역입니다.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#10 교차검증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넓게 선별하고, 좁게 다른 방향으로 다시 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수동 GPR이 차량형보다 늘 더 깊게 보는 것은 아닙니다. 두 장비는 역할이 다릅니다.</a:t>
            </a:r>
            <a:endParaRPr lang="en-US" sz="16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7" name="Text 4"/>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700" b="1" dirty="0">
                <a:solidFill>
                  <a:srgbClr val="101828"/>
                </a:solidFill>
              </a:rPr>
              <a:t>차량형 다채널 GPR</a:t>
            </a:r>
            <a:endParaRPr lang="en-US" sz="1700" dirty="0"/>
          </a:p>
        </p:txBody>
      </p:sp>
      <p:sp>
        <p:nvSpPr>
          <p:cNvPr id="8" name="Text 5"/>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9"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0" name="Text 7"/>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700" b="1" dirty="0">
                <a:solidFill>
                  <a:srgbClr val="101828"/>
                </a:solidFill>
              </a:rPr>
              <a:t>지면 밀착형 수동 GPR</a:t>
            </a:r>
            <a:endParaRPr lang="en-US" sz="1700" dirty="0"/>
          </a:p>
        </p:txBody>
      </p:sp>
      <p:sp>
        <p:nvSpPr>
          <p:cNvPr id="11" name="Text 8"/>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2"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3" name="Text 10"/>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700" b="1" dirty="0">
                <a:solidFill>
                  <a:srgbClr val="101828"/>
                </a:solidFill>
              </a:rPr>
              <a:t>내시경</a:t>
            </a:r>
            <a:endParaRPr lang="en-US" sz="1700" dirty="0"/>
          </a:p>
        </p:txBody>
      </p:sp>
      <p:sp>
        <p:nvSpPr>
          <p:cNvPr id="14" name="Text 11"/>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5" name="rule"/>
          <p:cNvSpPr/>
          <p:nvPr/>
        </p:nvSpPr>
        <p:spPr>
          <a:xfrm>
            <a:off x="548640" y="4937760"/>
            <a:ext cx="11094415" cy="0"/>
          </a:xfrm>
          <a:prstGeom prst="line">
            <a:avLst/>
          </a:prstGeom>
          <a:noFill/>
          <a:ln w="12700">
            <a:solidFill>
              <a:srgbClr val="DCE1E8"/>
            </a:solidFill>
            <a:prstDash val="solid"/>
          </a:ln>
        </p:spPr>
      </p:sp>
      <p:sp>
        <p:nvSpPr>
          <p:cNvPr id="16" name="Text 13"/>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500" b="1" dirty="0">
                <a:solidFill>
                  <a:srgbClr val="101828"/>
                </a:solidFill>
              </a:rPr>
              <a:t>AR 글래스와 수동 GPR을 함께 씁니다</a:t>
            </a:r>
            <a:endParaRPr lang="en-US" sz="1500" dirty="0"/>
          </a:p>
        </p:txBody>
      </p:sp>
      <p:sp>
        <p:nvSpPr>
          <p:cNvPr id="17" name="Text 14"/>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500" b="1" dirty="0">
                <a:solidFill>
                  <a:srgbClr val="101828"/>
                </a:solidFill>
              </a:rPr>
              <a:t>측정 결과는 Edge Gateway로 바로 보냅니다</a:t>
            </a:r>
            <a:endParaRPr lang="en-US" sz="1500" dirty="0"/>
          </a:p>
        </p:txBody>
      </p:sp>
      <p:sp>
        <p:nvSpPr>
          <p:cNvPr id="18" name="Text 15"/>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500" b="1" dirty="0">
                <a:solidFill>
                  <a:srgbClr val="101828"/>
                </a:solidFill>
              </a:rPr>
              <a:t>차량형 결과와 같은 좌표계로 비교합니다</a:t>
            </a:r>
            <a:endParaRPr lang="en-US" sz="1500" dirty="0"/>
          </a:p>
        </p:txBody>
      </p:sp>
      <p:sp>
        <p:nvSpPr>
          <p:cNvPr id="19" name="bubble"/>
          <p:cNvSpPr txBox="1"/>
          <p:nvPr/>
        </p:nvSpPr>
        <p:spPr>
          <a:xfrm>
            <a:off x="548640" y="5623560"/>
            <a:ext cx="6400800" cy="566928"/>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다른 각도로 한 번 더 본 결과만 정밀조사 요청으로 올라갑니다</a:t>
            </a:r>
            <a:endParaRPr lang="en-US" sz="1400" dirty="0"/>
          </a:p>
        </p:txBody>
      </p:sp>
      <p:sp>
        <p:nvSpPr>
          <p:cNvPr id="20"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FHWA GPR 기술 설명(다중·스텝 주파수 안테나). 교차검증 효과는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#11 결과 저장</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확인 결과는 지도와 AI로 돌아가 다음 판단을 더 정확하게 만든다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천공과 내시경은 관계기관 승인과 교통통제 뒤에만 합니다. 내시경만으로 차량이 공동을 바로 확정하지 않습니다.</a:t>
            </a:r>
            <a:endParaRPr lang="en-US" sz="16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method_scope" descr="/Users/seohogyun/Documents/git_workspace/pv5-hose-lab/groundwatch/images/method_scope.png">    </p:cNvPr>
          <p:cNvPicPr>
            <a:picLocks noChangeAspect="1"/>
          </p:cNvPicPr>
          <p:nvPr/>
        </p:nvPicPr>
        <p:blipFill>
          <a:blip r:embed="rId1"/>
          <a:stretch>
            <a:fillRect/>
          </a:stretch>
        </p:blipFill>
        <p:spPr>
          <a:xfrm>
            <a:off x="548640" y="2926080"/>
            <a:ext cx="4023360" cy="2414016"/>
          </a:xfrm>
          <a:prstGeom prst="rect">
            <a:avLst/>
          </a:prstGeom>
        </p:spPr>
      </p:pic>
      <p:sp>
        <p:nvSpPr>
          <p:cNvPr id="21"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2" name="Text 19"/>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800" b="1" dirty="0">
                <a:solidFill>
                  <a:srgbClr val="F5B400"/>
                </a:solidFill>
              </a:rPr>
              <a:t>결과 저장과 학습 순환</a:t>
            </a:r>
            <a:endParaRPr lang="en-US" sz="1800" dirty="0"/>
          </a:p>
        </p:txBody>
      </p:sp>
      <p:sp>
        <p:nvSpPr>
          <p:cNvPr id="23" name="Text 20"/>
          <p:cNvSpPr txBox="1"/>
          <p:nvPr/>
        </p:nvSpPr>
        <p:spPr>
          <a:xfrm>
            <a:off x="5120640" y="3584448"/>
            <a:ext cx="63093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FFFFF"/>
                </a:solidFill>
              </a:rPr>
              <a:t>확인 결과와 보수 이력을 4D 지도의 해당 구간에 저장합니다</a:t>
            </a:r>
            <a:endParaRPr lang="en-US" sz="1500" dirty="0"/>
          </a:p>
          <a:p>
            <a:pPr marL="342900" indent="-342900">
              <a:spcAft>
                <a:spcPts val="600"/>
              </a:spcAft>
              <a:buSzPct val="100000"/>
              <a:buChar char="•"/>
            </a:pPr>
            <a:r>
              <a:rPr lang="en-US" sz="1500" dirty="0">
                <a:solidFill>
                  <a:srgbClr val="FFFFFF"/>
                </a:solidFill>
              </a:rPr>
              <a:t>AI 후보와 실제 확인 결과를 짝지어 검증 데이터로 쌓습니다</a:t>
            </a:r>
            <a:endParaRPr lang="en-US" sz="1500" dirty="0"/>
          </a:p>
          <a:p>
            <a:pPr marL="342900" indent="-342900">
              <a:spcAft>
                <a:spcPts val="600"/>
              </a:spcAft>
              <a:buSzPct val="100000"/>
              <a:buChar char="•"/>
            </a:pPr>
            <a:r>
              <a:rPr lang="en-US" sz="1500" dirty="0">
                <a:solidFill>
                  <a:srgbClr val="FFFFFF"/>
                </a:solidFill>
              </a:rPr>
              <a:t>오탐과 미탐 사례로 AI 성능을 점검하고 고칩니다</a:t>
            </a:r>
            <a:endParaRPr lang="en-US" sz="1500" dirty="0"/>
          </a:p>
          <a:p>
            <a:pPr marL="342900" indent="-342900">
              <a:spcAft>
                <a:spcPts val="600"/>
              </a:spcAft>
              <a:buSzPct val="100000"/>
              <a:buChar char="•"/>
            </a:pPr>
            <a:r>
              <a:rPr lang="en-US" sz="1500" dirty="0">
                <a:solidFill>
                  <a:srgbClr val="FFFFFF"/>
                </a:solidFill>
              </a:rPr>
              <a:t>보수 후 같은 구간을 다시 순찰해 재검증합니다</a:t>
            </a:r>
            <a:endParaRPr lang="en-US" sz="1500" dirty="0"/>
          </a:p>
        </p:txBody>
      </p:sp>
      <p:sp>
        <p:nvSpPr>
          <p:cNvPr id="24" name="arrow"/>
          <p:cNvSpPr/>
          <p:nvPr/>
        </p:nvSpPr>
        <p:spPr>
          <a:xfrm>
            <a:off x="8229600" y="5440680"/>
            <a:ext cx="914" cy="411480"/>
          </a:xfrm>
          <a:prstGeom prst="line">
            <a:avLst/>
          </a:prstGeom>
          <a:noFill/>
          <a:ln w="25400">
            <a:solidFill>
              <a:srgbClr val="F5B400"/>
            </a:solidFill>
            <a:prstDash val="solid"/>
            <a:tailEnd type="triangle"/>
          </a:ln>
        </p:spPr>
      </p:sp>
      <p:sp>
        <p:nvSpPr>
          <p:cNvPr id="25" name="loop"/>
          <p:cNvSpPr/>
          <p:nvPr/>
        </p:nvSpPr>
        <p:spPr>
          <a:xfrm>
            <a:off x="2560320" y="5852160"/>
            <a:ext cx="5669280" cy="0"/>
          </a:xfrm>
          <a:prstGeom prst="line">
            <a:avLst/>
          </a:prstGeom>
          <a:noFill/>
          <a:ln w="25400">
            <a:solidFill>
              <a:srgbClr val="F5B400"/>
            </a:solidFill>
            <a:prstDash val="solid"/>
          </a:ln>
        </p:spPr>
      </p:sp>
      <p:sp>
        <p:nvSpPr>
          <p:cNvPr id="26" name="arrow"/>
          <p:cNvSpPr/>
          <p:nvPr/>
        </p:nvSpPr>
        <p:spPr>
          <a:xfrm flipV="1">
            <a:off x="2560320" y="5440680"/>
            <a:ext cx="914" cy="411480"/>
          </a:xfrm>
          <a:prstGeom prst="line">
            <a:avLst/>
          </a:prstGeom>
          <a:noFill/>
          <a:ln w="25400">
            <a:solidFill>
              <a:srgbClr val="F5B400"/>
            </a:solidFill>
            <a:prstDash val="solid"/>
            <a:tailEnd type="triangle"/>
          </a:ln>
        </p:spPr>
      </p:sp>
      <p:sp>
        <p:nvSpPr>
          <p:cNvPr id="27" name="Text 24"/>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8"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일반적인 공동 확인 흐름을 바탕으로 한 제안안입니다. 실제 승인 절차는 관할 기관 기준을 따릅니다.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Pretendard" pitchFamily="34" charset="0"/>
                <a:ea typeface="Pretendard" pitchFamily="34" charset="-122"/>
                <a:cs typeface="Pretendard" pitchFamily="34" charset="-120"/>
              </a:rPr>
              <a:t>PV5 GroundWatch</a:t>
            </a:r>
            <a:endParaRPr lang="en-US" sz="4000" dirty="0"/>
          </a:p>
        </p:txBody>
      </p:sp>
      <p:sp>
        <p:nvSpPr>
          <p:cNvPr id="3" name="sectionBand"/>
          <p:cNvSpPr/>
          <p:nvPr/>
        </p:nvSpPr>
        <p:spPr>
          <a:xfrm>
            <a:off x="3108960" y="1965960"/>
            <a:ext cx="5971032" cy="548640"/>
          </a:xfrm>
          <a:prstGeom prst="rect">
            <a:avLst/>
          </a:prstGeom>
          <a:solidFill>
            <a:srgbClr val="F5B400"/>
          </a:solidFill>
          <a:ln w="12700">
            <a:solidFill>
              <a:srgbClr val="F5B400"/>
            </a:solidFill>
            <a:prstDash val="solid"/>
          </a:ln>
        </p:spPr>
      </p:sp>
      <p:sp>
        <p:nvSpPr>
          <p:cNvPr id="4" name="Text 0"/>
          <p:cNvSpPr/>
          <p:nvPr>
            <p:ph idx="101" type="body" hasCustomPrompt="1"/>
          </p:nvPr>
        </p:nvSpPr>
        <p:spPr>
          <a:xfrm>
            <a:off x="3108960" y="1965960"/>
            <a:ext cx="5971032" cy="548640"/>
          </a:xfrm>
          <a:prstGeom prst="rect">
            <a:avLst/>
          </a:prstGeom>
          <a:noFill/>
          <a:ln/>
        </p:spPr>
        <p:txBody>
          <a:bodyPr wrap="square" lIns="0" tIns="0" rIns="0" bIns="0" rtlCol="0" anchor="ctr"/>
          <a:lstStyle/>
          <a:p>
            <a:pPr algn="ctr" indent="0" marL="0">
              <a:buNone/>
            </a:pPr>
            <a:r>
              <a:rPr lang="en-US" sz="2200" b="1" dirty="0">
                <a:solidFill>
                  <a:srgbClr val="101828"/>
                </a:solidFill>
                <a:latin typeface="Pretendard" pitchFamily="34" charset="0"/>
                <a:ea typeface="Pretendard" pitchFamily="34" charset="-122"/>
                <a:cs typeface="Pretendard" pitchFamily="34" charset="-120"/>
              </a:rPr>
              <a:t>도시 지하 안전망으로의 확장</a:t>
            </a:r>
            <a:endParaRPr lang="en-US" sz="22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1417320" y="3017520"/>
            <a:ext cx="4526280" cy="2542032"/>
          </a:xfrm>
          <a:prstGeom prst="rect">
            <a:avLst/>
          </a:prstGeom>
        </p:spPr>
      </p:pic>
      <p:pic>
        <p:nvPicPr>
          <p:cNvPr id="6" name="twin" descr="/Users/seohogyun/Documents/git_workspace/pv5-hose-lab/groundwatch/images/twin.png">    </p:cNvPr>
          <p:cNvPicPr>
            <a:picLocks noChangeAspect="1"/>
          </p:cNvPicPr>
          <p:nvPr/>
        </p:nvPicPr>
        <p:blipFill>
          <a:blip r:embed="rId2"/>
          <a:stretch>
            <a:fillRect/>
          </a:stretch>
        </p:blipFill>
        <p:spPr>
          <a:xfrm>
            <a:off x="6263640" y="3017520"/>
            <a:ext cx="4526280" cy="2542032"/>
          </a:xfrm>
          <a:prstGeom prst="rect">
            <a:avLst/>
          </a:prstGeom>
        </p:spPr>
      </p:pic>
      <p:sp>
        <p:nvSpPr>
          <p:cNvPr id="7" name="Text 3"/>
          <p:cNvSpPr txBox="1"/>
          <p:nvPr/>
        </p:nvSpPr>
        <p:spPr>
          <a:xfrm>
            <a:off x="141732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위험도별 순찰망</a:t>
            </a:r>
            <a:endParaRPr lang="en-US" sz="1600" dirty="0"/>
          </a:p>
        </p:txBody>
      </p:sp>
      <p:sp>
        <p:nvSpPr>
          <p:cNvPr id="8" name="Text 4"/>
          <p:cNvSpPr txBox="1"/>
          <p:nvPr/>
        </p:nvSpPr>
        <p:spPr>
          <a:xfrm>
            <a:off x="6263640" y="5669280"/>
            <a:ext cx="4526280" cy="365760"/>
          </a:xfrm>
          <a:prstGeom prst="rect">
            <a:avLst/>
          </a:prstGeom>
          <a:noFill/>
          <a:ln/>
        </p:spPr>
        <p:txBody>
          <a:bodyPr wrap="square" lIns="0" tIns="0" rIns="0" bIns="0" rtlCol="0" anchor="ctr"/>
          <a:lstStyle/>
          <a:p>
            <a:pPr algn="ctr" indent="0" marL="0">
              <a:buNone/>
            </a:pPr>
            <a:r>
              <a:rPr lang="en-US" sz="1600" b="1" dirty="0">
                <a:solidFill>
                  <a:srgbClr val="FFFFFF"/>
                </a:solidFill>
              </a:rPr>
              <a:t>4D 도시 지하 디지털 트윈</a:t>
            </a:r>
            <a:endParaRPr lang="en-US" sz="16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1 순찰망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위험한 곳은 더 자주, 비가 온 뒤에는 바로</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구간 위험도에 따라 조사 주기를 다르게 잡습니다. 아래 주기는 [예시]이며 발주기관과 협의해 정합니다.</a:t>
            </a:r>
            <a:endParaRPr lang="en-US" sz="16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7" name="Text 4"/>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8" name="Text 5"/>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9"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0" name="Text 7"/>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1" name="Text 8"/>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2"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3" name="Text 10"/>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4" name="Text 11"/>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5"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6" name="Text 13"/>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7" name="Text 14"/>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8"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19" name="Text 16"/>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0" name="Text 17"/>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1"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2" name="Text 19"/>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3" name="Text 20"/>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4" name="bubble"/>
          <p:cNvSpPr txBox="1"/>
          <p:nvPr/>
        </p:nvSpPr>
        <p:spPr>
          <a:xfrm>
            <a:off x="548640" y="5577840"/>
            <a:ext cx="6766560" cy="621792"/>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400" b="1" dirty="0">
                <a:solidFill>
                  <a:srgbClr val="FFFFFF"/>
                </a:solidFill>
              </a:rPr>
              <a:t>지하철역 주변, 노후 하수관, 굴착공사 주변, 반복 침하 구간부터 시작합니다</a:t>
            </a:r>
            <a:endParaRPr lang="en-US" sz="1400" dirty="0"/>
          </a:p>
        </p:txBody>
      </p:sp>
      <p:sp>
        <p:nvSpPr>
          <p:cNvPr id="25" name="Text 22"/>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서울시 지반침하 예방체계 강화 보도자료(굴착공사장 점검 주기 강화). 조사 주기 표는 제안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2 플릿</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여러 대의 PV5가 권역을 나눠 같은 기준으로 순찰한다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권역을 나누고, 관제센터에서 실시간 상태를 보며, 차량별 순찰거리와 재확인 업무를 배정합니다.</a:t>
            </a:r>
            <a:endParaRPr lang="en-US" sz="16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Text 3"/>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700" b="1" dirty="0">
                <a:solidFill>
                  <a:srgbClr val="101828"/>
                </a:solidFill>
              </a:rPr>
              <a:t>같은 사양, 같은 기준</a:t>
            </a:r>
            <a:endParaRPr lang="en-US" sz="1700" dirty="0"/>
          </a:p>
        </p:txBody>
      </p:sp>
      <p:sp>
        <p:nvSpPr>
          <p:cNvPr id="7" name="Text 4"/>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8" name="Text 5"/>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700" b="1" dirty="0">
                <a:solidFill>
                  <a:srgbClr val="101828"/>
                </a:solidFill>
              </a:rPr>
              <a:t>관제 연동 [추가 확인 필요]</a:t>
            </a:r>
            <a:endParaRPr lang="en-US" sz="1700" dirty="0"/>
          </a:p>
        </p:txBody>
      </p:sp>
      <p:sp>
        <p:nvSpPr>
          <p:cNvPr id="9" name="Text 6"/>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0" name="Text 7"/>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700" b="1" dirty="0">
                <a:solidFill>
                  <a:srgbClr val="101828"/>
                </a:solidFill>
              </a:rPr>
              <a:t>배정 기준</a:t>
            </a:r>
            <a:endParaRPr lang="en-US" sz="1700" dirty="0"/>
          </a:p>
        </p:txBody>
      </p:sp>
      <p:sp>
        <p:nvSpPr>
          <p:cNvPr id="11" name="Text 8"/>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2" name="bubble"/>
          <p:cNvSpPr txBox="1"/>
          <p:nvPr/>
        </p:nvSpPr>
        <p:spPr>
          <a:xfrm>
            <a:off x="548640" y="5532120"/>
            <a:ext cx="5669280" cy="621792"/>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한 대의 시제품이 아니라, 복제할 수 있는 순찰 체계</a:t>
            </a:r>
            <a:endParaRPr lang="en-US" sz="15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기아 PV5 카고 특징(Pleos Fleet 차량관제솔루션). 관제 화면 수치는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3 데이터 통합</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GPR 변화 신호를 도시의 다른 지하 데이터와 겹쳐 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하수관, 굴착공사, 지하철 구조물, 지하수, 강우, 보수 이력과 함께 볼 때 원인을 짐작하기 쉬워집니다.</a:t>
            </a:r>
            <a:endParaRPr lang="en-US" sz="16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pic>
        <p:nvPicPr>
          <p:cNvPr id="6"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7" name="Text 3"/>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700" b="1" dirty="0">
                <a:solidFill>
                  <a:srgbClr val="101828"/>
                </a:solidFill>
              </a:rPr>
              <a:t>보안과 접근권한</a:t>
            </a:r>
            <a:endParaRPr lang="en-US" sz="1700" dirty="0"/>
          </a:p>
        </p:txBody>
      </p:sp>
      <p:sp>
        <p:nvSpPr>
          <p:cNvPr id="8" name="Text 4"/>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9"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0" name="Text 5"/>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700" b="1" dirty="0">
                <a:solidFill>
                  <a:srgbClr val="101828"/>
                </a:solidFill>
              </a:rPr>
              <a:t>데이터 표준</a:t>
            </a:r>
            <a:endParaRPr lang="en-US" sz="1700" dirty="0"/>
          </a:p>
        </p:txBody>
      </p:sp>
      <p:sp>
        <p:nvSpPr>
          <p:cNvPr id="11" name="Text 6"/>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2"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3" name="Text 7"/>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700" b="1" dirty="0">
                <a:solidFill>
                  <a:srgbClr val="101828"/>
                </a:solidFill>
              </a:rPr>
              <a:t>지하 데이터는 팔지 않습니다</a:t>
            </a:r>
            <a:endParaRPr lang="en-US" sz="1700" dirty="0"/>
          </a:p>
        </p:txBody>
      </p:sp>
      <p:sp>
        <p:nvSpPr>
          <p:cNvPr id="14" name="Text 8"/>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5" name="bubble"/>
          <p:cNvSpPr txBox="1"/>
          <p:nvPr/>
        </p:nvSpPr>
        <p:spPr>
          <a:xfrm>
            <a:off x="548640" y="5532120"/>
            <a:ext cx="5669280" cy="621792"/>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한 기관의 데이터만으로는 원인을 보기 어렵습니다</a:t>
            </a:r>
            <a:endParaRPr lang="en-US" sz="1500" dirty="0"/>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OGC MUDDI(ogc.org/standards/muddi), 국토부 지하공간통합지도와 지하안전정보시스템(JIS) 연계 방향(2025.5.27 보도자료)</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algn="ctr" indent="0" marL="0">
              <a:buNone/>
            </a:pPr>
            <a:r>
              <a:rPr lang="en-US" sz="1400" b="1" dirty="0">
                <a:solidFill>
                  <a:srgbClr val="FFFFFF"/>
                </a:solidFill>
              </a:rPr>
              <a:t>확장 4 디지털 트윈</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시간이 쌓이면, 도로 아래가 변하는 모습이 보인다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600" dirty="0">
                <a:solidFill>
                  <a:srgbClr val="5B6573"/>
                </a:solidFill>
              </a:rPr>
              <a:t>지상 지도, 지하 시설물, 공동 의심 신호, 시간에 따른 변화를 하나의 모델에서 봅니다.</a:t>
            </a:r>
            <a:endParaRPr lang="en-US" sz="16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Text 3"/>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600" b="1" dirty="0">
                <a:solidFill>
                  <a:srgbClr val="101828"/>
                </a:solidFill>
              </a:rPr>
              <a:t>공사 전후 비교</a:t>
            </a:r>
            <a:endParaRPr lang="en-US" sz="1600" dirty="0"/>
          </a:p>
        </p:txBody>
      </p:sp>
      <p:sp>
        <p:nvSpPr>
          <p:cNvPr id="7" name="Text 4"/>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8" name="Text 5"/>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600" b="1" dirty="0">
                <a:solidFill>
                  <a:srgbClr val="101828"/>
                </a:solidFill>
              </a:rPr>
              <a:t>재난 대응</a:t>
            </a:r>
            <a:endParaRPr lang="en-US" sz="1600" dirty="0"/>
          </a:p>
        </p:txBody>
      </p:sp>
      <p:sp>
        <p:nvSpPr>
          <p:cNvPr id="9" name="Text 6"/>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0" name="Text 7"/>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600" b="1" dirty="0">
                <a:solidFill>
                  <a:srgbClr val="101828"/>
                </a:solidFill>
              </a:rPr>
              <a:t>유지관리 계획</a:t>
            </a:r>
            <a:endParaRPr lang="en-US" sz="1600" dirty="0"/>
          </a:p>
        </p:txBody>
      </p:sp>
      <p:sp>
        <p:nvSpPr>
          <p:cNvPr id="11" name="Text 8"/>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2" name="Text 9"/>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600" b="1" dirty="0">
                <a:solidFill>
                  <a:srgbClr val="101828"/>
                </a:solidFill>
              </a:rPr>
              <a:t>범위 원칙</a:t>
            </a:r>
            <a:endParaRPr lang="en-US" sz="1600" dirty="0"/>
          </a:p>
        </p:txBody>
      </p:sp>
      <p:sp>
        <p:nvSpPr>
          <p:cNvPr id="13" name="Text 10"/>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4" name="bubble"/>
          <p:cNvSpPr txBox="1"/>
          <p:nvPr/>
        </p:nvSpPr>
        <p:spPr>
          <a:xfrm>
            <a:off x="548640" y="5440680"/>
            <a:ext cx="6766560" cy="640080"/>
          </a:xfrm>
          <a:prstGeom prst="wedgeRectCallout">
            <a:avLst/>
          </a:prstGeom>
          <a:solidFill>
            <a:srgbClr val="0B1F3A"/>
          </a:solidFill>
          <a:ln>
            <a:solidFill>
              <a:srgbClr val="0B1F3A"/>
            </a:solidFill>
          </a:ln>
        </p:spPr>
        <p:txBody>
          <a:bodyPr wrap="square" lIns="76200" tIns="76200" rIns="76200" bIns="76200" rtlCol="0" anchor="ctr"/>
          <a:lstStyle/>
          <a:p>
            <a:pPr algn="ctr" indent="0" marL="0">
              <a:buNone/>
            </a:pPr>
            <a:r>
              <a:rPr lang="en-US" sz="1500" b="1" dirty="0">
                <a:solidFill>
                  <a:srgbClr val="FFFFFF"/>
                </a:solidFill>
              </a:rPr>
              <a:t>도시가 같은 길을 기억하면, 작은 변화도 놓치지 않을 수 있습니다</a:t>
            </a:r>
            <a:endParaRPr lang="en-US" sz="1500" dirty="0"/>
          </a:p>
        </p:txBody>
      </p:sp>
      <p:sp>
        <p:nvSpPr>
          <p:cNvPr id="15"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개념 일러스트. 디지털 트윈은 운영 데이터가 충분히 쌓인 뒤의 장기 확장 방향입니다.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closing" descr="/Users/seohogyun/Documents/git_workspace/pv5-hose-lab/groundwatch/images/closin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97280" y="868680"/>
            <a:ext cx="9994392" cy="1600200"/>
          </a:xfrm>
          <a:prstGeom prst="rect">
            <a:avLst/>
          </a:prstGeom>
          <a:noFill/>
          <a:ln/>
        </p:spPr>
        <p:txBody>
          <a:bodyPr wrap="square" lIns="0" tIns="0" rIns="0" bIns="0" rtlCol="0" anchor="ctr"/>
          <a:lstStyle/>
          <a:p>
            <a:pPr algn="ctr" indent="0" marL="0">
              <a:buNone/>
            </a:pPr>
            <a:r>
              <a:rPr lang="en-US" sz="4000" b="1" dirty="0">
                <a:solidFill>
                  <a:srgbClr val="FFFFFF"/>
                </a:solidFill>
              </a:rPr>
              <a:t>한 번의 조기 발견이,</a:t>
            </a:r>
            <a:endParaRPr lang="en-US" sz="4000" dirty="0"/>
          </a:p>
          <a:p>
            <a:pPr algn="ctr" indent="0" marL="0">
              <a:buNone/>
            </a:pPr>
            <a:r>
              <a:rPr lang="en-US" sz="4000" b="1" dirty="0">
                <a:solidFill>
                  <a:srgbClr val="FFFFFF"/>
                </a:solidFill>
              </a:rPr>
              <a:t>한 사람의 무사 귀가가 되도록.</a:t>
            </a:r>
            <a:endParaRPr lang="en-US" sz="4000" dirty="0"/>
          </a:p>
        </p:txBody>
      </p:sp>
      <p:sp>
        <p:nvSpPr>
          <p:cNvPr id="4" name="Text 1"/>
          <p:cNvSpPr txBox="1"/>
          <p:nvPr/>
        </p:nvSpPr>
        <p:spPr>
          <a:xfrm>
            <a:off x="1097280" y="2606040"/>
            <a:ext cx="9994392" cy="457200"/>
          </a:xfrm>
          <a:prstGeom prst="rect">
            <a:avLst/>
          </a:prstGeom>
          <a:noFill/>
          <a:ln/>
        </p:spPr>
        <p:txBody>
          <a:bodyPr wrap="square" lIns="0" tIns="0" rIns="0" bIns="0" rtlCol="0" anchor="ctr"/>
          <a:lstStyle/>
          <a:p>
            <a:pPr algn="ctr" indent="0" marL="0">
              <a:buNone/>
            </a:pPr>
            <a:r>
              <a:rPr lang="en-US" sz="2200" b="1" dirty="0">
                <a:solidFill>
                  <a:srgbClr val="F5B400"/>
                </a:solidFill>
              </a:rPr>
              <a:t>PV5 GroundWatch</a:t>
            </a:r>
            <a:endParaRPr lang="en-US" sz="2200" dirty="0"/>
          </a:p>
        </p:txBody>
      </p:sp>
      <p:sp>
        <p:nvSpPr>
          <p:cNvPr id="5" name="Text 2"/>
          <p:cNvSpPr txBox="1"/>
          <p:nvPr/>
        </p:nvSpPr>
        <p:spPr>
          <a:xfrm>
            <a:off x="1097280" y="3090672"/>
            <a:ext cx="9994392" cy="384048"/>
          </a:xfrm>
          <a:prstGeom prst="rect">
            <a:avLst/>
          </a:prstGeom>
          <a:noFill/>
          <a:ln/>
        </p:spPr>
        <p:txBody>
          <a:bodyPr wrap="square" lIns="0" tIns="0" rIns="0" bIns="0" rtlCol="0" anchor="ctr"/>
          <a:lstStyle/>
          <a:p>
            <a:pPr algn="ctr" indent="0" marL="0">
              <a:buNone/>
            </a:pPr>
            <a:r>
              <a:rPr lang="en-US" sz="1500" dirty="0">
                <a:solidFill>
                  <a:srgbClr val="DCE3EC"/>
                </a:solidFill>
              </a:rPr>
              <a:t>팀 한 명이라도 살릴 수 있다면</a:t>
            </a:r>
            <a:endParaRPr lang="en-US" sz="1500" dirty="0"/>
          </a:p>
        </p:txBody>
      </p:sp>
      <p:sp>
        <p:nvSpPr>
          <p:cNvPr id="6" name="Text 3"/>
          <p:cNvSpPr txBox="1"/>
          <p:nvPr/>
        </p:nvSpPr>
        <p:spPr>
          <a:xfrm>
            <a:off x="8778240" y="6355080"/>
            <a:ext cx="2862072" cy="329184"/>
          </a:xfrm>
          <a:prstGeom prst="rect">
            <a:avLst/>
          </a:prstGeom>
          <a:noFill/>
          <a:ln/>
        </p:spPr>
        <p:txBody>
          <a:bodyPr wrap="square" lIns="0" tIns="0" rIns="0" bIns="0" rtlCol="0" anchor="ctr"/>
          <a:lstStyle/>
          <a:p>
            <a:pPr algn="r" indent="0" marL="0">
              <a:buNone/>
            </a:pPr>
            <a:r>
              <a:rPr lang="en-US" sz="1300" dirty="0">
                <a:solidFill>
                  <a:srgbClr val="E6EBF2"/>
                </a:solidFill>
              </a:rPr>
              <a:t>감사합니다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1 GPR 한계</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GPR은 만능이 아니다. 깊이, 토질, 금속의 한계를 먼저 밝힌다</a:t>
            </a:r>
            <a:endParaRPr lang="en-US" sz="19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05840"/>
            <a:ext cx="5760720" cy="2880360"/>
          </a:xfrm>
          <a:prstGeom prst="rect">
            <a:avLst/>
          </a:prstGeom>
        </p:spPr>
      </p:pic>
      <p:sp>
        <p:nvSpPr>
          <p:cNvPr id="5" name="Text 2"/>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6" name="Text 3"/>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7" name="Text 4"/>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8" name="Text 5"/>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9" name="Text 6"/>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0" name="Text 7"/>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1" name="Text 8"/>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2" name="Text 9"/>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3" name="Text 10"/>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4" name="Text 11"/>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5" name="rule"/>
          <p:cNvSpPr/>
          <p:nvPr/>
        </p:nvSpPr>
        <p:spPr>
          <a:xfrm>
            <a:off x="548640" y="4114800"/>
            <a:ext cx="11094415" cy="0"/>
          </a:xfrm>
          <a:prstGeom prst="line">
            <a:avLst/>
          </a:prstGeom>
          <a:noFill/>
          <a:ln w="12700">
            <a:solidFill>
              <a:srgbClr val="DCE1E8"/>
            </a:solidFill>
            <a:prstDash val="solid"/>
          </a:ln>
        </p:spPr>
      </p:sp>
      <p:sp>
        <p:nvSpPr>
          <p:cNvPr id="16" name="Text 13"/>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800" b="1" dirty="0">
                <a:solidFill>
                  <a:srgbClr val="D93025"/>
                </a:solidFill>
              </a:rPr>
              <a:t>AI가 공동을 최종 확정하지 않는 이유</a:t>
            </a:r>
            <a:endParaRPr lang="en-US" sz="1800" dirty="0"/>
          </a:p>
        </p:txBody>
      </p:sp>
      <p:sp>
        <p:nvSpPr>
          <p:cNvPr id="17" name="Text 14"/>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500" b="1" dirty="0">
                <a:solidFill>
                  <a:srgbClr val="101828"/>
                </a:solidFill>
              </a:rPr>
              <a:t>신호가 비슷합니다</a:t>
            </a:r>
            <a:endParaRPr lang="en-US" sz="1500" dirty="0"/>
          </a:p>
        </p:txBody>
      </p:sp>
      <p:sp>
        <p:nvSpPr>
          <p:cNvPr id="18" name="Text 15"/>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19" name="Text 16"/>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500" b="1" dirty="0">
                <a:solidFill>
                  <a:srgbClr val="101828"/>
                </a:solidFill>
              </a:rPr>
              <a:t>검증 데이터가 아직 없습니다</a:t>
            </a:r>
            <a:endParaRPr lang="en-US" sz="1500" dirty="0"/>
          </a:p>
        </p:txBody>
      </p:sp>
      <p:sp>
        <p:nvSpPr>
          <p:cNvPr id="20" name="Text 17"/>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1" name="Text 18"/>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500" b="1" dirty="0">
                <a:solidFill>
                  <a:srgbClr val="101828"/>
                </a:solidFill>
              </a:rPr>
              <a:t>책임 주체가 필요합니다</a:t>
            </a:r>
            <a:endParaRPr lang="en-US" sz="1500" dirty="0"/>
          </a:p>
        </p:txBody>
      </p:sp>
      <p:sp>
        <p:nvSpPr>
          <p:cNvPr id="22" name="Text 19"/>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FHWA GPR 기술 설명, 서울시 설명 인용 보도(고주파 GPR 약 2m), 서울시 복합탐사(지하 5~40m) 시범 도입 보도(2025.12.30)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2 안전과 운영</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새벽 도로 작업은 사람이 먼저 안전해야 한다</a:t>
            </a:r>
            <a:endParaRPr lang="en-US" sz="19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2000" b="1" dirty="0">
                <a:solidFill>
                  <a:srgbClr val="FFFFFF"/>
                </a:solidFill>
              </a:rPr>
              <a:t>초기 운영은 2인 1조</a:t>
            </a:r>
            <a:endParaRPr lang="en-US" sz="20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700" b="1" dirty="0">
                <a:solidFill>
                  <a:srgbClr val="F5B400"/>
                </a:solidFill>
              </a:rPr>
              <a:t>1명  운전과 안전</a:t>
            </a:r>
            <a:endParaRPr lang="en-US" sz="17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700" b="1" dirty="0">
                <a:solidFill>
                  <a:srgbClr val="F5B400"/>
                </a:solidFill>
              </a:rPr>
              <a:t>2명  장비와 판독</a:t>
            </a:r>
            <a:endParaRPr lang="en-US" sz="17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안전 정차</a:t>
            </a:r>
            <a:endParaRPr lang="en-US" sz="17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주행 중 AR 금지</a:t>
            </a:r>
            <a:endParaRPr lang="en-US" sz="17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교통통제</a:t>
            </a:r>
            <a:endParaRPr lang="en-US" sz="17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천공과 내시경</a:t>
            </a:r>
            <a:endParaRPr lang="en-US" sz="17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AR 위치 오차</a:t>
            </a:r>
            <a:endParaRPr lang="en-US" sz="17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700" b="1" dirty="0">
                <a:solidFill>
                  <a:srgbClr val="101828"/>
                </a:solidFill>
              </a:rPr>
              <a:t>개인정보</a:t>
            </a:r>
            <a:endParaRPr lang="en-US" sz="17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운영 원칙은 제안안입니다. 실제 운영 전 산업안전보건, 도로교통, 개인정보보호 관련 법령 검토가 필요합니다.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3 사업 모델</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탐사 용역에서 시작해 연간 관제 계약과 패키지로 넓힌다</a:t>
            </a:r>
            <a:endParaRPr lang="en-US" sz="19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200" b="1" dirty="0">
                <a:solidFill>
                  <a:srgbClr val="0B1F3A"/>
                </a:solidFill>
              </a:rPr>
              <a:t>탐사 용역</a:t>
            </a:r>
            <a:endParaRPr lang="en-US" sz="22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주행 거리 기반 과금</a:t>
            </a:r>
            <a:endParaRPr lang="en-US" sz="1500" dirty="0"/>
          </a:p>
          <a:p>
            <a:pPr marL="342900" indent="-342900">
              <a:spcAft>
                <a:spcPts val="700"/>
              </a:spcAft>
              <a:buSzPct val="100000"/>
              <a:buChar char="•"/>
            </a:pPr>
            <a:r>
              <a:rPr lang="en-US" sz="1500" dirty="0">
                <a:solidFill>
                  <a:srgbClr val="101828"/>
                </a:solidFill>
              </a:rPr>
              <a:t>위험지역 집중 탐사</a:t>
            </a:r>
            <a:endParaRPr lang="en-US" sz="1500" dirty="0"/>
          </a:p>
          <a:p>
            <a:pPr marL="342900" indent="-342900">
              <a:spcAft>
                <a:spcPts val="700"/>
              </a:spcAft>
              <a:buSzPct val="100000"/>
              <a:buChar char="•"/>
            </a:pPr>
            <a:r>
              <a:rPr lang="en-US" sz="1500" dirty="0">
                <a:solidFill>
                  <a:srgbClr val="101828"/>
                </a:solidFill>
              </a:rPr>
              <a:t>공사 전후 비교 탐사</a:t>
            </a:r>
            <a:endParaRPr lang="en-US" sz="1500" dirty="0"/>
          </a:p>
          <a:p>
            <a:pPr marL="342900" indent="-342900">
              <a:spcAft>
                <a:spcPts val="700"/>
              </a:spcAft>
              <a:buSzPct val="100000"/>
              <a:buChar char="•"/>
            </a:pPr>
            <a:r>
              <a:rPr lang="en-US" sz="1500" dirty="0">
                <a:solidFill>
                  <a:srgbClr val="101828"/>
                </a:solidFill>
              </a:rPr>
              <a:t>집중호우 후 긴급 탐사</a:t>
            </a:r>
            <a:endParaRPr lang="en-US" sz="1500" dirty="0"/>
          </a:p>
          <a:p>
            <a:pPr marL="342900" indent="-342900">
              <a:spcAft>
                <a:spcPts val="700"/>
              </a:spcAft>
              <a:buSzPct val="100000"/>
              <a:buChar char="•"/>
            </a:pPr>
            <a:r>
              <a:rPr lang="en-US" sz="1500" dirty="0">
                <a:solidFill>
                  <a:srgbClr val="101828"/>
                </a:solidFill>
              </a:rPr>
              <a:t>정밀 재탐사</a:t>
            </a:r>
            <a:endParaRPr lang="en-US" sz="15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200" b="1" dirty="0">
                <a:solidFill>
                  <a:srgbClr val="0B1F3A"/>
                </a:solidFill>
              </a:rPr>
              <a:t>연간 관제 계약</a:t>
            </a:r>
            <a:endParaRPr lang="en-US" sz="22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정기 순찰과 4D 변화지도</a:t>
            </a:r>
            <a:endParaRPr lang="en-US" sz="1500" dirty="0"/>
          </a:p>
          <a:p>
            <a:pPr marL="342900" indent="-342900">
              <a:spcAft>
                <a:spcPts val="700"/>
              </a:spcAft>
              <a:buSzPct val="100000"/>
              <a:buChar char="•"/>
            </a:pPr>
            <a:r>
              <a:rPr lang="en-US" sz="1500" dirty="0">
                <a:solidFill>
                  <a:srgbClr val="101828"/>
                </a:solidFill>
              </a:rPr>
              <a:t>AI 변화 감지와 GIS 대시보드</a:t>
            </a:r>
            <a:endParaRPr lang="en-US" sz="1500" dirty="0"/>
          </a:p>
          <a:p>
            <a:pPr marL="342900" indent="-342900">
              <a:spcAft>
                <a:spcPts val="700"/>
              </a:spcAft>
              <a:buSzPct val="100000"/>
              <a:buChar char="•"/>
            </a:pPr>
            <a:r>
              <a:rPr lang="en-US" sz="1500" dirty="0">
                <a:solidFill>
                  <a:srgbClr val="101828"/>
                </a:solidFill>
              </a:rPr>
              <a:t>정기 보고서와 우선순위</a:t>
            </a:r>
            <a:endParaRPr lang="en-US" sz="1500" dirty="0"/>
          </a:p>
          <a:p>
            <a:pPr marL="342900" indent="-342900">
              <a:spcAft>
                <a:spcPts val="700"/>
              </a:spcAft>
              <a:buSzPct val="100000"/>
              <a:buChar char="•"/>
            </a:pPr>
            <a:r>
              <a:rPr lang="en-US" sz="1500" dirty="0">
                <a:solidFill>
                  <a:srgbClr val="101828"/>
                </a:solidFill>
              </a:rPr>
              <a:t>이력 관리와 보수 후 재검증</a:t>
            </a:r>
            <a:endParaRPr lang="en-US" sz="1500" dirty="0"/>
          </a:p>
          <a:p>
            <a:pPr marL="342900" indent="-342900">
              <a:spcAft>
                <a:spcPts val="700"/>
              </a:spcAft>
              <a:buSzPct val="100000"/>
              <a:buChar char="•"/>
            </a:pPr>
            <a:r>
              <a:rPr lang="en-US" sz="1500" dirty="0">
                <a:solidFill>
                  <a:srgbClr val="101828"/>
                </a:solidFill>
              </a:rPr>
              <a:t>공공기관 연간 구독</a:t>
            </a:r>
            <a:endParaRPr lang="en-US" sz="15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200" b="1" dirty="0">
                <a:solidFill>
                  <a:srgbClr val="0B1F3A"/>
                </a:solidFill>
              </a:rPr>
              <a:t>차량·소프트웨어 패키지</a:t>
            </a:r>
            <a:endParaRPr lang="en-US" sz="22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PV5 GroundWatch 컨버전 차량</a:t>
            </a:r>
            <a:endParaRPr lang="en-US" sz="1500" dirty="0"/>
          </a:p>
          <a:p>
            <a:pPr marL="342900" indent="-342900">
              <a:spcAft>
                <a:spcPts val="700"/>
              </a:spcAft>
              <a:buSzPct val="100000"/>
              <a:buChar char="•"/>
            </a:pPr>
            <a:r>
              <a:rPr lang="en-US" sz="1500" dirty="0">
                <a:solidFill>
                  <a:srgbClr val="101828"/>
                </a:solidFill>
              </a:rPr>
              <a:t>GPR·카메라 센서 패키지</a:t>
            </a:r>
            <a:endParaRPr lang="en-US" sz="1500" dirty="0"/>
          </a:p>
          <a:p>
            <a:pPr marL="342900" indent="-342900">
              <a:spcAft>
                <a:spcPts val="700"/>
              </a:spcAft>
              <a:buSzPct val="100000"/>
              <a:buChar char="•"/>
            </a:pPr>
            <a:r>
              <a:rPr lang="en-US" sz="1500" dirty="0">
                <a:solidFill>
                  <a:srgbClr val="101828"/>
                </a:solidFill>
              </a:rPr>
              <a:t>Patrol 앱, Edge Gateway, AR</a:t>
            </a:r>
            <a:endParaRPr lang="en-US" sz="1500" dirty="0"/>
          </a:p>
          <a:p>
            <a:pPr marL="342900" indent="-342900">
              <a:spcAft>
                <a:spcPts val="700"/>
              </a:spcAft>
              <a:buSzPct val="100000"/>
              <a:buChar char="•"/>
            </a:pPr>
            <a:r>
              <a:rPr lang="en-US" sz="1500" dirty="0">
                <a:solidFill>
                  <a:srgbClr val="101828"/>
                </a:solidFill>
              </a:rPr>
              <a:t>AI 분석 SW와 관제 대시보드</a:t>
            </a:r>
            <a:endParaRPr lang="en-US" sz="1500" dirty="0"/>
          </a:p>
          <a:p>
            <a:pPr marL="342900" indent="-342900">
              <a:spcAft>
                <a:spcPts val="700"/>
              </a:spcAft>
              <a:buSzPct val="100000"/>
              <a:buChar char="•"/>
            </a:pPr>
            <a:r>
              <a:rPr lang="en-US" sz="1500" dirty="0">
                <a:solidFill>
                  <a:srgbClr val="101828"/>
                </a:solidFill>
              </a:rPr>
              <a:t>유지보수와 교육</a:t>
            </a:r>
            <a:endParaRPr lang="en-US" sz="15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500" b="1" dirty="0">
                <a:solidFill>
                  <a:srgbClr val="101828"/>
                </a:solidFill>
              </a:rPr>
              <a:t>주요 고객</a:t>
            </a:r>
            <a:endParaRPr lang="en-US" sz="15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500" dirty="0">
                <a:solidFill>
                  <a:srgbClr val="5B6573"/>
                </a:solidFill>
              </a:rPr>
              <a:t>서울시와 자치구 도로관리 부서, 서울교통공사와 철도 운영기관, 상하수도 관리기관, 지하안전 조사기업, 도심 굴착공사 건설사</a:t>
            </a:r>
            <a:endParaRPr lang="en-US" sz="15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B2G 중심, B2B 확장. 단가와 계약 형태는 실증 단계에서 확정합니다.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부록 4 근거와 검증</a:t>
            </a:r>
            <a:endParaRPr lang="en-US" sz="14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900" b="1" dirty="0">
                <a:solidFill>
                  <a:srgbClr val="101828"/>
                </a:solidFill>
                <a:latin typeface="Pretendard" pitchFamily="34" charset="0"/>
                <a:ea typeface="Pretendard" pitchFamily="34" charset="-122"/>
                <a:cs typeface="Pretendard" pitchFamily="34" charset="-120"/>
              </a:rPr>
              <a:t>확인된 사실과 검증할 가설을 나눠 관리한다</a:t>
            </a:r>
            <a:endParaRPr lang="en-US" sz="19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600" b="1" dirty="0">
                <a:solidFill>
                  <a:srgbClr val="101828"/>
                </a:solidFill>
              </a:rPr>
              <a:t>확정 데이터와 출처</a:t>
            </a:r>
            <a:endParaRPr lang="en-US" sz="16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600" b="1" dirty="0">
                <a:solidFill>
                  <a:srgbClr val="D93025"/>
                </a:solidFill>
              </a:rPr>
              <a:t>실증이 필요한 항목</a:t>
            </a:r>
            <a:endParaRPr lang="en-US" sz="16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01828"/>
                </a:solidFill>
              </a:rPr>
              <a:t>GPR와 전기차 전자파 간섭, 배터리팩 영향</a:t>
            </a:r>
            <a:endParaRPr lang="en-US" sz="1400" dirty="0"/>
          </a:p>
          <a:p>
            <a:pPr marL="342900" indent="-342900">
              <a:spcAft>
                <a:spcPts val="500"/>
              </a:spcAft>
              <a:buSzPct val="100000"/>
              <a:buChar char="•"/>
            </a:pPr>
            <a:r>
              <a:rPr lang="en-US" sz="1400" dirty="0">
                <a:solidFill>
                  <a:srgbClr val="101828"/>
                </a:solidFill>
              </a:rPr>
              <a:t>장비 소비전력과 V2L 운용, 주행거리 영향</a:t>
            </a:r>
            <a:endParaRPr lang="en-US" sz="1400" dirty="0"/>
          </a:p>
          <a:p>
            <a:pPr marL="342900" indent="-342900">
              <a:spcAft>
                <a:spcPts val="500"/>
              </a:spcAft>
              <a:buSzPct val="100000"/>
              <a:buChar char="•"/>
            </a:pPr>
            <a:r>
              <a:rPr lang="en-US" sz="1400" dirty="0">
                <a:solidFill>
                  <a:srgbClr val="101828"/>
                </a:solidFill>
              </a:rPr>
              <a:t>적재중량, 차량총중량, 축하중, 구조변경</a:t>
            </a:r>
            <a:endParaRPr lang="en-US" sz="1400" dirty="0"/>
          </a:p>
          <a:p>
            <a:pPr marL="342900" indent="-342900">
              <a:spcAft>
                <a:spcPts val="500"/>
              </a:spcAft>
              <a:buSzPct val="100000"/>
              <a:buChar char="•"/>
            </a:pPr>
            <a:r>
              <a:rPr lang="en-US" sz="1400" dirty="0">
                <a:solidFill>
                  <a:srgbClr val="101828"/>
                </a:solidFill>
              </a:rPr>
              <a:t>AR 위치 정확도와 야간 기준점 인식</a:t>
            </a:r>
            <a:endParaRPr lang="en-US" sz="1400" dirty="0"/>
          </a:p>
          <a:p>
            <a:pPr marL="342900" indent="-342900">
              <a:spcAft>
                <a:spcPts val="500"/>
              </a:spcAft>
              <a:buSzPct val="100000"/>
              <a:buChar char="•"/>
            </a:pPr>
            <a:r>
              <a:rPr lang="en-US" sz="1400" dirty="0">
                <a:solidFill>
                  <a:srgbClr val="101828"/>
                </a:solidFill>
              </a:rPr>
              <a:t>차량 앱 배포 경로와 공식 API 범위</a:t>
            </a:r>
            <a:endParaRPr lang="en-US" sz="1400" dirty="0"/>
          </a:p>
          <a:p>
            <a:pPr marL="342900" indent="-342900">
              <a:spcAft>
                <a:spcPts val="500"/>
              </a:spcAft>
              <a:buSzPct val="100000"/>
              <a:buChar char="•"/>
            </a:pPr>
            <a:r>
              <a:rPr lang="en-US" sz="1400" dirty="0">
                <a:solidFill>
                  <a:srgbClr val="101828"/>
                </a:solidFill>
              </a:rPr>
              <a:t>앱, 게이트웨이, 글래스 통신 지연과 단절 대응</a:t>
            </a:r>
            <a:endParaRPr lang="en-US" sz="1400" dirty="0"/>
          </a:p>
          <a:p>
            <a:pPr marL="342900" indent="-342900">
              <a:spcAft>
                <a:spcPts val="500"/>
              </a:spcAft>
              <a:buSzPct val="100000"/>
              <a:buChar char="•"/>
            </a:pPr>
            <a:r>
              <a:rPr lang="en-US" sz="1400" dirty="0">
                <a:solidFill>
                  <a:srgbClr val="101828"/>
                </a:solidFill>
              </a:rPr>
              <a:t>AI 탐지율, 오탐률, 미탐률(천공 확인 기준)</a:t>
            </a:r>
            <a:endParaRPr lang="en-US" sz="1400" dirty="0"/>
          </a:p>
          <a:p>
            <a:pPr marL="342900" indent="-3429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공식 자료를 우선하고, 언론 보도는 공식 발표를 인용한 경우만 썼습니다. 값이 다르면 공식 수치를 채택했습니다(서울시 2026 탐사 16,423km).</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한 명이라도 살릴 수 있다면</cp:lastModifiedBy>
  <cp:revision>1</cp:revision>
  <dcterms:created xsi:type="dcterms:W3CDTF">2026-10-10T13:31:52Z</dcterms:created>
  <dcterms:modified xsi:type="dcterms:W3CDTF">2026-10-10T13:31:52Z</dcterms:modified>
</cp:coreProperties>
</file>