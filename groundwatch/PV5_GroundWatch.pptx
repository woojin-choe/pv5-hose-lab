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3ca8c6b3-227f-d7b4-8612-4f7f57507896}">
          <p14:sldIdLst>
            <p14:sldId id="256"/>
            <p14:sldId id="257"/>
            <p14:sldId id="258"/>
            <p14:sldId id="259"/>
            <p14:sldId id="260"/>
          </p14:sldIdLst>
        </p14:section>
        <p14:section name="운영 모델" id="{55526253-47ff-9158-2c26-f5fee5d359e9}">
          <p14:sldIdLst>
            <p14:sldId id="261"/>
            <p14:sldId id="262"/>
            <p14:sldId id="263"/>
            <p14:sldId id="264"/>
            <p14:sldId id="265"/>
            <p14:sldId id="266"/>
            <p14:sldId id="267"/>
            <p14:sldId id="268"/>
            <p14:sldId id="269"/>
            <p14:sldId id="270"/>
            <p14:sldId id="271"/>
            <p14:sldId id="272"/>
          </p14:sldIdLst>
        </p14:section>
        <p14:section name="확장" id="{e2e89afc-379c-c158-c649-0c1a6b348e87}">
          <p14:sldIdLst>
            <p14:sldId id="273"/>
            <p14:sldId id="274"/>
            <p14:sldId id="275"/>
            <p14:sldId id="276"/>
            <p14:sldId id="277"/>
            <p14:sldId id="278"/>
          </p14:sldIdLst>
        </p14:section>
        <p14:section name="부록" id="{18fc5adb-5a6e-cd2d-c393-65aee434e75d}">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이미지: PV5 실차 사진(Alexander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
이미지: PV5 실차 사진(Alexander Migl, CC BY-SA 4.0, https://commons.wikimedia.org/wiki/File:Kia_PV5_Cargo_IMG_7829.jpg).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11094415" cy="0"/>
          </a:xfrm>
          <a:prstGeom prst="line">
            <a:avLst/>
          </a:prstGeom>
          <a:noFill/>
          <a:ln w="9525">
            <a:solidFill>
              <a:srgbClr val="C9D0DA"/>
            </a:solidFill>
            <a:prstDash val="solid"/>
          </a:ln>
        </p:spPr>
      </p:sp>
      <p:sp>
        <p:nvSpPr>
          <p:cNvPr id="3" name="Shape 1"/>
          <p:cNvSpPr/>
          <p:nvPr/>
        </p:nvSpPr>
        <p:spPr>
          <a:xfrm>
            <a:off x="548640" y="6510528"/>
            <a:ext cx="11094415" cy="0"/>
          </a:xfrm>
          <a:prstGeom prst="line">
            <a:avLst/>
          </a:prstGeom>
          <a:noFill/>
          <a:ln w="6350">
            <a:solidFill>
              <a:srgbClr val="DCE1E8"/>
            </a:solidFill>
            <a:prstDash val="solid"/>
          </a:ln>
        </p:spPr>
      </p:sp>
      <p:sp>
        <p:nvSpPr>
          <p:cNvPr id="4" name="Text 2"/>
          <p:cNvSpPr/>
          <p:nvPr/>
        </p:nvSpPr>
        <p:spPr>
          <a:xfrm>
            <a:off x="548640" y="6537960"/>
            <a:ext cx="8229600" cy="228600"/>
          </a:xfrm>
          <a:prstGeom prst="rect">
            <a:avLst/>
          </a:prstGeom>
          <a:noFill/>
          <a:ln/>
        </p:spPr>
        <p:txBody>
          <a:bodyPr wrap="square" lIns="0" tIns="0" rIns="0" bIns="0" rtlCol="0" anchor="ctr"/>
          <a:lstStyle/>
          <a:p>
            <a:pPr indent="0" marL="0">
              <a:buNone/>
            </a:pPr>
            <a:r>
              <a:rPr lang="en-US" sz="850" dirty="0">
                <a:solidFill>
                  <a:srgbClr val="8A94A3"/>
                </a:solidFill>
                <a:latin typeface="Noto Sans CJK KR" pitchFamily="34" charset="0"/>
                <a:ea typeface="Noto Sans CJK KR" pitchFamily="34" charset="-122"/>
                <a:cs typeface="Noto Sans CJK KR" pitchFamily="34" charset="-120"/>
              </a:rPr>
              <a:t>PV5 GroundWatch  |  반복 관측 기반 도심 지하공동 변화 감지 순찰체계</a:t>
            </a:r>
            <a:endParaRPr lang="en-US" sz="850" dirty="0"/>
          </a:p>
        </p:txBody>
      </p:sp>
      <p:sp>
        <p:nvSpPr>
          <p:cNvPr id="5" name="Text 3"/>
          <p:cNvSpPr/>
          <p:nvPr>
            <p:ph idx="103" type="title" hasCustomPrompt="1"/>
          </p:nvPr>
        </p:nvSpPr>
        <p:spPr>
          <a:xfrm>
            <a:off x="548640" y="384048"/>
            <a:ext cx="11094415" cy="475488"/>
          </a:xfrm>
          <a:prstGeom prst="rect">
            <a:avLst/>
          </a:prstGeom>
          <a:noFill/>
          <a:ln/>
        </p:spPr>
        <p:txBody>
          <a:bodyPr wrap="square" rtlCol="0"/>
          <a:lstStyle>
            <a:lvl1pPr algn="l" indent="0" marL="0">
              <a:buNone/>
              <a:defRPr lang="en-US" sz="2100" b="1" dirty="0">
                <a:solidFill>
                  <a:srgbClr val="0B1F3A"/>
                </a:solidFill>
                <a:latin typeface="Noto Serif CJK KR" pitchFamily="34" charset="0"/>
                <a:ea typeface="Noto Serif CJK KR" pitchFamily="34" charset="-122"/>
                <a:cs typeface="Noto Serif CJK KR"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r_front_n" descr="/Users/seohogyun/Documents/git_workspace/pv5-hose-lab/groundwatch/images/r_front_n.jpg">    </p:cNvPr>
          <p:cNvPicPr>
            <a:picLocks noChangeAspect="1"/>
          </p:cNvPicPr>
          <p:nvPr/>
        </p:nvPicPr>
        <p:blipFill>
          <a:blip r:embed="rId1"/>
          <a:stretch>
            <a:fillRect/>
          </a:stretch>
        </p:blipFill>
        <p:spPr>
          <a:xfrm>
            <a:off x="6309360" y="1468222"/>
            <a:ext cx="5882335" cy="3921557"/>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제5회 기아 PBV 아이디어 공모전  |  일반 부문 제안서</a:t>
            </a:r>
            <a:endParaRPr lang="en-US" sz="1100" dirty="0"/>
          </a:p>
        </p:txBody>
      </p:sp>
      <p:sp>
        <p:nvSpPr>
          <p:cNvPr id="5" name="Text 2"/>
          <p:cNvSpPr txBox="1"/>
          <p:nvPr/>
        </p:nvSpPr>
        <p:spPr>
          <a:xfrm>
            <a:off x="548640" y="1234440"/>
            <a:ext cx="5577840" cy="731520"/>
          </a:xfrm>
          <a:prstGeom prst="rect">
            <a:avLst/>
          </a:prstGeom>
          <a:noFill/>
          <a:ln/>
        </p:spPr>
        <p:txBody>
          <a:bodyPr wrap="square" lIns="0" tIns="0" rIns="0" bIns="0" rtlCol="0" anchor="ctr"/>
          <a:lstStyle/>
          <a:p>
            <a:pPr indent="0" marL="0">
              <a:buNone/>
            </a:pPr>
            <a:r>
              <a:rPr lang="en-US" sz="3000" b="1" dirty="0">
                <a:solidFill>
                  <a:srgbClr val="0B1F3A"/>
                </a:solidFill>
                <a:latin typeface="Noto Serif CJK KR" pitchFamily="34" charset="0"/>
                <a:ea typeface="Noto Serif CJK KR" pitchFamily="34" charset="-122"/>
                <a:cs typeface="Noto Serif CJK KR" pitchFamily="34" charset="-120"/>
              </a:rPr>
              <a:t>PV5 GroundWatch</a:t>
            </a:r>
            <a:endParaRPr lang="en-US" sz="3000" dirty="0"/>
          </a:p>
        </p:txBody>
      </p:sp>
      <p:sp>
        <p:nvSpPr>
          <p:cNvPr id="6" name="Text 3"/>
          <p:cNvSpPr txBox="1"/>
          <p:nvPr/>
        </p:nvSpPr>
        <p:spPr>
          <a:xfrm>
            <a:off x="548640" y="2011680"/>
            <a:ext cx="5577840" cy="411480"/>
          </a:xfrm>
          <a:prstGeom prst="rect">
            <a:avLst/>
          </a:prstGeom>
          <a:noFill/>
          <a:ln/>
        </p:spPr>
        <p:txBody>
          <a:bodyPr wrap="square" lIns="0" tIns="0" rIns="0" bIns="0" rtlCol="0" anchor="ctr"/>
          <a:lstStyle/>
          <a:p>
            <a:pPr indent="0" marL="0">
              <a:buNone/>
            </a:pPr>
            <a:r>
              <a:rPr lang="en-US" sz="1700" dirty="0">
                <a:solidFill>
                  <a:srgbClr val="101828"/>
                </a:solidFill>
                <a:latin typeface="Noto Serif CJK KR" pitchFamily="34" charset="0"/>
                <a:ea typeface="Noto Serif CJK KR" pitchFamily="34" charset="-122"/>
                <a:cs typeface="Noto Serif CJK KR" pitchFamily="34" charset="-120"/>
              </a:rPr>
              <a:t>반복 관측 기반 도심 지하공동 변화 감지 순찰체계</a:t>
            </a:r>
            <a:endParaRPr lang="en-US" sz="1700" dirty="0"/>
          </a:p>
        </p:txBody>
      </p:sp>
      <p:sp>
        <p:nvSpPr>
          <p:cNvPr id="7" name="rule"/>
          <p:cNvSpPr/>
          <p:nvPr/>
        </p:nvSpPr>
        <p:spPr>
          <a:xfrm>
            <a:off x="548640" y="2697480"/>
            <a:ext cx="5394960" cy="0"/>
          </a:xfrm>
          <a:prstGeom prst="line">
            <a:avLst/>
          </a:prstGeom>
          <a:noFill/>
          <a:ln w="9525">
            <a:solidFill>
              <a:srgbClr val="C9D0DA"/>
            </a:solidFill>
            <a:prstDash val="solid"/>
          </a:ln>
        </p:spPr>
      </p:sp>
      <p:sp>
        <p:nvSpPr>
          <p:cNvPr id="8" name="Text 5"/>
          <p:cNvSpPr txBox="1"/>
          <p:nvPr/>
        </p:nvSpPr>
        <p:spPr>
          <a:xfrm>
            <a:off x="548640" y="2880360"/>
            <a:ext cx="5486400" cy="548640"/>
          </a:xfrm>
          <a:prstGeom prst="rect">
            <a:avLst/>
          </a:prstGeom>
          <a:noFill/>
          <a:ln/>
        </p:spPr>
        <p:txBody>
          <a:bodyPr wrap="square" lIns="0" tIns="0" rIns="0" bIns="0" rtlCol="0" anchor="t"/>
          <a:lstStyle/>
          <a:p>
            <a:pPr indent="0" marL="0">
              <a:buNone/>
            </a:pPr>
            <a:r>
              <a:rPr lang="en-US" sz="1400" dirty="0">
                <a:solidFill>
                  <a:srgbClr val="101828"/>
                </a:solidFill>
              </a:rPr>
              <a:t>도로가 무너지기까지 1~2분. 그 아래의 변화는 더 먼저 시작됐습니다.</a:t>
            </a:r>
            <a:endParaRPr lang="en-US" sz="1400" dirty="0"/>
          </a:p>
        </p:txBody>
      </p:sp>
      <p:graphicFrame>
        <p:nvGraphicFramePr>
          <p:cNvPr id="2" name="facts"/>
          <p:cNvGraphicFramePr>
            <a:graphicFrameLocks noGrp="1"/>
          </p:cNvGraphicFramePr>
          <p:nvPr>
            <p:extLst>
              <p:ext uri="{D42A27DB-BD31-4B8C-83A1-F6EECF244321}">
                <p14:modId xmlns:p14="http://schemas.microsoft.com/office/powerpoint/2010/main" val="1579011935"/>
              </p:ext>
            </p:extLst>
          </p:nvPr>
        </p:nvGraphicFramePr>
        <p:xfrm>
          <a:off x="548640" y="3520440"/>
          <a:ext cx="5394960" cy="914400"/>
        </p:xfrm>
        <a:graphic>
          <a:graphicData uri="http://schemas.openxmlformats.org/drawingml/2006/table">
            <a:tbl>
              <a:tblPr/>
              <a:tblGrid>
                <a:gridCol w="1097280"/>
                <a:gridCol w="4297680"/>
              </a:tblGrid>
              <a:tr h="310896">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구분</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서울 강동구 명일동 땅꺼짐(2025.3.24)</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규모</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길이 22m, 폭 18m, 깊이 16m (약 1~2분 만에 확대)</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인명 피해</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사망 1명, 부상 1명</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10" name="Text 6"/>
          <p:cNvSpPr txBox="1"/>
          <p:nvPr/>
        </p:nvSpPr>
        <p:spPr>
          <a:xfrm>
            <a:off x="548640" y="5532120"/>
            <a:ext cx="5486400" cy="274320"/>
          </a:xfrm>
          <a:prstGeom prst="rect">
            <a:avLst/>
          </a:prstGeom>
          <a:noFill/>
          <a:ln/>
        </p:spPr>
        <p:txBody>
          <a:bodyPr wrap="square" lIns="0" tIns="0" rIns="0" bIns="0" rtlCol="0" anchor="ctr"/>
          <a:lstStyle/>
          <a:p>
            <a:pPr indent="0" marL="0">
              <a:buNone/>
            </a:pPr>
            <a:r>
              <a:rPr lang="en-US" sz="1200" dirty="0">
                <a:solidFill>
                  <a:srgbClr val="5B6573"/>
                </a:solidFill>
              </a:rPr>
              <a:t>2026. 10.</a:t>
            </a:r>
            <a:endParaRPr lang="en-US" sz="1200" dirty="0"/>
          </a:p>
        </p:txBody>
      </p:sp>
      <p:sp>
        <p:nvSpPr>
          <p:cNvPr id="11" name="Text 7"/>
          <p:cNvSpPr txBox="1"/>
          <p:nvPr/>
        </p:nvSpPr>
        <p:spPr>
          <a:xfrm>
            <a:off x="548640" y="6217920"/>
            <a:ext cx="5577840" cy="411480"/>
          </a:xfrm>
          <a:prstGeom prst="rect">
            <a:avLst/>
          </a:prstGeom>
          <a:noFill/>
          <a:ln/>
        </p:spPr>
        <p:txBody>
          <a:bodyPr wrap="square" lIns="0" tIns="0" rIns="0" bIns="0" rtlCol="0" anchor="t"/>
          <a:lstStyle/>
          <a:p>
            <a:pPr indent="0" marL="0">
              <a:buNone/>
            </a:pPr>
            <a:r>
              <a:rPr lang="en-US" sz="850" dirty="0">
                <a:solidFill>
                  <a:srgbClr val="8A94A3"/>
                </a:solidFill>
              </a:rPr>
              <a:t>자료: 국토교통부·중앙지하사고조사위원회 「서울 명일동 땅꺼짐 사고 조사결과」(2025.12.3).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1.1  제안 배경</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붕괴는 갑자기 보였지만, 원인은 지하에서 쌓이고 있었다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사고조사위원회는 하나의 원인이 아니라 지하에서 오래 쌓인 조건들이 겹쳤다고 발표했습니다.</a:t>
            </a:r>
            <a:endParaRPr lang="en-US" sz="14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caption"/>
          <p:cNvSpPr txBox="1"/>
          <p:nvPr/>
        </p:nvSpPr>
        <p:spPr>
          <a:xfrm>
            <a:off x="548640" y="5061776"/>
            <a:ext cx="6675120" cy="219456"/>
          </a:xfrm>
          <a:prstGeom prst="rect">
            <a:avLst/>
          </a:prstGeom>
          <a:noFill/>
          <a:ln/>
        </p:spPr>
        <p:txBody>
          <a:bodyPr wrap="square" lIns="0" tIns="0" rIns="0" bIns="0" rtlCol="0" anchor="t"/>
          <a:lstStyle/>
          <a:p>
            <a:pPr indent="0" marL="0">
              <a:buNone/>
            </a:pPr>
            <a:r>
              <a:rPr lang="en-US" sz="950" b="1" dirty="0">
                <a:solidFill>
                  <a:srgbClr val="101828"/>
                </a:solidFill>
              </a:rPr>
              <a:t>그림 1. </a:t>
            </a:r>
            <a:pPr indent="0" marL="0">
              <a:buNone/>
            </a:pPr>
            <a:r>
              <a:rPr lang="en-US" sz="950" dirty="0">
                <a:solidFill>
                  <a:srgbClr val="5B6573"/>
                </a:solidFill>
              </a:rPr>
              <a:t>명일동 사고 조사결과의 원인 요소 개념도</a:t>
            </a:r>
            <a:endParaRPr lang="en-US" sz="950" dirty="0"/>
          </a:p>
        </p:txBody>
      </p:sp>
      <p:sp>
        <p:nvSpPr>
          <p:cNvPr id="7" name="Text 4"/>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8" name="Text 5"/>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400" dirty="0">
                <a:solidFill>
                  <a:srgbClr val="101828"/>
                </a:solidFill>
              </a:rPr>
              <a:t>심층풍화대 불연속면이 만든 쐐기형 토체가 터널 굴착 중 미끄러짐</a:t>
            </a:r>
            <a:endParaRPr lang="en-US" sz="1400" dirty="0"/>
          </a:p>
        </p:txBody>
      </p:sp>
      <p:sp>
        <p:nvSpPr>
          <p:cNvPr id="9" name="Text 6"/>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0" name="Text 7"/>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400" dirty="0">
                <a:solidFill>
                  <a:srgbClr val="101828"/>
                </a:solidFill>
              </a:rPr>
              <a:t>인근 터널공사로 지하수위 최대 26m 저하</a:t>
            </a:r>
            <a:endParaRPr lang="en-US" sz="1400" dirty="0"/>
          </a:p>
        </p:txBody>
      </p:sp>
      <p:sp>
        <p:nvSpPr>
          <p:cNvPr id="11" name="Text 8"/>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2" name="Text 9"/>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400" dirty="0">
                <a:solidFill>
                  <a:srgbClr val="101828"/>
                </a:solidFill>
              </a:rPr>
              <a:t>노후 하수관의 장기 누수로 경계면 강도 저하</a:t>
            </a:r>
            <a:endParaRPr lang="en-US" sz="1400" dirty="0"/>
          </a:p>
        </p:txBody>
      </p:sp>
      <p:sp>
        <p:nvSpPr>
          <p:cNvPr id="13" name="Text 10"/>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4" name="Text 11"/>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400" dirty="0">
                <a:solidFill>
                  <a:srgbClr val="101828"/>
                </a:solidFill>
              </a:rPr>
              <a:t>강관보강 그라우팅의 지보 성능 한계</a:t>
            </a:r>
            <a:endParaRPr lang="en-US" sz="1400" dirty="0"/>
          </a:p>
        </p:txBody>
      </p:sp>
      <p:sp>
        <p:nvSpPr>
          <p:cNvPr id="15" name="rule"/>
          <p:cNvSpPr/>
          <p:nvPr/>
        </p:nvSpPr>
        <p:spPr>
          <a:xfrm>
            <a:off x="7498080" y="4663440"/>
            <a:ext cx="4142232" cy="0"/>
          </a:xfrm>
          <a:prstGeom prst="line">
            <a:avLst/>
          </a:prstGeom>
          <a:noFill/>
          <a:ln w="12700">
            <a:solidFill>
              <a:srgbClr val="DCE1E8"/>
            </a:solidFill>
            <a:prstDash val="solid"/>
          </a:ln>
        </p:spPr>
      </p:sp>
      <p:sp>
        <p:nvSpPr>
          <p:cNvPr id="16" name="Text 13"/>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400" b="1" dirty="0">
                <a:solidFill>
                  <a:srgbClr val="101828"/>
                </a:solidFill>
              </a:rPr>
              <a:t>결과: 도로 중앙선 부근에서 시작해 약 1~2분 만에 22×18×16m로 확대</a:t>
            </a:r>
            <a:endParaRPr lang="en-US" sz="1400" dirty="0"/>
          </a:p>
        </p:txBody>
      </p:sp>
      <p:sp>
        <p:nvSpPr>
          <p:cNvPr id="17" name="Text 14"/>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000" b="1" dirty="0">
                <a:solidFill>
                  <a:srgbClr val="5B6573"/>
                </a:solidFill>
              </a:rPr>
              <a:t>보이지 않음</a:t>
            </a:r>
            <a:endParaRPr lang="en-US" sz="2000" dirty="0"/>
          </a:p>
        </p:txBody>
      </p:sp>
      <p:sp>
        <p:nvSpPr>
          <p:cNvPr id="18" name="arrow"/>
          <p:cNvSpPr/>
          <p:nvPr/>
        </p:nvSpPr>
        <p:spPr>
          <a:xfrm>
            <a:off x="2258568" y="5513832"/>
            <a:ext cx="420624" cy="914"/>
          </a:xfrm>
          <a:prstGeom prst="line">
            <a:avLst/>
          </a:prstGeom>
          <a:noFill/>
          <a:ln w="22225">
            <a:solidFill>
              <a:srgbClr val="8A94A3"/>
            </a:solidFill>
            <a:prstDash val="solid"/>
            <a:tailEnd type="triangle"/>
          </a:ln>
        </p:spPr>
      </p:sp>
      <p:sp>
        <p:nvSpPr>
          <p:cNvPr id="19" name="Text 16"/>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000" b="1" dirty="0">
                <a:solidFill>
                  <a:srgbClr val="5B6573"/>
                </a:solidFill>
              </a:rPr>
              <a:t>쌓임</a:t>
            </a:r>
            <a:endParaRPr lang="en-US" sz="2000" dirty="0"/>
          </a:p>
        </p:txBody>
      </p:sp>
      <p:sp>
        <p:nvSpPr>
          <p:cNvPr id="20" name="arrow"/>
          <p:cNvSpPr/>
          <p:nvPr/>
        </p:nvSpPr>
        <p:spPr>
          <a:xfrm>
            <a:off x="3675888" y="5513832"/>
            <a:ext cx="420624" cy="914"/>
          </a:xfrm>
          <a:prstGeom prst="line">
            <a:avLst/>
          </a:prstGeom>
          <a:noFill/>
          <a:ln w="22225">
            <a:solidFill>
              <a:srgbClr val="8A94A3"/>
            </a:solidFill>
            <a:prstDash val="solid"/>
            <a:tailEnd type="triangle"/>
          </a:ln>
        </p:spPr>
      </p:sp>
      <p:sp>
        <p:nvSpPr>
          <p:cNvPr id="21" name="Text 18"/>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000" b="1" dirty="0">
                <a:solidFill>
                  <a:srgbClr val="D93025"/>
                </a:solidFill>
              </a:rPr>
              <a:t>갑자기 드러남</a:t>
            </a:r>
            <a:endParaRPr lang="en-US" sz="2000" dirty="0"/>
          </a:p>
        </p:txBody>
      </p:sp>
      <p:sp>
        <p:nvSpPr>
          <p:cNvPr id="22" name="Text 19"/>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700" b="1" dirty="0">
                <a:solidFill>
                  <a:srgbClr val="0B1F3A"/>
                </a:solidFill>
              </a:rPr>
              <a:t>사고 뒤의 복구보다, 사고 전의 변화를 관리해야 합니다.</a:t>
            </a:r>
            <a:endParaRPr lang="en-US" sz="1700" dirty="0"/>
          </a:p>
        </p:txBody>
      </p:sp>
      <p:sp>
        <p:nvSpPr>
          <p:cNvPr id="23"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4" name="Text 21"/>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우리의 목표</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5"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국토교통부 땅꺼짐 사고 조사결과(2025.12.3). 단면도는 조사 요소를 단순화한 개념도이며, GroundWatch가 이 사고를 막을 수 있었다는 뜻이 아닙니다.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1.2  현재 탐사 방식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서울시는 이미 GPR로 도로 아래를 탐사하고 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차량형 GPR로 넓게 선별하고 수동 GPR과 천공·내시경으로 확인합니다. GroundWatch는 이 체계를 보완합니다.</a:t>
            </a:r>
            <a:endParaRPr lang="en-US" sz="14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611880"/>
          </a:xfrm>
          <a:prstGeom prst="rect">
            <a:avLst/>
          </a:prstGeom>
        </p:spPr>
      </p:pic>
      <p:sp>
        <p:nvSpPr>
          <p:cNvPr id="6" name="caption"/>
          <p:cNvSpPr txBox="1"/>
          <p:nvPr/>
        </p:nvSpPr>
        <p:spPr>
          <a:xfrm>
            <a:off x="548640" y="5202936"/>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2. </a:t>
            </a:r>
            <a:pPr indent="0" marL="0">
              <a:buNone/>
            </a:pPr>
            <a:r>
              <a:rPr lang="en-US" sz="950" dirty="0">
                <a:solidFill>
                  <a:srgbClr val="5B6573"/>
                </a:solidFill>
              </a:rPr>
              <a:t>수동(손수레형) GPR 실제 장비</a:t>
            </a:r>
            <a:endParaRPr lang="en-US" sz="95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차량형 GPR</a:t>
            </a:r>
            <a:endParaRPr lang="en-US" sz="17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수동(손수레형) GPR</a:t>
            </a:r>
            <a:endParaRPr lang="en-US" sz="17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천공과 내시경</a:t>
            </a:r>
            <a:endParaRPr lang="en-US" sz="17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33,129km</a:t>
            </a:r>
            <a:endParaRPr lang="en-US" sz="21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7,760개</a:t>
            </a:r>
            <a:endParaRPr lang="en-US" sz="21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16,423km</a:t>
            </a:r>
            <a:endParaRPr lang="en-US" sz="21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9명 → 19명</a:t>
            </a:r>
            <a:endParaRPr lang="en-US" sz="21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GPR 도입 자료, 서울시 지반침하 예방체계 강화 보도자료, 경향신문 2025.10.19, 세이프타임즈. 사진: The Charles Machine Works, CC BY-SA 2.0,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1.3  현재 방식의 공백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탐사와 탐사 사이, 지하의 변화는 기록되지 않는다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2024년 연희동 성산로는 5월 정기 GPR 탐사에서 공동이 발견되지 않았고, 8월 29일 도로가 함몰됐습니다.</a:t>
            </a:r>
            <a:endParaRPr lang="en-US" sz="14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sp>
        <p:nvSpPr>
          <p:cNvPr id="6" name="caption"/>
          <p:cNvSpPr txBox="1"/>
          <p:nvPr/>
        </p:nvSpPr>
        <p:spPr>
          <a:xfrm>
            <a:off x="548640" y="3557016"/>
            <a:ext cx="7772400" cy="219456"/>
          </a:xfrm>
          <a:prstGeom prst="rect">
            <a:avLst/>
          </a:prstGeom>
          <a:noFill/>
          <a:ln/>
        </p:spPr>
        <p:txBody>
          <a:bodyPr wrap="square" lIns="0" tIns="0" rIns="0" bIns="0" rtlCol="0" anchor="t"/>
          <a:lstStyle/>
          <a:p>
            <a:pPr indent="0" marL="0">
              <a:buNone/>
            </a:pPr>
            <a:r>
              <a:rPr lang="en-US" sz="950" b="1" dirty="0">
                <a:solidFill>
                  <a:srgbClr val="101828"/>
                </a:solidFill>
              </a:rPr>
              <a:t>그림 3. </a:t>
            </a:r>
            <a:pPr indent="0" marL="0">
              <a:buNone/>
            </a:pPr>
            <a:r>
              <a:rPr lang="en-US" sz="950" dirty="0">
                <a:solidFill>
                  <a:srgbClr val="5B6573"/>
                </a:solidFill>
              </a:rPr>
              <a:t>연희동 성산로 정기 탐사와 함몰 시점</a:t>
            </a:r>
            <a:endParaRPr lang="en-US" sz="950" dirty="0"/>
          </a:p>
        </p:txBody>
      </p:sp>
      <p:pic>
        <p:nvPicPr>
          <p:cNvPr id="7"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8" name="Text 4"/>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9" name="keyMessage"/>
          <p:cNvSpPr txBox="1"/>
          <p:nvPr/>
        </p:nvSpPr>
        <p:spPr>
          <a:xfrm>
            <a:off x="548640" y="5806440"/>
            <a:ext cx="5486400" cy="38404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5월엔 없었고, 8월엔 무너졌습니다.</a:t>
            </a:r>
            <a:endParaRPr lang="en-US" sz="1400" dirty="0"/>
          </a:p>
        </p:txBody>
      </p:sp>
      <p:sp>
        <p:nvSpPr>
          <p:cNvPr id="10" name="rule"/>
          <p:cNvSpPr/>
          <p:nvPr/>
        </p:nvSpPr>
        <p:spPr>
          <a:xfrm>
            <a:off x="548640" y="4343400"/>
            <a:ext cx="2606040" cy="0"/>
          </a:xfrm>
          <a:prstGeom prst="line">
            <a:avLst/>
          </a:prstGeom>
          <a:noFill/>
          <a:ln w="12700">
            <a:solidFill>
              <a:srgbClr val="101828"/>
            </a:solidFill>
            <a:prstDash val="solid"/>
          </a:ln>
        </p:spPr>
      </p:sp>
      <p:sp>
        <p:nvSpPr>
          <p:cNvPr id="11" name="Text 7"/>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한 시점의 결과</a:t>
            </a:r>
            <a:endParaRPr lang="en-US" sz="1500" dirty="0"/>
          </a:p>
        </p:txBody>
      </p:sp>
      <p:sp>
        <p:nvSpPr>
          <p:cNvPr id="12" name="Text 8"/>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3" name="rule"/>
          <p:cNvSpPr/>
          <p:nvPr/>
        </p:nvSpPr>
        <p:spPr>
          <a:xfrm>
            <a:off x="3383280" y="4343400"/>
            <a:ext cx="2606040" cy="0"/>
          </a:xfrm>
          <a:prstGeom prst="line">
            <a:avLst/>
          </a:prstGeom>
          <a:noFill/>
          <a:ln w="12700">
            <a:solidFill>
              <a:srgbClr val="101828"/>
            </a:solidFill>
            <a:prstDash val="solid"/>
          </a:ln>
        </p:spPr>
      </p:sp>
      <p:sp>
        <p:nvSpPr>
          <p:cNvPr id="14" name="Text 10"/>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변화 추적</a:t>
            </a:r>
            <a:endParaRPr lang="en-US" sz="1500" dirty="0"/>
          </a:p>
        </p:txBody>
      </p:sp>
      <p:sp>
        <p:nvSpPr>
          <p:cNvPr id="15" name="Text 11"/>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6" name="rule"/>
          <p:cNvSpPr/>
          <p:nvPr/>
        </p:nvSpPr>
        <p:spPr>
          <a:xfrm>
            <a:off x="6217920" y="4343400"/>
            <a:ext cx="2606040" cy="0"/>
          </a:xfrm>
          <a:prstGeom prst="line">
            <a:avLst/>
          </a:prstGeom>
          <a:noFill/>
          <a:ln w="12700">
            <a:solidFill>
              <a:srgbClr val="101828"/>
            </a:solidFill>
            <a:prstDash val="solid"/>
          </a:ln>
        </p:spPr>
      </p:sp>
      <p:sp>
        <p:nvSpPr>
          <p:cNvPr id="17" name="Text 13"/>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조사 순서</a:t>
            </a:r>
            <a:endParaRPr lang="en-US" sz="1500" dirty="0"/>
          </a:p>
        </p:txBody>
      </p:sp>
      <p:sp>
        <p:nvSpPr>
          <p:cNvPr id="18" name="Text 14"/>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9" name="rule"/>
          <p:cNvSpPr/>
          <p:nvPr/>
        </p:nvSpPr>
        <p:spPr>
          <a:xfrm>
            <a:off x="9052560" y="4343400"/>
            <a:ext cx="2606040" cy="0"/>
          </a:xfrm>
          <a:prstGeom prst="line">
            <a:avLst/>
          </a:prstGeom>
          <a:noFill/>
          <a:ln w="12700">
            <a:solidFill>
              <a:srgbClr val="101828"/>
            </a:solidFill>
            <a:prstDash val="solid"/>
          </a:ln>
        </p:spPr>
      </p:sp>
      <p:sp>
        <p:nvSpPr>
          <p:cNvPr id="20" name="Text 16"/>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같은 지점 찾기</a:t>
            </a:r>
            <a:endParaRPr lang="en-US" sz="1500" dirty="0"/>
          </a:p>
        </p:txBody>
      </p:sp>
      <p:sp>
        <p:nvSpPr>
          <p:cNvPr id="21" name="Text 17"/>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2" name="Text 18"/>
          <p:cNvSpPr txBox="1"/>
          <p:nvPr/>
        </p:nvSpPr>
        <p:spPr>
          <a:xfrm>
            <a:off x="6309360" y="5852160"/>
            <a:ext cx="5303520"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뉴시스 2024.8.30(서울시 설명: 5.7~5.16 GPR 탐사차량 2대, 인력 16명 투입, 당시 빈 공간 미발견), 이투데이 2024.9. 연희동 함몰 규모는 공식 확인 전이라 쓰지 않았습니다.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1.4  솔루션 개요</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같은 길을 반복해서 보고, 달라진 곳만 다시 확인한다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순찰, 비교, 현장 재확인이 한 바퀴를 돌 때마다 같은 도로의 기록이 한 겹씩 쌓입니다.</a:t>
            </a:r>
            <a:endParaRPr lang="en-US" sz="1400" dirty="0"/>
          </a:p>
        </p:txBody>
      </p:sp>
      <p:pic>
        <p:nvPicPr>
          <p:cNvPr id="5" name="r_front" descr="/Users/seohogyun/Documents/git_workspace/pv5-hose-lab/groundwatch/images/r_front.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500" b="1" dirty="0">
                <a:solidFill>
                  <a:srgbClr val="101828"/>
                </a:solidFill>
              </a:rPr>
              <a:t>○ 1  새벽 순찰</a:t>
            </a:r>
            <a:endParaRPr lang="en-US" sz="15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GPR, 카메라 수집</a:t>
            </a:r>
            <a:endParaRPr lang="en-US" sz="14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위치, 깊이, 시간 기록</a:t>
            </a:r>
            <a:endParaRPr lang="en-US" sz="14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400" b="1" dirty="0">
                <a:solidFill>
                  <a:srgbClr val="F5B400"/>
                </a:solidFill>
              </a:rPr>
              <a:t>이전 회차와 비교</a:t>
            </a:r>
            <a:endParaRPr lang="en-US" sz="14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4D 지하 변화지도</a:t>
            </a:r>
            <a:endParaRPr lang="en-US" sz="14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2  기록과 비교</a:t>
            </a:r>
            <a:endParaRPr lang="en-US" sz="15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차량 앱과 Edge Gateway</a:t>
            </a:r>
            <a:endParaRPr lang="en-US" sz="14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AR 글래스</a:t>
            </a:r>
            <a:endParaRPr lang="en-US" sz="14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수동 GPR 재탐사</a:t>
            </a:r>
            <a:endParaRPr lang="en-US" sz="14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500" b="1" dirty="0">
                <a:solidFill>
                  <a:srgbClr val="101828"/>
                </a:solidFill>
              </a:rPr>
              <a:t>○ 3  현장 재확인</a:t>
            </a:r>
            <a:endParaRPr lang="en-US" sz="15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400" b="1" dirty="0">
                <a:solidFill>
                  <a:srgbClr val="0B1F3A"/>
                </a:solidFill>
              </a:rPr>
              <a:t>4  확인 결과가 다음 순찰과 AI 개선으로 돌아갑니다</a:t>
            </a:r>
            <a:endParaRPr lang="en-US" sz="1400" dirty="0"/>
          </a:p>
        </p:txBody>
      </p:sp>
      <p:sp>
        <p:nvSpPr>
          <p:cNvPr id="3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구성은 제안안이며 장비 사양과 통신 구조는 실증 단계에서 확정합니다. 사진: Alexander Migl, CC BY-SA 4.0,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r_rear_n" descr="/Users/seohogyun/Documents/git_workspace/pv5-hose-lab/groundwatch/images/r_rear_n.jpg">    </p:cNvPr>
          <p:cNvPicPr>
            <a:picLocks noChangeAspect="1"/>
          </p:cNvPicPr>
          <p:nvPr/>
        </p:nvPicPr>
        <p:blipFill>
          <a:blip r:embed="rId1"/>
          <a:stretch>
            <a:fillRect/>
          </a:stretch>
        </p:blipFill>
        <p:spPr>
          <a:xfrm>
            <a:off x="6766560" y="1620622"/>
            <a:ext cx="5425135" cy="3616757"/>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Ⅱ</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지금 바로 적용 가능한 운영 모델</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2.1  새벽 정기순찰</a:t>
            </a:r>
            <a:endParaRPr lang="en-US" sz="1250" dirty="0"/>
          </a:p>
          <a:p>
            <a:pPr indent="0" marL="0">
              <a:spcAft>
                <a:spcPts val="400"/>
              </a:spcAft>
              <a:buNone/>
            </a:pPr>
            <a:r>
              <a:rPr lang="en-US" sz="1250" dirty="0">
                <a:solidFill>
                  <a:srgbClr val="5B6573"/>
                </a:solidFill>
              </a:rPr>
              <a:t>2.2  PV5 이동형 탐사실</a:t>
            </a:r>
            <a:endParaRPr lang="en-US" sz="1250" dirty="0"/>
          </a:p>
          <a:p>
            <a:pPr indent="0" marL="0">
              <a:spcAft>
                <a:spcPts val="400"/>
              </a:spcAft>
              <a:buNone/>
            </a:pPr>
            <a:r>
              <a:rPr lang="en-US" sz="1250" dirty="0">
                <a:solidFill>
                  <a:srgbClr val="5B6573"/>
                </a:solidFill>
              </a:rPr>
              <a:t>2.3  4D 지하 변화지도</a:t>
            </a:r>
            <a:endParaRPr lang="en-US" sz="1250" dirty="0"/>
          </a:p>
          <a:p>
            <a:pPr indent="0" marL="0">
              <a:spcAft>
                <a:spcPts val="400"/>
              </a:spcAft>
              <a:buNone/>
            </a:pPr>
            <a:r>
              <a:rPr lang="en-US" sz="1250" dirty="0">
                <a:solidFill>
                  <a:srgbClr val="5B6573"/>
                </a:solidFill>
              </a:rPr>
              <a:t>2.4  AI 변화 감지</a:t>
            </a:r>
            <a:endParaRPr lang="en-US" sz="1250" dirty="0"/>
          </a:p>
          <a:p>
            <a:pPr indent="0" marL="0">
              <a:spcAft>
                <a:spcPts val="400"/>
              </a:spcAft>
              <a:buNone/>
            </a:pPr>
            <a:r>
              <a:rPr lang="en-US" sz="1250" dirty="0">
                <a:solidFill>
                  <a:srgbClr val="5B6573"/>
                </a:solidFill>
              </a:rPr>
              <a:t>2.5  재확인 포인트 생성</a:t>
            </a:r>
            <a:endParaRPr lang="en-US" sz="1250" dirty="0"/>
          </a:p>
          <a:p>
            <a:pPr indent="0" marL="0">
              <a:spcAft>
                <a:spcPts val="400"/>
              </a:spcAft>
              <a:buNone/>
            </a:pPr>
            <a:r>
              <a:rPr lang="en-US" sz="1250" dirty="0">
                <a:solidFill>
                  <a:srgbClr val="5B6573"/>
                </a:solidFill>
              </a:rPr>
              <a:t>2.6  GroundWatch Patrol 차량 앱</a:t>
            </a:r>
            <a:endParaRPr lang="en-US" sz="1250" dirty="0"/>
          </a:p>
          <a:p>
            <a:pPr indent="0" marL="0">
              <a:spcAft>
                <a:spcPts val="400"/>
              </a:spcAft>
              <a:buNone/>
            </a:pPr>
            <a:r>
              <a:rPr lang="en-US" sz="1250" dirty="0">
                <a:solidFill>
                  <a:srgbClr val="5B6573"/>
                </a:solidFill>
              </a:rPr>
              <a:t>2.7  차량·센서·AR 소프트웨어 브리지</a:t>
            </a:r>
            <a:endParaRPr lang="en-US" sz="1250" dirty="0"/>
          </a:p>
          <a:p>
            <a:pPr indent="0" marL="0">
              <a:spcAft>
                <a:spcPts val="400"/>
              </a:spcAft>
              <a:buNone/>
            </a:pPr>
            <a:r>
              <a:rPr lang="en-US" sz="1250" dirty="0">
                <a:solidFill>
                  <a:srgbClr val="5B6573"/>
                </a:solidFill>
              </a:rPr>
              <a:t>2.8  AR 위치 보정</a:t>
            </a:r>
            <a:endParaRPr lang="en-US" sz="1250" dirty="0"/>
          </a:p>
          <a:p>
            <a:pPr indent="0" marL="0">
              <a:spcAft>
                <a:spcPts val="400"/>
              </a:spcAft>
              <a:buNone/>
            </a:pPr>
            <a:r>
              <a:rPr lang="en-US" sz="1250" dirty="0">
                <a:solidFill>
                  <a:srgbClr val="5B6573"/>
                </a:solidFill>
              </a:rPr>
              <a:t>2.9  AR 수동 GPR 재탐사</a:t>
            </a:r>
            <a:endParaRPr lang="en-US" sz="1250" dirty="0"/>
          </a:p>
          <a:p>
            <a:pPr indent="0" marL="0">
              <a:spcAft>
                <a:spcPts val="400"/>
              </a:spcAft>
              <a:buNone/>
            </a:pPr>
            <a:r>
              <a:rPr lang="en-US" sz="1250" dirty="0">
                <a:solidFill>
                  <a:srgbClr val="5B6573"/>
                </a:solidFill>
              </a:rPr>
              <a:t>2.10  수동 GPR 교차검증</a:t>
            </a:r>
            <a:endParaRPr lang="en-US" sz="1250" dirty="0"/>
          </a:p>
          <a:p>
            <a:pPr indent="0" marL="0">
              <a:spcAft>
                <a:spcPts val="400"/>
              </a:spcAft>
              <a:buNone/>
            </a:pPr>
            <a:r>
              <a:rPr lang="en-US" sz="1250" dirty="0">
                <a:solidFill>
                  <a:srgbClr val="5B6573"/>
                </a:solidFill>
              </a:rPr>
              <a:t>2.11  정밀조사와 결과 저장</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  새벽 순찰</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교통량이 적은 시간에 도로 아래 변화를 기록합니다</a:t>
            </a:r>
            <a:endParaRPr lang="en-US" sz="2100" dirty="0"/>
          </a:p>
        </p:txBody>
      </p:sp>
      <p:sp>
        <p:nvSpPr>
          <p:cNvPr id="4" name="panel"/>
          <p:cNvSpPr/>
          <p:nvPr/>
        </p:nvSpPr>
        <p:spPr>
          <a:xfrm>
            <a:off x="548640" y="1051560"/>
            <a:ext cx="4114800" cy="5120640"/>
          </a:xfrm>
          <a:prstGeom prst="rect">
            <a:avLst/>
          </a:prstGeom>
          <a:solidFill>
            <a:srgbClr val="0A1628"/>
          </a:solidFill>
          <a:ln w="12700">
            <a:solidFill>
              <a:srgbClr val="0A1628"/>
            </a:solidFill>
            <a:prstDash val="solid"/>
          </a:ln>
        </p:spPr>
      </p:sp>
      <p:pic>
        <p:nvPicPr>
          <p:cNvPr id="5" name="r_patrol" descr="/Users/seohogyun/Documents/git_workspace/pv5-hose-lab/groundwatch/images/r_patrol.jpg">    </p:cNvPr>
          <p:cNvPicPr>
            <a:picLocks noChangeAspect="1"/>
          </p:cNvPicPr>
          <p:nvPr/>
        </p:nvPicPr>
        <p:blipFill>
          <a:blip r:embed="rId1"/>
          <a:stretch>
            <a:fillRect/>
          </a:stretch>
        </p:blipFill>
        <p:spPr>
          <a:xfrm>
            <a:off x="4800600" y="1051560"/>
            <a:ext cx="6839712" cy="4562856"/>
          </a:xfrm>
          <a:prstGeom prst="rect">
            <a:avLst/>
          </a:prstGeom>
        </p:spPr>
      </p:pic>
      <p:sp>
        <p:nvSpPr>
          <p:cNvPr id="6" name="caption"/>
          <p:cNvSpPr txBox="1"/>
          <p:nvPr/>
        </p:nvSpPr>
        <p:spPr>
          <a:xfrm>
            <a:off x="4800600" y="5650992"/>
            <a:ext cx="6839712" cy="219456"/>
          </a:xfrm>
          <a:prstGeom prst="rect">
            <a:avLst/>
          </a:prstGeom>
          <a:noFill/>
          <a:ln/>
        </p:spPr>
        <p:txBody>
          <a:bodyPr wrap="square" lIns="0" tIns="0" rIns="0" bIns="0" rtlCol="0" anchor="t"/>
          <a:lstStyle/>
          <a:p>
            <a:pPr indent="0" marL="0">
              <a:buNone/>
            </a:pPr>
            <a:r>
              <a:rPr lang="en-US" sz="950" b="1" dirty="0">
                <a:solidFill>
                  <a:srgbClr val="101828"/>
                </a:solidFill>
              </a:rPr>
              <a:t>그림 4. </a:t>
            </a:r>
            <a:pPr indent="0" marL="0">
              <a:buNone/>
            </a:pPr>
            <a:r>
              <a:rPr lang="en-US" sz="950" dirty="0">
                <a:solidFill>
                  <a:srgbClr val="5B6573"/>
                </a:solidFill>
              </a:rPr>
              <a:t>새벽 순찰 장착 예상도(경광등·GNSS 안테나)</a:t>
            </a:r>
            <a:endParaRPr lang="en-US" sz="950" dirty="0"/>
          </a:p>
        </p:txBody>
      </p:sp>
      <p:sp>
        <p:nvSpPr>
          <p:cNvPr id="7" name="Text 4"/>
          <p:cNvSpPr txBox="1"/>
          <p:nvPr/>
        </p:nvSpPr>
        <p:spPr>
          <a:xfrm>
            <a:off x="640080" y="1417320"/>
            <a:ext cx="3931920" cy="1188720"/>
          </a:xfrm>
          <a:prstGeom prst="rect">
            <a:avLst/>
          </a:prstGeom>
          <a:noFill/>
          <a:ln/>
        </p:spPr>
        <p:txBody>
          <a:bodyPr wrap="square" lIns="0" tIns="0" rIns="0" bIns="0" rtlCol="0" anchor="t"/>
          <a:lstStyle/>
          <a:p>
            <a:pPr indent="0" marL="0">
              <a:buNone/>
            </a:pPr>
            <a:r>
              <a:rPr lang="en-US" sz="2400" b="1" dirty="0">
                <a:solidFill>
                  <a:srgbClr val="FFFFFF"/>
                </a:solidFill>
              </a:rPr>
              <a:t>보이지 않는 위험은,</a:t>
            </a:r>
            <a:endParaRPr lang="en-US" sz="2400" dirty="0"/>
          </a:p>
          <a:p>
            <a:pPr indent="0" marL="0">
              <a:buNone/>
            </a:pPr>
            <a:r>
              <a:rPr lang="en-US" sz="2400" b="1" dirty="0">
                <a:solidFill>
                  <a:srgbClr val="FFFFFF"/>
                </a:solidFill>
              </a:rPr>
              <a:t>반복해서 봐야 보입니다.</a:t>
            </a:r>
            <a:endParaRPr lang="en-US" sz="2400" dirty="0"/>
          </a:p>
        </p:txBody>
      </p:sp>
      <p:pic>
        <p:nvPicPr>
          <p:cNvPr id="8" name="icon_moon_w" descr="/Users/seohogyun/Documents/git_workspace/pv5-hose-lab/groundwatch/images/ico_moon_w.png">    </p:cNvPr>
          <p:cNvPicPr>
            <a:picLocks noChangeAspect="1"/>
          </p:cNvPicPr>
          <p:nvPr/>
        </p:nvPicPr>
        <p:blipFill>
          <a:blip r:embed="rId2"/>
          <a:stretch>
            <a:fillRect/>
          </a:stretch>
        </p:blipFill>
        <p:spPr>
          <a:xfrm>
            <a:off x="640080" y="3017520"/>
            <a:ext cx="310896" cy="310896"/>
          </a:xfrm>
          <a:prstGeom prst="rect">
            <a:avLst/>
          </a:prstGeom>
        </p:spPr>
      </p:pic>
      <p:sp>
        <p:nvSpPr>
          <p:cNvPr id="9" name="Text 5"/>
          <p:cNvSpPr txBox="1"/>
          <p:nvPr/>
        </p:nvSpPr>
        <p:spPr>
          <a:xfrm>
            <a:off x="1097280" y="2990088"/>
            <a:ext cx="3566160" cy="384048"/>
          </a:xfrm>
          <a:prstGeom prst="rect">
            <a:avLst/>
          </a:prstGeom>
          <a:noFill/>
          <a:ln/>
        </p:spPr>
        <p:txBody>
          <a:bodyPr wrap="square" lIns="0" tIns="0" rIns="0" bIns="0" rtlCol="0" anchor="ctr"/>
          <a:lstStyle/>
          <a:p>
            <a:pPr indent="0" marL="0">
              <a:buNone/>
            </a:pPr>
            <a:r>
              <a:rPr lang="en-US" sz="1400" dirty="0">
                <a:solidFill>
                  <a:srgbClr val="E2E8F0"/>
                </a:solidFill>
              </a:rPr>
              <a:t>차량과 보행이 가장 적은 새벽에 반복 주행</a:t>
            </a:r>
            <a:endParaRPr lang="en-US" sz="1400" dirty="0"/>
          </a:p>
        </p:txBody>
      </p:sp>
      <p:pic>
        <p:nvPicPr>
          <p:cNvPr id="10" name="icon_car_w" descr="/Users/seohogyun/Documents/git_workspace/pv5-hose-lab/groundwatch/images/ico_car_w.png">    </p:cNvPr>
          <p:cNvPicPr>
            <a:picLocks noChangeAspect="1"/>
          </p:cNvPicPr>
          <p:nvPr/>
        </p:nvPicPr>
        <p:blipFill>
          <a:blip r:embed="rId3"/>
          <a:stretch>
            <a:fillRect/>
          </a:stretch>
        </p:blipFill>
        <p:spPr>
          <a:xfrm>
            <a:off x="640080" y="3584448"/>
            <a:ext cx="310896" cy="310896"/>
          </a:xfrm>
          <a:prstGeom prst="rect">
            <a:avLst/>
          </a:prstGeom>
        </p:spPr>
      </p:pic>
      <p:sp>
        <p:nvSpPr>
          <p:cNvPr id="11" name="Text 6"/>
          <p:cNvSpPr txBox="1"/>
          <p:nvPr/>
        </p:nvSpPr>
        <p:spPr>
          <a:xfrm>
            <a:off x="1097280" y="3557016"/>
            <a:ext cx="3566160" cy="384048"/>
          </a:xfrm>
          <a:prstGeom prst="rect">
            <a:avLst/>
          </a:prstGeom>
          <a:noFill/>
          <a:ln/>
        </p:spPr>
        <p:txBody>
          <a:bodyPr wrap="square" lIns="0" tIns="0" rIns="0" bIns="0" rtlCol="0" anchor="ctr"/>
          <a:lstStyle/>
          <a:p>
            <a:pPr indent="0" marL="0">
              <a:buNone/>
            </a:pPr>
            <a:r>
              <a:rPr lang="en-US" sz="1400" dirty="0">
                <a:solidFill>
                  <a:srgbClr val="E2E8F0"/>
                </a:solidFill>
              </a:rPr>
              <a:t>엔진 소음과 배기가스 없이 주택가 저속 운행</a:t>
            </a:r>
            <a:endParaRPr lang="en-US" sz="1400" dirty="0"/>
          </a:p>
        </p:txBody>
      </p:sp>
      <p:pic>
        <p:nvPicPr>
          <p:cNvPr id="12" name="icon_route_w" descr="/Users/seohogyun/Documents/git_workspace/pv5-hose-lab/groundwatch/images/ico_route_w.png">    </p:cNvPr>
          <p:cNvPicPr>
            <a:picLocks noChangeAspect="1"/>
          </p:cNvPicPr>
          <p:nvPr/>
        </p:nvPicPr>
        <p:blipFill>
          <a:blip r:embed="rId4"/>
          <a:stretch>
            <a:fillRect/>
          </a:stretch>
        </p:blipFill>
        <p:spPr>
          <a:xfrm>
            <a:off x="640080" y="4151376"/>
            <a:ext cx="310896" cy="310896"/>
          </a:xfrm>
          <a:prstGeom prst="rect">
            <a:avLst/>
          </a:prstGeom>
        </p:spPr>
      </p:pic>
      <p:sp>
        <p:nvSpPr>
          <p:cNvPr id="13" name="Text 7"/>
          <p:cNvSpPr txBox="1"/>
          <p:nvPr/>
        </p:nvSpPr>
        <p:spPr>
          <a:xfrm>
            <a:off x="1097280" y="4123944"/>
            <a:ext cx="3566160" cy="384048"/>
          </a:xfrm>
          <a:prstGeom prst="rect">
            <a:avLst/>
          </a:prstGeom>
          <a:noFill/>
          <a:ln/>
        </p:spPr>
        <p:txBody>
          <a:bodyPr wrap="square" lIns="0" tIns="0" rIns="0" bIns="0" rtlCol="0" anchor="ctr"/>
          <a:lstStyle/>
          <a:p>
            <a:pPr indent="0" marL="0">
              <a:buNone/>
            </a:pPr>
            <a:r>
              <a:rPr lang="en-US" sz="1400" dirty="0">
                <a:solidFill>
                  <a:srgbClr val="E2E8F0"/>
                </a:solidFill>
              </a:rPr>
              <a:t>같은 경로, 같은 장비로 회차끼리 비교</a:t>
            </a:r>
            <a:endParaRPr lang="en-US" sz="1400" dirty="0"/>
          </a:p>
        </p:txBody>
      </p:sp>
      <p:pic>
        <p:nvPicPr>
          <p:cNvPr id="14" name="icon_radar_w" descr="/Users/seohogyun/Documents/git_workspace/pv5-hose-lab/groundwatch/images/ico_radar_w.png">    </p:cNvPr>
          <p:cNvPicPr>
            <a:picLocks noChangeAspect="1"/>
          </p:cNvPicPr>
          <p:nvPr/>
        </p:nvPicPr>
        <p:blipFill>
          <a:blip r:embed="rId5"/>
          <a:stretch>
            <a:fillRect/>
          </a:stretch>
        </p:blipFill>
        <p:spPr>
          <a:xfrm>
            <a:off x="640080" y="4718304"/>
            <a:ext cx="310896" cy="310896"/>
          </a:xfrm>
          <a:prstGeom prst="rect">
            <a:avLst/>
          </a:prstGeom>
        </p:spPr>
      </p:pic>
      <p:sp>
        <p:nvSpPr>
          <p:cNvPr id="15" name="Text 8"/>
          <p:cNvSpPr txBox="1"/>
          <p:nvPr/>
        </p:nvSpPr>
        <p:spPr>
          <a:xfrm>
            <a:off x="1097280" y="4690872"/>
            <a:ext cx="3566160" cy="384048"/>
          </a:xfrm>
          <a:prstGeom prst="rect">
            <a:avLst/>
          </a:prstGeom>
          <a:noFill/>
          <a:ln/>
        </p:spPr>
        <p:txBody>
          <a:bodyPr wrap="square" lIns="0" tIns="0" rIns="0" bIns="0" rtlCol="0" anchor="ctr"/>
          <a:lstStyle/>
          <a:p>
            <a:pPr indent="0" marL="0">
              <a:buNone/>
            </a:pPr>
            <a:r>
              <a:rPr lang="en-US" sz="1400" dirty="0">
                <a:solidFill>
                  <a:srgbClr val="E2E8F0"/>
                </a:solidFill>
              </a:rPr>
              <a:t>후방 하부 GPR 어레이로 차로를 연속 스캔</a:t>
            </a:r>
            <a:endParaRPr lang="en-US" sz="1400" dirty="0"/>
          </a:p>
        </p:txBody>
      </p:sp>
      <p:sp>
        <p:nvSpPr>
          <p:cNvPr id="16" name="keyMessage"/>
          <p:cNvSpPr txBox="1"/>
          <p:nvPr/>
        </p:nvSpPr>
        <p:spPr>
          <a:xfrm>
            <a:off x="640080" y="5440680"/>
            <a:ext cx="3840480" cy="50292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어제와 같은 길, 같은 장비, 같은 속도</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저속 운행 시 실제 소음과 주행거리 영향은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2.2  이동형 탐사실</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PV5는 센서 운반차가 아니라 이동형 탐사·분석·검증 플랫폼</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장비를 차량에 고정해 회차마다 같은 측정 환경을 유지하고, 차 안에서 분석하고, 내려서 검증합니다.</a:t>
            </a:r>
            <a:endParaRPr lang="en-US" sz="1400" dirty="0"/>
          </a:p>
        </p:txBody>
      </p:sp>
      <p:pic>
        <p:nvPicPr>
          <p:cNvPr id="5" name="cut3d" descr="/Users/seohogyun/Documents/git_workspace/pv5-hose-lab/groundwatch/images/cut3d.jpg">    </p:cNvPr>
          <p:cNvPicPr>
            <a:picLocks noChangeAspect="1"/>
          </p:cNvPicPr>
          <p:nvPr/>
        </p:nvPicPr>
        <p:blipFill>
          <a:blip r:embed="rId1"/>
          <a:stretch>
            <a:fillRect/>
          </a:stretch>
        </p:blipFill>
        <p:spPr>
          <a:xfrm>
            <a:off x="548640" y="1463040"/>
            <a:ext cx="6903720" cy="3883457"/>
          </a:xfrm>
          <a:prstGeom prst="rect">
            <a:avLst/>
          </a:prstGeom>
        </p:spPr>
      </p:pic>
      <p:sp>
        <p:nvSpPr>
          <p:cNvPr id="6" name="caption"/>
          <p:cNvSpPr txBox="1"/>
          <p:nvPr/>
        </p:nvSpPr>
        <p:spPr>
          <a:xfrm>
            <a:off x="548640" y="5383073"/>
            <a:ext cx="6903720" cy="219456"/>
          </a:xfrm>
          <a:prstGeom prst="rect">
            <a:avLst/>
          </a:prstGeom>
          <a:noFill/>
          <a:ln/>
        </p:spPr>
        <p:txBody>
          <a:bodyPr wrap="square" lIns="0" tIns="0" rIns="0" bIns="0" rtlCol="0" anchor="t"/>
          <a:lstStyle/>
          <a:p>
            <a:pPr indent="0" marL="0">
              <a:buNone/>
            </a:pPr>
            <a:r>
              <a:rPr lang="en-US" sz="950" b="1" dirty="0">
                <a:solidFill>
                  <a:srgbClr val="101828"/>
                </a:solidFill>
              </a:rPr>
              <a:t>그림 5. </a:t>
            </a:r>
            <a:pPr indent="0" marL="0">
              <a:buNone/>
            </a:pPr>
            <a:r>
              <a:rPr lang="en-US" sz="950" dirty="0">
                <a:solidFill>
                  <a:srgbClr val="5B6573"/>
                </a:solidFill>
              </a:rPr>
              <a:t>PV5 GroundWatch 카고룸 장비 배치 3D 절개도(제안 예시)</a:t>
            </a:r>
            <a:endParaRPr lang="en-US" sz="950" dirty="0"/>
          </a:p>
        </p:txBody>
      </p:sp>
      <p:sp>
        <p:nvSpPr>
          <p:cNvPr id="7" name="pin"/>
          <p:cNvSpPr txBox="1"/>
          <p:nvPr/>
        </p:nvSpPr>
        <p:spPr>
          <a:xfrm>
            <a:off x="5589270" y="2530471"/>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8" name="pin"/>
          <p:cNvSpPr txBox="1"/>
          <p:nvPr/>
        </p:nvSpPr>
        <p:spPr>
          <a:xfrm>
            <a:off x="5049917" y="2404618"/>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9" name="pin"/>
          <p:cNvSpPr txBox="1"/>
          <p:nvPr/>
        </p:nvSpPr>
        <p:spPr>
          <a:xfrm>
            <a:off x="4978003" y="2027060"/>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0" name="pin"/>
          <p:cNvSpPr txBox="1"/>
          <p:nvPr/>
        </p:nvSpPr>
        <p:spPr>
          <a:xfrm>
            <a:off x="5517356" y="4004746"/>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1" name="pin"/>
          <p:cNvSpPr txBox="1"/>
          <p:nvPr/>
        </p:nvSpPr>
        <p:spPr>
          <a:xfrm>
            <a:off x="4402693" y="2512492"/>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12" name="pin"/>
          <p:cNvSpPr txBox="1"/>
          <p:nvPr/>
        </p:nvSpPr>
        <p:spPr>
          <a:xfrm>
            <a:off x="3575685" y="3339524"/>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13" name="pin"/>
          <p:cNvSpPr txBox="1"/>
          <p:nvPr/>
        </p:nvSpPr>
        <p:spPr>
          <a:xfrm>
            <a:off x="4186952" y="2098976"/>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14" name="pin"/>
          <p:cNvSpPr txBox="1"/>
          <p:nvPr/>
        </p:nvSpPr>
        <p:spPr>
          <a:xfrm>
            <a:off x="2928461" y="2260786"/>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8</a:t>
            </a:r>
            <a:endParaRPr lang="en-US" sz="1000" dirty="0"/>
          </a:p>
        </p:txBody>
      </p:sp>
      <p:sp>
        <p:nvSpPr>
          <p:cNvPr id="15" name="pin"/>
          <p:cNvSpPr txBox="1"/>
          <p:nvPr/>
        </p:nvSpPr>
        <p:spPr>
          <a:xfrm>
            <a:off x="1921669" y="3914851"/>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9</a:t>
            </a:r>
            <a:endParaRPr lang="en-US" sz="1000" dirty="0"/>
          </a:p>
        </p:txBody>
      </p:sp>
      <p:sp>
        <p:nvSpPr>
          <p:cNvPr id="16" name="pin"/>
          <p:cNvSpPr txBox="1"/>
          <p:nvPr/>
        </p:nvSpPr>
        <p:spPr>
          <a:xfrm>
            <a:off x="2461022" y="4130599"/>
            <a:ext cx="274320" cy="274320"/>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10</a:t>
            </a:r>
            <a:endParaRPr lang="en-US" sz="1000" dirty="0"/>
          </a:p>
        </p:txBody>
      </p:sp>
      <p:sp>
        <p:nvSpPr>
          <p:cNvPr id="17" name="Text 14"/>
          <p:cNvSpPr txBox="1"/>
          <p:nvPr/>
        </p:nvSpPr>
        <p:spPr>
          <a:xfrm>
            <a:off x="548640"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1 </a:t>
            </a:r>
            <a:pPr indent="0" marL="0">
              <a:buNone/>
            </a:pPr>
            <a:r>
              <a:rPr lang="en-US" sz="950" dirty="0">
                <a:solidFill>
                  <a:srgbClr val="101828"/>
                </a:solidFill>
              </a:rPr>
              <a:t>전방 카메라</a:t>
            </a:r>
            <a:endParaRPr lang="en-US" sz="950" dirty="0"/>
          </a:p>
        </p:txBody>
      </p:sp>
      <p:sp>
        <p:nvSpPr>
          <p:cNvPr id="18" name="Text 15"/>
          <p:cNvSpPr txBox="1"/>
          <p:nvPr/>
        </p:nvSpPr>
        <p:spPr>
          <a:xfrm>
            <a:off x="1929384"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2 </a:t>
            </a:r>
            <a:pPr indent="0" marL="0">
              <a:buNone/>
            </a:pPr>
            <a:r>
              <a:rPr lang="en-US" sz="950" dirty="0">
                <a:solidFill>
                  <a:srgbClr val="101828"/>
                </a:solidFill>
              </a:rPr>
              <a:t>경광등</a:t>
            </a:r>
            <a:endParaRPr lang="en-US" sz="950" dirty="0"/>
          </a:p>
        </p:txBody>
      </p:sp>
      <p:sp>
        <p:nvSpPr>
          <p:cNvPr id="19" name="Text 16"/>
          <p:cNvSpPr txBox="1"/>
          <p:nvPr/>
        </p:nvSpPr>
        <p:spPr>
          <a:xfrm>
            <a:off x="3310128"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3 </a:t>
            </a:r>
            <a:pPr indent="0" marL="0">
              <a:buNone/>
            </a:pPr>
            <a:r>
              <a:rPr lang="en-US" sz="950" dirty="0">
                <a:solidFill>
                  <a:srgbClr val="101828"/>
                </a:solidFill>
              </a:rPr>
              <a:t>RTK-GNSS 안테나</a:t>
            </a:r>
            <a:endParaRPr lang="en-US" sz="950" dirty="0"/>
          </a:p>
        </p:txBody>
      </p:sp>
      <p:sp>
        <p:nvSpPr>
          <p:cNvPr id="20" name="Text 17"/>
          <p:cNvSpPr txBox="1"/>
          <p:nvPr/>
        </p:nvSpPr>
        <p:spPr>
          <a:xfrm>
            <a:off x="4690872"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4 </a:t>
            </a:r>
            <a:pPr indent="0" marL="0">
              <a:buNone/>
            </a:pPr>
            <a:r>
              <a:rPr lang="en-US" sz="950" dirty="0">
                <a:solidFill>
                  <a:srgbClr val="101828"/>
                </a:solidFill>
              </a:rPr>
              <a:t>측면 카메라</a:t>
            </a:r>
            <a:endParaRPr lang="en-US" sz="950" dirty="0"/>
          </a:p>
        </p:txBody>
      </p:sp>
      <p:sp>
        <p:nvSpPr>
          <p:cNvPr id="21" name="Text 18"/>
          <p:cNvSpPr txBox="1"/>
          <p:nvPr/>
        </p:nvSpPr>
        <p:spPr>
          <a:xfrm>
            <a:off x="6071616" y="56509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5 </a:t>
            </a:r>
            <a:pPr indent="0" marL="0">
              <a:buNone/>
            </a:pPr>
            <a:r>
              <a:rPr lang="en-US" sz="950" dirty="0">
                <a:solidFill>
                  <a:srgbClr val="101828"/>
                </a:solidFill>
              </a:rPr>
              <a:t>Edge Gateway 랙</a:t>
            </a:r>
            <a:endParaRPr lang="en-US" sz="950" dirty="0"/>
          </a:p>
        </p:txBody>
      </p:sp>
      <p:sp>
        <p:nvSpPr>
          <p:cNvPr id="22" name="Text 19"/>
          <p:cNvSpPr txBox="1"/>
          <p:nvPr/>
        </p:nvSpPr>
        <p:spPr>
          <a:xfrm>
            <a:off x="548640"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6 </a:t>
            </a:r>
            <a:pPr indent="0" marL="0">
              <a:buNone/>
            </a:pPr>
            <a:r>
              <a:rPr lang="en-US" sz="950" dirty="0">
                <a:solidFill>
                  <a:srgbClr val="101828"/>
                </a:solidFill>
              </a:rPr>
              <a:t>수동 GPR 카트</a:t>
            </a:r>
            <a:endParaRPr lang="en-US" sz="950" dirty="0"/>
          </a:p>
        </p:txBody>
      </p:sp>
      <p:sp>
        <p:nvSpPr>
          <p:cNvPr id="23" name="Text 20"/>
          <p:cNvSpPr txBox="1"/>
          <p:nvPr/>
        </p:nvSpPr>
        <p:spPr>
          <a:xfrm>
            <a:off x="1929384"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7 </a:t>
            </a:r>
            <a:pPr indent="0" marL="0">
              <a:buNone/>
            </a:pPr>
            <a:r>
              <a:rPr lang="en-US" sz="950" dirty="0">
                <a:solidFill>
                  <a:srgbClr val="101828"/>
                </a:solidFill>
              </a:rPr>
              <a:t>AR 글래스 충전함</a:t>
            </a:r>
            <a:endParaRPr lang="en-US" sz="950" dirty="0"/>
          </a:p>
        </p:txBody>
      </p:sp>
      <p:sp>
        <p:nvSpPr>
          <p:cNvPr id="24" name="Text 21"/>
          <p:cNvSpPr txBox="1"/>
          <p:nvPr/>
        </p:nvSpPr>
        <p:spPr>
          <a:xfrm>
            <a:off x="3310128"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8 </a:t>
            </a:r>
            <a:pPr indent="0" marL="0">
              <a:buNone/>
            </a:pPr>
            <a:r>
              <a:rPr lang="en-US" sz="950" dirty="0">
                <a:solidFill>
                  <a:srgbClr val="101828"/>
                </a:solidFill>
              </a:rPr>
              <a:t>장비 수납장</a:t>
            </a:r>
            <a:endParaRPr lang="en-US" sz="950" dirty="0"/>
          </a:p>
        </p:txBody>
      </p:sp>
      <p:sp>
        <p:nvSpPr>
          <p:cNvPr id="25" name="Text 22"/>
          <p:cNvSpPr txBox="1"/>
          <p:nvPr/>
        </p:nvSpPr>
        <p:spPr>
          <a:xfrm>
            <a:off x="4690872"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9 </a:t>
            </a:r>
            <a:pPr indent="0" marL="0">
              <a:buNone/>
            </a:pPr>
            <a:r>
              <a:rPr lang="en-US" sz="950" dirty="0">
                <a:solidFill>
                  <a:srgbClr val="101828"/>
                </a:solidFill>
              </a:rPr>
              <a:t>후방 하부 다채널 GPR</a:t>
            </a:r>
            <a:endParaRPr lang="en-US" sz="950" dirty="0"/>
          </a:p>
        </p:txBody>
      </p:sp>
      <p:sp>
        <p:nvSpPr>
          <p:cNvPr id="26" name="Text 23"/>
          <p:cNvSpPr txBox="1"/>
          <p:nvPr/>
        </p:nvSpPr>
        <p:spPr>
          <a:xfrm>
            <a:off x="6071616" y="5879592"/>
            <a:ext cx="1371600" cy="219456"/>
          </a:xfrm>
          <a:prstGeom prst="rect">
            <a:avLst/>
          </a:prstGeom>
          <a:noFill/>
          <a:ln/>
        </p:spPr>
        <p:txBody>
          <a:bodyPr wrap="square" lIns="0" tIns="0" rIns="0" bIns="0" rtlCol="0" anchor="ctr"/>
          <a:lstStyle/>
          <a:p>
            <a:pPr indent="0" marL="0">
              <a:buNone/>
            </a:pPr>
            <a:r>
              <a:rPr lang="en-US" sz="950" b="1" dirty="0">
                <a:solidFill>
                  <a:srgbClr val="0B1F3A"/>
                </a:solidFill>
              </a:rPr>
              <a:t>10 </a:t>
            </a:r>
            <a:pPr indent="0" marL="0">
              <a:buNone/>
            </a:pPr>
            <a:r>
              <a:rPr lang="en-US" sz="950" dirty="0">
                <a:solidFill>
                  <a:srgbClr val="101828"/>
                </a:solidFill>
              </a:rPr>
              <a:t>휠 인코더</a:t>
            </a:r>
            <a:endParaRPr lang="en-US" sz="950" dirty="0"/>
          </a:p>
        </p:txBody>
      </p:sp>
      <p:sp>
        <p:nvSpPr>
          <p:cNvPr id="27" name="dot"/>
          <p:cNvSpPr/>
          <p:nvPr/>
        </p:nvSpPr>
        <p:spPr>
          <a:xfrm>
            <a:off x="7726680" y="1591056"/>
            <a:ext cx="137160" cy="137160"/>
          </a:xfrm>
          <a:prstGeom prst="ellipse">
            <a:avLst/>
          </a:prstGeom>
          <a:solidFill>
            <a:srgbClr val="101828"/>
          </a:solidFill>
          <a:ln w="12700">
            <a:solidFill>
              <a:srgbClr val="101828"/>
            </a:solidFill>
            <a:prstDash val="solid"/>
          </a:ln>
        </p:spPr>
      </p:sp>
      <p:sp>
        <p:nvSpPr>
          <p:cNvPr id="28" name="Text 25"/>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29" name="Text 26"/>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30" name="dot"/>
          <p:cNvSpPr/>
          <p:nvPr/>
        </p:nvSpPr>
        <p:spPr>
          <a:xfrm>
            <a:off x="7726680" y="2322576"/>
            <a:ext cx="137160" cy="137160"/>
          </a:xfrm>
          <a:prstGeom prst="ellipse">
            <a:avLst/>
          </a:prstGeom>
          <a:solidFill>
            <a:srgbClr val="1C64B5"/>
          </a:solidFill>
          <a:ln w="12700">
            <a:solidFill>
              <a:srgbClr val="1C64B5"/>
            </a:solidFill>
            <a:prstDash val="solid"/>
          </a:ln>
        </p:spPr>
      </p:sp>
      <p:sp>
        <p:nvSpPr>
          <p:cNvPr id="31" name="Text 28"/>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32" name="Text 29"/>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33" name="dot"/>
          <p:cNvSpPr/>
          <p:nvPr/>
        </p:nvSpPr>
        <p:spPr>
          <a:xfrm>
            <a:off x="7726680" y="3054096"/>
            <a:ext cx="137160" cy="137160"/>
          </a:xfrm>
          <a:prstGeom prst="ellipse">
            <a:avLst/>
          </a:prstGeom>
          <a:solidFill>
            <a:srgbClr val="0B1F3A"/>
          </a:solidFill>
          <a:ln w="12700">
            <a:solidFill>
              <a:srgbClr val="0B1F3A"/>
            </a:solidFill>
            <a:prstDash val="solid"/>
          </a:ln>
        </p:spPr>
      </p:sp>
      <p:sp>
        <p:nvSpPr>
          <p:cNvPr id="34" name="Text 31"/>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35" name="Text 32"/>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6" name="dot"/>
          <p:cNvSpPr/>
          <p:nvPr/>
        </p:nvSpPr>
        <p:spPr>
          <a:xfrm>
            <a:off x="7726680" y="3785616"/>
            <a:ext cx="137160" cy="137160"/>
          </a:xfrm>
          <a:prstGeom prst="ellipse">
            <a:avLst/>
          </a:prstGeom>
          <a:solidFill>
            <a:srgbClr val="B4232A"/>
          </a:solidFill>
          <a:ln w="12700">
            <a:solidFill>
              <a:srgbClr val="B4232A"/>
            </a:solidFill>
            <a:prstDash val="solid"/>
          </a:ln>
        </p:spPr>
      </p:sp>
      <p:sp>
        <p:nvSpPr>
          <p:cNvPr id="37" name="Text 34"/>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38" name="Text 35"/>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9" name="rule"/>
          <p:cNvSpPr/>
          <p:nvPr/>
        </p:nvSpPr>
        <p:spPr>
          <a:xfrm>
            <a:off x="7726680" y="4526280"/>
            <a:ext cx="3913632" cy="0"/>
          </a:xfrm>
          <a:prstGeom prst="line">
            <a:avLst/>
          </a:prstGeom>
          <a:noFill/>
          <a:ln w="12700">
            <a:solidFill>
              <a:srgbClr val="DCE1E8"/>
            </a:solidFill>
            <a:prstDash val="solid"/>
          </a:ln>
        </p:spPr>
      </p:sp>
      <p:sp>
        <p:nvSpPr>
          <p:cNvPr id="40" name="Text 37"/>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41" name="Text 38"/>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42" name="Text 39"/>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419mm</a:t>
            </a:r>
            <a:endParaRPr lang="en-US" sz="1500" dirty="0"/>
          </a:p>
        </p:txBody>
      </p:sp>
      <p:sp>
        <p:nvSpPr>
          <p:cNvPr id="43" name="Text 40"/>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44" name="Text 41"/>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최대 3.6kW</a:t>
            </a:r>
            <a:endParaRPr lang="en-US" sz="1500" dirty="0"/>
          </a:p>
        </p:txBody>
      </p:sp>
      <p:sp>
        <p:nvSpPr>
          <p:cNvPr id="45" name="Text 42"/>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46" name="Text 43"/>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4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제원과 특징, 현대차그룹 「PV5의 모든 것」. 장비 형상과 위치는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2.3  4D 변화지도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실제로 달린 도로만, 위치·깊이·시간으로 기록합니다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서울 전체의 완성된 지하지도가 아닙니다. PV5가 측정한 도로를 X·Y 위치, Z 깊이, T 시간으로 쌓은 기록입니다.</a:t>
            </a:r>
            <a:endParaRPr lang="en-US" sz="14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10912"/>
            <a:ext cx="7315200" cy="3872753"/>
          </a:xfrm>
          <a:prstGeom prst="rect">
            <a:avLst/>
          </a:prstGeom>
        </p:spPr>
      </p:pic>
      <p:sp>
        <p:nvSpPr>
          <p:cNvPr id="6" name="caption"/>
          <p:cNvSpPr txBox="1"/>
          <p:nvPr/>
        </p:nvSpPr>
        <p:spPr>
          <a:xfrm>
            <a:off x="548640" y="542024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6. </a:t>
            </a:r>
            <a:pPr indent="0" marL="0">
              <a:buNone/>
            </a:pPr>
            <a:r>
              <a:rPr lang="en-US" sz="950" dirty="0">
                <a:solidFill>
                  <a:srgbClr val="5B6573"/>
                </a:solidFill>
              </a:rPr>
              <a:t>4D 도로 지하 변화지도 화면 구성(예시, 서울 강동구 명일동 일대)</a:t>
            </a:r>
            <a:endParaRPr lang="en-US" sz="950" dirty="0"/>
          </a:p>
        </p:txBody>
      </p:sp>
      <p:sp>
        <p:nvSpPr>
          <p:cNvPr id="7" name="Text 4"/>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500" b="1" dirty="0">
                <a:solidFill>
                  <a:srgbClr val="101828"/>
                </a:solidFill>
              </a:rPr>
              <a:t>구간마다 남기는 정보</a:t>
            </a:r>
            <a:endParaRPr lang="en-US" sz="1500" dirty="0"/>
          </a:p>
        </p:txBody>
      </p:sp>
      <p:sp>
        <p:nvSpPr>
          <p:cNvPr id="8" name="Text 5"/>
          <p:cNvSpPr txBox="1"/>
          <p:nvPr/>
        </p:nvSpPr>
        <p:spPr>
          <a:xfrm>
            <a:off x="8366760" y="1965960"/>
            <a:ext cx="3273552" cy="21031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5B6573"/>
                </a:solidFill>
              </a:rPr>
              <a:t>마지막 조사일과 반복 조사 횟수</a:t>
            </a:r>
            <a:endParaRPr lang="en-US" sz="1400" dirty="0"/>
          </a:p>
          <a:p>
            <a:pPr marL="177800" indent="-177800">
              <a:spcAft>
                <a:spcPts val="600"/>
              </a:spcAft>
              <a:buSzPct val="100000"/>
              <a:buChar char="–"/>
            </a:pPr>
            <a:r>
              <a:rPr lang="en-US" sz="1400" dirty="0">
                <a:solidFill>
                  <a:srgbClr val="5B6573"/>
                </a:solidFill>
              </a:rPr>
              <a:t>탐사 가능 깊이와 이상 신호 추정 깊이</a:t>
            </a:r>
            <a:endParaRPr lang="en-US" sz="1400" dirty="0"/>
          </a:p>
          <a:p>
            <a:pPr marL="177800" indent="-177800">
              <a:spcAft>
                <a:spcPts val="600"/>
              </a:spcAft>
              <a:buSzPct val="100000"/>
              <a:buChar char="–"/>
            </a:pPr>
            <a:r>
              <a:rPr lang="en-US" sz="1400" dirty="0">
                <a:solidFill>
                  <a:srgbClr val="5B6573"/>
                </a:solidFill>
              </a:rPr>
              <a:t>이전 회차 대비 변화량</a:t>
            </a:r>
            <a:endParaRPr lang="en-US" sz="1400" dirty="0"/>
          </a:p>
          <a:p>
            <a:pPr marL="177800" indent="-177800">
              <a:spcAft>
                <a:spcPts val="600"/>
              </a:spcAft>
              <a:buSzPct val="100000"/>
              <a:buChar char="–"/>
            </a:pPr>
            <a:r>
              <a:rPr lang="en-US" sz="1400" dirty="0">
                <a:solidFill>
                  <a:srgbClr val="5B6573"/>
                </a:solidFill>
              </a:rPr>
              <a:t>AI 위험점수, 신뢰도, 위치 오차</a:t>
            </a:r>
            <a:endParaRPr lang="en-US" sz="1400" dirty="0"/>
          </a:p>
          <a:p>
            <a:pPr marL="177800" indent="-177800">
              <a:spcAft>
                <a:spcPts val="600"/>
              </a:spcAft>
              <a:buSzPct val="100000"/>
              <a:buChar char="–"/>
            </a:pPr>
            <a:r>
              <a:rPr lang="en-US" sz="1400" dirty="0">
                <a:solidFill>
                  <a:srgbClr val="5B6573"/>
                </a:solidFill>
              </a:rPr>
              <a:t>전문가 검토와 정밀조사 결과</a:t>
            </a:r>
            <a:endParaRPr lang="en-US" sz="1400" dirty="0"/>
          </a:p>
          <a:p>
            <a:pPr marL="177800" indent="-177800">
              <a:spcAft>
                <a:spcPts val="600"/>
              </a:spcAft>
              <a:buSzPct val="100000"/>
              <a:buChar char="–"/>
            </a:pPr>
            <a:r>
              <a:rPr lang="en-US" sz="1400" dirty="0">
                <a:solidFill>
                  <a:srgbClr val="5B6573"/>
                </a:solidFill>
              </a:rPr>
              <a:t>보수 완료 여부</a:t>
            </a:r>
            <a:endParaRPr lang="en-US" sz="1400" dirty="0"/>
          </a:p>
        </p:txBody>
      </p:sp>
      <p:sp>
        <p:nvSpPr>
          <p:cNvPr id="9" name="keyMessage"/>
          <p:cNvSpPr txBox="1"/>
          <p:nvPr/>
        </p:nvSpPr>
        <p:spPr>
          <a:xfrm>
            <a:off x="8366760" y="4251960"/>
            <a:ext cx="3273552" cy="7772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지난 조사보다 이상 반사 면적이 17% 늘었습니다</a:t>
            </a:r>
            <a:endParaRPr lang="en-US" sz="1400" dirty="0"/>
          </a:p>
        </p:txBody>
      </p:sp>
      <p:sp>
        <p:nvSpPr>
          <p:cNvPr id="10" name="Text 7"/>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1" name="Text 8"/>
          <p:cNvSpPr txBox="1"/>
          <p:nvPr/>
        </p:nvSpPr>
        <p:spPr>
          <a:xfrm>
            <a:off x="548640" y="5833872"/>
            <a:ext cx="11094415" cy="411480"/>
          </a:xfrm>
          <a:prstGeom prst="rect">
            <a:avLst/>
          </a:prstGeom>
          <a:noFill/>
          <a:ln/>
        </p:spPr>
        <p:txBody>
          <a:bodyPr wrap="square" lIns="0" tIns="0" rIns="0" bIns="0" rtlCol="0" anchor="t"/>
          <a:lstStyle/>
          <a:p>
            <a:pPr indent="0" marL="0">
              <a:buNone/>
            </a:pPr>
            <a:r>
              <a:rPr lang="en-US" sz="12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200" dirty="0"/>
          </a:p>
        </p:txBody>
      </p:sp>
      <p:sp>
        <p:nvSpPr>
          <p:cNvPr id="1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목업 화면. 회색 미조사, 초록 변화 없음, 노랑 새 이상 신호, 주황 확대 의심, 빨강 정밀 재탐사, 점선 신뢰도 낮음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2.4  AI 변화 감지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AI는 공동을 확정하지 않고, 달라진 곳의 검토 순서를 정합니다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같은 위치의 이전 회차와 현재 회차 GPR 신호를 비교해, 새로 생기거나 커진 신호를 먼저 찾습니다.</a:t>
            </a:r>
            <a:endParaRPr lang="en-US" sz="14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sp>
        <p:nvSpPr>
          <p:cNvPr id="6" name="caption"/>
          <p:cNvSpPr txBox="1"/>
          <p:nvPr/>
        </p:nvSpPr>
        <p:spPr>
          <a:xfrm>
            <a:off x="548640" y="4269979"/>
            <a:ext cx="7589520" cy="219456"/>
          </a:xfrm>
          <a:prstGeom prst="rect">
            <a:avLst/>
          </a:prstGeom>
          <a:noFill/>
          <a:ln/>
        </p:spPr>
        <p:txBody>
          <a:bodyPr wrap="square" lIns="0" tIns="0" rIns="0" bIns="0" rtlCol="0" anchor="t"/>
          <a:lstStyle/>
          <a:p>
            <a:pPr indent="0" marL="0">
              <a:buNone/>
            </a:pPr>
            <a:r>
              <a:rPr lang="en-US" sz="950" b="1" dirty="0">
                <a:solidFill>
                  <a:srgbClr val="101828"/>
                </a:solidFill>
              </a:rPr>
              <a:t>그림 7. </a:t>
            </a:r>
            <a:pPr indent="0" marL="0">
              <a:buNone/>
            </a:pPr>
            <a:r>
              <a:rPr lang="en-US" sz="950" dirty="0">
                <a:solidFill>
                  <a:srgbClr val="5B6573"/>
                </a:solidFill>
              </a:rPr>
              <a:t>회차 간 GPR 단면 비교(개념)</a:t>
            </a:r>
            <a:endParaRPr lang="en-US" sz="950" dirty="0"/>
          </a:p>
        </p:txBody>
      </p:sp>
      <p:pic>
        <p:nvPicPr>
          <p:cNvPr id="7" name="surface_crack" descr="/Users/seohogyun/Documents/git_workspace/pv5-hose-lab/groundwatch/images/surface_crack.png">    </p:cNvPr>
          <p:cNvPicPr>
            <a:picLocks noChangeAspect="1"/>
          </p:cNvPicPr>
          <p:nvPr/>
        </p:nvPicPr>
        <p:blipFill>
          <a:blip r:embed="rId2"/>
          <a:stretch>
            <a:fillRect/>
          </a:stretch>
        </p:blipFill>
        <p:spPr>
          <a:xfrm>
            <a:off x="8551429" y="1554480"/>
            <a:ext cx="2949934" cy="1938528"/>
          </a:xfrm>
          <a:prstGeom prst="rect">
            <a:avLst/>
          </a:prstGeom>
        </p:spPr>
      </p:pic>
      <p:sp>
        <p:nvSpPr>
          <p:cNvPr id="8" name="Text 4"/>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9" name="rule"/>
          <p:cNvSpPr/>
          <p:nvPr/>
        </p:nvSpPr>
        <p:spPr>
          <a:xfrm>
            <a:off x="548640" y="4434840"/>
            <a:ext cx="11094415" cy="0"/>
          </a:xfrm>
          <a:prstGeom prst="line">
            <a:avLst/>
          </a:prstGeom>
          <a:noFill/>
          <a:ln w="12700">
            <a:solidFill>
              <a:srgbClr val="DCE1E8"/>
            </a:solidFill>
            <a:prstDash val="solid"/>
          </a:ln>
        </p:spPr>
      </p:sp>
      <p:sp>
        <p:nvSpPr>
          <p:cNvPr id="10" name="Text 6"/>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AI 결과에 함께 표시하는 것</a:t>
            </a:r>
            <a:endParaRPr lang="en-US" sz="1400" dirty="0"/>
          </a:p>
        </p:txBody>
      </p:sp>
      <p:sp>
        <p:nvSpPr>
          <p:cNvPr id="11" name="Text 7"/>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400" dirty="0">
                <a:solidFill>
                  <a:srgbClr val="5B6573"/>
                </a:solidFill>
              </a:rPr>
              <a:t>위험등급, 변화량, 신뢰도, 위치 오차, 권장 후속조치, 전문가 승인 여부</a:t>
            </a:r>
            <a:endParaRPr lang="en-US" sz="1400" dirty="0"/>
          </a:p>
        </p:txBody>
      </p:sp>
      <p:sp>
        <p:nvSpPr>
          <p:cNvPr id="12" name="Text 8"/>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비교에 쓰는 데이터</a:t>
            </a:r>
            <a:endParaRPr lang="en-US" sz="1400" dirty="0"/>
          </a:p>
        </p:txBody>
      </p:sp>
      <p:sp>
        <p:nvSpPr>
          <p:cNvPr id="13" name="Text 9"/>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4"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5"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6" name="Text 11"/>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800" b="1" dirty="0">
                <a:solidFill>
                  <a:srgbClr val="D93025"/>
                </a:solidFill>
              </a:rPr>
              <a:t>AI는 공동을 확정하지 않습니다</a:t>
            </a:r>
            <a:endParaRPr lang="en-US" sz="1800" dirty="0"/>
          </a:p>
          <a:p>
            <a:pPr indent="0" marL="0">
              <a:spcAft>
                <a:spcPts val="400"/>
              </a:spcAft>
              <a:buNone/>
            </a:pPr>
            <a:r>
              <a:rPr lang="en-US" sz="1400" dirty="0">
                <a:solidFill>
                  <a:srgbClr val="101828"/>
                </a:solidFill>
              </a:rPr>
              <a:t>AI 분석 결과와 전문가 검토 결과를 언제나 따로 표시합니다.</a:t>
            </a:r>
            <a:endParaRPr lang="en-US" sz="18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3D GPR 딥러닝 공동 탐지 연구. 탐지율과 오탐률은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2.5  재확인 포인트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전문가가 승인한 지점만 다음 순찰의 재확인 업무가 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‘전날과 다음날’이 아니라 ‘이전 탐사 회차와 다음 탐사 회차’를 기준으로 관리합니다.</a:t>
            </a:r>
            <a:endParaRPr lang="en-US" sz="14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AI 후보 등록</a:t>
            </a:r>
            <a:endParaRPr lang="en-US" sz="15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전문가 검토</a:t>
            </a:r>
            <a:endParaRPr lang="en-US" sz="15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재확인 대기열</a:t>
            </a:r>
            <a:endParaRPr lang="en-US" sz="15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순찰 업무</a:t>
            </a:r>
            <a:endParaRPr lang="en-US" sz="15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500" b="1" dirty="0">
                <a:solidFill>
                  <a:srgbClr val="101828"/>
                </a:solidFill>
              </a:rPr>
              <a:t>재확인 대기열 [예시]</a:t>
            </a:r>
            <a:endParaRPr lang="en-US" sz="15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keyMessage"/>
          <p:cNvSpPr txBox="1"/>
          <p:nvPr/>
        </p:nvSpPr>
        <p:spPr>
          <a:xfrm>
            <a:off x="8458200" y="3840480"/>
            <a:ext cx="3182112" cy="91440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검토하지 않은 AI 결과는 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대기열 항목과 등급은 설명용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2.6  Patrol 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PV5의 디스플레이가 새벽 순찰의 업무 화면이 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PV5는 Android Automotive OS 기반 PBV 전용 인포테인먼트와 Pleos App Market을 지원합니다. GroundWatch Patrol은 이 환경의 B2B 업무용 앱을 목표로 합니다.</a:t>
            </a:r>
            <a:endParaRPr lang="en-US" sz="1400" dirty="0"/>
          </a:p>
        </p:txBody>
      </p:sp>
      <p:pic>
        <p:nvPicPr>
          <p:cNvPr id="5" name="ivi_pre" descr="/Users/seohogyun/Documents/git_workspace/pv5-hose-lab/groundwatch/images/ivi_pre.pn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rive" descr="/Users/seohogyun/Documents/git_workspace/pv5-hose-lab/groundwatch/images/ivi_drive.pn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stop" descr="/Users/seohogyun/Documents/git_workspace/pv5-hose-lab/groundwatch/images/ivi_stop.pn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keyMessage"/>
          <p:cNvSpPr txBox="1"/>
          <p:nvPr/>
        </p:nvSpPr>
        <p:spPr>
          <a:xfrm>
            <a:off x="548640" y="4892040"/>
            <a:ext cx="667512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Kia PBV IVI·App Market(AAOS 기반, 개발 목표 고지), 기아 PBV 소프트웨어 솔루션(준비 중인 솔루션, 내용 변경 가능). 화면은 목업입니다.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2.7  SW 브리지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차량 앱과 엣지 게이트웨이가 AR 글래스에 작업정보를 전달한다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차량 화면의 미러링이 아닙니다. 역할을 나눠 두면 차량 API가 일부 막혀도 GPR과 AR 기능은 멈추지 않습니다.</a:t>
            </a:r>
            <a:endParaRPr lang="en-US" sz="14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GroundWatch Cloud</a:t>
            </a:r>
            <a:endParaRPr lang="en-US" sz="15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PV5 Patrol 앱</a:t>
            </a:r>
            <a:endParaRPr lang="en-US" sz="15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Edge Gateway</a:t>
            </a:r>
            <a:endParaRPr lang="en-US" sz="15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AR 글래스</a:t>
            </a:r>
            <a:endParaRPr lang="en-US" sz="15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글래스로 보내는 정보</a:t>
            </a:r>
            <a:endParaRPr lang="en-US" sz="15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글래스가 돌려보내는 정보</a:t>
            </a:r>
            <a:endParaRPr lang="en-US" sz="15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통신 원칙</a:t>
            </a:r>
            <a:endParaRPr lang="en-US" sz="15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통신 구조는 제안안입니다. 통신 지연과 끊김 시 동작은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2.8  AR 위치 보정</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작업자는 고정된 기준점을 인식해 지하 데이터의 위치를 맞춘다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PV5가 안전하게 정차하고 작업자가 내린 뒤에만 켭니다. 운전자는 주행 중 착용하지 않습니다.</a:t>
            </a:r>
            <a:endParaRPr lang="en-US" sz="14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8. </a:t>
            </a:r>
            <a:pPr indent="0" marL="0">
              <a:buNone/>
            </a:pPr>
            <a:r>
              <a:rPr lang="en-US" sz="950" dirty="0">
                <a:solidFill>
                  <a:srgbClr val="5B6573"/>
                </a:solidFill>
              </a:rPr>
              <a:t>AR 기준점 인식과 위치 보정 화면(실사 합성 목업)</a:t>
            </a:r>
            <a:endParaRPr lang="en-US" sz="950" dirty="0"/>
          </a:p>
        </p:txBody>
      </p:sp>
      <p:sp>
        <p:nvSpPr>
          <p:cNvPr id="7"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9"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7"/>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1"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3"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1"/>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5"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6" name="Text 13"/>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7"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8" name="Text 15"/>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9"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0" name="Text 17"/>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1" name="keyMessage"/>
          <p:cNvSpPr txBox="1"/>
          <p:nvPr/>
        </p:nvSpPr>
        <p:spPr>
          <a:xfrm>
            <a:off x="548640" y="5577840"/>
            <a:ext cx="640080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맨홀 하나로 확정하지 않고, 기준점 2~3개를 결합합니다</a:t>
            </a:r>
            <a:endParaRPr lang="en-US" sz="1400" dirty="0"/>
          </a:p>
        </p:txBody>
      </p:sp>
      <p:sp>
        <p:nvSpPr>
          <p:cNvPr id="22" name="Text 19"/>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AR 화면은 실사 위에 합성한 목업입니다. 위치 오차 기준과 야간 인식 성능은 [실증 필요].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2.9  AR 재탐사</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AR이 표시한 검색 범위를 따라 양손으로 수동 GPR을 조작한다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AR은 공동의 실제 모양이 아니라, AI가 지정한 재탐사 검색 범위를 도로 위에 맞춰 보여줍니다.</a:t>
            </a:r>
            <a:endParaRPr lang="en-US" sz="14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9. </a:t>
            </a:r>
            <a:pPr indent="0" marL="0">
              <a:buNone/>
            </a:pPr>
            <a:r>
              <a:rPr lang="en-US" sz="950" dirty="0">
                <a:solidFill>
                  <a:srgbClr val="5B6573"/>
                </a:solidFill>
              </a:rPr>
              <a:t>AR 재탐사 범위 안내 화면(실사 합성 목업)</a:t>
            </a:r>
            <a:endParaRPr lang="en-US" sz="950" dirty="0"/>
          </a:p>
        </p:txBody>
      </p:sp>
      <p:sp>
        <p:nvSpPr>
          <p:cNvPr id="7" name="Text 4"/>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500" b="1" dirty="0">
                <a:solidFill>
                  <a:srgbClr val="101828"/>
                </a:solidFill>
              </a:rPr>
              <a:t>화면에 보이는 것</a:t>
            </a:r>
            <a:endParaRPr lang="en-US" sz="1500" dirty="0"/>
          </a:p>
        </p:txBody>
      </p:sp>
      <p:sp>
        <p:nvSpPr>
          <p:cNvPr id="8" name="Text 5"/>
          <p:cNvSpPr txBox="1"/>
          <p:nvPr/>
        </p:nvSpPr>
        <p:spPr>
          <a:xfrm>
            <a:off x="8092440" y="1938528"/>
            <a:ext cx="3547872"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5B6573"/>
                </a:solidFill>
              </a:rPr>
              <a:t>탐사 시작점과 종료점</a:t>
            </a:r>
            <a:endParaRPr lang="en-US" sz="1400" dirty="0"/>
          </a:p>
          <a:p>
            <a:pPr marL="177800" indent="-177800">
              <a:spcAft>
                <a:spcPts val="500"/>
              </a:spcAft>
              <a:buSzPct val="100000"/>
              <a:buChar char="–"/>
            </a:pPr>
            <a:r>
              <a:rPr lang="en-US" sz="1400" dirty="0">
                <a:solidFill>
                  <a:srgbClr val="5B6573"/>
                </a:solidFill>
              </a:rPr>
              <a:t>진행 방향과 반복 횟수</a:t>
            </a:r>
            <a:endParaRPr lang="en-US" sz="1400" dirty="0"/>
          </a:p>
          <a:p>
            <a:pPr marL="177800" indent="-177800">
              <a:spcAft>
                <a:spcPts val="500"/>
              </a:spcAft>
              <a:buSzPct val="100000"/>
              <a:buChar char="–"/>
            </a:pPr>
            <a:r>
              <a:rPr lang="en-US" sz="1400" dirty="0">
                <a:solidFill>
                  <a:srgbClr val="5B6573"/>
                </a:solidFill>
              </a:rPr>
              <a:t>추정 깊이와 이전 대비 변화량</a:t>
            </a:r>
            <a:endParaRPr lang="en-US" sz="1400" dirty="0"/>
          </a:p>
          <a:p>
            <a:pPr marL="177800" indent="-177800">
              <a:spcAft>
                <a:spcPts val="500"/>
              </a:spcAft>
              <a:buSzPct val="100000"/>
              <a:buChar char="–"/>
            </a:pPr>
            <a:r>
              <a:rPr lang="en-US" sz="1400" dirty="0">
                <a:solidFill>
                  <a:srgbClr val="5B6573"/>
                </a:solidFill>
              </a:rPr>
              <a:t>위치 오차와 AI 신뢰도</a:t>
            </a:r>
            <a:endParaRPr lang="en-US" sz="1400" dirty="0"/>
          </a:p>
        </p:txBody>
      </p:sp>
      <p:pic>
        <p:nvPicPr>
          <p:cNvPr id="9"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10" name="Text 6"/>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500" b="1" dirty="0">
                <a:solidFill>
                  <a:srgbClr val="101828"/>
                </a:solidFill>
              </a:rPr>
              <a:t>음성으로 실행</a:t>
            </a:r>
            <a:endParaRPr lang="en-US" sz="1500" dirty="0"/>
          </a:p>
        </p:txBody>
      </p:sp>
      <p:sp>
        <p:nvSpPr>
          <p:cNvPr id="11" name="Text 7"/>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2" name="keyMessage"/>
          <p:cNvSpPr txBox="1"/>
          <p:nvPr/>
        </p:nvSpPr>
        <p:spPr>
          <a:xfrm>
            <a:off x="548640" y="5577840"/>
            <a:ext cx="3291840" cy="59436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두 손은 장비에, 눈은 도로에</a:t>
            </a:r>
            <a:endParaRPr lang="en-US" sz="1400" dirty="0"/>
          </a:p>
        </p:txBody>
      </p:sp>
      <p:sp>
        <p:nvSpPr>
          <p:cNvPr id="13" name="Text 9"/>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실사 위 합성 목업, 수치는 설명용 예시입니다. 검색 범위는 공동의 모양이 아니라 재탐사 영역입니다.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2.10  교차검증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넓게 선별하고, 좁게 다른 방향으로 다시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수동 GPR이 차량형보다 늘 더 깊게 보는 것은 아닙니다. 두 장비는 역할이 다릅니다.</a:t>
            </a:r>
            <a:endParaRPr lang="en-US" sz="14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caption"/>
          <p:cNvSpPr txBox="1"/>
          <p:nvPr/>
        </p:nvSpPr>
        <p:spPr>
          <a:xfrm>
            <a:off x="548640" y="4718304"/>
            <a:ext cx="6949440" cy="219456"/>
          </a:xfrm>
          <a:prstGeom prst="rect">
            <a:avLst/>
          </a:prstGeom>
          <a:noFill/>
          <a:ln/>
        </p:spPr>
        <p:txBody>
          <a:bodyPr wrap="square" lIns="0" tIns="0" rIns="0" bIns="0" rtlCol="0" anchor="t"/>
          <a:lstStyle/>
          <a:p>
            <a:pPr indent="0" marL="0">
              <a:buNone/>
            </a:pPr>
            <a:r>
              <a:rPr lang="en-US" sz="950" b="1" dirty="0">
                <a:solidFill>
                  <a:srgbClr val="101828"/>
                </a:solidFill>
              </a:rPr>
              <a:t>그림 10. </a:t>
            </a:r>
            <a:pPr indent="0" marL="0">
              <a:buNone/>
            </a:pPr>
            <a:r>
              <a:rPr lang="en-US" sz="950" dirty="0">
                <a:solidFill>
                  <a:srgbClr val="5B6573"/>
                </a:solidFill>
              </a:rPr>
              <a:t>차량형 선별과 수동형 교차검증의 탐사 범위(개념)</a:t>
            </a:r>
            <a:endParaRPr lang="en-US" sz="950" dirty="0"/>
          </a:p>
        </p:txBody>
      </p:sp>
      <p:sp>
        <p:nvSpPr>
          <p:cNvPr id="7"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8" name="Text 5"/>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차량형 다채널 GPR</a:t>
            </a:r>
            <a:endParaRPr lang="en-US" sz="1500" dirty="0"/>
          </a:p>
        </p:txBody>
      </p:sp>
      <p:sp>
        <p:nvSpPr>
          <p:cNvPr id="9" name="Text 6"/>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10"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1" name="Text 8"/>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지면 밀착형 수동 GPR</a:t>
            </a:r>
            <a:endParaRPr lang="en-US" sz="1500" dirty="0"/>
          </a:p>
        </p:txBody>
      </p:sp>
      <p:sp>
        <p:nvSpPr>
          <p:cNvPr id="12" name="Text 9"/>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3"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4" name="Text 11"/>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내시경</a:t>
            </a:r>
            <a:endParaRPr lang="en-US" sz="1500" dirty="0"/>
          </a:p>
        </p:txBody>
      </p:sp>
      <p:sp>
        <p:nvSpPr>
          <p:cNvPr id="15" name="Text 12"/>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6" name="rule"/>
          <p:cNvSpPr/>
          <p:nvPr/>
        </p:nvSpPr>
        <p:spPr>
          <a:xfrm>
            <a:off x="548640" y="4937760"/>
            <a:ext cx="11094415" cy="0"/>
          </a:xfrm>
          <a:prstGeom prst="line">
            <a:avLst/>
          </a:prstGeom>
          <a:noFill/>
          <a:ln w="12700">
            <a:solidFill>
              <a:srgbClr val="DCE1E8"/>
            </a:solidFill>
            <a:prstDash val="solid"/>
          </a:ln>
        </p:spPr>
      </p:sp>
      <p:sp>
        <p:nvSpPr>
          <p:cNvPr id="17" name="Text 14"/>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AR 글래스와 수동 GPR을 함께 씁니다</a:t>
            </a:r>
            <a:endParaRPr lang="en-US" sz="1400" dirty="0"/>
          </a:p>
        </p:txBody>
      </p:sp>
      <p:sp>
        <p:nvSpPr>
          <p:cNvPr id="18" name="Text 15"/>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측정 결과는 Edge Gateway로 바로 보냅니다</a:t>
            </a:r>
            <a:endParaRPr lang="en-US" sz="1400" dirty="0"/>
          </a:p>
        </p:txBody>
      </p:sp>
      <p:sp>
        <p:nvSpPr>
          <p:cNvPr id="19" name="Text 16"/>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차량형 결과와 같은 좌표계로 비교합니다</a:t>
            </a:r>
            <a:endParaRPr lang="en-US" sz="1400" dirty="0"/>
          </a:p>
        </p:txBody>
      </p:sp>
      <p:sp>
        <p:nvSpPr>
          <p:cNvPr id="20" name="keyMessage"/>
          <p:cNvSpPr txBox="1"/>
          <p:nvPr/>
        </p:nvSpPr>
        <p:spPr>
          <a:xfrm>
            <a:off x="548640" y="5623560"/>
            <a:ext cx="6400800" cy="56692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다른 각도로 한 번 더 본 결과만 정밀조사 요청으로 올라갑니다</a:t>
            </a:r>
            <a:endParaRPr lang="en-US" sz="1400" dirty="0"/>
          </a:p>
        </p:txBody>
      </p:sp>
      <p:sp>
        <p:nvSpPr>
          <p:cNvPr id="21"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설명(다중·스텝 주파수 안테나). 교차검증 효과는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2.11  결과 저장</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 결과는 지도와 AI로 돌아가 다음 판단을 더 정확하게 만든다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천공과 내시경은 관계기관 승인과 교통통제 뒤에만 합니다. 내시경만으로 차량이 공동을 바로 확정하지 않습니다.</a:t>
            </a:r>
            <a:endParaRPr lang="en-US" sz="14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700" b="1" dirty="0">
                <a:solidFill>
                  <a:srgbClr val="F5B400"/>
                </a:solidFill>
              </a:rPr>
              <a:t>결과 저장과 학습 순환</a:t>
            </a:r>
            <a:endParaRPr lang="en-US" sz="17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FFFFF"/>
                </a:solidFill>
              </a:rPr>
              <a:t>확인 결과와 보수 이력을 4D 지도의 해당 구간에 저장합니다</a:t>
            </a:r>
            <a:endParaRPr lang="en-US" sz="1400" dirty="0"/>
          </a:p>
          <a:p>
            <a:pPr marL="177800" indent="-177800">
              <a:spcAft>
                <a:spcPts val="600"/>
              </a:spcAft>
              <a:buSzPct val="100000"/>
              <a:buChar char="–"/>
            </a:pPr>
            <a:r>
              <a:rPr lang="en-US" sz="1400" dirty="0">
                <a:solidFill>
                  <a:srgbClr val="FFFFFF"/>
                </a:solidFill>
              </a:rPr>
              <a:t>AI 후보와 실제 확인 결과를 짝지어 검증 데이터로 쌓습니다</a:t>
            </a:r>
            <a:endParaRPr lang="en-US" sz="1400" dirty="0"/>
          </a:p>
          <a:p>
            <a:pPr marL="177800" indent="-177800">
              <a:spcAft>
                <a:spcPts val="600"/>
              </a:spcAft>
              <a:buSzPct val="100000"/>
              <a:buChar char="–"/>
            </a:pPr>
            <a:r>
              <a:rPr lang="en-US" sz="1400" dirty="0">
                <a:solidFill>
                  <a:srgbClr val="FFFFFF"/>
                </a:solidFill>
              </a:rPr>
              <a:t>오탐과 미탐 사례로 AI 성능을 점검하고 고칩니다</a:t>
            </a:r>
            <a:endParaRPr lang="en-US" sz="1400" dirty="0"/>
          </a:p>
          <a:p>
            <a:pPr marL="177800" indent="-177800">
              <a:spcAft>
                <a:spcPts val="600"/>
              </a:spcAft>
              <a:buSzPct val="100000"/>
              <a:buChar char="–"/>
            </a:pPr>
            <a:r>
              <a:rPr lang="en-US" sz="1400" dirty="0">
                <a:solidFill>
                  <a:srgbClr val="FFFFFF"/>
                </a:solidFill>
              </a:rPr>
              <a:t>보수 후 같은 구간을 다시 순찰해 재검증합니다</a:t>
            </a:r>
            <a:endParaRPr lang="en-US" sz="14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sp>
      <p:sp>
        <p:nvSpPr>
          <p:cNvPr id="26" name="loop"/>
          <p:cNvSpPr/>
          <p:nvPr/>
        </p:nvSpPr>
        <p:spPr>
          <a:xfrm>
            <a:off x="2560320" y="5852160"/>
            <a:ext cx="5669280" cy="0"/>
          </a:xfrm>
          <a:prstGeom prst="line">
            <a:avLst/>
          </a:prstGeom>
          <a:noFill/>
          <a:ln w="25400">
            <a:solidFill>
              <a:srgbClr val="F5B400"/>
            </a:solidFill>
            <a:prstDash val="solid"/>
          </a:ln>
        </p:spPr>
      </p:sp>
      <p:sp>
        <p:nvSpPr>
          <p:cNvPr id="27" name="arrow"/>
          <p:cNvSpPr/>
          <p:nvPr/>
        </p:nvSpPr>
        <p:spPr>
          <a:xfrm flipV="1">
            <a:off x="2560320" y="5440680"/>
            <a:ext cx="914" cy="411480"/>
          </a:xfrm>
          <a:prstGeom prst="line">
            <a:avLst/>
          </a:prstGeom>
          <a:noFill/>
          <a:ln w="25400">
            <a:solidFill>
              <a:srgbClr val="F5B400"/>
            </a:solidFill>
            <a:prstDash val="solid"/>
            <a:tailEnd type="triangle"/>
          </a:ln>
        </p:spPr>
      </p:sp>
      <p:sp>
        <p:nvSpPr>
          <p:cNvPr id="28" name="Text 25"/>
          <p:cNvSpPr txBox="1"/>
          <p:nvPr/>
        </p:nvSpPr>
        <p:spPr>
          <a:xfrm>
            <a:off x="3291840" y="5897880"/>
            <a:ext cx="420624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일반적인 공동 확인 흐름을 바탕으로 한 제안안입니다. 실제 승인 절차는 관할 기관 기준을 따릅니다.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r_front_b" descr="/Users/seohogyun/Documents/git_workspace/pv5-hose-lab/groundwatch/images/r_front_b.jpg">    </p:cNvPr>
          <p:cNvPicPr>
            <a:picLocks noChangeAspect="1"/>
          </p:cNvPicPr>
          <p:nvPr/>
        </p:nvPicPr>
        <p:blipFill>
          <a:blip r:embed="rId1"/>
          <a:stretch>
            <a:fillRect/>
          </a:stretch>
        </p:blipFill>
        <p:spPr>
          <a:xfrm>
            <a:off x="6766560" y="1620622"/>
            <a:ext cx="5425135" cy="3616757"/>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Ⅲ</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도시 지하 안전망으로의 확장</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3.1  위험도별 순찰망</a:t>
            </a:r>
            <a:endParaRPr lang="en-US" sz="1250" dirty="0"/>
          </a:p>
          <a:p>
            <a:pPr indent="0" marL="0">
              <a:spcAft>
                <a:spcPts val="400"/>
              </a:spcAft>
              <a:buNone/>
            </a:pPr>
            <a:r>
              <a:rPr lang="en-US" sz="1250" dirty="0">
                <a:solidFill>
                  <a:srgbClr val="5B6573"/>
                </a:solidFill>
              </a:rPr>
              <a:t>3.2  여러 대의 PV5 플릿</a:t>
            </a:r>
            <a:endParaRPr lang="en-US" sz="1250" dirty="0"/>
          </a:p>
          <a:p>
            <a:pPr indent="0" marL="0">
              <a:spcAft>
                <a:spcPts val="400"/>
              </a:spcAft>
              <a:buNone/>
            </a:pPr>
            <a:r>
              <a:rPr lang="en-US" sz="1250" dirty="0">
                <a:solidFill>
                  <a:srgbClr val="5B6573"/>
                </a:solidFill>
              </a:rPr>
              <a:t>3.3  도시 지하 데이터 통합</a:t>
            </a:r>
            <a:endParaRPr lang="en-US" sz="1250" dirty="0"/>
          </a:p>
          <a:p>
            <a:pPr indent="0" marL="0">
              <a:spcAft>
                <a:spcPts val="400"/>
              </a:spcAft>
              <a:buNone/>
            </a:pPr>
            <a:r>
              <a:rPr lang="en-US" sz="1250" dirty="0">
                <a:solidFill>
                  <a:srgbClr val="5B6573"/>
                </a:solidFill>
              </a:rPr>
              <a:t>3.4  4D 도시 지하 디지털 트윈</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3.1  순찰망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위험한 곳은 더 자주, 비가 온 뒤에는 바로</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구간 위험도에 따라 조사 주기를 다르게 잡습니다. 아래 주기는 [예시]이며 발주기관과 협의해 정합니다.</a:t>
            </a:r>
            <a:endParaRPr lang="en-US" sz="14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caption"/>
          <p:cNvSpPr txBox="1"/>
          <p:nvPr/>
        </p:nvSpPr>
        <p:spPr>
          <a:xfrm>
            <a:off x="548640" y="5394960"/>
            <a:ext cx="6762496" cy="219456"/>
          </a:xfrm>
          <a:prstGeom prst="rect">
            <a:avLst/>
          </a:prstGeom>
          <a:noFill/>
          <a:ln/>
        </p:spPr>
        <p:txBody>
          <a:bodyPr wrap="square" lIns="0" tIns="0" rIns="0" bIns="0" rtlCol="0" anchor="t"/>
          <a:lstStyle/>
          <a:p>
            <a:pPr indent="0" marL="0">
              <a:buNone/>
            </a:pPr>
            <a:r>
              <a:rPr lang="en-US" sz="950" b="1" dirty="0">
                <a:solidFill>
                  <a:srgbClr val="101828"/>
                </a:solidFill>
              </a:rPr>
              <a:t>그림 11. </a:t>
            </a:r>
            <a:pPr indent="0" marL="0">
              <a:buNone/>
            </a:pPr>
            <a:r>
              <a:rPr lang="en-US" sz="950" dirty="0">
                <a:solidFill>
                  <a:srgbClr val="5B6573"/>
                </a:solidFill>
              </a:rPr>
              <a:t>위험도별 순찰 경로 예시(서울 강동구 명일동 일대)</a:t>
            </a:r>
            <a:endParaRPr lang="en-US" sz="950" dirty="0"/>
          </a:p>
        </p:txBody>
      </p:sp>
      <p:sp>
        <p:nvSpPr>
          <p:cNvPr id="7"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8" name="Text 5"/>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9" name="Text 6"/>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10"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1" name="Text 8"/>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2" name="Text 9"/>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3"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4" name="Text 11"/>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5" name="Text 12"/>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6"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7" name="Text 14"/>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8" name="Text 15"/>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9"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20" name="Text 17"/>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1" name="Text 18"/>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2"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3" name="Text 20"/>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4" name="Text 21"/>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5" name="keyMessage"/>
          <p:cNvSpPr txBox="1"/>
          <p:nvPr/>
        </p:nvSpPr>
        <p:spPr>
          <a:xfrm>
            <a:off x="548640" y="5577840"/>
            <a:ext cx="676656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지하철역 주변, 노후 하수관, 굴착공사 주변, 반복 침하 구간부터 시작합니다</a:t>
            </a:r>
            <a:endParaRPr lang="en-US" sz="1400" dirty="0"/>
          </a:p>
        </p:txBody>
      </p:sp>
      <p:sp>
        <p:nvSpPr>
          <p:cNvPr id="26" name="Text 23"/>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지반침하 예방체계 강화 보도자료(굴착공사장 점검 주기 강화). 조사 주기 표는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3.2  플릿</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여러 대의 PV5가 권역을 나눠 같은 기준으로 순찰한다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권역을 나누고, 관제센터에서 실시간 상태를 보며, 차량별 순찰거리와 재확인 업무를 배정합니다.</a:t>
            </a:r>
            <a:endParaRPr lang="en-US" sz="14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12. </a:t>
            </a:r>
            <a:pPr indent="0" marL="0">
              <a:buNone/>
            </a:pPr>
            <a:r>
              <a:rPr lang="en-US" sz="950" dirty="0">
                <a:solidFill>
                  <a:srgbClr val="5B6573"/>
                </a:solidFill>
              </a:rPr>
              <a:t>권역 분담 플릿 관제 화면(예시)</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같은 사양, 같은 기준</a:t>
            </a:r>
            <a:endParaRPr lang="en-US" sz="1500" dirty="0"/>
          </a:p>
        </p:txBody>
      </p:sp>
      <p:sp>
        <p:nvSpPr>
          <p:cNvPr id="8" name="Text 5"/>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9" name="Text 6"/>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관제 연동 [추가 확인 필요]</a:t>
            </a:r>
            <a:endParaRPr lang="en-US" sz="1500" dirty="0"/>
          </a:p>
        </p:txBody>
      </p:sp>
      <p:sp>
        <p:nvSpPr>
          <p:cNvPr id="10" name="Text 7"/>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1" name="Text 8"/>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배정 기준</a:t>
            </a:r>
            <a:endParaRPr lang="en-US" sz="1500" dirty="0"/>
          </a:p>
        </p:txBody>
      </p:sp>
      <p:sp>
        <p:nvSpPr>
          <p:cNvPr id="12" name="Text 9"/>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3"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대의 시제품이 아니라, 복제할 수 있는 순찰 체계</a:t>
            </a:r>
            <a:endParaRPr lang="en-US" sz="14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특징(Pleos Fleet 차량관제솔루션). 관제 화면 수치는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3.3  데이터 통합</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 변화 신호를 도시의 다른 지하 데이터와 겹쳐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하수관, 굴착공사, 지하철 구조물, 지하수, 강우, 보수 이력과 함께 볼 때 원인을 짐작하기 쉬워집니다.</a:t>
            </a:r>
            <a:endParaRPr lang="en-US" sz="14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13. </a:t>
            </a:r>
            <a:pPr indent="0" marL="0">
              <a:buNone/>
            </a:pPr>
            <a:r>
              <a:rPr lang="en-US" sz="950" dirty="0">
                <a:solidFill>
                  <a:srgbClr val="5B6573"/>
                </a:solidFill>
              </a:rPr>
              <a:t>지하 안전 데이터 레이어 구성</a:t>
            </a:r>
            <a:endParaRPr lang="en-US" sz="950" dirty="0"/>
          </a:p>
        </p:txBody>
      </p:sp>
      <p:pic>
        <p:nvPicPr>
          <p:cNvPr id="7"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8" name="Text 4"/>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보안과 접근권한</a:t>
            </a:r>
            <a:endParaRPr lang="en-US" sz="1500" dirty="0"/>
          </a:p>
        </p:txBody>
      </p:sp>
      <p:sp>
        <p:nvSpPr>
          <p:cNvPr id="9" name="Text 5"/>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10"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1" name="Text 6"/>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데이터 표준</a:t>
            </a:r>
            <a:endParaRPr lang="en-US" sz="1500" dirty="0"/>
          </a:p>
        </p:txBody>
      </p:sp>
      <p:sp>
        <p:nvSpPr>
          <p:cNvPr id="12" name="Text 7"/>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3"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4" name="Text 8"/>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지하 데이터는 팔지 않습니다</a:t>
            </a:r>
            <a:endParaRPr lang="en-US" sz="1500" dirty="0"/>
          </a:p>
        </p:txBody>
      </p:sp>
      <p:sp>
        <p:nvSpPr>
          <p:cNvPr id="15" name="Text 9"/>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6"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기관의 데이터만으로는 원인을 보기 어렵습니다</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OGC MUDDI(ogc.org/standards/muddi), 국토부 지하공간통합지도와 지하안전정보시스템(JIS) 연계 방향(2025.5.27 보도자료)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3.4  디지털 트윈</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시간이 쌓이면, 도로 아래가 변하는 모습이 보인다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지상 지도, 지하 시설물, 공동 의심 신호, 시간에 따른 변화를 하나의 모델에서 봅니다.</a:t>
            </a:r>
            <a:endParaRPr lang="en-US" sz="14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caption"/>
          <p:cNvSpPr txBox="1"/>
          <p:nvPr/>
        </p:nvSpPr>
        <p:spPr>
          <a:xfrm>
            <a:off x="548640" y="5174428"/>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14. </a:t>
            </a:r>
            <a:pPr indent="0" marL="0">
              <a:buNone/>
            </a:pPr>
            <a:r>
              <a:rPr lang="en-US" sz="950" dirty="0">
                <a:solidFill>
                  <a:srgbClr val="5B6573"/>
                </a:solidFill>
              </a:rPr>
              <a:t>4D 도시 지하 디지털 트윈 개념</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공사 전후 비교</a:t>
            </a:r>
            <a:endParaRPr lang="en-US" sz="1500" dirty="0"/>
          </a:p>
        </p:txBody>
      </p:sp>
      <p:sp>
        <p:nvSpPr>
          <p:cNvPr id="8" name="Text 5"/>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9" name="Text 6"/>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재난 대응</a:t>
            </a:r>
            <a:endParaRPr lang="en-US" sz="1500" dirty="0"/>
          </a:p>
        </p:txBody>
      </p:sp>
      <p:sp>
        <p:nvSpPr>
          <p:cNvPr id="10" name="Text 7"/>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1" name="Text 8"/>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유지관리 계획</a:t>
            </a:r>
            <a:endParaRPr lang="en-US" sz="1500" dirty="0"/>
          </a:p>
        </p:txBody>
      </p:sp>
      <p:sp>
        <p:nvSpPr>
          <p:cNvPr id="12" name="Text 9"/>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3" name="Text 10"/>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범위 원칙</a:t>
            </a:r>
            <a:endParaRPr lang="en-US" sz="1500" dirty="0"/>
          </a:p>
        </p:txBody>
      </p:sp>
      <p:sp>
        <p:nvSpPr>
          <p:cNvPr id="14" name="Text 11"/>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5" name="keyMessage"/>
          <p:cNvSpPr txBox="1"/>
          <p:nvPr/>
        </p:nvSpPr>
        <p:spPr>
          <a:xfrm>
            <a:off x="548640" y="5440680"/>
            <a:ext cx="6766560" cy="64008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도시가 같은 길을 기억하면, 작은 변화도 놓치지 않을 수 있습니다</a:t>
            </a:r>
            <a:endParaRPr lang="en-US" sz="1400" dirty="0"/>
          </a:p>
        </p:txBody>
      </p:sp>
      <p:sp>
        <p:nvSpPr>
          <p:cNvPr id="16"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개념 일러스트. 디지털 트윈은 운영 데이터가 충분히 쌓인 뒤의 장기 확장 방향입니다.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r_rear" descr="/Users/seohogyun/Documents/git_workspace/pv5-hose-lab/groundwatch/images/r_rear.jpg">    </p:cNvPr>
          <p:cNvPicPr>
            <a:picLocks noChangeAspect="1"/>
          </p:cNvPicPr>
          <p:nvPr/>
        </p:nvPicPr>
        <p:blipFill>
          <a:blip r:embed="rId1"/>
          <a:stretch>
            <a:fillRect/>
          </a:stretch>
        </p:blipFill>
        <p:spPr>
          <a:xfrm>
            <a:off x="6309360" y="1468222"/>
            <a:ext cx="5882335" cy="3921557"/>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맺음말</a:t>
            </a:r>
            <a:endParaRPr lang="en-US" sz="1100" dirty="0"/>
          </a:p>
        </p:txBody>
      </p:sp>
      <p:sp>
        <p:nvSpPr>
          <p:cNvPr id="5" name="Text 2"/>
          <p:cNvSpPr txBox="1"/>
          <p:nvPr/>
        </p:nvSpPr>
        <p:spPr>
          <a:xfrm>
            <a:off x="548640" y="1143000"/>
            <a:ext cx="5577840" cy="1188720"/>
          </a:xfrm>
          <a:prstGeom prst="rect">
            <a:avLst/>
          </a:prstGeom>
          <a:noFill/>
          <a:ln/>
        </p:spPr>
        <p:txBody>
          <a:bodyPr wrap="square" lIns="0" tIns="0" rIns="0" bIns="0" rtlCol="0" anchor="t"/>
          <a:lstStyle/>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번의 조기 발견이,</a:t>
            </a:r>
            <a:endParaRPr lang="en-US" sz="2100" dirty="0"/>
          </a:p>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사람의 무사 귀가가 되도록.</a:t>
            </a:r>
            <a:endParaRPr lang="en-US" sz="2100" dirty="0"/>
          </a:p>
        </p:txBody>
      </p:sp>
      <p:sp>
        <p:nvSpPr>
          <p:cNvPr id="6" name="rule"/>
          <p:cNvSpPr/>
          <p:nvPr/>
        </p:nvSpPr>
        <p:spPr>
          <a:xfrm>
            <a:off x="548640" y="2606040"/>
            <a:ext cx="5394960" cy="0"/>
          </a:xfrm>
          <a:prstGeom prst="line">
            <a:avLst/>
          </a:prstGeom>
          <a:noFill/>
          <a:ln w="9525">
            <a:solidFill>
              <a:srgbClr val="C9D0DA"/>
            </a:solidFill>
            <a:prstDash val="solid"/>
          </a:ln>
        </p:spPr>
      </p:sp>
      <p:sp>
        <p:nvSpPr>
          <p:cNvPr id="7" name="Text 4"/>
          <p:cNvSpPr txBox="1"/>
          <p:nvPr/>
        </p:nvSpPr>
        <p:spPr>
          <a:xfrm>
            <a:off x="548640" y="2788920"/>
            <a:ext cx="5486400" cy="2377440"/>
          </a:xfrm>
          <a:prstGeom prst="rect">
            <a:avLst/>
          </a:prstGeom>
          <a:noFill/>
          <a:ln/>
        </p:spPr>
        <p:txBody>
          <a:bodyPr wrap="square" lIns="0" tIns="0" rIns="0" bIns="0" rtlCol="0" anchor="t"/>
          <a:lstStyle/>
          <a:p>
            <a:pPr indent="0" marL="0">
              <a:spcAft>
                <a:spcPts val="500"/>
              </a:spcAft>
              <a:buNone/>
            </a:pPr>
            <a:r>
              <a:rPr lang="en-US" sz="1300" b="1" dirty="0">
                <a:solidFill>
                  <a:srgbClr val="101828"/>
                </a:solidFill>
              </a:rPr>
              <a:t>□ 단발성 점검을 반복 관측으로</a:t>
            </a:r>
            <a:endParaRPr lang="en-US" sz="1300" dirty="0"/>
          </a:p>
          <a:p>
            <a:pPr indent="0" marL="0">
              <a:spcAft>
                <a:spcPts val="500"/>
              </a:spcAft>
              <a:buNone/>
            </a:pPr>
            <a:r>
              <a:rPr lang="en-US" sz="1300" dirty="0">
                <a:solidFill>
                  <a:srgbClr val="5B6573"/>
                </a:solidFill>
              </a:rPr>
              <a:t>같은 도로를 같은 장비로 다시 보고, 회차 간 변화를 기록합니다.</a:t>
            </a:r>
            <a:endParaRPr lang="en-US" sz="1300" dirty="0"/>
          </a:p>
          <a:p>
            <a:pPr indent="0" marL="0">
              <a:spcAft>
                <a:spcPts val="500"/>
              </a:spcAft>
              <a:buNone/>
            </a:pPr>
            <a:r>
              <a:rPr lang="en-US" sz="1300" b="1" dirty="0">
                <a:solidFill>
                  <a:srgbClr val="101828"/>
                </a:solidFill>
              </a:rPr>
              <a:t>□ AI는 순서를, 전문가는 판정을</a:t>
            </a:r>
            <a:endParaRPr lang="en-US" sz="1300" dirty="0"/>
          </a:p>
          <a:p>
            <a:pPr indent="0" marL="0">
              <a:spcAft>
                <a:spcPts val="500"/>
              </a:spcAft>
              <a:buNone/>
            </a:pPr>
            <a:r>
              <a:rPr lang="en-US" sz="1300" dirty="0">
                <a:solidFill>
                  <a:srgbClr val="5B6573"/>
                </a:solidFill>
              </a:rPr>
              <a:t>AI가 달라진 곳을 먼저 찾고, 확정은 전문가와 천공·내시경이 맡습니다.</a:t>
            </a:r>
            <a:endParaRPr lang="en-US" sz="1300" dirty="0"/>
          </a:p>
          <a:p>
            <a:pPr indent="0" marL="0">
              <a:spcAft>
                <a:spcPts val="500"/>
              </a:spcAft>
              <a:buNone/>
            </a:pPr>
            <a:r>
              <a:rPr lang="en-US" sz="1300" b="1" dirty="0">
                <a:solidFill>
                  <a:srgbClr val="101828"/>
                </a:solidFill>
              </a:rPr>
              <a:t>□ PV5를 이동형 탐사·분석·검증 플랫폼으로</a:t>
            </a:r>
            <a:endParaRPr lang="en-US" sz="1300" dirty="0"/>
          </a:p>
          <a:p>
            <a:pPr indent="0" marL="0">
              <a:spcAft>
                <a:spcPts val="500"/>
              </a:spcAft>
              <a:buNone/>
            </a:pPr>
            <a:r>
              <a:rPr lang="en-US" sz="1300" dirty="0">
                <a:solidFill>
                  <a:srgbClr val="5B6573"/>
                </a:solidFill>
              </a:rPr>
              <a:t>새벽 저소음 운행, V2L 전원, 카고룸 장비 고정, 차량 앱 연동을 활용합니다.</a:t>
            </a:r>
            <a:endParaRPr lang="en-US" sz="1300" dirty="0"/>
          </a:p>
        </p:txBody>
      </p:sp>
      <p:sp>
        <p:nvSpPr>
          <p:cNvPr id="8" name="Text 5"/>
          <p:cNvSpPr txBox="1"/>
          <p:nvPr/>
        </p:nvSpPr>
        <p:spPr>
          <a:xfrm>
            <a:off x="548640" y="5532120"/>
            <a:ext cx="5486400" cy="292608"/>
          </a:xfrm>
          <a:prstGeom prst="rect">
            <a:avLst/>
          </a:prstGeom>
          <a:noFill/>
          <a:ln/>
        </p:spPr>
        <p:txBody>
          <a:bodyPr wrap="square" lIns="0" tIns="0" rIns="0" bIns="0" rtlCol="0" anchor="ctr"/>
          <a:lstStyle/>
          <a:p>
            <a:pPr indent="0" marL="0">
              <a:buNone/>
            </a:pPr>
            <a:r>
              <a:rPr lang="en-US" sz="1200" b="1" dirty="0">
                <a:solidFill>
                  <a:srgbClr val="0B1F3A"/>
                </a:solidFill>
              </a:rPr>
              <a:t>PV5 GroundWatch</a:t>
            </a:r>
            <a:pPr indent="0" marL="0">
              <a:buNone/>
            </a:pPr>
            <a:endParaRPr lang="en-US" sz="1200" dirty="0"/>
          </a:p>
        </p:txBody>
      </p:sp>
      <p:sp>
        <p:nvSpPr>
          <p:cNvPr id="9" name="Text 6"/>
          <p:cNvSpPr txBox="1"/>
          <p:nvPr/>
        </p:nvSpPr>
        <p:spPr>
          <a:xfrm>
            <a:off x="548640" y="5897880"/>
            <a:ext cx="2743200" cy="274320"/>
          </a:xfrm>
          <a:prstGeom prst="rect">
            <a:avLst/>
          </a:prstGeom>
          <a:noFill/>
          <a:ln/>
        </p:spPr>
        <p:txBody>
          <a:bodyPr wrap="square" lIns="0" tIns="0" rIns="0" bIns="0" rtlCol="0" anchor="ctr"/>
          <a:lstStyle/>
          <a:p>
            <a:pPr indent="0" marL="0">
              <a:buNone/>
            </a:pPr>
            <a:r>
              <a:rPr lang="en-US" sz="1200" dirty="0">
                <a:solidFill>
                  <a:srgbClr val="5B6573"/>
                </a:solidFill>
              </a:rPr>
              <a:t>감사합니다</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A.1  GPR 한계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GPR은 만능이 아니다. 깊이, 토질, 금속의 한계를 먼저 밝힌다</a:t>
            </a:r>
            <a:endParaRPr lang="en-US" sz="21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51560"/>
            <a:ext cx="5760720" cy="2880360"/>
          </a:xfrm>
          <a:prstGeom prst="rect">
            <a:avLst/>
          </a:prstGeom>
        </p:spPr>
      </p:pic>
      <p:sp>
        <p:nvSpPr>
          <p:cNvPr id="5" name="caption"/>
          <p:cNvSpPr txBox="1"/>
          <p:nvPr/>
        </p:nvSpPr>
        <p:spPr>
          <a:xfrm>
            <a:off x="548640" y="3968496"/>
            <a:ext cx="5760720" cy="219456"/>
          </a:xfrm>
          <a:prstGeom prst="rect">
            <a:avLst/>
          </a:prstGeom>
          <a:noFill/>
          <a:ln/>
        </p:spPr>
        <p:txBody>
          <a:bodyPr wrap="square" lIns="0" tIns="0" rIns="0" bIns="0" rtlCol="0" anchor="t"/>
          <a:lstStyle/>
          <a:p>
            <a:pPr indent="0" marL="0">
              <a:buNone/>
            </a:pPr>
            <a:r>
              <a:rPr lang="en-US" sz="950" b="1" dirty="0">
                <a:solidFill>
                  <a:srgbClr val="101828"/>
                </a:solidFill>
              </a:rPr>
              <a:t>그림 15. </a:t>
            </a:r>
            <a:pPr indent="0" marL="0">
              <a:buNone/>
            </a:pPr>
            <a:r>
              <a:rPr lang="en-US" sz="950" dirty="0">
                <a:solidFill>
                  <a:srgbClr val="5B6573"/>
                </a:solidFill>
              </a:rPr>
              <a:t>안테나 주파수와 탐지 깊이·해상도의 관계(개념)</a:t>
            </a:r>
            <a:endParaRPr lang="en-US" sz="950" dirty="0"/>
          </a:p>
        </p:txBody>
      </p:sp>
      <p:sp>
        <p:nvSpPr>
          <p:cNvPr id="6" name="Text 3"/>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7" name="Text 4"/>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8" name="Text 5"/>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9" name="Text 6"/>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10" name="Text 7"/>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1" name="Text 8"/>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2" name="Text 9"/>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3" name="Text 10"/>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4" name="Text 11"/>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5" name="Text 12"/>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6" name="rule"/>
          <p:cNvSpPr/>
          <p:nvPr/>
        </p:nvSpPr>
        <p:spPr>
          <a:xfrm>
            <a:off x="548640" y="4114800"/>
            <a:ext cx="11094415" cy="0"/>
          </a:xfrm>
          <a:prstGeom prst="line">
            <a:avLst/>
          </a:prstGeom>
          <a:noFill/>
          <a:ln w="12700">
            <a:solidFill>
              <a:srgbClr val="DCE1E8"/>
            </a:solidFill>
            <a:prstDash val="solid"/>
          </a:ln>
        </p:spPr>
      </p:sp>
      <p:sp>
        <p:nvSpPr>
          <p:cNvPr id="17" name="Text 14"/>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700" b="1" dirty="0">
                <a:solidFill>
                  <a:srgbClr val="D93025"/>
                </a:solidFill>
              </a:rPr>
              <a:t>AI가 공동을 최종 확정하지 않는 이유</a:t>
            </a:r>
            <a:endParaRPr lang="en-US" sz="1700" dirty="0"/>
          </a:p>
        </p:txBody>
      </p:sp>
      <p:sp>
        <p:nvSpPr>
          <p:cNvPr id="18" name="Text 15"/>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신호가 비슷합니다</a:t>
            </a:r>
            <a:endParaRPr lang="en-US" sz="1400" dirty="0"/>
          </a:p>
        </p:txBody>
      </p:sp>
      <p:sp>
        <p:nvSpPr>
          <p:cNvPr id="19" name="Text 16"/>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20" name="Text 17"/>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검증 데이터가 아직 없습니다</a:t>
            </a:r>
            <a:endParaRPr lang="en-US" sz="1400" dirty="0"/>
          </a:p>
        </p:txBody>
      </p:sp>
      <p:sp>
        <p:nvSpPr>
          <p:cNvPr id="21" name="Text 18"/>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2" name="Text 19"/>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책임 주체가 필요합니다</a:t>
            </a:r>
            <a:endParaRPr lang="en-US" sz="1400" dirty="0"/>
          </a:p>
        </p:txBody>
      </p:sp>
      <p:sp>
        <p:nvSpPr>
          <p:cNvPr id="23" name="Text 20"/>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 서울시 설명 인용 보도(고주파 GPR 약 2m), 서울시 복합탐사(지하 5~40m) 시범 도입 보도(2025.12.30)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A.2  안전과 운영</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새벽 도로 작업은 사람이 먼저 안전해야 한다</a:t>
            </a:r>
            <a:endParaRPr lang="en-US" sz="21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1900" b="1" dirty="0">
                <a:solidFill>
                  <a:srgbClr val="FFFFFF"/>
                </a:solidFill>
              </a:rPr>
              <a:t>초기 운영은 2인 1조</a:t>
            </a:r>
            <a:endParaRPr lang="en-US" sz="19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1명  운전과 안전</a:t>
            </a:r>
            <a:endParaRPr lang="en-US" sz="15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2명  장비와 판독</a:t>
            </a:r>
            <a:endParaRPr lang="en-US" sz="15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안전 정차</a:t>
            </a:r>
            <a:endParaRPr lang="en-US" sz="15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주행 중 AR 금지</a:t>
            </a:r>
            <a:endParaRPr lang="en-US" sz="15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교통통제</a:t>
            </a:r>
            <a:endParaRPr lang="en-US" sz="15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천공과 내시경</a:t>
            </a:r>
            <a:endParaRPr lang="en-US" sz="15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AR 위치 오차</a:t>
            </a:r>
            <a:endParaRPr lang="en-US" sz="15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개인정보</a:t>
            </a:r>
            <a:endParaRPr lang="en-US" sz="15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운영 원칙은 제안안입니다. 실제 운영 전 산업안전보건, 도로교통, 개인정보보호 관련 법령 검토가 필요합니다.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A.3  사업 모델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 용역에서 시작해 연간 관제 계약과 패키지로 넓힌다</a:t>
            </a:r>
            <a:endParaRPr lang="en-US" sz="21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탐사 용역</a:t>
            </a:r>
            <a:endParaRPr lang="en-US" sz="21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주행 거리 기반 과금</a:t>
            </a:r>
            <a:endParaRPr lang="en-US" sz="1400" dirty="0"/>
          </a:p>
          <a:p>
            <a:pPr marL="177800" indent="-177800">
              <a:spcAft>
                <a:spcPts val="700"/>
              </a:spcAft>
              <a:buSzPct val="100000"/>
              <a:buChar char="–"/>
            </a:pPr>
            <a:r>
              <a:rPr lang="en-US" sz="1400" dirty="0">
                <a:solidFill>
                  <a:srgbClr val="101828"/>
                </a:solidFill>
              </a:rPr>
              <a:t>위험지역 집중 탐사</a:t>
            </a:r>
            <a:endParaRPr lang="en-US" sz="1400" dirty="0"/>
          </a:p>
          <a:p>
            <a:pPr marL="177800" indent="-177800">
              <a:spcAft>
                <a:spcPts val="700"/>
              </a:spcAft>
              <a:buSzPct val="100000"/>
              <a:buChar char="–"/>
            </a:pPr>
            <a:r>
              <a:rPr lang="en-US" sz="1400" dirty="0">
                <a:solidFill>
                  <a:srgbClr val="101828"/>
                </a:solidFill>
              </a:rPr>
              <a:t>공사 전후 비교 탐사</a:t>
            </a:r>
            <a:endParaRPr lang="en-US" sz="1400" dirty="0"/>
          </a:p>
          <a:p>
            <a:pPr marL="177800" indent="-177800">
              <a:spcAft>
                <a:spcPts val="700"/>
              </a:spcAft>
              <a:buSzPct val="100000"/>
              <a:buChar char="–"/>
            </a:pPr>
            <a:r>
              <a:rPr lang="en-US" sz="1400" dirty="0">
                <a:solidFill>
                  <a:srgbClr val="101828"/>
                </a:solidFill>
              </a:rPr>
              <a:t>집중호우 후 긴급 탐사</a:t>
            </a:r>
            <a:endParaRPr lang="en-US" sz="1400" dirty="0"/>
          </a:p>
          <a:p>
            <a:pPr marL="177800" indent="-177800">
              <a:spcAft>
                <a:spcPts val="700"/>
              </a:spcAft>
              <a:buSzPct val="100000"/>
              <a:buChar char="–"/>
            </a:pPr>
            <a:r>
              <a:rPr lang="en-US" sz="1400" dirty="0">
                <a:solidFill>
                  <a:srgbClr val="101828"/>
                </a:solidFill>
              </a:rPr>
              <a:t>정밀 재탐사</a:t>
            </a:r>
            <a:endParaRPr lang="en-US" sz="14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연간 관제 계약</a:t>
            </a:r>
            <a:endParaRPr lang="en-US" sz="21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정기 순찰과 4D 변화지도</a:t>
            </a:r>
            <a:endParaRPr lang="en-US" sz="1400" dirty="0"/>
          </a:p>
          <a:p>
            <a:pPr marL="177800" indent="-177800">
              <a:spcAft>
                <a:spcPts val="700"/>
              </a:spcAft>
              <a:buSzPct val="100000"/>
              <a:buChar char="–"/>
            </a:pPr>
            <a:r>
              <a:rPr lang="en-US" sz="1400" dirty="0">
                <a:solidFill>
                  <a:srgbClr val="101828"/>
                </a:solidFill>
              </a:rPr>
              <a:t>AI 변화 감지와 GIS 대시보드</a:t>
            </a:r>
            <a:endParaRPr lang="en-US" sz="1400" dirty="0"/>
          </a:p>
          <a:p>
            <a:pPr marL="177800" indent="-177800">
              <a:spcAft>
                <a:spcPts val="700"/>
              </a:spcAft>
              <a:buSzPct val="100000"/>
              <a:buChar char="–"/>
            </a:pPr>
            <a:r>
              <a:rPr lang="en-US" sz="1400" dirty="0">
                <a:solidFill>
                  <a:srgbClr val="101828"/>
                </a:solidFill>
              </a:rPr>
              <a:t>정기 보고서와 우선순위</a:t>
            </a:r>
            <a:endParaRPr lang="en-US" sz="1400" dirty="0"/>
          </a:p>
          <a:p>
            <a:pPr marL="177800" indent="-177800">
              <a:spcAft>
                <a:spcPts val="700"/>
              </a:spcAft>
              <a:buSzPct val="100000"/>
              <a:buChar char="–"/>
            </a:pPr>
            <a:r>
              <a:rPr lang="en-US" sz="1400" dirty="0">
                <a:solidFill>
                  <a:srgbClr val="101828"/>
                </a:solidFill>
              </a:rPr>
              <a:t>이력 관리와 보수 후 재검증</a:t>
            </a:r>
            <a:endParaRPr lang="en-US" sz="1400" dirty="0"/>
          </a:p>
          <a:p>
            <a:pPr marL="177800" indent="-177800">
              <a:spcAft>
                <a:spcPts val="700"/>
              </a:spcAft>
              <a:buSzPct val="100000"/>
              <a:buChar char="–"/>
            </a:pPr>
            <a:r>
              <a:rPr lang="en-US" sz="1400" dirty="0">
                <a:solidFill>
                  <a:srgbClr val="101828"/>
                </a:solidFill>
              </a:rPr>
              <a:t>공공기관 연간 구독</a:t>
            </a:r>
            <a:endParaRPr lang="en-US" sz="14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차량·소프트웨어 패키지</a:t>
            </a:r>
            <a:endParaRPr lang="en-US" sz="21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PV5 GroundWatch 컨버전 차량</a:t>
            </a:r>
            <a:endParaRPr lang="en-US" sz="1400" dirty="0"/>
          </a:p>
          <a:p>
            <a:pPr marL="177800" indent="-177800">
              <a:spcAft>
                <a:spcPts val="700"/>
              </a:spcAft>
              <a:buSzPct val="100000"/>
              <a:buChar char="–"/>
            </a:pPr>
            <a:r>
              <a:rPr lang="en-US" sz="1400" dirty="0">
                <a:solidFill>
                  <a:srgbClr val="101828"/>
                </a:solidFill>
              </a:rPr>
              <a:t>GPR·카메라 센서 패키지</a:t>
            </a:r>
            <a:endParaRPr lang="en-US" sz="1400" dirty="0"/>
          </a:p>
          <a:p>
            <a:pPr marL="177800" indent="-177800">
              <a:spcAft>
                <a:spcPts val="700"/>
              </a:spcAft>
              <a:buSzPct val="100000"/>
              <a:buChar char="–"/>
            </a:pPr>
            <a:r>
              <a:rPr lang="en-US" sz="1400" dirty="0">
                <a:solidFill>
                  <a:srgbClr val="101828"/>
                </a:solidFill>
              </a:rPr>
              <a:t>Patrol 앱, Edge Gateway, AR</a:t>
            </a:r>
            <a:endParaRPr lang="en-US" sz="1400" dirty="0"/>
          </a:p>
          <a:p>
            <a:pPr marL="177800" indent="-177800">
              <a:spcAft>
                <a:spcPts val="700"/>
              </a:spcAft>
              <a:buSzPct val="100000"/>
              <a:buChar char="–"/>
            </a:pPr>
            <a:r>
              <a:rPr lang="en-US" sz="1400" dirty="0">
                <a:solidFill>
                  <a:srgbClr val="101828"/>
                </a:solidFill>
              </a:rPr>
              <a:t>AI 분석 SW와 관제 대시보드</a:t>
            </a:r>
            <a:endParaRPr lang="en-US" sz="1400" dirty="0"/>
          </a:p>
          <a:p>
            <a:pPr marL="177800" indent="-177800">
              <a:spcAft>
                <a:spcPts val="700"/>
              </a:spcAft>
              <a:buSzPct val="100000"/>
              <a:buChar char="–"/>
            </a:pPr>
            <a:r>
              <a:rPr lang="en-US" sz="1400" dirty="0">
                <a:solidFill>
                  <a:srgbClr val="101828"/>
                </a:solidFill>
              </a:rPr>
              <a:t>유지보수와 교육</a:t>
            </a:r>
            <a:endParaRPr lang="en-US" sz="14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400" b="1" dirty="0">
                <a:solidFill>
                  <a:srgbClr val="101828"/>
                </a:solidFill>
              </a:rPr>
              <a:t>주요 고객</a:t>
            </a:r>
            <a:endParaRPr lang="en-US" sz="14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400" dirty="0">
                <a:solidFill>
                  <a:srgbClr val="5B6573"/>
                </a:solidFill>
              </a:rPr>
              <a:t>서울시와 자치구 도로관리 부서, 서울교통공사와 철도 운영기관, 상하수도 관리기관, 지하안전 조사기업, 도심 굴착공사 건설사</a:t>
            </a:r>
            <a:endParaRPr lang="en-US" sz="14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B2G 중심, B2B 확장. 단가와 계약 형태는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A.4  근거와 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확인된 사실과 검증할 가설을 나눠 관리한다</a:t>
            </a:r>
            <a:endParaRPr lang="en-US" sz="21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500" b="1" dirty="0">
                <a:solidFill>
                  <a:srgbClr val="101828"/>
                </a:solidFill>
              </a:rPr>
              <a:t>확정 데이터와 출처</a:t>
            </a:r>
            <a:endParaRPr lang="en-US" sz="15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500" b="1" dirty="0">
                <a:solidFill>
                  <a:srgbClr val="D93025"/>
                </a:solidFill>
              </a:rPr>
              <a:t>실증이 필요한 항목</a:t>
            </a:r>
            <a:endParaRPr lang="en-US" sz="15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01828"/>
                </a:solidFill>
              </a:rPr>
              <a:t>GPR와 전기차 전자파 간섭, 배터리팩 영향</a:t>
            </a:r>
            <a:endParaRPr lang="en-US" sz="1400" dirty="0"/>
          </a:p>
          <a:p>
            <a:pPr marL="177800" indent="-177800">
              <a:spcAft>
                <a:spcPts val="500"/>
              </a:spcAft>
              <a:buSzPct val="100000"/>
              <a:buChar char="–"/>
            </a:pPr>
            <a:r>
              <a:rPr lang="en-US" sz="1400" dirty="0">
                <a:solidFill>
                  <a:srgbClr val="101828"/>
                </a:solidFill>
              </a:rPr>
              <a:t>장비 소비전력과 V2L 운용, 주행거리 영향</a:t>
            </a:r>
            <a:endParaRPr lang="en-US" sz="1400" dirty="0"/>
          </a:p>
          <a:p>
            <a:pPr marL="177800" indent="-177800">
              <a:spcAft>
                <a:spcPts val="500"/>
              </a:spcAft>
              <a:buSzPct val="100000"/>
              <a:buChar char="–"/>
            </a:pPr>
            <a:r>
              <a:rPr lang="en-US" sz="1400" dirty="0">
                <a:solidFill>
                  <a:srgbClr val="101828"/>
                </a:solidFill>
              </a:rPr>
              <a:t>적재중량, 차량총중량, 축하중, 구조변경</a:t>
            </a:r>
            <a:endParaRPr lang="en-US" sz="1400" dirty="0"/>
          </a:p>
          <a:p>
            <a:pPr marL="177800" indent="-177800">
              <a:spcAft>
                <a:spcPts val="500"/>
              </a:spcAft>
              <a:buSzPct val="100000"/>
              <a:buChar char="–"/>
            </a:pPr>
            <a:r>
              <a:rPr lang="en-US" sz="1400" dirty="0">
                <a:solidFill>
                  <a:srgbClr val="101828"/>
                </a:solidFill>
              </a:rPr>
              <a:t>AR 위치 정확도와 야간 기준점 인식</a:t>
            </a:r>
            <a:endParaRPr lang="en-US" sz="1400" dirty="0"/>
          </a:p>
          <a:p>
            <a:pPr marL="177800" indent="-177800">
              <a:spcAft>
                <a:spcPts val="500"/>
              </a:spcAft>
              <a:buSzPct val="100000"/>
              <a:buChar char="–"/>
            </a:pPr>
            <a:r>
              <a:rPr lang="en-US" sz="1400" dirty="0">
                <a:solidFill>
                  <a:srgbClr val="101828"/>
                </a:solidFill>
              </a:rPr>
              <a:t>차량 앱 배포 경로와 공식 API 범위</a:t>
            </a:r>
            <a:endParaRPr lang="en-US" sz="1400" dirty="0"/>
          </a:p>
          <a:p>
            <a:pPr marL="177800" indent="-177800">
              <a:spcAft>
                <a:spcPts val="500"/>
              </a:spcAft>
              <a:buSzPct val="100000"/>
              <a:buChar char="–"/>
            </a:pPr>
            <a:r>
              <a:rPr lang="en-US" sz="1400" dirty="0">
                <a:solidFill>
                  <a:srgbClr val="101828"/>
                </a:solidFill>
              </a:rPr>
              <a:t>앱, 게이트웨이, 글래스 통신 지연과 단절 대응</a:t>
            </a:r>
            <a:endParaRPr lang="en-US" sz="1400" dirty="0"/>
          </a:p>
          <a:p>
            <a:pPr marL="177800" indent="-177800">
              <a:spcAft>
                <a:spcPts val="500"/>
              </a:spcAft>
              <a:buSzPct val="100000"/>
              <a:buChar char="–"/>
            </a:pPr>
            <a:r>
              <a:rPr lang="en-US" sz="1400" dirty="0">
                <a:solidFill>
                  <a:srgbClr val="101828"/>
                </a:solidFill>
              </a:rPr>
              <a:t>AI 탐지율, 오탐률, 미탐률(천공 확인 기준)</a:t>
            </a:r>
            <a:endParaRPr lang="en-US" sz="1400" dirty="0"/>
          </a:p>
          <a:p>
            <a:pPr marL="177800" indent="-1778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공식 자료를 우선하고, 언론 보도는 공식 발표를 인용한 경우만 썼습니다. 값이 다르면 공식 수치를 채택했습니다(서울시 2026 탐사 16,423km).</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Noto Serif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
  <cp:lastModifiedBy/>
  <cp:revision>1</cp:revision>
  <dcterms:created xsi:type="dcterms:W3CDTF">2026-10-11T13:33:07Z</dcterms:created>
  <dcterms:modified xsi:type="dcterms:W3CDTF">2026-10-11T13:33:07Z</dcterms:modified>
</cp:coreProperties>
</file>