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248bfa4f-9bb0-047f-f7aa-f7b0f6f80c46}">
          <p14:sldIdLst>
            <p14:sldId id="256"/>
            <p14:sldId id="257"/>
            <p14:sldId id="258"/>
            <p14:sldId id="259"/>
            <p14:sldId id="260"/>
          </p14:sldIdLst>
        </p14:section>
        <p14:section name="운영 모델" id="{02d351f1-913a-03a3-e47a-fd5dc2f9f9e0}">
          <p14:sldIdLst>
            <p14:sldId id="261"/>
            <p14:sldId id="262"/>
            <p14:sldId id="263"/>
            <p14:sldId id="264"/>
            <p14:sldId id="265"/>
            <p14:sldId id="266"/>
            <p14:sldId id="267"/>
            <p14:sldId id="268"/>
            <p14:sldId id="269"/>
            <p14:sldId id="270"/>
            <p14:sldId id="271"/>
            <p14:sldId id="272"/>
          </p14:sldIdLst>
        </p14:section>
        <p14:section name="확장" id="{5999a74f-ea44-c988-14f6-69d96e1c4699}">
          <p14:sldIdLst>
            <p14:sldId id="273"/>
            <p14:sldId id="274"/>
            <p14:sldId id="275"/>
            <p14:sldId id="276"/>
            <p14:sldId id="277"/>
            <p14:sldId id="278"/>
          </p14:sldIdLst>
        </p14:section>
        <p14:section name="부록" id="{c7a4e431-d334-40d4-9180-cdd051111dd8}">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https://commons.wikimedia.org/wiki/File:Kia_PV5_Cargo_IMG_7825.jpg)에 장비를 합성한 예상도.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https://commons.wikimedia.org/wiki/File:Kia_PV5_Cargo_IMG_7829.jpg)에 장비를 합성한 예상도.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gw_front_n" descr="/Users/seohogyun/Documents/git_workspace/pv5-hose-lab/groundwatch/images/gw_front_n.jpg">    </p:cNvPr>
          <p:cNvPicPr>
            <a:picLocks noChangeAspect="1"/>
          </p:cNvPicPr>
          <p:nvPr/>
        </p:nvPicPr>
        <p:blipFill>
          <a:blip r:embed="rId1"/>
          <a:stretch>
            <a:fillRect/>
          </a:stretch>
        </p:blipFill>
        <p:spPr>
          <a:xfrm>
            <a:off x="6309360" y="1471285"/>
            <a:ext cx="5882335" cy="3915429"/>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212080"/>
            <a:ext cx="5486400" cy="292608"/>
          </a:xfrm>
          <a:prstGeom prst="rect">
            <a:avLst/>
          </a:prstGeom>
          <a:noFill/>
          <a:ln/>
        </p:spPr>
        <p:txBody>
          <a:bodyPr wrap="square" lIns="0" tIns="0" rIns="0" bIns="0" rtlCol="0" anchor="ctr"/>
          <a:lstStyle/>
          <a:p>
            <a:pPr indent="0" marL="0">
              <a:buNone/>
            </a:pPr>
            <a:r>
              <a:rPr lang="en-US" sz="1300" dirty="0">
                <a:solidFill>
                  <a:srgbClr val="5B6573"/>
                </a:solidFill>
              </a:rPr>
              <a:t>팀  </a:t>
            </a:r>
            <a:pPr indent="0" marL="0">
              <a:buNone/>
            </a:pPr>
            <a:r>
              <a:rPr lang="en-US" sz="1300" b="1" dirty="0">
                <a:solidFill>
                  <a:srgbClr val="101828"/>
                </a:solidFill>
              </a:rPr>
              <a:t>한 명이라도 살릴 수 있다면</a:t>
            </a:r>
            <a:endParaRPr lang="en-US" sz="1300" dirty="0"/>
          </a:p>
        </p:txBody>
      </p:sp>
      <p:sp>
        <p:nvSpPr>
          <p:cNvPr id="11" name="Text 7"/>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2" name="Text 8"/>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 우측: PV5 실차 사진(Alexander Migl, CC BY-SA 4.0)에 장비를 합성한 예상도</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gw_front_n" descr="/Users/seohogyun/Documents/git_workspace/pv5-hose-lab/groundwatch/images/gw_front_n.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 사진: Alexander Migl, CC BY-SA 4.0,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gw_rear_n" descr="/Users/seohogyun/Documents/git_workspace/pv5-hose-lab/groundwatch/images/gw_rear_n.jpg">    </p:cNvPr>
          <p:cNvPicPr>
            <a:picLocks noChangeAspect="1"/>
          </p:cNvPicPr>
          <p:nvPr/>
        </p:nvPicPr>
        <p:blipFill>
          <a:blip r:embed="rId1"/>
          <a:stretch>
            <a:fillRect/>
          </a:stretch>
        </p:blipFill>
        <p:spPr>
          <a:xfrm>
            <a:off x="6766560" y="1623447"/>
            <a:ext cx="5425135" cy="3611106"/>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PV5 실차 사진(Alexander Migl, CC BY-SA 4.0)에 장비를 합성한 예상도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gw_rear_n_169" descr="/Users/seohogyun/Documents/git_workspace/pv5-hose-lab/groundwatch/images/gw_rear_n_169.jpg">    </p:cNvPr>
          <p:cNvPicPr>
            <a:picLocks noChangeAspect="1"/>
          </p:cNvPicPr>
          <p:nvPr/>
        </p:nvPicPr>
        <p:blipFill>
          <a:blip r:embed="rId1"/>
          <a:stretch>
            <a:fillRect/>
          </a:stretch>
        </p:blipFill>
        <p:spPr>
          <a:xfrm>
            <a:off x="4800600" y="1051560"/>
            <a:ext cx="6839712" cy="3849624"/>
          </a:xfrm>
          <a:prstGeom prst="rect">
            <a:avLst/>
          </a:prstGeom>
        </p:spPr>
      </p:pic>
      <p:sp>
        <p:nvSpPr>
          <p:cNvPr id="6" name="caption"/>
          <p:cNvSpPr txBox="1"/>
          <p:nvPr/>
        </p:nvSpPr>
        <p:spPr>
          <a:xfrm>
            <a:off x="4800600" y="4937760"/>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장착 예상도(후방 하부 GPR 어레이 스캔)</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새벽 순찰 장착 예상도(PV5 실차 사진 Alexander Migl, CC BY-SA 4.0 위 합성). 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gw_front" descr="/Users/seohogyun/Documents/git_workspace/pv5-hose-lab/groundwatch/images/gw_front.jpg">    </p:cNvPr>
          <p:cNvPicPr>
            <a:picLocks noChangeAspect="1"/>
          </p:cNvPicPr>
          <p:nvPr/>
        </p:nvPicPr>
        <p:blipFill>
          <a:blip r:embed="rId1"/>
          <a:stretch>
            <a:fillRect/>
          </a:stretch>
        </p:blipFill>
        <p:spPr>
          <a:xfrm>
            <a:off x="548640" y="1463040"/>
            <a:ext cx="6766560" cy="4507992"/>
          </a:xfrm>
          <a:prstGeom prst="rect">
            <a:avLst/>
          </a:prstGeom>
        </p:spPr>
      </p:pic>
      <p:sp>
        <p:nvSpPr>
          <p:cNvPr id="6" name="caption"/>
          <p:cNvSpPr txBox="1"/>
          <p:nvPr/>
        </p:nvSpPr>
        <p:spPr>
          <a:xfrm>
            <a:off x="548640" y="600760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GroundWatch 장비 배치 예상도</a:t>
            </a:r>
            <a:endParaRPr lang="en-US" sz="950" dirty="0"/>
          </a:p>
        </p:txBody>
      </p:sp>
      <p:sp>
        <p:nvSpPr>
          <p:cNvPr id="7" name="leader"/>
          <p:cNvSpPr/>
          <p:nvPr/>
        </p:nvSpPr>
        <p:spPr>
          <a:xfrm flipH="1" flipV="1">
            <a:off x="1975104" y="1783080"/>
            <a:ext cx="691469" cy="423779"/>
          </a:xfrm>
          <a:prstGeom prst="line">
            <a:avLst/>
          </a:prstGeom>
          <a:noFill/>
          <a:ln w="15875">
            <a:solidFill>
              <a:srgbClr val="F5B400"/>
            </a:solidFill>
            <a:prstDash val="solid"/>
          </a:ln>
        </p:spPr>
      </p:sp>
      <p:sp>
        <p:nvSpPr>
          <p:cNvPr id="8" name="pin"/>
          <p:cNvSpPr/>
          <p:nvPr/>
        </p:nvSpPr>
        <p:spPr>
          <a:xfrm>
            <a:off x="2593421" y="2133707"/>
            <a:ext cx="146304" cy="146304"/>
          </a:xfrm>
          <a:prstGeom prst="ellipse">
            <a:avLst/>
          </a:prstGeom>
          <a:solidFill>
            <a:srgbClr val="F5B400"/>
          </a:solidFill>
          <a:ln w="19050">
            <a:solidFill>
              <a:srgbClr val="FFFFFF"/>
            </a:solidFill>
            <a:prstDash val="solid"/>
          </a:ln>
        </p:spPr>
      </p:sp>
      <p:sp>
        <p:nvSpPr>
          <p:cNvPr id="9" name="calloutLabel"/>
          <p:cNvSpPr txBox="1"/>
          <p:nvPr/>
        </p:nvSpPr>
        <p:spPr>
          <a:xfrm>
            <a:off x="731520" y="1627632"/>
            <a:ext cx="1243584"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1  </a:t>
            </a:r>
            <a:pPr algn="l" indent="0" marL="0">
              <a:buNone/>
            </a:pPr>
            <a:r>
              <a:rPr lang="en-US" sz="1200" dirty="0">
                <a:solidFill>
                  <a:srgbClr val="FFFFFF"/>
                </a:solidFill>
              </a:rPr>
              <a:t>전방 카메라</a:t>
            </a:r>
            <a:endParaRPr lang="en-US" sz="1200" dirty="0"/>
          </a:p>
        </p:txBody>
      </p:sp>
      <p:sp>
        <p:nvSpPr>
          <p:cNvPr id="10" name="leader"/>
          <p:cNvSpPr/>
          <p:nvPr/>
        </p:nvSpPr>
        <p:spPr>
          <a:xfrm flipH="1" flipV="1">
            <a:off x="3982212" y="1783080"/>
            <a:ext cx="585765" cy="356159"/>
          </a:xfrm>
          <a:prstGeom prst="line">
            <a:avLst/>
          </a:prstGeom>
          <a:noFill/>
          <a:ln w="15875">
            <a:solidFill>
              <a:srgbClr val="F5B400"/>
            </a:solidFill>
            <a:prstDash val="solid"/>
          </a:ln>
        </p:spPr>
      </p:sp>
      <p:sp>
        <p:nvSpPr>
          <p:cNvPr id="11" name="pin"/>
          <p:cNvSpPr/>
          <p:nvPr/>
        </p:nvSpPr>
        <p:spPr>
          <a:xfrm>
            <a:off x="4494825" y="2066087"/>
            <a:ext cx="146304" cy="146304"/>
          </a:xfrm>
          <a:prstGeom prst="ellipse">
            <a:avLst/>
          </a:prstGeom>
          <a:solidFill>
            <a:srgbClr val="F5B400"/>
          </a:solidFill>
          <a:ln w="19050">
            <a:solidFill>
              <a:srgbClr val="FFFFFF"/>
            </a:solidFill>
            <a:prstDash val="solid"/>
          </a:ln>
        </p:spPr>
      </p:sp>
      <p:sp>
        <p:nvSpPr>
          <p:cNvPr id="12" name="calloutLabel"/>
          <p:cNvSpPr txBox="1"/>
          <p:nvPr/>
        </p:nvSpPr>
        <p:spPr>
          <a:xfrm>
            <a:off x="3108960" y="1627632"/>
            <a:ext cx="87325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2  </a:t>
            </a:r>
            <a:pPr algn="l" indent="0" marL="0">
              <a:buNone/>
            </a:pPr>
            <a:r>
              <a:rPr lang="en-US" sz="1200" dirty="0">
                <a:solidFill>
                  <a:srgbClr val="FFFFFF"/>
                </a:solidFill>
              </a:rPr>
              <a:t>경광등</a:t>
            </a:r>
            <a:endParaRPr lang="en-US" sz="1200" dirty="0"/>
          </a:p>
        </p:txBody>
      </p:sp>
      <p:sp>
        <p:nvSpPr>
          <p:cNvPr id="13" name="leader"/>
          <p:cNvSpPr/>
          <p:nvPr/>
        </p:nvSpPr>
        <p:spPr>
          <a:xfrm flipV="1">
            <a:off x="6049853" y="1938528"/>
            <a:ext cx="914" cy="178171"/>
          </a:xfrm>
          <a:prstGeom prst="line">
            <a:avLst/>
          </a:prstGeom>
          <a:noFill/>
          <a:ln w="15875">
            <a:solidFill>
              <a:srgbClr val="F5B400"/>
            </a:solidFill>
            <a:prstDash val="solid"/>
          </a:ln>
        </p:spPr>
      </p:sp>
      <p:sp>
        <p:nvSpPr>
          <p:cNvPr id="14" name="pin"/>
          <p:cNvSpPr/>
          <p:nvPr/>
        </p:nvSpPr>
        <p:spPr>
          <a:xfrm>
            <a:off x="5976701" y="2043547"/>
            <a:ext cx="146304" cy="146304"/>
          </a:xfrm>
          <a:prstGeom prst="ellipse">
            <a:avLst/>
          </a:prstGeom>
          <a:solidFill>
            <a:srgbClr val="F5B400"/>
          </a:solidFill>
          <a:ln w="19050">
            <a:solidFill>
              <a:srgbClr val="FFFFFF"/>
            </a:solidFill>
            <a:prstDash val="solid"/>
          </a:ln>
        </p:spPr>
      </p:sp>
      <p:sp>
        <p:nvSpPr>
          <p:cNvPr id="15" name="calloutLabel"/>
          <p:cNvSpPr txBox="1"/>
          <p:nvPr/>
        </p:nvSpPr>
        <p:spPr>
          <a:xfrm>
            <a:off x="5074920" y="1627632"/>
            <a:ext cx="1984248"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3  </a:t>
            </a:r>
            <a:pPr algn="l" indent="0" marL="0">
              <a:buNone/>
            </a:pPr>
            <a:r>
              <a:rPr lang="en-US" sz="1200" dirty="0">
                <a:solidFill>
                  <a:srgbClr val="FFFFFF"/>
                </a:solidFill>
              </a:rPr>
              <a:t>RTK-GNSS 안테나</a:t>
            </a:r>
            <a:endParaRPr lang="en-US" sz="1200" dirty="0"/>
          </a:p>
        </p:txBody>
      </p:sp>
      <p:sp>
        <p:nvSpPr>
          <p:cNvPr id="16" name="leader"/>
          <p:cNvSpPr/>
          <p:nvPr/>
        </p:nvSpPr>
        <p:spPr>
          <a:xfrm flipV="1">
            <a:off x="2578608" y="2898648"/>
            <a:ext cx="914" cy="52029"/>
          </a:xfrm>
          <a:prstGeom prst="line">
            <a:avLst/>
          </a:prstGeom>
          <a:noFill/>
          <a:ln w="15875">
            <a:solidFill>
              <a:srgbClr val="F5B400"/>
            </a:solidFill>
            <a:prstDash val="solid"/>
          </a:ln>
        </p:spPr>
      </p:sp>
      <p:sp>
        <p:nvSpPr>
          <p:cNvPr id="17" name="pin"/>
          <p:cNvSpPr/>
          <p:nvPr/>
        </p:nvSpPr>
        <p:spPr>
          <a:xfrm>
            <a:off x="2505456" y="2877525"/>
            <a:ext cx="146304" cy="146304"/>
          </a:xfrm>
          <a:prstGeom prst="ellipse">
            <a:avLst/>
          </a:prstGeom>
          <a:solidFill>
            <a:srgbClr val="F5B400"/>
          </a:solidFill>
          <a:ln w="19050">
            <a:solidFill>
              <a:srgbClr val="FFFFFF"/>
            </a:solidFill>
            <a:prstDash val="solid"/>
          </a:ln>
        </p:spPr>
      </p:sp>
      <p:sp>
        <p:nvSpPr>
          <p:cNvPr id="18" name="calloutLabel"/>
          <p:cNvSpPr txBox="1"/>
          <p:nvPr/>
        </p:nvSpPr>
        <p:spPr>
          <a:xfrm>
            <a:off x="731520" y="2587752"/>
            <a:ext cx="2231136"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4  </a:t>
            </a:r>
            <a:pPr algn="l" indent="0" marL="0">
              <a:buNone/>
            </a:pPr>
            <a:r>
              <a:rPr lang="en-US" sz="1200" dirty="0">
                <a:solidFill>
                  <a:srgbClr val="FFFFFF"/>
                </a:solidFill>
              </a:rPr>
              <a:t>운전석 12.9인치 IVI</a:t>
            </a:r>
            <a:endParaRPr lang="en-US" sz="1200" dirty="0"/>
          </a:p>
        </p:txBody>
      </p:sp>
      <p:sp>
        <p:nvSpPr>
          <p:cNvPr id="19" name="leader"/>
          <p:cNvSpPr/>
          <p:nvPr/>
        </p:nvSpPr>
        <p:spPr>
          <a:xfrm>
            <a:off x="6300216" y="3581796"/>
            <a:ext cx="914" cy="606156"/>
          </a:xfrm>
          <a:prstGeom prst="line">
            <a:avLst/>
          </a:prstGeom>
          <a:noFill/>
          <a:ln w="15875">
            <a:solidFill>
              <a:srgbClr val="F5B400"/>
            </a:solidFill>
            <a:prstDash val="solid"/>
          </a:ln>
        </p:spPr>
      </p:sp>
      <p:sp>
        <p:nvSpPr>
          <p:cNvPr id="20" name="pin"/>
          <p:cNvSpPr/>
          <p:nvPr/>
        </p:nvSpPr>
        <p:spPr>
          <a:xfrm>
            <a:off x="6227064" y="3508644"/>
            <a:ext cx="146304" cy="146304"/>
          </a:xfrm>
          <a:prstGeom prst="ellipse">
            <a:avLst/>
          </a:prstGeom>
          <a:solidFill>
            <a:srgbClr val="F5B400"/>
          </a:solidFill>
          <a:ln w="19050">
            <a:solidFill>
              <a:srgbClr val="FFFFFF"/>
            </a:solidFill>
            <a:prstDash val="solid"/>
          </a:ln>
        </p:spPr>
      </p:sp>
      <p:sp>
        <p:nvSpPr>
          <p:cNvPr id="21" name="calloutLabel"/>
          <p:cNvSpPr txBox="1"/>
          <p:nvPr/>
        </p:nvSpPr>
        <p:spPr>
          <a:xfrm>
            <a:off x="4663440" y="4187952"/>
            <a:ext cx="210769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5  </a:t>
            </a:r>
            <a:pPr algn="l" indent="0" marL="0">
              <a:buNone/>
            </a:pPr>
            <a:r>
              <a:rPr lang="en-US" sz="1200" dirty="0">
                <a:solidFill>
                  <a:srgbClr val="FFFFFF"/>
                </a:solidFill>
              </a:rPr>
              <a:t>화물실 엣지·수동 GPR</a:t>
            </a:r>
            <a:endParaRPr lang="en-US" sz="1200" dirty="0"/>
          </a:p>
        </p:txBody>
      </p:sp>
      <p:sp>
        <p:nvSpPr>
          <p:cNvPr id="22" name="leader"/>
          <p:cNvSpPr/>
          <p:nvPr/>
        </p:nvSpPr>
        <p:spPr>
          <a:xfrm flipH="1">
            <a:off x="6771132" y="4528475"/>
            <a:ext cx="341071" cy="546445"/>
          </a:xfrm>
          <a:prstGeom prst="line">
            <a:avLst/>
          </a:prstGeom>
          <a:noFill/>
          <a:ln w="15875">
            <a:solidFill>
              <a:srgbClr val="F5B400"/>
            </a:solidFill>
            <a:prstDash val="solid"/>
          </a:ln>
        </p:spPr>
      </p:sp>
      <p:sp>
        <p:nvSpPr>
          <p:cNvPr id="23" name="pin"/>
          <p:cNvSpPr/>
          <p:nvPr/>
        </p:nvSpPr>
        <p:spPr>
          <a:xfrm>
            <a:off x="7039051" y="4455323"/>
            <a:ext cx="146304" cy="146304"/>
          </a:xfrm>
          <a:prstGeom prst="ellipse">
            <a:avLst/>
          </a:prstGeom>
          <a:solidFill>
            <a:srgbClr val="F5B400"/>
          </a:solidFill>
          <a:ln w="19050">
            <a:solidFill>
              <a:srgbClr val="FFFFFF"/>
            </a:solidFill>
            <a:prstDash val="solid"/>
          </a:ln>
        </p:spPr>
      </p:sp>
      <p:sp>
        <p:nvSpPr>
          <p:cNvPr id="24" name="calloutLabel"/>
          <p:cNvSpPr txBox="1"/>
          <p:nvPr/>
        </p:nvSpPr>
        <p:spPr>
          <a:xfrm>
            <a:off x="4663440" y="4919472"/>
            <a:ext cx="210769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6  </a:t>
            </a:r>
            <a:pPr algn="l" indent="0" marL="0">
              <a:buNone/>
            </a:pPr>
            <a:r>
              <a:rPr lang="en-US" sz="1200" dirty="0">
                <a:solidFill>
                  <a:srgbClr val="FFFFFF"/>
                </a:solidFill>
              </a:rPr>
              <a:t>후방 하부 다채널 GPR</a:t>
            </a:r>
            <a:endParaRPr lang="en-US" sz="1200" dirty="0"/>
          </a:p>
        </p:txBody>
      </p:sp>
      <p:sp>
        <p:nvSpPr>
          <p:cNvPr id="25"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6" name="Text 23"/>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7" name="Text 24"/>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8"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9" name="Text 26"/>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30" name="Text 27"/>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1"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2" name="Text 29"/>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3" name="Text 30"/>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4"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5" name="Text 32"/>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6" name="Text 33"/>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7" name="rule"/>
          <p:cNvSpPr/>
          <p:nvPr/>
        </p:nvSpPr>
        <p:spPr>
          <a:xfrm>
            <a:off x="7726680" y="4526280"/>
            <a:ext cx="3913632" cy="0"/>
          </a:xfrm>
          <a:prstGeom prst="line">
            <a:avLst/>
          </a:prstGeom>
          <a:noFill/>
          <a:ln w="12700">
            <a:solidFill>
              <a:srgbClr val="DCE1E8"/>
            </a:solidFill>
            <a:prstDash val="solid"/>
          </a:ln>
        </p:spPr>
      </p:sp>
      <p:sp>
        <p:nvSpPr>
          <p:cNvPr id="38" name="Text 35"/>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9" name="Text 36"/>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40" name="Text 37"/>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1" name="Text 38"/>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2" name="Text 39"/>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3" name="Text 40"/>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4" name="Text 41"/>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위치는 제안안입니다. 사진: Alexander Migl, CC BY-SA 4.0(장비·랩핑 합성 예상도)</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gw_front" descr="/Users/seohogyun/Documents/git_workspace/pv5-hose-lab/groundwatch/images/gw_front.jpg">    </p:cNvPr>
          <p:cNvPicPr>
            <a:picLocks noChangeAspect="1"/>
          </p:cNvPicPr>
          <p:nvPr/>
        </p:nvPicPr>
        <p:blipFill>
          <a:blip r:embed="rId1"/>
          <a:stretch>
            <a:fillRect/>
          </a:stretch>
        </p:blipFill>
        <p:spPr>
          <a:xfrm>
            <a:off x="6766560" y="1623447"/>
            <a:ext cx="5425135" cy="3611106"/>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PV5 실차 사진(Alexander Migl, CC BY-SA 4.0)에 장비를 합성한 예상도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gw_rear_n" descr="/Users/seohogyun/Documents/git_workspace/pv5-hose-lab/groundwatch/images/gw_rear_n.jpg">    </p:cNvPr>
          <p:cNvPicPr>
            <a:picLocks noChangeAspect="1"/>
          </p:cNvPicPr>
          <p:nvPr/>
        </p:nvPicPr>
        <p:blipFill>
          <a:blip r:embed="rId1"/>
          <a:stretch>
            <a:fillRect/>
          </a:stretch>
        </p:blipFill>
        <p:spPr>
          <a:xfrm>
            <a:off x="6309360" y="1471285"/>
            <a:ext cx="5882335" cy="3915429"/>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r>
              <a:rPr lang="en-US" sz="1200" dirty="0">
                <a:solidFill>
                  <a:srgbClr val="5B6573"/>
                </a:solidFill>
              </a:rPr>
              <a:t>   팀 한 명이라도 살릴 수 있다면</a:t>
            </a: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
        <p:nvSpPr>
          <p:cNvPr id="10" name="Text 7"/>
          <p:cNvSpPr txBox="1"/>
          <p:nvPr/>
        </p:nvSpPr>
        <p:spPr>
          <a:xfrm>
            <a:off x="6400800" y="6537960"/>
            <a:ext cx="5669280" cy="219456"/>
          </a:xfrm>
          <a:prstGeom prst="rect">
            <a:avLst/>
          </a:prstGeom>
          <a:noFill/>
          <a:ln/>
        </p:spPr>
        <p:txBody>
          <a:bodyPr wrap="square" lIns="0" tIns="0" rIns="0" bIns="0" rtlCol="0" anchor="ctr"/>
          <a:lstStyle/>
          <a:p>
            <a:pPr algn="r" indent="0" marL="0">
              <a:buNone/>
            </a:pPr>
            <a:r>
              <a:rPr lang="en-US" sz="850" dirty="0">
                <a:solidFill>
                  <a:srgbClr val="D8DEE6"/>
                </a:solidFill>
              </a:rPr>
              <a:t>PV5 실차 사진(Alexander Migl, CC BY-SA 4.0)에 장비를 합성한 예상도</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2026-10-11T11:56:25Z</dcterms:created>
  <dcterms:modified xsi:type="dcterms:W3CDTF">2026-10-11T11:56:25Z</dcterms:modified>
</cp:coreProperties>
</file>