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48.jpg"/><Relationship Id="rId5" Type="http://schemas.openxmlformats.org/officeDocument/2006/relationships/image" Target="../media/image5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9.jp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Relationship Id="rId11" Type="http://schemas.openxmlformats.org/officeDocument/2006/relationships/image" Target="../media/image6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1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629015" y="291528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876665" y="316293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067165" y="335343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771640" y="233426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8809990" y="275336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09561" y="6615112"/>
            <a:ext cx="39983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050" y="1278595"/>
            <a:ext cx="267309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2024. 8. 29 · 서울 서대문구 연희동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160" y="1600838"/>
            <a:ext cx="486623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5월 GPR 탐사 후 무너지기까지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250" y="1986032"/>
            <a:ext cx="2712346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430" y="3389696"/>
            <a:ext cx="1635258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6m × 4m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8045" y="3538581"/>
            <a:ext cx="16210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함몰 규모 (가로 × 세로)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430" y="4053906"/>
            <a:ext cx="102763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5972" y="4202791"/>
            <a:ext cx="38439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430" y="4720656"/>
            <a:ext cx="212418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 1 · 부상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09158" y="4869541"/>
            <a:ext cx="71096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 피해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" y="6326726"/>
            <a:ext cx="5179441" cy="1206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경향신문(2024.8.29, 서울시 "5월 GPR 탐사 때 공동 없었다") · 아주경제(2024.9.4, 서울시 복합 원인 발표) · MBC(2025.9.24)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98640" y="2419753"/>
            <a:ext cx="139312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2024. 8. 29 사고 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99910" y="2623609"/>
            <a:ext cx="18033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성산로 궁동공원 앞 · 성산대교 방향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1920" y="6405056"/>
            <a:ext cx="514215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 서대문구 연희동 · 지도 데이터 © OpenStreetMap contributors · 위치: 연합뉴스 그래픽(2024.8.29) 기준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2780" y="308399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981200" y="308399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4430" y="296313"/>
            <a:ext cx="13956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땅꺼짐 유형과 대응 대상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659216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땅꺼짐은 깊이에 따라 막는 방법이 다릅니다</a:t>
            </a:r>
          </a:p>
        </p:txBody>
      </p:sp>
      <p:pic>
        <p:nvPicPr>
          <p:cNvPr id="10" name="사진 1" descr="p01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200" y="1866900"/>
            <a:ext cx="5207000" cy="325822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346200" y="2260074"/>
            <a:ext cx="38100" cy="680363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8514" y="2359052"/>
            <a:ext cx="721268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 GPR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629" y="2548938"/>
            <a:ext cx="51955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 순찰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016" y="2714038"/>
            <a:ext cx="37811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약 2m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6200" y="2974627"/>
            <a:ext cx="38100" cy="765836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3762" y="3116341"/>
            <a:ext cx="60605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 GPR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629" y="3306227"/>
            <a:ext cx="51955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변한 지점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83" y="3471327"/>
            <a:ext cx="728033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저주파 재탐사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6200" y="3774652"/>
            <a:ext cx="38100" cy="132311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1370" y="4195007"/>
            <a:ext cx="57850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계측·조사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629" y="4384893"/>
            <a:ext cx="51955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심부 지층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356" y="4549993"/>
            <a:ext cx="623792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공사장 영역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7790" y="1951385"/>
            <a:ext cx="925512" cy="241300"/>
          </a:xfrm>
          <a:prstGeom prst="roundRect">
            <a:avLst>
              <a:gd name="adj" fmla="val 5000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451290" y="1989485"/>
            <a:ext cx="165100" cy="1651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97340" y="2005170"/>
            <a:ext cx="14158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5290" y="1996894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노면 침하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47737" y="2771923"/>
            <a:ext cx="925512" cy="241300"/>
          </a:xfrm>
          <a:prstGeom prst="roundRect">
            <a:avLst>
              <a:gd name="adj" fmla="val 5000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211237" y="2810023"/>
            <a:ext cx="165100" cy="1651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258906" y="2825708"/>
            <a:ext cx="13834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5237" y="2817432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 형성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0300" y="3346300"/>
            <a:ext cx="1035273" cy="241300"/>
          </a:xfrm>
          <a:prstGeom prst="roundRect">
            <a:avLst>
              <a:gd name="adj" fmla="val 5000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483800" y="3384400"/>
            <a:ext cx="165100" cy="1651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39561" y="3400085"/>
            <a:ext cx="12215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800" y="3391809"/>
            <a:ext cx="65408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 누수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52737" y="4139487"/>
            <a:ext cx="1226468" cy="241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1E3C"/>
            </a:solidFill>
          </a:ln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179737" y="4184996"/>
            <a:ext cx="104829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터널·깊은 지층 결함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8950" y="1444501"/>
            <a:ext cx="1729112" cy="571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45.4%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1339" y="1531981"/>
            <a:ext cx="212454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지반침하 원인 1위 · 하수관 손상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1339" y="1784753"/>
            <a:ext cx="21798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전국 867건 중 394건 (2020~2024)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0" y="2082800"/>
            <a:ext cx="4800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1" name="Rectangle 40"/>
          <p:cNvSpPr/>
          <p:nvPr/>
        </p:nvSpPr>
        <p:spPr>
          <a:xfrm>
            <a:off x="7391400" y="2235200"/>
            <a:ext cx="4267200" cy="482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543800" y="2293981"/>
            <a:ext cx="8503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얕은 공동형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3800" y="2508039"/>
            <a:ext cx="111509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 대상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91400" y="2717800"/>
            <a:ext cx="4267200" cy="584200"/>
          </a:xfrm>
          <a:prstGeom prst="rect">
            <a:avLst/>
          </a:prstGeom>
          <a:solidFill>
            <a:srgbClr val="FDF3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0" y="28261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820110"/>
            <a:ext cx="752194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하수관 손상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3023310"/>
            <a:ext cx="1087671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→ 흙이 쓸려 나감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91400" y="3302000"/>
            <a:ext cx="4267200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49" name="Rectangle 48"/>
          <p:cNvSpPr/>
          <p:nvPr/>
        </p:nvSpPr>
        <p:spPr>
          <a:xfrm>
            <a:off x="7391400" y="3302000"/>
            <a:ext cx="4267200" cy="584200"/>
          </a:xfrm>
          <a:prstGeom prst="rect">
            <a:avLst/>
          </a:prstGeom>
          <a:solidFill>
            <a:srgbClr val="FDF3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8000" y="34103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징후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404310"/>
            <a:ext cx="1038160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공동이 먼저 생김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3607510"/>
            <a:ext cx="1539256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→ 함몰 전에 찾을 수 있음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038600"/>
            <a:ext cx="4800600" cy="1409700"/>
          </a:xfrm>
          <a:prstGeom prst="rect">
            <a:avLst/>
          </a:prstGeom>
          <a:solidFill>
            <a:srgbClr val="FDF8E6"/>
          </a:solidFill>
          <a:ln w="9525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035800" y="4160267"/>
            <a:ext cx="25545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GroundWatch가 얕은 공동을 찾는 방법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35800" y="4457700"/>
            <a:ext cx="1363133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50100" y="4591453"/>
            <a:ext cx="75561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 GPR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100" y="4781953"/>
            <a:ext cx="5987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 순찰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100" y="5009325"/>
            <a:ext cx="9158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 길을 회차마다</a:t>
            </a:r>
          </a:p>
        </p:txBody>
      </p:sp>
      <p:pic>
        <p:nvPicPr>
          <p:cNvPr id="59" name="Picture 58" descr="p01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13" y="4786630"/>
            <a:ext cx="142239" cy="18034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8576733" y="4457700"/>
            <a:ext cx="1363133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91033" y="4591453"/>
            <a:ext cx="99302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이전 회차와 비교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91033" y="4781953"/>
            <a:ext cx="5987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 감지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91033" y="5009325"/>
            <a:ext cx="100472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후보 · 전문가 승인</a:t>
            </a:r>
          </a:p>
        </p:txBody>
      </p:sp>
      <p:pic>
        <p:nvPicPr>
          <p:cNvPr id="64" name="Picture 63" descr="p01_v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7647" y="4786630"/>
            <a:ext cx="142239" cy="18034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10117667" y="4457700"/>
            <a:ext cx="1363133" cy="838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231967" y="4591453"/>
            <a:ext cx="7194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변한 지점만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31967" y="4781953"/>
            <a:ext cx="10290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수동 GPR 재탐사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31967" y="5009325"/>
            <a:ext cx="11418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저주파 안테나로 더 깊게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54380" y="5722283"/>
            <a:ext cx="602003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번의 탐사가 아니라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회차 사이의 변화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로, 얕은 공동을 함몰 전에 찾습니다.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8320" y="6221254"/>
            <a:ext cx="589710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국토교통부 지반침하 원인 통계(2020~2024, 867건 중 하수관 손상 394건) · 국토교통부 지하안전관리 강화 대책(2016: 공동은 지반침하의 초기 단계)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8320" y="6341904"/>
            <a:ext cx="5087097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차량형 GPR 탐사 깊이 약 2m(서울시) · 수동 GPR 저주파 안테나 탐사 깊이는 실증 필요 · 단면도는 원리 설명용 3D 도식(깊이 비례 아님)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306101" y="6614606"/>
            <a:ext cx="4205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9261" y="2174707"/>
            <a:ext cx="421555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 GPR이 도로를 넓게 스캔 (서울시 장비 1회 약 3m 폭)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3" name="Oval 32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37123" y="4033881"/>
            <a:ext cx="2599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 사이의 공백 · 2024년 연희동 성산로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528435" y="4381141"/>
            <a:ext cx="1855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5월 정기 GPR 탐사 · 공동 미발견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Oval 47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957142" y="4381141"/>
            <a:ext cx="15147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함몰 · 사망 1 · 부상 1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71883" y="5061057"/>
            <a:ext cx="43493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5월 이후 사고까지 이 구간을 다시 탐사한 기록은 확인되지 않습니다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3153" y="5335165"/>
            <a:ext cx="47936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사고 뒤 서울시가 정한 성산로 월 1회 탐사도 계약 절차로 반년 넘게 시행되지 못했습니다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28638" y="6328601"/>
            <a:ext cx="921835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경향신문(2025.10.19) 서울시 GPR 누적 탐사 · 서울시 지반침하 관리 강화(2026.3.23) · 경향신문(2024.8.29) 연희동 5월 탐사 · 경향신문(2025.3.28) 성산로 월 1회 탐사 지연 · MBC(2025.9.24)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3999" y="5844711"/>
            <a:ext cx="932656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회차 간 비교와 현장 재확인으로 잇습니다.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8160" y="780417"/>
            <a:ext cx="8438009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탐사와 탐사 사이 3개월, 그 길을 다시 본 기록은 없습니다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05319" y="6615112"/>
            <a:ext cx="40408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640749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 길을 회차마다 다시 보고, 이전 회차와 달라진 곳만 골라 같은 차에서 바로 재확인합니다.</a:t>
            </a:r>
          </a:p>
        </p:txBody>
      </p:sp>
      <p:pic>
        <p:nvPicPr>
          <p:cNvPr id="9" name="사진 1" descr="p05_i0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8" name="Picture 1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0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1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5" name="Picture 34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6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7" name="Picture 36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8" name="Picture 4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49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8" name="Picture 57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B-scan 비교는 설명용 예시 · STEP 01: 콘셉트 이미지(생성 AI) · 도로 장면은 연출 이미지 · 지도 데이터 © OpenStreetMap contributors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8160" y="780417"/>
            <a:ext cx="808415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 순찰이 탐사 결과를 다음 현장 업무로 연결합니다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08445" y="6615112"/>
            <a:ext cx="40095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2780" y="308399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981200" y="308399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1312" y="296313"/>
            <a:ext cx="111931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탐사와의 차이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93772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 GPR이라도, 회차를 비교하고 바로 재확인하는 것이 다릅니다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762547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서울시도 공사장 주변은 주 1회·월 1회 반복 탐사합니다. 차이는 반복 여부가 아니라 결과를 다루는 방식입니다.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7974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4400" y="1797453"/>
            <a:ext cx="90836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기존 GPR 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99300" y="1797453"/>
            <a:ext cx="10062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3400" y="20320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6921500" y="2032000"/>
            <a:ext cx="4737100" cy="3175000"/>
          </a:xfrm>
          <a:prstGeom prst="rect">
            <a:avLst/>
          </a:prstGeom>
          <a:solidFill>
            <a:srgbClr val="FD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3400" y="2231095"/>
            <a:ext cx="76209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 주기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84400" y="2135538"/>
            <a:ext cx="2333136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 점검 구간은 5개년 계획 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4400" y="2388310"/>
            <a:ext cx="2198903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공사장 주변은 월 1회·주 1회(2026~)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9300" y="2135538"/>
            <a:ext cx="2186374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위험도별 주기로 같은 경로 반복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9300" y="2388310"/>
            <a:ext cx="2039037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매일~분기 · 집중호우 뒤 긴급 회차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2667000"/>
            <a:ext cx="11125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2" name="Picture 21" descr="p01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20" y="2261870"/>
            <a:ext cx="137161" cy="1752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3400" y="2866095"/>
            <a:ext cx="76209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판독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4400" y="2770538"/>
            <a:ext cx="2186375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회차마다 그 시점 데이터만 판독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84400" y="3023310"/>
            <a:ext cx="1747965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 의심 지점을 사람이 선별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9300" y="2770538"/>
            <a:ext cx="2038241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이전 회차와 위치를 맞춰 비교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9300" y="3023310"/>
            <a:ext cx="2084168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 곳만 AI 후보 → 전문가 승인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400" y="3302000"/>
            <a:ext cx="11125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9" name="Picture 28" descr="p01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20" y="2896870"/>
            <a:ext cx="137161" cy="1752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3400" y="3501095"/>
            <a:ext cx="915716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84400" y="3405538"/>
            <a:ext cx="2509044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1차 탐사 → 2차 확인 → 지자체 통보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84400" y="3658310"/>
            <a:ext cx="1622654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탐사·확인·복구 주체가 나뉨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99300" y="3405538"/>
            <a:ext cx="2254612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 PV5에 수동 GPR·AR 탑재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99300" y="3658310"/>
            <a:ext cx="213624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 지점을 바로 재탐사 [실증 필요]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3400" y="3937000"/>
            <a:ext cx="11125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36" name="Picture 35" descr="p01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20" y="3531870"/>
            <a:ext cx="137161" cy="1752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33400" y="4136095"/>
            <a:ext cx="76209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84400" y="4040538"/>
            <a:ext cx="1366844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회차별 결과 보고서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84400" y="4293310"/>
            <a:ext cx="1585265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 단위 탐사지도로 공개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99300" y="4040538"/>
            <a:ext cx="1992636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위치·깊이·시간으로 4D 누적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99300" y="4293310"/>
            <a:ext cx="1874147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 이력까지 다음 순찰에 반영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33400" y="4572000"/>
            <a:ext cx="11125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43" name="Picture 42" descr="p01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20" y="4166870"/>
            <a:ext cx="137161" cy="1752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3400" y="4771095"/>
            <a:ext cx="95661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발견 뒤 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84400" y="4675538"/>
            <a:ext cx="2225808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발견 뒤 복구 연결이 끊기기도 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84400" y="4928310"/>
            <a:ext cx="2343201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미복구 공동 301곳(2021~2025, 전국)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99300" y="4675538"/>
            <a:ext cx="2204205" cy="214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재확인·복구 요청·재검증을 추적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99300" y="4928310"/>
            <a:ext cx="1747960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 결과가 다음 회차 경로로</a:t>
            </a:r>
          </a:p>
        </p:txBody>
      </p:sp>
      <p:pic>
        <p:nvPicPr>
          <p:cNvPr id="49" name="Picture 48" descr="p01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20" y="4801870"/>
            <a:ext cx="137161" cy="175260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380" y="5722283"/>
            <a:ext cx="662778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차별점은 '반복'이 아니라,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회차 간 비교와 현장 재확인을 한 흐름으로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잇는 것입니다.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320" y="6221254"/>
            <a:ext cx="891262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서울시 지반침하 관리 강화(2026.3.23: 대형 굴착공사장 주 1회·지하안전평가 대상 공사장 월 1회 이상) · 서울시 보도참고자료(2024.8.29: 공동조사 5개년 계획 정기 점검 구간) · 시사저널(2026.8.20: 공동 1,090곳 중 301곳 미복구)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320" y="6341904"/>
            <a:ext cx="4250706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서울안전누리 GPR 탐사지도 · GroundWatch 항목은 설계안이며 재확인 소요시간·정확도는 실증으로 확인 [가설]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06547" y="6614606"/>
            <a:ext cx="4028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Picture 7" descr="p06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0" name="Oval 9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5" name="Oval 14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0" name="Oval 19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5" name="사진 1" descr="p06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24035" y="5322973"/>
            <a:ext cx="204711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[중앙·후방 위치는 간섭 시험 후 결정]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pic>
        <p:nvPicPr>
          <p:cNvPr id="29" name="사진 2" descr="p06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2" name="Oval 31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2511" y="4631395"/>
            <a:ext cx="165795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 하부 다채널 GPR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24035" y="4914541"/>
            <a:ext cx="16719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화물실 바닥 아래 차체 하부에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35" y="5118757"/>
            <a:ext cx="18194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다채널 GPR 모듈을 장착하는 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5825195"/>
            <a:ext cx="111947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적재·전력 예산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6070696"/>
            <a:ext cx="92868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[가설] 실증 필요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1000" y="5820687"/>
            <a:ext cx="1803722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250kg / 600kg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1000" y="6083703"/>
            <a:ext cx="186621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합계 · 최대 적재의 절반 이하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5820687"/>
            <a:ext cx="185134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1.5kW / 3.6kW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5500" y="6083703"/>
            <a:ext cx="16265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소비전력 · V2L 최대 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90000" y="5820687"/>
            <a:ext cx="21371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10kWh / 71.2kWh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0000" y="6083703"/>
            <a:ext cx="197386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 주행+장비 · 배터리의 약 15%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320" y="6297454"/>
            <a:ext cx="7725849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장비 배치도: 콘셉트 이미지(생성 AI), 실제 장착 설계 아님 · 출처: 기아 PV5 카고 제원(적재 600kg·V2L 3.6kW·배터리 71.2kWh), 현대차그룹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320" y="6418104"/>
            <a:ext cx="471204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예산 가정값: 수동 GPR 카트 27~34kg(GSSI UtilityScan Pro 유통사 제원) · 하루 3시간·시속 10km 순찰 · 장비 1.5kW 이하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160" y="780417"/>
            <a:ext cx="826246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한 대가 측정 장비와 재검증 장비를 함께 싣습니다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13579" y="6615113"/>
            <a:ext cx="39582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Rounded Rectangle 7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8" name="Picture 17" descr="p07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2" name="Picture 21" descr="p07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29" name="Picture 28" descr="p07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pic>
        <p:nvPicPr>
          <p:cNvPr id="34" name="사진 1" descr="p07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5" name="Picture 34" descr="p07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6" name="Connector 35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8" name="Connector 37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39" name="Picture 38" descr="p07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2" name="Picture 41" descr="p07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392610"/>
            <a:ext cx="80772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pic>
        <p:nvPicPr>
          <p:cNvPr id="56" name="사진 2" descr="p07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304" y="5880863"/>
            <a:ext cx="367272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순찰경로·재확인 지점·장비 상태, 도착 전 안전 정차 위치 안내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 만든 재확인 업무가 작업자 시야까지 이어집니다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07328" y="6615113"/>
            <a:ext cx="40207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2780" y="308399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981200" y="308399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1312" y="296313"/>
            <a:ext cx="10149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지금 PV5인가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861336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 탐사 차량을 늘린다면, 조건에 맞는 차는 PV5입니다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6547" y="6614606"/>
            <a:ext cx="4028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1372575"/>
            <a:ext cx="760022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무배기·저소음·공공 조달은 전기 밴의 기본 조건입니다. 그 위에 PV5의 차량 구조와 소프트웨어가 더해집니다.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7974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7974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17974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2032000"/>
            <a:ext cx="83058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2057400" y="2079309"/>
            <a:ext cx="77765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공회전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318767"/>
            <a:ext cx="1993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 중에도 배출 없이 장비 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0" y="2109524"/>
            <a:ext cx="274212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 공회전 제한 · 위반 시 과태료 5만 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2330853"/>
            <a:ext cx="20340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서울특별시 자동차 공회전 제한 조례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05000" y="2565400"/>
            <a:ext cx="6934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2057400" y="2612709"/>
            <a:ext cx="193553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공공기관이 살 수 있는 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2852167"/>
            <a:ext cx="221898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공공 신차는 무공해차 의무구매 대상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2642924"/>
            <a:ext cx="2962790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2025년 공공 신규 차량 94.6%가 전기·수소차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2864253"/>
            <a:ext cx="194871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대기환경보전법 · 미달 기관 과태료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05000" y="3098800"/>
            <a:ext cx="6934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2057400" y="3146109"/>
            <a:ext cx="18917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새벽 주택가 저소음 운행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3385567"/>
            <a:ext cx="18675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시동을 끈 채 V2L로 장비 구동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3176324"/>
            <a:ext cx="1928660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3.6kW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3397653"/>
            <a:ext cx="141198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 PV5 카고 카탈로그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2726395"/>
            <a:ext cx="762097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기본 조건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3400" y="3632200"/>
            <a:ext cx="8305800" cy="0"/>
          </a:xfrm>
          <a:prstGeom prst="line">
            <a:avLst/>
          </a:prstGeom>
          <a:ln w="12700">
            <a:solidFill>
              <a:srgbClr val="0B1E3C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1905000" y="3632200"/>
            <a:ext cx="6934200" cy="1600200"/>
          </a:xfrm>
          <a:prstGeom prst="rect">
            <a:avLst/>
          </a:prstGeom>
          <a:solidFill>
            <a:srgbClr val="FD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057400" y="3679509"/>
            <a:ext cx="65194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앱 마켓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3918967"/>
            <a:ext cx="169518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화면에 Patrol 앱 설치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000" y="3709724"/>
            <a:ext cx="2559090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AAOS 12.9인치 · 현대차그룹 최초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0" y="3931053"/>
            <a:ext cx="2676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 위치·속도 연동은 기아 PBV 파트너 제휴 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165600"/>
            <a:ext cx="6934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2057400" y="4212909"/>
            <a:ext cx="135412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낮고 평탄한 바닥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4452367"/>
            <a:ext cx="18913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 즉시 수동 GPR 카트 하차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0" y="4243124"/>
            <a:ext cx="270926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적재고 419mm · PBV 전용 전기차 플랫폼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0" y="4464453"/>
            <a:ext cx="141198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 PV5 카고 카탈로그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905000" y="4699000"/>
            <a:ext cx="69342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2057400" y="4746309"/>
            <a:ext cx="114571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플렉시블 바디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4985767"/>
            <a:ext cx="198489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탐사형을 표준 키트로 복제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0" y="4776524"/>
            <a:ext cx="218634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모듈 조립형 차체 · 바디 최대 16종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4000" y="4997853"/>
            <a:ext cx="22735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현대차그룹 PV5 테크 데이(2025.7.23)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4326595"/>
            <a:ext cx="80441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특징</a:t>
            </a:r>
          </a:p>
        </p:txBody>
      </p:sp>
      <p:pic>
        <p:nvPicPr>
          <p:cNvPr id="48" name="사진 1" descr="p01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400" y="1929429"/>
            <a:ext cx="2616200" cy="320234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9118600" y="1905000"/>
            <a:ext cx="84410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182100" y="1926379"/>
            <a:ext cx="79302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키트 장착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4380" y="5722283"/>
            <a:ext cx="7321864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조용히 다니고, 지금 공공이 살 수 있고, 반복 탐사만큼 늘릴 수 있는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탐사 차량입니다.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320" y="6221254"/>
            <a:ext cx="9623749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「더 기아 PV5 계약 개시」(앱 마켓·AAOS) · 기아 PV5 카고 카탈로그(2026.9: 적재고 419mm·V2L 3.6kW) · 현대차그룹 PV5 테크 데이(2025.7.23: 플렉시블 바디 시스템) · 기후에너지환경부·산업통상부 공공부문 무공해차 구매 실적(2026.6.30)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320" y="6341904"/>
            <a:ext cx="663491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서울특별시 자동차 공회전 제한 조례 · 사진: 콘셉트 이미지(생성 AI) · 앱 배포·차량 데이터 접근은 기아 파트너 승인 필요 · 참고: 장비 예상 중량 약 250kg(최대 적재 600kg) [가설]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18105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 기술을 결합하고, 차량 통합 성능은 실증으로 확인합니다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716319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기반 기술은 이미 있습니다. 한 차량 안에서 반복 가능한 정확도로 묶이는지, 네 가지를 먼저 실증합니다.</a:t>
            </a:r>
          </a:p>
        </p:txBody>
      </p:sp>
      <p:pic>
        <p:nvPicPr>
          <p:cNvPr id="12" name="사진 1" descr="p10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52" y="1673860"/>
            <a:ext cx="2607945" cy="173863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09600" y="1750060"/>
            <a:ext cx="104539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3100" y="1771439"/>
            <a:ext cx="99400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EV 구동계 × GPR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3524653"/>
            <a:ext cx="5150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727071"/>
            <a:ext cx="11773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전자파 간섭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6750" y="4092301"/>
            <a:ext cx="156469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구동계·인버터 잡음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357731"/>
            <a:ext cx="18402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주행·정차·V2L 상태별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6750" y="4623161"/>
            <a:ext cx="150674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차량형 측정 불가</a:t>
            </a:r>
          </a:p>
        </p:txBody>
      </p:sp>
      <p:pic>
        <p:nvPicPr>
          <p:cNvPr id="23" name="사진 2" descr="p10_i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802" y="1673860"/>
            <a:ext cx="2607945" cy="173863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448050" y="1750060"/>
            <a:ext cx="84410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511550" y="1771439"/>
            <a:ext cx="79302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경로 반복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71850" y="3524653"/>
            <a:ext cx="53482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71850" y="3727071"/>
            <a:ext cx="1624948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회차별 위치 정합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05200" y="409230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 경로 반복 주행 오차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505200" y="4357731"/>
            <a:ext cx="17225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RTK·IMU·휠 인코더 보정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50520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어긋나면 변화 비교 불가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0300" y="1673860"/>
            <a:ext cx="2609850" cy="173863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5" name="사진 3" descr="p10_i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1673860"/>
            <a:ext cx="2609850" cy="173863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286500" y="1750060"/>
            <a:ext cx="1108025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771439"/>
            <a:ext cx="10566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AI가 고른 변화 후보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300" y="3524653"/>
            <a:ext cx="53877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0300" y="3727071"/>
            <a:ext cx="146629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 탐지·오탐률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43650" y="409230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 모사체 구간 탐지율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43650" y="4357731"/>
            <a:ext cx="13645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기존·신규 신호 구분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4365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 많으면 재확인 증가</a:t>
            </a:r>
          </a:p>
        </p:txBody>
      </p:sp>
      <p:pic>
        <p:nvPicPr>
          <p:cNvPr id="46" name="사진 4" descr="p10_i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9702" y="1673860"/>
            <a:ext cx="2607945" cy="17386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9124950" y="1750060"/>
            <a:ext cx="705073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88450" y="1771439"/>
            <a:ext cx="65408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야간 기준점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8750" y="3524653"/>
            <a:ext cx="5413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8750" y="3727071"/>
            <a:ext cx="178816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야간 AR 위치 오차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182100" y="4092301"/>
            <a:ext cx="164988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맨홀·경계석 기준점 인식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82100" y="4357731"/>
            <a:ext cx="169116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야간·우천 조건 위치 오차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82100" y="462316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수동 탐색 범위 확대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33400" y="50038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533400" y="5092796"/>
            <a:ext cx="726793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함께 확인  </a:t>
            </a: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고정 상태 반복 측정 일관성 · 적재중량·축하중·제동 안정성 · V2L 포함 실제 소비전력 · 차량 앱 배포 절차·접근 가능한 데이터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3400" y="5308696"/>
            <a:ext cx="734847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 상용  </a:t>
            </a:r>
            <a:r>
              <a:rPr sz="10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차량형·수동 GPR · RTK-GNSS·IMU·휠 인코더 · 노면 카메라 · 엣지 컴퓨터 · GIS 이력 관리 · AAOS 앱 생태계 · 산업용 AR 글래스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54380" y="5722283"/>
            <a:ext cx="66295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핵심은 기술의 존재가 아니라,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차량에서 반복 가능한 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 연결되는가입니다.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320" y="6221254"/>
            <a:ext cx="462449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이미지: 콘셉트 이미지(생성 AI)·설명용 예시 · B-scan 비교는 설명용 예시 · 지도 데이터 © OpenStreetMap contributors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26527" y="6615113"/>
            <a:ext cx="38287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 구간에서 시작해 실제 도로까지 검증 범위를 넓힙니다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44498" y="6615112"/>
            <a:ext cx="36490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1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7047" y="1582972"/>
            <a:ext cx="190867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 순찰 경로 예시 · 설명용 지도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Oval 28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Oval 30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3073" y="1842369"/>
            <a:ext cx="211342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 하수관·정기 점검 구간 주변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4" name="Picture 43" descr="p12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6" name="Picture 45" descr="p12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8" name="Picture 47" descr="p12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0" name="Picture 49" descr="p12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2" name="Picture 51" descr="p12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 대의 반복 순찰차에서 도시 지하 안전망으로 확장합니다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27532" y="6615112"/>
            <a:ext cx="38186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2" name="Picture 11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7" name="Picture 16" descr="p13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19" name="Picture 18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54380" y="5722283"/>
            <a:ext cx="847407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탐사 16,423km · 인력 9명 → 19명 = PV5 약 4~5대 분량 [가설]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304" y="506196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5290567"/>
            <a:ext cx="87338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규모·가격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경기도 2025 GPR 사업 21.6억 원 ÷ 1,080km = km당 약 200만 원 · PV5 1대 연 약 3,750km 처리 [가설] → 기존 단가 수준에서 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638" y="6233605"/>
            <a:ext cx="859561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서울시 지반침하 관리 강화(2026.3.23) · 경기도 GPR 지반탐사 시군 지원사업(2025, 21.6억 원·1,080km) · 처리량 가정: 하루 30km ÷ 차로당 2회 × 연 250일 ≈ 대당 3,750km [가설]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4560624"/>
            <a:ext cx="2800865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앱 마켓 공공 업무 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 탐사 용역으로 시작해 연간 반복관제로 전환합니다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24072" y="6615112"/>
            <a:ext cx="38532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초기 고객과 확장 전략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767801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이미 GPR 탐사를 발주하는 지자체에서 시작합니다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6504266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새 예산을 만들지 않고, 지금 있는 탐사 예산과 공공 실증·혁신조달 제도로 들어가 넓혀 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23290" y="6615113"/>
            <a:ext cx="38611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1752600"/>
            <a:ext cx="3606800" cy="787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08286" y="1841692"/>
            <a:ext cx="2215546" cy="333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4,558만~1.8억 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8354" y="2172410"/>
            <a:ext cx="1923517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2026년 시 단위 GPR 탐사 용역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969" y="2361682"/>
            <a:ext cx="150502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안양·보령·용인 등 이미 발주 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2600" y="1752600"/>
            <a:ext cx="3606800" cy="787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92719" y="1841692"/>
            <a:ext cx="566539" cy="333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0대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7179" y="2172410"/>
            <a:ext cx="1724389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경기 31개 시·군 차량형 GPR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939" y="2361682"/>
            <a:ext cx="133973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장비 없이 외부 용역에 의존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1800" y="1752600"/>
            <a:ext cx="3606800" cy="787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93033" y="1841692"/>
            <a:ext cx="1083937" cy="333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최대 6년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7303" y="2172410"/>
            <a:ext cx="1542907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조달청 혁신제품 수의계약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863" y="2361682"/>
            <a:ext cx="147413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실증 후 반복 계약으로 가는 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3400" y="2794000"/>
            <a:ext cx="2609850" cy="508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33400" y="2946496"/>
            <a:ext cx="95575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1 · 0~1년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3160037"/>
            <a:ext cx="129847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 레퍼런스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" y="36055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6750" y="3544010"/>
            <a:ext cx="154875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테스트베드서울 실증 신청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3846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6750" y="3785310"/>
            <a:ext cx="1234160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 1곳 파일럿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40881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6750" y="4026610"/>
            <a:ext cx="1613306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 GPR 조사기관과 공동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4470400"/>
            <a:ext cx="2609850" cy="33020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4571482"/>
            <a:ext cx="227645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다음 단계 조건  </a:t>
            </a: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 장비와 같은 공동 탐지 확인</a:t>
            </a:r>
          </a:p>
        </p:txBody>
      </p:sp>
      <p:pic>
        <p:nvPicPr>
          <p:cNvPr id="36" name="Picture 35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430" y="2913380"/>
            <a:ext cx="129540" cy="19304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3371850" y="2794000"/>
            <a:ext cx="2609850" cy="508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371850" y="2946496"/>
            <a:ext cx="96802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2 · 1~2년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1850" y="3160037"/>
            <a:ext cx="116159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첫 용역 수주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71850" y="36055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505200" y="3544010"/>
            <a:ext cx="1560583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시·군 GPR 탐사 용역 입찰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1850" y="3846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505200" y="3785310"/>
            <a:ext cx="154875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 컨소시엄 참여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71850" y="40881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505200" y="4026610"/>
            <a:ext cx="1603229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1회 탐사 → 반복 탐사 제안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71850" y="4470400"/>
            <a:ext cx="2609850" cy="330200"/>
          </a:xfrm>
          <a:prstGeom prst="roundRect">
            <a:avLst>
              <a:gd name="adj" fmla="val 14999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73450" y="4571482"/>
            <a:ext cx="2008008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다음 단계 조건  </a:t>
            </a: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실증확인서·용역 실적 확보</a:t>
            </a:r>
          </a:p>
        </p:txBody>
      </p:sp>
      <p:pic>
        <p:nvPicPr>
          <p:cNvPr id="48" name="Picture 47" descr="p14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80" y="2913380"/>
            <a:ext cx="129540" cy="19304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6210300" y="2794000"/>
            <a:ext cx="2609850" cy="508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10300" y="2946496"/>
            <a:ext cx="99442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3 · 2~3년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0300" y="3160037"/>
            <a:ext cx="129847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 전환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0300" y="36055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43650" y="3544010"/>
            <a:ext cx="158526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조달청 혁신제품 지정 신청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0300" y="3846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343650" y="3785310"/>
            <a:ext cx="1585116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지정 시 최대 6년 수의계약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0300" y="40881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43650" y="4026610"/>
            <a:ext cx="158526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 연간 반복관제 계약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0300" y="4470400"/>
            <a:ext cx="2609850" cy="330200"/>
          </a:xfrm>
          <a:prstGeom prst="roundRect">
            <a:avLst>
              <a:gd name="adj" fmla="val 14999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11900" y="4571482"/>
            <a:ext cx="2086377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다음 단계 조건  </a:t>
            </a: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 2곳 연간 계약 [목표]</a:t>
            </a:r>
          </a:p>
        </p:txBody>
      </p:sp>
      <p:pic>
        <p:nvPicPr>
          <p:cNvPr id="60" name="Picture 59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3330" y="2913380"/>
            <a:ext cx="129539" cy="19304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9048750" y="2794000"/>
            <a:ext cx="2609850" cy="508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048750" y="2946496"/>
            <a:ext cx="91562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4 · 3년~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48750" y="3160037"/>
            <a:ext cx="135936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권역·기관 확장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48750" y="36055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182100" y="3544010"/>
            <a:ext cx="1560580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없는 시·군 운영 대행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48750" y="3846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182100" y="3785310"/>
            <a:ext cx="1423000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도시철도·상하수도 기관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48750" y="40881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82100" y="4026610"/>
            <a:ext cx="1602349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광역지자체 PV5 플릿 구매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48750" y="4470400"/>
            <a:ext cx="2609850" cy="33020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150350" y="4571482"/>
            <a:ext cx="136545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목표  </a:t>
            </a: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권역별 PV5 플릿 운영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3400" y="5080096"/>
            <a:ext cx="8146398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협력 원칙  </a:t>
            </a: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GPR 조사기관은 경쟁자가 아니라 공동 수행 파트너입니다. 탐사 자격·실적은 협력사가, 반복 비교·현장 재확인은 GroundWatch가 맡습니다.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54380" y="5722283"/>
            <a:ext cx="624866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예산이 아니라,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지자체가 이미 쓰는 GPR 탐사 예산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에서 첫 계약을 만듭니다.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320" y="6221254"/>
            <a:ext cx="5646118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2026년 GPR 탐사 용역 개찰 결과(안양 8,522만·보령 4,558만·용인 기흥 1억 8,455만 원, 입찰정보 산군) · 시사저널(2025.4.25, 경기도 GPR)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320" y="6341904"/>
            <a:ext cx="6259625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 테스트베드서울 2.0(과제당 최대 2억 원·서울시장 명의 실증확인서) · 조달청 혁신제품 지정제도(최대 6년 수의계약·구매 담당자 면책) · 단계별 기간은 목표 [가설]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0" name="사진 1" descr="p1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11" name="사진 2" descr="p15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981200" y="308907"/>
            <a:ext cx="51911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개선 지표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3033" y="296821"/>
            <a:ext cx="124261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지표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623" y="6584739"/>
            <a:ext cx="43477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15 / 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320800"/>
            <a:ext cx="11277600" cy="309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" y="1371600"/>
            <a:ext cx="4064000" cy="25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673600" y="1371600"/>
            <a:ext cx="4038600" cy="254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813800" y="1371600"/>
            <a:ext cx="2844800" cy="25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0400" y="1422496"/>
            <a:ext cx="31047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1422496"/>
            <a:ext cx="57157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 문제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6000" y="1422496"/>
            <a:ext cx="159783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GroundWatch의 해결 방식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6200" y="1422496"/>
            <a:ext cx="94788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확인할 개선 지표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3600" y="17018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5000" y="1804110"/>
            <a:ext cx="59404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01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1798067"/>
            <a:ext cx="2218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 결과가 시점별 파일로 남습니다</a:t>
            </a:r>
          </a:p>
        </p:txBody>
      </p:sp>
      <p:pic>
        <p:nvPicPr>
          <p:cNvPr id="34" name="Picture 33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1789430"/>
            <a:ext cx="142240" cy="19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26000" y="1785981"/>
            <a:ext cx="290315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 경로 데이터를 위치·시간 기준으로 누적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6200" y="18478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05900" y="1792024"/>
            <a:ext cx="2037119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시점별 비교가 가능한 도로 비율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3400" y="2108200"/>
            <a:ext cx="11125200" cy="0"/>
          </a:xfrm>
          <a:prstGeom prst="line">
            <a:avLst/>
          </a:prstGeom>
          <a:ln w="7620">
            <a:solidFill>
              <a:srgbClr val="E2E6EC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533400" y="2108200"/>
            <a:ext cx="11125200" cy="444500"/>
          </a:xfrm>
          <a:prstGeom prst="rect">
            <a:avLst/>
          </a:prstGeom>
          <a:solidFill>
            <a:srgbClr val="F8F9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673600" y="21463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5000" y="2248610"/>
            <a:ext cx="594042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02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선별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2242567"/>
            <a:ext cx="23887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 구간을 사람이 다시 찾아야 합니다</a:t>
            </a:r>
          </a:p>
        </p:txBody>
      </p:sp>
      <p:pic>
        <p:nvPicPr>
          <p:cNvPr id="43" name="Picture 42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2233930"/>
            <a:ext cx="142240" cy="1930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826000" y="2230481"/>
            <a:ext cx="249552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AI가 변화 후보를 선별, 전문가가 승인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6200" y="2292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105900" y="2236524"/>
            <a:ext cx="1860748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 검토시간·후보 적중률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33400" y="2552700"/>
            <a:ext cx="11125200" cy="0"/>
          </a:xfrm>
          <a:prstGeom prst="line">
            <a:avLst/>
          </a:prstGeom>
          <a:ln w="7620">
            <a:solidFill>
              <a:srgbClr val="E2E6EC"/>
            </a:solidFill>
          </a:ln>
        </p:spPr>
      </p:cxnSp>
      <p:sp>
        <p:nvSpPr>
          <p:cNvPr id="48" name="Rounded Rectangle 47"/>
          <p:cNvSpPr/>
          <p:nvPr/>
        </p:nvSpPr>
        <p:spPr>
          <a:xfrm>
            <a:off x="4673600" y="25908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5000" y="2693110"/>
            <a:ext cx="846416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03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우선순위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0200" y="2687067"/>
            <a:ext cx="24823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다음 조사 우선순위가 경험에 의존합니다</a:t>
            </a:r>
          </a:p>
        </p:txBody>
      </p:sp>
      <p:pic>
        <p:nvPicPr>
          <p:cNvPr id="51" name="Picture 50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2678430"/>
            <a:ext cx="142240" cy="19304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826000" y="2674981"/>
            <a:ext cx="273112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변화량·신뢰도·주변 위험요인을 함께 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66200" y="27368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05900" y="2681024"/>
            <a:ext cx="1860272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고위험 구간 재확인 소요시간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33400" y="2997200"/>
            <a:ext cx="11125200" cy="0"/>
          </a:xfrm>
          <a:prstGeom prst="line">
            <a:avLst/>
          </a:prstGeom>
          <a:ln w="7620">
            <a:solidFill>
              <a:srgbClr val="E2E6EC"/>
            </a:solidFill>
          </a:ln>
        </p:spPr>
      </p:cxnSp>
      <p:sp>
        <p:nvSpPr>
          <p:cNvPr id="56" name="Rectangle 55"/>
          <p:cNvSpPr/>
          <p:nvPr/>
        </p:nvSpPr>
        <p:spPr>
          <a:xfrm>
            <a:off x="533400" y="2997200"/>
            <a:ext cx="11125200" cy="444500"/>
          </a:xfrm>
          <a:prstGeom prst="rect">
            <a:avLst/>
          </a:prstGeom>
          <a:solidFill>
            <a:srgbClr val="F8F9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4673600" y="30353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35000" y="3137610"/>
            <a:ext cx="880008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현장 위치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131567"/>
            <a:ext cx="265210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 과거 측정 위치를 찾기 어렵습니다</a:t>
            </a:r>
          </a:p>
        </p:txBody>
      </p:sp>
      <p:pic>
        <p:nvPicPr>
          <p:cNvPr id="60" name="Picture 59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3122930"/>
            <a:ext cx="142240" cy="19304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826000" y="3119481"/>
            <a:ext cx="2866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RTK와 현장 기준점으로 AR 검색 범위 표시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66200" y="3181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105900" y="3125524"/>
            <a:ext cx="1586428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 위치 오차·탐색시간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33400" y="3441700"/>
            <a:ext cx="11125200" cy="0"/>
          </a:xfrm>
          <a:prstGeom prst="line">
            <a:avLst/>
          </a:prstGeom>
          <a:ln w="7620">
            <a:solidFill>
              <a:srgbClr val="E2E6EC"/>
            </a:solidFill>
          </a:ln>
        </p:spPr>
      </p:cxnSp>
      <p:sp>
        <p:nvSpPr>
          <p:cNvPr id="65" name="Rounded Rectangle 64"/>
          <p:cNvSpPr/>
          <p:nvPr/>
        </p:nvSpPr>
        <p:spPr>
          <a:xfrm>
            <a:off x="4673600" y="34798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35000" y="3582110"/>
            <a:ext cx="880008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업무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3576067"/>
            <a:ext cx="21808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넓은 탐사와 정밀조사가 분리됩니다</a:t>
            </a:r>
          </a:p>
        </p:txBody>
      </p:sp>
      <p:pic>
        <p:nvPicPr>
          <p:cNvPr id="68" name="Picture 67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3567430"/>
            <a:ext cx="142240" cy="1930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26000" y="3563981"/>
            <a:ext cx="330303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 GPR 결과를 수동 GPR 작업으로 바로 전환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966200" y="36258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105900" y="3570024"/>
            <a:ext cx="1723588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재방문 횟수·업무 인계시간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7620">
            <a:solidFill>
              <a:srgbClr val="E2E6EC"/>
            </a:solidFill>
          </a:ln>
        </p:spPr>
      </p:cxnSp>
      <p:sp>
        <p:nvSpPr>
          <p:cNvPr id="73" name="Rectangle 72"/>
          <p:cNvSpPr/>
          <p:nvPr/>
        </p:nvSpPr>
        <p:spPr>
          <a:xfrm>
            <a:off x="533400" y="3886200"/>
            <a:ext cx="11125200" cy="444500"/>
          </a:xfrm>
          <a:prstGeom prst="rect">
            <a:avLst/>
          </a:prstGeom>
          <a:solidFill>
            <a:srgbClr val="F8F9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673600" y="3924300"/>
            <a:ext cx="4038600" cy="368300"/>
          </a:xfrm>
          <a:prstGeom prst="roundRect">
            <a:avLst>
              <a:gd name="adj" fmla="val 12000"/>
            </a:avLst>
          </a:prstGeom>
          <a:solidFill>
            <a:srgbClr val="E8EDF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35000" y="4026610"/>
            <a:ext cx="880008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AA3B2"/>
                </a:solidFill>
                <a:latin typeface="Pretendard"/>
                <a:ea typeface="Pretendard"/>
                <a:cs typeface="Pretendard"/>
              </a:rPr>
              <a:t>06</a:t>
            </a: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이력 환류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00200" y="4020567"/>
            <a:ext cx="23887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복구 결과가 다음 조사에 덜 반영됩니다</a:t>
            </a:r>
          </a:p>
        </p:txBody>
      </p:sp>
      <p:pic>
        <p:nvPicPr>
          <p:cNvPr id="77" name="Picture 76" descr="p15_v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380" y="4011930"/>
            <a:ext cx="142240" cy="1930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826000" y="4008481"/>
            <a:ext cx="255678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확인·보수 이력을 4D 지도에 다시 저장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66200" y="4070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9105900" y="4014524"/>
            <a:ext cx="1546265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보수구간 재검증 완료율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