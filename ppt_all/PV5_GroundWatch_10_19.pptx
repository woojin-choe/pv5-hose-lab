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png"/><Relationship Id="rId7" Type="http://schemas.openxmlformats.org/officeDocument/2006/relationships/image" Target="../media/image12.jpg"/><Relationship Id="rId8" Type="http://schemas.openxmlformats.org/officeDocument/2006/relationships/image" Target="../media/image13.png"/><Relationship Id="rId9" Type="http://schemas.openxmlformats.org/officeDocument/2006/relationships/image" Target="../media/image14.jpg"/><Relationship Id="rId10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4" name="사진 1" descr="p01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사진 2" descr="p01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50609" y="6468915"/>
            <a:ext cx="5662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2026. 10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123" y="1918569"/>
            <a:ext cx="27769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아이디어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공모전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제안서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260922"/>
            <a:ext cx="1634894" cy="809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3034161"/>
            <a:ext cx="3699454" cy="666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170" y="3797196"/>
            <a:ext cx="255267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순찰차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3815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1599" y="4588935"/>
            <a:ext cx="205708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반복해서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보고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599" y="4893735"/>
            <a:ext cx="27992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구멍이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되기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전의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변화를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찾습니다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266" y="5792365"/>
            <a:ext cx="4658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218" y="6042937"/>
            <a:ext cx="231636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51816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02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9" name="사진 2" descr="p02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17976"/>
            <a:ext cx="6092952" cy="3240024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972675" y="3590925"/>
            <a:ext cx="1028700" cy="1028700"/>
          </a:xfrm>
          <a:prstGeom prst="ellipse">
            <a:avLst/>
          </a:prstGeom>
          <a:solidFill>
            <a:srgbClr val="E5484D">
              <a:alpha val="1412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220325" y="3838575"/>
            <a:ext cx="533400" cy="533400"/>
          </a:xfrm>
          <a:prstGeom prst="ellipse">
            <a:avLst/>
          </a:prstGeom>
          <a:solidFill>
            <a:srgbClr val="E5484D">
              <a:alpha val="3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410825" y="4029075"/>
            <a:ext cx="152400" cy="152400"/>
          </a:xfrm>
          <a:prstGeom prst="ellipse">
            <a:avLst/>
          </a:prstGeom>
          <a:solidFill>
            <a:srgbClr val="FF5A5F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115300" y="3009900"/>
            <a:ext cx="2038350" cy="514350"/>
          </a:xfrm>
          <a:prstGeom prst="roundRect">
            <a:avLst>
              <a:gd name="adj" fmla="val 7407"/>
            </a:avLst>
          </a:prstGeom>
          <a:solidFill>
            <a:srgbClr val="0B1E3C">
              <a:alpha val="902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42935" y="3094886"/>
            <a:ext cx="14126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2025. 3. 24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697" y="3298996"/>
            <a:ext cx="14686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동남로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대명초교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사거리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인근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53650" y="3429000"/>
            <a:ext cx="190500" cy="514350"/>
          </a:xfrm>
          <a:prstGeom prst="line">
            <a:avLst/>
          </a:prstGeom>
          <a:ln w="11430">
            <a:solidFill>
              <a:srgbClr val="FFFFFF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465570" y="5190132"/>
            <a:ext cx="173103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평범한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5570" y="5607708"/>
            <a:ext cx="3985148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마지막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되었습니다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2238" y="6404801"/>
            <a:ext cx="46472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일대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© OpenStreetMap contributors ·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위치는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보도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인근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542" y="1278595"/>
            <a:ext cx="2432060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2025. 3. 24 ·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명일동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" y="1600329"/>
            <a:ext cx="318837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무너지기까지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1985778"/>
            <a:ext cx="2075095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1~2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4850" y="1985778"/>
            <a:ext cx="1338917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3400" y="3295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19684" y="3389188"/>
            <a:ext cx="1991460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22m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18m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4134" y="3537057"/>
            <a:ext cx="14666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붕괴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규모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3400" y="396240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19684" y="4053652"/>
            <a:ext cx="888147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16m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38508" y="4192377"/>
            <a:ext cx="3830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깊이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3400" y="46291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519684" y="4721164"/>
            <a:ext cx="2128599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사망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부상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3625" y="4872081"/>
            <a:ext cx="7068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피해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3400" y="5200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4" name="Rectangle 33"/>
          <p:cNvSpPr/>
          <p:nvPr/>
        </p:nvSpPr>
        <p:spPr>
          <a:xfrm>
            <a:off x="533400" y="5448300"/>
            <a:ext cx="38100" cy="5524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16280" y="5475797"/>
            <a:ext cx="190889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붕괴는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갑자기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보였지만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5768404"/>
            <a:ext cx="277791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지하에서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시작됐습니다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8638" y="6310312"/>
            <a:ext cx="398212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국토교통부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「땅꺼짐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조사결과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발표」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(2025.12.3),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사고조사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최종보고서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716" y="6615112"/>
            <a:ext cx="4193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02 / 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24242" y="296821"/>
            <a:ext cx="8429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현재 문제상황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1C2B4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3A4558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708727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보이지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않는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변화가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겹치며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붕괴로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이어진다</a:t>
            </a:r>
          </a:p>
        </p:txBody>
      </p:sp>
      <p:pic>
        <p:nvPicPr>
          <p:cNvPr id="9" name="사진 1" descr="p03_i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50" y="1543050"/>
            <a:ext cx="6064250" cy="385762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886075" y="218122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984500" y="224754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8500" y="2209800"/>
            <a:ext cx="7429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28035" y="2247541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침하</a:t>
            </a:r>
          </a:p>
        </p:txBody>
      </p:sp>
      <p:sp>
        <p:nvSpPr>
          <p:cNvPr id="14" name="Oval 13"/>
          <p:cNvSpPr/>
          <p:nvPr/>
        </p:nvSpPr>
        <p:spPr>
          <a:xfrm>
            <a:off x="2886075" y="277177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983706" y="2838853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52650" y="2800350"/>
            <a:ext cx="704850" cy="228600"/>
          </a:xfrm>
          <a:prstGeom prst="roundRect">
            <a:avLst>
              <a:gd name="adj" fmla="val 16667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242185" y="2838853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형성</a:t>
            </a:r>
          </a:p>
        </p:txBody>
      </p:sp>
      <p:sp>
        <p:nvSpPr>
          <p:cNvPr id="18" name="Oval 17"/>
          <p:cNvSpPr/>
          <p:nvPr/>
        </p:nvSpPr>
        <p:spPr>
          <a:xfrm>
            <a:off x="3524250" y="330517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33788" y="3372253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6200" y="3333750"/>
            <a:ext cx="8953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975735" y="3372253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하수관</a:t>
            </a:r>
          </a:p>
        </p:txBody>
      </p:sp>
      <p:sp>
        <p:nvSpPr>
          <p:cNvPr id="22" name="Oval 21"/>
          <p:cNvSpPr/>
          <p:nvPr/>
        </p:nvSpPr>
        <p:spPr>
          <a:xfrm>
            <a:off x="771525" y="366712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70743" y="3734965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3950" y="3695700"/>
            <a:ext cx="118110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13485" y="3734965"/>
            <a:ext cx="10110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누수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26" name="Oval 25"/>
          <p:cNvSpPr/>
          <p:nvPr/>
        </p:nvSpPr>
        <p:spPr>
          <a:xfrm>
            <a:off x="1638300" y="4210050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734344" y="4277509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00250" y="4238625"/>
            <a:ext cx="8953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089785" y="4277509"/>
            <a:ext cx="855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터널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굴착공사</a:t>
            </a:r>
          </a:p>
        </p:txBody>
      </p:sp>
      <p:sp>
        <p:nvSpPr>
          <p:cNvPr id="30" name="Oval 29"/>
          <p:cNvSpPr/>
          <p:nvPr/>
        </p:nvSpPr>
        <p:spPr>
          <a:xfrm>
            <a:off x="7067550" y="1504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67562" y="156174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9599" y="1519599"/>
            <a:ext cx="2166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시설물과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취약한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123" y="1824081"/>
            <a:ext cx="28500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오래된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하수관과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약한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지층이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34" name="Oval 33"/>
          <p:cNvSpPr/>
          <p:nvPr/>
        </p:nvSpPr>
        <p:spPr>
          <a:xfrm>
            <a:off x="7067550" y="2266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157244" y="232374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9599" y="2281599"/>
            <a:ext cx="17739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누수와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지하수위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1123" y="2586081"/>
            <a:ext cx="285003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물이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새거나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빠지면서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주변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흙이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약해집니다</a:t>
            </a:r>
          </a:p>
        </p:txBody>
      </p:sp>
      <p:sp>
        <p:nvSpPr>
          <p:cNvPr id="38" name="Oval 37"/>
          <p:cNvSpPr/>
          <p:nvPr/>
        </p:nvSpPr>
        <p:spPr>
          <a:xfrm>
            <a:off x="7067550" y="3028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155656" y="308574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9599" y="3043599"/>
            <a:ext cx="181995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유실과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123" y="3348081"/>
            <a:ext cx="275001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흙이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쓸려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나간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자리에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빈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공간이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생깁니다</a:t>
            </a:r>
          </a:p>
        </p:txBody>
      </p:sp>
      <p:sp>
        <p:nvSpPr>
          <p:cNvPr id="42" name="Oval 41"/>
          <p:cNvSpPr/>
          <p:nvPr/>
        </p:nvSpPr>
        <p:spPr>
          <a:xfrm>
            <a:off x="7067550" y="3790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54067" y="384774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9599" y="3805599"/>
            <a:ext cx="181995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하중과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61123" y="4110081"/>
            <a:ext cx="270873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하중과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터널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공사의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영향이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겹칩니다</a:t>
            </a:r>
          </a:p>
        </p:txBody>
      </p:sp>
      <p:sp>
        <p:nvSpPr>
          <p:cNvPr id="46" name="Oval 45"/>
          <p:cNvSpPr/>
          <p:nvPr/>
        </p:nvSpPr>
        <p:spPr>
          <a:xfrm>
            <a:off x="7067550" y="4552950"/>
            <a:ext cx="266700" cy="2667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56448" y="460974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59599" y="4567599"/>
            <a:ext cx="125480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붕괴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61123" y="4872081"/>
            <a:ext cx="31326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상부가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버티지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못하고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보행자가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노출됩니다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900" y="1790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7200900" y="2552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7200900" y="3314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7200900" y="4076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54" name="Rounded Rectangle 53"/>
          <p:cNvSpPr/>
          <p:nvPr/>
        </p:nvSpPr>
        <p:spPr>
          <a:xfrm>
            <a:off x="533400" y="5562600"/>
            <a:ext cx="11125200" cy="800100"/>
          </a:xfrm>
          <a:prstGeom prst="roundRect">
            <a:avLst>
              <a:gd name="adj" fmla="val 952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6285" y="5694829"/>
            <a:ext cx="1249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사고조사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285" y="5944765"/>
            <a:ext cx="31366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직접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원인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심층풍화대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내부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불연속면이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만든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쐐기형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토체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285" y="6152029"/>
            <a:ext cx="48797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간접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원인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터널공사로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지하수위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최대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26m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저하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장기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누수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지보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성능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한계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867650" y="5715000"/>
            <a:ext cx="0" cy="495300"/>
          </a:xfrm>
          <a:prstGeom prst="line">
            <a:avLst/>
          </a:prstGeom>
          <a:ln w="9525">
            <a:solidFill>
              <a:srgbClr val="3A4558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8089392" y="5658571"/>
            <a:ext cx="200342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보이는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균열만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기다리지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말고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89392" y="5887171"/>
            <a:ext cx="1708161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지점의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89392" y="6115771"/>
            <a:ext cx="1564972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계속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기록해야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합니다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8638" y="6615112"/>
            <a:ext cx="539817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국토교통부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「땅꺼짐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조사결과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발표」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(2025.12.3) 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단면도는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원리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설명용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3D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07880" y="6615112"/>
            <a:ext cx="42293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03 / 13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24242" y="296821"/>
            <a:ext cx="12400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사고가 발생하는 과정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2223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서울시는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이미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넓게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탐사하고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의심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지점을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확인한다</a:t>
            </a:r>
          </a:p>
        </p:txBody>
      </p:sp>
      <p:pic>
        <p:nvPicPr>
          <p:cNvPr id="9" name="사진 1" descr="p04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441450"/>
            <a:ext cx="4953000" cy="28321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8638" y="4329113"/>
            <a:ext cx="336248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The Charles Machine Works, CC BY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SA 2.0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3400" y="4686300"/>
            <a:ext cx="49530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21970" y="4827420"/>
            <a:ext cx="1530577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33,129km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685" y="5219341"/>
            <a:ext cx="119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누적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85" y="5411365"/>
            <a:ext cx="9505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2014~2025.9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8395" y="4827420"/>
            <a:ext cx="1213522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7,760</a:t>
            </a: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110" y="5219341"/>
            <a:ext cx="6061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110" y="5411365"/>
            <a:ext cx="728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발견한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495" y="4827420"/>
            <a:ext cx="1535104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16,423km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6210" y="5219341"/>
            <a:ext cx="11030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6210" y="5411365"/>
            <a:ext cx="1352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37123" y="1479657"/>
            <a:ext cx="10243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현재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18192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28531" y="1860339"/>
            <a:ext cx="1357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9261" y="1830283"/>
            <a:ext cx="31813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공사구간으로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대상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0" y="21621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019800" y="2201715"/>
            <a:ext cx="15371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9261" y="2174707"/>
            <a:ext cx="346451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도로를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넓게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스캔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(1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약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3m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25050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018212" y="2546139"/>
            <a:ext cx="1573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9261" y="2516083"/>
            <a:ext cx="26685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1" name="Oval 30"/>
          <p:cNvSpPr/>
          <p:nvPr/>
        </p:nvSpPr>
        <p:spPr>
          <a:xfrm>
            <a:off x="5943600" y="28479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016624" y="2887515"/>
            <a:ext cx="15966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79261" y="2860507"/>
            <a:ext cx="234790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0" y="31908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019006" y="3231939"/>
            <a:ext cx="1558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9261" y="3201883"/>
            <a:ext cx="282415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교통통제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37" name="Oval 36"/>
          <p:cNvSpPr/>
          <p:nvPr/>
        </p:nvSpPr>
        <p:spPr>
          <a:xfrm>
            <a:off x="5943600" y="35337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018212" y="3573315"/>
            <a:ext cx="15780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9261" y="3546307"/>
            <a:ext cx="21097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확인되면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재포장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37123" y="4033881"/>
            <a:ext cx="2626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그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공백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· 2024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연희동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성산로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15150" y="4629150"/>
            <a:ext cx="4391025" cy="133350"/>
          </a:xfrm>
          <a:prstGeom prst="rect">
            <a:avLst/>
          </a:prstGeom>
          <a:solidFill>
            <a:srgbClr val="F5B700">
              <a:alpha val="2784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2" name="Connector 41"/>
          <p:cNvCxnSpPr/>
          <p:nvPr/>
        </p:nvCxnSpPr>
        <p:spPr>
          <a:xfrm>
            <a:off x="6286500" y="4695825"/>
            <a:ext cx="5143500" cy="0"/>
          </a:xfrm>
          <a:prstGeom prst="line">
            <a:avLst/>
          </a:prstGeom>
          <a:ln w="19050">
            <a:solidFill>
              <a:srgbClr val="9AA3AF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6195219" y="4832139"/>
            <a:ext cx="26057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1723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6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12994" y="4832139"/>
            <a:ext cx="2542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7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94898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8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34150" y="4619625"/>
            <a:ext cx="381000" cy="152400"/>
          </a:xfrm>
          <a:prstGeom prst="roundRect">
            <a:avLst>
              <a:gd name="adj" fmla="val 18750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528435" y="4381141"/>
            <a:ext cx="21698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5.7~16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미발견</a:t>
            </a:r>
          </a:p>
        </p:txBody>
      </p:sp>
      <p:sp>
        <p:nvSpPr>
          <p:cNvPr id="49" name="Oval 48"/>
          <p:cNvSpPr/>
          <p:nvPr/>
        </p:nvSpPr>
        <p:spPr>
          <a:xfrm>
            <a:off x="11220450" y="4610100"/>
            <a:ext cx="171450" cy="1714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601617" y="4381141"/>
            <a:ext cx="9157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8.29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도로함몰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37436" y="5061057"/>
            <a:ext cx="34374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변화는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어디에도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기록되지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않았습니다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40575" y="5335165"/>
            <a:ext cx="40129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실패가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결과는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말해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준다는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뜻입니다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" y="57150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28638" y="6328601"/>
            <a:ext cx="673326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경향신문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(2025.10.19)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지반침하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예방체계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강화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보도자료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차량탑재형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뉴시스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(2024.8.30)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연희동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함몰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07114" y="6615112"/>
            <a:ext cx="42373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04 / 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3999" y="5844711"/>
            <a:ext cx="9172913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기술은 그대로,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바꾸는 것은 탐사 방식입니다.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한 번 재고 끝나는 조사를 반복 관측과 현장 재확인으로 잇습니다.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기존 방식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73033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조사 방식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7484145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결과를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연결한다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161" y="1373083"/>
            <a:ext cx="655262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끝내지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않고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보며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달라진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곳만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현장에서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확인합니다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pic>
        <p:nvPicPr>
          <p:cNvPr id="10" name="사진 1" descr="p05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720850"/>
            <a:ext cx="2609850" cy="1638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8066" y="3524653"/>
            <a:ext cx="59701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5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0273" y="4091793"/>
            <a:ext cx="16371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순찰구간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027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새벽에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0273" y="4625193"/>
            <a:ext cx="15260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동시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수집</a:t>
            </a:r>
          </a:p>
        </p:txBody>
      </p:sp>
      <p:pic>
        <p:nvPicPr>
          <p:cNvPr id="19" name="Picture 18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125" y="2520950"/>
            <a:ext cx="187325" cy="984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371850" y="1733550"/>
            <a:ext cx="2609850" cy="1619250"/>
          </a:xfrm>
          <a:prstGeom prst="rect">
            <a:avLst/>
          </a:prstGeom>
          <a:solidFill>
            <a:srgbClr val="2A2E33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1" name="사진 2" descr="p05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1850" y="1733550"/>
            <a:ext cx="2647743" cy="790575"/>
          </a:xfrm>
          <a:prstGeom prst="rect">
            <a:avLst/>
          </a:prstGeom>
        </p:spPr>
      </p:pic>
      <p:pic>
        <p:nvPicPr>
          <p:cNvPr id="22" name="사진 3" descr="p05_i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850" y="2562225"/>
            <a:ext cx="2647743" cy="79057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429000" y="1790700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94088" y="1811572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2619375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494088" y="2640627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이번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9600" y="2733675"/>
            <a:ext cx="1352550" cy="552450"/>
          </a:xfrm>
          <a:prstGeom prst="rect">
            <a:avLst/>
          </a:prstGeom>
          <a:noFill/>
          <a:ln w="23812">
            <a:solidFill>
              <a:srgbClr val="F5B700"/>
            </a:solidFill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66516" y="3524653"/>
            <a:ext cx="61679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270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498723" y="4091793"/>
            <a:ext cx="18911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시간으로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718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498723" y="4356969"/>
            <a:ext cx="18229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718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98723" y="4625193"/>
            <a:ext cx="19197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원시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pic>
        <p:nvPicPr>
          <p:cNvPr id="36" name="Picture 35" descr="p05_v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7575" y="2520950"/>
            <a:ext cx="187325" cy="98425"/>
          </a:xfrm>
          <a:prstGeom prst="rect">
            <a:avLst/>
          </a:prstGeom>
        </p:spPr>
      </p:pic>
      <p:pic>
        <p:nvPicPr>
          <p:cNvPr id="37" name="사진 4" descr="p05_i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1720850"/>
            <a:ext cx="2609850" cy="1638300"/>
          </a:xfrm>
          <a:prstGeom prst="rect">
            <a:avLst/>
          </a:prstGeom>
        </p:spPr>
      </p:pic>
      <p:pic>
        <p:nvPicPr>
          <p:cNvPr id="38" name="Picture 37" descr="p05_v0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1525" y="2616200"/>
            <a:ext cx="949325" cy="37782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6267450" y="1790700"/>
            <a:ext cx="99060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80161" y="1811572"/>
            <a:ext cx="84318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4966" y="3524653"/>
            <a:ext cx="62075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01156" y="3726562"/>
            <a:ext cx="117451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337173" y="4091793"/>
            <a:ext cx="20022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03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37173" y="4356969"/>
            <a:ext cx="20546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+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재탐사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03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37173" y="4625193"/>
            <a:ext cx="1678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pic>
        <p:nvPicPr>
          <p:cNvPr id="49" name="Picture 48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025" y="2520950"/>
            <a:ext cx="187325" cy="98425"/>
          </a:xfrm>
          <a:prstGeom prst="rect">
            <a:avLst/>
          </a:prstGeom>
        </p:spPr>
      </p:pic>
      <p:pic>
        <p:nvPicPr>
          <p:cNvPr id="50" name="사진 5" descr="p05_i0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4346" y="1733550"/>
            <a:ext cx="2750604" cy="161925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043416" y="3524653"/>
            <a:ext cx="6233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39606" y="3726562"/>
            <a:ext cx="977665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75623" y="4091793"/>
            <a:ext cx="19610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487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17562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0487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175623" y="4625193"/>
            <a:ext cx="14990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pic>
        <p:nvPicPr>
          <p:cNvPr id="59" name="Picture 58" descr="p05_v0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8481" y="4978400"/>
            <a:ext cx="8555038" cy="299244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476750" y="5114925"/>
            <a:ext cx="3238500" cy="2857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960143" y="5158593"/>
            <a:ext cx="237219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돌아갑니다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53999" y="5722790"/>
            <a:ext cx="632765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는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검토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순서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정하고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최종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맡습니다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638" y="6234112"/>
            <a:ext cx="62369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B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scan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비교는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설명용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PV5: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실차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편집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10214" y="6615112"/>
            <a:ext cx="42053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05 / 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34002" y="296821"/>
            <a:ext cx="186503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GroundWatch 운영 파이프라인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18160" y="780417"/>
            <a:ext cx="8960457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전원·실내 공간·모듈화를 갖춘 PV5가 이동형 탐사실이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385624"/>
            <a:ext cx="8432145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GPR은 어느 차에나 달 수 있습니다. GroundWatch는 측정 장비와 재검증 장비, 판독 인력을 한 차에 싣고 현장에서 바로 일해야 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6600" y="1727200"/>
            <a:ext cx="4927600" cy="3352800"/>
          </a:xfrm>
          <a:prstGeom prst="roundRect">
            <a:avLst>
              <a:gd name="adj" fmla="val 3999"/>
            </a:avLst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1798681"/>
            <a:ext cx="197827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GroundWatch에 필요한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800" y="1798681"/>
            <a:ext cx="12128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PV5가 맞는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0" y="1798681"/>
            <a:ext cx="1173573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기존 방식의 한계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3400" y="2057400"/>
            <a:ext cx="25908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3479800" y="2057400"/>
            <a:ext cx="4521200" cy="0"/>
          </a:xfrm>
          <a:prstGeom prst="line">
            <a:avLst/>
          </a:prstGeom>
          <a:ln w="19050">
            <a:solidFill>
              <a:srgbClr val="C9960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382000" y="2057400"/>
            <a:ext cx="3276600" cy="0"/>
          </a:xfrm>
          <a:prstGeom prst="line">
            <a:avLst/>
          </a:prstGeom>
          <a:ln w="19050">
            <a:solidFill>
              <a:srgbClr val="9CA3AF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60400" y="2205695"/>
            <a:ext cx="104444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01  장비 전원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400" y="2463896"/>
            <a:ext cx="1650108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GPR·엣지 PC·AR 글래스 충전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9800" y="2205081"/>
            <a:ext cx="249053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실내·실외 V2L 220V · 최대 3.6kW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2500" y="2450900"/>
            <a:ext cx="4034878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러기지 콘센트와 실외 V2L 커넥터로 차량 배터리 전원을 장비에 바로 공급(선택 사양)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700" y="2225464"/>
            <a:ext cx="137887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별도 발전기·인버터가 필요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700" y="2396914"/>
            <a:ext cx="152073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발전기는 소음·진동·배기 발생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3400" y="2794000"/>
            <a:ext cx="25908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3479800" y="2794000"/>
            <a:ext cx="45212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8382000" y="2794000"/>
            <a:ext cx="32766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660400" y="2942295"/>
            <a:ext cx="1069691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02  넓은 실내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400" y="3200496"/>
            <a:ext cx="1859734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판독 공간과 재검증 장비를 한 차에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9800" y="2941681"/>
            <a:ext cx="308768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카고룸 2,255×1,565×1,520mm · 4,420L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2500" y="3187500"/>
            <a:ext cx="4072091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적재고 419mm·개구폭 1,343mm, 앉아서 판독하고 수동 GPR·내시경을 바로 꺼내 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700" y="2962064"/>
            <a:ext cx="162969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개방형 적재함은 탑 개조가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700" y="3133514"/>
            <a:ext cx="155210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 보호·실내 판독 공간 부족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3400" y="3530600"/>
            <a:ext cx="25908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3479800" y="3530600"/>
            <a:ext cx="45212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8382000" y="3530600"/>
            <a:ext cx="32766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660400" y="3678895"/>
            <a:ext cx="880156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03  모듈화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400" y="3937096"/>
            <a:ext cx="1480753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업무에 맞게 장비 구성 변경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9800" y="3678281"/>
            <a:ext cx="284768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L-Track·몰리 패널 · 플렉시블 바디 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2500" y="3924100"/>
            <a:ext cx="4145808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휠하우스·루프·격벽에 장비 랙을 고정·교체, 표준 차체에 루프·도어·테일게이트 모듈 조합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700" y="3698664"/>
            <a:ext cx="163007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차량마다 랙·브래킷을 새로 제작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700" y="3870114"/>
            <a:ext cx="126876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업무가 바뀌면 다시 개조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33400" y="4267200"/>
            <a:ext cx="25908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479800" y="4267200"/>
            <a:ext cx="45212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382000" y="4267200"/>
            <a:ext cx="32766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660400" y="4415495"/>
            <a:ext cx="1579799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04  새벽 주택가 주행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400" y="4673696"/>
            <a:ext cx="1447415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교통량이 적은 시간에 순찰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79800" y="4414881"/>
            <a:ext cx="289220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전기차 · 1회 충전 377km · 회전반경 5.5m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2500" y="4660700"/>
            <a:ext cx="3980275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엔진 소음·배기 없이 저속으로 오래 주행, 휠베이스 2,995mm에도 좁은 길에서 회전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94700" y="4435264"/>
            <a:ext cx="199101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내연기관은 공회전 소음·배기 민원 부담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94700" y="4606714"/>
            <a:ext cx="169417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포터·봉고 EV는 1회 충전 217km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3400" y="5130800"/>
            <a:ext cx="11125200" cy="50800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11200" y="5296917"/>
            <a:ext cx="134664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불리한 점도 밝힙니다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3400" y="5740400"/>
            <a:ext cx="11125200" cy="4572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54380" y="5863909"/>
            <a:ext cx="7352596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PV5는 GPR을 ‘달 수 있는’ 차가 아니라, </a:t>
            </a:r>
            <a:r>
              <a: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장비·전원·작업 공간을 한 번에 갖춘 이동형 탐사실</a:t>
            </a: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3400" y="6297454"/>
            <a:ext cx="748330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기아 PV5 카고 특징(실내·실외 V2L, 카고룸·적재고·개구폭·적재중량, L-Track·몰리 패널) · 기아 PV5 카고 제원(377km·전장·전폭) · 현대차그룹 「기아 PV5의 모든 것」(V2L 최대 3.6kW·4,420L)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3400" y="6424454"/>
            <a:ext cx="656656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현대차그룹 「플렉시블 바디 시스템」(2025.3.24) · 뉴스룸 PV5 테크 데이(2025.7.23, 회전반경) · 기아 봉고 III EV 제원, 현대차 포터 II 일렉트릭 카탈로그 · 장비 구성은 제안안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08013" y="6615113"/>
            <a:ext cx="42247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06 / 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4900" y="5222516"/>
            <a:ext cx="8583719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전폭 1,895mm로 포터·봉고 EV(1,740mm)보다 </a:t>
            </a:r>
            <a:r>
              <a:rPr sz="950" b="1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155mm 넓습니다</a:t>
            </a:r>
            <a:r>
              <a:rPr sz="950" b="0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 → 짧은 전장(4,695mm)·회전반경으로 보완하고 대상 도로에서 실측 비교 · GPR은 후방 하부 다채널 모듈로 장착,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74900" y="5385393"/>
            <a:ext cx="5777184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배터리 팩 간섭은 시험으로 확인(다음 장) · 장비 총중량·소비전력은 최대 적재 600kg·V2L 3.6kW 안에서 설계 [실증 필요]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34002" y="296821"/>
            <a:ext cx="73863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왜 PV5인가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764448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재검증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장비를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함께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싣는다</a:t>
            </a:r>
          </a:p>
        </p:txBody>
      </p:sp>
      <p:pic>
        <p:nvPicPr>
          <p:cNvPr id="9" name="Picture 8" descr="p07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0" y="2616200"/>
            <a:ext cx="1692275" cy="1873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3023" y="1461369"/>
            <a:ext cx="845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11" name="Oval 10"/>
          <p:cNvSpPr/>
          <p:nvPr/>
        </p:nvSpPr>
        <p:spPr>
          <a:xfrm>
            <a:off x="7429500" y="18288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512050" y="1884829"/>
            <a:ext cx="18409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2499" y="18365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4023" y="2138025"/>
            <a:ext cx="29817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Edge Gateway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엣지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컴퓨터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GPR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4023" y="2354433"/>
            <a:ext cx="31564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저장장치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네트워크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분배</a:t>
            </a:r>
          </a:p>
        </p:txBody>
      </p:sp>
      <p:sp>
        <p:nvSpPr>
          <p:cNvPr id="16" name="Oval 15"/>
          <p:cNvSpPr/>
          <p:nvPr/>
        </p:nvSpPr>
        <p:spPr>
          <a:xfrm>
            <a:off x="7429500" y="27432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517606" y="2799229"/>
            <a:ext cx="1727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499" y="2750990"/>
            <a:ext cx="170407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측면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4023" y="3052425"/>
            <a:ext cx="27833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밀착형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4023" y="3268833"/>
            <a:ext cx="29944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충전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보관함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이동국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교체형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안테나</a:t>
            </a:r>
          </a:p>
        </p:txBody>
      </p:sp>
      <p:sp>
        <p:nvSpPr>
          <p:cNvPr id="21" name="Oval 20"/>
          <p:cNvSpPr/>
          <p:nvPr/>
        </p:nvSpPr>
        <p:spPr>
          <a:xfrm>
            <a:off x="7429500" y="36576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11256" y="3713629"/>
            <a:ext cx="184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499" y="36653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4023" y="3966825"/>
            <a:ext cx="309768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라바콘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개인보호장비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29500" y="4438650"/>
            <a:ext cx="42291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pic>
        <p:nvPicPr>
          <p:cNvPr id="26" name="사진 1" descr="p07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4591050"/>
            <a:ext cx="1809750" cy="1028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22511" y="4631395"/>
            <a:ext cx="1676381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후방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하부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다채널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4035" y="5322973"/>
            <a:ext cx="16141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설계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판단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3400" y="575310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525018" y="5814337"/>
            <a:ext cx="2662570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2,255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1,565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1,520mm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066" y="6075829"/>
            <a:ext cx="181573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롱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카고룸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높이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(4,420L)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92118" y="5814337"/>
            <a:ext cx="874763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419mm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95166" y="6075829"/>
            <a:ext cx="10553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적재고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낮은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바닥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118" y="5814337"/>
            <a:ext cx="2340409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V2L 220V ·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최대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3.6kW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00166" y="6075829"/>
            <a:ext cx="138088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전원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40368" y="5814337"/>
            <a:ext cx="91778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12.9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인치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43416" y="6075829"/>
            <a:ext cx="16650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인포테인먼트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Patrol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15359" y="6615112"/>
            <a:ext cx="4153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07 / 13</a:t>
            </a:r>
          </a:p>
        </p:txBody>
      </p:sp>
      <p:pic>
        <p:nvPicPr>
          <p:cNvPr id="40" name="사진 2" descr="p07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409700"/>
            <a:ext cx="6343650" cy="4229100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3151787" y="3366108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259017" y="3437610"/>
            <a:ext cx="2008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4381176" y="2723042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494583" y="2794545"/>
            <a:ext cx="18847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5534911" y="2950007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641695" y="3021509"/>
            <a:ext cx="20172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8320" y="6342825"/>
            <a:ext cx="72532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[실증 필요] 적재중량·총중량·축하중·전자파 간섭·구조변경 승인 · 출처: 기아 PV5 카고 제원, 현대차그룹 · 장비 배치도: 콘셉트 이미지(생성 AI), 실제 장착 설계 아님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4035" y="4914541"/>
            <a:ext cx="13956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차체 후방 하부에 다채널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24035" y="5118757"/>
            <a:ext cx="142246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모듈을 장착하는 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34002" y="296821"/>
            <a:ext cx="1135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이동형 탐사실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차량에서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만든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작업자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시야까지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이어진다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2475" y="1500887"/>
            <a:ext cx="155745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732" y="1744515"/>
            <a:ext cx="125434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AI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84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44862" y="1500887"/>
            <a:ext cx="983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Patrol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5349" y="1744515"/>
            <a:ext cx="7892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35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577680" y="1500887"/>
            <a:ext cx="11277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Edge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62600" y="1744515"/>
            <a:ext cx="114480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동기화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485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9" name="Picture 18" descr="p08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6800" y="1397000"/>
            <a:ext cx="1968500" cy="6159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82755" y="1500887"/>
            <a:ext cx="7279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1625" y="1744515"/>
            <a:ext cx="10368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36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3" name="Picture 22" descr="p08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1850" y="1397000"/>
            <a:ext cx="1968500" cy="6159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405269" y="1500887"/>
            <a:ext cx="6925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4600" y="1744515"/>
            <a:ext cx="12210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다른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방향으로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교차검증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665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6780" y="2070651"/>
            <a:ext cx="5104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8650" y="2070651"/>
            <a:ext cx="61662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Fi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180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pic>
        <p:nvPicPr>
          <p:cNvPr id="30" name="Picture 29" descr="p08_v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4275" y="1628775"/>
            <a:ext cx="7283450" cy="1524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533400" y="2381250"/>
            <a:ext cx="5295900" cy="3143250"/>
          </a:xfrm>
          <a:prstGeom prst="rect">
            <a:avLst/>
          </a:prstGeom>
          <a:solidFill>
            <a:srgbClr val="2B3A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28650" y="2476500"/>
            <a:ext cx="1219200" cy="209550"/>
          </a:xfrm>
          <a:prstGeom prst="roundRect">
            <a:avLst>
              <a:gd name="adj" fmla="val 13636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8831" y="2518601"/>
            <a:ext cx="92777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운행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6542" y="5621995"/>
            <a:ext cx="25209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운전석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GroundWatch Patrol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304" y="5880863"/>
            <a:ext cx="36743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순찰경로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상태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안전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pic>
        <p:nvPicPr>
          <p:cNvPr id="36" name="사진 1" descr="p08_i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381250"/>
            <a:ext cx="5562600" cy="3149600"/>
          </a:xfrm>
          <a:prstGeom prst="rect">
            <a:avLst/>
          </a:prstGeom>
        </p:spPr>
      </p:pic>
      <p:pic>
        <p:nvPicPr>
          <p:cNvPr id="37" name="Picture 36" descr="p08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738" y="4135438"/>
            <a:ext cx="1968498" cy="739774"/>
          </a:xfrm>
          <a:prstGeom prst="rect">
            <a:avLst/>
          </a:prstGeom>
        </p:spPr>
      </p:pic>
      <p:cxnSp>
        <p:nvCxnSpPr>
          <p:cNvPr id="38" name="Connector 37"/>
          <p:cNvCxnSpPr/>
          <p:nvPr/>
        </p:nvCxnSpPr>
        <p:spPr>
          <a:xfrm>
            <a:off x="8515350" y="4343400"/>
            <a:ext cx="10572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39" name="Connector 38"/>
          <p:cNvCxnSpPr/>
          <p:nvPr/>
        </p:nvCxnSpPr>
        <p:spPr>
          <a:xfrm>
            <a:off x="8372475" y="4514850"/>
            <a:ext cx="134302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40" name="Connector 39"/>
          <p:cNvCxnSpPr/>
          <p:nvPr/>
        </p:nvCxnSpPr>
        <p:spPr>
          <a:xfrm>
            <a:off x="8229600" y="4686300"/>
            <a:ext cx="16287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pic>
        <p:nvPicPr>
          <p:cNvPr id="41" name="Picture 40" descr="p08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7338" y="4897438"/>
            <a:ext cx="1939923" cy="701674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9906000" y="5086350"/>
            <a:ext cx="10668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109994" y="5130737"/>
            <a:ext cx="72775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맨홀</a:t>
            </a:r>
          </a:p>
        </p:txBody>
      </p:sp>
      <p:pic>
        <p:nvPicPr>
          <p:cNvPr id="44" name="Picture 43" descr="p08_v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1063" y="4668838"/>
            <a:ext cx="206373" cy="206374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6286500" y="4362450"/>
            <a:ext cx="11811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490494" y="4405313"/>
            <a:ext cx="84205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경계석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0" y="2381250"/>
            <a:ext cx="5562600" cy="228600"/>
          </a:xfrm>
          <a:prstGeom prst="rect">
            <a:avLst/>
          </a:prstGeom>
          <a:solidFill>
            <a:srgbClr val="C62828">
              <a:alpha val="9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83436" y="2433258"/>
            <a:ext cx="34568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위치입니다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정밀조사와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관계기관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승인이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필요합니다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48400" y="2724150"/>
            <a:ext cx="2381250" cy="666750"/>
          </a:xfrm>
          <a:prstGeom prst="roundRect">
            <a:avLst>
              <a:gd name="adj" fmla="val 8571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95085" y="2820565"/>
            <a:ext cx="19254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0427 ·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/ 4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95847" y="3030772"/>
            <a:ext cx="1954124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0.9~1.3m · AI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84%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6038" y="3216487"/>
            <a:ext cx="1340979" cy="127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충족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142" y="5621995"/>
            <a:ext cx="320173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밖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작업자만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9904" y="5880863"/>
            <a:ext cx="41934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맨홀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경계석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·RTK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2~3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개로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위치를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맞추고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범위만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638" y="6215825"/>
            <a:ext cx="728253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미러링이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Fi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공동의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모양이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안내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운전자는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쓰지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8638" y="6392610"/>
            <a:ext cx="547120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배포와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파트너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API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수치는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8638" y="6633401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pic>
        <p:nvPicPr>
          <p:cNvPr id="58" name="사진 2" descr="p08_i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2381616"/>
            <a:ext cx="5295900" cy="3142518"/>
          </a:xfrm>
          <a:prstGeom prst="rect">
            <a:avLst/>
          </a:prstGeom>
        </p:spPr>
      </p:pic>
      <p:sp>
        <p:nvSpPr>
          <p:cNvPr id="59" name="Rectangle 58"/>
          <p:cNvSpPr/>
          <p:nvPr/>
        </p:nvSpPr>
        <p:spPr>
          <a:xfrm>
            <a:off x="628650" y="2476500"/>
            <a:ext cx="1219200" cy="2095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08990" y="2520125"/>
            <a:ext cx="9276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[화면 예시] 운행 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09059" y="6633401"/>
            <a:ext cx="42167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08 / 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30900" y="6392609"/>
            <a:ext cx="267151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· 실내 사진: Alexander Migl, CC BY-SA 4.0(화면 합성)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34002" y="296821"/>
            <a:ext cx="14849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 앱과 AR 현장 재확인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54142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상용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기술을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결합하고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통합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성능은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실증으로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확인한다</a:t>
            </a:r>
          </a:p>
        </p:txBody>
      </p:sp>
      <p:pic>
        <p:nvPicPr>
          <p:cNvPr id="9" name="Picture 8" descr="p09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9" y="1627982"/>
            <a:ext cx="251618" cy="1920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637" y="1592856"/>
            <a:ext cx="2270346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지금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쓸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있는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3400" y="2038350"/>
            <a:ext cx="53340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25780" y="2217485"/>
            <a:ext cx="3242810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이용한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3400" y="25717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525780" y="2714309"/>
            <a:ext cx="2952297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RTK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GNSS·IMU·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휠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인코더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3400" y="30670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525780" y="3208085"/>
            <a:ext cx="2120447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노면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3400" y="35623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25780" y="3704909"/>
            <a:ext cx="2663372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엣지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컴퓨터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처리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3400" y="40576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25780" y="4198685"/>
            <a:ext cx="1922010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GIS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이력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3400" y="45529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25780" y="4695509"/>
            <a:ext cx="335235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AAOS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인포테인먼트와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생태계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3400" y="50482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25780" y="5189285"/>
            <a:ext cx="3114222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인식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4100" y="1428750"/>
            <a:ext cx="5524500" cy="4133850"/>
          </a:xfrm>
          <a:prstGeom prst="roundRect">
            <a:avLst>
              <a:gd name="adj" fmla="val 2303"/>
            </a:avLst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6469856" y="1616869"/>
            <a:ext cx="71439" cy="0"/>
          </a:xfrm>
          <a:prstGeom prst="line">
            <a:avLst/>
          </a:prstGeom>
          <a:ln w="23812">
            <a:solidFill>
              <a:srgbClr val="8A5A00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6481761" y="1688306"/>
            <a:ext cx="47625" cy="0"/>
          </a:xfrm>
          <a:prstGeom prst="line">
            <a:avLst/>
          </a:prstGeom>
          <a:ln w="23812">
            <a:solidFill>
              <a:srgbClr val="8A5A00"/>
            </a:solidFill>
          </a:ln>
        </p:spPr>
      </p:cxnSp>
      <p:pic>
        <p:nvPicPr>
          <p:cNvPr id="28" name="Picture 27" descr="p09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461" y="1580357"/>
            <a:ext cx="218228" cy="287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34937" y="1592856"/>
            <a:ext cx="1740121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반드시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실증할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62700" y="2038350"/>
            <a:ext cx="5067300" cy="0"/>
          </a:xfrm>
          <a:prstGeom prst="line">
            <a:avLst/>
          </a:prstGeom>
          <a:ln w="19050">
            <a:solidFill>
              <a:srgbClr val="C99600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6355080" y="2199197"/>
            <a:ext cx="2930073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EV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구동계와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전자파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간섭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628965"/>
            <a:ext cx="320630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고정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상태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3055685"/>
            <a:ext cx="261575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적재중량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전후축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하중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제동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안정성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485452"/>
            <a:ext cx="2950723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V2L·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보조전원을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포함한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소비전력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915221"/>
            <a:ext cx="2864991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정확도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341941"/>
            <a:ext cx="2453829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감지의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탐지율과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오탐률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771709"/>
            <a:ext cx="2571298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야간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인식과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201476"/>
            <a:ext cx="3419029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배포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절차와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접근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362700" y="255270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6362700" y="2981325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6362700" y="340995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6362700" y="3838575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6362700" y="426720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6362700" y="4695825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362700" y="512445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sp>
        <p:nvSpPr>
          <p:cNvPr id="46" name="Rectangle 45"/>
          <p:cNvSpPr/>
          <p:nvPr/>
        </p:nvSpPr>
        <p:spPr>
          <a:xfrm>
            <a:off x="533400" y="5715000"/>
            <a:ext cx="11125200" cy="5334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53999" y="5862999"/>
            <a:ext cx="731825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기술의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존재가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차량에서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정확도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연결되는가입니다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08327" y="6615112"/>
            <a:ext cx="42247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09 / 13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24242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기술 검증 현황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12232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폐쇄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구간에서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도로까지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범위를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넓힌다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161" y="1373083"/>
            <a:ext cx="5857299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안정성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일관성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도로에서의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효용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순서로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685" y="3582565"/>
            <a:ext cx="13554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폐쇄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시험장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10000"/>
            <a:ext cx="2667000" cy="17526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8566" y="3963565"/>
            <a:ext cx="3823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518" y="4174513"/>
            <a:ext cx="1316251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통합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" y="4561079"/>
            <a:ext cx="17693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진동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사용량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" y="4789679"/>
            <a:ext cx="17693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전자파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통신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누락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7085" y="3058309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52800" y="3286125"/>
            <a:ext cx="2667000" cy="2276475"/>
          </a:xfrm>
          <a:prstGeom prst="rect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537966" y="3439309"/>
            <a:ext cx="40140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918" y="3653304"/>
            <a:ext cx="149722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7204" y="4036823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모사체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7204" y="4265423"/>
            <a:ext cx="15614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편차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7204" y="4494023"/>
            <a:ext cx="15645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신호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6485" y="2534053"/>
            <a:ext cx="11268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위험구간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762250"/>
            <a:ext cx="2667000" cy="2800350"/>
          </a:xfrm>
          <a:prstGeom prst="rect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57366" y="2915053"/>
            <a:ext cx="40616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4318" y="3129049"/>
            <a:ext cx="149721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6604" y="3512567"/>
            <a:ext cx="17868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지자체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조사기업과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6604" y="3741167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6604" y="3969767"/>
            <a:ext cx="16550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천공으로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85885" y="2009797"/>
            <a:ext cx="8824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운영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환경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91600" y="2238375"/>
            <a:ext cx="2667000" cy="3324225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76766" y="2390797"/>
            <a:ext cx="40775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4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3718" y="2604793"/>
            <a:ext cx="1087650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운영성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6004" y="2988311"/>
            <a:ext cx="122169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새벽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6004" y="3216911"/>
            <a:ext cx="18709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생성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도착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6004" y="3445511"/>
            <a:ext cx="13185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보정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성공률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6004" y="3674111"/>
            <a:ext cx="16550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수작업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입력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감소량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5753100"/>
            <a:ext cx="11125200" cy="457200"/>
          </a:xfrm>
          <a:prstGeom prst="rect">
            <a:avLst/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33400" y="5753100"/>
            <a:ext cx="47625" cy="4572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28307" y="6615112"/>
            <a:ext cx="40247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10 / 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5142" y="5868883"/>
            <a:ext cx="736565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정량 목표치는 파일럿 설계 때 발주기관과 확정합니다.</a:t>
            </a:r>
            <a:r>
              <a:rPr sz="14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지금은 근거 없는 정확도 수치를 제시하지 않습니다.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4242" y="296821"/>
            <a:ext cx="9986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단계별 실증 계획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12232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대의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순찰차에서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안전망으로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확장한다</a:t>
            </a:r>
          </a:p>
        </p:txBody>
      </p:sp>
      <p:pic>
        <p:nvPicPr>
          <p:cNvPr id="9" name="사진 1" descr="p11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20" y="1428750"/>
            <a:ext cx="6485496" cy="36480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7700" y="1543050"/>
            <a:ext cx="2400300" cy="228600"/>
          </a:xfrm>
          <a:prstGeom prst="roundRect">
            <a:avLst>
              <a:gd name="adj" fmla="val 125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7047" y="1582972"/>
            <a:ext cx="22560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5257800"/>
            <a:ext cx="209550" cy="57150"/>
          </a:xfrm>
          <a:prstGeom prst="rect">
            <a:avLst/>
          </a:prstGeom>
          <a:solidFill>
            <a:srgbClr val="E03131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4766" y="5191909"/>
            <a:ext cx="1225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매일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81250" y="5257800"/>
            <a:ext cx="209550" cy="5715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42616" y="5191909"/>
            <a:ext cx="14396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공사장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3900" y="5257800"/>
            <a:ext cx="209550" cy="57150"/>
          </a:xfrm>
          <a:prstGeom prst="rect">
            <a:avLst/>
          </a:prstGeom>
          <a:solidFill>
            <a:srgbClr val="4E8F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795266" y="5191909"/>
            <a:ext cx="7935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역세권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월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5505450"/>
            <a:ext cx="209550" cy="57150"/>
          </a:xfrm>
          <a:prstGeom prst="rect">
            <a:avLst/>
          </a:prstGeom>
          <a:solidFill>
            <a:srgbClr val="3BA55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4766" y="5438797"/>
            <a:ext cx="116657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일반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81250" y="5505450"/>
            <a:ext cx="209550" cy="571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42616" y="5438797"/>
            <a:ext cx="13475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8566" y="5438797"/>
            <a:ext cx="166813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주기는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발주기관과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합의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43800" y="1733550"/>
            <a:ext cx="0" cy="3352800"/>
          </a:xfrm>
          <a:prstGeom prst="line">
            <a:avLst/>
          </a:prstGeom>
          <a:ln w="19050">
            <a:solidFill>
              <a:srgbClr val="C9D3E2"/>
            </a:solidFill>
          </a:ln>
        </p:spPr>
      </p:cxnSp>
      <p:sp>
        <p:nvSpPr>
          <p:cNvPr id="24" name="Oval 23"/>
          <p:cNvSpPr/>
          <p:nvPr/>
        </p:nvSpPr>
        <p:spPr>
          <a:xfrm>
            <a:off x="7400925" y="1533525"/>
            <a:ext cx="285750" cy="285750"/>
          </a:xfrm>
          <a:prstGeom prst="ellipse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10462" y="159222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7400925" y="2371725"/>
            <a:ext cx="285750" cy="285750"/>
          </a:xfrm>
          <a:prstGeom prst="ellipse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00144" y="243042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7400925" y="3209925"/>
            <a:ext cx="285750" cy="285750"/>
          </a:xfrm>
          <a:prstGeom prst="ellipse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498556" y="326862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0" name="Oval 29"/>
          <p:cNvSpPr/>
          <p:nvPr/>
        </p:nvSpPr>
        <p:spPr>
          <a:xfrm>
            <a:off x="7400925" y="4048125"/>
            <a:ext cx="285750" cy="285750"/>
          </a:xfrm>
          <a:prstGeom prst="ellipse">
            <a:avLst/>
          </a:prstGeom>
          <a:solidFill>
            <a:srgbClr val="1C2F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496967" y="410682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2" name="Oval 31"/>
          <p:cNvSpPr/>
          <p:nvPr/>
        </p:nvSpPr>
        <p:spPr>
          <a:xfrm>
            <a:off x="7400925" y="4886325"/>
            <a:ext cx="285750" cy="28575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499348" y="494502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1549" y="1547030"/>
            <a:ext cx="64362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3073" y="1842369"/>
            <a:ext cx="22435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1549" y="23974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23073" y="26805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주기로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21549" y="3235623"/>
            <a:ext cx="13040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플릿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23073" y="35187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여러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권역을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나눠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1549" y="40738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23073" y="4356969"/>
            <a:ext cx="2567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강우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21549" y="4912023"/>
            <a:ext cx="191998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변화지도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23073" y="5195169"/>
            <a:ext cx="22023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접근권한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안에서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활용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7304" y="5862575"/>
            <a:ext cx="653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pic>
        <p:nvPicPr>
          <p:cNvPr id="45" name="Picture 44" descr="p11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275" y="5788025"/>
            <a:ext cx="1911352" cy="34925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20044" y="5877709"/>
            <a:ext cx="1376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도로관리</a:t>
            </a:r>
          </a:p>
        </p:txBody>
      </p:sp>
      <p:pic>
        <p:nvPicPr>
          <p:cNvPr id="47" name="Picture 46" descr="p11_v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2475" y="5788025"/>
            <a:ext cx="1816100" cy="3492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554412" y="5877709"/>
            <a:ext cx="13745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영향구간</a:t>
            </a:r>
          </a:p>
        </p:txBody>
      </p:sp>
      <p:pic>
        <p:nvPicPr>
          <p:cNvPr id="49" name="Picture 48" descr="p11_v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8425" y="5788025"/>
            <a:ext cx="1568450" cy="3492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456238" y="5877709"/>
            <a:ext cx="10951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상하수도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pic>
        <p:nvPicPr>
          <p:cNvPr id="51" name="Picture 50" descr="p11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6725" y="5788025"/>
            <a:ext cx="2292350" cy="3492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115173" y="5877709"/>
            <a:ext cx="17777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대형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발주기관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시공사</a:t>
            </a:r>
          </a:p>
        </p:txBody>
      </p:sp>
      <p:pic>
        <p:nvPicPr>
          <p:cNvPr id="53" name="Picture 52" descr="p11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8925" y="5788025"/>
            <a:ext cx="1739900" cy="34925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446419" y="5877709"/>
            <a:ext cx="12872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7685" y="6267853"/>
            <a:ext cx="78395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데이터는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.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내부의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서비스로만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제공합니다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46377" y="6615112"/>
            <a:ext cx="38452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11 / 13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24242" y="296821"/>
            <a:ext cx="72228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확장 가능성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지자체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용역으로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반복관제로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전환한다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160" y="1502794"/>
            <a:ext cx="65800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8156" y="1516762"/>
            <a:ext cx="162060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파일럿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용역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823" y="1842369"/>
            <a:ext cx="285001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거리와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0823" y="20709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보고서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pic>
        <p:nvPicPr>
          <p:cNvPr id="13" name="Picture 12" descr="p12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2044700"/>
            <a:ext cx="98425" cy="5207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8160" y="2645794"/>
            <a:ext cx="71195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2E4A7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8156" y="2659762"/>
            <a:ext cx="181745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연간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반복관제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0823" y="2985369"/>
            <a:ext cx="321515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감지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기관용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823" y="32139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긴급조사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옵션</a:t>
            </a:r>
          </a:p>
        </p:txBody>
      </p:sp>
      <p:pic>
        <p:nvPicPr>
          <p:cNvPr id="18" name="Picture 17" descr="p12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562" y="2678112"/>
            <a:ext cx="1120776" cy="2825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94125" y="2735221"/>
            <a:ext cx="8443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핵심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매출</a:t>
            </a:r>
          </a:p>
        </p:txBody>
      </p:sp>
      <p:pic>
        <p:nvPicPr>
          <p:cNvPr id="20" name="Picture 19" descr="p12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3187700"/>
            <a:ext cx="98425" cy="5207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8160" y="3788794"/>
            <a:ext cx="72274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8156" y="3802762"/>
            <a:ext cx="22238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소프트웨어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패키지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823" y="4128369"/>
            <a:ext cx="391547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컨버전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·Patrol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·Edge 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0823" y="4356969"/>
            <a:ext cx="33215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·AR·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교육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유지보수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1428750"/>
            <a:ext cx="4419600" cy="3429000"/>
          </a:xfrm>
          <a:prstGeom prst="roundRect">
            <a:avLst>
              <a:gd name="adj" fmla="val 2777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461885" y="1637941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구매자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123" y="1860657"/>
            <a:ext cx="22023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발주기관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1123" y="2089257"/>
            <a:ext cx="12720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공공시설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67600" y="24765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461885" y="2646829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사용자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123" y="2872593"/>
            <a:ext cx="1737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도로관리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담당자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123" y="3101193"/>
            <a:ext cx="1991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7600" y="348615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7461885" y="3658765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협력사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1123" y="3881481"/>
            <a:ext cx="19673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전문기업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·PV5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특장업체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123" y="4110081"/>
            <a:ext cx="21356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GIS·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클라우드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사업자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3400" y="5048250"/>
            <a:ext cx="11125200" cy="6667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56285" y="5201053"/>
            <a:ext cx="1871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수요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근거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3618" y="5393713"/>
            <a:ext cx="476747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16,423km ·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명으로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68016" y="5347463"/>
            <a:ext cx="22583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수요가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이미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늘고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304" y="5844287"/>
            <a:ext cx="71668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조달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접근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첫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계약은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조사기관과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수행해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실적과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신뢰를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확보하고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입증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인접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구역으로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304" y="6072887"/>
            <a:ext cx="44359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조사거리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감가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분석시간을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뒤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산정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638" y="6386512"/>
            <a:ext cx="54981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보도자료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「지반침하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예방체계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강화」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지하정보는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자에게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서비스로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467600" y="44704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7461250" y="45787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560624"/>
            <a:ext cx="3269337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컨버전 플릿 판매 · Pleos 앱 마켓 공공 업무 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29387" y="6615112"/>
            <a:ext cx="40144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12 / 13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사업 모델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73033" y="296821"/>
            <a:ext cx="114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B2G 비즈니스 모델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이어지는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85" y="1448965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5785" y="1448965"/>
            <a:ext cx="17015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해결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6785" y="1448965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개선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3400" y="169545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526923" y="1805793"/>
            <a:ext cx="22435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시점별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파일로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남는다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5023" y="1805793"/>
            <a:ext cx="28801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데이터를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누적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6023" y="1805793"/>
            <a:ext cx="21023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3400" y="21336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26923" y="2241657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구간을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사람이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찾아야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5023" y="2241657"/>
            <a:ext cx="24753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후보를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선별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6023" y="2241657"/>
            <a:ext cx="19197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검토시간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적중률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3400" y="257175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26923" y="2680569"/>
            <a:ext cx="25261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우선순위가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경험에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의존한다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023" y="2680569"/>
            <a:ext cx="2708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변화량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위험요인을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함께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6023" y="2680569"/>
            <a:ext cx="19197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고위험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3400" y="30099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26923" y="3119481"/>
            <a:ext cx="25674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현장에서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과거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찾기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어렵다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5023" y="3119481"/>
            <a:ext cx="28436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RTK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기준점으로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검색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6023" y="3119481"/>
            <a:ext cx="16371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탐색시간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3400" y="344805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26923" y="3558393"/>
            <a:ext cx="22023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넓은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정밀조사가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분리된다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5023" y="3558393"/>
            <a:ext cx="32754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작업으로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바로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6023" y="3558393"/>
            <a:ext cx="177846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횟수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인계시간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3400" y="38862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26923" y="3994257"/>
            <a:ext cx="242616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반영된다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5023" y="3994257"/>
            <a:ext cx="25356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66023" y="3994257"/>
            <a:ext cx="15958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완료율</a:t>
            </a:r>
          </a:p>
        </p:txBody>
      </p:sp>
      <p:pic>
        <p:nvPicPr>
          <p:cNvPr id="36" name="Picture 35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650" y="1885156"/>
            <a:ext cx="4540250" cy="2286794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8" name="사진 1" descr="p13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850" y="4565650"/>
            <a:ext cx="4883150" cy="2292350"/>
          </a:xfrm>
          <a:prstGeom prst="rect">
            <a:avLst/>
          </a:prstGeom>
        </p:spPr>
      </p:pic>
      <p:pic>
        <p:nvPicPr>
          <p:cNvPr id="39" name="사진 2" descr="p13_i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4572000"/>
            <a:ext cx="1905000" cy="228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26923" y="4832457"/>
            <a:ext cx="40859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가치는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만드는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데서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끝나지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6923" y="5088489"/>
            <a:ext cx="353823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측정을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판단과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연결합니다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54483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20446" y="5611074"/>
            <a:ext cx="27519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조기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발견이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0446" y="6056082"/>
            <a:ext cx="39425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무사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귀가가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되도록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5260" y="6584739"/>
            <a:ext cx="22693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 한 명이라도 살릴 수 있다면 · 13 / 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6017" y="6386354"/>
            <a:ext cx="177773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사진: Alexander Migl, CC BY-SA 4.0(편집)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기대 효과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3033" y="296821"/>
            <a:ext cx="127493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문제와 개선 결과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