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jp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사진 1" descr="p0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50609" y="6468915"/>
            <a:ext cx="5662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2026. 10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123" y="1918569"/>
            <a:ext cx="27769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아이디어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공모전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260922"/>
            <a:ext cx="1634894" cy="809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3034161"/>
            <a:ext cx="3699454" cy="666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70" y="3797196"/>
            <a:ext cx="255267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순찰차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815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1599" y="4588935"/>
            <a:ext cx="205708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반복해서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보고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9" y="4893735"/>
            <a:ext cx="27992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구멍이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되기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전의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변화를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찾습니다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266" y="5792365"/>
            <a:ext cx="4658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" y="6042937"/>
            <a:ext cx="231636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51816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9" name="사진 2" descr="p02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17976"/>
            <a:ext cx="6092952" cy="324002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972675" y="3590925"/>
            <a:ext cx="1028700" cy="1028700"/>
          </a:xfrm>
          <a:prstGeom prst="ellipse">
            <a:avLst/>
          </a:prstGeom>
          <a:solidFill>
            <a:srgbClr val="E5484D">
              <a:alpha val="1412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20325" y="3838575"/>
            <a:ext cx="533400" cy="533400"/>
          </a:xfrm>
          <a:prstGeom prst="ellipse">
            <a:avLst/>
          </a:prstGeom>
          <a:solidFill>
            <a:srgbClr val="E5484D">
              <a:alpha val="3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410825" y="4029075"/>
            <a:ext cx="152400" cy="152400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115300" y="3009900"/>
            <a:ext cx="2038350" cy="514350"/>
          </a:xfrm>
          <a:prstGeom prst="roundRect">
            <a:avLst>
              <a:gd name="adj" fmla="val 7407"/>
            </a:avLst>
          </a:prstGeom>
          <a:solidFill>
            <a:srgbClr val="0B1E3C">
              <a:alpha val="902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2935" y="3094886"/>
            <a:ext cx="14126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2025. 3. 24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697" y="3298996"/>
            <a:ext cx="14686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동남로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대명초교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사거리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인근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53650" y="3429000"/>
            <a:ext cx="190500" cy="514350"/>
          </a:xfrm>
          <a:prstGeom prst="line">
            <a:avLst/>
          </a:prstGeom>
          <a:ln w="11430">
            <a:solidFill>
              <a:srgbClr val="FFFFF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465570" y="5190132"/>
            <a:ext cx="173103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평범한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570" y="5607708"/>
            <a:ext cx="3985148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되었습니다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2238" y="6404801"/>
            <a:ext cx="46472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일대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© OpenStreetMap contributors 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위치는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인근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542" y="1278595"/>
            <a:ext cx="2432060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2025. 3. 24 ·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명일동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" y="1600329"/>
            <a:ext cx="31883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무너지기까지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1985778"/>
            <a:ext cx="2075095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1~2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4850" y="1985778"/>
            <a:ext cx="1338917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295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19684" y="3389188"/>
            <a:ext cx="1991460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22m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18m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4134" y="3537057"/>
            <a:ext cx="14666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붕괴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규모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96240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19684" y="4053652"/>
            <a:ext cx="888147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8508" y="4192377"/>
            <a:ext cx="3830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깊이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" y="46291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19684" y="4721164"/>
            <a:ext cx="2128599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사망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부상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3625" y="4872081"/>
            <a:ext cx="7068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피해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3400" y="5200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533400" y="5448300"/>
            <a:ext cx="38100" cy="5524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6280" y="5475797"/>
            <a:ext cx="190889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붕괴는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갑자기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보였지만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768404"/>
            <a:ext cx="27779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지하에서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시작됐습니다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638" y="6310312"/>
            <a:ext cx="39821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(2025.12.3),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최종보고서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4242" y="296821"/>
            <a:ext cx="842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 문제상황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6338" y="6615112"/>
            <a:ext cx="420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1C2B4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pic>
        <p:nvPicPr>
          <p:cNvPr id="8" name="사진 1" descr="p03_i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" y="1543050"/>
            <a:ext cx="6064250" cy="3857625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886075" y="21812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84500" y="22475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2209800"/>
            <a:ext cx="7429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28035" y="2247541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침하</a:t>
            </a:r>
          </a:p>
        </p:txBody>
      </p:sp>
      <p:sp>
        <p:nvSpPr>
          <p:cNvPr id="13" name="Oval 12"/>
          <p:cNvSpPr/>
          <p:nvPr/>
        </p:nvSpPr>
        <p:spPr>
          <a:xfrm>
            <a:off x="2886075" y="27717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83706" y="2838853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52650" y="2800350"/>
            <a:ext cx="704850" cy="228600"/>
          </a:xfrm>
          <a:prstGeom prst="roundRect">
            <a:avLst>
              <a:gd name="adj" fmla="val 16667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42185" y="2838853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17" name="Oval 16"/>
          <p:cNvSpPr/>
          <p:nvPr/>
        </p:nvSpPr>
        <p:spPr>
          <a:xfrm>
            <a:off x="3524250" y="33051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33788" y="3372253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3333750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975735" y="3372253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하수관</a:t>
            </a:r>
          </a:p>
        </p:txBody>
      </p:sp>
      <p:sp>
        <p:nvSpPr>
          <p:cNvPr id="21" name="Oval 20"/>
          <p:cNvSpPr/>
          <p:nvPr/>
        </p:nvSpPr>
        <p:spPr>
          <a:xfrm>
            <a:off x="771525" y="36671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70743" y="3734965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3950" y="3695700"/>
            <a:ext cx="118110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13485" y="3734965"/>
            <a:ext cx="10110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25" name="Oval 24"/>
          <p:cNvSpPr/>
          <p:nvPr/>
        </p:nvSpPr>
        <p:spPr>
          <a:xfrm>
            <a:off x="1638300" y="4210050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734344" y="4277509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00250" y="4238625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89785" y="4277509"/>
            <a:ext cx="855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굴착공사</a:t>
            </a:r>
          </a:p>
        </p:txBody>
      </p:sp>
      <p:sp>
        <p:nvSpPr>
          <p:cNvPr id="29" name="Oval 28"/>
          <p:cNvSpPr/>
          <p:nvPr/>
        </p:nvSpPr>
        <p:spPr>
          <a:xfrm>
            <a:off x="7067550" y="1504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67562" y="156174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9599" y="1519599"/>
            <a:ext cx="2166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시설물과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취약한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123" y="1824081"/>
            <a:ext cx="28500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오래된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하수관과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지층이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33" name="Oval 32"/>
          <p:cNvSpPr/>
          <p:nvPr/>
        </p:nvSpPr>
        <p:spPr>
          <a:xfrm>
            <a:off x="7067550" y="2266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57244" y="232374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9599" y="2281599"/>
            <a:ext cx="17739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123" y="2586081"/>
            <a:ext cx="285003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물이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새거나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빠지면서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약해집니다</a:t>
            </a:r>
          </a:p>
        </p:txBody>
      </p:sp>
      <p:sp>
        <p:nvSpPr>
          <p:cNvPr id="37" name="Oval 36"/>
          <p:cNvSpPr/>
          <p:nvPr/>
        </p:nvSpPr>
        <p:spPr>
          <a:xfrm>
            <a:off x="7067550" y="3028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55656" y="308574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9599" y="3043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유실과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1123" y="3348081"/>
            <a:ext cx="275001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쓸려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나간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자리에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빈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공간이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생깁니다</a:t>
            </a:r>
          </a:p>
        </p:txBody>
      </p:sp>
      <p:sp>
        <p:nvSpPr>
          <p:cNvPr id="41" name="Oval 40"/>
          <p:cNvSpPr/>
          <p:nvPr/>
        </p:nvSpPr>
        <p:spPr>
          <a:xfrm>
            <a:off x="7067550" y="3790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54067" y="384774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9599" y="3805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61123" y="4110081"/>
            <a:ext cx="270873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공사의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영향이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겹칩니다</a:t>
            </a:r>
          </a:p>
        </p:txBody>
      </p:sp>
      <p:sp>
        <p:nvSpPr>
          <p:cNvPr id="45" name="Oval 44"/>
          <p:cNvSpPr/>
          <p:nvPr/>
        </p:nvSpPr>
        <p:spPr>
          <a:xfrm>
            <a:off x="7067550" y="4552950"/>
            <a:ext cx="266700" cy="2667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156448" y="46097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9599" y="4567599"/>
            <a:ext cx="12548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61123" y="4872081"/>
            <a:ext cx="31326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상부가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버티지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못하고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보행자가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노출됩니다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200900" y="1790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200900" y="2552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7200900" y="3314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7200900" y="4076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53" name="Rounded Rectangle 52"/>
          <p:cNvSpPr/>
          <p:nvPr/>
        </p:nvSpPr>
        <p:spPr>
          <a:xfrm>
            <a:off x="533400" y="5562600"/>
            <a:ext cx="11125200" cy="800100"/>
          </a:xfrm>
          <a:prstGeom prst="roundRect">
            <a:avLst>
              <a:gd name="adj" fmla="val 952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56285" y="5694829"/>
            <a:ext cx="1249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85" y="5944765"/>
            <a:ext cx="31366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직접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심층풍화대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내부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불연속면이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쐐기형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토체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867650" y="5715000"/>
            <a:ext cx="0" cy="49530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8089392" y="5658571"/>
            <a:ext cx="200342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균열만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기다리지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9392" y="5887171"/>
            <a:ext cx="170816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9392" y="6115771"/>
            <a:ext cx="1564972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계속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기록해야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638" y="6615112"/>
            <a:ext cx="539817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단면도는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원리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3D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4242" y="296821"/>
            <a:ext cx="1240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사고가 발생하는 과정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06585" y="6615112"/>
            <a:ext cx="4237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6285" y="6152029"/>
            <a:ext cx="58187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간접 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터널공사로 지하수위가 약 3m에서 26m 깊이까지 저하 · 노후 하수관 장기 누수 · 지보 성능 한계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8160" y="780417"/>
            <a:ext cx="7667343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보이지 않는 변화가 겹치며 도로 붕괴로 이어집니다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4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1450"/>
            <a:ext cx="4953000" cy="2832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8638" y="4329113"/>
            <a:ext cx="33624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The Charles Machine Works, CC BY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SA 2.0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3400" y="4686300"/>
            <a:ext cx="4953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21970" y="4827420"/>
            <a:ext cx="1530577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33,129km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" y="5219341"/>
            <a:ext cx="119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누적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85" y="5411365"/>
            <a:ext cx="9505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2014~2025.9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8395" y="4827420"/>
            <a:ext cx="1213522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7,760</a:t>
            </a: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4110" y="5219341"/>
            <a:ext cx="6061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110" y="5411365"/>
            <a:ext cx="728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발견한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495" y="4827420"/>
            <a:ext cx="1535104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16,423km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210" y="5219341"/>
            <a:ext cx="11030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6210" y="5411365"/>
            <a:ext cx="1352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7123" y="1479657"/>
            <a:ext cx="10243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현재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18192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28531" y="1860339"/>
            <a:ext cx="1357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9261" y="1830283"/>
            <a:ext cx="31813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대상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1621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19800" y="2201715"/>
            <a:ext cx="15371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9261" y="2174707"/>
            <a:ext cx="346451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도로를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스캔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(1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약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3m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27" name="Oval 26"/>
          <p:cNvSpPr/>
          <p:nvPr/>
        </p:nvSpPr>
        <p:spPr>
          <a:xfrm>
            <a:off x="5943600" y="25050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18212" y="2546139"/>
            <a:ext cx="1573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9261" y="2516083"/>
            <a:ext cx="26685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28479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016624" y="2887515"/>
            <a:ext cx="15966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9261" y="2860507"/>
            <a:ext cx="234790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33" name="Oval 32"/>
          <p:cNvSpPr/>
          <p:nvPr/>
        </p:nvSpPr>
        <p:spPr>
          <a:xfrm>
            <a:off x="5943600" y="31908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019006" y="3231939"/>
            <a:ext cx="1558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9261" y="3201883"/>
            <a:ext cx="282415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교통통제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35337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018212" y="3573315"/>
            <a:ext cx="15780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9261" y="3546307"/>
            <a:ext cx="21097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확인되면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재포장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37123" y="4033881"/>
            <a:ext cx="2626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공백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· 2024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성산로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629150"/>
            <a:ext cx="4391025" cy="133350"/>
          </a:xfrm>
          <a:prstGeom prst="rect">
            <a:avLst/>
          </a:prstGeom>
          <a:solidFill>
            <a:srgbClr val="F5B700">
              <a:alpha val="2784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6286500" y="4695825"/>
            <a:ext cx="5143500" cy="0"/>
          </a:xfrm>
          <a:prstGeom prst="line">
            <a:avLst/>
          </a:prstGeom>
          <a:ln w="19050">
            <a:solidFill>
              <a:srgbClr val="9AA3AF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6195219" y="4832139"/>
            <a:ext cx="2605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1723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2994" y="4832139"/>
            <a:ext cx="2542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94898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4150" y="4619625"/>
            <a:ext cx="381000" cy="152400"/>
          </a:xfrm>
          <a:prstGeom prst="roundRect">
            <a:avLst>
              <a:gd name="adj" fmla="val 1875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528435" y="4381141"/>
            <a:ext cx="21698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5.7~16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미발견</a:t>
            </a:r>
          </a:p>
        </p:txBody>
      </p:sp>
      <p:sp>
        <p:nvSpPr>
          <p:cNvPr id="48" name="Oval 47"/>
          <p:cNvSpPr/>
          <p:nvPr/>
        </p:nvSpPr>
        <p:spPr>
          <a:xfrm>
            <a:off x="11220450" y="4610100"/>
            <a:ext cx="171450" cy="1714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601617" y="4381141"/>
            <a:ext cx="9157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8.29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도로함몰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37436" y="5061057"/>
            <a:ext cx="34374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어디에도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기록되지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않았습니다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40575" y="5335165"/>
            <a:ext cx="40129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실패가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말해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준다는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뜻입니다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3400" y="57150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28638" y="6328601"/>
            <a:ext cx="673326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경향신문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(2025.10.19)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차량탑재형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뉴시스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(2024.8.30)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함몰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3999" y="5844711"/>
            <a:ext cx="9172913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기술은 그대로,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바꾸는 것은 탐사 방식입니다.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한 번 재고 끝나는 조사를 반복 관측과 현장 재확인으로 잇습니다.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기존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73033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조사 방식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05838" y="6615112"/>
            <a:ext cx="4245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160" y="780417"/>
            <a:ext cx="885187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서울시는 이미 넓게 탐사하고, 의심 지점을 다시 확인합니다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26161" y="1373083"/>
            <a:ext cx="655262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끝내지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보며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달라진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곳만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pic>
        <p:nvPicPr>
          <p:cNvPr id="9" name="사진 1" descr="p05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20850"/>
            <a:ext cx="2609850" cy="1638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8066" y="3524653"/>
            <a:ext cx="5970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25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0273" y="4091793"/>
            <a:ext cx="16371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순찰구간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027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새벽에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0273" y="4625193"/>
            <a:ext cx="15260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pic>
        <p:nvPicPr>
          <p:cNvPr id="18" name="Picture 17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25" y="2520950"/>
            <a:ext cx="187325" cy="98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371850" y="1733550"/>
            <a:ext cx="2609850" cy="1619250"/>
          </a:xfrm>
          <a:prstGeom prst="rect">
            <a:avLst/>
          </a:prstGeom>
          <a:solidFill>
            <a:srgbClr val="2A2E3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0" name="사진 2" descr="p05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733550"/>
            <a:ext cx="2647743" cy="790575"/>
          </a:xfrm>
          <a:prstGeom prst="rect">
            <a:avLst/>
          </a:prstGeom>
        </p:spPr>
      </p:pic>
      <p:pic>
        <p:nvPicPr>
          <p:cNvPr id="21" name="사진 3" descr="p05_i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2562225"/>
            <a:ext cx="2647743" cy="79057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429000" y="1790700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494088" y="1811572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619375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94088" y="2640627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2733675"/>
            <a:ext cx="1352550" cy="552450"/>
          </a:xfrm>
          <a:prstGeom prst="rect">
            <a:avLst/>
          </a:prstGeom>
          <a:noFill/>
          <a:ln w="23812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66516" y="3524653"/>
            <a:ext cx="61679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270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498723" y="4091793"/>
            <a:ext cx="18911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시간으로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98723" y="4356969"/>
            <a:ext cx="18229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98723" y="4625193"/>
            <a:ext cx="19197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원시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pic>
        <p:nvPicPr>
          <p:cNvPr id="35" name="Picture 34" descr="p05_v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575" y="2520950"/>
            <a:ext cx="187325" cy="98425"/>
          </a:xfrm>
          <a:prstGeom prst="rect">
            <a:avLst/>
          </a:prstGeom>
        </p:spPr>
      </p:pic>
      <p:pic>
        <p:nvPicPr>
          <p:cNvPr id="36" name="사진 4" descr="p05_i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1720850"/>
            <a:ext cx="2609850" cy="1638300"/>
          </a:xfrm>
          <a:prstGeom prst="rect">
            <a:avLst/>
          </a:prstGeom>
        </p:spPr>
      </p:pic>
      <p:pic>
        <p:nvPicPr>
          <p:cNvPr id="37" name="Picture 36" descr="p05_v0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1525" y="2616200"/>
            <a:ext cx="949325" cy="377825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67450" y="1790700"/>
            <a:ext cx="99060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80161" y="1811572"/>
            <a:ext cx="8431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966" y="3524653"/>
            <a:ext cx="6207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1156" y="3726562"/>
            <a:ext cx="117451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37173" y="4091793"/>
            <a:ext cx="20022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337173" y="4356969"/>
            <a:ext cx="20546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+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재탐사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03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337173" y="4625193"/>
            <a:ext cx="1678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pic>
        <p:nvPicPr>
          <p:cNvPr id="48" name="Picture 47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025" y="2520950"/>
            <a:ext cx="187325" cy="98425"/>
          </a:xfrm>
          <a:prstGeom prst="rect">
            <a:avLst/>
          </a:prstGeom>
        </p:spPr>
      </p:pic>
      <p:pic>
        <p:nvPicPr>
          <p:cNvPr id="49" name="사진 5" descr="p05_i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4346" y="1733550"/>
            <a:ext cx="2750604" cy="16192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043416" y="3524653"/>
            <a:ext cx="6233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9606" y="3726562"/>
            <a:ext cx="97766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75623" y="4091793"/>
            <a:ext cx="19610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487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7562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487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75623" y="4625193"/>
            <a:ext cx="14990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pic>
        <p:nvPicPr>
          <p:cNvPr id="58" name="Picture 57" descr="p05_v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8481" y="4978400"/>
            <a:ext cx="8555038" cy="299244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4476750" y="5114925"/>
            <a:ext cx="32385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960143" y="5158593"/>
            <a:ext cx="23721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돌아갑니다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53999" y="5722790"/>
            <a:ext cx="63276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검토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순서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정하고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맡습니다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638" y="6234112"/>
            <a:ext cx="62369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scan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비교는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PV5: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실차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편집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34002" y="296821"/>
            <a:ext cx="18650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GroundWatch 운영 파이프라인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8862" y="6615112"/>
            <a:ext cx="4213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160" y="780417"/>
            <a:ext cx="8084157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 순찰이 탐사 결과를 다음 현장 업무로 연결합니다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Picture 7" descr="p06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0" y="2616200"/>
            <a:ext cx="1692275" cy="1873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3023" y="1461369"/>
            <a:ext cx="845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0" name="Oval 9"/>
          <p:cNvSpPr/>
          <p:nvPr/>
        </p:nvSpPr>
        <p:spPr>
          <a:xfrm>
            <a:off x="7429500" y="18288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12050" y="1884829"/>
            <a:ext cx="1840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2499" y="18365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4023" y="2138025"/>
            <a:ext cx="29817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Edge Gateway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GPR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4023" y="2354433"/>
            <a:ext cx="31564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저장장치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네트워크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분배</a:t>
            </a:r>
          </a:p>
        </p:txBody>
      </p:sp>
      <p:sp>
        <p:nvSpPr>
          <p:cNvPr id="15" name="Oval 14"/>
          <p:cNvSpPr/>
          <p:nvPr/>
        </p:nvSpPr>
        <p:spPr>
          <a:xfrm>
            <a:off x="7429500" y="27432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17606" y="2799229"/>
            <a:ext cx="1727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499" y="2750990"/>
            <a:ext cx="170407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측면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4023" y="3052425"/>
            <a:ext cx="27833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밀착형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4023" y="3268833"/>
            <a:ext cx="29944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충전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보관함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이동국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교체형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안테나</a:t>
            </a:r>
          </a:p>
        </p:txBody>
      </p:sp>
      <p:sp>
        <p:nvSpPr>
          <p:cNvPr id="20" name="Oval 19"/>
          <p:cNvSpPr/>
          <p:nvPr/>
        </p:nvSpPr>
        <p:spPr>
          <a:xfrm>
            <a:off x="7429500" y="36576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11256" y="3713629"/>
            <a:ext cx="184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2499" y="36653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4023" y="3966825"/>
            <a:ext cx="30976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라바콘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개인보호장비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29500" y="4438650"/>
            <a:ext cx="42291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5" name="사진 1" descr="p06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91050"/>
            <a:ext cx="1809750" cy="10287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424035" y="5322973"/>
            <a:ext cx="16141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설계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판단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57531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29" name="사진 2" descr="p06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09700"/>
            <a:ext cx="6343650" cy="42291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3151787" y="3366108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59017" y="3437610"/>
            <a:ext cx="2008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2" name="Oval 31"/>
          <p:cNvSpPr/>
          <p:nvPr/>
        </p:nvSpPr>
        <p:spPr>
          <a:xfrm>
            <a:off x="4381176" y="2723042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494583" y="2794545"/>
            <a:ext cx="18847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5534911" y="2950007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641695" y="3021509"/>
            <a:ext cx="2017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34002" y="296821"/>
            <a:ext cx="1135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이동형 탐사실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22511" y="4631395"/>
            <a:ext cx="165795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 하부 다채널 GPR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24035" y="4914541"/>
            <a:ext cx="16719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화물실 바닥 아래 차체 하부에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35" y="5118757"/>
            <a:ext cx="181949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다채널 GPR 모듈을 장착하는 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5825195"/>
            <a:ext cx="111947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적재·전력 예산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6070696"/>
            <a:ext cx="92868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[가설] 실증 필요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1000" y="5820687"/>
            <a:ext cx="18946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300kg / 600kg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1000" y="6083703"/>
            <a:ext cx="162153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합계 · 최대 적재의 절반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5820687"/>
            <a:ext cx="1851347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1.5kW / 3.6kW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5500" y="6083703"/>
            <a:ext cx="16265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소비전력 · V2L 최대 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90000" y="5820687"/>
            <a:ext cx="21371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10kWh / 71.2kWh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0000" y="6083703"/>
            <a:ext cx="197386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 주행+장비 · 배터리의 약 15%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320" y="6297454"/>
            <a:ext cx="7725849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[실증 필요] 적재중량·총중량·축하중·전자파 간섭·구조변경 승인 · 장비 배치도: 콘셉트 이미지(생성 AI), 실제 장착 설계 아님 · 출처: 기아 PV5 카고 제원(적재 600kg·V2L 3.6kW·배터리 71.2kWh), 현대차그룹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320" y="6418104"/>
            <a:ext cx="4712043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예산 가정값: 수동 GPR 카트 27~34kg(GSSI UtilityScan Pro 유통사 제원) · 하루 3시간·시속 10km 순찰 · 장비 1.5kW 이하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8160" y="780417"/>
            <a:ext cx="826246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한 대가 측정 장비와 재검증 장비를 함께 싣습니다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Rounded Rectangle 7"/>
          <p:cNvSpPr/>
          <p:nvPr/>
        </p:nvSpPr>
        <p:spPr>
          <a:xfrm>
            <a:off x="5334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2475" y="1500887"/>
            <a:ext cx="155745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732" y="1744515"/>
            <a:ext cx="125434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AI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84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44862" y="1500887"/>
            <a:ext cx="983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Patrol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349" y="1744515"/>
            <a:ext cx="7892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77680" y="1500887"/>
            <a:ext cx="11277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Edge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2600" y="1744515"/>
            <a:ext cx="11448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동기화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485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8" name="Picture 17" descr="p07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1397000"/>
            <a:ext cx="1968500" cy="615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82755" y="1500887"/>
            <a:ext cx="727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1625" y="1744515"/>
            <a:ext cx="10368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536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2" name="Picture 21" descr="p07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1850" y="1397000"/>
            <a:ext cx="1968500" cy="6159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05269" y="1500887"/>
            <a:ext cx="6925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34600" y="1744515"/>
            <a:ext cx="12210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방향으로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교차검증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665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6780" y="2070651"/>
            <a:ext cx="5104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8650" y="2070651"/>
            <a:ext cx="61662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180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29" name="Picture 28" descr="p07_v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4275" y="1628775"/>
            <a:ext cx="7283450" cy="1524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33400" y="2381250"/>
            <a:ext cx="5295900" cy="3143250"/>
          </a:xfrm>
          <a:prstGeom prst="rect">
            <a:avLst/>
          </a:prstGeom>
          <a:solidFill>
            <a:srgbClr val="2B3A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28650" y="2476500"/>
            <a:ext cx="1219200" cy="209550"/>
          </a:xfrm>
          <a:prstGeom prst="roundRect">
            <a:avLst>
              <a:gd name="adj" fmla="val 13636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8831" y="2518601"/>
            <a:ext cx="92777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운행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542" y="5621995"/>
            <a:ext cx="25209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운전석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GroundWatch Patrol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pic>
        <p:nvPicPr>
          <p:cNvPr id="34" name="사진 1" descr="p07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81250"/>
            <a:ext cx="5562600" cy="3149600"/>
          </a:xfrm>
          <a:prstGeom prst="rect">
            <a:avLst/>
          </a:prstGeom>
        </p:spPr>
      </p:pic>
      <p:pic>
        <p:nvPicPr>
          <p:cNvPr id="35" name="Picture 34" descr="p07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738" y="4135438"/>
            <a:ext cx="1968498" cy="739774"/>
          </a:xfrm>
          <a:prstGeom prst="rect">
            <a:avLst/>
          </a:prstGeom>
        </p:spPr>
      </p:pic>
      <p:cxnSp>
        <p:nvCxnSpPr>
          <p:cNvPr id="36" name="Connector 35"/>
          <p:cNvCxnSpPr/>
          <p:nvPr/>
        </p:nvCxnSpPr>
        <p:spPr>
          <a:xfrm>
            <a:off x="8515350" y="4343400"/>
            <a:ext cx="10572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7" name="Connector 36"/>
          <p:cNvCxnSpPr/>
          <p:nvPr/>
        </p:nvCxnSpPr>
        <p:spPr>
          <a:xfrm>
            <a:off x="8372475" y="4514850"/>
            <a:ext cx="134302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8" name="Connector 37"/>
          <p:cNvCxnSpPr/>
          <p:nvPr/>
        </p:nvCxnSpPr>
        <p:spPr>
          <a:xfrm>
            <a:off x="8229600" y="4686300"/>
            <a:ext cx="16287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pic>
        <p:nvPicPr>
          <p:cNvPr id="39" name="Picture 38" descr="p07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7338" y="4897438"/>
            <a:ext cx="1939923" cy="701674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906000" y="5086350"/>
            <a:ext cx="10668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09994" y="5130737"/>
            <a:ext cx="7277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맨홀</a:t>
            </a:r>
          </a:p>
        </p:txBody>
      </p:sp>
      <p:pic>
        <p:nvPicPr>
          <p:cNvPr id="42" name="Picture 41" descr="p07_v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063" y="4668838"/>
            <a:ext cx="206373" cy="206374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86500" y="4362450"/>
            <a:ext cx="11811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90494" y="4405313"/>
            <a:ext cx="8420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경계석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0" y="2381250"/>
            <a:ext cx="5562600" cy="228600"/>
          </a:xfrm>
          <a:prstGeom prst="rect">
            <a:avLst/>
          </a:prstGeom>
          <a:solidFill>
            <a:srgbClr val="C62828">
              <a:alpha val="9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183436" y="2433258"/>
            <a:ext cx="34568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위치입니다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정밀조사와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관계기관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필요합니다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8400" y="2724150"/>
            <a:ext cx="2381250" cy="666750"/>
          </a:xfrm>
          <a:prstGeom prst="roundRect">
            <a:avLst>
              <a:gd name="adj" fmla="val 8571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95085" y="2820565"/>
            <a:ext cx="19254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0427 ·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/ 4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5847" y="3030772"/>
            <a:ext cx="195412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0.9~1.3m · AI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84%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6038" y="3216487"/>
            <a:ext cx="1340979" cy="127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142" y="5621995"/>
            <a:ext cx="320173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밖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작업자만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5880863"/>
            <a:ext cx="41934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맨홀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경계석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·RTK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2~3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맞추고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범위만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638" y="6215825"/>
            <a:ext cx="72825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미러링이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모양이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안내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운전자는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쓰지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638" y="6392610"/>
            <a:ext cx="54712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배포와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파트너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수치는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33401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56" name="사진 2" descr="p07_i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81616"/>
            <a:ext cx="5295900" cy="314251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650" y="2476500"/>
            <a:ext cx="1219200" cy="2095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08990" y="2520125"/>
            <a:ext cx="9276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[화면 예시] 운행 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30900" y="6392609"/>
            <a:ext cx="267151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· 실내 사진: Alexander Migl, CC BY-SA 4.0(화면 합성)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34002" y="296821"/>
            <a:ext cx="14849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앱과 AR 현장 재확인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7304" y="5880863"/>
            <a:ext cx="367272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순찰경로·재확인 지점·장비 상태, 도착 전 안전 정차 위치 안내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14264" y="6615113"/>
            <a:ext cx="416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160" y="780417"/>
            <a:ext cx="865489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차량에서 만든 재확인 업무가 작업자 시야까지 이어집니다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8593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PV5로 바꾸면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45766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 차량을 PV5로 바꾸면, GPR이 차에 꽂히는 모듈이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68683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싣고, 켜고, 고정하고, 복제하는 것까지 PV5가 기본으로 갖춘 구조 위에서 GPR 장비가 돌아갑니다.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08013" y="6615113"/>
            <a:ext cx="42245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  <p:pic>
        <p:nvPicPr>
          <p:cNvPr id="13" name="사진 1" descr="p08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52" y="1673860"/>
            <a:ext cx="2607945" cy="173863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09600" y="1750060"/>
            <a:ext cx="91963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3100" y="1771439"/>
            <a:ext cx="86854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카고룸 4,420L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3524653"/>
            <a:ext cx="82182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727071"/>
            <a:ext cx="11773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넉넉한 적재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4092301"/>
            <a:ext cx="194654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카고룸 4,420L·최대 600kg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6750" y="4357731"/>
            <a:ext cx="183612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GPR·카트·엣지 PC 한 번에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4623161"/>
            <a:ext cx="175125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내시경·안전장비까지 적재</a:t>
            </a:r>
          </a:p>
        </p:txBody>
      </p:sp>
      <p:pic>
        <p:nvPicPr>
          <p:cNvPr id="24" name="사진 2" descr="p08_i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850" y="1674637"/>
            <a:ext cx="2609850" cy="173707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48050" y="1750060"/>
            <a:ext cx="790525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11550" y="1771439"/>
            <a:ext cx="73914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V2L 3.6kW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71850" y="3524653"/>
            <a:ext cx="84160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3727071"/>
            <a:ext cx="97983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즉시 전원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05200" y="4092301"/>
            <a:ext cx="200580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실내·실외 V2L 220V 3.6kW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05200" y="4357731"/>
            <a:ext cx="21209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제어부·엣지 PC 상시 구동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05200" y="4623161"/>
            <a:ext cx="164443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AR·수동 GPR 바로 충전</a:t>
            </a:r>
          </a:p>
        </p:txBody>
      </p:sp>
      <p:pic>
        <p:nvPicPr>
          <p:cNvPr id="35" name="사진 3" descr="p08_i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1252" y="1673860"/>
            <a:ext cx="2607946" cy="173863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286500" y="1750060"/>
            <a:ext cx="96279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0" y="1771439"/>
            <a:ext cx="9113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L-Track·마운팅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0300" y="3524653"/>
            <a:ext cx="84556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0300" y="3727071"/>
            <a:ext cx="1189236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레일·마운팅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343650" y="4092301"/>
            <a:ext cx="16579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L-Track·몰리 패널 기본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03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43650" y="435773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 모듈을 레일에 고정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343650" y="4623161"/>
            <a:ext cx="17413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하부 GPR·루프 RTK 장착</a:t>
            </a:r>
          </a:p>
        </p:txBody>
      </p:sp>
      <p:pic>
        <p:nvPicPr>
          <p:cNvPr id="46" name="사진 4" descr="p08_i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9702" y="1673860"/>
            <a:ext cx="2607945" cy="17386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9124950" y="1750060"/>
            <a:ext cx="705073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88450" y="1771439"/>
            <a:ext cx="65408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컨버전 포털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48750" y="3524653"/>
            <a:ext cx="84815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8750" y="3727071"/>
            <a:ext cx="1374860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컨버전 생태계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182100" y="4092301"/>
            <a:ext cx="176347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포털 3D 데이터·인증 자료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487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82100" y="4357731"/>
            <a:ext cx="168109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장착을 표준 사양화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487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82100" y="4623161"/>
            <a:ext cx="150674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여러 대에 그대로 복제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828800" y="5251450"/>
            <a:ext cx="85344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58" name="Rectangle 57"/>
          <p:cNvSpPr/>
          <p:nvPr/>
        </p:nvSpPr>
        <p:spPr>
          <a:xfrm>
            <a:off x="4093480" y="5118100"/>
            <a:ext cx="4005039" cy="279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4245880" y="5159101"/>
            <a:ext cx="379783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개조해서 매다는 짐이 아니라, 처음부터 끼우는 모듈입니다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54380" y="5722283"/>
            <a:ext cx="602686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탐사차를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 대씩 개조하지 않고, 표준 사양으로 여러 대에 복제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320" y="6221254"/>
            <a:ext cx="736157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가격표·제원(2026.10: 카고룸·최대 적재·V2L) · 기아 PV5 카고 특징(L-Track·몰리 패널·워크스테이션) · 현대차그룹 PV5 테크 데이(2025.7.23: 차체 마운팅 구조·컨버전 포털)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320" y="6341904"/>
            <a:ext cx="217353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이미지: 콘셉트 이미지(생성 AI) · 관제 화면은 설명용 예시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10149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왜 지금 PV5인가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861336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 탐사 차량을 늘린다면, 조건에 맞는 차는 PV5입니다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6174446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기능에 더해 운영 조건·정책·수요·비용까지, 지금 PV5가 맞는 이유는 네 가지입니다.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1673860"/>
            <a:ext cx="2609850" cy="173863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7781" y="2205189"/>
            <a:ext cx="1970049" cy="603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8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공회전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82" y="2887113"/>
            <a:ext cx="182759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정차한 채 장비를 켜도 엔진 정지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71850" y="1673860"/>
            <a:ext cx="2609850" cy="173863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013436" y="2205189"/>
            <a:ext cx="1615726" cy="603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8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7293" y="2887113"/>
            <a:ext cx="16021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공공부문 무공해차 의무구매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0300" y="1673860"/>
            <a:ext cx="2609850" cy="173863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51625" y="2205189"/>
            <a:ext cx="1016480" cy="603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8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6대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443" y="2887113"/>
            <a:ext cx="14224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차량형 GPR 장비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48750" y="1673860"/>
            <a:ext cx="2609850" cy="173863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26550" y="1883199"/>
            <a:ext cx="89187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판매가격 (만 원)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550" y="2245456"/>
            <a:ext cx="603310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PV5 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90150" y="2245360"/>
            <a:ext cx="737828" cy="1651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878778" y="2251806"/>
            <a:ext cx="45874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4,520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550" y="2601056"/>
            <a:ext cx="73589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스타리아 EV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90150" y="2600960"/>
            <a:ext cx="945465" cy="1651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1086415" y="2607406"/>
            <a:ext cx="427242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5,792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50" y="2956656"/>
            <a:ext cx="564639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ST1 카고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90150" y="2956560"/>
            <a:ext cx="958850" cy="1651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099800" y="2963006"/>
            <a:ext cx="43125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5,874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" y="3524653"/>
            <a:ext cx="51503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이유 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400" y="3727071"/>
            <a:ext cx="1624948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조용한 새벽 탐사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6750" y="4092301"/>
            <a:ext cx="16498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저소음·무배기 새벽 탐사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6750" y="4357731"/>
            <a:ext cx="213181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제한장소 2~5분 초과 시 과태료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6750" y="4623161"/>
            <a:ext cx="1740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 제한장소 2,772곳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1850" y="3524653"/>
            <a:ext cx="53482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이유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1850" y="3727071"/>
            <a:ext cx="192761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공공이 살 수 있는 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505200" y="4092301"/>
            <a:ext cx="175076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공공기관 신차는 무공해차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718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505200" y="435773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디젤 승합은 원칙적 불가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718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505200" y="4623161"/>
            <a:ext cx="164988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특수·긴급차만 예외 심사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0300" y="3524653"/>
            <a:ext cx="53877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이유 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0300" y="3727071"/>
            <a:ext cx="182245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늘어나는 반복 탐사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343650" y="4092301"/>
            <a:ext cx="17629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 월 1회 탐사로 확대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03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43650" y="4357731"/>
            <a:ext cx="162033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대형 굴착은 주 1회 탐사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03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343650" y="4623161"/>
            <a:ext cx="175125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경기 31개 시·군 GPR 0대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48750" y="3524653"/>
            <a:ext cx="5413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이유 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48750" y="3727071"/>
            <a:ext cx="1875037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가장 낮은 도입 비용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182100" y="4092301"/>
            <a:ext cx="169116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국산 전기 밴 3종 중 최저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487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182100" y="4357731"/>
            <a:ext cx="211411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스타리아 EV보다 1,272만 원↓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487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182100" y="462316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 예산으로 더 많은 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33400" y="5016500"/>
            <a:ext cx="11125200" cy="44450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11200" y="5156603"/>
            <a:ext cx="123442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불리한 점도 밝힙니다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5085525"/>
            <a:ext cx="62072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적재중량(스타리아 카고 900kg · PV5 600kg)과 주행거리(스타리아 +10km)는 뒤지지만, 장비 300kg·하루 30km 순찰에는 충분합니다.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6000" y="5244275"/>
            <a:ext cx="574023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전폭 1,895mm에 묶이는 1회 탐사 폭(4장의 약 3m)은 확장형 GPR 배열이나 차로당 2회 주행으로 보완합니다. [가설·설계 판단]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54380" y="5722283"/>
            <a:ext cx="7321864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PV5는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조용히 다니고, 지금 공공이 살 수 있고, 반복 탐사만큼 늘릴 수 있는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탐사 차량입니다.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8320" y="6221254"/>
            <a:ext cx="7821093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가격표(2026.10, 카고 롱 롱레인지) · 현대차 스타리아 일렉트릭 가격표(2026.4.23, 카고 3인승) · ST1 2026년형 발표(2025.7.16, 카고 스타일) · 환경부 공공부문 무공해차 의무구매 기준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8320" y="6341904"/>
            <a:ext cx="5380562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서울시 지반침하 예방 대책(2026.3.23) · 시사저널(2025.4.25, 경기도 GPR) · 서울시 자동차 공회전 단속 기준(제한장소 2,772곳, 2020.12)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4242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 검증 현황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18105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상용 기술을 결합하고, 차량 통합 성능은 실증으로 확인합니다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716319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기반 기술은 이미 있습니다. 한 차량 안에서 반복 가능한 정확도로 묶이는지, 네 가지를 먼저 실증합니다.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27212" y="6615113"/>
            <a:ext cx="40325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  <p:pic>
        <p:nvPicPr>
          <p:cNvPr id="13" name="사진 1" descr="p10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52" y="1673860"/>
            <a:ext cx="2607945" cy="173863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09600" y="1750060"/>
            <a:ext cx="104539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3100" y="1771439"/>
            <a:ext cx="99400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EV 구동계 × GPR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3524653"/>
            <a:ext cx="51503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727071"/>
            <a:ext cx="11773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전자파 간섭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4092301"/>
            <a:ext cx="156469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 구동계·인버터 잡음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6750" y="4357731"/>
            <a:ext cx="18402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주행·정차·V2L 상태별 비교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4623161"/>
            <a:ext cx="150674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크면 차량형 측정 불가</a:t>
            </a:r>
          </a:p>
        </p:txBody>
      </p:sp>
      <p:pic>
        <p:nvPicPr>
          <p:cNvPr id="24" name="사진 2" descr="p10_i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802" y="1673860"/>
            <a:ext cx="2607945" cy="173863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48050" y="1750060"/>
            <a:ext cx="84410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11550" y="1771439"/>
            <a:ext cx="79302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경로 반복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71850" y="3524653"/>
            <a:ext cx="53482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3727071"/>
            <a:ext cx="1624948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회차별 위치 정합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05200" y="409230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 경로 반복 주행 오차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05200" y="4357731"/>
            <a:ext cx="17225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RTK·IMU·휠 인코더 보정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0520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어긋나면 변화 비교 불가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0300" y="1673860"/>
            <a:ext cx="2609850" cy="173863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사진 3" descr="p10_i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647" y="1750060"/>
            <a:ext cx="2255156" cy="158623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6286500" y="1750060"/>
            <a:ext cx="1108025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0" y="1771439"/>
            <a:ext cx="10566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AI가 고른 변화 후보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0300" y="3524653"/>
            <a:ext cx="53877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0300" y="3727071"/>
            <a:ext cx="146629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 탐지·오탐률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43650" y="409230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 모사체 구간 탐지율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03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43650" y="4357731"/>
            <a:ext cx="13645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기존·신규 신호 구분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03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4365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 많으면 재확인 증가</a:t>
            </a:r>
          </a:p>
        </p:txBody>
      </p:sp>
      <p:pic>
        <p:nvPicPr>
          <p:cNvPr id="47" name="사진 4" descr="p10_i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9702" y="1673860"/>
            <a:ext cx="2607945" cy="173863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9124950" y="1750060"/>
            <a:ext cx="705073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188450" y="1771439"/>
            <a:ext cx="65408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야간 기준점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8750" y="3524653"/>
            <a:ext cx="5413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48750" y="3727071"/>
            <a:ext cx="178816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야간 AR 위치 오차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82100" y="4092301"/>
            <a:ext cx="164988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맨홀·경계석 기준점 인식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487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82100" y="4357731"/>
            <a:ext cx="169116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야간·우천 조건 위치 오차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487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82100" y="462316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크면 수동 탐색 범위 확대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33400" y="50038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533400" y="5092796"/>
            <a:ext cx="726793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함께 확인  </a:t>
            </a: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고정 상태 반복 측정 일관성 · 적재중량·축하중·제동 안정성 · V2L 포함 실제 소비전력 · 차량 앱 배포 절차·접근 가능한 데이터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3400" y="5308696"/>
            <a:ext cx="734847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 상용  </a:t>
            </a:r>
            <a:r>
              <a:rPr sz="10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차량형·수동 GPR · RTK-GNSS·IMU·휠 인코더 · 노면 카메라 · 엣지 컴퓨터 · GIS 이력 관리 · AAOS 앱 생태계 · 산업용 AR 글래스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54380" y="5722283"/>
            <a:ext cx="66295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핵심은 기술의 존재가 아니라,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 차량에서 반복 가능한 정확도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 연결되는가입니다.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320" y="6221254"/>
            <a:ext cx="462449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이미지: 콘셉트 이미지(생성 AI)·설명용 예시 · B-scan 비교는 설명용 예시 · 지도 데이터 © OpenStreetMap contributors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26161" y="1373083"/>
            <a:ext cx="58572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안정성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일관성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도로에서의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효용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순서로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3582565"/>
            <a:ext cx="13554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시험장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3810000"/>
            <a:ext cx="2667000" cy="17526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8566" y="3963565"/>
            <a:ext cx="3823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518" y="4174513"/>
            <a:ext cx="131625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" y="4561079"/>
            <a:ext cx="17693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" y="4789679"/>
            <a:ext cx="1769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통신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누락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7085" y="3058309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2800" y="3286125"/>
            <a:ext cx="2667000" cy="2276475"/>
          </a:xfrm>
          <a:prstGeom prst="rect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37966" y="3439309"/>
            <a:ext cx="40140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918" y="3653304"/>
            <a:ext cx="149722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7204" y="4036823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모사체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204" y="4265423"/>
            <a:ext cx="15614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편차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7204" y="4494023"/>
            <a:ext cx="15645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신호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6485" y="2534053"/>
            <a:ext cx="11268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위험구간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762250"/>
            <a:ext cx="2667000" cy="2800350"/>
          </a:xfrm>
          <a:prstGeom prst="rect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7366" y="2915053"/>
            <a:ext cx="4061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4318" y="3129049"/>
            <a:ext cx="149721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6604" y="3512567"/>
            <a:ext cx="17868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조사기업과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6604" y="3741167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6604" y="3969767"/>
            <a:ext cx="16550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천공으로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5885" y="2009797"/>
            <a:ext cx="8824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91600" y="2238375"/>
            <a:ext cx="2667000" cy="3324225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76766" y="2390797"/>
            <a:ext cx="40775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3718" y="2604793"/>
            <a:ext cx="108765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운영성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6004" y="2988311"/>
            <a:ext cx="122169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새벽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6004" y="3216911"/>
            <a:ext cx="18709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생성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도착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6004" y="3445511"/>
            <a:ext cx="1318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보정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성공률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004" y="3674111"/>
            <a:ext cx="1655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수작업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입력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감소량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5753100"/>
            <a:ext cx="11125200" cy="4572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33400" y="5753100"/>
            <a:ext cx="47625" cy="4572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142" y="5868883"/>
            <a:ext cx="736565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정량 목표치는 파일럿 설계 때 발주기관과 확정합니다.</a:t>
            </a:r>
            <a:r>
              <a:rPr sz="14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지금은 근거 없는 정확도 수치를 제시하지 않습니다.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4242" y="296821"/>
            <a:ext cx="9986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단계별 실증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44950" y="6615112"/>
            <a:ext cx="38530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8160" y="780417"/>
            <a:ext cx="874252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폐쇄 구간에서 시작해 실제 도로까지 검증 범위를 넓힙니다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1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20" y="1428750"/>
            <a:ext cx="6485496" cy="36480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7700" y="1543050"/>
            <a:ext cx="2400300" cy="228600"/>
          </a:xfrm>
          <a:prstGeom prst="roundRect">
            <a:avLst>
              <a:gd name="adj" fmla="val 125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7047" y="1582972"/>
            <a:ext cx="22560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5257800"/>
            <a:ext cx="209550" cy="57150"/>
          </a:xfrm>
          <a:prstGeom prst="rect">
            <a:avLst/>
          </a:prstGeom>
          <a:solidFill>
            <a:srgbClr val="E03131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4766" y="5191909"/>
            <a:ext cx="1225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매일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81250" y="5257800"/>
            <a:ext cx="209550" cy="5715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642616" y="5191909"/>
            <a:ext cx="14396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3900" y="5257800"/>
            <a:ext cx="209550" cy="57150"/>
          </a:xfrm>
          <a:prstGeom prst="rect">
            <a:avLst/>
          </a:prstGeom>
          <a:solidFill>
            <a:srgbClr val="4E8F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95266" y="5191909"/>
            <a:ext cx="7935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역세권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월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5505450"/>
            <a:ext cx="209550" cy="57150"/>
          </a:xfrm>
          <a:prstGeom prst="rect">
            <a:avLst/>
          </a:prstGeom>
          <a:solidFill>
            <a:srgbClr val="3BA55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4766" y="5438797"/>
            <a:ext cx="116657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일반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81250" y="5505450"/>
            <a:ext cx="209550" cy="571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642616" y="5438797"/>
            <a:ext cx="1347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8566" y="5438797"/>
            <a:ext cx="166813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주기는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발주기관과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합의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43800" y="1733550"/>
            <a:ext cx="0" cy="3352800"/>
          </a:xfrm>
          <a:prstGeom prst="line">
            <a:avLst/>
          </a:prstGeom>
          <a:ln w="19050">
            <a:solidFill>
              <a:srgbClr val="C9D3E2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7400925" y="1533525"/>
            <a:ext cx="285750" cy="285750"/>
          </a:xfrm>
          <a:prstGeom prst="ellipse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10462" y="159222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7400925" y="2371725"/>
            <a:ext cx="285750" cy="285750"/>
          </a:xfrm>
          <a:prstGeom prst="ellipse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00144" y="243042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7400925" y="3209925"/>
            <a:ext cx="285750" cy="285750"/>
          </a:xfrm>
          <a:prstGeom prst="ellipse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98556" y="326862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9" name="Oval 28"/>
          <p:cNvSpPr/>
          <p:nvPr/>
        </p:nvSpPr>
        <p:spPr>
          <a:xfrm>
            <a:off x="7400925" y="4048125"/>
            <a:ext cx="285750" cy="285750"/>
          </a:xfrm>
          <a:prstGeom prst="ellipse">
            <a:avLst/>
          </a:prstGeom>
          <a:solidFill>
            <a:srgbClr val="1C2F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96967" y="410682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Oval 30"/>
          <p:cNvSpPr/>
          <p:nvPr/>
        </p:nvSpPr>
        <p:spPr>
          <a:xfrm>
            <a:off x="7400925" y="4886325"/>
            <a:ext cx="285750" cy="28575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9348" y="494502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1549" y="1547030"/>
            <a:ext cx="64362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3073" y="1842369"/>
            <a:ext cx="22435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1549" y="23974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3073" y="26805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주기로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21549" y="3235623"/>
            <a:ext cx="13040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플릿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3073" y="35187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권역을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나눠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21549" y="40738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3073" y="4356969"/>
            <a:ext cx="2567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1549" y="4912023"/>
            <a:ext cx="191998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23073" y="5195169"/>
            <a:ext cx="22023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접근권한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안에서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304" y="5862575"/>
            <a:ext cx="653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pic>
        <p:nvPicPr>
          <p:cNvPr id="44" name="Picture 43" descr="p12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275" y="5788025"/>
            <a:ext cx="1911352" cy="34925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20044" y="5877709"/>
            <a:ext cx="1376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도로관리</a:t>
            </a:r>
          </a:p>
        </p:txBody>
      </p:sp>
      <p:pic>
        <p:nvPicPr>
          <p:cNvPr id="46" name="Picture 45" descr="p12_v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2475" y="5788025"/>
            <a:ext cx="1816100" cy="34925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554412" y="5877709"/>
            <a:ext cx="13745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영향구간</a:t>
            </a:r>
          </a:p>
        </p:txBody>
      </p:sp>
      <p:pic>
        <p:nvPicPr>
          <p:cNvPr id="48" name="Picture 47" descr="p12_v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425" y="5788025"/>
            <a:ext cx="1568450" cy="34925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238" y="5877709"/>
            <a:ext cx="10951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상하수도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pic>
        <p:nvPicPr>
          <p:cNvPr id="50" name="Picture 49" descr="p12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6725" y="5788025"/>
            <a:ext cx="2292350" cy="3492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115173" y="5877709"/>
            <a:ext cx="17777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대형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발주기관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시공사</a:t>
            </a:r>
          </a:p>
        </p:txBody>
      </p:sp>
      <p:pic>
        <p:nvPicPr>
          <p:cNvPr id="52" name="Picture 51" descr="p12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925" y="5788025"/>
            <a:ext cx="1739900" cy="3492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446419" y="5877709"/>
            <a:ext cx="12872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7685" y="6267853"/>
            <a:ext cx="78395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데이터는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내부의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서비스로만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제공합니다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4242" y="296821"/>
            <a:ext cx="7222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28109" y="6615112"/>
            <a:ext cx="4022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160" y="780417"/>
            <a:ext cx="874252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 대의 반복 순찰차에서 도시 지하 안전망으로 확장합니다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1502794"/>
            <a:ext cx="65800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8156" y="1516762"/>
            <a:ext cx="162060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파일럿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0823" y="1842369"/>
            <a:ext cx="28500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거리와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823" y="20709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pic>
        <p:nvPicPr>
          <p:cNvPr id="12" name="Picture 11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044700"/>
            <a:ext cx="98425" cy="520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8160" y="2645794"/>
            <a:ext cx="71195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2E4A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" y="2659762"/>
            <a:ext cx="181745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823" y="2985369"/>
            <a:ext cx="32151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감지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기관용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823" y="32139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긴급조사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pic>
        <p:nvPicPr>
          <p:cNvPr id="17" name="Picture 16" descr="p13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562" y="2678112"/>
            <a:ext cx="1120776" cy="282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94125" y="2735221"/>
            <a:ext cx="8443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매출</a:t>
            </a:r>
          </a:p>
        </p:txBody>
      </p:sp>
      <p:pic>
        <p:nvPicPr>
          <p:cNvPr id="19" name="Picture 18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187700"/>
            <a:ext cx="98425" cy="520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" y="3788794"/>
            <a:ext cx="72274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8156" y="3802762"/>
            <a:ext cx="22238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0823" y="4128369"/>
            <a:ext cx="39154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컨버전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·Patrol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·Edge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823" y="4356969"/>
            <a:ext cx="33215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·AR·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교육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유지보수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9000" y="1428750"/>
            <a:ext cx="4419600" cy="3429000"/>
          </a:xfrm>
          <a:prstGeom prst="roundRect">
            <a:avLst>
              <a:gd name="adj" fmla="val 2777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61885" y="1637941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구매자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123" y="1860657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발주기관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123" y="2089257"/>
            <a:ext cx="12720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공공시설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67600" y="24765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7461885" y="2646829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사용자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123" y="2872593"/>
            <a:ext cx="1737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도로관리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123" y="3101193"/>
            <a:ext cx="1991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67600" y="348615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7461885" y="3658765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협력사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1123" y="3881481"/>
            <a:ext cx="19673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전문기업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·PV5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특장업체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123" y="4110081"/>
            <a:ext cx="21356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클라우드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사업자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5048250"/>
            <a:ext cx="11125200" cy="6667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56285" y="5201053"/>
            <a:ext cx="1871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수요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근거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618" y="5393713"/>
            <a:ext cx="476747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16,423km ·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명으로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8016" y="5347463"/>
            <a:ext cx="22583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수요가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늘고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304" y="5844287"/>
            <a:ext cx="71668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첫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계약은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수행해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실적과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신뢰를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확보하고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입증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인접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구역으로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304" y="6072887"/>
            <a:ext cx="44359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조사거리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분석시간을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뒤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산정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8638" y="6386512"/>
            <a:ext cx="54981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지하정보는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자에게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서비스로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67600" y="44704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7461250" y="45787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4560624"/>
            <a:ext cx="326933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컨버전 플릿 판매 · Pleos 앱 마켓 공공 업무 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3033" y="296821"/>
            <a:ext cx="114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B2G 비즈니스 모델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24575" y="6615112"/>
            <a:ext cx="40576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160" y="780417"/>
            <a:ext cx="865489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지자체 탐사 용역으로 시작해 연간 반복관제로 전환합니다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이어지는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1448965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5" y="1448965"/>
            <a:ext cx="17015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해결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6785" y="1448965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개선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3400" y="169545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4375023" y="1805793"/>
            <a:ext cx="28801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데이터를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누적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6023" y="1805793"/>
            <a:ext cx="21023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400" y="21336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4375023" y="2241657"/>
            <a:ext cx="24753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후보를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선별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6023" y="2241657"/>
            <a:ext cx="19197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검토시간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적중률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3400" y="25717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75023" y="2680569"/>
            <a:ext cx="2708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위험요인을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6023" y="2680569"/>
            <a:ext cx="19197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고위험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" y="30099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75023" y="3119481"/>
            <a:ext cx="28436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기준점으로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6023" y="3119481"/>
            <a:ext cx="1637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탐색시간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4480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375023" y="3558393"/>
            <a:ext cx="32754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바로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6023" y="3558393"/>
            <a:ext cx="17784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횟수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인계시간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886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4375023" y="3994257"/>
            <a:ext cx="2535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66023" y="3994257"/>
            <a:ext cx="15958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완료율</a:t>
            </a:r>
          </a:p>
        </p:txBody>
      </p:sp>
      <p:pic>
        <p:nvPicPr>
          <p:cNvPr id="30" name="Picture 29" descr="p14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650" y="1885156"/>
            <a:ext cx="4540250" cy="228679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2" name="사진 1" descr="p14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850" y="4565650"/>
            <a:ext cx="4883150" cy="2292350"/>
          </a:xfrm>
          <a:prstGeom prst="rect">
            <a:avLst/>
          </a:prstGeom>
        </p:spPr>
      </p:pic>
      <p:pic>
        <p:nvPicPr>
          <p:cNvPr id="33" name="사진 2" descr="p14_i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4572000"/>
            <a:ext cx="1905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6923" y="4832457"/>
            <a:ext cx="40859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가치는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만드는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데서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끝나지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6923" y="5088489"/>
            <a:ext cx="35382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측정을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판단과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연결합니다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54483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0446" y="5611074"/>
            <a:ext cx="27519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발견이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446" y="6056082"/>
            <a:ext cx="39425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무사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귀가가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되도록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6017" y="6386354"/>
            <a:ext cx="177773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사진: Alexander Migl, CC BY-SA 4.0(편집)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기대 효과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3033" y="296821"/>
            <a:ext cx="12749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문제와 개선 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38865" y="6584739"/>
            <a:ext cx="227409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 한 명이라도 살릴 수 있다면 · 14 /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923" y="1805793"/>
            <a:ext cx="240389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 결과가 시점별 파일로 남습니다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923" y="2241657"/>
            <a:ext cx="258781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 구간을 사람이 다시 찾아야 합니다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6923" y="2680569"/>
            <a:ext cx="268919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 조사 우선순위가 경험에 의존합니다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6923" y="3119481"/>
            <a:ext cx="287311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현장에서 과거 측정 위치를 찾기 어렵습니다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6923" y="3558393"/>
            <a:ext cx="236262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넓은 탐사와 정밀조사가 분리됩니다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6923" y="3994257"/>
            <a:ext cx="258781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 결과가 다음 조사에 덜 반영됩니다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