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11.png"/><Relationship Id="rId7" Type="http://schemas.openxmlformats.org/officeDocument/2006/relationships/image" Target="../media/image12.jpg"/><Relationship Id="rId8" Type="http://schemas.openxmlformats.org/officeDocument/2006/relationships/image" Target="../media/image13.png"/><Relationship Id="rId9" Type="http://schemas.openxmlformats.org/officeDocument/2006/relationships/image" Target="../media/image14.jpg"/><Relationship Id="rId10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jp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Relationship Id="rId4" Type="http://schemas.openxmlformats.org/officeDocument/2006/relationships/image" Target="../media/image33.jpg"/><Relationship Id="rId5" Type="http://schemas.openxmlformats.org/officeDocument/2006/relationships/image" Target="../media/image3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jp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" name="사진 1" descr="p01_i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사진 2" descr="p01_i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50609" y="6468915"/>
            <a:ext cx="566255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2026. 10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123" y="1918569"/>
            <a:ext cx="277699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제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5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회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기아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PBV 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아이디어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공모전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3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제안서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550" y="2260922"/>
            <a:ext cx="1634894" cy="809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5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550" y="3034161"/>
            <a:ext cx="3699454" cy="666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GroundWatch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170" y="3797196"/>
            <a:ext cx="2552671" cy="365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300" b="1">
                <a:solidFill>
                  <a:srgbClr val="D7DEE8"/>
                </a:solidFill>
                <a:latin typeface="Pretendard"/>
                <a:ea typeface="Pretendard"/>
                <a:cs typeface="Pretendard"/>
              </a:rPr>
              <a:t>PV5 </a:t>
            </a:r>
            <a:r>
              <a:rPr sz="2300" b="1">
                <a:solidFill>
                  <a:srgbClr val="D7DEE8"/>
                </a:solidFill>
                <a:latin typeface="Pretendard"/>
                <a:ea typeface="Pretendard"/>
                <a:cs typeface="Pretendard"/>
              </a:rPr>
              <a:t>지하안전</a:t>
            </a:r>
            <a:r>
              <a:rPr sz="2300" b="1">
                <a:solidFill>
                  <a:srgbClr val="D7DEE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300" b="1">
                <a:solidFill>
                  <a:srgbClr val="D7DEE8"/>
                </a:solidFill>
                <a:latin typeface="Pretendard"/>
                <a:ea typeface="Pretendard"/>
                <a:cs typeface="Pretendard"/>
              </a:rPr>
              <a:t>순찰차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4381500"/>
            <a:ext cx="457200" cy="28575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1599" y="4588935"/>
            <a:ext cx="2057082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길을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반복해서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보고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599" y="4893735"/>
            <a:ext cx="2799239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구멍이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되기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전의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변화를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찾습니다</a:t>
            </a:r>
            <a:r>
              <a:rPr sz="16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266" y="5792365"/>
            <a:ext cx="465845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218" y="6042937"/>
            <a:ext cx="2316368" cy="269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명이라도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살릴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있다면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462" y="308907"/>
            <a:ext cx="1172922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266700"/>
            <a:ext cx="381000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533400" y="590550"/>
            <a:ext cx="51816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pic>
        <p:nvPicPr>
          <p:cNvPr id="8" name="사진 1" descr="p02_i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9" name="사진 2" descr="p02_i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617976"/>
            <a:ext cx="6092952" cy="3240024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9972675" y="3590925"/>
            <a:ext cx="1028700" cy="1028700"/>
          </a:xfrm>
          <a:prstGeom prst="ellipse">
            <a:avLst/>
          </a:prstGeom>
          <a:solidFill>
            <a:srgbClr val="E5484D">
              <a:alpha val="1412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0220325" y="3838575"/>
            <a:ext cx="533400" cy="533400"/>
          </a:xfrm>
          <a:prstGeom prst="ellipse">
            <a:avLst/>
          </a:prstGeom>
          <a:solidFill>
            <a:srgbClr val="E5484D">
              <a:alpha val="3216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10410825" y="4029075"/>
            <a:ext cx="152400" cy="152400"/>
          </a:xfrm>
          <a:prstGeom prst="ellipse">
            <a:avLst/>
          </a:prstGeom>
          <a:solidFill>
            <a:srgbClr val="FF5A5F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115300" y="3009900"/>
            <a:ext cx="2038350" cy="514350"/>
          </a:xfrm>
          <a:prstGeom prst="roundRect">
            <a:avLst>
              <a:gd name="adj" fmla="val 7407"/>
            </a:avLst>
          </a:prstGeom>
          <a:solidFill>
            <a:srgbClr val="0B1E3C">
              <a:alpha val="902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42935" y="3094886"/>
            <a:ext cx="1412644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2025. 3. 24 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사고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3697" y="3298996"/>
            <a:ext cx="146866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C9D2E0"/>
                </a:solidFill>
                <a:latin typeface="Pretendard"/>
                <a:ea typeface="Pretendard"/>
                <a:cs typeface="Pretendard"/>
              </a:rPr>
              <a:t>동남로</a:t>
            </a:r>
            <a:r>
              <a:rPr sz="1000" b="0">
                <a:solidFill>
                  <a:srgbClr val="C9D2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C9D2E0"/>
                </a:solidFill>
                <a:latin typeface="Pretendard"/>
                <a:ea typeface="Pretendard"/>
                <a:cs typeface="Pretendard"/>
              </a:rPr>
              <a:t>대명초교</a:t>
            </a:r>
            <a:r>
              <a:rPr sz="1000" b="0">
                <a:solidFill>
                  <a:srgbClr val="C9D2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C9D2E0"/>
                </a:solidFill>
                <a:latin typeface="Pretendard"/>
                <a:ea typeface="Pretendard"/>
                <a:cs typeface="Pretendard"/>
              </a:rPr>
              <a:t>사거리</a:t>
            </a:r>
            <a:r>
              <a:rPr sz="1000" b="0">
                <a:solidFill>
                  <a:srgbClr val="C9D2E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C9D2E0"/>
                </a:solidFill>
                <a:latin typeface="Pretendard"/>
                <a:ea typeface="Pretendard"/>
                <a:cs typeface="Pretendard"/>
              </a:rPr>
              <a:t>인근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53650" y="3429000"/>
            <a:ext cx="190500" cy="514350"/>
          </a:xfrm>
          <a:prstGeom prst="line">
            <a:avLst/>
          </a:prstGeom>
          <a:ln w="11430">
            <a:solidFill>
              <a:srgbClr val="FFFFFF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465570" y="5190132"/>
            <a:ext cx="1731031" cy="365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평범한</a:t>
            </a: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도로가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5570" y="5607708"/>
            <a:ext cx="3985148" cy="365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사람의</a:t>
            </a: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마지막</a:t>
            </a: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길이</a:t>
            </a: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되었습니다</a:t>
            </a:r>
            <a:r>
              <a:rPr sz="2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2238" y="6404801"/>
            <a:ext cx="464728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서울</a:t>
            </a: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강동구</a:t>
            </a: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명일동</a:t>
            </a: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일대</a:t>
            </a: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지도</a:t>
            </a: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© OpenStreetMap contributors · </a:t>
            </a: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위치는</a:t>
            </a: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보도</a:t>
            </a: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기준</a:t>
            </a: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인근</a:t>
            </a: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표시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542" y="1278595"/>
            <a:ext cx="2432060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2025. 3. 24 · </a:t>
            </a:r>
            <a:r>
              <a:rPr sz="14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서울</a:t>
            </a:r>
            <a:r>
              <a:rPr sz="14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강동구</a:t>
            </a:r>
            <a:r>
              <a:rPr sz="14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명일동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160" y="1600329"/>
            <a:ext cx="3188370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도로가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무너지기까지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6250" y="1985778"/>
            <a:ext cx="2075095" cy="1143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72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1~2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74850" y="1985778"/>
            <a:ext cx="1338917" cy="1143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72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분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3400" y="3295650"/>
            <a:ext cx="5181600" cy="0"/>
          </a:xfrm>
          <a:prstGeom prst="line">
            <a:avLst/>
          </a:prstGeom>
          <a:ln w="9525">
            <a:solidFill>
              <a:srgbClr val="D5DAE1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519684" y="3389188"/>
            <a:ext cx="1991460" cy="428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22m </a:t>
            </a: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×</a:t>
            </a: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18m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4134" y="3537057"/>
            <a:ext cx="146660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붕괴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규모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길이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×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폭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3400" y="3962400"/>
            <a:ext cx="5181600" cy="0"/>
          </a:xfrm>
          <a:prstGeom prst="line">
            <a:avLst/>
          </a:prstGeom>
          <a:ln w="9525">
            <a:solidFill>
              <a:srgbClr val="D5DAE1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519684" y="4053652"/>
            <a:ext cx="888147" cy="428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16m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38508" y="4192377"/>
            <a:ext cx="383041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깊이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33400" y="4629150"/>
            <a:ext cx="5181600" cy="0"/>
          </a:xfrm>
          <a:prstGeom prst="line">
            <a:avLst/>
          </a:prstGeom>
          <a:ln w="9525">
            <a:solidFill>
              <a:srgbClr val="D5DAE1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519684" y="4721164"/>
            <a:ext cx="2128599" cy="428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사망</a:t>
            </a: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1 · </a:t>
            </a: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부상</a:t>
            </a: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13625" y="4872081"/>
            <a:ext cx="706891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인명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피해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33400" y="5200650"/>
            <a:ext cx="5181600" cy="0"/>
          </a:xfrm>
          <a:prstGeom prst="line">
            <a:avLst/>
          </a:prstGeom>
          <a:ln w="9525">
            <a:solidFill>
              <a:srgbClr val="D5DAE1"/>
            </a:solidFill>
          </a:ln>
        </p:spPr>
      </p:cxnSp>
      <p:sp>
        <p:nvSpPr>
          <p:cNvPr id="34" name="Rectangle 33"/>
          <p:cNvSpPr/>
          <p:nvPr/>
        </p:nvSpPr>
        <p:spPr>
          <a:xfrm>
            <a:off x="533400" y="5448300"/>
            <a:ext cx="38100" cy="5524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16280" y="5475797"/>
            <a:ext cx="1908894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붕괴는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갑자기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보였지만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6280" y="5768404"/>
            <a:ext cx="2777914" cy="238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위험은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지하에서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먼저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시작됐습니다</a:t>
            </a:r>
            <a:r>
              <a:rPr sz="15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8638" y="6310312"/>
            <a:ext cx="398212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출처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국토교통부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「땅꺼짐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사고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조사결과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발표」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(2025.12.3),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명일동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사고조사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최종보고서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8638" y="6615112"/>
            <a:ext cx="126591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명이라도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살릴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수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있다면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79600" y="256540"/>
            <a:ext cx="383540" cy="24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1866900" y="266700"/>
            <a:ext cx="448121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981200" y="308907"/>
            <a:ext cx="295689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문제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4242" y="296821"/>
            <a:ext cx="842986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현재 문제상황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66338" y="6615112"/>
            <a:ext cx="42016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1C2B4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462" y="308907"/>
            <a:ext cx="1172922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266700"/>
            <a:ext cx="495300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3A4558"/>
            </a:solidFill>
          </a:ln>
        </p:spPr>
      </p:cxnSp>
      <p:pic>
        <p:nvPicPr>
          <p:cNvPr id="8" name="사진 1" descr="p03_i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" y="1543050"/>
            <a:ext cx="6064250" cy="385762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2886075" y="2181225"/>
            <a:ext cx="285750" cy="285750"/>
          </a:xfrm>
          <a:prstGeom prst="ellipse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984500" y="2247541"/>
            <a:ext cx="171405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38500" y="2209800"/>
            <a:ext cx="742950" cy="228600"/>
          </a:xfrm>
          <a:prstGeom prst="roundRect">
            <a:avLst>
              <a:gd name="adj" fmla="val 16666"/>
            </a:avLst>
          </a:prstGeom>
          <a:solidFill>
            <a:srgbClr val="000000">
              <a:alpha val="6196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328035" y="2247541"/>
            <a:ext cx="60460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도로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침하</a:t>
            </a:r>
          </a:p>
        </p:txBody>
      </p:sp>
      <p:sp>
        <p:nvSpPr>
          <p:cNvPr id="13" name="Oval 12"/>
          <p:cNvSpPr/>
          <p:nvPr/>
        </p:nvSpPr>
        <p:spPr>
          <a:xfrm>
            <a:off x="2886075" y="2771775"/>
            <a:ext cx="285750" cy="285750"/>
          </a:xfrm>
          <a:prstGeom prst="ellipse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83706" y="2838853"/>
            <a:ext cx="17304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52650" y="2800350"/>
            <a:ext cx="704850" cy="228600"/>
          </a:xfrm>
          <a:prstGeom prst="roundRect">
            <a:avLst>
              <a:gd name="adj" fmla="val 16667"/>
            </a:avLst>
          </a:prstGeom>
          <a:solidFill>
            <a:srgbClr val="000000">
              <a:alpha val="6196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242185" y="2838853"/>
            <a:ext cx="60460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공동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형성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3305175"/>
            <a:ext cx="285750" cy="285750"/>
          </a:xfrm>
          <a:prstGeom prst="ellipse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633788" y="3372253"/>
            <a:ext cx="149304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3333750"/>
            <a:ext cx="895350" cy="228600"/>
          </a:xfrm>
          <a:prstGeom prst="roundRect">
            <a:avLst>
              <a:gd name="adj" fmla="val 16666"/>
            </a:avLst>
          </a:prstGeom>
          <a:solidFill>
            <a:srgbClr val="000000">
              <a:alpha val="6196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975735" y="3372253"/>
            <a:ext cx="726844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노후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하수관</a:t>
            </a:r>
          </a:p>
        </p:txBody>
      </p:sp>
      <p:sp>
        <p:nvSpPr>
          <p:cNvPr id="21" name="Oval 20"/>
          <p:cNvSpPr/>
          <p:nvPr/>
        </p:nvSpPr>
        <p:spPr>
          <a:xfrm>
            <a:off x="771525" y="3667125"/>
            <a:ext cx="285750" cy="285750"/>
          </a:xfrm>
          <a:prstGeom prst="ellipse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70743" y="3734965"/>
            <a:ext cx="169086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23950" y="3695700"/>
            <a:ext cx="1181100" cy="228600"/>
          </a:xfrm>
          <a:prstGeom prst="roundRect">
            <a:avLst>
              <a:gd name="adj" fmla="val 16666"/>
            </a:avLst>
          </a:prstGeom>
          <a:solidFill>
            <a:srgbClr val="000000">
              <a:alpha val="6196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13485" y="3734965"/>
            <a:ext cx="101100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누수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지하수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</a:t>
            </a:r>
          </a:p>
        </p:txBody>
      </p:sp>
      <p:sp>
        <p:nvSpPr>
          <p:cNvPr id="25" name="Oval 24"/>
          <p:cNvSpPr/>
          <p:nvPr/>
        </p:nvSpPr>
        <p:spPr>
          <a:xfrm>
            <a:off x="1638300" y="4210050"/>
            <a:ext cx="285750" cy="285750"/>
          </a:xfrm>
          <a:prstGeom prst="ellipse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734344" y="4277509"/>
            <a:ext cx="175635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00250" y="4238625"/>
            <a:ext cx="895350" cy="228600"/>
          </a:xfrm>
          <a:prstGeom prst="roundRect">
            <a:avLst>
              <a:gd name="adj" fmla="val 16666"/>
            </a:avLst>
          </a:prstGeom>
          <a:solidFill>
            <a:srgbClr val="000000">
              <a:alpha val="6196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089785" y="4277509"/>
            <a:ext cx="85543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터널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굴착공사</a:t>
            </a:r>
          </a:p>
        </p:txBody>
      </p:sp>
      <p:sp>
        <p:nvSpPr>
          <p:cNvPr id="29" name="Oval 28"/>
          <p:cNvSpPr/>
          <p:nvPr/>
        </p:nvSpPr>
        <p:spPr>
          <a:xfrm>
            <a:off x="7067550" y="1504950"/>
            <a:ext cx="266700" cy="266700"/>
          </a:xfrm>
          <a:prstGeom prst="ellipse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67562" y="1561741"/>
            <a:ext cx="149304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9599" y="1519599"/>
            <a:ext cx="2166032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노후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시설물과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취약한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61123" y="1824081"/>
            <a:ext cx="285002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오래된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하수관과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약한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지층이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먼저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있습니다</a:t>
            </a:r>
          </a:p>
        </p:txBody>
      </p:sp>
      <p:sp>
        <p:nvSpPr>
          <p:cNvPr id="33" name="Oval 32"/>
          <p:cNvSpPr/>
          <p:nvPr/>
        </p:nvSpPr>
        <p:spPr>
          <a:xfrm>
            <a:off x="7067550" y="2266950"/>
            <a:ext cx="266700" cy="266700"/>
          </a:xfrm>
          <a:prstGeom prst="ellipse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157244" y="2323741"/>
            <a:ext cx="169086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9599" y="2281599"/>
            <a:ext cx="177392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누수와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지하수위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61123" y="2586081"/>
            <a:ext cx="2850032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물이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새거나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빠지면서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주변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흙이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약해집니다</a:t>
            </a:r>
          </a:p>
        </p:txBody>
      </p:sp>
      <p:sp>
        <p:nvSpPr>
          <p:cNvPr id="37" name="Oval 36"/>
          <p:cNvSpPr/>
          <p:nvPr/>
        </p:nvSpPr>
        <p:spPr>
          <a:xfrm>
            <a:off x="7067550" y="3028950"/>
            <a:ext cx="266700" cy="266700"/>
          </a:xfrm>
          <a:prstGeom prst="ellipse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155656" y="3085741"/>
            <a:ext cx="17304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9599" y="3043599"/>
            <a:ext cx="1819957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토사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유실과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공동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형성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61123" y="3348081"/>
            <a:ext cx="275001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흙이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쓸려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나간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자리에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빈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공간이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생깁니다</a:t>
            </a:r>
          </a:p>
        </p:txBody>
      </p:sp>
      <p:sp>
        <p:nvSpPr>
          <p:cNvPr id="41" name="Oval 40"/>
          <p:cNvSpPr/>
          <p:nvPr/>
        </p:nvSpPr>
        <p:spPr>
          <a:xfrm>
            <a:off x="7067550" y="3790950"/>
            <a:ext cx="266700" cy="266700"/>
          </a:xfrm>
          <a:prstGeom prst="ellipse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54067" y="3847741"/>
            <a:ext cx="175635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9599" y="3805599"/>
            <a:ext cx="1819957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차량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하중과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공사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영향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61123" y="4110081"/>
            <a:ext cx="2708739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하중과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굴착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터널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공사의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영향이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겹칩니다</a:t>
            </a:r>
          </a:p>
        </p:txBody>
      </p:sp>
      <p:sp>
        <p:nvSpPr>
          <p:cNvPr id="45" name="Oval 44"/>
          <p:cNvSpPr/>
          <p:nvPr/>
        </p:nvSpPr>
        <p:spPr>
          <a:xfrm>
            <a:off x="7067550" y="4552950"/>
            <a:ext cx="266700" cy="2667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156448" y="4609741"/>
            <a:ext cx="171405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9599" y="4567599"/>
            <a:ext cx="1254807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도로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표면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붕괴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61123" y="4872081"/>
            <a:ext cx="313260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상부가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버티지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못하고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차량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보행자가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노출됩니다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200900" y="1790700"/>
            <a:ext cx="0" cy="45720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7200900" y="2552700"/>
            <a:ext cx="0" cy="45720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7200900" y="3314700"/>
            <a:ext cx="0" cy="45720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7200900" y="4076700"/>
            <a:ext cx="0" cy="457200"/>
          </a:xfrm>
          <a:prstGeom prst="line">
            <a:avLst/>
          </a:prstGeom>
          <a:ln w="19050">
            <a:solidFill>
              <a:srgbClr val="4A5568"/>
            </a:solidFill>
          </a:ln>
        </p:spPr>
      </p:cxnSp>
      <p:sp>
        <p:nvSpPr>
          <p:cNvPr id="53" name="Rounded Rectangle 52"/>
          <p:cNvSpPr/>
          <p:nvPr/>
        </p:nvSpPr>
        <p:spPr>
          <a:xfrm>
            <a:off x="533400" y="5562600"/>
            <a:ext cx="11125200" cy="800100"/>
          </a:xfrm>
          <a:prstGeom prst="roundRect">
            <a:avLst>
              <a:gd name="adj" fmla="val 9523"/>
            </a:avLst>
          </a:prstGeom>
          <a:solidFill>
            <a:srgbClr val="111827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56285" y="5694829"/>
            <a:ext cx="124913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명일동</a:t>
            </a: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사고조사</a:t>
            </a: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6285" y="5944765"/>
            <a:ext cx="3136669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직접</a:t>
            </a:r>
            <a:r>
              <a:rPr sz="1100" b="1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원인</a:t>
            </a:r>
            <a:r>
              <a:rPr sz="11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심층풍화대</a:t>
            </a:r>
            <a:r>
              <a:rPr sz="11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내부</a:t>
            </a:r>
            <a:r>
              <a:rPr sz="11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불연속면이</a:t>
            </a:r>
            <a:r>
              <a:rPr sz="11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만든</a:t>
            </a:r>
            <a:r>
              <a:rPr sz="11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쐐기형</a:t>
            </a:r>
            <a:r>
              <a:rPr sz="11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토체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867650" y="5715000"/>
            <a:ext cx="0" cy="495300"/>
          </a:xfrm>
          <a:prstGeom prst="line">
            <a:avLst/>
          </a:prstGeom>
          <a:ln w="9525">
            <a:solidFill>
              <a:srgbClr val="3A4558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8089392" y="5658571"/>
            <a:ext cx="2003428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보이는</a:t>
            </a: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균열만</a:t>
            </a: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기다리지</a:t>
            </a: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말고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89392" y="5887171"/>
            <a:ext cx="1708161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지점의</a:t>
            </a: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지하</a:t>
            </a: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변화를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89392" y="6115771"/>
            <a:ext cx="1564972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계속</a:t>
            </a: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기록해야</a:t>
            </a: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합니다</a:t>
            </a:r>
            <a:r>
              <a:rPr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8638" y="6615112"/>
            <a:ext cx="5398174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출처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국토교통부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「땅꺼짐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사고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조사결과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발표」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(2025.12.3) ·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단면도는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원리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설명용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3D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도식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명이라도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살릴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수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있다면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879600" y="256540"/>
            <a:ext cx="497840" cy="248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1866900" y="266700"/>
            <a:ext cx="448121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1981200" y="308907"/>
            <a:ext cx="295689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문제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24242" y="296821"/>
            <a:ext cx="1240013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사고가 발생하는 과정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06585" y="6615112"/>
            <a:ext cx="423713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03 / 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6285" y="6152029"/>
            <a:ext cx="5818750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간접 원인</a:t>
            </a:r>
            <a:r>
              <a:rPr sz="11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터널공사로 지하수위가 약 3m에서 26m 깊이까지 저하 · 노후 하수관 장기 누수 · 지보 성능 한계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8160" y="780417"/>
            <a:ext cx="7667343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보이지 않는 변화가 겹치며 도로 붕괴로 이어집니다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462" y="308907"/>
            <a:ext cx="1172922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266700"/>
            <a:ext cx="381000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pic>
        <p:nvPicPr>
          <p:cNvPr id="8" name="사진 1" descr="p04_i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441450"/>
            <a:ext cx="4953000" cy="2832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8638" y="4329113"/>
            <a:ext cx="336248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수동형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GPR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탐사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장비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· The Charles Machine Works, CC BY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-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SA 2.0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3400" y="4686300"/>
            <a:ext cx="4953000" cy="0"/>
          </a:xfrm>
          <a:prstGeom prst="line">
            <a:avLst/>
          </a:prstGeom>
          <a:ln w="19050">
            <a:solidFill>
              <a:srgbClr val="0B1E3C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21970" y="4827420"/>
            <a:ext cx="1530577" cy="365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33,129km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685" y="5219341"/>
            <a:ext cx="119515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누적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차량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GPR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탐사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7685" y="5411365"/>
            <a:ext cx="950558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2014~2025.9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8395" y="4827420"/>
            <a:ext cx="1213522" cy="365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7,760</a:t>
            </a:r>
            <a:r>
              <a:rPr sz="2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04110" y="5219341"/>
            <a:ext cx="606194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110" y="5411365"/>
            <a:ext cx="72843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발견한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공동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60495" y="4827420"/>
            <a:ext cx="1535104" cy="3651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16,423km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66210" y="5219341"/>
            <a:ext cx="110308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2026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년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탐사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계획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6210" y="5411365"/>
            <a:ext cx="1352319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GPR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인력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9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명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→ 19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7123" y="1479657"/>
            <a:ext cx="1024392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현재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업무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0" y="1819275"/>
            <a:ext cx="228600" cy="228600"/>
          </a:xfrm>
          <a:prstGeom prst="ellipse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028531" y="1860339"/>
            <a:ext cx="13573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9261" y="1830283"/>
            <a:ext cx="3181345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민원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노후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관로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공사구간으로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조사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대상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선정</a:t>
            </a:r>
          </a:p>
        </p:txBody>
      </p:sp>
      <p:sp>
        <p:nvSpPr>
          <p:cNvPr id="24" name="Oval 23"/>
          <p:cNvSpPr/>
          <p:nvPr/>
        </p:nvSpPr>
        <p:spPr>
          <a:xfrm>
            <a:off x="5943600" y="2162175"/>
            <a:ext cx="228600" cy="228600"/>
          </a:xfrm>
          <a:prstGeom prst="ellipse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19800" y="2201715"/>
            <a:ext cx="153715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9261" y="2174707"/>
            <a:ext cx="3464515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차량형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GPR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이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도로를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넓게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스캔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(1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회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약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3m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폭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27" name="Oval 26"/>
          <p:cNvSpPr/>
          <p:nvPr/>
        </p:nvSpPr>
        <p:spPr>
          <a:xfrm>
            <a:off x="5943600" y="2505075"/>
            <a:ext cx="228600" cy="228600"/>
          </a:xfrm>
          <a:prstGeom prst="ellipse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018212" y="2546139"/>
            <a:ext cx="15731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9261" y="2516083"/>
            <a:ext cx="2668583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분석자가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판독해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공동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의심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지점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선별</a:t>
            </a:r>
          </a:p>
        </p:txBody>
      </p:sp>
      <p:sp>
        <p:nvSpPr>
          <p:cNvPr id="30" name="Oval 29"/>
          <p:cNvSpPr/>
          <p:nvPr/>
        </p:nvSpPr>
        <p:spPr>
          <a:xfrm>
            <a:off x="5943600" y="2847975"/>
            <a:ext cx="228600" cy="228600"/>
          </a:xfrm>
          <a:prstGeom prst="ellipse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16624" y="2887515"/>
            <a:ext cx="159668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9261" y="2860507"/>
            <a:ext cx="2347908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작업자가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수동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GPR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로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다시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조사</a:t>
            </a:r>
          </a:p>
        </p:txBody>
      </p:sp>
      <p:sp>
        <p:nvSpPr>
          <p:cNvPr id="33" name="Oval 32"/>
          <p:cNvSpPr/>
          <p:nvPr/>
        </p:nvSpPr>
        <p:spPr>
          <a:xfrm>
            <a:off x="5943600" y="3190875"/>
            <a:ext cx="228600" cy="228600"/>
          </a:xfrm>
          <a:prstGeom prst="ellipse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019006" y="3231939"/>
            <a:ext cx="155823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9261" y="3201883"/>
            <a:ext cx="2824158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승인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교통통제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후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천공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내시경으로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36" name="Oval 35"/>
          <p:cNvSpPr/>
          <p:nvPr/>
        </p:nvSpPr>
        <p:spPr>
          <a:xfrm>
            <a:off x="5943600" y="3533775"/>
            <a:ext cx="228600" cy="228600"/>
          </a:xfrm>
          <a:prstGeom prst="ellipse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018212" y="3573315"/>
            <a:ext cx="157807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9261" y="3546307"/>
            <a:ext cx="2109783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공동이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확인되면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복구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4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재포장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37123" y="4033881"/>
            <a:ext cx="262618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그</a:t>
            </a: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사이의</a:t>
            </a: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공백</a:t>
            </a: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· 2024</a:t>
            </a: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년</a:t>
            </a: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연희동</a:t>
            </a: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성산로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15150" y="4629150"/>
            <a:ext cx="4391025" cy="133350"/>
          </a:xfrm>
          <a:prstGeom prst="rect">
            <a:avLst/>
          </a:prstGeom>
          <a:solidFill>
            <a:srgbClr val="F5B700">
              <a:alpha val="2784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41" name="Connector 40"/>
          <p:cNvCxnSpPr/>
          <p:nvPr/>
        </p:nvCxnSpPr>
        <p:spPr>
          <a:xfrm>
            <a:off x="6286500" y="4695825"/>
            <a:ext cx="5143500" cy="0"/>
          </a:xfrm>
          <a:prstGeom prst="line">
            <a:avLst/>
          </a:prstGeom>
          <a:ln w="19050">
            <a:solidFill>
              <a:srgbClr val="9AA3AF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6195219" y="4832139"/>
            <a:ext cx="260573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5</a:t>
            </a:r>
            <a:r>
              <a:rPr sz="10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1723" y="4832139"/>
            <a:ext cx="26216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6</a:t>
            </a:r>
            <a:r>
              <a:rPr sz="10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12994" y="4832139"/>
            <a:ext cx="254223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7</a:t>
            </a:r>
            <a:r>
              <a:rPr sz="10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94898" y="4832139"/>
            <a:ext cx="26216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8</a:t>
            </a:r>
            <a:r>
              <a:rPr sz="10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월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34150" y="4619625"/>
            <a:ext cx="381000" cy="152400"/>
          </a:xfrm>
          <a:prstGeom prst="roundRect">
            <a:avLst>
              <a:gd name="adj" fmla="val 18750"/>
            </a:avLst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528435" y="4381141"/>
            <a:ext cx="216988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5.7~16 </a:t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정기</a:t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GPR </a:t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탐사</a:t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공동</a:t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미발견</a:t>
            </a:r>
          </a:p>
        </p:txBody>
      </p:sp>
      <p:sp>
        <p:nvSpPr>
          <p:cNvPr id="48" name="Oval 47"/>
          <p:cNvSpPr/>
          <p:nvPr/>
        </p:nvSpPr>
        <p:spPr>
          <a:xfrm>
            <a:off x="11220450" y="4610100"/>
            <a:ext cx="171450" cy="17145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0601617" y="4381141"/>
            <a:ext cx="91575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8.29 </a:t>
            </a:r>
            <a:r>
              <a:rPr sz="11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도로함몰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37436" y="5061057"/>
            <a:ext cx="343740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이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사이의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지하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변화는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어디에도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기록되지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않았습니다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40575" y="5335165"/>
            <a:ext cx="4012969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탐사의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실패가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아니라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시점의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결과는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그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시점만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말해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준다는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뜻입니다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3400" y="5715000"/>
            <a:ext cx="11125200" cy="4953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28638" y="6328601"/>
            <a:ext cx="6733263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출처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경향신문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(2025.10.19)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서울시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GPR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탐사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서울시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지반침하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예방체계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강화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보도자료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서울시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차량탑재형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GPR ·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뉴시스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(2024.8.30)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연희동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함몰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8638" y="6615112"/>
            <a:ext cx="126591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명이라도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살릴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수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있다면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3999" y="5844711"/>
            <a:ext cx="9172913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GPR 기술은 그대로, 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바꾸는 것은 탐사 방식입니다.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한 번 재고 끝나는 조사를 반복 관측과 현장 재확인으로 잇습니다.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79600" y="256540"/>
            <a:ext cx="383540" cy="24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1866900" y="266700"/>
            <a:ext cx="696912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981200" y="308907"/>
            <a:ext cx="544355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기존 방식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73033" y="296821"/>
            <a:ext cx="877911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기존 조사 방식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05838" y="6615112"/>
            <a:ext cx="424513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04 / 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8160" y="780417"/>
            <a:ext cx="8851871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서울시는 이미 넓게 탐사하고, 의심 지점을 다시 확인합니다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462" y="308907"/>
            <a:ext cx="1172922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266700"/>
            <a:ext cx="381000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26161" y="1373083"/>
            <a:ext cx="6552624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번의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탐사로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끝내지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않고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길을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회차마다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다시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보며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달라진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곳만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현장에서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확인합니다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pic>
        <p:nvPicPr>
          <p:cNvPr id="9" name="사진 1" descr="p05_i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720850"/>
            <a:ext cx="2609850" cy="1638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8066" y="3524653"/>
            <a:ext cx="597015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STEP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4256" y="3726562"/>
            <a:ext cx="977664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반복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측정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0273" y="4091793"/>
            <a:ext cx="163716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위험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정기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순찰구간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등록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44386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60273" y="4356969"/>
            <a:ext cx="1819729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새벽에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경로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반복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주행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47053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0273" y="4625193"/>
            <a:ext cx="1526042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GPR·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카메라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동시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수집</a:t>
            </a:r>
          </a:p>
        </p:txBody>
      </p:sp>
      <p:pic>
        <p:nvPicPr>
          <p:cNvPr id="18" name="Picture 17" descr="p05_v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9125" y="2520950"/>
            <a:ext cx="187325" cy="9842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371850" y="1733550"/>
            <a:ext cx="2609850" cy="1619250"/>
          </a:xfrm>
          <a:prstGeom prst="rect">
            <a:avLst/>
          </a:prstGeom>
          <a:solidFill>
            <a:srgbClr val="2A2E33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0" name="사진 2" descr="p05_i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1850" y="1733550"/>
            <a:ext cx="2647743" cy="790575"/>
          </a:xfrm>
          <a:prstGeom prst="rect">
            <a:avLst/>
          </a:prstGeom>
        </p:spPr>
      </p:pic>
      <p:pic>
        <p:nvPicPr>
          <p:cNvPr id="21" name="사진 3" descr="p05_i0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1850" y="2562225"/>
            <a:ext cx="2647743" cy="790575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429000" y="1790700"/>
            <a:ext cx="590550" cy="190500"/>
          </a:xfrm>
          <a:prstGeom prst="roundRect">
            <a:avLst>
              <a:gd name="adj" fmla="val 15000"/>
            </a:avLst>
          </a:prstGeom>
          <a:solidFill>
            <a:srgbClr val="0B1E3C">
              <a:alpha val="851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494088" y="1811572"/>
            <a:ext cx="538386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이전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회차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29000" y="2619375"/>
            <a:ext cx="590550" cy="190500"/>
          </a:xfrm>
          <a:prstGeom prst="roundRect">
            <a:avLst>
              <a:gd name="adj" fmla="val 15000"/>
            </a:avLst>
          </a:prstGeom>
          <a:solidFill>
            <a:srgbClr val="0B1E3C">
              <a:alpha val="851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494088" y="2640627"/>
            <a:ext cx="538386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이번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회차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19600" y="2733675"/>
            <a:ext cx="1352550" cy="552450"/>
          </a:xfrm>
          <a:prstGeom prst="rect">
            <a:avLst/>
          </a:prstGeom>
          <a:noFill/>
          <a:ln w="23812">
            <a:solidFill>
              <a:srgbClr val="F5B700"/>
            </a:solidFill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366516" y="3524653"/>
            <a:ext cx="61679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STEP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2706" y="3726562"/>
            <a:ext cx="977664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변화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감지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7185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498723" y="4091793"/>
            <a:ext cx="1891166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위치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깊이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시간으로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4D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71850" y="44386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498723" y="4356969"/>
            <a:ext cx="182290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AI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가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이전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회차와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변화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선별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71850" y="47053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498723" y="4625193"/>
            <a:ext cx="1919741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전문가가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원시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데이터로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승인</a:t>
            </a:r>
          </a:p>
        </p:txBody>
      </p:sp>
      <p:pic>
        <p:nvPicPr>
          <p:cNvPr id="35" name="Picture 34" descr="p05_v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7575" y="2520950"/>
            <a:ext cx="187325" cy="98425"/>
          </a:xfrm>
          <a:prstGeom prst="rect">
            <a:avLst/>
          </a:prstGeom>
        </p:spPr>
      </p:pic>
      <p:pic>
        <p:nvPicPr>
          <p:cNvPr id="36" name="사진 4" descr="p05_i0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1720850"/>
            <a:ext cx="2609850" cy="1638300"/>
          </a:xfrm>
          <a:prstGeom prst="rect">
            <a:avLst/>
          </a:prstGeom>
        </p:spPr>
      </p:pic>
      <p:pic>
        <p:nvPicPr>
          <p:cNvPr id="37" name="Picture 36" descr="p05_v0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21525" y="2616200"/>
            <a:ext cx="949325" cy="377825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267450" y="1790700"/>
            <a:ext cx="990600" cy="190500"/>
          </a:xfrm>
          <a:prstGeom prst="roundRect">
            <a:avLst>
              <a:gd name="adj" fmla="val 15000"/>
            </a:avLst>
          </a:prstGeom>
          <a:solidFill>
            <a:srgbClr val="0B1E3C">
              <a:alpha val="851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380161" y="1811572"/>
            <a:ext cx="843185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AR 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재탐사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범위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04966" y="3524653"/>
            <a:ext cx="620753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STEP 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01156" y="3726562"/>
            <a:ext cx="1174512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현장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재확인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030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337173" y="4091793"/>
            <a:ext cx="2002292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앱이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지점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안전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정차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위치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안내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0300" y="44386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337173" y="4356969"/>
            <a:ext cx="205468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AR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글래스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+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수동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GPR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재탐사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0300" y="47053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337173" y="4625193"/>
            <a:ext cx="1678442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필요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시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천공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내시경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요청</a:t>
            </a:r>
          </a:p>
        </p:txBody>
      </p:sp>
      <p:pic>
        <p:nvPicPr>
          <p:cNvPr id="48" name="Picture 47" descr="p05_v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025" y="2520950"/>
            <a:ext cx="187325" cy="98425"/>
          </a:xfrm>
          <a:prstGeom prst="rect">
            <a:avLst/>
          </a:prstGeom>
        </p:spPr>
      </p:pic>
      <p:pic>
        <p:nvPicPr>
          <p:cNvPr id="49" name="사진 5" descr="p05_i0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14346" y="1733550"/>
            <a:ext cx="2750604" cy="161925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043416" y="3524653"/>
            <a:ext cx="623345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STEP 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39606" y="3726562"/>
            <a:ext cx="977665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결과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축적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4875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175623" y="4091793"/>
            <a:ext cx="196101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확인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보수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이력을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지도에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48750" y="44386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9175623" y="4356969"/>
            <a:ext cx="1819729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다음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회차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순찰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경로에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반영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48750" y="47053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9175623" y="4625193"/>
            <a:ext cx="149905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AI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검증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데이터로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축적</a:t>
            </a:r>
          </a:p>
        </p:txBody>
      </p:sp>
      <p:pic>
        <p:nvPicPr>
          <p:cNvPr id="58" name="Picture 57" descr="p05_v0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18481" y="4978400"/>
            <a:ext cx="8555038" cy="299244"/>
          </a:xfrm>
          <a:prstGeom prst="rect">
            <a:avLst/>
          </a:prstGeom>
        </p:spPr>
      </p:pic>
      <p:sp>
        <p:nvSpPr>
          <p:cNvPr id="59" name="Rectangle 58"/>
          <p:cNvSpPr/>
          <p:nvPr/>
        </p:nvSpPr>
        <p:spPr>
          <a:xfrm>
            <a:off x="4476750" y="5114925"/>
            <a:ext cx="3238500" cy="285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4960143" y="5158593"/>
            <a:ext cx="237219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확인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결과가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다음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순찰로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돌아갑니다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3400" y="5600700"/>
            <a:ext cx="11125200" cy="4953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53999" y="5722790"/>
            <a:ext cx="6327656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는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검토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순서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를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정하고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판정은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전문가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가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최종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확인은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천공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내시경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맡습니다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8638" y="6234112"/>
            <a:ext cx="623697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B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-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scan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비교는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설명용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예시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· PV5: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실차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사진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기반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편집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이미지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도로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장면은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연출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이미지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지도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© OpenStreetMap contributors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8638" y="6615112"/>
            <a:ext cx="126591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명이라도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살릴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수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있다면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879600" y="256540"/>
            <a:ext cx="383540" cy="24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1866900" y="266700"/>
            <a:ext cx="557882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1981200" y="308907"/>
            <a:ext cx="405417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솔루션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34002" y="296821"/>
            <a:ext cx="1865031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GroundWatch 운영 파이프라인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308862" y="6615112"/>
            <a:ext cx="421313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05 / 14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8160" y="780417"/>
            <a:ext cx="8084157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반복 순찰이 탐사 결과를 다음 현장 업무로 연결합니다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462" y="308907"/>
            <a:ext cx="1172922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266700"/>
            <a:ext cx="495300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pic>
        <p:nvPicPr>
          <p:cNvPr id="8" name="Picture 7" descr="p06_v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600" y="2616200"/>
            <a:ext cx="1692275" cy="1873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23023" y="1461369"/>
            <a:ext cx="84500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화물실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구성</a:t>
            </a:r>
          </a:p>
        </p:txBody>
      </p:sp>
      <p:sp>
        <p:nvSpPr>
          <p:cNvPr id="10" name="Oval 9"/>
          <p:cNvSpPr/>
          <p:nvPr/>
        </p:nvSpPr>
        <p:spPr>
          <a:xfrm>
            <a:off x="7429500" y="1828800"/>
            <a:ext cx="266700" cy="266700"/>
          </a:xfrm>
          <a:prstGeom prst="ellipse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12050" y="1884829"/>
            <a:ext cx="184093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02499" y="1836590"/>
            <a:ext cx="1531032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화물실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전방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4023" y="2138025"/>
            <a:ext cx="2981779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Edge Gateway ·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엣지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AI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컴퓨터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 GPR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제어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4023" y="2354433"/>
            <a:ext cx="315640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저장장치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보안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네트워크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 RTK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수신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전원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분배</a:t>
            </a:r>
          </a:p>
        </p:txBody>
      </p:sp>
      <p:sp>
        <p:nvSpPr>
          <p:cNvPr id="15" name="Oval 14"/>
          <p:cNvSpPr/>
          <p:nvPr/>
        </p:nvSpPr>
        <p:spPr>
          <a:xfrm>
            <a:off x="7429500" y="2743200"/>
            <a:ext cx="266700" cy="266700"/>
          </a:xfrm>
          <a:prstGeom prst="ellipse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17606" y="2799229"/>
            <a:ext cx="172770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2499" y="2750990"/>
            <a:ext cx="1704078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화물실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측면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재검증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4023" y="3052425"/>
            <a:ext cx="278334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지면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밀착형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수동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GPR ·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산업용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AR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글래스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4023" y="3268833"/>
            <a:ext cx="299448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AR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충전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보관함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 RTK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이동국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교체형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안테나</a:t>
            </a:r>
          </a:p>
        </p:txBody>
      </p:sp>
      <p:sp>
        <p:nvSpPr>
          <p:cNvPr id="20" name="Oval 19"/>
          <p:cNvSpPr/>
          <p:nvPr/>
        </p:nvSpPr>
        <p:spPr>
          <a:xfrm>
            <a:off x="7429500" y="3657600"/>
            <a:ext cx="266700" cy="266700"/>
          </a:xfrm>
          <a:prstGeom prst="ellipse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1256" y="3713629"/>
            <a:ext cx="184911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02499" y="3665390"/>
            <a:ext cx="1531032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화물실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후방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안전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4023" y="3966825"/>
            <a:ext cx="309768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관로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내시경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작업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조명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라바콘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개인보호장비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29500" y="4438650"/>
            <a:ext cx="4229100" cy="0"/>
          </a:xfrm>
          <a:prstGeom prst="line">
            <a:avLst/>
          </a:prstGeom>
          <a:ln w="9525">
            <a:solidFill>
              <a:srgbClr val="D5DAE1"/>
            </a:solidFill>
          </a:ln>
        </p:spPr>
      </p:cxnSp>
      <p:pic>
        <p:nvPicPr>
          <p:cNvPr id="25" name="사진 1" descr="p06_i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0" y="4591050"/>
            <a:ext cx="1809750" cy="10287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424035" y="5322973"/>
            <a:ext cx="1614158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[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설계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판단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간섭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시험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필요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]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3400" y="5753100"/>
            <a:ext cx="11125200" cy="0"/>
          </a:xfrm>
          <a:prstGeom prst="line">
            <a:avLst/>
          </a:prstGeom>
          <a:ln w="19050">
            <a:solidFill>
              <a:srgbClr val="0B1E3C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528638" y="6615112"/>
            <a:ext cx="126591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명이라도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살릴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수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있다면</a:t>
            </a:r>
          </a:p>
        </p:txBody>
      </p:sp>
      <p:pic>
        <p:nvPicPr>
          <p:cNvPr id="29" name="사진 2" descr="p06_i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409700"/>
            <a:ext cx="6343650" cy="4229100"/>
          </a:xfrm>
          <a:prstGeom prst="rect">
            <a:avLst/>
          </a:prstGeom>
        </p:spPr>
      </p:pic>
      <p:sp>
        <p:nvSpPr>
          <p:cNvPr id="30" name="Oval 29"/>
          <p:cNvSpPr/>
          <p:nvPr/>
        </p:nvSpPr>
        <p:spPr>
          <a:xfrm>
            <a:off x="3151787" y="3366108"/>
            <a:ext cx="323850" cy="323850"/>
          </a:xfrm>
          <a:prstGeom prst="ellipse">
            <a:avLst/>
          </a:prstGeom>
          <a:solidFill>
            <a:srgbClr val="F5B700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259017" y="3437610"/>
            <a:ext cx="200829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32" name="Oval 31"/>
          <p:cNvSpPr/>
          <p:nvPr/>
        </p:nvSpPr>
        <p:spPr>
          <a:xfrm>
            <a:off x="4381176" y="2723042"/>
            <a:ext cx="323850" cy="323850"/>
          </a:xfrm>
          <a:prstGeom prst="ellipse">
            <a:avLst/>
          </a:prstGeom>
          <a:solidFill>
            <a:srgbClr val="F5B700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494583" y="2794545"/>
            <a:ext cx="188476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B</a:t>
            </a:r>
          </a:p>
        </p:txBody>
      </p:sp>
      <p:sp>
        <p:nvSpPr>
          <p:cNvPr id="34" name="Oval 33"/>
          <p:cNvSpPr/>
          <p:nvPr/>
        </p:nvSpPr>
        <p:spPr>
          <a:xfrm>
            <a:off x="5534911" y="2950007"/>
            <a:ext cx="323850" cy="323850"/>
          </a:xfrm>
          <a:prstGeom prst="ellipse">
            <a:avLst/>
          </a:prstGeom>
          <a:solidFill>
            <a:srgbClr val="F5B700"/>
          </a:solidFill>
          <a:ln w="19050">
            <a:solidFill>
              <a:srgbClr val="FFFFFF"/>
            </a:solidFill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41695" y="3021509"/>
            <a:ext cx="201722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79600" y="256540"/>
            <a:ext cx="497840" cy="24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1866900" y="266700"/>
            <a:ext cx="557882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981200" y="308907"/>
            <a:ext cx="405417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솔루션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34002" y="296821"/>
            <a:ext cx="113565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PV5 이동형 탐사실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22511" y="4631395"/>
            <a:ext cx="1657955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차체 하부 다채널 GPR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24035" y="4914541"/>
            <a:ext cx="1671970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화물실 바닥 아래 차체 하부에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24035" y="5118757"/>
            <a:ext cx="181949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다채널 GPR 모듈을 장착하는 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3400" y="5825195"/>
            <a:ext cx="1119475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적재·전력 예산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3400" y="6070696"/>
            <a:ext cx="928684" cy="166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[가설] 실증 필요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21000" y="5820687"/>
            <a:ext cx="1894609" cy="269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약 300kg / 600kg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21000" y="6083703"/>
            <a:ext cx="1621534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장비 합계 · 최대 적재의 절반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05500" y="5820687"/>
            <a:ext cx="1851347" cy="269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약 1.5kW / 3.6kW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05500" y="6083703"/>
            <a:ext cx="1626564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장비 소비전력 · V2L 최대 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90000" y="5820687"/>
            <a:ext cx="2137109" cy="269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약 10kWh / 71.2kWh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90000" y="6083703"/>
            <a:ext cx="1973868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하루 주행+장비 · 배터리의 약 15%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8320" y="6297454"/>
            <a:ext cx="7725849" cy="1190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75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[실증 필요] 적재중량·총중량·축하중·전자파 간섭·구조변경 승인 · 장비 배치도: 콘셉트 이미지(생성 AI), 실제 장착 설계 아님 · 출처: 기아 PV5 카고 제원(적재 600kg·V2L 3.6kW·배터리 71.2kWh), 현대차그룹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28320" y="6418104"/>
            <a:ext cx="4712043" cy="1190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75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예산 가정값: 수동 GPR 카트 27~34kg(GSSI UtilityScan Pro 유통사 제원) · 하루 3시간·시속 10km 순찰 · 장비 1.5kW 이하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07232" y="6615113"/>
            <a:ext cx="423256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06 / 14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8160" y="780417"/>
            <a:ext cx="8262465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PV5 한 대가 측정 장비와 재검증 장비를 함께 싣습니다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462" y="308907"/>
            <a:ext cx="1172922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266700"/>
            <a:ext cx="495300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sp>
        <p:nvSpPr>
          <p:cNvPr id="8" name="Rounded Rectangle 7"/>
          <p:cNvSpPr/>
          <p:nvPr/>
        </p:nvSpPr>
        <p:spPr>
          <a:xfrm>
            <a:off x="533400" y="1428750"/>
            <a:ext cx="1905000" cy="552450"/>
          </a:xfrm>
          <a:prstGeom prst="roundRect">
            <a:avLst>
              <a:gd name="adj" fmla="val 13793"/>
            </a:avLst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52475" y="1500887"/>
            <a:ext cx="1557456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GroundWatch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732" y="1744515"/>
            <a:ext cx="1254348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4D 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지도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· AI 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분석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경로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8450" y="1428750"/>
            <a:ext cx="1905000" cy="552450"/>
          </a:xfrm>
          <a:prstGeom prst="roundRect">
            <a:avLst>
              <a:gd name="adj" fmla="val 13793"/>
            </a:avLst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344862" y="1500887"/>
            <a:ext cx="983565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Patrol </a:t>
            </a: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차량</a:t>
            </a: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5349" y="1744515"/>
            <a:ext cx="78921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업무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경로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관리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3500" y="1428750"/>
            <a:ext cx="1905000" cy="552450"/>
          </a:xfrm>
          <a:prstGeom prst="roundRect">
            <a:avLst>
              <a:gd name="adj" fmla="val 13793"/>
            </a:avLst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577680" y="1500887"/>
            <a:ext cx="112779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Edge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62600" y="1744515"/>
            <a:ext cx="1144809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센서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동기화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로컬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통신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8550" y="1428750"/>
            <a:ext cx="1905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8" name="Picture 17" descr="p07_v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800" y="1397000"/>
            <a:ext cx="1968500" cy="615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082755" y="1500887"/>
            <a:ext cx="72798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AR </a:t>
            </a:r>
            <a:r>
              <a:rPr sz="12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글래스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1625" y="1744515"/>
            <a:ext cx="103686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위치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정합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탐사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안내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53600" y="1428750"/>
            <a:ext cx="1905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2" name="Picture 21" descr="p07_v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1850" y="1397000"/>
            <a:ext cx="1968500" cy="6159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405269" y="1500887"/>
            <a:ext cx="692592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수동</a:t>
            </a:r>
            <a:r>
              <a:rPr sz="12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GPR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34600" y="1744515"/>
            <a:ext cx="122101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다른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방향으로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교차검증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06650" y="2070651"/>
            <a:ext cx="54156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보안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통신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6780" y="2070651"/>
            <a:ext cx="51043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로컬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8650" y="2070651"/>
            <a:ext cx="616620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보안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Wi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-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Fi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1800" y="2070651"/>
            <a:ext cx="54156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작업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안내</a:t>
            </a:r>
          </a:p>
        </p:txBody>
      </p:sp>
      <p:pic>
        <p:nvPicPr>
          <p:cNvPr id="29" name="Picture 28" descr="p07_v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4275" y="1628775"/>
            <a:ext cx="7283450" cy="15240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533400" y="2381250"/>
            <a:ext cx="5295900" cy="3143250"/>
          </a:xfrm>
          <a:prstGeom prst="rect">
            <a:avLst/>
          </a:prstGeom>
          <a:solidFill>
            <a:srgbClr val="2B3A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628650" y="2476500"/>
            <a:ext cx="1219200" cy="209550"/>
          </a:xfrm>
          <a:prstGeom prst="roundRect">
            <a:avLst>
              <a:gd name="adj" fmla="val 13636"/>
            </a:avLst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8831" y="2518601"/>
            <a:ext cx="92777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화면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예시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]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운행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6542" y="5621995"/>
            <a:ext cx="2520945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운전석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 GroundWatch Patrol 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앱</a:t>
            </a:r>
          </a:p>
        </p:txBody>
      </p:sp>
      <p:pic>
        <p:nvPicPr>
          <p:cNvPr id="34" name="사진 1" descr="p07_i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381250"/>
            <a:ext cx="5562600" cy="3149600"/>
          </a:xfrm>
          <a:prstGeom prst="rect">
            <a:avLst/>
          </a:prstGeom>
        </p:spPr>
      </p:pic>
      <p:pic>
        <p:nvPicPr>
          <p:cNvPr id="35" name="Picture 34" descr="p07_v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9738" y="4135438"/>
            <a:ext cx="1968498" cy="739774"/>
          </a:xfrm>
          <a:prstGeom prst="rect">
            <a:avLst/>
          </a:prstGeom>
        </p:spPr>
      </p:pic>
      <p:cxnSp>
        <p:nvCxnSpPr>
          <p:cNvPr id="36" name="Connector 35"/>
          <p:cNvCxnSpPr/>
          <p:nvPr/>
        </p:nvCxnSpPr>
        <p:spPr>
          <a:xfrm>
            <a:off x="8515350" y="4343400"/>
            <a:ext cx="1057275" cy="0"/>
          </a:xfrm>
          <a:prstGeom prst="line">
            <a:avLst/>
          </a:prstGeom>
          <a:ln w="14288">
            <a:solidFill>
              <a:srgbClr val="F5B700"/>
            </a:solidFill>
            <a:prstDash val="dash"/>
          </a:ln>
        </p:spPr>
      </p:cxnSp>
      <p:cxnSp>
        <p:nvCxnSpPr>
          <p:cNvPr id="37" name="Connector 36"/>
          <p:cNvCxnSpPr/>
          <p:nvPr/>
        </p:nvCxnSpPr>
        <p:spPr>
          <a:xfrm>
            <a:off x="8372475" y="4514850"/>
            <a:ext cx="1343025" cy="0"/>
          </a:xfrm>
          <a:prstGeom prst="line">
            <a:avLst/>
          </a:prstGeom>
          <a:ln w="14288">
            <a:solidFill>
              <a:srgbClr val="F5B700"/>
            </a:solidFill>
            <a:prstDash val="dash"/>
          </a:ln>
        </p:spPr>
      </p:cxnSp>
      <p:cxnSp>
        <p:nvCxnSpPr>
          <p:cNvPr id="38" name="Connector 37"/>
          <p:cNvCxnSpPr/>
          <p:nvPr/>
        </p:nvCxnSpPr>
        <p:spPr>
          <a:xfrm>
            <a:off x="8229600" y="4686300"/>
            <a:ext cx="1628775" cy="0"/>
          </a:xfrm>
          <a:prstGeom prst="line">
            <a:avLst/>
          </a:prstGeom>
          <a:ln w="14288">
            <a:solidFill>
              <a:srgbClr val="F5B700"/>
            </a:solidFill>
            <a:prstDash val="dash"/>
          </a:ln>
        </p:spPr>
      </p:cxnSp>
      <p:pic>
        <p:nvPicPr>
          <p:cNvPr id="39" name="Picture 38" descr="p07_v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7338" y="4897438"/>
            <a:ext cx="1939923" cy="701674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9906000" y="5086350"/>
            <a:ext cx="1066800" cy="209550"/>
          </a:xfrm>
          <a:prstGeom prst="roundRect">
            <a:avLst>
              <a:gd name="adj" fmla="val 13635"/>
            </a:avLst>
          </a:prstGeom>
          <a:solidFill>
            <a:srgbClr val="0B1E3C">
              <a:alpha val="851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0109994" y="5130737"/>
            <a:ext cx="72775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기준점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 ·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맨홀</a:t>
            </a:r>
          </a:p>
        </p:txBody>
      </p:sp>
      <p:pic>
        <p:nvPicPr>
          <p:cNvPr id="42" name="Picture 41" descr="p07_v0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1063" y="4668838"/>
            <a:ext cx="206373" cy="206374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6286500" y="4362450"/>
            <a:ext cx="1181100" cy="209550"/>
          </a:xfrm>
          <a:prstGeom prst="roundRect">
            <a:avLst>
              <a:gd name="adj" fmla="val 13635"/>
            </a:avLst>
          </a:prstGeom>
          <a:solidFill>
            <a:srgbClr val="0B1E3C">
              <a:alpha val="851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490494" y="4405313"/>
            <a:ext cx="842050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기준점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 ·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경계석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6000" y="2381250"/>
            <a:ext cx="5562600" cy="228600"/>
          </a:xfrm>
          <a:prstGeom prst="rect">
            <a:avLst/>
          </a:prstGeom>
          <a:solidFill>
            <a:srgbClr val="C62828">
              <a:alpha val="9216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183436" y="2433258"/>
            <a:ext cx="3456813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GPR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기반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추정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위치입니다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굴착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정밀조사와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관계기관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승인이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필요합니다</a:t>
            </a: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48400" y="2724150"/>
            <a:ext cx="2381250" cy="666750"/>
          </a:xfrm>
          <a:prstGeom prst="roundRect">
            <a:avLst>
              <a:gd name="adj" fmla="val 8571"/>
            </a:avLst>
          </a:prstGeom>
          <a:solidFill>
            <a:srgbClr val="0B1E3C">
              <a:alpha val="851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395085" y="2820565"/>
            <a:ext cx="192540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재확인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-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0427 · 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재탐사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 / 4</a:t>
            </a: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95847" y="3030772"/>
            <a:ext cx="1954124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추정</a:t>
            </a:r>
            <a:r>
              <a:rPr sz="10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깊이</a:t>
            </a:r>
            <a:r>
              <a:rPr sz="10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0.9~1.3m · AI </a:t>
            </a:r>
            <a:r>
              <a:rPr sz="10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신뢰도</a:t>
            </a:r>
            <a:r>
              <a:rPr sz="10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84%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96038" y="3216487"/>
            <a:ext cx="1340979" cy="127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[</a:t>
            </a: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화면</a:t>
            </a: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예시</a:t>
            </a: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] </a:t>
            </a: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위치</a:t>
            </a: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오차</a:t>
            </a: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기준</a:t>
            </a: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800" b="0">
                <a:solidFill>
                  <a:srgbClr val="AEB6C2"/>
                </a:solidFill>
                <a:latin typeface="Pretendard"/>
                <a:ea typeface="Pretendard"/>
                <a:cs typeface="Pretendard"/>
              </a:rPr>
              <a:t>충족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9142" y="5621995"/>
            <a:ext cx="3201735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차량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밖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산업용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AR 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글래스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정차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후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작업자만</a:t>
            </a:r>
            <a:r>
              <a:rPr sz="14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9904" y="5880863"/>
            <a:ext cx="419349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맨홀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차선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경계석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·RTK 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중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2~3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개로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위치를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맞추고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재탐사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범위만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표시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8638" y="6215825"/>
            <a:ext cx="728253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차량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화면의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단순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미러링이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아닌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보안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Wi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-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Fi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작업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연동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· AR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은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공동의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실제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모양이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아니라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수동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GPR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확인할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범위를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안내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운전자는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주행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중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AR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을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쓰지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않음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8638" y="6392610"/>
            <a:ext cx="5471201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앱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배포와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차량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접근은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기아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PBV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파트너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승인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공식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API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범위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확인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필요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도로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장면은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연출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이미지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화면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수치는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예시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8638" y="6633401"/>
            <a:ext cx="126591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명이라도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살릴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수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있다면</a:t>
            </a:r>
          </a:p>
        </p:txBody>
      </p:sp>
      <p:pic>
        <p:nvPicPr>
          <p:cNvPr id="56" name="사진 2" descr="p07_i0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2381616"/>
            <a:ext cx="5295900" cy="3142518"/>
          </a:xfrm>
          <a:prstGeom prst="rect">
            <a:avLst/>
          </a:prstGeom>
        </p:spPr>
      </p:pic>
      <p:sp>
        <p:nvSpPr>
          <p:cNvPr id="57" name="Rectangle 56"/>
          <p:cNvSpPr/>
          <p:nvPr/>
        </p:nvSpPr>
        <p:spPr>
          <a:xfrm>
            <a:off x="628650" y="2476500"/>
            <a:ext cx="1219200" cy="20955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08990" y="2520125"/>
            <a:ext cx="92768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[화면 예시] 운행 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30900" y="6392609"/>
            <a:ext cx="2671514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· 실내 사진: Alexander Migl, CC BY-SA 4.0(화면 합성)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79600" y="256540"/>
            <a:ext cx="497840" cy="24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1866900" y="266700"/>
            <a:ext cx="557882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1981200" y="308907"/>
            <a:ext cx="405417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솔루션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34002" y="296821"/>
            <a:ext cx="148490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차량 앱과 AR 현장 재확인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7304" y="5880863"/>
            <a:ext cx="3672727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순찰경로·재확인 지점·장비 상태, 도착 전 안전 정차 위치 안내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314264" y="6615113"/>
            <a:ext cx="41616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07 / 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8160" y="780417"/>
            <a:ext cx="8654894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차량에서 만든 재확인 업무가 작업자 시야까지 이어집니다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866900" y="266700"/>
            <a:ext cx="557882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780" y="308907"/>
            <a:ext cx="1193623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308907"/>
            <a:ext cx="405417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솔루션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4002" y="296821"/>
            <a:ext cx="859331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PV5로 바꾸면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18160" y="780417"/>
            <a:ext cx="9457661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탐사 차량을 PV5로 바꾸면, GPR이 차에 꽂히는 모듈이 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" y="1372575"/>
            <a:ext cx="6868399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싣고, 켜고, 고정하고, 복제하는 것까지 PV5가 기본으로 갖춘 구조 위에서 GPR 장비가 돌아갑니다.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320" y="6615113"/>
            <a:ext cx="126921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한 명이라도 살릴 수 있다면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08013" y="6615113"/>
            <a:ext cx="42245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08 / 14</a:t>
            </a:r>
          </a:p>
        </p:txBody>
      </p:sp>
      <p:pic>
        <p:nvPicPr>
          <p:cNvPr id="13" name="사진 1" descr="p08_i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52" y="1673860"/>
            <a:ext cx="2607945" cy="173863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09600" y="1750060"/>
            <a:ext cx="919634" cy="1905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73100" y="1771439"/>
            <a:ext cx="868540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카고룸 4,420L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3524653"/>
            <a:ext cx="821820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PV5 특징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3727071"/>
            <a:ext cx="1177349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넉넉한 적재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66750" y="4092301"/>
            <a:ext cx="1946546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카고룸 4,420L·최대 600kg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443738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66750" y="4357731"/>
            <a:ext cx="1836120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GPR·카트·엣지 PC 한 번에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470281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66750" y="4623161"/>
            <a:ext cx="1751258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내시경·안전장비까지 적재</a:t>
            </a:r>
          </a:p>
        </p:txBody>
      </p:sp>
      <p:pic>
        <p:nvPicPr>
          <p:cNvPr id="24" name="사진 2" descr="p08_i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802" y="1673860"/>
            <a:ext cx="2607945" cy="173863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448050" y="1750060"/>
            <a:ext cx="973088" cy="1905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511550" y="1771439"/>
            <a:ext cx="921738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실내 V2L 220V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71850" y="3524653"/>
            <a:ext cx="84160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PV5 특징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1850" y="3727071"/>
            <a:ext cx="979839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즉시 전원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7185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505200" y="4092301"/>
            <a:ext cx="2005806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실내·실외 V2L 220V 3.6kW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71850" y="443738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05200" y="4357731"/>
            <a:ext cx="2120916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GPR 제어부·엣지 PC 상시 구동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71850" y="470281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505200" y="4623161"/>
            <a:ext cx="1644438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AR·수동 GPR 바로 충전</a:t>
            </a:r>
          </a:p>
        </p:txBody>
      </p:sp>
      <p:pic>
        <p:nvPicPr>
          <p:cNvPr id="35" name="사진 3" descr="p08_i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252" y="1673860"/>
            <a:ext cx="2607946" cy="173863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6286500" y="1750060"/>
            <a:ext cx="956221" cy="1905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350000" y="1771439"/>
            <a:ext cx="90478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L-Track 패키지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0300" y="3524653"/>
            <a:ext cx="845560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PV5 특징 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0300" y="3727071"/>
            <a:ext cx="979839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레일 고정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030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343650" y="4092301"/>
            <a:ext cx="1943822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휠하우스·루프·격벽 L-Track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0300" y="443738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343650" y="4357731"/>
            <a:ext cx="186550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GPR 카트·장비 케이스 고정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0300" y="470281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343650" y="4623161"/>
            <a:ext cx="1649391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주행 중에도 흔들림 없이</a:t>
            </a:r>
          </a:p>
        </p:txBody>
      </p:sp>
      <p:pic>
        <p:nvPicPr>
          <p:cNvPr id="46" name="사진 4" descr="p08_i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9702" y="1673860"/>
            <a:ext cx="2607945" cy="1738630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9124950" y="1750060"/>
            <a:ext cx="1175866" cy="1905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9188450" y="1771439"/>
            <a:ext cx="1124619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기아 컬렉션 × 밀워키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48750" y="3524653"/>
            <a:ext cx="84815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PV5 특징 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48750" y="3727071"/>
            <a:ext cx="1374860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컨버전 생태계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4875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182100" y="4092301"/>
            <a:ext cx="1668708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파트너사 PV5 전용 랙킹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48750" y="443738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9182100" y="4357731"/>
            <a:ext cx="1833808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공구 시스템 맞춘 선반·패널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48750" y="470281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9182100" y="4623161"/>
            <a:ext cx="1865011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GPR 탐사 키트도 같은 방식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828800" y="5251450"/>
            <a:ext cx="8534400" cy="0"/>
          </a:xfrm>
          <a:prstGeom prst="line">
            <a:avLst/>
          </a:prstGeom>
          <a:ln w="9525">
            <a:solidFill>
              <a:srgbClr val="E2E6EC"/>
            </a:solidFill>
          </a:ln>
        </p:spPr>
      </p:cxnSp>
      <p:sp>
        <p:nvSpPr>
          <p:cNvPr id="58" name="Rectangle 57"/>
          <p:cNvSpPr/>
          <p:nvPr/>
        </p:nvSpPr>
        <p:spPr>
          <a:xfrm>
            <a:off x="4093480" y="5118100"/>
            <a:ext cx="4005039" cy="27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245880" y="5159101"/>
            <a:ext cx="3797836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개조해서 매다는 짐이 아니라, 처음부터 끼우는 모듈입니다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3400" y="5600700"/>
            <a:ext cx="11125200" cy="4953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754380" y="5722283"/>
            <a:ext cx="6026866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GPR 탐사차를 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한 대씩 개조하지 않고, 표준 사양으로 여러 대에 복제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합니다.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8320" y="6221254"/>
            <a:ext cx="8338264" cy="1190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75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출처: 기아 PV5 카고 가격표·제원(2026.10: 카고룸·최대 적재·V2L) · 기아 PV5 카고 특징·액세서리(L-Track 패키지·기아 컬렉션 밀워키 워크스테이션) · 현대차그룹 PV5 테크 데이(2025.7.23: 차체 마운팅 구조·컨버전 포털)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8320" y="6341904"/>
            <a:ext cx="5698982" cy="1190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75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이미지: 특징 02~04 © 기아(기아 공식 홈페이지 PV5 카고: 실내 V2L 콘센트·L-Track DIY 키트·밀워키 워크스테이션) · 특징 01 콘셉트 이미지(생성 AI)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866900" y="266700"/>
            <a:ext cx="557882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780" y="308907"/>
            <a:ext cx="1193623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308907"/>
            <a:ext cx="405417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솔루션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34002" y="296821"/>
            <a:ext cx="101495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왜 지금 PV5인가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18160" y="780417"/>
            <a:ext cx="8613366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다음 탐사 차량을 늘린다면, 조건에 맞는 차는 PV5입니다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" y="1372575"/>
            <a:ext cx="6174446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차량 기능에 더해 운영 조건·정책·수요·비용까지, 지금 PV5가 맞는 이유는 네 가지입니다.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320" y="6615113"/>
            <a:ext cx="126921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한 명이라도 살릴 수 있다면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07232" y="6615113"/>
            <a:ext cx="423256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09 /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3400" y="1673860"/>
            <a:ext cx="2609850" cy="173863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97781" y="2205189"/>
            <a:ext cx="1970049" cy="603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8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공회전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82" y="2887113"/>
            <a:ext cx="1827591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정차한 채 장비를 켜도 엔진 정지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71850" y="1673860"/>
            <a:ext cx="2609850" cy="173863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013436" y="2205189"/>
            <a:ext cx="1615726" cy="603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8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7293" y="2887113"/>
            <a:ext cx="1602115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공공부문 무공해차 의무구매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0300" y="1673860"/>
            <a:ext cx="2609850" cy="173863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151625" y="2205189"/>
            <a:ext cx="1016480" cy="603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8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6대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5443" y="2887113"/>
            <a:ext cx="1422464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서울시 차량형 GPR 장비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48750" y="1673860"/>
            <a:ext cx="2609850" cy="173863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226550" y="1883199"/>
            <a:ext cx="891877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판매가격 (만 원)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550" y="2245456"/>
            <a:ext cx="603310" cy="166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5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PV5 카고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90150" y="2245360"/>
            <a:ext cx="737828" cy="1651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878778" y="2251806"/>
            <a:ext cx="458745" cy="166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5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4,520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26550" y="2601056"/>
            <a:ext cx="735894" cy="166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D1D5DB"/>
                </a:solidFill>
                <a:latin typeface="Pretendard"/>
                <a:ea typeface="Pretendard"/>
                <a:cs typeface="Pretendard"/>
              </a:rPr>
              <a:t>스타리아 EV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90150" y="2600960"/>
            <a:ext cx="945465" cy="1651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1086415" y="2607406"/>
            <a:ext cx="427242" cy="166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D1D5DB"/>
                </a:solidFill>
                <a:latin typeface="Pretendard"/>
                <a:ea typeface="Pretendard"/>
                <a:cs typeface="Pretendard"/>
              </a:rPr>
              <a:t>5,792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550" y="2956656"/>
            <a:ext cx="564639" cy="166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D1D5DB"/>
                </a:solidFill>
                <a:latin typeface="Pretendard"/>
                <a:ea typeface="Pretendard"/>
                <a:cs typeface="Pretendard"/>
              </a:rPr>
              <a:t>ST1 카고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90150" y="2956560"/>
            <a:ext cx="958850" cy="1651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1099800" y="2963006"/>
            <a:ext cx="431257" cy="166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50" b="0">
                <a:solidFill>
                  <a:srgbClr val="D1D5DB"/>
                </a:solidFill>
                <a:latin typeface="Pretendard"/>
                <a:ea typeface="Pretendard"/>
                <a:cs typeface="Pretendard"/>
              </a:rPr>
              <a:t>5,874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" y="3524653"/>
            <a:ext cx="515039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이유 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3400" y="3727071"/>
            <a:ext cx="1624948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조용한 새벽 탐사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340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66750" y="4092301"/>
            <a:ext cx="164988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저소음·무배기 새벽 탐사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3400" y="443738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66750" y="4357731"/>
            <a:ext cx="213181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제한장소 2~5분 초과 시 과태료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3400" y="470281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66750" y="4623161"/>
            <a:ext cx="1740692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서울시 제한장소 2,772곳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71850" y="3524653"/>
            <a:ext cx="534821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이유 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71850" y="3727071"/>
            <a:ext cx="1927615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공공이 살 수 있는 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7185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505200" y="4092301"/>
            <a:ext cx="1750762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공공기관 신차는 무공해차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371850" y="443738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3505200" y="4357731"/>
            <a:ext cx="1649391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디젤 승합은 원칙적 불가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71850" y="470281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505200" y="4623161"/>
            <a:ext cx="1649886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특수·긴급차만 예외 심사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0300" y="3524653"/>
            <a:ext cx="53877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이유 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0300" y="3727071"/>
            <a:ext cx="1822459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늘어나는 반복 탐사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030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343650" y="4092301"/>
            <a:ext cx="1762979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공사장 월 1회 탐사로 확대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0300" y="443738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343650" y="4357731"/>
            <a:ext cx="1620333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대형 굴착은 주 1회 탐사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0300" y="470281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343650" y="4623161"/>
            <a:ext cx="175125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경기 31개 시·군 GPR 0대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48750" y="3524653"/>
            <a:ext cx="541370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이유 04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48750" y="3727071"/>
            <a:ext cx="1875037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가장 낮은 도입 비용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4875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182100" y="4092301"/>
            <a:ext cx="1691161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국산 전기 밴 3종 중 최저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48750" y="443738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182100" y="4357731"/>
            <a:ext cx="2114118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스타리아 EV보다 1,272만 원↓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48750" y="470281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9182100" y="4623161"/>
            <a:ext cx="1690666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같은 예산으로 더 많은 차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33400" y="5016500"/>
            <a:ext cx="11125200" cy="44450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11200" y="5156603"/>
            <a:ext cx="1234425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불리한 점도 밝힙니다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6000" y="5085525"/>
            <a:ext cx="620727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적재중량(스타리아 카고 900kg · PV5 600kg)과 주행거리(스타리아 +10km)는 뒤지지만, 장비 300kg·하루 30km 순찰에는 충분합니다.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286000" y="5244275"/>
            <a:ext cx="574023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374151"/>
                </a:solidFill>
                <a:latin typeface="Pretendard"/>
                <a:ea typeface="Pretendard"/>
                <a:cs typeface="Pretendard"/>
              </a:rPr>
              <a:t>전폭 1,895mm에 묶이는 1회 탐사 폭(4장의 약 3m)은 확장형 GPR 배열이나 차로당 2회 주행으로 보완합니다. [가설·설계 판단]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3400" y="5600700"/>
            <a:ext cx="11125200" cy="4953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54380" y="5722283"/>
            <a:ext cx="7321864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PV5는 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조용히 다니고, 지금 공공이 살 수 있고, 반복 탐사만큼 늘릴 수 있는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탐사 차량입니다.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8320" y="6221254"/>
            <a:ext cx="7821093" cy="1190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75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출처: 기아 PV5 카고 가격표(2026.10, 카고 롱 롱레인지) · 현대차 스타리아 일렉트릭 가격표(2026.4.23, 카고 3인승) · ST1 2026년형 발표(2025.7.16, 카고 스타일) · 환경부 공공부문 무공해차 의무구매 기준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8320" y="6341904"/>
            <a:ext cx="5380562" cy="1190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75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· 서울시 지반침하 예방 대책(2026.3.23) · 시사저널(2025.4.25, 경기도 GPR) · 서울시 자동차 공회전 단속 기준(제한장소 2,772곳, 2020.12)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866900" y="266700"/>
            <a:ext cx="448121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780" y="308907"/>
            <a:ext cx="1193623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308907"/>
            <a:ext cx="295689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4242" y="296821"/>
            <a:ext cx="877911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기술 검증 현황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518160" y="780417"/>
            <a:ext cx="9181055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상용 기술을 결합하고, 차량 통합 성능은 실증으로 확인합니다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" y="1372575"/>
            <a:ext cx="7163193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기반 기술은 이미 있습니다. 한 차량 안에서 반복 가능한 정확도로 묶이는지, 네 가지를 먼저 실증합니다.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320" y="6615113"/>
            <a:ext cx="1269217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한 명이라도 살릴 수 있다면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27212" y="6615113"/>
            <a:ext cx="403253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10 / 14</a:t>
            </a:r>
          </a:p>
        </p:txBody>
      </p:sp>
      <p:pic>
        <p:nvPicPr>
          <p:cNvPr id="13" name="사진 1" descr="p10_i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52" y="1673860"/>
            <a:ext cx="2607945" cy="173863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09600" y="1750060"/>
            <a:ext cx="1045394" cy="1905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73100" y="1771439"/>
            <a:ext cx="994008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EV 구동계 × GPR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3524653"/>
            <a:ext cx="515039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실증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3727071"/>
            <a:ext cx="1177349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전자파 간섭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66750" y="4092301"/>
            <a:ext cx="1564695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EV 구동계·인버터 잡음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443738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66750" y="4357731"/>
            <a:ext cx="184024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주행·정차·V2L 상태별 비교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470281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66750" y="4623161"/>
            <a:ext cx="1506745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크면 차량형 측정 불가</a:t>
            </a:r>
          </a:p>
        </p:txBody>
      </p:sp>
      <p:pic>
        <p:nvPicPr>
          <p:cNvPr id="24" name="사진 2" descr="p10_i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2802" y="1673860"/>
            <a:ext cx="2607945" cy="173863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448050" y="1750060"/>
            <a:ext cx="844104" cy="1905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511550" y="1771439"/>
            <a:ext cx="79302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같은 경로 반복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71850" y="3524653"/>
            <a:ext cx="534821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실증 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71850" y="3727071"/>
            <a:ext cx="1624948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회차별 위치 정합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7185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505200" y="4092301"/>
            <a:ext cx="1690666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같은 경로 반복 주행 오차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71850" y="443738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505200" y="4357731"/>
            <a:ext cx="1722530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RTK·IMU·휠 인코더 보정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71850" y="470281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505200" y="4623161"/>
            <a:ext cx="1649391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어긋나면 변화 비교 불가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0300" y="1673860"/>
            <a:ext cx="2609850" cy="17386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6" name="사진 3" descr="p10_i0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647" y="1750060"/>
            <a:ext cx="2255156" cy="158623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6286500" y="1750060"/>
            <a:ext cx="1108025" cy="1905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350000" y="1771439"/>
            <a:ext cx="1056673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AI가 고른 변화 후보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0300" y="3524653"/>
            <a:ext cx="53877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실증 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0300" y="3727071"/>
            <a:ext cx="1466299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AI 탐지·오탐률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030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343650" y="4092301"/>
            <a:ext cx="1649391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공동 모사체 구간 탐지율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0300" y="443738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343650" y="4357731"/>
            <a:ext cx="136459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기존·신규 신호 구분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0300" y="470281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343650" y="4623161"/>
            <a:ext cx="1649391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오탐 많으면 재확인 증가</a:t>
            </a:r>
          </a:p>
        </p:txBody>
      </p:sp>
      <p:pic>
        <p:nvPicPr>
          <p:cNvPr id="47" name="사진 4" descr="p10_i0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9702" y="1673860"/>
            <a:ext cx="2607945" cy="173863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9124950" y="1750060"/>
            <a:ext cx="705073" cy="1905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188450" y="1771439"/>
            <a:ext cx="654083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야간 기준점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48750" y="3524653"/>
            <a:ext cx="541370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실증 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48750" y="3727071"/>
            <a:ext cx="1788169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야간 AR 위치 오차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48750" y="417195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182100" y="4092301"/>
            <a:ext cx="1649886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맨홀·경계석 기준점 인식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48750" y="443738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9182100" y="4357731"/>
            <a:ext cx="1691161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야간·우천 조건 위치 오차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48750" y="4702810"/>
            <a:ext cx="57150" cy="5715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9182100" y="4623161"/>
            <a:ext cx="1690666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크면 수동 탐색 범위 확대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33400" y="5003800"/>
            <a:ext cx="11125200" cy="0"/>
          </a:xfrm>
          <a:prstGeom prst="line">
            <a:avLst/>
          </a:prstGeom>
          <a:ln w="9525">
            <a:solidFill>
              <a:srgbClr val="E2E6EC"/>
            </a:solidFill>
          </a:ln>
        </p:spPr>
      </p:cxnSp>
      <p:sp>
        <p:nvSpPr>
          <p:cNvPr id="59" name="TextBox 58"/>
          <p:cNvSpPr txBox="1"/>
          <p:nvPr/>
        </p:nvSpPr>
        <p:spPr>
          <a:xfrm>
            <a:off x="533400" y="5092796"/>
            <a:ext cx="7267935" cy="166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50" b="1">
                <a:solidFill>
                  <a:srgbClr val="8A5A00"/>
                </a:solidFill>
                <a:latin typeface="Pretendard"/>
                <a:ea typeface="Pretendard"/>
                <a:cs typeface="Pretendard"/>
              </a:rPr>
              <a:t>함께 확인  </a:t>
            </a:r>
            <a:r>
              <a:rPr sz="10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장비 고정 상태 반복 측정 일관성 · 적재중량·축하중·제동 안정성 · V2L 포함 실제 소비전력 · 차량 앱 배포 절차·접근 가능한 데이터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3400" y="5308696"/>
            <a:ext cx="7348477" cy="16668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5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이미 상용  </a:t>
            </a:r>
            <a:r>
              <a:rPr sz="105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차량형·수동 GPR · RTK-GNSS·IMU·휠 인코더 · 노면 카메라 · 엣지 컴퓨터 · GIS 이력 관리 · AAOS 앱 생태계 · 산업용 AR 글래스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3400" y="5600700"/>
            <a:ext cx="11125200" cy="4953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754380" y="5722283"/>
            <a:ext cx="6629507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핵심은 기술의 존재가 아니라, </a:t>
            </a:r>
            <a:r>
              <a:rPr sz="16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한 차량에서 반복 가능한 정확도</a:t>
            </a:r>
            <a:r>
              <a:rPr sz="1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로 연결되는가입니다.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8320" y="6221254"/>
            <a:ext cx="4624494" cy="1190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75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이미지: 콘셉트 이미지(생성 AI)·설명용 예시 · B-scan 비교는 설명용 예시 · 지도 데이터 © OpenStreetMap contributors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462" y="308907"/>
            <a:ext cx="1172922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266700"/>
            <a:ext cx="495300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26161" y="1373083"/>
            <a:ext cx="5857299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장비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안정성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길의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반복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일관성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실제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도로에서의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효용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순서로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검증합니다</a:t>
            </a:r>
            <a:r>
              <a:rPr sz="14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685" y="3582565"/>
            <a:ext cx="1355494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폐쇄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시험장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장비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단위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3810000"/>
            <a:ext cx="2667000" cy="175260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18566" y="3963565"/>
            <a:ext cx="382350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sz="1100" b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518" y="4174513"/>
            <a:ext cx="1316251" cy="269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장비</a:t>
            </a: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통합</a:t>
            </a: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시험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" y="4561079"/>
            <a:ext cx="176938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장착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구조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진동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전력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사용량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" y="4789679"/>
            <a:ext cx="176938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전자파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간섭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통신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지연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누락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47085" y="3058309"/>
            <a:ext cx="100465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통제된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시험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구간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52800" y="3286125"/>
            <a:ext cx="2667000" cy="2276475"/>
          </a:xfrm>
          <a:prstGeom prst="rect">
            <a:avLst/>
          </a:prstGeom>
          <a:solidFill>
            <a:srgbClr val="C9D3E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537966" y="3439309"/>
            <a:ext cx="401401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2</a:t>
            </a:r>
            <a:r>
              <a:rPr sz="1100" b="1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4918" y="3653304"/>
            <a:ext cx="1497225" cy="269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통제된</a:t>
            </a: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반복</a:t>
            </a: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주행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7204" y="4036823"/>
            <a:ext cx="1693181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공동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모사체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구간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반복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측정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7204" y="4265423"/>
            <a:ext cx="1561418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위치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정합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오차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회차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편차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7204" y="4494023"/>
            <a:ext cx="156459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AI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의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기존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신규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신호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6485" y="2534053"/>
            <a:ext cx="1126894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실제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도로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위험구간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762250"/>
            <a:ext cx="2667000" cy="2800350"/>
          </a:xfrm>
          <a:prstGeom prst="rect">
            <a:avLst/>
          </a:prstGeom>
          <a:solidFill>
            <a:srgbClr val="2E4A7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57366" y="2915053"/>
            <a:ext cx="406163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C9D3E2"/>
                </a:solidFill>
                <a:latin typeface="Pretendard"/>
                <a:ea typeface="Pretendard"/>
                <a:cs typeface="Pretendard"/>
              </a:rPr>
              <a:t>3</a:t>
            </a:r>
            <a:r>
              <a:rPr sz="1100" b="1">
                <a:solidFill>
                  <a:srgbClr val="C9D3E2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4318" y="3129049"/>
            <a:ext cx="1497218" cy="269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실제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도로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6604" y="3512567"/>
            <a:ext cx="178684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지자체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조사기업과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구간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선정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6604" y="3741167"/>
            <a:ext cx="1693181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기존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전문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장비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결과와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비교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6604" y="3969767"/>
            <a:ext cx="1655081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전문가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판독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천공으로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85885" y="2009797"/>
            <a:ext cx="882419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실제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운영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환경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91600" y="2238375"/>
            <a:ext cx="2667000" cy="3324225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76766" y="2390797"/>
            <a:ext cx="407751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4</a:t>
            </a: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3718" y="2604793"/>
            <a:ext cx="1087650" cy="269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운영성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6004" y="2988311"/>
            <a:ext cx="1221698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새벽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순찰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소요시간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76004" y="3216911"/>
            <a:ext cx="187098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재확인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생성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→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현장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도착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76004" y="3445511"/>
            <a:ext cx="131853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AR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위치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보정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성공률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6004" y="3674111"/>
            <a:ext cx="1655083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재방문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수작업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입력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E5E9F0"/>
                </a:solidFill>
                <a:latin typeface="Pretendard"/>
                <a:ea typeface="Pretendard"/>
                <a:cs typeface="Pretendard"/>
              </a:rPr>
              <a:t>감소량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3400" y="5753100"/>
            <a:ext cx="11125200" cy="457200"/>
          </a:xfrm>
          <a:prstGeom prst="rect">
            <a:avLst/>
          </a:prstGeom>
          <a:solidFill>
            <a:srgbClr val="FFF6D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33400" y="5753100"/>
            <a:ext cx="47625" cy="4572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28638" y="6615112"/>
            <a:ext cx="126591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명이라도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살릴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수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있다면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5142" y="5868883"/>
            <a:ext cx="7365654" cy="222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4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정량 목표치는 파일럿 설계 때 발주기관과 확정합니다.</a:t>
            </a:r>
            <a:r>
              <a:rPr sz="14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지금은 근거 없는 정확도 수치를 제시하지 않습니다.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879600" y="256540"/>
            <a:ext cx="497840" cy="24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1866900" y="266700"/>
            <a:ext cx="448121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981200" y="308907"/>
            <a:ext cx="295689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4242" y="296821"/>
            <a:ext cx="998611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단계별 실증 계획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44950" y="6615112"/>
            <a:ext cx="385309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11 / 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8160" y="780417"/>
            <a:ext cx="8742524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폐쇄 구간에서 시작해 실제 도로까지 검증 범위를 넓힙니다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462" y="308907"/>
            <a:ext cx="1172922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266700"/>
            <a:ext cx="381000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pic>
        <p:nvPicPr>
          <p:cNvPr id="8" name="사진 1" descr="p12_i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20" y="1428750"/>
            <a:ext cx="6485496" cy="364807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7700" y="1543050"/>
            <a:ext cx="2400300" cy="228600"/>
          </a:xfrm>
          <a:prstGeom prst="roundRect">
            <a:avLst>
              <a:gd name="adj" fmla="val 12500"/>
            </a:avLst>
          </a:prstGeom>
          <a:solidFill>
            <a:srgbClr val="0B1E3C">
              <a:alpha val="85100"/>
            </a:srgbClr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7047" y="1582972"/>
            <a:ext cx="225606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위험도별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순찰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경로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예시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강동구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명일동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400" y="5257800"/>
            <a:ext cx="209550" cy="57150"/>
          </a:xfrm>
          <a:prstGeom prst="rect">
            <a:avLst/>
          </a:prstGeom>
          <a:solidFill>
            <a:srgbClr val="E03131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94766" y="5191909"/>
            <a:ext cx="1225319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집중관리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매일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~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주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81250" y="5257800"/>
            <a:ext cx="209550" cy="57150"/>
          </a:xfrm>
          <a:prstGeom prst="rect">
            <a:avLst/>
          </a:prstGeom>
          <a:solidFill>
            <a:srgbClr val="F08C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642616" y="5191909"/>
            <a:ext cx="143963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노후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하수관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공사장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주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33900" y="5257800"/>
            <a:ext cx="209550" cy="57150"/>
          </a:xfrm>
          <a:prstGeom prst="rect">
            <a:avLst/>
          </a:prstGeom>
          <a:solidFill>
            <a:srgbClr val="4E8F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95266" y="5191909"/>
            <a:ext cx="793519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역세권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월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400" y="5505450"/>
            <a:ext cx="209550" cy="57150"/>
          </a:xfrm>
          <a:prstGeom prst="rect">
            <a:avLst/>
          </a:prstGeom>
          <a:solidFill>
            <a:srgbClr val="3BA55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94766" y="5438797"/>
            <a:ext cx="1166575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일반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관리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분기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~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반기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81250" y="5505450"/>
            <a:ext cx="209550" cy="5715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2642616" y="5438797"/>
            <a:ext cx="1347550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집중호우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이후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긴급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조사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8566" y="5438797"/>
            <a:ext cx="1668133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주기는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발주기관과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합의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[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예시</a:t>
            </a:r>
            <a:r>
              <a:rPr sz="11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]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43800" y="1733550"/>
            <a:ext cx="0" cy="3352800"/>
          </a:xfrm>
          <a:prstGeom prst="line">
            <a:avLst/>
          </a:prstGeom>
          <a:ln w="19050">
            <a:solidFill>
              <a:srgbClr val="C9D3E2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7400925" y="1533525"/>
            <a:ext cx="285750" cy="285750"/>
          </a:xfrm>
          <a:prstGeom prst="ellipse">
            <a:avLst/>
          </a:prstGeom>
          <a:solidFill>
            <a:srgbClr val="E8ECF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462" y="1592221"/>
            <a:ext cx="149304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Oval 24"/>
          <p:cNvSpPr/>
          <p:nvPr/>
        </p:nvSpPr>
        <p:spPr>
          <a:xfrm>
            <a:off x="7400925" y="2371725"/>
            <a:ext cx="285750" cy="285750"/>
          </a:xfrm>
          <a:prstGeom prst="ellipse">
            <a:avLst/>
          </a:prstGeom>
          <a:solidFill>
            <a:srgbClr val="C9D3E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00144" y="2430421"/>
            <a:ext cx="169086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7" name="Oval 26"/>
          <p:cNvSpPr/>
          <p:nvPr/>
        </p:nvSpPr>
        <p:spPr>
          <a:xfrm>
            <a:off x="7400925" y="3209925"/>
            <a:ext cx="285750" cy="285750"/>
          </a:xfrm>
          <a:prstGeom prst="ellipse">
            <a:avLst/>
          </a:prstGeom>
          <a:solidFill>
            <a:srgbClr val="2E4A7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498556" y="3268621"/>
            <a:ext cx="17304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9" name="Oval 28"/>
          <p:cNvSpPr/>
          <p:nvPr/>
        </p:nvSpPr>
        <p:spPr>
          <a:xfrm>
            <a:off x="7400925" y="4048125"/>
            <a:ext cx="285750" cy="285750"/>
          </a:xfrm>
          <a:prstGeom prst="ellipse">
            <a:avLst/>
          </a:prstGeom>
          <a:solidFill>
            <a:srgbClr val="1C2F5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96967" y="4106821"/>
            <a:ext cx="175635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1" name="Oval 30"/>
          <p:cNvSpPr/>
          <p:nvPr/>
        </p:nvSpPr>
        <p:spPr>
          <a:xfrm>
            <a:off x="7400925" y="4886325"/>
            <a:ext cx="285750" cy="285750"/>
          </a:xfrm>
          <a:prstGeom prst="ellipse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499348" y="4945021"/>
            <a:ext cx="171405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21549" y="1547030"/>
            <a:ext cx="643628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파일럿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23073" y="1842369"/>
            <a:ext cx="2243592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지하철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공사구간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노후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하수관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주변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21549" y="2397423"/>
            <a:ext cx="1427845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자치구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정기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순찰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23073" y="2680569"/>
            <a:ext cx="242615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위험도별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주기로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길을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반복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21549" y="3235623"/>
            <a:ext cx="1304020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PV5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플릿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운영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23073" y="3518769"/>
            <a:ext cx="275000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여러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대가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권역을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나눠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기준으로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순찰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21549" y="4073823"/>
            <a:ext cx="1427845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지하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결합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23073" y="4356969"/>
            <a:ext cx="2567442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하수관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굴착공사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지하수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강우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보수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이력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21549" y="4912023"/>
            <a:ext cx="1919985" cy="2540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4D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도시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지하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6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변화지도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23073" y="5195169"/>
            <a:ext cx="220231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계약기관이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접근권한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안에서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활용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7304" y="5862575"/>
            <a:ext cx="653368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확장</a:t>
            </a:r>
            <a:r>
              <a:rPr sz="12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대상</a:t>
            </a:r>
          </a:p>
        </p:txBody>
      </p:sp>
      <p:pic>
        <p:nvPicPr>
          <p:cNvPr id="44" name="Picture 43" descr="p12_v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275" y="5788025"/>
            <a:ext cx="1911352" cy="349252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620044" y="5877709"/>
            <a:ext cx="137613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서울시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자치구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도로관리</a:t>
            </a:r>
          </a:p>
        </p:txBody>
      </p:sp>
      <p:pic>
        <p:nvPicPr>
          <p:cNvPr id="46" name="Picture 45" descr="p12_v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2475" y="5788025"/>
            <a:ext cx="1816100" cy="3492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3554412" y="5877709"/>
            <a:ext cx="1374544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도시철도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공사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영향구간</a:t>
            </a:r>
          </a:p>
        </p:txBody>
      </p:sp>
      <p:pic>
        <p:nvPicPr>
          <p:cNvPr id="48" name="Picture 47" descr="p12_v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8425" y="5788025"/>
            <a:ext cx="1568450" cy="34925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456238" y="5877709"/>
            <a:ext cx="1095144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상하수도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관리기관</a:t>
            </a:r>
          </a:p>
        </p:txBody>
      </p:sp>
      <p:pic>
        <p:nvPicPr>
          <p:cNvPr id="50" name="Picture 49" descr="p12_v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6725" y="5788025"/>
            <a:ext cx="2292350" cy="34925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115173" y="5877709"/>
            <a:ext cx="1777769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대형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굴착공사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발주기관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시공사</a:t>
            </a:r>
          </a:p>
        </p:txBody>
      </p:sp>
      <p:pic>
        <p:nvPicPr>
          <p:cNvPr id="52" name="Picture 51" descr="p12_v0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8925" y="5788025"/>
            <a:ext cx="1739900" cy="34925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446419" y="5877709"/>
            <a:ext cx="128723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집중호우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후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긴급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탐사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7685" y="6267853"/>
            <a:ext cx="7839511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지하</a:t>
            </a:r>
            <a:r>
              <a:rPr sz="11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데이터는</a:t>
            </a:r>
            <a:r>
              <a:rPr sz="11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판매하지</a:t>
            </a:r>
            <a:r>
              <a:rPr sz="11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않습니다</a:t>
            </a:r>
            <a:r>
              <a:rPr sz="11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.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계약기관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내부의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접근제어형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관제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서비스로만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제공합니다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지도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데이터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© OpenStreetMap contributors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8638" y="6615112"/>
            <a:ext cx="126591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명이라도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살릴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수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있다면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79600" y="256540"/>
            <a:ext cx="383540" cy="24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1866900" y="266700"/>
            <a:ext cx="448121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1981200" y="308907"/>
            <a:ext cx="295689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확장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24242" y="296821"/>
            <a:ext cx="722285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확장 가능성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328109" y="6615112"/>
            <a:ext cx="402225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12 / 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8160" y="780417"/>
            <a:ext cx="8742524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한 대의 반복 순찰차에서 도시 지하 안전망으로 확장합니다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462" y="308907"/>
            <a:ext cx="1172922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266700"/>
            <a:ext cx="381000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8160" y="1502794"/>
            <a:ext cx="658006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C9D3E2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8156" y="1516762"/>
            <a:ext cx="1620602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파일럿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탐사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용역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0823" y="1842369"/>
            <a:ext cx="2850016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위험구간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공사구간의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거리와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회차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기준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계약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0823" y="2070969"/>
            <a:ext cx="275000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기존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조사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결과와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비교한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실증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보고서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제공</a:t>
            </a:r>
          </a:p>
        </p:txBody>
      </p:sp>
      <p:pic>
        <p:nvPicPr>
          <p:cNvPr id="12" name="Picture 11" descr="p13_v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2044700"/>
            <a:ext cx="98425" cy="520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8160" y="2645794"/>
            <a:ext cx="711956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2E4A7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8156" y="2659762"/>
            <a:ext cx="1817452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연간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반복관제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계약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0823" y="2985369"/>
            <a:ext cx="3215151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정기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순찰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변화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감지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재확인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업무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기관용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대시보드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0823" y="3213969"/>
            <a:ext cx="242615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집중호우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민원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발생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긴급조사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옵션</a:t>
            </a:r>
          </a:p>
        </p:txBody>
      </p:sp>
      <p:pic>
        <p:nvPicPr>
          <p:cNvPr id="17" name="Picture 16" descr="p13_v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562" y="2678112"/>
            <a:ext cx="1120776" cy="2825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94125" y="2735221"/>
            <a:ext cx="844313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8A5A00"/>
                </a:solidFill>
                <a:latin typeface="Pretendard"/>
                <a:ea typeface="Pretendard"/>
                <a:cs typeface="Pretendard"/>
              </a:rPr>
              <a:t>핵심</a:t>
            </a:r>
            <a:r>
              <a:rPr sz="1100" b="1">
                <a:solidFill>
                  <a:srgbClr val="8A5A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8A5A00"/>
                </a:solidFill>
                <a:latin typeface="Pretendard"/>
                <a:ea typeface="Pretendard"/>
                <a:cs typeface="Pretendard"/>
              </a:rPr>
              <a:t>반복</a:t>
            </a:r>
            <a:r>
              <a:rPr sz="1100" b="1">
                <a:solidFill>
                  <a:srgbClr val="8A5A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8A5A00"/>
                </a:solidFill>
                <a:latin typeface="Pretendard"/>
                <a:ea typeface="Pretendard"/>
                <a:cs typeface="Pretendard"/>
              </a:rPr>
              <a:t>매출</a:t>
            </a:r>
          </a:p>
        </p:txBody>
      </p:sp>
      <p:pic>
        <p:nvPicPr>
          <p:cNvPr id="19" name="Picture 18" descr="p13_v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3187700"/>
            <a:ext cx="98425" cy="520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18160" y="3788794"/>
            <a:ext cx="722746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8156" y="3802762"/>
            <a:ext cx="2223849" cy="285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차량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소프트웨어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8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패키지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0823" y="4128369"/>
            <a:ext cx="3915471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검증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이후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PV5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컨버전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차량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센서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·Patrol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앱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·Edge Gateway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0823" y="4356969"/>
            <a:ext cx="332150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AI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분석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관제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대시보드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·AR·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교육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유지보수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일괄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제공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39000" y="1428750"/>
            <a:ext cx="4419600" cy="3429000"/>
          </a:xfrm>
          <a:prstGeom prst="roundRect">
            <a:avLst>
              <a:gd name="adj" fmla="val 2777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461885" y="1637941"/>
            <a:ext cx="44903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구매자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1123" y="1860657"/>
            <a:ext cx="220232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서울시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자치구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도시철도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발주기관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123" y="2089257"/>
            <a:ext cx="1272052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공공시설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관리기관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67600" y="2476500"/>
            <a:ext cx="3962400" cy="0"/>
          </a:xfrm>
          <a:prstGeom prst="line">
            <a:avLst/>
          </a:prstGeom>
          <a:ln w="9525">
            <a:solidFill>
              <a:srgbClr val="D5DAE1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7461885" y="2646829"/>
            <a:ext cx="726844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실제</a:t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사용자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1123" y="2872593"/>
            <a:ext cx="173718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지하안전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도로관리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담당자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1123" y="3101193"/>
            <a:ext cx="199118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GPR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판독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전문가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현장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조사원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67600" y="3486150"/>
            <a:ext cx="3962400" cy="0"/>
          </a:xfrm>
          <a:prstGeom prst="line">
            <a:avLst/>
          </a:prstGeom>
          <a:ln w="9525">
            <a:solidFill>
              <a:srgbClr val="D5DAE1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7461885" y="3658765"/>
            <a:ext cx="44903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협력사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61123" y="3881481"/>
            <a:ext cx="196737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GPR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전문기업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·PV5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특장업체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1123" y="4110081"/>
            <a:ext cx="213564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GIS·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클라우드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사업자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·AR </a:t>
            </a: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장비사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3400" y="5048250"/>
            <a:ext cx="11125200" cy="66675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6285" y="5201053"/>
            <a:ext cx="1871432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수요</a:t>
            </a: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근거</a:t>
            </a: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서울시</a:t>
            </a: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2026</a:t>
            </a: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년</a:t>
            </a: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계획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3618" y="5393713"/>
            <a:ext cx="4767475" cy="269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GPR 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탐사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16,423km · 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전담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인력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9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→ 19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명으로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68016" y="5347463"/>
            <a:ext cx="2258336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반복</a:t>
            </a:r>
            <a:r>
              <a:rPr sz="12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탐사</a:t>
            </a:r>
            <a:r>
              <a:rPr sz="12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수요가</a:t>
            </a:r>
            <a:r>
              <a:rPr sz="12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이미</a:t>
            </a:r>
            <a:r>
              <a:rPr sz="12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늘고</a:t>
            </a:r>
            <a:r>
              <a:rPr sz="12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있습니다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7304" y="5844287"/>
            <a:ext cx="7166880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조달</a:t>
            </a:r>
            <a:r>
              <a: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접근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첫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계약은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기존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GPR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조사기관과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공동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수행해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실적과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신뢰를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확보하고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위험구간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입증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후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인접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구역으로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확장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7304" y="6072887"/>
            <a:ext cx="4435981" cy="1905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가격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일일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조사거리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인력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장비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감가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분석시간을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확인한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뒤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산정</a:t>
            </a:r>
            <a:r>
              <a:rPr sz="12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[</a:t>
            </a:r>
            <a:r>
              <a:rPr sz="12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실증</a:t>
            </a:r>
            <a:r>
              <a:rPr sz="12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2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필요</a:t>
            </a:r>
            <a:r>
              <a:rPr sz="12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28638" y="6386512"/>
            <a:ext cx="549818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출처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: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서울시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보도자료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「지반침하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예방체계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강화」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지하정보는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3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자에게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판매하지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않고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계약기관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접근제어형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서비스로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제공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8638" y="6615112"/>
            <a:ext cx="1265912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명이라도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살릴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수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있다면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67600" y="4470400"/>
            <a:ext cx="3962400" cy="0"/>
          </a:xfrm>
          <a:prstGeom prst="line">
            <a:avLst/>
          </a:prstGeom>
          <a:ln w="9525">
            <a:solidFill>
              <a:srgbClr val="D5DAE1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7461250" y="4578753"/>
            <a:ext cx="325258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기아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4560624"/>
            <a:ext cx="3269337" cy="19843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25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PV5 컨버전 플릿 판매 · Pleos 앱 마켓 공공 업무 앱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9600" y="256540"/>
            <a:ext cx="383540" cy="24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1866900" y="266700"/>
            <a:ext cx="696912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981200" y="308907"/>
            <a:ext cx="544355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사업 모델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673033" y="296821"/>
            <a:ext cx="114515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B2G 비즈니스 모델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24575" y="6615112"/>
            <a:ext cx="405768" cy="1428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13 / 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8160" y="780417"/>
            <a:ext cx="8654894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지자체 탐사 용역으로 시작해 연간 반복관제로 전환합니다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33400" y="266700"/>
            <a:ext cx="1333500" cy="2286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52462" y="308907"/>
            <a:ext cx="1172922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PV5 GroundWatch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866900" y="266700"/>
            <a:ext cx="381000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cxnSp>
        <p:nvCxnSpPr>
          <p:cNvPr id="7" name="Connector 6"/>
          <p:cNvCxnSpPr/>
          <p:nvPr/>
        </p:nvCxnSpPr>
        <p:spPr>
          <a:xfrm>
            <a:off x="533400" y="590550"/>
            <a:ext cx="11125200" cy="0"/>
          </a:xfrm>
          <a:prstGeom prst="line">
            <a:avLst/>
          </a:prstGeom>
          <a:ln w="9525">
            <a:solidFill>
              <a:srgbClr val="0B1E3C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18160" y="780417"/>
            <a:ext cx="8044532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측정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결과가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다음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행동으로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이어지는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지하안전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3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관리체계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7685" y="1448965"/>
            <a:ext cx="60460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기존</a:t>
            </a:r>
            <a:r>
              <a:rPr sz="11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C62828"/>
                </a:solidFill>
                <a:latin typeface="Pretendard"/>
                <a:ea typeface="Pretendard"/>
                <a:cs typeface="Pretendard"/>
              </a:rPr>
              <a:t>문제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5785" y="1448965"/>
            <a:ext cx="1701569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GroundWatch</a:t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의</a:t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해결</a:t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6785" y="1448965"/>
            <a:ext cx="1004657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확인할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개선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100" b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지표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3400" y="1695450"/>
            <a:ext cx="11125200" cy="0"/>
          </a:xfrm>
          <a:prstGeom prst="line">
            <a:avLst/>
          </a:prstGeom>
          <a:ln w="19050">
            <a:solidFill>
              <a:srgbClr val="0B1E3C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4375023" y="1805793"/>
            <a:ext cx="2880179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같은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경로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데이터를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위치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시간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기준으로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누적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6023" y="1805793"/>
            <a:ext cx="210230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시점별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비교가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가능한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도로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비율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3400" y="2133600"/>
            <a:ext cx="11125200" cy="0"/>
          </a:xfrm>
          <a:prstGeom prst="line">
            <a:avLst/>
          </a:prstGeom>
          <a:ln w="9525">
            <a:solidFill>
              <a:srgbClr val="E2E6EC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4375023" y="2241657"/>
            <a:ext cx="247536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AI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가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변화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후보를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선별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전문가가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승인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6023" y="2241657"/>
            <a:ext cx="191974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전문가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검토시간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후보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적중률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3400" y="2571750"/>
            <a:ext cx="11125200" cy="0"/>
          </a:xfrm>
          <a:prstGeom prst="line">
            <a:avLst/>
          </a:prstGeom>
          <a:ln w="9525">
            <a:solidFill>
              <a:srgbClr val="E2E6EC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4375023" y="2680569"/>
            <a:ext cx="2708729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변화량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신뢰도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주변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위험요인을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함께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표시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6023" y="2680569"/>
            <a:ext cx="1919752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고위험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구간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재확인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소요시간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33400" y="3009900"/>
            <a:ext cx="11125200" cy="0"/>
          </a:xfrm>
          <a:prstGeom prst="line">
            <a:avLst/>
          </a:prstGeom>
          <a:ln w="9525">
            <a:solidFill>
              <a:srgbClr val="E2E6EC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4375023" y="3119481"/>
            <a:ext cx="284366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RTK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와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현장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기준점으로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AR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검색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범위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표시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6023" y="3119481"/>
            <a:ext cx="163717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현장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위치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오차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탐색시간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33400" y="3448050"/>
            <a:ext cx="11125200" cy="0"/>
          </a:xfrm>
          <a:prstGeom prst="line">
            <a:avLst/>
          </a:prstGeom>
          <a:ln w="9525">
            <a:solidFill>
              <a:srgbClr val="E2E6EC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4375023" y="3558393"/>
            <a:ext cx="327546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차량형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GPR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결과를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수동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GPR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작업으로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바로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전환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66023" y="3558393"/>
            <a:ext cx="1778464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재방문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횟수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업무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인계시간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33400" y="3886200"/>
            <a:ext cx="11125200" cy="0"/>
          </a:xfrm>
          <a:prstGeom prst="line">
            <a:avLst/>
          </a:prstGeom>
          <a:ln w="9525">
            <a:solidFill>
              <a:srgbClr val="E2E6EC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4375023" y="3994257"/>
            <a:ext cx="2535692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확인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보수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이력을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4D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지도에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다시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6023" y="3994257"/>
            <a:ext cx="159589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보수구간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재검증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완료율</a:t>
            </a:r>
          </a:p>
        </p:txBody>
      </p:sp>
      <p:pic>
        <p:nvPicPr>
          <p:cNvPr id="30" name="Picture 29" descr="p14_v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0650" y="1885156"/>
            <a:ext cx="4540250" cy="2286794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rgbClr val="0B1E3C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2" name="사진 1" descr="p14_i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850" y="4565650"/>
            <a:ext cx="4883150" cy="2292350"/>
          </a:xfrm>
          <a:prstGeom prst="rect">
            <a:avLst/>
          </a:prstGeom>
        </p:spPr>
      </p:pic>
      <p:pic>
        <p:nvPicPr>
          <p:cNvPr id="33" name="사진 2" descr="p14_i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4572000"/>
            <a:ext cx="1905000" cy="2286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26923" y="4832457"/>
            <a:ext cx="4085917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GroundWatch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의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가치는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지도를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만드는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데서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끝나지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않습니다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6923" y="5088489"/>
            <a:ext cx="3538230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번의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측정을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다음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판단과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현장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행동으로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연결합니다</a:t>
            </a:r>
            <a:r>
              <a:rPr sz="130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3400" y="5448300"/>
            <a:ext cx="457200" cy="28575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20446" y="5611074"/>
            <a:ext cx="2751961" cy="412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번의</a:t>
            </a: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조기</a:t>
            </a: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발견이</a:t>
            </a: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,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0446" y="6056082"/>
            <a:ext cx="3942561" cy="412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</a:t>
            </a: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사람의</a:t>
            </a: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무사</a:t>
            </a: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귀가가</a:t>
            </a: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되도록</a:t>
            </a:r>
            <a:r>
              <a:rPr sz="26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6017" y="6386354"/>
            <a:ext cx="1777730" cy="11906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750" b="0">
                <a:solidFill>
                  <a:srgbClr val="C3CCD9"/>
                </a:solidFill>
                <a:latin typeface="Pretendard"/>
                <a:ea typeface="Pretendard"/>
                <a:cs typeface="Pretendard"/>
              </a:rPr>
              <a:t>사진: Alexander Migl, CC BY-SA 4.0(편집)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79600" y="256540"/>
            <a:ext cx="383540" cy="248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1866900" y="266700"/>
            <a:ext cx="696912" cy="228600"/>
          </a:xfrm>
          <a:prstGeom prst="rect">
            <a:avLst/>
          </a:prstGeom>
          <a:solidFill>
            <a:srgbClr val="F5B700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981200" y="308907"/>
            <a:ext cx="544355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0B1E3C"/>
                </a:solidFill>
                <a:latin typeface="Pretendard"/>
                <a:ea typeface="Pretendard"/>
                <a:cs typeface="Pretendard"/>
              </a:rPr>
              <a:t>기대 효과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73033" y="296821"/>
            <a:ext cx="1274938" cy="1746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1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기존 문제와 개선 결과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38865" y="6584739"/>
            <a:ext cx="2274091" cy="1587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000" b="1">
                <a:solidFill>
                  <a:srgbClr val="F5B700"/>
                </a:solidFill>
                <a:latin typeface="Pretendard"/>
                <a:ea typeface="Pretendard"/>
                <a:cs typeface="Pretendard"/>
              </a:rPr>
              <a:t>TEAM 한 명이라도 살릴 수 있다면 · 14 / 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6923" y="1805793"/>
            <a:ext cx="2403898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조사 결과가 시점별 파일로 남습니다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6923" y="2241657"/>
            <a:ext cx="2587819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변화 구간을 사람이 다시 찾아야 합니다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6923" y="2680569"/>
            <a:ext cx="2689190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다음 조사 우선순위가 경험에 의존합니다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6923" y="3119481"/>
            <a:ext cx="2873112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현장에서 과거 측정 위치를 찾기 어렵습니다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6923" y="3558393"/>
            <a:ext cx="2362623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넓은 탐사와 정밀조사가 분리됩니다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6923" y="3994257"/>
            <a:ext cx="2587819" cy="2063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ct val="100000"/>
              </a:lnSpc>
            </a:pPr>
            <a:r>
              <a:rPr sz="13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복구 결과가 다음 조사에 덜 반영됩니다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