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ko-KR"/>
    </a:defPPr>
    <a:lvl1pPr marL="0" algn="l" defTabSz="457200" rtl="0" eaLnBrk="1" latinLnBrk="0" hangingPunct="1">
      <a:defRPr sz="1800" kern="1200" lang="ko-KR">
        <a:solidFill>
          <a:schemeClr val="tx1"/>
        </a:solidFill>
        <a:latin typeface="+mn-lt"/>
        <a:ea typeface="+mn-ea"/>
        <a:cs typeface="+mn-cs"/>
      </a:defRPr>
    </a:lvl1pPr>
    <a:lvl2pPr marL="457200" algn="l" defTabSz="457200" rtl="0" eaLnBrk="1" latinLnBrk="0" hangingPunct="1">
      <a:defRPr sz="1800" kern="1200" lang="ko-KR">
        <a:solidFill>
          <a:schemeClr val="tx1"/>
        </a:solidFill>
        <a:latin typeface="+mn-lt"/>
        <a:ea typeface="+mn-ea"/>
        <a:cs typeface="+mn-cs"/>
      </a:defRPr>
    </a:lvl2pPr>
    <a:lvl3pPr marL="914400" algn="l" defTabSz="457200" rtl="0" eaLnBrk="1" latinLnBrk="0" hangingPunct="1">
      <a:defRPr sz="1800" kern="1200" lang="ko-KR">
        <a:solidFill>
          <a:schemeClr val="tx1"/>
        </a:solidFill>
        <a:latin typeface="+mn-lt"/>
        <a:ea typeface="+mn-ea"/>
        <a:cs typeface="+mn-cs"/>
      </a:defRPr>
    </a:lvl3pPr>
    <a:lvl4pPr marL="1371600" algn="l" defTabSz="457200" rtl="0" eaLnBrk="1" latinLnBrk="0" hangingPunct="1">
      <a:defRPr sz="1800" kern="1200" lang="ko-KR">
        <a:solidFill>
          <a:schemeClr val="tx1"/>
        </a:solidFill>
        <a:latin typeface="+mn-lt"/>
        <a:ea typeface="+mn-ea"/>
        <a:cs typeface="+mn-cs"/>
      </a:defRPr>
    </a:lvl4pPr>
    <a:lvl5pPr marL="1828800" algn="l" defTabSz="457200" rtl="0" eaLnBrk="1" latinLnBrk="0" hangingPunct="1">
      <a:defRPr sz="1800" kern="1200" lang="ko-KR">
        <a:solidFill>
          <a:schemeClr val="tx1"/>
        </a:solidFill>
        <a:latin typeface="+mn-lt"/>
        <a:ea typeface="+mn-ea"/>
        <a:cs typeface="+mn-cs"/>
      </a:defRPr>
    </a:lvl5pPr>
    <a:lvl6pPr marL="2286000" algn="l" defTabSz="457200" rtl="0" eaLnBrk="1" latinLnBrk="0" hangingPunct="1">
      <a:defRPr sz="1800" kern="1200" lang="ko-KR">
        <a:solidFill>
          <a:schemeClr val="tx1"/>
        </a:solidFill>
        <a:latin typeface="+mn-lt"/>
        <a:ea typeface="+mn-ea"/>
        <a:cs typeface="+mn-cs"/>
      </a:defRPr>
    </a:lvl6pPr>
    <a:lvl7pPr marL="2743200" algn="l" defTabSz="457200" rtl="0" eaLnBrk="1" latinLnBrk="0" hangingPunct="1">
      <a:defRPr sz="1800" kern="1200" lang="ko-KR">
        <a:solidFill>
          <a:schemeClr val="tx1"/>
        </a:solidFill>
        <a:latin typeface="+mn-lt"/>
        <a:ea typeface="+mn-ea"/>
        <a:cs typeface="+mn-cs"/>
      </a:defRPr>
    </a:lvl7pPr>
    <a:lvl8pPr marL="3200400" algn="l" defTabSz="457200" rtl="0" eaLnBrk="1" latinLnBrk="0" hangingPunct="1">
      <a:defRPr sz="1800" kern="1200" lang="ko-KR">
        <a:solidFill>
          <a:schemeClr val="tx1"/>
        </a:solidFill>
        <a:latin typeface="+mn-lt"/>
        <a:ea typeface="+mn-ea"/>
        <a:cs typeface="+mn-cs"/>
      </a:defRPr>
    </a:lvl8pPr>
    <a:lvl9pPr marL="3657600" algn="l" defTabSz="457200" rtl="0" eaLnBrk="1" latinLnBrk="0" hangingPunct="1">
      <a:defRPr sz="1800" kern="1200" lang="ko-K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ko-K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ko-K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ko-K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ko-K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ko-KR"/>
          </a:p>
        </p:txBody>
      </p:sp>
    </p:spTree>
  </p:cSld>
  <p:clrMap bg1="lt1" tx1="dk1" bg2="lt2" tx2="dk2" accent1="accent1" accent2="accent2" accent3="accent3" accent4="accent4" accent5="accent5" accent6="accent6" hlink="hlink" folHlink="folHlink"/>
  <p:hf/>
  <p:notesStyle>
    <a:lvl1pPr marL="0" algn="l">
      <a:defRPr sz="1200" lang="ko-K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제5회 기아 PBV 아이디어 공모전 일반 부문에 PV5 GroundWatch, PV5 지하안전 순찰차를 제안합니다. 지표투과레이더(GPR)로 같은 길을 반복해서 보고, 구멍이 되기 전의 변화를 찾습니다. 표지는 새벽 한강변 도로를 순찰하는 PV5와 도로 아래 GPR 탐사를 표현한 PV5 기반 콘셉트 이미지입니다.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한 장으로 요약합니다. 문제는 2024년 연희동처럼 GPR 탐사에서 '이상 없음'이 나온 도로가 100여 일 뒤 무너지는 일, 즉 법정 점검 5년, 서울시 1년이라는 탐사와 탐사 사이의 공백입니다. 해법은 PV5가 같은 길을 약 2개월마다 GPR로 다시 찍고, AI가 지난 회차와 달라진 곳만 골라 전문가가 승인하면 작업자가 현장에서 재확인하는 것입니다. PV5는 차량 내비·화면과 탐사 장비를 연동하고, V2L·L-Track으로 싣고 고정하며, 공식 컨버전 체계로 같은 탐사실을 복제합니다. 사업은 현행 단가(서울시 2024년 공동조사 km당 약 92만 원)와 비교해, 반복 탐사 원가 km당 약 4.7만 원으로 같은 길을 1년에 6번 보는 구조입니다.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2024년 8월 29일 서울 서대문구 연희동 성산로에서 가로 6m, 세로 4m, 깊이 2.5m 땅꺼짐에 차량이 빠져 조수석 동승자가 숨지고 운전자가 크게 다쳤습니다. 이 구간은 같은 해 5월 7일부터 16일까지 탐사차량 2대와 인력 16명이 투입된 정기 GPR 탐사에서 빈 공간이 발견되지 않았습니다. 탐사가 틀린 것이 아니라, 한 번의 탐사는 그 시점만 말해 준다는 뜻입니다. 출처: 뉴시스 2024.8.30(https://www.newsis.com/view/NISX20240830_0002869815), 아시아경제 2024.8.30, 세계일보 2025.9.25(https://www.segye.com/newsView/20250925503464). 지도는 OpenStreetMap이며 정확한 지점이 보도되지 않아 성산로 연희동 구간으로 표시했습니다.</a:t>
            </a:r>
          </a:p>
          <a:p>
            <a:pPr/>
            <a:r>
              <a:rPr lang="ko-KR" dirty="0"/>
              <a:t>사고 원인은 서울시가 경사지 매립층, 지하수위 변화, 지하매설물, 주변 공사가 겹친 복합 요인으로 발표했고 하나로 확정되지 않았습니다. 그래서 이 사례는 '그 사이에 무슨 일이 있었는지 기록이 없다'는 공백의 근거로만 씁니다.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서울시는 이미 대규모로 GPR 탐사를 하고 있습니다. 2014년부터 2025년 9월까지 차량 GPR로 누적 33,129km를 탐사해 공동 7,760개를 찾았고, 약 4.3km마다 공동 하나가 나온 셈입니다(메트로신문 2025.10.19 https://www.metroseoul.co.kr/article/20251019500165). 2026년에는 탐사 범위를 16,423km로 늘리고 GPR 인력을 9명에서 19명으로 늘립니다(머니투데이 2026.3.23 https://www.mt.co.kr/estate/2026/03/23/2026032311394354905). 차량탑재형 GPR은 한 번에 폭 3m 이내를 탐지합니다(서울시 https://news.seoul.go.kr/safe/archives/41339). 지금의 흐름은 조사 대상 선정, 차량형 GPR 스캔, 판독, 수동 GPR 재조사, 천공·내시경 확인, 복구 순서입니다. GPR 기술은 이미 검증돼 있습니다. GroundWatch가 바꾸는 것은 한 번 스캔하고 끝나는 방식이며, 같은 길은 다음 정기점검 때가 돼야 다시 봅니다. 사진은 수동형 GPR 장비 예시이며 The Charles Machine Works, CC BY-SA 2.0입니다.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지하안전법상 지하시설물관리자의 GPR 공동조사 주기는 5년에 1회 이상입니다. 서울시는 2025년 4월 정기점검 주기를 5년에서 1년으로 줄였습니다(이투데이 2025.4.23). 그래도 연희동은 탐사에서 함몰까지 100여 일이었습니다. 일본 국토교통성 위탁연구(도쿄대 桑野玲子 교수 대표, 지오서치 참여, 2018~2020)는 실제 도로 모니터링에서 지하 1.64m 합류식 하수관(Φ800) 위 공동이 급격히 자란 것을 확인했고, 토사 유출 조건이 갖춰지면 종래 생각보다 단기간에 공동이 성장할 가능성을 보고했습니다(https://www.mlit.go.jp/road/tech/hyouka/r1/30-5_gaiyou.pdf). 그래서 맹점은 탐사 자체가 아니라 탐사와 탐사 사이입니다. 연희동 공동을 5월 탐사가 놓쳤는지, 그 뒤에 생겼는지는 한 번의 탐사 결과로는 구분할 수 없습니다. 어느 쪽이든 회차를 비교하면 작은 신호가 커지는 과정이 드러납니다.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땅꺼짐은 깊이에 따라 막는 방법이 다릅니다. 전국 지반침하 867건(2020~2024) 가운데 394건, 45.4%가 하수관 손상 때문이었습니다(국토교통부 통계, 한경비즈니스 2025.4.15 https://magazine.hankyung.com/business/article/202504151399b). 하수관이 새면 흙이 쓸려 나가 공동이 먼저 생기고, 공동이 자라는 동안 도로 표면은 멀쩡해 보입니다. 이 얕은 공동은 차량형 GPR(탐사 깊이 약 2m)로 함몰 전에 찾을 수 있습니다. 반면 명일동 사고는 심층풍화대에서 불연속면 3개가 교차해 만든 쐐기형 토체가 미끄러진 심부 붕괴였고, 터널 공사로 지하수위가 약 3m에서 26m까지 낮아진 것과 노후 하수관 누수, 지보 성능 한계가 간접 원인이었습니다(국토교통부 사조위, 2025.12.3). 이런 깊은 붕괴는 지표 GPR로 확인하기 어렵고 공사장 계측과 지반조사가 맡습니다. 그래서 GroundWatch는 명일동 사고를 막을 수 있었다고 말하지 않습니다. 반대로 깊이 2.5m였던 연희동 같은 얕은 함몰이 우리의 대상입니다. 우리의 대상은 원인 1위인 얕은 공동이고, 한 번의 탐사가 아니라 회차 사이의 변화로 찾습니다. 단면도는 원리 설명용 도식이며 깊이 비례가 아닙니다.</a:t>
            </a:r>
          </a:p>
          <a:p>
            <a:pPr/>
            <a:r>
              <a:rPr lang="ko-KR" dirty="0"/>
              <a:t>연희동처럼 한 번의 탐사에서 보이지 않던 공동도, 탐지 한계 아래였거나 탐사 뒤에 생겨 자랐을 수 있습니다. 그래서 한 번의 판독이 아니라 회차 사이의 변화를 봅니다. 단면도는 원리 설명용 3D 도식이며 깊이 비례가 아닙니다.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GroundWatch는 네 단계가 반복되는 구조입니다. PV5가 교통량이 적은 새벽에 같은 경로를 약 2개월마다 반복 주행하며 GPR과 카메라 데이터를 함께 모으고, 위치·깊이·시간 기준으로 4D 지도에 저장합니다. 회차 간 위치를 맞춘 차분으로 달라진 곳을 고르고(이 장의 시뮬레이션으로 검증), AI는 그 신호가 공동인지 배관인지 유형을 분류하며, 전문가가 원시 데이터를 보고 승인하고, 승인된 지점만 다음 순찰에서 AR 글래스와 수동 GPR로 다시 확인합니다. 필요하면 관계기관 승인과 교통통제 후 천공·내시경으로 최종 확인합니다. 확인과 보수 결과는 다시 지도에 저장돼 다음 순찰과 AI 검증에 쓰입니다. AI는 검토 순서를 정할 뿐 공동을 확정하지 않습니다. 위 세 화면은 2D 전자기 시뮬레이션으로 계산한 회차별 GPR 단면(B-scan)과, 위치를 맞춰 뺀 차이입니다. GroundWatch의 새로운 점은 장비가 아니라 변화를 판정하는 방법입니다. 일본 후지사와시는 지오서치와 함께 이미 발견한 공동 중 위험도가 낮은 것을 경과관찰하며 모니터링합니다(지오서치·후지사와시 보고, https://www.city.fujisawa.kanagawa.jp/documents/34128/20250822174442.pdf). 일본 국토교통성 연구(30-5)는 후쿠오카시와 후지사와시에 노선을 정해 3개월마다 공동 모니터링을 했고 공동 성장 속도의 실측값을 얻었습니다(https://www.mlit.go.jp/road/tech/hyouka/h30/30-5_houkoku.pdf). GroundWatch는 이를 연구 노선이 아니라 업무 노선 전체로, 이미 발견된 공동이 아니라 '이상 없음' 구간까지 넓혀, 지난 회차와 위치를 맞춰 뺀 차이만 판독하고, 같은 차에서 바로 재탐사하는 상시 업무로 만듭니다. 방법이 동작하는지 2D 전자기 파동 시뮬레이션(FDTD)으로 확인했습니다. 400MHz 안테나, 토양 비유전율 9, 지름 0.8m 하수관 위 반경 18cm 공동을 기준 회차로 두고, 공동이 5cm·10cm·20cm 자란 회차와 공동은 그대로인데 잡음·재포장·함수비 변화·주행선 8cm 어긋남만 있는 대조 회차를 계산했습니다. 같은 처리(배경 제거, 위치 정합, 차분)를 거친 변화 신호 세기를 가장 큰 오탐 요인 기준 1로 나타내면, 20cm 성장 2.9, 10cm 2.4, 5cm 1.4였고 오탐 요인은 주행선 8cm 1.0, 함수비 0.8, 재포장 0.3, 잡음 0.1이었습니다. 10cm 이상 자란 공동은 오탐 요인보다 2배 넘는 신호로 구분되지만 5cm는 경계이며, 가장 큰 오탐 요인이 주행선 어긋남이므로 회차 간 위치 정합이 1순위 실증 과제입니다. 이것은 시뮬레이션이며 실측이 아닙니다. 계산 코드는 build/fdtd_sweep.py와 build/sweep_eval.py에 있습니다.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재확인 업무는 클라우드, PV5 Patrol 앱, Edge Gateway, AR 글래스, 수동 GPR로 이어집니다. 차량 앱은 업무와 경로를, 게이트웨이는 센서 동기화와 로컬 통신을, AR 글래스는 현장 위치 정합과 탐사 안내를 맡습니다. 이렇게 나누면 차량 API 접근이 일부 막혀도 GPR과 AR 기능 전체가 멈추지 않습니다. AR 글래스는 차량 화면의 단순 미러링이 아니라 보안 Wi-Fi로 작업 데이터만 주고받습니다. 현장은 2인 1조로, 한 명은 운전과 주변 교통 확인·안전통제를, 한 명은 GPR·AR 글래스와 현장 판독을 맡습니다. 태블릿이 아니라 AR 글래스인 이유는 수동 GPR을 두 손으로 밀어야 하기 때문입니다. 장비는 RealWear Navigator 520(제조사 판매가 US$3,750)급 산업용 헤드셋을 기준으로 하며, 2024년 단종된 HoloLens 2는 쓰지 않습니다. AR 글래스는 차량이 정차한 뒤 차 밖의 작업자만 쓰고, 맨홀·차선·경계석·RTK 중 두세 가지로 위치를 맞춘 뒤 공동의 모양이 아니라 수동 GPR로 다시 볼 범위만 표시합니다. 화면의 AI 신뢰도는 검토 우선순위를 위한 값이고, 현장에 표시되는 지점은 전문가가 승인한 지점입니다. PV5는 Android Automotive OS 기반 PBV 전용 인포테인먼트와 Pleos App Market을 지원하며, 앱 배포와 차량 데이터 접근은 기아 PBV 파트너 승인과 공식 API 범위 확인이 필요합니다(https://eu-www.kia.com/uk/pbv/solutions/software/). 운전석 화면은 PV5 실내 사진(Alexander Migl, CC BY-SA 4.0)에 화면을 합성한 예시이고, AR 도로 장면은 연출 이미지이며 수치는 예시입니다.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PV5는 탐사 장비를 싣고, 켜고, 고정하고, 여러 대에 복제하는 구조를 차량과 기아 순정 액세서리로 제공합니다. 카고룸은 4,420L이고 롱레인지 3도어의 최대 적재는 600kg입니다(기아 국내 제원 https://www.kia.com/kr/vehicles/pv5-cargo/specification). 실내·실외 V2L로 GPR 제어부와 엣지 PC를 상시 구동하고 AR 글래스와 수동 GPR을 현장에서 충전합니다. V2L 최대 출력 3.6kW는 해외(독일·호주) 공개 제원이며 국내 공식 kW 수치는 확인 중입니다. L-Track과 몰리 패널은 기아 순정 액세서리(선택 사양)로, 장비를 회차마다 같은 위치에 고정해 반복 측정 환경을 유지하는 데 씁니다. 플렉시블 바디는 표준 차체에 모듈을 조합하는 방식으로(현대차그룹 PV5 테크 데이 2025.7.23), GPR 탐사 키트도 같은 방식으로 표준화하는 것이 저희 제안입니다. 두 번째 사진은 PV5 실내 사진(Alexander Migl, CC BY-SA 4.0)의 디스플레이에 장비 전원 화면을 합성한 예시로, 장비별 전력 합계 1.2kW와 배터리 86%에서 30% 하한까지 약 12시간 운용은 주행 약 2kWh/h와 장비 1.2kW를 가정한 값입니다. 1·3번은 장비 배치도 확대(콘셉트), 4번은 PV5 카고 실차 사진(Alexander Migl, CC BY-SA 4.0)입니다. 화물실 전방에는 Edge Gateway와 엣지 AI 컴퓨터, GPR 제어장치를, 측면에는 수동 GPR과 AR 글래스, RTK 이동국을, 후방에는 내시경과 안전 장비를 둡니다. 롱 카고룸은 2,255×1,565×1,520mm, 적재고는 419mm입니다. 차량형 다채널 GPR은 두 가지 장착안을 검토합니다. 배치도처럼 후륜 주변 차체 하부에 다는 하부형과, 표지처럼 뒷범퍼 뒤 프레임에 다는 후방 장착형입니다. PV5는 앞뒤 바퀴 사이 바닥 아래에 배터리 팩이 있으므로 지상고와 배터리 팩·구동계 간섭을 시험해 하나로 확정합니다. 적재·전력 예산은 가설입니다. 장비 합계 약 300kg으로 최대 적재 600kg의 절반, 장비 소비전력 1.5kW 이하로 V2L 최대 출력(해외 제원 3.6kW) 안, 하루 3시간·시속 10km 순찰(약 30km)과 장비 전력을 합쳐 약 10kWh로 배터리 71.2kWh의 약 14%입니다. 수동 GPR 카트 무게는 GSSI UtilityScan Pro 브로셔의 60~75lb(약 27~34kg, 카트에 따라 다름)를 참고했습니다. 총중량·축하중·전자파 간섭·구조변경 승인은 실증이 필요합니다. 배치도는 PV5 기반 콘셉트 이미지입니다. 다른 밴에 장비를 싣는 것과 달리 PV5에서는 차가 탐사 업무의 일부가 됩니다. 근거는 기아가 공개한 기능입니다. 공모전 솔루션 부문 안내에 따르면 Pleos Connect SDK는 차량 정보 조회와 내비게이션 연계를 API로 제공하며, Vehicle API(시트·조명·공조·도어·충전 상태·카메라 등), Navihelper(내비게이션 지도와 목적지·경로 연계), Gleo AI(음성 명령과 TTS·STT), Pleos App Market(검증·심사 후 지원 차종·지역 배포)이 예시로 제시됩니다(https://kiapbvidea.com/page3). 또 PV5 컨버전에는 IVI로 차량 데이터를 송수신하고 외부 전장 제품을 제어하는 PIM(PBV Interface Module) 제어기와 추가 전장 제품에 12V 전력을 연결하는 조인트 블록이 적용됩니다(오토뷰 2026.1.28 https://www.autoview.co.kr/ko-kr/articles/98843). GroundWatch는 이를 재확인 지점 내비 안내, 배터리 하한 시 장비 전원 정리와 문 열림 시 현장 작업 모드, 운전 중 음성 기록, 차량 화면에서 GPR·작업등 제어, 다른 지자체 PV5로의 앱 배포에 씁니다. 실제 제공 범위와 권한, 주행 중 사용 조건은 지원 차종·지역과 별도 정책에 따르므로 기아 PBV 파트너 승인 후 확정합니다. 배치도는 PV5 기반 콘셉트 이미지로, A 분석 장비 랙, B 수동 GPR과 AR 글래스, C 내시경과 안전장비, D 바닥 아래 차량형 다채널 GPR을 보여줍니다. PV5는 바닥 아래에 구동 배터리가 있으므로 GPR 장착 위치는 배터리 팩·지상고 간섭 시험 후 확정하며, 구조변경은 기아 컨버전 파트너를 거칩니다.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현대차그룹 전기 상용차는 용도가 나뉘어 있습니다. 스타리아 일렉트릭 카고는 승합 기반 밴, ST1은 물류 특화 카고, 포터II·봉고III EV는 1톤 트럭입니다. 탐사·판독·재검증을 한 차에서 하려면 밀폐 공간, 장비 전원, 장비 고정, 그리고 같은 사양으로 여러 대를 만드는 컨버전 체계가 필요하고, 이 용도에 맞는 차가 PV5 카고입니다. 가격은 PV5 카고 롱 베이직 롱레인지 4,520만 원(기아 가격표 2026.10.1), 스타리아 일렉트릭 카고 3인승 5,792만 원(2026.4.23 출시), ST1 카고 스타일 5,874만 원(2025.7.16)이고, 1회 충전은 377km, 387km, 317km(현대차그룹 뉴스룸), 217km(포터·봉고 2025년형)입니다. 다만 차값 차이는 최대 1,354만 원인데 차량형 GPR은 대당 2억~8억 원이라(시사저널 2025.4.25, 경기도청 인용), 저희는 가격으로 고르지 않았다고 밝힙니다. PV5는 차량 3D 데이터와 인증자료를 주는 PBV 컨버전 포털, 12V 조인트 블록과 PIM 제어기를 제공합니다(오토뷰 2026 https://www.autoview.co.kr/ko-kr/articles/98843). 불리한 점으로 주행거리가 스타리아보다 10km 짧고 전폭이 포터·봉고보다 155mm 넓지만, 하루 약 30km 순찰이라는 가설에서는 충분합니다.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반복 탐사가 의미 있다는 근거는 일본 국토교통성 위탁연구(도쿄대 桑野玲子 교수 대표, 지오서치 참여, 2018~2020)입니다. 실제 도로 모니터링에서 지하 1.64m에 묻힌 합류식 하수관(Φ800) 위의 공동이 급격히 자란 것을 확인해 굴착 조사했고, 하수관 내부 카메라로는 보이지 않는 경미한 손상도 공동의 원인이 될 수 있었습니다. 연구진은 토사 유출 조건이 갖춰지면 종래 생각보다 단기간에 공동이 성장할 가능성을 보고했습니다(개요 https://www.mlit.go.jp/road/tech/hyouka/r1/30-5_gaiyou.pdf). 성장 속도의 정량화는 과제로 남아 있습니다(https://www.mlit.go.jp/road/tech/jigo/r03/pdf/houkokusyo30-5.pdf). 회차 간 3D GPR 정합 기법은 Ling et al., Remote Sensing 14(7):1593(2022)을 참고합니다. 먼저 실증할 것은 전자파 간섭, 회차별 위치 정합, AI 탐지율과 오탐률(계절별 함수비 변화 보정 포함), 야간 AR 위치 오차입니다. 인허가로는 도로 영상의 개인정보보호법 제25조의2(이동형 영상정보처리기기, 2023.9.15 시행)에 따라 차량 외부에 촬영 사실을 표시하고, GPR 전파 적합성평가와 장비 장착의 튜닝 승인 해당 여부는 사업화 전에 국립전파연구원과 한국교통안전공단에 확인하며, 장착은 기아 공식 컨버전 파트너를 거칩니다. 실증은 네 단계로 넓힙니다. 폐쇄 시험장에서 장착 구조와 전력, 전자파 간섭, 통신 누락을 확인해 차량형 측정이 가능한지 판정하고, 공동 모사체가 있는 통제 구간을 같은 속도와 경로로 반복 측정해 회차 비교가 가능한지 봅니다. 이후 지자체와 조사기업이 고른 실제 위험구간에서 기존 전문 장비, 전문가 판독, 천공 결과와 비교해 효용을 입증하고 실증서를 받습니다. 마지막으로 새벽 순찰 시간과 재확인부터 현장 도착까지 걸린 시간, AR 보정 성공률, 재방문 감소량을 측정해 연간 관제 계약으로 넘어갑니다. 정량 목표치는 파일럿 설계 때 발주기관과 확정하며 지금은 임의 수치를 제시하지 않습니다.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지금 단가부터 봅니다. 서울시 2024년 지반침하 특별점검 공동조사용역은 사업비 17억 8,090만 원으로 1,930.6km를 조사했습니다. km당 약 92만 원이며, 1차 차량형 탐사와 2차 핸디형 확인, 천공 499곳, 공동 신속복구 285곳이 모두 포함된 금액입니다(서울시 최종보고서 2024.10, 계약 2024.4.29~10.15). GroundWatch 차량 1대의 연간 원가는 가설로 3.09억 원입니다. PV5 4,520만 원과 차량형 GPR 5억 원(서울시가 3대를 15억 원에 도입, 이투데이 2025.4.23)을 5년 감가하고, 현장 2인 1.2억 원, 판독 전문가 0.5인 0.4억 원, 수동 GPR·AR·클라우드·보험·유지 0.4억 원을 더했습니다. 하루 30km, 220일이면 연 6,600km이므로 반복 탐사 원가는 km당 약 4.7만 원입니다. 보고서의 실제 장비 탐사 속도는 시속 20~30km라 처리량은 보수적으로 잡았습니다. 같은 도로 1km를 1년 동안 보면, 현행 전체 공정 1회는 약 92만 원이고 GroundWatch 반복 탐사 6회는 약 28만 원입니다. 천공과 복구 같은 2차 조사는 변화가 나온 곳에만 지금 단가대로 붙습니다. 즉 현행 1회 비용의 약 3분의 1로 같은 길을 1년에 6번 봅니다. 원가는 파일럿에서 확정할 가설입니다.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새 예산을 만들지 않고 지자체가 이미 쓰는 GPR 탐사 예산에서 시작합니다. 2026년 지자체 GPR 탐사 용역은 안양 8,522만 원(R26BK01572949), 강동구 1억 4,052만 원(R26BK01599467), 용인 기흥구 1억 7,736만 원(R26BK01490375), 용인 긴급 1억 8,950만 원(R26BK01517362)에 낙찰됐습니다(나라장터, 2026.5~6). 경기도는 2025년 9월 16개 시·군 1,080km 탐사를 21.6억 원(국비·도비·시군비)으로 지원했는데, 장비를 사지 않고 용역으로 수행합니다(헤럴드경제 2025.9.7 https://www.heraldk.com/article/2025090714512710835). 2025년 4월 기준 경기도와 31개 시·군은 GPR을 한 대도 보유하지 않았습니다(시사저널 2025.4.25). 0~1년차에는 테스트베드서울 2.0(과제당 최대 2억 원, 서울시장 명의 실증확인서, https://news.seoul.go.kr/economy/archives/571787)으로 공사구간 1곳을 기존 조사기관과 공동 실증하고, 1~2년차에는 시·군 탐사 용역에 컨소시엄으로 참여해 1회 탐사를 반복 탐사로 바꾸자고 제안합니다. 2~3년차에는 조달청 혁신제품 지정을 신청해 최대 6년 수의계약 길을 열고 자치구 연간 반복관제 계약으로 전환하며, 3년차 이후 GPR이 없는 시·군의 운영 대행과 도시철도·상하수도 기관, 광역지자체 PV5 플릿 구매로 넓힙니다. 단계별 기간은 목표이며 가설입니다. 사업은 지자체의 파일럿 탐사 용역으로 시작해, 정기 순찰과 변화 감지, 재확인 업무, 기관용 대시보드를 묶은 연간 반복관제 계약으로 전환하고, 검증 이후 PV5 컨버전 차량과 소프트웨어 패키지로 확장합니다. 구매자는 서울시와 자치구, 도시철도 발주기관, 공공시설 관리기관이고, 실제 사용자는 지하안전·도로관리 담당자와 GPR 판독 전문가, 현장 조사원입니다. 기아에게는 PV5 컨버전 플릿 판매와 Pleos 앱 마켓의 공공 업무 앱이라는 기회가 생깁니다. 첫 고객은 이미 GPR 용역을 발주하는 지자체로, 2026년 강동구 노면하부공동탐사 연간단가 용역이 1억 4,052만 원에 낙찰됐습니다(나라장터 R26BK01599467). 첫 계약은 기존 GPR 조사기관과 공동 수행하고, 가격은 첫 해 기존 용역 단가 수준에서 시작하고, 연간 관제는 관리 구간 km와 재확인 건수 기준으로 산정합니다(가설). 지하정보는 제3자에게 판매하지 않습니다. 기아에게 생기는 수요를 계산했습니다. 지자체가 관리하는 도로 96,712km를 약 2개월마다 보려면, 차량 1대가 연 6,600km로 약 1,000km를 맡는다는 가설에서 최대 약 97대가 필요합니다(전 구간을 2개월마다 볼 때의 최대치). 기아의 차량 매출로는 최대 약 44억 원(97대 × 4,520만 원)이며, GPR 장비 매출은 파트너 몫입니다. 서울 도로 8,342km만 맡으면 약 8대입니다. 대수는 많지 않지만 PV5와 업무 앱을 묶은 공공 레퍼런스의 첫 사례가 됩니다. 수상 후 첫 6개월에 기아에 요청하는 것은 공모전이 이미 안내한 혜택(PV5 대여 검토, PoC·사업화 연계, 멘토링)과 공개 개발자 환경입니다. PV5 실물 1대 대여로 1단계 폐쇄 시험장 실증을, Pleos Playground와 SDK로 Navihelper·Vehicle API 연동 시제품을, 컨버전 포털과 PIM 기술 지원으로 GPR 장착 위치·전원 간섭 검토를, PoC·사업화 연계로 지자체 파일럿을 연결받고자 합니다. 일정은 목표입니다.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GroundWatch의 구매자는 이미 GPR 탐사 예산을 쓰는 서울시·자치구 도로관리 부서, 도시철도 공사 발주기관, 상하수도 관리기관입니다. 실제 사용자는 지하안전·도로관리 담당자, GPR 판독 전문가, 2인 1조 현장 조사원입니다. 첫 계약은 기존 GPR 조사기관과 함께 수행하고, PV5 특장(컨버전) 업체와 GIS·AR 장비사가 협력합니다. 기아는 탐사형 PV5 컨버전 플릿을 판매하고, Pleos 차량 앱의 공공 업무 레퍼런스를 얻으며, 같은 키트로 지자체마다 탐사실을 복제할 수 있습니다. 회차 데이터가 쌓이면 하수관 노후도, 굴착공사, 강우 이력과 겹쳐 다음 순찰의 우선순위를 정합니다. 지하 데이터는 제3자에게 판매하지 않고, 계약기관 내부에서 접근 권한에 따라서만 씁니다. 구매·협력 구조와 데이터 원칙은 제안 단계의 가설입니다.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GroundWatch는 회차마다 따로 보는 탐사를 같은 길의 변화를 보는 탐사로, 사람이 다시 찾아야 하는 의심 지점을 현장에서 바로 확인하는 재탐사로, 장비를 실은 차를 업무에 연동된 PV5 탐사실로 바꾸고, 기아에는 공공 탐사용 PV5 플릿 수요(최대 약 97대)를 만듭니다. 한 번의 조기 발견이 한 사람의 무사 귀가가 되도록, PV5 GroundWatch를 제안합니다. 감사합니다. 마지막 사진도 실제 PV5 카고 사진(Alexander Migl, CC BY-SA 4.0)을 편집했습니다.</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_v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ko-KR" smtClean="0"/>
              <a:t>1/27/13</a:t>
            </a:fld>
            <a:endParaRPr lang="ko-KR"/>
          </a:p>
        </p:txBody>
      </p:sp>
      <p:sp>
        <p:nvSpPr>
          <p:cNvPr id="3" name="Footer Placeholder 2"/>
          <p:cNvSpPr>
            <a:spLocks noGrp="1"/>
          </p:cNvSpPr>
          <p:nvPr>
            <p:ph type="ftr" sz="quarter" idx="11"/>
          </p:nvPr>
        </p:nvSpPr>
        <p:spPr/>
        <p:txBody>
          <a:bodyPr/>
          <a:lstStyle/>
          <a:p>
            <a:endParaRPr lang="ko-KR"/>
          </a:p>
        </p:txBody>
      </p:sp>
      <p:sp>
        <p:nvSpPr>
          <p:cNvPr id="4" name="Slide Number Placeholder 3"/>
          <p:cNvSpPr>
            <a:spLocks noGrp="1"/>
          </p:cNvSpPr>
          <p:nvPr>
            <p:ph type="sldNum" sz="quarter" idx="12"/>
          </p:nvPr>
        </p:nvSpPr>
        <p:spPr/>
        <p:txBody>
          <a:bodyPr/>
          <a:lstStyle/>
          <a:p>
            <a:fld id="{C1FF6DA9-008F-8B48-92A6-B652298478BF}" type="slidenum">
              <a:rPr lang="ko-KR" smtClean="0"/>
              <a:t>‹#›</a:t>
            </a:fld>
            <a:endParaRPr lang="ko-K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_v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ko-KR">
                <a:solidFill>
                  <a:schemeClr val="tx1">
                    <a:tint val="75000"/>
                  </a:schemeClr>
                </a:solidFill>
              </a:defRPr>
            </a:lvl1pPr>
          </a:lstStyle>
          <a:p>
            <a:fld id="{5BCAD085-E8A6-8845-BD4E-CB4CCA059FC4}" type="datetimeFigureOut">
              <a:rPr lang="ko-KR" smtClean="0"/>
              <a:t>1/27/13</a:t>
            </a:fld>
            <a:endParaRPr lang="ko-K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ko-KR">
                <a:solidFill>
                  <a:schemeClr val="tx1">
                    <a:tint val="75000"/>
                  </a:schemeClr>
                </a:solidFill>
              </a:defRPr>
            </a:lvl1pPr>
          </a:lstStyle>
          <a:p>
            <a:endParaRPr lang="ko-K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ko-KR">
                <a:solidFill>
                  <a:schemeClr val="tx1">
                    <a:tint val="75000"/>
                  </a:schemeClr>
                </a:solidFill>
              </a:defRPr>
            </a:lvl1pPr>
          </a:lstStyle>
          <a:p>
            <a:fld id="{C1FF6DA9-008F-8B48-92A6-B652298478BF}" type="slidenum">
              <a:rPr lang="ko-KR" smtClean="0"/>
              <a:t>‹#›</a:t>
            </a:fld>
            <a:endParaRPr lang="ko-K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ko-K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ko-K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ko-K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ko-K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9pPr>
    </p:bodyStyle>
    <p:otherStyle>
      <a:defPPr>
        <a:defRPr lang="ko-KR"/>
      </a:defPPr>
      <a:lvl1pPr marL="0" algn="l" defTabSz="457200" rtl="0" eaLnBrk="1" latinLnBrk="0" hangingPunct="1">
        <a:defRPr sz="1800" kern="1200" lang="ko-KR">
          <a:solidFill>
            <a:schemeClr val="tx1"/>
          </a:solidFill>
          <a:latin typeface="+mn-lt"/>
          <a:ea typeface="+mn-ea"/>
          <a:cs typeface="+mn-cs"/>
        </a:defRPr>
      </a:lvl1pPr>
      <a:lvl2pPr marL="457200" algn="l" defTabSz="457200" rtl="0" eaLnBrk="1" latinLnBrk="0" hangingPunct="1">
        <a:defRPr sz="1800" kern="1200" lang="ko-KR">
          <a:solidFill>
            <a:schemeClr val="tx1"/>
          </a:solidFill>
          <a:latin typeface="+mn-lt"/>
          <a:ea typeface="+mn-ea"/>
          <a:cs typeface="+mn-cs"/>
        </a:defRPr>
      </a:lvl2pPr>
      <a:lvl3pPr marL="914400" algn="l" defTabSz="457200" rtl="0" eaLnBrk="1" latinLnBrk="0" hangingPunct="1">
        <a:defRPr sz="1800" kern="1200" lang="ko-KR">
          <a:solidFill>
            <a:schemeClr val="tx1"/>
          </a:solidFill>
          <a:latin typeface="+mn-lt"/>
          <a:ea typeface="+mn-ea"/>
          <a:cs typeface="+mn-cs"/>
        </a:defRPr>
      </a:lvl3pPr>
      <a:lvl4pPr marL="1371600" algn="l" defTabSz="457200" rtl="0" eaLnBrk="1" latinLnBrk="0" hangingPunct="1">
        <a:defRPr sz="1800" kern="1200" lang="ko-KR">
          <a:solidFill>
            <a:schemeClr val="tx1"/>
          </a:solidFill>
          <a:latin typeface="+mn-lt"/>
          <a:ea typeface="+mn-ea"/>
          <a:cs typeface="+mn-cs"/>
        </a:defRPr>
      </a:lvl4pPr>
      <a:lvl5pPr marL="1828800" algn="l" defTabSz="457200" rtl="0" eaLnBrk="1" latinLnBrk="0" hangingPunct="1">
        <a:defRPr sz="1800" kern="1200" lang="ko-KR">
          <a:solidFill>
            <a:schemeClr val="tx1"/>
          </a:solidFill>
          <a:latin typeface="+mn-lt"/>
          <a:ea typeface="+mn-ea"/>
          <a:cs typeface="+mn-cs"/>
        </a:defRPr>
      </a:lvl5pPr>
      <a:lvl6pPr marL="2286000" algn="l" defTabSz="457200" rtl="0" eaLnBrk="1" latinLnBrk="0" hangingPunct="1">
        <a:defRPr sz="1800" kern="1200" lang="ko-KR">
          <a:solidFill>
            <a:schemeClr val="tx1"/>
          </a:solidFill>
          <a:latin typeface="+mn-lt"/>
          <a:ea typeface="+mn-ea"/>
          <a:cs typeface="+mn-cs"/>
        </a:defRPr>
      </a:lvl6pPr>
      <a:lvl7pPr marL="2743200" algn="l" defTabSz="457200" rtl="0" eaLnBrk="1" latinLnBrk="0" hangingPunct="1">
        <a:defRPr sz="1800" kern="1200" lang="ko-KR">
          <a:solidFill>
            <a:schemeClr val="tx1"/>
          </a:solidFill>
          <a:latin typeface="+mn-lt"/>
          <a:ea typeface="+mn-ea"/>
          <a:cs typeface="+mn-cs"/>
        </a:defRPr>
      </a:lvl7pPr>
      <a:lvl8pPr marL="3200400" algn="l" defTabSz="457200" rtl="0" eaLnBrk="1" latinLnBrk="0" hangingPunct="1">
        <a:defRPr sz="1800" kern="1200" lang="ko-KR">
          <a:solidFill>
            <a:schemeClr val="tx1"/>
          </a:solidFill>
          <a:latin typeface="+mn-lt"/>
          <a:ea typeface="+mn-ea"/>
          <a:cs typeface="+mn-cs"/>
        </a:defRPr>
      </a:lvl8pPr>
      <a:lvl9pPr marL="3657600" algn="l" defTabSz="457200" rtl="0" eaLnBrk="1" latinLnBrk="0" hangingPunct="1">
        <a:defRPr sz="1800" kern="1200" lang="ko-K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c3c6e4906305580.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b3f6c0592f2b003.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c9c445fbc8c70d4.jp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0845049425906c7.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71777acfc4f5e2f.png"/>
  <Relationship Id="rId3" Type="http://schemas.openxmlformats.org/officeDocument/2006/relationships/image" Target="../media/image_fa22147239f313de.png"/>
  <Relationship Id="rId4" Type="http://schemas.openxmlformats.org/officeDocument/2006/relationships/image" Target="../media/image_a2ed7a41ebc22144.png"/>
  <Relationship Id="rId5"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0d7ae1915439d98.png"/>
  <Relationship Id="rId3" Type="http://schemas.openxmlformats.org/officeDocument/2006/relationships/image" Target="../media/image_e709a568109f40a6.png"/>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edd896b72e7ad59.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90eb28e89366fa0.jpg"/>
  <Relationship Id="rId3"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over-bg"/>
          <p:cNvSpPr/>
          <p:nvPr/>
        </p:nvSpPr>
        <p:spPr>
          <a:xfrm>
            <a:off x="0" y="0"/>
            <a:ext cx="12192000" cy="6858000"/>
          </a:xfrm>
          <a:prstGeom prst="rect">
            <a:avLst/>
          </a:prstGeom>
          <a:solidFill>
            <a:srgbClr val="0B1E3C"/>
          </a:solidFill>
          <a:ln>
            <a:noFill/>
          </a:ln>
        </p:spPr>
      </p:sp>
      <p:pic>
        <p:nvPicPr>
          <p:cNvPr id="3" name="cover-photo"/>
          <p:cNvPicPr>
            <a:picLocks noChangeAspect="1"/>
          </p:cNvPicPr>
          <p:nvPr/>
        </p:nvPicPr>
        <p:blipFill>
          <a:blip r:embed="rId2"/>
          <a:srcRect l="0" t="26" r="0" b="27"/>
          <a:stretch>
            <a:fillRect/>
          </a:stretch>
        </p:blipFill>
        <p:spPr>
          <a:xfrm>
            <a:off x="0" y="0"/>
            <a:ext cx="12192000" cy="6858000"/>
          </a:xfrm>
          <a:prstGeom prst="rect">
            <a:avLst/>
          </a:prstGeom>
        </p:spPr>
      </p:pic>
      <p:sp>
        <p:nvSpPr>
          <p:cNvPr id="4" name="cover-scrim"/>
          <p:cNvSpPr/>
          <p:nvPr/>
        </p:nvSpPr>
        <p:spPr>
          <a:xfrm>
            <a:off x="0" y="0"/>
            <a:ext cx="12192000" cy="6858000"/>
          </a:xfrm>
          <a:prstGeom prst="rect">
            <a:avLst/>
          </a:prstGeom>
          <a:gradFill>
            <a:gsLst>
              <a:gs pos="0">
                <a:srgbClr val="0B1E3C">
                  <a:alpha val="94000"/>
                </a:srgbClr>
              </a:gs>
              <a:gs pos="42000">
                <a:srgbClr val="0B1E3C">
                  <a:alpha val="72000"/>
                </a:srgbClr>
              </a:gs>
              <a:gs pos="70000">
                <a:srgbClr val="0B1E3C">
                  <a:alpha val="0"/>
                </a:srgbClr>
              </a:gs>
            </a:gsLst>
            <a:lin ang="0" scaled="1"/>
          </a:gradFill>
          <a:ln>
            <a:noFill/>
          </a:ln>
        </p:spPr>
      </p:sp>
      <p:grpSp>
        <p:nvGrpSpPr>
          <p:cNvPr id="6" name="cover-kicker"/>
          <p:cNvGrpSpPr/>
          <p:nvPr/>
        </p:nvGrpSpPr>
        <p:grpSpPr>
          <a:xfrm>
            <a:off x="603123" y="1924050"/>
            <a:ext cx="3498208" cy="250317"/>
            <a:chOff x="603123" y="1924050"/>
            <a:chExt cx="3498208" cy="250317"/>
          </a:xfrm>
        </p:grpSpPr>
        <p:sp>
          <p:nvSpPr>
            <p:cNvPr id="5" name="TextBox 5"/>
            <p:cNvSpPr txBox="1"/>
            <p:nvPr/>
          </p:nvSpPr>
          <p:spPr>
            <a:xfrm>
              <a:off x="603123" y="1924050"/>
              <a:ext cx="3498208" cy="250317"/>
            </a:xfrm>
            <a:prstGeom prst="rect">
              <a:avLst/>
            </a:prstGeom>
            <a:noFill/>
            <a:ln>
              <a:noFill/>
            </a:ln>
          </p:spPr>
          <p:txBody>
            <a:bodyPr wrap="none" lIns="0" tIns="0" rIns="0" bIns="0" anchor="t" anchorCtr="0">
              <a:spAutoFit/>
            </a:bodyPr>
            <a:lstStyle/>
            <a:p>
              <a:pPr algn="l"/>
              <a:r>
                <a:rPr lang="ko-KR" sz="1280" b="1" dirty="0">
                  <a:solidFill>
                    <a:srgbClr val="F5B700"/>
                  </a:solidFill>
                  <a:latin typeface="+mn-lt"/>
                  <a:ea typeface="+mn-ea"/>
                  <a:cs typeface="+mn-cs"/>
                </a:rPr>
                <a:t>제5회 기아 PBV 아이디어 공모전 · 일반 부문</a:t>
              </a:r>
            </a:p>
          </p:txBody>
        </p:sp>
      </p:grpSp>
      <p:grpSp>
        <p:nvGrpSpPr>
          <p:cNvPr id="9" name="cover-title"/>
          <p:cNvGrpSpPr/>
          <p:nvPr/>
        </p:nvGrpSpPr>
        <p:grpSpPr>
          <a:xfrm>
            <a:off x="590550" y="2254250"/>
            <a:ext cx="3634424" cy="1600200"/>
            <a:chOff x="590550" y="2254250"/>
            <a:chExt cx="3634424" cy="1600200"/>
          </a:xfrm>
        </p:grpSpPr>
        <p:sp>
          <p:nvSpPr>
            <p:cNvPr id="7" name="TextBox 7"/>
            <p:cNvSpPr txBox="1"/>
            <p:nvPr/>
          </p:nvSpPr>
          <p:spPr>
            <a:xfrm>
              <a:off x="590550" y="2254250"/>
              <a:ext cx="1263035" cy="990600"/>
            </a:xfrm>
            <a:prstGeom prst="rect">
              <a:avLst/>
            </a:prstGeom>
            <a:noFill/>
            <a:ln>
              <a:noFill/>
            </a:ln>
          </p:spPr>
          <p:txBody>
            <a:bodyPr wrap="none" lIns="0" tIns="0" rIns="0" bIns="0" anchor="t" anchorCtr="0">
              <a:spAutoFit/>
            </a:bodyPr>
            <a:lstStyle/>
            <a:p>
              <a:pPr algn="l"/>
              <a:r>
                <a:rPr lang="en-US" sz="5100" b="1" spc="-112" dirty="0">
                  <a:solidFill>
                    <a:srgbClr val="FFFFFF"/>
                  </a:solidFill>
                  <a:latin typeface="+mn-lt"/>
                  <a:ea typeface="+mn-ea"/>
                  <a:cs typeface="+mn-cs"/>
                </a:rPr>
                <a:t>PV5</a:t>
              </a:r>
            </a:p>
          </p:txBody>
        </p:sp>
        <p:sp>
          <p:nvSpPr>
            <p:cNvPr id="8" name="TextBox 8"/>
            <p:cNvSpPr txBox="1"/>
            <p:nvPr/>
          </p:nvSpPr>
          <p:spPr>
            <a:xfrm>
              <a:off x="590550" y="3035300"/>
              <a:ext cx="3634424" cy="819150"/>
            </a:xfrm>
            <a:prstGeom prst="rect">
              <a:avLst/>
            </a:prstGeom>
            <a:noFill/>
            <a:ln>
              <a:noFill/>
            </a:ln>
          </p:spPr>
          <p:txBody>
            <a:bodyPr wrap="none" lIns="0" tIns="0" rIns="0" bIns="0" anchor="t" anchorCtr="0">
              <a:spAutoFit/>
            </a:bodyPr>
            <a:lstStyle/>
            <a:p>
              <a:pPr algn="l"/>
              <a:r>
                <a:rPr lang="en-US" sz="4200" b="1" spc="-112" dirty="0">
                  <a:solidFill>
                    <a:srgbClr val="FFFFFF"/>
                  </a:solidFill>
                  <a:latin typeface="+mn-lt"/>
                  <a:ea typeface="+mn-ea"/>
                  <a:cs typeface="+mn-cs"/>
                </a:rPr>
                <a:t>GroundWatch</a:t>
              </a:r>
            </a:p>
          </p:txBody>
        </p:sp>
      </p:grpSp>
      <p:grpSp>
        <p:nvGrpSpPr>
          <p:cNvPr id="11" name="cover-subtitle"/>
          <p:cNvGrpSpPr/>
          <p:nvPr/>
        </p:nvGrpSpPr>
        <p:grpSpPr>
          <a:xfrm>
            <a:off x="598170" y="3797300"/>
            <a:ext cx="2893819" cy="440055"/>
            <a:chOff x="598170" y="3797300"/>
            <a:chExt cx="2893819" cy="440055"/>
          </a:xfrm>
        </p:grpSpPr>
        <p:sp>
          <p:nvSpPr>
            <p:cNvPr id="10" name="TextBox 10"/>
            <p:cNvSpPr txBox="1"/>
            <p:nvPr/>
          </p:nvSpPr>
          <p:spPr>
            <a:xfrm>
              <a:off x="598170" y="3797300"/>
              <a:ext cx="2893819" cy="440055"/>
            </a:xfrm>
            <a:prstGeom prst="rect">
              <a:avLst/>
            </a:prstGeom>
            <a:noFill/>
            <a:ln>
              <a:noFill/>
            </a:ln>
          </p:spPr>
          <p:txBody>
            <a:bodyPr wrap="none" lIns="0" tIns="0" rIns="0" bIns="0" anchor="t" anchorCtr="0">
              <a:spAutoFit/>
            </a:bodyPr>
            <a:lstStyle/>
            <a:p>
              <a:pPr algn="l"/>
              <a:r>
                <a:rPr lang="ko-KR" sz="2250" b="1" dirty="0">
                  <a:solidFill>
                    <a:srgbClr val="D7DEE8"/>
                  </a:solidFill>
                  <a:latin typeface="+mn-lt"/>
                  <a:ea typeface="+mn-ea"/>
                  <a:cs typeface="+mn-cs"/>
                </a:rPr>
                <a:t>PV5 지하안전 순찰차</a:t>
              </a:r>
            </a:p>
          </p:txBody>
        </p:sp>
      </p:grpSp>
      <p:grpSp>
        <p:nvGrpSpPr>
          <p:cNvPr id="14" name="cover-tagline"/>
          <p:cNvGrpSpPr/>
          <p:nvPr/>
        </p:nvGrpSpPr>
        <p:grpSpPr>
          <a:xfrm>
            <a:off x="601599" y="4381500"/>
            <a:ext cx="4530852" cy="785241"/>
            <a:chOff x="601599" y="4381500"/>
            <a:chExt cx="4530852" cy="785241"/>
          </a:xfrm>
        </p:grpSpPr>
        <p:sp>
          <p:nvSpPr>
            <p:cNvPr id="12" name="Rectangle 12"/>
            <p:cNvSpPr/>
            <p:nvPr/>
          </p:nvSpPr>
          <p:spPr>
            <a:xfrm>
              <a:off x="609600" y="4381500"/>
              <a:ext cx="457200" cy="28575"/>
            </a:xfrm>
            <a:prstGeom prst="rect">
              <a:avLst/>
            </a:prstGeom>
            <a:solidFill>
              <a:srgbClr val="F5B700"/>
            </a:solidFill>
            <a:ln>
              <a:noFill/>
            </a:ln>
          </p:spPr>
        </p:sp>
        <p:sp>
          <p:nvSpPr>
            <p:cNvPr id="13" name="TextBox 13"/>
            <p:cNvSpPr txBox="1"/>
            <p:nvPr/>
          </p:nvSpPr>
          <p:spPr>
            <a:xfrm>
              <a:off x="601599" y="4552950"/>
              <a:ext cx="4530852" cy="613791"/>
            </a:xfrm>
            <a:prstGeom prst="rect">
              <a:avLst/>
            </a:prstGeom>
            <a:noFill/>
            <a:ln>
              <a:noFill/>
            </a:ln>
          </p:spPr>
          <p:txBody>
            <a:bodyPr wrap="none" lIns="0" tIns="0" rIns="0" bIns="0" anchor="t" anchorCtr="0">
              <a:spAutoFit/>
            </a:bodyPr>
            <a:lstStyle/>
            <a:p>
              <a:pPr algn="l">
                <a:lnSpc>
                  <a:spcPts val="2400"/>
                </a:lnSpc>
              </a:pPr>
              <a:r>
                <a:rPr lang="ko-KR" sz="1580" dirty="0">
                  <a:solidFill>
                    <a:srgbClr val="D7DEE8"/>
                  </a:solidFill>
                  <a:latin typeface="+mn-lt"/>
                  <a:ea typeface="+mn-ea"/>
                  <a:cs typeface="+mn-cs"/>
                </a:rPr>
                <a:t>지표투과레이더(GPR)로 같은 길을 반복해서 보고,</a:t>
              </a:r>
              <a:br>
                <a:rPr lang="ko-KR" sz="1580" dirty="0">
                  <a:solidFill>
                    <a:srgbClr val="D7DEE8"/>
                  </a:solidFill>
                  <a:latin typeface="+mn-lt"/>
                  <a:ea typeface="+mn-ea"/>
                  <a:cs typeface="+mn-cs"/>
                </a:rPr>
              </a:br>
              <a:r>
                <a:rPr lang="ko-KR" sz="1580" dirty="0">
                  <a:solidFill>
                    <a:srgbClr val="D7DEE8"/>
                  </a:solidFill>
                  <a:latin typeface="+mn-lt"/>
                  <a:ea typeface="+mn-ea"/>
                  <a:cs typeface="+mn-cs"/>
                </a:rPr>
                <a:t>구멍이 되기 전의 변화를 찾습니다.</a:t>
              </a:r>
            </a:p>
          </p:txBody>
        </p:sp>
      </p:grpSp>
      <p:grpSp>
        <p:nvGrpSpPr>
          <p:cNvPr id="17" name="cover-team"/>
          <p:cNvGrpSpPr/>
          <p:nvPr/>
        </p:nvGrpSpPr>
        <p:grpSpPr>
          <a:xfrm>
            <a:off x="601218" y="5797550"/>
            <a:ext cx="2739992" cy="570357"/>
            <a:chOff x="601218" y="5797550"/>
            <a:chExt cx="2739992" cy="570357"/>
          </a:xfrm>
        </p:grpSpPr>
        <p:sp>
          <p:nvSpPr>
            <p:cNvPr id="15" name="TextBox 15"/>
            <p:cNvSpPr txBox="1"/>
            <p:nvPr/>
          </p:nvSpPr>
          <p:spPr>
            <a:xfrm>
              <a:off x="604266" y="5797550"/>
              <a:ext cx="387035" cy="205359"/>
            </a:xfrm>
            <a:prstGeom prst="rect">
              <a:avLst/>
            </a:prstGeom>
            <a:noFill/>
            <a:ln>
              <a:noFill/>
            </a:ln>
          </p:spPr>
          <p:txBody>
            <a:bodyPr wrap="none" lIns="0" tIns="0" rIns="0" bIns="0" anchor="t" anchorCtr="0">
              <a:spAutoFit/>
            </a:bodyPr>
            <a:lstStyle/>
            <a:p>
              <a:pPr algn="l"/>
              <a:r>
                <a:rPr lang="en-US" sz="1050" b="1" dirty="0">
                  <a:solidFill>
                    <a:srgbClr val="F5B700"/>
                  </a:solidFill>
                  <a:latin typeface="+mn-lt"/>
                  <a:ea typeface="+mn-ea"/>
                  <a:cs typeface="+mn-cs"/>
                </a:rPr>
                <a:t>TEAM</a:t>
              </a:r>
            </a:p>
          </p:txBody>
        </p:sp>
        <p:sp>
          <p:nvSpPr>
            <p:cNvPr id="16" name="TextBox 16"/>
            <p:cNvSpPr txBox="1"/>
            <p:nvPr/>
          </p:nvSpPr>
          <p:spPr>
            <a:xfrm>
              <a:off x="601218" y="6045200"/>
              <a:ext cx="2739992"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한 명이라도 살릴 수 있다면</a:t>
              </a:r>
            </a:p>
          </p:txBody>
        </p:sp>
      </p:grpSp>
      <p:grpSp>
        <p:nvGrpSpPr>
          <p:cNvPr id="20" name="cover-date"/>
          <p:cNvGrpSpPr/>
          <p:nvPr/>
        </p:nvGrpSpPr>
        <p:grpSpPr>
          <a:xfrm>
            <a:off x="10553256" y="6299200"/>
            <a:ext cx="1186497" cy="369443"/>
            <a:chOff x="10553256" y="6299200"/>
            <a:chExt cx="1186497" cy="369443"/>
          </a:xfrm>
        </p:grpSpPr>
        <p:sp>
          <p:nvSpPr>
            <p:cNvPr id="18" name="TextBox 18"/>
            <p:cNvSpPr txBox="1"/>
            <p:nvPr/>
          </p:nvSpPr>
          <p:spPr>
            <a:xfrm>
              <a:off x="10553256" y="6299200"/>
              <a:ext cx="1186307" cy="161925"/>
            </a:xfrm>
            <a:prstGeom prst="rect">
              <a:avLst/>
            </a:prstGeom>
            <a:noFill/>
            <a:ln>
              <a:noFill/>
            </a:ln>
          </p:spPr>
          <p:txBody>
            <a:bodyPr wrap="none" lIns="0" tIns="0" rIns="0" bIns="0" anchor="t" anchorCtr="0">
              <a:spAutoFit/>
            </a:bodyPr>
            <a:lstStyle/>
            <a:p>
              <a:pPr algn="r"/>
              <a:r>
                <a:rPr lang="ko-KR" sz="820" dirty="0">
                  <a:solidFill>
                    <a:srgbClr val="C3CCD9"/>
                  </a:solidFill>
                  <a:latin typeface="+mn-lt"/>
                  <a:ea typeface="+mn-ea"/>
                  <a:cs typeface="+mn-cs"/>
                </a:rPr>
                <a:t>PV5 기반 콘셉트 이미지</a:t>
              </a:r>
            </a:p>
          </p:txBody>
        </p:sp>
        <p:sp>
          <p:nvSpPr>
            <p:cNvPr id="19" name="TextBox 19"/>
            <p:cNvSpPr txBox="1"/>
            <p:nvPr/>
          </p:nvSpPr>
          <p:spPr>
            <a:xfrm>
              <a:off x="11221926" y="6477000"/>
              <a:ext cx="517827" cy="191643"/>
            </a:xfrm>
            <a:prstGeom prst="rect">
              <a:avLst/>
            </a:prstGeom>
            <a:noFill/>
            <a:ln>
              <a:noFill/>
            </a:ln>
          </p:spPr>
          <p:txBody>
            <a:bodyPr wrap="none" lIns="0" tIns="0" rIns="0" bIns="0" anchor="t" anchorCtr="0">
              <a:spAutoFit/>
            </a:bodyPr>
            <a:lstStyle/>
            <a:p>
              <a:pPr algn="r"/>
              <a:r>
                <a:rPr lang="ko-KR" sz="980" dirty="0">
                  <a:solidFill>
                    <a:srgbClr val="C3CCD9"/>
                  </a:solidFill>
                  <a:latin typeface="+mn-lt"/>
                  <a:ea typeface="+mn-ea"/>
                  <a:cs typeface="+mn-cs"/>
                </a:rPr>
                <a:t>2026.10</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5"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660883"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한 장 요약</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2" name="TextBox 12"/>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3" name="TextBox 13"/>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4" name="Line 14"/>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7" name="title"/>
          <p:cNvGrpSpPr/>
          <p:nvPr/>
        </p:nvGrpSpPr>
        <p:grpSpPr>
          <a:xfrm>
            <a:off x="518160" y="774700"/>
            <a:ext cx="9945591" cy="586740"/>
            <a:chOff x="518160" y="774700"/>
            <a:chExt cx="9945591" cy="586740"/>
          </a:xfrm>
        </p:grpSpPr>
        <p:sp>
          <p:nvSpPr>
            <p:cNvPr id="16" name="TextBox 16"/>
            <p:cNvSpPr txBox="1"/>
            <p:nvPr/>
          </p:nvSpPr>
          <p:spPr>
            <a:xfrm>
              <a:off x="518160" y="774700"/>
              <a:ext cx="9945591"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GroundWatch는 탐사와 탐사 ‘사이’의 공백을 메웁니다</a:t>
              </a:r>
            </a:p>
          </p:txBody>
        </p:sp>
      </p:grpSp>
      <p:grpSp>
        <p:nvGrpSpPr>
          <p:cNvPr id="23" name="col0"/>
          <p:cNvGrpSpPr/>
          <p:nvPr/>
        </p:nvGrpSpPr>
        <p:grpSpPr>
          <a:xfrm>
            <a:off x="524637" y="1600200"/>
            <a:ext cx="2618613" cy="2021459"/>
            <a:chOff x="524637" y="1600200"/>
            <a:chExt cx="2618613" cy="2021459"/>
          </a:xfrm>
        </p:grpSpPr>
        <p:sp>
          <p:nvSpPr>
            <p:cNvPr id="18" name="Rectangle 18"/>
            <p:cNvSpPr/>
            <p:nvPr/>
          </p:nvSpPr>
          <p:spPr>
            <a:xfrm>
              <a:off x="533400" y="1600200"/>
              <a:ext cx="2609850" cy="28575"/>
            </a:xfrm>
            <a:prstGeom prst="rect">
              <a:avLst/>
            </a:prstGeom>
            <a:solidFill>
              <a:srgbClr val="C62828"/>
            </a:solidFill>
            <a:ln>
              <a:noFill/>
            </a:ln>
          </p:spPr>
        </p:sp>
        <p:sp>
          <p:nvSpPr>
            <p:cNvPr id="19" name="TextBox 19"/>
            <p:cNvSpPr txBox="1"/>
            <p:nvPr/>
          </p:nvSpPr>
          <p:spPr>
            <a:xfrm>
              <a:off x="527304" y="1771650"/>
              <a:ext cx="335280" cy="234696"/>
            </a:xfrm>
            <a:prstGeom prst="rect">
              <a:avLst/>
            </a:prstGeom>
            <a:noFill/>
            <a:ln>
              <a:noFill/>
            </a:ln>
          </p:spPr>
          <p:txBody>
            <a:bodyPr wrap="none" lIns="0" tIns="0" rIns="0" bIns="0" anchor="t" anchorCtr="0">
              <a:spAutoFit/>
            </a:bodyPr>
            <a:lstStyle/>
            <a:p>
              <a:pPr algn="l"/>
              <a:r>
                <a:rPr lang="ko-KR" sz="1200" b="1" dirty="0">
                  <a:solidFill>
                    <a:srgbClr val="C62828"/>
                  </a:solidFill>
                  <a:latin typeface="+mn-lt"/>
                  <a:ea typeface="+mn-ea"/>
                  <a:cs typeface="+mn-cs"/>
                </a:rPr>
                <a:t>문제</a:t>
              </a:r>
            </a:p>
          </p:txBody>
        </p:sp>
        <p:sp>
          <p:nvSpPr>
            <p:cNvPr id="20" name="TextBox 20"/>
            <p:cNvSpPr txBox="1"/>
            <p:nvPr/>
          </p:nvSpPr>
          <p:spPr>
            <a:xfrm>
              <a:off x="524637" y="2070100"/>
              <a:ext cx="2331253"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탐사 100여 일 뒤 함몰</a:t>
              </a:r>
            </a:p>
          </p:txBody>
        </p:sp>
        <p:sp>
          <p:nvSpPr>
            <p:cNvPr id="21" name="TextBox 21"/>
            <p:cNvSpPr txBox="1"/>
            <p:nvPr/>
          </p:nvSpPr>
          <p:spPr>
            <a:xfrm>
              <a:off x="526923" y="2520950"/>
              <a:ext cx="1996186" cy="669417"/>
            </a:xfrm>
            <a:prstGeom prst="rect">
              <a:avLst/>
            </a:prstGeom>
            <a:noFill/>
            <a:ln>
              <a:noFill/>
            </a:ln>
          </p:spPr>
          <p:txBody>
            <a:bodyPr wrap="none" lIns="0" tIns="0" rIns="0" bIns="0" anchor="t" anchorCtr="0">
              <a:spAutoFit/>
            </a:bodyPr>
            <a:lstStyle/>
            <a:p>
              <a:pPr algn="l">
                <a:lnSpc>
                  <a:spcPts val="1650"/>
                </a:lnSpc>
              </a:pPr>
              <a:r>
                <a:rPr lang="ko-KR" sz="1280" dirty="0">
                  <a:solidFill>
                    <a:srgbClr val="374151"/>
                  </a:solidFill>
                  <a:latin typeface="+mn-lt"/>
                  <a:ea typeface="+mn-ea"/>
                  <a:cs typeface="+mn-cs"/>
                </a:rPr>
                <a:t>법정 점검 5년, 서울 1년.</a:t>
              </a:r>
              <a:br>
                <a:rPr lang="ko-KR" sz="1280" dirty="0">
                  <a:solidFill>
                    <a:srgbClr val="374151"/>
                  </a:solidFill>
                  <a:latin typeface="+mn-lt"/>
                  <a:ea typeface="+mn-ea"/>
                  <a:cs typeface="+mn-cs"/>
                </a:rPr>
              </a:br>
              <a:r>
                <a:rPr lang="ko-KR" sz="1280" dirty="0">
                  <a:solidFill>
                    <a:srgbClr val="374151"/>
                  </a:solidFill>
                  <a:latin typeface="+mn-lt"/>
                  <a:ea typeface="+mn-ea"/>
                  <a:cs typeface="+mn-cs"/>
                </a:rPr>
                <a:t>그 사이 자라는 얕은 공동을</a:t>
              </a:r>
              <a:br>
                <a:rPr lang="ko-KR" sz="1280" dirty="0">
                  <a:solidFill>
                    <a:srgbClr val="374151"/>
                  </a:solidFill>
                  <a:latin typeface="+mn-lt"/>
                  <a:ea typeface="+mn-ea"/>
                  <a:cs typeface="+mn-cs"/>
                </a:rPr>
              </a:br>
              <a:r>
                <a:rPr lang="ko-KR" sz="1280" dirty="0">
                  <a:solidFill>
                    <a:srgbClr val="374151"/>
                  </a:solidFill>
                  <a:latin typeface="+mn-lt"/>
                  <a:ea typeface="+mn-ea"/>
                  <a:cs typeface="+mn-cs"/>
                </a:rPr>
                <a:t>아무도 보지 못합니다.</a:t>
              </a:r>
            </a:p>
          </p:txBody>
        </p:sp>
        <p:sp>
          <p:nvSpPr>
            <p:cNvPr id="22" name="TextBox 22"/>
            <p:cNvSpPr txBox="1"/>
            <p:nvPr/>
          </p:nvSpPr>
          <p:spPr>
            <a:xfrm>
              <a:off x="528066" y="3416300"/>
              <a:ext cx="971855"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자세히 → 3~6장</a:t>
              </a:r>
            </a:p>
          </p:txBody>
        </p:sp>
      </p:grpSp>
      <p:grpSp>
        <p:nvGrpSpPr>
          <p:cNvPr id="29" name="col1"/>
          <p:cNvGrpSpPr/>
          <p:nvPr/>
        </p:nvGrpSpPr>
        <p:grpSpPr>
          <a:xfrm>
            <a:off x="3363087" y="1600200"/>
            <a:ext cx="2618613" cy="2021459"/>
            <a:chOff x="3363087" y="1600200"/>
            <a:chExt cx="2618613" cy="2021459"/>
          </a:xfrm>
        </p:grpSpPr>
        <p:sp>
          <p:nvSpPr>
            <p:cNvPr id="24" name="Rectangle 24"/>
            <p:cNvSpPr/>
            <p:nvPr/>
          </p:nvSpPr>
          <p:spPr>
            <a:xfrm>
              <a:off x="3371850" y="1600200"/>
              <a:ext cx="2609850" cy="28575"/>
            </a:xfrm>
            <a:prstGeom prst="rect">
              <a:avLst/>
            </a:prstGeom>
            <a:solidFill>
              <a:srgbClr val="0B1E3C"/>
            </a:solidFill>
            <a:ln>
              <a:noFill/>
            </a:ln>
          </p:spPr>
        </p:sp>
        <p:sp>
          <p:nvSpPr>
            <p:cNvPr id="25" name="TextBox 25"/>
            <p:cNvSpPr txBox="1"/>
            <p:nvPr/>
          </p:nvSpPr>
          <p:spPr>
            <a:xfrm>
              <a:off x="3365754" y="1771650"/>
              <a:ext cx="335280" cy="234696"/>
            </a:xfrm>
            <a:prstGeom prst="rect">
              <a:avLst/>
            </a:prstGeom>
            <a:noFill/>
            <a:ln>
              <a:noFill/>
            </a:ln>
          </p:spPr>
          <p:txBody>
            <a:bodyPr wrap="none" lIns="0" tIns="0" rIns="0" bIns="0" anchor="t" anchorCtr="0">
              <a:spAutoFit/>
            </a:bodyPr>
            <a:lstStyle/>
            <a:p>
              <a:pPr algn="l"/>
              <a:r>
                <a:rPr lang="ko-KR" sz="1200" b="1" dirty="0">
                  <a:solidFill>
                    <a:srgbClr val="B45309"/>
                  </a:solidFill>
                  <a:latin typeface="+mn-lt"/>
                  <a:ea typeface="+mn-ea"/>
                  <a:cs typeface="+mn-cs"/>
                </a:rPr>
                <a:t>해법</a:t>
              </a:r>
            </a:p>
          </p:txBody>
        </p:sp>
        <p:sp>
          <p:nvSpPr>
            <p:cNvPr id="26" name="TextBox 26"/>
            <p:cNvSpPr txBox="1"/>
            <p:nvPr/>
          </p:nvSpPr>
          <p:spPr>
            <a:xfrm>
              <a:off x="3363087" y="2070100"/>
              <a:ext cx="2453973"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같은 길을 약 2개월마다</a:t>
              </a:r>
            </a:p>
          </p:txBody>
        </p:sp>
        <p:sp>
          <p:nvSpPr>
            <p:cNvPr id="27" name="TextBox 27"/>
            <p:cNvSpPr txBox="1"/>
            <p:nvPr/>
          </p:nvSpPr>
          <p:spPr>
            <a:xfrm>
              <a:off x="3365373" y="2520950"/>
              <a:ext cx="1776730" cy="669417"/>
            </a:xfrm>
            <a:prstGeom prst="rect">
              <a:avLst/>
            </a:prstGeom>
            <a:noFill/>
            <a:ln>
              <a:noFill/>
            </a:ln>
          </p:spPr>
          <p:txBody>
            <a:bodyPr wrap="none" lIns="0" tIns="0" rIns="0" bIns="0" anchor="t" anchorCtr="0">
              <a:spAutoFit/>
            </a:bodyPr>
            <a:lstStyle/>
            <a:p>
              <a:pPr algn="l">
                <a:lnSpc>
                  <a:spcPts val="1650"/>
                </a:lnSpc>
              </a:pPr>
              <a:r>
                <a:rPr lang="ko-KR" sz="1280" dirty="0">
                  <a:solidFill>
                    <a:srgbClr val="374151"/>
                  </a:solidFill>
                  <a:latin typeface="+mn-lt"/>
                  <a:ea typeface="+mn-ea"/>
                  <a:cs typeface="+mn-cs"/>
                </a:rPr>
                <a:t>PV5가 GPR로 다시 찍고,</a:t>
              </a:r>
              <a:br>
                <a:rPr lang="ko-KR" sz="1280" dirty="0">
                  <a:solidFill>
                    <a:srgbClr val="374151"/>
                  </a:solidFill>
                  <a:latin typeface="+mn-lt"/>
                  <a:ea typeface="+mn-ea"/>
                  <a:cs typeface="+mn-cs"/>
                </a:rPr>
              </a:br>
              <a:r>
                <a:rPr lang="ko-KR" sz="1280" dirty="0">
                  <a:solidFill>
                    <a:srgbClr val="374151"/>
                  </a:solidFill>
                  <a:latin typeface="+mn-lt"/>
                  <a:ea typeface="+mn-ea"/>
                  <a:cs typeface="+mn-cs"/>
                </a:rPr>
                <a:t>달라진 곳만 골라</a:t>
              </a:r>
              <a:br>
                <a:rPr lang="ko-KR" sz="1280" dirty="0">
                  <a:solidFill>
                    <a:srgbClr val="374151"/>
                  </a:solidFill>
                  <a:latin typeface="+mn-lt"/>
                  <a:ea typeface="+mn-ea"/>
                  <a:cs typeface="+mn-cs"/>
                </a:rPr>
              </a:br>
              <a:r>
                <a:rPr lang="ko-KR" sz="1280" dirty="0">
                  <a:solidFill>
                    <a:srgbClr val="374151"/>
                  </a:solidFill>
                  <a:latin typeface="+mn-lt"/>
                  <a:ea typeface="+mn-ea"/>
                  <a:cs typeface="+mn-cs"/>
                </a:rPr>
                <a:t>현장에서 재확인합니다.</a:t>
              </a:r>
            </a:p>
          </p:txBody>
        </p:sp>
        <p:sp>
          <p:nvSpPr>
            <p:cNvPr id="28" name="TextBox 28"/>
            <p:cNvSpPr txBox="1"/>
            <p:nvPr/>
          </p:nvSpPr>
          <p:spPr>
            <a:xfrm>
              <a:off x="3366516" y="3416300"/>
              <a:ext cx="971855"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자세히 → 7~8장</a:t>
              </a:r>
            </a:p>
          </p:txBody>
        </p:sp>
      </p:grpSp>
      <p:grpSp>
        <p:nvGrpSpPr>
          <p:cNvPr id="35" name="col2"/>
          <p:cNvGrpSpPr/>
          <p:nvPr/>
        </p:nvGrpSpPr>
        <p:grpSpPr>
          <a:xfrm>
            <a:off x="6201537" y="1600200"/>
            <a:ext cx="2618613" cy="2021459"/>
            <a:chOff x="6201537" y="1600200"/>
            <a:chExt cx="2618613" cy="2021459"/>
          </a:xfrm>
        </p:grpSpPr>
        <p:sp>
          <p:nvSpPr>
            <p:cNvPr id="30" name="Rectangle 30"/>
            <p:cNvSpPr/>
            <p:nvPr/>
          </p:nvSpPr>
          <p:spPr>
            <a:xfrm>
              <a:off x="6210300" y="1600200"/>
              <a:ext cx="2609850" cy="28575"/>
            </a:xfrm>
            <a:prstGeom prst="rect">
              <a:avLst/>
            </a:prstGeom>
            <a:solidFill>
              <a:srgbClr val="0B1E3C"/>
            </a:solidFill>
            <a:ln>
              <a:noFill/>
            </a:ln>
          </p:spPr>
        </p:sp>
        <p:sp>
          <p:nvSpPr>
            <p:cNvPr id="31" name="TextBox 31"/>
            <p:cNvSpPr txBox="1"/>
            <p:nvPr/>
          </p:nvSpPr>
          <p:spPr>
            <a:xfrm>
              <a:off x="6204204" y="1771650"/>
              <a:ext cx="523220" cy="234696"/>
            </a:xfrm>
            <a:prstGeom prst="rect">
              <a:avLst/>
            </a:prstGeom>
            <a:noFill/>
            <a:ln>
              <a:noFill/>
            </a:ln>
          </p:spPr>
          <p:txBody>
            <a:bodyPr wrap="none" lIns="0" tIns="0" rIns="0" bIns="0" anchor="t" anchorCtr="0">
              <a:spAutoFit/>
            </a:bodyPr>
            <a:lstStyle/>
            <a:p>
              <a:pPr algn="l"/>
              <a:r>
                <a:rPr lang="ko-KR" sz="1200" b="1" dirty="0">
                  <a:solidFill>
                    <a:srgbClr val="B45309"/>
                  </a:solidFill>
                  <a:latin typeface="+mn-lt"/>
                  <a:ea typeface="+mn-ea"/>
                  <a:cs typeface="+mn-cs"/>
                </a:rPr>
                <a:t>왜 PV5</a:t>
              </a:r>
            </a:p>
          </p:txBody>
        </p:sp>
        <p:sp>
          <p:nvSpPr>
            <p:cNvPr id="32" name="TextBox 32"/>
            <p:cNvSpPr txBox="1"/>
            <p:nvPr/>
          </p:nvSpPr>
          <p:spPr>
            <a:xfrm>
              <a:off x="6201537" y="2070100"/>
              <a:ext cx="2320255"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차가 업무의 일부가 됨</a:t>
              </a:r>
            </a:p>
          </p:txBody>
        </p:sp>
        <p:sp>
          <p:nvSpPr>
            <p:cNvPr id="33" name="TextBox 33"/>
            <p:cNvSpPr txBox="1"/>
            <p:nvPr/>
          </p:nvSpPr>
          <p:spPr>
            <a:xfrm>
              <a:off x="6203823" y="2520950"/>
              <a:ext cx="2158746" cy="669417"/>
            </a:xfrm>
            <a:prstGeom prst="rect">
              <a:avLst/>
            </a:prstGeom>
            <a:noFill/>
            <a:ln>
              <a:noFill/>
            </a:ln>
          </p:spPr>
          <p:txBody>
            <a:bodyPr wrap="none" lIns="0" tIns="0" rIns="0" bIns="0" anchor="t" anchorCtr="0">
              <a:spAutoFit/>
            </a:bodyPr>
            <a:lstStyle/>
            <a:p>
              <a:pPr algn="l">
                <a:lnSpc>
                  <a:spcPts val="1650"/>
                </a:lnSpc>
              </a:pPr>
              <a:r>
                <a:rPr lang="ko-KR" sz="1280" dirty="0">
                  <a:solidFill>
                    <a:srgbClr val="374151"/>
                  </a:solidFill>
                  <a:latin typeface="+mn-lt"/>
                  <a:ea typeface="+mn-ea"/>
                  <a:cs typeface="+mn-cs"/>
                </a:rPr>
                <a:t>차량 내비·화면과 연동하고,</a:t>
              </a:r>
              <a:br>
                <a:rPr lang="ko-KR" sz="1280" dirty="0">
                  <a:solidFill>
                    <a:srgbClr val="374151"/>
                  </a:solidFill>
                  <a:latin typeface="+mn-lt"/>
                  <a:ea typeface="+mn-ea"/>
                  <a:cs typeface="+mn-cs"/>
                </a:rPr>
              </a:br>
              <a:r>
                <a:rPr lang="ko-KR" sz="1280" dirty="0">
                  <a:solidFill>
                    <a:srgbClr val="374151"/>
                  </a:solidFill>
                  <a:latin typeface="+mn-lt"/>
                  <a:ea typeface="+mn-ea"/>
                  <a:cs typeface="+mn-cs"/>
                </a:rPr>
                <a:t>V2L·L-Track으로 싣고 고정,</a:t>
              </a:r>
              <a:br>
                <a:rPr lang="ko-KR" sz="1280" dirty="0">
                  <a:solidFill>
                    <a:srgbClr val="374151"/>
                  </a:solidFill>
                  <a:latin typeface="+mn-lt"/>
                  <a:ea typeface="+mn-ea"/>
                  <a:cs typeface="+mn-cs"/>
                </a:rPr>
              </a:br>
              <a:r>
                <a:rPr lang="ko-KR" sz="1280" dirty="0">
                  <a:solidFill>
                    <a:srgbClr val="374151"/>
                  </a:solidFill>
                  <a:latin typeface="+mn-lt"/>
                  <a:ea typeface="+mn-ea"/>
                  <a:cs typeface="+mn-cs"/>
                </a:rPr>
                <a:t>공식 컨버전으로 복제.</a:t>
              </a:r>
            </a:p>
          </p:txBody>
        </p:sp>
        <p:sp>
          <p:nvSpPr>
            <p:cNvPr id="34" name="TextBox 34"/>
            <p:cNvSpPr txBox="1"/>
            <p:nvPr/>
          </p:nvSpPr>
          <p:spPr>
            <a:xfrm>
              <a:off x="6204966" y="3416300"/>
              <a:ext cx="1049598"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자세히 → 9~10장</a:t>
              </a:r>
            </a:p>
          </p:txBody>
        </p:sp>
      </p:grpSp>
      <p:grpSp>
        <p:nvGrpSpPr>
          <p:cNvPr id="41" name="col3"/>
          <p:cNvGrpSpPr/>
          <p:nvPr/>
        </p:nvGrpSpPr>
        <p:grpSpPr>
          <a:xfrm>
            <a:off x="9039987" y="1600200"/>
            <a:ext cx="2618613" cy="2021459"/>
            <a:chOff x="9039987" y="1600200"/>
            <a:chExt cx="2618613" cy="2021459"/>
          </a:xfrm>
        </p:grpSpPr>
        <p:sp>
          <p:nvSpPr>
            <p:cNvPr id="36" name="Rectangle 36"/>
            <p:cNvSpPr/>
            <p:nvPr/>
          </p:nvSpPr>
          <p:spPr>
            <a:xfrm>
              <a:off x="9048750" y="1600200"/>
              <a:ext cx="2609850" cy="28575"/>
            </a:xfrm>
            <a:prstGeom prst="rect">
              <a:avLst/>
            </a:prstGeom>
            <a:solidFill>
              <a:srgbClr val="0B1E3C"/>
            </a:solidFill>
            <a:ln>
              <a:noFill/>
            </a:ln>
          </p:spPr>
        </p:sp>
        <p:sp>
          <p:nvSpPr>
            <p:cNvPr id="37" name="TextBox 37"/>
            <p:cNvSpPr txBox="1"/>
            <p:nvPr/>
          </p:nvSpPr>
          <p:spPr>
            <a:xfrm>
              <a:off x="9042654" y="1771650"/>
              <a:ext cx="335280" cy="234696"/>
            </a:xfrm>
            <a:prstGeom prst="rect">
              <a:avLst/>
            </a:prstGeom>
            <a:noFill/>
            <a:ln>
              <a:noFill/>
            </a:ln>
          </p:spPr>
          <p:txBody>
            <a:bodyPr wrap="none" lIns="0" tIns="0" rIns="0" bIns="0" anchor="t" anchorCtr="0">
              <a:spAutoFit/>
            </a:bodyPr>
            <a:lstStyle/>
            <a:p>
              <a:pPr algn="l"/>
              <a:r>
                <a:rPr lang="ko-KR" sz="1200" b="1" dirty="0">
                  <a:solidFill>
                    <a:srgbClr val="B45309"/>
                  </a:solidFill>
                  <a:latin typeface="+mn-lt"/>
                  <a:ea typeface="+mn-ea"/>
                  <a:cs typeface="+mn-cs"/>
                </a:rPr>
                <a:t>사업</a:t>
              </a:r>
            </a:p>
          </p:txBody>
        </p:sp>
        <p:sp>
          <p:nvSpPr>
            <p:cNvPr id="38" name="TextBox 38"/>
            <p:cNvSpPr txBox="1"/>
            <p:nvPr/>
          </p:nvSpPr>
          <p:spPr>
            <a:xfrm>
              <a:off x="9039987" y="2070100"/>
              <a:ext cx="2331253"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6번 보고 비용 3분의 1</a:t>
              </a:r>
            </a:p>
          </p:txBody>
        </p:sp>
        <p:sp>
          <p:nvSpPr>
            <p:cNvPr id="39" name="TextBox 39"/>
            <p:cNvSpPr txBox="1"/>
            <p:nvPr/>
          </p:nvSpPr>
          <p:spPr>
            <a:xfrm>
              <a:off x="9042273" y="2520950"/>
              <a:ext cx="1866138" cy="669417"/>
            </a:xfrm>
            <a:prstGeom prst="rect">
              <a:avLst/>
            </a:prstGeom>
            <a:noFill/>
            <a:ln>
              <a:noFill/>
            </a:ln>
          </p:spPr>
          <p:txBody>
            <a:bodyPr wrap="none" lIns="0" tIns="0" rIns="0" bIns="0" anchor="t" anchorCtr="0">
              <a:spAutoFit/>
            </a:bodyPr>
            <a:lstStyle/>
            <a:p>
              <a:pPr algn="l">
                <a:lnSpc>
                  <a:spcPts val="1650"/>
                </a:lnSpc>
              </a:pPr>
              <a:r>
                <a:rPr lang="ko-KR" sz="1280" dirty="0">
                  <a:solidFill>
                    <a:srgbClr val="374151"/>
                  </a:solidFill>
                  <a:latin typeface="+mn-lt"/>
                  <a:ea typeface="+mn-ea"/>
                  <a:cs typeface="+mn-cs"/>
                </a:rPr>
                <a:t>현행 km당 92만 원 vs</a:t>
              </a:r>
              <a:br>
                <a:rPr lang="ko-KR" sz="1280" dirty="0">
                  <a:solidFill>
                    <a:srgbClr val="374151"/>
                  </a:solidFill>
                  <a:latin typeface="+mn-lt"/>
                  <a:ea typeface="+mn-ea"/>
                  <a:cs typeface="+mn-cs"/>
                </a:rPr>
              </a:br>
              <a:r>
                <a:rPr lang="ko-KR" sz="1280" dirty="0">
                  <a:solidFill>
                    <a:srgbClr val="374151"/>
                  </a:solidFill>
                  <a:latin typeface="+mn-lt"/>
                  <a:ea typeface="+mn-ea"/>
                  <a:cs typeface="+mn-cs"/>
                </a:rPr>
                <a:t>반복 탐사 원가 4.7만 원.</a:t>
              </a:r>
              <a:br>
                <a:rPr lang="ko-KR" sz="1280" dirty="0">
                  <a:solidFill>
                    <a:srgbClr val="374151"/>
                  </a:solidFill>
                  <a:latin typeface="+mn-lt"/>
                  <a:ea typeface="+mn-ea"/>
                  <a:cs typeface="+mn-cs"/>
                </a:rPr>
              </a:br>
              <a:r>
                <a:rPr lang="ko-KR" sz="1280" dirty="0">
                  <a:solidFill>
                    <a:srgbClr val="374151"/>
                  </a:solidFill>
                  <a:latin typeface="+mn-lt"/>
                  <a:ea typeface="+mn-ea"/>
                  <a:cs typeface="+mn-cs"/>
                </a:rPr>
                <a:t>실증은 4단계로.</a:t>
              </a:r>
            </a:p>
          </p:txBody>
        </p:sp>
        <p:sp>
          <p:nvSpPr>
            <p:cNvPr id="40" name="TextBox 40"/>
            <p:cNvSpPr txBox="1"/>
            <p:nvPr/>
          </p:nvSpPr>
          <p:spPr>
            <a:xfrm>
              <a:off x="9043416" y="3416300"/>
              <a:ext cx="1127341"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자세히 → 11~14장</a:t>
              </a:r>
            </a:p>
          </p:txBody>
        </p:sp>
      </p:grpSp>
      <p:grpSp>
        <p:nvGrpSpPr>
          <p:cNvPr id="52" name="keynum"/>
          <p:cNvGrpSpPr/>
          <p:nvPr/>
        </p:nvGrpSpPr>
        <p:grpSpPr>
          <a:xfrm>
            <a:off x="521208" y="4260850"/>
            <a:ext cx="11137392" cy="1058228"/>
            <a:chOff x="521208" y="4260850"/>
            <a:chExt cx="11137392" cy="1058228"/>
          </a:xfrm>
        </p:grpSpPr>
        <p:sp>
          <p:nvSpPr>
            <p:cNvPr id="42" name="TextBox 42"/>
            <p:cNvSpPr txBox="1"/>
            <p:nvPr/>
          </p:nvSpPr>
          <p:spPr>
            <a:xfrm>
              <a:off x="527685" y="4260850"/>
              <a:ext cx="1161839"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숫자 셋으로 보면</a:t>
              </a:r>
            </a:p>
          </p:txBody>
        </p:sp>
        <p:sp>
          <p:nvSpPr>
            <p:cNvPr id="43" name="Rectangle 43"/>
            <p:cNvSpPr/>
            <p:nvPr/>
          </p:nvSpPr>
          <p:spPr>
            <a:xfrm>
              <a:off x="533400" y="4533900"/>
              <a:ext cx="3581400" cy="28575"/>
            </a:xfrm>
            <a:prstGeom prst="rect">
              <a:avLst/>
            </a:prstGeom>
            <a:solidFill>
              <a:srgbClr val="0B1E3C"/>
            </a:solidFill>
            <a:ln>
              <a:noFill/>
            </a:ln>
          </p:spPr>
        </p:sp>
        <p:sp>
          <p:nvSpPr>
            <p:cNvPr id="44" name="TextBox 44"/>
            <p:cNvSpPr txBox="1"/>
            <p:nvPr/>
          </p:nvSpPr>
          <p:spPr>
            <a:xfrm>
              <a:off x="521208" y="4679950"/>
              <a:ext cx="1332083" cy="469392"/>
            </a:xfrm>
            <a:prstGeom prst="rect">
              <a:avLst/>
            </a:prstGeom>
            <a:noFill/>
            <a:ln>
              <a:noFill/>
            </a:ln>
          </p:spPr>
          <p:txBody>
            <a:bodyPr wrap="none" lIns="0" tIns="0" rIns="0" bIns="0" anchor="t" anchorCtr="0">
              <a:spAutoFit/>
            </a:bodyPr>
            <a:lstStyle/>
            <a:p>
              <a:pPr algn="l"/>
              <a:r>
                <a:rPr lang="ko-KR" sz="2400" b="1" dirty="0">
                  <a:solidFill>
                    <a:srgbClr val="0B1E3C"/>
                  </a:solidFill>
                  <a:latin typeface="+mn-lt"/>
                  <a:ea typeface="+mn-ea"/>
                  <a:cs typeface="+mn-cs"/>
                </a:rPr>
                <a:t>100여 일</a:t>
              </a:r>
            </a:p>
          </p:txBody>
        </p:sp>
        <p:sp>
          <p:nvSpPr>
            <p:cNvPr id="45" name="TextBox 45"/>
            <p:cNvSpPr txBox="1"/>
            <p:nvPr/>
          </p:nvSpPr>
          <p:spPr>
            <a:xfrm>
              <a:off x="527685" y="5099050"/>
              <a:ext cx="2785679"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‘이상 없음’ 탐사에서 함몰까지 (연희동)</a:t>
              </a:r>
            </a:p>
          </p:txBody>
        </p:sp>
        <p:sp>
          <p:nvSpPr>
            <p:cNvPr id="46" name="Rectangle 46"/>
            <p:cNvSpPr/>
            <p:nvPr/>
          </p:nvSpPr>
          <p:spPr>
            <a:xfrm>
              <a:off x="4305300" y="4533900"/>
              <a:ext cx="3581400" cy="28575"/>
            </a:xfrm>
            <a:prstGeom prst="rect">
              <a:avLst/>
            </a:prstGeom>
            <a:solidFill>
              <a:srgbClr val="0B1E3C"/>
            </a:solidFill>
            <a:ln>
              <a:noFill/>
            </a:ln>
          </p:spPr>
        </p:sp>
        <p:sp>
          <p:nvSpPr>
            <p:cNvPr id="47" name="TextBox 47"/>
            <p:cNvSpPr txBox="1"/>
            <p:nvPr/>
          </p:nvSpPr>
          <p:spPr>
            <a:xfrm>
              <a:off x="4293108" y="4679950"/>
              <a:ext cx="907222" cy="469392"/>
            </a:xfrm>
            <a:prstGeom prst="rect">
              <a:avLst/>
            </a:prstGeom>
            <a:noFill/>
            <a:ln>
              <a:noFill/>
            </a:ln>
          </p:spPr>
          <p:txBody>
            <a:bodyPr wrap="none" lIns="0" tIns="0" rIns="0" bIns="0" anchor="t" anchorCtr="0">
              <a:spAutoFit/>
            </a:bodyPr>
            <a:lstStyle/>
            <a:p>
              <a:pPr algn="l"/>
              <a:r>
                <a:rPr lang="ko-KR" sz="2400" b="1" dirty="0">
                  <a:solidFill>
                    <a:srgbClr val="0B1E3C"/>
                  </a:solidFill>
                  <a:latin typeface="+mn-lt"/>
                  <a:ea typeface="+mn-ea"/>
                  <a:cs typeface="+mn-cs"/>
                </a:rPr>
                <a:t>2.4배</a:t>
              </a:r>
            </a:p>
          </p:txBody>
        </p:sp>
        <p:sp>
          <p:nvSpPr>
            <p:cNvPr id="48" name="TextBox 48"/>
            <p:cNvSpPr txBox="1"/>
            <p:nvPr/>
          </p:nvSpPr>
          <p:spPr>
            <a:xfrm>
              <a:off x="4299585" y="5099050"/>
              <a:ext cx="347924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10cm 자란 공동 vs 가장 큰 오탐 요인 (시뮬레이션)</a:t>
              </a:r>
            </a:p>
          </p:txBody>
        </p:sp>
        <p:sp>
          <p:nvSpPr>
            <p:cNvPr id="49" name="Rectangle 49"/>
            <p:cNvSpPr/>
            <p:nvPr/>
          </p:nvSpPr>
          <p:spPr>
            <a:xfrm>
              <a:off x="8077200" y="4533900"/>
              <a:ext cx="3581400" cy="28575"/>
            </a:xfrm>
            <a:prstGeom prst="rect">
              <a:avLst/>
            </a:prstGeom>
            <a:solidFill>
              <a:srgbClr val="0B1E3C"/>
            </a:solidFill>
            <a:ln>
              <a:noFill/>
            </a:ln>
          </p:spPr>
        </p:sp>
        <p:sp>
          <p:nvSpPr>
            <p:cNvPr id="50" name="TextBox 50"/>
            <p:cNvSpPr txBox="1"/>
            <p:nvPr/>
          </p:nvSpPr>
          <p:spPr>
            <a:xfrm>
              <a:off x="8065008" y="4679950"/>
              <a:ext cx="2656743" cy="469392"/>
            </a:xfrm>
            <a:prstGeom prst="rect">
              <a:avLst/>
            </a:prstGeom>
            <a:noFill/>
            <a:ln>
              <a:noFill/>
            </a:ln>
          </p:spPr>
          <p:txBody>
            <a:bodyPr wrap="none" lIns="0" tIns="0" rIns="0" bIns="0" anchor="t" anchorCtr="0">
              <a:spAutoFit/>
            </a:bodyPr>
            <a:lstStyle/>
            <a:p>
              <a:pPr algn="l"/>
              <a:r>
                <a:rPr lang="ko-KR" sz="2400" b="1" dirty="0">
                  <a:solidFill>
                    <a:srgbClr val="0B1E3C"/>
                  </a:solidFill>
                  <a:latin typeface="+mn-lt"/>
                  <a:ea typeface="+mn-ea"/>
                  <a:cs typeface="+mn-cs"/>
                </a:rPr>
                <a:t>92만 원 → 28만 원</a:t>
              </a:r>
            </a:p>
          </p:txBody>
        </p:sp>
        <p:sp>
          <p:nvSpPr>
            <p:cNvPr id="51" name="TextBox 51"/>
            <p:cNvSpPr txBox="1"/>
            <p:nvPr/>
          </p:nvSpPr>
          <p:spPr>
            <a:xfrm>
              <a:off x="8071485" y="5099050"/>
              <a:ext cx="2499208"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도로 1km·1년: 현행 1회 vs 반복 6회</a:t>
              </a:r>
            </a:p>
          </p:txBody>
        </p:sp>
      </p:grpSp>
      <p:grpSp>
        <p:nvGrpSpPr>
          <p:cNvPr id="55" name="conclusion"/>
          <p:cNvGrpSpPr/>
          <p:nvPr/>
        </p:nvGrpSpPr>
        <p:grpSpPr>
          <a:xfrm>
            <a:off x="533400" y="5619750"/>
            <a:ext cx="5234164" cy="419100"/>
            <a:chOff x="533400" y="5619750"/>
            <a:chExt cx="5234164" cy="419100"/>
          </a:xfrm>
        </p:grpSpPr>
        <p:sp>
          <p:nvSpPr>
            <p:cNvPr id="53" name="Rectangle 53"/>
            <p:cNvSpPr/>
            <p:nvPr/>
          </p:nvSpPr>
          <p:spPr>
            <a:xfrm>
              <a:off x="533400" y="5619750"/>
              <a:ext cx="38100" cy="419100"/>
            </a:xfrm>
            <a:prstGeom prst="rect">
              <a:avLst/>
            </a:prstGeom>
            <a:solidFill>
              <a:srgbClr val="F5B700"/>
            </a:solidFill>
            <a:ln>
              <a:noFill/>
            </a:ln>
          </p:spPr>
        </p:sp>
        <p:sp>
          <p:nvSpPr>
            <p:cNvPr id="54" name="TextBox 54"/>
            <p:cNvSpPr txBox="1"/>
            <p:nvPr/>
          </p:nvSpPr>
          <p:spPr>
            <a:xfrm>
              <a:off x="715899" y="5715000"/>
              <a:ext cx="5051665"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한 번의 조기 발견이, 한 사람의 무사 귀가가 되도록.</a:t>
              </a:r>
            </a:p>
          </p:txBody>
        </p:sp>
      </p:grpSp>
      <p:grpSp>
        <p:nvGrpSpPr>
          <p:cNvPr id="57" name="source"/>
          <p:cNvGrpSpPr/>
          <p:nvPr/>
        </p:nvGrpSpPr>
        <p:grpSpPr>
          <a:xfrm>
            <a:off x="528447" y="6381750"/>
            <a:ext cx="6115167" cy="191643"/>
            <a:chOff x="528447" y="6381750"/>
            <a:chExt cx="6115167" cy="191643"/>
          </a:xfrm>
        </p:grpSpPr>
        <p:sp>
          <p:nvSpPr>
            <p:cNvPr id="56" name="TextBox 56"/>
            <p:cNvSpPr txBox="1"/>
            <p:nvPr/>
          </p:nvSpPr>
          <p:spPr>
            <a:xfrm>
              <a:off x="528447" y="6381750"/>
              <a:ext cx="6115167"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근거: 3장 뉴시스·세계일보 · 7장 GPR 전자기 시뮬레이션 · 12장 서울시 2024 공동조사용역 최종보고서</a:t>
              </a:r>
            </a:p>
          </p:txBody>
        </p:sp>
      </p:grpSp>
      <p:grpSp>
        <p:nvGrpSpPr>
          <p:cNvPr id="60" name="footer"/>
          <p:cNvGrpSpPr/>
          <p:nvPr/>
        </p:nvGrpSpPr>
        <p:grpSpPr>
          <a:xfrm>
            <a:off x="528638" y="6610350"/>
            <a:ext cx="11134724" cy="176212"/>
            <a:chOff x="528638" y="6610350"/>
            <a:chExt cx="11134724" cy="176212"/>
          </a:xfrm>
        </p:grpSpPr>
        <p:sp>
          <p:nvSpPr>
            <p:cNvPr id="58" name="TextBox 58"/>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59" name="TextBox 59"/>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02 / 15</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08493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실제로 일어난 일</a:t>
              </a:r>
            </a:p>
          </p:txBody>
        </p:sp>
        <p:sp>
          <p:nvSpPr>
            <p:cNvPr id="5" name="Line 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4" name="incident-map"/>
          <p:cNvGrpSpPr/>
          <p:nvPr/>
        </p:nvGrpSpPr>
        <p:grpSpPr>
          <a:xfrm>
            <a:off x="6477000" y="0"/>
            <a:ext cx="5715000" cy="6858000"/>
            <a:chOff x="6477000" y="0"/>
            <a:chExt cx="5715000" cy="6858000"/>
          </a:xfrm>
        </p:grpSpPr>
        <p:pic>
          <p:nvPicPr>
            <p:cNvPr id="7" name="Image 7"/>
            <p:cNvPicPr>
              <a:picLocks noChangeAspect="1"/>
            </p:cNvPicPr>
            <p:nvPr/>
          </p:nvPicPr>
          <p:blipFill>
            <a:blip r:embed="rId2"/>
            <a:srcRect l="3125" t="0" r="3125" b="0"/>
            <a:stretch>
              <a:fillRect/>
            </a:stretch>
          </p:blipFill>
          <p:spPr>
            <a:xfrm>
              <a:off x="6477000" y="0"/>
              <a:ext cx="5715000" cy="6858000"/>
            </a:xfrm>
            <a:prstGeom prst="rect">
              <a:avLst/>
            </a:prstGeom>
          </p:spPr>
        </p:pic>
        <p:sp>
          <p:nvSpPr>
            <p:cNvPr id="8" name="Rectangle 8"/>
            <p:cNvSpPr/>
            <p:nvPr/>
          </p:nvSpPr>
          <p:spPr>
            <a:xfrm>
              <a:off x="6477000" y="4095750"/>
              <a:ext cx="5715000" cy="2762250"/>
            </a:xfrm>
            <a:prstGeom prst="rect">
              <a:avLst/>
            </a:prstGeom>
            <a:gradFill>
              <a:gsLst>
                <a:gs pos="0">
                  <a:srgbClr val="05070B">
                    <a:alpha val="0"/>
                  </a:srgbClr>
                </a:gs>
                <a:gs pos="100000">
                  <a:srgbClr val="05070B">
                    <a:alpha val="88000"/>
                  </a:srgbClr>
                </a:gs>
              </a:gsLst>
              <a:lin ang="5400000" scaled="1"/>
            </a:gradFill>
            <a:ln>
              <a:noFill/>
            </a:ln>
          </p:spPr>
        </p:sp>
        <p:sp>
          <p:nvSpPr>
            <p:cNvPr id="9" name="Rectangle 9"/>
            <p:cNvSpPr/>
            <p:nvPr/>
          </p:nvSpPr>
          <p:spPr>
            <a:xfrm>
              <a:off x="6667500" y="1428750"/>
              <a:ext cx="2152650" cy="533400"/>
            </a:xfrm>
            <a:prstGeom prst="roundRect">
              <a:avLst>
                <a:gd name="adj" fmla="val 7143"/>
              </a:avLst>
            </a:prstGeom>
            <a:solidFill>
              <a:srgbClr val="0B1E3C">
                <a:alpha val="92000"/>
              </a:srgbClr>
            </a:solidFill>
            <a:ln>
              <a:noFill/>
            </a:ln>
          </p:spPr>
        </p:sp>
        <p:sp>
          <p:nvSpPr>
            <p:cNvPr id="10" name="TextBox 10"/>
            <p:cNvSpPr txBox="1"/>
            <p:nvPr/>
          </p:nvSpPr>
          <p:spPr>
            <a:xfrm>
              <a:off x="6794754" y="1504950"/>
              <a:ext cx="1599766"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2024.8.29 사고 구간</a:t>
              </a:r>
            </a:p>
          </p:txBody>
        </p:sp>
        <p:sp>
          <p:nvSpPr>
            <p:cNvPr id="11" name="TextBox 11"/>
            <p:cNvSpPr txBox="1"/>
            <p:nvPr/>
          </p:nvSpPr>
          <p:spPr>
            <a:xfrm>
              <a:off x="6795516" y="1730375"/>
              <a:ext cx="1508989" cy="205359"/>
            </a:xfrm>
            <a:prstGeom prst="rect">
              <a:avLst/>
            </a:prstGeom>
            <a:noFill/>
            <a:ln>
              <a:noFill/>
            </a:ln>
          </p:spPr>
          <p:txBody>
            <a:bodyPr wrap="none" lIns="0" tIns="0" rIns="0" bIns="0" anchor="t" anchorCtr="0">
              <a:spAutoFit/>
            </a:bodyPr>
            <a:lstStyle/>
            <a:p>
              <a:pPr algn="l"/>
              <a:r>
                <a:rPr lang="ko-KR" sz="1050" dirty="0">
                  <a:solidFill>
                    <a:srgbClr val="D6DDE8"/>
                  </a:solidFill>
                  <a:latin typeface="+mn-lt"/>
                  <a:ea typeface="+mn-ea"/>
                  <a:cs typeface="+mn-cs"/>
                </a:rPr>
                <a:t>서대문구 연희동 성산로</a:t>
              </a:r>
            </a:p>
          </p:txBody>
        </p:sp>
        <p:sp>
          <p:nvSpPr>
            <p:cNvPr id="12" name="TextBox 12"/>
            <p:cNvSpPr txBox="1"/>
            <p:nvPr/>
          </p:nvSpPr>
          <p:spPr>
            <a:xfrm>
              <a:off x="6771132" y="5314950"/>
              <a:ext cx="4245197" cy="810768"/>
            </a:xfrm>
            <a:prstGeom prst="rect">
              <a:avLst/>
            </a:prstGeom>
            <a:noFill/>
            <a:ln>
              <a:noFill/>
            </a:ln>
          </p:spPr>
          <p:txBody>
            <a:bodyPr wrap="none" lIns="0" tIns="0" rIns="0" bIns="0" anchor="t" anchorCtr="0">
              <a:spAutoFit/>
            </a:bodyPr>
            <a:lstStyle/>
            <a:p>
              <a:pPr algn="l">
                <a:lnSpc>
                  <a:spcPts val="3150"/>
                </a:lnSpc>
              </a:pPr>
              <a:r>
                <a:rPr lang="ko-KR" sz="2100" b="1" dirty="0">
                  <a:solidFill>
                    <a:srgbClr val="FFFFFF"/>
                  </a:solidFill>
                  <a:latin typeface="+mn-lt"/>
                  <a:ea typeface="+mn-ea"/>
                  <a:cs typeface="+mn-cs"/>
                </a:rPr>
                <a:t>평범한 도로가</a:t>
              </a:r>
              <a:br>
                <a:rPr lang="ko-KR" sz="2100" b="1" dirty="0">
                  <a:solidFill>
                    <a:srgbClr val="FFFFFF"/>
                  </a:solidFill>
                  <a:latin typeface="+mn-lt"/>
                  <a:ea typeface="+mn-ea"/>
                  <a:cs typeface="+mn-cs"/>
                </a:rPr>
              </a:br>
              <a:r>
                <a:rPr lang="ko-KR" sz="2100" b="1" dirty="0">
                  <a:solidFill>
                    <a:srgbClr val="FFFFFF"/>
                  </a:solidFill>
                  <a:latin typeface="+mn-lt"/>
                  <a:ea typeface="+mn-ea"/>
                  <a:cs typeface="+mn-cs"/>
                </a:rPr>
                <a:t>한 사람의 마지막 길이 되었습니다.</a:t>
              </a:r>
            </a:p>
          </p:txBody>
        </p:sp>
        <p:sp>
          <p:nvSpPr>
            <p:cNvPr id="13" name="TextBox 13"/>
            <p:cNvSpPr txBox="1"/>
            <p:nvPr/>
          </p:nvSpPr>
          <p:spPr>
            <a:xfrm>
              <a:off x="6777038" y="6457950"/>
              <a:ext cx="4627108" cy="176212"/>
            </a:xfrm>
            <a:prstGeom prst="rect">
              <a:avLst/>
            </a:prstGeom>
            <a:noFill/>
            <a:ln>
              <a:noFill/>
            </a:ln>
          </p:spPr>
          <p:txBody>
            <a:bodyPr wrap="none" lIns="0" tIns="0" rIns="0" bIns="0" anchor="t" anchorCtr="0">
              <a:spAutoFit/>
            </a:bodyPr>
            <a:lstStyle/>
            <a:p>
              <a:pPr algn="l"/>
              <a:r>
                <a:rPr lang="ko-KR" sz="900" dirty="0">
                  <a:solidFill>
                    <a:srgbClr val="C3CCD9"/>
                  </a:solidFill>
                  <a:latin typeface="+mn-lt"/>
                  <a:ea typeface="+mn-ea"/>
                  <a:cs typeface="+mn-cs"/>
                </a:rPr>
                <a:t>지도 © OpenStreetMap contributors · 정확한 지점은 보도되지 않아 구간으로 표시</a:t>
              </a:r>
            </a:p>
          </p:txBody>
        </p:sp>
      </p:grpSp>
      <p:grpSp>
        <p:nvGrpSpPr>
          <p:cNvPr id="16" name="kicker"/>
          <p:cNvGrpSpPr/>
          <p:nvPr/>
        </p:nvGrpSpPr>
        <p:grpSpPr>
          <a:xfrm>
            <a:off x="526542" y="1301750"/>
            <a:ext cx="2927869" cy="264033"/>
            <a:chOff x="526542" y="1301750"/>
            <a:chExt cx="2927869" cy="264033"/>
          </a:xfrm>
        </p:grpSpPr>
        <p:sp>
          <p:nvSpPr>
            <p:cNvPr id="15" name="TextBox 15"/>
            <p:cNvSpPr txBox="1"/>
            <p:nvPr/>
          </p:nvSpPr>
          <p:spPr>
            <a:xfrm>
              <a:off x="526542" y="1301750"/>
              <a:ext cx="2927869" cy="264033"/>
            </a:xfrm>
            <a:prstGeom prst="rect">
              <a:avLst/>
            </a:prstGeom>
            <a:noFill/>
            <a:ln>
              <a:noFill/>
            </a:ln>
          </p:spPr>
          <p:txBody>
            <a:bodyPr wrap="none" lIns="0" tIns="0" rIns="0" bIns="0" anchor="t" anchorCtr="0">
              <a:spAutoFit/>
            </a:bodyPr>
            <a:lstStyle/>
            <a:p>
              <a:pPr algn="l"/>
              <a:r>
                <a:rPr lang="ko-KR" sz="1350" b="1" dirty="0">
                  <a:solidFill>
                    <a:srgbClr val="C62828"/>
                  </a:solidFill>
                  <a:latin typeface="+mn-lt"/>
                  <a:ea typeface="+mn-ea"/>
                  <a:cs typeface="+mn-cs"/>
                </a:rPr>
                <a:t>2024.8.29 · 서울 서대문구 연희동</a:t>
              </a:r>
            </a:p>
          </p:txBody>
        </p:sp>
      </p:grpSp>
      <p:grpSp>
        <p:nvGrpSpPr>
          <p:cNvPr id="19" name="title"/>
          <p:cNvGrpSpPr/>
          <p:nvPr/>
        </p:nvGrpSpPr>
        <p:grpSpPr>
          <a:xfrm>
            <a:off x="518160" y="1746250"/>
            <a:ext cx="6039790" cy="1120140"/>
            <a:chOff x="518160" y="1746250"/>
            <a:chExt cx="6039790" cy="1120140"/>
          </a:xfrm>
        </p:grpSpPr>
        <p:sp>
          <p:nvSpPr>
            <p:cNvPr id="17" name="TextBox 17"/>
            <p:cNvSpPr txBox="1"/>
            <p:nvPr/>
          </p:nvSpPr>
          <p:spPr>
            <a:xfrm>
              <a:off x="518160" y="1746250"/>
              <a:ext cx="3043100" cy="586740"/>
            </a:xfrm>
            <a:prstGeom prst="rect">
              <a:avLst/>
            </a:prstGeom>
            <a:noFill/>
            <a:ln>
              <a:noFill/>
            </a:ln>
          </p:spPr>
          <p:txBody>
            <a:bodyPr wrap="none" lIns="0" tIns="0" rIns="0" bIns="0" anchor="t" anchorCtr="0">
              <a:spAutoFit/>
            </a:bodyPr>
            <a:lstStyle/>
            <a:p>
              <a:pPr algn="l"/>
              <a:r>
                <a:rPr lang="ko-KR" sz="3000" b="1" spc="-112" dirty="0">
                  <a:solidFill>
                    <a:srgbClr val="0B1E3C"/>
                  </a:solidFill>
                  <a:latin typeface="+mn-lt"/>
                  <a:ea typeface="+mn-ea"/>
                  <a:cs typeface="+mn-cs"/>
                </a:rPr>
                <a:t>‘이상 없음’ 판정</a:t>
              </a:r>
            </a:p>
          </p:txBody>
        </p:sp>
        <p:sp>
          <p:nvSpPr>
            <p:cNvPr id="18" name="TextBox 18"/>
            <p:cNvSpPr txBox="1"/>
            <p:nvPr/>
          </p:nvSpPr>
          <p:spPr>
            <a:xfrm>
              <a:off x="518160" y="2279650"/>
              <a:ext cx="6039790" cy="586740"/>
            </a:xfrm>
            <a:prstGeom prst="rect">
              <a:avLst/>
            </a:prstGeom>
            <a:noFill/>
            <a:ln>
              <a:noFill/>
            </a:ln>
          </p:spPr>
          <p:txBody>
            <a:bodyPr wrap="none" lIns="0" tIns="0" rIns="0" bIns="0" anchor="t" anchorCtr="0">
              <a:spAutoFit/>
            </a:bodyPr>
            <a:lstStyle/>
            <a:p>
              <a:pPr algn="l"/>
              <a:r>
                <a:rPr lang="ko-KR" sz="3000" b="1" spc="-112" dirty="0">
                  <a:solidFill>
                    <a:srgbClr val="C62828"/>
                  </a:solidFill>
                  <a:latin typeface="+mn-lt"/>
                  <a:ea typeface="+mn-ea"/>
                  <a:cs typeface="+mn-cs"/>
                </a:rPr>
                <a:t>100여 일 뒤, 도로가 무너졌습니다</a:t>
              </a:r>
            </a:p>
          </p:txBody>
        </p:sp>
      </p:grpSp>
      <p:grpSp>
        <p:nvGrpSpPr>
          <p:cNvPr id="29" name="timeline"/>
          <p:cNvGrpSpPr/>
          <p:nvPr/>
        </p:nvGrpSpPr>
        <p:grpSpPr>
          <a:xfrm>
            <a:off x="717804" y="3257550"/>
            <a:ext cx="5346192" cy="1053846"/>
            <a:chOff x="717804" y="3257550"/>
            <a:chExt cx="5346192" cy="1053846"/>
          </a:xfrm>
        </p:grpSpPr>
        <p:sp>
          <p:nvSpPr>
            <p:cNvPr id="20" name="Rectangle 20"/>
            <p:cNvSpPr/>
            <p:nvPr/>
          </p:nvSpPr>
          <p:spPr>
            <a:xfrm>
              <a:off x="819150" y="3800475"/>
              <a:ext cx="5143500" cy="95250"/>
            </a:xfrm>
            <a:prstGeom prst="rect">
              <a:avLst/>
            </a:prstGeom>
            <a:solidFill>
              <a:srgbClr val="F5B700">
                <a:alpha val="28000"/>
              </a:srgbClr>
            </a:solidFill>
            <a:ln>
              <a:noFill/>
            </a:ln>
          </p:spPr>
        </p:sp>
        <p:sp>
          <p:nvSpPr>
            <p:cNvPr id="21" name="Line 21"/>
            <p:cNvSpPr/>
            <p:nvPr/>
          </p:nvSpPr>
          <p:spPr>
            <a:xfrm>
              <a:off x="819150" y="3848100"/>
              <a:ext cx="5143500" cy="9525"/>
            </a:xfrm>
            <a:custGeom>
              <a:avLst/>
              <a:gdLst/>
              <a:ahLst/>
              <a:cxnLst/>
              <a:rect l="l" t="t" r="r" b="b"/>
              <a:pathLst>
                <a:path w="5143500" h="9525">
                  <a:moveTo>
                    <a:pt x="0" y="0"/>
                  </a:moveTo>
                  <a:lnTo>
                    <a:pt x="5143500" y="0"/>
                  </a:lnTo>
                </a:path>
              </a:pathLst>
            </a:custGeom>
            <a:noFill/>
            <a:ln w="19050">
              <a:solidFill>
                <a:srgbClr val="C3CCD9"/>
              </a:solidFill>
            </a:ln>
          </p:spPr>
        </p:sp>
        <p:sp>
          <p:nvSpPr>
            <p:cNvPr id="22" name="Ellipse 22"/>
            <p:cNvSpPr/>
            <p:nvPr/>
          </p:nvSpPr>
          <p:spPr>
            <a:xfrm>
              <a:off x="723900" y="3752850"/>
              <a:ext cx="190500" cy="190500"/>
            </a:xfrm>
            <a:prstGeom prst="ellipse">
              <a:avLst/>
            </a:prstGeom>
            <a:solidFill>
              <a:srgbClr val="0B1E3C"/>
            </a:solidFill>
            <a:ln w="28575">
              <a:solidFill>
                <a:srgbClr val="FFFFFF"/>
              </a:solidFill>
            </a:ln>
          </p:spPr>
        </p:sp>
        <p:sp>
          <p:nvSpPr>
            <p:cNvPr id="23" name="Ellipse 23"/>
            <p:cNvSpPr/>
            <p:nvPr/>
          </p:nvSpPr>
          <p:spPr>
            <a:xfrm>
              <a:off x="5867400" y="3752850"/>
              <a:ext cx="190500" cy="190500"/>
            </a:xfrm>
            <a:prstGeom prst="ellipse">
              <a:avLst/>
            </a:prstGeom>
            <a:solidFill>
              <a:srgbClr val="C62828"/>
            </a:solidFill>
            <a:ln w="28575">
              <a:solidFill>
                <a:srgbClr val="FFFFFF"/>
              </a:solidFill>
            </a:ln>
          </p:spPr>
        </p:sp>
        <p:sp>
          <p:nvSpPr>
            <p:cNvPr id="24" name="TextBox 24"/>
            <p:cNvSpPr txBox="1"/>
            <p:nvPr/>
          </p:nvSpPr>
          <p:spPr>
            <a:xfrm>
              <a:off x="717804" y="3257550"/>
              <a:ext cx="1038400"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2024.5.7~16</a:t>
              </a:r>
            </a:p>
          </p:txBody>
        </p:sp>
        <p:sp>
          <p:nvSpPr>
            <p:cNvPr id="25" name="TextBox 25"/>
            <p:cNvSpPr txBox="1"/>
            <p:nvPr/>
          </p:nvSpPr>
          <p:spPr>
            <a:xfrm>
              <a:off x="718185" y="3479800"/>
              <a:ext cx="1794693"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정기 GPR 탐사 · 공동 없음</a:t>
              </a:r>
            </a:p>
          </p:txBody>
        </p:sp>
        <p:sp>
          <p:nvSpPr>
            <p:cNvPr id="26" name="TextBox 26"/>
            <p:cNvSpPr txBox="1"/>
            <p:nvPr/>
          </p:nvSpPr>
          <p:spPr>
            <a:xfrm>
              <a:off x="5212179" y="3257550"/>
              <a:ext cx="851817" cy="234696"/>
            </a:xfrm>
            <a:prstGeom prst="rect">
              <a:avLst/>
            </a:prstGeom>
            <a:noFill/>
            <a:ln>
              <a:noFill/>
            </a:ln>
          </p:spPr>
          <p:txBody>
            <a:bodyPr wrap="none" lIns="0" tIns="0" rIns="0" bIns="0" anchor="t" anchorCtr="0">
              <a:spAutoFit/>
            </a:bodyPr>
            <a:lstStyle/>
            <a:p>
              <a:pPr algn="r"/>
              <a:r>
                <a:rPr lang="ko-KR" sz="1200" b="1" dirty="0">
                  <a:solidFill>
                    <a:srgbClr val="C62828"/>
                  </a:solidFill>
                  <a:latin typeface="+mn-lt"/>
                  <a:ea typeface="+mn-ea"/>
                  <a:cs typeface="+mn-cs"/>
                </a:rPr>
                <a:t>2024.8.29</a:t>
              </a:r>
            </a:p>
          </p:txBody>
        </p:sp>
        <p:sp>
          <p:nvSpPr>
            <p:cNvPr id="27" name="TextBox 27"/>
            <p:cNvSpPr txBox="1"/>
            <p:nvPr/>
          </p:nvSpPr>
          <p:spPr>
            <a:xfrm>
              <a:off x="5403855" y="3479800"/>
              <a:ext cx="659760" cy="220028"/>
            </a:xfrm>
            <a:prstGeom prst="rect">
              <a:avLst/>
            </a:prstGeom>
            <a:noFill/>
            <a:ln>
              <a:noFill/>
            </a:ln>
          </p:spPr>
          <p:txBody>
            <a:bodyPr wrap="none" lIns="0" tIns="0" rIns="0" bIns="0" anchor="t" anchorCtr="0">
              <a:spAutoFit/>
            </a:bodyPr>
            <a:lstStyle/>
            <a:p>
              <a:pPr algn="r"/>
              <a:r>
                <a:rPr lang="ko-KR" sz="1120" dirty="0">
                  <a:solidFill>
                    <a:srgbClr val="C62828"/>
                  </a:solidFill>
                  <a:latin typeface="+mn-lt"/>
                  <a:ea typeface="+mn-ea"/>
                  <a:cs typeface="+mn-cs"/>
                </a:rPr>
                <a:t>도로 함몰</a:t>
              </a:r>
            </a:p>
          </p:txBody>
        </p:sp>
        <p:sp>
          <p:nvSpPr>
            <p:cNvPr id="28" name="TextBox 28"/>
            <p:cNvSpPr txBox="1"/>
            <p:nvPr/>
          </p:nvSpPr>
          <p:spPr>
            <a:xfrm>
              <a:off x="1357427" y="4076700"/>
              <a:ext cx="4066946" cy="234696"/>
            </a:xfrm>
            <a:prstGeom prst="rect">
              <a:avLst/>
            </a:prstGeom>
            <a:noFill/>
            <a:ln>
              <a:noFill/>
            </a:ln>
          </p:spPr>
          <p:txBody>
            <a:bodyPr wrap="none" lIns="0" tIns="0" rIns="0" bIns="0" anchor="t" anchorCtr="0">
              <a:spAutoFit/>
            </a:bodyPr>
            <a:lstStyle/>
            <a:p>
              <a:pPr algn="ctr"/>
              <a:r>
                <a:rPr lang="ko-KR" sz="1200" dirty="0">
                  <a:solidFill>
                    <a:srgbClr val="374151"/>
                  </a:solidFill>
                  <a:latin typeface="+mn-lt"/>
                  <a:ea typeface="+mn-ea"/>
                  <a:cs typeface="+mn-cs"/>
                </a:rPr>
                <a:t>그 사이 지하에서 무슨 일이 있었는지는 기록이 없습니다</a:t>
              </a:r>
            </a:p>
          </p:txBody>
        </p:sp>
      </p:grpSp>
      <p:grpSp>
        <p:nvGrpSpPr>
          <p:cNvPr id="37" name="facts"/>
          <p:cNvGrpSpPr/>
          <p:nvPr/>
        </p:nvGrpSpPr>
        <p:grpSpPr>
          <a:xfrm>
            <a:off x="518160" y="4686300"/>
            <a:ext cx="5539740" cy="880428"/>
            <a:chOff x="518160" y="4686300"/>
            <a:chExt cx="5539740" cy="880428"/>
          </a:xfrm>
        </p:grpSpPr>
        <p:sp>
          <p:nvSpPr>
            <p:cNvPr id="30" name="Line 30"/>
            <p:cNvSpPr/>
            <p:nvPr/>
          </p:nvSpPr>
          <p:spPr>
            <a:xfrm>
              <a:off x="533400" y="4686300"/>
              <a:ext cx="5524500" cy="9525"/>
            </a:xfrm>
            <a:custGeom>
              <a:avLst/>
              <a:gdLst/>
              <a:ahLst/>
              <a:cxnLst/>
              <a:rect l="l" t="t" r="r" b="b"/>
              <a:pathLst>
                <a:path w="5524500" h="9525">
                  <a:moveTo>
                    <a:pt x="0" y="0"/>
                  </a:moveTo>
                  <a:lnTo>
                    <a:pt x="5524500" y="0"/>
                  </a:lnTo>
                </a:path>
              </a:pathLst>
            </a:custGeom>
            <a:noFill/>
            <a:ln w="9525">
              <a:solidFill>
                <a:srgbClr val="E2E6EC"/>
              </a:solidFill>
            </a:ln>
          </p:spPr>
        </p:sp>
        <p:sp>
          <p:nvSpPr>
            <p:cNvPr id="31" name="TextBox 31"/>
            <p:cNvSpPr txBox="1"/>
            <p:nvPr/>
          </p:nvSpPr>
          <p:spPr>
            <a:xfrm>
              <a:off x="518160" y="4851400"/>
              <a:ext cx="1048207" cy="586740"/>
            </a:xfrm>
            <a:prstGeom prst="rect">
              <a:avLst/>
            </a:prstGeom>
            <a:noFill/>
            <a:ln>
              <a:noFill/>
            </a:ln>
          </p:spPr>
          <p:txBody>
            <a:bodyPr wrap="none" lIns="0" tIns="0" rIns="0" bIns="0" anchor="t" anchorCtr="0">
              <a:spAutoFit/>
            </a:bodyPr>
            <a:lstStyle/>
            <a:p>
              <a:pPr algn="l"/>
              <a:r>
                <a:rPr lang="en-US" sz="3000" b="1" dirty="0">
                  <a:solidFill>
                    <a:srgbClr val="111827"/>
                  </a:solidFill>
                  <a:latin typeface="+mn-lt"/>
                  <a:ea typeface="+mn-ea"/>
                  <a:cs typeface="+mn-cs"/>
                </a:rPr>
                <a:t>6×4m</a:t>
              </a:r>
            </a:p>
          </p:txBody>
        </p:sp>
        <p:sp>
          <p:nvSpPr>
            <p:cNvPr id="32" name="TextBox 32"/>
            <p:cNvSpPr txBox="1"/>
            <p:nvPr/>
          </p:nvSpPr>
          <p:spPr>
            <a:xfrm>
              <a:off x="527685" y="5346700"/>
              <a:ext cx="659760"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함몰 규모</a:t>
              </a:r>
            </a:p>
          </p:txBody>
        </p:sp>
        <p:sp>
          <p:nvSpPr>
            <p:cNvPr id="33" name="TextBox 33"/>
            <p:cNvSpPr txBox="1"/>
            <p:nvPr/>
          </p:nvSpPr>
          <p:spPr>
            <a:xfrm>
              <a:off x="2366010" y="4851400"/>
              <a:ext cx="1048207" cy="586740"/>
            </a:xfrm>
            <a:prstGeom prst="rect">
              <a:avLst/>
            </a:prstGeom>
            <a:noFill/>
            <a:ln>
              <a:noFill/>
            </a:ln>
          </p:spPr>
          <p:txBody>
            <a:bodyPr wrap="none" lIns="0" tIns="0" rIns="0" bIns="0" anchor="t" anchorCtr="0">
              <a:spAutoFit/>
            </a:bodyPr>
            <a:lstStyle/>
            <a:p>
              <a:pPr algn="l"/>
              <a:r>
                <a:rPr lang="en-US" sz="3000" b="1" dirty="0">
                  <a:solidFill>
                    <a:srgbClr val="111827"/>
                  </a:solidFill>
                  <a:latin typeface="+mn-lt"/>
                  <a:ea typeface="+mn-ea"/>
                  <a:cs typeface="+mn-cs"/>
                </a:rPr>
                <a:t>2.5m</a:t>
              </a:r>
            </a:p>
          </p:txBody>
        </p:sp>
        <p:sp>
          <p:nvSpPr>
            <p:cNvPr id="34" name="TextBox 34"/>
            <p:cNvSpPr txBox="1"/>
            <p:nvPr/>
          </p:nvSpPr>
          <p:spPr>
            <a:xfrm>
              <a:off x="2375535" y="5346700"/>
              <a:ext cx="659760"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함몰 깊이</a:t>
              </a:r>
            </a:p>
          </p:txBody>
        </p:sp>
        <p:sp>
          <p:nvSpPr>
            <p:cNvPr id="35" name="TextBox 35"/>
            <p:cNvSpPr txBox="1"/>
            <p:nvPr/>
          </p:nvSpPr>
          <p:spPr>
            <a:xfrm>
              <a:off x="4175760" y="4851400"/>
              <a:ext cx="1198645" cy="586740"/>
            </a:xfrm>
            <a:prstGeom prst="rect">
              <a:avLst/>
            </a:prstGeom>
            <a:noFill/>
            <a:ln>
              <a:noFill/>
            </a:ln>
          </p:spPr>
          <p:txBody>
            <a:bodyPr wrap="none" lIns="0" tIns="0" rIns="0" bIns="0" anchor="t" anchorCtr="0">
              <a:spAutoFit/>
            </a:bodyPr>
            <a:lstStyle/>
            <a:p>
              <a:pPr algn="l"/>
              <a:r>
                <a:rPr lang="ko-KR" sz="3000" b="1" dirty="0">
                  <a:solidFill>
                    <a:srgbClr val="C62828"/>
                  </a:solidFill>
                  <a:latin typeface="+mn-lt"/>
                  <a:ea typeface="+mn-ea"/>
                  <a:cs typeface="+mn-cs"/>
                </a:rPr>
                <a:t>사망 1</a:t>
              </a:r>
            </a:p>
          </p:txBody>
        </p:sp>
        <p:sp>
          <p:nvSpPr>
            <p:cNvPr id="36" name="TextBox 36"/>
            <p:cNvSpPr txBox="1"/>
            <p:nvPr/>
          </p:nvSpPr>
          <p:spPr>
            <a:xfrm>
              <a:off x="4185285" y="5346700"/>
              <a:ext cx="1285474"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차량 추락 · 동승자</a:t>
              </a:r>
            </a:p>
          </p:txBody>
        </p:sp>
      </p:grpSp>
      <p:grpSp>
        <p:nvGrpSpPr>
          <p:cNvPr id="39" name="source"/>
          <p:cNvGrpSpPr/>
          <p:nvPr/>
        </p:nvGrpSpPr>
        <p:grpSpPr>
          <a:xfrm>
            <a:off x="528638" y="6096000"/>
            <a:ext cx="3444354" cy="176212"/>
            <a:chOff x="528638" y="6096000"/>
            <a:chExt cx="3444354" cy="176212"/>
          </a:xfrm>
        </p:grpSpPr>
        <p:sp>
          <p:nvSpPr>
            <p:cNvPr id="38" name="TextBox 38"/>
            <p:cNvSpPr txBox="1"/>
            <p:nvPr/>
          </p:nvSpPr>
          <p:spPr>
            <a:xfrm>
              <a:off x="528638" y="6096000"/>
              <a:ext cx="3444354"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출처: 뉴시스·아시아경제(2024.8.30), 세계일보(2025.9.25)</a:t>
              </a:r>
            </a:p>
          </p:txBody>
        </p:sp>
      </p:grpSp>
      <p:grpSp>
        <p:nvGrpSpPr>
          <p:cNvPr id="42" name="footer"/>
          <p:cNvGrpSpPr/>
          <p:nvPr/>
        </p:nvGrpSpPr>
        <p:grpSpPr>
          <a:xfrm>
            <a:off x="528638" y="6610350"/>
            <a:ext cx="5534024" cy="176212"/>
            <a:chOff x="528638" y="6610350"/>
            <a:chExt cx="5534024" cy="176212"/>
          </a:xfrm>
        </p:grpSpPr>
        <p:sp>
          <p:nvSpPr>
            <p:cNvPr id="40" name="TextBox 40"/>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41" name="TextBox 41"/>
            <p:cNvSpPr txBox="1"/>
            <p:nvPr/>
          </p:nvSpPr>
          <p:spPr>
            <a:xfrm>
              <a:off x="56472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03 / 15</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75982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지금의 탐사</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문제</a:t>
              </a:r>
            </a:p>
          </p:txBody>
        </p:sp>
        <p:sp>
          <p:nvSpPr>
            <p:cNvPr id="6" name="Rectangle 6"/>
            <p:cNvSpPr/>
            <p:nvPr/>
          </p:nvSpPr>
          <p:spPr>
            <a:xfrm>
              <a:off x="8343900" y="514350"/>
              <a:ext cx="457200" cy="28575"/>
            </a:xfrm>
            <a:prstGeom prst="rect">
              <a:avLst/>
            </a:prstGeom>
            <a:solidFill>
              <a:srgbClr val="F5B700"/>
            </a:solidFill>
            <a:ln>
              <a:noFill/>
            </a:ln>
          </p:spPr>
        </p:sp>
        <p:sp>
          <p:nvSpPr>
            <p:cNvPr id="7" name="TextBox 7"/>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8" name="TextBox 8"/>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10219792" cy="586740"/>
            <a:chOff x="518160" y="774700"/>
            <a:chExt cx="10219792" cy="586740"/>
          </a:xfrm>
        </p:grpSpPr>
        <p:sp>
          <p:nvSpPr>
            <p:cNvPr id="17" name="TextBox 17"/>
            <p:cNvSpPr txBox="1"/>
            <p:nvPr/>
          </p:nvSpPr>
          <p:spPr>
            <a:xfrm>
              <a:off x="518160" y="774700"/>
              <a:ext cx="10219792"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서울은 이미 3만 km를 탐사해 공동 7,760개를 찾았습니다</a:t>
              </a:r>
            </a:p>
          </p:txBody>
        </p:sp>
      </p:grpSp>
      <p:grpSp>
        <p:nvGrpSpPr>
          <p:cNvPr id="21" name="photo"/>
          <p:cNvGrpSpPr/>
          <p:nvPr/>
        </p:nvGrpSpPr>
        <p:grpSpPr>
          <a:xfrm>
            <a:off x="528638" y="1428750"/>
            <a:ext cx="4957762" cy="2843212"/>
            <a:chOff x="528638" y="1428750"/>
            <a:chExt cx="4957762" cy="2843212"/>
          </a:xfrm>
        </p:grpSpPr>
        <p:pic>
          <p:nvPicPr>
            <p:cNvPr id="19" name="Image 19"/>
            <p:cNvPicPr>
              <a:picLocks noChangeAspect="1"/>
            </p:cNvPicPr>
            <p:nvPr/>
          </p:nvPicPr>
          <p:blipFill>
            <a:blip r:embed="rId2"/>
            <a:srcRect l="0" t="15128" r="0" b="15128"/>
            <a:stretch>
              <a:fillRect/>
            </a:stretch>
          </p:blipFill>
          <p:spPr>
            <a:xfrm>
              <a:off x="533400" y="1428750"/>
              <a:ext cx="4953000" cy="2590800"/>
            </a:xfrm>
            <a:prstGeom prst="rect">
              <a:avLst/>
            </a:prstGeom>
          </p:spPr>
        </p:pic>
        <p:sp>
          <p:nvSpPr>
            <p:cNvPr id="20" name="TextBox 20"/>
            <p:cNvSpPr txBox="1"/>
            <p:nvPr/>
          </p:nvSpPr>
          <p:spPr>
            <a:xfrm>
              <a:off x="528638" y="4095750"/>
              <a:ext cx="412233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수동형 GPR 탐사 장비 · 사진: The Charles Machine Works, CC BY-SA 2.0</a:t>
              </a:r>
            </a:p>
          </p:txBody>
        </p:sp>
      </p:grpSp>
      <p:grpSp>
        <p:nvGrpSpPr>
          <p:cNvPr id="34" name="stats"/>
          <p:cNvGrpSpPr/>
          <p:nvPr/>
        </p:nvGrpSpPr>
        <p:grpSpPr>
          <a:xfrm>
            <a:off x="522732" y="4438650"/>
            <a:ext cx="4963668" cy="897509"/>
            <a:chOff x="522732" y="4438650"/>
            <a:chExt cx="4963668" cy="897509"/>
          </a:xfrm>
        </p:grpSpPr>
        <p:sp>
          <p:nvSpPr>
            <p:cNvPr id="22" name="Rectangle 22"/>
            <p:cNvSpPr/>
            <p:nvPr/>
          </p:nvSpPr>
          <p:spPr>
            <a:xfrm>
              <a:off x="533400" y="4438650"/>
              <a:ext cx="1524000" cy="28575"/>
            </a:xfrm>
            <a:prstGeom prst="rect">
              <a:avLst/>
            </a:prstGeom>
            <a:solidFill>
              <a:srgbClr val="0B1E3C"/>
            </a:solidFill>
            <a:ln>
              <a:noFill/>
            </a:ln>
          </p:spPr>
        </p:sp>
        <p:sp>
          <p:nvSpPr>
            <p:cNvPr id="23" name="TextBox 23"/>
            <p:cNvSpPr txBox="1"/>
            <p:nvPr/>
          </p:nvSpPr>
          <p:spPr>
            <a:xfrm>
              <a:off x="522732" y="4546600"/>
              <a:ext cx="1386787" cy="410718"/>
            </a:xfrm>
            <a:prstGeom prst="rect">
              <a:avLst/>
            </a:prstGeom>
            <a:noFill/>
            <a:ln>
              <a:noFill/>
            </a:ln>
          </p:spPr>
          <p:txBody>
            <a:bodyPr wrap="none" lIns="0" tIns="0" rIns="0" bIns="0" anchor="t" anchorCtr="0">
              <a:spAutoFit/>
            </a:bodyPr>
            <a:lstStyle/>
            <a:p>
              <a:pPr algn="l"/>
              <a:r>
                <a:rPr lang="en-US" sz="2100" b="1" dirty="0">
                  <a:solidFill>
                    <a:srgbClr val="0B1E3C"/>
                  </a:solidFill>
                  <a:latin typeface="+mn-lt"/>
                  <a:ea typeface="+mn-ea"/>
                  <a:cs typeface="+mn-cs"/>
                </a:rPr>
                <a:t>33,129km</a:t>
              </a:r>
            </a:p>
          </p:txBody>
        </p:sp>
        <p:sp>
          <p:nvSpPr>
            <p:cNvPr id="24" name="TextBox 24"/>
            <p:cNvSpPr txBox="1"/>
            <p:nvPr/>
          </p:nvSpPr>
          <p:spPr>
            <a:xfrm>
              <a:off x="527685" y="4908550"/>
              <a:ext cx="1339937"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누적 차량 GPR 탐사</a:t>
              </a:r>
            </a:p>
          </p:txBody>
        </p:sp>
        <p:sp>
          <p:nvSpPr>
            <p:cNvPr id="25" name="TextBox 25"/>
            <p:cNvSpPr txBox="1"/>
            <p:nvPr/>
          </p:nvSpPr>
          <p:spPr>
            <a:xfrm>
              <a:off x="528066" y="5130800"/>
              <a:ext cx="865842"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2014~2025.9</a:t>
              </a:r>
            </a:p>
          </p:txBody>
        </p:sp>
        <p:sp>
          <p:nvSpPr>
            <p:cNvPr id="26" name="Rectangle 26"/>
            <p:cNvSpPr/>
            <p:nvPr/>
          </p:nvSpPr>
          <p:spPr>
            <a:xfrm>
              <a:off x="2247900" y="4438650"/>
              <a:ext cx="1524000" cy="28575"/>
            </a:xfrm>
            <a:prstGeom prst="rect">
              <a:avLst/>
            </a:prstGeom>
            <a:solidFill>
              <a:srgbClr val="0B1E3C"/>
            </a:solidFill>
            <a:ln>
              <a:noFill/>
            </a:ln>
          </p:spPr>
        </p:sp>
        <p:sp>
          <p:nvSpPr>
            <p:cNvPr id="27" name="TextBox 27"/>
            <p:cNvSpPr txBox="1"/>
            <p:nvPr/>
          </p:nvSpPr>
          <p:spPr>
            <a:xfrm>
              <a:off x="2237232" y="4546600"/>
              <a:ext cx="1120340" cy="410718"/>
            </a:xfrm>
            <a:prstGeom prst="rect">
              <a:avLst/>
            </a:prstGeom>
            <a:noFill/>
            <a:ln>
              <a:noFill/>
            </a:ln>
          </p:spPr>
          <p:txBody>
            <a:bodyPr wrap="none" lIns="0" tIns="0" rIns="0" bIns="0" anchor="t" anchorCtr="0">
              <a:spAutoFit/>
            </a:bodyPr>
            <a:lstStyle/>
            <a:p>
              <a:pPr algn="l"/>
              <a:r>
                <a:rPr lang="ko-KR" sz="2100" b="1" dirty="0">
                  <a:solidFill>
                    <a:srgbClr val="0B1E3C"/>
                  </a:solidFill>
                  <a:latin typeface="+mn-lt"/>
                  <a:ea typeface="+mn-ea"/>
                  <a:cs typeface="+mn-cs"/>
                </a:rPr>
                <a:t>7,760개</a:t>
              </a:r>
            </a:p>
          </p:txBody>
        </p:sp>
        <p:sp>
          <p:nvSpPr>
            <p:cNvPr id="28" name="TextBox 28"/>
            <p:cNvSpPr txBox="1"/>
            <p:nvPr/>
          </p:nvSpPr>
          <p:spPr>
            <a:xfrm>
              <a:off x="2242185" y="4908550"/>
              <a:ext cx="1360107"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같은 기간 찾은 공동</a:t>
              </a:r>
            </a:p>
          </p:txBody>
        </p:sp>
        <p:sp>
          <p:nvSpPr>
            <p:cNvPr id="29" name="TextBox 29"/>
            <p:cNvSpPr txBox="1"/>
            <p:nvPr/>
          </p:nvSpPr>
          <p:spPr>
            <a:xfrm>
              <a:off x="2242566" y="5130800"/>
              <a:ext cx="1155611"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약 4.3km마다 1개</a:t>
              </a:r>
            </a:p>
          </p:txBody>
        </p:sp>
        <p:sp>
          <p:nvSpPr>
            <p:cNvPr id="30" name="Rectangle 30"/>
            <p:cNvSpPr/>
            <p:nvPr/>
          </p:nvSpPr>
          <p:spPr>
            <a:xfrm>
              <a:off x="3962400" y="4438650"/>
              <a:ext cx="1524000" cy="28575"/>
            </a:xfrm>
            <a:prstGeom prst="rect">
              <a:avLst/>
            </a:prstGeom>
            <a:solidFill>
              <a:srgbClr val="0B1E3C"/>
            </a:solidFill>
            <a:ln>
              <a:noFill/>
            </a:ln>
          </p:spPr>
        </p:sp>
        <p:sp>
          <p:nvSpPr>
            <p:cNvPr id="31" name="TextBox 31"/>
            <p:cNvSpPr txBox="1"/>
            <p:nvPr/>
          </p:nvSpPr>
          <p:spPr>
            <a:xfrm>
              <a:off x="3951732" y="4546600"/>
              <a:ext cx="1386787" cy="410718"/>
            </a:xfrm>
            <a:prstGeom prst="rect">
              <a:avLst/>
            </a:prstGeom>
            <a:noFill/>
            <a:ln>
              <a:noFill/>
            </a:ln>
          </p:spPr>
          <p:txBody>
            <a:bodyPr wrap="none" lIns="0" tIns="0" rIns="0" bIns="0" anchor="t" anchorCtr="0">
              <a:spAutoFit/>
            </a:bodyPr>
            <a:lstStyle/>
            <a:p>
              <a:pPr algn="l"/>
              <a:r>
                <a:rPr lang="en-US" sz="2100" b="1" dirty="0">
                  <a:solidFill>
                    <a:srgbClr val="0B1E3C"/>
                  </a:solidFill>
                  <a:latin typeface="+mn-lt"/>
                  <a:ea typeface="+mn-ea"/>
                  <a:cs typeface="+mn-cs"/>
                </a:rPr>
                <a:t>16,423km</a:t>
              </a:r>
            </a:p>
          </p:txBody>
        </p:sp>
        <p:sp>
          <p:nvSpPr>
            <p:cNvPr id="32" name="TextBox 32"/>
            <p:cNvSpPr txBox="1"/>
            <p:nvPr/>
          </p:nvSpPr>
          <p:spPr>
            <a:xfrm>
              <a:off x="3956685" y="4908550"/>
              <a:ext cx="1208579"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2026년 탐사 계획</a:t>
              </a:r>
            </a:p>
          </p:txBody>
        </p:sp>
        <p:sp>
          <p:nvSpPr>
            <p:cNvPr id="33" name="TextBox 33"/>
            <p:cNvSpPr txBox="1"/>
            <p:nvPr/>
          </p:nvSpPr>
          <p:spPr>
            <a:xfrm>
              <a:off x="3957066" y="5130800"/>
              <a:ext cx="1014260"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인력 9명 → 19명</a:t>
              </a:r>
            </a:p>
          </p:txBody>
        </p:sp>
      </p:grpSp>
      <p:grpSp>
        <p:nvGrpSpPr>
          <p:cNvPr id="57" name="flow"/>
          <p:cNvGrpSpPr/>
          <p:nvPr/>
        </p:nvGrpSpPr>
        <p:grpSpPr>
          <a:xfrm>
            <a:off x="5937123" y="1428750"/>
            <a:ext cx="5721477" cy="3888867"/>
            <a:chOff x="5937123" y="1428750"/>
            <a:chExt cx="5721477" cy="3888867"/>
          </a:xfrm>
        </p:grpSpPr>
        <p:sp>
          <p:nvSpPr>
            <p:cNvPr id="35" name="Rectangle 35"/>
            <p:cNvSpPr/>
            <p:nvPr/>
          </p:nvSpPr>
          <p:spPr>
            <a:xfrm>
              <a:off x="5943600" y="1428750"/>
              <a:ext cx="5715000" cy="28575"/>
            </a:xfrm>
            <a:prstGeom prst="rect">
              <a:avLst/>
            </a:prstGeom>
            <a:solidFill>
              <a:srgbClr val="0B1E3C"/>
            </a:solidFill>
            <a:ln>
              <a:noFill/>
            </a:ln>
          </p:spPr>
        </p:sp>
        <p:sp>
          <p:nvSpPr>
            <p:cNvPr id="36" name="TextBox 36"/>
            <p:cNvSpPr txBox="1"/>
            <p:nvPr/>
          </p:nvSpPr>
          <p:spPr>
            <a:xfrm>
              <a:off x="5937885" y="1612900"/>
              <a:ext cx="1796222"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지금의 업무 흐름 · 서울시</a:t>
              </a:r>
            </a:p>
          </p:txBody>
        </p:sp>
        <p:sp>
          <p:nvSpPr>
            <p:cNvPr id="37" name="Ellipse 37"/>
            <p:cNvSpPr/>
            <p:nvPr/>
          </p:nvSpPr>
          <p:spPr>
            <a:xfrm>
              <a:off x="5943600" y="1971675"/>
              <a:ext cx="247650" cy="247650"/>
            </a:xfrm>
            <a:prstGeom prst="ellipse">
              <a:avLst/>
            </a:prstGeom>
            <a:solidFill>
              <a:srgbClr val="0B1E3C"/>
            </a:solidFill>
            <a:ln>
              <a:noFill/>
            </a:ln>
          </p:spPr>
        </p:sp>
        <p:sp>
          <p:nvSpPr>
            <p:cNvPr id="38" name="TextBox 38"/>
            <p:cNvSpPr txBox="1"/>
            <p:nvPr/>
          </p:nvSpPr>
          <p:spPr>
            <a:xfrm>
              <a:off x="6021276" y="2016125"/>
              <a:ext cx="92298" cy="205359"/>
            </a:xfrm>
            <a:prstGeom prst="rect">
              <a:avLst/>
            </a:prstGeom>
            <a:noFill/>
            <a:ln>
              <a:noFill/>
            </a:ln>
          </p:spPr>
          <p:txBody>
            <a:bodyPr wrap="none" lIns="0" tIns="0" rIns="0" bIns="0" anchor="t" anchorCtr="0">
              <a:spAutoFit/>
            </a:bodyPr>
            <a:lstStyle/>
            <a:p>
              <a:pPr algn="ctr"/>
              <a:r>
                <a:rPr lang="ko-KR" sz="1050" b="1" dirty="0">
                  <a:solidFill>
                    <a:srgbClr val="FFFFFF"/>
                  </a:solidFill>
                  <a:latin typeface="+mn-lt"/>
                  <a:ea typeface="+mn-ea"/>
                  <a:cs typeface="+mn-cs"/>
                </a:rPr>
                <a:t>1</a:t>
              </a:r>
            </a:p>
          </p:txBody>
        </p:sp>
        <p:sp>
          <p:nvSpPr>
            <p:cNvPr id="39" name="TextBox 39"/>
            <p:cNvSpPr txBox="1"/>
            <p:nvPr/>
          </p:nvSpPr>
          <p:spPr>
            <a:xfrm>
              <a:off x="6317742" y="1987550"/>
              <a:ext cx="3702977"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민원·노후 관로·공사구간으로 조사 대상 선정</a:t>
              </a:r>
            </a:p>
          </p:txBody>
        </p:sp>
        <p:sp>
          <p:nvSpPr>
            <p:cNvPr id="40" name="Ellipse 40"/>
            <p:cNvSpPr/>
            <p:nvPr/>
          </p:nvSpPr>
          <p:spPr>
            <a:xfrm>
              <a:off x="5943600" y="2447925"/>
              <a:ext cx="247650" cy="247650"/>
            </a:xfrm>
            <a:prstGeom prst="ellipse">
              <a:avLst/>
            </a:prstGeom>
            <a:solidFill>
              <a:srgbClr val="0B1E3C"/>
            </a:solidFill>
            <a:ln>
              <a:noFill/>
            </a:ln>
          </p:spPr>
        </p:sp>
        <p:sp>
          <p:nvSpPr>
            <p:cNvPr id="41" name="TextBox 41"/>
            <p:cNvSpPr txBox="1"/>
            <p:nvPr/>
          </p:nvSpPr>
          <p:spPr>
            <a:xfrm>
              <a:off x="6021276" y="2492375"/>
              <a:ext cx="92298" cy="205359"/>
            </a:xfrm>
            <a:prstGeom prst="rect">
              <a:avLst/>
            </a:prstGeom>
            <a:noFill/>
            <a:ln>
              <a:noFill/>
            </a:ln>
          </p:spPr>
          <p:txBody>
            <a:bodyPr wrap="none" lIns="0" tIns="0" rIns="0" bIns="0" anchor="t" anchorCtr="0">
              <a:spAutoFit/>
            </a:bodyPr>
            <a:lstStyle/>
            <a:p>
              <a:pPr algn="ctr"/>
              <a:r>
                <a:rPr lang="ko-KR" sz="1050" b="1" dirty="0">
                  <a:solidFill>
                    <a:srgbClr val="FFFFFF"/>
                  </a:solidFill>
                  <a:latin typeface="+mn-lt"/>
                  <a:ea typeface="+mn-ea"/>
                  <a:cs typeface="+mn-cs"/>
                </a:rPr>
                <a:t>2</a:t>
              </a:r>
            </a:p>
          </p:txBody>
        </p:sp>
        <p:sp>
          <p:nvSpPr>
            <p:cNvPr id="42" name="TextBox 42"/>
            <p:cNvSpPr txBox="1"/>
            <p:nvPr/>
          </p:nvSpPr>
          <p:spPr>
            <a:xfrm>
              <a:off x="6317742" y="2463800"/>
              <a:ext cx="3750297"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차량형 GPR이 도로를 한 번 스캔 (폭 3m 이내)</a:t>
              </a:r>
            </a:p>
          </p:txBody>
        </p:sp>
        <p:sp>
          <p:nvSpPr>
            <p:cNvPr id="43" name="Ellipse 43"/>
            <p:cNvSpPr/>
            <p:nvPr/>
          </p:nvSpPr>
          <p:spPr>
            <a:xfrm>
              <a:off x="5943600" y="2924175"/>
              <a:ext cx="247650" cy="247650"/>
            </a:xfrm>
            <a:prstGeom prst="ellipse">
              <a:avLst/>
            </a:prstGeom>
            <a:solidFill>
              <a:srgbClr val="0B1E3C"/>
            </a:solidFill>
            <a:ln>
              <a:noFill/>
            </a:ln>
          </p:spPr>
        </p:sp>
        <p:sp>
          <p:nvSpPr>
            <p:cNvPr id="44" name="TextBox 44"/>
            <p:cNvSpPr txBox="1"/>
            <p:nvPr/>
          </p:nvSpPr>
          <p:spPr>
            <a:xfrm>
              <a:off x="6021276" y="2968625"/>
              <a:ext cx="92298" cy="205359"/>
            </a:xfrm>
            <a:prstGeom prst="rect">
              <a:avLst/>
            </a:prstGeom>
            <a:noFill/>
            <a:ln>
              <a:noFill/>
            </a:ln>
          </p:spPr>
          <p:txBody>
            <a:bodyPr wrap="none" lIns="0" tIns="0" rIns="0" bIns="0" anchor="t" anchorCtr="0">
              <a:spAutoFit/>
            </a:bodyPr>
            <a:lstStyle/>
            <a:p>
              <a:pPr algn="ctr"/>
              <a:r>
                <a:rPr lang="ko-KR" sz="1050" b="1" dirty="0">
                  <a:solidFill>
                    <a:srgbClr val="FFFFFF"/>
                  </a:solidFill>
                  <a:latin typeface="+mn-lt"/>
                  <a:ea typeface="+mn-ea"/>
                  <a:cs typeface="+mn-cs"/>
                </a:rPr>
                <a:t>3</a:t>
              </a:r>
            </a:p>
          </p:txBody>
        </p:sp>
        <p:sp>
          <p:nvSpPr>
            <p:cNvPr id="45" name="TextBox 45"/>
            <p:cNvSpPr txBox="1"/>
            <p:nvPr/>
          </p:nvSpPr>
          <p:spPr>
            <a:xfrm>
              <a:off x="6317742" y="2940050"/>
              <a:ext cx="3012376"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분석자가 판독해 공동 의심 지점 선별</a:t>
              </a:r>
            </a:p>
          </p:txBody>
        </p:sp>
        <p:sp>
          <p:nvSpPr>
            <p:cNvPr id="46" name="Ellipse 46"/>
            <p:cNvSpPr/>
            <p:nvPr/>
          </p:nvSpPr>
          <p:spPr>
            <a:xfrm>
              <a:off x="5943600" y="3400425"/>
              <a:ext cx="247650" cy="247650"/>
            </a:xfrm>
            <a:prstGeom prst="ellipse">
              <a:avLst/>
            </a:prstGeom>
            <a:solidFill>
              <a:srgbClr val="0B1E3C"/>
            </a:solidFill>
            <a:ln>
              <a:noFill/>
            </a:ln>
          </p:spPr>
        </p:sp>
        <p:sp>
          <p:nvSpPr>
            <p:cNvPr id="47" name="TextBox 47"/>
            <p:cNvSpPr txBox="1"/>
            <p:nvPr/>
          </p:nvSpPr>
          <p:spPr>
            <a:xfrm>
              <a:off x="6021276" y="3444875"/>
              <a:ext cx="92298" cy="205359"/>
            </a:xfrm>
            <a:prstGeom prst="rect">
              <a:avLst/>
            </a:prstGeom>
            <a:noFill/>
            <a:ln>
              <a:noFill/>
            </a:ln>
          </p:spPr>
          <p:txBody>
            <a:bodyPr wrap="none" lIns="0" tIns="0" rIns="0" bIns="0" anchor="t" anchorCtr="0">
              <a:spAutoFit/>
            </a:bodyPr>
            <a:lstStyle/>
            <a:p>
              <a:pPr algn="ctr"/>
              <a:r>
                <a:rPr lang="ko-KR" sz="1050" b="1" dirty="0">
                  <a:solidFill>
                    <a:srgbClr val="FFFFFF"/>
                  </a:solidFill>
                  <a:latin typeface="+mn-lt"/>
                  <a:ea typeface="+mn-ea"/>
                  <a:cs typeface="+mn-cs"/>
                </a:rPr>
                <a:t>4</a:t>
              </a:r>
            </a:p>
          </p:txBody>
        </p:sp>
        <p:sp>
          <p:nvSpPr>
            <p:cNvPr id="48" name="TextBox 48"/>
            <p:cNvSpPr txBox="1"/>
            <p:nvPr/>
          </p:nvSpPr>
          <p:spPr>
            <a:xfrm>
              <a:off x="6317742" y="3416300"/>
              <a:ext cx="2550833"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작업자가 수동 GPR로 다시 조사</a:t>
              </a:r>
            </a:p>
          </p:txBody>
        </p:sp>
        <p:sp>
          <p:nvSpPr>
            <p:cNvPr id="49" name="Ellipse 49"/>
            <p:cNvSpPr/>
            <p:nvPr/>
          </p:nvSpPr>
          <p:spPr>
            <a:xfrm>
              <a:off x="5943600" y="3876675"/>
              <a:ext cx="247650" cy="247650"/>
            </a:xfrm>
            <a:prstGeom prst="ellipse">
              <a:avLst/>
            </a:prstGeom>
            <a:solidFill>
              <a:srgbClr val="0B1E3C"/>
            </a:solidFill>
            <a:ln>
              <a:noFill/>
            </a:ln>
          </p:spPr>
        </p:sp>
        <p:sp>
          <p:nvSpPr>
            <p:cNvPr id="50" name="TextBox 50"/>
            <p:cNvSpPr txBox="1"/>
            <p:nvPr/>
          </p:nvSpPr>
          <p:spPr>
            <a:xfrm>
              <a:off x="6021276" y="3921125"/>
              <a:ext cx="92298" cy="205359"/>
            </a:xfrm>
            <a:prstGeom prst="rect">
              <a:avLst/>
            </a:prstGeom>
            <a:noFill/>
            <a:ln>
              <a:noFill/>
            </a:ln>
          </p:spPr>
          <p:txBody>
            <a:bodyPr wrap="none" lIns="0" tIns="0" rIns="0" bIns="0" anchor="t" anchorCtr="0">
              <a:spAutoFit/>
            </a:bodyPr>
            <a:lstStyle/>
            <a:p>
              <a:pPr algn="ctr"/>
              <a:r>
                <a:rPr lang="ko-KR" sz="1050" b="1" dirty="0">
                  <a:solidFill>
                    <a:srgbClr val="FFFFFF"/>
                  </a:solidFill>
                  <a:latin typeface="+mn-lt"/>
                  <a:ea typeface="+mn-ea"/>
                  <a:cs typeface="+mn-cs"/>
                </a:rPr>
                <a:t>5</a:t>
              </a:r>
            </a:p>
          </p:txBody>
        </p:sp>
        <p:sp>
          <p:nvSpPr>
            <p:cNvPr id="51" name="TextBox 51"/>
            <p:cNvSpPr txBox="1"/>
            <p:nvPr/>
          </p:nvSpPr>
          <p:spPr>
            <a:xfrm>
              <a:off x="6317742" y="3892550"/>
              <a:ext cx="2821553"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교통통제 후 천공·내시경으로 확인</a:t>
              </a:r>
            </a:p>
          </p:txBody>
        </p:sp>
        <p:sp>
          <p:nvSpPr>
            <p:cNvPr id="52" name="Ellipse 52"/>
            <p:cNvSpPr/>
            <p:nvPr/>
          </p:nvSpPr>
          <p:spPr>
            <a:xfrm>
              <a:off x="5943600" y="4352925"/>
              <a:ext cx="247650" cy="247650"/>
            </a:xfrm>
            <a:prstGeom prst="ellipse">
              <a:avLst/>
            </a:prstGeom>
            <a:solidFill>
              <a:srgbClr val="0B1E3C"/>
            </a:solidFill>
            <a:ln>
              <a:noFill/>
            </a:ln>
          </p:spPr>
        </p:sp>
        <p:sp>
          <p:nvSpPr>
            <p:cNvPr id="53" name="TextBox 53"/>
            <p:cNvSpPr txBox="1"/>
            <p:nvPr/>
          </p:nvSpPr>
          <p:spPr>
            <a:xfrm>
              <a:off x="6021276" y="4397375"/>
              <a:ext cx="92298" cy="205359"/>
            </a:xfrm>
            <a:prstGeom prst="rect">
              <a:avLst/>
            </a:prstGeom>
            <a:noFill/>
            <a:ln>
              <a:noFill/>
            </a:ln>
          </p:spPr>
          <p:txBody>
            <a:bodyPr wrap="none" lIns="0" tIns="0" rIns="0" bIns="0" anchor="t" anchorCtr="0">
              <a:spAutoFit/>
            </a:bodyPr>
            <a:lstStyle/>
            <a:p>
              <a:pPr algn="ctr"/>
              <a:r>
                <a:rPr lang="ko-KR" sz="1050" b="1" dirty="0">
                  <a:solidFill>
                    <a:srgbClr val="FFFFFF"/>
                  </a:solidFill>
                  <a:latin typeface="+mn-lt"/>
                  <a:ea typeface="+mn-ea"/>
                  <a:cs typeface="+mn-cs"/>
                </a:rPr>
                <a:t>6</a:t>
              </a:r>
            </a:p>
          </p:txBody>
        </p:sp>
        <p:sp>
          <p:nvSpPr>
            <p:cNvPr id="54" name="TextBox 54"/>
            <p:cNvSpPr txBox="1"/>
            <p:nvPr/>
          </p:nvSpPr>
          <p:spPr>
            <a:xfrm>
              <a:off x="6317742" y="4368800"/>
              <a:ext cx="1758391"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공동이 확인되면 복구</a:t>
              </a:r>
            </a:p>
          </p:txBody>
        </p:sp>
        <p:sp>
          <p:nvSpPr>
            <p:cNvPr id="55" name="Line 55"/>
            <p:cNvSpPr/>
            <p:nvPr/>
          </p:nvSpPr>
          <p:spPr>
            <a:xfrm>
              <a:off x="5943600" y="4876800"/>
              <a:ext cx="5715000" cy="9525"/>
            </a:xfrm>
            <a:custGeom>
              <a:avLst/>
              <a:gdLst/>
              <a:ahLst/>
              <a:cxnLst/>
              <a:rect l="l" t="t" r="r" b="b"/>
              <a:pathLst>
                <a:path w="5715000" h="9525">
                  <a:moveTo>
                    <a:pt x="0" y="0"/>
                  </a:moveTo>
                  <a:lnTo>
                    <a:pt x="5715000" y="0"/>
                  </a:lnTo>
                </a:path>
              </a:pathLst>
            </a:custGeom>
            <a:noFill/>
            <a:ln w="9525">
              <a:solidFill>
                <a:srgbClr val="E2E6EC"/>
              </a:solidFill>
            </a:ln>
          </p:spPr>
        </p:sp>
        <p:sp>
          <p:nvSpPr>
            <p:cNvPr id="56" name="TextBox 56"/>
            <p:cNvSpPr txBox="1"/>
            <p:nvPr/>
          </p:nvSpPr>
          <p:spPr>
            <a:xfrm>
              <a:off x="5937123" y="5067300"/>
              <a:ext cx="5037619"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xml:space="preserve">한 번 스캔으로 끝나고, </a:t>
              </a:r>
              <a:r>
                <a:rPr lang="ko-KR" sz="1280" b="1" dirty="0">
                  <a:solidFill>
                    <a:srgbClr val="C62828"/>
                  </a:solidFill>
                  <a:latin typeface="+mn-lt"/>
                  <a:ea typeface="+mn-ea"/>
                  <a:cs typeface="+mn-cs"/>
                </a:rPr>
                <a:t>같은 길은 다음 정기점검 때</a:t>
              </a:r>
              <a:r>
                <a:rPr lang="ko-KR" sz="1280" dirty="0">
                  <a:solidFill>
                    <a:srgbClr val="111827"/>
                  </a:solidFill>
                  <a:latin typeface="+mn-lt"/>
                  <a:ea typeface="+mn-ea"/>
                  <a:cs typeface="+mn-cs"/>
                </a:rPr>
                <a:t xml:space="preserve"> 다시 봅니다.</a:t>
              </a:r>
            </a:p>
          </p:txBody>
        </p:sp>
      </p:grpSp>
      <p:grpSp>
        <p:nvGrpSpPr>
          <p:cNvPr id="60" name="conclusion"/>
          <p:cNvGrpSpPr/>
          <p:nvPr/>
        </p:nvGrpSpPr>
        <p:grpSpPr>
          <a:xfrm>
            <a:off x="533400" y="5676900"/>
            <a:ext cx="7246423" cy="419100"/>
            <a:chOff x="533400" y="5676900"/>
            <a:chExt cx="7246423" cy="419100"/>
          </a:xfrm>
        </p:grpSpPr>
        <p:sp>
          <p:nvSpPr>
            <p:cNvPr id="58" name="Rectangle 58"/>
            <p:cNvSpPr/>
            <p:nvPr/>
          </p:nvSpPr>
          <p:spPr>
            <a:xfrm>
              <a:off x="533400" y="5676900"/>
              <a:ext cx="38100" cy="419100"/>
            </a:xfrm>
            <a:prstGeom prst="rect">
              <a:avLst/>
            </a:prstGeom>
            <a:solidFill>
              <a:srgbClr val="F5B700"/>
            </a:solidFill>
            <a:ln>
              <a:noFill/>
            </a:ln>
          </p:spPr>
        </p:sp>
        <p:sp>
          <p:nvSpPr>
            <p:cNvPr id="59" name="TextBox 59"/>
            <p:cNvSpPr txBox="1"/>
            <p:nvPr/>
          </p:nvSpPr>
          <p:spPr>
            <a:xfrm>
              <a:off x="715899" y="5772150"/>
              <a:ext cx="7063924"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GPR은 이미 검증된 기술입니다. 바꿀 것은 한 번 보고 끝나는 방식입니다.</a:t>
              </a:r>
            </a:p>
          </p:txBody>
        </p:sp>
      </p:grpSp>
      <p:grpSp>
        <p:nvGrpSpPr>
          <p:cNvPr id="62" name="source"/>
          <p:cNvGrpSpPr/>
          <p:nvPr/>
        </p:nvGrpSpPr>
        <p:grpSpPr>
          <a:xfrm>
            <a:off x="528447" y="6381750"/>
            <a:ext cx="8463478" cy="191643"/>
            <a:chOff x="528447" y="6381750"/>
            <a:chExt cx="8463478" cy="191643"/>
          </a:xfrm>
        </p:grpSpPr>
        <p:sp>
          <p:nvSpPr>
            <p:cNvPr id="61" name="TextBox 61"/>
            <p:cNvSpPr txBox="1"/>
            <p:nvPr/>
          </p:nvSpPr>
          <p:spPr>
            <a:xfrm>
              <a:off x="528447" y="6381750"/>
              <a:ext cx="8463478"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출처: 메트로신문(2025.10.19, 누적 탐사·공동) · 머니투데이(2026.3.23, 2026 계획·인력) · 서울시 안전정보(차량탑재형 GPR 폭 3m 이내)</a:t>
              </a:r>
            </a:p>
          </p:txBody>
        </p:sp>
      </p:grpSp>
      <p:grpSp>
        <p:nvGrpSpPr>
          <p:cNvPr id="65" name="footer"/>
          <p:cNvGrpSpPr/>
          <p:nvPr/>
        </p:nvGrpSpPr>
        <p:grpSpPr>
          <a:xfrm>
            <a:off x="528638" y="6610350"/>
            <a:ext cx="11134724" cy="176212"/>
            <a:chOff x="528638" y="6610350"/>
            <a:chExt cx="11134724" cy="176212"/>
          </a:xfrm>
        </p:grpSpPr>
        <p:sp>
          <p:nvSpPr>
            <p:cNvPr id="63" name="TextBox 63"/>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4" name="TextBox 64"/>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04 / 15</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08493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지금 체계의 맹점</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문제</a:t>
              </a:r>
            </a:p>
          </p:txBody>
        </p:sp>
        <p:sp>
          <p:nvSpPr>
            <p:cNvPr id="6" name="Rectangle 6"/>
            <p:cNvSpPr/>
            <p:nvPr/>
          </p:nvSpPr>
          <p:spPr>
            <a:xfrm>
              <a:off x="8343900" y="514350"/>
              <a:ext cx="457200" cy="28575"/>
            </a:xfrm>
            <a:prstGeom prst="rect">
              <a:avLst/>
            </a:prstGeom>
            <a:solidFill>
              <a:srgbClr val="F5B700"/>
            </a:solidFill>
            <a:ln>
              <a:noFill/>
            </a:ln>
          </p:spPr>
        </p:sp>
        <p:sp>
          <p:nvSpPr>
            <p:cNvPr id="7" name="TextBox 7"/>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8" name="TextBox 8"/>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8783936" cy="586740"/>
            <a:chOff x="518160" y="774700"/>
            <a:chExt cx="8783936" cy="586740"/>
          </a:xfrm>
        </p:grpSpPr>
        <p:sp>
          <p:nvSpPr>
            <p:cNvPr id="17" name="TextBox 17"/>
            <p:cNvSpPr txBox="1"/>
            <p:nvPr/>
          </p:nvSpPr>
          <p:spPr>
            <a:xfrm>
              <a:off x="518160" y="774700"/>
              <a:ext cx="8783936"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맹점은 탐사가 아니라, 탐사와 탐사 ‘사이’입니다</a:t>
              </a:r>
            </a:p>
          </p:txBody>
        </p:sp>
      </p:grpSp>
      <p:grpSp>
        <p:nvGrpSpPr>
          <p:cNvPr id="30" name="gap-chart"/>
          <p:cNvGrpSpPr/>
          <p:nvPr/>
        </p:nvGrpSpPr>
        <p:grpSpPr>
          <a:xfrm>
            <a:off x="526542" y="1600200"/>
            <a:ext cx="6483858" cy="3264281"/>
            <a:chOff x="526542" y="1600200"/>
            <a:chExt cx="6483858" cy="3264281"/>
          </a:xfrm>
        </p:grpSpPr>
        <p:sp>
          <p:nvSpPr>
            <p:cNvPr id="19" name="Rectangle 19"/>
            <p:cNvSpPr/>
            <p:nvPr/>
          </p:nvSpPr>
          <p:spPr>
            <a:xfrm>
              <a:off x="533400" y="1600200"/>
              <a:ext cx="6477000" cy="28575"/>
            </a:xfrm>
            <a:prstGeom prst="rect">
              <a:avLst/>
            </a:prstGeom>
            <a:solidFill>
              <a:srgbClr val="0B1E3C"/>
            </a:solidFill>
            <a:ln>
              <a:noFill/>
            </a:ln>
          </p:spPr>
        </p:sp>
        <p:sp>
          <p:nvSpPr>
            <p:cNvPr id="20" name="TextBox 20"/>
            <p:cNvSpPr txBox="1"/>
            <p:nvPr/>
          </p:nvSpPr>
          <p:spPr>
            <a:xfrm>
              <a:off x="527685" y="1803400"/>
              <a:ext cx="2359741"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한 번 탐사한 도로를 다시 보기까지</a:t>
              </a:r>
            </a:p>
          </p:txBody>
        </p:sp>
        <p:sp>
          <p:nvSpPr>
            <p:cNvPr id="21" name="TextBox 21"/>
            <p:cNvSpPr txBox="1"/>
            <p:nvPr/>
          </p:nvSpPr>
          <p:spPr>
            <a:xfrm>
              <a:off x="526542" y="2273300"/>
              <a:ext cx="2942913"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 xml:space="preserve">법정 공동조사 주기 </a:t>
              </a:r>
              <a:r>
                <a:rPr lang="ko-KR" sz="1120" dirty="0">
                  <a:solidFill>
                    <a:srgbClr val="374151"/>
                  </a:solidFill>
                  <a:latin typeface="+mn-lt"/>
                  <a:ea typeface="+mn-ea"/>
                  <a:cs typeface="+mn-cs"/>
                </a:rPr>
                <a:t>(하수관 등 관리자)</a:t>
              </a:r>
            </a:p>
          </p:txBody>
        </p:sp>
        <p:sp>
          <p:nvSpPr>
            <p:cNvPr id="22" name="Rectangle 22"/>
            <p:cNvSpPr/>
            <p:nvPr/>
          </p:nvSpPr>
          <p:spPr>
            <a:xfrm>
              <a:off x="533400" y="2571750"/>
              <a:ext cx="5715000" cy="323850"/>
            </a:xfrm>
            <a:prstGeom prst="rect">
              <a:avLst/>
            </a:prstGeom>
            <a:solidFill>
              <a:srgbClr val="9AA3AF"/>
            </a:solidFill>
            <a:ln>
              <a:noFill/>
            </a:ln>
          </p:spPr>
        </p:sp>
        <p:sp>
          <p:nvSpPr>
            <p:cNvPr id="23" name="TextBox 23"/>
            <p:cNvSpPr txBox="1"/>
            <p:nvPr/>
          </p:nvSpPr>
          <p:spPr>
            <a:xfrm>
              <a:off x="6352794" y="2578100"/>
              <a:ext cx="433920" cy="381381"/>
            </a:xfrm>
            <a:prstGeom prst="rect">
              <a:avLst/>
            </a:prstGeom>
            <a:noFill/>
            <a:ln>
              <a:noFill/>
            </a:ln>
          </p:spPr>
          <p:txBody>
            <a:bodyPr wrap="none" lIns="0" tIns="0" rIns="0" bIns="0" anchor="t" anchorCtr="0">
              <a:spAutoFit/>
            </a:bodyPr>
            <a:lstStyle/>
            <a:p>
              <a:pPr algn="l"/>
              <a:r>
                <a:rPr lang="ko-KR" sz="1950" b="1" dirty="0">
                  <a:solidFill>
                    <a:srgbClr val="111827"/>
                  </a:solidFill>
                  <a:latin typeface="+mn-lt"/>
                  <a:ea typeface="+mn-ea"/>
                  <a:cs typeface="+mn-cs"/>
                </a:rPr>
                <a:t>5년</a:t>
              </a:r>
            </a:p>
          </p:txBody>
        </p:sp>
        <p:sp>
          <p:nvSpPr>
            <p:cNvPr id="24" name="TextBox 24"/>
            <p:cNvSpPr txBox="1"/>
            <p:nvPr/>
          </p:nvSpPr>
          <p:spPr>
            <a:xfrm>
              <a:off x="526542" y="3225800"/>
              <a:ext cx="3076052"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 xml:space="preserve">서울시가 줄인 정기점검 주기 </a:t>
              </a:r>
              <a:r>
                <a:rPr lang="ko-KR" sz="1120" dirty="0">
                  <a:solidFill>
                    <a:srgbClr val="374151"/>
                  </a:solidFill>
                  <a:latin typeface="+mn-lt"/>
                  <a:ea typeface="+mn-ea"/>
                  <a:cs typeface="+mn-cs"/>
                </a:rPr>
                <a:t>(2025.4)</a:t>
              </a:r>
            </a:p>
          </p:txBody>
        </p:sp>
        <p:sp>
          <p:nvSpPr>
            <p:cNvPr id="25" name="Rectangle 25"/>
            <p:cNvSpPr/>
            <p:nvPr/>
          </p:nvSpPr>
          <p:spPr>
            <a:xfrm>
              <a:off x="533400" y="3524250"/>
              <a:ext cx="1143000" cy="323850"/>
            </a:xfrm>
            <a:prstGeom prst="rect">
              <a:avLst/>
            </a:prstGeom>
            <a:solidFill>
              <a:srgbClr val="0B1E3C"/>
            </a:solidFill>
            <a:ln>
              <a:noFill/>
            </a:ln>
          </p:spPr>
        </p:sp>
        <p:sp>
          <p:nvSpPr>
            <p:cNvPr id="26" name="TextBox 26"/>
            <p:cNvSpPr txBox="1"/>
            <p:nvPr/>
          </p:nvSpPr>
          <p:spPr>
            <a:xfrm>
              <a:off x="1780794" y="3530600"/>
              <a:ext cx="433920" cy="381381"/>
            </a:xfrm>
            <a:prstGeom prst="rect">
              <a:avLst/>
            </a:prstGeom>
            <a:noFill/>
            <a:ln>
              <a:noFill/>
            </a:ln>
          </p:spPr>
          <p:txBody>
            <a:bodyPr wrap="none" lIns="0" tIns="0" rIns="0" bIns="0" anchor="t" anchorCtr="0">
              <a:spAutoFit/>
            </a:bodyPr>
            <a:lstStyle/>
            <a:p>
              <a:pPr algn="l"/>
              <a:r>
                <a:rPr lang="ko-KR" sz="1950" b="1" dirty="0">
                  <a:solidFill>
                    <a:srgbClr val="0B1E3C"/>
                  </a:solidFill>
                  <a:latin typeface="+mn-lt"/>
                  <a:ea typeface="+mn-ea"/>
                  <a:cs typeface="+mn-cs"/>
                </a:rPr>
                <a:t>1년</a:t>
              </a:r>
            </a:p>
          </p:txBody>
        </p:sp>
        <p:sp>
          <p:nvSpPr>
            <p:cNvPr id="27" name="TextBox 27"/>
            <p:cNvSpPr txBox="1"/>
            <p:nvPr/>
          </p:nvSpPr>
          <p:spPr>
            <a:xfrm>
              <a:off x="526542" y="4178300"/>
              <a:ext cx="3283619" cy="264033"/>
            </a:xfrm>
            <a:prstGeom prst="rect">
              <a:avLst/>
            </a:prstGeom>
            <a:noFill/>
            <a:ln>
              <a:noFill/>
            </a:ln>
          </p:spPr>
          <p:txBody>
            <a:bodyPr wrap="none" lIns="0" tIns="0" rIns="0" bIns="0" anchor="t" anchorCtr="0">
              <a:spAutoFit/>
            </a:bodyPr>
            <a:lstStyle/>
            <a:p>
              <a:pPr algn="l"/>
              <a:r>
                <a:rPr lang="ko-KR" sz="1350" b="1" dirty="0">
                  <a:solidFill>
                    <a:srgbClr val="C62828"/>
                  </a:solidFill>
                  <a:latin typeface="+mn-lt"/>
                  <a:ea typeface="+mn-ea"/>
                  <a:cs typeface="+mn-cs"/>
                </a:rPr>
                <a:t>연희동: 탐사 ‘이상 없음’에서 함몰까지</a:t>
              </a:r>
            </a:p>
          </p:txBody>
        </p:sp>
        <p:sp>
          <p:nvSpPr>
            <p:cNvPr id="28" name="Rectangle 28"/>
            <p:cNvSpPr/>
            <p:nvPr/>
          </p:nvSpPr>
          <p:spPr>
            <a:xfrm>
              <a:off x="533400" y="4476750"/>
              <a:ext cx="333375" cy="323850"/>
            </a:xfrm>
            <a:prstGeom prst="rect">
              <a:avLst/>
            </a:prstGeom>
            <a:solidFill>
              <a:srgbClr val="C62828"/>
            </a:solidFill>
            <a:ln>
              <a:noFill/>
            </a:ln>
          </p:spPr>
        </p:sp>
        <p:sp>
          <p:nvSpPr>
            <p:cNvPr id="29" name="TextBox 29"/>
            <p:cNvSpPr txBox="1"/>
            <p:nvPr/>
          </p:nvSpPr>
          <p:spPr>
            <a:xfrm>
              <a:off x="971169" y="4483100"/>
              <a:ext cx="1082317" cy="381381"/>
            </a:xfrm>
            <a:prstGeom prst="rect">
              <a:avLst/>
            </a:prstGeom>
            <a:noFill/>
            <a:ln>
              <a:noFill/>
            </a:ln>
          </p:spPr>
          <p:txBody>
            <a:bodyPr wrap="none" lIns="0" tIns="0" rIns="0" bIns="0" anchor="t" anchorCtr="0">
              <a:spAutoFit/>
            </a:bodyPr>
            <a:lstStyle/>
            <a:p>
              <a:pPr algn="l"/>
              <a:r>
                <a:rPr lang="ko-KR" sz="1950" b="1" dirty="0">
                  <a:solidFill>
                    <a:srgbClr val="C62828"/>
                  </a:solidFill>
                  <a:latin typeface="+mn-lt"/>
                  <a:ea typeface="+mn-ea"/>
                  <a:cs typeface="+mn-cs"/>
                </a:rPr>
                <a:t>100여 일</a:t>
              </a:r>
            </a:p>
          </p:txBody>
        </p:sp>
      </p:grpSp>
      <p:grpSp>
        <p:nvGrpSpPr>
          <p:cNvPr id="44" name="evidence"/>
          <p:cNvGrpSpPr/>
          <p:nvPr/>
        </p:nvGrpSpPr>
        <p:grpSpPr>
          <a:xfrm>
            <a:off x="7457694" y="1600200"/>
            <a:ext cx="4200906" cy="3644646"/>
            <a:chOff x="7457694" y="1600200"/>
            <a:chExt cx="4200906" cy="3644646"/>
          </a:xfrm>
        </p:grpSpPr>
        <p:sp>
          <p:nvSpPr>
            <p:cNvPr id="31" name="Rectangle 31"/>
            <p:cNvSpPr/>
            <p:nvPr/>
          </p:nvSpPr>
          <p:spPr>
            <a:xfrm>
              <a:off x="7467600" y="1600200"/>
              <a:ext cx="4191000" cy="28575"/>
            </a:xfrm>
            <a:prstGeom prst="rect">
              <a:avLst/>
            </a:prstGeom>
            <a:solidFill>
              <a:srgbClr val="0B1E3C"/>
            </a:solidFill>
            <a:ln>
              <a:noFill/>
            </a:ln>
          </p:spPr>
        </p:sp>
        <p:sp>
          <p:nvSpPr>
            <p:cNvPr id="32" name="TextBox 32"/>
            <p:cNvSpPr txBox="1"/>
            <p:nvPr/>
          </p:nvSpPr>
          <p:spPr>
            <a:xfrm>
              <a:off x="7461885" y="1803400"/>
              <a:ext cx="1661656"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그 사이 공동은 자랍니다</a:t>
              </a:r>
            </a:p>
          </p:txBody>
        </p:sp>
        <p:sp>
          <p:nvSpPr>
            <p:cNvPr id="33" name="TextBox 33"/>
            <p:cNvSpPr txBox="1"/>
            <p:nvPr/>
          </p:nvSpPr>
          <p:spPr>
            <a:xfrm>
              <a:off x="7457694" y="2139950"/>
              <a:ext cx="2354173" cy="381381"/>
            </a:xfrm>
            <a:prstGeom prst="rect">
              <a:avLst/>
            </a:prstGeom>
            <a:noFill/>
            <a:ln>
              <a:noFill/>
            </a:ln>
          </p:spPr>
          <p:txBody>
            <a:bodyPr wrap="none" lIns="0" tIns="0" rIns="0" bIns="0" anchor="t" anchorCtr="0">
              <a:spAutoFit/>
            </a:bodyPr>
            <a:lstStyle/>
            <a:p>
              <a:pPr algn="l"/>
              <a:r>
                <a:rPr lang="ko-KR" sz="1950" b="1" dirty="0">
                  <a:solidFill>
                    <a:srgbClr val="0B1E3C"/>
                  </a:solidFill>
                  <a:latin typeface="+mn-lt"/>
                  <a:ea typeface="+mn-ea"/>
                  <a:cs typeface="+mn-cs"/>
                </a:rPr>
                <a:t>“예상보다 단기간에</a:t>
              </a:r>
            </a:p>
          </p:txBody>
        </p:sp>
        <p:sp>
          <p:nvSpPr>
            <p:cNvPr id="34" name="TextBox 34"/>
            <p:cNvSpPr txBox="1"/>
            <p:nvPr/>
          </p:nvSpPr>
          <p:spPr>
            <a:xfrm>
              <a:off x="7457694" y="2482850"/>
              <a:ext cx="2782063" cy="381381"/>
            </a:xfrm>
            <a:prstGeom prst="rect">
              <a:avLst/>
            </a:prstGeom>
            <a:noFill/>
            <a:ln>
              <a:noFill/>
            </a:ln>
          </p:spPr>
          <p:txBody>
            <a:bodyPr wrap="none" lIns="0" tIns="0" rIns="0" bIns="0" anchor="t" anchorCtr="0">
              <a:spAutoFit/>
            </a:bodyPr>
            <a:lstStyle/>
            <a:p>
              <a:pPr algn="l"/>
              <a:r>
                <a:rPr lang="ko-KR" sz="1950" b="1" dirty="0">
                  <a:solidFill>
                    <a:srgbClr val="0B1E3C"/>
                  </a:solidFill>
                  <a:latin typeface="+mn-lt"/>
                  <a:ea typeface="+mn-ea"/>
                  <a:cs typeface="+mn-cs"/>
                </a:rPr>
                <a:t>공동이 성장할 수 있다”</a:t>
              </a:r>
            </a:p>
          </p:txBody>
        </p:sp>
        <p:sp>
          <p:nvSpPr>
            <p:cNvPr id="35" name="TextBox 35"/>
            <p:cNvSpPr txBox="1"/>
            <p:nvPr/>
          </p:nvSpPr>
          <p:spPr>
            <a:xfrm>
              <a:off x="7461504" y="2990850"/>
              <a:ext cx="1886102"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일본 국토교통성 위탁연구</a:t>
              </a:r>
            </a:p>
          </p:txBody>
        </p:sp>
        <p:sp>
          <p:nvSpPr>
            <p:cNvPr id="36" name="TextBox 36"/>
            <p:cNvSpPr txBox="1"/>
            <p:nvPr/>
          </p:nvSpPr>
          <p:spPr>
            <a:xfrm>
              <a:off x="7461504" y="3200400"/>
              <a:ext cx="3226918"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(도쿄대·지오서치, 2018~2020 · 원문 번역)</a:t>
              </a:r>
            </a:p>
          </p:txBody>
        </p:sp>
        <p:sp>
          <p:nvSpPr>
            <p:cNvPr id="37" name="Line 37"/>
            <p:cNvSpPr/>
            <p:nvPr/>
          </p:nvSpPr>
          <p:spPr>
            <a:xfrm>
              <a:off x="7467600" y="3619500"/>
              <a:ext cx="4191000" cy="9525"/>
            </a:xfrm>
            <a:custGeom>
              <a:avLst/>
              <a:gdLst/>
              <a:ahLst/>
              <a:cxnLst/>
              <a:rect l="l" t="t" r="r" b="b"/>
              <a:pathLst>
                <a:path w="4191000" h="9525">
                  <a:moveTo>
                    <a:pt x="0" y="0"/>
                  </a:moveTo>
                  <a:lnTo>
                    <a:pt x="4191000" y="0"/>
                  </a:lnTo>
                </a:path>
              </a:pathLst>
            </a:custGeom>
            <a:noFill/>
            <a:ln w="9525">
              <a:solidFill>
                <a:srgbClr val="E2E6EC"/>
              </a:solidFill>
            </a:ln>
          </p:spPr>
        </p:sp>
        <p:sp>
          <p:nvSpPr>
            <p:cNvPr id="38" name="TextBox 38"/>
            <p:cNvSpPr txBox="1"/>
            <p:nvPr/>
          </p:nvSpPr>
          <p:spPr>
            <a:xfrm>
              <a:off x="7461504" y="3790950"/>
              <a:ext cx="2257654"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같은 도로를 반복 모니터링하자</a:t>
              </a:r>
            </a:p>
          </p:txBody>
        </p:sp>
        <p:sp>
          <p:nvSpPr>
            <p:cNvPr id="39" name="TextBox 39"/>
            <p:cNvSpPr txBox="1"/>
            <p:nvPr/>
          </p:nvSpPr>
          <p:spPr>
            <a:xfrm>
              <a:off x="7461504" y="4019550"/>
              <a:ext cx="2136496"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지하 1.64m 하수관 위 공동이</a:t>
              </a:r>
            </a:p>
          </p:txBody>
        </p:sp>
        <p:sp>
          <p:nvSpPr>
            <p:cNvPr id="40" name="TextBox 40"/>
            <p:cNvSpPr txBox="1"/>
            <p:nvPr/>
          </p:nvSpPr>
          <p:spPr>
            <a:xfrm>
              <a:off x="7461504" y="4248150"/>
              <a:ext cx="2346503"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급격히 자란 것이 확인됐습니다.</a:t>
              </a:r>
            </a:p>
          </p:txBody>
        </p:sp>
        <p:sp>
          <p:nvSpPr>
            <p:cNvPr id="41" name="Line 41"/>
            <p:cNvSpPr/>
            <p:nvPr/>
          </p:nvSpPr>
          <p:spPr>
            <a:xfrm>
              <a:off x="7467600" y="4629150"/>
              <a:ext cx="4191000" cy="9525"/>
            </a:xfrm>
            <a:custGeom>
              <a:avLst/>
              <a:gdLst/>
              <a:ahLst/>
              <a:cxnLst/>
              <a:rect l="l" t="t" r="r" b="b"/>
              <a:pathLst>
                <a:path w="4191000" h="9525">
                  <a:moveTo>
                    <a:pt x="0" y="0"/>
                  </a:moveTo>
                  <a:lnTo>
                    <a:pt x="4191000" y="0"/>
                  </a:lnTo>
                </a:path>
              </a:pathLst>
            </a:custGeom>
            <a:noFill/>
            <a:ln w="9525">
              <a:solidFill>
                <a:srgbClr val="E2E6EC"/>
              </a:solidFill>
            </a:ln>
          </p:spPr>
        </p:sp>
        <p:sp>
          <p:nvSpPr>
            <p:cNvPr id="42" name="TextBox 42"/>
            <p:cNvSpPr txBox="1"/>
            <p:nvPr/>
          </p:nvSpPr>
          <p:spPr>
            <a:xfrm>
              <a:off x="7461504" y="4781550"/>
              <a:ext cx="3089605"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연희동 공동을 놓쳤는지, 그 뒤 생겼는지는</a:t>
              </a:r>
            </a:p>
          </p:txBody>
        </p:sp>
        <p:sp>
          <p:nvSpPr>
            <p:cNvPr id="43" name="TextBox 43"/>
            <p:cNvSpPr txBox="1"/>
            <p:nvPr/>
          </p:nvSpPr>
          <p:spPr>
            <a:xfrm>
              <a:off x="7461504" y="5010150"/>
              <a:ext cx="2783075"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한 번의 탐사로는 구분할 수 없습니다.</a:t>
              </a:r>
            </a:p>
          </p:txBody>
        </p:sp>
      </p:grpSp>
      <p:grpSp>
        <p:nvGrpSpPr>
          <p:cNvPr id="47" name="conclusion"/>
          <p:cNvGrpSpPr/>
          <p:nvPr/>
        </p:nvGrpSpPr>
        <p:grpSpPr>
          <a:xfrm>
            <a:off x="533400" y="5391150"/>
            <a:ext cx="7169730" cy="419100"/>
            <a:chOff x="533400" y="5391150"/>
            <a:chExt cx="7169730" cy="419100"/>
          </a:xfrm>
        </p:grpSpPr>
        <p:sp>
          <p:nvSpPr>
            <p:cNvPr id="45" name="Rectangle 45"/>
            <p:cNvSpPr/>
            <p:nvPr/>
          </p:nvSpPr>
          <p:spPr>
            <a:xfrm>
              <a:off x="533400" y="5391150"/>
              <a:ext cx="38100" cy="419100"/>
            </a:xfrm>
            <a:prstGeom prst="rect">
              <a:avLst/>
            </a:prstGeom>
            <a:solidFill>
              <a:srgbClr val="F5B700"/>
            </a:solidFill>
            <a:ln>
              <a:noFill/>
            </a:ln>
          </p:spPr>
        </p:sp>
        <p:sp>
          <p:nvSpPr>
            <p:cNvPr id="46" name="TextBox 46"/>
            <p:cNvSpPr txBox="1"/>
            <p:nvPr/>
          </p:nvSpPr>
          <p:spPr>
            <a:xfrm>
              <a:off x="715899" y="5486400"/>
              <a:ext cx="6987231"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한 번의 탐사는 그 시점만 말해 줍니다. 그 사이의 ‘변화’를 봐야 합니다.</a:t>
              </a:r>
            </a:p>
          </p:txBody>
        </p:sp>
      </p:grpSp>
      <p:grpSp>
        <p:nvGrpSpPr>
          <p:cNvPr id="49" name="source"/>
          <p:cNvGrpSpPr/>
          <p:nvPr/>
        </p:nvGrpSpPr>
        <p:grpSpPr>
          <a:xfrm>
            <a:off x="528447" y="6381750"/>
            <a:ext cx="9178874" cy="191643"/>
            <a:chOff x="528447" y="6381750"/>
            <a:chExt cx="9178874" cy="191643"/>
          </a:xfrm>
        </p:grpSpPr>
        <p:sp>
          <p:nvSpPr>
            <p:cNvPr id="48" name="TextBox 48"/>
            <p:cNvSpPr txBox="1"/>
            <p:nvPr/>
          </p:nvSpPr>
          <p:spPr>
            <a:xfrm>
              <a:off x="528447" y="6381750"/>
              <a:ext cx="9178874"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출처: 지하안전법(지하시설물관리자 공동조사 5년 1회 이상) · 이투데이(2025.4.23) · 뉴시스(2024.8.30) · 일본 국토교통성 도로정책 연구 30-5(2021)</a:t>
              </a:r>
            </a:p>
          </p:txBody>
        </p:sp>
      </p:grpSp>
      <p:grpSp>
        <p:nvGrpSpPr>
          <p:cNvPr id="52" name="footer"/>
          <p:cNvGrpSpPr/>
          <p:nvPr/>
        </p:nvGrpSpPr>
        <p:grpSpPr>
          <a:xfrm>
            <a:off x="528638" y="6610350"/>
            <a:ext cx="11134724" cy="176212"/>
            <a:chOff x="528638" y="6610350"/>
            <a:chExt cx="11134724" cy="176212"/>
          </a:xfrm>
        </p:grpSpPr>
        <p:sp>
          <p:nvSpPr>
            <p:cNvPr id="50" name="TextBox 50"/>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51" name="TextBox 51"/>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05 / 15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08493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우리가 막을 대상</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문제</a:t>
              </a:r>
            </a:p>
          </p:txBody>
        </p:sp>
        <p:sp>
          <p:nvSpPr>
            <p:cNvPr id="6" name="Rectangle 6"/>
            <p:cNvSpPr/>
            <p:nvPr/>
          </p:nvSpPr>
          <p:spPr>
            <a:xfrm>
              <a:off x="8343900" y="514350"/>
              <a:ext cx="457200" cy="28575"/>
            </a:xfrm>
            <a:prstGeom prst="rect">
              <a:avLst/>
            </a:prstGeom>
            <a:solidFill>
              <a:srgbClr val="F5B700"/>
            </a:solidFill>
            <a:ln>
              <a:noFill/>
            </a:ln>
          </p:spPr>
        </p:sp>
        <p:sp>
          <p:nvSpPr>
            <p:cNvPr id="7" name="TextBox 7"/>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8" name="TextBox 8"/>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10745076" cy="586740"/>
            <a:chOff x="518160" y="774700"/>
            <a:chExt cx="10745076" cy="586740"/>
          </a:xfrm>
        </p:grpSpPr>
        <p:sp>
          <p:nvSpPr>
            <p:cNvPr id="17" name="TextBox 17"/>
            <p:cNvSpPr txBox="1"/>
            <p:nvPr/>
          </p:nvSpPr>
          <p:spPr>
            <a:xfrm>
              <a:off x="518160" y="774700"/>
              <a:ext cx="10745076"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땅꺼짐 원인 1위는 하수관 손상, 그 위 2m가 탐사 대상입니다</a:t>
              </a:r>
            </a:p>
          </p:txBody>
        </p:sp>
      </p:grpSp>
      <p:grpSp>
        <p:nvGrpSpPr>
          <p:cNvPr id="29" name="section"/>
          <p:cNvGrpSpPr/>
          <p:nvPr/>
        </p:nvGrpSpPr>
        <p:grpSpPr>
          <a:xfrm>
            <a:off x="537006" y="1581150"/>
            <a:ext cx="6088789" cy="3876675"/>
            <a:chOff x="537006" y="1581150"/>
            <a:chExt cx="6088789" cy="3876675"/>
          </a:xfrm>
        </p:grpSpPr>
        <p:pic>
          <p:nvPicPr>
            <p:cNvPr id="19" name="Image 19"/>
            <p:cNvPicPr>
              <a:picLocks noChangeAspect="1"/>
            </p:cNvPicPr>
            <p:nvPr/>
          </p:nvPicPr>
          <p:blipFill>
            <a:blip r:embed="rId2"/>
            <a:stretch>
              <a:fillRect/>
            </a:stretch>
          </p:blipFill>
          <p:spPr>
            <a:xfrm>
              <a:off x="537006" y="1581150"/>
              <a:ext cx="6088789" cy="3876675"/>
            </a:xfrm>
            <a:prstGeom prst="rect">
              <a:avLst/>
            </a:prstGeom>
          </p:spPr>
        </p:pic>
        <p:grpSp>
          <p:nvGrpSpPr>
            <p:cNvPr id="28" name="Group 28"/>
            <p:cNvGrpSpPr/>
            <p:nvPr/>
          </p:nvGrpSpPr>
          <p:grpSpPr>
            <a:xfrm>
              <a:off x="1085850" y="2038350"/>
              <a:ext cx="3962400" cy="3219450"/>
              <a:chOff x="1085850" y="2038350"/>
              <a:chExt cx="3962400" cy="3219450"/>
            </a:xfrm>
          </p:grpSpPr>
          <p:sp>
            <p:nvSpPr>
              <p:cNvPr id="20" name="Rectangle 20"/>
              <p:cNvSpPr/>
              <p:nvPr/>
            </p:nvSpPr>
            <p:spPr>
              <a:xfrm>
                <a:off x="2762250" y="2038350"/>
                <a:ext cx="1066800" cy="266700"/>
              </a:xfrm>
              <a:prstGeom prst="roundRect">
                <a:avLst>
                  <a:gd name="adj" fmla="val 50000"/>
                </a:avLst>
              </a:prstGeom>
              <a:solidFill>
                <a:srgbClr val="0B1E3C"/>
              </a:solidFill>
              <a:ln>
                <a:noFill/>
              </a:ln>
            </p:spPr>
          </p:sp>
          <p:sp>
            <p:nvSpPr>
              <p:cNvPr id="21" name="TextBox 21"/>
              <p:cNvSpPr txBox="1"/>
              <p:nvPr/>
            </p:nvSpPr>
            <p:spPr>
              <a:xfrm>
                <a:off x="2897356" y="2079625"/>
                <a:ext cx="796588"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3 노면 침하</a:t>
                </a:r>
              </a:p>
            </p:txBody>
          </p:sp>
          <p:sp>
            <p:nvSpPr>
              <p:cNvPr id="22" name="Rectangle 22"/>
              <p:cNvSpPr/>
              <p:nvPr/>
            </p:nvSpPr>
            <p:spPr>
              <a:xfrm>
                <a:off x="1085850" y="2686050"/>
                <a:ext cx="1066800" cy="266700"/>
              </a:xfrm>
              <a:prstGeom prst="roundRect">
                <a:avLst>
                  <a:gd name="adj" fmla="val 50000"/>
                </a:avLst>
              </a:prstGeom>
              <a:solidFill>
                <a:srgbClr val="0B1E3C"/>
              </a:solidFill>
              <a:ln>
                <a:noFill/>
              </a:ln>
            </p:spPr>
          </p:sp>
          <p:sp>
            <p:nvSpPr>
              <p:cNvPr id="23" name="TextBox 23"/>
              <p:cNvSpPr txBox="1"/>
              <p:nvPr/>
            </p:nvSpPr>
            <p:spPr>
              <a:xfrm>
                <a:off x="1220956" y="2727325"/>
                <a:ext cx="796588"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2 공동 형성</a:t>
                </a:r>
              </a:p>
            </p:txBody>
          </p:sp>
          <p:sp>
            <p:nvSpPr>
              <p:cNvPr id="24" name="Rectangle 24"/>
              <p:cNvSpPr/>
              <p:nvPr/>
            </p:nvSpPr>
            <p:spPr>
              <a:xfrm>
                <a:off x="3867150" y="3238500"/>
                <a:ext cx="1181100" cy="266700"/>
              </a:xfrm>
              <a:prstGeom prst="roundRect">
                <a:avLst>
                  <a:gd name="adj" fmla="val 50000"/>
                </a:avLst>
              </a:prstGeom>
              <a:solidFill>
                <a:srgbClr val="0B1E3C"/>
              </a:solidFill>
              <a:ln>
                <a:noFill/>
              </a:ln>
            </p:spPr>
          </p:sp>
          <p:sp>
            <p:nvSpPr>
              <p:cNvPr id="25" name="TextBox 25"/>
              <p:cNvSpPr txBox="1"/>
              <p:nvPr/>
            </p:nvSpPr>
            <p:spPr>
              <a:xfrm>
                <a:off x="3984019" y="3279775"/>
                <a:ext cx="94736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1 하수관 누수</a:t>
                </a:r>
              </a:p>
            </p:txBody>
          </p:sp>
          <p:sp>
            <p:nvSpPr>
              <p:cNvPr id="26" name="Rectangle 26"/>
              <p:cNvSpPr/>
              <p:nvPr/>
            </p:nvSpPr>
            <p:spPr>
              <a:xfrm>
                <a:off x="1314450" y="4991100"/>
                <a:ext cx="1524000" cy="266700"/>
              </a:xfrm>
              <a:prstGeom prst="roundRect">
                <a:avLst>
                  <a:gd name="adj" fmla="val 50000"/>
                </a:avLst>
              </a:prstGeom>
              <a:solidFill>
                <a:srgbClr val="FFFFFF"/>
              </a:solidFill>
              <a:ln w="9525">
                <a:solidFill>
                  <a:srgbClr val="9AA3AF"/>
                </a:solidFill>
              </a:ln>
            </p:spPr>
          </p:sp>
          <p:sp>
            <p:nvSpPr>
              <p:cNvPr id="27" name="TextBox 27"/>
              <p:cNvSpPr txBox="1"/>
              <p:nvPr/>
            </p:nvSpPr>
            <p:spPr>
              <a:xfrm>
                <a:off x="1404501" y="5032375"/>
                <a:ext cx="1343899" cy="220028"/>
              </a:xfrm>
              <a:prstGeom prst="rect">
                <a:avLst/>
              </a:prstGeom>
              <a:noFill/>
              <a:ln>
                <a:noFill/>
              </a:ln>
            </p:spPr>
            <p:txBody>
              <a:bodyPr wrap="none" lIns="0" tIns="0" rIns="0" bIns="0" anchor="t" anchorCtr="0">
                <a:spAutoFit/>
              </a:bodyPr>
              <a:lstStyle/>
              <a:p>
                <a:pPr algn="ctr"/>
                <a:r>
                  <a:rPr lang="ko-KR" sz="1120" b="1" dirty="0">
                    <a:solidFill>
                      <a:srgbClr val="374151"/>
                    </a:solidFill>
                    <a:latin typeface="+mn-lt"/>
                    <a:ea typeface="+mn-ea"/>
                    <a:cs typeface="+mn-cs"/>
                  </a:rPr>
                  <a:t>깊은 층 · 대상 아님</a:t>
                </a:r>
              </a:p>
            </p:txBody>
          </p:sp>
        </p:grpSp>
      </p:grpSp>
      <p:grpSp>
        <p:nvGrpSpPr>
          <p:cNvPr id="33" name="stat"/>
          <p:cNvGrpSpPr/>
          <p:nvPr/>
        </p:nvGrpSpPr>
        <p:grpSpPr>
          <a:xfrm>
            <a:off x="7067550" y="1581150"/>
            <a:ext cx="3001099" cy="1472946"/>
            <a:chOff x="7067550" y="1581150"/>
            <a:chExt cx="3001099" cy="1472946"/>
          </a:xfrm>
        </p:grpSpPr>
        <p:sp>
          <p:nvSpPr>
            <p:cNvPr id="30" name="TextBox 30"/>
            <p:cNvSpPr txBox="1"/>
            <p:nvPr/>
          </p:nvSpPr>
          <p:spPr>
            <a:xfrm>
              <a:off x="7067550" y="1581150"/>
              <a:ext cx="2669046" cy="1276350"/>
            </a:xfrm>
            <a:prstGeom prst="rect">
              <a:avLst/>
            </a:prstGeom>
            <a:noFill/>
            <a:ln>
              <a:noFill/>
            </a:ln>
          </p:spPr>
          <p:txBody>
            <a:bodyPr wrap="none" lIns="0" tIns="0" rIns="0" bIns="0" anchor="t" anchorCtr="0">
              <a:spAutoFit/>
            </a:bodyPr>
            <a:lstStyle/>
            <a:p>
              <a:pPr algn="l"/>
              <a:r>
                <a:rPr lang="ko-KR" sz="6600" b="1" spc="-225" dirty="0">
                  <a:solidFill>
                    <a:srgbClr val="0B1E3C"/>
                  </a:solidFill>
                  <a:latin typeface="+mn-lt"/>
                  <a:ea typeface="+mn-ea"/>
                  <a:cs typeface="+mn-cs"/>
                </a:rPr>
                <a:t>45.4%</a:t>
              </a:r>
            </a:p>
          </p:txBody>
        </p:sp>
        <p:sp>
          <p:nvSpPr>
            <p:cNvPr id="31" name="TextBox 31"/>
            <p:cNvSpPr txBox="1"/>
            <p:nvPr/>
          </p:nvSpPr>
          <p:spPr>
            <a:xfrm>
              <a:off x="7078980" y="2546350"/>
              <a:ext cx="2989669" cy="293370"/>
            </a:xfrm>
            <a:prstGeom prst="rect">
              <a:avLst/>
            </a:prstGeom>
            <a:noFill/>
            <a:ln>
              <a:noFill/>
            </a:ln>
          </p:spPr>
          <p:txBody>
            <a:bodyPr wrap="none" lIns="0" tIns="0" rIns="0" bIns="0" anchor="t" anchorCtr="0">
              <a:spAutoFit/>
            </a:bodyPr>
            <a:lstStyle/>
            <a:p>
              <a:pPr algn="l"/>
              <a:r>
                <a:rPr lang="ko-KR" sz="1500" b="1" dirty="0">
                  <a:solidFill>
                    <a:srgbClr val="111827"/>
                  </a:solidFill>
                  <a:latin typeface="+mn-lt"/>
                  <a:ea typeface="+mn-ea"/>
                  <a:cs typeface="+mn-cs"/>
                </a:rPr>
                <a:t>지반침하 원인 1위 · 하수관 손상</a:t>
              </a:r>
            </a:p>
          </p:txBody>
        </p:sp>
        <p:sp>
          <p:nvSpPr>
            <p:cNvPr id="32" name="TextBox 32"/>
            <p:cNvSpPr txBox="1"/>
            <p:nvPr/>
          </p:nvSpPr>
          <p:spPr>
            <a:xfrm>
              <a:off x="7080504" y="2819400"/>
              <a:ext cx="2524201"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전국 867건 중 394건 (2020~2024)</a:t>
              </a:r>
            </a:p>
          </p:txBody>
        </p:sp>
      </p:grpSp>
      <p:grpSp>
        <p:nvGrpSpPr>
          <p:cNvPr id="40" name="scope"/>
          <p:cNvGrpSpPr/>
          <p:nvPr/>
        </p:nvGrpSpPr>
        <p:grpSpPr>
          <a:xfrm>
            <a:off x="7079361" y="3238500"/>
            <a:ext cx="4579239" cy="1644396"/>
            <a:chOff x="7079361" y="3238500"/>
            <a:chExt cx="4579239" cy="1644396"/>
          </a:xfrm>
        </p:grpSpPr>
        <p:sp>
          <p:nvSpPr>
            <p:cNvPr id="34" name="Rectangle 34"/>
            <p:cNvSpPr/>
            <p:nvPr/>
          </p:nvSpPr>
          <p:spPr>
            <a:xfrm>
              <a:off x="7086600" y="3238500"/>
              <a:ext cx="4572000" cy="28575"/>
            </a:xfrm>
            <a:prstGeom prst="rect">
              <a:avLst/>
            </a:prstGeom>
            <a:solidFill>
              <a:srgbClr val="F5B700"/>
            </a:solidFill>
            <a:ln>
              <a:noFill/>
            </a:ln>
          </p:spPr>
        </p:sp>
        <p:sp>
          <p:nvSpPr>
            <p:cNvPr id="35" name="TextBox 35"/>
            <p:cNvSpPr txBox="1"/>
            <p:nvPr/>
          </p:nvSpPr>
          <p:spPr>
            <a:xfrm>
              <a:off x="7079361" y="3422650"/>
              <a:ext cx="4159927"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얕은 공동형 · 약 2m 이내 → GroundWatch 대상</a:t>
              </a:r>
            </a:p>
          </p:txBody>
        </p:sp>
        <p:sp>
          <p:nvSpPr>
            <p:cNvPr id="36" name="TextBox 36"/>
            <p:cNvSpPr txBox="1"/>
            <p:nvPr/>
          </p:nvSpPr>
          <p:spPr>
            <a:xfrm>
              <a:off x="7080504" y="3695700"/>
              <a:ext cx="3768090"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공동이 먼저 생겨 자람 → 반복 측정으로 잡을 수 있음</a:t>
              </a:r>
            </a:p>
          </p:txBody>
        </p:sp>
        <p:sp>
          <p:nvSpPr>
            <p:cNvPr id="37" name="Rectangle 37"/>
            <p:cNvSpPr/>
            <p:nvPr/>
          </p:nvSpPr>
          <p:spPr>
            <a:xfrm>
              <a:off x="7086600" y="4191000"/>
              <a:ext cx="4572000" cy="28575"/>
            </a:xfrm>
            <a:prstGeom prst="rect">
              <a:avLst/>
            </a:prstGeom>
            <a:solidFill>
              <a:srgbClr val="C3CCD9"/>
            </a:solidFill>
            <a:ln>
              <a:noFill/>
            </a:ln>
          </p:spPr>
        </p:sp>
        <p:sp>
          <p:nvSpPr>
            <p:cNvPr id="38" name="TextBox 38"/>
            <p:cNvSpPr txBox="1"/>
            <p:nvPr/>
          </p:nvSpPr>
          <p:spPr>
            <a:xfrm>
              <a:off x="7079361" y="4375150"/>
              <a:ext cx="3683802" cy="278702"/>
            </a:xfrm>
            <a:prstGeom prst="rect">
              <a:avLst/>
            </a:prstGeom>
            <a:noFill/>
            <a:ln>
              <a:noFill/>
            </a:ln>
          </p:spPr>
          <p:txBody>
            <a:bodyPr wrap="none" lIns="0" tIns="0" rIns="0" bIns="0" anchor="t" anchorCtr="0">
              <a:spAutoFit/>
            </a:bodyPr>
            <a:lstStyle/>
            <a:p>
              <a:pPr algn="l"/>
              <a:r>
                <a:rPr lang="ko-KR" sz="1420" b="1" dirty="0">
                  <a:solidFill>
                    <a:srgbClr val="4B5563"/>
                  </a:solidFill>
                  <a:latin typeface="+mn-lt"/>
                  <a:ea typeface="+mn-ea"/>
                  <a:cs typeface="+mn-cs"/>
                </a:rPr>
                <a:t>심부 붕괴형 · 예: 명일동 16m → 대상 아님</a:t>
              </a:r>
            </a:p>
          </p:txBody>
        </p:sp>
        <p:sp>
          <p:nvSpPr>
            <p:cNvPr id="39" name="TextBox 39"/>
            <p:cNvSpPr txBox="1"/>
            <p:nvPr/>
          </p:nvSpPr>
          <p:spPr>
            <a:xfrm>
              <a:off x="7080504" y="4648200"/>
              <a:ext cx="3461156"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깊은 지층·터널 공사 영역은 공사장 계측이 맡음</a:t>
              </a:r>
            </a:p>
          </p:txBody>
        </p:sp>
      </p:grpSp>
      <p:grpSp>
        <p:nvGrpSpPr>
          <p:cNvPr id="43" name="conclusion"/>
          <p:cNvGrpSpPr/>
          <p:nvPr/>
        </p:nvGrpSpPr>
        <p:grpSpPr>
          <a:xfrm>
            <a:off x="533400" y="5715000"/>
            <a:ext cx="6376020" cy="419100"/>
            <a:chOff x="533400" y="5715000"/>
            <a:chExt cx="6376020" cy="419100"/>
          </a:xfrm>
        </p:grpSpPr>
        <p:sp>
          <p:nvSpPr>
            <p:cNvPr id="41" name="Rectangle 41"/>
            <p:cNvSpPr/>
            <p:nvPr/>
          </p:nvSpPr>
          <p:spPr>
            <a:xfrm>
              <a:off x="533400" y="5715000"/>
              <a:ext cx="38100" cy="419100"/>
            </a:xfrm>
            <a:prstGeom prst="rect">
              <a:avLst/>
            </a:prstGeom>
            <a:solidFill>
              <a:srgbClr val="F5B700"/>
            </a:solidFill>
            <a:ln>
              <a:noFill/>
            </a:ln>
          </p:spPr>
        </p:sp>
        <p:sp>
          <p:nvSpPr>
            <p:cNvPr id="42" name="TextBox 42"/>
            <p:cNvSpPr txBox="1"/>
            <p:nvPr/>
          </p:nvSpPr>
          <p:spPr>
            <a:xfrm>
              <a:off x="715899" y="5810250"/>
              <a:ext cx="6193521"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차량형 GPR이 보는 깊이(약 2m)에, 가장 흔한 원인이 있습니다.</a:t>
              </a:r>
            </a:p>
          </p:txBody>
        </p:sp>
      </p:grpSp>
      <p:grpSp>
        <p:nvGrpSpPr>
          <p:cNvPr id="45" name="source"/>
          <p:cNvGrpSpPr/>
          <p:nvPr/>
        </p:nvGrpSpPr>
        <p:grpSpPr>
          <a:xfrm>
            <a:off x="528447" y="6381750"/>
            <a:ext cx="9294622" cy="191643"/>
            <a:chOff x="528447" y="6381750"/>
            <a:chExt cx="9294622" cy="191643"/>
          </a:xfrm>
        </p:grpSpPr>
        <p:sp>
          <p:nvSpPr>
            <p:cNvPr id="44" name="TextBox 44"/>
            <p:cNvSpPr txBox="1"/>
            <p:nvPr/>
          </p:nvSpPr>
          <p:spPr>
            <a:xfrm>
              <a:off x="528447" y="6381750"/>
              <a:ext cx="9294622"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출처: 국토교통부 지반침하 원인 통계(2020~2024) · 국토교통부 명일동 사고조사(2025.12.3) · 서울시 차량형 GPR 탐사 깊이 약 2m · 단면도는 원리 설명용</a:t>
              </a:r>
            </a:p>
          </p:txBody>
        </p:sp>
      </p:grpSp>
      <p:grpSp>
        <p:nvGrpSpPr>
          <p:cNvPr id="48" name="footer"/>
          <p:cNvGrpSpPr/>
          <p:nvPr/>
        </p:nvGrpSpPr>
        <p:grpSpPr>
          <a:xfrm>
            <a:off x="528638" y="6610350"/>
            <a:ext cx="11134724" cy="176212"/>
            <a:chOff x="528638" y="6610350"/>
            <a:chExt cx="11134724" cy="176212"/>
          </a:xfrm>
        </p:grpSpPr>
        <p:sp>
          <p:nvSpPr>
            <p:cNvPr id="46" name="TextBox 46"/>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47" name="TextBox 47"/>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06 / 15</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369662"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GroundWatch의 핵심</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해법</a:t>
              </a:r>
            </a:p>
          </p:txBody>
        </p:sp>
        <p:sp>
          <p:nvSpPr>
            <p:cNvPr id="8" name="Rectangle 8"/>
            <p:cNvSpPr/>
            <p:nvPr/>
          </p:nvSpPr>
          <p:spPr>
            <a:xfrm>
              <a:off x="8972550" y="514350"/>
              <a:ext cx="457200" cy="28575"/>
            </a:xfrm>
            <a:prstGeom prst="rect">
              <a:avLst/>
            </a:prstGeom>
            <a:solidFill>
              <a:srgbClr val="F5B700"/>
            </a:solidFill>
            <a:ln>
              <a:noFill/>
            </a:ln>
          </p:spPr>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9701975" cy="586740"/>
            <a:chOff x="518160" y="774700"/>
            <a:chExt cx="9701975" cy="586740"/>
          </a:xfrm>
        </p:grpSpPr>
        <p:sp>
          <p:nvSpPr>
            <p:cNvPr id="17" name="TextBox 17"/>
            <p:cNvSpPr txBox="1"/>
            <p:nvPr/>
          </p:nvSpPr>
          <p:spPr>
            <a:xfrm>
              <a:off x="518160" y="774700"/>
              <a:ext cx="9701975"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같은 길을 약 2개월마다 다시 찍고, 달라진 곳만 봅니다</a:t>
              </a:r>
            </a:p>
          </p:txBody>
        </p:sp>
      </p:grpSp>
      <p:grpSp>
        <p:nvGrpSpPr>
          <p:cNvPr id="31" name="scans"/>
          <p:cNvGrpSpPr/>
          <p:nvPr/>
        </p:nvGrpSpPr>
        <p:grpSpPr>
          <a:xfrm>
            <a:off x="527304" y="1485900"/>
            <a:ext cx="11131296" cy="2234946"/>
            <a:chOff x="527304" y="1485900"/>
            <a:chExt cx="11131296" cy="2234946"/>
          </a:xfrm>
        </p:grpSpPr>
        <p:pic>
          <p:nvPicPr>
            <p:cNvPr id="19" name="Image 19"/>
            <p:cNvPicPr>
              <a:picLocks noChangeAspect="1"/>
            </p:cNvPicPr>
            <p:nvPr/>
          </p:nvPicPr>
          <p:blipFill>
            <a:blip r:embed="rId2"/>
            <a:stretch>
              <a:fillRect/>
            </a:stretch>
          </p:blipFill>
          <p:spPr>
            <a:xfrm>
              <a:off x="533400" y="1485900"/>
              <a:ext cx="3429000" cy="1905000"/>
            </a:xfrm>
            <a:prstGeom prst="rect">
              <a:avLst/>
            </a:prstGeom>
          </p:spPr>
        </p:pic>
        <p:sp>
          <p:nvSpPr>
            <p:cNvPr id="20" name="Rectangle 20"/>
            <p:cNvSpPr/>
            <p:nvPr/>
          </p:nvSpPr>
          <p:spPr>
            <a:xfrm>
              <a:off x="609600" y="1562100"/>
              <a:ext cx="904875" cy="247650"/>
            </a:xfrm>
            <a:prstGeom prst="roundRect">
              <a:avLst>
                <a:gd name="adj" fmla="val 11538"/>
              </a:avLst>
            </a:prstGeom>
            <a:solidFill>
              <a:srgbClr val="0B1E3C">
                <a:alpha val="90000"/>
              </a:srgbClr>
            </a:solidFill>
            <a:ln>
              <a:noFill/>
            </a:ln>
          </p:spPr>
        </p:sp>
        <p:sp>
          <p:nvSpPr>
            <p:cNvPr id="21" name="TextBox 21"/>
            <p:cNvSpPr txBox="1"/>
            <p:nvPr/>
          </p:nvSpPr>
          <p:spPr>
            <a:xfrm>
              <a:off x="699135" y="1593850"/>
              <a:ext cx="662022"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지난 회차</a:t>
              </a:r>
            </a:p>
          </p:txBody>
        </p:sp>
        <p:sp>
          <p:nvSpPr>
            <p:cNvPr id="22" name="TextBox 22"/>
            <p:cNvSpPr txBox="1"/>
            <p:nvPr/>
          </p:nvSpPr>
          <p:spPr>
            <a:xfrm>
              <a:off x="4088449" y="2247900"/>
              <a:ext cx="224153" cy="498729"/>
            </a:xfrm>
            <a:prstGeom prst="rect">
              <a:avLst/>
            </a:prstGeom>
            <a:noFill/>
            <a:ln>
              <a:noFill/>
            </a:ln>
          </p:spPr>
          <p:txBody>
            <a:bodyPr wrap="none" lIns="0" tIns="0" rIns="0" bIns="0" anchor="t" anchorCtr="0">
              <a:spAutoFit/>
            </a:bodyPr>
            <a:lstStyle/>
            <a:p>
              <a:pPr algn="ctr"/>
              <a:r>
                <a:rPr lang="ko-KR" sz="2550" b="1" dirty="0">
                  <a:solidFill>
                    <a:srgbClr val="0B1E3C"/>
                  </a:solidFill>
                  <a:latin typeface="+mn-lt"/>
                  <a:ea typeface="+mn-ea"/>
                  <a:cs typeface="+mn-cs"/>
                </a:rPr>
                <a:t>−</a:t>
              </a:r>
            </a:p>
          </p:txBody>
        </p:sp>
        <p:pic>
          <p:nvPicPr>
            <p:cNvPr id="23" name="Image 23"/>
            <p:cNvPicPr>
              <a:picLocks noChangeAspect="1"/>
            </p:cNvPicPr>
            <p:nvPr/>
          </p:nvPicPr>
          <p:blipFill>
            <a:blip r:embed="rId3"/>
            <a:stretch>
              <a:fillRect/>
            </a:stretch>
          </p:blipFill>
          <p:spPr>
            <a:xfrm>
              <a:off x="4381500" y="1485900"/>
              <a:ext cx="3429000" cy="1905000"/>
            </a:xfrm>
            <a:prstGeom prst="rect">
              <a:avLst/>
            </a:prstGeom>
          </p:spPr>
        </p:pic>
        <p:sp>
          <p:nvSpPr>
            <p:cNvPr id="24" name="Rectangle 24"/>
            <p:cNvSpPr/>
            <p:nvPr/>
          </p:nvSpPr>
          <p:spPr>
            <a:xfrm>
              <a:off x="4457700" y="1562100"/>
              <a:ext cx="904875" cy="247650"/>
            </a:xfrm>
            <a:prstGeom prst="roundRect">
              <a:avLst>
                <a:gd name="adj" fmla="val 11538"/>
              </a:avLst>
            </a:prstGeom>
            <a:solidFill>
              <a:srgbClr val="0B1E3C">
                <a:alpha val="90000"/>
              </a:srgbClr>
            </a:solidFill>
            <a:ln>
              <a:noFill/>
            </a:ln>
          </p:spPr>
        </p:sp>
        <p:sp>
          <p:nvSpPr>
            <p:cNvPr id="25" name="TextBox 25"/>
            <p:cNvSpPr txBox="1"/>
            <p:nvPr/>
          </p:nvSpPr>
          <p:spPr>
            <a:xfrm>
              <a:off x="4547235" y="1593850"/>
              <a:ext cx="662022"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이번 회차</a:t>
              </a:r>
            </a:p>
          </p:txBody>
        </p:sp>
        <p:sp>
          <p:nvSpPr>
            <p:cNvPr id="26" name="TextBox 26"/>
            <p:cNvSpPr txBox="1"/>
            <p:nvPr/>
          </p:nvSpPr>
          <p:spPr>
            <a:xfrm>
              <a:off x="7936549" y="2247900"/>
              <a:ext cx="224153" cy="498729"/>
            </a:xfrm>
            <a:prstGeom prst="rect">
              <a:avLst/>
            </a:prstGeom>
            <a:noFill/>
            <a:ln>
              <a:noFill/>
            </a:ln>
          </p:spPr>
          <p:txBody>
            <a:bodyPr wrap="none" lIns="0" tIns="0" rIns="0" bIns="0" anchor="t" anchorCtr="0">
              <a:spAutoFit/>
            </a:bodyPr>
            <a:lstStyle/>
            <a:p>
              <a:pPr algn="ctr"/>
              <a:r>
                <a:rPr lang="ko-KR" sz="2550" b="1" dirty="0">
                  <a:solidFill>
                    <a:srgbClr val="0B1E3C"/>
                  </a:solidFill>
                  <a:latin typeface="+mn-lt"/>
                  <a:ea typeface="+mn-ea"/>
                  <a:cs typeface="+mn-cs"/>
                </a:rPr>
                <a:t>=</a:t>
              </a:r>
            </a:p>
          </p:txBody>
        </p:sp>
        <p:pic>
          <p:nvPicPr>
            <p:cNvPr id="27" name="Image 27"/>
            <p:cNvPicPr>
              <a:picLocks noChangeAspect="1"/>
            </p:cNvPicPr>
            <p:nvPr/>
          </p:nvPicPr>
          <p:blipFill>
            <a:blip r:embed="rId4"/>
            <a:stretch>
              <a:fillRect/>
            </a:stretch>
          </p:blipFill>
          <p:spPr>
            <a:xfrm>
              <a:off x="8229600" y="1485900"/>
              <a:ext cx="3429000" cy="1905000"/>
            </a:xfrm>
            <a:prstGeom prst="rect">
              <a:avLst/>
            </a:prstGeom>
          </p:spPr>
        </p:pic>
        <p:sp>
          <p:nvSpPr>
            <p:cNvPr id="28" name="Rectangle 28"/>
            <p:cNvSpPr/>
            <p:nvPr/>
          </p:nvSpPr>
          <p:spPr>
            <a:xfrm>
              <a:off x="8305800" y="1562100"/>
              <a:ext cx="1476375" cy="247650"/>
            </a:xfrm>
            <a:prstGeom prst="roundRect">
              <a:avLst>
                <a:gd name="adj" fmla="val 11538"/>
              </a:avLst>
            </a:prstGeom>
            <a:solidFill>
              <a:srgbClr val="0B1E3C">
                <a:alpha val="90000"/>
              </a:srgbClr>
            </a:solidFill>
            <a:ln>
              <a:noFill/>
            </a:ln>
          </p:spPr>
        </p:sp>
        <p:sp>
          <p:nvSpPr>
            <p:cNvPr id="29" name="TextBox 29"/>
            <p:cNvSpPr txBox="1"/>
            <p:nvPr/>
          </p:nvSpPr>
          <p:spPr>
            <a:xfrm>
              <a:off x="8395335" y="1593850"/>
              <a:ext cx="1161839"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자동 선별된 차이</a:t>
              </a:r>
            </a:p>
          </p:txBody>
        </p:sp>
        <p:sp>
          <p:nvSpPr>
            <p:cNvPr id="30" name="TextBox 30"/>
            <p:cNvSpPr txBox="1"/>
            <p:nvPr/>
          </p:nvSpPr>
          <p:spPr>
            <a:xfrm>
              <a:off x="527304" y="3486150"/>
              <a:ext cx="9838769"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1 반복 측정</a:t>
              </a:r>
              <a:r>
                <a:rPr lang="ko-KR" sz="1200" dirty="0">
                  <a:solidFill>
                    <a:srgbClr val="374151"/>
                  </a:solidFill>
                  <a:latin typeface="+mn-lt"/>
                  <a:ea typeface="+mn-ea"/>
                  <a:cs typeface="+mn-cs"/>
                </a:rPr>
                <a:t xml:space="preserve"> 새벽에 같은 경로를 약 2개월마다 </a:t>
              </a:r>
              <a:r>
                <a:rPr lang="ko-KR" sz="1200" b="1" dirty="0">
                  <a:solidFill>
                    <a:srgbClr val="0B1E3C"/>
                  </a:solidFill>
                  <a:latin typeface="+mn-lt"/>
                  <a:ea typeface="+mn-ea"/>
                  <a:cs typeface="+mn-cs"/>
                </a:rPr>
                <a:t>2 변화만 선별</a:t>
              </a:r>
              <a:r>
                <a:rPr lang="ko-KR" sz="1200" dirty="0">
                  <a:solidFill>
                    <a:srgbClr val="374151"/>
                  </a:solidFill>
                  <a:latin typeface="+mn-lt"/>
                  <a:ea typeface="+mn-ea"/>
                  <a:cs typeface="+mn-cs"/>
                </a:rPr>
                <a:t xml:space="preserve"> 위치를 맞춰 빼고, AI가 신호 유형 분류 </a:t>
              </a:r>
              <a:r>
                <a:rPr lang="ko-KR" sz="1200" b="1" dirty="0">
                  <a:solidFill>
                    <a:srgbClr val="0B1E3C"/>
                  </a:solidFill>
                  <a:latin typeface="+mn-lt"/>
                  <a:ea typeface="+mn-ea"/>
                  <a:cs typeface="+mn-cs"/>
                </a:rPr>
                <a:t>3 현장 재확인</a:t>
              </a:r>
              <a:r>
                <a:rPr lang="ko-KR" sz="1200" dirty="0">
                  <a:solidFill>
                    <a:srgbClr val="374151"/>
                  </a:solidFill>
                  <a:latin typeface="+mn-lt"/>
                  <a:ea typeface="+mn-ea"/>
                  <a:cs typeface="+mn-cs"/>
                </a:rPr>
                <a:t xml:space="preserve"> 승인된 곳만 수동 GPR</a:t>
              </a:r>
            </a:p>
          </p:txBody>
        </p:sp>
      </p:grpSp>
      <p:grpSp>
        <p:nvGrpSpPr>
          <p:cNvPr id="44" name="diff"/>
          <p:cNvGrpSpPr/>
          <p:nvPr/>
        </p:nvGrpSpPr>
        <p:grpSpPr>
          <a:xfrm>
            <a:off x="527304" y="3924300"/>
            <a:ext cx="5340096" cy="1582293"/>
            <a:chOff x="527304" y="3924300"/>
            <a:chExt cx="5340096" cy="1582293"/>
          </a:xfrm>
        </p:grpSpPr>
        <p:sp>
          <p:nvSpPr>
            <p:cNvPr id="32" name="Rectangle 32"/>
            <p:cNvSpPr/>
            <p:nvPr/>
          </p:nvSpPr>
          <p:spPr>
            <a:xfrm>
              <a:off x="533400" y="3924300"/>
              <a:ext cx="5334000" cy="28575"/>
            </a:xfrm>
            <a:prstGeom prst="rect">
              <a:avLst/>
            </a:prstGeom>
            <a:solidFill>
              <a:srgbClr val="0B1E3C"/>
            </a:solidFill>
            <a:ln>
              <a:noFill/>
            </a:ln>
          </p:spPr>
        </p:sp>
        <p:sp>
          <p:nvSpPr>
            <p:cNvPr id="33" name="TextBox 33"/>
            <p:cNvSpPr txBox="1"/>
            <p:nvPr/>
          </p:nvSpPr>
          <p:spPr>
            <a:xfrm>
              <a:off x="527685" y="4070350"/>
              <a:ext cx="2590601"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 xml:space="preserve">무엇이 새로운가 </a:t>
              </a:r>
              <a:r>
                <a:rPr lang="ko-KR" sz="1120" dirty="0">
                  <a:solidFill>
                    <a:srgbClr val="4B5563"/>
                  </a:solidFill>
                  <a:latin typeface="+mn-lt"/>
                  <a:ea typeface="+mn-ea"/>
                  <a:cs typeface="+mn-cs"/>
                </a:rPr>
                <a:t>기존 → GroundWatch</a:t>
              </a:r>
            </a:p>
          </p:txBody>
        </p:sp>
        <p:sp>
          <p:nvSpPr>
            <p:cNvPr id="34" name="TextBox 34"/>
            <p:cNvSpPr txBox="1"/>
            <p:nvPr/>
          </p:nvSpPr>
          <p:spPr>
            <a:xfrm>
              <a:off x="527304" y="4362450"/>
              <a:ext cx="916838"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다시 보는 곳</a:t>
              </a:r>
            </a:p>
          </p:txBody>
        </p:sp>
        <p:sp>
          <p:nvSpPr>
            <p:cNvPr id="35" name="TextBox 35"/>
            <p:cNvSpPr txBox="1"/>
            <p:nvPr/>
          </p:nvSpPr>
          <p:spPr>
            <a:xfrm>
              <a:off x="1860804" y="4362450"/>
              <a:ext cx="1167232"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발견한 공동만 →</a:t>
              </a:r>
            </a:p>
          </p:txBody>
        </p:sp>
        <p:sp>
          <p:nvSpPr>
            <p:cNvPr id="36" name="TextBox 36"/>
            <p:cNvSpPr txBox="1"/>
            <p:nvPr/>
          </p:nvSpPr>
          <p:spPr>
            <a:xfrm>
              <a:off x="3232023" y="4362450"/>
              <a:ext cx="1699043"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‘이상 없음’ 구간까지</a:t>
              </a:r>
            </a:p>
          </p:txBody>
        </p:sp>
        <p:sp>
          <p:nvSpPr>
            <p:cNvPr id="37" name="TextBox 37"/>
            <p:cNvSpPr txBox="1"/>
            <p:nvPr/>
          </p:nvSpPr>
          <p:spPr>
            <a:xfrm>
              <a:off x="527304" y="4686300"/>
              <a:ext cx="706831"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판정 방식</a:t>
              </a:r>
            </a:p>
          </p:txBody>
        </p:sp>
        <p:sp>
          <p:nvSpPr>
            <p:cNvPr id="38" name="TextBox 38"/>
            <p:cNvSpPr txBox="1"/>
            <p:nvPr/>
          </p:nvSpPr>
          <p:spPr>
            <a:xfrm>
              <a:off x="1860804" y="4686300"/>
              <a:ext cx="1167232"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회차마다 판독 →</a:t>
              </a:r>
            </a:p>
          </p:txBody>
        </p:sp>
        <p:sp>
          <p:nvSpPr>
            <p:cNvPr id="39" name="TextBox 39"/>
            <p:cNvSpPr txBox="1"/>
            <p:nvPr/>
          </p:nvSpPr>
          <p:spPr>
            <a:xfrm>
              <a:off x="3232023" y="4686300"/>
              <a:ext cx="1672334"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지난 회차와의 차이만</a:t>
              </a:r>
            </a:p>
          </p:txBody>
        </p:sp>
        <p:sp>
          <p:nvSpPr>
            <p:cNvPr id="40" name="TextBox 40"/>
            <p:cNvSpPr txBox="1"/>
            <p:nvPr/>
          </p:nvSpPr>
          <p:spPr>
            <a:xfrm>
              <a:off x="527304" y="5010150"/>
              <a:ext cx="706831"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현장 확인</a:t>
              </a:r>
            </a:p>
          </p:txBody>
        </p:sp>
        <p:sp>
          <p:nvSpPr>
            <p:cNvPr id="41" name="TextBox 41"/>
            <p:cNvSpPr txBox="1"/>
            <p:nvPr/>
          </p:nvSpPr>
          <p:spPr>
            <a:xfrm>
              <a:off x="1860804" y="5010150"/>
              <a:ext cx="844144"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별도 발주 →</a:t>
              </a:r>
            </a:p>
          </p:txBody>
        </p:sp>
        <p:sp>
          <p:nvSpPr>
            <p:cNvPr id="42" name="TextBox 42"/>
            <p:cNvSpPr txBox="1"/>
            <p:nvPr/>
          </p:nvSpPr>
          <p:spPr>
            <a:xfrm>
              <a:off x="3232023" y="5010150"/>
              <a:ext cx="1327707"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같은 차에서 바로</a:t>
              </a:r>
            </a:p>
          </p:txBody>
        </p:sp>
        <p:sp>
          <p:nvSpPr>
            <p:cNvPr id="43" name="TextBox 43"/>
            <p:cNvSpPr txBox="1"/>
            <p:nvPr/>
          </p:nvSpPr>
          <p:spPr>
            <a:xfrm>
              <a:off x="528447" y="5314950"/>
              <a:ext cx="4376710"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기존: 일본 후지사와시·지오서치 경과관찰, 국토교통성 연구(3개월 주기)</a:t>
              </a:r>
            </a:p>
          </p:txBody>
        </p:sp>
      </p:grpSp>
      <p:grpSp>
        <p:nvGrpSpPr>
          <p:cNvPr id="66" name="proof"/>
          <p:cNvGrpSpPr/>
          <p:nvPr/>
        </p:nvGrpSpPr>
        <p:grpSpPr>
          <a:xfrm>
            <a:off x="6318885" y="3924300"/>
            <a:ext cx="5339715" cy="1600200"/>
            <a:chOff x="6318885" y="3924300"/>
            <a:chExt cx="5339715" cy="1600200"/>
          </a:xfrm>
        </p:grpSpPr>
        <p:sp>
          <p:nvSpPr>
            <p:cNvPr id="45" name="Rectangle 45"/>
            <p:cNvSpPr/>
            <p:nvPr/>
          </p:nvSpPr>
          <p:spPr>
            <a:xfrm>
              <a:off x="6324600" y="3924300"/>
              <a:ext cx="5334000" cy="28575"/>
            </a:xfrm>
            <a:prstGeom prst="rect">
              <a:avLst/>
            </a:prstGeom>
            <a:solidFill>
              <a:srgbClr val="0B1E3C"/>
            </a:solidFill>
            <a:ln>
              <a:noFill/>
            </a:ln>
          </p:spPr>
        </p:sp>
        <p:sp>
          <p:nvSpPr>
            <p:cNvPr id="46" name="TextBox 46"/>
            <p:cNvSpPr txBox="1"/>
            <p:nvPr/>
          </p:nvSpPr>
          <p:spPr>
            <a:xfrm>
              <a:off x="6318885" y="4032250"/>
              <a:ext cx="3663563"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 xml:space="preserve">검증 · 전자기 시뮬레이션 (실측 아님) </a:t>
              </a:r>
              <a:r>
                <a:rPr lang="ko-KR" sz="1120" dirty="0">
                  <a:solidFill>
                    <a:srgbClr val="4B5563"/>
                  </a:solidFill>
                  <a:latin typeface="+mn-lt"/>
                  <a:ea typeface="+mn-ea"/>
                  <a:cs typeface="+mn-cs"/>
                </a:rPr>
                <a:t>변화 신호 세기</a:t>
              </a:r>
            </a:p>
          </p:txBody>
        </p:sp>
        <p:sp>
          <p:nvSpPr>
            <p:cNvPr id="47" name="TextBox 47"/>
            <p:cNvSpPr txBox="1"/>
            <p:nvPr/>
          </p:nvSpPr>
          <p:spPr>
            <a:xfrm>
              <a:off x="6319266" y="4311650"/>
              <a:ext cx="1000125"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공동 20cm 성장</a:t>
              </a:r>
            </a:p>
          </p:txBody>
        </p:sp>
        <p:sp>
          <p:nvSpPr>
            <p:cNvPr id="48" name="Rectangle 48"/>
            <p:cNvSpPr/>
            <p:nvPr/>
          </p:nvSpPr>
          <p:spPr>
            <a:xfrm>
              <a:off x="7696200" y="4324350"/>
              <a:ext cx="3267075" cy="142875"/>
            </a:xfrm>
            <a:prstGeom prst="rect">
              <a:avLst/>
            </a:prstGeom>
            <a:solidFill>
              <a:srgbClr val="0B1E3C"/>
            </a:solidFill>
            <a:ln>
              <a:noFill/>
            </a:ln>
          </p:spPr>
        </p:sp>
        <p:sp>
          <p:nvSpPr>
            <p:cNvPr id="49" name="TextBox 49"/>
            <p:cNvSpPr txBox="1"/>
            <p:nvPr/>
          </p:nvSpPr>
          <p:spPr>
            <a:xfrm>
              <a:off x="11034141" y="4311650"/>
              <a:ext cx="255559" cy="205359"/>
            </a:xfrm>
            <a:prstGeom prst="rect">
              <a:avLst/>
            </a:prstGeom>
            <a:noFill/>
            <a:ln>
              <a:noFill/>
            </a:ln>
          </p:spPr>
          <p:txBody>
            <a:bodyPr wrap="none" lIns="0" tIns="0" rIns="0" bIns="0" anchor="t" anchorCtr="0">
              <a:spAutoFit/>
            </a:bodyPr>
            <a:lstStyle/>
            <a:p>
              <a:pPr algn="l"/>
              <a:r>
                <a:rPr lang="ko-KR" sz="1050" b="1" dirty="0">
                  <a:solidFill>
                    <a:srgbClr val="111827"/>
                  </a:solidFill>
                  <a:latin typeface="+mn-lt"/>
                  <a:ea typeface="+mn-ea"/>
                  <a:cs typeface="+mn-cs"/>
                </a:rPr>
                <a:t>2.9</a:t>
              </a:r>
            </a:p>
          </p:txBody>
        </p:sp>
        <p:sp>
          <p:nvSpPr>
            <p:cNvPr id="50" name="TextBox 50"/>
            <p:cNvSpPr txBox="1"/>
            <p:nvPr/>
          </p:nvSpPr>
          <p:spPr>
            <a:xfrm>
              <a:off x="6319266" y="4511675"/>
              <a:ext cx="1000125"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공동 10cm 성장</a:t>
              </a:r>
            </a:p>
          </p:txBody>
        </p:sp>
        <p:sp>
          <p:nvSpPr>
            <p:cNvPr id="51" name="Rectangle 51"/>
            <p:cNvSpPr/>
            <p:nvPr/>
          </p:nvSpPr>
          <p:spPr>
            <a:xfrm>
              <a:off x="7696200" y="4524375"/>
              <a:ext cx="2790825" cy="142875"/>
            </a:xfrm>
            <a:prstGeom prst="rect">
              <a:avLst/>
            </a:prstGeom>
            <a:solidFill>
              <a:srgbClr val="0B1E3C"/>
            </a:solidFill>
            <a:ln>
              <a:noFill/>
            </a:ln>
          </p:spPr>
        </p:sp>
        <p:sp>
          <p:nvSpPr>
            <p:cNvPr id="52" name="TextBox 52"/>
            <p:cNvSpPr txBox="1"/>
            <p:nvPr/>
          </p:nvSpPr>
          <p:spPr>
            <a:xfrm>
              <a:off x="10557891" y="4511675"/>
              <a:ext cx="255559" cy="205359"/>
            </a:xfrm>
            <a:prstGeom prst="rect">
              <a:avLst/>
            </a:prstGeom>
            <a:noFill/>
            <a:ln>
              <a:noFill/>
            </a:ln>
          </p:spPr>
          <p:txBody>
            <a:bodyPr wrap="none" lIns="0" tIns="0" rIns="0" bIns="0" anchor="t" anchorCtr="0">
              <a:spAutoFit/>
            </a:bodyPr>
            <a:lstStyle/>
            <a:p>
              <a:pPr algn="l"/>
              <a:r>
                <a:rPr lang="ko-KR" sz="1050" b="1" dirty="0">
                  <a:solidFill>
                    <a:srgbClr val="111827"/>
                  </a:solidFill>
                  <a:latin typeface="+mn-lt"/>
                  <a:ea typeface="+mn-ea"/>
                  <a:cs typeface="+mn-cs"/>
                </a:rPr>
                <a:t>2.4</a:t>
              </a:r>
            </a:p>
          </p:txBody>
        </p:sp>
        <p:sp>
          <p:nvSpPr>
            <p:cNvPr id="53" name="TextBox 53"/>
            <p:cNvSpPr txBox="1"/>
            <p:nvPr/>
          </p:nvSpPr>
          <p:spPr>
            <a:xfrm>
              <a:off x="6319266" y="4711700"/>
              <a:ext cx="922382"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공동 5cm 성장</a:t>
              </a:r>
            </a:p>
          </p:txBody>
        </p:sp>
        <p:sp>
          <p:nvSpPr>
            <p:cNvPr id="54" name="Rectangle 54"/>
            <p:cNvSpPr/>
            <p:nvPr/>
          </p:nvSpPr>
          <p:spPr>
            <a:xfrm>
              <a:off x="7696200" y="4724400"/>
              <a:ext cx="1552575" cy="142875"/>
            </a:xfrm>
            <a:prstGeom prst="rect">
              <a:avLst/>
            </a:prstGeom>
            <a:solidFill>
              <a:srgbClr val="B45309"/>
            </a:solidFill>
            <a:ln>
              <a:noFill/>
            </a:ln>
          </p:spPr>
        </p:sp>
        <p:sp>
          <p:nvSpPr>
            <p:cNvPr id="55" name="TextBox 55"/>
            <p:cNvSpPr txBox="1"/>
            <p:nvPr/>
          </p:nvSpPr>
          <p:spPr>
            <a:xfrm>
              <a:off x="9319641" y="4711700"/>
              <a:ext cx="255559" cy="205359"/>
            </a:xfrm>
            <a:prstGeom prst="rect">
              <a:avLst/>
            </a:prstGeom>
            <a:noFill/>
            <a:ln>
              <a:noFill/>
            </a:ln>
          </p:spPr>
          <p:txBody>
            <a:bodyPr wrap="none" lIns="0" tIns="0" rIns="0" bIns="0" anchor="t" anchorCtr="0">
              <a:spAutoFit/>
            </a:bodyPr>
            <a:lstStyle/>
            <a:p>
              <a:pPr algn="l"/>
              <a:r>
                <a:rPr lang="ko-KR" sz="1050" b="1" dirty="0">
                  <a:solidFill>
                    <a:srgbClr val="111827"/>
                  </a:solidFill>
                  <a:latin typeface="+mn-lt"/>
                  <a:ea typeface="+mn-ea"/>
                  <a:cs typeface="+mn-cs"/>
                </a:rPr>
                <a:t>1.4</a:t>
              </a:r>
            </a:p>
          </p:txBody>
        </p:sp>
        <p:sp>
          <p:nvSpPr>
            <p:cNvPr id="56" name="TextBox 56"/>
            <p:cNvSpPr txBox="1"/>
            <p:nvPr/>
          </p:nvSpPr>
          <p:spPr>
            <a:xfrm>
              <a:off x="6319266" y="4911725"/>
              <a:ext cx="1205084"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주행선 8cm 어긋남</a:t>
              </a:r>
            </a:p>
          </p:txBody>
        </p:sp>
        <p:sp>
          <p:nvSpPr>
            <p:cNvPr id="57" name="Rectangle 57"/>
            <p:cNvSpPr/>
            <p:nvPr/>
          </p:nvSpPr>
          <p:spPr>
            <a:xfrm>
              <a:off x="7696200" y="4924425"/>
              <a:ext cx="1143000" cy="142875"/>
            </a:xfrm>
            <a:prstGeom prst="rect">
              <a:avLst/>
            </a:prstGeom>
            <a:solidFill>
              <a:srgbClr val="C62828"/>
            </a:solidFill>
            <a:ln>
              <a:noFill/>
            </a:ln>
          </p:spPr>
        </p:sp>
        <p:sp>
          <p:nvSpPr>
            <p:cNvPr id="58" name="TextBox 58"/>
            <p:cNvSpPr txBox="1"/>
            <p:nvPr/>
          </p:nvSpPr>
          <p:spPr>
            <a:xfrm>
              <a:off x="8910066" y="4911725"/>
              <a:ext cx="255559" cy="205359"/>
            </a:xfrm>
            <a:prstGeom prst="rect">
              <a:avLst/>
            </a:prstGeom>
            <a:noFill/>
            <a:ln>
              <a:noFill/>
            </a:ln>
          </p:spPr>
          <p:txBody>
            <a:bodyPr wrap="none" lIns="0" tIns="0" rIns="0" bIns="0" anchor="t" anchorCtr="0">
              <a:spAutoFit/>
            </a:bodyPr>
            <a:lstStyle/>
            <a:p>
              <a:pPr algn="l"/>
              <a:r>
                <a:rPr lang="ko-KR" sz="1050" b="1" dirty="0">
                  <a:solidFill>
                    <a:srgbClr val="111827"/>
                  </a:solidFill>
                  <a:latin typeface="+mn-lt"/>
                  <a:ea typeface="+mn-ea"/>
                  <a:cs typeface="+mn-cs"/>
                </a:rPr>
                <a:t>1.0</a:t>
              </a:r>
            </a:p>
          </p:txBody>
        </p:sp>
        <p:sp>
          <p:nvSpPr>
            <p:cNvPr id="59" name="TextBox 59"/>
            <p:cNvSpPr txBox="1"/>
            <p:nvPr/>
          </p:nvSpPr>
          <p:spPr>
            <a:xfrm>
              <a:off x="6319266" y="5111750"/>
              <a:ext cx="75982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함수비 변화</a:t>
              </a:r>
            </a:p>
          </p:txBody>
        </p:sp>
        <p:sp>
          <p:nvSpPr>
            <p:cNvPr id="60" name="Rectangle 60"/>
            <p:cNvSpPr/>
            <p:nvPr/>
          </p:nvSpPr>
          <p:spPr>
            <a:xfrm>
              <a:off x="7696200" y="5124450"/>
              <a:ext cx="923925" cy="142875"/>
            </a:xfrm>
            <a:prstGeom prst="rect">
              <a:avLst/>
            </a:prstGeom>
            <a:solidFill>
              <a:srgbClr val="4B5563"/>
            </a:solidFill>
            <a:ln>
              <a:noFill/>
            </a:ln>
          </p:spPr>
        </p:sp>
        <p:sp>
          <p:nvSpPr>
            <p:cNvPr id="61" name="TextBox 61"/>
            <p:cNvSpPr txBox="1"/>
            <p:nvPr/>
          </p:nvSpPr>
          <p:spPr>
            <a:xfrm>
              <a:off x="8910066" y="5111750"/>
              <a:ext cx="255559" cy="205359"/>
            </a:xfrm>
            <a:prstGeom prst="rect">
              <a:avLst/>
            </a:prstGeom>
            <a:noFill/>
            <a:ln>
              <a:noFill/>
            </a:ln>
          </p:spPr>
          <p:txBody>
            <a:bodyPr wrap="none" lIns="0" tIns="0" rIns="0" bIns="0" anchor="t" anchorCtr="0">
              <a:spAutoFit/>
            </a:bodyPr>
            <a:lstStyle/>
            <a:p>
              <a:pPr algn="l"/>
              <a:r>
                <a:rPr lang="ko-KR" sz="1050" b="1" dirty="0">
                  <a:solidFill>
                    <a:srgbClr val="111827"/>
                  </a:solidFill>
                  <a:latin typeface="+mn-lt"/>
                  <a:ea typeface="+mn-ea"/>
                  <a:cs typeface="+mn-cs"/>
                </a:rPr>
                <a:t>0.8</a:t>
              </a:r>
            </a:p>
          </p:txBody>
        </p:sp>
        <p:sp>
          <p:nvSpPr>
            <p:cNvPr id="62" name="TextBox 62"/>
            <p:cNvSpPr txBox="1"/>
            <p:nvPr/>
          </p:nvSpPr>
          <p:spPr>
            <a:xfrm>
              <a:off x="6319266" y="5311775"/>
              <a:ext cx="434721"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재포장</a:t>
              </a:r>
            </a:p>
          </p:txBody>
        </p:sp>
        <p:sp>
          <p:nvSpPr>
            <p:cNvPr id="63" name="Rectangle 63"/>
            <p:cNvSpPr/>
            <p:nvPr/>
          </p:nvSpPr>
          <p:spPr>
            <a:xfrm>
              <a:off x="7696200" y="5324475"/>
              <a:ext cx="381000" cy="142875"/>
            </a:xfrm>
            <a:prstGeom prst="rect">
              <a:avLst/>
            </a:prstGeom>
            <a:solidFill>
              <a:srgbClr val="4B5563"/>
            </a:solidFill>
            <a:ln>
              <a:noFill/>
            </a:ln>
          </p:spPr>
        </p:sp>
        <p:sp>
          <p:nvSpPr>
            <p:cNvPr id="64" name="TextBox 64"/>
            <p:cNvSpPr txBox="1"/>
            <p:nvPr/>
          </p:nvSpPr>
          <p:spPr>
            <a:xfrm>
              <a:off x="8910066" y="5311775"/>
              <a:ext cx="255559" cy="205359"/>
            </a:xfrm>
            <a:prstGeom prst="rect">
              <a:avLst/>
            </a:prstGeom>
            <a:noFill/>
            <a:ln>
              <a:noFill/>
            </a:ln>
          </p:spPr>
          <p:txBody>
            <a:bodyPr wrap="none" lIns="0" tIns="0" rIns="0" bIns="0" anchor="t" anchorCtr="0">
              <a:spAutoFit/>
            </a:bodyPr>
            <a:lstStyle/>
            <a:p>
              <a:pPr algn="l"/>
              <a:r>
                <a:rPr lang="ko-KR" sz="1050" b="1" dirty="0">
                  <a:solidFill>
                    <a:srgbClr val="111827"/>
                  </a:solidFill>
                  <a:latin typeface="+mn-lt"/>
                  <a:ea typeface="+mn-ea"/>
                  <a:cs typeface="+mn-cs"/>
                </a:rPr>
                <a:t>0.3</a:t>
              </a:r>
            </a:p>
          </p:txBody>
        </p:sp>
        <p:sp>
          <p:nvSpPr>
            <p:cNvPr id="65" name="Line 65"/>
            <p:cNvSpPr/>
            <p:nvPr/>
          </p:nvSpPr>
          <p:spPr>
            <a:xfrm>
              <a:off x="8839200" y="4286250"/>
              <a:ext cx="9525" cy="1238250"/>
            </a:xfrm>
            <a:custGeom>
              <a:avLst/>
              <a:gdLst/>
              <a:ahLst/>
              <a:cxnLst/>
              <a:rect l="l" t="t" r="r" b="b"/>
              <a:pathLst>
                <a:path w="9525" h="1238250">
                  <a:moveTo>
                    <a:pt x="0" y="0"/>
                  </a:moveTo>
                  <a:lnTo>
                    <a:pt x="0" y="1238250"/>
                  </a:lnTo>
                </a:path>
              </a:pathLst>
            </a:custGeom>
            <a:noFill/>
            <a:ln w="14288">
              <a:solidFill>
                <a:srgbClr val="C62828"/>
              </a:solidFill>
              <a:custDash>
                <a:ds d="266667" sp="200000"/>
              </a:custDash>
            </a:ln>
          </p:spPr>
        </p:sp>
      </p:grpSp>
      <p:grpSp>
        <p:nvGrpSpPr>
          <p:cNvPr id="69" name="conclusion"/>
          <p:cNvGrpSpPr/>
          <p:nvPr/>
        </p:nvGrpSpPr>
        <p:grpSpPr>
          <a:xfrm>
            <a:off x="533400" y="5676900"/>
            <a:ext cx="9170702" cy="419100"/>
            <a:chOff x="533400" y="5676900"/>
            <a:chExt cx="9170702" cy="419100"/>
          </a:xfrm>
        </p:grpSpPr>
        <p:sp>
          <p:nvSpPr>
            <p:cNvPr id="67" name="Rectangle 67"/>
            <p:cNvSpPr/>
            <p:nvPr/>
          </p:nvSpPr>
          <p:spPr>
            <a:xfrm>
              <a:off x="533400" y="5676900"/>
              <a:ext cx="38100" cy="419100"/>
            </a:xfrm>
            <a:prstGeom prst="rect">
              <a:avLst/>
            </a:prstGeom>
            <a:solidFill>
              <a:srgbClr val="F5B700"/>
            </a:solidFill>
            <a:ln>
              <a:noFill/>
            </a:ln>
          </p:spPr>
        </p:sp>
        <p:sp>
          <p:nvSpPr>
            <p:cNvPr id="68" name="TextBox 68"/>
            <p:cNvSpPr txBox="1"/>
            <p:nvPr/>
          </p:nvSpPr>
          <p:spPr>
            <a:xfrm>
              <a:off x="715899" y="5772150"/>
              <a:ext cx="8988203"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10cm 이상 자란 공동은 오탐 요인의 2배 넘는 신호, 5cm는 경계 — 주행선 정합이 관건입니다.</a:t>
              </a:r>
            </a:p>
          </p:txBody>
        </p:sp>
      </p:grpSp>
      <p:grpSp>
        <p:nvGrpSpPr>
          <p:cNvPr id="71" name="source"/>
          <p:cNvGrpSpPr/>
          <p:nvPr/>
        </p:nvGrpSpPr>
        <p:grpSpPr>
          <a:xfrm>
            <a:off x="528447" y="6381750"/>
            <a:ext cx="10106309" cy="191643"/>
            <a:chOff x="528447" y="6381750"/>
            <a:chExt cx="10106309" cy="191643"/>
          </a:xfrm>
        </p:grpSpPr>
        <p:sp>
          <p:nvSpPr>
            <p:cNvPr id="70" name="TextBox 70"/>
            <p:cNvSpPr txBox="1"/>
            <p:nvPr/>
          </p:nvSpPr>
          <p:spPr>
            <a:xfrm>
              <a:off x="528447" y="6381750"/>
              <a:ext cx="10106309"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시뮬레이션: 2D 전자기 파동 계산(FDTD) · 400MHz · Ø0.8m 하수관 위 공동 반경 18cm 기준 · 세기 = 회차 차분 에너지 ÷ 가장 큰 오탐 요인 · 판정은 전문가, 확정은 천공</a:t>
              </a:r>
            </a:p>
          </p:txBody>
        </p:sp>
      </p:grpSp>
      <p:grpSp>
        <p:nvGrpSpPr>
          <p:cNvPr id="74" name="footer"/>
          <p:cNvGrpSpPr/>
          <p:nvPr/>
        </p:nvGrpSpPr>
        <p:grpSpPr>
          <a:xfrm>
            <a:off x="528638" y="6610350"/>
            <a:ext cx="11134724" cy="176212"/>
            <a:chOff x="528638" y="6610350"/>
            <a:chExt cx="11134724" cy="176212"/>
          </a:xfrm>
        </p:grpSpPr>
        <p:sp>
          <p:nvSpPr>
            <p:cNvPr id="72" name="TextBox 72"/>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73" name="TextBox 73"/>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07 / 15</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75982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현장 재확인</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해법</a:t>
              </a:r>
            </a:p>
          </p:txBody>
        </p:sp>
        <p:sp>
          <p:nvSpPr>
            <p:cNvPr id="8" name="Rectangle 8"/>
            <p:cNvSpPr/>
            <p:nvPr/>
          </p:nvSpPr>
          <p:spPr>
            <a:xfrm>
              <a:off x="8972550" y="514350"/>
              <a:ext cx="457200" cy="28575"/>
            </a:xfrm>
            <a:prstGeom prst="rect">
              <a:avLst/>
            </a:prstGeom>
            <a:solidFill>
              <a:srgbClr val="F5B700"/>
            </a:solidFill>
            <a:ln>
              <a:noFill/>
            </a:ln>
          </p:spPr>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922" y="800100"/>
            <a:ext cx="9140484" cy="557403"/>
            <a:chOff x="518922" y="800100"/>
            <a:chExt cx="9140484" cy="557403"/>
          </a:xfrm>
        </p:grpSpPr>
        <p:sp>
          <p:nvSpPr>
            <p:cNvPr id="17" name="TextBox 17"/>
            <p:cNvSpPr txBox="1"/>
            <p:nvPr/>
          </p:nvSpPr>
          <p:spPr>
            <a:xfrm>
              <a:off x="518922" y="800100"/>
              <a:ext cx="9140484"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차가 찾은 지점을, 작업자가 현장에서 바로 확인합니다</a:t>
              </a:r>
            </a:p>
          </p:txBody>
        </p:sp>
      </p:grpSp>
      <p:grpSp>
        <p:nvGrpSpPr>
          <p:cNvPr id="40" name="system-chain"/>
          <p:cNvGrpSpPr/>
          <p:nvPr/>
        </p:nvGrpSpPr>
        <p:grpSpPr>
          <a:xfrm>
            <a:off x="533400" y="1428750"/>
            <a:ext cx="11125200" cy="552450"/>
            <a:chOff x="533400" y="1428750"/>
            <a:chExt cx="11125200" cy="552450"/>
          </a:xfrm>
        </p:grpSpPr>
        <p:grpSp>
          <p:nvGrpSpPr>
            <p:cNvPr id="34" name="Group 34"/>
            <p:cNvGrpSpPr/>
            <p:nvPr/>
          </p:nvGrpSpPr>
          <p:grpSpPr>
            <a:xfrm>
              <a:off x="533400" y="1428750"/>
              <a:ext cx="11125200" cy="552450"/>
              <a:chOff x="533400" y="1428750"/>
              <a:chExt cx="11125200" cy="552450"/>
            </a:xfrm>
          </p:grpSpPr>
          <p:sp>
            <p:nvSpPr>
              <p:cNvPr id="19" name="Rectangle 19"/>
              <p:cNvSpPr/>
              <p:nvPr/>
            </p:nvSpPr>
            <p:spPr>
              <a:xfrm>
                <a:off x="533400" y="1428750"/>
                <a:ext cx="1905000" cy="552450"/>
              </a:xfrm>
              <a:prstGeom prst="roundRect">
                <a:avLst>
                  <a:gd name="adj" fmla="val 13793"/>
                </a:avLst>
              </a:prstGeom>
              <a:solidFill>
                <a:srgbClr val="FFFFFF"/>
              </a:solidFill>
              <a:ln w="19050">
                <a:solidFill>
                  <a:srgbClr val="0B1E3C"/>
                </a:solidFill>
              </a:ln>
            </p:spPr>
          </p:sp>
          <p:sp>
            <p:nvSpPr>
              <p:cNvPr id="20" name="TextBox 20"/>
              <p:cNvSpPr txBox="1"/>
              <p:nvPr/>
            </p:nvSpPr>
            <p:spPr>
              <a:xfrm>
                <a:off x="704122" y="1504950"/>
                <a:ext cx="1563556"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GroundWatch Cloud</a:t>
                </a:r>
              </a:p>
            </p:txBody>
          </p:sp>
          <p:sp>
            <p:nvSpPr>
              <p:cNvPr id="21" name="TextBox 21"/>
              <p:cNvSpPr txBox="1"/>
              <p:nvPr/>
            </p:nvSpPr>
            <p:spPr>
              <a:xfrm>
                <a:off x="698935" y="1739900"/>
                <a:ext cx="1573930" cy="205359"/>
              </a:xfrm>
              <a:prstGeom prst="rect">
                <a:avLst/>
              </a:prstGeom>
              <a:noFill/>
              <a:ln>
                <a:noFill/>
              </a:ln>
            </p:spPr>
            <p:txBody>
              <a:bodyPr wrap="none" lIns="0" tIns="0" rIns="0" bIns="0" anchor="t" anchorCtr="0">
                <a:spAutoFit/>
              </a:bodyPr>
              <a:lstStyle/>
              <a:p>
                <a:pPr algn="ctr"/>
                <a:r>
                  <a:rPr lang="ko-KR" sz="1050" dirty="0">
                    <a:solidFill>
                      <a:srgbClr val="374151"/>
                    </a:solidFill>
                    <a:latin typeface="+mn-lt"/>
                    <a:ea typeface="+mn-ea"/>
                    <a:cs typeface="+mn-cs"/>
                  </a:rPr>
                  <a:t>4D 지도 · AI 분석 · 경로</a:t>
                </a:r>
              </a:p>
            </p:txBody>
          </p:sp>
          <p:sp>
            <p:nvSpPr>
              <p:cNvPr id="22" name="Rectangle 22"/>
              <p:cNvSpPr/>
              <p:nvPr/>
            </p:nvSpPr>
            <p:spPr>
              <a:xfrm>
                <a:off x="2838450" y="1428750"/>
                <a:ext cx="1905000" cy="552450"/>
              </a:xfrm>
              <a:prstGeom prst="roundRect">
                <a:avLst>
                  <a:gd name="adj" fmla="val 13793"/>
                </a:avLst>
              </a:prstGeom>
              <a:solidFill>
                <a:srgbClr val="FFFFFF"/>
              </a:solidFill>
              <a:ln w="19050">
                <a:solidFill>
                  <a:srgbClr val="0B1E3C"/>
                </a:solidFill>
              </a:ln>
            </p:spPr>
          </p:sp>
          <p:sp>
            <p:nvSpPr>
              <p:cNvPr id="23" name="TextBox 23"/>
              <p:cNvSpPr txBox="1"/>
              <p:nvPr/>
            </p:nvSpPr>
            <p:spPr>
              <a:xfrm>
                <a:off x="3230299" y="1504950"/>
                <a:ext cx="1121302" cy="234696"/>
              </a:xfrm>
              <a:prstGeom prst="rect">
                <a:avLst/>
              </a:prstGeom>
              <a:noFill/>
              <a:ln>
                <a:noFill/>
              </a:ln>
            </p:spPr>
            <p:txBody>
              <a:bodyPr wrap="none" lIns="0" tIns="0" rIns="0" bIns="0" anchor="t" anchorCtr="0">
                <a:spAutoFit/>
              </a:bodyPr>
              <a:lstStyle/>
              <a:p>
                <a:pPr algn="ctr"/>
                <a:r>
                  <a:rPr lang="ko-KR" sz="1200" b="1" dirty="0">
                    <a:solidFill>
                      <a:srgbClr val="0B1E3C"/>
                    </a:solidFill>
                    <a:latin typeface="+mn-lt"/>
                    <a:ea typeface="+mn-ea"/>
                    <a:cs typeface="+mn-cs"/>
                  </a:rPr>
                  <a:t>Patrol 차량 앱</a:t>
                </a:r>
              </a:p>
            </p:txBody>
          </p:sp>
          <p:sp>
            <p:nvSpPr>
              <p:cNvPr id="24" name="TextBox 24"/>
              <p:cNvSpPr txBox="1"/>
              <p:nvPr/>
            </p:nvSpPr>
            <p:spPr>
              <a:xfrm>
                <a:off x="3301489" y="1739900"/>
                <a:ext cx="978922" cy="205359"/>
              </a:xfrm>
              <a:prstGeom prst="rect">
                <a:avLst/>
              </a:prstGeom>
              <a:noFill/>
              <a:ln>
                <a:noFill/>
              </a:ln>
            </p:spPr>
            <p:txBody>
              <a:bodyPr wrap="none" lIns="0" tIns="0" rIns="0" bIns="0" anchor="t" anchorCtr="0">
                <a:spAutoFit/>
              </a:bodyPr>
              <a:lstStyle/>
              <a:p>
                <a:pPr algn="ctr"/>
                <a:r>
                  <a:rPr lang="ko-KR" sz="1050" dirty="0">
                    <a:solidFill>
                      <a:srgbClr val="374151"/>
                    </a:solidFill>
                    <a:latin typeface="+mn-lt"/>
                    <a:ea typeface="+mn-ea"/>
                    <a:cs typeface="+mn-cs"/>
                  </a:rPr>
                  <a:t>업무·경로 관리</a:t>
                </a:r>
              </a:p>
            </p:txBody>
          </p:sp>
          <p:sp>
            <p:nvSpPr>
              <p:cNvPr id="25" name="Rectangle 25"/>
              <p:cNvSpPr/>
              <p:nvPr/>
            </p:nvSpPr>
            <p:spPr>
              <a:xfrm>
                <a:off x="5143500" y="1428750"/>
                <a:ext cx="1905000" cy="552450"/>
              </a:xfrm>
              <a:prstGeom prst="roundRect">
                <a:avLst>
                  <a:gd name="adj" fmla="val 13793"/>
                </a:avLst>
              </a:prstGeom>
              <a:solidFill>
                <a:srgbClr val="FFFFFF"/>
              </a:solidFill>
              <a:ln w="19050">
                <a:solidFill>
                  <a:srgbClr val="0B1E3C"/>
                </a:solidFill>
              </a:ln>
            </p:spPr>
          </p:sp>
          <p:sp>
            <p:nvSpPr>
              <p:cNvPr id="26" name="TextBox 26"/>
              <p:cNvSpPr txBox="1"/>
              <p:nvPr/>
            </p:nvSpPr>
            <p:spPr>
              <a:xfrm>
                <a:off x="5528677" y="1504950"/>
                <a:ext cx="1134645"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Edge Gateway</a:t>
                </a:r>
              </a:p>
            </p:txBody>
          </p:sp>
          <p:sp>
            <p:nvSpPr>
              <p:cNvPr id="27" name="TextBox 27"/>
              <p:cNvSpPr txBox="1"/>
              <p:nvPr/>
            </p:nvSpPr>
            <p:spPr>
              <a:xfrm>
                <a:off x="5373310" y="1739900"/>
                <a:ext cx="1445381" cy="205359"/>
              </a:xfrm>
              <a:prstGeom prst="rect">
                <a:avLst/>
              </a:prstGeom>
              <a:noFill/>
              <a:ln>
                <a:noFill/>
              </a:ln>
            </p:spPr>
            <p:txBody>
              <a:bodyPr wrap="none" lIns="0" tIns="0" rIns="0" bIns="0" anchor="t" anchorCtr="0">
                <a:spAutoFit/>
              </a:bodyPr>
              <a:lstStyle/>
              <a:p>
                <a:pPr algn="ctr"/>
                <a:r>
                  <a:rPr lang="ko-KR" sz="1050" dirty="0">
                    <a:solidFill>
                      <a:srgbClr val="374151"/>
                    </a:solidFill>
                    <a:latin typeface="+mn-lt"/>
                    <a:ea typeface="+mn-ea"/>
                    <a:cs typeface="+mn-cs"/>
                  </a:rPr>
                  <a:t>센서 동기화·로컬 통신</a:t>
                </a:r>
              </a:p>
            </p:txBody>
          </p:sp>
          <p:sp>
            <p:nvSpPr>
              <p:cNvPr id="28" name="Rectangle 28"/>
              <p:cNvSpPr/>
              <p:nvPr/>
            </p:nvSpPr>
            <p:spPr>
              <a:xfrm>
                <a:off x="7448550" y="1428750"/>
                <a:ext cx="1905000" cy="552450"/>
              </a:xfrm>
              <a:prstGeom prst="roundRect">
                <a:avLst>
                  <a:gd name="adj" fmla="val 13793"/>
                </a:avLst>
              </a:prstGeom>
              <a:solidFill>
                <a:srgbClr val="FFFFFF"/>
              </a:solidFill>
              <a:ln w="19050">
                <a:solidFill>
                  <a:srgbClr val="0B1E3C"/>
                </a:solidFill>
              </a:ln>
            </p:spPr>
          </p:sp>
          <p:sp>
            <p:nvSpPr>
              <p:cNvPr id="29" name="TextBox 29"/>
              <p:cNvSpPr txBox="1"/>
              <p:nvPr/>
            </p:nvSpPr>
            <p:spPr>
              <a:xfrm>
                <a:off x="8027182" y="1504950"/>
                <a:ext cx="747735" cy="234696"/>
              </a:xfrm>
              <a:prstGeom prst="rect">
                <a:avLst/>
              </a:prstGeom>
              <a:noFill/>
              <a:ln>
                <a:noFill/>
              </a:ln>
            </p:spPr>
            <p:txBody>
              <a:bodyPr wrap="none" lIns="0" tIns="0" rIns="0" bIns="0" anchor="t" anchorCtr="0">
                <a:spAutoFit/>
              </a:bodyPr>
              <a:lstStyle/>
              <a:p>
                <a:pPr algn="ctr"/>
                <a:r>
                  <a:rPr lang="ko-KR" sz="1200" b="1" dirty="0">
                    <a:solidFill>
                      <a:srgbClr val="0B1E3C"/>
                    </a:solidFill>
                    <a:latin typeface="+mn-lt"/>
                    <a:ea typeface="+mn-ea"/>
                    <a:cs typeface="+mn-cs"/>
                  </a:rPr>
                  <a:t>AR 글래스</a:t>
                </a:r>
              </a:p>
            </p:txBody>
          </p:sp>
          <p:sp>
            <p:nvSpPr>
              <p:cNvPr id="30" name="TextBox 30"/>
              <p:cNvSpPr txBox="1"/>
              <p:nvPr/>
            </p:nvSpPr>
            <p:spPr>
              <a:xfrm>
                <a:off x="7749035" y="1739900"/>
                <a:ext cx="1304030" cy="205359"/>
              </a:xfrm>
              <a:prstGeom prst="rect">
                <a:avLst/>
              </a:prstGeom>
              <a:noFill/>
              <a:ln>
                <a:noFill/>
              </a:ln>
            </p:spPr>
            <p:txBody>
              <a:bodyPr wrap="none" lIns="0" tIns="0" rIns="0" bIns="0" anchor="t" anchorCtr="0">
                <a:spAutoFit/>
              </a:bodyPr>
              <a:lstStyle/>
              <a:p>
                <a:pPr algn="ctr"/>
                <a:r>
                  <a:rPr lang="ko-KR" sz="1050" dirty="0">
                    <a:solidFill>
                      <a:srgbClr val="374151"/>
                    </a:solidFill>
                    <a:latin typeface="+mn-lt"/>
                    <a:ea typeface="+mn-ea"/>
                    <a:cs typeface="+mn-cs"/>
                  </a:rPr>
                  <a:t>위치 정합·탐사 안내</a:t>
                </a:r>
              </a:p>
            </p:txBody>
          </p:sp>
          <p:sp>
            <p:nvSpPr>
              <p:cNvPr id="31" name="Rectangle 31"/>
              <p:cNvSpPr/>
              <p:nvPr/>
            </p:nvSpPr>
            <p:spPr>
              <a:xfrm>
                <a:off x="9753600" y="1428750"/>
                <a:ext cx="1905000" cy="552450"/>
              </a:xfrm>
              <a:prstGeom prst="roundRect">
                <a:avLst>
                  <a:gd name="adj" fmla="val 13793"/>
                </a:avLst>
              </a:prstGeom>
              <a:solidFill>
                <a:srgbClr val="FFFFFF"/>
              </a:solidFill>
              <a:ln w="19050">
                <a:solidFill>
                  <a:srgbClr val="0B1E3C"/>
                </a:solidFill>
              </a:ln>
            </p:spPr>
          </p:sp>
          <p:sp>
            <p:nvSpPr>
              <p:cNvPr id="32" name="TextBox 32"/>
              <p:cNvSpPr txBox="1"/>
              <p:nvPr/>
            </p:nvSpPr>
            <p:spPr>
              <a:xfrm>
                <a:off x="10363718" y="1504950"/>
                <a:ext cx="684764" cy="234696"/>
              </a:xfrm>
              <a:prstGeom prst="rect">
                <a:avLst/>
              </a:prstGeom>
              <a:noFill/>
              <a:ln>
                <a:noFill/>
              </a:ln>
            </p:spPr>
            <p:txBody>
              <a:bodyPr wrap="none" lIns="0" tIns="0" rIns="0" bIns="0" anchor="t" anchorCtr="0">
                <a:spAutoFit/>
              </a:bodyPr>
              <a:lstStyle/>
              <a:p>
                <a:pPr algn="ctr"/>
                <a:r>
                  <a:rPr lang="ko-KR" sz="1200" b="1" dirty="0">
                    <a:solidFill>
                      <a:srgbClr val="0B1E3C"/>
                    </a:solidFill>
                    <a:latin typeface="+mn-lt"/>
                    <a:ea typeface="+mn-ea"/>
                    <a:cs typeface="+mn-cs"/>
                  </a:rPr>
                  <a:t>수동 GPR</a:t>
                </a:r>
              </a:p>
            </p:txBody>
          </p:sp>
          <p:sp>
            <p:nvSpPr>
              <p:cNvPr id="33" name="TextBox 33"/>
              <p:cNvSpPr txBox="1"/>
              <p:nvPr/>
            </p:nvSpPr>
            <p:spPr>
              <a:xfrm>
                <a:off x="9842059" y="1739900"/>
                <a:ext cx="1728083" cy="205359"/>
              </a:xfrm>
              <a:prstGeom prst="rect">
                <a:avLst/>
              </a:prstGeom>
              <a:noFill/>
              <a:ln>
                <a:noFill/>
              </a:ln>
            </p:spPr>
            <p:txBody>
              <a:bodyPr wrap="none" lIns="0" tIns="0" rIns="0" bIns="0" anchor="t" anchorCtr="0">
                <a:spAutoFit/>
              </a:bodyPr>
              <a:lstStyle/>
              <a:p>
                <a:pPr algn="ctr"/>
                <a:r>
                  <a:rPr lang="ko-KR" sz="1050" dirty="0">
                    <a:solidFill>
                      <a:srgbClr val="374151"/>
                    </a:solidFill>
                    <a:latin typeface="+mn-lt"/>
                    <a:ea typeface="+mn-ea"/>
                    <a:cs typeface="+mn-cs"/>
                  </a:rPr>
                  <a:t>다른 주파수·방향 교차검증</a:t>
                </a:r>
              </a:p>
            </p:txBody>
          </p:sp>
        </p:grpSp>
        <p:grpSp>
          <p:nvGrpSpPr>
            <p:cNvPr id="39" name="Group 39"/>
            <p:cNvGrpSpPr/>
            <p:nvPr/>
          </p:nvGrpSpPr>
          <p:grpSpPr>
            <a:xfrm>
              <a:off x="2466975" y="1704975"/>
              <a:ext cx="7258050" cy="1"/>
              <a:chOff x="2466975" y="1704975"/>
              <a:chExt cx="7258050" cy="1"/>
            </a:xfrm>
          </p:grpSpPr>
          <p:sp>
            <p:nvSpPr>
              <p:cNvPr id="35" name="Line 35"/>
              <p:cNvSpPr/>
              <p:nvPr/>
            </p:nvSpPr>
            <p:spPr>
              <a:xfrm>
                <a:off x="2466975" y="1704975"/>
                <a:ext cx="342900" cy="1"/>
              </a:xfrm>
              <a:prstGeom prst="line">
                <a:avLst/>
              </a:prstGeom>
              <a:noFill/>
              <a:ln w="19050">
                <a:solidFill>
                  <a:srgbClr val="0B1E3C"/>
                </a:solidFill>
                <a:headEnd type="triangle" w="lg" len="lg"/>
                <a:tailEnd type="triangle" w="lg" len="lg"/>
              </a:ln>
            </p:spPr>
          </p:sp>
          <p:sp>
            <p:nvSpPr>
              <p:cNvPr id="36" name="Line 36"/>
              <p:cNvSpPr/>
              <p:nvPr/>
            </p:nvSpPr>
            <p:spPr>
              <a:xfrm>
                <a:off x="4772025" y="1704975"/>
                <a:ext cx="342900" cy="1"/>
              </a:xfrm>
              <a:prstGeom prst="line">
                <a:avLst/>
              </a:prstGeom>
              <a:noFill/>
              <a:ln w="19050">
                <a:solidFill>
                  <a:srgbClr val="0B1E3C"/>
                </a:solidFill>
                <a:headEnd type="triangle" w="lg" len="lg"/>
                <a:tailEnd type="triangle" w="lg" len="lg"/>
              </a:ln>
            </p:spPr>
          </p:sp>
          <p:sp>
            <p:nvSpPr>
              <p:cNvPr id="37" name="Line 37"/>
              <p:cNvSpPr/>
              <p:nvPr/>
            </p:nvSpPr>
            <p:spPr>
              <a:xfrm>
                <a:off x="7077075" y="1704975"/>
                <a:ext cx="342900" cy="1"/>
              </a:xfrm>
              <a:prstGeom prst="line">
                <a:avLst/>
              </a:prstGeom>
              <a:noFill/>
              <a:ln w="19050">
                <a:solidFill>
                  <a:srgbClr val="0B1E3C"/>
                </a:solidFill>
                <a:headEnd type="triangle" w="lg" len="lg"/>
                <a:tailEnd type="triangle" w="lg" len="lg"/>
              </a:ln>
            </p:spPr>
          </p:sp>
          <p:sp>
            <p:nvSpPr>
              <p:cNvPr id="38" name="Line 38"/>
              <p:cNvSpPr/>
              <p:nvPr/>
            </p:nvSpPr>
            <p:spPr>
              <a:xfrm>
                <a:off x="9382125" y="1704975"/>
                <a:ext cx="342900" cy="1"/>
              </a:xfrm>
              <a:prstGeom prst="line">
                <a:avLst/>
              </a:prstGeom>
              <a:noFill/>
              <a:ln w="19050">
                <a:solidFill>
                  <a:srgbClr val="0B1E3C"/>
                </a:solidFill>
                <a:headEnd type="triangle" w="lg" len="lg"/>
                <a:tailEnd type="triangle" w="lg" len="lg"/>
              </a:ln>
            </p:spPr>
          </p:sp>
        </p:grpSp>
      </p:grpSp>
      <p:grpSp>
        <p:nvGrpSpPr>
          <p:cNvPr id="46" name="cabin-panel"/>
          <p:cNvGrpSpPr/>
          <p:nvPr/>
        </p:nvGrpSpPr>
        <p:grpSpPr>
          <a:xfrm>
            <a:off x="526542" y="2381250"/>
            <a:ext cx="5302758" cy="3739896"/>
            <a:chOff x="526542" y="2381250"/>
            <a:chExt cx="5302758" cy="3739896"/>
          </a:xfrm>
        </p:grpSpPr>
        <p:pic>
          <p:nvPicPr>
            <p:cNvPr id="41" name="Image 41"/>
            <p:cNvPicPr>
              <a:picLocks noChangeAspect="1"/>
            </p:cNvPicPr>
            <p:nvPr/>
          </p:nvPicPr>
          <p:blipFill>
            <a:blip r:embed="rId2"/>
            <a:srcRect l="12" t="0" r="11" b="0"/>
            <a:stretch>
              <a:fillRect/>
            </a:stretch>
          </p:blipFill>
          <p:spPr>
            <a:xfrm>
              <a:off x="533400" y="2381250"/>
              <a:ext cx="5295900" cy="3143250"/>
            </a:xfrm>
            <a:prstGeom prst="rect">
              <a:avLst/>
            </a:prstGeom>
          </p:spPr>
        </p:pic>
        <p:sp>
          <p:nvSpPr>
            <p:cNvPr id="42" name="Rectangle 42"/>
            <p:cNvSpPr/>
            <p:nvPr/>
          </p:nvSpPr>
          <p:spPr>
            <a:xfrm>
              <a:off x="628650" y="2476500"/>
              <a:ext cx="1314450" cy="228600"/>
            </a:xfrm>
            <a:prstGeom prst="roundRect">
              <a:avLst>
                <a:gd name="adj" fmla="val 12500"/>
              </a:avLst>
            </a:prstGeom>
            <a:solidFill>
              <a:srgbClr val="0B1E3C"/>
            </a:solidFill>
            <a:ln>
              <a:noFill/>
            </a:ln>
          </p:spPr>
        </p:sp>
        <p:sp>
          <p:nvSpPr>
            <p:cNvPr id="43" name="TextBox 43"/>
            <p:cNvSpPr txBox="1"/>
            <p:nvPr/>
          </p:nvSpPr>
          <p:spPr>
            <a:xfrm>
              <a:off x="680651" y="2524125"/>
              <a:ext cx="1210447"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[화면 예시] 운행 전</a:t>
              </a:r>
            </a:p>
          </p:txBody>
        </p:sp>
        <p:sp>
          <p:nvSpPr>
            <p:cNvPr id="44" name="TextBox 44"/>
            <p:cNvSpPr txBox="1"/>
            <p:nvPr/>
          </p:nvSpPr>
          <p:spPr>
            <a:xfrm>
              <a:off x="526542" y="5626100"/>
              <a:ext cx="2870330"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운전석 · GroundWatch Patrol 앱</a:t>
              </a:r>
            </a:p>
          </p:txBody>
        </p:sp>
        <p:sp>
          <p:nvSpPr>
            <p:cNvPr id="45" name="TextBox 45"/>
            <p:cNvSpPr txBox="1"/>
            <p:nvPr/>
          </p:nvSpPr>
          <p:spPr>
            <a:xfrm>
              <a:off x="527304" y="5886450"/>
              <a:ext cx="4543501"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순찰경로·재확인 지점·장비 상태, 도착 전 안전 정차 위치 안내</a:t>
              </a:r>
            </a:p>
          </p:txBody>
        </p:sp>
      </p:grpSp>
      <p:grpSp>
        <p:nvGrpSpPr>
          <p:cNvPr id="67" name="ar-panel"/>
          <p:cNvGrpSpPr/>
          <p:nvPr/>
        </p:nvGrpSpPr>
        <p:grpSpPr>
          <a:xfrm>
            <a:off x="6089142" y="2381250"/>
            <a:ext cx="5569458" cy="3739896"/>
            <a:chOff x="6089142" y="2381250"/>
            <a:chExt cx="5569458" cy="3739896"/>
          </a:xfrm>
        </p:grpSpPr>
        <p:pic>
          <p:nvPicPr>
            <p:cNvPr id="47" name="Image 47"/>
            <p:cNvPicPr>
              <a:picLocks noChangeAspect="1"/>
            </p:cNvPicPr>
            <p:nvPr/>
          </p:nvPicPr>
          <p:blipFill>
            <a:blip r:embed="rId3"/>
            <a:srcRect l="0" t="7620" r="0" b="7620"/>
            <a:stretch>
              <a:fillRect/>
            </a:stretch>
          </p:blipFill>
          <p:spPr>
            <a:xfrm>
              <a:off x="6096000" y="2381250"/>
              <a:ext cx="5562600" cy="3143250"/>
            </a:xfrm>
            <a:prstGeom prst="rect">
              <a:avLst/>
            </a:prstGeom>
          </p:spPr>
        </p:pic>
        <p:sp>
          <p:nvSpPr>
            <p:cNvPr id="48" name="Polygon 48"/>
            <p:cNvSpPr/>
            <p:nvPr/>
          </p:nvSpPr>
          <p:spPr>
            <a:xfrm>
              <a:off x="8096250" y="4171950"/>
              <a:ext cx="1895475" cy="666750"/>
            </a:xfrm>
            <a:custGeom>
              <a:avLst/>
              <a:gdLst/>
              <a:ahLst/>
              <a:cxnLst/>
              <a:rect l="l" t="t" r="r" b="b"/>
              <a:pathLst>
                <a:path w="1895475" h="666750">
                  <a:moveTo>
                    <a:pt x="561975" y="0"/>
                  </a:moveTo>
                  <a:lnTo>
                    <a:pt x="1333500" y="0"/>
                  </a:lnTo>
                  <a:lnTo>
                    <a:pt x="1895475" y="666750"/>
                  </a:lnTo>
                  <a:lnTo>
                    <a:pt x="0" y="666750"/>
                  </a:lnTo>
                  <a:close/>
                </a:path>
              </a:pathLst>
            </a:custGeom>
            <a:solidFill>
              <a:srgbClr val="F5B700">
                <a:alpha val="26000"/>
              </a:srgbClr>
            </a:solidFill>
            <a:ln w="23812">
              <a:solidFill>
                <a:srgbClr val="F5B700"/>
              </a:solidFill>
            </a:ln>
          </p:spPr>
        </p:sp>
        <p:grpSp>
          <p:nvGrpSpPr>
            <p:cNvPr id="52" name="Group 52"/>
            <p:cNvGrpSpPr/>
            <p:nvPr/>
          </p:nvGrpSpPr>
          <p:grpSpPr>
            <a:xfrm>
              <a:off x="8229600" y="4343400"/>
              <a:ext cx="1628775" cy="352425"/>
              <a:chOff x="8229600" y="4343400"/>
              <a:chExt cx="1628775" cy="352425"/>
            </a:xfrm>
          </p:grpSpPr>
          <p:sp>
            <p:nvSpPr>
              <p:cNvPr id="49" name="Line 49"/>
              <p:cNvSpPr/>
              <p:nvPr/>
            </p:nvSpPr>
            <p:spPr>
              <a:xfrm>
                <a:off x="8515350" y="4343400"/>
                <a:ext cx="1057275" cy="9525"/>
              </a:xfrm>
              <a:custGeom>
                <a:avLst/>
                <a:gdLst/>
                <a:ahLst/>
                <a:cxnLst/>
                <a:rect l="l" t="t" r="r" b="b"/>
                <a:pathLst>
                  <a:path w="1057275" h="9525">
                    <a:moveTo>
                      <a:pt x="0" y="0"/>
                    </a:moveTo>
                    <a:lnTo>
                      <a:pt x="1057275" y="0"/>
                    </a:lnTo>
                  </a:path>
                </a:pathLst>
              </a:custGeom>
              <a:noFill/>
              <a:ln w="14288">
                <a:solidFill>
                  <a:srgbClr val="F5B700"/>
                </a:solidFill>
                <a:custDash>
                  <a:ds d="400000" sp="266667"/>
                </a:custDash>
              </a:ln>
            </p:spPr>
          </p:sp>
          <p:sp>
            <p:nvSpPr>
              <p:cNvPr id="50" name="Line 50"/>
              <p:cNvSpPr/>
              <p:nvPr/>
            </p:nvSpPr>
            <p:spPr>
              <a:xfrm>
                <a:off x="8372475" y="4514850"/>
                <a:ext cx="1343025" cy="9525"/>
              </a:xfrm>
              <a:custGeom>
                <a:avLst/>
                <a:gdLst/>
                <a:ahLst/>
                <a:cxnLst/>
                <a:rect l="l" t="t" r="r" b="b"/>
                <a:pathLst>
                  <a:path w="1343025" h="9525">
                    <a:moveTo>
                      <a:pt x="0" y="0"/>
                    </a:moveTo>
                    <a:lnTo>
                      <a:pt x="1343025" y="0"/>
                    </a:lnTo>
                  </a:path>
                </a:pathLst>
              </a:custGeom>
              <a:noFill/>
              <a:ln w="14288">
                <a:solidFill>
                  <a:srgbClr val="F5B700"/>
                </a:solidFill>
                <a:custDash>
                  <a:ds d="400000" sp="266667"/>
                </a:custDash>
              </a:ln>
            </p:spPr>
          </p:sp>
          <p:sp>
            <p:nvSpPr>
              <p:cNvPr id="51" name="Line 51"/>
              <p:cNvSpPr/>
              <p:nvPr/>
            </p:nvSpPr>
            <p:spPr>
              <a:xfrm>
                <a:off x="8229600" y="4686300"/>
                <a:ext cx="1628775" cy="9525"/>
              </a:xfrm>
              <a:custGeom>
                <a:avLst/>
                <a:gdLst/>
                <a:ahLst/>
                <a:cxnLst/>
                <a:rect l="l" t="t" r="r" b="b"/>
                <a:pathLst>
                  <a:path w="1628775" h="9525">
                    <a:moveTo>
                      <a:pt x="0" y="0"/>
                    </a:moveTo>
                    <a:lnTo>
                      <a:pt x="1628775" y="0"/>
                    </a:lnTo>
                  </a:path>
                </a:pathLst>
              </a:custGeom>
              <a:noFill/>
              <a:ln w="14288">
                <a:solidFill>
                  <a:srgbClr val="F5B700"/>
                </a:solidFill>
                <a:custDash>
                  <a:ds d="400000" sp="266667"/>
                </a:custDash>
              </a:ln>
            </p:spPr>
          </p:sp>
        </p:grpSp>
        <p:sp>
          <p:nvSpPr>
            <p:cNvPr id="53" name="Ellipse 53"/>
            <p:cNvSpPr/>
            <p:nvPr/>
          </p:nvSpPr>
          <p:spPr>
            <a:xfrm>
              <a:off x="7943850" y="4933950"/>
              <a:ext cx="1866900" cy="628650"/>
            </a:xfrm>
            <a:prstGeom prst="ellipse">
              <a:avLst/>
            </a:prstGeom>
            <a:noFill/>
            <a:ln w="23812">
              <a:solidFill>
                <a:srgbClr val="FFFFFF"/>
              </a:solidFill>
            </a:ln>
          </p:spPr>
        </p:sp>
        <p:sp>
          <p:nvSpPr>
            <p:cNvPr id="54" name="Rectangle 54"/>
            <p:cNvSpPr/>
            <p:nvPr/>
          </p:nvSpPr>
          <p:spPr>
            <a:xfrm>
              <a:off x="9906000" y="5086350"/>
              <a:ext cx="1066800" cy="209550"/>
            </a:xfrm>
            <a:prstGeom prst="roundRect">
              <a:avLst>
                <a:gd name="adj" fmla="val 13636"/>
              </a:avLst>
            </a:prstGeom>
            <a:solidFill>
              <a:srgbClr val="0B1E3C">
                <a:alpha val="85000"/>
              </a:srgbClr>
            </a:solidFill>
            <a:ln>
              <a:noFill/>
            </a:ln>
          </p:spPr>
        </p:sp>
        <p:sp>
          <p:nvSpPr>
            <p:cNvPr id="55" name="TextBox 55"/>
            <p:cNvSpPr txBox="1"/>
            <p:nvPr/>
          </p:nvSpPr>
          <p:spPr>
            <a:xfrm>
              <a:off x="10004527" y="5124450"/>
              <a:ext cx="869747"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기준점 1 · 맨홀</a:t>
              </a:r>
            </a:p>
          </p:txBody>
        </p:sp>
        <p:sp>
          <p:nvSpPr>
            <p:cNvPr id="56" name="Ellipse 56"/>
            <p:cNvSpPr/>
            <p:nvPr/>
          </p:nvSpPr>
          <p:spPr>
            <a:xfrm>
              <a:off x="7267575" y="4705350"/>
              <a:ext cx="133350" cy="133350"/>
            </a:xfrm>
            <a:prstGeom prst="ellipse">
              <a:avLst/>
            </a:prstGeom>
            <a:noFill/>
            <a:ln w="23812">
              <a:solidFill>
                <a:srgbClr val="FFFFFF"/>
              </a:solidFill>
            </a:ln>
          </p:spPr>
        </p:sp>
        <p:sp>
          <p:nvSpPr>
            <p:cNvPr id="57" name="Rectangle 57"/>
            <p:cNvSpPr/>
            <p:nvPr/>
          </p:nvSpPr>
          <p:spPr>
            <a:xfrm>
              <a:off x="6286500" y="4362450"/>
              <a:ext cx="1181100" cy="209550"/>
            </a:xfrm>
            <a:prstGeom prst="roundRect">
              <a:avLst>
                <a:gd name="adj" fmla="val 13636"/>
              </a:avLst>
            </a:prstGeom>
            <a:solidFill>
              <a:srgbClr val="0B1E3C">
                <a:alpha val="85000"/>
              </a:srgbClr>
            </a:solidFill>
            <a:ln>
              <a:noFill/>
            </a:ln>
          </p:spPr>
        </p:sp>
        <p:sp>
          <p:nvSpPr>
            <p:cNvPr id="58" name="TextBox 58"/>
            <p:cNvSpPr txBox="1"/>
            <p:nvPr/>
          </p:nvSpPr>
          <p:spPr>
            <a:xfrm>
              <a:off x="6381598" y="4400550"/>
              <a:ext cx="990905"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기준점 2 · 경계석</a:t>
              </a:r>
            </a:p>
          </p:txBody>
        </p:sp>
        <p:sp>
          <p:nvSpPr>
            <p:cNvPr id="59" name="Rectangle 59"/>
            <p:cNvSpPr/>
            <p:nvPr/>
          </p:nvSpPr>
          <p:spPr>
            <a:xfrm>
              <a:off x="6096000" y="2381250"/>
              <a:ext cx="5562600" cy="228600"/>
            </a:xfrm>
            <a:prstGeom prst="rect">
              <a:avLst/>
            </a:prstGeom>
            <a:solidFill>
              <a:srgbClr val="C62828">
                <a:alpha val="92000"/>
              </a:srgbClr>
            </a:solidFill>
            <a:ln>
              <a:noFill/>
            </a:ln>
          </p:spPr>
        </p:sp>
        <p:sp>
          <p:nvSpPr>
            <p:cNvPr id="60" name="TextBox 60"/>
            <p:cNvSpPr txBox="1"/>
            <p:nvPr/>
          </p:nvSpPr>
          <p:spPr>
            <a:xfrm>
              <a:off x="6762062" y="2428875"/>
              <a:ext cx="4230475"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GPR 기반 추정 위치입니다. 굴착 전 정밀조사와 관계기관 승인이 필요합니다.</a:t>
              </a:r>
            </a:p>
          </p:txBody>
        </p:sp>
        <p:sp>
          <p:nvSpPr>
            <p:cNvPr id="61" name="Rectangle 61"/>
            <p:cNvSpPr/>
            <p:nvPr/>
          </p:nvSpPr>
          <p:spPr>
            <a:xfrm>
              <a:off x="6248400" y="2724150"/>
              <a:ext cx="2571750" cy="685800"/>
            </a:xfrm>
            <a:prstGeom prst="roundRect">
              <a:avLst>
                <a:gd name="adj" fmla="val 8333"/>
              </a:avLst>
            </a:prstGeom>
            <a:solidFill>
              <a:srgbClr val="0B1E3C">
                <a:alpha val="85000"/>
              </a:srgbClr>
            </a:solidFill>
            <a:ln>
              <a:noFill/>
            </a:ln>
          </p:spPr>
        </p:sp>
        <p:sp>
          <p:nvSpPr>
            <p:cNvPr id="62" name="TextBox 62"/>
            <p:cNvSpPr txBox="1"/>
            <p:nvPr/>
          </p:nvSpPr>
          <p:spPr>
            <a:xfrm>
              <a:off x="6395085" y="2813050"/>
              <a:ext cx="2265102"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재확인 R-0427 · 재탐사 3 / 4회</a:t>
              </a:r>
            </a:p>
          </p:txBody>
        </p:sp>
        <p:sp>
          <p:nvSpPr>
            <p:cNvPr id="63" name="TextBox 63"/>
            <p:cNvSpPr txBox="1"/>
            <p:nvPr/>
          </p:nvSpPr>
          <p:spPr>
            <a:xfrm>
              <a:off x="6395847" y="3038475"/>
              <a:ext cx="2549512" cy="191643"/>
            </a:xfrm>
            <a:prstGeom prst="rect">
              <a:avLst/>
            </a:prstGeom>
            <a:noFill/>
            <a:ln>
              <a:noFill/>
            </a:ln>
          </p:spPr>
          <p:txBody>
            <a:bodyPr wrap="none" lIns="0" tIns="0" rIns="0" bIns="0" anchor="t" anchorCtr="0">
              <a:spAutoFit/>
            </a:bodyPr>
            <a:lstStyle/>
            <a:p>
              <a:pPr algn="l"/>
              <a:r>
                <a:rPr lang="ko-KR" sz="980" dirty="0">
                  <a:solidFill>
                    <a:srgbClr val="E5E9F0"/>
                  </a:solidFill>
                  <a:latin typeface="+mn-lt"/>
                  <a:ea typeface="+mn-ea"/>
                  <a:cs typeface="+mn-cs"/>
                </a:rPr>
                <a:t>추정 깊이 0.9~1.3m · 지난 회차 대비 신규</a:t>
              </a:r>
            </a:p>
          </p:txBody>
        </p:sp>
        <p:sp>
          <p:nvSpPr>
            <p:cNvPr id="64" name="TextBox 64"/>
            <p:cNvSpPr txBox="1"/>
            <p:nvPr/>
          </p:nvSpPr>
          <p:spPr>
            <a:xfrm>
              <a:off x="6396038" y="3209925"/>
              <a:ext cx="2559901" cy="176212"/>
            </a:xfrm>
            <a:prstGeom prst="rect">
              <a:avLst/>
            </a:prstGeom>
            <a:noFill/>
            <a:ln>
              <a:noFill/>
            </a:ln>
          </p:spPr>
          <p:txBody>
            <a:bodyPr wrap="none" lIns="0" tIns="0" rIns="0" bIns="0" anchor="t" anchorCtr="0">
              <a:spAutoFit/>
            </a:bodyPr>
            <a:lstStyle/>
            <a:p>
              <a:pPr algn="l"/>
              <a:r>
                <a:rPr lang="ko-KR" sz="900" dirty="0">
                  <a:solidFill>
                    <a:srgbClr val="C9D3E2"/>
                  </a:solidFill>
                  <a:latin typeface="+mn-lt"/>
                  <a:ea typeface="+mn-ea"/>
                  <a:cs typeface="+mn-cs"/>
                </a:rPr>
                <a:t>[화면 예시] 전문가 승인 · 위치 오차 기준 충족</a:t>
              </a:r>
            </a:p>
          </p:txBody>
        </p:sp>
        <p:sp>
          <p:nvSpPr>
            <p:cNvPr id="65" name="TextBox 65"/>
            <p:cNvSpPr txBox="1"/>
            <p:nvPr/>
          </p:nvSpPr>
          <p:spPr>
            <a:xfrm>
              <a:off x="6089142" y="5626100"/>
              <a:ext cx="3922613"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차량 밖 · 산업용 AR 글래스 (정차 후 작업자만)</a:t>
              </a:r>
            </a:p>
          </p:txBody>
        </p:sp>
        <p:sp>
          <p:nvSpPr>
            <p:cNvPr id="66" name="TextBox 66"/>
            <p:cNvSpPr txBox="1"/>
            <p:nvPr/>
          </p:nvSpPr>
          <p:spPr>
            <a:xfrm>
              <a:off x="6089904" y="5886450"/>
              <a:ext cx="4286707"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두 손으로 수동 GPR을 미는 동안 재탐사 범위를 눈앞에 표시</a:t>
              </a:r>
            </a:p>
          </p:txBody>
        </p:sp>
      </p:grpSp>
      <p:grpSp>
        <p:nvGrpSpPr>
          <p:cNvPr id="69" name="source"/>
          <p:cNvGrpSpPr/>
          <p:nvPr/>
        </p:nvGrpSpPr>
        <p:grpSpPr>
          <a:xfrm>
            <a:off x="528447" y="6343650"/>
            <a:ext cx="8746670" cy="191643"/>
            <a:chOff x="528447" y="6343650"/>
            <a:chExt cx="8746670" cy="191643"/>
          </a:xfrm>
        </p:grpSpPr>
        <p:sp>
          <p:nvSpPr>
            <p:cNvPr id="68" name="TextBox 68"/>
            <p:cNvSpPr txBox="1"/>
            <p:nvPr/>
          </p:nvSpPr>
          <p:spPr>
            <a:xfrm>
              <a:off x="528447" y="6343650"/>
              <a:ext cx="8746670"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2인 1조 운용 · 운전자는 주행 중 AR 미사용 · 앱 배포는 기아 PBV 파트너 승인 필요 · 화면 수치는 예시 · 실내 사진: Alexander Migl, CC BY-SA 4.0</a:t>
              </a:r>
            </a:p>
          </p:txBody>
        </p:sp>
      </p:grpSp>
      <p:grpSp>
        <p:nvGrpSpPr>
          <p:cNvPr id="72" name="footer"/>
          <p:cNvGrpSpPr/>
          <p:nvPr/>
        </p:nvGrpSpPr>
        <p:grpSpPr>
          <a:xfrm>
            <a:off x="528638" y="6610350"/>
            <a:ext cx="11134724" cy="176212"/>
            <a:chOff x="528638" y="6610350"/>
            <a:chExt cx="11134724" cy="176212"/>
          </a:xfrm>
        </p:grpSpPr>
        <p:sp>
          <p:nvSpPr>
            <p:cNvPr id="70" name="TextBox 70"/>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71" name="TextBox 71"/>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08 / 15</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19241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PV5 이동형 탐사실</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695090" y="301625"/>
              <a:ext cx="269420" cy="205359"/>
            </a:xfrm>
            <a:prstGeom prst="rect">
              <a:avLst/>
            </a:prstGeom>
            <a:noFill/>
            <a:ln>
              <a:noFill/>
            </a:ln>
          </p:spPr>
          <p:txBody>
            <a:bodyPr wrap="none" lIns="0" tIns="0" rIns="0" bIns="0" anchor="t" anchorCtr="0">
              <a:spAutoFit/>
            </a:bodyPr>
            <a:lstStyle/>
            <a:p>
              <a:pPr algn="ctr"/>
              <a:r>
                <a:rPr lang="en-US" sz="1050" b="1" dirty="0">
                  <a:solidFill>
                    <a:srgbClr val="0B1E3C"/>
                  </a:solidFill>
                  <a:latin typeface="+mn-lt"/>
                  <a:ea typeface="+mn-ea"/>
                  <a:cs typeface="+mn-cs"/>
                </a:rPr>
                <a:t>PV5</a:t>
              </a:r>
            </a:p>
          </p:txBody>
        </p:sp>
        <p:sp>
          <p:nvSpPr>
            <p:cNvPr id="10" name="Rectangle 10"/>
            <p:cNvSpPr/>
            <p:nvPr/>
          </p:nvSpPr>
          <p:spPr>
            <a:xfrm>
              <a:off x="9601200" y="514350"/>
              <a:ext cx="457200" cy="28575"/>
            </a:xfrm>
            <a:prstGeom prst="rect">
              <a:avLst/>
            </a:prstGeom>
            <a:solidFill>
              <a:srgbClr val="F5B700"/>
            </a:solidFill>
            <a:ln>
              <a:noFill/>
            </a:ln>
          </p:spPr>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9168708" cy="586740"/>
            <a:chOff x="518160" y="774700"/>
            <a:chExt cx="9168708" cy="586740"/>
          </a:xfrm>
        </p:grpSpPr>
        <p:sp>
          <p:nvSpPr>
            <p:cNvPr id="17" name="TextBox 17"/>
            <p:cNvSpPr txBox="1"/>
            <p:nvPr/>
          </p:nvSpPr>
          <p:spPr>
            <a:xfrm>
              <a:off x="518160" y="774700"/>
              <a:ext cx="9168708"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PV5 한 대에 탐사실이 들어가고, 차량과 연결됩니다</a:t>
              </a:r>
            </a:p>
          </p:txBody>
        </p:sp>
      </p:grpSp>
      <p:grpSp>
        <p:nvGrpSpPr>
          <p:cNvPr id="34" name="cutaway"/>
          <p:cNvGrpSpPr/>
          <p:nvPr/>
        </p:nvGrpSpPr>
        <p:grpSpPr>
          <a:xfrm>
            <a:off x="527685" y="1428750"/>
            <a:ext cx="5911215" cy="4096893"/>
            <a:chOff x="527685" y="1428750"/>
            <a:chExt cx="5911215" cy="4096893"/>
          </a:xfrm>
        </p:grpSpPr>
        <p:pic>
          <p:nvPicPr>
            <p:cNvPr id="19" name="Image 19"/>
            <p:cNvPicPr>
              <a:picLocks noChangeAspect="1"/>
            </p:cNvPicPr>
            <p:nvPr/>
          </p:nvPicPr>
          <p:blipFill>
            <a:blip r:embed="rId2"/>
            <a:stretch>
              <a:fillRect/>
            </a:stretch>
          </p:blipFill>
          <p:spPr>
            <a:xfrm>
              <a:off x="533400" y="1428750"/>
              <a:ext cx="5905500" cy="3324225"/>
            </a:xfrm>
            <a:prstGeom prst="rect">
              <a:avLst/>
            </a:prstGeom>
          </p:spPr>
        </p:pic>
        <p:grpSp>
          <p:nvGrpSpPr>
            <p:cNvPr id="28" name="Group 28"/>
            <p:cNvGrpSpPr/>
            <p:nvPr/>
          </p:nvGrpSpPr>
          <p:grpSpPr>
            <a:xfrm>
              <a:off x="2876550" y="2428875"/>
              <a:ext cx="2724150" cy="1969738"/>
              <a:chOff x="2876550" y="2428875"/>
              <a:chExt cx="2724150" cy="1969738"/>
            </a:xfrm>
          </p:grpSpPr>
          <p:sp>
            <p:nvSpPr>
              <p:cNvPr id="20" name="Ellipse 20"/>
              <p:cNvSpPr/>
              <p:nvPr/>
            </p:nvSpPr>
            <p:spPr>
              <a:xfrm>
                <a:off x="2876550" y="2676525"/>
                <a:ext cx="323850" cy="323850"/>
              </a:xfrm>
              <a:prstGeom prst="ellipse">
                <a:avLst/>
              </a:prstGeom>
              <a:solidFill>
                <a:srgbClr val="F5B700"/>
              </a:solidFill>
              <a:ln w="19050">
                <a:solidFill>
                  <a:srgbClr val="0B1E3C"/>
                </a:solidFill>
              </a:ln>
            </p:spPr>
          </p:sp>
          <p:sp>
            <p:nvSpPr>
              <p:cNvPr id="21" name="TextBox 21"/>
              <p:cNvSpPr txBox="1"/>
              <p:nvPr/>
            </p:nvSpPr>
            <p:spPr>
              <a:xfrm>
                <a:off x="2983093" y="2743200"/>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A</a:t>
                </a:r>
              </a:p>
            </p:txBody>
          </p:sp>
          <p:sp>
            <p:nvSpPr>
              <p:cNvPr id="22" name="Ellipse 22"/>
              <p:cNvSpPr/>
              <p:nvPr/>
            </p:nvSpPr>
            <p:spPr>
              <a:xfrm>
                <a:off x="4114800" y="2428875"/>
                <a:ext cx="323850" cy="323850"/>
              </a:xfrm>
              <a:prstGeom prst="ellipse">
                <a:avLst/>
              </a:prstGeom>
              <a:solidFill>
                <a:srgbClr val="F5B700"/>
              </a:solidFill>
              <a:ln w="19050">
                <a:solidFill>
                  <a:srgbClr val="0B1E3C"/>
                </a:solidFill>
              </a:ln>
            </p:spPr>
          </p:sp>
          <p:sp>
            <p:nvSpPr>
              <p:cNvPr id="23" name="TextBox 23"/>
              <p:cNvSpPr txBox="1"/>
              <p:nvPr/>
            </p:nvSpPr>
            <p:spPr>
              <a:xfrm>
                <a:off x="4221343" y="2495550"/>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B</a:t>
                </a:r>
              </a:p>
            </p:txBody>
          </p:sp>
          <p:sp>
            <p:nvSpPr>
              <p:cNvPr id="24" name="Ellipse 24"/>
              <p:cNvSpPr/>
              <p:nvPr/>
            </p:nvSpPr>
            <p:spPr>
              <a:xfrm>
                <a:off x="5276850" y="2428875"/>
                <a:ext cx="323850" cy="323850"/>
              </a:xfrm>
              <a:prstGeom prst="ellipse">
                <a:avLst/>
              </a:prstGeom>
              <a:solidFill>
                <a:srgbClr val="F5B700"/>
              </a:solidFill>
              <a:ln w="19050">
                <a:solidFill>
                  <a:srgbClr val="0B1E3C"/>
                </a:solidFill>
              </a:ln>
            </p:spPr>
          </p:sp>
          <p:sp>
            <p:nvSpPr>
              <p:cNvPr id="25" name="TextBox 25"/>
              <p:cNvSpPr txBox="1"/>
              <p:nvPr/>
            </p:nvSpPr>
            <p:spPr>
              <a:xfrm>
                <a:off x="5383393" y="2495550"/>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C</a:t>
                </a:r>
              </a:p>
            </p:txBody>
          </p:sp>
          <p:sp>
            <p:nvSpPr>
              <p:cNvPr id="26" name="Ellipse 26"/>
              <p:cNvSpPr/>
              <p:nvPr/>
            </p:nvSpPr>
            <p:spPr>
              <a:xfrm>
                <a:off x="4592212" y="4074763"/>
                <a:ext cx="323850" cy="323850"/>
              </a:xfrm>
              <a:prstGeom prst="ellipse">
                <a:avLst/>
              </a:prstGeom>
              <a:solidFill>
                <a:srgbClr val="F5B700"/>
              </a:solidFill>
              <a:ln w="19050">
                <a:solidFill>
                  <a:srgbClr val="0B1E3C"/>
                </a:solidFill>
              </a:ln>
            </p:spPr>
          </p:sp>
          <p:sp>
            <p:nvSpPr>
              <p:cNvPr id="27" name="TextBox 27"/>
              <p:cNvSpPr txBox="1"/>
              <p:nvPr/>
            </p:nvSpPr>
            <p:spPr>
              <a:xfrm>
                <a:off x="4698755" y="4141438"/>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D</a:t>
                </a:r>
              </a:p>
            </p:txBody>
          </p:sp>
        </p:grpSp>
        <p:sp>
          <p:nvSpPr>
            <p:cNvPr id="29" name="TextBox 29"/>
            <p:cNvSpPr txBox="1"/>
            <p:nvPr/>
          </p:nvSpPr>
          <p:spPr>
            <a:xfrm>
              <a:off x="527685" y="4832350"/>
              <a:ext cx="2703009" cy="220028"/>
            </a:xfrm>
            <a:prstGeom prst="rect">
              <a:avLst/>
            </a:prstGeom>
            <a:noFill/>
            <a:ln>
              <a:noFill/>
            </a:ln>
          </p:spPr>
          <p:txBody>
            <a:bodyPr wrap="none" lIns="0" tIns="0" rIns="0" bIns="0" anchor="t" anchorCtr="0">
              <a:spAutoFit/>
            </a:bodyPr>
            <a:lstStyle/>
            <a:p>
              <a:pPr algn="l"/>
              <a:r>
                <a:rPr lang="en-US" sz="1120" b="1" dirty="0">
                  <a:solidFill>
                    <a:srgbClr val="0B1E3C"/>
                  </a:solidFill>
                  <a:latin typeface="+mn-lt"/>
                  <a:ea typeface="+mn-ea"/>
                  <a:cs typeface="+mn-cs"/>
                </a:rPr>
                <a:t>A</a:t>
              </a:r>
              <a:r>
                <a:rPr lang="ko-KR" sz="1120" dirty="0">
                  <a:solidFill>
                    <a:srgbClr val="111827"/>
                  </a:solidFill>
                  <a:latin typeface="+mn-lt"/>
                  <a:ea typeface="+mn-ea"/>
                  <a:cs typeface="+mn-cs"/>
                </a:rPr>
                <a:t xml:space="preserve"> 분석 장비 랙 (엣지 컴퓨터·GPR 제어)</a:t>
              </a:r>
            </a:p>
          </p:txBody>
        </p:sp>
        <p:sp>
          <p:nvSpPr>
            <p:cNvPr id="30" name="TextBox 30"/>
            <p:cNvSpPr txBox="1"/>
            <p:nvPr/>
          </p:nvSpPr>
          <p:spPr>
            <a:xfrm>
              <a:off x="3804285" y="4832350"/>
              <a:ext cx="1523839" cy="220028"/>
            </a:xfrm>
            <a:prstGeom prst="rect">
              <a:avLst/>
            </a:prstGeom>
            <a:noFill/>
            <a:ln>
              <a:noFill/>
            </a:ln>
          </p:spPr>
          <p:txBody>
            <a:bodyPr wrap="none" lIns="0" tIns="0" rIns="0" bIns="0" anchor="t" anchorCtr="0">
              <a:spAutoFit/>
            </a:bodyPr>
            <a:lstStyle/>
            <a:p>
              <a:pPr algn="l"/>
              <a:r>
                <a:rPr lang="en-US" sz="1120" b="1" dirty="0">
                  <a:solidFill>
                    <a:srgbClr val="0B1E3C"/>
                  </a:solidFill>
                  <a:latin typeface="+mn-lt"/>
                  <a:ea typeface="+mn-ea"/>
                  <a:cs typeface="+mn-cs"/>
                </a:rPr>
                <a:t>B</a:t>
              </a:r>
              <a:r>
                <a:rPr lang="ko-KR" sz="1120" dirty="0">
                  <a:solidFill>
                    <a:srgbClr val="111827"/>
                  </a:solidFill>
                  <a:latin typeface="+mn-lt"/>
                  <a:ea typeface="+mn-ea"/>
                  <a:cs typeface="+mn-cs"/>
                </a:rPr>
                <a:t xml:space="preserve"> 수동 GPR·AR 글래스</a:t>
              </a:r>
            </a:p>
          </p:txBody>
        </p:sp>
        <p:sp>
          <p:nvSpPr>
            <p:cNvPr id="31" name="TextBox 31"/>
            <p:cNvSpPr txBox="1"/>
            <p:nvPr/>
          </p:nvSpPr>
          <p:spPr>
            <a:xfrm>
              <a:off x="527685" y="5060950"/>
              <a:ext cx="1287010" cy="220028"/>
            </a:xfrm>
            <a:prstGeom prst="rect">
              <a:avLst/>
            </a:prstGeom>
            <a:noFill/>
            <a:ln>
              <a:noFill/>
            </a:ln>
          </p:spPr>
          <p:txBody>
            <a:bodyPr wrap="none" lIns="0" tIns="0" rIns="0" bIns="0" anchor="t" anchorCtr="0">
              <a:spAutoFit/>
            </a:bodyPr>
            <a:lstStyle/>
            <a:p>
              <a:pPr algn="l"/>
              <a:r>
                <a:rPr lang="en-US" sz="1120" b="1" dirty="0">
                  <a:solidFill>
                    <a:srgbClr val="0B1E3C"/>
                  </a:solidFill>
                  <a:latin typeface="+mn-lt"/>
                  <a:ea typeface="+mn-ea"/>
                  <a:cs typeface="+mn-cs"/>
                </a:rPr>
                <a:t>C</a:t>
              </a:r>
              <a:r>
                <a:rPr lang="ko-KR" sz="1120" dirty="0">
                  <a:solidFill>
                    <a:srgbClr val="111827"/>
                  </a:solidFill>
                  <a:latin typeface="+mn-lt"/>
                  <a:ea typeface="+mn-ea"/>
                  <a:cs typeface="+mn-cs"/>
                </a:rPr>
                <a:t xml:space="preserve"> 내시경·안전장비</a:t>
              </a:r>
            </a:p>
          </p:txBody>
        </p:sp>
        <p:sp>
          <p:nvSpPr>
            <p:cNvPr id="32" name="TextBox 32"/>
            <p:cNvSpPr txBox="1"/>
            <p:nvPr/>
          </p:nvSpPr>
          <p:spPr>
            <a:xfrm>
              <a:off x="3804285" y="5060950"/>
              <a:ext cx="2102756" cy="220028"/>
            </a:xfrm>
            <a:prstGeom prst="rect">
              <a:avLst/>
            </a:prstGeom>
            <a:noFill/>
            <a:ln>
              <a:noFill/>
            </a:ln>
          </p:spPr>
          <p:txBody>
            <a:bodyPr wrap="none" lIns="0" tIns="0" rIns="0" bIns="0" anchor="t" anchorCtr="0">
              <a:spAutoFit/>
            </a:bodyPr>
            <a:lstStyle/>
            <a:p>
              <a:pPr algn="l"/>
              <a:r>
                <a:rPr lang="en-US" sz="1120" b="1" dirty="0">
                  <a:solidFill>
                    <a:srgbClr val="0B1E3C"/>
                  </a:solidFill>
                  <a:latin typeface="+mn-lt"/>
                  <a:ea typeface="+mn-ea"/>
                  <a:cs typeface="+mn-cs"/>
                </a:rPr>
                <a:t>D</a:t>
              </a:r>
              <a:r>
                <a:rPr lang="ko-KR" sz="1120" dirty="0">
                  <a:solidFill>
                    <a:srgbClr val="111827"/>
                  </a:solidFill>
                  <a:latin typeface="+mn-lt"/>
                  <a:ea typeface="+mn-ea"/>
                  <a:cs typeface="+mn-cs"/>
                </a:rPr>
                <a:t xml:space="preserve"> 바닥 아래 차량형 다채널 GPR</a:t>
              </a:r>
            </a:p>
          </p:txBody>
        </p:sp>
        <p:sp>
          <p:nvSpPr>
            <p:cNvPr id="33" name="TextBox 33"/>
            <p:cNvSpPr txBox="1"/>
            <p:nvPr/>
          </p:nvSpPr>
          <p:spPr>
            <a:xfrm>
              <a:off x="528447" y="5334000"/>
              <a:ext cx="3661065"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콘셉트 이미지 · GPR 장착 위치는 배터리 팩 간섭 시험 후 확정</a:t>
              </a:r>
            </a:p>
          </p:txBody>
        </p:sp>
      </p:grpSp>
      <p:grpSp>
        <p:nvGrpSpPr>
          <p:cNvPr id="58" name="spec"/>
          <p:cNvGrpSpPr/>
          <p:nvPr/>
        </p:nvGrpSpPr>
        <p:grpSpPr>
          <a:xfrm>
            <a:off x="6622923" y="1466850"/>
            <a:ext cx="5187105" cy="3774059"/>
            <a:chOff x="6622923" y="1466850"/>
            <a:chExt cx="5187105" cy="3774059"/>
          </a:xfrm>
        </p:grpSpPr>
        <p:grpSp>
          <p:nvGrpSpPr>
            <p:cNvPr id="37" name="Group 37"/>
            <p:cNvGrpSpPr/>
            <p:nvPr/>
          </p:nvGrpSpPr>
          <p:grpSpPr>
            <a:xfrm>
              <a:off x="6624447" y="1466850"/>
              <a:ext cx="2877266" cy="191643"/>
              <a:chOff x="6624447" y="1466850"/>
              <a:chExt cx="2877266" cy="191643"/>
            </a:xfrm>
          </p:grpSpPr>
          <p:sp>
            <p:nvSpPr>
              <p:cNvPr id="35" name="TextBox 35"/>
              <p:cNvSpPr txBox="1"/>
              <p:nvPr/>
            </p:nvSpPr>
            <p:spPr>
              <a:xfrm>
                <a:off x="6624447" y="1466850"/>
                <a:ext cx="1148441" cy="191643"/>
              </a:xfrm>
              <a:prstGeom prst="rect">
                <a:avLst/>
              </a:prstGeom>
              <a:noFill/>
              <a:ln>
                <a:noFill/>
              </a:ln>
            </p:spPr>
            <p:txBody>
              <a:bodyPr wrap="none" lIns="0" tIns="0" rIns="0" bIns="0" anchor="t" anchorCtr="0">
                <a:spAutoFit/>
              </a:bodyPr>
              <a:lstStyle/>
              <a:p>
                <a:pPr algn="l"/>
                <a:r>
                  <a:rPr lang="ko-KR" sz="980" b="1" dirty="0">
                    <a:solidFill>
                      <a:srgbClr val="4B5563"/>
                    </a:solidFill>
                    <a:latin typeface="+mn-lt"/>
                    <a:ea typeface="+mn-ea"/>
                    <a:cs typeface="+mn-cs"/>
                  </a:rPr>
                  <a:t>탐사실에 필요한 것</a:t>
                </a:r>
              </a:p>
            </p:txBody>
          </p:sp>
          <p:sp>
            <p:nvSpPr>
              <p:cNvPr id="36" name="TextBox 36"/>
              <p:cNvSpPr txBox="1"/>
              <p:nvPr/>
            </p:nvSpPr>
            <p:spPr>
              <a:xfrm>
                <a:off x="8243697" y="1466850"/>
                <a:ext cx="1258016" cy="191643"/>
              </a:xfrm>
              <a:prstGeom prst="rect">
                <a:avLst/>
              </a:prstGeom>
              <a:noFill/>
              <a:ln>
                <a:noFill/>
              </a:ln>
            </p:spPr>
            <p:txBody>
              <a:bodyPr wrap="none" lIns="0" tIns="0" rIns="0" bIns="0" anchor="t" anchorCtr="0">
                <a:spAutoFit/>
              </a:bodyPr>
              <a:lstStyle/>
              <a:p>
                <a:pPr algn="l"/>
                <a:r>
                  <a:rPr lang="ko-KR" sz="980" b="1" dirty="0">
                    <a:solidFill>
                      <a:srgbClr val="4B5563"/>
                    </a:solidFill>
                    <a:latin typeface="+mn-lt"/>
                    <a:ea typeface="+mn-ea"/>
                    <a:cs typeface="+mn-cs"/>
                  </a:rPr>
                  <a:t>PV5에서 확인된 사양</a:t>
                </a:r>
              </a:p>
            </p:txBody>
          </p:sp>
        </p:grpSp>
        <p:sp>
          <p:nvSpPr>
            <p:cNvPr id="38" name="Line 38"/>
            <p:cNvSpPr/>
            <p:nvPr/>
          </p:nvSpPr>
          <p:spPr>
            <a:xfrm>
              <a:off x="6629400" y="1695450"/>
              <a:ext cx="5029200" cy="9525"/>
            </a:xfrm>
            <a:custGeom>
              <a:avLst/>
              <a:gdLst/>
              <a:ahLst/>
              <a:cxnLst/>
              <a:rect l="l" t="t" r="r" b="b"/>
              <a:pathLst>
                <a:path w="5029200" h="9525">
                  <a:moveTo>
                    <a:pt x="0" y="0"/>
                  </a:moveTo>
                  <a:lnTo>
                    <a:pt x="5029200" y="0"/>
                  </a:lnTo>
                </a:path>
              </a:pathLst>
            </a:custGeom>
            <a:noFill/>
            <a:ln w="14288">
              <a:solidFill>
                <a:srgbClr val="0B1E3C"/>
              </a:solidFill>
            </a:ln>
          </p:spPr>
        </p:sp>
        <p:sp>
          <p:nvSpPr>
            <p:cNvPr id="39" name="TextBox 39"/>
            <p:cNvSpPr txBox="1"/>
            <p:nvPr/>
          </p:nvSpPr>
          <p:spPr>
            <a:xfrm>
              <a:off x="6622923" y="1885950"/>
              <a:ext cx="756487"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장비 적재</a:t>
              </a:r>
            </a:p>
          </p:txBody>
        </p:sp>
        <p:sp>
          <p:nvSpPr>
            <p:cNvPr id="40" name="TextBox 40"/>
            <p:cNvSpPr txBox="1"/>
            <p:nvPr/>
          </p:nvSpPr>
          <p:spPr>
            <a:xfrm>
              <a:off x="8242554" y="1885950"/>
              <a:ext cx="2494940"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카고룸 4,420L · 최대 적재 600kg</a:t>
              </a:r>
            </a:p>
          </p:txBody>
        </p:sp>
        <p:sp>
          <p:nvSpPr>
            <p:cNvPr id="41" name="TextBox 41"/>
            <p:cNvSpPr txBox="1"/>
            <p:nvPr/>
          </p:nvSpPr>
          <p:spPr>
            <a:xfrm>
              <a:off x="8243316" y="2139950"/>
              <a:ext cx="2936634"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장비 약 300kg + 2인 약 150kg = 450kg [가설]</a:t>
              </a:r>
            </a:p>
          </p:txBody>
        </p:sp>
        <p:sp>
          <p:nvSpPr>
            <p:cNvPr id="42" name="Line 42"/>
            <p:cNvSpPr/>
            <p:nvPr/>
          </p:nvSpPr>
          <p:spPr>
            <a:xfrm>
              <a:off x="6629400" y="2457450"/>
              <a:ext cx="5029200" cy="9525"/>
            </a:xfrm>
            <a:custGeom>
              <a:avLst/>
              <a:gdLst/>
              <a:ahLst/>
              <a:cxnLst/>
              <a:rect l="l" t="t" r="r" b="b"/>
              <a:pathLst>
                <a:path w="5029200" h="9525">
                  <a:moveTo>
                    <a:pt x="0" y="0"/>
                  </a:moveTo>
                  <a:lnTo>
                    <a:pt x="5029200" y="0"/>
                  </a:lnTo>
                </a:path>
              </a:pathLst>
            </a:custGeom>
            <a:noFill/>
            <a:ln w="9525">
              <a:solidFill>
                <a:srgbClr val="E2E6EC"/>
              </a:solidFill>
            </a:ln>
          </p:spPr>
        </p:sp>
        <p:sp>
          <p:nvSpPr>
            <p:cNvPr id="43" name="TextBox 43"/>
            <p:cNvSpPr txBox="1"/>
            <p:nvPr/>
          </p:nvSpPr>
          <p:spPr>
            <a:xfrm>
              <a:off x="6622923" y="2609850"/>
              <a:ext cx="756487"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장비 전원</a:t>
              </a:r>
            </a:p>
          </p:txBody>
        </p:sp>
        <p:sp>
          <p:nvSpPr>
            <p:cNvPr id="44" name="TextBox 44"/>
            <p:cNvSpPr txBox="1"/>
            <p:nvPr/>
          </p:nvSpPr>
          <p:spPr>
            <a:xfrm>
              <a:off x="8242554" y="2609850"/>
              <a:ext cx="3012796"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실내·실외 V2L (최대 3.6kW, 해외 제원)</a:t>
              </a:r>
            </a:p>
          </p:txBody>
        </p:sp>
        <p:sp>
          <p:nvSpPr>
            <p:cNvPr id="45" name="TextBox 45"/>
            <p:cNvSpPr txBox="1"/>
            <p:nvPr/>
          </p:nvSpPr>
          <p:spPr>
            <a:xfrm>
              <a:off x="8243316" y="2863850"/>
              <a:ext cx="3566712"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장비 약 1.5kW · 하루 약 10kWh = 배터리의 14% [가설]</a:t>
              </a:r>
            </a:p>
          </p:txBody>
        </p:sp>
        <p:sp>
          <p:nvSpPr>
            <p:cNvPr id="46" name="Line 46"/>
            <p:cNvSpPr/>
            <p:nvPr/>
          </p:nvSpPr>
          <p:spPr>
            <a:xfrm>
              <a:off x="6629400" y="3181350"/>
              <a:ext cx="5029200" cy="9525"/>
            </a:xfrm>
            <a:custGeom>
              <a:avLst/>
              <a:gdLst/>
              <a:ahLst/>
              <a:cxnLst/>
              <a:rect l="l" t="t" r="r" b="b"/>
              <a:pathLst>
                <a:path w="5029200" h="9525">
                  <a:moveTo>
                    <a:pt x="0" y="0"/>
                  </a:moveTo>
                  <a:lnTo>
                    <a:pt x="5029200" y="0"/>
                  </a:lnTo>
                </a:path>
              </a:pathLst>
            </a:custGeom>
            <a:noFill/>
            <a:ln w="9525">
              <a:solidFill>
                <a:srgbClr val="E2E6EC"/>
              </a:solidFill>
            </a:ln>
          </p:spPr>
        </p:sp>
        <p:sp>
          <p:nvSpPr>
            <p:cNvPr id="47" name="TextBox 47"/>
            <p:cNvSpPr txBox="1"/>
            <p:nvPr/>
          </p:nvSpPr>
          <p:spPr>
            <a:xfrm>
              <a:off x="6622923" y="3333750"/>
              <a:ext cx="1155393"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같은 위치 고정</a:t>
              </a:r>
            </a:p>
          </p:txBody>
        </p:sp>
        <p:sp>
          <p:nvSpPr>
            <p:cNvPr id="48" name="TextBox 48"/>
            <p:cNvSpPr txBox="1"/>
            <p:nvPr/>
          </p:nvSpPr>
          <p:spPr>
            <a:xfrm>
              <a:off x="8242554" y="3333750"/>
              <a:ext cx="2674925"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L-Track·몰리 패널 (순정 액세서리)</a:t>
              </a:r>
            </a:p>
          </p:txBody>
        </p:sp>
        <p:sp>
          <p:nvSpPr>
            <p:cNvPr id="49" name="TextBox 49"/>
            <p:cNvSpPr txBox="1"/>
            <p:nvPr/>
          </p:nvSpPr>
          <p:spPr>
            <a:xfrm>
              <a:off x="8243316" y="3587750"/>
              <a:ext cx="1692745"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회차마다 같은 자리에 장착</a:t>
              </a:r>
            </a:p>
          </p:txBody>
        </p:sp>
        <p:sp>
          <p:nvSpPr>
            <p:cNvPr id="50" name="Line 50"/>
            <p:cNvSpPr/>
            <p:nvPr/>
          </p:nvSpPr>
          <p:spPr>
            <a:xfrm>
              <a:off x="6629400" y="3905250"/>
              <a:ext cx="5029200" cy="9525"/>
            </a:xfrm>
            <a:custGeom>
              <a:avLst/>
              <a:gdLst/>
              <a:ahLst/>
              <a:cxnLst/>
              <a:rect l="l" t="t" r="r" b="b"/>
              <a:pathLst>
                <a:path w="5029200" h="9525">
                  <a:moveTo>
                    <a:pt x="0" y="0"/>
                  </a:moveTo>
                  <a:lnTo>
                    <a:pt x="5029200" y="0"/>
                  </a:lnTo>
                </a:path>
              </a:pathLst>
            </a:custGeom>
            <a:noFill/>
            <a:ln w="9525">
              <a:solidFill>
                <a:srgbClr val="E2E6EC"/>
              </a:solidFill>
            </a:ln>
          </p:spPr>
        </p:sp>
        <p:sp>
          <p:nvSpPr>
            <p:cNvPr id="51" name="TextBox 51"/>
            <p:cNvSpPr txBox="1"/>
            <p:nvPr/>
          </p:nvSpPr>
          <p:spPr>
            <a:xfrm>
              <a:off x="6622923" y="4057650"/>
              <a:ext cx="928801"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차량과 연동</a:t>
              </a:r>
            </a:p>
          </p:txBody>
        </p:sp>
        <p:sp>
          <p:nvSpPr>
            <p:cNvPr id="52" name="TextBox 52"/>
            <p:cNvSpPr txBox="1"/>
            <p:nvPr/>
          </p:nvSpPr>
          <p:spPr>
            <a:xfrm>
              <a:off x="8242554" y="4057650"/>
              <a:ext cx="2755240"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PIM 제어기 · Pleos Connect 내비 API</a:t>
              </a:r>
            </a:p>
          </p:txBody>
        </p:sp>
        <p:sp>
          <p:nvSpPr>
            <p:cNvPr id="53" name="TextBox 53"/>
            <p:cNvSpPr txBox="1"/>
            <p:nvPr/>
          </p:nvSpPr>
          <p:spPr>
            <a:xfrm>
              <a:off x="8243316" y="4311650"/>
              <a:ext cx="2420703"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재확인 지점 안내, 화면에서 장비 제어</a:t>
              </a:r>
            </a:p>
          </p:txBody>
        </p:sp>
        <p:sp>
          <p:nvSpPr>
            <p:cNvPr id="54" name="Line 54"/>
            <p:cNvSpPr/>
            <p:nvPr/>
          </p:nvSpPr>
          <p:spPr>
            <a:xfrm>
              <a:off x="6629400" y="4629150"/>
              <a:ext cx="5029200" cy="9525"/>
            </a:xfrm>
            <a:custGeom>
              <a:avLst/>
              <a:gdLst/>
              <a:ahLst/>
              <a:cxnLst/>
              <a:rect l="l" t="t" r="r" b="b"/>
              <a:pathLst>
                <a:path w="5029200" h="9525">
                  <a:moveTo>
                    <a:pt x="0" y="0"/>
                  </a:moveTo>
                  <a:lnTo>
                    <a:pt x="5029200" y="0"/>
                  </a:lnTo>
                </a:path>
              </a:pathLst>
            </a:custGeom>
            <a:noFill/>
            <a:ln w="9525">
              <a:solidFill>
                <a:srgbClr val="E2E6EC"/>
              </a:solidFill>
            </a:ln>
          </p:spPr>
        </p:sp>
        <p:sp>
          <p:nvSpPr>
            <p:cNvPr id="55" name="TextBox 55"/>
            <p:cNvSpPr txBox="1"/>
            <p:nvPr/>
          </p:nvSpPr>
          <p:spPr>
            <a:xfrm>
              <a:off x="6622923" y="4781550"/>
              <a:ext cx="983080"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여러 대 복제</a:t>
              </a:r>
            </a:p>
          </p:txBody>
        </p:sp>
        <p:sp>
          <p:nvSpPr>
            <p:cNvPr id="56" name="TextBox 56"/>
            <p:cNvSpPr txBox="1"/>
            <p:nvPr/>
          </p:nvSpPr>
          <p:spPr>
            <a:xfrm>
              <a:off x="8242554" y="4781550"/>
              <a:ext cx="2927452"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컨버전 포털 (차량 3D 데이터·인증자료)</a:t>
              </a:r>
            </a:p>
          </p:txBody>
        </p:sp>
        <p:sp>
          <p:nvSpPr>
            <p:cNvPr id="57" name="TextBox 57"/>
            <p:cNvSpPr txBox="1"/>
            <p:nvPr/>
          </p:nvSpPr>
          <p:spPr>
            <a:xfrm>
              <a:off x="8243316" y="5035550"/>
              <a:ext cx="211679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같은 사양의 탐사실을 지자체별로</a:t>
              </a:r>
            </a:p>
          </p:txBody>
        </p:sp>
      </p:grpSp>
      <p:grpSp>
        <p:nvGrpSpPr>
          <p:cNvPr id="61" name="conclusion"/>
          <p:cNvGrpSpPr/>
          <p:nvPr/>
        </p:nvGrpSpPr>
        <p:grpSpPr>
          <a:xfrm>
            <a:off x="533400" y="5695950"/>
            <a:ext cx="6764768" cy="419100"/>
            <a:chOff x="533400" y="5695950"/>
            <a:chExt cx="6764768" cy="419100"/>
          </a:xfrm>
        </p:grpSpPr>
        <p:sp>
          <p:nvSpPr>
            <p:cNvPr id="59" name="Rectangle 59"/>
            <p:cNvSpPr/>
            <p:nvPr/>
          </p:nvSpPr>
          <p:spPr>
            <a:xfrm>
              <a:off x="533400" y="5695950"/>
              <a:ext cx="38100" cy="419100"/>
            </a:xfrm>
            <a:prstGeom prst="rect">
              <a:avLst/>
            </a:prstGeom>
            <a:solidFill>
              <a:srgbClr val="F5B700"/>
            </a:solidFill>
            <a:ln>
              <a:noFill/>
            </a:ln>
          </p:spPr>
        </p:sp>
        <p:sp>
          <p:nvSpPr>
            <p:cNvPr id="60" name="TextBox 60"/>
            <p:cNvSpPr txBox="1"/>
            <p:nvPr/>
          </p:nvSpPr>
          <p:spPr>
            <a:xfrm>
              <a:off x="715899" y="5791200"/>
              <a:ext cx="6582269"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장비를 싣는 것을 넘어, PV5에서는 차가 탐사 업무의 일부가 됩니다.</a:t>
              </a:r>
            </a:p>
          </p:txBody>
        </p:sp>
      </p:grpSp>
      <p:grpSp>
        <p:nvGrpSpPr>
          <p:cNvPr id="63" name="source"/>
          <p:cNvGrpSpPr/>
          <p:nvPr/>
        </p:nvGrpSpPr>
        <p:grpSpPr>
          <a:xfrm>
            <a:off x="528447" y="6381750"/>
            <a:ext cx="9995705" cy="191643"/>
            <a:chOff x="528447" y="6381750"/>
            <a:chExt cx="9995705" cy="191643"/>
          </a:xfrm>
        </p:grpSpPr>
        <p:sp>
          <p:nvSpPr>
            <p:cNvPr id="62" name="TextBox 62"/>
            <p:cNvSpPr txBox="1"/>
            <p:nvPr/>
          </p:nvSpPr>
          <p:spPr>
            <a:xfrm>
              <a:off x="528447" y="6381750"/>
              <a:ext cx="9995705"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출처: 기아 PV5 카고 제원·액세서리 · 공모전 솔루션 부문 안내(Pleos Connect) · 오토뷰(2026.1.28) · V2L 3.6kW 해외 제원 · 배터리 71.2kWh · 내부 배치는 콘셉트</a:t>
              </a:r>
            </a:p>
          </p:txBody>
        </p:sp>
      </p:grpSp>
      <p:grpSp>
        <p:nvGrpSpPr>
          <p:cNvPr id="66" name="footer"/>
          <p:cNvGrpSpPr/>
          <p:nvPr/>
        </p:nvGrpSpPr>
        <p:grpSpPr>
          <a:xfrm>
            <a:off x="528638" y="6610350"/>
            <a:ext cx="11134724" cy="176212"/>
            <a:chOff x="528638" y="6610350"/>
            <a:chExt cx="11134724" cy="176212"/>
          </a:xfrm>
        </p:grpSpPr>
        <p:sp>
          <p:nvSpPr>
            <p:cNvPr id="64" name="TextBox 64"/>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5" name="TextBox 65"/>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09 / 15</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725957"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왜 PV5인가</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695090" y="301625"/>
              <a:ext cx="269420" cy="205359"/>
            </a:xfrm>
            <a:prstGeom prst="rect">
              <a:avLst/>
            </a:prstGeom>
            <a:noFill/>
            <a:ln>
              <a:noFill/>
            </a:ln>
          </p:spPr>
          <p:txBody>
            <a:bodyPr wrap="none" lIns="0" tIns="0" rIns="0" bIns="0" anchor="t" anchorCtr="0">
              <a:spAutoFit/>
            </a:bodyPr>
            <a:lstStyle/>
            <a:p>
              <a:pPr algn="ctr"/>
              <a:r>
                <a:rPr lang="en-US" sz="1050" b="1" dirty="0">
                  <a:solidFill>
                    <a:srgbClr val="0B1E3C"/>
                  </a:solidFill>
                  <a:latin typeface="+mn-lt"/>
                  <a:ea typeface="+mn-ea"/>
                  <a:cs typeface="+mn-cs"/>
                </a:rPr>
                <a:t>PV5</a:t>
              </a:r>
            </a:p>
          </p:txBody>
        </p:sp>
        <p:sp>
          <p:nvSpPr>
            <p:cNvPr id="10" name="Rectangle 10"/>
            <p:cNvSpPr/>
            <p:nvPr/>
          </p:nvSpPr>
          <p:spPr>
            <a:xfrm>
              <a:off x="9601200" y="514350"/>
              <a:ext cx="457200" cy="28575"/>
            </a:xfrm>
            <a:prstGeom prst="rect">
              <a:avLst/>
            </a:prstGeom>
            <a:solidFill>
              <a:srgbClr val="F5B700"/>
            </a:solidFill>
            <a:ln>
              <a:noFill/>
            </a:ln>
          </p:spPr>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922" y="781050"/>
            <a:ext cx="6393811" cy="557403"/>
            <a:chOff x="518922" y="781050"/>
            <a:chExt cx="6393811" cy="557403"/>
          </a:xfrm>
        </p:grpSpPr>
        <p:sp>
          <p:nvSpPr>
            <p:cNvPr id="17" name="TextBox 17"/>
            <p:cNvSpPr txBox="1"/>
            <p:nvPr/>
          </p:nvSpPr>
          <p:spPr>
            <a:xfrm>
              <a:off x="518922" y="781050"/>
              <a:ext cx="6393811"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가격이 아니라 구조 때문에 PV5입니다</a:t>
              </a:r>
            </a:p>
          </p:txBody>
        </p:sp>
      </p:grpSp>
      <p:grpSp>
        <p:nvGrpSpPr>
          <p:cNvPr id="20" name="lead"/>
          <p:cNvGrpSpPr/>
          <p:nvPr/>
        </p:nvGrpSpPr>
        <p:grpSpPr>
          <a:xfrm>
            <a:off x="526542" y="1339850"/>
            <a:ext cx="9427693" cy="264033"/>
            <a:chOff x="526542" y="1339850"/>
            <a:chExt cx="9427693" cy="264033"/>
          </a:xfrm>
        </p:grpSpPr>
        <p:sp>
          <p:nvSpPr>
            <p:cNvPr id="19" name="TextBox 19"/>
            <p:cNvSpPr txBox="1"/>
            <p:nvPr/>
          </p:nvSpPr>
          <p:spPr>
            <a:xfrm>
              <a:off x="526542" y="1339850"/>
              <a:ext cx="9427693" cy="264033"/>
            </a:xfrm>
            <a:prstGeom prst="rect">
              <a:avLst/>
            </a:prstGeom>
            <a:noFill/>
            <a:ln>
              <a:noFill/>
            </a:ln>
          </p:spPr>
          <p:txBody>
            <a:bodyPr wrap="none" lIns="0" tIns="0" rIns="0" bIns="0" anchor="t" anchorCtr="0">
              <a:spAutoFit/>
            </a:bodyPr>
            <a:lstStyle/>
            <a:p>
              <a:pPr algn="l"/>
              <a:r>
                <a:rPr lang="ko-KR" sz="1350" dirty="0">
                  <a:solidFill>
                    <a:srgbClr val="374151"/>
                  </a:solidFill>
                  <a:latin typeface="+mn-lt"/>
                  <a:ea typeface="+mn-ea"/>
                  <a:cs typeface="+mn-cs"/>
                </a:rPr>
                <a:t>그룹 전기 상용차는 용도가 나뉘어 있습니다. 탐사·판독·재검증을 한 차에서 하려면 무엇이 필요한지로 골랐습니다.</a:t>
              </a:r>
            </a:p>
          </p:txBody>
        </p:sp>
      </p:grpSp>
      <p:grpSp>
        <p:nvGrpSpPr>
          <p:cNvPr id="53" name="compare"/>
          <p:cNvGrpSpPr/>
          <p:nvPr/>
        </p:nvGrpSpPr>
        <p:grpSpPr>
          <a:xfrm>
            <a:off x="527685" y="1733550"/>
            <a:ext cx="11130915" cy="2362200"/>
            <a:chOff x="527685" y="1733550"/>
            <a:chExt cx="11130915" cy="2362200"/>
          </a:xfrm>
        </p:grpSpPr>
        <p:sp>
          <p:nvSpPr>
            <p:cNvPr id="21" name="Rectangle 21"/>
            <p:cNvSpPr/>
            <p:nvPr/>
          </p:nvSpPr>
          <p:spPr>
            <a:xfrm>
              <a:off x="2057400" y="1733550"/>
              <a:ext cx="2400300" cy="2362200"/>
            </a:xfrm>
            <a:prstGeom prst="rect">
              <a:avLst/>
            </a:prstGeom>
            <a:solidFill>
              <a:srgbClr val="FFF6D6"/>
            </a:solidFill>
            <a:ln>
              <a:noFill/>
            </a:ln>
          </p:spPr>
        </p:sp>
        <p:sp>
          <p:nvSpPr>
            <p:cNvPr id="22" name="Rectangle 22"/>
            <p:cNvSpPr/>
            <p:nvPr/>
          </p:nvSpPr>
          <p:spPr>
            <a:xfrm>
              <a:off x="2057400" y="1733550"/>
              <a:ext cx="2400300" cy="38100"/>
            </a:xfrm>
            <a:prstGeom prst="rect">
              <a:avLst/>
            </a:prstGeom>
            <a:solidFill>
              <a:srgbClr val="F5B700"/>
            </a:solidFill>
            <a:ln>
              <a:noFill/>
            </a:ln>
          </p:spPr>
        </p:sp>
        <p:grpSp>
          <p:nvGrpSpPr>
            <p:cNvPr id="27" name="Group 27"/>
            <p:cNvGrpSpPr/>
            <p:nvPr/>
          </p:nvGrpSpPr>
          <p:grpSpPr>
            <a:xfrm>
              <a:off x="2203323" y="1885950"/>
              <a:ext cx="8562647" cy="250317"/>
              <a:chOff x="2203323" y="1885950"/>
              <a:chExt cx="8562647" cy="250317"/>
            </a:xfrm>
          </p:grpSpPr>
          <p:sp>
            <p:nvSpPr>
              <p:cNvPr id="23" name="TextBox 23"/>
              <p:cNvSpPr txBox="1"/>
              <p:nvPr/>
            </p:nvSpPr>
            <p:spPr>
              <a:xfrm>
                <a:off x="2203323" y="1885950"/>
                <a:ext cx="1132342"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기아 PV5 카고</a:t>
                </a:r>
              </a:p>
            </p:txBody>
          </p:sp>
          <p:sp>
            <p:nvSpPr>
              <p:cNvPr id="24" name="TextBox 24"/>
              <p:cNvSpPr txBox="1"/>
              <p:nvPr/>
            </p:nvSpPr>
            <p:spPr>
              <a:xfrm>
                <a:off x="4603623" y="1885950"/>
                <a:ext cx="1844648" cy="250317"/>
              </a:xfrm>
              <a:prstGeom prst="rect">
                <a:avLst/>
              </a:prstGeom>
              <a:noFill/>
              <a:ln>
                <a:noFill/>
              </a:ln>
            </p:spPr>
            <p:txBody>
              <a:bodyPr wrap="none" lIns="0" tIns="0" rIns="0" bIns="0" anchor="t" anchorCtr="0">
                <a:spAutoFit/>
              </a:bodyPr>
              <a:lstStyle/>
              <a:p>
                <a:pPr algn="l"/>
                <a:r>
                  <a:rPr lang="ko-KR" sz="1280" b="1" dirty="0">
                    <a:solidFill>
                      <a:srgbClr val="374151"/>
                    </a:solidFill>
                    <a:latin typeface="+mn-lt"/>
                    <a:ea typeface="+mn-ea"/>
                    <a:cs typeface="+mn-cs"/>
                  </a:rPr>
                  <a:t>스타리아 일렉트릭 카고</a:t>
                </a:r>
              </a:p>
            </p:txBody>
          </p:sp>
          <p:sp>
            <p:nvSpPr>
              <p:cNvPr id="25" name="TextBox 25"/>
              <p:cNvSpPr txBox="1"/>
              <p:nvPr/>
            </p:nvSpPr>
            <p:spPr>
              <a:xfrm>
                <a:off x="7003923" y="1885950"/>
                <a:ext cx="1132342" cy="250317"/>
              </a:xfrm>
              <a:prstGeom prst="rect">
                <a:avLst/>
              </a:prstGeom>
              <a:noFill/>
              <a:ln>
                <a:noFill/>
              </a:ln>
            </p:spPr>
            <p:txBody>
              <a:bodyPr wrap="none" lIns="0" tIns="0" rIns="0" bIns="0" anchor="t" anchorCtr="0">
                <a:spAutoFit/>
              </a:bodyPr>
              <a:lstStyle/>
              <a:p>
                <a:pPr algn="l"/>
                <a:r>
                  <a:rPr lang="ko-KR" sz="1280" b="1" dirty="0">
                    <a:solidFill>
                      <a:srgbClr val="374151"/>
                    </a:solidFill>
                    <a:latin typeface="+mn-lt"/>
                    <a:ea typeface="+mn-ea"/>
                    <a:cs typeface="+mn-cs"/>
                  </a:rPr>
                  <a:t>현대 ST1 카고</a:t>
                </a:r>
              </a:p>
            </p:txBody>
          </p:sp>
          <p:sp>
            <p:nvSpPr>
              <p:cNvPr id="26" name="TextBox 26"/>
              <p:cNvSpPr txBox="1"/>
              <p:nvPr/>
            </p:nvSpPr>
            <p:spPr>
              <a:xfrm>
                <a:off x="9404223" y="1885950"/>
                <a:ext cx="1361747" cy="250317"/>
              </a:xfrm>
              <a:prstGeom prst="rect">
                <a:avLst/>
              </a:prstGeom>
              <a:noFill/>
              <a:ln>
                <a:noFill/>
              </a:ln>
            </p:spPr>
            <p:txBody>
              <a:bodyPr wrap="none" lIns="0" tIns="0" rIns="0" bIns="0" anchor="t" anchorCtr="0">
                <a:spAutoFit/>
              </a:bodyPr>
              <a:lstStyle/>
              <a:p>
                <a:pPr algn="l"/>
                <a:r>
                  <a:rPr lang="ko-KR" sz="1280" b="1" dirty="0">
                    <a:solidFill>
                      <a:srgbClr val="374151"/>
                    </a:solidFill>
                    <a:latin typeface="+mn-lt"/>
                    <a:ea typeface="+mn-ea"/>
                    <a:cs typeface="+mn-cs"/>
                  </a:rPr>
                  <a:t>포터II·봉고III EV</a:t>
                </a:r>
              </a:p>
            </p:txBody>
          </p:sp>
        </p:grpSp>
        <p:grpSp>
          <p:nvGrpSpPr>
            <p:cNvPr id="32" name="Group 32"/>
            <p:cNvGrpSpPr/>
            <p:nvPr/>
          </p:nvGrpSpPr>
          <p:grpSpPr>
            <a:xfrm>
              <a:off x="2204466" y="2120900"/>
              <a:ext cx="7882985" cy="205359"/>
              <a:chOff x="2204466" y="2120900"/>
              <a:chExt cx="7882985" cy="205359"/>
            </a:xfrm>
          </p:grpSpPr>
          <p:sp>
            <p:nvSpPr>
              <p:cNvPr id="28" name="TextBox 28"/>
              <p:cNvSpPr txBox="1"/>
              <p:nvPr/>
            </p:nvSpPr>
            <p:spPr>
              <a:xfrm>
                <a:off x="2204466" y="2120900"/>
                <a:ext cx="879977"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롱 · 롱레인지</a:t>
                </a:r>
              </a:p>
            </p:txBody>
          </p:sp>
          <p:sp>
            <p:nvSpPr>
              <p:cNvPr id="29" name="TextBox 29"/>
              <p:cNvSpPr txBox="1"/>
              <p:nvPr/>
            </p:nvSpPr>
            <p:spPr>
              <a:xfrm>
                <a:off x="4604766" y="2120900"/>
                <a:ext cx="371113"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3인승</a:t>
                </a:r>
              </a:p>
            </p:txBody>
          </p:sp>
          <p:sp>
            <p:nvSpPr>
              <p:cNvPr id="30" name="TextBox 30"/>
              <p:cNvSpPr txBox="1"/>
              <p:nvPr/>
            </p:nvSpPr>
            <p:spPr>
              <a:xfrm>
                <a:off x="7005066" y="2120900"/>
                <a:ext cx="75982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카고 스타일</a:t>
                </a:r>
              </a:p>
            </p:txBody>
          </p:sp>
          <p:sp>
            <p:nvSpPr>
              <p:cNvPr id="31" name="TextBox 31"/>
              <p:cNvSpPr txBox="1"/>
              <p:nvPr/>
            </p:nvSpPr>
            <p:spPr>
              <a:xfrm>
                <a:off x="9405366" y="2120900"/>
                <a:ext cx="682085"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2025년형~</a:t>
                </a:r>
              </a:p>
            </p:txBody>
          </p:sp>
        </p:grpSp>
        <p:sp>
          <p:nvSpPr>
            <p:cNvPr id="33" name="Line 33"/>
            <p:cNvSpPr/>
            <p:nvPr/>
          </p:nvSpPr>
          <p:spPr>
            <a:xfrm>
              <a:off x="533400" y="2381250"/>
              <a:ext cx="11125200" cy="9525"/>
            </a:xfrm>
            <a:custGeom>
              <a:avLst/>
              <a:gdLst/>
              <a:ahLst/>
              <a:cxnLst/>
              <a:rect l="l" t="t" r="r" b="b"/>
              <a:pathLst>
                <a:path w="11125200" h="9525">
                  <a:moveTo>
                    <a:pt x="0" y="0"/>
                  </a:moveTo>
                  <a:lnTo>
                    <a:pt x="11125200" y="0"/>
                  </a:lnTo>
                </a:path>
              </a:pathLst>
            </a:custGeom>
            <a:noFill/>
            <a:ln w="14288">
              <a:solidFill>
                <a:srgbClr val="0B1E3C"/>
              </a:solidFill>
            </a:ln>
          </p:spPr>
        </p:sp>
        <p:grpSp>
          <p:nvGrpSpPr>
            <p:cNvPr id="37" name="Group 37"/>
            <p:cNvGrpSpPr/>
            <p:nvPr/>
          </p:nvGrpSpPr>
          <p:grpSpPr>
            <a:xfrm>
              <a:off x="527685" y="2508250"/>
              <a:ext cx="662022" cy="1477328"/>
              <a:chOff x="527685" y="2508250"/>
              <a:chExt cx="662022" cy="1477328"/>
            </a:xfrm>
          </p:grpSpPr>
          <p:sp>
            <p:nvSpPr>
              <p:cNvPr id="34" name="TextBox 34"/>
              <p:cNvSpPr txBox="1"/>
              <p:nvPr/>
            </p:nvSpPr>
            <p:spPr>
              <a:xfrm>
                <a:off x="527685" y="2508250"/>
                <a:ext cx="662022" cy="220028"/>
              </a:xfrm>
              <a:prstGeom prst="rect">
                <a:avLst/>
              </a:prstGeom>
              <a:noFill/>
              <a:ln>
                <a:noFill/>
              </a:ln>
            </p:spPr>
            <p:txBody>
              <a:bodyPr wrap="none" lIns="0" tIns="0" rIns="0" bIns="0" anchor="t" anchorCtr="0">
                <a:spAutoFit/>
              </a:bodyPr>
              <a:lstStyle/>
              <a:p>
                <a:pPr algn="l"/>
                <a:r>
                  <a:rPr lang="ko-KR" sz="1120" b="1" dirty="0">
                    <a:solidFill>
                      <a:srgbClr val="374151"/>
                    </a:solidFill>
                    <a:latin typeface="+mn-lt"/>
                    <a:ea typeface="+mn-ea"/>
                    <a:cs typeface="+mn-cs"/>
                  </a:rPr>
                  <a:t>차체 성격</a:t>
                </a:r>
              </a:p>
            </p:txBody>
          </p:sp>
          <p:sp>
            <p:nvSpPr>
              <p:cNvPr id="35" name="TextBox 35"/>
              <p:cNvSpPr txBox="1"/>
              <p:nvPr/>
            </p:nvSpPr>
            <p:spPr>
              <a:xfrm>
                <a:off x="527685" y="3270250"/>
                <a:ext cx="662022" cy="220028"/>
              </a:xfrm>
              <a:prstGeom prst="rect">
                <a:avLst/>
              </a:prstGeom>
              <a:noFill/>
              <a:ln>
                <a:noFill/>
              </a:ln>
            </p:spPr>
            <p:txBody>
              <a:bodyPr wrap="none" lIns="0" tIns="0" rIns="0" bIns="0" anchor="t" anchorCtr="0">
                <a:spAutoFit/>
              </a:bodyPr>
              <a:lstStyle/>
              <a:p>
                <a:pPr algn="l"/>
                <a:r>
                  <a:rPr lang="ko-KR" sz="1120" b="1" dirty="0">
                    <a:solidFill>
                      <a:srgbClr val="374151"/>
                    </a:solidFill>
                    <a:latin typeface="+mn-lt"/>
                    <a:ea typeface="+mn-ea"/>
                    <a:cs typeface="+mn-cs"/>
                  </a:rPr>
                  <a:t>차량 가격</a:t>
                </a:r>
              </a:p>
            </p:txBody>
          </p:sp>
          <p:sp>
            <p:nvSpPr>
              <p:cNvPr id="36" name="TextBox 36"/>
              <p:cNvSpPr txBox="1"/>
              <p:nvPr/>
            </p:nvSpPr>
            <p:spPr>
              <a:xfrm>
                <a:off x="527685" y="3765550"/>
                <a:ext cx="598319" cy="220028"/>
              </a:xfrm>
              <a:prstGeom prst="rect">
                <a:avLst/>
              </a:prstGeom>
              <a:noFill/>
              <a:ln>
                <a:noFill/>
              </a:ln>
            </p:spPr>
            <p:txBody>
              <a:bodyPr wrap="none" lIns="0" tIns="0" rIns="0" bIns="0" anchor="t" anchorCtr="0">
                <a:spAutoFit/>
              </a:bodyPr>
              <a:lstStyle/>
              <a:p>
                <a:pPr algn="l"/>
                <a:r>
                  <a:rPr lang="ko-KR" sz="1120" b="1" dirty="0">
                    <a:solidFill>
                      <a:srgbClr val="374151"/>
                    </a:solidFill>
                    <a:latin typeface="+mn-lt"/>
                    <a:ea typeface="+mn-ea"/>
                    <a:cs typeface="+mn-cs"/>
                  </a:rPr>
                  <a:t>1회 충전</a:t>
                </a:r>
              </a:p>
            </p:txBody>
          </p:sp>
        </p:grpSp>
        <p:grpSp>
          <p:nvGrpSpPr>
            <p:cNvPr id="52" name="Group 52"/>
            <p:cNvGrpSpPr/>
            <p:nvPr/>
          </p:nvGrpSpPr>
          <p:grpSpPr>
            <a:xfrm>
              <a:off x="533400" y="2495550"/>
              <a:ext cx="11125200" cy="1566291"/>
              <a:chOff x="533400" y="2495550"/>
              <a:chExt cx="11125200" cy="1566291"/>
            </a:xfrm>
          </p:grpSpPr>
          <p:sp>
            <p:nvSpPr>
              <p:cNvPr id="38" name="TextBox 38"/>
              <p:cNvSpPr txBox="1"/>
              <p:nvPr/>
            </p:nvSpPr>
            <p:spPr>
              <a:xfrm>
                <a:off x="2203704" y="2495550"/>
                <a:ext cx="1932432" cy="634746"/>
              </a:xfrm>
              <a:prstGeom prst="rect">
                <a:avLst/>
              </a:prstGeom>
              <a:noFill/>
              <a:ln>
                <a:noFill/>
              </a:ln>
            </p:spPr>
            <p:txBody>
              <a:bodyPr wrap="none" lIns="0" tIns="0" rIns="0" bIns="0" anchor="t" anchorCtr="0">
                <a:spAutoFit/>
              </a:bodyPr>
              <a:lstStyle/>
              <a:p>
                <a:pPr algn="l">
                  <a:lnSpc>
                    <a:spcPts val="1575"/>
                  </a:lnSpc>
                </a:pPr>
                <a:r>
                  <a:rPr lang="ko-KR" sz="1200" b="1" dirty="0">
                    <a:solidFill>
                      <a:srgbClr val="0B1E3C"/>
                    </a:solidFill>
                    <a:latin typeface="+mn-lt"/>
                    <a:ea typeface="+mn-ea"/>
                    <a:cs typeface="+mn-cs"/>
                  </a:rPr>
                  <a:t>컨버전 전제 소형 PBV</a:t>
                </a:r>
                <a:br>
                  <a:rPr lang="ko-KR" sz="1200" b="1" dirty="0">
                    <a:solidFill>
                      <a:srgbClr val="0B1E3C"/>
                    </a:solidFill>
                    <a:latin typeface="+mn-lt"/>
                    <a:ea typeface="+mn-ea"/>
                    <a:cs typeface="+mn-cs"/>
                  </a:rPr>
                </a:br>
                <a:r>
                  <a:rPr lang="ko-KR" sz="1200" dirty="0">
                    <a:solidFill>
                      <a:srgbClr val="374151"/>
                    </a:solidFill>
                    <a:latin typeface="+mn-lt"/>
                    <a:ea typeface="+mn-ea"/>
                    <a:cs typeface="+mn-cs"/>
                  </a:rPr>
                  <a:t>밀폐 카고룸 4,420L · V2L</a:t>
                </a:r>
                <a:br>
                  <a:rPr lang="ko-KR" sz="1200" dirty="0">
                    <a:solidFill>
                      <a:srgbClr val="374151"/>
                    </a:solidFill>
                    <a:latin typeface="+mn-lt"/>
                    <a:ea typeface="+mn-ea"/>
                    <a:cs typeface="+mn-cs"/>
                  </a:rPr>
                </a:br>
                <a:r>
                  <a:rPr lang="ko-KR" sz="1200" dirty="0">
                    <a:solidFill>
                      <a:srgbClr val="374151"/>
                    </a:solidFill>
                    <a:latin typeface="+mn-lt"/>
                    <a:ea typeface="+mn-ea"/>
                    <a:cs typeface="+mn-cs"/>
                  </a:rPr>
                  <a:t>L-Track · 공식 컨버전 체계</a:t>
                </a:r>
              </a:p>
            </p:txBody>
          </p:sp>
          <p:sp>
            <p:nvSpPr>
              <p:cNvPr id="39" name="TextBox 39"/>
              <p:cNvSpPr txBox="1"/>
              <p:nvPr/>
            </p:nvSpPr>
            <p:spPr>
              <a:xfrm>
                <a:off x="4604004" y="2495550"/>
                <a:ext cx="865632" cy="434721"/>
              </a:xfrm>
              <a:prstGeom prst="rect">
                <a:avLst/>
              </a:prstGeom>
              <a:noFill/>
              <a:ln>
                <a:noFill/>
              </a:ln>
            </p:spPr>
            <p:txBody>
              <a:bodyPr wrap="none" lIns="0" tIns="0" rIns="0" bIns="0" anchor="t" anchorCtr="0">
                <a:spAutoFit/>
              </a:bodyPr>
              <a:lstStyle/>
              <a:p>
                <a:pPr algn="l">
                  <a:lnSpc>
                    <a:spcPts val="1575"/>
                  </a:lnSpc>
                </a:pPr>
                <a:r>
                  <a:rPr lang="ko-KR" sz="1200" dirty="0">
                    <a:solidFill>
                      <a:srgbClr val="111827"/>
                    </a:solidFill>
                    <a:latin typeface="+mn-lt"/>
                    <a:ea typeface="+mn-ea"/>
                    <a:cs typeface="+mn-cs"/>
                  </a:rPr>
                  <a:t>승합 기반 밴</a:t>
                </a:r>
                <a:br>
                  <a:rPr lang="ko-KR" sz="1200" dirty="0">
                    <a:solidFill>
                      <a:srgbClr val="111827"/>
                    </a:solidFill>
                    <a:latin typeface="+mn-lt"/>
                    <a:ea typeface="+mn-ea"/>
                    <a:cs typeface="+mn-cs"/>
                  </a:rPr>
                </a:br>
                <a:r>
                  <a:rPr lang="ko-KR" sz="1200" dirty="0">
                    <a:solidFill>
                      <a:srgbClr val="374151"/>
                    </a:solidFill>
                    <a:latin typeface="+mn-lt"/>
                    <a:ea typeface="+mn-ea"/>
                    <a:cs typeface="+mn-cs"/>
                  </a:rPr>
                  <a:t>밀폐 카고</a:t>
                </a:r>
              </a:p>
            </p:txBody>
          </p:sp>
          <p:sp>
            <p:nvSpPr>
              <p:cNvPr id="40" name="TextBox 40"/>
              <p:cNvSpPr txBox="1"/>
              <p:nvPr/>
            </p:nvSpPr>
            <p:spPr>
              <a:xfrm>
                <a:off x="7004304" y="2495550"/>
                <a:ext cx="1018032" cy="434721"/>
              </a:xfrm>
              <a:prstGeom prst="rect">
                <a:avLst/>
              </a:prstGeom>
              <a:noFill/>
              <a:ln>
                <a:noFill/>
              </a:ln>
            </p:spPr>
            <p:txBody>
              <a:bodyPr wrap="none" lIns="0" tIns="0" rIns="0" bIns="0" anchor="t" anchorCtr="0">
                <a:spAutoFit/>
              </a:bodyPr>
              <a:lstStyle/>
              <a:p>
                <a:pPr algn="l">
                  <a:lnSpc>
                    <a:spcPts val="1575"/>
                  </a:lnSpc>
                </a:pPr>
                <a:r>
                  <a:rPr lang="ko-KR" sz="1200" dirty="0">
                    <a:solidFill>
                      <a:srgbClr val="111827"/>
                    </a:solidFill>
                    <a:latin typeface="+mn-lt"/>
                    <a:ea typeface="+mn-ea"/>
                    <a:cs typeface="+mn-cs"/>
                  </a:rPr>
                  <a:t>물류 특화 카고</a:t>
                </a:r>
                <a:br>
                  <a:rPr lang="ko-KR" sz="1200" dirty="0">
                    <a:solidFill>
                      <a:srgbClr val="111827"/>
                    </a:solidFill>
                    <a:latin typeface="+mn-lt"/>
                    <a:ea typeface="+mn-ea"/>
                    <a:cs typeface="+mn-cs"/>
                  </a:rPr>
                </a:br>
                <a:r>
                  <a:rPr lang="ko-KR" sz="1200" dirty="0">
                    <a:solidFill>
                      <a:srgbClr val="374151"/>
                    </a:solidFill>
                    <a:latin typeface="+mn-lt"/>
                    <a:ea typeface="+mn-ea"/>
                    <a:cs typeface="+mn-cs"/>
                  </a:rPr>
                  <a:t>밀폐 카고 박스</a:t>
                </a:r>
              </a:p>
            </p:txBody>
          </p:sp>
          <p:sp>
            <p:nvSpPr>
              <p:cNvPr id="41" name="TextBox 41"/>
              <p:cNvSpPr txBox="1"/>
              <p:nvPr/>
            </p:nvSpPr>
            <p:spPr>
              <a:xfrm>
                <a:off x="9404604" y="2495550"/>
                <a:ext cx="972312" cy="434721"/>
              </a:xfrm>
              <a:prstGeom prst="rect">
                <a:avLst/>
              </a:prstGeom>
              <a:noFill/>
              <a:ln>
                <a:noFill/>
              </a:ln>
            </p:spPr>
            <p:txBody>
              <a:bodyPr wrap="none" lIns="0" tIns="0" rIns="0" bIns="0" anchor="t" anchorCtr="0">
                <a:spAutoFit/>
              </a:bodyPr>
              <a:lstStyle/>
              <a:p>
                <a:pPr algn="l">
                  <a:lnSpc>
                    <a:spcPts val="1575"/>
                  </a:lnSpc>
                </a:pPr>
                <a:r>
                  <a:rPr lang="ko-KR" sz="1200" dirty="0">
                    <a:solidFill>
                      <a:srgbClr val="111827"/>
                    </a:solidFill>
                    <a:latin typeface="+mn-lt"/>
                    <a:ea typeface="+mn-ea"/>
                    <a:cs typeface="+mn-cs"/>
                  </a:rPr>
                  <a:t>1톤 트럭</a:t>
                </a:r>
                <a:br>
                  <a:rPr lang="ko-KR" sz="1200" dirty="0">
                    <a:solidFill>
                      <a:srgbClr val="111827"/>
                    </a:solidFill>
                    <a:latin typeface="+mn-lt"/>
                    <a:ea typeface="+mn-ea"/>
                    <a:cs typeface="+mn-cs"/>
                  </a:rPr>
                </a:br>
                <a:r>
                  <a:rPr lang="ko-KR" sz="1200" dirty="0">
                    <a:solidFill>
                      <a:srgbClr val="374151"/>
                    </a:solidFill>
                    <a:latin typeface="+mn-lt"/>
                    <a:ea typeface="+mn-ea"/>
                    <a:cs typeface="+mn-cs"/>
                  </a:rPr>
                  <a:t>개방형 적재함</a:t>
                </a:r>
              </a:p>
            </p:txBody>
          </p:sp>
          <p:sp>
            <p:nvSpPr>
              <p:cNvPr id="42" name="Line 42"/>
              <p:cNvSpPr/>
              <p:nvPr/>
            </p:nvSpPr>
            <p:spPr>
              <a:xfrm>
                <a:off x="533400" y="314325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43" name="TextBox 43"/>
              <p:cNvSpPr txBox="1"/>
              <p:nvPr/>
            </p:nvSpPr>
            <p:spPr>
              <a:xfrm>
                <a:off x="2201799" y="3257550"/>
                <a:ext cx="1090135" cy="308991"/>
              </a:xfrm>
              <a:prstGeom prst="rect">
                <a:avLst/>
              </a:prstGeom>
              <a:noFill/>
              <a:ln>
                <a:noFill/>
              </a:ln>
            </p:spPr>
            <p:txBody>
              <a:bodyPr wrap="none" lIns="0" tIns="0" rIns="0" bIns="0" anchor="t" anchorCtr="0">
                <a:spAutoFit/>
              </a:bodyPr>
              <a:lstStyle/>
              <a:p>
                <a:pPr algn="l"/>
                <a:r>
                  <a:rPr lang="ko-KR" sz="1580" dirty="0">
                    <a:solidFill>
                      <a:srgbClr val="0B1E3C"/>
                    </a:solidFill>
                    <a:latin typeface="+mn-lt"/>
                    <a:ea typeface="+mn-ea"/>
                    <a:cs typeface="+mn-cs"/>
                  </a:rPr>
                  <a:t>4,520만 원</a:t>
                </a:r>
              </a:p>
            </p:txBody>
          </p:sp>
          <p:sp>
            <p:nvSpPr>
              <p:cNvPr id="44" name="TextBox 44"/>
              <p:cNvSpPr txBox="1"/>
              <p:nvPr/>
            </p:nvSpPr>
            <p:spPr>
              <a:xfrm>
                <a:off x="4602099" y="3257550"/>
                <a:ext cx="1090135" cy="308991"/>
              </a:xfrm>
              <a:prstGeom prst="rect">
                <a:avLst/>
              </a:prstGeom>
              <a:noFill/>
              <a:ln>
                <a:noFill/>
              </a:ln>
            </p:spPr>
            <p:txBody>
              <a:bodyPr wrap="none" lIns="0" tIns="0" rIns="0" bIns="0" anchor="t" anchorCtr="0">
                <a:spAutoFit/>
              </a:bodyPr>
              <a:lstStyle/>
              <a:p>
                <a:pPr algn="l"/>
                <a:r>
                  <a:rPr lang="ko-KR" sz="1580" dirty="0">
                    <a:solidFill>
                      <a:srgbClr val="111827"/>
                    </a:solidFill>
                    <a:latin typeface="+mn-lt"/>
                    <a:ea typeface="+mn-ea"/>
                    <a:cs typeface="+mn-cs"/>
                  </a:rPr>
                  <a:t>5,792만 원</a:t>
                </a:r>
              </a:p>
            </p:txBody>
          </p:sp>
          <p:sp>
            <p:nvSpPr>
              <p:cNvPr id="45" name="TextBox 45"/>
              <p:cNvSpPr txBox="1"/>
              <p:nvPr/>
            </p:nvSpPr>
            <p:spPr>
              <a:xfrm>
                <a:off x="7002399" y="3257550"/>
                <a:ext cx="1090135" cy="308991"/>
              </a:xfrm>
              <a:prstGeom prst="rect">
                <a:avLst/>
              </a:prstGeom>
              <a:noFill/>
              <a:ln>
                <a:noFill/>
              </a:ln>
            </p:spPr>
            <p:txBody>
              <a:bodyPr wrap="none" lIns="0" tIns="0" rIns="0" bIns="0" anchor="t" anchorCtr="0">
                <a:spAutoFit/>
              </a:bodyPr>
              <a:lstStyle/>
              <a:p>
                <a:pPr algn="l"/>
                <a:r>
                  <a:rPr lang="ko-KR" sz="1580" dirty="0">
                    <a:solidFill>
                      <a:srgbClr val="111827"/>
                    </a:solidFill>
                    <a:latin typeface="+mn-lt"/>
                    <a:ea typeface="+mn-ea"/>
                    <a:cs typeface="+mn-cs"/>
                  </a:rPr>
                  <a:t>5,874만 원</a:t>
                </a:r>
              </a:p>
            </p:txBody>
          </p:sp>
          <p:sp>
            <p:nvSpPr>
              <p:cNvPr id="46" name="TextBox 46"/>
              <p:cNvSpPr txBox="1"/>
              <p:nvPr/>
            </p:nvSpPr>
            <p:spPr>
              <a:xfrm>
                <a:off x="9404985" y="3308350"/>
                <a:ext cx="1677487" cy="220028"/>
              </a:xfrm>
              <a:prstGeom prst="rect">
                <a:avLst/>
              </a:prstGeom>
              <a:noFill/>
              <a:ln>
                <a:noFill/>
              </a:ln>
            </p:spPr>
            <p:txBody>
              <a:bodyPr wrap="none" lIns="0" tIns="0" rIns="0" bIns="0" anchor="t" anchorCtr="0">
                <a:spAutoFit/>
              </a:bodyPr>
              <a:lstStyle/>
              <a:p>
                <a:pPr algn="l"/>
                <a:r>
                  <a:rPr lang="ko-KR" sz="1120" dirty="0">
                    <a:solidFill>
                      <a:srgbClr val="4B5563"/>
                    </a:solidFill>
                    <a:latin typeface="+mn-lt"/>
                    <a:ea typeface="+mn-ea"/>
                    <a:cs typeface="+mn-cs"/>
                  </a:rPr>
                  <a:t>탑 개조 필요 · 비교 제외</a:t>
                </a:r>
              </a:p>
            </p:txBody>
          </p:sp>
          <p:sp>
            <p:nvSpPr>
              <p:cNvPr id="47" name="Line 47"/>
              <p:cNvSpPr/>
              <p:nvPr/>
            </p:nvSpPr>
            <p:spPr>
              <a:xfrm>
                <a:off x="533400" y="363855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48" name="TextBox 48"/>
              <p:cNvSpPr txBox="1"/>
              <p:nvPr/>
            </p:nvSpPr>
            <p:spPr>
              <a:xfrm>
                <a:off x="2201799" y="3752850"/>
                <a:ext cx="643466" cy="308991"/>
              </a:xfrm>
              <a:prstGeom prst="rect">
                <a:avLst/>
              </a:prstGeom>
              <a:noFill/>
              <a:ln>
                <a:noFill/>
              </a:ln>
            </p:spPr>
            <p:txBody>
              <a:bodyPr wrap="none" lIns="0" tIns="0" rIns="0" bIns="0" anchor="t" anchorCtr="0">
                <a:spAutoFit/>
              </a:bodyPr>
              <a:lstStyle/>
              <a:p>
                <a:pPr algn="l"/>
                <a:r>
                  <a:rPr lang="en-US" sz="1580" dirty="0">
                    <a:solidFill>
                      <a:srgbClr val="0B1E3C"/>
                    </a:solidFill>
                    <a:latin typeface="+mn-lt"/>
                    <a:ea typeface="+mn-ea"/>
                    <a:cs typeface="+mn-cs"/>
                  </a:rPr>
                  <a:t>377km</a:t>
                </a:r>
              </a:p>
            </p:txBody>
          </p:sp>
          <p:sp>
            <p:nvSpPr>
              <p:cNvPr id="49" name="TextBox 49"/>
              <p:cNvSpPr txBox="1"/>
              <p:nvPr/>
            </p:nvSpPr>
            <p:spPr>
              <a:xfrm>
                <a:off x="4602099" y="3752850"/>
                <a:ext cx="643466" cy="308991"/>
              </a:xfrm>
              <a:prstGeom prst="rect">
                <a:avLst/>
              </a:prstGeom>
              <a:noFill/>
              <a:ln>
                <a:noFill/>
              </a:ln>
            </p:spPr>
            <p:txBody>
              <a:bodyPr wrap="none" lIns="0" tIns="0" rIns="0" bIns="0" anchor="t" anchorCtr="0">
                <a:spAutoFit/>
              </a:bodyPr>
              <a:lstStyle/>
              <a:p>
                <a:pPr algn="l"/>
                <a:r>
                  <a:rPr lang="en-US" sz="1580" dirty="0">
                    <a:solidFill>
                      <a:srgbClr val="111827"/>
                    </a:solidFill>
                    <a:latin typeface="+mn-lt"/>
                    <a:ea typeface="+mn-ea"/>
                    <a:cs typeface="+mn-cs"/>
                  </a:rPr>
                  <a:t>387km</a:t>
                </a:r>
              </a:p>
            </p:txBody>
          </p:sp>
          <p:sp>
            <p:nvSpPr>
              <p:cNvPr id="50" name="TextBox 50"/>
              <p:cNvSpPr txBox="1"/>
              <p:nvPr/>
            </p:nvSpPr>
            <p:spPr>
              <a:xfrm>
                <a:off x="7002399" y="3752850"/>
                <a:ext cx="643466" cy="308991"/>
              </a:xfrm>
              <a:prstGeom prst="rect">
                <a:avLst/>
              </a:prstGeom>
              <a:noFill/>
              <a:ln>
                <a:noFill/>
              </a:ln>
            </p:spPr>
            <p:txBody>
              <a:bodyPr wrap="none" lIns="0" tIns="0" rIns="0" bIns="0" anchor="t" anchorCtr="0">
                <a:spAutoFit/>
              </a:bodyPr>
              <a:lstStyle/>
              <a:p>
                <a:pPr algn="l"/>
                <a:r>
                  <a:rPr lang="en-US" sz="1580" dirty="0">
                    <a:solidFill>
                      <a:srgbClr val="111827"/>
                    </a:solidFill>
                    <a:latin typeface="+mn-lt"/>
                    <a:ea typeface="+mn-ea"/>
                    <a:cs typeface="+mn-cs"/>
                  </a:rPr>
                  <a:t>317km</a:t>
                </a:r>
              </a:p>
            </p:txBody>
          </p:sp>
          <p:sp>
            <p:nvSpPr>
              <p:cNvPr id="51" name="TextBox 51"/>
              <p:cNvSpPr txBox="1"/>
              <p:nvPr/>
            </p:nvSpPr>
            <p:spPr>
              <a:xfrm>
                <a:off x="9402699" y="3752850"/>
                <a:ext cx="643466" cy="308991"/>
              </a:xfrm>
              <a:prstGeom prst="rect">
                <a:avLst/>
              </a:prstGeom>
              <a:noFill/>
              <a:ln>
                <a:noFill/>
              </a:ln>
            </p:spPr>
            <p:txBody>
              <a:bodyPr wrap="none" lIns="0" tIns="0" rIns="0" bIns="0" anchor="t" anchorCtr="0">
                <a:spAutoFit/>
              </a:bodyPr>
              <a:lstStyle/>
              <a:p>
                <a:pPr algn="l"/>
                <a:r>
                  <a:rPr lang="en-US" sz="1580" dirty="0">
                    <a:solidFill>
                      <a:srgbClr val="111827"/>
                    </a:solidFill>
                    <a:latin typeface="+mn-lt"/>
                    <a:ea typeface="+mn-ea"/>
                    <a:cs typeface="+mn-cs"/>
                  </a:rPr>
                  <a:t>217km</a:t>
                </a:r>
              </a:p>
            </p:txBody>
          </p:sp>
        </p:grpSp>
      </p:grpSp>
      <p:grpSp>
        <p:nvGrpSpPr>
          <p:cNvPr id="60" name="honest"/>
          <p:cNvGrpSpPr/>
          <p:nvPr/>
        </p:nvGrpSpPr>
        <p:grpSpPr>
          <a:xfrm>
            <a:off x="533400" y="4248150"/>
            <a:ext cx="11125200" cy="1276350"/>
            <a:chOff x="533400" y="4248150"/>
            <a:chExt cx="11125200" cy="1276350"/>
          </a:xfrm>
        </p:grpSpPr>
        <p:sp>
          <p:nvSpPr>
            <p:cNvPr id="54" name="Rectangle 54"/>
            <p:cNvSpPr/>
            <p:nvPr/>
          </p:nvSpPr>
          <p:spPr>
            <a:xfrm>
              <a:off x="533400" y="4248150"/>
              <a:ext cx="5448300" cy="1276350"/>
            </a:xfrm>
            <a:prstGeom prst="rect">
              <a:avLst/>
            </a:prstGeom>
            <a:solidFill>
              <a:srgbClr val="F3F5F8"/>
            </a:solidFill>
            <a:ln>
              <a:noFill/>
            </a:ln>
          </p:spPr>
        </p:sp>
        <p:sp>
          <p:nvSpPr>
            <p:cNvPr id="55" name="TextBox 55"/>
            <p:cNvSpPr txBox="1"/>
            <p:nvPr/>
          </p:nvSpPr>
          <p:spPr>
            <a:xfrm>
              <a:off x="718185" y="4375150"/>
              <a:ext cx="1764936" cy="220028"/>
            </a:xfrm>
            <a:prstGeom prst="rect">
              <a:avLst/>
            </a:prstGeom>
            <a:noFill/>
            <a:ln>
              <a:noFill/>
            </a:ln>
          </p:spPr>
          <p:txBody>
            <a:bodyPr wrap="none" lIns="0" tIns="0" rIns="0" bIns="0" anchor="t" anchorCtr="0">
              <a:spAutoFit/>
            </a:bodyPr>
            <a:lstStyle/>
            <a:p>
              <a:pPr algn="l"/>
              <a:r>
                <a:rPr lang="ko-KR" sz="1120" b="1" dirty="0">
                  <a:solidFill>
                    <a:srgbClr val="8A5A00"/>
                  </a:solidFill>
                  <a:latin typeface="+mn-lt"/>
                  <a:ea typeface="+mn-ea"/>
                  <a:cs typeface="+mn-cs"/>
                </a:rPr>
                <a:t>가격으로 고르지 않습니다</a:t>
              </a:r>
            </a:p>
          </p:txBody>
        </p:sp>
        <p:sp>
          <p:nvSpPr>
            <p:cNvPr id="56" name="TextBox 56"/>
            <p:cNvSpPr txBox="1"/>
            <p:nvPr/>
          </p:nvSpPr>
          <p:spPr>
            <a:xfrm>
              <a:off x="717804" y="4584700"/>
              <a:ext cx="3806952" cy="691896"/>
            </a:xfrm>
            <a:prstGeom prst="rect">
              <a:avLst/>
            </a:prstGeom>
            <a:noFill/>
            <a:ln>
              <a:noFill/>
            </a:ln>
          </p:spPr>
          <p:txBody>
            <a:bodyPr wrap="none" lIns="0" tIns="0" rIns="0" bIns="0" anchor="t" anchorCtr="0">
              <a:spAutoFit/>
            </a:bodyPr>
            <a:lstStyle/>
            <a:p>
              <a:pPr algn="l">
                <a:lnSpc>
                  <a:spcPts val="1800"/>
                </a:lnSpc>
              </a:pPr>
              <a:r>
                <a:rPr lang="ko-KR" sz="1200" dirty="0">
                  <a:solidFill>
                    <a:srgbClr val="111827"/>
                  </a:solidFill>
                  <a:latin typeface="+mn-lt"/>
                  <a:ea typeface="+mn-ea"/>
                  <a:cs typeface="+mn-cs"/>
                </a:rPr>
                <a:t>차값 차이는 최대 1,354만 원인데, 차량형 GPR은</a:t>
              </a:r>
              <a:br>
                <a:rPr lang="ko-KR" sz="1200" dirty="0">
                  <a:solidFill>
                    <a:srgbClr val="111827"/>
                  </a:solidFill>
                  <a:latin typeface="+mn-lt"/>
                  <a:ea typeface="+mn-ea"/>
                  <a:cs typeface="+mn-cs"/>
                </a:rPr>
              </a:br>
              <a:r>
                <a:rPr lang="ko-KR" sz="1200" dirty="0">
                  <a:solidFill>
                    <a:srgbClr val="111827"/>
                  </a:solidFill>
                  <a:latin typeface="+mn-lt"/>
                  <a:ea typeface="+mn-ea"/>
                  <a:cs typeface="+mn-cs"/>
                </a:rPr>
                <a:t xml:space="preserve">대당 </a:t>
              </a:r>
              <a:r>
                <a:rPr lang="ko-KR" sz="1200" b="1" dirty="0">
                  <a:solidFill>
                    <a:srgbClr val="111827"/>
                  </a:solidFill>
                  <a:latin typeface="+mn-lt"/>
                  <a:ea typeface="+mn-ea"/>
                  <a:cs typeface="+mn-cs"/>
                </a:rPr>
                <a:t>2억~8억 원</a:t>
              </a:r>
              <a:r>
                <a:rPr lang="ko-KR" sz="1200" dirty="0">
                  <a:solidFill>
                    <a:srgbClr val="111827"/>
                  </a:solidFill>
                  <a:latin typeface="+mn-lt"/>
                  <a:ea typeface="+mn-ea"/>
                  <a:cs typeface="+mn-cs"/>
                </a:rPr>
                <a:t>(서울시 약 5억 원)입니다.</a:t>
              </a:r>
              <a:br>
                <a:rPr lang="ko-KR" sz="1200" dirty="0">
                  <a:solidFill>
                    <a:srgbClr val="111827"/>
                  </a:solidFill>
                  <a:latin typeface="+mn-lt"/>
                  <a:ea typeface="+mn-ea"/>
                  <a:cs typeface="+mn-cs"/>
                </a:rPr>
              </a:br>
              <a:r>
                <a:rPr lang="ko-KR" sz="1200" dirty="0">
                  <a:solidFill>
                    <a:srgbClr val="111827"/>
                  </a:solidFill>
                  <a:latin typeface="+mn-lt"/>
                  <a:ea typeface="+mn-ea"/>
                  <a:cs typeface="+mn-cs"/>
                </a:rPr>
                <a:t>차이를 가르는 건 전원·고정 구조와 컨버전 체계입니다.</a:t>
              </a:r>
            </a:p>
          </p:txBody>
        </p:sp>
        <p:sp>
          <p:nvSpPr>
            <p:cNvPr id="57" name="Rectangle 57"/>
            <p:cNvSpPr/>
            <p:nvPr/>
          </p:nvSpPr>
          <p:spPr>
            <a:xfrm>
              <a:off x="6210300" y="4248150"/>
              <a:ext cx="5448300" cy="1276350"/>
            </a:xfrm>
            <a:prstGeom prst="rect">
              <a:avLst/>
            </a:prstGeom>
            <a:solidFill>
              <a:srgbClr val="F3F5F8"/>
            </a:solidFill>
            <a:ln>
              <a:noFill/>
            </a:ln>
          </p:spPr>
        </p:sp>
        <p:sp>
          <p:nvSpPr>
            <p:cNvPr id="58" name="TextBox 58"/>
            <p:cNvSpPr txBox="1"/>
            <p:nvPr/>
          </p:nvSpPr>
          <p:spPr>
            <a:xfrm>
              <a:off x="6395085" y="4375150"/>
              <a:ext cx="1136292" cy="220028"/>
            </a:xfrm>
            <a:prstGeom prst="rect">
              <a:avLst/>
            </a:prstGeom>
            <a:noFill/>
            <a:ln>
              <a:noFill/>
            </a:ln>
          </p:spPr>
          <p:txBody>
            <a:bodyPr wrap="none" lIns="0" tIns="0" rIns="0" bIns="0" anchor="t" anchorCtr="0">
              <a:spAutoFit/>
            </a:bodyPr>
            <a:lstStyle/>
            <a:p>
              <a:pPr algn="l"/>
              <a:r>
                <a:rPr lang="ko-KR" sz="1120" b="1" dirty="0">
                  <a:solidFill>
                    <a:srgbClr val="C62828"/>
                  </a:solidFill>
                  <a:latin typeface="+mn-lt"/>
                  <a:ea typeface="+mn-ea"/>
                  <a:cs typeface="+mn-cs"/>
                </a:rPr>
                <a:t>PV5가 불리한 점</a:t>
              </a:r>
            </a:p>
          </p:txBody>
        </p:sp>
        <p:sp>
          <p:nvSpPr>
            <p:cNvPr id="59" name="TextBox 59"/>
            <p:cNvSpPr txBox="1"/>
            <p:nvPr/>
          </p:nvSpPr>
          <p:spPr>
            <a:xfrm>
              <a:off x="6394704" y="4584700"/>
              <a:ext cx="4126992" cy="691896"/>
            </a:xfrm>
            <a:prstGeom prst="rect">
              <a:avLst/>
            </a:prstGeom>
            <a:noFill/>
            <a:ln>
              <a:noFill/>
            </a:ln>
          </p:spPr>
          <p:txBody>
            <a:bodyPr wrap="none" lIns="0" tIns="0" rIns="0" bIns="0" anchor="t" anchorCtr="0">
              <a:spAutoFit/>
            </a:bodyPr>
            <a:lstStyle/>
            <a:p>
              <a:pPr algn="l">
                <a:lnSpc>
                  <a:spcPts val="1800"/>
                </a:lnSpc>
              </a:pPr>
              <a:r>
                <a:rPr lang="ko-KR" sz="1200" dirty="0">
                  <a:solidFill>
                    <a:srgbClr val="111827"/>
                  </a:solidFill>
                  <a:latin typeface="+mn-lt"/>
                  <a:ea typeface="+mn-ea"/>
                  <a:cs typeface="+mn-cs"/>
                </a:rPr>
                <a:t>주행거리는 스타리아보다 10km 짧고, 전폭은 포터·봉고보다</a:t>
              </a:r>
              <a:br>
                <a:rPr lang="ko-KR" sz="1200" dirty="0">
                  <a:solidFill>
                    <a:srgbClr val="111827"/>
                  </a:solidFill>
                  <a:latin typeface="+mn-lt"/>
                  <a:ea typeface="+mn-ea"/>
                  <a:cs typeface="+mn-cs"/>
                </a:rPr>
              </a:br>
              <a:r>
                <a:rPr lang="ko-KR" sz="1200" dirty="0">
                  <a:solidFill>
                    <a:srgbClr val="111827"/>
                  </a:solidFill>
                  <a:latin typeface="+mn-lt"/>
                  <a:ea typeface="+mn-ea"/>
                  <a:cs typeface="+mn-cs"/>
                </a:rPr>
                <a:t xml:space="preserve">155mm 넓습니다. 하루 순찰 약 30km </a:t>
              </a:r>
              <a:r>
                <a:rPr lang="ko-KR" sz="1200" dirty="0">
                  <a:solidFill>
                    <a:srgbClr val="4B5563"/>
                  </a:solidFill>
                  <a:latin typeface="+mn-lt"/>
                  <a:ea typeface="+mn-ea"/>
                  <a:cs typeface="+mn-cs"/>
                </a:rPr>
                <a:t>[가설]</a:t>
              </a:r>
              <a:r>
                <a:rPr lang="ko-KR" sz="1200" dirty="0">
                  <a:solidFill>
                    <a:srgbClr val="111827"/>
                  </a:solidFill>
                  <a:latin typeface="+mn-lt"/>
                  <a:ea typeface="+mn-ea"/>
                  <a:cs typeface="+mn-cs"/>
                </a:rPr>
                <a:t>에는</a:t>
              </a:r>
              <a:br>
                <a:rPr lang="ko-KR" sz="1200" dirty="0">
                  <a:solidFill>
                    <a:srgbClr val="111827"/>
                  </a:solidFill>
                  <a:latin typeface="+mn-lt"/>
                  <a:ea typeface="+mn-ea"/>
                  <a:cs typeface="+mn-cs"/>
                </a:rPr>
              </a:br>
              <a:r>
                <a:rPr lang="ko-KR" sz="1200" dirty="0">
                  <a:solidFill>
                    <a:srgbClr val="111827"/>
                  </a:solidFill>
                  <a:latin typeface="+mn-lt"/>
                  <a:ea typeface="+mn-ea"/>
                  <a:cs typeface="+mn-cs"/>
                </a:rPr>
                <a:t>377km로 충분합니다.</a:t>
              </a:r>
            </a:p>
          </p:txBody>
        </p:sp>
      </p:grpSp>
      <p:grpSp>
        <p:nvGrpSpPr>
          <p:cNvPr id="63" name="conclusion"/>
          <p:cNvGrpSpPr/>
          <p:nvPr/>
        </p:nvGrpSpPr>
        <p:grpSpPr>
          <a:xfrm>
            <a:off x="533400" y="5657850"/>
            <a:ext cx="8992086" cy="495300"/>
            <a:chOff x="533400" y="5657850"/>
            <a:chExt cx="8992086" cy="495300"/>
          </a:xfrm>
        </p:grpSpPr>
        <p:sp>
          <p:nvSpPr>
            <p:cNvPr id="61" name="Rectangle 61"/>
            <p:cNvSpPr/>
            <p:nvPr/>
          </p:nvSpPr>
          <p:spPr>
            <a:xfrm>
              <a:off x="533400" y="5657850"/>
              <a:ext cx="38100" cy="495300"/>
            </a:xfrm>
            <a:prstGeom prst="rect">
              <a:avLst/>
            </a:prstGeom>
            <a:solidFill>
              <a:srgbClr val="F5B700"/>
            </a:solidFill>
            <a:ln>
              <a:noFill/>
            </a:ln>
          </p:spPr>
        </p:sp>
        <p:sp>
          <p:nvSpPr>
            <p:cNvPr id="62" name="TextBox 62"/>
            <p:cNvSpPr txBox="1"/>
            <p:nvPr/>
          </p:nvSpPr>
          <p:spPr>
            <a:xfrm>
              <a:off x="754380" y="5794375"/>
              <a:ext cx="8771106"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 xml:space="preserve">전원·고정 구조와 </a:t>
              </a:r>
              <a:r>
                <a:rPr lang="ko-KR" sz="1500" b="1" dirty="0">
                  <a:solidFill>
                    <a:srgbClr val="B45309"/>
                  </a:solidFill>
                  <a:latin typeface="+mn-lt"/>
                  <a:ea typeface="+mn-ea"/>
                  <a:cs typeface="+mn-cs"/>
                </a:rPr>
                <a:t>공식 컨버전 체계</a:t>
              </a:r>
              <a:r>
                <a:rPr lang="ko-KR" sz="1500" b="1" dirty="0">
                  <a:solidFill>
                    <a:srgbClr val="0B1E3C"/>
                  </a:solidFill>
                  <a:latin typeface="+mn-lt"/>
                  <a:ea typeface="+mn-ea"/>
                  <a:cs typeface="+mn-cs"/>
                </a:rPr>
                <a:t>를 갖춘 PV5로, 같은 탐사실을 여러 대에 그대로 복제합니다.</a:t>
              </a:r>
            </a:p>
          </p:txBody>
        </p:sp>
      </p:grpSp>
      <p:grpSp>
        <p:nvGrpSpPr>
          <p:cNvPr id="65" name="source"/>
          <p:cNvGrpSpPr/>
          <p:nvPr/>
        </p:nvGrpSpPr>
        <p:grpSpPr>
          <a:xfrm>
            <a:off x="528447" y="6248400"/>
            <a:ext cx="10420985" cy="344043"/>
            <a:chOff x="528447" y="6248400"/>
            <a:chExt cx="10420985" cy="344043"/>
          </a:xfrm>
        </p:grpSpPr>
        <p:sp>
          <p:nvSpPr>
            <p:cNvPr id="64" name="TextBox 64"/>
            <p:cNvSpPr txBox="1"/>
            <p:nvPr/>
          </p:nvSpPr>
          <p:spPr>
            <a:xfrm>
              <a:off x="528447" y="6248400"/>
              <a:ext cx="10420985" cy="344043"/>
            </a:xfrm>
            <a:prstGeom prst="rect">
              <a:avLst/>
            </a:prstGeom>
            <a:noFill/>
            <a:ln>
              <a:noFill/>
            </a:ln>
          </p:spPr>
          <p:txBody>
            <a:bodyPr wrap="none" lIns="0" tIns="0" rIns="0" bIns="0" anchor="t" anchorCtr="0">
              <a:spAutoFit/>
            </a:bodyPr>
            <a:lstStyle/>
            <a:p>
              <a:pPr algn="l">
                <a:lnSpc>
                  <a:spcPts val="1200"/>
                </a:lnSpc>
              </a:pPr>
              <a:r>
                <a:rPr lang="ko-KR" sz="980" dirty="0">
                  <a:solidFill>
                    <a:srgbClr val="4B5563"/>
                  </a:solidFill>
                  <a:latin typeface="+mn-lt"/>
                  <a:ea typeface="+mn-ea"/>
                  <a:cs typeface="+mn-cs"/>
                </a:rPr>
                <a:t>출처: 기아 PV5 카고 가격표(2026.10.1)·제원 · 오토뷰(2026.1.28, PV5 컨버전 포털) · 스타리아 일렉트릭 출시(2026.4.23) · 2026 ST1 출시(2025.7.16)·현대차그룹 뉴스룸(317km)</a:t>
              </a:r>
              <a:br>
                <a:rPr lang="ko-KR" sz="980" dirty="0">
                  <a:solidFill>
                    <a:srgbClr val="4B5563"/>
                  </a:solidFill>
                  <a:latin typeface="+mn-lt"/>
                  <a:ea typeface="+mn-ea"/>
                  <a:cs typeface="+mn-cs"/>
                </a:rPr>
              </a:br>
              <a:r>
                <a:rPr lang="ko-KR" sz="980" dirty="0">
                  <a:solidFill>
                    <a:srgbClr val="4B5563"/>
                  </a:solidFill>
                  <a:latin typeface="+mn-lt"/>
                  <a:ea typeface="+mn-ea"/>
                  <a:cs typeface="+mn-cs"/>
                </a:rPr>
                <a:t>포터II·봉고III EV 2025년형 발표(217km) · 시사저널(2025.4.25, 경기도청 인용 GPR 대당 2억~8억 원) · 가격은 표기한 트림 기준, 보조금 제외</a:t>
              </a:r>
            </a:p>
          </p:txBody>
        </p:sp>
      </p:grpSp>
      <p:grpSp>
        <p:nvGrpSpPr>
          <p:cNvPr id="68" name="footer"/>
          <p:cNvGrpSpPr/>
          <p:nvPr/>
        </p:nvGrpSpPr>
        <p:grpSpPr>
          <a:xfrm>
            <a:off x="528638" y="6610350"/>
            <a:ext cx="11134724" cy="176212"/>
            <a:chOff x="528638" y="6610350"/>
            <a:chExt cx="11134724" cy="176212"/>
          </a:xfrm>
        </p:grpSpPr>
        <p:sp>
          <p:nvSpPr>
            <p:cNvPr id="66" name="TextBox 66"/>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7" name="TextBox 67"/>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10 / 15</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943585"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기술 실증 계획</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검증</a:t>
              </a:r>
            </a:p>
          </p:txBody>
        </p:sp>
        <p:sp>
          <p:nvSpPr>
            <p:cNvPr id="12" name="Rectangle 12"/>
            <p:cNvSpPr/>
            <p:nvPr/>
          </p:nvSpPr>
          <p:spPr>
            <a:xfrm>
              <a:off x="10229850" y="514350"/>
              <a:ext cx="457200" cy="28575"/>
            </a:xfrm>
            <a:prstGeom prst="rect">
              <a:avLst/>
            </a:prstGeom>
            <a:solidFill>
              <a:srgbClr val="F5B700"/>
            </a:solidFill>
            <a:ln>
              <a:noFill/>
            </a:ln>
          </p:spPr>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7089477" cy="586740"/>
            <a:chOff x="518160" y="774700"/>
            <a:chExt cx="7089477" cy="586740"/>
          </a:xfrm>
        </p:grpSpPr>
        <p:sp>
          <p:nvSpPr>
            <p:cNvPr id="17" name="TextBox 17"/>
            <p:cNvSpPr txBox="1"/>
            <p:nvPr/>
          </p:nvSpPr>
          <p:spPr>
            <a:xfrm>
              <a:off x="518160" y="774700"/>
              <a:ext cx="7089477"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남은 질문은 4가지, 4단계로 실증합니다</a:t>
              </a:r>
            </a:p>
          </p:txBody>
        </p:sp>
      </p:grpSp>
      <p:grpSp>
        <p:nvGrpSpPr>
          <p:cNvPr id="20" name="lead"/>
          <p:cNvGrpSpPr/>
          <p:nvPr/>
        </p:nvGrpSpPr>
        <p:grpSpPr>
          <a:xfrm>
            <a:off x="526161" y="1346200"/>
            <a:ext cx="9481805" cy="278702"/>
            <a:chOff x="526161" y="1346200"/>
            <a:chExt cx="9481805" cy="278702"/>
          </a:xfrm>
        </p:grpSpPr>
        <p:sp>
          <p:nvSpPr>
            <p:cNvPr id="19" name="TextBox 19"/>
            <p:cNvSpPr txBox="1"/>
            <p:nvPr/>
          </p:nvSpPr>
          <p:spPr>
            <a:xfrm>
              <a:off x="526161" y="1346200"/>
              <a:ext cx="9481805" cy="278702"/>
            </a:xfrm>
            <a:prstGeom prst="rect">
              <a:avLst/>
            </a:prstGeom>
            <a:noFill/>
            <a:ln>
              <a:noFill/>
            </a:ln>
          </p:spPr>
          <p:txBody>
            <a:bodyPr wrap="none" lIns="0" tIns="0" rIns="0" bIns="0" anchor="t" anchorCtr="0">
              <a:spAutoFit/>
            </a:bodyPr>
            <a:lstStyle/>
            <a:p>
              <a:pPr algn="l"/>
              <a:r>
                <a:rPr lang="ko-KR" sz="1420" dirty="0">
                  <a:solidFill>
                    <a:srgbClr val="374151"/>
                  </a:solidFill>
                  <a:latin typeface="+mn-lt"/>
                  <a:ea typeface="+mn-ea"/>
                  <a:cs typeface="+mn-cs"/>
                </a:rPr>
                <a:t xml:space="preserve">공동이 단기간에 자랄 수 있다는 것은 연구로 확인됐습니다(5장). 남은 건 </a:t>
              </a:r>
              <a:r>
                <a:rPr lang="ko-KR" sz="1420" b="1" dirty="0">
                  <a:solidFill>
                    <a:srgbClr val="0B1E3C"/>
                  </a:solidFill>
                  <a:latin typeface="+mn-lt"/>
                  <a:ea typeface="+mn-ea"/>
                  <a:cs typeface="+mn-cs"/>
                </a:rPr>
                <a:t>PV5에 실었을 때도 정확한가</a:t>
              </a:r>
              <a:r>
                <a:rPr lang="ko-KR" sz="1420" dirty="0">
                  <a:solidFill>
                    <a:srgbClr val="374151"/>
                  </a:solidFill>
                  <a:latin typeface="+mn-lt"/>
                  <a:ea typeface="+mn-ea"/>
                  <a:cs typeface="+mn-cs"/>
                </a:rPr>
                <a:t>입니다.</a:t>
              </a:r>
            </a:p>
          </p:txBody>
        </p:sp>
      </p:grpSp>
      <p:grpSp>
        <p:nvGrpSpPr>
          <p:cNvPr id="45" name="questions"/>
          <p:cNvGrpSpPr/>
          <p:nvPr/>
        </p:nvGrpSpPr>
        <p:grpSpPr>
          <a:xfrm>
            <a:off x="527685" y="1835150"/>
            <a:ext cx="11130915" cy="2056702"/>
            <a:chOff x="527685" y="1835150"/>
            <a:chExt cx="11130915" cy="2056702"/>
          </a:xfrm>
        </p:grpSpPr>
        <p:grpSp>
          <p:nvGrpSpPr>
            <p:cNvPr id="24" name="Group 24"/>
            <p:cNvGrpSpPr/>
            <p:nvPr/>
          </p:nvGrpSpPr>
          <p:grpSpPr>
            <a:xfrm>
              <a:off x="528066" y="1835150"/>
              <a:ext cx="8321751" cy="205359"/>
              <a:chOff x="528066" y="1835150"/>
              <a:chExt cx="8321751" cy="205359"/>
            </a:xfrm>
          </p:grpSpPr>
          <p:sp>
            <p:nvSpPr>
              <p:cNvPr id="21" name="TextBox 21"/>
              <p:cNvSpPr txBox="1"/>
              <p:nvPr/>
            </p:nvSpPr>
            <p:spPr>
              <a:xfrm>
                <a:off x="528066" y="1835150"/>
                <a:ext cx="761949"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확인할 질문</a:t>
                </a:r>
              </a:p>
            </p:txBody>
          </p:sp>
          <p:sp>
            <p:nvSpPr>
              <p:cNvPr id="22" name="TextBox 22"/>
              <p:cNvSpPr txBox="1"/>
              <p:nvPr/>
            </p:nvSpPr>
            <p:spPr>
              <a:xfrm>
                <a:off x="4947666" y="1835150"/>
                <a:ext cx="479247"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안 되면</a:t>
                </a:r>
              </a:p>
            </p:txBody>
          </p:sp>
          <p:sp>
            <p:nvSpPr>
              <p:cNvPr id="23" name="TextBox 23"/>
              <p:cNvSpPr txBox="1"/>
              <p:nvPr/>
            </p:nvSpPr>
            <p:spPr>
              <a:xfrm>
                <a:off x="7805166" y="1835150"/>
                <a:ext cx="1044651"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어떻게 확인하나</a:t>
                </a:r>
              </a:p>
            </p:txBody>
          </p:sp>
        </p:grpSp>
        <p:sp>
          <p:nvSpPr>
            <p:cNvPr id="25" name="Line 25"/>
            <p:cNvSpPr/>
            <p:nvPr/>
          </p:nvSpPr>
          <p:spPr>
            <a:xfrm>
              <a:off x="533400" y="2057400"/>
              <a:ext cx="11125200" cy="9525"/>
            </a:xfrm>
            <a:custGeom>
              <a:avLst/>
              <a:gdLst/>
              <a:ahLst/>
              <a:cxnLst/>
              <a:rect l="l" t="t" r="r" b="b"/>
              <a:pathLst>
                <a:path w="11125200" h="9525">
                  <a:moveTo>
                    <a:pt x="0" y="0"/>
                  </a:moveTo>
                  <a:lnTo>
                    <a:pt x="11125200" y="0"/>
                  </a:lnTo>
                </a:path>
              </a:pathLst>
            </a:custGeom>
            <a:noFill/>
            <a:ln w="14288">
              <a:solidFill>
                <a:srgbClr val="0B1E3C"/>
              </a:solidFill>
            </a:ln>
          </p:spPr>
        </p:sp>
        <p:sp>
          <p:nvSpPr>
            <p:cNvPr id="26" name="TextBox 26"/>
            <p:cNvSpPr txBox="1"/>
            <p:nvPr/>
          </p:nvSpPr>
          <p:spPr>
            <a:xfrm>
              <a:off x="527685" y="227965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1</a:t>
              </a:r>
            </a:p>
          </p:txBody>
        </p:sp>
        <p:sp>
          <p:nvSpPr>
            <p:cNvPr id="27" name="TextBox 27"/>
            <p:cNvSpPr txBox="1"/>
            <p:nvPr/>
          </p:nvSpPr>
          <p:spPr>
            <a:xfrm>
              <a:off x="754761" y="2241550"/>
              <a:ext cx="2756981"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EV 구동계와 GPR의 전자파 간섭</a:t>
              </a:r>
            </a:p>
          </p:txBody>
        </p:sp>
        <p:sp>
          <p:nvSpPr>
            <p:cNvPr id="28" name="TextBox 28"/>
            <p:cNvSpPr txBox="1"/>
            <p:nvPr/>
          </p:nvSpPr>
          <p:spPr>
            <a:xfrm>
              <a:off x="4946523" y="2266950"/>
              <a:ext cx="2063486" cy="250317"/>
            </a:xfrm>
            <a:prstGeom prst="rect">
              <a:avLst/>
            </a:prstGeom>
            <a:noFill/>
            <a:ln>
              <a:noFill/>
            </a:ln>
          </p:spPr>
          <p:txBody>
            <a:bodyPr wrap="none" lIns="0" tIns="0" rIns="0" bIns="0" anchor="t" anchorCtr="0">
              <a:spAutoFit/>
            </a:bodyPr>
            <a:lstStyle/>
            <a:p>
              <a:pPr algn="l"/>
              <a:r>
                <a:rPr lang="ko-KR" sz="1280" dirty="0">
                  <a:solidFill>
                    <a:srgbClr val="C62828"/>
                  </a:solidFill>
                  <a:latin typeface="+mn-lt"/>
                  <a:ea typeface="+mn-ea"/>
                  <a:cs typeface="+mn-cs"/>
                </a:rPr>
                <a:t>차량에서 측정 자체가 불가</a:t>
              </a:r>
            </a:p>
          </p:txBody>
        </p:sp>
        <p:sp>
          <p:nvSpPr>
            <p:cNvPr id="29" name="TextBox 29"/>
            <p:cNvSpPr txBox="1"/>
            <p:nvPr/>
          </p:nvSpPr>
          <p:spPr>
            <a:xfrm>
              <a:off x="7804023" y="2266950"/>
              <a:ext cx="2561732"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주행·정차·V2L 상태별 잡음 비교</a:t>
              </a:r>
            </a:p>
          </p:txBody>
        </p:sp>
        <p:sp>
          <p:nvSpPr>
            <p:cNvPr id="30" name="Line 30"/>
            <p:cNvSpPr/>
            <p:nvPr/>
          </p:nvSpPr>
          <p:spPr>
            <a:xfrm>
              <a:off x="533400" y="259080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31" name="TextBox 31"/>
            <p:cNvSpPr txBox="1"/>
            <p:nvPr/>
          </p:nvSpPr>
          <p:spPr>
            <a:xfrm>
              <a:off x="527685" y="273685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2</a:t>
              </a:r>
            </a:p>
          </p:txBody>
        </p:sp>
        <p:sp>
          <p:nvSpPr>
            <p:cNvPr id="32" name="TextBox 32"/>
            <p:cNvSpPr txBox="1"/>
            <p:nvPr/>
          </p:nvSpPr>
          <p:spPr>
            <a:xfrm>
              <a:off x="754761" y="2698750"/>
              <a:ext cx="2489049"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회차마다 같은 자리를 찍는가</a:t>
              </a:r>
            </a:p>
          </p:txBody>
        </p:sp>
        <p:sp>
          <p:nvSpPr>
            <p:cNvPr id="33" name="TextBox 33"/>
            <p:cNvSpPr txBox="1"/>
            <p:nvPr/>
          </p:nvSpPr>
          <p:spPr>
            <a:xfrm>
              <a:off x="4946523" y="2724150"/>
              <a:ext cx="1322537" cy="250317"/>
            </a:xfrm>
            <a:prstGeom prst="rect">
              <a:avLst/>
            </a:prstGeom>
            <a:noFill/>
            <a:ln>
              <a:noFill/>
            </a:ln>
          </p:spPr>
          <p:txBody>
            <a:bodyPr wrap="none" lIns="0" tIns="0" rIns="0" bIns="0" anchor="t" anchorCtr="0">
              <a:spAutoFit/>
            </a:bodyPr>
            <a:lstStyle/>
            <a:p>
              <a:pPr algn="l"/>
              <a:r>
                <a:rPr lang="ko-KR" sz="1280" dirty="0">
                  <a:solidFill>
                    <a:srgbClr val="C62828"/>
                  </a:solidFill>
                  <a:latin typeface="+mn-lt"/>
                  <a:ea typeface="+mn-ea"/>
                  <a:cs typeface="+mn-cs"/>
                </a:rPr>
                <a:t>변화 비교가 불가</a:t>
              </a:r>
            </a:p>
          </p:txBody>
        </p:sp>
        <p:sp>
          <p:nvSpPr>
            <p:cNvPr id="34" name="TextBox 34"/>
            <p:cNvSpPr txBox="1"/>
            <p:nvPr/>
          </p:nvSpPr>
          <p:spPr>
            <a:xfrm>
              <a:off x="7804023" y="2724150"/>
              <a:ext cx="3627801"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8cm 어긋남이 최대 오탐(7장) → RTK·IMU 정합</a:t>
              </a:r>
            </a:p>
          </p:txBody>
        </p:sp>
        <p:sp>
          <p:nvSpPr>
            <p:cNvPr id="35" name="Line 35"/>
            <p:cNvSpPr/>
            <p:nvPr/>
          </p:nvSpPr>
          <p:spPr>
            <a:xfrm>
              <a:off x="533400" y="304800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36" name="TextBox 36"/>
            <p:cNvSpPr txBox="1"/>
            <p:nvPr/>
          </p:nvSpPr>
          <p:spPr>
            <a:xfrm>
              <a:off x="527685" y="319405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3</a:t>
              </a:r>
            </a:p>
          </p:txBody>
        </p:sp>
        <p:sp>
          <p:nvSpPr>
            <p:cNvPr id="37" name="TextBox 37"/>
            <p:cNvSpPr txBox="1"/>
            <p:nvPr/>
          </p:nvSpPr>
          <p:spPr>
            <a:xfrm>
              <a:off x="754761" y="3155950"/>
              <a:ext cx="2286996"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AI가 변화를 맞게 고르는가</a:t>
              </a:r>
            </a:p>
          </p:txBody>
        </p:sp>
        <p:sp>
          <p:nvSpPr>
            <p:cNvPr id="38" name="TextBox 38"/>
            <p:cNvSpPr txBox="1"/>
            <p:nvPr/>
          </p:nvSpPr>
          <p:spPr>
            <a:xfrm>
              <a:off x="4946523" y="3181350"/>
              <a:ext cx="1494851" cy="250317"/>
            </a:xfrm>
            <a:prstGeom prst="rect">
              <a:avLst/>
            </a:prstGeom>
            <a:noFill/>
            <a:ln>
              <a:noFill/>
            </a:ln>
          </p:spPr>
          <p:txBody>
            <a:bodyPr wrap="none" lIns="0" tIns="0" rIns="0" bIns="0" anchor="t" anchorCtr="0">
              <a:spAutoFit/>
            </a:bodyPr>
            <a:lstStyle/>
            <a:p>
              <a:pPr algn="l"/>
              <a:r>
                <a:rPr lang="ko-KR" sz="1280" dirty="0">
                  <a:solidFill>
                    <a:srgbClr val="C62828"/>
                  </a:solidFill>
                  <a:latin typeface="+mn-lt"/>
                  <a:ea typeface="+mn-ea"/>
                  <a:cs typeface="+mn-cs"/>
                </a:rPr>
                <a:t>재확인 출동이 과다</a:t>
              </a:r>
            </a:p>
          </p:txBody>
        </p:sp>
        <p:sp>
          <p:nvSpPr>
            <p:cNvPr id="39" name="TextBox 39"/>
            <p:cNvSpPr txBox="1"/>
            <p:nvPr/>
          </p:nvSpPr>
          <p:spPr>
            <a:xfrm>
              <a:off x="7804023" y="3181350"/>
              <a:ext cx="323521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시뮬레이션 통과(7장) → 공동 모사체 실측</a:t>
              </a:r>
            </a:p>
          </p:txBody>
        </p:sp>
        <p:sp>
          <p:nvSpPr>
            <p:cNvPr id="40" name="Line 40"/>
            <p:cNvSpPr/>
            <p:nvPr/>
          </p:nvSpPr>
          <p:spPr>
            <a:xfrm>
              <a:off x="533400" y="350520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41" name="TextBox 41"/>
            <p:cNvSpPr txBox="1"/>
            <p:nvPr/>
          </p:nvSpPr>
          <p:spPr>
            <a:xfrm>
              <a:off x="527685" y="365125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4</a:t>
              </a:r>
            </a:p>
          </p:txBody>
        </p:sp>
        <p:sp>
          <p:nvSpPr>
            <p:cNvPr id="42" name="TextBox 42"/>
            <p:cNvSpPr txBox="1"/>
            <p:nvPr/>
          </p:nvSpPr>
          <p:spPr>
            <a:xfrm>
              <a:off x="754761" y="3613150"/>
              <a:ext cx="2152264"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밤에 AR이 정확히 맞는가</a:t>
              </a:r>
            </a:p>
          </p:txBody>
        </p:sp>
        <p:sp>
          <p:nvSpPr>
            <p:cNvPr id="43" name="TextBox 43"/>
            <p:cNvSpPr txBox="1"/>
            <p:nvPr/>
          </p:nvSpPr>
          <p:spPr>
            <a:xfrm>
              <a:off x="4946523" y="3638550"/>
              <a:ext cx="1718859" cy="250317"/>
            </a:xfrm>
            <a:prstGeom prst="rect">
              <a:avLst/>
            </a:prstGeom>
            <a:noFill/>
            <a:ln>
              <a:noFill/>
            </a:ln>
          </p:spPr>
          <p:txBody>
            <a:bodyPr wrap="none" lIns="0" tIns="0" rIns="0" bIns="0" anchor="t" anchorCtr="0">
              <a:spAutoFit/>
            </a:bodyPr>
            <a:lstStyle/>
            <a:p>
              <a:pPr algn="l"/>
              <a:r>
                <a:rPr lang="ko-KR" sz="1280" dirty="0">
                  <a:solidFill>
                    <a:srgbClr val="C62828"/>
                  </a:solidFill>
                  <a:latin typeface="+mn-lt"/>
                  <a:ea typeface="+mn-ea"/>
                  <a:cs typeface="+mn-cs"/>
                </a:rPr>
                <a:t>현장 탐색 범위가 커짐</a:t>
              </a:r>
            </a:p>
          </p:txBody>
        </p:sp>
        <p:sp>
          <p:nvSpPr>
            <p:cNvPr id="44" name="TextBox 44"/>
            <p:cNvSpPr txBox="1"/>
            <p:nvPr/>
          </p:nvSpPr>
          <p:spPr>
            <a:xfrm>
              <a:off x="7804023" y="3638550"/>
              <a:ext cx="2330572"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맨홀·경계석 기준점 오차 측정</a:t>
              </a:r>
            </a:p>
          </p:txBody>
        </p:sp>
      </p:grpSp>
      <p:grpSp>
        <p:nvGrpSpPr>
          <p:cNvPr id="70" name="stages"/>
          <p:cNvGrpSpPr/>
          <p:nvPr/>
        </p:nvGrpSpPr>
        <p:grpSpPr>
          <a:xfrm>
            <a:off x="527685" y="4298950"/>
            <a:ext cx="11140440" cy="1168400"/>
            <a:chOff x="527685" y="4298950"/>
            <a:chExt cx="11140440" cy="1168400"/>
          </a:xfrm>
        </p:grpSpPr>
        <p:sp>
          <p:nvSpPr>
            <p:cNvPr id="46" name="TextBox 46"/>
            <p:cNvSpPr txBox="1"/>
            <p:nvPr/>
          </p:nvSpPr>
          <p:spPr>
            <a:xfrm>
              <a:off x="527685" y="4298950"/>
              <a:ext cx="66202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실증 순서</a:t>
              </a:r>
            </a:p>
          </p:txBody>
        </p:sp>
        <p:sp>
          <p:nvSpPr>
            <p:cNvPr id="47" name="Rectangle 47"/>
            <p:cNvSpPr/>
            <p:nvPr/>
          </p:nvSpPr>
          <p:spPr>
            <a:xfrm>
              <a:off x="533400" y="4572000"/>
              <a:ext cx="2647950" cy="895350"/>
            </a:xfrm>
            <a:prstGeom prst="rect">
              <a:avLst/>
            </a:prstGeom>
            <a:solidFill>
              <a:srgbClr val="F3F5F8"/>
            </a:solidFill>
            <a:ln>
              <a:noFill/>
            </a:ln>
          </p:spPr>
        </p:sp>
        <p:sp>
          <p:nvSpPr>
            <p:cNvPr id="48" name="Rectangle 48"/>
            <p:cNvSpPr/>
            <p:nvPr/>
          </p:nvSpPr>
          <p:spPr>
            <a:xfrm>
              <a:off x="533400" y="4572000"/>
              <a:ext cx="2647950" cy="38100"/>
            </a:xfrm>
            <a:prstGeom prst="rect">
              <a:avLst/>
            </a:prstGeom>
            <a:solidFill>
              <a:srgbClr val="0B1E3C"/>
            </a:solidFill>
            <a:ln>
              <a:noFill/>
            </a:ln>
          </p:spPr>
        </p:sp>
        <p:sp>
          <p:nvSpPr>
            <p:cNvPr id="49" name="TextBox 49"/>
            <p:cNvSpPr txBox="1"/>
            <p:nvPr/>
          </p:nvSpPr>
          <p:spPr>
            <a:xfrm>
              <a:off x="699516" y="4711700"/>
              <a:ext cx="954539" cy="205359"/>
            </a:xfrm>
            <a:prstGeom prst="rect">
              <a:avLst/>
            </a:prstGeom>
            <a:noFill/>
            <a:ln>
              <a:noFill/>
            </a:ln>
          </p:spPr>
          <p:txBody>
            <a:bodyPr wrap="none" lIns="0" tIns="0" rIns="0" bIns="0" anchor="t" anchorCtr="0">
              <a:spAutoFit/>
            </a:bodyPr>
            <a:lstStyle/>
            <a:p>
              <a:pPr algn="l"/>
              <a:r>
                <a:rPr lang="ko-KR" sz="1050" b="1" dirty="0">
                  <a:solidFill>
                    <a:srgbClr val="B45309"/>
                  </a:solidFill>
                  <a:latin typeface="+mn-lt"/>
                  <a:ea typeface="+mn-ea"/>
                  <a:cs typeface="+mn-cs"/>
                </a:rPr>
                <a:t>1단계 · 질문 1</a:t>
              </a:r>
            </a:p>
          </p:txBody>
        </p:sp>
        <p:sp>
          <p:nvSpPr>
            <p:cNvPr id="50" name="TextBox 50"/>
            <p:cNvSpPr txBox="1"/>
            <p:nvPr/>
          </p:nvSpPr>
          <p:spPr>
            <a:xfrm>
              <a:off x="697230" y="4927600"/>
              <a:ext cx="1088498"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폐쇄 시험장</a:t>
              </a:r>
            </a:p>
          </p:txBody>
        </p:sp>
        <p:sp>
          <p:nvSpPr>
            <p:cNvPr id="51" name="TextBox 51"/>
            <p:cNvSpPr txBox="1"/>
            <p:nvPr/>
          </p:nvSpPr>
          <p:spPr>
            <a:xfrm>
              <a:off x="699135" y="5213350"/>
              <a:ext cx="1481480" cy="220028"/>
            </a:xfrm>
            <a:prstGeom prst="rect">
              <a:avLst/>
            </a:prstGeom>
            <a:noFill/>
            <a:ln>
              <a:noFill/>
            </a:ln>
          </p:spPr>
          <p:txBody>
            <a:bodyPr wrap="none" lIns="0" tIns="0" rIns="0" bIns="0" anchor="t" anchorCtr="0">
              <a:spAutoFit/>
            </a:bodyPr>
            <a:lstStyle/>
            <a:p>
              <a:pPr algn="l"/>
              <a:r>
                <a:rPr lang="ko-KR" sz="1120" dirty="0">
                  <a:solidFill>
                    <a:srgbClr val="0B1E3C"/>
                  </a:solidFill>
                  <a:latin typeface="+mn-lt"/>
                  <a:ea typeface="+mn-ea"/>
                  <a:cs typeface="+mn-cs"/>
                </a:rPr>
                <a:t>통과 → 차량 측정 가능</a:t>
              </a:r>
            </a:p>
          </p:txBody>
        </p:sp>
        <p:sp>
          <p:nvSpPr>
            <p:cNvPr id="52" name="TextBox 52"/>
            <p:cNvSpPr txBox="1"/>
            <p:nvPr/>
          </p:nvSpPr>
          <p:spPr>
            <a:xfrm>
              <a:off x="3250692" y="4940300"/>
              <a:ext cx="113671" cy="264033"/>
            </a:xfrm>
            <a:prstGeom prst="rect">
              <a:avLst/>
            </a:prstGeom>
            <a:noFill/>
            <a:ln>
              <a:noFill/>
            </a:ln>
          </p:spPr>
          <p:txBody>
            <a:bodyPr wrap="none" lIns="0" tIns="0" rIns="0" bIns="0" anchor="t" anchorCtr="0">
              <a:spAutoFit/>
            </a:bodyPr>
            <a:lstStyle/>
            <a:p>
              <a:pPr algn="l"/>
              <a:r>
                <a:rPr lang="ko-KR" sz="1350" dirty="0">
                  <a:solidFill>
                    <a:srgbClr val="4B5563"/>
                  </a:solidFill>
                  <a:latin typeface="+mn-lt"/>
                  <a:ea typeface="+mn-ea"/>
                  <a:cs typeface="+mn-cs"/>
                </a:rPr>
                <a:t>›</a:t>
              </a:r>
            </a:p>
          </p:txBody>
        </p:sp>
        <p:sp>
          <p:nvSpPr>
            <p:cNvPr id="53" name="Rectangle 53"/>
            <p:cNvSpPr/>
            <p:nvPr/>
          </p:nvSpPr>
          <p:spPr>
            <a:xfrm>
              <a:off x="3362325" y="4572000"/>
              <a:ext cx="2647950" cy="895350"/>
            </a:xfrm>
            <a:prstGeom prst="rect">
              <a:avLst/>
            </a:prstGeom>
            <a:solidFill>
              <a:srgbClr val="F3F5F8"/>
            </a:solidFill>
            <a:ln>
              <a:noFill/>
            </a:ln>
          </p:spPr>
        </p:sp>
        <p:sp>
          <p:nvSpPr>
            <p:cNvPr id="54" name="Rectangle 54"/>
            <p:cNvSpPr/>
            <p:nvPr/>
          </p:nvSpPr>
          <p:spPr>
            <a:xfrm>
              <a:off x="3362325" y="4572000"/>
              <a:ext cx="2647950" cy="38100"/>
            </a:xfrm>
            <a:prstGeom prst="rect">
              <a:avLst/>
            </a:prstGeom>
            <a:solidFill>
              <a:srgbClr val="0B1E3C"/>
            </a:solidFill>
            <a:ln>
              <a:noFill/>
            </a:ln>
          </p:spPr>
        </p:sp>
        <p:sp>
          <p:nvSpPr>
            <p:cNvPr id="55" name="TextBox 55"/>
            <p:cNvSpPr txBox="1"/>
            <p:nvPr/>
          </p:nvSpPr>
          <p:spPr>
            <a:xfrm>
              <a:off x="3528441" y="4711700"/>
              <a:ext cx="1117800" cy="205359"/>
            </a:xfrm>
            <a:prstGeom prst="rect">
              <a:avLst/>
            </a:prstGeom>
            <a:noFill/>
            <a:ln>
              <a:noFill/>
            </a:ln>
          </p:spPr>
          <p:txBody>
            <a:bodyPr wrap="none" lIns="0" tIns="0" rIns="0" bIns="0" anchor="t" anchorCtr="0">
              <a:spAutoFit/>
            </a:bodyPr>
            <a:lstStyle/>
            <a:p>
              <a:pPr algn="l"/>
              <a:r>
                <a:rPr lang="ko-KR" sz="1050" b="1" dirty="0">
                  <a:solidFill>
                    <a:srgbClr val="B45309"/>
                  </a:solidFill>
                  <a:latin typeface="+mn-lt"/>
                  <a:ea typeface="+mn-ea"/>
                  <a:cs typeface="+mn-cs"/>
                </a:rPr>
                <a:t>2단계 · 질문 2·3</a:t>
              </a:r>
            </a:p>
          </p:txBody>
        </p:sp>
        <p:sp>
          <p:nvSpPr>
            <p:cNvPr id="56" name="TextBox 56"/>
            <p:cNvSpPr txBox="1"/>
            <p:nvPr/>
          </p:nvSpPr>
          <p:spPr>
            <a:xfrm>
              <a:off x="3526155" y="4927600"/>
              <a:ext cx="1555966"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통제된 시험 구간</a:t>
              </a:r>
            </a:p>
          </p:txBody>
        </p:sp>
        <p:sp>
          <p:nvSpPr>
            <p:cNvPr id="57" name="TextBox 57"/>
            <p:cNvSpPr txBox="1"/>
            <p:nvPr/>
          </p:nvSpPr>
          <p:spPr>
            <a:xfrm>
              <a:off x="3528060" y="5213350"/>
              <a:ext cx="1481480" cy="220028"/>
            </a:xfrm>
            <a:prstGeom prst="rect">
              <a:avLst/>
            </a:prstGeom>
            <a:noFill/>
            <a:ln>
              <a:noFill/>
            </a:ln>
          </p:spPr>
          <p:txBody>
            <a:bodyPr wrap="none" lIns="0" tIns="0" rIns="0" bIns="0" anchor="t" anchorCtr="0">
              <a:spAutoFit/>
            </a:bodyPr>
            <a:lstStyle/>
            <a:p>
              <a:pPr algn="l"/>
              <a:r>
                <a:rPr lang="ko-KR" sz="1120" dirty="0">
                  <a:solidFill>
                    <a:srgbClr val="0B1E3C"/>
                  </a:solidFill>
                  <a:latin typeface="+mn-lt"/>
                  <a:ea typeface="+mn-ea"/>
                  <a:cs typeface="+mn-cs"/>
                </a:rPr>
                <a:t>통과 → 회차 비교 가능</a:t>
              </a:r>
            </a:p>
          </p:txBody>
        </p:sp>
        <p:sp>
          <p:nvSpPr>
            <p:cNvPr id="58" name="TextBox 58"/>
            <p:cNvSpPr txBox="1"/>
            <p:nvPr/>
          </p:nvSpPr>
          <p:spPr>
            <a:xfrm>
              <a:off x="6079617" y="4940300"/>
              <a:ext cx="113671" cy="264033"/>
            </a:xfrm>
            <a:prstGeom prst="rect">
              <a:avLst/>
            </a:prstGeom>
            <a:noFill/>
            <a:ln>
              <a:noFill/>
            </a:ln>
          </p:spPr>
          <p:txBody>
            <a:bodyPr wrap="none" lIns="0" tIns="0" rIns="0" bIns="0" anchor="t" anchorCtr="0">
              <a:spAutoFit/>
            </a:bodyPr>
            <a:lstStyle/>
            <a:p>
              <a:pPr algn="l"/>
              <a:r>
                <a:rPr lang="ko-KR" sz="1350" dirty="0">
                  <a:solidFill>
                    <a:srgbClr val="4B5563"/>
                  </a:solidFill>
                  <a:latin typeface="+mn-lt"/>
                  <a:ea typeface="+mn-ea"/>
                  <a:cs typeface="+mn-cs"/>
                </a:rPr>
                <a:t>›</a:t>
              </a:r>
            </a:p>
          </p:txBody>
        </p:sp>
        <p:sp>
          <p:nvSpPr>
            <p:cNvPr id="59" name="Rectangle 59"/>
            <p:cNvSpPr/>
            <p:nvPr/>
          </p:nvSpPr>
          <p:spPr>
            <a:xfrm>
              <a:off x="6191250" y="4572000"/>
              <a:ext cx="2647950" cy="895350"/>
            </a:xfrm>
            <a:prstGeom prst="rect">
              <a:avLst/>
            </a:prstGeom>
            <a:solidFill>
              <a:srgbClr val="F3F5F8"/>
            </a:solidFill>
            <a:ln>
              <a:noFill/>
            </a:ln>
          </p:spPr>
        </p:sp>
        <p:sp>
          <p:nvSpPr>
            <p:cNvPr id="60" name="Rectangle 60"/>
            <p:cNvSpPr/>
            <p:nvPr/>
          </p:nvSpPr>
          <p:spPr>
            <a:xfrm>
              <a:off x="6191250" y="4572000"/>
              <a:ext cx="2647950" cy="38100"/>
            </a:xfrm>
            <a:prstGeom prst="rect">
              <a:avLst/>
            </a:prstGeom>
            <a:solidFill>
              <a:srgbClr val="0B1E3C"/>
            </a:solidFill>
            <a:ln>
              <a:noFill/>
            </a:ln>
          </p:spPr>
        </p:sp>
        <p:sp>
          <p:nvSpPr>
            <p:cNvPr id="61" name="TextBox 61"/>
            <p:cNvSpPr txBox="1"/>
            <p:nvPr/>
          </p:nvSpPr>
          <p:spPr>
            <a:xfrm>
              <a:off x="6357366" y="4711700"/>
              <a:ext cx="1117800" cy="205359"/>
            </a:xfrm>
            <a:prstGeom prst="rect">
              <a:avLst/>
            </a:prstGeom>
            <a:noFill/>
            <a:ln>
              <a:noFill/>
            </a:ln>
          </p:spPr>
          <p:txBody>
            <a:bodyPr wrap="none" lIns="0" tIns="0" rIns="0" bIns="0" anchor="t" anchorCtr="0">
              <a:spAutoFit/>
            </a:bodyPr>
            <a:lstStyle/>
            <a:p>
              <a:pPr algn="l"/>
              <a:r>
                <a:rPr lang="ko-KR" sz="1050" b="1" dirty="0">
                  <a:solidFill>
                    <a:srgbClr val="B45309"/>
                  </a:solidFill>
                  <a:latin typeface="+mn-lt"/>
                  <a:ea typeface="+mn-ea"/>
                  <a:cs typeface="+mn-cs"/>
                </a:rPr>
                <a:t>3단계 · 질문 3·4</a:t>
              </a:r>
            </a:p>
          </p:txBody>
        </p:sp>
        <p:sp>
          <p:nvSpPr>
            <p:cNvPr id="62" name="TextBox 62"/>
            <p:cNvSpPr txBox="1"/>
            <p:nvPr/>
          </p:nvSpPr>
          <p:spPr>
            <a:xfrm>
              <a:off x="6355080" y="4927600"/>
              <a:ext cx="1757896"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실제 도로 위험구간</a:t>
              </a:r>
            </a:p>
          </p:txBody>
        </p:sp>
        <p:sp>
          <p:nvSpPr>
            <p:cNvPr id="63" name="TextBox 63"/>
            <p:cNvSpPr txBox="1"/>
            <p:nvPr/>
          </p:nvSpPr>
          <p:spPr>
            <a:xfrm>
              <a:off x="6356985" y="5213350"/>
              <a:ext cx="1240241" cy="220028"/>
            </a:xfrm>
            <a:prstGeom prst="rect">
              <a:avLst/>
            </a:prstGeom>
            <a:noFill/>
            <a:ln>
              <a:noFill/>
            </a:ln>
          </p:spPr>
          <p:txBody>
            <a:bodyPr wrap="none" lIns="0" tIns="0" rIns="0" bIns="0" anchor="t" anchorCtr="0">
              <a:spAutoFit/>
            </a:bodyPr>
            <a:lstStyle/>
            <a:p>
              <a:pPr algn="l"/>
              <a:r>
                <a:rPr lang="ko-KR" sz="1120" dirty="0">
                  <a:solidFill>
                    <a:srgbClr val="0B1E3C"/>
                  </a:solidFill>
                  <a:latin typeface="+mn-lt"/>
                  <a:ea typeface="+mn-ea"/>
                  <a:cs typeface="+mn-cs"/>
                </a:rPr>
                <a:t>통과 → 실증확인서</a:t>
              </a:r>
            </a:p>
          </p:txBody>
        </p:sp>
        <p:sp>
          <p:nvSpPr>
            <p:cNvPr id="64" name="TextBox 64"/>
            <p:cNvSpPr txBox="1"/>
            <p:nvPr/>
          </p:nvSpPr>
          <p:spPr>
            <a:xfrm>
              <a:off x="8908542" y="4940300"/>
              <a:ext cx="113671" cy="264033"/>
            </a:xfrm>
            <a:prstGeom prst="rect">
              <a:avLst/>
            </a:prstGeom>
            <a:noFill/>
            <a:ln>
              <a:noFill/>
            </a:ln>
          </p:spPr>
          <p:txBody>
            <a:bodyPr wrap="none" lIns="0" tIns="0" rIns="0" bIns="0" anchor="t" anchorCtr="0">
              <a:spAutoFit/>
            </a:bodyPr>
            <a:lstStyle/>
            <a:p>
              <a:pPr algn="l"/>
              <a:r>
                <a:rPr lang="ko-KR" sz="1350" dirty="0">
                  <a:solidFill>
                    <a:srgbClr val="4B5563"/>
                  </a:solidFill>
                  <a:latin typeface="+mn-lt"/>
                  <a:ea typeface="+mn-ea"/>
                  <a:cs typeface="+mn-cs"/>
                </a:rPr>
                <a:t>›</a:t>
              </a:r>
            </a:p>
          </p:txBody>
        </p:sp>
        <p:sp>
          <p:nvSpPr>
            <p:cNvPr id="65" name="Rectangle 65"/>
            <p:cNvSpPr/>
            <p:nvPr/>
          </p:nvSpPr>
          <p:spPr>
            <a:xfrm>
              <a:off x="9020175" y="4572000"/>
              <a:ext cx="2647950" cy="895350"/>
            </a:xfrm>
            <a:prstGeom prst="rect">
              <a:avLst/>
            </a:prstGeom>
            <a:solidFill>
              <a:srgbClr val="F3F5F8"/>
            </a:solidFill>
            <a:ln>
              <a:noFill/>
            </a:ln>
          </p:spPr>
        </p:sp>
        <p:sp>
          <p:nvSpPr>
            <p:cNvPr id="66" name="Rectangle 66"/>
            <p:cNvSpPr/>
            <p:nvPr/>
          </p:nvSpPr>
          <p:spPr>
            <a:xfrm>
              <a:off x="9020175" y="4572000"/>
              <a:ext cx="2647950" cy="38100"/>
            </a:xfrm>
            <a:prstGeom prst="rect">
              <a:avLst/>
            </a:prstGeom>
            <a:solidFill>
              <a:srgbClr val="F5B700"/>
            </a:solidFill>
            <a:ln>
              <a:noFill/>
            </a:ln>
          </p:spPr>
        </p:sp>
        <p:sp>
          <p:nvSpPr>
            <p:cNvPr id="67" name="TextBox 67"/>
            <p:cNvSpPr txBox="1"/>
            <p:nvPr/>
          </p:nvSpPr>
          <p:spPr>
            <a:xfrm>
              <a:off x="9186291" y="4711700"/>
              <a:ext cx="1616769" cy="205359"/>
            </a:xfrm>
            <a:prstGeom prst="rect">
              <a:avLst/>
            </a:prstGeom>
            <a:noFill/>
            <a:ln>
              <a:noFill/>
            </a:ln>
          </p:spPr>
          <p:txBody>
            <a:bodyPr wrap="none" lIns="0" tIns="0" rIns="0" bIns="0" anchor="t" anchorCtr="0">
              <a:spAutoFit/>
            </a:bodyPr>
            <a:lstStyle/>
            <a:p>
              <a:pPr algn="l"/>
              <a:r>
                <a:rPr lang="ko-KR" sz="1050" b="1" dirty="0">
                  <a:solidFill>
                    <a:srgbClr val="B45309"/>
                  </a:solidFill>
                  <a:latin typeface="+mn-lt"/>
                  <a:ea typeface="+mn-ea"/>
                  <a:cs typeface="+mn-cs"/>
                </a:rPr>
                <a:t>4단계 · 소요시간·재방문</a:t>
              </a:r>
            </a:p>
          </p:txBody>
        </p:sp>
        <p:sp>
          <p:nvSpPr>
            <p:cNvPr id="68" name="TextBox 68"/>
            <p:cNvSpPr txBox="1"/>
            <p:nvPr/>
          </p:nvSpPr>
          <p:spPr>
            <a:xfrm>
              <a:off x="9184005" y="4927600"/>
              <a:ext cx="886568"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실제 운영</a:t>
              </a:r>
            </a:p>
          </p:txBody>
        </p:sp>
        <p:sp>
          <p:nvSpPr>
            <p:cNvPr id="69" name="TextBox 69"/>
            <p:cNvSpPr txBox="1"/>
            <p:nvPr/>
          </p:nvSpPr>
          <p:spPr>
            <a:xfrm>
              <a:off x="9185910" y="5213350"/>
              <a:ext cx="1481480" cy="220028"/>
            </a:xfrm>
            <a:prstGeom prst="rect">
              <a:avLst/>
            </a:prstGeom>
            <a:noFill/>
            <a:ln>
              <a:noFill/>
            </a:ln>
          </p:spPr>
          <p:txBody>
            <a:bodyPr wrap="none" lIns="0" tIns="0" rIns="0" bIns="0" anchor="t" anchorCtr="0">
              <a:spAutoFit/>
            </a:bodyPr>
            <a:lstStyle/>
            <a:p>
              <a:pPr algn="l"/>
              <a:r>
                <a:rPr lang="ko-KR" sz="1120" dirty="0">
                  <a:solidFill>
                    <a:srgbClr val="0B1E3C"/>
                  </a:solidFill>
                  <a:latin typeface="+mn-lt"/>
                  <a:ea typeface="+mn-ea"/>
                  <a:cs typeface="+mn-cs"/>
                </a:rPr>
                <a:t>통과 → 연간 관제 계약</a:t>
              </a:r>
            </a:p>
          </p:txBody>
        </p:sp>
      </p:grpSp>
      <p:grpSp>
        <p:nvGrpSpPr>
          <p:cNvPr id="73" name="conclusion"/>
          <p:cNvGrpSpPr/>
          <p:nvPr/>
        </p:nvGrpSpPr>
        <p:grpSpPr>
          <a:xfrm>
            <a:off x="533400" y="5715000"/>
            <a:ext cx="6510362" cy="419100"/>
            <a:chOff x="533400" y="5715000"/>
            <a:chExt cx="6510362" cy="419100"/>
          </a:xfrm>
        </p:grpSpPr>
        <p:sp>
          <p:nvSpPr>
            <p:cNvPr id="71" name="Rectangle 71"/>
            <p:cNvSpPr/>
            <p:nvPr/>
          </p:nvSpPr>
          <p:spPr>
            <a:xfrm>
              <a:off x="533400" y="5715000"/>
              <a:ext cx="38100" cy="419100"/>
            </a:xfrm>
            <a:prstGeom prst="rect">
              <a:avLst/>
            </a:prstGeom>
            <a:solidFill>
              <a:srgbClr val="F5B700"/>
            </a:solidFill>
            <a:ln>
              <a:noFill/>
            </a:ln>
          </p:spPr>
        </p:sp>
        <p:sp>
          <p:nvSpPr>
            <p:cNvPr id="72" name="TextBox 72"/>
            <p:cNvSpPr txBox="1"/>
            <p:nvPr/>
          </p:nvSpPr>
          <p:spPr>
            <a:xfrm>
              <a:off x="715899" y="5810250"/>
              <a:ext cx="6327863"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정확도 숫자를 미리 약속하지 않고, 단계마다 통과 조건을 둡니다.</a:t>
              </a:r>
            </a:p>
          </p:txBody>
        </p:sp>
      </p:grpSp>
      <p:grpSp>
        <p:nvGrpSpPr>
          <p:cNvPr id="75" name="source"/>
          <p:cNvGrpSpPr/>
          <p:nvPr/>
        </p:nvGrpSpPr>
        <p:grpSpPr>
          <a:xfrm>
            <a:off x="528447" y="6381750"/>
            <a:ext cx="9894644" cy="191643"/>
            <a:chOff x="528447" y="6381750"/>
            <a:chExt cx="9894644" cy="191643"/>
          </a:xfrm>
        </p:grpSpPr>
        <p:sp>
          <p:nvSpPr>
            <p:cNvPr id="74" name="TextBox 74"/>
            <p:cNvSpPr txBox="1"/>
            <p:nvPr/>
          </p:nvSpPr>
          <p:spPr>
            <a:xfrm>
              <a:off x="528447" y="6381750"/>
              <a:ext cx="9894644"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인허가: 도로 영상은 개인정보보호법 제25조의2(2023.9)대로 차량 외부 표시 · GPR 전파 적합성평가·튜닝 승인은 사업화 전 확인 · 출처: 일본 국토교통성 연구(2021)</a:t>
              </a:r>
            </a:p>
          </p:txBody>
        </p:sp>
      </p:grpSp>
      <p:grpSp>
        <p:nvGrpSpPr>
          <p:cNvPr id="78" name="footer"/>
          <p:cNvGrpSpPr/>
          <p:nvPr/>
        </p:nvGrpSpPr>
        <p:grpSpPr>
          <a:xfrm>
            <a:off x="528638" y="6610350"/>
            <a:ext cx="11134724" cy="176212"/>
            <a:chOff x="528638" y="6610350"/>
            <a:chExt cx="11134724" cy="176212"/>
          </a:xfrm>
        </p:grpSpPr>
        <p:sp>
          <p:nvSpPr>
            <p:cNvPr id="76" name="TextBox 76"/>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77" name="TextBox 77"/>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11 / 15</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75982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단가와 수지</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2" name="TextBox 12"/>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3" name="TextBox 13"/>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사업</a:t>
              </a:r>
            </a:p>
          </p:txBody>
        </p:sp>
        <p:sp>
          <p:nvSpPr>
            <p:cNvPr id="14" name="Rectangle 14"/>
            <p:cNvSpPr/>
            <p:nvPr/>
          </p:nvSpPr>
          <p:spPr>
            <a:xfrm>
              <a:off x="10858500" y="514350"/>
              <a:ext cx="457200" cy="28575"/>
            </a:xfrm>
            <a:prstGeom prst="rect">
              <a:avLst/>
            </a:prstGeom>
            <a:solidFill>
              <a:srgbClr val="F5B700"/>
            </a:solidFill>
            <a:ln>
              <a:noFill/>
            </a:ln>
          </p:spPr>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9156630" cy="586740"/>
            <a:chOff x="518160" y="774700"/>
            <a:chExt cx="9156630" cy="586740"/>
          </a:xfrm>
        </p:grpSpPr>
        <p:sp>
          <p:nvSpPr>
            <p:cNvPr id="17" name="TextBox 17"/>
            <p:cNvSpPr txBox="1"/>
            <p:nvPr/>
          </p:nvSpPr>
          <p:spPr>
            <a:xfrm>
              <a:off x="518160" y="774700"/>
              <a:ext cx="9156630"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반복 탐사는 km당 약 4.7만 원이면 원가가 맞습니다</a:t>
              </a:r>
            </a:p>
          </p:txBody>
        </p:sp>
      </p:grpSp>
      <p:grpSp>
        <p:nvGrpSpPr>
          <p:cNvPr id="24" name="now"/>
          <p:cNvGrpSpPr/>
          <p:nvPr/>
        </p:nvGrpSpPr>
        <p:grpSpPr>
          <a:xfrm>
            <a:off x="519684" y="1409700"/>
            <a:ext cx="11138916" cy="940816"/>
            <a:chOff x="519684" y="1409700"/>
            <a:chExt cx="11138916" cy="940816"/>
          </a:xfrm>
        </p:grpSpPr>
        <p:sp>
          <p:nvSpPr>
            <p:cNvPr id="19" name="Rectangle 19"/>
            <p:cNvSpPr/>
            <p:nvPr/>
          </p:nvSpPr>
          <p:spPr>
            <a:xfrm>
              <a:off x="533400" y="1409700"/>
              <a:ext cx="11125200" cy="28575"/>
            </a:xfrm>
            <a:prstGeom prst="rect">
              <a:avLst/>
            </a:prstGeom>
            <a:solidFill>
              <a:srgbClr val="0B1E3C"/>
            </a:solidFill>
            <a:ln>
              <a:noFill/>
            </a:ln>
          </p:spPr>
        </p:sp>
        <p:sp>
          <p:nvSpPr>
            <p:cNvPr id="20" name="TextBox 20"/>
            <p:cNvSpPr txBox="1"/>
            <p:nvPr/>
          </p:nvSpPr>
          <p:spPr>
            <a:xfrm>
              <a:off x="527685" y="1593850"/>
              <a:ext cx="4445328"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지금의 실제 단가 · 서울시 2024 지반침하 특별점검 공동조사용역</a:t>
              </a:r>
            </a:p>
          </p:txBody>
        </p:sp>
        <p:sp>
          <p:nvSpPr>
            <p:cNvPr id="21" name="TextBox 21"/>
            <p:cNvSpPr txBox="1"/>
            <p:nvPr/>
          </p:nvSpPr>
          <p:spPr>
            <a:xfrm>
              <a:off x="519684" y="1822450"/>
              <a:ext cx="7265108" cy="528066"/>
            </a:xfrm>
            <a:prstGeom prst="rect">
              <a:avLst/>
            </a:prstGeom>
            <a:noFill/>
            <a:ln>
              <a:noFill/>
            </a:ln>
          </p:spPr>
          <p:txBody>
            <a:bodyPr wrap="none" lIns="0" tIns="0" rIns="0" bIns="0" anchor="t" anchorCtr="0">
              <a:spAutoFit/>
            </a:bodyPr>
            <a:lstStyle/>
            <a:p>
              <a:pPr algn="l"/>
              <a:r>
                <a:rPr lang="ko-KR" sz="2700" b="1" dirty="0">
                  <a:solidFill>
                    <a:srgbClr val="0B1E3C"/>
                  </a:solidFill>
                  <a:latin typeface="+mn-lt"/>
                  <a:ea typeface="+mn-ea"/>
                  <a:cs typeface="+mn-cs"/>
                </a:rPr>
                <a:t>17.8억 원 ÷ 1,930.6km = km당 약 92만 원</a:t>
              </a:r>
            </a:p>
          </p:txBody>
        </p:sp>
        <p:sp>
          <p:nvSpPr>
            <p:cNvPr id="22" name="TextBox 22"/>
            <p:cNvSpPr txBox="1"/>
            <p:nvPr/>
          </p:nvSpPr>
          <p:spPr>
            <a:xfrm>
              <a:off x="8566785" y="1898650"/>
              <a:ext cx="171518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1·2차 탐사, 천공 499곳,</a:t>
              </a:r>
            </a:p>
          </p:txBody>
        </p:sp>
        <p:sp>
          <p:nvSpPr>
            <p:cNvPr id="23" name="TextBox 23"/>
            <p:cNvSpPr txBox="1"/>
            <p:nvPr/>
          </p:nvSpPr>
          <p:spPr>
            <a:xfrm>
              <a:off x="8566785" y="2108200"/>
              <a:ext cx="1858416"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공동 복구 285곳 포함 · 1회</a:t>
              </a:r>
            </a:p>
          </p:txBody>
        </p:sp>
      </p:grpSp>
      <p:grpSp>
        <p:nvGrpSpPr>
          <p:cNvPr id="45" name="cost"/>
          <p:cNvGrpSpPr/>
          <p:nvPr/>
        </p:nvGrpSpPr>
        <p:grpSpPr>
          <a:xfrm>
            <a:off x="526542" y="2571750"/>
            <a:ext cx="5349240" cy="2669159"/>
            <a:chOff x="526542" y="2571750"/>
            <a:chExt cx="5349240" cy="2669159"/>
          </a:xfrm>
        </p:grpSpPr>
        <p:sp>
          <p:nvSpPr>
            <p:cNvPr id="25" name="TextBox 25"/>
            <p:cNvSpPr txBox="1"/>
            <p:nvPr/>
          </p:nvSpPr>
          <p:spPr>
            <a:xfrm>
              <a:off x="527304" y="2571750"/>
              <a:ext cx="3063077"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 xml:space="preserve">GroundWatch 차량 1대 연간 원가 </a:t>
              </a:r>
              <a:r>
                <a:rPr lang="ko-KR" sz="1200" dirty="0">
                  <a:solidFill>
                    <a:srgbClr val="4B5563"/>
                  </a:solidFill>
                  <a:latin typeface="+mn-lt"/>
                  <a:ea typeface="+mn-ea"/>
                  <a:cs typeface="+mn-cs"/>
                </a:rPr>
                <a:t>[가설]</a:t>
              </a:r>
            </a:p>
          </p:txBody>
        </p:sp>
        <p:sp>
          <p:nvSpPr>
            <p:cNvPr id="26" name="Line 26"/>
            <p:cNvSpPr/>
            <p:nvPr/>
          </p:nvSpPr>
          <p:spPr>
            <a:xfrm>
              <a:off x="533400" y="2838450"/>
              <a:ext cx="5334000" cy="9525"/>
            </a:xfrm>
            <a:custGeom>
              <a:avLst/>
              <a:gdLst/>
              <a:ahLst/>
              <a:cxnLst/>
              <a:rect l="l" t="t" r="r" b="b"/>
              <a:pathLst>
                <a:path w="5334000" h="9525">
                  <a:moveTo>
                    <a:pt x="0" y="0"/>
                  </a:moveTo>
                  <a:lnTo>
                    <a:pt x="5334000" y="0"/>
                  </a:lnTo>
                </a:path>
              </a:pathLst>
            </a:custGeom>
            <a:noFill/>
            <a:ln w="14288">
              <a:solidFill>
                <a:srgbClr val="0B1E3C"/>
              </a:solidFill>
            </a:ln>
          </p:spPr>
        </p:sp>
        <p:sp>
          <p:nvSpPr>
            <p:cNvPr id="27" name="TextBox 27"/>
            <p:cNvSpPr txBox="1"/>
            <p:nvPr/>
          </p:nvSpPr>
          <p:spPr>
            <a:xfrm>
              <a:off x="527304" y="2952750"/>
              <a:ext cx="1968551"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PV5 카고 4,520만 원 · 5년</a:t>
              </a:r>
            </a:p>
          </p:txBody>
        </p:sp>
        <p:sp>
          <p:nvSpPr>
            <p:cNvPr id="28" name="TextBox 28"/>
            <p:cNvSpPr txBox="1"/>
            <p:nvPr/>
          </p:nvSpPr>
          <p:spPr>
            <a:xfrm>
              <a:off x="5114163" y="2952750"/>
              <a:ext cx="75933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0.09억 원</a:t>
              </a:r>
            </a:p>
          </p:txBody>
        </p:sp>
        <p:sp>
          <p:nvSpPr>
            <p:cNvPr id="29" name="Line 29"/>
            <p:cNvSpPr/>
            <p:nvPr/>
          </p:nvSpPr>
          <p:spPr>
            <a:xfrm>
              <a:off x="533400" y="32194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30" name="TextBox 30"/>
            <p:cNvSpPr txBox="1"/>
            <p:nvPr/>
          </p:nvSpPr>
          <p:spPr>
            <a:xfrm>
              <a:off x="527304" y="3295650"/>
              <a:ext cx="2977896"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차량형 GPR 5억 원(서울시 구매가) · 5년</a:t>
              </a:r>
            </a:p>
          </p:txBody>
        </p:sp>
        <p:sp>
          <p:nvSpPr>
            <p:cNvPr id="31" name="TextBox 31"/>
            <p:cNvSpPr txBox="1"/>
            <p:nvPr/>
          </p:nvSpPr>
          <p:spPr>
            <a:xfrm>
              <a:off x="5114163" y="3295650"/>
              <a:ext cx="75933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1.00억 원</a:t>
              </a:r>
            </a:p>
          </p:txBody>
        </p:sp>
        <p:sp>
          <p:nvSpPr>
            <p:cNvPr id="32" name="Line 32"/>
            <p:cNvSpPr/>
            <p:nvPr/>
          </p:nvSpPr>
          <p:spPr>
            <a:xfrm>
              <a:off x="533400" y="35623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33" name="TextBox 33"/>
            <p:cNvSpPr txBox="1"/>
            <p:nvPr/>
          </p:nvSpPr>
          <p:spPr>
            <a:xfrm>
              <a:off x="527304" y="3638550"/>
              <a:ext cx="2104187"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현장 2인 (운전·안전 / 탐사)</a:t>
              </a:r>
            </a:p>
          </p:txBody>
        </p:sp>
        <p:sp>
          <p:nvSpPr>
            <p:cNvPr id="34" name="TextBox 34"/>
            <p:cNvSpPr txBox="1"/>
            <p:nvPr/>
          </p:nvSpPr>
          <p:spPr>
            <a:xfrm>
              <a:off x="5114163" y="3638550"/>
              <a:ext cx="75933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1.20억 원</a:t>
              </a:r>
            </a:p>
          </p:txBody>
        </p:sp>
        <p:sp>
          <p:nvSpPr>
            <p:cNvPr id="35" name="Line 35"/>
            <p:cNvSpPr/>
            <p:nvPr/>
          </p:nvSpPr>
          <p:spPr>
            <a:xfrm>
              <a:off x="533400" y="39052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36" name="TextBox 36"/>
            <p:cNvSpPr txBox="1"/>
            <p:nvPr/>
          </p:nvSpPr>
          <p:spPr>
            <a:xfrm>
              <a:off x="527304" y="3981450"/>
              <a:ext cx="1344930"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판독 전문가 0.5인</a:t>
              </a:r>
            </a:p>
          </p:txBody>
        </p:sp>
        <p:sp>
          <p:nvSpPr>
            <p:cNvPr id="37" name="TextBox 37"/>
            <p:cNvSpPr txBox="1"/>
            <p:nvPr/>
          </p:nvSpPr>
          <p:spPr>
            <a:xfrm>
              <a:off x="5114163" y="3981450"/>
              <a:ext cx="75933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0.40억 원</a:t>
              </a:r>
            </a:p>
          </p:txBody>
        </p:sp>
        <p:sp>
          <p:nvSpPr>
            <p:cNvPr id="38" name="Line 38"/>
            <p:cNvSpPr/>
            <p:nvPr/>
          </p:nvSpPr>
          <p:spPr>
            <a:xfrm>
              <a:off x="533400" y="42481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39" name="TextBox 39"/>
            <p:cNvSpPr txBox="1"/>
            <p:nvPr/>
          </p:nvSpPr>
          <p:spPr>
            <a:xfrm>
              <a:off x="527304" y="4324350"/>
              <a:ext cx="2513686"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수동 GPR·AR·클라우드·보험·유지</a:t>
              </a:r>
            </a:p>
          </p:txBody>
        </p:sp>
        <p:sp>
          <p:nvSpPr>
            <p:cNvPr id="40" name="TextBox 40"/>
            <p:cNvSpPr txBox="1"/>
            <p:nvPr/>
          </p:nvSpPr>
          <p:spPr>
            <a:xfrm>
              <a:off x="5114163" y="4324350"/>
              <a:ext cx="75933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0.40억 원</a:t>
              </a:r>
            </a:p>
          </p:txBody>
        </p:sp>
        <p:sp>
          <p:nvSpPr>
            <p:cNvPr id="41" name="Line 41"/>
            <p:cNvSpPr/>
            <p:nvPr/>
          </p:nvSpPr>
          <p:spPr>
            <a:xfrm>
              <a:off x="533400" y="45910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42" name="TextBox 42"/>
            <p:cNvSpPr txBox="1"/>
            <p:nvPr/>
          </p:nvSpPr>
          <p:spPr>
            <a:xfrm>
              <a:off x="526542" y="4749800"/>
              <a:ext cx="2506239" cy="264033"/>
            </a:xfrm>
            <a:prstGeom prst="rect">
              <a:avLst/>
            </a:prstGeom>
            <a:noFill/>
            <a:ln>
              <a:noFill/>
            </a:ln>
          </p:spPr>
          <p:txBody>
            <a:bodyPr wrap="none" lIns="0" tIns="0" rIns="0" bIns="0" anchor="t" anchorCtr="0">
              <a:spAutoFit/>
            </a:bodyPr>
            <a:lstStyle/>
            <a:p>
              <a:pPr algn="l"/>
              <a:r>
                <a:rPr lang="ko-KR" sz="1350" b="1" dirty="0">
                  <a:solidFill>
                    <a:srgbClr val="0B1E3C"/>
                  </a:solidFill>
                  <a:latin typeface="+mn-lt"/>
                  <a:ea typeface="+mn-ea"/>
                  <a:cs typeface="+mn-cs"/>
                </a:rPr>
                <a:t>합계 3.09억 원 ÷ 연 6,600km</a:t>
              </a:r>
            </a:p>
          </p:txBody>
        </p:sp>
        <p:sp>
          <p:nvSpPr>
            <p:cNvPr id="43" name="TextBox 43"/>
            <p:cNvSpPr txBox="1"/>
            <p:nvPr/>
          </p:nvSpPr>
          <p:spPr>
            <a:xfrm>
              <a:off x="4072594" y="4711700"/>
              <a:ext cx="1803188" cy="322707"/>
            </a:xfrm>
            <a:prstGeom prst="rect">
              <a:avLst/>
            </a:prstGeom>
            <a:noFill/>
            <a:ln>
              <a:noFill/>
            </a:ln>
          </p:spPr>
          <p:txBody>
            <a:bodyPr wrap="none" lIns="0" tIns="0" rIns="0" bIns="0" anchor="t" anchorCtr="0">
              <a:spAutoFit/>
            </a:bodyPr>
            <a:lstStyle/>
            <a:p>
              <a:pPr algn="r"/>
              <a:r>
                <a:rPr lang="ko-KR" sz="1650" b="1" dirty="0">
                  <a:solidFill>
                    <a:srgbClr val="0B1E3C"/>
                  </a:solidFill>
                  <a:latin typeface="+mn-lt"/>
                  <a:ea typeface="+mn-ea"/>
                  <a:cs typeface="+mn-cs"/>
                </a:rPr>
                <a:t>km당 약 4.7만 원</a:t>
              </a:r>
            </a:p>
          </p:txBody>
        </p:sp>
        <p:sp>
          <p:nvSpPr>
            <p:cNvPr id="44" name="TextBox 44"/>
            <p:cNvSpPr txBox="1"/>
            <p:nvPr/>
          </p:nvSpPr>
          <p:spPr>
            <a:xfrm>
              <a:off x="528066" y="5035550"/>
              <a:ext cx="4484427"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6,600km = 하루 30km × 220일 (실제 장비 탐사 속도는 시속 20~30km)</a:t>
              </a:r>
            </a:p>
          </p:txBody>
        </p:sp>
      </p:grpSp>
      <p:grpSp>
        <p:nvGrpSpPr>
          <p:cNvPr id="56" name="compare"/>
          <p:cNvGrpSpPr/>
          <p:nvPr/>
        </p:nvGrpSpPr>
        <p:grpSpPr>
          <a:xfrm>
            <a:off x="6318504" y="2571750"/>
            <a:ext cx="5340096" cy="2406396"/>
            <a:chOff x="6318504" y="2571750"/>
            <a:chExt cx="5340096" cy="2406396"/>
          </a:xfrm>
        </p:grpSpPr>
        <p:sp>
          <p:nvSpPr>
            <p:cNvPr id="46" name="TextBox 46"/>
            <p:cNvSpPr txBox="1"/>
            <p:nvPr/>
          </p:nvSpPr>
          <p:spPr>
            <a:xfrm>
              <a:off x="6318504" y="2571750"/>
              <a:ext cx="1915180"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같은 도로 1km를 1년 동안</a:t>
              </a:r>
            </a:p>
          </p:txBody>
        </p:sp>
        <p:sp>
          <p:nvSpPr>
            <p:cNvPr id="47" name="Line 47"/>
            <p:cNvSpPr/>
            <p:nvPr/>
          </p:nvSpPr>
          <p:spPr>
            <a:xfrm>
              <a:off x="6324600" y="2838450"/>
              <a:ext cx="5334000" cy="9525"/>
            </a:xfrm>
            <a:custGeom>
              <a:avLst/>
              <a:gdLst/>
              <a:ahLst/>
              <a:cxnLst/>
              <a:rect l="l" t="t" r="r" b="b"/>
              <a:pathLst>
                <a:path w="5334000" h="9525">
                  <a:moveTo>
                    <a:pt x="0" y="0"/>
                  </a:moveTo>
                  <a:lnTo>
                    <a:pt x="5334000" y="0"/>
                  </a:lnTo>
                </a:path>
              </a:pathLst>
            </a:custGeom>
            <a:noFill/>
            <a:ln w="14288">
              <a:solidFill>
                <a:srgbClr val="0B1E3C"/>
              </a:solidFill>
            </a:ln>
          </p:spPr>
        </p:sp>
        <p:sp>
          <p:nvSpPr>
            <p:cNvPr id="48" name="TextBox 48"/>
            <p:cNvSpPr txBox="1"/>
            <p:nvPr/>
          </p:nvSpPr>
          <p:spPr>
            <a:xfrm>
              <a:off x="6318504" y="3028950"/>
              <a:ext cx="1377239"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현행 전체 공정 1회</a:t>
              </a:r>
            </a:p>
          </p:txBody>
        </p:sp>
        <p:sp>
          <p:nvSpPr>
            <p:cNvPr id="49" name="Rectangle 49"/>
            <p:cNvSpPr/>
            <p:nvPr/>
          </p:nvSpPr>
          <p:spPr>
            <a:xfrm>
              <a:off x="6324600" y="3276600"/>
              <a:ext cx="4381500" cy="323850"/>
            </a:xfrm>
            <a:prstGeom prst="rect">
              <a:avLst/>
            </a:prstGeom>
            <a:solidFill>
              <a:srgbClr val="9AA3AF"/>
            </a:solidFill>
            <a:ln>
              <a:noFill/>
            </a:ln>
          </p:spPr>
        </p:sp>
        <p:sp>
          <p:nvSpPr>
            <p:cNvPr id="50" name="TextBox 50"/>
            <p:cNvSpPr txBox="1"/>
            <p:nvPr/>
          </p:nvSpPr>
          <p:spPr>
            <a:xfrm>
              <a:off x="10794492" y="3340100"/>
              <a:ext cx="644343"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92만 원</a:t>
              </a:r>
            </a:p>
          </p:txBody>
        </p:sp>
        <p:sp>
          <p:nvSpPr>
            <p:cNvPr id="51" name="TextBox 51"/>
            <p:cNvSpPr txBox="1"/>
            <p:nvPr/>
          </p:nvSpPr>
          <p:spPr>
            <a:xfrm>
              <a:off x="6318504" y="3771900"/>
              <a:ext cx="3245884"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GroundWatch 반복 탐사 6회 (약 2개월마다)</a:t>
              </a:r>
            </a:p>
          </p:txBody>
        </p:sp>
        <p:sp>
          <p:nvSpPr>
            <p:cNvPr id="52" name="Rectangle 52"/>
            <p:cNvSpPr/>
            <p:nvPr/>
          </p:nvSpPr>
          <p:spPr>
            <a:xfrm>
              <a:off x="6324600" y="4019550"/>
              <a:ext cx="1343025" cy="323850"/>
            </a:xfrm>
            <a:prstGeom prst="rect">
              <a:avLst/>
            </a:prstGeom>
            <a:solidFill>
              <a:srgbClr val="0B1E3C"/>
            </a:solidFill>
            <a:ln>
              <a:noFill/>
            </a:ln>
          </p:spPr>
        </p:sp>
        <p:sp>
          <p:nvSpPr>
            <p:cNvPr id="53" name="TextBox 53"/>
            <p:cNvSpPr txBox="1"/>
            <p:nvPr/>
          </p:nvSpPr>
          <p:spPr>
            <a:xfrm>
              <a:off x="7756017" y="4083050"/>
              <a:ext cx="1797061" cy="264033"/>
            </a:xfrm>
            <a:prstGeom prst="rect">
              <a:avLst/>
            </a:prstGeom>
            <a:noFill/>
            <a:ln>
              <a:noFill/>
            </a:ln>
          </p:spPr>
          <p:txBody>
            <a:bodyPr wrap="none" lIns="0" tIns="0" rIns="0" bIns="0" anchor="t" anchorCtr="0">
              <a:spAutoFit/>
            </a:bodyPr>
            <a:lstStyle/>
            <a:p>
              <a:pPr algn="l"/>
              <a:r>
                <a:rPr lang="ko-KR" sz="1350" b="1" dirty="0">
                  <a:solidFill>
                    <a:srgbClr val="0B1E3C"/>
                  </a:solidFill>
                  <a:latin typeface="+mn-lt"/>
                  <a:ea typeface="+mn-ea"/>
                  <a:cs typeface="+mn-cs"/>
                </a:rPr>
                <a:t xml:space="preserve">28만 원 </a:t>
              </a:r>
              <a:r>
                <a:rPr lang="ko-KR" sz="1050" dirty="0">
                  <a:solidFill>
                    <a:srgbClr val="4B5563"/>
                  </a:solidFill>
                  <a:latin typeface="+mn-lt"/>
                  <a:ea typeface="+mn-ea"/>
                  <a:cs typeface="+mn-cs"/>
                </a:rPr>
                <a:t>(4.7만 원 × 6회)</a:t>
              </a:r>
            </a:p>
          </p:txBody>
        </p:sp>
        <p:sp>
          <p:nvSpPr>
            <p:cNvPr id="54" name="TextBox 54"/>
            <p:cNvSpPr txBox="1"/>
            <p:nvPr/>
          </p:nvSpPr>
          <p:spPr>
            <a:xfrm>
              <a:off x="6318504" y="4514850"/>
              <a:ext cx="1950720"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천공·복구 같은 2차 조사는</a:t>
              </a:r>
            </a:p>
          </p:txBody>
        </p:sp>
        <p:sp>
          <p:nvSpPr>
            <p:cNvPr id="55" name="TextBox 55"/>
            <p:cNvSpPr txBox="1"/>
            <p:nvPr/>
          </p:nvSpPr>
          <p:spPr>
            <a:xfrm>
              <a:off x="6318504" y="4743450"/>
              <a:ext cx="2570645"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변화가 나온 곳에만, 지금 단가대로</a:t>
              </a:r>
            </a:p>
          </p:txBody>
        </p:sp>
      </p:grpSp>
      <p:grpSp>
        <p:nvGrpSpPr>
          <p:cNvPr id="59" name="conclusion"/>
          <p:cNvGrpSpPr/>
          <p:nvPr/>
        </p:nvGrpSpPr>
        <p:grpSpPr>
          <a:xfrm>
            <a:off x="533400" y="5676900"/>
            <a:ext cx="6687434" cy="419100"/>
            <a:chOff x="533400" y="5676900"/>
            <a:chExt cx="6687434" cy="419100"/>
          </a:xfrm>
        </p:grpSpPr>
        <p:sp>
          <p:nvSpPr>
            <p:cNvPr id="57" name="Rectangle 57"/>
            <p:cNvSpPr/>
            <p:nvPr/>
          </p:nvSpPr>
          <p:spPr>
            <a:xfrm>
              <a:off x="533400" y="5676900"/>
              <a:ext cx="38100" cy="419100"/>
            </a:xfrm>
            <a:prstGeom prst="rect">
              <a:avLst/>
            </a:prstGeom>
            <a:solidFill>
              <a:srgbClr val="F5B700"/>
            </a:solidFill>
            <a:ln>
              <a:noFill/>
            </a:ln>
          </p:spPr>
        </p:sp>
        <p:sp>
          <p:nvSpPr>
            <p:cNvPr id="58" name="TextBox 58"/>
            <p:cNvSpPr txBox="1"/>
            <p:nvPr/>
          </p:nvSpPr>
          <p:spPr>
            <a:xfrm>
              <a:off x="715899" y="5772150"/>
              <a:ext cx="6504935"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현행 1회 전체 탐사비의 약 3분의 1로, 같은 길을 1년에 6번 봅니다.</a:t>
              </a:r>
            </a:p>
          </p:txBody>
        </p:sp>
      </p:grpSp>
      <p:grpSp>
        <p:nvGrpSpPr>
          <p:cNvPr id="61" name="source"/>
          <p:cNvGrpSpPr/>
          <p:nvPr/>
        </p:nvGrpSpPr>
        <p:grpSpPr>
          <a:xfrm>
            <a:off x="528447" y="6381750"/>
            <a:ext cx="10796107" cy="191643"/>
            <a:chOff x="528447" y="6381750"/>
            <a:chExt cx="10796107" cy="191643"/>
          </a:xfrm>
        </p:grpSpPr>
        <p:sp>
          <p:nvSpPr>
            <p:cNvPr id="60" name="TextBox 60"/>
            <p:cNvSpPr txBox="1"/>
            <p:nvPr/>
          </p:nvSpPr>
          <p:spPr>
            <a:xfrm>
              <a:off x="528447" y="6381750"/>
              <a:ext cx="10796107"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출처: 서울시 「지반침하 특별점검 공동조사용역 최종보고서」(2024.10, 사업비 17억 8,090만 원·수행 1,930.6km) · 이투데이(2025.4.23, 차량형 GPR 3대 15억 원) · 원가는 가설</a:t>
              </a:r>
            </a:p>
          </p:txBody>
        </p:sp>
      </p:grpSp>
      <p:grpSp>
        <p:nvGrpSpPr>
          <p:cNvPr id="64" name="footer"/>
          <p:cNvGrpSpPr/>
          <p:nvPr/>
        </p:nvGrpSpPr>
        <p:grpSpPr>
          <a:xfrm>
            <a:off x="528638" y="6610350"/>
            <a:ext cx="11134724" cy="176212"/>
            <a:chOff x="528638" y="6610350"/>
            <a:chExt cx="11134724" cy="176212"/>
          </a:xfrm>
        </p:grpSpPr>
        <p:sp>
          <p:nvSpPr>
            <p:cNvPr id="62" name="TextBox 62"/>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3" name="TextBox 63"/>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12 / 15</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45244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첫 고객과 기아와 할 일</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2" name="TextBox 12"/>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3" name="TextBox 13"/>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사업</a:t>
              </a:r>
            </a:p>
          </p:txBody>
        </p:sp>
        <p:sp>
          <p:nvSpPr>
            <p:cNvPr id="14" name="Rectangle 14"/>
            <p:cNvSpPr/>
            <p:nvPr/>
          </p:nvSpPr>
          <p:spPr>
            <a:xfrm>
              <a:off x="10858500" y="514350"/>
              <a:ext cx="457200" cy="28575"/>
            </a:xfrm>
            <a:prstGeom prst="rect">
              <a:avLst/>
            </a:prstGeom>
            <a:solidFill>
              <a:srgbClr val="F5B700"/>
            </a:solidFill>
            <a:ln>
              <a:noFill/>
            </a:ln>
          </p:spPr>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10594372" cy="586740"/>
            <a:chOff x="518160" y="774700"/>
            <a:chExt cx="10594372" cy="586740"/>
          </a:xfrm>
        </p:grpSpPr>
        <p:sp>
          <p:nvSpPr>
            <p:cNvPr id="17" name="TextBox 17"/>
            <p:cNvSpPr txBox="1"/>
            <p:nvPr/>
          </p:nvSpPr>
          <p:spPr>
            <a:xfrm>
              <a:off x="518160" y="774700"/>
              <a:ext cx="10594372"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지자체 예산에서 시작해, 6개월 안에 1단계 실증을 마칩니다</a:t>
              </a:r>
            </a:p>
          </p:txBody>
        </p:sp>
      </p:grpSp>
      <p:grpSp>
        <p:nvGrpSpPr>
          <p:cNvPr id="31" name="facts"/>
          <p:cNvGrpSpPr/>
          <p:nvPr/>
        </p:nvGrpSpPr>
        <p:grpSpPr>
          <a:xfrm>
            <a:off x="521970" y="1409700"/>
            <a:ext cx="11136630" cy="992759"/>
            <a:chOff x="521970" y="1409700"/>
            <a:chExt cx="11136630" cy="992759"/>
          </a:xfrm>
        </p:grpSpPr>
        <p:sp>
          <p:nvSpPr>
            <p:cNvPr id="19" name="Rectangle 19"/>
            <p:cNvSpPr/>
            <p:nvPr/>
          </p:nvSpPr>
          <p:spPr>
            <a:xfrm>
              <a:off x="533400" y="1409700"/>
              <a:ext cx="3581400" cy="28575"/>
            </a:xfrm>
            <a:prstGeom prst="rect">
              <a:avLst/>
            </a:prstGeom>
            <a:solidFill>
              <a:srgbClr val="0B1E3C"/>
            </a:solidFill>
            <a:ln>
              <a:noFill/>
            </a:ln>
          </p:spPr>
        </p:sp>
        <p:sp>
          <p:nvSpPr>
            <p:cNvPr id="20" name="TextBox 20"/>
            <p:cNvSpPr txBox="1"/>
            <p:nvPr/>
          </p:nvSpPr>
          <p:spPr>
            <a:xfrm>
              <a:off x="521970" y="1587500"/>
              <a:ext cx="2601254" cy="440055"/>
            </a:xfrm>
            <a:prstGeom prst="rect">
              <a:avLst/>
            </a:prstGeom>
            <a:noFill/>
            <a:ln>
              <a:noFill/>
            </a:ln>
          </p:spPr>
          <p:txBody>
            <a:bodyPr wrap="none" lIns="0" tIns="0" rIns="0" bIns="0" anchor="t" anchorCtr="0">
              <a:spAutoFit/>
            </a:bodyPr>
            <a:lstStyle/>
            <a:p>
              <a:pPr algn="l"/>
              <a:r>
                <a:rPr lang="ko-KR" sz="2250" b="1" dirty="0">
                  <a:solidFill>
                    <a:srgbClr val="B45309"/>
                  </a:solidFill>
                  <a:latin typeface="+mn-lt"/>
                  <a:ea typeface="+mn-ea"/>
                  <a:cs typeface="+mn-cs"/>
                </a:rPr>
                <a:t>0.85억~1.90억 원</a:t>
              </a:r>
            </a:p>
          </p:txBody>
        </p:sp>
        <p:sp>
          <p:nvSpPr>
            <p:cNvPr id="21" name="TextBox 21"/>
            <p:cNvSpPr txBox="1"/>
            <p:nvPr/>
          </p:nvSpPr>
          <p:spPr>
            <a:xfrm>
              <a:off x="527304" y="1962150"/>
              <a:ext cx="2182734"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2026 지자체 GPR 용역 낙찰액</a:t>
              </a:r>
            </a:p>
          </p:txBody>
        </p:sp>
        <p:sp>
          <p:nvSpPr>
            <p:cNvPr id="22" name="TextBox 22"/>
            <p:cNvSpPr txBox="1"/>
            <p:nvPr/>
          </p:nvSpPr>
          <p:spPr>
            <a:xfrm>
              <a:off x="528066" y="2197100"/>
              <a:ext cx="2067325"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안양·강동구·용인, 이미 집행 중</a:t>
              </a:r>
            </a:p>
          </p:txBody>
        </p:sp>
        <p:sp>
          <p:nvSpPr>
            <p:cNvPr id="23" name="Rectangle 23"/>
            <p:cNvSpPr/>
            <p:nvPr/>
          </p:nvSpPr>
          <p:spPr>
            <a:xfrm>
              <a:off x="4305300" y="1409700"/>
              <a:ext cx="3581400" cy="28575"/>
            </a:xfrm>
            <a:prstGeom prst="rect">
              <a:avLst/>
            </a:prstGeom>
            <a:solidFill>
              <a:srgbClr val="0B1E3C"/>
            </a:solidFill>
            <a:ln>
              <a:noFill/>
            </a:ln>
          </p:spPr>
        </p:sp>
        <p:sp>
          <p:nvSpPr>
            <p:cNvPr id="24" name="TextBox 24"/>
            <p:cNvSpPr txBox="1"/>
            <p:nvPr/>
          </p:nvSpPr>
          <p:spPr>
            <a:xfrm>
              <a:off x="4293870" y="1587500"/>
              <a:ext cx="1423749" cy="440055"/>
            </a:xfrm>
            <a:prstGeom prst="rect">
              <a:avLst/>
            </a:prstGeom>
            <a:noFill/>
            <a:ln>
              <a:noFill/>
            </a:ln>
          </p:spPr>
          <p:txBody>
            <a:bodyPr wrap="none" lIns="0" tIns="0" rIns="0" bIns="0" anchor="t" anchorCtr="0">
              <a:spAutoFit/>
            </a:bodyPr>
            <a:lstStyle/>
            <a:p>
              <a:pPr algn="l"/>
              <a:r>
                <a:rPr lang="ko-KR" sz="2250" b="1" dirty="0">
                  <a:solidFill>
                    <a:srgbClr val="B45309"/>
                  </a:solidFill>
                  <a:latin typeface="+mn-lt"/>
                  <a:ea typeface="+mn-ea"/>
                  <a:cs typeface="+mn-cs"/>
                </a:rPr>
                <a:t>21.6억 원</a:t>
              </a:r>
            </a:p>
          </p:txBody>
        </p:sp>
        <p:sp>
          <p:nvSpPr>
            <p:cNvPr id="25" name="TextBox 25"/>
            <p:cNvSpPr txBox="1"/>
            <p:nvPr/>
          </p:nvSpPr>
          <p:spPr>
            <a:xfrm>
              <a:off x="4299204" y="1962150"/>
              <a:ext cx="2111052"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경기도 16개 시·군 탐사 지원</a:t>
              </a:r>
            </a:p>
          </p:txBody>
        </p:sp>
        <p:sp>
          <p:nvSpPr>
            <p:cNvPr id="26" name="TextBox 26"/>
            <p:cNvSpPr txBox="1"/>
            <p:nvPr/>
          </p:nvSpPr>
          <p:spPr>
            <a:xfrm>
              <a:off x="4299966" y="2197100"/>
              <a:ext cx="2505513"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장비 대신 용역으로 1,080km (2025.9)</a:t>
              </a:r>
            </a:p>
          </p:txBody>
        </p:sp>
        <p:sp>
          <p:nvSpPr>
            <p:cNvPr id="27" name="Rectangle 27"/>
            <p:cNvSpPr/>
            <p:nvPr/>
          </p:nvSpPr>
          <p:spPr>
            <a:xfrm>
              <a:off x="8077200" y="1409700"/>
              <a:ext cx="3581400" cy="28575"/>
            </a:xfrm>
            <a:prstGeom prst="rect">
              <a:avLst/>
            </a:prstGeom>
            <a:solidFill>
              <a:srgbClr val="0B1E3C"/>
            </a:solidFill>
            <a:ln>
              <a:noFill/>
            </a:ln>
          </p:spPr>
        </p:sp>
        <p:sp>
          <p:nvSpPr>
            <p:cNvPr id="28" name="TextBox 28"/>
            <p:cNvSpPr txBox="1"/>
            <p:nvPr/>
          </p:nvSpPr>
          <p:spPr>
            <a:xfrm>
              <a:off x="8065770" y="1587500"/>
              <a:ext cx="1775108" cy="440055"/>
            </a:xfrm>
            <a:prstGeom prst="rect">
              <a:avLst/>
            </a:prstGeom>
            <a:noFill/>
            <a:ln>
              <a:noFill/>
            </a:ln>
          </p:spPr>
          <p:txBody>
            <a:bodyPr wrap="none" lIns="0" tIns="0" rIns="0" bIns="0" anchor="t" anchorCtr="0">
              <a:spAutoFit/>
            </a:bodyPr>
            <a:lstStyle/>
            <a:p>
              <a:pPr algn="l"/>
              <a:r>
                <a:rPr lang="ko-KR" sz="2250" b="1" dirty="0">
                  <a:solidFill>
                    <a:srgbClr val="B45309"/>
                  </a:solidFill>
                  <a:latin typeface="+mn-lt"/>
                  <a:ea typeface="+mn-ea"/>
                  <a:cs typeface="+mn-cs"/>
                </a:rPr>
                <a:t>최대 약 97대</a:t>
              </a:r>
            </a:p>
          </p:txBody>
        </p:sp>
        <p:sp>
          <p:nvSpPr>
            <p:cNvPr id="29" name="TextBox 29"/>
            <p:cNvSpPr txBox="1"/>
            <p:nvPr/>
          </p:nvSpPr>
          <p:spPr>
            <a:xfrm>
              <a:off x="8071104" y="1962150"/>
              <a:ext cx="1622176"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기아 PV5 수요 (계산)</a:t>
              </a:r>
            </a:p>
          </p:txBody>
        </p:sp>
        <p:sp>
          <p:nvSpPr>
            <p:cNvPr id="30" name="TextBox 30"/>
            <p:cNvSpPr txBox="1"/>
            <p:nvPr/>
          </p:nvSpPr>
          <p:spPr>
            <a:xfrm>
              <a:off x="8071866" y="2197100"/>
              <a:ext cx="2682202"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차량 매출 최대 약 44억 원 · 서울만 약 8대</a:t>
              </a:r>
            </a:p>
          </p:txBody>
        </p:sp>
      </p:grpSp>
      <p:grpSp>
        <p:nvGrpSpPr>
          <p:cNvPr id="49" name="ask"/>
          <p:cNvGrpSpPr/>
          <p:nvPr/>
        </p:nvGrpSpPr>
        <p:grpSpPr>
          <a:xfrm>
            <a:off x="527685" y="2660650"/>
            <a:ext cx="6101715" cy="2278952"/>
            <a:chOff x="527685" y="2660650"/>
            <a:chExt cx="6101715" cy="2278952"/>
          </a:xfrm>
        </p:grpSpPr>
        <p:sp>
          <p:nvSpPr>
            <p:cNvPr id="32" name="TextBox 32"/>
            <p:cNvSpPr txBox="1"/>
            <p:nvPr/>
          </p:nvSpPr>
          <p:spPr>
            <a:xfrm>
              <a:off x="527685" y="2660650"/>
              <a:ext cx="2930422"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수상 후 첫 6개월 · 기아가 안내한 혜택으로</a:t>
              </a:r>
            </a:p>
          </p:txBody>
        </p:sp>
        <p:sp>
          <p:nvSpPr>
            <p:cNvPr id="33" name="Rectangle 33"/>
            <p:cNvSpPr/>
            <p:nvPr/>
          </p:nvSpPr>
          <p:spPr>
            <a:xfrm>
              <a:off x="533400" y="2895600"/>
              <a:ext cx="6096000" cy="28575"/>
            </a:xfrm>
            <a:prstGeom prst="rect">
              <a:avLst/>
            </a:prstGeom>
            <a:solidFill>
              <a:srgbClr val="0B1E3C"/>
            </a:solidFill>
            <a:ln>
              <a:noFill/>
            </a:ln>
          </p:spPr>
        </p:sp>
        <p:sp>
          <p:nvSpPr>
            <p:cNvPr id="34" name="TextBox 34"/>
            <p:cNvSpPr txBox="1"/>
            <p:nvPr/>
          </p:nvSpPr>
          <p:spPr>
            <a:xfrm>
              <a:off x="527685" y="309880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1</a:t>
              </a:r>
            </a:p>
          </p:txBody>
        </p:sp>
        <p:sp>
          <p:nvSpPr>
            <p:cNvPr id="35" name="TextBox 35"/>
            <p:cNvSpPr txBox="1"/>
            <p:nvPr/>
          </p:nvSpPr>
          <p:spPr>
            <a:xfrm>
              <a:off x="754761" y="3060700"/>
              <a:ext cx="1252891"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PV5 실물 대여</a:t>
              </a:r>
            </a:p>
          </p:txBody>
        </p:sp>
        <p:sp>
          <p:nvSpPr>
            <p:cNvPr id="36" name="TextBox 36"/>
            <p:cNvSpPr txBox="1"/>
            <p:nvPr/>
          </p:nvSpPr>
          <p:spPr>
            <a:xfrm>
              <a:off x="3613023" y="3086100"/>
              <a:ext cx="196009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1단계 폐쇄 시험장 실증</a:t>
              </a:r>
            </a:p>
          </p:txBody>
        </p:sp>
        <p:sp>
          <p:nvSpPr>
            <p:cNvPr id="37" name="Line 37"/>
            <p:cNvSpPr/>
            <p:nvPr/>
          </p:nvSpPr>
          <p:spPr>
            <a:xfrm>
              <a:off x="533400" y="3448050"/>
              <a:ext cx="6096000" cy="9525"/>
            </a:xfrm>
            <a:custGeom>
              <a:avLst/>
              <a:gdLst/>
              <a:ahLst/>
              <a:cxnLst/>
              <a:rect l="l" t="t" r="r" b="b"/>
              <a:pathLst>
                <a:path w="6096000" h="9525">
                  <a:moveTo>
                    <a:pt x="0" y="0"/>
                  </a:moveTo>
                  <a:lnTo>
                    <a:pt x="6096000" y="0"/>
                  </a:lnTo>
                </a:path>
              </a:pathLst>
            </a:custGeom>
            <a:noFill/>
            <a:ln w="9525">
              <a:solidFill>
                <a:srgbClr val="E2E6EC"/>
              </a:solidFill>
            </a:ln>
          </p:spPr>
        </p:sp>
        <p:sp>
          <p:nvSpPr>
            <p:cNvPr id="38" name="TextBox 38"/>
            <p:cNvSpPr txBox="1"/>
            <p:nvPr/>
          </p:nvSpPr>
          <p:spPr>
            <a:xfrm>
              <a:off x="527685" y="363220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2</a:t>
              </a:r>
            </a:p>
          </p:txBody>
        </p:sp>
        <p:sp>
          <p:nvSpPr>
            <p:cNvPr id="39" name="TextBox 39"/>
            <p:cNvSpPr txBox="1"/>
            <p:nvPr/>
          </p:nvSpPr>
          <p:spPr>
            <a:xfrm>
              <a:off x="754761" y="3594100"/>
              <a:ext cx="2104190" cy="278702"/>
            </a:xfrm>
            <a:prstGeom prst="rect">
              <a:avLst/>
            </a:prstGeom>
            <a:noFill/>
            <a:ln>
              <a:noFill/>
            </a:ln>
          </p:spPr>
          <p:txBody>
            <a:bodyPr wrap="none" lIns="0" tIns="0" rIns="0" bIns="0" anchor="t" anchorCtr="0">
              <a:spAutoFit/>
            </a:bodyPr>
            <a:lstStyle/>
            <a:p>
              <a:pPr algn="l"/>
              <a:r>
                <a:rPr lang="en-US" sz="1420" b="1" dirty="0">
                  <a:solidFill>
                    <a:srgbClr val="0B1E3C"/>
                  </a:solidFill>
                  <a:latin typeface="+mn-lt"/>
                  <a:ea typeface="+mn-ea"/>
                  <a:cs typeface="+mn-cs"/>
                </a:rPr>
                <a:t>Pleos Playground·SDK</a:t>
              </a:r>
            </a:p>
          </p:txBody>
        </p:sp>
        <p:sp>
          <p:nvSpPr>
            <p:cNvPr id="40" name="TextBox 40"/>
            <p:cNvSpPr txBox="1"/>
            <p:nvPr/>
          </p:nvSpPr>
          <p:spPr>
            <a:xfrm>
              <a:off x="3613023" y="3619500"/>
              <a:ext cx="1908404"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내비·차량 연동 시제품</a:t>
              </a:r>
            </a:p>
          </p:txBody>
        </p:sp>
        <p:sp>
          <p:nvSpPr>
            <p:cNvPr id="41" name="Line 41"/>
            <p:cNvSpPr/>
            <p:nvPr/>
          </p:nvSpPr>
          <p:spPr>
            <a:xfrm>
              <a:off x="533400" y="3981450"/>
              <a:ext cx="6096000" cy="9525"/>
            </a:xfrm>
            <a:custGeom>
              <a:avLst/>
              <a:gdLst/>
              <a:ahLst/>
              <a:cxnLst/>
              <a:rect l="l" t="t" r="r" b="b"/>
              <a:pathLst>
                <a:path w="6096000" h="9525">
                  <a:moveTo>
                    <a:pt x="0" y="0"/>
                  </a:moveTo>
                  <a:lnTo>
                    <a:pt x="6096000" y="0"/>
                  </a:lnTo>
                </a:path>
              </a:pathLst>
            </a:custGeom>
            <a:noFill/>
            <a:ln w="9525">
              <a:solidFill>
                <a:srgbClr val="E2E6EC"/>
              </a:solidFill>
            </a:ln>
          </p:spPr>
        </p:sp>
        <p:sp>
          <p:nvSpPr>
            <p:cNvPr id="42" name="TextBox 42"/>
            <p:cNvSpPr txBox="1"/>
            <p:nvPr/>
          </p:nvSpPr>
          <p:spPr>
            <a:xfrm>
              <a:off x="527685" y="416560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3</a:t>
              </a:r>
            </a:p>
          </p:txBody>
        </p:sp>
        <p:sp>
          <p:nvSpPr>
            <p:cNvPr id="43" name="TextBox 43"/>
            <p:cNvSpPr txBox="1"/>
            <p:nvPr/>
          </p:nvSpPr>
          <p:spPr>
            <a:xfrm>
              <a:off x="754761" y="4127500"/>
              <a:ext cx="2374948"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컨버전 포털·PIM 기술 지원</a:t>
              </a:r>
            </a:p>
          </p:txBody>
        </p:sp>
        <p:sp>
          <p:nvSpPr>
            <p:cNvPr id="44" name="TextBox 44"/>
            <p:cNvSpPr txBox="1"/>
            <p:nvPr/>
          </p:nvSpPr>
          <p:spPr>
            <a:xfrm>
              <a:off x="3613023" y="4152900"/>
              <a:ext cx="2099412"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GPR 장착·전원 간섭 검토</a:t>
              </a:r>
            </a:p>
          </p:txBody>
        </p:sp>
        <p:sp>
          <p:nvSpPr>
            <p:cNvPr id="45" name="Line 45"/>
            <p:cNvSpPr/>
            <p:nvPr/>
          </p:nvSpPr>
          <p:spPr>
            <a:xfrm>
              <a:off x="533400" y="4514850"/>
              <a:ext cx="6096000" cy="9525"/>
            </a:xfrm>
            <a:custGeom>
              <a:avLst/>
              <a:gdLst/>
              <a:ahLst/>
              <a:cxnLst/>
              <a:rect l="l" t="t" r="r" b="b"/>
              <a:pathLst>
                <a:path w="6096000" h="9525">
                  <a:moveTo>
                    <a:pt x="0" y="0"/>
                  </a:moveTo>
                  <a:lnTo>
                    <a:pt x="6096000" y="0"/>
                  </a:lnTo>
                </a:path>
              </a:pathLst>
            </a:custGeom>
            <a:noFill/>
            <a:ln w="9525">
              <a:solidFill>
                <a:srgbClr val="E2E6EC"/>
              </a:solidFill>
            </a:ln>
          </p:spPr>
        </p:sp>
        <p:sp>
          <p:nvSpPr>
            <p:cNvPr id="46" name="TextBox 46"/>
            <p:cNvSpPr txBox="1"/>
            <p:nvPr/>
          </p:nvSpPr>
          <p:spPr>
            <a:xfrm>
              <a:off x="527685" y="469900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4</a:t>
              </a:r>
            </a:p>
          </p:txBody>
        </p:sp>
        <p:sp>
          <p:nvSpPr>
            <p:cNvPr id="47" name="TextBox 47"/>
            <p:cNvSpPr txBox="1"/>
            <p:nvPr/>
          </p:nvSpPr>
          <p:spPr>
            <a:xfrm>
              <a:off x="754761" y="4660900"/>
              <a:ext cx="2232831"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PoC·사업화 연계, 멘토링</a:t>
              </a:r>
            </a:p>
          </p:txBody>
        </p:sp>
        <p:sp>
          <p:nvSpPr>
            <p:cNvPr id="48" name="TextBox 48"/>
            <p:cNvSpPr txBox="1"/>
            <p:nvPr/>
          </p:nvSpPr>
          <p:spPr>
            <a:xfrm>
              <a:off x="3613023" y="4686300"/>
              <a:ext cx="196009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지자체 1곳 파일럿 연결</a:t>
              </a:r>
            </a:p>
          </p:txBody>
        </p:sp>
      </p:grpSp>
      <p:grpSp>
        <p:nvGrpSpPr>
          <p:cNvPr id="57" name="next"/>
          <p:cNvGrpSpPr/>
          <p:nvPr/>
        </p:nvGrpSpPr>
        <p:grpSpPr>
          <a:xfrm>
            <a:off x="7003161" y="2660650"/>
            <a:ext cx="4655439" cy="2467928"/>
            <a:chOff x="7003161" y="2660650"/>
            <a:chExt cx="4655439" cy="2467928"/>
          </a:xfrm>
        </p:grpSpPr>
        <p:sp>
          <p:nvSpPr>
            <p:cNvPr id="50" name="TextBox 50"/>
            <p:cNvSpPr txBox="1"/>
            <p:nvPr/>
          </p:nvSpPr>
          <p:spPr>
            <a:xfrm>
              <a:off x="7004685" y="2660650"/>
              <a:ext cx="463753"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그다음</a:t>
              </a:r>
            </a:p>
          </p:txBody>
        </p:sp>
        <p:sp>
          <p:nvSpPr>
            <p:cNvPr id="51" name="Rectangle 51"/>
            <p:cNvSpPr/>
            <p:nvPr/>
          </p:nvSpPr>
          <p:spPr>
            <a:xfrm>
              <a:off x="7010400" y="2895600"/>
              <a:ext cx="4648200" cy="28575"/>
            </a:xfrm>
            <a:prstGeom prst="rect">
              <a:avLst/>
            </a:prstGeom>
            <a:solidFill>
              <a:srgbClr val="0B1E3C"/>
            </a:solidFill>
            <a:ln>
              <a:noFill/>
            </a:ln>
          </p:spPr>
        </p:sp>
        <p:sp>
          <p:nvSpPr>
            <p:cNvPr id="52" name="TextBox 52"/>
            <p:cNvSpPr txBox="1"/>
            <p:nvPr/>
          </p:nvSpPr>
          <p:spPr>
            <a:xfrm>
              <a:off x="7003161" y="3060700"/>
              <a:ext cx="3416655"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 xml:space="preserve">1~2년 </a:t>
              </a:r>
              <a:r>
                <a:rPr lang="ko-KR" sz="1420" dirty="0">
                  <a:solidFill>
                    <a:srgbClr val="111827"/>
                  </a:solidFill>
                  <a:latin typeface="+mn-lt"/>
                  <a:ea typeface="+mn-ea"/>
                  <a:cs typeface="+mn-cs"/>
                </a:rPr>
                <a:t>조사기관과 시·군 용역 공동 수주</a:t>
              </a:r>
            </a:p>
          </p:txBody>
        </p:sp>
        <p:sp>
          <p:nvSpPr>
            <p:cNvPr id="53" name="TextBox 53"/>
            <p:cNvSpPr txBox="1"/>
            <p:nvPr/>
          </p:nvSpPr>
          <p:spPr>
            <a:xfrm>
              <a:off x="7003161" y="3594100"/>
              <a:ext cx="3282843"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 xml:space="preserve">2~3년 </a:t>
              </a:r>
              <a:r>
                <a:rPr lang="ko-KR" sz="1420" dirty="0">
                  <a:solidFill>
                    <a:srgbClr val="111827"/>
                  </a:solidFill>
                  <a:latin typeface="+mn-lt"/>
                  <a:ea typeface="+mn-ea"/>
                  <a:cs typeface="+mn-cs"/>
                </a:rPr>
                <a:t>혁신제품 지정 → 연간 관제 계약</a:t>
              </a:r>
            </a:p>
          </p:txBody>
        </p:sp>
        <p:sp>
          <p:nvSpPr>
            <p:cNvPr id="54" name="TextBox 54"/>
            <p:cNvSpPr txBox="1"/>
            <p:nvPr/>
          </p:nvSpPr>
          <p:spPr>
            <a:xfrm>
              <a:off x="7003161" y="4127500"/>
              <a:ext cx="3321048"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 xml:space="preserve">3년~ </a:t>
              </a:r>
              <a:r>
                <a:rPr lang="ko-KR" sz="1420" dirty="0">
                  <a:solidFill>
                    <a:srgbClr val="111827"/>
                  </a:solidFill>
                  <a:latin typeface="+mn-lt"/>
                  <a:ea typeface="+mn-ea"/>
                  <a:cs typeface="+mn-cs"/>
                </a:rPr>
                <a:t>권역별 PV5 플릿 · 상하수도 기관</a:t>
              </a:r>
            </a:p>
          </p:txBody>
        </p:sp>
        <p:sp>
          <p:nvSpPr>
            <p:cNvPr id="55" name="TextBox 55"/>
            <p:cNvSpPr txBox="1"/>
            <p:nvPr/>
          </p:nvSpPr>
          <p:spPr>
            <a:xfrm>
              <a:off x="7004685" y="4699000"/>
              <a:ext cx="301184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조달청 혁신제품: 지정 시 최대 6년 수의계약</a:t>
              </a:r>
            </a:p>
          </p:txBody>
        </p:sp>
        <p:sp>
          <p:nvSpPr>
            <p:cNvPr id="56" name="TextBox 56"/>
            <p:cNvSpPr txBox="1"/>
            <p:nvPr/>
          </p:nvSpPr>
          <p:spPr>
            <a:xfrm>
              <a:off x="7004685" y="4908550"/>
              <a:ext cx="2815834"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테스트베드서울: 과제당 최대 2억 원 실증</a:t>
              </a:r>
            </a:p>
          </p:txBody>
        </p:sp>
      </p:grpSp>
      <p:grpSp>
        <p:nvGrpSpPr>
          <p:cNvPr id="60" name="conclusion"/>
          <p:cNvGrpSpPr/>
          <p:nvPr/>
        </p:nvGrpSpPr>
        <p:grpSpPr>
          <a:xfrm>
            <a:off x="533400" y="5676900"/>
            <a:ext cx="8479960" cy="419100"/>
            <a:chOff x="533400" y="5676900"/>
            <a:chExt cx="8479960" cy="419100"/>
          </a:xfrm>
        </p:grpSpPr>
        <p:sp>
          <p:nvSpPr>
            <p:cNvPr id="58" name="Rectangle 58"/>
            <p:cNvSpPr/>
            <p:nvPr/>
          </p:nvSpPr>
          <p:spPr>
            <a:xfrm>
              <a:off x="533400" y="5676900"/>
              <a:ext cx="38100" cy="419100"/>
            </a:xfrm>
            <a:prstGeom prst="rect">
              <a:avLst/>
            </a:prstGeom>
            <a:solidFill>
              <a:srgbClr val="F5B700"/>
            </a:solidFill>
            <a:ln>
              <a:noFill/>
            </a:ln>
          </p:spPr>
        </p:sp>
        <p:sp>
          <p:nvSpPr>
            <p:cNvPr id="59" name="TextBox 59"/>
            <p:cNvSpPr txBox="1"/>
            <p:nvPr/>
          </p:nvSpPr>
          <p:spPr>
            <a:xfrm>
              <a:off x="715899" y="5772150"/>
              <a:ext cx="8297461"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새 예산이 아니라 지자체가 이미 쓰는 탐사 예산에서, 기아와 함께 첫 실증을 만듭니다.</a:t>
              </a:r>
            </a:p>
          </p:txBody>
        </p:sp>
      </p:grpSp>
      <p:grpSp>
        <p:nvGrpSpPr>
          <p:cNvPr id="62" name="source"/>
          <p:cNvGrpSpPr/>
          <p:nvPr/>
        </p:nvGrpSpPr>
        <p:grpSpPr>
          <a:xfrm>
            <a:off x="528447" y="6381750"/>
            <a:ext cx="9596189" cy="191643"/>
            <a:chOff x="528447" y="6381750"/>
            <a:chExt cx="9596189" cy="191643"/>
          </a:xfrm>
        </p:grpSpPr>
        <p:sp>
          <p:nvSpPr>
            <p:cNvPr id="61" name="TextBox 61"/>
            <p:cNvSpPr txBox="1"/>
            <p:nvPr/>
          </p:nvSpPr>
          <p:spPr>
            <a:xfrm>
              <a:off x="528447" y="6381750"/>
              <a:ext cx="9596189"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출처: 나라장터 2026(R26BK01572949 · R26BK01599467 · R26BK01517362) · 헤럴드경제(2025.9.7) · 조달청 · 테스트베드서울 · 공모전 안내 · 일정은 목표</a:t>
              </a:r>
            </a:p>
          </p:txBody>
        </p:sp>
      </p:grpSp>
      <p:grpSp>
        <p:nvGrpSpPr>
          <p:cNvPr id="65" name="footer"/>
          <p:cNvGrpSpPr/>
          <p:nvPr/>
        </p:nvGrpSpPr>
        <p:grpSpPr>
          <a:xfrm>
            <a:off x="528638" y="6610350"/>
            <a:ext cx="11134724" cy="176212"/>
            <a:chOff x="528638" y="6610350"/>
            <a:chExt cx="11134724" cy="176212"/>
          </a:xfrm>
        </p:grpSpPr>
        <p:sp>
          <p:nvSpPr>
            <p:cNvPr id="63" name="TextBox 63"/>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4" name="TextBox 64"/>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13 / 15</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268692"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누가 사고 누가 쓰나</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2" name="TextBox 12"/>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3" name="TextBox 13"/>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사업</a:t>
              </a:r>
            </a:p>
          </p:txBody>
        </p:sp>
        <p:sp>
          <p:nvSpPr>
            <p:cNvPr id="14" name="Rectangle 14"/>
            <p:cNvSpPr/>
            <p:nvPr/>
          </p:nvSpPr>
          <p:spPr>
            <a:xfrm>
              <a:off x="10858500" y="514350"/>
              <a:ext cx="457200" cy="28575"/>
            </a:xfrm>
            <a:prstGeom prst="rect">
              <a:avLst/>
            </a:prstGeom>
            <a:solidFill>
              <a:srgbClr val="F5B700"/>
            </a:solidFill>
            <a:ln>
              <a:noFill/>
            </a:ln>
          </p:spPr>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10179939" cy="586740"/>
            <a:chOff x="518160" y="774700"/>
            <a:chExt cx="10179939" cy="586740"/>
          </a:xfrm>
        </p:grpSpPr>
        <p:sp>
          <p:nvSpPr>
            <p:cNvPr id="17" name="TextBox 17"/>
            <p:cNvSpPr txBox="1"/>
            <p:nvPr/>
          </p:nvSpPr>
          <p:spPr>
            <a:xfrm>
              <a:off x="518160" y="774700"/>
              <a:ext cx="10179939"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지자체가 사고, 현장팀이 쓰고, 기아는 PV5를 공급합니다</a:t>
              </a:r>
            </a:p>
          </p:txBody>
        </p:sp>
      </p:grpSp>
      <p:grpSp>
        <p:nvGrpSpPr>
          <p:cNvPr id="25" name="who0"/>
          <p:cNvGrpSpPr/>
          <p:nvPr/>
        </p:nvGrpSpPr>
        <p:grpSpPr>
          <a:xfrm>
            <a:off x="524637" y="1600200"/>
            <a:ext cx="2618613" cy="1717167"/>
            <a:chOff x="524637" y="1600200"/>
            <a:chExt cx="2618613" cy="1717167"/>
          </a:xfrm>
        </p:grpSpPr>
        <p:sp>
          <p:nvSpPr>
            <p:cNvPr id="19" name="Rectangle 19"/>
            <p:cNvSpPr/>
            <p:nvPr/>
          </p:nvSpPr>
          <p:spPr>
            <a:xfrm>
              <a:off x="533400" y="1600200"/>
              <a:ext cx="2609850" cy="28575"/>
            </a:xfrm>
            <a:prstGeom prst="rect">
              <a:avLst/>
            </a:prstGeom>
            <a:solidFill>
              <a:srgbClr val="0B1E3C"/>
            </a:solidFill>
            <a:ln>
              <a:noFill/>
            </a:ln>
          </p:spPr>
        </p:sp>
        <p:sp>
          <p:nvSpPr>
            <p:cNvPr id="20" name="TextBox 20"/>
            <p:cNvSpPr txBox="1"/>
            <p:nvPr/>
          </p:nvSpPr>
          <p:spPr>
            <a:xfrm>
              <a:off x="527685" y="1784350"/>
              <a:ext cx="463753"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구매자</a:t>
              </a:r>
            </a:p>
          </p:txBody>
        </p:sp>
        <p:sp>
          <p:nvSpPr>
            <p:cNvPr id="21" name="TextBox 21"/>
            <p:cNvSpPr txBox="1"/>
            <p:nvPr/>
          </p:nvSpPr>
          <p:spPr>
            <a:xfrm>
              <a:off x="524637" y="2070100"/>
              <a:ext cx="1772069"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지자체·발주기관</a:t>
              </a:r>
            </a:p>
          </p:txBody>
        </p:sp>
        <p:sp>
          <p:nvSpPr>
            <p:cNvPr id="22" name="TextBox 22"/>
            <p:cNvSpPr txBox="1"/>
            <p:nvPr/>
          </p:nvSpPr>
          <p:spPr>
            <a:xfrm>
              <a:off x="526923" y="2533650"/>
              <a:ext cx="1882557"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서울시·자치구 도로관리</a:t>
              </a:r>
            </a:p>
          </p:txBody>
        </p:sp>
        <p:sp>
          <p:nvSpPr>
            <p:cNvPr id="23" name="TextBox 23"/>
            <p:cNvSpPr txBox="1"/>
            <p:nvPr/>
          </p:nvSpPr>
          <p:spPr>
            <a:xfrm>
              <a:off x="526923" y="2800350"/>
              <a:ext cx="1839478"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도시철도 공사 발주기관</a:t>
              </a:r>
            </a:p>
          </p:txBody>
        </p:sp>
        <p:sp>
          <p:nvSpPr>
            <p:cNvPr id="24" name="TextBox 24"/>
            <p:cNvSpPr txBox="1"/>
            <p:nvPr/>
          </p:nvSpPr>
          <p:spPr>
            <a:xfrm>
              <a:off x="526923" y="3067050"/>
              <a:ext cx="1443157"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상하수도 관리기관</a:t>
              </a:r>
            </a:p>
          </p:txBody>
        </p:sp>
      </p:grpSp>
      <p:grpSp>
        <p:nvGrpSpPr>
          <p:cNvPr id="32" name="who1"/>
          <p:cNvGrpSpPr/>
          <p:nvPr/>
        </p:nvGrpSpPr>
        <p:grpSpPr>
          <a:xfrm>
            <a:off x="3363087" y="1600200"/>
            <a:ext cx="2618613" cy="1717167"/>
            <a:chOff x="3363087" y="1600200"/>
            <a:chExt cx="2618613" cy="1717167"/>
          </a:xfrm>
        </p:grpSpPr>
        <p:sp>
          <p:nvSpPr>
            <p:cNvPr id="26" name="Rectangle 26"/>
            <p:cNvSpPr/>
            <p:nvPr/>
          </p:nvSpPr>
          <p:spPr>
            <a:xfrm>
              <a:off x="3371850" y="1600200"/>
              <a:ext cx="2609850" cy="28575"/>
            </a:xfrm>
            <a:prstGeom prst="rect">
              <a:avLst/>
            </a:prstGeom>
            <a:solidFill>
              <a:srgbClr val="0B1E3C"/>
            </a:solidFill>
            <a:ln>
              <a:noFill/>
            </a:ln>
          </p:spPr>
        </p:sp>
        <p:sp>
          <p:nvSpPr>
            <p:cNvPr id="27" name="TextBox 27"/>
            <p:cNvSpPr txBox="1"/>
            <p:nvPr/>
          </p:nvSpPr>
          <p:spPr>
            <a:xfrm>
              <a:off x="3366135" y="1784350"/>
              <a:ext cx="812796"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실제 사용자</a:t>
              </a:r>
            </a:p>
          </p:txBody>
        </p:sp>
        <p:sp>
          <p:nvSpPr>
            <p:cNvPr id="28" name="TextBox 28"/>
            <p:cNvSpPr txBox="1"/>
            <p:nvPr/>
          </p:nvSpPr>
          <p:spPr>
            <a:xfrm>
              <a:off x="3363087" y="2070100"/>
              <a:ext cx="1248195"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현장 조사팀</a:t>
              </a:r>
            </a:p>
          </p:txBody>
        </p:sp>
        <p:sp>
          <p:nvSpPr>
            <p:cNvPr id="29" name="TextBox 29"/>
            <p:cNvSpPr txBox="1"/>
            <p:nvPr/>
          </p:nvSpPr>
          <p:spPr>
            <a:xfrm>
              <a:off x="3365373" y="2533650"/>
              <a:ext cx="2054870"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지하안전·도로관리 담당자</a:t>
              </a:r>
            </a:p>
          </p:txBody>
        </p:sp>
        <p:sp>
          <p:nvSpPr>
            <p:cNvPr id="30" name="TextBox 30"/>
            <p:cNvSpPr txBox="1"/>
            <p:nvPr/>
          </p:nvSpPr>
          <p:spPr>
            <a:xfrm>
              <a:off x="3365373" y="2800350"/>
              <a:ext cx="1281247"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GPR 판독 전문가</a:t>
              </a:r>
            </a:p>
          </p:txBody>
        </p:sp>
        <p:sp>
          <p:nvSpPr>
            <p:cNvPr id="31" name="TextBox 31"/>
            <p:cNvSpPr txBox="1"/>
            <p:nvPr/>
          </p:nvSpPr>
          <p:spPr>
            <a:xfrm>
              <a:off x="3365373" y="3067050"/>
              <a:ext cx="1753321"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현장 조사원 (2인 1조)</a:t>
              </a:r>
            </a:p>
          </p:txBody>
        </p:sp>
      </p:grpSp>
      <p:grpSp>
        <p:nvGrpSpPr>
          <p:cNvPr id="39" name="who2"/>
          <p:cNvGrpSpPr/>
          <p:nvPr/>
        </p:nvGrpSpPr>
        <p:grpSpPr>
          <a:xfrm>
            <a:off x="6201537" y="1600200"/>
            <a:ext cx="2618613" cy="1717167"/>
            <a:chOff x="6201537" y="1600200"/>
            <a:chExt cx="2618613" cy="1717167"/>
          </a:xfrm>
        </p:grpSpPr>
        <p:sp>
          <p:nvSpPr>
            <p:cNvPr id="33" name="Rectangle 33"/>
            <p:cNvSpPr/>
            <p:nvPr/>
          </p:nvSpPr>
          <p:spPr>
            <a:xfrm>
              <a:off x="6210300" y="1600200"/>
              <a:ext cx="2609850" cy="28575"/>
            </a:xfrm>
            <a:prstGeom prst="rect">
              <a:avLst/>
            </a:prstGeom>
            <a:solidFill>
              <a:srgbClr val="0B1E3C"/>
            </a:solidFill>
            <a:ln>
              <a:noFill/>
            </a:ln>
          </p:spPr>
        </p:sp>
        <p:sp>
          <p:nvSpPr>
            <p:cNvPr id="34" name="TextBox 34"/>
            <p:cNvSpPr txBox="1"/>
            <p:nvPr/>
          </p:nvSpPr>
          <p:spPr>
            <a:xfrm>
              <a:off x="6204585" y="1784350"/>
              <a:ext cx="463753"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협력사</a:t>
              </a:r>
            </a:p>
          </p:txBody>
        </p:sp>
        <p:sp>
          <p:nvSpPr>
            <p:cNvPr id="35" name="TextBox 35"/>
            <p:cNvSpPr txBox="1"/>
            <p:nvPr/>
          </p:nvSpPr>
          <p:spPr>
            <a:xfrm>
              <a:off x="6201537" y="2070100"/>
              <a:ext cx="1845006"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장비·조사 파트너</a:t>
              </a:r>
            </a:p>
          </p:txBody>
        </p:sp>
        <p:sp>
          <p:nvSpPr>
            <p:cNvPr id="36" name="TextBox 36"/>
            <p:cNvSpPr txBox="1"/>
            <p:nvPr/>
          </p:nvSpPr>
          <p:spPr>
            <a:xfrm>
              <a:off x="6203823" y="2533650"/>
              <a:ext cx="1456487"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기존 GPR 조사기관</a:t>
              </a:r>
            </a:p>
          </p:txBody>
        </p:sp>
        <p:sp>
          <p:nvSpPr>
            <p:cNvPr id="37" name="TextBox 37"/>
            <p:cNvSpPr txBox="1"/>
            <p:nvPr/>
          </p:nvSpPr>
          <p:spPr>
            <a:xfrm>
              <a:off x="6203823" y="2800350"/>
              <a:ext cx="1815419"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PV5 특장(컨버전) 업체</a:t>
              </a:r>
            </a:p>
          </p:txBody>
        </p:sp>
        <p:sp>
          <p:nvSpPr>
            <p:cNvPr id="38" name="TextBox 38"/>
            <p:cNvSpPr txBox="1"/>
            <p:nvPr/>
          </p:nvSpPr>
          <p:spPr>
            <a:xfrm>
              <a:off x="6203823" y="3067050"/>
              <a:ext cx="1139820"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GIS·AR 장비사</a:t>
              </a:r>
            </a:p>
          </p:txBody>
        </p:sp>
      </p:grpSp>
      <p:grpSp>
        <p:nvGrpSpPr>
          <p:cNvPr id="46" name="who3"/>
          <p:cNvGrpSpPr/>
          <p:nvPr/>
        </p:nvGrpSpPr>
        <p:grpSpPr>
          <a:xfrm>
            <a:off x="9039987" y="1600200"/>
            <a:ext cx="2618613" cy="1717167"/>
            <a:chOff x="9039987" y="1600200"/>
            <a:chExt cx="2618613" cy="1717167"/>
          </a:xfrm>
        </p:grpSpPr>
        <p:sp>
          <p:nvSpPr>
            <p:cNvPr id="40" name="Rectangle 40"/>
            <p:cNvSpPr/>
            <p:nvPr/>
          </p:nvSpPr>
          <p:spPr>
            <a:xfrm>
              <a:off x="9048750" y="1600200"/>
              <a:ext cx="2609850" cy="28575"/>
            </a:xfrm>
            <a:prstGeom prst="rect">
              <a:avLst/>
            </a:prstGeom>
            <a:solidFill>
              <a:srgbClr val="F5B700"/>
            </a:solidFill>
            <a:ln>
              <a:noFill/>
            </a:ln>
          </p:spPr>
        </p:sp>
        <p:sp>
          <p:nvSpPr>
            <p:cNvPr id="41" name="TextBox 41"/>
            <p:cNvSpPr txBox="1"/>
            <p:nvPr/>
          </p:nvSpPr>
          <p:spPr>
            <a:xfrm>
              <a:off x="9043035" y="1784350"/>
              <a:ext cx="1011064"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기아가 얻는 것</a:t>
              </a:r>
            </a:p>
          </p:txBody>
        </p:sp>
        <p:sp>
          <p:nvSpPr>
            <p:cNvPr id="42" name="TextBox 42"/>
            <p:cNvSpPr txBox="1"/>
            <p:nvPr/>
          </p:nvSpPr>
          <p:spPr>
            <a:xfrm>
              <a:off x="9039987" y="2070100"/>
              <a:ext cx="1749122"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공공 업무용 PV5</a:t>
              </a:r>
            </a:p>
          </p:txBody>
        </p:sp>
        <p:sp>
          <p:nvSpPr>
            <p:cNvPr id="43" name="TextBox 43"/>
            <p:cNvSpPr txBox="1"/>
            <p:nvPr/>
          </p:nvSpPr>
          <p:spPr>
            <a:xfrm>
              <a:off x="9042273" y="2533650"/>
              <a:ext cx="1891172"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탐사형 컨버전 플릿 판매</a:t>
              </a:r>
            </a:p>
          </p:txBody>
        </p:sp>
        <p:sp>
          <p:nvSpPr>
            <p:cNvPr id="44" name="TextBox 44"/>
            <p:cNvSpPr txBox="1"/>
            <p:nvPr/>
          </p:nvSpPr>
          <p:spPr>
            <a:xfrm>
              <a:off x="9042273" y="2800350"/>
              <a:ext cx="2206799"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Pleos 차량 앱 공공 레퍼런스</a:t>
              </a:r>
            </a:p>
          </p:txBody>
        </p:sp>
        <p:sp>
          <p:nvSpPr>
            <p:cNvPr id="45" name="TextBox 45"/>
            <p:cNvSpPr txBox="1"/>
            <p:nvPr/>
          </p:nvSpPr>
          <p:spPr>
            <a:xfrm>
              <a:off x="9042273" y="3067050"/>
              <a:ext cx="2235799"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같은 키트로 지자체마다 복제</a:t>
              </a:r>
            </a:p>
          </p:txBody>
        </p:sp>
      </p:grpSp>
      <p:grpSp>
        <p:nvGrpSpPr>
          <p:cNvPr id="55" name="data"/>
          <p:cNvGrpSpPr/>
          <p:nvPr/>
        </p:nvGrpSpPr>
        <p:grpSpPr>
          <a:xfrm>
            <a:off x="526542" y="3886200"/>
            <a:ext cx="11132058" cy="1051433"/>
            <a:chOff x="526542" y="3886200"/>
            <a:chExt cx="11132058" cy="1051433"/>
          </a:xfrm>
        </p:grpSpPr>
        <p:sp>
          <p:nvSpPr>
            <p:cNvPr id="47" name="Rectangle 47"/>
            <p:cNvSpPr/>
            <p:nvPr/>
          </p:nvSpPr>
          <p:spPr>
            <a:xfrm>
              <a:off x="533400" y="3886200"/>
              <a:ext cx="5334000" cy="28575"/>
            </a:xfrm>
            <a:prstGeom prst="rect">
              <a:avLst/>
            </a:prstGeom>
            <a:solidFill>
              <a:srgbClr val="0B1E3C"/>
            </a:solidFill>
            <a:ln>
              <a:noFill/>
            </a:ln>
          </p:spPr>
        </p:sp>
        <p:sp>
          <p:nvSpPr>
            <p:cNvPr id="48" name="TextBox 48"/>
            <p:cNvSpPr txBox="1"/>
            <p:nvPr/>
          </p:nvSpPr>
          <p:spPr>
            <a:xfrm>
              <a:off x="527685" y="4070350"/>
              <a:ext cx="963570"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회차가 쌓이면</a:t>
              </a:r>
            </a:p>
          </p:txBody>
        </p:sp>
        <p:sp>
          <p:nvSpPr>
            <p:cNvPr id="49" name="TextBox 49"/>
            <p:cNvSpPr txBox="1"/>
            <p:nvPr/>
          </p:nvSpPr>
          <p:spPr>
            <a:xfrm>
              <a:off x="526542" y="4406900"/>
              <a:ext cx="3466719"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하수관 노후도·굴착공사·강우 이력과 겹쳐</a:t>
              </a:r>
            </a:p>
          </p:txBody>
        </p:sp>
        <p:sp>
          <p:nvSpPr>
            <p:cNvPr id="50" name="TextBox 50"/>
            <p:cNvSpPr txBox="1"/>
            <p:nvPr/>
          </p:nvSpPr>
          <p:spPr>
            <a:xfrm>
              <a:off x="526542" y="4673600"/>
              <a:ext cx="2827005" cy="264033"/>
            </a:xfrm>
            <a:prstGeom prst="rect">
              <a:avLst/>
            </a:prstGeom>
            <a:noFill/>
            <a:ln>
              <a:noFill/>
            </a:ln>
          </p:spPr>
          <p:txBody>
            <a:bodyPr wrap="none" lIns="0" tIns="0" rIns="0" bIns="0" anchor="t" anchorCtr="0">
              <a:spAutoFit/>
            </a:bodyPr>
            <a:lstStyle/>
            <a:p>
              <a:pPr algn="l"/>
              <a:r>
                <a:rPr lang="ko-KR" sz="1350" b="1" dirty="0">
                  <a:solidFill>
                    <a:srgbClr val="0B1E3C"/>
                  </a:solidFill>
                  <a:latin typeface="+mn-lt"/>
                  <a:ea typeface="+mn-ea"/>
                  <a:cs typeface="+mn-cs"/>
                </a:rPr>
                <a:t>다음 순찰의 우선순위</a:t>
              </a:r>
              <a:r>
                <a:rPr lang="ko-KR" sz="1350" dirty="0">
                  <a:solidFill>
                    <a:srgbClr val="111827"/>
                  </a:solidFill>
                  <a:latin typeface="+mn-lt"/>
                  <a:ea typeface="+mn-ea"/>
                  <a:cs typeface="+mn-cs"/>
                </a:rPr>
                <a:t>를 정합니다.</a:t>
              </a:r>
            </a:p>
          </p:txBody>
        </p:sp>
        <p:sp>
          <p:nvSpPr>
            <p:cNvPr id="51" name="Rectangle 51"/>
            <p:cNvSpPr/>
            <p:nvPr/>
          </p:nvSpPr>
          <p:spPr>
            <a:xfrm>
              <a:off x="6324600" y="3886200"/>
              <a:ext cx="5334000" cy="28575"/>
            </a:xfrm>
            <a:prstGeom prst="rect">
              <a:avLst/>
            </a:prstGeom>
            <a:solidFill>
              <a:srgbClr val="C62828"/>
            </a:solidFill>
            <a:ln>
              <a:noFill/>
            </a:ln>
          </p:spPr>
        </p:sp>
        <p:sp>
          <p:nvSpPr>
            <p:cNvPr id="52" name="TextBox 52"/>
            <p:cNvSpPr txBox="1"/>
            <p:nvPr/>
          </p:nvSpPr>
          <p:spPr>
            <a:xfrm>
              <a:off x="6318885" y="4070350"/>
              <a:ext cx="812796" cy="220028"/>
            </a:xfrm>
            <a:prstGeom prst="rect">
              <a:avLst/>
            </a:prstGeom>
            <a:noFill/>
            <a:ln>
              <a:noFill/>
            </a:ln>
          </p:spPr>
          <p:txBody>
            <a:bodyPr wrap="none" lIns="0" tIns="0" rIns="0" bIns="0" anchor="t" anchorCtr="0">
              <a:spAutoFit/>
            </a:bodyPr>
            <a:lstStyle/>
            <a:p>
              <a:pPr algn="l"/>
              <a:r>
                <a:rPr lang="ko-KR" sz="1120" b="1" dirty="0">
                  <a:solidFill>
                    <a:srgbClr val="C62828"/>
                  </a:solidFill>
                  <a:latin typeface="+mn-lt"/>
                  <a:ea typeface="+mn-ea"/>
                  <a:cs typeface="+mn-cs"/>
                </a:rPr>
                <a:t>데이터 원칙</a:t>
              </a:r>
            </a:p>
          </p:txBody>
        </p:sp>
        <p:sp>
          <p:nvSpPr>
            <p:cNvPr id="53" name="TextBox 53"/>
            <p:cNvSpPr txBox="1"/>
            <p:nvPr/>
          </p:nvSpPr>
          <p:spPr>
            <a:xfrm>
              <a:off x="6317742" y="4406900"/>
              <a:ext cx="2834729" cy="264033"/>
            </a:xfrm>
            <a:prstGeom prst="rect">
              <a:avLst/>
            </a:prstGeom>
            <a:noFill/>
            <a:ln>
              <a:noFill/>
            </a:ln>
          </p:spPr>
          <p:txBody>
            <a:bodyPr wrap="none" lIns="0" tIns="0" rIns="0" bIns="0" anchor="t" anchorCtr="0">
              <a:spAutoFit/>
            </a:bodyPr>
            <a:lstStyle/>
            <a:p>
              <a:pPr algn="l"/>
              <a:r>
                <a:rPr lang="ko-KR" sz="1350" b="1" dirty="0">
                  <a:solidFill>
                    <a:srgbClr val="0B1E3C"/>
                  </a:solidFill>
                  <a:latin typeface="+mn-lt"/>
                  <a:ea typeface="+mn-ea"/>
                  <a:cs typeface="+mn-cs"/>
                </a:rPr>
                <a:t>지하 데이터는 판매하지 않습니다.</a:t>
              </a:r>
            </a:p>
          </p:txBody>
        </p:sp>
        <p:sp>
          <p:nvSpPr>
            <p:cNvPr id="54" name="TextBox 54"/>
            <p:cNvSpPr txBox="1"/>
            <p:nvPr/>
          </p:nvSpPr>
          <p:spPr>
            <a:xfrm>
              <a:off x="6317742" y="4673600"/>
              <a:ext cx="3421285"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계약기관 안에서 접근 권한대로만 씁니다.</a:t>
              </a:r>
            </a:p>
          </p:txBody>
        </p:sp>
      </p:grpSp>
      <p:grpSp>
        <p:nvGrpSpPr>
          <p:cNvPr id="58" name="conclusion"/>
          <p:cNvGrpSpPr/>
          <p:nvPr/>
        </p:nvGrpSpPr>
        <p:grpSpPr>
          <a:xfrm>
            <a:off x="533400" y="5676900"/>
            <a:ext cx="6119717" cy="419100"/>
            <a:chOff x="533400" y="5676900"/>
            <a:chExt cx="6119717" cy="419100"/>
          </a:xfrm>
        </p:grpSpPr>
        <p:sp>
          <p:nvSpPr>
            <p:cNvPr id="56" name="Rectangle 56"/>
            <p:cNvSpPr/>
            <p:nvPr/>
          </p:nvSpPr>
          <p:spPr>
            <a:xfrm>
              <a:off x="533400" y="5676900"/>
              <a:ext cx="38100" cy="419100"/>
            </a:xfrm>
            <a:prstGeom prst="rect">
              <a:avLst/>
            </a:prstGeom>
            <a:solidFill>
              <a:srgbClr val="F5B700"/>
            </a:solidFill>
            <a:ln>
              <a:noFill/>
            </a:ln>
          </p:spPr>
        </p:sp>
        <p:sp>
          <p:nvSpPr>
            <p:cNvPr id="57" name="TextBox 57"/>
            <p:cNvSpPr txBox="1"/>
            <p:nvPr/>
          </p:nvSpPr>
          <p:spPr>
            <a:xfrm>
              <a:off x="715899" y="5772150"/>
              <a:ext cx="5937218"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살 곳은 이미 있고, 기아는 그 업무에 맞춘 PV5를 공급합니다.</a:t>
              </a:r>
            </a:p>
          </p:txBody>
        </p:sp>
      </p:grpSp>
      <p:grpSp>
        <p:nvGrpSpPr>
          <p:cNvPr id="60" name="source"/>
          <p:cNvGrpSpPr/>
          <p:nvPr/>
        </p:nvGrpSpPr>
        <p:grpSpPr>
          <a:xfrm>
            <a:off x="528447" y="6381750"/>
            <a:ext cx="7149205" cy="191643"/>
            <a:chOff x="528447" y="6381750"/>
            <a:chExt cx="7149205" cy="191643"/>
          </a:xfrm>
        </p:grpSpPr>
        <p:sp>
          <p:nvSpPr>
            <p:cNvPr id="59" name="TextBox 59"/>
            <p:cNvSpPr txBox="1"/>
            <p:nvPr/>
          </p:nvSpPr>
          <p:spPr>
            <a:xfrm>
              <a:off x="528447" y="6381750"/>
              <a:ext cx="7149205"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구매·협력 구조와 데이터 원칙은 제안 [가설] · 기아 몫은 공모전 안내의 PV5 컨버전·Pleos 연계 기준 · 수요 대수는 13장</a:t>
              </a:r>
            </a:p>
          </p:txBody>
        </p:sp>
      </p:grpSp>
      <p:grpSp>
        <p:nvGrpSpPr>
          <p:cNvPr id="63" name="footer"/>
          <p:cNvGrpSpPr/>
          <p:nvPr/>
        </p:nvGrpSpPr>
        <p:grpSpPr>
          <a:xfrm>
            <a:off x="528638" y="6610350"/>
            <a:ext cx="11134724" cy="176212"/>
            <a:chOff x="528638" y="6610350"/>
            <a:chExt cx="11134724" cy="176212"/>
          </a:xfrm>
        </p:grpSpPr>
        <p:sp>
          <p:nvSpPr>
            <p:cNvPr id="61" name="TextBox 61"/>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2" name="TextBox 62"/>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14 / 15</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B1E3C"/>
          </a:solidFill>
          <a:ln>
            <a:noFill/>
          </a:ln>
        </p:spPr>
      </p:sp>
      <p:pic>
        <p:nvPicPr>
          <p:cNvPr id="3" name="Image 3"/>
          <p:cNvPicPr>
            <a:picLocks noChangeAspect="1"/>
          </p:cNvPicPr>
          <p:nvPr/>
        </p:nvPicPr>
        <p:blipFill>
          <a:blip r:embed="rId2"/>
          <a:srcRect l="16666" t="0" r="16667" b="0"/>
          <a:stretch>
            <a:fillRect/>
          </a:stretch>
        </p:blipFill>
        <p:spPr>
          <a:xfrm>
            <a:off x="5334000" y="0"/>
            <a:ext cx="6858000" cy="6858000"/>
          </a:xfrm>
          <a:prstGeom prst="rect">
            <a:avLst/>
          </a:prstGeom>
        </p:spPr>
      </p:pic>
      <p:sp>
        <p:nvSpPr>
          <p:cNvPr id="4" name="Rectangle 4"/>
          <p:cNvSpPr/>
          <p:nvPr/>
        </p:nvSpPr>
        <p:spPr>
          <a:xfrm>
            <a:off x="5334000" y="0"/>
            <a:ext cx="4000500" cy="6858000"/>
          </a:xfrm>
          <a:prstGeom prst="rect">
            <a:avLst/>
          </a:prstGeom>
          <a:gradFill>
            <a:gsLst>
              <a:gs pos="0">
                <a:srgbClr val="0B1E3C"/>
              </a:gs>
              <a:gs pos="55000">
                <a:srgbClr val="0B1E3C">
                  <a:alpha val="85000"/>
                </a:srgbClr>
              </a:gs>
              <a:gs pos="100000">
                <a:srgbClr val="0B1E3C">
                  <a:alpha val="0"/>
                </a:srgbClr>
              </a:gs>
            </a:gsLst>
            <a:lin ang="0" scaled="1"/>
          </a:gradFill>
          <a:ln>
            <a:noFill/>
          </a:ln>
        </p:spPr>
      </p:sp>
      <p:grpSp>
        <p:nvGrpSpPr>
          <p:cNvPr id="14" name="recap"/>
          <p:cNvGrpSpPr/>
          <p:nvPr/>
        </p:nvGrpSpPr>
        <p:grpSpPr>
          <a:xfrm>
            <a:off x="600075" y="838200"/>
            <a:ext cx="4564145" cy="3263265"/>
            <a:chOff x="600075" y="838200"/>
            <a:chExt cx="4564145" cy="3263265"/>
          </a:xfrm>
        </p:grpSpPr>
        <p:sp>
          <p:nvSpPr>
            <p:cNvPr id="5" name="TextBox 5"/>
            <p:cNvSpPr txBox="1"/>
            <p:nvPr/>
          </p:nvSpPr>
          <p:spPr>
            <a:xfrm>
              <a:off x="603504" y="838200"/>
              <a:ext cx="1992728" cy="234696"/>
            </a:xfrm>
            <a:prstGeom prst="rect">
              <a:avLst/>
            </a:prstGeom>
            <a:noFill/>
            <a:ln>
              <a:noFill/>
            </a:ln>
          </p:spPr>
          <p:txBody>
            <a:bodyPr wrap="none" lIns="0" tIns="0" rIns="0" bIns="0" anchor="t" anchorCtr="0">
              <a:spAutoFit/>
            </a:bodyPr>
            <a:lstStyle/>
            <a:p>
              <a:pPr algn="l"/>
              <a:r>
                <a:rPr lang="ko-KR" sz="1200" b="1" dirty="0">
                  <a:solidFill>
                    <a:srgbClr val="F5B700"/>
                  </a:solidFill>
                  <a:latin typeface="+mn-lt"/>
                  <a:ea typeface="+mn-ea"/>
                  <a:cs typeface="+mn-cs"/>
                </a:rPr>
                <a:t>GroundWatch가 바꾸는 것</a:t>
              </a:r>
            </a:p>
          </p:txBody>
        </p:sp>
        <p:sp>
          <p:nvSpPr>
            <p:cNvPr id="6" name="TextBox 6"/>
            <p:cNvSpPr txBox="1"/>
            <p:nvPr/>
          </p:nvSpPr>
          <p:spPr>
            <a:xfrm>
              <a:off x="601980" y="1250950"/>
              <a:ext cx="2216277" cy="293370"/>
            </a:xfrm>
            <a:prstGeom prst="rect">
              <a:avLst/>
            </a:prstGeom>
            <a:noFill/>
            <a:ln>
              <a:noFill/>
            </a:ln>
          </p:spPr>
          <p:txBody>
            <a:bodyPr wrap="none" lIns="0" tIns="0" rIns="0" bIns="0" anchor="t" anchorCtr="0">
              <a:spAutoFit/>
            </a:bodyPr>
            <a:lstStyle/>
            <a:p>
              <a:pPr algn="l"/>
              <a:r>
                <a:rPr lang="ko-KR" sz="1500" dirty="0">
                  <a:solidFill>
                    <a:srgbClr val="9FB0C8"/>
                  </a:solidFill>
                  <a:latin typeface="+mn-lt"/>
                  <a:ea typeface="+mn-ea"/>
                  <a:cs typeface="+mn-cs"/>
                </a:rPr>
                <a:t>회차마다 따로 보는 탐사</a:t>
              </a:r>
            </a:p>
          </p:txBody>
        </p:sp>
        <p:sp>
          <p:nvSpPr>
            <p:cNvPr id="7" name="TextBox 7"/>
            <p:cNvSpPr txBox="1"/>
            <p:nvPr/>
          </p:nvSpPr>
          <p:spPr>
            <a:xfrm>
              <a:off x="600075" y="1504950"/>
              <a:ext cx="3640072" cy="367665"/>
            </a:xfrm>
            <a:prstGeom prst="rect">
              <a:avLst/>
            </a:prstGeom>
            <a:noFill/>
            <a:ln>
              <a:noFill/>
            </a:ln>
          </p:spPr>
          <p:txBody>
            <a:bodyPr wrap="none" lIns="0" tIns="0" rIns="0" bIns="0" anchor="t" anchorCtr="0">
              <a:spAutoFit/>
            </a:bodyPr>
            <a:lstStyle/>
            <a:p>
              <a:pPr algn="l"/>
              <a:r>
                <a:rPr lang="ko-KR" sz="1880" b="1" dirty="0">
                  <a:solidFill>
                    <a:srgbClr val="FFFFFF"/>
                  </a:solidFill>
                  <a:latin typeface="+mn-lt"/>
                  <a:ea typeface="+mn-ea"/>
                  <a:cs typeface="+mn-cs"/>
                </a:rPr>
                <a:t>→ 같은 길의 ‘변화’를 보는 탐사</a:t>
              </a:r>
            </a:p>
          </p:txBody>
        </p:sp>
        <p:sp>
          <p:nvSpPr>
            <p:cNvPr id="8" name="TextBox 8"/>
            <p:cNvSpPr txBox="1"/>
            <p:nvPr/>
          </p:nvSpPr>
          <p:spPr>
            <a:xfrm>
              <a:off x="601980" y="1993900"/>
              <a:ext cx="2680716" cy="293370"/>
            </a:xfrm>
            <a:prstGeom prst="rect">
              <a:avLst/>
            </a:prstGeom>
            <a:noFill/>
            <a:ln>
              <a:noFill/>
            </a:ln>
          </p:spPr>
          <p:txBody>
            <a:bodyPr wrap="none" lIns="0" tIns="0" rIns="0" bIns="0" anchor="t" anchorCtr="0">
              <a:spAutoFit/>
            </a:bodyPr>
            <a:lstStyle/>
            <a:p>
              <a:pPr algn="l"/>
              <a:r>
                <a:rPr lang="ko-KR" sz="1500" dirty="0">
                  <a:solidFill>
                    <a:srgbClr val="9FB0C8"/>
                  </a:solidFill>
                  <a:latin typeface="+mn-lt"/>
                  <a:ea typeface="+mn-ea"/>
                  <a:cs typeface="+mn-cs"/>
                </a:rPr>
                <a:t>다시 찾아가야 하는 의심 지점</a:t>
              </a:r>
            </a:p>
          </p:txBody>
        </p:sp>
        <p:sp>
          <p:nvSpPr>
            <p:cNvPr id="9" name="TextBox 9"/>
            <p:cNvSpPr txBox="1"/>
            <p:nvPr/>
          </p:nvSpPr>
          <p:spPr>
            <a:xfrm>
              <a:off x="600075" y="2247900"/>
              <a:ext cx="3014951" cy="367665"/>
            </a:xfrm>
            <a:prstGeom prst="rect">
              <a:avLst/>
            </a:prstGeom>
            <a:noFill/>
            <a:ln>
              <a:noFill/>
            </a:ln>
          </p:spPr>
          <p:txBody>
            <a:bodyPr wrap="none" lIns="0" tIns="0" rIns="0" bIns="0" anchor="t" anchorCtr="0">
              <a:spAutoFit/>
            </a:bodyPr>
            <a:lstStyle/>
            <a:p>
              <a:pPr algn="l"/>
              <a:r>
                <a:rPr lang="ko-KR" sz="1880" b="1" dirty="0">
                  <a:solidFill>
                    <a:srgbClr val="FFFFFF"/>
                  </a:solidFill>
                  <a:latin typeface="+mn-lt"/>
                  <a:ea typeface="+mn-ea"/>
                  <a:cs typeface="+mn-cs"/>
                </a:rPr>
                <a:t>→ 같은 차에서 바로 재탐사</a:t>
              </a:r>
            </a:p>
          </p:txBody>
        </p:sp>
        <p:sp>
          <p:nvSpPr>
            <p:cNvPr id="10" name="TextBox 10"/>
            <p:cNvSpPr txBox="1"/>
            <p:nvPr/>
          </p:nvSpPr>
          <p:spPr>
            <a:xfrm>
              <a:off x="601980" y="2736850"/>
              <a:ext cx="1347978" cy="293370"/>
            </a:xfrm>
            <a:prstGeom prst="rect">
              <a:avLst/>
            </a:prstGeom>
            <a:noFill/>
            <a:ln>
              <a:noFill/>
            </a:ln>
          </p:spPr>
          <p:txBody>
            <a:bodyPr wrap="none" lIns="0" tIns="0" rIns="0" bIns="0" anchor="t" anchorCtr="0">
              <a:spAutoFit/>
            </a:bodyPr>
            <a:lstStyle/>
            <a:p>
              <a:pPr algn="l"/>
              <a:r>
                <a:rPr lang="ko-KR" sz="1500" dirty="0">
                  <a:solidFill>
                    <a:srgbClr val="9FB0C8"/>
                  </a:solidFill>
                  <a:latin typeface="+mn-lt"/>
                  <a:ea typeface="+mn-ea"/>
                  <a:cs typeface="+mn-cs"/>
                </a:rPr>
                <a:t>장비를 실은 차</a:t>
              </a:r>
            </a:p>
          </p:txBody>
        </p:sp>
        <p:sp>
          <p:nvSpPr>
            <p:cNvPr id="11" name="TextBox 11"/>
            <p:cNvSpPr txBox="1"/>
            <p:nvPr/>
          </p:nvSpPr>
          <p:spPr>
            <a:xfrm>
              <a:off x="600075" y="2990850"/>
              <a:ext cx="3234180" cy="367665"/>
            </a:xfrm>
            <a:prstGeom prst="rect">
              <a:avLst/>
            </a:prstGeom>
            <a:noFill/>
            <a:ln>
              <a:noFill/>
            </a:ln>
          </p:spPr>
          <p:txBody>
            <a:bodyPr wrap="none" lIns="0" tIns="0" rIns="0" bIns="0" anchor="t" anchorCtr="0">
              <a:spAutoFit/>
            </a:bodyPr>
            <a:lstStyle/>
            <a:p>
              <a:pPr algn="l"/>
              <a:r>
                <a:rPr lang="ko-KR" sz="1880" b="1" dirty="0">
                  <a:solidFill>
                    <a:srgbClr val="FFFFFF"/>
                  </a:solidFill>
                  <a:latin typeface="+mn-lt"/>
                  <a:ea typeface="+mn-ea"/>
                  <a:cs typeface="+mn-cs"/>
                </a:rPr>
                <a:t>→ 업무에 연동된 PV5 탐사실</a:t>
              </a:r>
            </a:p>
          </p:txBody>
        </p:sp>
        <p:sp>
          <p:nvSpPr>
            <p:cNvPr id="12" name="TextBox 12"/>
            <p:cNvSpPr txBox="1"/>
            <p:nvPr/>
          </p:nvSpPr>
          <p:spPr>
            <a:xfrm>
              <a:off x="601980" y="3467100"/>
              <a:ext cx="822960" cy="293370"/>
            </a:xfrm>
            <a:prstGeom prst="rect">
              <a:avLst/>
            </a:prstGeom>
            <a:noFill/>
            <a:ln>
              <a:noFill/>
            </a:ln>
          </p:spPr>
          <p:txBody>
            <a:bodyPr wrap="none" lIns="0" tIns="0" rIns="0" bIns="0" anchor="t" anchorCtr="0">
              <a:spAutoFit/>
            </a:bodyPr>
            <a:lstStyle/>
            <a:p>
              <a:pPr algn="l"/>
              <a:r>
                <a:rPr lang="ko-KR" sz="1500" dirty="0">
                  <a:solidFill>
                    <a:srgbClr val="9FB0C8"/>
                  </a:solidFill>
                  <a:latin typeface="+mn-lt"/>
                  <a:ea typeface="+mn-ea"/>
                  <a:cs typeface="+mn-cs"/>
                </a:rPr>
                <a:t>기아에게</a:t>
              </a:r>
            </a:p>
          </p:txBody>
        </p:sp>
        <p:sp>
          <p:nvSpPr>
            <p:cNvPr id="13" name="TextBox 13"/>
            <p:cNvSpPr txBox="1"/>
            <p:nvPr/>
          </p:nvSpPr>
          <p:spPr>
            <a:xfrm>
              <a:off x="600075" y="3733800"/>
              <a:ext cx="4564145" cy="367665"/>
            </a:xfrm>
            <a:prstGeom prst="rect">
              <a:avLst/>
            </a:prstGeom>
            <a:noFill/>
            <a:ln>
              <a:noFill/>
            </a:ln>
          </p:spPr>
          <p:txBody>
            <a:bodyPr wrap="none" lIns="0" tIns="0" rIns="0" bIns="0" anchor="t" anchorCtr="0">
              <a:spAutoFit/>
            </a:bodyPr>
            <a:lstStyle/>
            <a:p>
              <a:pPr algn="l"/>
              <a:r>
                <a:rPr lang="ko-KR" sz="1880" b="1" dirty="0">
                  <a:solidFill>
                    <a:srgbClr val="FFFFFF"/>
                  </a:solidFill>
                  <a:latin typeface="+mn-lt"/>
                  <a:ea typeface="+mn-ea"/>
                  <a:cs typeface="+mn-cs"/>
                </a:rPr>
                <a:t>→ 공공 탐사용 PV5 플릿 (최대 약 97대)</a:t>
              </a:r>
            </a:p>
          </p:txBody>
        </p:sp>
      </p:grpSp>
      <p:grpSp>
        <p:nvGrpSpPr>
          <p:cNvPr id="17" name="closing"/>
          <p:cNvGrpSpPr/>
          <p:nvPr/>
        </p:nvGrpSpPr>
        <p:grpSpPr>
          <a:xfrm>
            <a:off x="595122" y="4572000"/>
            <a:ext cx="5037439" cy="1255903"/>
            <a:chOff x="595122" y="4572000"/>
            <a:chExt cx="5037439" cy="1255903"/>
          </a:xfrm>
        </p:grpSpPr>
        <p:sp>
          <p:nvSpPr>
            <p:cNvPr id="15" name="Rectangle 15"/>
            <p:cNvSpPr/>
            <p:nvPr/>
          </p:nvSpPr>
          <p:spPr>
            <a:xfrm>
              <a:off x="609600" y="4572000"/>
              <a:ext cx="457200" cy="28575"/>
            </a:xfrm>
            <a:prstGeom prst="rect">
              <a:avLst/>
            </a:prstGeom>
            <a:solidFill>
              <a:srgbClr val="F5B700"/>
            </a:solidFill>
            <a:ln>
              <a:noFill/>
            </a:ln>
          </p:spPr>
        </p:sp>
        <p:sp>
          <p:nvSpPr>
            <p:cNvPr id="16" name="TextBox 16"/>
            <p:cNvSpPr txBox="1"/>
            <p:nvPr/>
          </p:nvSpPr>
          <p:spPr>
            <a:xfrm>
              <a:off x="595122" y="4775200"/>
              <a:ext cx="5037439" cy="1052703"/>
            </a:xfrm>
            <a:prstGeom prst="rect">
              <a:avLst/>
            </a:prstGeom>
            <a:noFill/>
            <a:ln>
              <a:noFill/>
            </a:ln>
          </p:spPr>
          <p:txBody>
            <a:bodyPr wrap="none" lIns="0" tIns="0" rIns="0" bIns="0" anchor="t" anchorCtr="0">
              <a:spAutoFit/>
            </a:bodyPr>
            <a:lstStyle/>
            <a:p>
              <a:pPr algn="l">
                <a:lnSpc>
                  <a:spcPts val="3900"/>
                </a:lnSpc>
              </a:pPr>
              <a:r>
                <a:rPr lang="ko-KR" sz="2850" b="1" dirty="0">
                  <a:solidFill>
                    <a:srgbClr val="FFFFFF"/>
                  </a:solidFill>
                  <a:latin typeface="+mn-lt"/>
                  <a:ea typeface="+mn-ea"/>
                  <a:cs typeface="+mn-cs"/>
                </a:rPr>
                <a:t>한 번의 조기 발견이,</a:t>
              </a:r>
              <a:br>
                <a:rPr lang="ko-KR" sz="2850" b="1" dirty="0">
                  <a:solidFill>
                    <a:srgbClr val="FFFFFF"/>
                  </a:solidFill>
                  <a:latin typeface="+mn-lt"/>
                  <a:ea typeface="+mn-ea"/>
                  <a:cs typeface="+mn-cs"/>
                </a:rPr>
              </a:br>
              <a:r>
                <a:rPr lang="ko-KR" sz="2850" b="1" dirty="0">
                  <a:solidFill>
                    <a:srgbClr val="FFFFFF"/>
                  </a:solidFill>
                  <a:latin typeface="+mn-lt"/>
                  <a:ea typeface="+mn-ea"/>
                  <a:cs typeface="+mn-cs"/>
                </a:rPr>
                <a:t>한 사람의 무사 귀가가 되도록.</a:t>
              </a:r>
            </a:p>
          </p:txBody>
        </p:sp>
      </p:grpSp>
      <p:grpSp>
        <p:nvGrpSpPr>
          <p:cNvPr id="21" name="footer"/>
          <p:cNvGrpSpPr/>
          <p:nvPr/>
        </p:nvGrpSpPr>
        <p:grpSpPr>
          <a:xfrm>
            <a:off x="604266" y="6337300"/>
            <a:ext cx="11135487" cy="408559"/>
            <a:chOff x="604266" y="6337300"/>
            <a:chExt cx="11135487" cy="408559"/>
          </a:xfrm>
        </p:grpSpPr>
        <p:sp>
          <p:nvSpPr>
            <p:cNvPr id="18" name="TextBox 18"/>
            <p:cNvSpPr txBox="1"/>
            <p:nvPr/>
          </p:nvSpPr>
          <p:spPr>
            <a:xfrm>
              <a:off x="604266" y="6540500"/>
              <a:ext cx="2167044" cy="205359"/>
            </a:xfrm>
            <a:prstGeom prst="rect">
              <a:avLst/>
            </a:prstGeom>
            <a:noFill/>
            <a:ln>
              <a:noFill/>
            </a:ln>
          </p:spPr>
          <p:txBody>
            <a:bodyPr wrap="none" lIns="0" tIns="0" rIns="0" bIns="0" anchor="t" anchorCtr="0">
              <a:spAutoFit/>
            </a:bodyPr>
            <a:lstStyle/>
            <a:p>
              <a:pPr algn="l"/>
              <a:r>
                <a:rPr lang="ko-KR" sz="1050" b="1" dirty="0">
                  <a:solidFill>
                    <a:srgbClr val="F5B700"/>
                  </a:solidFill>
                  <a:latin typeface="+mn-lt"/>
                  <a:ea typeface="+mn-ea"/>
                  <a:cs typeface="+mn-cs"/>
                </a:rPr>
                <a:t>TEAM 한 명이라도 살릴 수 있다면</a:t>
              </a:r>
            </a:p>
          </p:txBody>
        </p:sp>
        <p:sp>
          <p:nvSpPr>
            <p:cNvPr id="19" name="TextBox 19"/>
            <p:cNvSpPr txBox="1"/>
            <p:nvPr/>
          </p:nvSpPr>
          <p:spPr>
            <a:xfrm>
              <a:off x="604838" y="6337300"/>
              <a:ext cx="2235337" cy="161925"/>
            </a:xfrm>
            <a:prstGeom prst="rect">
              <a:avLst/>
            </a:prstGeom>
            <a:noFill/>
            <a:ln>
              <a:noFill/>
            </a:ln>
          </p:spPr>
          <p:txBody>
            <a:bodyPr wrap="none" lIns="0" tIns="0" rIns="0" bIns="0" anchor="t" anchorCtr="0">
              <a:spAutoFit/>
            </a:bodyPr>
            <a:lstStyle/>
            <a:p>
              <a:pPr algn="l"/>
              <a:r>
                <a:rPr lang="ko-KR" sz="820" dirty="0">
                  <a:solidFill>
                    <a:srgbClr val="9FB0C8"/>
                  </a:solidFill>
                  <a:latin typeface="+mn-lt"/>
                  <a:ea typeface="+mn-ea"/>
                  <a:cs typeface="+mn-cs"/>
                </a:rPr>
                <a:t>사진: Alexander Migl, CC BY-SA 4.0(편집)</a:t>
              </a:r>
            </a:p>
          </p:txBody>
        </p:sp>
        <p:sp>
          <p:nvSpPr>
            <p:cNvPr id="20" name="TextBox 20"/>
            <p:cNvSpPr txBox="1"/>
            <p:nvPr/>
          </p:nvSpPr>
          <p:spPr>
            <a:xfrm>
              <a:off x="11265792" y="6553200"/>
              <a:ext cx="473961" cy="191643"/>
            </a:xfrm>
            <a:prstGeom prst="rect">
              <a:avLst/>
            </a:prstGeom>
            <a:noFill/>
            <a:ln>
              <a:noFill/>
            </a:ln>
          </p:spPr>
          <p:txBody>
            <a:bodyPr wrap="none" lIns="0" tIns="0" rIns="0" bIns="0" anchor="t" anchorCtr="0">
              <a:spAutoFit/>
            </a:bodyPr>
            <a:lstStyle/>
            <a:p>
              <a:pPr algn="r"/>
              <a:r>
                <a:rPr lang="ko-KR" sz="980" b="1" dirty="0">
                  <a:solidFill>
                    <a:srgbClr val="F5B700"/>
                  </a:solidFill>
                  <a:latin typeface="+mn-lt"/>
                  <a:ea typeface="+mn-ea"/>
                  <a:cs typeface="+mn-cs"/>
                </a:rPr>
                <a:t>15 / 15</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_v5">
  <a:themeElements>
    <a:clrScheme name="deck_v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ck_v5">
      <a:majorFont>
        <a:latin typeface="Pretendard"/>
        <a:ea typeface="Pretendard"/>
        <a:cs typeface="Pretendard"/>
        <a:font script="Jpan" typeface="Pretendard"/>
        <a:font script="Hang" typeface="Pretendard"/>
        <a:font script="Hans" typeface="Pretendard"/>
        <a:font script="Hant" typeface="Pretendard"/>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Pretendard"/>
        <a:font script="Jpan" typeface="Pretendard"/>
        <a:font script="Hang" typeface="Pretendard"/>
        <a:font script="Hans" typeface="Pretendard"/>
        <a:font script="Hant" typeface="Pretendard"/>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_v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ck_v5">
  <a:themeElements>
    <a:clrScheme name="deck_v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ck_v5">
      <a:majorFont>
        <a:latin typeface="Pretendard"/>
        <a:ea typeface="Pretendard"/>
        <a:cs typeface="Pretendard"/>
        <a:font script="Jpan" typeface="Pretendard"/>
        <a:font script="Hang" typeface="Pretendard"/>
        <a:font script="Hans" typeface="Pretendard"/>
        <a:font script="Hant" typeface="Pretendard"/>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Pretendard"/>
        <a:font script="Jpan" typeface="Pretendard"/>
        <a:font script="Hang" typeface="Pretendard"/>
        <a:font script="Hans" typeface="Pretendard"/>
        <a:font script="Hant" typeface="Pretendard"/>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_v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ko-KR</dc:language>
  <cp:lastModifiedBy/>
  <cp:revision>1</cp:revision>
  <dcterms:created xsi:type="dcterms:W3CDTF">2026-10-23T07:26:07Z</dcterms:created>
  <dcterms:modified xsi:type="dcterms:W3CDTF">2026-10-23T07:26:07Z</dcterms:modified>
  <cp:category/>
  <cp:contentStatus/>
</cp:coreProperties>
</file>