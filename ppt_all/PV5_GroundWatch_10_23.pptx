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같은 날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21곳의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2026년부터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반년 넘게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2026년부터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영상, GPS 좌표를 대조해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됩니다(7장). 오차는 두 가지입니다. 회차마다 주행선이 달라지는 오차는 RTK·IMU 정합으로 맞추고(11장),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원보다 낮지만, 차값 차이(최대 1,354만 원)는 차량형 GPR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21곳의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공동조사서·로드뷰·GPS를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길 1km를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 판정과 책임 구조는 지금과 같습니다. GroundWatch는 볼 곳을 좁히는 도구이고, 공동 판정과 결과 서명은 지금처럼 등록된 조사기관과 전문가가 맡습니다.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5" Type="http://schemas.openxmlformats.org/officeDocument/2006/relationships/notesSlide" Target="../notesSlides/notesSlide10.xml"/>
<Relationship Id="rId7" Type="http://schemas.openxmlformats.org/officeDocument/2006/relationships/image" Target="../media/gw_pv5_side_gpr.png"/></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모든 차가 똑같이 잰다</a:t>
              </a:r>
            </a:p>
          </p:txBody>
        </p:sp>
        <p:sp>
          <p:nvSpPr>
            <p:cNvPr id="33" name="TextBox 33"/>
            <p:cNvSpPr txBox="1"/>
            <p:nvPr/>
          </p:nvSpPr>
          <p:spPr>
            <a:xfrm>
              <a:off x="6203823" y="2520950"/>
              <a:ext cx="213360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컨버전 포털로 같은 위치에 장착,</a:t>
              </a:r>
              <a:br>
                <a:rPr lang="ko-KR" sz="1280" dirty="0">
                  <a:solidFill>
                    <a:srgbClr val="374151"/>
                  </a:solidFill>
                  <a:latin typeface="+mn-lt"/>
                  <a:ea typeface="+mn-ea"/>
                  <a:cs typeface="+mn-cs"/>
                </a:rPr>
              </a:br>
              <a:r>
                <a:rPr lang="ko-KR" sz="1280" dirty="0">
                  <a:solidFill>
                    <a:srgbClr val="374151"/>
                  </a:solidFill>
                  <a:latin typeface="+mn-lt"/>
                  <a:ea typeface="+mn-ea"/>
                  <a:cs typeface="+mn-cs"/>
                </a:rPr>
                <a:t>PIM으로 차가 장비를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Fleet·앱 마켓으로 여러 도시에.</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13220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약 30% 더해 1년에 6번</a:t>
              </a:r>
            </a:p>
          </p:txBody>
        </p:sp>
        <p:sp>
          <p:nvSpPr>
            <p:cNvPr id="39" name="TextBox 39"/>
            <p:cNvSpPr txBox="1"/>
            <p:nvPr/>
          </p:nvSpPr>
          <p:spPr>
            <a:xfrm>
              <a:off x="9042273" y="2520950"/>
              <a:ext cx="216490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원에</a:t>
              </a:r>
              <a:br>
                <a:rPr lang="ko-KR" sz="1280" dirty="0">
                  <a:solidFill>
                    <a:srgbClr val="374151"/>
                  </a:solidFill>
                  <a:latin typeface="+mn-lt"/>
                  <a:ea typeface="+mn-ea"/>
                  <a:cs typeface="+mn-cs"/>
                </a:rPr>
              </a:br>
              <a:r>
                <a:rPr lang="ko-KR" sz="1280" dirty="0">
                  <a:solidFill>
                    <a:srgbClr val="374151"/>
                  </a:solidFill>
                  <a:latin typeface="+mn-lt"/>
                  <a:ea typeface="+mn-ea"/>
                  <a:cs typeface="+mn-cs"/>
                </a:rPr>
                <a:t>1차 탐사 6회 원가 28만 원을</a:t>
              </a:r>
              <a:br>
                <a:rPr lang="ko-KR" sz="1280" dirty="0">
                  <a:solidFill>
                    <a:srgbClr val="374151"/>
                  </a:solidFill>
                  <a:latin typeface="+mn-lt"/>
                  <a:ea typeface="+mn-ea"/>
                  <a:cs typeface="+mn-cs"/>
                </a:rPr>
              </a:br>
              <a:r>
                <a:rPr lang="ko-KR" sz="1280" dirty="0">
                  <a:solidFill>
                    <a:srgbClr val="374151"/>
                  </a:solidFill>
                  <a:latin typeface="+mn-lt"/>
                  <a:ea typeface="+mn-ea"/>
                  <a:cs typeface="+mn-cs"/>
                </a:rPr>
                <a:t>더해 같은 길을 1년에 6번 봅니다.</a:t>
              </a:r>
            </a:p>
          </p:txBody>
        </p:sp>
      </p:grpSp>
      <p:grpSp>
        <p:nvGrpSpPr>
          <p:cNvPr id="52" name="keynum"/>
          <p:cNvGrpSpPr/>
          <p:nvPr/>
        </p:nvGrpSpPr>
        <p:grpSpPr>
          <a:xfrm>
            <a:off x="521208" y="386080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1325105"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1회 → 6회</a:t>
              </a:r>
            </a:p>
          </p:txBody>
        </p:sp>
        <p:sp>
          <p:nvSpPr>
            <p:cNvPr id="51" name="TextBox 51"/>
            <p:cNvSpPr txBox="1"/>
            <p:nvPr/>
          </p:nvSpPr>
          <p:spPr>
            <a:xfrm>
              <a:off x="8071485" y="5099050"/>
              <a:ext cx="317868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1년에 같은 길을 보는 횟수 · 추가 원가는 현행의 약 30%</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83222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70858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209040"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
        <p:nvSpPr>
          <p:cNvPr id="143" name="TextBox 143"/>
          <p:cNvSpPr txBox="1"/>
          <p:nvPr/>
        </p:nvSpPr>
        <p:spPr>
          <a:xfrm>
            <a:off x="1710690" y="4276725"/>
            <a:ext cx="3562045" cy="185737"/>
          </a:xfrm>
          <a:prstGeom prst="rect">
            <a:avLst/>
          </a:prstGeom>
          <a:noFill/>
          <a:ln>
            <a:noFill/>
          </a:ln>
        </p:spPr>
        <p:txBody>
          <a:bodyPr wrap="none" lIns="0" tIns="0" rIns="0" bIns="0" anchor="t" anchorCtr="0">
            <a:spAutoFit/>
          </a:bodyPr>
          <a:lstStyle/>
          <a:p>
            <a:pPr algn="l"/>
            <a:r>
              <a:rPr lang="ko-KR" sz="1125" b="1" dirty="0">
                <a:solidFill>
                  <a:srgbClr val="C62828"/>
                </a:solidFill>
                <a:latin typeface="+mn-lt"/>
                <a:ea typeface="+mn-ea"/>
                <a:cs typeface="+mn-cs"/>
              </a:rPr>
              <a:t xml:space="preserve">같은 날, 약 30m 옆에서도 도로 침하가 하나 더 발견됐습니다</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94049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노후 하수관·공사장 주변·자치구 요청 구간으로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5" name="evidence"/>
          <p:cNvGrpSpPr/>
          <p:nvPr/>
        </p:nvGrpSpPr>
        <p:grpSpPr>
          <a:xfrm>
            <a:off x="7454646" y="1600200"/>
            <a:ext cx="4203954" cy="3644646"/>
            <a:chOff x="7454646" y="1600200"/>
            <a:chExt cx="4203954"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219275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공동을 다시 보면 · 서울 실측</a:t>
              </a:r>
            </a:p>
          </p:txBody>
        </p:sp>
        <p:sp>
          <p:nvSpPr>
            <p:cNvPr id="33" name="TextBox 33"/>
            <p:cNvSpPr txBox="1"/>
            <p:nvPr/>
          </p:nvSpPr>
          <p:spPr>
            <a:xfrm>
              <a:off x="7454646" y="2101850"/>
              <a:ext cx="3456143"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30곳 중 21곳 크기 변화</a:t>
              </a:r>
            </a:p>
          </p:txBody>
        </p:sp>
        <p:sp>
          <p:nvSpPr>
            <p:cNvPr id="34" name="TextBox 34"/>
            <p:cNvSpPr txBox="1"/>
            <p:nvPr/>
          </p:nvSpPr>
          <p:spPr>
            <a:xfrm>
              <a:off x="7461504" y="2552700"/>
              <a:ext cx="33739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 11개 자치구 공동을 차량 GPR로 재탐사</a:t>
              </a:r>
            </a:p>
          </p:txBody>
        </p:sp>
        <p:sp>
          <p:nvSpPr>
            <p:cNvPr id="35" name="TextBox 35"/>
            <p:cNvSpPr txBox="1"/>
            <p:nvPr/>
          </p:nvSpPr>
          <p:spPr>
            <a:xfrm>
              <a:off x="7461504" y="2762250"/>
              <a:ext cx="323499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(발견 후 209~989일 · 인천대 연구, 2020)</a:t>
              </a:r>
            </a:p>
          </p:txBody>
        </p:sp>
        <p:sp>
          <p:nvSpPr>
            <p:cNvPr id="36" name="Line 36"/>
            <p:cNvSpPr/>
            <p:nvPr/>
          </p:nvSpPr>
          <p:spPr>
            <a:xfrm>
              <a:off x="7467600" y="3143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7" name="TextBox 37"/>
            <p:cNvSpPr txBox="1"/>
            <p:nvPr/>
          </p:nvSpPr>
          <p:spPr>
            <a:xfrm>
              <a:off x="7461123" y="3295650"/>
              <a:ext cx="3360576"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1년이 안 돼</a:t>
              </a:r>
              <a:r>
                <a:rPr lang="ko-KR" sz="1280" dirty="0">
                  <a:solidFill>
                    <a:srgbClr val="111827"/>
                  </a:solidFill>
                  <a:latin typeface="+mn-lt"/>
                  <a:ea typeface="+mn-ea"/>
                  <a:cs typeface="+mn-cs"/>
                </a:rPr>
                <a:t xml:space="preserve"> ‘관찰’ → ‘우선복구’로 등급 상승</a:t>
              </a:r>
            </a:p>
          </p:txBody>
        </p:sp>
        <p:sp>
          <p:nvSpPr>
            <p:cNvPr id="38" name="TextBox 38"/>
            <p:cNvSpPr txBox="1"/>
            <p:nvPr/>
          </p:nvSpPr>
          <p:spPr>
            <a:xfrm>
              <a:off x="7461123" y="3543300"/>
              <a:ext cx="2657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13곳은 크기와 함께 관리 등급도 바뀜</a:t>
              </a:r>
            </a:p>
          </p:txBody>
        </p:sp>
        <p:sp>
          <p:nvSpPr>
            <p:cNvPr id="39" name="Line 39"/>
            <p:cNvSpPr/>
            <p:nvPr/>
          </p:nvSpPr>
          <p:spPr>
            <a:xfrm>
              <a:off x="7467600" y="39433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0" name="TextBox 40"/>
            <p:cNvSpPr txBox="1"/>
            <p:nvPr/>
          </p:nvSpPr>
          <p:spPr>
            <a:xfrm>
              <a:off x="7461504" y="4076700"/>
              <a:ext cx="28069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국내 연구 결론: 시간이 지날수록 공동은 계속</a:t>
              </a:r>
            </a:p>
          </p:txBody>
        </p:sp>
        <p:sp>
          <p:nvSpPr>
            <p:cNvPr id="41" name="TextBox 41"/>
            <p:cNvSpPr txBox="1"/>
            <p:nvPr/>
          </p:nvSpPr>
          <p:spPr>
            <a:xfrm>
              <a:off x="7461504" y="4286250"/>
              <a:ext cx="290169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자라고, 공동 위 흙은 최대 20cm 얇아졌습니다</a:t>
              </a:r>
            </a:p>
          </p:txBody>
        </p:sp>
        <p:sp>
          <p:nvSpPr>
            <p:cNvPr id="42" name="Line 42"/>
            <p:cNvSpPr/>
            <p:nvPr/>
          </p:nvSpPr>
          <p:spPr>
            <a:xfrm>
              <a:off x="7467600" y="4667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3" name="TextBox 43"/>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4" name="TextBox 44"/>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8" name="conclusion"/>
          <p:cNvGrpSpPr/>
          <p:nvPr/>
        </p:nvGrpSpPr>
        <p:grpSpPr>
          <a:xfrm>
            <a:off x="533400" y="5676900"/>
            <a:ext cx="7169730" cy="419100"/>
            <a:chOff x="533400" y="5391150"/>
            <a:chExt cx="7169730" cy="419100"/>
          </a:xfrm>
        </p:grpSpPr>
        <p:sp>
          <p:nvSpPr>
            <p:cNvPr id="46" name="Rectangle 46"/>
            <p:cNvSpPr/>
            <p:nvPr/>
          </p:nvSpPr>
          <p:spPr>
            <a:xfrm>
              <a:off x="533400" y="5391150"/>
              <a:ext cx="38100" cy="419100"/>
            </a:xfrm>
            <a:prstGeom prst="rect">
              <a:avLst/>
            </a:prstGeom>
            <a:solidFill>
              <a:srgbClr val="F5B700"/>
            </a:solidFill>
            <a:ln>
              <a:noFill/>
            </a:ln>
          </p:spPr>
        </p:sp>
        <p:sp>
          <p:nvSpPr>
            <p:cNvPr id="47" name="TextBox 47"/>
            <p:cNvSpPr txBox="1"/>
            <p:nvPr/>
          </p:nvSpPr>
          <p:spPr>
            <a:xfrm>
              <a:off x="715899" y="5486400"/>
              <a:ext cx="5565966"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0" name="source"/>
          <p:cNvGrpSpPr/>
          <p:nvPr/>
        </p:nvGrpSpPr>
        <p:grpSpPr>
          <a:xfrm>
            <a:off x="528447" y="6248400"/>
            <a:ext cx="10095771" cy="344043"/>
            <a:chOff x="528447" y="6248400"/>
            <a:chExt cx="10095771" cy="344043"/>
          </a:xfrm>
        </p:grpSpPr>
        <p:sp>
          <p:nvSpPr>
            <p:cNvPr id="49" name="TextBox 49"/>
            <p:cNvSpPr txBox="1"/>
            <p:nvPr/>
          </p:nvSpPr>
          <p:spPr>
            <a:xfrm>
              <a:off x="528447" y="6248400"/>
              <a:ext cx="7290244" cy="3440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지하안전법(공동조사 5년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서울시(2026.3.23, 공사장 주변 탐사) · 경향신문(2025.3.28, 성산로 월 1회 탐사) · 경북매일(2026.9.2, 국토안전관리원 미복구 공동 자료)</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
        <p:nvSpPr>
          <p:cNvPr id="54" name="TextBox gapnote 1"/>
          <p:cNvSpPr txBox="1"/>
          <p:nvPr/>
        </p:nvSpPr>
        <p:spPr>
          <a:xfrm>
            <a:off x="527473" y="4978400"/>
            <a:ext cx="4286644" cy="205740"/>
          </a:xfrm>
          <a:prstGeom prst="rect">
            <a:avLst/>
          </a:prstGeom>
          <a:noFill/>
          <a:ln>
            <a:noFill/>
          </a:ln>
        </p:spPr>
        <p:txBody>
          <a:bodyPr wrap="none" lIns="0" tIns="0" rIns="0" bIns="0" anchor="t" anchorCtr="0">
            <a:spAutoFit/>
          </a:bodyPr>
          <a:lstStyle/>
          <a:p>
            <a:pPr algn="l"/>
            <a:r>
              <a:rPr lang="ko-KR" sz="1100" dirty="0">
                <a:solidFill>
                  <a:srgbClr val="374151"/>
                </a:solidFill>
                <a:latin typeface="+mn-lt"/>
                <a:ea typeface="+mn-ea"/>
                <a:cs typeface="+mn-cs"/>
              </a:rPr>
              <a:t>공사장 주변은 2026년부터 주·월 1회 탐사하지만, 회차마다 따로 판독합니다.</a:t>
            </a:r>
          </a:p>
        </p:txBody>
      </p:sp>
      <p:sp>
        <p:nvSpPr>
          <p:cNvPr id="55" name="TextBox gapnote 2"/>
          <p:cNvSpPr txBox="1"/>
          <p:nvPr/>
        </p:nvSpPr>
        <p:spPr>
          <a:xfrm>
            <a:off x="527473" y="5190067"/>
            <a:ext cx="4388676" cy="205740"/>
          </a:xfrm>
          <a:prstGeom prst="rect">
            <a:avLst/>
          </a:prstGeom>
          <a:noFill/>
          <a:ln>
            <a:noFill/>
          </a:ln>
        </p:spPr>
        <p:txBody>
          <a:bodyPr wrap="none" lIns="0" tIns="0" rIns="0" bIns="0" anchor="t" anchorCtr="0">
            <a:spAutoFit/>
          </a:bodyPr>
          <a:lstStyle/>
          <a:p>
            <a:pPr algn="l"/>
            <a:r>
              <a:rPr lang="ko-KR" sz="1100" dirty="0">
                <a:solidFill>
                  <a:srgbClr val="374151"/>
                </a:solidFill>
                <a:latin typeface="+mn-lt"/>
                <a:ea typeface="+mn-ea"/>
                <a:cs typeface="+mn-cs"/>
              </a:rPr>
              <a:t>사고 뒤 정한 성산로 월 1회 탐사도 계약 절차로 반년 넘게 시행되지 못했습니다.</a:t>
            </a:r>
          </a:p>
        </p:txBody>
      </p:sp>
      <p:sp>
        <p:nvSpPr>
          <p:cNvPr id="56" name="Line unrepaired"/>
          <p:cNvSpPr/>
          <p:nvPr/>
        </p:nvSpPr>
        <p:spPr>
          <a:xfrm>
            <a:off x="7467600" y="5391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57" name="TextBox unrepaired 1"/>
          <p:cNvSpPr txBox="1"/>
          <p:nvPr/>
        </p:nvSpPr>
        <p:spPr>
          <a:xfrm>
            <a:off x="7461504" y="5505450"/>
            <a:ext cx="281372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2022~2026.6 전국에서 찾은 공동 1,111곳 중</a:t>
            </a:r>
          </a:p>
        </p:txBody>
      </p:sp>
      <p:sp>
        <p:nvSpPr>
          <p:cNvPr id="58" name="TextBox unrepaired 2"/>
          <p:cNvSpPr txBox="1"/>
          <p:nvPr/>
        </p:nvSpPr>
        <p:spPr>
          <a:xfrm>
            <a:off x="7461504" y="5734050"/>
            <a:ext cx="241344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385곳(34.7%)이 아직 복구 전입니다.</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지하 10m 이상 → 대상 아님</a:t>
              </a:r>
            </a:p>
          </p:txBody>
        </p:sp>
        <p:sp>
          <p:nvSpPr>
            <p:cNvPr id="39" name="TextBox 39"/>
            <p:cNvSpPr txBox="1"/>
            <p:nvPr/>
          </p:nvSpPr>
          <p:spPr>
            <a:xfrm>
              <a:off x="7080504" y="4648200"/>
              <a:ext cx="407517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예: 명일동(함몰 깊이 16m) · 깊은 굴착·터널 공사장은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10582249" cy="191643"/>
            <a:chOff x="528447" y="6381750"/>
            <a:chExt cx="10582249" cy="191643"/>
          </a:xfrm>
        </p:grpSpPr>
        <p:sp>
          <p:nvSpPr>
            <p:cNvPr id="44" name="TextBox 44"/>
            <p:cNvSpPr txBox="1"/>
            <p:nvPr/>
          </p:nvSpPr>
          <p:spPr>
            <a:xfrm>
              <a:off x="528447" y="6381750"/>
              <a:ext cx="1058224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이투데이(2025.4.23, 10m 이상 굴착 공사장 점검)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9"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9" name="TextBox 39"/>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0" name="TextBox 40"/>
            <p:cNvSpPr txBox="1"/>
            <p:nvPr/>
          </p:nvSpPr>
          <p:spPr>
            <a:xfrm>
              <a:off x="1860804" y="4362450"/>
              <a:ext cx="118061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공사장 주변 구간</a:t>
              </a:r>
            </a:p>
          </p:txBody>
        </p:sp>
        <p:sp>
          <p:nvSpPr>
            <p:cNvPr id="41" name="TextBox 41"/>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2" name="TextBox 42"/>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3" name="TextBox 43"/>
            <p:cNvSpPr txBox="1"/>
            <p:nvPr/>
          </p:nvSpPr>
          <p:spPr>
            <a:xfrm>
              <a:off x="1860804" y="4686300"/>
              <a:ext cx="1198118"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a:t>
              </a:r>
            </a:p>
          </p:txBody>
        </p:sp>
        <p:sp>
          <p:nvSpPr>
            <p:cNvPr id="44" name="TextBox 44"/>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5" name="TextBox 45"/>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6" name="TextBox 46"/>
            <p:cNvSpPr txBox="1"/>
            <p:nvPr/>
          </p:nvSpPr>
          <p:spPr>
            <a:xfrm>
              <a:off x="1860804" y="5010150"/>
              <a:ext cx="87368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a:t>
              </a:r>
            </a:p>
          </p:txBody>
        </p:sp>
        <p:sp>
          <p:nvSpPr>
            <p:cNvPr id="47" name="TextBox 47"/>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8" name="TextBox 48"/>
            <p:cNvSpPr txBox="1"/>
            <p:nvPr/>
          </p:nvSpPr>
          <p:spPr>
            <a:xfrm>
              <a:off x="528447" y="5324475"/>
              <a:ext cx="5039296"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서울시 공사장 주변 주·월 1회 탐사(2026) · AI 판독은 서울시도 2020년부터 사용</a:t>
              </a:r>
            </a:p>
          </p:txBody>
        </p:sp>
      </p:grpSp>
      <p:grpSp>
        <p:nvGrpSpPr>
          <p:cNvPr id="71" name="proof"/>
          <p:cNvGrpSpPr/>
          <p:nvPr/>
        </p:nvGrpSpPr>
        <p:grpSpPr>
          <a:xfrm>
            <a:off x="6318885" y="3924300"/>
            <a:ext cx="5339715" cy="1600200"/>
            <a:chOff x="6318885" y="3924300"/>
            <a:chExt cx="5339715" cy="1600200"/>
          </a:xfrm>
        </p:grpSpPr>
        <p:sp>
          <p:nvSpPr>
            <p:cNvPr id="50" name="Rectangle 50"/>
            <p:cNvSpPr/>
            <p:nvPr/>
          </p:nvSpPr>
          <p:spPr>
            <a:xfrm>
              <a:off x="6324600" y="3924300"/>
              <a:ext cx="5334000" cy="28575"/>
            </a:xfrm>
            <a:prstGeom prst="rect">
              <a:avLst/>
            </a:prstGeom>
            <a:solidFill>
              <a:srgbClr val="0B1E3C"/>
            </a:solidFill>
            <a:ln>
              <a:noFill/>
            </a:ln>
          </p:spPr>
        </p:sp>
        <p:sp>
          <p:nvSpPr>
            <p:cNvPr id="51" name="TextBox 51"/>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2" name="TextBox 52"/>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3" name="Rectangle 53"/>
            <p:cNvSpPr/>
            <p:nvPr/>
          </p:nvSpPr>
          <p:spPr>
            <a:xfrm>
              <a:off x="7696200" y="4324350"/>
              <a:ext cx="3267075" cy="142875"/>
            </a:xfrm>
            <a:prstGeom prst="rect">
              <a:avLst/>
            </a:prstGeom>
            <a:solidFill>
              <a:srgbClr val="0B1E3C"/>
            </a:solidFill>
            <a:ln>
              <a:noFill/>
            </a:ln>
          </p:spPr>
        </p:sp>
        <p:sp>
          <p:nvSpPr>
            <p:cNvPr id="54" name="TextBox 54"/>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5" name="TextBox 55"/>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6" name="Rectangle 56"/>
            <p:cNvSpPr/>
            <p:nvPr/>
          </p:nvSpPr>
          <p:spPr>
            <a:xfrm>
              <a:off x="7696200" y="4524375"/>
              <a:ext cx="2790825" cy="142875"/>
            </a:xfrm>
            <a:prstGeom prst="rect">
              <a:avLst/>
            </a:prstGeom>
            <a:solidFill>
              <a:srgbClr val="0B1E3C"/>
            </a:solidFill>
            <a:ln>
              <a:noFill/>
            </a:ln>
          </p:spPr>
        </p:sp>
        <p:sp>
          <p:nvSpPr>
            <p:cNvPr id="57" name="TextBox 57"/>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8" name="TextBox 58"/>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9" name="Rectangle 59"/>
            <p:cNvSpPr/>
            <p:nvPr/>
          </p:nvSpPr>
          <p:spPr>
            <a:xfrm>
              <a:off x="7696200" y="4724400"/>
              <a:ext cx="1552575" cy="142875"/>
            </a:xfrm>
            <a:prstGeom prst="rect">
              <a:avLst/>
            </a:prstGeom>
            <a:solidFill>
              <a:srgbClr val="B45309"/>
            </a:solidFill>
            <a:ln>
              <a:noFill/>
            </a:ln>
          </p:spPr>
        </p:sp>
        <p:sp>
          <p:nvSpPr>
            <p:cNvPr id="60" name="TextBox 60"/>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1" name="TextBox 61"/>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2" name="Rectangle 62"/>
            <p:cNvSpPr/>
            <p:nvPr/>
          </p:nvSpPr>
          <p:spPr>
            <a:xfrm>
              <a:off x="7696200" y="4924425"/>
              <a:ext cx="1143000" cy="142875"/>
            </a:xfrm>
            <a:prstGeom prst="rect">
              <a:avLst/>
            </a:prstGeom>
            <a:solidFill>
              <a:srgbClr val="C62828"/>
            </a:solidFill>
            <a:ln>
              <a:noFill/>
            </a:ln>
          </p:spPr>
        </p:sp>
        <p:sp>
          <p:nvSpPr>
            <p:cNvPr id="63" name="TextBox 63"/>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4" name="TextBox 64"/>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5" name="Rectangle 65"/>
            <p:cNvSpPr/>
            <p:nvPr/>
          </p:nvSpPr>
          <p:spPr>
            <a:xfrm>
              <a:off x="7696200" y="5124450"/>
              <a:ext cx="923925" cy="142875"/>
            </a:xfrm>
            <a:prstGeom prst="rect">
              <a:avLst/>
            </a:prstGeom>
            <a:solidFill>
              <a:srgbClr val="4B5563"/>
            </a:solidFill>
            <a:ln>
              <a:noFill/>
            </a:ln>
          </p:spPr>
        </p:sp>
        <p:sp>
          <p:nvSpPr>
            <p:cNvPr id="66" name="TextBox 66"/>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7" name="TextBox 67"/>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8" name="Rectangle 68"/>
            <p:cNvSpPr/>
            <p:nvPr/>
          </p:nvSpPr>
          <p:spPr>
            <a:xfrm>
              <a:off x="7696200" y="5324475"/>
              <a:ext cx="381000" cy="142875"/>
            </a:xfrm>
            <a:prstGeom prst="rect">
              <a:avLst/>
            </a:prstGeom>
            <a:solidFill>
              <a:srgbClr val="4B5563"/>
            </a:solidFill>
            <a:ln>
              <a:noFill/>
            </a:ln>
          </p:spPr>
        </p:sp>
        <p:sp>
          <p:nvSpPr>
            <p:cNvPr id="69" name="TextBox 69"/>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0" name="Line 70"/>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4" name="conclusion"/>
          <p:cNvGrpSpPr/>
          <p:nvPr/>
        </p:nvGrpSpPr>
        <p:grpSpPr>
          <a:xfrm>
            <a:off x="533400" y="5676900"/>
            <a:ext cx="9170702" cy="419100"/>
            <a:chOff x="533400" y="5676900"/>
            <a:chExt cx="9170702" cy="419100"/>
          </a:xfrm>
        </p:grpSpPr>
        <p:sp>
          <p:nvSpPr>
            <p:cNvPr id="72" name="Rectangle 72"/>
            <p:cNvSpPr/>
            <p:nvPr/>
          </p:nvSpPr>
          <p:spPr>
            <a:xfrm>
              <a:off x="533400" y="5676900"/>
              <a:ext cx="38100" cy="419100"/>
            </a:xfrm>
            <a:prstGeom prst="rect">
              <a:avLst/>
            </a:prstGeom>
            <a:solidFill>
              <a:srgbClr val="F5B700"/>
            </a:solidFill>
            <a:ln>
              <a:noFill/>
            </a:ln>
          </p:spPr>
        </p:sp>
        <p:sp>
          <p:nvSpPr>
            <p:cNvPr id="73" name="TextBox 73"/>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6" name="source"/>
          <p:cNvGrpSpPr/>
          <p:nvPr/>
        </p:nvGrpSpPr>
        <p:grpSpPr>
          <a:xfrm>
            <a:off x="528447" y="6381750"/>
            <a:ext cx="10106309" cy="191643"/>
            <a:chOff x="528447" y="6381750"/>
            <a:chExt cx="10106309" cy="191643"/>
          </a:xfrm>
        </p:grpSpPr>
        <p:sp>
          <p:nvSpPr>
            <p:cNvPr id="75" name="TextBox 75"/>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9" name="footer"/>
          <p:cNvGrpSpPr/>
          <p:nvPr/>
        </p:nvGrpSpPr>
        <p:grpSpPr>
          <a:xfrm>
            <a:off x="528638" y="6610350"/>
            <a:ext cx="11134724" cy="176212"/>
            <a:chOff x="528638" y="6610350"/>
            <a:chExt cx="11134724" cy="176212"/>
          </a:xfrm>
        </p:grpSpPr>
        <p:sp>
          <p:nvSpPr>
            <p:cNvPr id="77" name="TextBox 7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8" name="TextBox 7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
        <p:nvSpPr>
          <p:cNvPr id="81" name="TextBox arrow 81"/>
          <p:cNvSpPr txBox="1"/>
          <p:nvPr/>
        </p:nvSpPr>
        <p:spPr>
          <a:xfrm>
            <a:off x="3318933" y="4362450"/>
            <a:ext cx="18161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82" name="TextBox arrow 82"/>
          <p:cNvSpPr txBox="1"/>
          <p:nvPr/>
        </p:nvSpPr>
        <p:spPr>
          <a:xfrm>
            <a:off x="3318933" y="4686300"/>
            <a:ext cx="18161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83" name="TextBox arrow 83"/>
          <p:cNvSpPr txBox="1"/>
          <p:nvPr/>
        </p:nvSpPr>
        <p:spPr>
          <a:xfrm>
            <a:off x="3318933" y="5010150"/>
            <a:ext cx="18161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184" name="TextBox 184"/>
          <p:cNvSpPr txBox="1"/>
          <p:nvPr/>
        </p:nvSpPr>
        <p:spPr>
          <a:xfrm>
            <a:off x="533400" y="4029075"/>
            <a:ext cx="951763" cy="185737"/>
          </a:xfrm>
          <a:prstGeom prst="rect">
            <a:avLst/>
          </a:prstGeom>
          <a:noFill/>
          <a:ln>
            <a:noFill/>
          </a:ln>
        </p:spPr>
        <p:txBody>
          <a:bodyPr wrap="none" lIns="0" tIns="0" rIns="0" bIns="0" anchor="t" anchorCtr="0">
            <a:spAutoFit/>
          </a:bodyPr>
          <a:lstStyle/>
          <a:p>
            <a:pPr algn="l"/>
            <a:r>
              <a:rPr lang="ko-KR" sz="1125" b="1" dirty="0">
                <a:solidFill>
                  <a:srgbClr val="B45309"/>
                </a:solidFill>
                <a:latin typeface="+mn-lt"/>
                <a:ea typeface="+mn-ea"/>
                <a:cs typeface="+mn-cs"/>
              </a:rPr>
              <a:t xml:space="preserve">무엇이 새로운가</a:t>
            </a:r>
          </a:p>
        </p:txBody>
      </p:sp>
      <p:sp>
        <p:nvSpPr>
          <p:cNvPr id="185" name="TextBox 185"/>
          <p:cNvSpPr txBox="1"/>
          <p:nvPr/>
        </p:nvSpPr>
        <p:spPr>
          <a:xfrm>
            <a:off x="1866900" y="4029075"/>
            <a:ext cx="261162" cy="185737"/>
          </a:xfrm>
          <a:prstGeom prst="rect">
            <a:avLst/>
          </a:prstGeom>
          <a:noFill/>
          <a:ln>
            <a:noFill/>
          </a:ln>
        </p:spPr>
        <p:txBody>
          <a:bodyPr wrap="none" lIns="0" tIns="0" rIns="0" bIns="0" anchor="t" anchorCtr="0">
            <a:spAutoFit/>
          </a:bodyPr>
          <a:lstStyle/>
          <a:p>
            <a:pPr algn="l"/>
            <a:r>
              <a:rPr lang="ko-KR" sz="1125" dirty="0">
                <a:solidFill>
                  <a:srgbClr val="4B5563"/>
                </a:solidFill>
                <a:latin typeface="+mn-lt"/>
                <a:ea typeface="+mn-ea"/>
                <a:cs typeface="+mn-cs"/>
              </a:rPr>
              <a:t xml:space="preserve">기존</a:t>
            </a:r>
          </a:p>
        </p:txBody>
      </p:sp>
      <p:sp>
        <p:nvSpPr>
          <p:cNvPr id="186" name="TextBox 186"/>
          <p:cNvSpPr txBox="1"/>
          <p:nvPr/>
        </p:nvSpPr>
        <p:spPr>
          <a:xfrm>
            <a:off x="3771900" y="4029075"/>
            <a:ext cx="988110" cy="185737"/>
          </a:xfrm>
          <a:prstGeom prst="rect">
            <a:avLst/>
          </a:prstGeom>
          <a:noFill/>
          <a:ln>
            <a:noFill/>
          </a:ln>
        </p:spPr>
        <p:txBody>
          <a:bodyPr wrap="none" lIns="0" tIns="0" rIns="0" bIns="0" anchor="t" anchorCtr="0">
            <a:spAutoFit/>
          </a:bodyPr>
          <a:lstStyle/>
          <a:p>
            <a:pPr algn="l"/>
            <a:r>
              <a:rPr lang="ko-KR" sz="1125" b="1" dirty="0">
                <a:solidFill>
                  <a:srgbClr val="0B1E3C"/>
                </a:solidFill>
                <a:latin typeface="+mn-lt"/>
                <a:ea typeface="+mn-ea"/>
                <a:cs typeface="+mn-cs"/>
              </a:rPr>
              <a:t xml:space="preserve">GroundWatch</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322446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 · 적재고 419mm</a:t>
              </a:r>
            </a:p>
          </p:txBody>
        </p:sp>
        <p:sp>
          <p:nvSpPr>
            <p:cNvPr id="41" name="TextBox 41"/>
            <p:cNvSpPr txBox="1"/>
            <p:nvPr/>
          </p:nvSpPr>
          <p:spPr>
            <a:xfrm>
              <a:off x="8242935" y="2127250"/>
              <a:ext cx="340629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기준 · 장비 약 300kg [가설] · 카트 바로 하차</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871442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969727" cy="264033"/>
            <a:chOff x="526542" y="1339850"/>
            <a:chExt cx="10969727" cy="264033"/>
          </a:xfrm>
        </p:grpSpPr>
        <p:sp>
          <p:nvSpPr>
            <p:cNvPr id="19" name="TextBox 19"/>
            <p:cNvSpPr txBox="1"/>
            <p:nvPr/>
          </p:nvSpPr>
          <p:spPr>
            <a:xfrm>
              <a:off x="526542" y="1339850"/>
              <a:ext cx="10746676"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됩니다(7장).</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4453890"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73" name="source"/>
          <p:cNvGrpSpPr/>
          <p:nvPr/>
        </p:nvGrpSpPr>
        <p:grpSpPr>
          <a:xfrm>
            <a:off x="528447" y="6248400"/>
            <a:ext cx="10362768" cy="344043"/>
            <a:chOff x="528447" y="6248400"/>
            <a:chExt cx="10362768" cy="344043"/>
          </a:xfrm>
        </p:grpSpPr>
        <p:sp>
          <p:nvSpPr>
            <p:cNvPr id="72" name="TextBox 72"/>
            <p:cNvSpPr txBox="1"/>
            <p:nvPr/>
          </p:nvSpPr>
          <p:spPr>
            <a:xfrm>
              <a:off x="528447" y="6248400"/>
              <a:ext cx="11266741"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PBV 컨버전 포털·컨버전 센터·PIM·조인트 블록) · 공모전 솔루션 부문 안내(Pleos Connect SDK·앱 마켓) · 기아 PV5 카고 카탈로그(2026.9, Pleos Fleet·적재고)</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적재고 495mm) · GSSI UtilityScan 브로셔(카트 무게) · 스타리아 일렉트릭 출시(2026.4.23) · 시사저널(2025.4.25, GPR 대당 2억~8억 원) · 공공부문 무공해차 구매 실적(2026.6.30)</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cxnSp>
        <p:nvCxnSpPr>
          <p:cNvPr id="888" name="Line 888"/>
          <p:cNvCxnSpPr/>
          <p:nvPr/>
        </p:nvCxnSpPr>
        <p:spPr>
          <a:xfrm>
            <a:off x="533400" y="2723198"/>
            <a:ext cx="11125200" cy="0"/>
          </a:xfrm>
          <a:prstGeom prst="line">
            <a:avLst/>
          </a:prstGeom>
          <a:ln w="19050">
            <a:solidFill>
              <a:srgbClr val="F5B700"/>
            </a:solidFill>
            <a:prstDash val="dash"/>
          </a:ln>
        </p:spPr>
      </p:cxnSp>
      <p:pic>
        <p:nvPicPr>
          <p:cNvPr id="889" name="Image 889" descr="PV5 실루엣(도식)"/>
          <p:cNvPicPr>
            <a:picLocks noChangeAspect="1"/>
          </p:cNvPicPr>
          <p:nvPr/>
        </p:nvPicPr>
        <p:blipFill>
          <a:blip r:embed="rId7"/>
          <a:stretch>
            <a:fillRect/>
          </a:stretch>
        </p:blipFill>
        <p:spPr>
          <a:xfrm>
            <a:off x="666750" y="1649730"/>
            <a:ext cx="2857500" cy="1215390"/>
          </a:xfrm>
          <a:prstGeom prst="rect">
            <a:avLst/>
          </a:prstGeom>
        </p:spPr>
      </p:pic>
      <p:sp>
        <p:nvSpPr>
          <p:cNvPr id="890" name="TextBox 890"/>
          <p:cNvSpPr txBox="1"/>
          <p:nvPr/>
        </p:nvSpPr>
        <p:spPr>
          <a:xfrm>
            <a:off x="1927860" y="2952750"/>
            <a:ext cx="355396" cy="198120"/>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 xml:space="preserve">1호차</a:t>
            </a:r>
          </a:p>
        </p:txBody>
      </p:sp>
      <p:sp>
        <p:nvSpPr>
          <p:cNvPr id="891" name="TextBox 891"/>
          <p:cNvSpPr txBox="1"/>
          <p:nvPr/>
        </p:nvSpPr>
        <p:spPr>
          <a:xfrm>
            <a:off x="1645284" y="3152775"/>
            <a:ext cx="954455" cy="185737"/>
          </a:xfrm>
          <a:prstGeom prst="rect">
            <a:avLst/>
          </a:prstGeom>
          <a:noFill/>
          <a:ln>
            <a:noFill/>
          </a:ln>
        </p:spPr>
        <p:txBody>
          <a:bodyPr wrap="none" lIns="0" tIns="0" rIns="0" bIns="0" anchor="t" anchorCtr="0">
            <a:spAutoFit/>
          </a:bodyPr>
          <a:lstStyle/>
          <a:p>
            <a:pPr algn="l"/>
            <a:r>
              <a:rPr lang="ko-KR" sz="1125" dirty="0">
                <a:solidFill>
                  <a:srgbClr val="4B5563"/>
                </a:solidFill>
                <a:latin typeface="+mn-lt"/>
                <a:ea typeface="+mn-ea"/>
                <a:cs typeface="+mn-cs"/>
              </a:rPr>
              <a:t xml:space="preserve">같은 노선을 6회</a:t>
            </a:r>
          </a:p>
        </p:txBody>
      </p:sp>
      <p:sp>
        <p:nvSpPr>
          <p:cNvPr id="892" name="TextBox 892"/>
          <p:cNvSpPr txBox="1"/>
          <p:nvPr/>
        </p:nvSpPr>
        <p:spPr>
          <a:xfrm>
            <a:off x="3894455" y="2171700"/>
            <a:ext cx="224815" cy="421005"/>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 xml:space="preserve">=</a:t>
            </a:r>
          </a:p>
        </p:txBody>
      </p:sp>
      <p:pic>
        <p:nvPicPr>
          <p:cNvPr id="893" name="Image 893" descr="PV5 실루엣(도식)"/>
          <p:cNvPicPr>
            <a:picLocks noChangeAspect="1"/>
          </p:cNvPicPr>
          <p:nvPr/>
        </p:nvPicPr>
        <p:blipFill>
          <a:blip r:embed="rId7"/>
          <a:stretch>
            <a:fillRect/>
          </a:stretch>
        </p:blipFill>
        <p:spPr>
          <a:xfrm>
            <a:off x="4476750" y="1649730"/>
            <a:ext cx="2857500" cy="1215390"/>
          </a:xfrm>
          <a:prstGeom prst="rect">
            <a:avLst/>
          </a:prstGeom>
        </p:spPr>
      </p:pic>
      <p:sp>
        <p:nvSpPr>
          <p:cNvPr id="894" name="TextBox 894"/>
          <p:cNvSpPr txBox="1"/>
          <p:nvPr/>
        </p:nvSpPr>
        <p:spPr>
          <a:xfrm>
            <a:off x="5405120" y="2952750"/>
            <a:ext cx="1060805" cy="198120"/>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 xml:space="preserve">예비차·재배치 차</a:t>
            </a:r>
          </a:p>
        </p:txBody>
      </p:sp>
      <p:sp>
        <p:nvSpPr>
          <p:cNvPr id="895" name="TextBox 895"/>
          <p:cNvSpPr txBox="1"/>
          <p:nvPr/>
        </p:nvSpPr>
        <p:spPr>
          <a:xfrm>
            <a:off x="5215890" y="3152775"/>
            <a:ext cx="1461973" cy="185737"/>
          </a:xfrm>
          <a:prstGeom prst="rect">
            <a:avLst/>
          </a:prstGeom>
          <a:noFill/>
          <a:ln>
            <a:noFill/>
          </a:ln>
        </p:spPr>
        <p:txBody>
          <a:bodyPr wrap="none" lIns="0" tIns="0" rIns="0" bIns="0" anchor="t" anchorCtr="0">
            <a:spAutoFit/>
          </a:bodyPr>
          <a:lstStyle/>
          <a:p>
            <a:pPr algn="l"/>
            <a:r>
              <a:rPr lang="ko-KR" sz="1125" dirty="0">
                <a:solidFill>
                  <a:srgbClr val="4B5563"/>
                </a:solidFill>
                <a:latin typeface="+mn-lt"/>
                <a:ea typeface="+mn-ea"/>
                <a:cs typeface="+mn-cs"/>
              </a:rPr>
              <a:t xml:space="preserve">정비·교체·노선 재배치 때</a:t>
            </a:r>
          </a:p>
        </p:txBody>
      </p:sp>
      <p:sp>
        <p:nvSpPr>
          <p:cNvPr id="896" name="TextBox 896"/>
          <p:cNvSpPr txBox="1"/>
          <p:nvPr/>
        </p:nvSpPr>
        <p:spPr>
          <a:xfrm>
            <a:off x="7704455" y="2171700"/>
            <a:ext cx="224815" cy="421005"/>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 xml:space="preserve">=</a:t>
            </a:r>
          </a:p>
        </p:txBody>
      </p:sp>
      <p:pic>
        <p:nvPicPr>
          <p:cNvPr id="897" name="Image 897" descr="PV5 실루엣(도식)"/>
          <p:cNvPicPr>
            <a:picLocks noChangeAspect="1"/>
          </p:cNvPicPr>
          <p:nvPr/>
        </p:nvPicPr>
        <p:blipFill>
          <a:blip r:embed="rId7"/>
          <a:stretch>
            <a:fillRect/>
          </a:stretch>
        </p:blipFill>
        <p:spPr>
          <a:xfrm>
            <a:off x="8286750" y="1649730"/>
            <a:ext cx="2857500" cy="1215390"/>
          </a:xfrm>
          <a:prstGeom prst="rect">
            <a:avLst/>
          </a:prstGeom>
        </p:spPr>
      </p:pic>
      <p:sp>
        <p:nvSpPr>
          <p:cNvPr id="898" name="TextBox 898"/>
          <p:cNvSpPr txBox="1"/>
          <p:nvPr/>
        </p:nvSpPr>
        <p:spPr>
          <a:xfrm>
            <a:off x="9267190" y="2952750"/>
            <a:ext cx="950417" cy="198120"/>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 xml:space="preserve">다른 도시 PV5</a:t>
            </a:r>
          </a:p>
        </p:txBody>
      </p:sp>
      <p:sp>
        <p:nvSpPr>
          <p:cNvPr id="899" name="TextBox 899"/>
          <p:cNvSpPr txBox="1"/>
          <p:nvPr/>
        </p:nvSpPr>
        <p:spPr>
          <a:xfrm>
            <a:off x="8885555" y="3152775"/>
            <a:ext cx="1759483" cy="185737"/>
          </a:xfrm>
          <a:prstGeom prst="rect">
            <a:avLst/>
          </a:prstGeom>
          <a:noFill/>
          <a:ln>
            <a:noFill/>
          </a:ln>
        </p:spPr>
        <p:txBody>
          <a:bodyPr wrap="none" lIns="0" tIns="0" rIns="0" bIns="0" anchor="t" anchorCtr="0">
            <a:spAutoFit/>
          </a:bodyPr>
          <a:lstStyle/>
          <a:p>
            <a:pPr algn="l"/>
            <a:r>
              <a:rPr lang="ko-KR" sz="1125" dirty="0">
                <a:solidFill>
                  <a:srgbClr val="4B5563"/>
                </a:solidFill>
                <a:latin typeface="+mn-lt"/>
                <a:ea typeface="+mn-ea"/>
                <a:cs typeface="+mn-cs"/>
              </a:rPr>
              <a:t xml:space="preserve">같은 판독 기준·AI 학습 데이터</a:t>
            </a:r>
          </a:p>
        </p:txBody>
      </p:sp>
      <p:sp>
        <p:nvSpPr>
          <p:cNvPr id="900" name="TextBox 900"/>
          <p:cNvSpPr txBox="1"/>
          <p:nvPr/>
        </p:nvSpPr>
        <p:spPr>
          <a:xfrm>
            <a:off x="10678160" y="2847022"/>
            <a:ext cx="1039266" cy="160972"/>
          </a:xfrm>
          <a:prstGeom prst="rect">
            <a:avLst/>
          </a:prstGeom>
          <a:noFill/>
          <a:ln>
            <a:noFill/>
          </a:ln>
        </p:spPr>
        <p:txBody>
          <a:bodyPr wrap="none" lIns="0" tIns="0" rIns="0" bIns="0" anchor="t" anchorCtr="0">
            <a:spAutoFit/>
          </a:bodyPr>
          <a:lstStyle/>
          <a:p>
            <a:pPr algn="l"/>
            <a:r>
              <a:rPr lang="ko-KR" sz="975" b="1" dirty="0">
                <a:solidFill>
                  <a:srgbClr val="B45309"/>
                </a:solidFill>
                <a:latin typeface="+mn-lt"/>
                <a:ea typeface="+mn-ea"/>
                <a:cs typeface="+mn-cs"/>
              </a:rPr>
              <a:t xml:space="preserve">GPR 높이·위치 동일</a:t>
            </a:r>
          </a:p>
        </p:txBody>
      </p:sp>
      <p:sp>
        <p:nvSpPr>
          <p:cNvPr id="901" name="TextBox 901"/>
          <p:cNvSpPr txBox="1"/>
          <p:nvPr/>
        </p:nvSpPr>
        <p:spPr>
          <a:xfrm>
            <a:off x="533400" y="3495675"/>
            <a:ext cx="6597726" cy="210502"/>
          </a:xfrm>
          <a:prstGeom prst="rect">
            <a:avLst/>
          </a:prstGeom>
          <a:noFill/>
          <a:ln>
            <a:noFill/>
          </a:ln>
        </p:spPr>
        <p:txBody>
          <a:bodyPr wrap="none" lIns="0" tIns="0" rIns="0" bIns="0" anchor="t" anchorCtr="0">
            <a:spAutoFit/>
          </a:bodyPr>
          <a:lstStyle/>
          <a:p>
            <a:pPr algn="l"/>
            <a:r>
              <a:rPr lang="ko-KR" sz="1275" b="1" dirty="0">
                <a:solidFill>
                  <a:srgbClr val="0B1E3C"/>
                </a:solidFill>
                <a:latin typeface="+mn-lt"/>
                <a:ea typeface="+mn-ea"/>
                <a:cs typeface="+mn-cs"/>
              </a:rPr>
              <a:t xml:space="preserve">주행선 차이는 RTK·IMU로 맞추고(11장), 차마다 다른 장착 조건은 </a:t>
            </a:r>
            <a:r>
              <a:rPr lang="ko-KR" sz="1275" b="1" dirty="0">
                <a:solidFill>
                  <a:srgbClr val="B45309"/>
                </a:solidFill>
                <a:latin typeface="+mn-lt"/>
                <a:ea typeface="+mn-ea"/>
                <a:cs typeface="+mn-cs"/>
              </a:rPr>
              <a:t xml:space="preserve">PV5 표준 컨버전으로 맞춥니다.</a:t>
            </a:r>
          </a:p>
        </p:txBody>
      </p:sp>
      <p:sp>
        <p:nvSpPr>
          <p:cNvPr id="902" name="Rectangle 902"/>
          <p:cNvSpPr/>
          <p:nvPr/>
        </p:nvSpPr>
        <p:spPr>
          <a:xfrm>
            <a:off x="533400" y="3848100"/>
            <a:ext cx="2609850" cy="28575"/>
          </a:xfrm>
          <a:prstGeom prst="rect">
            <a:avLst/>
          </a:prstGeom>
          <a:solidFill>
            <a:srgbClr val="0B1E3C"/>
          </a:solidFill>
          <a:ln>
            <a:noFill/>
          </a:ln>
        </p:spPr>
      </p:sp>
      <p:sp>
        <p:nvSpPr>
          <p:cNvPr id="903" name="Rectangle 903"/>
          <p:cNvSpPr/>
          <p:nvPr/>
        </p:nvSpPr>
        <p:spPr>
          <a:xfrm>
            <a:off x="3371850" y="3848100"/>
            <a:ext cx="2609850" cy="28575"/>
          </a:xfrm>
          <a:prstGeom prst="rect">
            <a:avLst/>
          </a:prstGeom>
          <a:solidFill>
            <a:srgbClr val="0B1E3C"/>
          </a:solidFill>
          <a:ln>
            <a:noFill/>
          </a:ln>
        </p:spPr>
      </p:sp>
      <p:sp>
        <p:nvSpPr>
          <p:cNvPr id="904" name="Rectangle 904"/>
          <p:cNvSpPr/>
          <p:nvPr/>
        </p:nvSpPr>
        <p:spPr>
          <a:xfrm>
            <a:off x="6210300" y="3848100"/>
            <a:ext cx="2609850" cy="28575"/>
          </a:xfrm>
          <a:prstGeom prst="rect">
            <a:avLst/>
          </a:prstGeom>
          <a:solidFill>
            <a:srgbClr val="0B1E3C"/>
          </a:solidFill>
          <a:ln>
            <a:noFill/>
          </a:ln>
        </p:spPr>
      </p:sp>
      <p:sp>
        <p:nvSpPr>
          <p:cNvPr id="905" name="Rectangle 905"/>
          <p:cNvSpPr/>
          <p:nvPr/>
        </p:nvSpPr>
        <p:spPr>
          <a:xfrm>
            <a:off x="9048750" y="3848100"/>
            <a:ext cx="2609850" cy="28575"/>
          </a:xfrm>
          <a:prstGeom prst="rect">
            <a:avLst/>
          </a:prstGeom>
          <a:solidFill>
            <a:srgbClr val="0B1E3C"/>
          </a:solidFill>
          <a:ln>
            <a:noFill/>
          </a:ln>
        </p:spPr>
      </p:sp>
      <p:sp>
        <p:nvSpPr>
          <p:cNvPr id="906" name="TextBox 906"/>
          <p:cNvSpPr txBox="1"/>
          <p:nvPr/>
        </p:nvSpPr>
        <p:spPr>
          <a:xfrm>
            <a:off x="533400" y="3952875"/>
            <a:ext cx="1296390" cy="235267"/>
          </a:xfrm>
          <a:prstGeom prst="rect">
            <a:avLst/>
          </a:prstGeom>
          <a:noFill/>
          <a:ln>
            <a:noFill/>
          </a:ln>
        </p:spPr>
        <p:txBody>
          <a:bodyPr wrap="none" lIns="0" tIns="0" rIns="0" bIns="0" anchor="t" anchorCtr="0">
            <a:spAutoFit/>
          </a:bodyPr>
          <a:lstStyle/>
          <a:p>
            <a:pPr algn="l"/>
            <a:r>
              <a:rPr lang="ko-KR" sz="1425" b="1" dirty="0">
                <a:solidFill>
                  <a:srgbClr val="0B1E3C"/>
                </a:solidFill>
                <a:latin typeface="+mn-lt"/>
                <a:ea typeface="+mn-ea"/>
                <a:cs typeface="+mn-cs"/>
              </a:rPr>
              <a:t xml:space="preserve">PBV 컨버전 포털</a:t>
            </a:r>
          </a:p>
        </p:txBody>
      </p:sp>
      <p:sp>
        <p:nvSpPr>
          <p:cNvPr id="907" name="TextBox 907"/>
          <p:cNvSpPr txBox="1"/>
          <p:nvPr/>
        </p:nvSpPr>
        <p:spPr>
          <a:xfrm>
            <a:off x="533400" y="4229100"/>
            <a:ext cx="1409471"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3D 데이터·인증자료로</a:t>
            </a:r>
          </a:p>
        </p:txBody>
      </p:sp>
      <p:sp>
        <p:nvSpPr>
          <p:cNvPr id="908" name="TextBox 908"/>
          <p:cNvSpPr txBox="1"/>
          <p:nvPr/>
        </p:nvSpPr>
        <p:spPr>
          <a:xfrm>
            <a:off x="533400" y="4438650"/>
            <a:ext cx="1558899"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모든 차에 같은 위치 장착</a:t>
            </a:r>
          </a:p>
        </p:txBody>
      </p:sp>
      <p:sp>
        <p:nvSpPr>
          <p:cNvPr id="909" name="TextBox 909"/>
          <p:cNvSpPr txBox="1"/>
          <p:nvPr/>
        </p:nvSpPr>
        <p:spPr>
          <a:xfrm>
            <a:off x="3371850" y="3952875"/>
            <a:ext cx="1355623" cy="235267"/>
          </a:xfrm>
          <a:prstGeom prst="rect">
            <a:avLst/>
          </a:prstGeom>
          <a:noFill/>
          <a:ln>
            <a:noFill/>
          </a:ln>
        </p:spPr>
        <p:txBody>
          <a:bodyPr wrap="none" lIns="0" tIns="0" rIns="0" bIns="0" anchor="t" anchorCtr="0">
            <a:spAutoFit/>
          </a:bodyPr>
          <a:lstStyle/>
          <a:p>
            <a:pPr algn="l"/>
            <a:r>
              <a:rPr lang="ko-KR" sz="1425" b="1" dirty="0">
                <a:solidFill>
                  <a:srgbClr val="0B1E3C"/>
                </a:solidFill>
                <a:latin typeface="+mn-lt"/>
                <a:ea typeface="+mn-ea"/>
                <a:cs typeface="+mn-cs"/>
              </a:rPr>
              <a:t xml:space="preserve">PIM · 조인트 블록</a:t>
            </a:r>
          </a:p>
        </p:txBody>
      </p:sp>
      <p:sp>
        <p:nvSpPr>
          <p:cNvPr id="910" name="TextBox 910"/>
          <p:cNvSpPr txBox="1"/>
          <p:nvPr/>
        </p:nvSpPr>
        <p:spPr>
          <a:xfrm>
            <a:off x="3371850" y="4229100"/>
            <a:ext cx="2126996"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차속 신호로 같은 간격 기록</a:t>
            </a:r>
            <a:r>
              <a:rPr lang="ko-KR" sz="1200" dirty="0">
                <a:solidFill>
                  <a:srgbClr val="4B5563"/>
                </a:solidFill>
                <a:latin typeface="+mn-lt"/>
                <a:ea typeface="+mn-ea"/>
                <a:cs typeface="+mn-cs"/>
              </a:rPr>
              <a:t xml:space="preserve"> (제안)</a:t>
            </a:r>
          </a:p>
        </p:txBody>
      </p:sp>
      <p:sp>
        <p:nvSpPr>
          <p:cNvPr id="911" name="TextBox 911"/>
          <p:cNvSpPr txBox="1"/>
          <p:nvPr/>
        </p:nvSpPr>
        <p:spPr>
          <a:xfrm>
            <a:off x="3371850" y="4438650"/>
            <a:ext cx="1697558"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외부 장비 전원도 차가 제어</a:t>
            </a:r>
          </a:p>
        </p:txBody>
      </p:sp>
      <p:sp>
        <p:nvSpPr>
          <p:cNvPr id="912" name="TextBox 912"/>
          <p:cNvSpPr txBox="1"/>
          <p:nvPr/>
        </p:nvSpPr>
        <p:spPr>
          <a:xfrm>
            <a:off x="6210300" y="3952875"/>
            <a:ext cx="1671980" cy="235267"/>
          </a:xfrm>
          <a:prstGeom prst="rect">
            <a:avLst/>
          </a:prstGeom>
          <a:noFill/>
          <a:ln>
            <a:noFill/>
          </a:ln>
        </p:spPr>
        <p:txBody>
          <a:bodyPr wrap="none" lIns="0" tIns="0" rIns="0" bIns="0" anchor="t" anchorCtr="0">
            <a:spAutoFit/>
          </a:bodyPr>
          <a:lstStyle/>
          <a:p>
            <a:pPr algn="l"/>
            <a:r>
              <a:rPr lang="ko-KR" sz="1425" b="1" dirty="0">
                <a:solidFill>
                  <a:srgbClr val="0B1E3C"/>
                </a:solidFill>
                <a:latin typeface="+mn-lt"/>
                <a:ea typeface="+mn-ea"/>
                <a:cs typeface="+mn-cs"/>
              </a:rPr>
              <a:t xml:space="preserve">Pleos Fleet · 앱 마켓</a:t>
            </a:r>
          </a:p>
        </p:txBody>
      </p:sp>
      <p:sp>
        <p:nvSpPr>
          <p:cNvPr id="913" name="TextBox 913"/>
          <p:cNvSpPr txBox="1"/>
          <p:nvPr/>
        </p:nvSpPr>
        <p:spPr>
          <a:xfrm>
            <a:off x="6210300" y="4229100"/>
            <a:ext cx="2199690"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여러 도시가 같은 앱·같은 기준으로,</a:t>
            </a:r>
          </a:p>
        </p:txBody>
      </p:sp>
      <p:sp>
        <p:nvSpPr>
          <p:cNvPr id="914" name="TextBox 914"/>
          <p:cNvSpPr txBox="1"/>
          <p:nvPr/>
        </p:nvSpPr>
        <p:spPr>
          <a:xfrm>
            <a:off x="6210300" y="4438650"/>
            <a:ext cx="1378508"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단말기 없이 차량 관제</a:t>
            </a:r>
          </a:p>
        </p:txBody>
      </p:sp>
      <p:sp>
        <p:nvSpPr>
          <p:cNvPr id="915" name="TextBox 915"/>
          <p:cNvSpPr txBox="1"/>
          <p:nvPr/>
        </p:nvSpPr>
        <p:spPr>
          <a:xfrm>
            <a:off x="9048750" y="3952875"/>
            <a:ext cx="1215618" cy="235267"/>
          </a:xfrm>
          <a:prstGeom prst="rect">
            <a:avLst/>
          </a:prstGeom>
          <a:noFill/>
          <a:ln>
            <a:noFill/>
          </a:ln>
        </p:spPr>
        <p:txBody>
          <a:bodyPr wrap="none" lIns="0" tIns="0" rIns="0" bIns="0" anchor="t" anchorCtr="0">
            <a:spAutoFit/>
          </a:bodyPr>
          <a:lstStyle/>
          <a:p>
            <a:pPr algn="l"/>
            <a:r>
              <a:rPr lang="ko-KR" sz="1425" b="1" dirty="0">
                <a:solidFill>
                  <a:srgbClr val="0B1E3C"/>
                </a:solidFill>
                <a:latin typeface="+mn-lt"/>
                <a:ea typeface="+mn-ea"/>
                <a:cs typeface="+mn-cs"/>
              </a:rPr>
              <a:t xml:space="preserve">적재고 419mm</a:t>
            </a:r>
          </a:p>
        </p:txBody>
      </p:sp>
      <p:sp>
        <p:nvSpPr>
          <p:cNvPr id="916" name="TextBox 916"/>
          <p:cNvSpPr txBox="1"/>
          <p:nvPr/>
        </p:nvSpPr>
        <p:spPr>
          <a:xfrm>
            <a:off x="9048750" y="4229100"/>
            <a:ext cx="1697558"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승인된 지점을 다음 순찰 때</a:t>
            </a:r>
          </a:p>
        </p:txBody>
      </p:sp>
      <p:sp>
        <p:nvSpPr>
          <p:cNvPr id="917" name="TextBox 917"/>
          <p:cNvSpPr txBox="1"/>
          <p:nvPr/>
        </p:nvSpPr>
        <p:spPr>
          <a:xfrm>
            <a:off x="9048750" y="4438650"/>
            <a:ext cx="2222576" cy="198120"/>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같은 차에서 재탐사</a:t>
            </a:r>
            <a:r>
              <a:rPr lang="ko-KR" sz="1200" dirty="0">
                <a:solidFill>
                  <a:srgbClr val="4B5563"/>
                </a:solidFill>
                <a:latin typeface="+mn-lt"/>
                <a:ea typeface="+mn-ea"/>
                <a:cs typeface="+mn-cs"/>
              </a:rPr>
              <a:t xml:space="preserve"> (ST1 495mm)</a:t>
            </a:r>
          </a:p>
        </p:txBody>
      </p:sp>
      <p:sp>
        <p:nvSpPr>
          <p:cNvPr id="918" name="TextBox 918"/>
          <p:cNvSpPr txBox="1"/>
          <p:nvPr/>
        </p:nvSpPr>
        <p:spPr>
          <a:xfrm>
            <a:off x="533400" y="4886325"/>
            <a:ext cx="9361474" cy="185737"/>
          </a:xfrm>
          <a:prstGeom prst="rect">
            <a:avLst/>
          </a:prstGeom>
          <a:noFill/>
          <a:ln>
            <a:noFill/>
          </a:ln>
        </p:spPr>
        <p:txBody>
          <a:bodyPr wrap="none" lIns="0" tIns="0" rIns="0" bIns="0" anchor="t" anchorCtr="0">
            <a:spAutoFit/>
          </a:bodyPr>
          <a:lstStyle/>
          <a:p>
            <a:pPr algn="l"/>
            <a:r>
              <a:rPr lang="ko-KR" sz="1125" b="1" dirty="0">
                <a:solidFill>
                  <a:srgbClr val="374151"/>
                </a:solidFill>
                <a:latin typeface="+mn-lt"/>
                <a:ea typeface="+mn-ea"/>
                <a:cs typeface="+mn-cs"/>
              </a:rPr>
              <a:t xml:space="preserve">기본 조건</a:t>
            </a:r>
            <a:r>
              <a:rPr lang="ko-KR" sz="1125" dirty="0">
                <a:solidFill>
                  <a:srgbClr val="4B5563"/>
                </a:solidFill>
                <a:latin typeface="+mn-lt"/>
                <a:ea typeface="+mn-ea"/>
                <a:cs typeface="+mn-cs"/>
              </a:rPr>
              <a:t xml:space="preserve">  전기차라 새벽에 조용하고, 2025년 공공 신차의 94.6%가 무공해차입니다. V2L·L-Track·적재공간은 다른 밴에도 있어 선택 이유로 삼지 않았습니다.</a:t>
            </a:r>
          </a:p>
        </p:txBody>
      </p:sp>
      <p:sp>
        <p:nvSpPr>
          <p:cNvPr id="919" name="TextBox 919"/>
          <p:cNvSpPr txBox="1"/>
          <p:nvPr/>
        </p:nvSpPr>
        <p:spPr>
          <a:xfrm>
            <a:off x="533400" y="5095875"/>
            <a:ext cx="10014381" cy="185737"/>
          </a:xfrm>
          <a:prstGeom prst="rect">
            <a:avLst/>
          </a:prstGeom>
          <a:noFill/>
          <a:ln>
            <a:noFill/>
          </a:ln>
        </p:spPr>
        <p:txBody>
          <a:bodyPr wrap="none" lIns="0" tIns="0" rIns="0" bIns="0" anchor="t" anchorCtr="0">
            <a:spAutoFit/>
          </a:bodyPr>
          <a:lstStyle/>
          <a:p>
            <a:pPr algn="l"/>
            <a:r>
              <a:rPr lang="ko-KR" sz="1125" b="1" dirty="0">
                <a:solidFill>
                  <a:srgbClr val="374151"/>
                </a:solidFill>
                <a:latin typeface="+mn-lt"/>
                <a:ea typeface="+mn-ea"/>
                <a:cs typeface="+mn-cs"/>
              </a:rPr>
              <a:t xml:space="preserve">불리한 점</a:t>
            </a:r>
            <a:r>
              <a:rPr lang="ko-KR" sz="1125" dirty="0">
                <a:solidFill>
                  <a:srgbClr val="4B5563"/>
                </a:solidFill>
                <a:latin typeface="+mn-lt"/>
                <a:ea typeface="+mn-ea"/>
                <a:cs typeface="+mn-cs"/>
              </a:rPr>
              <a:t xml:space="preserve">  주행거리 377km는 스타리아보다 10km 짧지만 하루 약 30km [가설]에는 충분합니다. 차값 차이(최대 1,354만 원)는 GPR(대당 2억~8억 원)에 비해 작습니다.</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410297" cy="2671128"/>
            <a:chOff x="526542" y="2571750"/>
            <a:chExt cx="5410297"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40915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28765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지금 · 현행 전체 공정 1회 (천공·복구 포함 가격)</a:t>
              </a:r>
            </a:p>
          </p:txBody>
        </p:sp>
        <p:sp>
          <p:nvSpPr>
            <p:cNvPr id="49" name="Rectangle 49"/>
            <p:cNvSpPr/>
            <p:nvPr/>
          </p:nvSpPr>
          <p:spPr>
            <a:xfrm>
              <a:off x="6324600" y="3276600"/>
              <a:ext cx="3427307" cy="323850"/>
            </a:xfrm>
            <a:prstGeom prst="rect">
              <a:avLst/>
            </a:prstGeom>
            <a:solidFill>
              <a:srgbClr val="9AA3AF"/>
            </a:solidFill>
            <a:ln>
              <a:noFill/>
            </a:ln>
          </p:spPr>
        </p:sp>
        <p:sp>
          <p:nvSpPr>
            <p:cNvPr id="50" name="TextBox 50"/>
            <p:cNvSpPr txBox="1"/>
            <p:nvPr/>
          </p:nvSpPr>
          <p:spPr>
            <a:xfrm>
              <a:off x="9839960"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91121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GroundWatch를 더하면 · 반복 탐사 6회 원가 (4.7만 원 × 6회)</a:t>
              </a:r>
            </a:p>
          </p:txBody>
        </p:sp>
        <p:sp>
          <p:nvSpPr>
            <p:cNvPr id="65" name="Rectangle gw-base"/>
            <p:cNvSpPr/>
            <p:nvPr/>
          </p:nvSpPr>
          <p:spPr>
            <a:xfrm>
              <a:off x="6324600" y="4019550"/>
              <a:ext cx="3427307" cy="323850"/>
            </a:xfrm>
            <a:prstGeom prst="rect">
              <a:avLst/>
            </a:prstGeom>
            <a:solidFill>
              <a:srgbClr val="9AA3AF"/>
            </a:solidFill>
            <a:ln>
              <a:noFill/>
            </a:ln>
          </p:spPr>
        </p:sp>
        <p:sp>
          <p:nvSpPr>
            <p:cNvPr id="52" name="Rectangle 52"/>
            <p:cNvSpPr/>
            <p:nvPr/>
          </p:nvSpPr>
          <p:spPr>
            <a:xfrm>
              <a:off x="9751907" y="4019550"/>
              <a:ext cx="1043093" cy="323850"/>
            </a:xfrm>
            <a:prstGeom prst="rect">
              <a:avLst/>
            </a:prstGeom>
            <a:solidFill>
              <a:srgbClr val="0B1E3C"/>
            </a:solidFill>
            <a:ln>
              <a:noFill/>
            </a:ln>
          </p:spPr>
        </p:sp>
        <p:sp>
          <p:nvSpPr>
            <p:cNvPr id="53" name="TextBox 53"/>
            <p:cNvSpPr txBox="1"/>
            <p:nvPr/>
          </p:nvSpPr>
          <p:spPr>
            <a:xfrm>
              <a:off x="10883053" y="4083050"/>
              <a:ext cx="678904"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a:t>
              </a:r>
            </a:p>
          </p:txBody>
        </p:sp>
        <p:sp>
          <p:nvSpPr>
            <p:cNvPr id="54" name="TextBox 54"/>
            <p:cNvSpPr txBox="1"/>
            <p:nvPr/>
          </p:nvSpPr>
          <p:spPr>
            <a:xfrm>
              <a:off x="6318504" y="4514850"/>
              <a:ext cx="358419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첫 회차가 현행 1차 탐사를 대신하면 실제 추가분은 더 작고,</a:t>
              </a:r>
            </a:p>
          </p:txBody>
        </p:sp>
        <p:sp>
          <p:nvSpPr>
            <p:cNvPr id="55" name="TextBox 55"/>
            <p:cNvSpPr txBox="1"/>
            <p:nvPr/>
          </p:nvSpPr>
          <p:spPr>
            <a:xfrm>
              <a:off x="6318504" y="4743450"/>
              <a:ext cx="324539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천공·복구는 변화가 나온 곳에만 지금 단가로 붙습니다</a:t>
              </a:r>
            </a:p>
          </p:txBody>
        </p:sp>
      </p:grpSp>
      <p:grpSp>
        <p:nvGrpSpPr>
          <p:cNvPr id="59" name="conclusion"/>
          <p:cNvGrpSpPr/>
          <p:nvPr/>
        </p:nvGrpSpPr>
        <p:grpSpPr>
          <a:xfrm>
            <a:off x="533400" y="5676900"/>
            <a:ext cx="6654466" cy="419100"/>
            <a:chOff x="533400" y="5676900"/>
            <a:chExt cx="6654466"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07089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전체 공정 비용에 약 30%를 더하면, 1년에 한 번 보던 길을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
        <p:nvSpPr>
          <p:cNvPr id="66" name="TextBox km-basis"/>
          <p:cNvSpPr txBox="1"/>
          <p:nvPr/>
        </p:nvSpPr>
        <p:spPr>
          <a:xfrm>
            <a:off x="6318673" y="5022850"/>
            <a:ext cx="438605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km는 탐사 연장(차량 1회 주행) 기준 · 가격과 원가는 빼지 않고 더해서 봅니다</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2123796"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조사기관 (판정·책임)</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250760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PV5 최대 약 88대 (계산)</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88대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40억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
        <p:nvSpPr>
          <p:cNvPr id="66" name="TextBox gate 1"/>
          <p:cNvSpPr txBox="1"/>
          <p:nvPr/>
        </p:nvSpPr>
        <p:spPr>
          <a:xfrm>
            <a:off x="7002780" y="3362113"/>
            <a:ext cx="4206240" cy="201168"/>
          </a:xfrm>
          <a:prstGeom prst="rect">
            <a:avLst/>
          </a:prstGeom>
          <a:noFill/>
        </p:spPr>
        <p:txBody>
          <a:bodyPr wrap="square" lIns="0" tIns="0" rIns="0" bIns="0" anchor="t">
            <a:spAutoFit/>
          </a:bodyPr>
          <a:lstStyle/>
          <a:p>
            <a:pPr algn="l"/>
            <a:r>
              <a:rPr sz="1050" b="1">
                <a:solidFill>
                  <a:srgbClr val="B45309"/>
                </a:solidFill>
              </a:rPr>
              <a:t>통과 조건 </a:t>
            </a:r>
            <a:r>
              <a:rPr sz="1050" b="0">
                <a:solidFill>
                  <a:srgbClr val="4B5563"/>
                </a:solidFill>
              </a:rPr>
              <a:t>실증확인서·용역 실적 확보</a:t>
            </a:r>
          </a:p>
        </p:txBody>
      </p:sp>
      <p:sp>
        <p:nvSpPr>
          <p:cNvPr id="67" name="TextBox gate 2"/>
          <p:cNvSpPr txBox="1"/>
          <p:nvPr/>
        </p:nvSpPr>
        <p:spPr>
          <a:xfrm>
            <a:off x="7002780" y="3895513"/>
            <a:ext cx="4206240" cy="201168"/>
          </a:xfrm>
          <a:prstGeom prst="rect">
            <a:avLst/>
          </a:prstGeom>
          <a:noFill/>
        </p:spPr>
        <p:txBody>
          <a:bodyPr wrap="square" lIns="0" tIns="0" rIns="0" bIns="0" anchor="t">
            <a:spAutoFit/>
          </a:bodyPr>
          <a:lstStyle/>
          <a:p>
            <a:pPr algn="l"/>
            <a:r>
              <a:rPr sz="1050" b="1">
                <a:solidFill>
                  <a:srgbClr val="B45309"/>
                </a:solidFill>
              </a:rPr>
              <a:t>통과 조건 </a:t>
            </a:r>
            <a:r>
              <a:rPr sz="1050" b="0">
                <a:solidFill>
                  <a:srgbClr val="4B5563"/>
                </a:solidFill>
              </a:rPr>
              <a:t>자치구 2곳 연간 계약 [목표]</a:t>
            </a:r>
          </a:p>
        </p:txBody>
      </p:sp>
      <p:sp>
        <p:nvSpPr>
          <p:cNvPr id="68" name="TextBox gate 3"/>
          <p:cNvSpPr txBox="1"/>
          <p:nvPr/>
        </p:nvSpPr>
        <p:spPr>
          <a:xfrm>
            <a:off x="7002780" y="4428913"/>
            <a:ext cx="4206240" cy="201168"/>
          </a:xfrm>
          <a:prstGeom prst="rect">
            <a:avLst/>
          </a:prstGeom>
          <a:noFill/>
        </p:spPr>
        <p:txBody>
          <a:bodyPr wrap="square" lIns="0" tIns="0" rIns="0" bIns="0" anchor="t">
            <a:spAutoFit/>
          </a:bodyPr>
          <a:lstStyle/>
          <a:p>
            <a:pPr algn="l"/>
            <a:r>
              <a:rPr sz="1050" b="1">
                <a:solidFill>
                  <a:srgbClr val="B45309"/>
                </a:solidFill>
              </a:rPr>
              <a:t>목표 </a:t>
            </a:r>
            <a:r>
              <a:rPr sz="1050" b="0">
                <a:solidFill>
                  <a:srgbClr val="4B5563"/>
                </a:solidFill>
              </a:rPr>
              <a:t>광역지자체 PV5 플릿 구매</a:t>
            </a:r>
          </a:p>
        </p:txBody>
      </p:sp>
      <p:sp>
        <p:nvSpPr>
          <p:cNvPr id="69" name="TextBox revenue"/>
          <p:cNvSpPr txBox="1"/>
          <p:nvPr/>
        </p:nvSpPr>
        <p:spPr>
          <a:xfrm>
            <a:off x="7004473" y="5118947"/>
            <a:ext cx="3970635" cy="220028"/>
          </a:xfrm>
          <a:prstGeom prst="rect">
            <a:avLst/>
          </a:prstGeom>
          <a:noFill/>
          <a:ln>
            <a:noFill/>
          </a:ln>
        </p:spPr>
        <p:txBody>
          <a:bodyPr wrap="none" lIns="0" tIns="0" rIns="0" bIns="0" anchor="t" anchorCtr="0">
            <a:spAutoFit/>
          </a:bodyPr>
          <a:lstStyle/>
          <a:p>
            <a:pPr algn="l"/>
            <a:r>
              <a:rPr lang="ko-KR" sz="1120" dirty="0" b="1">
                <a:solidFill>
                  <a:srgbClr val="374151"/>
                </a:solidFill>
                <a:latin typeface="+mn-lt"/>
                <a:ea typeface="+mn-ea"/>
                <a:cs typeface="+mn-cs"/>
              </a:rPr>
              <a:t>매출 </a:t>
            </a:r>
            <a:r>
              <a:rPr lang="ko-KR" sz="1120" dirty="0">
                <a:solidFill>
                  <a:srgbClr val="374151"/>
                </a:solidFill>
                <a:latin typeface="+mn-lt"/>
                <a:ea typeface="+mn-ea"/>
                <a:cs typeface="+mn-cs"/>
              </a:rPr>
              <a:t>파일럿 용역 → 연간 반복관제 → PV5 탐사실 패키지</a:t>
            </a:r>
          </a:p>
        </p:txBody>
      </p:sp>
      <p:sp>
        <p:nvSpPr>
          <p:cNvPr id="70" name="TextBox pricing"/>
          <p:cNvSpPr txBox="1"/>
          <p:nvPr/>
        </p:nvSpPr>
        <p:spPr>
          <a:xfrm>
            <a:off x="7004473" y="5328920"/>
            <a:ext cx="1775092" cy="220028"/>
          </a:xfrm>
          <a:prstGeom prst="rect">
            <a:avLst/>
          </a:prstGeom>
          <a:noFill/>
          <a:ln>
            <a:noFill/>
          </a:ln>
        </p:spPr>
        <p:txBody>
          <a:bodyPr wrap="none" lIns="0" tIns="0" rIns="0" bIns="0" anchor="t" anchorCtr="0">
            <a:spAutoFit/>
          </a:bodyPr>
          <a:lstStyle/>
          <a:p>
            <a:pPr algn="l"/>
            <a:r>
              <a:rPr lang="ko-KR" sz="1120" dirty="0" b="1">
                <a:solidFill>
                  <a:srgbClr val="374151"/>
                </a:solidFill>
                <a:latin typeface="+mn-lt"/>
                <a:ea typeface="+mn-ea"/>
                <a:cs typeface="+mn-cs"/>
              </a:rPr>
              <a:t>가격 </a:t>
            </a:r>
            <a:r>
              <a:rPr lang="ko-KR" sz="1120" dirty="0">
                <a:solidFill>
                  <a:srgbClr val="374151"/>
                </a:solidFill>
                <a:latin typeface="+mn-lt"/>
                <a:ea typeface="+mn-ea"/>
                <a:cs typeface="+mn-cs"/>
              </a:rPr>
              <a:t>구간 km·재확인 건수 기준</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2026-10-23T08:11:50Z</dcterms:created>
  <dcterms:modified xsi:type="dcterms:W3CDTF">2026-10-23T08:11:50Z</dcterms:modified>
  <cp:category/>
  <cp:contentStatus/>
</cp:coreProperties>
</file>