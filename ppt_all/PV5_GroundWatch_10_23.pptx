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Default Extension="jpg" ContentType="image/jpeg"/>
  <Default Extension="png" ContentType="image/png"/>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7.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Override PartName="/ppt/theme/theme2.xml" ContentType="application/vnd.openxmlformats-officedocument.theme+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p="http://schemas.openxmlformats.org/presentationml/2006/main" xmlns:r="http://schemas.openxmlformats.org/officeDocument/2006/relationships" saveSubsetFonts="1" autoCompressPictures="0">
  <p:sldMasterIdLst>
    <p:sldMasterId id="2147483648" r:id="rId1"/>
  </p:sldMasterIdLst>
  <p:notesMasterIdLst>
    <p:notesMasterId r:id="rId22"/>
  </p:notes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Lst>
  <p:sldSz cx="12192000" cy="6858000" type="screen16x9"/>
  <p:notesSz cx="6858000" cy="9144000"/>
  <p:defaultTextStyle>
    <a:defPPr>
      <a:defRPr lang="ko-KR"/>
    </a:defPPr>
    <a:lvl1pPr marL="0" algn="l" defTabSz="457200" rtl="0" eaLnBrk="1" latinLnBrk="0" hangingPunct="1">
      <a:defRPr sz="1800" kern="1200" lang="ko-KR">
        <a:solidFill>
          <a:schemeClr val="tx1"/>
        </a:solidFill>
        <a:latin typeface="+mn-lt"/>
        <a:ea typeface="+mn-ea"/>
        <a:cs typeface="+mn-cs"/>
      </a:defRPr>
    </a:lvl1pPr>
    <a:lvl2pPr marL="457200" algn="l" defTabSz="457200" rtl="0" eaLnBrk="1" latinLnBrk="0" hangingPunct="1">
      <a:defRPr sz="1800" kern="1200" lang="ko-KR">
        <a:solidFill>
          <a:schemeClr val="tx1"/>
        </a:solidFill>
        <a:latin typeface="+mn-lt"/>
        <a:ea typeface="+mn-ea"/>
        <a:cs typeface="+mn-cs"/>
      </a:defRPr>
    </a:lvl2pPr>
    <a:lvl3pPr marL="914400" algn="l" defTabSz="457200" rtl="0" eaLnBrk="1" latinLnBrk="0" hangingPunct="1">
      <a:defRPr sz="1800" kern="1200" lang="ko-KR">
        <a:solidFill>
          <a:schemeClr val="tx1"/>
        </a:solidFill>
        <a:latin typeface="+mn-lt"/>
        <a:ea typeface="+mn-ea"/>
        <a:cs typeface="+mn-cs"/>
      </a:defRPr>
    </a:lvl3pPr>
    <a:lvl4pPr marL="1371600" algn="l" defTabSz="457200" rtl="0" eaLnBrk="1" latinLnBrk="0" hangingPunct="1">
      <a:defRPr sz="1800" kern="1200" lang="ko-KR">
        <a:solidFill>
          <a:schemeClr val="tx1"/>
        </a:solidFill>
        <a:latin typeface="+mn-lt"/>
        <a:ea typeface="+mn-ea"/>
        <a:cs typeface="+mn-cs"/>
      </a:defRPr>
    </a:lvl4pPr>
    <a:lvl5pPr marL="1828800" algn="l" defTabSz="457200" rtl="0" eaLnBrk="1" latinLnBrk="0" hangingPunct="1">
      <a:defRPr sz="1800" kern="1200" lang="ko-KR">
        <a:solidFill>
          <a:schemeClr val="tx1"/>
        </a:solidFill>
        <a:latin typeface="+mn-lt"/>
        <a:ea typeface="+mn-ea"/>
        <a:cs typeface="+mn-cs"/>
      </a:defRPr>
    </a:lvl5pPr>
    <a:lvl6pPr marL="2286000" algn="l" defTabSz="457200" rtl="0" eaLnBrk="1" latinLnBrk="0" hangingPunct="1">
      <a:defRPr sz="1800" kern="1200" lang="ko-KR">
        <a:solidFill>
          <a:schemeClr val="tx1"/>
        </a:solidFill>
        <a:latin typeface="+mn-lt"/>
        <a:ea typeface="+mn-ea"/>
        <a:cs typeface="+mn-cs"/>
      </a:defRPr>
    </a:lvl6pPr>
    <a:lvl7pPr marL="2743200" algn="l" defTabSz="457200" rtl="0" eaLnBrk="1" latinLnBrk="0" hangingPunct="1">
      <a:defRPr sz="1800" kern="1200" lang="ko-KR">
        <a:solidFill>
          <a:schemeClr val="tx1"/>
        </a:solidFill>
        <a:latin typeface="+mn-lt"/>
        <a:ea typeface="+mn-ea"/>
        <a:cs typeface="+mn-cs"/>
      </a:defRPr>
    </a:lvl7pPr>
    <a:lvl8pPr marL="3200400" algn="l" defTabSz="457200" rtl="0" eaLnBrk="1" latinLnBrk="0" hangingPunct="1">
      <a:defRPr sz="1800" kern="1200" lang="ko-KR">
        <a:solidFill>
          <a:schemeClr val="tx1"/>
        </a:solidFill>
        <a:latin typeface="+mn-lt"/>
        <a:ea typeface="+mn-ea"/>
        <a:cs typeface="+mn-cs"/>
      </a:defRPr>
    </a:lvl8pPr>
    <a:lvl9pPr marL="3657600" algn="l" defTabSz="457200" rtl="0" eaLnBrk="1" latinLnBrk="0" hangingPunct="1">
      <a:defRPr sz="1800" kern="1200" lang="ko-KR">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  <Relationship Id="rId22" Type="http://schemas.openxmlformats.org/officeDocument/2006/relationships/notesMaster" Target="notesMasters/notesMaster1.xml"/>
</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2.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a:lstStyle/>
          <a:p>
            <a:pPr/>
            <a:endParaRPr lang="ko-KR"/>
          </a:p>
        </p:txBody>
      </p:sp>
      <p:sp>
        <p:nvSpPr>
          <p:cNvPr id="3" name="Date Placeholder 2"/>
          <p:cNvSpPr>
            <a:spLocks noGrp="1"/>
          </p:cNvSpPr>
          <p:nvPr>
            <p:ph type="dt" sz="half" idx="1"/>
          </p:nvPr>
        </p:nvSpPr>
        <p:spPr>
          <a:xfrm>
            <a:off x="3884613" y="0"/>
            <a:ext cx="2971800" cy="457200"/>
          </a:xfrm>
          <a:prstGeom prst="rect">
            <a:avLst/>
          </a:prstGeom>
        </p:spPr>
        <p:txBody>
          <a:bodyPr/>
          <a:lstStyle/>
          <a:p>
            <a:pPr/>
            <a:endParaRPr lang="ko-KR"/>
          </a:p>
        </p:txBody>
      </p:sp>
      <p:sp>
        <p:nvSpPr>
          <p:cNvPr id="4" name="Slide Image Placeholder 3"/>
          <p:cNvSpPr>
            <a:spLocks noGrp="1" noRot="1" noChangeAspect="1"/>
          </p:cNvSpPr>
          <p:nvPr>
            <p:ph type="sldImg" idx="2"/>
          </p:nvPr>
        </p:nvSpPr>
        <p:spPr>
          <a:xfrm>
            <a:off x="1143000" y="685800"/>
            <a:ext cx="4572000" cy="3429000"/>
          </a:xfrm>
          <a:prstGeom prst="rect">
            <a:avLst/>
          </a:prstGeom>
        </p:spPr>
      </p:sp>
      <p:sp>
        <p:nvSpPr>
          <p:cNvPr id="5" name="Notes Placeholder 4"/>
          <p:cNvSpPr>
            <a:spLocks noGrp="1"/>
          </p:cNvSpPr>
          <p:nvPr>
            <p:ph type="body" sz="quarter" idx="3"/>
          </p:nvPr>
        </p:nvSpPr>
        <p:spPr>
          <a:xfrm>
            <a:off x="685800" y="4343400"/>
            <a:ext cx="5486400" cy="4114800"/>
          </a:xfrm>
          <a:prstGeom prst="rect">
            <a:avLst/>
          </a:prstGeom>
        </p:spPr>
        <p:txBody>
          <a:bodyPr/>
          <a:lstStyle/>
          <a:p>
            <a:pPr/>
            <a:endParaRPr lang="ko-KR"/>
          </a:p>
        </p:txBody>
      </p:sp>
      <p:sp>
        <p:nvSpPr>
          <p:cNvPr id="6" name="Footer Placeholder 5"/>
          <p:cNvSpPr>
            <a:spLocks noGrp="1"/>
          </p:cNvSpPr>
          <p:nvPr>
            <p:ph type="ftr" sz="quarter" idx="4"/>
          </p:nvPr>
        </p:nvSpPr>
        <p:spPr>
          <a:xfrm>
            <a:off x="0" y="8685213"/>
            <a:ext cx="2971800" cy="457200"/>
          </a:xfrm>
          <a:prstGeom prst="rect">
            <a:avLst/>
          </a:prstGeom>
        </p:spPr>
        <p:txBody>
          <a:bodyPr/>
          <a:lstStyle/>
          <a:p>
            <a:pPr/>
            <a:endParaRPr lang="ko-KR"/>
          </a:p>
        </p:txBody>
      </p:sp>
      <p:sp>
        <p:nvSpPr>
          <p:cNvPr id="7" name="Slide Number Placeholder 6"/>
          <p:cNvSpPr>
            <a:spLocks noGrp="1"/>
          </p:cNvSpPr>
          <p:nvPr>
            <p:ph type="sldNum" sz="quarter" idx="5"/>
          </p:nvPr>
        </p:nvSpPr>
        <p:spPr>
          <a:xfrm>
            <a:off x="3884613" y="8685213"/>
            <a:ext cx="2971800" cy="457200"/>
          </a:xfrm>
          <a:prstGeom prst="rect">
            <a:avLst/>
          </a:prstGeom>
        </p:spPr>
        <p:txBody>
          <a:bodyPr/>
          <a:lstStyle/>
          <a:p>
            <a:pPr/>
            <a:endParaRPr lang="ko-KR"/>
          </a:p>
        </p:txBody>
      </p:sp>
    </p:spTree>
  </p:cSld>
  <p:clrMap bg1="lt1" tx1="dk1" bg2="lt2" tx2="dk2" accent1="accent1" accent2="accent2" accent3="accent3" accent4="accent4" accent5="accent5" accent6="accent6" hlink="hlink" folHlink="folHlink"/>
  <p:hf/>
  <p:notesStyle>
    <a:lvl1pPr marL="0" algn="l">
      <a:defRPr sz="1200" lang="ko-KR"/>
    </a:lvl1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a:r>
              <a:rPr lang="ko-KR" dirty="0"/>
              <a:t>제5회 기아 PBV 아이디어 공모전 일반 부문에 PV5 GroundWatch, PV5 지하안전 순찰차를 제안합니다. 지표투과레이더(GPR)로 같은 길을 반복해서 보고, 구멍이 되기 전의 변화를 찾습니다. 표지는 새벽 한강변 도로를 순찰하는 PV5와 도로 아래 GPR 탐사를 표현한 PV5 기반 콘셉트 이미지입니다.</a:t>
            </a: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a:r>
              <a:rPr lang="ko-KR" dirty="0"/>
              <a:t>한 장으로 요약합니다. 문제는 2024년 연희동처럼 GPR 탐사에서 '이상 없음'이 나온 도로가 100여 일 뒤 무너지는 일, 즉 법정 점검 5년, 서울시 1년이라는 탐사와 탐사 사이의 공백입니다. 해법은 PV5가 같은 길을 약 2개월마다 GPR로 다시 찍고, AI가 지난 회차와 달라진 곳만 골라 전문가가 승인하면 작업자가 현장에서 재확인하는 것입니다. PV5는 차량 내비·화면과 탐사 장비를 연동하고, V2L·L-Track으로 싣고 고정하며, 공식 컨버전 체계로 같은 탐사실을 복제합니다. 사업은 현행 단가(서울시 2024년 공동조사 km당 약 92만 원)와 비교해, 반복 탐사 원가 km당 약 4.7만 원으로 같은 길을 1년에 6번 보는 구조입니다. GroundWatch는 기아 공모전이 공공서비스 특화 예시로 든 '첨단 장비 탑재 스마트 순찰 및 재난 대응 차량'(컨버전 부문 예시, kiapbvidea.com)을 땅 아래로 넓힌 제안입니다.</a:t>
            </a: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a:r>
              <a:rPr lang="ko-KR" dirty="0"/>
              <a:t>2024년 8월 29일 서울 서대문구 연희동 성산로에서 가로 6m, 세로 4m, 깊이 2.5m 땅꺼짐에 차량이 빠져 조수석 동승자가 숨지고 운전자가 크게 다쳤습니다. 이 구간은 같은 해 5월 7일부터 16일까지 탐사차량 2대와 인력 16명이 투입된 정기 GPR 탐사에서 빈 공간이 발견되지 않았습니다. 탐사가 틀린 것이 아니라, 한 번의 탐사는 그 시점만 말해 준다는 뜻입니다. 출처: 뉴시스 2024.8.30(https://www.newsis.com/view/NISX20240830_0002869815), 아시아경제 2024.8.30, 세계일보 2025.9.25(https://www.segye.com/newsView/20250925503464). 지도는 OpenStreetMap이며 정확한 지점이 보도되지 않아 성산로 연희동 구간으로 표시했습니다.</a:t>
            </a:r>
          </a:p>
          <a:p>
            <a:pPr/>
            <a:r>
              <a:rPr lang="ko-KR" dirty="0"/>
              <a:t>사고 원인은 서울시가 경사지 매립층, 지하수위 변화, 지하매설물, 주변 공사가 겹친 복합 요인으로 발표했고 하나로 확정되지 않았습니다. 그래서 이 사례는 '그 사이에 무슨 일이 있었는지 기록이 없다'는 공백의 근거로만 씁니다.</a:t>
            </a: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a:r>
              <a:rPr lang="ko-KR" dirty="0"/>
              <a:t>서울시는 이미 대규모로 GPR 탐사를 하고 있습니다. 2014년부터 2025년 9월까지 차량 GPR로 누적 33,129km를 탐사해 공동 7,760개를 찾았고, 약 4.3km마다 공동 하나가 나온 셈입니다(메트로신문 2025.10.19 https://www.metroseoul.co.kr/article/20251019500165). 2026년에는 탐사 범위를 16,423km로 늘리고 GPR 인력을 9명에서 19명으로 늘립니다(머니투데이 2026.3.23 https://www.mt.co.kr/estate/2026/03/23/2026032311394354905). 차량탑재형 GPR은 한 번에 폭 3m 이내를 탐지합니다(서울시 https://news.seoul.go.kr/safe/archives/41339). 지금의 흐름은 조사 대상 선정, 차량형 GPR 스캔, 판독, 수동 GPR 재조사, 천공·내시경 확인, 복구 순서입니다. GPR 기술은 이미 검증돼 있습니다. GroundWatch가 바꾸는 것은 한 번 스캔하고 끝나는 방식이며, 같은 길은 다음 정기점검 때가 돼야 다시 봅니다. 사진은 수동형 GPR 장비 예시로, The Charles Machine Works의 CC BY-SA 2.0 사진에서 배경만 도심 도로로 편집했습니다.</a:t>
            </a: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a:r>
              <a:rPr lang="ko-KR" dirty="0"/>
              <a:t>지하안전법상 지하시설물관리자의 GPR 공동조사 주기는 5년에 1회 이상입니다. 서울시는 2025년 4월 정기점검 주기를 5년에서 1년으로 줄이겠다고 발표했습니다(이투데이 2025.4.23). 그래도 연희동은 탐사에서 함몰까지 100여 일이었습니다. 일본 국토교통성 위탁연구(도쿄대 桑野玲子 교수 대표, 지오서치 참여, 2018~2020)는 실제 도로 모니터링에서 지하 1.64m 합류식 하수관(Φ800) 위 공동이 급격히 자란 것을 확인했고, 토사 유출 조건이 갖춰지면 종래 생각보다 단기간에 공동이 성장할 가능성을 보고했습니다(https://www.mlit.go.jp/road/tech/hyouka/r1/30-5_gaiyou.pdf). 그래서 맹점은 탐사 자체가 아니라 탐사와 탐사 사이입니다. 연희동 공동을 5월 탐사가 놓쳤는지, 그 뒤에 생겼는지는 한 번의 탐사 결과로는 구분할 수 없습니다. 어느 쪽이든 회차를 비교하면 작은 신호가 커지는 과정이 드러납니다.</a:t>
            </a: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a:r>
              <a:rPr lang="ko-KR" dirty="0"/>
              <a:t>땅꺼짐은 깊이에 따라 막는 방법이 다릅니다. 전국 지반침하 867건(2020~2024) 가운데 394건, 45.4%가 하수관 손상 때문이었습니다(국토교통부 통계, 한경비즈니스 2025.4.15 https://magazine.hankyung.com/business/article/202504151399b). 하수관이 새면 흙이 쓸려 나가 공동이 먼저 생기고, 공동이 자라는 동안 도로 표면은 멀쩡해 보입니다. 이 얕은 공동은 차량형 GPR(탐사 깊이 약 2m)로 함몰 전에 찾을 수 있습니다. 반면 명일동 사고는 심층풍화대에서 불연속면 3개가 교차해 만든 쐐기형 토체가 미끄러진 심부 붕괴였고, 터널 공사로 지하수위가 약 3m에서 26m까지 낮아진 것과 노후 하수관 누수, 지보 성능 한계가 간접 원인이었습니다(국토교통부 사조위, 2025.12.3). 이런 깊은 붕괴는 지표 GPR로 확인하기 어렵고 공사장 계측과 지반조사가 맡습니다. 그래서 GroundWatch는 명일동 사고를 막을 수 있었다고 말하지 않습니다. 반대로 깊이 2.5m였던 연희동 같은 얕은 함몰이 우리의 대상입니다. 우리의 대상은 원인 1위인 얕은 공동이고, 한 번의 탐사가 아니라 회차 사이의 변화로 찾습니다. 단면도는 원리 설명용 도식이며 깊이 비례가 아닙니다.</a:t>
            </a:r>
          </a:p>
          <a:p>
            <a:pPr/>
            <a:r>
              <a:rPr lang="ko-KR" dirty="0"/>
              <a:t>연희동처럼 한 번의 탐사에서 보이지 않던 공동도, 탐지 한계 아래였거나 탐사 뒤에 생겨 자랐을 수 있습니다. 그래서 한 번의 판독이 아니라 회차 사이의 변화를 봅니다. 단면도는 원리 설명용 3D 도식이며 깊이 비례가 아닙니다.</a:t>
            </a: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a:r>
              <a:rPr lang="ko-KR" dirty="0"/>
              <a:t>GroundWatch는 네 단계가 반복되는 구조입니다. PV5가 교통량이 적은 새벽에 같은 경로를 약 2개월마다 반복 주행하며 GPR과 카메라 데이터를 함께 모으고, 위치·깊이·시간 기준으로 4D 지도에 저장합니다. 회차 간 위치를 맞춘 차분으로 달라진 곳을 고르고(이 장의 시뮬레이션으로 검증), AI는 그 신호가 공동인지 배관인지 유형을 분류하며, 전문가가 원시 데이터를 보고 승인하고, 승인된 지점만 다음 순찰에서 AR 글래스와 수동 GPR로 다시 확인합니다. 필요하면 관계기관 승인과 교통통제 후 천공·내시경으로 최종 확인합니다. 확인과 보수 결과는 다시 지도에 저장돼 다음 순찰과 AI 검증에 쓰입니다. AI는 검토 순서를 정할 뿐 공동을 확정하지 않습니다. 위 세 화면은 2D 전자기 시뮬레이션으로 계산한 회차별 GPR 단면(B-scan)과, 위치를 맞춰 뺀 차이입니다. GroundWatch의 새로운 점은 장비가 아니라 변화를 판정하는 방법입니다. 일본 후지사와시는 지오서치와 함께 이미 발견한 공동 중 위험도가 낮은 것을 경과관찰하며 모니터링합니다(지오서치·후지사와시 보고, https://www.city.fujisawa.kanagawa.jp/documents/34128/20250822174442.pdf). 일본 국토교통성 연구(30-5)는 후쿠오카시와 후지사와시에 노선을 정해 3개월마다 공동 모니터링을 했고 공동 성장 속도의 실측값을 얻었습니다(https://www.mlit.go.jp/road/tech/hyouka/h30/30-5_houkoku.pdf). GroundWatch는 이를 연구 노선이 아니라 업무 노선 전체로, 이미 발견된 공동이 아니라 '이상 없음' 구간까지 넓혀, 지난 회차와 위치를 맞춰 뺀 차이만 판독하고, 같은 차에서 바로 재탐사하는 상시 업무로 만듭니다. 방법이 동작하는지 2D 전자기 파동 시뮬레이션(FDTD)으로 확인했습니다. 400MHz 안테나, 토양 비유전율 9, 지름 0.8m 하수관 위 반경 18cm 공동을 기준 회차로 두고, 공동이 5cm·10cm·20cm 자란 회차와 공동은 그대로인데 잡음·재포장·함수비 변화·주행선 8cm 어긋남만 있는 대조 회차를 계산했습니다. 같은 처리(배경 제거, 위치 정합, 차분)를 거친 변화 신호 세기를 가장 큰 오탐 요인 기준 1로 나타내면, 20cm 성장 2.9, 10cm 2.4, 5cm 1.4였고 오탐 요인은 주행선 8cm 1.0, 함수비 0.8, 재포장 0.3, 잡음 0.1이었습니다. 10cm 이상 자란 공동은 오탐 요인보다 2배 넘는 신호로 구분되지만 5cm는 경계이며, 가장 큰 오탐 요인이 주행선 어긋남이므로 회차 간 위치 정합이 1순위 실증 과제입니다. 이것은 시뮬레이션이며 실측이 아닙니다. 계산 코드는 build/fdtd_sweep.py와 build/sweep_eval.py에 있습니다.</a:t>
            </a: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a:r>
              <a:rPr lang="ko-KR" dirty="0"/>
              <a:t>재확인 업무는 클라우드, PV5 Patrol 앱, Edge Gateway, AR 글래스, 수동 GPR로 이어집니다. 차량 앱은 업무와 경로를, 게이트웨이는 센서 동기화와 로컬 통신을, AR 글래스는 현장 위치 정합과 탐사 안내를 맡습니다. 이렇게 나누면 차량 API 접근이 일부 막혀도 GPR과 AR 기능 전체가 멈추지 않습니다. AR 글래스는 차량 화면의 단순 미러링이 아니라 보안 Wi-Fi로 작업 데이터만 주고받습니다. 현장은 2인 1조로, 한 명은 운전과 주변 교통 확인·안전통제를, 한 명은 GPR·AR 글래스와 현장 판독을 맡습니다. 태블릿이 아니라 AR 글래스인 이유는 수동 GPR을 두 손으로 밀어야 하기 때문입니다. 장비는 RealWear Navigator 520(제조사 판매가 US$3,750)급 산업용 헤드셋을 기준으로 하며, 2024년 단종된 HoloLens 2는 쓰지 않습니다. AR 글래스는 차량이 정차한 뒤 차 밖의 작업자만 쓰고, 맨홀·차선·경계석·RTK 중 두세 가지로 위치를 맞춘 뒤 공동의 모양이 아니라 수동 GPR로 다시 볼 범위만 표시합니다. 화면의 AI 신뢰도는 검토 우선순위를 위한 값이고, 현장에 표시되는 지점은 전문가가 승인한 지점입니다. PV5는 Android Automotive OS 기반 PBV 전용 인포테인먼트와 Pleos App Market을 지원하며, 앱 배포와 차량 데이터 접근은 기아 PBV 파트너 승인과 공식 API 범위 확인이 필요합니다(https://eu-www.kia.com/uk/pbv/solutions/software/). 운전석 화면은 PV5 실내 사진(Alexander Migl, CC BY-SA 4.0)에 화면을 합성한 예시이고, AR 도로 장면은 연출 이미지이며 수치는 예시입니다.</a:t>
            </a: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a:r>
              <a:rPr lang="ko-KR" dirty="0"/>
              <a:t>PV5는 탐사 장비를 싣고, 켜고, 고정하고, 여러 대에 복제하는 구조를 차량과 기아 순정 액세서리로 제공합니다. 카고룸은 4,420L이고 롱레인지 3도어의 최대 적재는 기본 600kg, 기아 순정 액세서리 장착 시 550kg입니다(기아 공식 제원표)(기아 국내 제원 https://www.kia.com/kr/vehicles/pv5-cargo/specification). 실내·실외 V2L로 GPR 제어부와 엣지 PC를 상시 구동하고 AR 글래스와 수동 GPR을 현장에서 충전합니다. V2L 최대 출력 3.6kW는 해외(독일·호주) 공개 제원이며 국내 공식 kW 수치는 확인 중입니다. L-Track과 몰리 패널은 기아 순정 액세서리(선택 사양)로, 장비를 회차마다 같은 위치에 고정해 반복 측정 환경을 유지하는 데 씁니다. 플렉시블 바디는 표준 차체에 모듈을 조합하는 방식으로(현대차그룹 PV5 테크 데이 2025.7.23), GPR 탐사 키트도 같은 방식으로 표준화하는 것이 저희 제안입니다. 두 번째 사진은 PV5 실내 사진(Alexander Migl, CC BY-SA 4.0)의 디스플레이에 장비 전원 화면을 합성한 예시로, 장비별 전력 합계 1.2kW와 배터리 86%에서 30% 하한까지 약 12시간 운용은 주행 약 2kWh/h와 장비 1.2kW를 가정한 값입니다. 1·3번은 장비 배치도 확대(콘셉트), 4번은 PV5 카고 실차 사진(Alexander Migl, CC BY-SA 4.0)입니다. 화물실 전방에는 Edge Gateway와 엣지 AI 컴퓨터, GPR 제어장치를, 측면에는 수동 GPR과 AR 글래스, RTK 이동국을, 후방에는 내시경과 안전 장비를 둡니다. 롱 카고룸은 2,255×1,565×1,520mm, 적재고는 419mm입니다. 차량형 다채널 GPR은 두 가지 장착안을 검토합니다. 배치도처럼 후륜 주변 차체 하부에 다는 하부형과, 표지처럼 뒷범퍼 뒤 프레임에 다는 후방 장착형입니다. PV5는 앞뒤 바퀴 사이 바닥 아래에 배터리 팩이 있으므로 지상고와 배터리 팩·구동계 간섭을 시험해 하나로 확정합니다. 적재·전력 예산은 가설입니다. 장비 합계 약 300kg으로 순정 액세서리 장착 기준 최대 적재 550kg의 약 55%, 장비 소비전력 1.5kW 이하로 V2L 최대 출력(해외 제원 3.6kW) 안, 하루 3시간·시속 10km 순찰(약 30km)과 장비 전력을 합쳐 약 10kWh로 배터리 71.2kWh의 약 14%입니다. 수동 GPR 카트 무게는 GSSI UtilityScan Pro 브로셔의 60~75lb(약 27~34kg, 카트에 따라 다름)를 참고했습니다. 총중량·축하중·전자파 간섭·구조변경 승인은 실증이 필요합니다. 배치도는 PV5 기반 콘셉트 이미지입니다. 다른 밴에 장비를 싣는 것과 달리 PV5에서는 차가 탐사 업무의 일부가 됩니다. 근거는 기아가 공개한 기능입니다. 공모전 솔루션 부문 안내에 따르면 Pleos Connect SDK는 차량 정보 조회와 내비게이션 연계를 API로 제공하며, Vehicle API(시트·조명·공조·도어·충전 상태·카메라 등), Navihelper(내비게이션 지도와 목적지·경로 연계), Gleo AI(음성 명령과 TTS·STT), Pleos App Market(검증·심사 후 지원 차종·지역 배포)이 예시로 제시됩니다(https://kiapbvidea.com/page3). 또 PV5 컨버전에는 IVI로 차량 데이터를 송수신하고 외부 전장 제품을 제어하는 PIM(PBV Interface Module) 제어기와 추가 전장 제품에 12V 전력을 연결하는 조인트 블록이 적용됩니다(오토뷰 2026.1.28 https://www.autoview.co.kr/ko-kr/articles/98843). GroundWatch는 이를 재확인 지점 내비 안내, 배터리 하한 시 장비 전원 정리와 문 열림 시 현장 작업 모드, 운전 중 음성 기록, 차량 화면에서 GPR·작업등 제어, 다른 지자체 PV5로의 앱 배포에 씁니다. 실제 제공 범위와 권한, 주행 중 사용 조건은 지원 차종·지역과 별도 정책에 따르므로 기아 PBV 파트너 승인 후 확정합니다. 배치도는 PV5 기반 콘셉트 이미지로, A 분석 장비 랙, B 수동 GPR과 AR 글래스, C 내시경과 안전장비, D 바닥 아래 차량형 다채널 GPR을 보여줍니다. PV5는 바닥 아래에 구동 배터리가 있으므로 GPR 장착 위치는 배터리 팩·지상고 간섭 시험 후 확정하며, 구조변경은 기아 컨버전 파트너를 거칩니다. 차량 연동은 기아 공모전 안내의 Pleos Connect SDK(Vehicle API, Navihelper)로 재확인 지점을 내비에 안내하고, 여러 대는 단말기 설치 없이 위치·차량 상태를 관제하는 Pleos Fleet(기아 PV5 카고 카탈로그 2026.9)으로 운영합니다.</a:t>
            </a: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a:r>
              <a:rPr lang="ko-KR" dirty="0"/>
              <a:t>현대차그룹 전기 상용차는 용도가 나뉘어 있습니다. 스타리아 일렉트릭 카고는 승합 기반 밴, ST1은 물류 특화 카고, 포터II·봉고III EV는 1톤 트럭입니다. 탐사·판독·재검증을 한 차에서 하려면 밀폐 공간, 장비 전원, 장비 고정, 그리고 같은 사양으로 여러 대를 만드는 컨버전 체계가 필요하고, 이 용도에 맞는 차가 PV5 카고입니다. 가격은 PV5 카고 롱 베이직 롱레인지 4,520만 원(기아 가격표 2026.10.1), 스타리아 일렉트릭 카고 3인승 5,792만 원(2026.4.23 출시), ST1 카고 스타일 5,874만 원(2025.7.16)이고, 1회 충전은 377km, 387km, 317km(현대차그룹 뉴스룸), 217km(포터·봉고 2025년형)입니다. 다만 차값 차이는 최대 1,354만 원인데 차량형 GPR은 대당 2억~8억 원이라(시사저널 2025.4.25, 경기도청 인용), 저희는 가격으로 고르지 않았다고 밝힙니다. PV5는 차량 3D 데이터와 인증자료를 주는 PBV 컨버전 포털, 12V 조인트 블록과 PIM 제어기를 제공합니다(오토뷰 2026 https://www.autoview.co.kr/ko-kr/articles/98843). 불리한 점으로 주행거리가 스타리아보다 10km 짧고 전폭이 포터·봉고보다 155mm 넓지만, 하루 약 30km 순찰이라는 가설에서는 충분합니다.</a:t>
            </a: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a:r>
              <a:rPr lang="ko-KR" dirty="0"/>
              <a:t>반복 탐사가 의미 있다는 근거는 일본 국토교통성 위탁연구(도쿄대 桑野玲子 교수 대표, 지오서치 참여, 2018~2020)입니다. 실제 도로 모니터링에서 지하 1.64m에 묻힌 합류식 하수관(Φ800) 위의 공동이 급격히 자란 것을 확인해 굴착 조사했고, 하수관 내부 카메라로는 보이지 않는 경미한 손상도 공동의 원인이 될 수 있었습니다. 연구진은 토사 유출 조건이 갖춰지면 종래 생각보다 단기간에 공동이 성장할 가능성을 보고했습니다(개요 https://www.mlit.go.jp/road/tech/hyouka/r1/30-5_gaiyou.pdf). 성장 속도의 정량화는 과제로 남아 있습니다(https://www.mlit.go.jp/road/tech/jigo/r03/pdf/houkokusyo30-5.pdf). 회차 간 3D GPR 정합 기법은 Ling et al., Remote Sensing 14(7):1593(2022)을 참고합니다. 먼저 실증할 것은 전자파 간섭, 회차별 위치 정합, AI 탐지율과 오탐률(계절별 함수비 변화 보정 포함), 야간 AR 위치 오차입니다. 인허가로는 도로 영상의 개인정보보호법 제25조의2(이동형 영상정보처리기기, 2023.9.15 시행)에 따라 차량 외부에 촬영 사실을 표시하고, GPR 전파 적합성평가와 장비 장착의 튜닝 승인 해당 여부는 사업화 전에 국립전파연구원과 한국교통안전공단에 확인하며, 장착은 기아 공식 컨버전 파트너를 거칩니다. 실증은 네 단계로 넓힙니다. 폐쇄 시험장에서 장착 구조와 전력, 전자파 간섭, 통신 누락을 확인해 차량형 측정이 가능한지 판정하고, 공동 모사체가 있는 통제 구간을 같은 속도와 경로로 반복 측정해 회차 비교가 가능한지 봅니다. 이후 지자체와 조사기업이 고른 실제 위험구간에서 기존 전문 장비, 전문가 판독, 천공 결과와 비교해 효용을 입증하고 실증서를 받습니다. 마지막으로 새벽 순찰 시간과 재확인부터 현장 도착까지 걸린 시간, AR 보정 성공률, 재방문 감소량을 측정해 연간 관제 계약으로 넘어갑니다. 정량 목표치는 파일럿 설계 때 발주기관과 확정하며 지금은 임의 수치를 제시하지 않습니다.</a:t>
            </a: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a:r>
              <a:rPr lang="ko-KR" dirty="0"/>
              <a:t>지금 단가부터 봅니다. 서울시 2024년 지반침하 특별점검 공동조사용역은 사업비 17억 8,090만 원으로 1,930.6km를 조사했습니다. km당 약 92만 원이며, 1차 차량형 탐사와 2차 핸디형 확인, 천공 499곳, 공동 신속복구 285곳이 모두 포함된 금액입니다(서울시 최종보고서 2024.10, 계약 2024.4.29~10.15). GroundWatch 차량 1대의 연간 원가는 가설로 3.09억 원입니다. PV5 4,520만 원과 차량형 GPR 5억 원(서울시가 3대를 15억 원에 도입, 이투데이 2025.4.23)을 5년 감가하고, 현장 2인 1.2억 원, 판독 전문가 0.5인 0.4억 원, 수동 GPR·AR·클라우드·보험·유지 0.4억 원을 더했습니다. 하루 30km, 220일이면 연 6,600km이므로 반복 탐사 원가는 km당 약 4.7만 원입니다. 보고서의 실제 장비 탐사 속도는 시속 20~30km라 처리량은 보수적으로 잡았습니다. 같은 도로 1km를 1년 동안 보면, 현행 전체 공정 1회는 약 92만 원이고 GroundWatch 반복 탐사 6회는 약 28만 원입니다. 천공과 복구 같은 2차 조사는 변화가 나온 곳에만 지금 단가대로 붙습니다. 즉 현행 1회 비용의 약 3분의 1로 같은 길을 1년에 6번 봅니다. 원가는 파일럿에서 확정할 가설입니다.</a:t>
            </a: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a:r>
              <a:rPr lang="ko-KR" dirty="0"/>
              <a:t>GroundWatch의 구매자는 이미 GPR 탐사 예산을 쓰는 서울시·자치구 도로관리 부서, 도시철도 공사 발주기관, 상하수도 관리기관입니다. 실제 사용자는 지하안전·도로관리 담당자, GPR 판독 전문가, 2인 1조 현장 조사원입니다. 첫 계약은 기존 GPR 조사기관과 함께 수행하고, PV5 특장(컨버전) 업체와 GIS·AR 장비사가 협력합니다. 기아는 탐사형 PV5 컨버전 플릿을 판매하고, Pleos 차량 앱의 공공 업무 레퍼런스를 얻으며, 같은 키트로 지자체마다 탐사실을 복제할 수 있습니다. 회차 데이터가 쌓이면 하수관 노후도, 굴착공사, 강우 이력과 겹쳐 다음 순찰의 우선순위를 정합니다. 지하 데이터는 제3자에게 판매하지 않고, 계약기관 내부에서 접근 권한에 따라서만 씁니다. 구매·협력 구조와 데이터 원칙은 제안 단계의 가설입니다. 이 방향은 기아가 이미 가고 있는 길입니다. 기아 공모전 컨버전 부문은 공공서비스 특화 예시로 '첨단 장비 탑재 스마트 순찰 및 재난 대응 차량'과 '이동형 환경 데이터 수집/분석 스테이션'을 제시했고(kiapbvidea.com), 일반 부문도 '지역 사회 기여: 재해 대응/안전 서비스'를 예시로 듭니다. 기아는 2026년 6월 부산모빌리티쇼에서 경찰청과 협업한 PV5 기반 AI 순찰차(4K AI 카메라 3개·드론 스테이션)를 공개했습니다(머니투데이 2026.6.26 https://www.mt.co.kr/industry/2026/06/26/2026062517564330792). 기아가 지상을 보는 순찰차를 만들었다면, GroundWatch는 지하를 보는 PV5 순찰차입니다.</a:t>
            </a: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a:r>
              <a:rPr lang="ko-KR" dirty="0"/>
              <a:t>새 예산을 만들지 않고 지자체가 이미 쓰는 GPR 탐사 예산에서 시작합니다. 2026년 지자체 GPR 탐사 용역은 안양 8,522만 원(R26BK01572949), 강동구 1억 4,052만 원(R26BK01599467), 용인 기흥구 1억 7,736만 원(R26BK01490375), 용인 긴급 1억 8,950만 원(R26BK01517362)에 낙찰됐습니다(나라장터, 2026.5~6). 경기도는 2025년 9월 16개 시·군 1,080km 탐사를 21.6억 원(국비·도비·시군비)으로 지원했는데, 장비를 사지 않고 용역으로 수행합니다(헤럴드경제 2025.9.7 https://www.heraldk.com/article/2025090714512710835). 2025년 4월 기준 경기도와 31개 시·군은 GPR을 한 대도 보유하지 않았습니다(시사저널 2025.4.25). 0~1년차에는 테스트베드서울 2.0(과제당 최대 2억 원, 서울시장 명의 실증확인서, https://news.seoul.go.kr/economy/archives/571787)으로 공사구간 1곳을 기존 조사기관과 공동 실증하고, 1~2년차에는 시·군 탐사 용역에 컨소시엄으로 참여해 1회 탐사를 반복 탐사로 바꾸자고 제안합니다. 2~3년차에는 조달청 혁신제품 지정을 신청해 최대 6년 수의계약 길을 열고 자치구 연간 반복관제 계약으로 전환하며, 3년차 이후 GPR이 없는 시·군의 운영 대행과 도시철도·상하수도 기관, 광역지자체 PV5 플릿 구매로 넓힙니다. 단계별 기간은 목표이며 가설입니다. 사업은 지자체의 파일럿 탐사 용역으로 시작해, 정기 순찰과 변화 감지, 재확인 업무, 기관용 대시보드를 묶은 연간 반복관제 계약으로 전환하고, 검증 이후 PV5 컨버전 차량과 소프트웨어 패키지로 확장합니다. 구매자는 서울시와 자치구, 도시철도 발주기관, 공공시설 관리기관이고, 실제 사용자는 지하안전·도로관리 담당자와 GPR 판독 전문가, 현장 조사원입니다. 기아에게는 PV5 컨버전 플릿 판매와 Pleos 앱 마켓의 공공 업무 앱이라는 기회가 생깁니다. 첫 고객은 이미 GPR 용역을 발주하는 지자체로, 2026년 강동구 노면하부공동탐사 연간단가 용역이 1억 4,052만 원에 낙찰됐습니다(나라장터 R26BK01599467). 첫 계약은 기존 GPR 조사기관과 공동 수행하고, 가격은 첫 해 기존 용역 단가 수준에서 시작하고, 연간 관제는 관리 구간 km와 재확인 건수 기준으로 산정합니다(가설). 지하정보는 제3자에게 판매하지 않습니다. 기아에게 생기는 수요를 계산했습니다. 지자체가 관리하는 도로 96,712km를 약 2개월마다 보려면, 차량 1대가 연 6,600km로 약 1,000km를 맡는다는 가설에서 최대 약 97대가 필요합니다(전 구간을 2개월마다 볼 때의 최대치). 기아의 차량 매출로는 최대 약 44억 원(97대 × 4,520만 원)이며, GPR 장비 매출은 파트너 몫입니다. 서울 도로 8,342km만 맡으면 약 8대입니다(지자체 관리 도로 96,712km는 2025년 말 기준 국가지표체계, 서울 8,342km는 2024년 서울시 도로현황). 대수는 많지 않지만 PV5와 업무 앱을 묶은 공공 레퍼런스의 첫 사례가 됩니다. 수상 후 첫 6개월에 기아에 요청하는 것은 공모전이 이미 안내한 혜택(PV5 대여 검토, PoC·사업화 연계, 멘토링)과 공개 개발자 환경입니다. 일반 부문 공식 혜택에 맞춰, PV5 실물 대여 검토로 1단계 폐쇄 시험장 실증을, 전문가 멘토링·기술 지원으로 GPR 장착 위치·전원 간섭 검토를, PoC·사업화 연계로 지자체 1곳 파일럿을, 기아 네트워크 협력으로 컨버전 파트너와 탐사실 키트화를 진행하고자 합니다. 일정은 목표입니다.</a:t>
            </a: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a:r>
              <a:rPr lang="ko-KR" dirty="0"/>
              <a:t>GroundWatch는 회차마다 따로 보는 탐사를 같은 길의 변화를 보는 탐사로, 사람이 다시 찾아야 하는 의심 지점을 현장에서 바로 확인하는 재탐사로, 장비를 실은 차를 업무에 연동된 PV5 탐사실로 바꾸고, 기아에는 공공 탐사용 PV5 플릿 수요(최대 약 97대)를 만듭니다. 한 번의 조기 발견이 한 사람의 무사 귀가가 되도록, PV5 GroundWatch를 제안합니다. 감사합니다. 마지막 장면은 표지의 밤 순찰이 끝난 새벽입니다. 땅 위는 평온한 아침이고, 그 아래를 GroundWatch가 보고 있습니다. 사진은 표지와 같은 PV5 기반 콘셉트 이미지입니다.</a:t>
            </a:r>
          </a:p>
        </p:txBody>
      </p:sp>
    </p:spTree>
  </p:cSld>
  <p:clrMapOvr>
    <a:masterClrMapping/>
  </p:clrMapOvr>
</p:note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7.xml><?xml version="1.0" encoding="utf-8"?>
<p:sldLayout xmlns:a="http://schemas.openxmlformats.org/drawingml/2006/main" xmlns:p="http://schemas.openxmlformats.org/presentationml/2006/main" type="blank" preserve="1">
  <p:cSld name="deck_v5 — 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ko-KR" smtClean="0"/>
              <a:t>1/27/13</a:t>
            </a:fld>
            <a:endParaRPr lang="ko-KR"/>
          </a:p>
        </p:txBody>
      </p:sp>
      <p:sp>
        <p:nvSpPr>
          <p:cNvPr id="3" name="Footer Placeholder 2"/>
          <p:cNvSpPr>
            <a:spLocks noGrp="1"/>
          </p:cNvSpPr>
          <p:nvPr>
            <p:ph type="ftr" sz="quarter" idx="11"/>
          </p:nvPr>
        </p:nvSpPr>
        <p:spPr/>
        <p:txBody>
          <a:bodyPr/>
          <a:lstStyle/>
          <a:p>
            <a:endParaRPr lang="ko-KR"/>
          </a:p>
        </p:txBody>
      </p:sp>
      <p:sp>
        <p:nvSpPr>
          <p:cNvPr id="4" name="Slide Number Placeholder 3"/>
          <p:cNvSpPr>
            <a:spLocks noGrp="1"/>
          </p:cNvSpPr>
          <p:nvPr>
            <p:ph type="sldNum" sz="quarter" idx="12"/>
          </p:nvPr>
        </p:nvSpPr>
        <p:spPr/>
        <p:txBody>
          <a:bodyPr/>
          <a:lstStyle/>
          <a:p>
            <a:fld id="{C1FF6DA9-008F-8B48-92A6-B652298478BF}" type="slidenum">
              <a:rPr lang="ko-KR" smtClean="0"/>
              <a:t>‹#›</a:t>
            </a:fld>
            <a:endParaRPr lang="ko-KR"/>
          </a:p>
        </p:txBody>
      </p:sp>
    </p:spTree>
  </p:cSld>
  <p:clrMapOvr>
    <a:masterClrMapping/>
  </p:clrMapOvr>
</p:sldLayout>
</file>

<file path=ppt/slideMasters/_rels/slideMaster1.xml.rels><?xml version='1.0' encoding='UTF-8' standalone='yes'?>
<Relationships xmlns="http://schemas.openxmlformats.org/package/2006/relationships"><Relationship Id="rId7" Type="http://schemas.openxmlformats.org/officeDocument/2006/relationships/slideLayout" Target="../slideLayouts/slideLayout7.xml"/><Relationship Id="rId12" Type="http://schemas.openxmlformats.org/officeDocument/2006/relationships/theme" Target="../theme/theme1.xml"/></Relationships>
</file>

<file path=ppt/slideMasters/slideMaster1.xml><?xml version="1.0" encoding="utf-8"?>
<p:sldMaster xmlns:a="http://schemas.openxmlformats.org/drawingml/2006/main" xmlns:p="http://schemas.openxmlformats.org/presentationml/2006/main" xmlns:r="http://schemas.openxmlformats.org/officeDocument/2006/relationships">
  <p:cSld name="deck_v5 — Master">
    <p:bg>
      <p:bgRef idx="1001">
        <a:schemeClr val="bg1"/>
      </p:bgRef>
    </p:bg>
    <p:spTree>
      <p:nvGrpSpPr>
        <p:cNvPr id="1" name=""/>
        <p:cNvGrpSpPr/>
        <p:nvPr/>
      </p:nvGrpSpPr>
      <p:grpSpPr>
        <a:xfrm>
          <a:off x="0" y="0"/>
          <a:ext cx="0" cy="0"/>
          <a:chOff x="0" y="0"/>
          <a:chExt cx="0" cy="0"/>
        </a:xfrm>
      </p:grpSpPr>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lang="ko-KR">
                <a:solidFill>
                  <a:schemeClr val="tx1">
                    <a:tint val="75000"/>
                  </a:schemeClr>
                </a:solidFill>
              </a:defRPr>
            </a:lvl1pPr>
          </a:lstStyle>
          <a:p>
            <a:fld id="{5BCAD085-E8A6-8845-BD4E-CB4CCA059FC4}" type="datetimeFigureOut">
              <a:rPr lang="ko-KR" smtClean="0"/>
              <a:t>1/27/13</a:t>
            </a:fld>
            <a:endParaRPr lang="ko-KR"/>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lang="ko-KR">
                <a:solidFill>
                  <a:schemeClr val="tx1">
                    <a:tint val="75000"/>
                  </a:schemeClr>
                </a:solidFill>
              </a:defRPr>
            </a:lvl1pPr>
          </a:lstStyle>
          <a:p>
            <a:endParaRPr lang="ko-KR"/>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lang="ko-KR">
                <a:solidFill>
                  <a:schemeClr val="tx1">
                    <a:tint val="75000"/>
                  </a:schemeClr>
                </a:solidFill>
              </a:defRPr>
            </a:lvl1pPr>
          </a:lstStyle>
          <a:p>
            <a:fld id="{C1FF6DA9-008F-8B48-92A6-B652298478BF}" type="slidenum">
              <a:rPr lang="ko-KR" smtClean="0"/>
              <a:t>‹#›</a:t>
            </a:fld>
            <a:endParaRPr lang="ko-KR"/>
          </a:p>
        </p:txBody>
      </p:sp>
    </p:spTree>
  </p:cSld>
  <p:clrMap bg1="lt1" tx1="dk1" bg2="lt2" tx2="dk2" accent1="accent1" accent2="accent2" accent3="accent3" accent4="accent4" accent5="accent5" accent6="accent6" hlink="hlink" folHlink="folHlink"/>
  <p:sldLayoutIdLst>
    <p:sldLayoutId id="2147483655" r:id="rId7"/>
  </p:sldLayoutIdLst>
  <p:txStyles>
    <p:titleStyle>
      <a:lvl1pPr algn="ctr" defTabSz="457200" rtl="0" eaLnBrk="1" latinLnBrk="0" hangingPunct="1">
        <a:spcBef>
          <a:spcPct val="0"/>
        </a:spcBef>
        <a:buNone/>
        <a:defRPr sz="4400" kern="1200" lang="ko-KR">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lang="ko-KR">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lang="ko-KR">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lang="ko-KR">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lang="ko-KR">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lang="ko-KR">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lang="ko-KR">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lang="ko-KR">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lang="ko-KR">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lang="ko-KR">
          <a:solidFill>
            <a:schemeClr val="tx1"/>
          </a:solidFill>
          <a:latin typeface="+mn-lt"/>
          <a:ea typeface="+mn-ea"/>
          <a:cs typeface="+mn-cs"/>
        </a:defRPr>
      </a:lvl9pPr>
    </p:bodyStyle>
    <p:otherStyle>
      <a:defPPr>
        <a:defRPr lang="ko-KR"/>
      </a:defPPr>
      <a:lvl1pPr marL="0" algn="l" defTabSz="457200" rtl="0" eaLnBrk="1" latinLnBrk="0" hangingPunct="1">
        <a:defRPr sz="1800" kern="1200" lang="ko-KR">
          <a:solidFill>
            <a:schemeClr val="tx1"/>
          </a:solidFill>
          <a:latin typeface="+mn-lt"/>
          <a:ea typeface="+mn-ea"/>
          <a:cs typeface="+mn-cs"/>
        </a:defRPr>
      </a:lvl1pPr>
      <a:lvl2pPr marL="457200" algn="l" defTabSz="457200" rtl="0" eaLnBrk="1" latinLnBrk="0" hangingPunct="1">
        <a:defRPr sz="1800" kern="1200" lang="ko-KR">
          <a:solidFill>
            <a:schemeClr val="tx1"/>
          </a:solidFill>
          <a:latin typeface="+mn-lt"/>
          <a:ea typeface="+mn-ea"/>
          <a:cs typeface="+mn-cs"/>
        </a:defRPr>
      </a:lvl2pPr>
      <a:lvl3pPr marL="914400" algn="l" defTabSz="457200" rtl="0" eaLnBrk="1" latinLnBrk="0" hangingPunct="1">
        <a:defRPr sz="1800" kern="1200" lang="ko-KR">
          <a:solidFill>
            <a:schemeClr val="tx1"/>
          </a:solidFill>
          <a:latin typeface="+mn-lt"/>
          <a:ea typeface="+mn-ea"/>
          <a:cs typeface="+mn-cs"/>
        </a:defRPr>
      </a:lvl3pPr>
      <a:lvl4pPr marL="1371600" algn="l" defTabSz="457200" rtl="0" eaLnBrk="1" latinLnBrk="0" hangingPunct="1">
        <a:defRPr sz="1800" kern="1200" lang="ko-KR">
          <a:solidFill>
            <a:schemeClr val="tx1"/>
          </a:solidFill>
          <a:latin typeface="+mn-lt"/>
          <a:ea typeface="+mn-ea"/>
          <a:cs typeface="+mn-cs"/>
        </a:defRPr>
      </a:lvl4pPr>
      <a:lvl5pPr marL="1828800" algn="l" defTabSz="457200" rtl="0" eaLnBrk="1" latinLnBrk="0" hangingPunct="1">
        <a:defRPr sz="1800" kern="1200" lang="ko-KR">
          <a:solidFill>
            <a:schemeClr val="tx1"/>
          </a:solidFill>
          <a:latin typeface="+mn-lt"/>
          <a:ea typeface="+mn-ea"/>
          <a:cs typeface="+mn-cs"/>
        </a:defRPr>
      </a:lvl5pPr>
      <a:lvl6pPr marL="2286000" algn="l" defTabSz="457200" rtl="0" eaLnBrk="1" latinLnBrk="0" hangingPunct="1">
        <a:defRPr sz="1800" kern="1200" lang="ko-KR">
          <a:solidFill>
            <a:schemeClr val="tx1"/>
          </a:solidFill>
          <a:latin typeface="+mn-lt"/>
          <a:ea typeface="+mn-ea"/>
          <a:cs typeface="+mn-cs"/>
        </a:defRPr>
      </a:lvl6pPr>
      <a:lvl7pPr marL="2743200" algn="l" defTabSz="457200" rtl="0" eaLnBrk="1" latinLnBrk="0" hangingPunct="1">
        <a:defRPr sz="1800" kern="1200" lang="ko-KR">
          <a:solidFill>
            <a:schemeClr val="tx1"/>
          </a:solidFill>
          <a:latin typeface="+mn-lt"/>
          <a:ea typeface="+mn-ea"/>
          <a:cs typeface="+mn-cs"/>
        </a:defRPr>
      </a:lvl7pPr>
      <a:lvl8pPr marL="3200400" algn="l" defTabSz="457200" rtl="0" eaLnBrk="1" latinLnBrk="0" hangingPunct="1">
        <a:defRPr sz="1800" kern="1200" lang="ko-KR">
          <a:solidFill>
            <a:schemeClr val="tx1"/>
          </a:solidFill>
          <a:latin typeface="+mn-lt"/>
          <a:ea typeface="+mn-ea"/>
          <a:cs typeface="+mn-cs"/>
        </a:defRPr>
      </a:lvl8pPr>
      <a:lvl9pPr marL="3657600" algn="l" defTabSz="457200" rtl="0" eaLnBrk="1" latinLnBrk="0" hangingPunct="1">
        <a:defRPr sz="1800" kern="1200" lang="ko-KR">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image_ac3c6e4906305580.jpg"/>
  <Relationship Id="rId3" Type="http://schemas.openxmlformats.org/officeDocument/2006/relationships/notesSlide" Target="../notesSlides/notesSlide1.xml"/>
</Relationships>
</file>

<file path=ppt/slides/_rels/slide2.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xml"/>
</Relationships>
</file>

<file path=ppt/slides/_rels/slide3.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image_3b3f6c0592f2b003.png"/>
  <Relationship Id="rId3" Type="http://schemas.openxmlformats.org/officeDocument/2006/relationships/notesSlide" Target="../notesSlides/notesSlide3.xml"/>
</Relationships>
</file>

<file path=ppt/slides/_rels/slide4.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image_8b52c7b9fabad0f2.jpg"/>
  <Relationship Id="rId3" Type="http://schemas.openxmlformats.org/officeDocument/2006/relationships/notesSlide" Target="../notesSlides/notesSlide4.xml"/>
</Relationships>
</file>

<file path=ppt/slides/_rels/slide5.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5.xml"/>
</Relationships>
</file>

<file path=ppt/slides/_rels/slide6.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image_e0845049425906c7.png"/>
  <Relationship Id="rId3" Type="http://schemas.openxmlformats.org/officeDocument/2006/relationships/notesSlide" Target="../notesSlides/notesSlide6.xml"/>
</Relationships>
</file>

<file path=ppt/slides/_rels/slide7.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image_571777acfc4f5e2f.png"/>
  <Relationship Id="rId3" Type="http://schemas.openxmlformats.org/officeDocument/2006/relationships/image" Target="../media/image_fa22147239f313de.png"/>
  <Relationship Id="rId4" Type="http://schemas.openxmlformats.org/officeDocument/2006/relationships/image" Target="../media/image_a2ed7a41ebc22144.png"/>
  <Relationship Id="rId5" Type="http://schemas.openxmlformats.org/officeDocument/2006/relationships/notesSlide" Target="../notesSlides/notesSlide7.xml"/>
</Relationships>
</file>

<file path=ppt/slides/_rels/slide8.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image_d0d7ae1915439d98.png"/>
  <Relationship Id="rId3" Type="http://schemas.openxmlformats.org/officeDocument/2006/relationships/image" Target="../media/image_e709a568109f40a6.png"/>
  <Relationship Id="rId4" Type="http://schemas.openxmlformats.org/officeDocument/2006/relationships/notesSlide" Target="../notesSlides/notesSlide8.xml"/>
</Relationships>
</file>

<file path=ppt/slides/_rels/slide9.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image_bedd896b72e7ad59.png"/>
  <Relationship Id="rId3" Type="http://schemas.openxmlformats.org/officeDocument/2006/relationships/notesSlide" Target="../notesSlides/notesSlide9.xml"/>
</Relationships>
</file>

<file path=ppt/slides/_rels/slide10.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image_17c61102523c82ce.png"/>
  <Relationship Id="rId3" Type="http://schemas.openxmlformats.org/officeDocument/2006/relationships/image" Target="../media/image_520a869e500b72a0.png"/>
  <Relationship Id="rId4" Type="http://schemas.openxmlformats.org/officeDocument/2006/relationships/image" Target="../media/image_808608ffd9ac7105.png"/>
  <Relationship Id="rId5" Type="http://schemas.openxmlformats.org/officeDocument/2006/relationships/notesSlide" Target="../notesSlides/notesSlide10.xml"/>
</Relationships>
</file>

<file path=ppt/slides/_rels/slide11.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1.xml"/>
</Relationships>
</file>

<file path=ppt/slides/_rels/slide12.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2.xml"/>
</Relationships>
</file>

<file path=ppt/slides/_rels/slide13.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3.xml"/>
</Relationships>
</file>

<file path=ppt/slides/_rels/slide14.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4.xml"/>
</Relationships>
</file>

<file path=ppt/slides/_rels/slide15.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image_d670f6cf3601c6ad.jpg"/>
  <Relationship Id="rId3" Type="http://schemas.openxmlformats.org/officeDocument/2006/relationships/image" Target="../media/image_c5dc5a620e45351d.png"/>
  <Relationship Id="rId4" Type="http://schemas.openxmlformats.org/officeDocument/2006/relationships/notesSlide" Target="../notesSlides/notesSlide15.xml"/>
</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cover-bg"/>
          <p:cNvSpPr/>
          <p:nvPr/>
        </p:nvSpPr>
        <p:spPr>
          <a:xfrm>
            <a:off x="0" y="0"/>
            <a:ext cx="12192000" cy="6858000"/>
          </a:xfrm>
          <a:prstGeom prst="rect">
            <a:avLst/>
          </a:prstGeom>
          <a:solidFill>
            <a:srgbClr val="0B1E3C"/>
          </a:solidFill>
          <a:ln>
            <a:noFill/>
          </a:ln>
        </p:spPr>
      </p:sp>
      <p:pic>
        <p:nvPicPr>
          <p:cNvPr id="3" name="cover-photo"/>
          <p:cNvPicPr>
            <a:picLocks noChangeAspect="1"/>
          </p:cNvPicPr>
          <p:nvPr/>
        </p:nvPicPr>
        <p:blipFill>
          <a:blip r:embed="rId2"/>
          <a:srcRect l="0" t="26" r="0" b="27"/>
          <a:stretch>
            <a:fillRect/>
          </a:stretch>
        </p:blipFill>
        <p:spPr>
          <a:xfrm>
            <a:off x="0" y="0"/>
            <a:ext cx="12192000" cy="6858000"/>
          </a:xfrm>
          <a:prstGeom prst="rect">
            <a:avLst/>
          </a:prstGeom>
        </p:spPr>
      </p:pic>
      <p:sp>
        <p:nvSpPr>
          <p:cNvPr id="4" name="cover-scrim"/>
          <p:cNvSpPr/>
          <p:nvPr/>
        </p:nvSpPr>
        <p:spPr>
          <a:xfrm>
            <a:off x="0" y="0"/>
            <a:ext cx="12192000" cy="6858000"/>
          </a:xfrm>
          <a:prstGeom prst="rect">
            <a:avLst/>
          </a:prstGeom>
          <a:gradFill>
            <a:gsLst>
              <a:gs pos="0">
                <a:srgbClr val="0B1E3C">
                  <a:alpha val="94000"/>
                </a:srgbClr>
              </a:gs>
              <a:gs pos="42000">
                <a:srgbClr val="0B1E3C">
                  <a:alpha val="72000"/>
                </a:srgbClr>
              </a:gs>
              <a:gs pos="70000">
                <a:srgbClr val="0B1E3C">
                  <a:alpha val="0"/>
                </a:srgbClr>
              </a:gs>
            </a:gsLst>
            <a:lin ang="0" scaled="1"/>
          </a:gradFill>
          <a:ln>
            <a:noFill/>
          </a:ln>
        </p:spPr>
      </p:sp>
      <p:grpSp>
        <p:nvGrpSpPr>
          <p:cNvPr id="6" name="cover-kicker"/>
          <p:cNvGrpSpPr/>
          <p:nvPr/>
        </p:nvGrpSpPr>
        <p:grpSpPr>
          <a:xfrm>
            <a:off x="603123" y="1924050"/>
            <a:ext cx="3498208" cy="250317"/>
            <a:chOff x="603123" y="1924050"/>
            <a:chExt cx="3498208" cy="250317"/>
          </a:xfrm>
        </p:grpSpPr>
        <p:sp>
          <p:nvSpPr>
            <p:cNvPr id="5" name="TextBox 5"/>
            <p:cNvSpPr txBox="1"/>
            <p:nvPr/>
          </p:nvSpPr>
          <p:spPr>
            <a:xfrm>
              <a:off x="603123" y="1924050"/>
              <a:ext cx="3498208" cy="250317"/>
            </a:xfrm>
            <a:prstGeom prst="rect">
              <a:avLst/>
            </a:prstGeom>
            <a:noFill/>
            <a:ln>
              <a:noFill/>
            </a:ln>
          </p:spPr>
          <p:txBody>
            <a:bodyPr wrap="none" lIns="0" tIns="0" rIns="0" bIns="0" anchor="t" anchorCtr="0">
              <a:spAutoFit/>
            </a:bodyPr>
            <a:lstStyle/>
            <a:p>
              <a:pPr algn="l"/>
              <a:r>
                <a:rPr lang="ko-KR" sz="1280" b="1" dirty="0">
                  <a:solidFill>
                    <a:srgbClr val="F5B700"/>
                  </a:solidFill>
                  <a:latin typeface="+mn-lt"/>
                  <a:ea typeface="+mn-ea"/>
                  <a:cs typeface="+mn-cs"/>
                </a:rPr>
                <a:t>제5회 기아 PBV 아이디어 공모전 · 일반 부문</a:t>
              </a:r>
            </a:p>
          </p:txBody>
        </p:sp>
      </p:grpSp>
      <p:grpSp>
        <p:nvGrpSpPr>
          <p:cNvPr id="9" name="cover-title"/>
          <p:cNvGrpSpPr/>
          <p:nvPr/>
        </p:nvGrpSpPr>
        <p:grpSpPr>
          <a:xfrm>
            <a:off x="590550" y="2254250"/>
            <a:ext cx="3634424" cy="1600200"/>
            <a:chOff x="590550" y="2254250"/>
            <a:chExt cx="3634424" cy="1600200"/>
          </a:xfrm>
        </p:grpSpPr>
        <p:sp>
          <p:nvSpPr>
            <p:cNvPr id="7" name="TextBox 7"/>
            <p:cNvSpPr txBox="1"/>
            <p:nvPr/>
          </p:nvSpPr>
          <p:spPr>
            <a:xfrm>
              <a:off x="590550" y="2254250"/>
              <a:ext cx="1263035" cy="990600"/>
            </a:xfrm>
            <a:prstGeom prst="rect">
              <a:avLst/>
            </a:prstGeom>
            <a:noFill/>
            <a:ln>
              <a:noFill/>
            </a:ln>
          </p:spPr>
          <p:txBody>
            <a:bodyPr wrap="none" lIns="0" tIns="0" rIns="0" bIns="0" anchor="t" anchorCtr="0">
              <a:spAutoFit/>
            </a:bodyPr>
            <a:lstStyle/>
            <a:p>
              <a:pPr algn="l"/>
              <a:r>
                <a:rPr lang="en-US" sz="5100" b="1" spc="-112" dirty="0">
                  <a:solidFill>
                    <a:srgbClr val="FFFFFF"/>
                  </a:solidFill>
                  <a:latin typeface="+mn-lt"/>
                  <a:ea typeface="+mn-ea"/>
                  <a:cs typeface="+mn-cs"/>
                </a:rPr>
                <a:t>PV5</a:t>
              </a:r>
            </a:p>
          </p:txBody>
        </p:sp>
        <p:sp>
          <p:nvSpPr>
            <p:cNvPr id="8" name="TextBox 8"/>
            <p:cNvSpPr txBox="1"/>
            <p:nvPr/>
          </p:nvSpPr>
          <p:spPr>
            <a:xfrm>
              <a:off x="590550" y="3035300"/>
              <a:ext cx="3634424" cy="819150"/>
            </a:xfrm>
            <a:prstGeom prst="rect">
              <a:avLst/>
            </a:prstGeom>
            <a:noFill/>
            <a:ln>
              <a:noFill/>
            </a:ln>
          </p:spPr>
          <p:txBody>
            <a:bodyPr wrap="none" lIns="0" tIns="0" rIns="0" bIns="0" anchor="t" anchorCtr="0">
              <a:spAutoFit/>
            </a:bodyPr>
            <a:lstStyle/>
            <a:p>
              <a:pPr algn="l"/>
              <a:r>
                <a:rPr lang="en-US" sz="4200" b="1" spc="-112" dirty="0">
                  <a:solidFill>
                    <a:srgbClr val="FFFFFF"/>
                  </a:solidFill>
                  <a:latin typeface="+mn-lt"/>
                  <a:ea typeface="+mn-ea"/>
                  <a:cs typeface="+mn-cs"/>
                </a:rPr>
                <a:t>GroundWatch</a:t>
              </a:r>
            </a:p>
          </p:txBody>
        </p:sp>
      </p:grpSp>
      <p:grpSp>
        <p:nvGrpSpPr>
          <p:cNvPr id="11" name="cover-subtitle"/>
          <p:cNvGrpSpPr/>
          <p:nvPr/>
        </p:nvGrpSpPr>
        <p:grpSpPr>
          <a:xfrm>
            <a:off x="598170" y="3797300"/>
            <a:ext cx="2893819" cy="440055"/>
            <a:chOff x="598170" y="3797300"/>
            <a:chExt cx="2893819" cy="440055"/>
          </a:xfrm>
        </p:grpSpPr>
        <p:sp>
          <p:nvSpPr>
            <p:cNvPr id="10" name="TextBox 10"/>
            <p:cNvSpPr txBox="1"/>
            <p:nvPr/>
          </p:nvSpPr>
          <p:spPr>
            <a:xfrm>
              <a:off x="598170" y="3797300"/>
              <a:ext cx="2893819" cy="440055"/>
            </a:xfrm>
            <a:prstGeom prst="rect">
              <a:avLst/>
            </a:prstGeom>
            <a:noFill/>
            <a:ln>
              <a:noFill/>
            </a:ln>
          </p:spPr>
          <p:txBody>
            <a:bodyPr wrap="none" lIns="0" tIns="0" rIns="0" bIns="0" anchor="t" anchorCtr="0">
              <a:spAutoFit/>
            </a:bodyPr>
            <a:lstStyle/>
            <a:p>
              <a:pPr algn="l"/>
              <a:r>
                <a:rPr lang="ko-KR" sz="2250" b="1" dirty="0">
                  <a:solidFill>
                    <a:srgbClr val="D7DEE8"/>
                  </a:solidFill>
                  <a:latin typeface="+mn-lt"/>
                  <a:ea typeface="+mn-ea"/>
                  <a:cs typeface="+mn-cs"/>
                </a:rPr>
                <a:t>PV5 지하안전 순찰차</a:t>
              </a:r>
            </a:p>
          </p:txBody>
        </p:sp>
      </p:grpSp>
      <p:grpSp>
        <p:nvGrpSpPr>
          <p:cNvPr id="14" name="cover-tagline"/>
          <p:cNvGrpSpPr/>
          <p:nvPr/>
        </p:nvGrpSpPr>
        <p:grpSpPr>
          <a:xfrm>
            <a:off x="601599" y="4381500"/>
            <a:ext cx="4530852" cy="785241"/>
            <a:chOff x="601599" y="4381500"/>
            <a:chExt cx="4530852" cy="785241"/>
          </a:xfrm>
        </p:grpSpPr>
        <p:sp>
          <p:nvSpPr>
            <p:cNvPr id="12" name="Rectangle 12"/>
            <p:cNvSpPr/>
            <p:nvPr/>
          </p:nvSpPr>
          <p:spPr>
            <a:xfrm>
              <a:off x="609600" y="4381500"/>
              <a:ext cx="457200" cy="28575"/>
            </a:xfrm>
            <a:prstGeom prst="rect">
              <a:avLst/>
            </a:prstGeom>
            <a:solidFill>
              <a:srgbClr val="F5B700"/>
            </a:solidFill>
            <a:ln>
              <a:noFill/>
            </a:ln>
          </p:spPr>
        </p:sp>
        <p:sp>
          <p:nvSpPr>
            <p:cNvPr id="13" name="TextBox 13"/>
            <p:cNvSpPr txBox="1"/>
            <p:nvPr/>
          </p:nvSpPr>
          <p:spPr>
            <a:xfrm>
              <a:off x="601599" y="4552950"/>
              <a:ext cx="4530852" cy="613791"/>
            </a:xfrm>
            <a:prstGeom prst="rect">
              <a:avLst/>
            </a:prstGeom>
            <a:noFill/>
            <a:ln>
              <a:noFill/>
            </a:ln>
          </p:spPr>
          <p:txBody>
            <a:bodyPr wrap="none" lIns="0" tIns="0" rIns="0" bIns="0" anchor="t" anchorCtr="0">
              <a:spAutoFit/>
            </a:bodyPr>
            <a:lstStyle/>
            <a:p>
              <a:pPr algn="l">
                <a:lnSpc>
                  <a:spcPts val="2400"/>
                </a:lnSpc>
              </a:pPr>
              <a:r>
                <a:rPr lang="ko-KR" sz="1580" dirty="0">
                  <a:solidFill>
                    <a:srgbClr val="D7DEE8"/>
                  </a:solidFill>
                  <a:latin typeface="+mn-lt"/>
                  <a:ea typeface="+mn-ea"/>
                  <a:cs typeface="+mn-cs"/>
                </a:rPr>
                <a:t>지표투과레이더(GPR)로 같은 길을 반복해서 보고,</a:t>
              </a:r>
              <a:br>
                <a:rPr lang="ko-KR" sz="1580" dirty="0">
                  <a:solidFill>
                    <a:srgbClr val="D7DEE8"/>
                  </a:solidFill>
                  <a:latin typeface="+mn-lt"/>
                  <a:ea typeface="+mn-ea"/>
                  <a:cs typeface="+mn-cs"/>
                </a:rPr>
              </a:br>
              <a:r>
                <a:rPr lang="ko-KR" sz="1580" dirty="0">
                  <a:solidFill>
                    <a:srgbClr val="D7DEE8"/>
                  </a:solidFill>
                  <a:latin typeface="+mn-lt"/>
                  <a:ea typeface="+mn-ea"/>
                  <a:cs typeface="+mn-cs"/>
                </a:rPr>
                <a:t>구멍이 되기 전의 변화를 찾습니다.</a:t>
              </a:r>
            </a:p>
          </p:txBody>
        </p:sp>
      </p:grpSp>
      <p:grpSp>
        <p:nvGrpSpPr>
          <p:cNvPr id="17" name="cover-team"/>
          <p:cNvGrpSpPr/>
          <p:nvPr/>
        </p:nvGrpSpPr>
        <p:grpSpPr>
          <a:xfrm>
            <a:off x="601218" y="5784850"/>
            <a:ext cx="2739992" cy="583057"/>
            <a:chOff x="601218" y="5784850"/>
            <a:chExt cx="2739992" cy="583057"/>
          </a:xfrm>
        </p:grpSpPr>
        <p:sp>
          <p:nvSpPr>
            <p:cNvPr id="15" name="TextBox 15"/>
            <p:cNvSpPr txBox="1"/>
            <p:nvPr/>
          </p:nvSpPr>
          <p:spPr>
            <a:xfrm>
              <a:off x="603885" y="5784850"/>
              <a:ext cx="412888" cy="220028"/>
            </a:xfrm>
            <a:prstGeom prst="rect">
              <a:avLst/>
            </a:prstGeom>
            <a:noFill/>
            <a:ln>
              <a:noFill/>
            </a:ln>
          </p:spPr>
          <p:txBody>
            <a:bodyPr wrap="none" lIns="0" tIns="0" rIns="0" bIns="0" anchor="t" anchorCtr="0">
              <a:spAutoFit/>
            </a:bodyPr>
            <a:lstStyle/>
            <a:p>
              <a:pPr algn="l"/>
              <a:r>
                <a:rPr lang="en-US" sz="1120" b="1" dirty="0">
                  <a:solidFill>
                    <a:srgbClr val="F5B700"/>
                  </a:solidFill>
                  <a:latin typeface="+mn-lt"/>
                  <a:ea typeface="+mn-ea"/>
                  <a:cs typeface="+mn-cs"/>
                </a:rPr>
                <a:t>TEAM</a:t>
              </a:r>
            </a:p>
          </p:txBody>
        </p:sp>
        <p:sp>
          <p:nvSpPr>
            <p:cNvPr id="16" name="TextBox 16"/>
            <p:cNvSpPr txBox="1"/>
            <p:nvPr/>
          </p:nvSpPr>
          <p:spPr>
            <a:xfrm>
              <a:off x="601218" y="6045200"/>
              <a:ext cx="2739992" cy="322707"/>
            </a:xfrm>
            <a:prstGeom prst="rect">
              <a:avLst/>
            </a:prstGeom>
            <a:noFill/>
            <a:ln>
              <a:noFill/>
            </a:ln>
          </p:spPr>
          <p:txBody>
            <a:bodyPr wrap="none" lIns="0" tIns="0" rIns="0" bIns="0" anchor="t" anchorCtr="0">
              <a:spAutoFit/>
            </a:bodyPr>
            <a:lstStyle/>
            <a:p>
              <a:pPr algn="l"/>
              <a:r>
                <a:rPr lang="ko-KR" sz="1650" b="1" dirty="0">
                  <a:solidFill>
                    <a:srgbClr val="FFFFFF"/>
                  </a:solidFill>
                  <a:latin typeface="+mn-lt"/>
                  <a:ea typeface="+mn-ea"/>
                  <a:cs typeface="+mn-cs"/>
                </a:rPr>
                <a:t>한 명이라도 살릴 수 있다면</a:t>
              </a:r>
            </a:p>
          </p:txBody>
        </p:sp>
      </p:grpSp>
      <p:grpSp>
        <p:nvGrpSpPr>
          <p:cNvPr id="20" name="cover-date"/>
          <p:cNvGrpSpPr/>
          <p:nvPr/>
        </p:nvGrpSpPr>
        <p:grpSpPr>
          <a:xfrm>
            <a:off x="10553256" y="6299200"/>
            <a:ext cx="1186497" cy="369443"/>
            <a:chOff x="10553256" y="6299200"/>
            <a:chExt cx="1186497" cy="369443"/>
          </a:xfrm>
        </p:grpSpPr>
        <p:sp>
          <p:nvSpPr>
            <p:cNvPr id="18" name="TextBox 18"/>
            <p:cNvSpPr txBox="1"/>
            <p:nvPr/>
          </p:nvSpPr>
          <p:spPr>
            <a:xfrm>
              <a:off x="10553256" y="6299200"/>
              <a:ext cx="1186307" cy="161925"/>
            </a:xfrm>
            <a:prstGeom prst="rect">
              <a:avLst/>
            </a:prstGeom>
            <a:noFill/>
            <a:ln>
              <a:noFill/>
            </a:ln>
          </p:spPr>
          <p:txBody>
            <a:bodyPr wrap="none" lIns="0" tIns="0" rIns="0" bIns="0" anchor="t" anchorCtr="0">
              <a:spAutoFit/>
            </a:bodyPr>
            <a:lstStyle/>
            <a:p>
              <a:pPr algn="r"/>
              <a:r>
                <a:rPr lang="ko-KR" sz="820" dirty="0">
                  <a:solidFill>
                    <a:srgbClr val="C3CCD9"/>
                  </a:solidFill>
                  <a:latin typeface="+mn-lt"/>
                  <a:ea typeface="+mn-ea"/>
                  <a:cs typeface="+mn-cs"/>
                </a:rPr>
                <a:t>PV5 기반 콘셉트 이미지</a:t>
              </a:r>
            </a:p>
          </p:txBody>
        </p:sp>
        <p:sp>
          <p:nvSpPr>
            <p:cNvPr id="19" name="TextBox 19"/>
            <p:cNvSpPr txBox="1"/>
            <p:nvPr/>
          </p:nvSpPr>
          <p:spPr>
            <a:xfrm>
              <a:off x="11221926" y="6477000"/>
              <a:ext cx="517827" cy="191643"/>
            </a:xfrm>
            <a:prstGeom prst="rect">
              <a:avLst/>
            </a:prstGeom>
            <a:noFill/>
            <a:ln>
              <a:noFill/>
            </a:ln>
          </p:spPr>
          <p:txBody>
            <a:bodyPr wrap="none" lIns="0" tIns="0" rIns="0" bIns="0" anchor="t" anchorCtr="0">
              <a:spAutoFit/>
            </a:bodyPr>
            <a:lstStyle/>
            <a:p>
              <a:pPr algn="r"/>
              <a:r>
                <a:rPr lang="ko-KR" sz="980" dirty="0">
                  <a:solidFill>
                    <a:srgbClr val="C3CCD9"/>
                  </a:solidFill>
                  <a:latin typeface="+mn-lt"/>
                  <a:ea typeface="+mn-ea"/>
                  <a:cs typeface="+mn-cs"/>
                </a:rPr>
                <a:t>2026.10</a:t>
              </a:r>
            </a:p>
          </p:txBody>
        </p:sp>
      </p:grpSp>
    </p:spTree>
  </p:cSld>
  <p:clrMapOvr>
    <a:masterClrMapping/>
  </p:clrMapOvr>
  <p:transition xmlns:p14="http://schemas.microsoft.com/office/powerpoint/2010/main" p14:dur="400">
    <p:fade/>
  </p:transition>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grpSp>
        <p:nvGrpSpPr>
          <p:cNvPr id="15" name="header"/>
          <p:cNvGrpSpPr/>
          <p:nvPr/>
        </p:nvGrpSpPr>
        <p:grpSpPr>
          <a:xfrm>
            <a:off x="533400" y="266700"/>
            <a:ext cx="11125200" cy="333375"/>
            <a:chOff x="533400" y="266700"/>
            <a:chExt cx="11125200" cy="333375"/>
          </a:xfrm>
        </p:grpSpPr>
        <p:sp>
          <p:nvSpPr>
            <p:cNvPr id="2" name="Rectangle 2"/>
            <p:cNvSpPr/>
            <p:nvPr/>
          </p:nvSpPr>
          <p:spPr>
            <a:xfrm>
              <a:off x="533400" y="266700"/>
              <a:ext cx="1333500" cy="228600"/>
            </a:xfrm>
            <a:prstGeom prst="rect">
              <a:avLst/>
            </a:prstGeom>
            <a:solidFill>
              <a:srgbClr val="0B1E3C"/>
            </a:solidFill>
            <a:ln>
              <a:noFill/>
            </a:ln>
          </p:spPr>
        </p:sp>
        <p:sp>
          <p:nvSpPr>
            <p:cNvPr id="3" name="TextBox 3"/>
            <p:cNvSpPr txBox="1"/>
            <p:nvPr/>
          </p:nvSpPr>
          <p:spPr>
            <a:xfrm>
              <a:off x="617357" y="314325"/>
              <a:ext cx="1165586" cy="191643"/>
            </a:xfrm>
            <a:prstGeom prst="rect">
              <a:avLst/>
            </a:prstGeom>
            <a:noFill/>
            <a:ln>
              <a:noFill/>
            </a:ln>
          </p:spPr>
          <p:txBody>
            <a:bodyPr wrap="none" lIns="0" tIns="0" rIns="0" bIns="0" anchor="t" anchorCtr="0">
              <a:spAutoFit/>
            </a:bodyPr>
            <a:lstStyle/>
            <a:p>
              <a:pPr algn="ctr"/>
              <a:r>
                <a:rPr lang="en-US" sz="980" b="1" dirty="0">
                  <a:solidFill>
                    <a:srgbClr val="FFFFFF"/>
                  </a:solidFill>
                  <a:latin typeface="+mn-lt"/>
                  <a:ea typeface="+mn-ea"/>
                  <a:cs typeface="+mn-cs"/>
                </a:rPr>
                <a:t>PV5 GroundWatch</a:t>
              </a:r>
            </a:p>
          </p:txBody>
        </p:sp>
        <p:sp>
          <p:nvSpPr>
            <p:cNvPr id="4" name="TextBox 4"/>
            <p:cNvSpPr txBox="1"/>
            <p:nvPr/>
          </p:nvSpPr>
          <p:spPr>
            <a:xfrm>
              <a:off x="1994916" y="301625"/>
              <a:ext cx="660883" cy="205359"/>
            </a:xfrm>
            <a:prstGeom prst="rect">
              <a:avLst/>
            </a:prstGeom>
            <a:noFill/>
            <a:ln>
              <a:noFill/>
            </a:ln>
          </p:spPr>
          <p:txBody>
            <a:bodyPr wrap="none" lIns="0" tIns="0" rIns="0" bIns="0" anchor="t" anchorCtr="0">
              <a:spAutoFit/>
            </a:bodyPr>
            <a:lstStyle/>
            <a:p>
              <a:pPr algn="l"/>
              <a:r>
                <a:rPr lang="ko-KR" sz="1050" dirty="0">
                  <a:solidFill>
                    <a:srgbClr val="374151"/>
                  </a:solidFill>
                  <a:latin typeface="+mn-lt"/>
                  <a:ea typeface="+mn-ea"/>
                  <a:cs typeface="+mn-cs"/>
                </a:rPr>
                <a:t>한 장 요약</a:t>
              </a:r>
            </a:p>
          </p:txBody>
        </p:sp>
        <p:sp>
          <p:nvSpPr>
            <p:cNvPr id="5" name="TextBox 5"/>
            <p:cNvSpPr txBox="1"/>
            <p:nvPr/>
          </p:nvSpPr>
          <p:spPr>
            <a:xfrm>
              <a:off x="8425815" y="301625"/>
              <a:ext cx="293370" cy="205359"/>
            </a:xfrm>
            <a:prstGeom prst="rect">
              <a:avLst/>
            </a:prstGeom>
            <a:noFill/>
            <a:ln>
              <a:noFill/>
            </a:ln>
          </p:spPr>
          <p:txBody>
            <a:bodyPr wrap="none" lIns="0" tIns="0" rIns="0" bIns="0" anchor="t" anchorCtr="0">
              <a:spAutoFit/>
            </a:bodyPr>
            <a:lstStyle/>
            <a:p>
              <a:pPr algn="ctr"/>
              <a:r>
                <a:rPr lang="ko-KR" sz="1050" dirty="0">
                  <a:solidFill>
                    <a:srgbClr val="9AA3AF"/>
                  </a:solidFill>
                  <a:latin typeface="+mn-lt"/>
                  <a:ea typeface="+mn-ea"/>
                  <a:cs typeface="+mn-cs"/>
                </a:rPr>
                <a:t>문제</a:t>
              </a:r>
            </a:p>
          </p:txBody>
        </p:sp>
        <p:sp>
          <p:nvSpPr>
            <p:cNvPr id="6" name="TextBox 6"/>
            <p:cNvSpPr txBox="1"/>
            <p:nvPr/>
          </p:nvSpPr>
          <p:spPr>
            <a:xfrm>
              <a:off x="884874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7" name="TextBox 7"/>
            <p:cNvSpPr txBox="1"/>
            <p:nvPr/>
          </p:nvSpPr>
          <p:spPr>
            <a:xfrm>
              <a:off x="9054465" y="301625"/>
              <a:ext cx="293370" cy="205359"/>
            </a:xfrm>
            <a:prstGeom prst="rect">
              <a:avLst/>
            </a:prstGeom>
            <a:noFill/>
            <a:ln>
              <a:noFill/>
            </a:ln>
          </p:spPr>
          <p:txBody>
            <a:bodyPr wrap="none" lIns="0" tIns="0" rIns="0" bIns="0" anchor="t" anchorCtr="0">
              <a:spAutoFit/>
            </a:bodyPr>
            <a:lstStyle/>
            <a:p>
              <a:pPr algn="ctr"/>
              <a:r>
                <a:rPr lang="ko-KR" sz="1050" dirty="0">
                  <a:solidFill>
                    <a:srgbClr val="9AA3AF"/>
                  </a:solidFill>
                  <a:latin typeface="+mn-lt"/>
                  <a:ea typeface="+mn-ea"/>
                  <a:cs typeface="+mn-cs"/>
                </a:rPr>
                <a:t>해법</a:t>
              </a:r>
            </a:p>
          </p:txBody>
        </p:sp>
        <p:sp>
          <p:nvSpPr>
            <p:cNvPr id="8" name="TextBox 8"/>
            <p:cNvSpPr txBox="1"/>
            <p:nvPr/>
          </p:nvSpPr>
          <p:spPr>
            <a:xfrm>
              <a:off x="947739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9" name="TextBox 9"/>
            <p:cNvSpPr txBox="1"/>
            <p:nvPr/>
          </p:nvSpPr>
          <p:spPr>
            <a:xfrm>
              <a:off x="9701251" y="301625"/>
              <a:ext cx="257099" cy="205359"/>
            </a:xfrm>
            <a:prstGeom prst="rect">
              <a:avLst/>
            </a:prstGeom>
            <a:noFill/>
            <a:ln>
              <a:noFill/>
            </a:ln>
          </p:spPr>
          <p:txBody>
            <a:bodyPr wrap="none" lIns="0" tIns="0" rIns="0" bIns="0" anchor="t" anchorCtr="0">
              <a:spAutoFit/>
            </a:bodyPr>
            <a:lstStyle/>
            <a:p>
              <a:pPr algn="ctr"/>
              <a:r>
                <a:rPr lang="en-US" sz="1050" dirty="0">
                  <a:solidFill>
                    <a:srgbClr val="9AA3AF"/>
                  </a:solidFill>
                  <a:latin typeface="+mn-lt"/>
                  <a:ea typeface="+mn-ea"/>
                  <a:cs typeface="+mn-cs"/>
                </a:rPr>
                <a:t>PV5</a:t>
              </a:r>
            </a:p>
          </p:txBody>
        </p:sp>
        <p:sp>
          <p:nvSpPr>
            <p:cNvPr id="10" name="TextBox 10"/>
            <p:cNvSpPr txBox="1"/>
            <p:nvPr/>
          </p:nvSpPr>
          <p:spPr>
            <a:xfrm>
              <a:off x="1010604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11" name="TextBox 11"/>
            <p:cNvSpPr txBox="1"/>
            <p:nvPr/>
          </p:nvSpPr>
          <p:spPr>
            <a:xfrm>
              <a:off x="10311765" y="301625"/>
              <a:ext cx="293370" cy="205359"/>
            </a:xfrm>
            <a:prstGeom prst="rect">
              <a:avLst/>
            </a:prstGeom>
            <a:noFill/>
            <a:ln>
              <a:noFill/>
            </a:ln>
          </p:spPr>
          <p:txBody>
            <a:bodyPr wrap="none" lIns="0" tIns="0" rIns="0" bIns="0" anchor="t" anchorCtr="0">
              <a:spAutoFit/>
            </a:bodyPr>
            <a:lstStyle/>
            <a:p>
              <a:pPr algn="ctr"/>
              <a:r>
                <a:rPr lang="ko-KR" sz="1050" dirty="0">
                  <a:solidFill>
                    <a:srgbClr val="9AA3AF"/>
                  </a:solidFill>
                  <a:latin typeface="+mn-lt"/>
                  <a:ea typeface="+mn-ea"/>
                  <a:cs typeface="+mn-cs"/>
                </a:rPr>
                <a:t>검증</a:t>
              </a:r>
            </a:p>
          </p:txBody>
        </p:sp>
        <p:sp>
          <p:nvSpPr>
            <p:cNvPr id="12" name="TextBox 12"/>
            <p:cNvSpPr txBox="1"/>
            <p:nvPr/>
          </p:nvSpPr>
          <p:spPr>
            <a:xfrm>
              <a:off x="1073469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13" name="TextBox 13"/>
            <p:cNvSpPr txBox="1"/>
            <p:nvPr/>
          </p:nvSpPr>
          <p:spPr>
            <a:xfrm>
              <a:off x="10940415" y="301625"/>
              <a:ext cx="293370" cy="205359"/>
            </a:xfrm>
            <a:prstGeom prst="rect">
              <a:avLst/>
            </a:prstGeom>
            <a:noFill/>
            <a:ln>
              <a:noFill/>
            </a:ln>
          </p:spPr>
          <p:txBody>
            <a:bodyPr wrap="none" lIns="0" tIns="0" rIns="0" bIns="0" anchor="t" anchorCtr="0">
              <a:spAutoFit/>
            </a:bodyPr>
            <a:lstStyle/>
            <a:p>
              <a:pPr algn="ctr"/>
              <a:r>
                <a:rPr lang="ko-KR" sz="1050" dirty="0">
                  <a:solidFill>
                    <a:srgbClr val="9AA3AF"/>
                  </a:solidFill>
                  <a:latin typeface="+mn-lt"/>
                  <a:ea typeface="+mn-ea"/>
                  <a:cs typeface="+mn-cs"/>
                </a:rPr>
                <a:t>사업</a:t>
              </a:r>
            </a:p>
          </p:txBody>
        </p:sp>
        <p:sp>
          <p:nvSpPr>
            <p:cNvPr id="14" name="Line 14"/>
            <p:cNvSpPr/>
            <p:nvPr/>
          </p:nvSpPr>
          <p:spPr>
            <a:xfrm>
              <a:off x="533400" y="590550"/>
              <a:ext cx="11125200" cy="9525"/>
            </a:xfrm>
            <a:custGeom>
              <a:avLst/>
              <a:gdLst/>
              <a:ahLst/>
              <a:cxnLst/>
              <a:rect l="l" t="t" r="r" b="b"/>
              <a:pathLst>
                <a:path w="11125200" h="9525">
                  <a:moveTo>
                    <a:pt x="0" y="0"/>
                  </a:moveTo>
                  <a:lnTo>
                    <a:pt x="11125200" y="0"/>
                  </a:lnTo>
                </a:path>
              </a:pathLst>
            </a:custGeom>
            <a:noFill/>
            <a:ln w="9525">
              <a:solidFill>
                <a:srgbClr val="0B1E3C"/>
              </a:solidFill>
            </a:ln>
          </p:spPr>
        </p:sp>
      </p:grpSp>
      <p:grpSp>
        <p:nvGrpSpPr>
          <p:cNvPr id="17" name="title"/>
          <p:cNvGrpSpPr/>
          <p:nvPr/>
        </p:nvGrpSpPr>
        <p:grpSpPr>
          <a:xfrm>
            <a:off x="518160" y="774700"/>
            <a:ext cx="9945591" cy="586740"/>
            <a:chOff x="518160" y="774700"/>
            <a:chExt cx="9945591" cy="586740"/>
          </a:xfrm>
        </p:grpSpPr>
        <p:sp>
          <p:nvSpPr>
            <p:cNvPr id="16" name="TextBox 16"/>
            <p:cNvSpPr txBox="1"/>
            <p:nvPr/>
          </p:nvSpPr>
          <p:spPr>
            <a:xfrm>
              <a:off x="518160" y="774700"/>
              <a:ext cx="9945591" cy="586740"/>
            </a:xfrm>
            <a:prstGeom prst="rect">
              <a:avLst/>
            </a:prstGeom>
            <a:noFill/>
            <a:ln>
              <a:noFill/>
            </a:ln>
          </p:spPr>
          <p:txBody>
            <a:bodyPr wrap="none" lIns="0" tIns="0" rIns="0" bIns="0" anchor="t" anchorCtr="0">
              <a:spAutoFit/>
            </a:bodyPr>
            <a:lstStyle/>
            <a:p>
              <a:pPr algn="l"/>
              <a:r>
                <a:rPr lang="ko-KR" sz="3000" b="1" spc="-75" dirty="0">
                  <a:solidFill>
                    <a:srgbClr val="0B1E3C"/>
                  </a:solidFill>
                  <a:latin typeface="+mn-lt"/>
                  <a:ea typeface="+mn-ea"/>
                  <a:cs typeface="+mn-cs"/>
                </a:rPr>
                <a:t>GroundWatch는 탐사와 탐사 ‘사이’의 공백을 메웁니다</a:t>
              </a:r>
            </a:p>
          </p:txBody>
        </p:sp>
      </p:grpSp>
      <p:grpSp>
        <p:nvGrpSpPr>
          <p:cNvPr id="23" name="col0"/>
          <p:cNvGrpSpPr/>
          <p:nvPr/>
        </p:nvGrpSpPr>
        <p:grpSpPr>
          <a:xfrm>
            <a:off x="524637" y="1600200"/>
            <a:ext cx="2618613" cy="2023428"/>
            <a:chOff x="524637" y="1600200"/>
            <a:chExt cx="2618613" cy="2023428"/>
          </a:xfrm>
        </p:grpSpPr>
        <p:sp>
          <p:nvSpPr>
            <p:cNvPr id="18" name="Rectangle 18"/>
            <p:cNvSpPr/>
            <p:nvPr/>
          </p:nvSpPr>
          <p:spPr>
            <a:xfrm>
              <a:off x="533400" y="1600200"/>
              <a:ext cx="2609850" cy="28575"/>
            </a:xfrm>
            <a:prstGeom prst="rect">
              <a:avLst/>
            </a:prstGeom>
            <a:solidFill>
              <a:srgbClr val="C62828"/>
            </a:solidFill>
            <a:ln>
              <a:noFill/>
            </a:ln>
          </p:spPr>
        </p:sp>
        <p:sp>
          <p:nvSpPr>
            <p:cNvPr id="19" name="TextBox 19"/>
            <p:cNvSpPr txBox="1"/>
            <p:nvPr/>
          </p:nvSpPr>
          <p:spPr>
            <a:xfrm>
              <a:off x="527304" y="1771650"/>
              <a:ext cx="335280" cy="234696"/>
            </a:xfrm>
            <a:prstGeom prst="rect">
              <a:avLst/>
            </a:prstGeom>
            <a:noFill/>
            <a:ln>
              <a:noFill/>
            </a:ln>
          </p:spPr>
          <p:txBody>
            <a:bodyPr wrap="none" lIns="0" tIns="0" rIns="0" bIns="0" anchor="t" anchorCtr="0">
              <a:spAutoFit/>
            </a:bodyPr>
            <a:lstStyle/>
            <a:p>
              <a:pPr algn="l"/>
              <a:r>
                <a:rPr lang="ko-KR" sz="1200" b="1" dirty="0">
                  <a:solidFill>
                    <a:srgbClr val="C62828"/>
                  </a:solidFill>
                  <a:latin typeface="+mn-lt"/>
                  <a:ea typeface="+mn-ea"/>
                  <a:cs typeface="+mn-cs"/>
                </a:rPr>
                <a:t>문제</a:t>
              </a:r>
            </a:p>
          </p:txBody>
        </p:sp>
        <p:sp>
          <p:nvSpPr>
            <p:cNvPr id="20" name="TextBox 20"/>
            <p:cNvSpPr txBox="1"/>
            <p:nvPr/>
          </p:nvSpPr>
          <p:spPr>
            <a:xfrm>
              <a:off x="524637" y="2070100"/>
              <a:ext cx="2331253" cy="337376"/>
            </a:xfrm>
            <a:prstGeom prst="rect">
              <a:avLst/>
            </a:prstGeom>
            <a:noFill/>
            <a:ln>
              <a:noFill/>
            </a:ln>
          </p:spPr>
          <p:txBody>
            <a:bodyPr wrap="none" lIns="0" tIns="0" rIns="0" bIns="0" anchor="t" anchorCtr="0">
              <a:spAutoFit/>
            </a:bodyPr>
            <a:lstStyle/>
            <a:p>
              <a:pPr algn="l"/>
              <a:r>
                <a:rPr lang="ko-KR" sz="1720" b="1" dirty="0">
                  <a:solidFill>
                    <a:srgbClr val="0B1E3C"/>
                  </a:solidFill>
                  <a:latin typeface="+mn-lt"/>
                  <a:ea typeface="+mn-ea"/>
                  <a:cs typeface="+mn-cs"/>
                </a:rPr>
                <a:t>탐사 100여 일 뒤 함몰</a:t>
              </a:r>
            </a:p>
          </p:txBody>
        </p:sp>
        <p:sp>
          <p:nvSpPr>
            <p:cNvPr id="21" name="TextBox 21"/>
            <p:cNvSpPr txBox="1"/>
            <p:nvPr/>
          </p:nvSpPr>
          <p:spPr>
            <a:xfrm>
              <a:off x="526923" y="2520950"/>
              <a:ext cx="1996186" cy="669417"/>
            </a:xfrm>
            <a:prstGeom prst="rect">
              <a:avLst/>
            </a:prstGeom>
            <a:noFill/>
            <a:ln>
              <a:noFill/>
            </a:ln>
          </p:spPr>
          <p:txBody>
            <a:bodyPr wrap="none" lIns="0" tIns="0" rIns="0" bIns="0" anchor="t" anchorCtr="0">
              <a:spAutoFit/>
            </a:bodyPr>
            <a:lstStyle/>
            <a:p>
              <a:pPr algn="l">
                <a:lnSpc>
                  <a:spcPts val="1650"/>
                </a:lnSpc>
              </a:pPr>
              <a:r>
                <a:rPr lang="ko-KR" sz="1280" dirty="0">
                  <a:solidFill>
                    <a:srgbClr val="374151"/>
                  </a:solidFill>
                  <a:latin typeface="+mn-lt"/>
                  <a:ea typeface="+mn-ea"/>
                  <a:cs typeface="+mn-cs"/>
                </a:rPr>
                <a:t>법정 점검 5년, 서울 1년.</a:t>
              </a:r>
              <a:br>
                <a:rPr lang="ko-KR" sz="1280" dirty="0">
                  <a:solidFill>
                    <a:srgbClr val="374151"/>
                  </a:solidFill>
                  <a:latin typeface="+mn-lt"/>
                  <a:ea typeface="+mn-ea"/>
                  <a:cs typeface="+mn-cs"/>
                </a:rPr>
              </a:br>
              <a:r>
                <a:rPr lang="ko-KR" sz="1280" dirty="0">
                  <a:solidFill>
                    <a:srgbClr val="374151"/>
                  </a:solidFill>
                  <a:latin typeface="+mn-lt"/>
                  <a:ea typeface="+mn-ea"/>
                  <a:cs typeface="+mn-cs"/>
                </a:rPr>
                <a:t>그 사이 자라는 얕은 공동을</a:t>
              </a:r>
              <a:br>
                <a:rPr lang="ko-KR" sz="1280" dirty="0">
                  <a:solidFill>
                    <a:srgbClr val="374151"/>
                  </a:solidFill>
                  <a:latin typeface="+mn-lt"/>
                  <a:ea typeface="+mn-ea"/>
                  <a:cs typeface="+mn-cs"/>
                </a:rPr>
              </a:br>
              <a:r>
                <a:rPr lang="ko-KR" sz="1280" dirty="0">
                  <a:solidFill>
                    <a:srgbClr val="374151"/>
                  </a:solidFill>
                  <a:latin typeface="+mn-lt"/>
                  <a:ea typeface="+mn-ea"/>
                  <a:cs typeface="+mn-cs"/>
                </a:rPr>
                <a:t>아무도 보지 못합니다.</a:t>
              </a:r>
            </a:p>
          </p:txBody>
        </p:sp>
        <p:sp>
          <p:nvSpPr>
            <p:cNvPr id="22" name="TextBox 22"/>
            <p:cNvSpPr txBox="1"/>
            <p:nvPr/>
          </p:nvSpPr>
          <p:spPr>
            <a:xfrm>
              <a:off x="527685" y="3403600"/>
              <a:ext cx="1036696" cy="220028"/>
            </a:xfrm>
            <a:prstGeom prst="rect">
              <a:avLst/>
            </a:prstGeom>
            <a:noFill/>
            <a:ln>
              <a:noFill/>
            </a:ln>
          </p:spPr>
          <p:txBody>
            <a:bodyPr wrap="none" lIns="0" tIns="0" rIns="0" bIns="0" anchor="t" anchorCtr="0">
              <a:spAutoFit/>
            </a:bodyPr>
            <a:lstStyle/>
            <a:p>
              <a:pPr algn="l"/>
              <a:r>
                <a:rPr lang="ko-KR" sz="1120" dirty="0">
                  <a:solidFill>
                    <a:srgbClr val="4B5563"/>
                  </a:solidFill>
                  <a:latin typeface="+mn-lt"/>
                  <a:ea typeface="+mn-ea"/>
                  <a:cs typeface="+mn-cs"/>
                </a:rPr>
                <a:t>자세히 → 3~6장</a:t>
              </a:r>
            </a:p>
          </p:txBody>
        </p:sp>
      </p:grpSp>
      <p:grpSp>
        <p:nvGrpSpPr>
          <p:cNvPr id="29" name="col1"/>
          <p:cNvGrpSpPr/>
          <p:nvPr/>
        </p:nvGrpSpPr>
        <p:grpSpPr>
          <a:xfrm>
            <a:off x="3363087" y="1600200"/>
            <a:ext cx="2618613" cy="2023428"/>
            <a:chOff x="3363087" y="1600200"/>
            <a:chExt cx="2618613" cy="2023428"/>
          </a:xfrm>
        </p:grpSpPr>
        <p:sp>
          <p:nvSpPr>
            <p:cNvPr id="24" name="Rectangle 24"/>
            <p:cNvSpPr/>
            <p:nvPr/>
          </p:nvSpPr>
          <p:spPr>
            <a:xfrm>
              <a:off x="3371850" y="1600200"/>
              <a:ext cx="2609850" cy="28575"/>
            </a:xfrm>
            <a:prstGeom prst="rect">
              <a:avLst/>
            </a:prstGeom>
            <a:solidFill>
              <a:srgbClr val="0B1E3C"/>
            </a:solidFill>
            <a:ln>
              <a:noFill/>
            </a:ln>
          </p:spPr>
        </p:sp>
        <p:sp>
          <p:nvSpPr>
            <p:cNvPr id="25" name="TextBox 25"/>
            <p:cNvSpPr txBox="1"/>
            <p:nvPr/>
          </p:nvSpPr>
          <p:spPr>
            <a:xfrm>
              <a:off x="3365754" y="1771650"/>
              <a:ext cx="335280" cy="234696"/>
            </a:xfrm>
            <a:prstGeom prst="rect">
              <a:avLst/>
            </a:prstGeom>
            <a:noFill/>
            <a:ln>
              <a:noFill/>
            </a:ln>
          </p:spPr>
          <p:txBody>
            <a:bodyPr wrap="none" lIns="0" tIns="0" rIns="0" bIns="0" anchor="t" anchorCtr="0">
              <a:spAutoFit/>
            </a:bodyPr>
            <a:lstStyle/>
            <a:p>
              <a:pPr algn="l"/>
              <a:r>
                <a:rPr lang="ko-KR" sz="1200" b="1" dirty="0">
                  <a:solidFill>
                    <a:srgbClr val="B45309"/>
                  </a:solidFill>
                  <a:latin typeface="+mn-lt"/>
                  <a:ea typeface="+mn-ea"/>
                  <a:cs typeface="+mn-cs"/>
                </a:rPr>
                <a:t>해법</a:t>
              </a:r>
            </a:p>
          </p:txBody>
        </p:sp>
        <p:sp>
          <p:nvSpPr>
            <p:cNvPr id="26" name="TextBox 26"/>
            <p:cNvSpPr txBox="1"/>
            <p:nvPr/>
          </p:nvSpPr>
          <p:spPr>
            <a:xfrm>
              <a:off x="3363087" y="2070100"/>
              <a:ext cx="2453973" cy="337376"/>
            </a:xfrm>
            <a:prstGeom prst="rect">
              <a:avLst/>
            </a:prstGeom>
            <a:noFill/>
            <a:ln>
              <a:noFill/>
            </a:ln>
          </p:spPr>
          <p:txBody>
            <a:bodyPr wrap="none" lIns="0" tIns="0" rIns="0" bIns="0" anchor="t" anchorCtr="0">
              <a:spAutoFit/>
            </a:bodyPr>
            <a:lstStyle/>
            <a:p>
              <a:pPr algn="l"/>
              <a:r>
                <a:rPr lang="ko-KR" sz="1720" b="1" dirty="0">
                  <a:solidFill>
                    <a:srgbClr val="0B1E3C"/>
                  </a:solidFill>
                  <a:latin typeface="+mn-lt"/>
                  <a:ea typeface="+mn-ea"/>
                  <a:cs typeface="+mn-cs"/>
                </a:rPr>
                <a:t>같은 길을 약 2개월마다</a:t>
              </a:r>
            </a:p>
          </p:txBody>
        </p:sp>
        <p:sp>
          <p:nvSpPr>
            <p:cNvPr id="27" name="TextBox 27"/>
            <p:cNvSpPr txBox="1"/>
            <p:nvPr/>
          </p:nvSpPr>
          <p:spPr>
            <a:xfrm>
              <a:off x="3365373" y="2520950"/>
              <a:ext cx="1776730" cy="669417"/>
            </a:xfrm>
            <a:prstGeom prst="rect">
              <a:avLst/>
            </a:prstGeom>
            <a:noFill/>
            <a:ln>
              <a:noFill/>
            </a:ln>
          </p:spPr>
          <p:txBody>
            <a:bodyPr wrap="none" lIns="0" tIns="0" rIns="0" bIns="0" anchor="t" anchorCtr="0">
              <a:spAutoFit/>
            </a:bodyPr>
            <a:lstStyle/>
            <a:p>
              <a:pPr algn="l">
                <a:lnSpc>
                  <a:spcPts val="1650"/>
                </a:lnSpc>
              </a:pPr>
              <a:r>
                <a:rPr lang="ko-KR" sz="1280" dirty="0">
                  <a:solidFill>
                    <a:srgbClr val="374151"/>
                  </a:solidFill>
                  <a:latin typeface="+mn-lt"/>
                  <a:ea typeface="+mn-ea"/>
                  <a:cs typeface="+mn-cs"/>
                </a:rPr>
                <a:t>PV5가 GPR로 다시 찍고,</a:t>
              </a:r>
              <a:br>
                <a:rPr lang="ko-KR" sz="1280" dirty="0">
                  <a:solidFill>
                    <a:srgbClr val="374151"/>
                  </a:solidFill>
                  <a:latin typeface="+mn-lt"/>
                  <a:ea typeface="+mn-ea"/>
                  <a:cs typeface="+mn-cs"/>
                </a:rPr>
              </a:br>
              <a:r>
                <a:rPr lang="ko-KR" sz="1280" dirty="0">
                  <a:solidFill>
                    <a:srgbClr val="374151"/>
                  </a:solidFill>
                  <a:latin typeface="+mn-lt"/>
                  <a:ea typeface="+mn-ea"/>
                  <a:cs typeface="+mn-cs"/>
                </a:rPr>
                <a:t>달라진 곳만 골라</a:t>
              </a:r>
              <a:br>
                <a:rPr lang="ko-KR" sz="1280" dirty="0">
                  <a:solidFill>
                    <a:srgbClr val="374151"/>
                  </a:solidFill>
                  <a:latin typeface="+mn-lt"/>
                  <a:ea typeface="+mn-ea"/>
                  <a:cs typeface="+mn-cs"/>
                </a:rPr>
              </a:br>
              <a:r>
                <a:rPr lang="ko-KR" sz="1280" dirty="0">
                  <a:solidFill>
                    <a:srgbClr val="374151"/>
                  </a:solidFill>
                  <a:latin typeface="+mn-lt"/>
                  <a:ea typeface="+mn-ea"/>
                  <a:cs typeface="+mn-cs"/>
                </a:rPr>
                <a:t>현장에서 재확인합니다.</a:t>
              </a:r>
            </a:p>
          </p:txBody>
        </p:sp>
        <p:sp>
          <p:nvSpPr>
            <p:cNvPr id="28" name="TextBox 28"/>
            <p:cNvSpPr txBox="1"/>
            <p:nvPr/>
          </p:nvSpPr>
          <p:spPr>
            <a:xfrm>
              <a:off x="3366135" y="3403600"/>
              <a:ext cx="1036696" cy="220028"/>
            </a:xfrm>
            <a:prstGeom prst="rect">
              <a:avLst/>
            </a:prstGeom>
            <a:noFill/>
            <a:ln>
              <a:noFill/>
            </a:ln>
          </p:spPr>
          <p:txBody>
            <a:bodyPr wrap="none" lIns="0" tIns="0" rIns="0" bIns="0" anchor="t" anchorCtr="0">
              <a:spAutoFit/>
            </a:bodyPr>
            <a:lstStyle/>
            <a:p>
              <a:pPr algn="l"/>
              <a:r>
                <a:rPr lang="ko-KR" sz="1120" dirty="0">
                  <a:solidFill>
                    <a:srgbClr val="4B5563"/>
                  </a:solidFill>
                  <a:latin typeface="+mn-lt"/>
                  <a:ea typeface="+mn-ea"/>
                  <a:cs typeface="+mn-cs"/>
                </a:rPr>
                <a:t>자세히 → 7~8장</a:t>
              </a:r>
            </a:p>
          </p:txBody>
        </p:sp>
      </p:grpSp>
      <p:grpSp>
        <p:nvGrpSpPr>
          <p:cNvPr id="35" name="col2"/>
          <p:cNvGrpSpPr/>
          <p:nvPr/>
        </p:nvGrpSpPr>
        <p:grpSpPr>
          <a:xfrm>
            <a:off x="6201537" y="1600200"/>
            <a:ext cx="2618613" cy="2023428"/>
            <a:chOff x="6201537" y="1600200"/>
            <a:chExt cx="2618613" cy="2023428"/>
          </a:xfrm>
        </p:grpSpPr>
        <p:sp>
          <p:nvSpPr>
            <p:cNvPr id="30" name="Rectangle 30"/>
            <p:cNvSpPr/>
            <p:nvPr/>
          </p:nvSpPr>
          <p:spPr>
            <a:xfrm>
              <a:off x="6210300" y="1600200"/>
              <a:ext cx="2609850" cy="28575"/>
            </a:xfrm>
            <a:prstGeom prst="rect">
              <a:avLst/>
            </a:prstGeom>
            <a:solidFill>
              <a:srgbClr val="0B1E3C"/>
            </a:solidFill>
            <a:ln>
              <a:noFill/>
            </a:ln>
          </p:spPr>
        </p:sp>
        <p:sp>
          <p:nvSpPr>
            <p:cNvPr id="31" name="TextBox 31"/>
            <p:cNvSpPr txBox="1"/>
            <p:nvPr/>
          </p:nvSpPr>
          <p:spPr>
            <a:xfrm>
              <a:off x="6204204" y="1771650"/>
              <a:ext cx="523220" cy="234696"/>
            </a:xfrm>
            <a:prstGeom prst="rect">
              <a:avLst/>
            </a:prstGeom>
            <a:noFill/>
            <a:ln>
              <a:noFill/>
            </a:ln>
          </p:spPr>
          <p:txBody>
            <a:bodyPr wrap="none" lIns="0" tIns="0" rIns="0" bIns="0" anchor="t" anchorCtr="0">
              <a:spAutoFit/>
            </a:bodyPr>
            <a:lstStyle/>
            <a:p>
              <a:pPr algn="l"/>
              <a:r>
                <a:rPr lang="ko-KR" sz="1200" b="1" dirty="0">
                  <a:solidFill>
                    <a:srgbClr val="B45309"/>
                  </a:solidFill>
                  <a:latin typeface="+mn-lt"/>
                  <a:ea typeface="+mn-ea"/>
                  <a:cs typeface="+mn-cs"/>
                </a:rPr>
                <a:t>왜 PV5</a:t>
              </a:r>
            </a:p>
          </p:txBody>
        </p:sp>
        <p:sp>
          <p:nvSpPr>
            <p:cNvPr id="32" name="TextBox 32"/>
            <p:cNvSpPr txBox="1"/>
            <p:nvPr/>
          </p:nvSpPr>
          <p:spPr>
            <a:xfrm>
              <a:off x="6201537" y="2070100"/>
              <a:ext cx="2320255" cy="337376"/>
            </a:xfrm>
            <a:prstGeom prst="rect">
              <a:avLst/>
            </a:prstGeom>
            <a:noFill/>
            <a:ln>
              <a:noFill/>
            </a:ln>
          </p:spPr>
          <p:txBody>
            <a:bodyPr wrap="none" lIns="0" tIns="0" rIns="0" bIns="0" anchor="t" anchorCtr="0">
              <a:spAutoFit/>
            </a:bodyPr>
            <a:lstStyle/>
            <a:p>
              <a:pPr algn="l"/>
              <a:r>
                <a:rPr lang="ko-KR" sz="1720" b="1" dirty="0">
                  <a:solidFill>
                    <a:srgbClr val="0B1E3C"/>
                  </a:solidFill>
                  <a:latin typeface="+mn-lt"/>
                  <a:ea typeface="+mn-ea"/>
                  <a:cs typeface="+mn-cs"/>
                </a:rPr>
                <a:t>차가 업무의 일부가 됨</a:t>
              </a:r>
            </a:p>
          </p:txBody>
        </p:sp>
        <p:sp>
          <p:nvSpPr>
            <p:cNvPr id="33" name="TextBox 33"/>
            <p:cNvSpPr txBox="1"/>
            <p:nvPr/>
          </p:nvSpPr>
          <p:spPr>
            <a:xfrm>
              <a:off x="6203823" y="2520950"/>
              <a:ext cx="2158746" cy="669417"/>
            </a:xfrm>
            <a:prstGeom prst="rect">
              <a:avLst/>
            </a:prstGeom>
            <a:noFill/>
            <a:ln>
              <a:noFill/>
            </a:ln>
          </p:spPr>
          <p:txBody>
            <a:bodyPr wrap="none" lIns="0" tIns="0" rIns="0" bIns="0" anchor="t" anchorCtr="0">
              <a:spAutoFit/>
            </a:bodyPr>
            <a:lstStyle/>
            <a:p>
              <a:pPr algn="l">
                <a:lnSpc>
                  <a:spcPts val="1650"/>
                </a:lnSpc>
              </a:pPr>
              <a:r>
                <a:rPr lang="ko-KR" sz="1280" dirty="0">
                  <a:solidFill>
                    <a:srgbClr val="374151"/>
                  </a:solidFill>
                  <a:latin typeface="+mn-lt"/>
                  <a:ea typeface="+mn-ea"/>
                  <a:cs typeface="+mn-cs"/>
                </a:rPr>
                <a:t>차량 내비·화면과 연동하고,</a:t>
              </a:r>
              <a:br>
                <a:rPr lang="ko-KR" sz="1280" dirty="0">
                  <a:solidFill>
                    <a:srgbClr val="374151"/>
                  </a:solidFill>
                  <a:latin typeface="+mn-lt"/>
                  <a:ea typeface="+mn-ea"/>
                  <a:cs typeface="+mn-cs"/>
                </a:rPr>
              </a:br>
              <a:r>
                <a:rPr lang="ko-KR" sz="1280" dirty="0">
                  <a:solidFill>
                    <a:srgbClr val="374151"/>
                  </a:solidFill>
                  <a:latin typeface="+mn-lt"/>
                  <a:ea typeface="+mn-ea"/>
                  <a:cs typeface="+mn-cs"/>
                </a:rPr>
                <a:t>V2L·L-Track으로 싣고 고정,</a:t>
              </a:r>
              <a:br>
                <a:rPr lang="ko-KR" sz="1280" dirty="0">
                  <a:solidFill>
                    <a:srgbClr val="374151"/>
                  </a:solidFill>
                  <a:latin typeface="+mn-lt"/>
                  <a:ea typeface="+mn-ea"/>
                  <a:cs typeface="+mn-cs"/>
                </a:rPr>
              </a:br>
              <a:r>
                <a:rPr lang="ko-KR" sz="1280" dirty="0">
                  <a:solidFill>
                    <a:srgbClr val="374151"/>
                  </a:solidFill>
                  <a:latin typeface="+mn-lt"/>
                  <a:ea typeface="+mn-ea"/>
                  <a:cs typeface="+mn-cs"/>
                </a:rPr>
                <a:t>공식 컨버전으로 복제.</a:t>
              </a:r>
            </a:p>
          </p:txBody>
        </p:sp>
        <p:sp>
          <p:nvSpPr>
            <p:cNvPr id="34" name="TextBox 34"/>
            <p:cNvSpPr txBox="1"/>
            <p:nvPr/>
          </p:nvSpPr>
          <p:spPr>
            <a:xfrm>
              <a:off x="6204585" y="3403600"/>
              <a:ext cx="1119622" cy="220028"/>
            </a:xfrm>
            <a:prstGeom prst="rect">
              <a:avLst/>
            </a:prstGeom>
            <a:noFill/>
            <a:ln>
              <a:noFill/>
            </a:ln>
          </p:spPr>
          <p:txBody>
            <a:bodyPr wrap="none" lIns="0" tIns="0" rIns="0" bIns="0" anchor="t" anchorCtr="0">
              <a:spAutoFit/>
            </a:bodyPr>
            <a:lstStyle/>
            <a:p>
              <a:pPr algn="l"/>
              <a:r>
                <a:rPr lang="ko-KR" sz="1120" dirty="0">
                  <a:solidFill>
                    <a:srgbClr val="4B5563"/>
                  </a:solidFill>
                  <a:latin typeface="+mn-lt"/>
                  <a:ea typeface="+mn-ea"/>
                  <a:cs typeface="+mn-cs"/>
                </a:rPr>
                <a:t>자세히 → 9~10장</a:t>
              </a:r>
            </a:p>
          </p:txBody>
        </p:sp>
      </p:grpSp>
      <p:grpSp>
        <p:nvGrpSpPr>
          <p:cNvPr id="41" name="col3"/>
          <p:cNvGrpSpPr/>
          <p:nvPr/>
        </p:nvGrpSpPr>
        <p:grpSpPr>
          <a:xfrm>
            <a:off x="9039987" y="1600200"/>
            <a:ext cx="2618613" cy="2023428"/>
            <a:chOff x="9039987" y="1600200"/>
            <a:chExt cx="2618613" cy="2023428"/>
          </a:xfrm>
        </p:grpSpPr>
        <p:sp>
          <p:nvSpPr>
            <p:cNvPr id="36" name="Rectangle 36"/>
            <p:cNvSpPr/>
            <p:nvPr/>
          </p:nvSpPr>
          <p:spPr>
            <a:xfrm>
              <a:off x="9048750" y="1600200"/>
              <a:ext cx="2609850" cy="28575"/>
            </a:xfrm>
            <a:prstGeom prst="rect">
              <a:avLst/>
            </a:prstGeom>
            <a:solidFill>
              <a:srgbClr val="0B1E3C"/>
            </a:solidFill>
            <a:ln>
              <a:noFill/>
            </a:ln>
          </p:spPr>
        </p:sp>
        <p:sp>
          <p:nvSpPr>
            <p:cNvPr id="37" name="TextBox 37"/>
            <p:cNvSpPr txBox="1"/>
            <p:nvPr/>
          </p:nvSpPr>
          <p:spPr>
            <a:xfrm>
              <a:off x="9042654" y="1771650"/>
              <a:ext cx="335280" cy="234696"/>
            </a:xfrm>
            <a:prstGeom prst="rect">
              <a:avLst/>
            </a:prstGeom>
            <a:noFill/>
            <a:ln>
              <a:noFill/>
            </a:ln>
          </p:spPr>
          <p:txBody>
            <a:bodyPr wrap="none" lIns="0" tIns="0" rIns="0" bIns="0" anchor="t" anchorCtr="0">
              <a:spAutoFit/>
            </a:bodyPr>
            <a:lstStyle/>
            <a:p>
              <a:pPr algn="l"/>
              <a:r>
                <a:rPr lang="ko-KR" sz="1200" b="1" dirty="0">
                  <a:solidFill>
                    <a:srgbClr val="B45309"/>
                  </a:solidFill>
                  <a:latin typeface="+mn-lt"/>
                  <a:ea typeface="+mn-ea"/>
                  <a:cs typeface="+mn-cs"/>
                </a:rPr>
                <a:t>사업</a:t>
              </a:r>
            </a:p>
          </p:txBody>
        </p:sp>
        <p:sp>
          <p:nvSpPr>
            <p:cNvPr id="38" name="TextBox 38"/>
            <p:cNvSpPr txBox="1"/>
            <p:nvPr/>
          </p:nvSpPr>
          <p:spPr>
            <a:xfrm>
              <a:off x="9039987" y="2070100"/>
              <a:ext cx="2331253" cy="337376"/>
            </a:xfrm>
            <a:prstGeom prst="rect">
              <a:avLst/>
            </a:prstGeom>
            <a:noFill/>
            <a:ln>
              <a:noFill/>
            </a:ln>
          </p:spPr>
          <p:txBody>
            <a:bodyPr wrap="none" lIns="0" tIns="0" rIns="0" bIns="0" anchor="t" anchorCtr="0">
              <a:spAutoFit/>
            </a:bodyPr>
            <a:lstStyle/>
            <a:p>
              <a:pPr algn="l"/>
              <a:r>
                <a:rPr lang="ko-KR" sz="1720" b="1" dirty="0">
                  <a:solidFill>
                    <a:srgbClr val="0B1E3C"/>
                  </a:solidFill>
                  <a:latin typeface="+mn-lt"/>
                  <a:ea typeface="+mn-ea"/>
                  <a:cs typeface="+mn-cs"/>
                </a:rPr>
                <a:t>6번 보고 비용 3분의 1</a:t>
              </a:r>
            </a:p>
          </p:txBody>
        </p:sp>
        <p:sp>
          <p:nvSpPr>
            <p:cNvPr id="39" name="TextBox 39"/>
            <p:cNvSpPr txBox="1"/>
            <p:nvPr/>
          </p:nvSpPr>
          <p:spPr>
            <a:xfrm>
              <a:off x="9042273" y="2520950"/>
              <a:ext cx="1866138" cy="669417"/>
            </a:xfrm>
            <a:prstGeom prst="rect">
              <a:avLst/>
            </a:prstGeom>
            <a:noFill/>
            <a:ln>
              <a:noFill/>
            </a:ln>
          </p:spPr>
          <p:txBody>
            <a:bodyPr wrap="none" lIns="0" tIns="0" rIns="0" bIns="0" anchor="t" anchorCtr="0">
              <a:spAutoFit/>
            </a:bodyPr>
            <a:lstStyle/>
            <a:p>
              <a:pPr algn="l">
                <a:lnSpc>
                  <a:spcPts val="1650"/>
                </a:lnSpc>
              </a:pPr>
              <a:r>
                <a:rPr lang="ko-KR" sz="1280" dirty="0">
                  <a:solidFill>
                    <a:srgbClr val="374151"/>
                  </a:solidFill>
                  <a:latin typeface="+mn-lt"/>
                  <a:ea typeface="+mn-ea"/>
                  <a:cs typeface="+mn-cs"/>
                </a:rPr>
                <a:t>현행 km당 92만 원 vs</a:t>
              </a:r>
              <a:br>
                <a:rPr lang="ko-KR" sz="1280" dirty="0">
                  <a:solidFill>
                    <a:srgbClr val="374151"/>
                  </a:solidFill>
                  <a:latin typeface="+mn-lt"/>
                  <a:ea typeface="+mn-ea"/>
                  <a:cs typeface="+mn-cs"/>
                </a:rPr>
              </a:br>
              <a:r>
                <a:rPr lang="ko-KR" sz="1280" dirty="0">
                  <a:solidFill>
                    <a:srgbClr val="374151"/>
                  </a:solidFill>
                  <a:latin typeface="+mn-lt"/>
                  <a:ea typeface="+mn-ea"/>
                  <a:cs typeface="+mn-cs"/>
                </a:rPr>
                <a:t>반복 탐사 원가 4.7만 원.</a:t>
              </a:r>
              <a:br>
                <a:rPr lang="ko-KR" sz="1280" dirty="0">
                  <a:solidFill>
                    <a:srgbClr val="374151"/>
                  </a:solidFill>
                  <a:latin typeface="+mn-lt"/>
                  <a:ea typeface="+mn-ea"/>
                  <a:cs typeface="+mn-cs"/>
                </a:rPr>
              </a:br>
              <a:r>
                <a:rPr lang="ko-KR" sz="1280" dirty="0">
                  <a:solidFill>
                    <a:srgbClr val="374151"/>
                  </a:solidFill>
                  <a:latin typeface="+mn-lt"/>
                  <a:ea typeface="+mn-ea"/>
                  <a:cs typeface="+mn-cs"/>
                </a:rPr>
                <a:t>실증은 4단계로.</a:t>
              </a:r>
            </a:p>
          </p:txBody>
        </p:sp>
        <p:sp>
          <p:nvSpPr>
            <p:cNvPr id="40" name="TextBox 40"/>
            <p:cNvSpPr txBox="1"/>
            <p:nvPr/>
          </p:nvSpPr>
          <p:spPr>
            <a:xfrm>
              <a:off x="9043035" y="3403600"/>
              <a:ext cx="1202548" cy="220028"/>
            </a:xfrm>
            <a:prstGeom prst="rect">
              <a:avLst/>
            </a:prstGeom>
            <a:noFill/>
            <a:ln>
              <a:noFill/>
            </a:ln>
          </p:spPr>
          <p:txBody>
            <a:bodyPr wrap="none" lIns="0" tIns="0" rIns="0" bIns="0" anchor="t" anchorCtr="0">
              <a:spAutoFit/>
            </a:bodyPr>
            <a:lstStyle/>
            <a:p>
              <a:pPr algn="l"/>
              <a:r>
                <a:rPr lang="ko-KR" sz="1120" dirty="0">
                  <a:solidFill>
                    <a:srgbClr val="4B5563"/>
                  </a:solidFill>
                  <a:latin typeface="+mn-lt"/>
                  <a:ea typeface="+mn-ea"/>
                  <a:cs typeface="+mn-cs"/>
                </a:rPr>
                <a:t>자세히 → 11~14장</a:t>
              </a:r>
            </a:p>
          </p:txBody>
        </p:sp>
      </p:grpSp>
      <p:grpSp>
        <p:nvGrpSpPr>
          <p:cNvPr id="52" name="keynum"/>
          <p:cNvGrpSpPr/>
          <p:nvPr/>
        </p:nvGrpSpPr>
        <p:grpSpPr>
          <a:xfrm>
            <a:off x="521208" y="4260850"/>
            <a:ext cx="11137392" cy="1058228"/>
            <a:chOff x="521208" y="4260850"/>
            <a:chExt cx="11137392" cy="1058228"/>
          </a:xfrm>
        </p:grpSpPr>
        <p:sp>
          <p:nvSpPr>
            <p:cNvPr id="42" name="TextBox 42"/>
            <p:cNvSpPr txBox="1"/>
            <p:nvPr/>
          </p:nvSpPr>
          <p:spPr>
            <a:xfrm>
              <a:off x="527685" y="4260850"/>
              <a:ext cx="1161839" cy="220028"/>
            </a:xfrm>
            <a:prstGeom prst="rect">
              <a:avLst/>
            </a:prstGeom>
            <a:noFill/>
            <a:ln>
              <a:noFill/>
            </a:ln>
          </p:spPr>
          <p:txBody>
            <a:bodyPr wrap="none" lIns="0" tIns="0" rIns="0" bIns="0" anchor="t" anchorCtr="0">
              <a:spAutoFit/>
            </a:bodyPr>
            <a:lstStyle/>
            <a:p>
              <a:pPr algn="l"/>
              <a:r>
                <a:rPr lang="ko-KR" sz="1120" b="1" dirty="0">
                  <a:solidFill>
                    <a:srgbClr val="4B5563"/>
                  </a:solidFill>
                  <a:latin typeface="+mn-lt"/>
                  <a:ea typeface="+mn-ea"/>
                  <a:cs typeface="+mn-cs"/>
                </a:rPr>
                <a:t>숫자 셋으로 보면</a:t>
              </a:r>
            </a:p>
          </p:txBody>
        </p:sp>
        <p:sp>
          <p:nvSpPr>
            <p:cNvPr id="43" name="Rectangle 43"/>
            <p:cNvSpPr/>
            <p:nvPr/>
          </p:nvSpPr>
          <p:spPr>
            <a:xfrm>
              <a:off x="533400" y="4533900"/>
              <a:ext cx="3581400" cy="28575"/>
            </a:xfrm>
            <a:prstGeom prst="rect">
              <a:avLst/>
            </a:prstGeom>
            <a:solidFill>
              <a:srgbClr val="0B1E3C"/>
            </a:solidFill>
            <a:ln>
              <a:noFill/>
            </a:ln>
          </p:spPr>
        </p:sp>
        <p:sp>
          <p:nvSpPr>
            <p:cNvPr id="44" name="TextBox 44"/>
            <p:cNvSpPr txBox="1"/>
            <p:nvPr/>
          </p:nvSpPr>
          <p:spPr>
            <a:xfrm>
              <a:off x="521208" y="4679950"/>
              <a:ext cx="1332083" cy="469392"/>
            </a:xfrm>
            <a:prstGeom prst="rect">
              <a:avLst/>
            </a:prstGeom>
            <a:noFill/>
            <a:ln>
              <a:noFill/>
            </a:ln>
          </p:spPr>
          <p:txBody>
            <a:bodyPr wrap="none" lIns="0" tIns="0" rIns="0" bIns="0" anchor="t" anchorCtr="0">
              <a:spAutoFit/>
            </a:bodyPr>
            <a:lstStyle/>
            <a:p>
              <a:pPr algn="l"/>
              <a:r>
                <a:rPr lang="ko-KR" sz="2400" b="1" dirty="0">
                  <a:solidFill>
                    <a:srgbClr val="0B1E3C"/>
                  </a:solidFill>
                  <a:latin typeface="+mn-lt"/>
                  <a:ea typeface="+mn-ea"/>
                  <a:cs typeface="+mn-cs"/>
                </a:rPr>
                <a:t>100여 일</a:t>
              </a:r>
            </a:p>
          </p:txBody>
        </p:sp>
        <p:sp>
          <p:nvSpPr>
            <p:cNvPr id="45" name="TextBox 45"/>
            <p:cNvSpPr txBox="1"/>
            <p:nvPr/>
          </p:nvSpPr>
          <p:spPr>
            <a:xfrm>
              <a:off x="527685" y="5099050"/>
              <a:ext cx="2785679" cy="220028"/>
            </a:xfrm>
            <a:prstGeom prst="rect">
              <a:avLst/>
            </a:prstGeom>
            <a:noFill/>
            <a:ln>
              <a:noFill/>
            </a:ln>
          </p:spPr>
          <p:txBody>
            <a:bodyPr wrap="none" lIns="0" tIns="0" rIns="0" bIns="0" anchor="t" anchorCtr="0">
              <a:spAutoFit/>
            </a:bodyPr>
            <a:lstStyle/>
            <a:p>
              <a:pPr algn="l"/>
              <a:r>
                <a:rPr lang="ko-KR" sz="1120" dirty="0">
                  <a:solidFill>
                    <a:srgbClr val="374151"/>
                  </a:solidFill>
                  <a:latin typeface="+mn-lt"/>
                  <a:ea typeface="+mn-ea"/>
                  <a:cs typeface="+mn-cs"/>
                </a:rPr>
                <a:t>‘이상 없음’ 탐사에서 함몰까지 (연희동)</a:t>
              </a:r>
            </a:p>
          </p:txBody>
        </p:sp>
        <p:sp>
          <p:nvSpPr>
            <p:cNvPr id="46" name="Rectangle 46"/>
            <p:cNvSpPr/>
            <p:nvPr/>
          </p:nvSpPr>
          <p:spPr>
            <a:xfrm>
              <a:off x="4305300" y="4533900"/>
              <a:ext cx="3581400" cy="28575"/>
            </a:xfrm>
            <a:prstGeom prst="rect">
              <a:avLst/>
            </a:prstGeom>
            <a:solidFill>
              <a:srgbClr val="0B1E3C"/>
            </a:solidFill>
            <a:ln>
              <a:noFill/>
            </a:ln>
          </p:spPr>
        </p:sp>
        <p:sp>
          <p:nvSpPr>
            <p:cNvPr id="47" name="TextBox 47"/>
            <p:cNvSpPr txBox="1"/>
            <p:nvPr/>
          </p:nvSpPr>
          <p:spPr>
            <a:xfrm>
              <a:off x="4293108" y="4679950"/>
              <a:ext cx="907222" cy="469392"/>
            </a:xfrm>
            <a:prstGeom prst="rect">
              <a:avLst/>
            </a:prstGeom>
            <a:noFill/>
            <a:ln>
              <a:noFill/>
            </a:ln>
          </p:spPr>
          <p:txBody>
            <a:bodyPr wrap="none" lIns="0" tIns="0" rIns="0" bIns="0" anchor="t" anchorCtr="0">
              <a:spAutoFit/>
            </a:bodyPr>
            <a:lstStyle/>
            <a:p>
              <a:pPr algn="l"/>
              <a:r>
                <a:rPr lang="ko-KR" sz="2400" b="1" dirty="0">
                  <a:solidFill>
                    <a:srgbClr val="0B1E3C"/>
                  </a:solidFill>
                  <a:latin typeface="+mn-lt"/>
                  <a:ea typeface="+mn-ea"/>
                  <a:cs typeface="+mn-cs"/>
                </a:rPr>
                <a:t>2.4배</a:t>
              </a:r>
            </a:p>
          </p:txBody>
        </p:sp>
        <p:sp>
          <p:nvSpPr>
            <p:cNvPr id="48" name="TextBox 48"/>
            <p:cNvSpPr txBox="1"/>
            <p:nvPr/>
          </p:nvSpPr>
          <p:spPr>
            <a:xfrm>
              <a:off x="4299585" y="5099050"/>
              <a:ext cx="3479241" cy="220028"/>
            </a:xfrm>
            <a:prstGeom prst="rect">
              <a:avLst/>
            </a:prstGeom>
            <a:noFill/>
            <a:ln>
              <a:noFill/>
            </a:ln>
          </p:spPr>
          <p:txBody>
            <a:bodyPr wrap="none" lIns="0" tIns="0" rIns="0" bIns="0" anchor="t" anchorCtr="0">
              <a:spAutoFit/>
            </a:bodyPr>
            <a:lstStyle/>
            <a:p>
              <a:pPr algn="l"/>
              <a:r>
                <a:rPr lang="ko-KR" sz="1120" dirty="0">
                  <a:solidFill>
                    <a:srgbClr val="374151"/>
                  </a:solidFill>
                  <a:latin typeface="+mn-lt"/>
                  <a:ea typeface="+mn-ea"/>
                  <a:cs typeface="+mn-cs"/>
                </a:rPr>
                <a:t>10cm 자란 공동 vs 가장 큰 오탐 요인 (시뮬레이션)</a:t>
              </a:r>
            </a:p>
          </p:txBody>
        </p:sp>
        <p:sp>
          <p:nvSpPr>
            <p:cNvPr id="49" name="Rectangle 49"/>
            <p:cNvSpPr/>
            <p:nvPr/>
          </p:nvSpPr>
          <p:spPr>
            <a:xfrm>
              <a:off x="8077200" y="4533900"/>
              <a:ext cx="3581400" cy="28575"/>
            </a:xfrm>
            <a:prstGeom prst="rect">
              <a:avLst/>
            </a:prstGeom>
            <a:solidFill>
              <a:srgbClr val="0B1E3C"/>
            </a:solidFill>
            <a:ln>
              <a:noFill/>
            </a:ln>
          </p:spPr>
        </p:sp>
        <p:sp>
          <p:nvSpPr>
            <p:cNvPr id="50" name="TextBox 50"/>
            <p:cNvSpPr txBox="1"/>
            <p:nvPr/>
          </p:nvSpPr>
          <p:spPr>
            <a:xfrm>
              <a:off x="8065008" y="4679950"/>
              <a:ext cx="2656743" cy="469392"/>
            </a:xfrm>
            <a:prstGeom prst="rect">
              <a:avLst/>
            </a:prstGeom>
            <a:noFill/>
            <a:ln>
              <a:noFill/>
            </a:ln>
          </p:spPr>
          <p:txBody>
            <a:bodyPr wrap="none" lIns="0" tIns="0" rIns="0" bIns="0" anchor="t" anchorCtr="0">
              <a:spAutoFit/>
            </a:bodyPr>
            <a:lstStyle/>
            <a:p>
              <a:pPr algn="l"/>
              <a:r>
                <a:rPr lang="ko-KR" sz="2400" b="1" dirty="0">
                  <a:solidFill>
                    <a:srgbClr val="0B1E3C"/>
                  </a:solidFill>
                  <a:latin typeface="+mn-lt"/>
                  <a:ea typeface="+mn-ea"/>
                  <a:cs typeface="+mn-cs"/>
                </a:rPr>
                <a:t>92만 원 → 28만 원</a:t>
              </a:r>
            </a:p>
          </p:txBody>
        </p:sp>
        <p:sp>
          <p:nvSpPr>
            <p:cNvPr id="51" name="TextBox 51"/>
            <p:cNvSpPr txBox="1"/>
            <p:nvPr/>
          </p:nvSpPr>
          <p:spPr>
            <a:xfrm>
              <a:off x="8071485" y="5099050"/>
              <a:ext cx="2499208" cy="220028"/>
            </a:xfrm>
            <a:prstGeom prst="rect">
              <a:avLst/>
            </a:prstGeom>
            <a:noFill/>
            <a:ln>
              <a:noFill/>
            </a:ln>
          </p:spPr>
          <p:txBody>
            <a:bodyPr wrap="none" lIns="0" tIns="0" rIns="0" bIns="0" anchor="t" anchorCtr="0">
              <a:spAutoFit/>
            </a:bodyPr>
            <a:lstStyle/>
            <a:p>
              <a:pPr algn="l"/>
              <a:r>
                <a:rPr lang="ko-KR" sz="1120" dirty="0">
                  <a:solidFill>
                    <a:srgbClr val="374151"/>
                  </a:solidFill>
                  <a:latin typeface="+mn-lt"/>
                  <a:ea typeface="+mn-ea"/>
                  <a:cs typeface="+mn-cs"/>
                </a:rPr>
                <a:t>도로 1km·1년: 현행 1회 vs 반복 6회</a:t>
              </a:r>
            </a:p>
          </p:txBody>
        </p:sp>
      </p:grpSp>
      <p:grpSp>
        <p:nvGrpSpPr>
          <p:cNvPr id="55" name="conclusion"/>
          <p:cNvGrpSpPr/>
          <p:nvPr/>
        </p:nvGrpSpPr>
        <p:grpSpPr>
          <a:xfrm>
            <a:off x="533400" y="5619750"/>
            <a:ext cx="7382430" cy="419100"/>
            <a:chOff x="533400" y="5619750"/>
            <a:chExt cx="7382430" cy="419100"/>
          </a:xfrm>
        </p:grpSpPr>
        <p:sp>
          <p:nvSpPr>
            <p:cNvPr id="53" name="Rectangle 53"/>
            <p:cNvSpPr/>
            <p:nvPr/>
          </p:nvSpPr>
          <p:spPr>
            <a:xfrm>
              <a:off x="533400" y="5619750"/>
              <a:ext cx="38100" cy="419100"/>
            </a:xfrm>
            <a:prstGeom prst="rect">
              <a:avLst/>
            </a:prstGeom>
            <a:solidFill>
              <a:srgbClr val="F5B700"/>
            </a:solidFill>
            <a:ln>
              <a:noFill/>
            </a:ln>
          </p:spPr>
        </p:sp>
        <p:sp>
          <p:nvSpPr>
            <p:cNvPr id="54" name="TextBox 54"/>
            <p:cNvSpPr txBox="1"/>
            <p:nvPr/>
          </p:nvSpPr>
          <p:spPr>
            <a:xfrm>
              <a:off x="715899" y="5715000"/>
              <a:ext cx="7199931" cy="308991"/>
            </a:xfrm>
            <a:prstGeom prst="rect">
              <a:avLst/>
            </a:prstGeom>
            <a:noFill/>
            <a:ln>
              <a:noFill/>
            </a:ln>
          </p:spPr>
          <p:txBody>
            <a:bodyPr wrap="none" lIns="0" tIns="0" rIns="0" bIns="0" anchor="t" anchorCtr="0">
              <a:spAutoFit/>
            </a:bodyPr>
            <a:lstStyle/>
            <a:p>
              <a:pPr algn="l"/>
              <a:r>
                <a:rPr lang="ko-KR" sz="1580" b="1" dirty="0">
                  <a:solidFill>
                    <a:srgbClr val="0B1E3C"/>
                  </a:solidFill>
                  <a:latin typeface="+mn-lt"/>
                  <a:ea typeface="+mn-ea"/>
                  <a:cs typeface="+mn-cs"/>
                </a:rPr>
                <a:t>기아가 예시로 든 ‘스마트 순찰 및 재난 대응 차량’을, 땅 아래로 넓힙니다.</a:t>
              </a:r>
            </a:p>
          </p:txBody>
        </p:sp>
      </p:grpSp>
      <p:grpSp>
        <p:nvGrpSpPr>
          <p:cNvPr id="57" name="source"/>
          <p:cNvGrpSpPr/>
          <p:nvPr/>
        </p:nvGrpSpPr>
        <p:grpSpPr>
          <a:xfrm>
            <a:off x="528447" y="6381750"/>
            <a:ext cx="6115167" cy="191643"/>
            <a:chOff x="528447" y="6381750"/>
            <a:chExt cx="6115167" cy="191643"/>
          </a:xfrm>
        </p:grpSpPr>
        <p:sp>
          <p:nvSpPr>
            <p:cNvPr id="56" name="TextBox 56"/>
            <p:cNvSpPr txBox="1"/>
            <p:nvPr/>
          </p:nvSpPr>
          <p:spPr>
            <a:xfrm>
              <a:off x="528447" y="6381750"/>
              <a:ext cx="6115167" cy="191643"/>
            </a:xfrm>
            <a:prstGeom prst="rect">
              <a:avLst/>
            </a:prstGeom>
            <a:noFill/>
            <a:ln>
              <a:noFill/>
            </a:ln>
          </p:spPr>
          <p:txBody>
            <a:bodyPr wrap="none" lIns="0" tIns="0" rIns="0" bIns="0" anchor="t" anchorCtr="0">
              <a:spAutoFit/>
            </a:bodyPr>
            <a:lstStyle/>
            <a:p>
              <a:pPr algn="l"/>
              <a:r>
                <a:rPr lang="ko-KR" sz="980" dirty="0">
                  <a:solidFill>
                    <a:srgbClr val="4B5563"/>
                  </a:solidFill>
                  <a:latin typeface="+mn-lt"/>
                  <a:ea typeface="+mn-ea"/>
                  <a:cs typeface="+mn-cs"/>
                </a:rPr>
                <a:t>근거: 3장 뉴시스·세계일보 · 7장 GPR 전자기 시뮬레이션 · 12장 서울시 2024 공동조사용역 최종보고서</a:t>
              </a:r>
            </a:p>
          </p:txBody>
        </p:sp>
      </p:grpSp>
      <p:grpSp>
        <p:nvGrpSpPr>
          <p:cNvPr id="60" name="footer"/>
          <p:cNvGrpSpPr/>
          <p:nvPr/>
        </p:nvGrpSpPr>
        <p:grpSpPr>
          <a:xfrm>
            <a:off x="528638" y="6610350"/>
            <a:ext cx="11134724" cy="176212"/>
            <a:chOff x="528638" y="6610350"/>
            <a:chExt cx="11134724" cy="176212"/>
          </a:xfrm>
        </p:grpSpPr>
        <p:sp>
          <p:nvSpPr>
            <p:cNvPr id="58" name="TextBox 58"/>
            <p:cNvSpPr txBox="1"/>
            <p:nvPr/>
          </p:nvSpPr>
          <p:spPr>
            <a:xfrm>
              <a:off x="528638" y="6610350"/>
              <a:ext cx="1020324" cy="176212"/>
            </a:xfrm>
            <a:prstGeom prst="rect">
              <a:avLst/>
            </a:prstGeom>
            <a:noFill/>
            <a:ln>
              <a:noFill/>
            </a:ln>
          </p:spPr>
          <p:txBody>
            <a:bodyPr wrap="none" lIns="0" tIns="0" rIns="0" bIns="0" anchor="t" anchorCtr="0">
              <a:spAutoFit/>
            </a:bodyPr>
            <a:lstStyle/>
            <a:p>
              <a:pPr algn="l"/>
              <a:r>
                <a:rPr lang="en-US" sz="900" dirty="0">
                  <a:solidFill>
                    <a:srgbClr val="4B5563"/>
                  </a:solidFill>
                  <a:latin typeface="+mn-lt"/>
                  <a:ea typeface="+mn-ea"/>
                  <a:cs typeface="+mn-cs"/>
                </a:rPr>
                <a:t>PV5 GroundWatch</a:t>
              </a:r>
            </a:p>
          </p:txBody>
        </p:sp>
        <p:sp>
          <p:nvSpPr>
            <p:cNvPr id="59" name="TextBox 59"/>
            <p:cNvSpPr txBox="1"/>
            <p:nvPr/>
          </p:nvSpPr>
          <p:spPr>
            <a:xfrm>
              <a:off x="11247958" y="6610350"/>
              <a:ext cx="415404" cy="176212"/>
            </a:xfrm>
            <a:prstGeom prst="rect">
              <a:avLst/>
            </a:prstGeom>
            <a:noFill/>
            <a:ln>
              <a:noFill/>
            </a:ln>
          </p:spPr>
          <p:txBody>
            <a:bodyPr wrap="none" lIns="0" tIns="0" rIns="0" bIns="0" anchor="t" anchorCtr="0">
              <a:spAutoFit/>
            </a:bodyPr>
            <a:lstStyle/>
            <a:p>
              <a:pPr algn="r"/>
              <a:r>
                <a:rPr lang="ko-KR" sz="900" dirty="0">
                  <a:solidFill>
                    <a:srgbClr val="4B5563"/>
                  </a:solidFill>
                  <a:latin typeface="+mn-lt"/>
                  <a:ea typeface="+mn-ea"/>
                  <a:cs typeface="+mn-cs"/>
                </a:rPr>
                <a:t>02 / 15</a:t>
              </a:r>
            </a:p>
          </p:txBody>
        </p:sp>
      </p:grpSp>
    </p:spTree>
  </p:cSld>
  <p:clrMapOvr>
    <a:masterClrMapping/>
  </p:clrMapOvr>
  <p:transition xmlns:p14="http://schemas.microsoft.com/office/powerpoint/2010/main" p14:dur="400">
    <p:fade/>
  </p:transition>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grpSp>
        <p:nvGrpSpPr>
          <p:cNvPr id="6" name="header"/>
          <p:cNvGrpSpPr/>
          <p:nvPr/>
        </p:nvGrpSpPr>
        <p:grpSpPr>
          <a:xfrm>
            <a:off x="533400" y="266700"/>
            <a:ext cx="11125200" cy="333375"/>
            <a:chOff x="533400" y="266700"/>
            <a:chExt cx="11125200" cy="333375"/>
          </a:xfrm>
        </p:grpSpPr>
        <p:sp>
          <p:nvSpPr>
            <p:cNvPr id="2" name="Rectangle 2"/>
            <p:cNvSpPr/>
            <p:nvPr/>
          </p:nvSpPr>
          <p:spPr>
            <a:xfrm>
              <a:off x="533400" y="266700"/>
              <a:ext cx="1333500" cy="228600"/>
            </a:xfrm>
            <a:prstGeom prst="rect">
              <a:avLst/>
            </a:prstGeom>
            <a:solidFill>
              <a:srgbClr val="0B1E3C"/>
            </a:solidFill>
            <a:ln>
              <a:noFill/>
            </a:ln>
          </p:spPr>
        </p:sp>
        <p:sp>
          <p:nvSpPr>
            <p:cNvPr id="3" name="TextBox 3"/>
            <p:cNvSpPr txBox="1"/>
            <p:nvPr/>
          </p:nvSpPr>
          <p:spPr>
            <a:xfrm>
              <a:off x="617357" y="314325"/>
              <a:ext cx="1165586" cy="191643"/>
            </a:xfrm>
            <a:prstGeom prst="rect">
              <a:avLst/>
            </a:prstGeom>
            <a:noFill/>
            <a:ln>
              <a:noFill/>
            </a:ln>
          </p:spPr>
          <p:txBody>
            <a:bodyPr wrap="none" lIns="0" tIns="0" rIns="0" bIns="0" anchor="t" anchorCtr="0">
              <a:spAutoFit/>
            </a:bodyPr>
            <a:lstStyle/>
            <a:p>
              <a:pPr algn="ctr"/>
              <a:r>
                <a:rPr lang="en-US" sz="980" b="1" dirty="0">
                  <a:solidFill>
                    <a:srgbClr val="FFFFFF"/>
                  </a:solidFill>
                  <a:latin typeface="+mn-lt"/>
                  <a:ea typeface="+mn-ea"/>
                  <a:cs typeface="+mn-cs"/>
                </a:rPr>
                <a:t>PV5 GroundWatch</a:t>
              </a:r>
            </a:p>
          </p:txBody>
        </p:sp>
        <p:sp>
          <p:nvSpPr>
            <p:cNvPr id="4" name="TextBox 4"/>
            <p:cNvSpPr txBox="1"/>
            <p:nvPr/>
          </p:nvSpPr>
          <p:spPr>
            <a:xfrm>
              <a:off x="1994916" y="301625"/>
              <a:ext cx="1084936" cy="205359"/>
            </a:xfrm>
            <a:prstGeom prst="rect">
              <a:avLst/>
            </a:prstGeom>
            <a:noFill/>
            <a:ln>
              <a:noFill/>
            </a:ln>
          </p:spPr>
          <p:txBody>
            <a:bodyPr wrap="none" lIns="0" tIns="0" rIns="0" bIns="0" anchor="t" anchorCtr="0">
              <a:spAutoFit/>
            </a:bodyPr>
            <a:lstStyle/>
            <a:p>
              <a:pPr algn="l"/>
              <a:r>
                <a:rPr lang="ko-KR" sz="1050" dirty="0">
                  <a:solidFill>
                    <a:srgbClr val="374151"/>
                  </a:solidFill>
                  <a:latin typeface="+mn-lt"/>
                  <a:ea typeface="+mn-ea"/>
                  <a:cs typeface="+mn-cs"/>
                </a:rPr>
                <a:t>실제로 일어난 일</a:t>
              </a:r>
            </a:p>
          </p:txBody>
        </p:sp>
        <p:sp>
          <p:nvSpPr>
            <p:cNvPr id="5" name="Line 5"/>
            <p:cNvSpPr/>
            <p:nvPr/>
          </p:nvSpPr>
          <p:spPr>
            <a:xfrm>
              <a:off x="533400" y="590550"/>
              <a:ext cx="11125200" cy="9525"/>
            </a:xfrm>
            <a:custGeom>
              <a:avLst/>
              <a:gdLst/>
              <a:ahLst/>
              <a:cxnLst/>
              <a:rect l="l" t="t" r="r" b="b"/>
              <a:pathLst>
                <a:path w="11125200" h="9525">
                  <a:moveTo>
                    <a:pt x="0" y="0"/>
                  </a:moveTo>
                  <a:lnTo>
                    <a:pt x="11125200" y="0"/>
                  </a:lnTo>
                </a:path>
              </a:pathLst>
            </a:custGeom>
            <a:noFill/>
            <a:ln w="9525">
              <a:solidFill>
                <a:srgbClr val="0B1E3C"/>
              </a:solidFill>
            </a:ln>
          </p:spPr>
        </p:sp>
      </p:grpSp>
      <p:grpSp>
        <p:nvGrpSpPr>
          <p:cNvPr id="14" name="incident-map"/>
          <p:cNvGrpSpPr/>
          <p:nvPr/>
        </p:nvGrpSpPr>
        <p:grpSpPr>
          <a:xfrm>
            <a:off x="6477000" y="0"/>
            <a:ext cx="5715000" cy="6858000"/>
            <a:chOff x="6477000" y="0"/>
            <a:chExt cx="5715000" cy="6858000"/>
          </a:xfrm>
        </p:grpSpPr>
        <p:pic>
          <p:nvPicPr>
            <p:cNvPr id="7" name="Image 7"/>
            <p:cNvPicPr>
              <a:picLocks noChangeAspect="1"/>
            </p:cNvPicPr>
            <p:nvPr/>
          </p:nvPicPr>
          <p:blipFill>
            <a:blip r:embed="rId2"/>
            <a:srcRect l="3125" t="0" r="3125" b="0"/>
            <a:stretch>
              <a:fillRect/>
            </a:stretch>
          </p:blipFill>
          <p:spPr>
            <a:xfrm>
              <a:off x="6477000" y="0"/>
              <a:ext cx="5715000" cy="6858000"/>
            </a:xfrm>
            <a:prstGeom prst="rect">
              <a:avLst/>
            </a:prstGeom>
          </p:spPr>
        </p:pic>
        <p:sp>
          <p:nvSpPr>
            <p:cNvPr id="8" name="Rectangle 8"/>
            <p:cNvSpPr/>
            <p:nvPr/>
          </p:nvSpPr>
          <p:spPr>
            <a:xfrm>
              <a:off x="6477000" y="4095750"/>
              <a:ext cx="5715000" cy="2762250"/>
            </a:xfrm>
            <a:prstGeom prst="rect">
              <a:avLst/>
            </a:prstGeom>
            <a:gradFill>
              <a:gsLst>
                <a:gs pos="0">
                  <a:srgbClr val="05070B">
                    <a:alpha val="0"/>
                  </a:srgbClr>
                </a:gs>
                <a:gs pos="100000">
                  <a:srgbClr val="05070B">
                    <a:alpha val="88000"/>
                  </a:srgbClr>
                </a:gs>
              </a:gsLst>
              <a:lin ang="5400000" scaled="1"/>
            </a:gradFill>
            <a:ln>
              <a:noFill/>
            </a:ln>
          </p:spPr>
        </p:sp>
        <p:sp>
          <p:nvSpPr>
            <p:cNvPr id="9" name="Rectangle 9"/>
            <p:cNvSpPr/>
            <p:nvPr/>
          </p:nvSpPr>
          <p:spPr>
            <a:xfrm>
              <a:off x="6667500" y="1428750"/>
              <a:ext cx="2152650" cy="533400"/>
            </a:xfrm>
            <a:prstGeom prst="roundRect">
              <a:avLst>
                <a:gd name="adj" fmla="val 7143"/>
              </a:avLst>
            </a:prstGeom>
            <a:solidFill>
              <a:srgbClr val="0B1E3C">
                <a:alpha val="92000"/>
              </a:srgbClr>
            </a:solidFill>
            <a:ln>
              <a:noFill/>
            </a:ln>
          </p:spPr>
        </p:sp>
        <p:sp>
          <p:nvSpPr>
            <p:cNvPr id="10" name="TextBox 10"/>
            <p:cNvSpPr txBox="1"/>
            <p:nvPr/>
          </p:nvSpPr>
          <p:spPr>
            <a:xfrm>
              <a:off x="6794754" y="1504950"/>
              <a:ext cx="1599766" cy="234696"/>
            </a:xfrm>
            <a:prstGeom prst="rect">
              <a:avLst/>
            </a:prstGeom>
            <a:noFill/>
            <a:ln>
              <a:noFill/>
            </a:ln>
          </p:spPr>
          <p:txBody>
            <a:bodyPr wrap="none" lIns="0" tIns="0" rIns="0" bIns="0" anchor="t" anchorCtr="0">
              <a:spAutoFit/>
            </a:bodyPr>
            <a:lstStyle/>
            <a:p>
              <a:pPr algn="l"/>
              <a:r>
                <a:rPr lang="ko-KR" sz="1200" b="1" dirty="0">
                  <a:solidFill>
                    <a:srgbClr val="FFFFFF"/>
                  </a:solidFill>
                  <a:latin typeface="+mn-lt"/>
                  <a:ea typeface="+mn-ea"/>
                  <a:cs typeface="+mn-cs"/>
                </a:rPr>
                <a:t>2024.8.29 사고 구간</a:t>
              </a:r>
            </a:p>
          </p:txBody>
        </p:sp>
        <p:sp>
          <p:nvSpPr>
            <p:cNvPr id="11" name="TextBox 11"/>
            <p:cNvSpPr txBox="1"/>
            <p:nvPr/>
          </p:nvSpPr>
          <p:spPr>
            <a:xfrm>
              <a:off x="6795135" y="1717675"/>
              <a:ext cx="1609639" cy="220028"/>
            </a:xfrm>
            <a:prstGeom prst="rect">
              <a:avLst/>
            </a:prstGeom>
            <a:noFill/>
            <a:ln>
              <a:noFill/>
            </a:ln>
          </p:spPr>
          <p:txBody>
            <a:bodyPr wrap="none" lIns="0" tIns="0" rIns="0" bIns="0" anchor="t" anchorCtr="0">
              <a:spAutoFit/>
            </a:bodyPr>
            <a:lstStyle/>
            <a:p>
              <a:pPr algn="l"/>
              <a:r>
                <a:rPr lang="ko-KR" sz="1120" dirty="0">
                  <a:solidFill>
                    <a:srgbClr val="D6DDE8"/>
                  </a:solidFill>
                  <a:latin typeface="+mn-lt"/>
                  <a:ea typeface="+mn-ea"/>
                  <a:cs typeface="+mn-cs"/>
                </a:rPr>
                <a:t>서대문구 연희동 성산로</a:t>
              </a:r>
            </a:p>
          </p:txBody>
        </p:sp>
        <p:sp>
          <p:nvSpPr>
            <p:cNvPr id="12" name="TextBox 12"/>
            <p:cNvSpPr txBox="1"/>
            <p:nvPr/>
          </p:nvSpPr>
          <p:spPr>
            <a:xfrm>
              <a:off x="6771132" y="5314950"/>
              <a:ext cx="4245197" cy="810768"/>
            </a:xfrm>
            <a:prstGeom prst="rect">
              <a:avLst/>
            </a:prstGeom>
            <a:noFill/>
            <a:ln>
              <a:noFill/>
            </a:ln>
          </p:spPr>
          <p:txBody>
            <a:bodyPr wrap="none" lIns="0" tIns="0" rIns="0" bIns="0" anchor="t" anchorCtr="0">
              <a:spAutoFit/>
            </a:bodyPr>
            <a:lstStyle/>
            <a:p>
              <a:pPr algn="l">
                <a:lnSpc>
                  <a:spcPts val="3150"/>
                </a:lnSpc>
              </a:pPr>
              <a:r>
                <a:rPr lang="ko-KR" sz="2100" b="1" dirty="0">
                  <a:solidFill>
                    <a:srgbClr val="FFFFFF"/>
                  </a:solidFill>
                  <a:latin typeface="+mn-lt"/>
                  <a:ea typeface="+mn-ea"/>
                  <a:cs typeface="+mn-cs"/>
                </a:rPr>
                <a:t>평범한 도로가</a:t>
              </a:r>
              <a:br>
                <a:rPr lang="ko-KR" sz="2100" b="1" dirty="0">
                  <a:solidFill>
                    <a:srgbClr val="FFFFFF"/>
                  </a:solidFill>
                  <a:latin typeface="+mn-lt"/>
                  <a:ea typeface="+mn-ea"/>
                  <a:cs typeface="+mn-cs"/>
                </a:rPr>
              </a:br>
              <a:r>
                <a:rPr lang="ko-KR" sz="2100" b="1" dirty="0">
                  <a:solidFill>
                    <a:srgbClr val="FFFFFF"/>
                  </a:solidFill>
                  <a:latin typeface="+mn-lt"/>
                  <a:ea typeface="+mn-ea"/>
                  <a:cs typeface="+mn-cs"/>
                </a:rPr>
                <a:t>한 사람의 마지막 길이 되었습니다.</a:t>
              </a:r>
            </a:p>
          </p:txBody>
        </p:sp>
        <p:sp>
          <p:nvSpPr>
            <p:cNvPr id="13" name="TextBox 13"/>
            <p:cNvSpPr txBox="1"/>
            <p:nvPr/>
          </p:nvSpPr>
          <p:spPr>
            <a:xfrm>
              <a:off x="6777038" y="6457950"/>
              <a:ext cx="4627108" cy="176212"/>
            </a:xfrm>
            <a:prstGeom prst="rect">
              <a:avLst/>
            </a:prstGeom>
            <a:noFill/>
            <a:ln>
              <a:noFill/>
            </a:ln>
          </p:spPr>
          <p:txBody>
            <a:bodyPr wrap="none" lIns="0" tIns="0" rIns="0" bIns="0" anchor="t" anchorCtr="0">
              <a:spAutoFit/>
            </a:bodyPr>
            <a:lstStyle/>
            <a:p>
              <a:pPr algn="l"/>
              <a:r>
                <a:rPr lang="ko-KR" sz="900" dirty="0">
                  <a:solidFill>
                    <a:srgbClr val="C3CCD9"/>
                  </a:solidFill>
                  <a:latin typeface="+mn-lt"/>
                  <a:ea typeface="+mn-ea"/>
                  <a:cs typeface="+mn-cs"/>
                </a:rPr>
                <a:t>지도 © OpenStreetMap contributors · 정확한 지점은 보도되지 않아 구간으로 표시</a:t>
              </a:r>
            </a:p>
          </p:txBody>
        </p:sp>
      </p:grpSp>
      <p:grpSp>
        <p:nvGrpSpPr>
          <p:cNvPr id="16" name="kicker"/>
          <p:cNvGrpSpPr/>
          <p:nvPr/>
        </p:nvGrpSpPr>
        <p:grpSpPr>
          <a:xfrm>
            <a:off x="526542" y="1301750"/>
            <a:ext cx="2927869" cy="264033"/>
            <a:chOff x="526542" y="1301750"/>
            <a:chExt cx="2927869" cy="264033"/>
          </a:xfrm>
        </p:grpSpPr>
        <p:sp>
          <p:nvSpPr>
            <p:cNvPr id="15" name="TextBox 15"/>
            <p:cNvSpPr txBox="1"/>
            <p:nvPr/>
          </p:nvSpPr>
          <p:spPr>
            <a:xfrm>
              <a:off x="526542" y="1301750"/>
              <a:ext cx="2927869" cy="264033"/>
            </a:xfrm>
            <a:prstGeom prst="rect">
              <a:avLst/>
            </a:prstGeom>
            <a:noFill/>
            <a:ln>
              <a:noFill/>
            </a:ln>
          </p:spPr>
          <p:txBody>
            <a:bodyPr wrap="none" lIns="0" tIns="0" rIns="0" bIns="0" anchor="t" anchorCtr="0">
              <a:spAutoFit/>
            </a:bodyPr>
            <a:lstStyle/>
            <a:p>
              <a:pPr algn="l"/>
              <a:r>
                <a:rPr lang="ko-KR" sz="1350" b="1" dirty="0">
                  <a:solidFill>
                    <a:srgbClr val="C62828"/>
                  </a:solidFill>
                  <a:latin typeface="+mn-lt"/>
                  <a:ea typeface="+mn-ea"/>
                  <a:cs typeface="+mn-cs"/>
                </a:rPr>
                <a:t>2024.8.29 · 서울 서대문구 연희동</a:t>
              </a:r>
            </a:p>
          </p:txBody>
        </p:sp>
      </p:grpSp>
      <p:grpSp>
        <p:nvGrpSpPr>
          <p:cNvPr id="19" name="title"/>
          <p:cNvGrpSpPr/>
          <p:nvPr/>
        </p:nvGrpSpPr>
        <p:grpSpPr>
          <a:xfrm>
            <a:off x="518160" y="1746250"/>
            <a:ext cx="6039790" cy="1120140"/>
            <a:chOff x="518160" y="1746250"/>
            <a:chExt cx="6039790" cy="1120140"/>
          </a:xfrm>
        </p:grpSpPr>
        <p:sp>
          <p:nvSpPr>
            <p:cNvPr id="17" name="TextBox 17"/>
            <p:cNvSpPr txBox="1"/>
            <p:nvPr/>
          </p:nvSpPr>
          <p:spPr>
            <a:xfrm>
              <a:off x="518160" y="1746250"/>
              <a:ext cx="3043100" cy="586740"/>
            </a:xfrm>
            <a:prstGeom prst="rect">
              <a:avLst/>
            </a:prstGeom>
            <a:noFill/>
            <a:ln>
              <a:noFill/>
            </a:ln>
          </p:spPr>
          <p:txBody>
            <a:bodyPr wrap="none" lIns="0" tIns="0" rIns="0" bIns="0" anchor="t" anchorCtr="0">
              <a:spAutoFit/>
            </a:bodyPr>
            <a:lstStyle/>
            <a:p>
              <a:pPr algn="l"/>
              <a:r>
                <a:rPr lang="ko-KR" sz="3000" b="1" spc="-112" dirty="0">
                  <a:solidFill>
                    <a:srgbClr val="0B1E3C"/>
                  </a:solidFill>
                  <a:latin typeface="+mn-lt"/>
                  <a:ea typeface="+mn-ea"/>
                  <a:cs typeface="+mn-cs"/>
                </a:rPr>
                <a:t>‘이상 없음’ 판정</a:t>
              </a:r>
            </a:p>
          </p:txBody>
        </p:sp>
        <p:sp>
          <p:nvSpPr>
            <p:cNvPr id="18" name="TextBox 18"/>
            <p:cNvSpPr txBox="1"/>
            <p:nvPr/>
          </p:nvSpPr>
          <p:spPr>
            <a:xfrm>
              <a:off x="518160" y="2279650"/>
              <a:ext cx="6039790" cy="586740"/>
            </a:xfrm>
            <a:prstGeom prst="rect">
              <a:avLst/>
            </a:prstGeom>
            <a:noFill/>
            <a:ln>
              <a:noFill/>
            </a:ln>
          </p:spPr>
          <p:txBody>
            <a:bodyPr wrap="none" lIns="0" tIns="0" rIns="0" bIns="0" anchor="t" anchorCtr="0">
              <a:spAutoFit/>
            </a:bodyPr>
            <a:lstStyle/>
            <a:p>
              <a:pPr algn="l"/>
              <a:r>
                <a:rPr lang="ko-KR" sz="3000" b="1" spc="-112" dirty="0">
                  <a:solidFill>
                    <a:srgbClr val="C62828"/>
                  </a:solidFill>
                  <a:latin typeface="+mn-lt"/>
                  <a:ea typeface="+mn-ea"/>
                  <a:cs typeface="+mn-cs"/>
                </a:rPr>
                <a:t>100여 일 뒤, 도로가 무너졌습니다</a:t>
              </a:r>
            </a:p>
          </p:txBody>
        </p:sp>
      </p:grpSp>
      <p:grpSp>
        <p:nvGrpSpPr>
          <p:cNvPr id="29" name="timeline"/>
          <p:cNvGrpSpPr/>
          <p:nvPr/>
        </p:nvGrpSpPr>
        <p:grpSpPr>
          <a:xfrm>
            <a:off x="717804" y="3257550"/>
            <a:ext cx="5346192" cy="1053846"/>
            <a:chOff x="717804" y="3257550"/>
            <a:chExt cx="5346192" cy="1053846"/>
          </a:xfrm>
        </p:grpSpPr>
        <p:sp>
          <p:nvSpPr>
            <p:cNvPr id="20" name="Rectangle 20"/>
            <p:cNvSpPr/>
            <p:nvPr/>
          </p:nvSpPr>
          <p:spPr>
            <a:xfrm>
              <a:off x="819150" y="3800475"/>
              <a:ext cx="5143500" cy="95250"/>
            </a:xfrm>
            <a:prstGeom prst="rect">
              <a:avLst/>
            </a:prstGeom>
            <a:solidFill>
              <a:srgbClr val="F5B700">
                <a:alpha val="28000"/>
              </a:srgbClr>
            </a:solidFill>
            <a:ln>
              <a:noFill/>
            </a:ln>
          </p:spPr>
        </p:sp>
        <p:sp>
          <p:nvSpPr>
            <p:cNvPr id="21" name="Line 21"/>
            <p:cNvSpPr/>
            <p:nvPr/>
          </p:nvSpPr>
          <p:spPr>
            <a:xfrm>
              <a:off x="819150" y="3848100"/>
              <a:ext cx="5143500" cy="9525"/>
            </a:xfrm>
            <a:custGeom>
              <a:avLst/>
              <a:gdLst/>
              <a:ahLst/>
              <a:cxnLst/>
              <a:rect l="l" t="t" r="r" b="b"/>
              <a:pathLst>
                <a:path w="5143500" h="9525">
                  <a:moveTo>
                    <a:pt x="0" y="0"/>
                  </a:moveTo>
                  <a:lnTo>
                    <a:pt x="5143500" y="0"/>
                  </a:lnTo>
                </a:path>
              </a:pathLst>
            </a:custGeom>
            <a:noFill/>
            <a:ln w="19050">
              <a:solidFill>
                <a:srgbClr val="C3CCD9"/>
              </a:solidFill>
            </a:ln>
          </p:spPr>
        </p:sp>
        <p:sp>
          <p:nvSpPr>
            <p:cNvPr id="22" name="Ellipse 22"/>
            <p:cNvSpPr/>
            <p:nvPr/>
          </p:nvSpPr>
          <p:spPr>
            <a:xfrm>
              <a:off x="723900" y="3752850"/>
              <a:ext cx="190500" cy="190500"/>
            </a:xfrm>
            <a:prstGeom prst="ellipse">
              <a:avLst/>
            </a:prstGeom>
            <a:solidFill>
              <a:srgbClr val="0B1E3C"/>
            </a:solidFill>
            <a:ln w="28575">
              <a:solidFill>
                <a:srgbClr val="FFFFFF"/>
              </a:solidFill>
            </a:ln>
          </p:spPr>
        </p:sp>
        <p:sp>
          <p:nvSpPr>
            <p:cNvPr id="23" name="Ellipse 23"/>
            <p:cNvSpPr/>
            <p:nvPr/>
          </p:nvSpPr>
          <p:spPr>
            <a:xfrm>
              <a:off x="5867400" y="3752850"/>
              <a:ext cx="190500" cy="190500"/>
            </a:xfrm>
            <a:prstGeom prst="ellipse">
              <a:avLst/>
            </a:prstGeom>
            <a:solidFill>
              <a:srgbClr val="C62828"/>
            </a:solidFill>
            <a:ln w="28575">
              <a:solidFill>
                <a:srgbClr val="FFFFFF"/>
              </a:solidFill>
            </a:ln>
          </p:spPr>
        </p:sp>
        <p:sp>
          <p:nvSpPr>
            <p:cNvPr id="24" name="TextBox 24"/>
            <p:cNvSpPr txBox="1"/>
            <p:nvPr/>
          </p:nvSpPr>
          <p:spPr>
            <a:xfrm>
              <a:off x="717804" y="3257550"/>
              <a:ext cx="1038400" cy="234696"/>
            </a:xfrm>
            <a:prstGeom prst="rect">
              <a:avLst/>
            </a:prstGeom>
            <a:noFill/>
            <a:ln>
              <a:noFill/>
            </a:ln>
          </p:spPr>
          <p:txBody>
            <a:bodyPr wrap="none" lIns="0" tIns="0" rIns="0" bIns="0" anchor="t" anchorCtr="0">
              <a:spAutoFit/>
            </a:bodyPr>
            <a:lstStyle/>
            <a:p>
              <a:pPr algn="l"/>
              <a:r>
                <a:rPr lang="ko-KR" sz="1200" b="1" dirty="0">
                  <a:solidFill>
                    <a:srgbClr val="0B1E3C"/>
                  </a:solidFill>
                  <a:latin typeface="+mn-lt"/>
                  <a:ea typeface="+mn-ea"/>
                  <a:cs typeface="+mn-cs"/>
                </a:rPr>
                <a:t>2024.5.7~16</a:t>
              </a:r>
            </a:p>
          </p:txBody>
        </p:sp>
        <p:sp>
          <p:nvSpPr>
            <p:cNvPr id="25" name="TextBox 25"/>
            <p:cNvSpPr txBox="1"/>
            <p:nvPr/>
          </p:nvSpPr>
          <p:spPr>
            <a:xfrm>
              <a:off x="718185" y="3479800"/>
              <a:ext cx="1794693" cy="220028"/>
            </a:xfrm>
            <a:prstGeom prst="rect">
              <a:avLst/>
            </a:prstGeom>
            <a:noFill/>
            <a:ln>
              <a:noFill/>
            </a:ln>
          </p:spPr>
          <p:txBody>
            <a:bodyPr wrap="none" lIns="0" tIns="0" rIns="0" bIns="0" anchor="t" anchorCtr="0">
              <a:spAutoFit/>
            </a:bodyPr>
            <a:lstStyle/>
            <a:p>
              <a:pPr algn="l"/>
              <a:r>
                <a:rPr lang="ko-KR" sz="1120" dirty="0">
                  <a:solidFill>
                    <a:srgbClr val="374151"/>
                  </a:solidFill>
                  <a:latin typeface="+mn-lt"/>
                  <a:ea typeface="+mn-ea"/>
                  <a:cs typeface="+mn-cs"/>
                </a:rPr>
                <a:t>정기 GPR 탐사 · 공동 없음</a:t>
              </a:r>
            </a:p>
          </p:txBody>
        </p:sp>
        <p:sp>
          <p:nvSpPr>
            <p:cNvPr id="26" name="TextBox 26"/>
            <p:cNvSpPr txBox="1"/>
            <p:nvPr/>
          </p:nvSpPr>
          <p:spPr>
            <a:xfrm>
              <a:off x="5212179" y="3257550"/>
              <a:ext cx="851817" cy="234696"/>
            </a:xfrm>
            <a:prstGeom prst="rect">
              <a:avLst/>
            </a:prstGeom>
            <a:noFill/>
            <a:ln>
              <a:noFill/>
            </a:ln>
          </p:spPr>
          <p:txBody>
            <a:bodyPr wrap="none" lIns="0" tIns="0" rIns="0" bIns="0" anchor="t" anchorCtr="0">
              <a:spAutoFit/>
            </a:bodyPr>
            <a:lstStyle/>
            <a:p>
              <a:pPr algn="r"/>
              <a:r>
                <a:rPr lang="ko-KR" sz="1200" b="1" dirty="0">
                  <a:solidFill>
                    <a:srgbClr val="C62828"/>
                  </a:solidFill>
                  <a:latin typeface="+mn-lt"/>
                  <a:ea typeface="+mn-ea"/>
                  <a:cs typeface="+mn-cs"/>
                </a:rPr>
                <a:t>2024.8.29</a:t>
              </a:r>
            </a:p>
          </p:txBody>
        </p:sp>
        <p:sp>
          <p:nvSpPr>
            <p:cNvPr id="27" name="TextBox 27"/>
            <p:cNvSpPr txBox="1"/>
            <p:nvPr/>
          </p:nvSpPr>
          <p:spPr>
            <a:xfrm>
              <a:off x="5403855" y="3479800"/>
              <a:ext cx="659760" cy="220028"/>
            </a:xfrm>
            <a:prstGeom prst="rect">
              <a:avLst/>
            </a:prstGeom>
            <a:noFill/>
            <a:ln>
              <a:noFill/>
            </a:ln>
          </p:spPr>
          <p:txBody>
            <a:bodyPr wrap="none" lIns="0" tIns="0" rIns="0" bIns="0" anchor="t" anchorCtr="0">
              <a:spAutoFit/>
            </a:bodyPr>
            <a:lstStyle/>
            <a:p>
              <a:pPr algn="r"/>
              <a:r>
                <a:rPr lang="ko-KR" sz="1120" dirty="0">
                  <a:solidFill>
                    <a:srgbClr val="C62828"/>
                  </a:solidFill>
                  <a:latin typeface="+mn-lt"/>
                  <a:ea typeface="+mn-ea"/>
                  <a:cs typeface="+mn-cs"/>
                </a:rPr>
                <a:t>도로 함몰</a:t>
              </a:r>
            </a:p>
          </p:txBody>
        </p:sp>
        <p:sp>
          <p:nvSpPr>
            <p:cNvPr id="28" name="TextBox 28"/>
            <p:cNvSpPr txBox="1"/>
            <p:nvPr/>
          </p:nvSpPr>
          <p:spPr>
            <a:xfrm>
              <a:off x="1357427" y="4076700"/>
              <a:ext cx="4066946" cy="234696"/>
            </a:xfrm>
            <a:prstGeom prst="rect">
              <a:avLst/>
            </a:prstGeom>
            <a:noFill/>
            <a:ln>
              <a:noFill/>
            </a:ln>
          </p:spPr>
          <p:txBody>
            <a:bodyPr wrap="none" lIns="0" tIns="0" rIns="0" bIns="0" anchor="t" anchorCtr="0">
              <a:spAutoFit/>
            </a:bodyPr>
            <a:lstStyle/>
            <a:p>
              <a:pPr algn="ctr"/>
              <a:r>
                <a:rPr lang="ko-KR" sz="1200" dirty="0">
                  <a:solidFill>
                    <a:srgbClr val="374151"/>
                  </a:solidFill>
                  <a:latin typeface="+mn-lt"/>
                  <a:ea typeface="+mn-ea"/>
                  <a:cs typeface="+mn-cs"/>
                </a:rPr>
                <a:t>그 사이 지하에서 무슨 일이 있었는지는 기록이 없습니다</a:t>
              </a:r>
            </a:p>
          </p:txBody>
        </p:sp>
      </p:grpSp>
      <p:grpSp>
        <p:nvGrpSpPr>
          <p:cNvPr id="37" name="facts"/>
          <p:cNvGrpSpPr/>
          <p:nvPr/>
        </p:nvGrpSpPr>
        <p:grpSpPr>
          <a:xfrm>
            <a:off x="518160" y="4686300"/>
            <a:ext cx="5539740" cy="880428"/>
            <a:chOff x="518160" y="4686300"/>
            <a:chExt cx="5539740" cy="880428"/>
          </a:xfrm>
        </p:grpSpPr>
        <p:sp>
          <p:nvSpPr>
            <p:cNvPr id="30" name="Line 30"/>
            <p:cNvSpPr/>
            <p:nvPr/>
          </p:nvSpPr>
          <p:spPr>
            <a:xfrm>
              <a:off x="533400" y="4686300"/>
              <a:ext cx="5524500" cy="9525"/>
            </a:xfrm>
            <a:custGeom>
              <a:avLst/>
              <a:gdLst/>
              <a:ahLst/>
              <a:cxnLst/>
              <a:rect l="l" t="t" r="r" b="b"/>
              <a:pathLst>
                <a:path w="5524500" h="9525">
                  <a:moveTo>
                    <a:pt x="0" y="0"/>
                  </a:moveTo>
                  <a:lnTo>
                    <a:pt x="5524500" y="0"/>
                  </a:lnTo>
                </a:path>
              </a:pathLst>
            </a:custGeom>
            <a:noFill/>
            <a:ln w="9525">
              <a:solidFill>
                <a:srgbClr val="E2E6EC"/>
              </a:solidFill>
            </a:ln>
          </p:spPr>
        </p:sp>
        <p:sp>
          <p:nvSpPr>
            <p:cNvPr id="31" name="TextBox 31"/>
            <p:cNvSpPr txBox="1"/>
            <p:nvPr/>
          </p:nvSpPr>
          <p:spPr>
            <a:xfrm>
              <a:off x="518160" y="4851400"/>
              <a:ext cx="1048207" cy="586740"/>
            </a:xfrm>
            <a:prstGeom prst="rect">
              <a:avLst/>
            </a:prstGeom>
            <a:noFill/>
            <a:ln>
              <a:noFill/>
            </a:ln>
          </p:spPr>
          <p:txBody>
            <a:bodyPr wrap="none" lIns="0" tIns="0" rIns="0" bIns="0" anchor="t" anchorCtr="0">
              <a:spAutoFit/>
            </a:bodyPr>
            <a:lstStyle/>
            <a:p>
              <a:pPr algn="l"/>
              <a:r>
                <a:rPr lang="en-US" sz="3000" b="1" dirty="0">
                  <a:solidFill>
                    <a:srgbClr val="111827"/>
                  </a:solidFill>
                  <a:latin typeface="+mn-lt"/>
                  <a:ea typeface="+mn-ea"/>
                  <a:cs typeface="+mn-cs"/>
                </a:rPr>
                <a:t>6×4m</a:t>
              </a:r>
            </a:p>
          </p:txBody>
        </p:sp>
        <p:sp>
          <p:nvSpPr>
            <p:cNvPr id="32" name="TextBox 32"/>
            <p:cNvSpPr txBox="1"/>
            <p:nvPr/>
          </p:nvSpPr>
          <p:spPr>
            <a:xfrm>
              <a:off x="527685" y="5346700"/>
              <a:ext cx="659760" cy="220028"/>
            </a:xfrm>
            <a:prstGeom prst="rect">
              <a:avLst/>
            </a:prstGeom>
            <a:noFill/>
            <a:ln>
              <a:noFill/>
            </a:ln>
          </p:spPr>
          <p:txBody>
            <a:bodyPr wrap="none" lIns="0" tIns="0" rIns="0" bIns="0" anchor="t" anchorCtr="0">
              <a:spAutoFit/>
            </a:bodyPr>
            <a:lstStyle/>
            <a:p>
              <a:pPr algn="l"/>
              <a:r>
                <a:rPr lang="ko-KR" sz="1120" dirty="0">
                  <a:solidFill>
                    <a:srgbClr val="374151"/>
                  </a:solidFill>
                  <a:latin typeface="+mn-lt"/>
                  <a:ea typeface="+mn-ea"/>
                  <a:cs typeface="+mn-cs"/>
                </a:rPr>
                <a:t>함몰 규모</a:t>
              </a:r>
            </a:p>
          </p:txBody>
        </p:sp>
        <p:sp>
          <p:nvSpPr>
            <p:cNvPr id="33" name="TextBox 33"/>
            <p:cNvSpPr txBox="1"/>
            <p:nvPr/>
          </p:nvSpPr>
          <p:spPr>
            <a:xfrm>
              <a:off x="2366010" y="4851400"/>
              <a:ext cx="1048207" cy="586740"/>
            </a:xfrm>
            <a:prstGeom prst="rect">
              <a:avLst/>
            </a:prstGeom>
            <a:noFill/>
            <a:ln>
              <a:noFill/>
            </a:ln>
          </p:spPr>
          <p:txBody>
            <a:bodyPr wrap="none" lIns="0" tIns="0" rIns="0" bIns="0" anchor="t" anchorCtr="0">
              <a:spAutoFit/>
            </a:bodyPr>
            <a:lstStyle/>
            <a:p>
              <a:pPr algn="l"/>
              <a:r>
                <a:rPr lang="en-US" sz="3000" b="1" dirty="0">
                  <a:solidFill>
                    <a:srgbClr val="111827"/>
                  </a:solidFill>
                  <a:latin typeface="+mn-lt"/>
                  <a:ea typeface="+mn-ea"/>
                  <a:cs typeface="+mn-cs"/>
                </a:rPr>
                <a:t>2.5m</a:t>
              </a:r>
            </a:p>
          </p:txBody>
        </p:sp>
        <p:sp>
          <p:nvSpPr>
            <p:cNvPr id="34" name="TextBox 34"/>
            <p:cNvSpPr txBox="1"/>
            <p:nvPr/>
          </p:nvSpPr>
          <p:spPr>
            <a:xfrm>
              <a:off x="2375535" y="5346700"/>
              <a:ext cx="659760" cy="220028"/>
            </a:xfrm>
            <a:prstGeom prst="rect">
              <a:avLst/>
            </a:prstGeom>
            <a:noFill/>
            <a:ln>
              <a:noFill/>
            </a:ln>
          </p:spPr>
          <p:txBody>
            <a:bodyPr wrap="none" lIns="0" tIns="0" rIns="0" bIns="0" anchor="t" anchorCtr="0">
              <a:spAutoFit/>
            </a:bodyPr>
            <a:lstStyle/>
            <a:p>
              <a:pPr algn="l"/>
              <a:r>
                <a:rPr lang="ko-KR" sz="1120" dirty="0">
                  <a:solidFill>
                    <a:srgbClr val="374151"/>
                  </a:solidFill>
                  <a:latin typeface="+mn-lt"/>
                  <a:ea typeface="+mn-ea"/>
                  <a:cs typeface="+mn-cs"/>
                </a:rPr>
                <a:t>함몰 깊이</a:t>
              </a:r>
            </a:p>
          </p:txBody>
        </p:sp>
        <p:sp>
          <p:nvSpPr>
            <p:cNvPr id="35" name="TextBox 35"/>
            <p:cNvSpPr txBox="1"/>
            <p:nvPr/>
          </p:nvSpPr>
          <p:spPr>
            <a:xfrm>
              <a:off x="4175760" y="4851400"/>
              <a:ext cx="1198645" cy="586740"/>
            </a:xfrm>
            <a:prstGeom prst="rect">
              <a:avLst/>
            </a:prstGeom>
            <a:noFill/>
            <a:ln>
              <a:noFill/>
            </a:ln>
          </p:spPr>
          <p:txBody>
            <a:bodyPr wrap="none" lIns="0" tIns="0" rIns="0" bIns="0" anchor="t" anchorCtr="0">
              <a:spAutoFit/>
            </a:bodyPr>
            <a:lstStyle/>
            <a:p>
              <a:pPr algn="l"/>
              <a:r>
                <a:rPr lang="ko-KR" sz="3000" b="1" dirty="0">
                  <a:solidFill>
                    <a:srgbClr val="C62828"/>
                  </a:solidFill>
                  <a:latin typeface="+mn-lt"/>
                  <a:ea typeface="+mn-ea"/>
                  <a:cs typeface="+mn-cs"/>
                </a:rPr>
                <a:t>사망 1</a:t>
              </a:r>
            </a:p>
          </p:txBody>
        </p:sp>
        <p:sp>
          <p:nvSpPr>
            <p:cNvPr id="36" name="TextBox 36"/>
            <p:cNvSpPr txBox="1"/>
            <p:nvPr/>
          </p:nvSpPr>
          <p:spPr>
            <a:xfrm>
              <a:off x="4185285" y="5346700"/>
              <a:ext cx="1285474" cy="220028"/>
            </a:xfrm>
            <a:prstGeom prst="rect">
              <a:avLst/>
            </a:prstGeom>
            <a:noFill/>
            <a:ln>
              <a:noFill/>
            </a:ln>
          </p:spPr>
          <p:txBody>
            <a:bodyPr wrap="none" lIns="0" tIns="0" rIns="0" bIns="0" anchor="t" anchorCtr="0">
              <a:spAutoFit/>
            </a:bodyPr>
            <a:lstStyle/>
            <a:p>
              <a:pPr algn="l"/>
              <a:r>
                <a:rPr lang="ko-KR" sz="1120" dirty="0">
                  <a:solidFill>
                    <a:srgbClr val="374151"/>
                  </a:solidFill>
                  <a:latin typeface="+mn-lt"/>
                  <a:ea typeface="+mn-ea"/>
                  <a:cs typeface="+mn-cs"/>
                </a:rPr>
                <a:t>차량 추락 · 동승자</a:t>
              </a:r>
            </a:p>
          </p:txBody>
        </p:sp>
      </p:grpSp>
      <p:grpSp>
        <p:nvGrpSpPr>
          <p:cNvPr id="39" name="source"/>
          <p:cNvGrpSpPr/>
          <p:nvPr/>
        </p:nvGrpSpPr>
        <p:grpSpPr>
          <a:xfrm>
            <a:off x="528638" y="6096000"/>
            <a:ext cx="3444354" cy="176212"/>
            <a:chOff x="528638" y="6096000"/>
            <a:chExt cx="3444354" cy="176212"/>
          </a:xfrm>
        </p:grpSpPr>
        <p:sp>
          <p:nvSpPr>
            <p:cNvPr id="38" name="TextBox 38"/>
            <p:cNvSpPr txBox="1"/>
            <p:nvPr/>
          </p:nvSpPr>
          <p:spPr>
            <a:xfrm>
              <a:off x="528638" y="6096000"/>
              <a:ext cx="3444354" cy="176212"/>
            </a:xfrm>
            <a:prstGeom prst="rect">
              <a:avLst/>
            </a:prstGeom>
            <a:noFill/>
            <a:ln>
              <a:noFill/>
            </a:ln>
          </p:spPr>
          <p:txBody>
            <a:bodyPr wrap="none" lIns="0" tIns="0" rIns="0" bIns="0" anchor="t" anchorCtr="0">
              <a:spAutoFit/>
            </a:bodyPr>
            <a:lstStyle/>
            <a:p>
              <a:pPr algn="l"/>
              <a:r>
                <a:rPr lang="ko-KR" sz="900" dirty="0">
                  <a:solidFill>
                    <a:srgbClr val="4B5563"/>
                  </a:solidFill>
                  <a:latin typeface="+mn-lt"/>
                  <a:ea typeface="+mn-ea"/>
                  <a:cs typeface="+mn-cs"/>
                </a:rPr>
                <a:t>출처: 뉴시스·아시아경제(2024.8.30), 세계일보(2025.9.25)</a:t>
              </a:r>
            </a:p>
          </p:txBody>
        </p:sp>
      </p:grpSp>
      <p:grpSp>
        <p:nvGrpSpPr>
          <p:cNvPr id="42" name="footer"/>
          <p:cNvGrpSpPr/>
          <p:nvPr/>
        </p:nvGrpSpPr>
        <p:grpSpPr>
          <a:xfrm>
            <a:off x="528638" y="6610350"/>
            <a:ext cx="5534024" cy="176212"/>
            <a:chOff x="528638" y="6610350"/>
            <a:chExt cx="5534024" cy="176212"/>
          </a:xfrm>
        </p:grpSpPr>
        <p:sp>
          <p:nvSpPr>
            <p:cNvPr id="40" name="TextBox 40"/>
            <p:cNvSpPr txBox="1"/>
            <p:nvPr/>
          </p:nvSpPr>
          <p:spPr>
            <a:xfrm>
              <a:off x="528638" y="6610350"/>
              <a:ext cx="1020324" cy="176212"/>
            </a:xfrm>
            <a:prstGeom prst="rect">
              <a:avLst/>
            </a:prstGeom>
            <a:noFill/>
            <a:ln>
              <a:noFill/>
            </a:ln>
          </p:spPr>
          <p:txBody>
            <a:bodyPr wrap="none" lIns="0" tIns="0" rIns="0" bIns="0" anchor="t" anchorCtr="0">
              <a:spAutoFit/>
            </a:bodyPr>
            <a:lstStyle/>
            <a:p>
              <a:pPr algn="l"/>
              <a:r>
                <a:rPr lang="en-US" sz="900" dirty="0">
                  <a:solidFill>
                    <a:srgbClr val="4B5563"/>
                  </a:solidFill>
                  <a:latin typeface="+mn-lt"/>
                  <a:ea typeface="+mn-ea"/>
                  <a:cs typeface="+mn-cs"/>
                </a:rPr>
                <a:t>PV5 GroundWatch</a:t>
              </a:r>
            </a:p>
          </p:txBody>
        </p:sp>
        <p:sp>
          <p:nvSpPr>
            <p:cNvPr id="41" name="TextBox 41"/>
            <p:cNvSpPr txBox="1"/>
            <p:nvPr/>
          </p:nvSpPr>
          <p:spPr>
            <a:xfrm>
              <a:off x="5647258" y="6610350"/>
              <a:ext cx="415404" cy="176212"/>
            </a:xfrm>
            <a:prstGeom prst="rect">
              <a:avLst/>
            </a:prstGeom>
            <a:noFill/>
            <a:ln>
              <a:noFill/>
            </a:ln>
          </p:spPr>
          <p:txBody>
            <a:bodyPr wrap="none" lIns="0" tIns="0" rIns="0" bIns="0" anchor="t" anchorCtr="0">
              <a:spAutoFit/>
            </a:bodyPr>
            <a:lstStyle/>
            <a:p>
              <a:pPr algn="r"/>
              <a:r>
                <a:rPr lang="ko-KR" sz="900" dirty="0">
                  <a:solidFill>
                    <a:srgbClr val="4B5563"/>
                  </a:solidFill>
                  <a:latin typeface="+mn-lt"/>
                  <a:ea typeface="+mn-ea"/>
                  <a:cs typeface="+mn-cs"/>
                </a:rPr>
                <a:t>03 / 15</a:t>
              </a:r>
            </a:p>
          </p:txBody>
        </p:sp>
      </p:grpSp>
    </p:spTree>
  </p:cSld>
  <p:clrMapOvr>
    <a:masterClrMapping/>
  </p:clrMapOvr>
  <p:transition xmlns:p14="http://schemas.microsoft.com/office/powerpoint/2010/main" p14:dur="400">
    <p:fade/>
  </p:transition>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grpSp>
        <p:nvGrpSpPr>
          <p:cNvPr id="16" name="header"/>
          <p:cNvGrpSpPr/>
          <p:nvPr/>
        </p:nvGrpSpPr>
        <p:grpSpPr>
          <a:xfrm>
            <a:off x="533400" y="266700"/>
            <a:ext cx="11125200" cy="333375"/>
            <a:chOff x="533400" y="266700"/>
            <a:chExt cx="11125200" cy="333375"/>
          </a:xfrm>
        </p:grpSpPr>
        <p:sp>
          <p:nvSpPr>
            <p:cNvPr id="2" name="Rectangle 2"/>
            <p:cNvSpPr/>
            <p:nvPr/>
          </p:nvSpPr>
          <p:spPr>
            <a:xfrm>
              <a:off x="533400" y="266700"/>
              <a:ext cx="1333500" cy="228600"/>
            </a:xfrm>
            <a:prstGeom prst="rect">
              <a:avLst/>
            </a:prstGeom>
            <a:solidFill>
              <a:srgbClr val="0B1E3C"/>
            </a:solidFill>
            <a:ln>
              <a:noFill/>
            </a:ln>
          </p:spPr>
        </p:sp>
        <p:sp>
          <p:nvSpPr>
            <p:cNvPr id="3" name="TextBox 3"/>
            <p:cNvSpPr txBox="1"/>
            <p:nvPr/>
          </p:nvSpPr>
          <p:spPr>
            <a:xfrm>
              <a:off x="617357" y="314325"/>
              <a:ext cx="1165586" cy="191643"/>
            </a:xfrm>
            <a:prstGeom prst="rect">
              <a:avLst/>
            </a:prstGeom>
            <a:noFill/>
            <a:ln>
              <a:noFill/>
            </a:ln>
          </p:spPr>
          <p:txBody>
            <a:bodyPr wrap="none" lIns="0" tIns="0" rIns="0" bIns="0" anchor="t" anchorCtr="0">
              <a:spAutoFit/>
            </a:bodyPr>
            <a:lstStyle/>
            <a:p>
              <a:pPr algn="ctr"/>
              <a:r>
                <a:rPr lang="en-US" sz="980" b="1" dirty="0">
                  <a:solidFill>
                    <a:srgbClr val="FFFFFF"/>
                  </a:solidFill>
                  <a:latin typeface="+mn-lt"/>
                  <a:ea typeface="+mn-ea"/>
                  <a:cs typeface="+mn-cs"/>
                </a:rPr>
                <a:t>PV5 GroundWatch</a:t>
              </a:r>
            </a:p>
          </p:txBody>
        </p:sp>
        <p:sp>
          <p:nvSpPr>
            <p:cNvPr id="4" name="TextBox 4"/>
            <p:cNvSpPr txBox="1"/>
            <p:nvPr/>
          </p:nvSpPr>
          <p:spPr>
            <a:xfrm>
              <a:off x="1994916" y="301625"/>
              <a:ext cx="759828" cy="205359"/>
            </a:xfrm>
            <a:prstGeom prst="rect">
              <a:avLst/>
            </a:prstGeom>
            <a:noFill/>
            <a:ln>
              <a:noFill/>
            </a:ln>
          </p:spPr>
          <p:txBody>
            <a:bodyPr wrap="none" lIns="0" tIns="0" rIns="0" bIns="0" anchor="t" anchorCtr="0">
              <a:spAutoFit/>
            </a:bodyPr>
            <a:lstStyle/>
            <a:p>
              <a:pPr algn="l"/>
              <a:r>
                <a:rPr lang="ko-KR" sz="1050" dirty="0">
                  <a:solidFill>
                    <a:srgbClr val="374151"/>
                  </a:solidFill>
                  <a:latin typeface="+mn-lt"/>
                  <a:ea typeface="+mn-ea"/>
                  <a:cs typeface="+mn-cs"/>
                </a:rPr>
                <a:t>지금의 탐사</a:t>
              </a:r>
            </a:p>
          </p:txBody>
        </p:sp>
        <p:sp>
          <p:nvSpPr>
            <p:cNvPr id="5" name="TextBox 5"/>
            <p:cNvSpPr txBox="1"/>
            <p:nvPr/>
          </p:nvSpPr>
          <p:spPr>
            <a:xfrm>
              <a:off x="8425815" y="301625"/>
              <a:ext cx="293370" cy="205359"/>
            </a:xfrm>
            <a:prstGeom prst="rect">
              <a:avLst/>
            </a:prstGeom>
            <a:noFill/>
            <a:ln>
              <a:noFill/>
            </a:ln>
          </p:spPr>
          <p:txBody>
            <a:bodyPr wrap="none" lIns="0" tIns="0" rIns="0" bIns="0" anchor="t" anchorCtr="0">
              <a:spAutoFit/>
            </a:bodyPr>
            <a:lstStyle/>
            <a:p>
              <a:pPr algn="ctr"/>
              <a:r>
                <a:rPr lang="ko-KR" sz="1050" b="1" dirty="0">
                  <a:solidFill>
                    <a:srgbClr val="0B1E3C"/>
                  </a:solidFill>
                  <a:latin typeface="+mn-lt"/>
                  <a:ea typeface="+mn-ea"/>
                  <a:cs typeface="+mn-cs"/>
                </a:rPr>
                <a:t>문제</a:t>
              </a:r>
            </a:p>
          </p:txBody>
        </p:sp>
        <p:sp>
          <p:nvSpPr>
            <p:cNvPr id="6" name="Rectangle 6"/>
            <p:cNvSpPr/>
            <p:nvPr/>
          </p:nvSpPr>
          <p:spPr>
            <a:xfrm>
              <a:off x="8343900" y="514350"/>
              <a:ext cx="457200" cy="28575"/>
            </a:xfrm>
            <a:prstGeom prst="rect">
              <a:avLst/>
            </a:prstGeom>
            <a:solidFill>
              <a:srgbClr val="F5B700"/>
            </a:solidFill>
            <a:ln>
              <a:noFill/>
            </a:ln>
          </p:spPr>
        </p:sp>
        <p:sp>
          <p:nvSpPr>
            <p:cNvPr id="7" name="TextBox 7"/>
            <p:cNvSpPr txBox="1"/>
            <p:nvPr/>
          </p:nvSpPr>
          <p:spPr>
            <a:xfrm>
              <a:off x="884874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8" name="TextBox 8"/>
            <p:cNvSpPr txBox="1"/>
            <p:nvPr/>
          </p:nvSpPr>
          <p:spPr>
            <a:xfrm>
              <a:off x="9054465" y="301625"/>
              <a:ext cx="293370" cy="205359"/>
            </a:xfrm>
            <a:prstGeom prst="rect">
              <a:avLst/>
            </a:prstGeom>
            <a:noFill/>
            <a:ln>
              <a:noFill/>
            </a:ln>
          </p:spPr>
          <p:txBody>
            <a:bodyPr wrap="none" lIns="0" tIns="0" rIns="0" bIns="0" anchor="t" anchorCtr="0">
              <a:spAutoFit/>
            </a:bodyPr>
            <a:lstStyle/>
            <a:p>
              <a:pPr algn="ctr"/>
              <a:r>
                <a:rPr lang="ko-KR" sz="1050" dirty="0">
                  <a:solidFill>
                    <a:srgbClr val="9AA3AF"/>
                  </a:solidFill>
                  <a:latin typeface="+mn-lt"/>
                  <a:ea typeface="+mn-ea"/>
                  <a:cs typeface="+mn-cs"/>
                </a:rPr>
                <a:t>해법</a:t>
              </a:r>
            </a:p>
          </p:txBody>
        </p:sp>
        <p:sp>
          <p:nvSpPr>
            <p:cNvPr id="9" name="TextBox 9"/>
            <p:cNvSpPr txBox="1"/>
            <p:nvPr/>
          </p:nvSpPr>
          <p:spPr>
            <a:xfrm>
              <a:off x="947739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10" name="TextBox 10"/>
            <p:cNvSpPr txBox="1"/>
            <p:nvPr/>
          </p:nvSpPr>
          <p:spPr>
            <a:xfrm>
              <a:off x="9701251" y="301625"/>
              <a:ext cx="257099" cy="205359"/>
            </a:xfrm>
            <a:prstGeom prst="rect">
              <a:avLst/>
            </a:prstGeom>
            <a:noFill/>
            <a:ln>
              <a:noFill/>
            </a:ln>
          </p:spPr>
          <p:txBody>
            <a:bodyPr wrap="none" lIns="0" tIns="0" rIns="0" bIns="0" anchor="t" anchorCtr="0">
              <a:spAutoFit/>
            </a:bodyPr>
            <a:lstStyle/>
            <a:p>
              <a:pPr algn="ctr"/>
              <a:r>
                <a:rPr lang="en-US" sz="1050" dirty="0">
                  <a:solidFill>
                    <a:srgbClr val="9AA3AF"/>
                  </a:solidFill>
                  <a:latin typeface="+mn-lt"/>
                  <a:ea typeface="+mn-ea"/>
                  <a:cs typeface="+mn-cs"/>
                </a:rPr>
                <a:t>PV5</a:t>
              </a:r>
            </a:p>
          </p:txBody>
        </p:sp>
        <p:sp>
          <p:nvSpPr>
            <p:cNvPr id="11" name="TextBox 11"/>
            <p:cNvSpPr txBox="1"/>
            <p:nvPr/>
          </p:nvSpPr>
          <p:spPr>
            <a:xfrm>
              <a:off x="1010604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12" name="TextBox 12"/>
            <p:cNvSpPr txBox="1"/>
            <p:nvPr/>
          </p:nvSpPr>
          <p:spPr>
            <a:xfrm>
              <a:off x="10311765" y="301625"/>
              <a:ext cx="293370" cy="205359"/>
            </a:xfrm>
            <a:prstGeom prst="rect">
              <a:avLst/>
            </a:prstGeom>
            <a:noFill/>
            <a:ln>
              <a:noFill/>
            </a:ln>
          </p:spPr>
          <p:txBody>
            <a:bodyPr wrap="none" lIns="0" tIns="0" rIns="0" bIns="0" anchor="t" anchorCtr="0">
              <a:spAutoFit/>
            </a:bodyPr>
            <a:lstStyle/>
            <a:p>
              <a:pPr algn="ctr"/>
              <a:r>
                <a:rPr lang="ko-KR" sz="1050" dirty="0">
                  <a:solidFill>
                    <a:srgbClr val="9AA3AF"/>
                  </a:solidFill>
                  <a:latin typeface="+mn-lt"/>
                  <a:ea typeface="+mn-ea"/>
                  <a:cs typeface="+mn-cs"/>
                </a:rPr>
                <a:t>검증</a:t>
              </a:r>
            </a:p>
          </p:txBody>
        </p:sp>
        <p:sp>
          <p:nvSpPr>
            <p:cNvPr id="13" name="TextBox 13"/>
            <p:cNvSpPr txBox="1"/>
            <p:nvPr/>
          </p:nvSpPr>
          <p:spPr>
            <a:xfrm>
              <a:off x="1073469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14" name="TextBox 14"/>
            <p:cNvSpPr txBox="1"/>
            <p:nvPr/>
          </p:nvSpPr>
          <p:spPr>
            <a:xfrm>
              <a:off x="10940415" y="301625"/>
              <a:ext cx="293370" cy="205359"/>
            </a:xfrm>
            <a:prstGeom prst="rect">
              <a:avLst/>
            </a:prstGeom>
            <a:noFill/>
            <a:ln>
              <a:noFill/>
            </a:ln>
          </p:spPr>
          <p:txBody>
            <a:bodyPr wrap="none" lIns="0" tIns="0" rIns="0" bIns="0" anchor="t" anchorCtr="0">
              <a:spAutoFit/>
            </a:bodyPr>
            <a:lstStyle/>
            <a:p>
              <a:pPr algn="ctr"/>
              <a:r>
                <a:rPr lang="ko-KR" sz="1050" dirty="0">
                  <a:solidFill>
                    <a:srgbClr val="9AA3AF"/>
                  </a:solidFill>
                  <a:latin typeface="+mn-lt"/>
                  <a:ea typeface="+mn-ea"/>
                  <a:cs typeface="+mn-cs"/>
                </a:rPr>
                <a:t>사업</a:t>
              </a:r>
            </a:p>
          </p:txBody>
        </p:sp>
        <p:sp>
          <p:nvSpPr>
            <p:cNvPr id="15" name="Line 15"/>
            <p:cNvSpPr/>
            <p:nvPr/>
          </p:nvSpPr>
          <p:spPr>
            <a:xfrm>
              <a:off x="533400" y="590550"/>
              <a:ext cx="11125200" cy="9525"/>
            </a:xfrm>
            <a:custGeom>
              <a:avLst/>
              <a:gdLst/>
              <a:ahLst/>
              <a:cxnLst/>
              <a:rect l="l" t="t" r="r" b="b"/>
              <a:pathLst>
                <a:path w="11125200" h="9525">
                  <a:moveTo>
                    <a:pt x="0" y="0"/>
                  </a:moveTo>
                  <a:lnTo>
                    <a:pt x="11125200" y="0"/>
                  </a:lnTo>
                </a:path>
              </a:pathLst>
            </a:custGeom>
            <a:noFill/>
            <a:ln w="9525">
              <a:solidFill>
                <a:srgbClr val="0B1E3C"/>
              </a:solidFill>
            </a:ln>
          </p:spPr>
        </p:sp>
      </p:grpSp>
      <p:grpSp>
        <p:nvGrpSpPr>
          <p:cNvPr id="18" name="title"/>
          <p:cNvGrpSpPr/>
          <p:nvPr/>
        </p:nvGrpSpPr>
        <p:grpSpPr>
          <a:xfrm>
            <a:off x="518160" y="774700"/>
            <a:ext cx="10219792" cy="586740"/>
            <a:chOff x="518160" y="774700"/>
            <a:chExt cx="10219792" cy="586740"/>
          </a:xfrm>
        </p:grpSpPr>
        <p:sp>
          <p:nvSpPr>
            <p:cNvPr id="17" name="TextBox 17"/>
            <p:cNvSpPr txBox="1"/>
            <p:nvPr/>
          </p:nvSpPr>
          <p:spPr>
            <a:xfrm>
              <a:off x="518160" y="774700"/>
              <a:ext cx="10219792" cy="586740"/>
            </a:xfrm>
            <a:prstGeom prst="rect">
              <a:avLst/>
            </a:prstGeom>
            <a:noFill/>
            <a:ln>
              <a:noFill/>
            </a:ln>
          </p:spPr>
          <p:txBody>
            <a:bodyPr wrap="none" lIns="0" tIns="0" rIns="0" bIns="0" anchor="t" anchorCtr="0">
              <a:spAutoFit/>
            </a:bodyPr>
            <a:lstStyle/>
            <a:p>
              <a:pPr algn="l"/>
              <a:r>
                <a:rPr lang="ko-KR" sz="3000" b="1" spc="-75" dirty="0">
                  <a:solidFill>
                    <a:srgbClr val="0B1E3C"/>
                  </a:solidFill>
                  <a:latin typeface="+mn-lt"/>
                  <a:ea typeface="+mn-ea"/>
                  <a:cs typeface="+mn-cs"/>
                </a:rPr>
                <a:t>서울은 이미 3만 km를 탐사해 공동 7,760개를 찾았습니다</a:t>
              </a:r>
            </a:p>
          </p:txBody>
        </p:sp>
      </p:grpSp>
      <p:grpSp>
        <p:nvGrpSpPr>
          <p:cNvPr id="21" name="photo"/>
          <p:cNvGrpSpPr/>
          <p:nvPr/>
        </p:nvGrpSpPr>
        <p:grpSpPr>
          <a:xfrm>
            <a:off x="528638" y="1428750"/>
            <a:ext cx="4957762" cy="2843212"/>
            <a:chOff x="528638" y="1428750"/>
            <a:chExt cx="4957762" cy="2843212"/>
          </a:xfrm>
        </p:grpSpPr>
        <p:pic>
          <p:nvPicPr>
            <p:cNvPr id="19" name="Image 19"/>
            <p:cNvPicPr>
              <a:picLocks noChangeAspect="1"/>
            </p:cNvPicPr>
            <p:nvPr/>
          </p:nvPicPr>
          <p:blipFill>
            <a:blip r:embed="rId2"/>
            <a:srcRect l="0" t="15128" r="0" b="15128"/>
            <a:stretch>
              <a:fillRect/>
            </a:stretch>
          </p:blipFill>
          <p:spPr>
            <a:xfrm>
              <a:off x="533400" y="1428750"/>
              <a:ext cx="4953000" cy="2590800"/>
            </a:xfrm>
            <a:prstGeom prst="rect">
              <a:avLst/>
            </a:prstGeom>
          </p:spPr>
        </p:pic>
        <p:sp>
          <p:nvSpPr>
            <p:cNvPr id="20" name="TextBox 20"/>
            <p:cNvSpPr txBox="1"/>
            <p:nvPr/>
          </p:nvSpPr>
          <p:spPr>
            <a:xfrm>
              <a:off x="528638" y="4095750"/>
              <a:ext cx="4777933" cy="176212"/>
            </a:xfrm>
            <a:prstGeom prst="rect">
              <a:avLst/>
            </a:prstGeom>
            <a:noFill/>
            <a:ln>
              <a:noFill/>
            </a:ln>
          </p:spPr>
          <p:txBody>
            <a:bodyPr wrap="none" lIns="0" tIns="0" rIns="0" bIns="0" anchor="t" anchorCtr="0">
              <a:spAutoFit/>
            </a:bodyPr>
            <a:lstStyle/>
            <a:p>
              <a:pPr algn="l"/>
              <a:r>
                <a:rPr lang="ko-KR" sz="900" dirty="0">
                  <a:solidFill>
                    <a:srgbClr val="4B5563"/>
                  </a:solidFill>
                  <a:latin typeface="+mn-lt"/>
                  <a:ea typeface="+mn-ea"/>
                  <a:cs typeface="+mn-cs"/>
                </a:rPr>
                <a:t>수동형 GPR 탐사 장비 · 사진: The Charles Machine Works, CC BY-SA 2.0(배경 편집)</a:t>
              </a:r>
            </a:p>
          </p:txBody>
        </p:sp>
      </p:grpSp>
      <p:grpSp>
        <p:nvGrpSpPr>
          <p:cNvPr id="34" name="stats"/>
          <p:cNvGrpSpPr/>
          <p:nvPr/>
        </p:nvGrpSpPr>
        <p:grpSpPr>
          <a:xfrm>
            <a:off x="522732" y="4438650"/>
            <a:ext cx="4963668" cy="899478"/>
            <a:chOff x="522732" y="4438650"/>
            <a:chExt cx="4963668" cy="899478"/>
          </a:xfrm>
        </p:grpSpPr>
        <p:sp>
          <p:nvSpPr>
            <p:cNvPr id="22" name="Rectangle 22"/>
            <p:cNvSpPr/>
            <p:nvPr/>
          </p:nvSpPr>
          <p:spPr>
            <a:xfrm>
              <a:off x="533400" y="4438650"/>
              <a:ext cx="1524000" cy="28575"/>
            </a:xfrm>
            <a:prstGeom prst="rect">
              <a:avLst/>
            </a:prstGeom>
            <a:solidFill>
              <a:srgbClr val="0B1E3C"/>
            </a:solidFill>
            <a:ln>
              <a:noFill/>
            </a:ln>
          </p:spPr>
        </p:sp>
        <p:sp>
          <p:nvSpPr>
            <p:cNvPr id="23" name="TextBox 23"/>
            <p:cNvSpPr txBox="1"/>
            <p:nvPr/>
          </p:nvSpPr>
          <p:spPr>
            <a:xfrm>
              <a:off x="522732" y="4546600"/>
              <a:ext cx="1386787" cy="410718"/>
            </a:xfrm>
            <a:prstGeom prst="rect">
              <a:avLst/>
            </a:prstGeom>
            <a:noFill/>
            <a:ln>
              <a:noFill/>
            </a:ln>
          </p:spPr>
          <p:txBody>
            <a:bodyPr wrap="none" lIns="0" tIns="0" rIns="0" bIns="0" anchor="t" anchorCtr="0">
              <a:spAutoFit/>
            </a:bodyPr>
            <a:lstStyle/>
            <a:p>
              <a:pPr algn="l"/>
              <a:r>
                <a:rPr lang="en-US" sz="2100" b="1" dirty="0">
                  <a:solidFill>
                    <a:srgbClr val="0B1E3C"/>
                  </a:solidFill>
                  <a:latin typeface="+mn-lt"/>
                  <a:ea typeface="+mn-ea"/>
                  <a:cs typeface="+mn-cs"/>
                </a:rPr>
                <a:t>33,129km</a:t>
              </a:r>
            </a:p>
          </p:txBody>
        </p:sp>
        <p:sp>
          <p:nvSpPr>
            <p:cNvPr id="24" name="TextBox 24"/>
            <p:cNvSpPr txBox="1"/>
            <p:nvPr/>
          </p:nvSpPr>
          <p:spPr>
            <a:xfrm>
              <a:off x="527685" y="4908550"/>
              <a:ext cx="1339937" cy="220028"/>
            </a:xfrm>
            <a:prstGeom prst="rect">
              <a:avLst/>
            </a:prstGeom>
            <a:noFill/>
            <a:ln>
              <a:noFill/>
            </a:ln>
          </p:spPr>
          <p:txBody>
            <a:bodyPr wrap="none" lIns="0" tIns="0" rIns="0" bIns="0" anchor="t" anchorCtr="0">
              <a:spAutoFit/>
            </a:bodyPr>
            <a:lstStyle/>
            <a:p>
              <a:pPr algn="l"/>
              <a:r>
                <a:rPr lang="ko-KR" sz="1120" b="1" dirty="0">
                  <a:solidFill>
                    <a:srgbClr val="111827"/>
                  </a:solidFill>
                  <a:latin typeface="+mn-lt"/>
                  <a:ea typeface="+mn-ea"/>
                  <a:cs typeface="+mn-cs"/>
                </a:rPr>
                <a:t>누적 차량 GPR 탐사</a:t>
              </a:r>
            </a:p>
          </p:txBody>
        </p:sp>
        <p:sp>
          <p:nvSpPr>
            <p:cNvPr id="25" name="TextBox 25"/>
            <p:cNvSpPr txBox="1"/>
            <p:nvPr/>
          </p:nvSpPr>
          <p:spPr>
            <a:xfrm>
              <a:off x="527685" y="5118100"/>
              <a:ext cx="923615" cy="220028"/>
            </a:xfrm>
            <a:prstGeom prst="rect">
              <a:avLst/>
            </a:prstGeom>
            <a:noFill/>
            <a:ln>
              <a:noFill/>
            </a:ln>
          </p:spPr>
          <p:txBody>
            <a:bodyPr wrap="none" lIns="0" tIns="0" rIns="0" bIns="0" anchor="t" anchorCtr="0">
              <a:spAutoFit/>
            </a:bodyPr>
            <a:lstStyle/>
            <a:p>
              <a:pPr algn="l"/>
              <a:r>
                <a:rPr lang="ko-KR" sz="1120" dirty="0">
                  <a:solidFill>
                    <a:srgbClr val="374151"/>
                  </a:solidFill>
                  <a:latin typeface="+mn-lt"/>
                  <a:ea typeface="+mn-ea"/>
                  <a:cs typeface="+mn-cs"/>
                </a:rPr>
                <a:t>2014~2025.9</a:t>
              </a:r>
            </a:p>
          </p:txBody>
        </p:sp>
        <p:sp>
          <p:nvSpPr>
            <p:cNvPr id="26" name="Rectangle 26"/>
            <p:cNvSpPr/>
            <p:nvPr/>
          </p:nvSpPr>
          <p:spPr>
            <a:xfrm>
              <a:off x="2247900" y="4438650"/>
              <a:ext cx="1524000" cy="28575"/>
            </a:xfrm>
            <a:prstGeom prst="rect">
              <a:avLst/>
            </a:prstGeom>
            <a:solidFill>
              <a:srgbClr val="0B1E3C"/>
            </a:solidFill>
            <a:ln>
              <a:noFill/>
            </a:ln>
          </p:spPr>
        </p:sp>
        <p:sp>
          <p:nvSpPr>
            <p:cNvPr id="27" name="TextBox 27"/>
            <p:cNvSpPr txBox="1"/>
            <p:nvPr/>
          </p:nvSpPr>
          <p:spPr>
            <a:xfrm>
              <a:off x="2237232" y="4546600"/>
              <a:ext cx="1120340" cy="410718"/>
            </a:xfrm>
            <a:prstGeom prst="rect">
              <a:avLst/>
            </a:prstGeom>
            <a:noFill/>
            <a:ln>
              <a:noFill/>
            </a:ln>
          </p:spPr>
          <p:txBody>
            <a:bodyPr wrap="none" lIns="0" tIns="0" rIns="0" bIns="0" anchor="t" anchorCtr="0">
              <a:spAutoFit/>
            </a:bodyPr>
            <a:lstStyle/>
            <a:p>
              <a:pPr algn="l"/>
              <a:r>
                <a:rPr lang="ko-KR" sz="2100" b="1" dirty="0">
                  <a:solidFill>
                    <a:srgbClr val="0B1E3C"/>
                  </a:solidFill>
                  <a:latin typeface="+mn-lt"/>
                  <a:ea typeface="+mn-ea"/>
                  <a:cs typeface="+mn-cs"/>
                </a:rPr>
                <a:t>7,760개</a:t>
              </a:r>
            </a:p>
          </p:txBody>
        </p:sp>
        <p:sp>
          <p:nvSpPr>
            <p:cNvPr id="28" name="TextBox 28"/>
            <p:cNvSpPr txBox="1"/>
            <p:nvPr/>
          </p:nvSpPr>
          <p:spPr>
            <a:xfrm>
              <a:off x="2242185" y="4908550"/>
              <a:ext cx="1360107" cy="220028"/>
            </a:xfrm>
            <a:prstGeom prst="rect">
              <a:avLst/>
            </a:prstGeom>
            <a:noFill/>
            <a:ln>
              <a:noFill/>
            </a:ln>
          </p:spPr>
          <p:txBody>
            <a:bodyPr wrap="none" lIns="0" tIns="0" rIns="0" bIns="0" anchor="t" anchorCtr="0">
              <a:spAutoFit/>
            </a:bodyPr>
            <a:lstStyle/>
            <a:p>
              <a:pPr algn="l"/>
              <a:r>
                <a:rPr lang="ko-KR" sz="1120" b="1" dirty="0">
                  <a:solidFill>
                    <a:srgbClr val="111827"/>
                  </a:solidFill>
                  <a:latin typeface="+mn-lt"/>
                  <a:ea typeface="+mn-ea"/>
                  <a:cs typeface="+mn-cs"/>
                </a:rPr>
                <a:t>같은 기간 찾은 공동</a:t>
              </a:r>
            </a:p>
          </p:txBody>
        </p:sp>
        <p:sp>
          <p:nvSpPr>
            <p:cNvPr id="29" name="TextBox 29"/>
            <p:cNvSpPr txBox="1"/>
            <p:nvPr/>
          </p:nvSpPr>
          <p:spPr>
            <a:xfrm>
              <a:off x="2242185" y="5118100"/>
              <a:ext cx="1232703" cy="220028"/>
            </a:xfrm>
            <a:prstGeom prst="rect">
              <a:avLst/>
            </a:prstGeom>
            <a:noFill/>
            <a:ln>
              <a:noFill/>
            </a:ln>
          </p:spPr>
          <p:txBody>
            <a:bodyPr wrap="none" lIns="0" tIns="0" rIns="0" bIns="0" anchor="t" anchorCtr="0">
              <a:spAutoFit/>
            </a:bodyPr>
            <a:lstStyle/>
            <a:p>
              <a:pPr algn="l"/>
              <a:r>
                <a:rPr lang="ko-KR" sz="1120" dirty="0">
                  <a:solidFill>
                    <a:srgbClr val="374151"/>
                  </a:solidFill>
                  <a:latin typeface="+mn-lt"/>
                  <a:ea typeface="+mn-ea"/>
                  <a:cs typeface="+mn-cs"/>
                </a:rPr>
                <a:t>약 4.3km마다 1개</a:t>
              </a:r>
            </a:p>
          </p:txBody>
        </p:sp>
        <p:sp>
          <p:nvSpPr>
            <p:cNvPr id="30" name="Rectangle 30"/>
            <p:cNvSpPr/>
            <p:nvPr/>
          </p:nvSpPr>
          <p:spPr>
            <a:xfrm>
              <a:off x="3962400" y="4438650"/>
              <a:ext cx="1524000" cy="28575"/>
            </a:xfrm>
            <a:prstGeom prst="rect">
              <a:avLst/>
            </a:prstGeom>
            <a:solidFill>
              <a:srgbClr val="0B1E3C"/>
            </a:solidFill>
            <a:ln>
              <a:noFill/>
            </a:ln>
          </p:spPr>
        </p:sp>
        <p:sp>
          <p:nvSpPr>
            <p:cNvPr id="31" name="TextBox 31"/>
            <p:cNvSpPr txBox="1"/>
            <p:nvPr/>
          </p:nvSpPr>
          <p:spPr>
            <a:xfrm>
              <a:off x="3951732" y="4546600"/>
              <a:ext cx="1386787" cy="410718"/>
            </a:xfrm>
            <a:prstGeom prst="rect">
              <a:avLst/>
            </a:prstGeom>
            <a:noFill/>
            <a:ln>
              <a:noFill/>
            </a:ln>
          </p:spPr>
          <p:txBody>
            <a:bodyPr wrap="none" lIns="0" tIns="0" rIns="0" bIns="0" anchor="t" anchorCtr="0">
              <a:spAutoFit/>
            </a:bodyPr>
            <a:lstStyle/>
            <a:p>
              <a:pPr algn="l"/>
              <a:r>
                <a:rPr lang="en-US" sz="2100" b="1" dirty="0">
                  <a:solidFill>
                    <a:srgbClr val="0B1E3C"/>
                  </a:solidFill>
                  <a:latin typeface="+mn-lt"/>
                  <a:ea typeface="+mn-ea"/>
                  <a:cs typeface="+mn-cs"/>
                </a:rPr>
                <a:t>16,423km</a:t>
              </a:r>
            </a:p>
          </p:txBody>
        </p:sp>
        <p:sp>
          <p:nvSpPr>
            <p:cNvPr id="32" name="TextBox 32"/>
            <p:cNvSpPr txBox="1"/>
            <p:nvPr/>
          </p:nvSpPr>
          <p:spPr>
            <a:xfrm>
              <a:off x="3956685" y="4908550"/>
              <a:ext cx="1208579" cy="220028"/>
            </a:xfrm>
            <a:prstGeom prst="rect">
              <a:avLst/>
            </a:prstGeom>
            <a:noFill/>
            <a:ln>
              <a:noFill/>
            </a:ln>
          </p:spPr>
          <p:txBody>
            <a:bodyPr wrap="none" lIns="0" tIns="0" rIns="0" bIns="0" anchor="t" anchorCtr="0">
              <a:spAutoFit/>
            </a:bodyPr>
            <a:lstStyle/>
            <a:p>
              <a:pPr algn="l"/>
              <a:r>
                <a:rPr lang="ko-KR" sz="1120" b="1" dirty="0">
                  <a:solidFill>
                    <a:srgbClr val="111827"/>
                  </a:solidFill>
                  <a:latin typeface="+mn-lt"/>
                  <a:ea typeface="+mn-ea"/>
                  <a:cs typeface="+mn-cs"/>
                </a:rPr>
                <a:t>2026년 탐사 계획</a:t>
              </a:r>
            </a:p>
          </p:txBody>
        </p:sp>
        <p:sp>
          <p:nvSpPr>
            <p:cNvPr id="33" name="TextBox 33"/>
            <p:cNvSpPr txBox="1"/>
            <p:nvPr/>
          </p:nvSpPr>
          <p:spPr>
            <a:xfrm>
              <a:off x="3956685" y="5118100"/>
              <a:ext cx="1081928" cy="220028"/>
            </a:xfrm>
            <a:prstGeom prst="rect">
              <a:avLst/>
            </a:prstGeom>
            <a:noFill/>
            <a:ln>
              <a:noFill/>
            </a:ln>
          </p:spPr>
          <p:txBody>
            <a:bodyPr wrap="none" lIns="0" tIns="0" rIns="0" bIns="0" anchor="t" anchorCtr="0">
              <a:spAutoFit/>
            </a:bodyPr>
            <a:lstStyle/>
            <a:p>
              <a:pPr algn="l"/>
              <a:r>
                <a:rPr lang="ko-KR" sz="1120" dirty="0">
                  <a:solidFill>
                    <a:srgbClr val="374151"/>
                  </a:solidFill>
                  <a:latin typeface="+mn-lt"/>
                  <a:ea typeface="+mn-ea"/>
                  <a:cs typeface="+mn-cs"/>
                </a:rPr>
                <a:t>인력 9명 → 19명</a:t>
              </a:r>
            </a:p>
          </p:txBody>
        </p:sp>
      </p:grpSp>
      <p:grpSp>
        <p:nvGrpSpPr>
          <p:cNvPr id="57" name="flow"/>
          <p:cNvGrpSpPr/>
          <p:nvPr/>
        </p:nvGrpSpPr>
        <p:grpSpPr>
          <a:xfrm>
            <a:off x="5937123" y="1428750"/>
            <a:ext cx="5721477" cy="3888867"/>
            <a:chOff x="5937123" y="1428750"/>
            <a:chExt cx="5721477" cy="3888867"/>
          </a:xfrm>
        </p:grpSpPr>
        <p:sp>
          <p:nvSpPr>
            <p:cNvPr id="35" name="Rectangle 35"/>
            <p:cNvSpPr/>
            <p:nvPr/>
          </p:nvSpPr>
          <p:spPr>
            <a:xfrm>
              <a:off x="5943600" y="1428750"/>
              <a:ext cx="5715000" cy="28575"/>
            </a:xfrm>
            <a:prstGeom prst="rect">
              <a:avLst/>
            </a:prstGeom>
            <a:solidFill>
              <a:srgbClr val="0B1E3C"/>
            </a:solidFill>
            <a:ln>
              <a:noFill/>
            </a:ln>
          </p:spPr>
        </p:sp>
        <p:sp>
          <p:nvSpPr>
            <p:cNvPr id="36" name="TextBox 36"/>
            <p:cNvSpPr txBox="1"/>
            <p:nvPr/>
          </p:nvSpPr>
          <p:spPr>
            <a:xfrm>
              <a:off x="5937885" y="1612900"/>
              <a:ext cx="1796222" cy="220028"/>
            </a:xfrm>
            <a:prstGeom prst="rect">
              <a:avLst/>
            </a:prstGeom>
            <a:noFill/>
            <a:ln>
              <a:noFill/>
            </a:ln>
          </p:spPr>
          <p:txBody>
            <a:bodyPr wrap="none" lIns="0" tIns="0" rIns="0" bIns="0" anchor="t" anchorCtr="0">
              <a:spAutoFit/>
            </a:bodyPr>
            <a:lstStyle/>
            <a:p>
              <a:pPr algn="l"/>
              <a:r>
                <a:rPr lang="ko-KR" sz="1120" b="1" dirty="0">
                  <a:solidFill>
                    <a:srgbClr val="B45309"/>
                  </a:solidFill>
                  <a:latin typeface="+mn-lt"/>
                  <a:ea typeface="+mn-ea"/>
                  <a:cs typeface="+mn-cs"/>
                </a:rPr>
                <a:t>지금의 업무 흐름 · 서울시</a:t>
              </a:r>
            </a:p>
          </p:txBody>
        </p:sp>
        <p:sp>
          <p:nvSpPr>
            <p:cNvPr id="37" name="Ellipse 37"/>
            <p:cNvSpPr/>
            <p:nvPr/>
          </p:nvSpPr>
          <p:spPr>
            <a:xfrm>
              <a:off x="5943600" y="1971675"/>
              <a:ext cx="247650" cy="247650"/>
            </a:xfrm>
            <a:prstGeom prst="ellipse">
              <a:avLst/>
            </a:prstGeom>
            <a:solidFill>
              <a:srgbClr val="0B1E3C"/>
            </a:solidFill>
            <a:ln>
              <a:noFill/>
            </a:ln>
          </p:spPr>
        </p:sp>
        <p:sp>
          <p:nvSpPr>
            <p:cNvPr id="38" name="TextBox 38"/>
            <p:cNvSpPr txBox="1"/>
            <p:nvPr/>
          </p:nvSpPr>
          <p:spPr>
            <a:xfrm>
              <a:off x="6018174" y="2003425"/>
              <a:ext cx="98502" cy="220028"/>
            </a:xfrm>
            <a:prstGeom prst="rect">
              <a:avLst/>
            </a:prstGeom>
            <a:noFill/>
            <a:ln>
              <a:noFill/>
            </a:ln>
          </p:spPr>
          <p:txBody>
            <a:bodyPr wrap="none" lIns="0" tIns="0" rIns="0" bIns="0" anchor="t" anchorCtr="0">
              <a:spAutoFit/>
            </a:bodyPr>
            <a:lstStyle/>
            <a:p>
              <a:pPr algn="ctr"/>
              <a:r>
                <a:rPr lang="ko-KR" sz="1120" b="1" dirty="0">
                  <a:solidFill>
                    <a:srgbClr val="FFFFFF"/>
                  </a:solidFill>
                  <a:latin typeface="+mn-lt"/>
                  <a:ea typeface="+mn-ea"/>
                  <a:cs typeface="+mn-cs"/>
                </a:rPr>
                <a:t>1</a:t>
              </a:r>
            </a:p>
          </p:txBody>
        </p:sp>
        <p:sp>
          <p:nvSpPr>
            <p:cNvPr id="39" name="TextBox 39"/>
            <p:cNvSpPr txBox="1"/>
            <p:nvPr/>
          </p:nvSpPr>
          <p:spPr>
            <a:xfrm>
              <a:off x="6317742" y="1987550"/>
              <a:ext cx="3702977" cy="264033"/>
            </a:xfrm>
            <a:prstGeom prst="rect">
              <a:avLst/>
            </a:prstGeom>
            <a:noFill/>
            <a:ln>
              <a:noFill/>
            </a:ln>
          </p:spPr>
          <p:txBody>
            <a:bodyPr wrap="none" lIns="0" tIns="0" rIns="0" bIns="0" anchor="t" anchorCtr="0">
              <a:spAutoFit/>
            </a:bodyPr>
            <a:lstStyle/>
            <a:p>
              <a:pPr algn="l"/>
              <a:r>
                <a:rPr lang="ko-KR" sz="1350" dirty="0">
                  <a:solidFill>
                    <a:srgbClr val="111827"/>
                  </a:solidFill>
                  <a:latin typeface="+mn-lt"/>
                  <a:ea typeface="+mn-ea"/>
                  <a:cs typeface="+mn-cs"/>
                </a:rPr>
                <a:t>민원·노후 관로·공사구간으로 조사 대상 선정</a:t>
              </a:r>
            </a:p>
          </p:txBody>
        </p:sp>
        <p:sp>
          <p:nvSpPr>
            <p:cNvPr id="40" name="Ellipse 40"/>
            <p:cNvSpPr/>
            <p:nvPr/>
          </p:nvSpPr>
          <p:spPr>
            <a:xfrm>
              <a:off x="5943600" y="2447925"/>
              <a:ext cx="247650" cy="247650"/>
            </a:xfrm>
            <a:prstGeom prst="ellipse">
              <a:avLst/>
            </a:prstGeom>
            <a:solidFill>
              <a:srgbClr val="0B1E3C"/>
            </a:solidFill>
            <a:ln>
              <a:noFill/>
            </a:ln>
          </p:spPr>
        </p:sp>
        <p:sp>
          <p:nvSpPr>
            <p:cNvPr id="41" name="TextBox 41"/>
            <p:cNvSpPr txBox="1"/>
            <p:nvPr/>
          </p:nvSpPr>
          <p:spPr>
            <a:xfrm>
              <a:off x="6018174" y="2479675"/>
              <a:ext cx="98502" cy="220028"/>
            </a:xfrm>
            <a:prstGeom prst="rect">
              <a:avLst/>
            </a:prstGeom>
            <a:noFill/>
            <a:ln>
              <a:noFill/>
            </a:ln>
          </p:spPr>
          <p:txBody>
            <a:bodyPr wrap="none" lIns="0" tIns="0" rIns="0" bIns="0" anchor="t" anchorCtr="0">
              <a:spAutoFit/>
            </a:bodyPr>
            <a:lstStyle/>
            <a:p>
              <a:pPr algn="ctr"/>
              <a:r>
                <a:rPr lang="ko-KR" sz="1120" b="1" dirty="0">
                  <a:solidFill>
                    <a:srgbClr val="FFFFFF"/>
                  </a:solidFill>
                  <a:latin typeface="+mn-lt"/>
                  <a:ea typeface="+mn-ea"/>
                  <a:cs typeface="+mn-cs"/>
                </a:rPr>
                <a:t>2</a:t>
              </a:r>
            </a:p>
          </p:txBody>
        </p:sp>
        <p:sp>
          <p:nvSpPr>
            <p:cNvPr id="42" name="TextBox 42"/>
            <p:cNvSpPr txBox="1"/>
            <p:nvPr/>
          </p:nvSpPr>
          <p:spPr>
            <a:xfrm>
              <a:off x="6317742" y="2463800"/>
              <a:ext cx="3753023" cy="264033"/>
            </a:xfrm>
            <a:prstGeom prst="rect">
              <a:avLst/>
            </a:prstGeom>
            <a:noFill/>
            <a:ln>
              <a:noFill/>
            </a:ln>
          </p:spPr>
          <p:txBody>
            <a:bodyPr wrap="none" lIns="0" tIns="0" rIns="0" bIns="0" anchor="t" anchorCtr="0">
              <a:spAutoFit/>
            </a:bodyPr>
            <a:lstStyle/>
            <a:p>
              <a:pPr algn="l"/>
              <a:r>
                <a:rPr lang="ko-KR" sz="1350" dirty="0">
                  <a:solidFill>
                    <a:srgbClr val="111827"/>
                  </a:solidFill>
                  <a:latin typeface="+mn-lt"/>
                  <a:ea typeface="+mn-ea"/>
                  <a:cs typeface="+mn-cs"/>
                </a:rPr>
                <a:t xml:space="preserve">차량형 GPR이 도로를 </a:t>
              </a:r>
              <a:r>
                <a:rPr lang="ko-KR" sz="1350" b="1" dirty="0">
                  <a:solidFill>
                    <a:srgbClr val="C62828"/>
                  </a:solidFill>
                  <a:latin typeface="+mn-lt"/>
                  <a:ea typeface="+mn-ea"/>
                  <a:cs typeface="+mn-cs"/>
                </a:rPr>
                <a:t>한 번</a:t>
              </a:r>
              <a:r>
                <a:rPr lang="ko-KR" sz="1350" dirty="0">
                  <a:solidFill>
                    <a:srgbClr val="111827"/>
                  </a:solidFill>
                  <a:latin typeface="+mn-lt"/>
                  <a:ea typeface="+mn-ea"/>
                  <a:cs typeface="+mn-cs"/>
                </a:rPr>
                <a:t xml:space="preserve"> 스캔 (폭 3m 이내)</a:t>
              </a:r>
            </a:p>
          </p:txBody>
        </p:sp>
        <p:sp>
          <p:nvSpPr>
            <p:cNvPr id="43" name="Ellipse 43"/>
            <p:cNvSpPr/>
            <p:nvPr/>
          </p:nvSpPr>
          <p:spPr>
            <a:xfrm>
              <a:off x="5943600" y="2924175"/>
              <a:ext cx="247650" cy="247650"/>
            </a:xfrm>
            <a:prstGeom prst="ellipse">
              <a:avLst/>
            </a:prstGeom>
            <a:solidFill>
              <a:srgbClr val="0B1E3C"/>
            </a:solidFill>
            <a:ln>
              <a:noFill/>
            </a:ln>
          </p:spPr>
        </p:sp>
        <p:sp>
          <p:nvSpPr>
            <p:cNvPr id="44" name="TextBox 44"/>
            <p:cNvSpPr txBox="1"/>
            <p:nvPr/>
          </p:nvSpPr>
          <p:spPr>
            <a:xfrm>
              <a:off x="6018174" y="2955925"/>
              <a:ext cx="98502" cy="220028"/>
            </a:xfrm>
            <a:prstGeom prst="rect">
              <a:avLst/>
            </a:prstGeom>
            <a:noFill/>
            <a:ln>
              <a:noFill/>
            </a:ln>
          </p:spPr>
          <p:txBody>
            <a:bodyPr wrap="none" lIns="0" tIns="0" rIns="0" bIns="0" anchor="t" anchorCtr="0">
              <a:spAutoFit/>
            </a:bodyPr>
            <a:lstStyle/>
            <a:p>
              <a:pPr algn="ctr"/>
              <a:r>
                <a:rPr lang="ko-KR" sz="1120" b="1" dirty="0">
                  <a:solidFill>
                    <a:srgbClr val="FFFFFF"/>
                  </a:solidFill>
                  <a:latin typeface="+mn-lt"/>
                  <a:ea typeface="+mn-ea"/>
                  <a:cs typeface="+mn-cs"/>
                </a:rPr>
                <a:t>3</a:t>
              </a:r>
            </a:p>
          </p:txBody>
        </p:sp>
        <p:sp>
          <p:nvSpPr>
            <p:cNvPr id="45" name="TextBox 45"/>
            <p:cNvSpPr txBox="1"/>
            <p:nvPr/>
          </p:nvSpPr>
          <p:spPr>
            <a:xfrm>
              <a:off x="6317742" y="2940050"/>
              <a:ext cx="3012376" cy="264033"/>
            </a:xfrm>
            <a:prstGeom prst="rect">
              <a:avLst/>
            </a:prstGeom>
            <a:noFill/>
            <a:ln>
              <a:noFill/>
            </a:ln>
          </p:spPr>
          <p:txBody>
            <a:bodyPr wrap="none" lIns="0" tIns="0" rIns="0" bIns="0" anchor="t" anchorCtr="0">
              <a:spAutoFit/>
            </a:bodyPr>
            <a:lstStyle/>
            <a:p>
              <a:pPr algn="l"/>
              <a:r>
                <a:rPr lang="ko-KR" sz="1350" dirty="0">
                  <a:solidFill>
                    <a:srgbClr val="111827"/>
                  </a:solidFill>
                  <a:latin typeface="+mn-lt"/>
                  <a:ea typeface="+mn-ea"/>
                  <a:cs typeface="+mn-cs"/>
                </a:rPr>
                <a:t>분석자가 판독해 공동 의심 지점 선별</a:t>
              </a:r>
            </a:p>
          </p:txBody>
        </p:sp>
        <p:sp>
          <p:nvSpPr>
            <p:cNvPr id="46" name="Ellipse 46"/>
            <p:cNvSpPr/>
            <p:nvPr/>
          </p:nvSpPr>
          <p:spPr>
            <a:xfrm>
              <a:off x="5943600" y="3400425"/>
              <a:ext cx="247650" cy="247650"/>
            </a:xfrm>
            <a:prstGeom prst="ellipse">
              <a:avLst/>
            </a:prstGeom>
            <a:solidFill>
              <a:srgbClr val="0B1E3C"/>
            </a:solidFill>
            <a:ln>
              <a:noFill/>
            </a:ln>
          </p:spPr>
        </p:sp>
        <p:sp>
          <p:nvSpPr>
            <p:cNvPr id="47" name="TextBox 47"/>
            <p:cNvSpPr txBox="1"/>
            <p:nvPr/>
          </p:nvSpPr>
          <p:spPr>
            <a:xfrm>
              <a:off x="6018174" y="3432175"/>
              <a:ext cx="98502" cy="220028"/>
            </a:xfrm>
            <a:prstGeom prst="rect">
              <a:avLst/>
            </a:prstGeom>
            <a:noFill/>
            <a:ln>
              <a:noFill/>
            </a:ln>
          </p:spPr>
          <p:txBody>
            <a:bodyPr wrap="none" lIns="0" tIns="0" rIns="0" bIns="0" anchor="t" anchorCtr="0">
              <a:spAutoFit/>
            </a:bodyPr>
            <a:lstStyle/>
            <a:p>
              <a:pPr algn="ctr"/>
              <a:r>
                <a:rPr lang="ko-KR" sz="1120" b="1" dirty="0">
                  <a:solidFill>
                    <a:srgbClr val="FFFFFF"/>
                  </a:solidFill>
                  <a:latin typeface="+mn-lt"/>
                  <a:ea typeface="+mn-ea"/>
                  <a:cs typeface="+mn-cs"/>
                </a:rPr>
                <a:t>4</a:t>
              </a:r>
            </a:p>
          </p:txBody>
        </p:sp>
        <p:sp>
          <p:nvSpPr>
            <p:cNvPr id="48" name="TextBox 48"/>
            <p:cNvSpPr txBox="1"/>
            <p:nvPr/>
          </p:nvSpPr>
          <p:spPr>
            <a:xfrm>
              <a:off x="6317742" y="3416300"/>
              <a:ext cx="2550833" cy="264033"/>
            </a:xfrm>
            <a:prstGeom prst="rect">
              <a:avLst/>
            </a:prstGeom>
            <a:noFill/>
            <a:ln>
              <a:noFill/>
            </a:ln>
          </p:spPr>
          <p:txBody>
            <a:bodyPr wrap="none" lIns="0" tIns="0" rIns="0" bIns="0" anchor="t" anchorCtr="0">
              <a:spAutoFit/>
            </a:bodyPr>
            <a:lstStyle/>
            <a:p>
              <a:pPr algn="l"/>
              <a:r>
                <a:rPr lang="ko-KR" sz="1350" dirty="0">
                  <a:solidFill>
                    <a:srgbClr val="111827"/>
                  </a:solidFill>
                  <a:latin typeface="+mn-lt"/>
                  <a:ea typeface="+mn-ea"/>
                  <a:cs typeface="+mn-cs"/>
                </a:rPr>
                <a:t>작업자가 수동 GPR로 다시 조사</a:t>
              </a:r>
            </a:p>
          </p:txBody>
        </p:sp>
        <p:sp>
          <p:nvSpPr>
            <p:cNvPr id="49" name="Ellipse 49"/>
            <p:cNvSpPr/>
            <p:nvPr/>
          </p:nvSpPr>
          <p:spPr>
            <a:xfrm>
              <a:off x="5943600" y="3876675"/>
              <a:ext cx="247650" cy="247650"/>
            </a:xfrm>
            <a:prstGeom prst="ellipse">
              <a:avLst/>
            </a:prstGeom>
            <a:solidFill>
              <a:srgbClr val="0B1E3C"/>
            </a:solidFill>
            <a:ln>
              <a:noFill/>
            </a:ln>
          </p:spPr>
        </p:sp>
        <p:sp>
          <p:nvSpPr>
            <p:cNvPr id="50" name="TextBox 50"/>
            <p:cNvSpPr txBox="1"/>
            <p:nvPr/>
          </p:nvSpPr>
          <p:spPr>
            <a:xfrm>
              <a:off x="6018174" y="3908425"/>
              <a:ext cx="98502" cy="220028"/>
            </a:xfrm>
            <a:prstGeom prst="rect">
              <a:avLst/>
            </a:prstGeom>
            <a:noFill/>
            <a:ln>
              <a:noFill/>
            </a:ln>
          </p:spPr>
          <p:txBody>
            <a:bodyPr wrap="none" lIns="0" tIns="0" rIns="0" bIns="0" anchor="t" anchorCtr="0">
              <a:spAutoFit/>
            </a:bodyPr>
            <a:lstStyle/>
            <a:p>
              <a:pPr algn="ctr"/>
              <a:r>
                <a:rPr lang="ko-KR" sz="1120" b="1" dirty="0">
                  <a:solidFill>
                    <a:srgbClr val="FFFFFF"/>
                  </a:solidFill>
                  <a:latin typeface="+mn-lt"/>
                  <a:ea typeface="+mn-ea"/>
                  <a:cs typeface="+mn-cs"/>
                </a:rPr>
                <a:t>5</a:t>
              </a:r>
            </a:p>
          </p:txBody>
        </p:sp>
        <p:sp>
          <p:nvSpPr>
            <p:cNvPr id="51" name="TextBox 51"/>
            <p:cNvSpPr txBox="1"/>
            <p:nvPr/>
          </p:nvSpPr>
          <p:spPr>
            <a:xfrm>
              <a:off x="6317742" y="3892550"/>
              <a:ext cx="2821553" cy="264033"/>
            </a:xfrm>
            <a:prstGeom prst="rect">
              <a:avLst/>
            </a:prstGeom>
            <a:noFill/>
            <a:ln>
              <a:noFill/>
            </a:ln>
          </p:spPr>
          <p:txBody>
            <a:bodyPr wrap="none" lIns="0" tIns="0" rIns="0" bIns="0" anchor="t" anchorCtr="0">
              <a:spAutoFit/>
            </a:bodyPr>
            <a:lstStyle/>
            <a:p>
              <a:pPr algn="l"/>
              <a:r>
                <a:rPr lang="ko-KR" sz="1350" dirty="0">
                  <a:solidFill>
                    <a:srgbClr val="111827"/>
                  </a:solidFill>
                  <a:latin typeface="+mn-lt"/>
                  <a:ea typeface="+mn-ea"/>
                  <a:cs typeface="+mn-cs"/>
                </a:rPr>
                <a:t>교통통제 후 천공·내시경으로 확인</a:t>
              </a:r>
            </a:p>
          </p:txBody>
        </p:sp>
        <p:sp>
          <p:nvSpPr>
            <p:cNvPr id="52" name="Ellipse 52"/>
            <p:cNvSpPr/>
            <p:nvPr/>
          </p:nvSpPr>
          <p:spPr>
            <a:xfrm>
              <a:off x="5943600" y="4352925"/>
              <a:ext cx="247650" cy="247650"/>
            </a:xfrm>
            <a:prstGeom prst="ellipse">
              <a:avLst/>
            </a:prstGeom>
            <a:solidFill>
              <a:srgbClr val="0B1E3C"/>
            </a:solidFill>
            <a:ln>
              <a:noFill/>
            </a:ln>
          </p:spPr>
        </p:sp>
        <p:sp>
          <p:nvSpPr>
            <p:cNvPr id="53" name="TextBox 53"/>
            <p:cNvSpPr txBox="1"/>
            <p:nvPr/>
          </p:nvSpPr>
          <p:spPr>
            <a:xfrm>
              <a:off x="6018174" y="4384675"/>
              <a:ext cx="98502" cy="220028"/>
            </a:xfrm>
            <a:prstGeom prst="rect">
              <a:avLst/>
            </a:prstGeom>
            <a:noFill/>
            <a:ln>
              <a:noFill/>
            </a:ln>
          </p:spPr>
          <p:txBody>
            <a:bodyPr wrap="none" lIns="0" tIns="0" rIns="0" bIns="0" anchor="t" anchorCtr="0">
              <a:spAutoFit/>
            </a:bodyPr>
            <a:lstStyle/>
            <a:p>
              <a:pPr algn="ctr"/>
              <a:r>
                <a:rPr lang="ko-KR" sz="1120" b="1" dirty="0">
                  <a:solidFill>
                    <a:srgbClr val="FFFFFF"/>
                  </a:solidFill>
                  <a:latin typeface="+mn-lt"/>
                  <a:ea typeface="+mn-ea"/>
                  <a:cs typeface="+mn-cs"/>
                </a:rPr>
                <a:t>6</a:t>
              </a:r>
            </a:p>
          </p:txBody>
        </p:sp>
        <p:sp>
          <p:nvSpPr>
            <p:cNvPr id="54" name="TextBox 54"/>
            <p:cNvSpPr txBox="1"/>
            <p:nvPr/>
          </p:nvSpPr>
          <p:spPr>
            <a:xfrm>
              <a:off x="6317742" y="4368800"/>
              <a:ext cx="1758391" cy="264033"/>
            </a:xfrm>
            <a:prstGeom prst="rect">
              <a:avLst/>
            </a:prstGeom>
            <a:noFill/>
            <a:ln>
              <a:noFill/>
            </a:ln>
          </p:spPr>
          <p:txBody>
            <a:bodyPr wrap="none" lIns="0" tIns="0" rIns="0" bIns="0" anchor="t" anchorCtr="0">
              <a:spAutoFit/>
            </a:bodyPr>
            <a:lstStyle/>
            <a:p>
              <a:pPr algn="l"/>
              <a:r>
                <a:rPr lang="ko-KR" sz="1350" dirty="0">
                  <a:solidFill>
                    <a:srgbClr val="111827"/>
                  </a:solidFill>
                  <a:latin typeface="+mn-lt"/>
                  <a:ea typeface="+mn-ea"/>
                  <a:cs typeface="+mn-cs"/>
                </a:rPr>
                <a:t>공동이 확인되면 복구</a:t>
              </a:r>
            </a:p>
          </p:txBody>
        </p:sp>
        <p:sp>
          <p:nvSpPr>
            <p:cNvPr id="55" name="Line 55"/>
            <p:cNvSpPr/>
            <p:nvPr/>
          </p:nvSpPr>
          <p:spPr>
            <a:xfrm>
              <a:off x="5943600" y="4876800"/>
              <a:ext cx="5715000" cy="9525"/>
            </a:xfrm>
            <a:custGeom>
              <a:avLst/>
              <a:gdLst/>
              <a:ahLst/>
              <a:cxnLst/>
              <a:rect l="l" t="t" r="r" b="b"/>
              <a:pathLst>
                <a:path w="5715000" h="9525">
                  <a:moveTo>
                    <a:pt x="0" y="0"/>
                  </a:moveTo>
                  <a:lnTo>
                    <a:pt x="5715000" y="0"/>
                  </a:lnTo>
                </a:path>
              </a:pathLst>
            </a:custGeom>
            <a:noFill/>
            <a:ln w="9525">
              <a:solidFill>
                <a:srgbClr val="E2E6EC"/>
              </a:solidFill>
            </a:ln>
          </p:spPr>
        </p:sp>
        <p:sp>
          <p:nvSpPr>
            <p:cNvPr id="56" name="TextBox 56"/>
            <p:cNvSpPr txBox="1"/>
            <p:nvPr/>
          </p:nvSpPr>
          <p:spPr>
            <a:xfrm>
              <a:off x="5937123" y="5067300"/>
              <a:ext cx="5037619" cy="250317"/>
            </a:xfrm>
            <a:prstGeom prst="rect">
              <a:avLst/>
            </a:prstGeom>
            <a:noFill/>
            <a:ln>
              <a:noFill/>
            </a:ln>
          </p:spPr>
          <p:txBody>
            <a:bodyPr wrap="none" lIns="0" tIns="0" rIns="0" bIns="0" anchor="t" anchorCtr="0">
              <a:spAutoFit/>
            </a:bodyPr>
            <a:lstStyle/>
            <a:p>
              <a:pPr algn="l"/>
              <a:r>
                <a:rPr lang="ko-KR" sz="1280" dirty="0">
                  <a:solidFill>
                    <a:srgbClr val="111827"/>
                  </a:solidFill>
                  <a:latin typeface="+mn-lt"/>
                  <a:ea typeface="+mn-ea"/>
                  <a:cs typeface="+mn-cs"/>
                </a:rPr>
                <a:t xml:space="preserve">한 번 스캔으로 끝나고, </a:t>
              </a:r>
              <a:r>
                <a:rPr lang="ko-KR" sz="1280" b="1" dirty="0">
                  <a:solidFill>
                    <a:srgbClr val="C62828"/>
                  </a:solidFill>
                  <a:latin typeface="+mn-lt"/>
                  <a:ea typeface="+mn-ea"/>
                  <a:cs typeface="+mn-cs"/>
                </a:rPr>
                <a:t>같은 길은 다음 정기점검 때</a:t>
              </a:r>
              <a:r>
                <a:rPr lang="ko-KR" sz="1280" dirty="0">
                  <a:solidFill>
                    <a:srgbClr val="111827"/>
                  </a:solidFill>
                  <a:latin typeface="+mn-lt"/>
                  <a:ea typeface="+mn-ea"/>
                  <a:cs typeface="+mn-cs"/>
                </a:rPr>
                <a:t xml:space="preserve"> 다시 봅니다.</a:t>
              </a:r>
            </a:p>
          </p:txBody>
        </p:sp>
      </p:grpSp>
      <p:grpSp>
        <p:nvGrpSpPr>
          <p:cNvPr id="60" name="conclusion"/>
          <p:cNvGrpSpPr/>
          <p:nvPr/>
        </p:nvGrpSpPr>
        <p:grpSpPr>
          <a:xfrm>
            <a:off x="533400" y="5676900"/>
            <a:ext cx="7246423" cy="419100"/>
            <a:chOff x="533400" y="5676900"/>
            <a:chExt cx="7246423" cy="419100"/>
          </a:xfrm>
        </p:grpSpPr>
        <p:sp>
          <p:nvSpPr>
            <p:cNvPr id="58" name="Rectangle 58"/>
            <p:cNvSpPr/>
            <p:nvPr/>
          </p:nvSpPr>
          <p:spPr>
            <a:xfrm>
              <a:off x="533400" y="5676900"/>
              <a:ext cx="38100" cy="419100"/>
            </a:xfrm>
            <a:prstGeom prst="rect">
              <a:avLst/>
            </a:prstGeom>
            <a:solidFill>
              <a:srgbClr val="F5B700"/>
            </a:solidFill>
            <a:ln>
              <a:noFill/>
            </a:ln>
          </p:spPr>
        </p:sp>
        <p:sp>
          <p:nvSpPr>
            <p:cNvPr id="59" name="TextBox 59"/>
            <p:cNvSpPr txBox="1"/>
            <p:nvPr/>
          </p:nvSpPr>
          <p:spPr>
            <a:xfrm>
              <a:off x="715899" y="5772150"/>
              <a:ext cx="7063924" cy="308991"/>
            </a:xfrm>
            <a:prstGeom prst="rect">
              <a:avLst/>
            </a:prstGeom>
            <a:noFill/>
            <a:ln>
              <a:noFill/>
            </a:ln>
          </p:spPr>
          <p:txBody>
            <a:bodyPr wrap="none" lIns="0" tIns="0" rIns="0" bIns="0" anchor="t" anchorCtr="0">
              <a:spAutoFit/>
            </a:bodyPr>
            <a:lstStyle/>
            <a:p>
              <a:pPr algn="l"/>
              <a:r>
                <a:rPr lang="ko-KR" sz="1580" b="1" dirty="0">
                  <a:solidFill>
                    <a:srgbClr val="0B1E3C"/>
                  </a:solidFill>
                  <a:latin typeface="+mn-lt"/>
                  <a:ea typeface="+mn-ea"/>
                  <a:cs typeface="+mn-cs"/>
                </a:rPr>
                <a:t>GPR은 이미 검증된 기술입니다. 바꿀 것은 한 번 보고 끝나는 방식입니다.</a:t>
              </a:r>
            </a:p>
          </p:txBody>
        </p:sp>
      </p:grpSp>
      <p:grpSp>
        <p:nvGrpSpPr>
          <p:cNvPr id="62" name="source"/>
          <p:cNvGrpSpPr/>
          <p:nvPr/>
        </p:nvGrpSpPr>
        <p:grpSpPr>
          <a:xfrm>
            <a:off x="528447" y="6381750"/>
            <a:ext cx="8463478" cy="191643"/>
            <a:chOff x="528447" y="6381750"/>
            <a:chExt cx="8463478" cy="191643"/>
          </a:xfrm>
        </p:grpSpPr>
        <p:sp>
          <p:nvSpPr>
            <p:cNvPr id="61" name="TextBox 61"/>
            <p:cNvSpPr txBox="1"/>
            <p:nvPr/>
          </p:nvSpPr>
          <p:spPr>
            <a:xfrm>
              <a:off x="528447" y="6381750"/>
              <a:ext cx="8463478" cy="191643"/>
            </a:xfrm>
            <a:prstGeom prst="rect">
              <a:avLst/>
            </a:prstGeom>
            <a:noFill/>
            <a:ln>
              <a:noFill/>
            </a:ln>
          </p:spPr>
          <p:txBody>
            <a:bodyPr wrap="none" lIns="0" tIns="0" rIns="0" bIns="0" anchor="t" anchorCtr="0">
              <a:spAutoFit/>
            </a:bodyPr>
            <a:lstStyle/>
            <a:p>
              <a:pPr algn="l"/>
              <a:r>
                <a:rPr lang="ko-KR" sz="980" dirty="0">
                  <a:solidFill>
                    <a:srgbClr val="4B5563"/>
                  </a:solidFill>
                  <a:latin typeface="+mn-lt"/>
                  <a:ea typeface="+mn-ea"/>
                  <a:cs typeface="+mn-cs"/>
                </a:rPr>
                <a:t>출처: 메트로신문(2025.10.19, 누적 탐사·공동) · 머니투데이(2026.3.23, 2026 계획·인력) · 서울시 안전정보(차량탑재형 GPR 폭 3m 이내)</a:t>
              </a:r>
            </a:p>
          </p:txBody>
        </p:sp>
      </p:grpSp>
      <p:grpSp>
        <p:nvGrpSpPr>
          <p:cNvPr id="65" name="footer"/>
          <p:cNvGrpSpPr/>
          <p:nvPr/>
        </p:nvGrpSpPr>
        <p:grpSpPr>
          <a:xfrm>
            <a:off x="528638" y="6610350"/>
            <a:ext cx="11134724" cy="176212"/>
            <a:chOff x="528638" y="6610350"/>
            <a:chExt cx="11134724" cy="176212"/>
          </a:xfrm>
        </p:grpSpPr>
        <p:sp>
          <p:nvSpPr>
            <p:cNvPr id="63" name="TextBox 63"/>
            <p:cNvSpPr txBox="1"/>
            <p:nvPr/>
          </p:nvSpPr>
          <p:spPr>
            <a:xfrm>
              <a:off x="528638" y="6610350"/>
              <a:ext cx="1020324" cy="176212"/>
            </a:xfrm>
            <a:prstGeom prst="rect">
              <a:avLst/>
            </a:prstGeom>
            <a:noFill/>
            <a:ln>
              <a:noFill/>
            </a:ln>
          </p:spPr>
          <p:txBody>
            <a:bodyPr wrap="none" lIns="0" tIns="0" rIns="0" bIns="0" anchor="t" anchorCtr="0">
              <a:spAutoFit/>
            </a:bodyPr>
            <a:lstStyle/>
            <a:p>
              <a:pPr algn="l"/>
              <a:r>
                <a:rPr lang="en-US" sz="900" dirty="0">
                  <a:solidFill>
                    <a:srgbClr val="4B5563"/>
                  </a:solidFill>
                  <a:latin typeface="+mn-lt"/>
                  <a:ea typeface="+mn-ea"/>
                  <a:cs typeface="+mn-cs"/>
                </a:rPr>
                <a:t>PV5 GroundWatch</a:t>
              </a:r>
            </a:p>
          </p:txBody>
        </p:sp>
        <p:sp>
          <p:nvSpPr>
            <p:cNvPr id="64" name="TextBox 64"/>
            <p:cNvSpPr txBox="1"/>
            <p:nvPr/>
          </p:nvSpPr>
          <p:spPr>
            <a:xfrm>
              <a:off x="11247958" y="6610350"/>
              <a:ext cx="415404" cy="176212"/>
            </a:xfrm>
            <a:prstGeom prst="rect">
              <a:avLst/>
            </a:prstGeom>
            <a:noFill/>
            <a:ln>
              <a:noFill/>
            </a:ln>
          </p:spPr>
          <p:txBody>
            <a:bodyPr wrap="none" lIns="0" tIns="0" rIns="0" bIns="0" anchor="t" anchorCtr="0">
              <a:spAutoFit/>
            </a:bodyPr>
            <a:lstStyle/>
            <a:p>
              <a:pPr algn="r"/>
              <a:r>
                <a:rPr lang="ko-KR" sz="900" dirty="0">
                  <a:solidFill>
                    <a:srgbClr val="4B5563"/>
                  </a:solidFill>
                  <a:latin typeface="+mn-lt"/>
                  <a:ea typeface="+mn-ea"/>
                  <a:cs typeface="+mn-cs"/>
                </a:rPr>
                <a:t>04 / 15</a:t>
              </a:r>
            </a:p>
          </p:txBody>
        </p:sp>
      </p:grpSp>
    </p:spTree>
  </p:cSld>
  <p:clrMapOvr>
    <a:masterClrMapping/>
  </p:clrMapOvr>
  <p:transition xmlns:p14="http://schemas.microsoft.com/office/powerpoint/2010/main" p14:dur="400">
    <p:fade/>
  </p:transition>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grpSp>
        <p:nvGrpSpPr>
          <p:cNvPr id="16" name="header"/>
          <p:cNvGrpSpPr/>
          <p:nvPr/>
        </p:nvGrpSpPr>
        <p:grpSpPr>
          <a:xfrm>
            <a:off x="533400" y="266700"/>
            <a:ext cx="11125200" cy="333375"/>
            <a:chOff x="533400" y="266700"/>
            <a:chExt cx="11125200" cy="333375"/>
          </a:xfrm>
        </p:grpSpPr>
        <p:sp>
          <p:nvSpPr>
            <p:cNvPr id="2" name="Rectangle 2"/>
            <p:cNvSpPr/>
            <p:nvPr/>
          </p:nvSpPr>
          <p:spPr>
            <a:xfrm>
              <a:off x="533400" y="266700"/>
              <a:ext cx="1333500" cy="228600"/>
            </a:xfrm>
            <a:prstGeom prst="rect">
              <a:avLst/>
            </a:prstGeom>
            <a:solidFill>
              <a:srgbClr val="0B1E3C"/>
            </a:solidFill>
            <a:ln>
              <a:noFill/>
            </a:ln>
          </p:spPr>
        </p:sp>
        <p:sp>
          <p:nvSpPr>
            <p:cNvPr id="3" name="TextBox 3"/>
            <p:cNvSpPr txBox="1"/>
            <p:nvPr/>
          </p:nvSpPr>
          <p:spPr>
            <a:xfrm>
              <a:off x="617357" y="314325"/>
              <a:ext cx="1165586" cy="191643"/>
            </a:xfrm>
            <a:prstGeom prst="rect">
              <a:avLst/>
            </a:prstGeom>
            <a:noFill/>
            <a:ln>
              <a:noFill/>
            </a:ln>
          </p:spPr>
          <p:txBody>
            <a:bodyPr wrap="none" lIns="0" tIns="0" rIns="0" bIns="0" anchor="t" anchorCtr="0">
              <a:spAutoFit/>
            </a:bodyPr>
            <a:lstStyle/>
            <a:p>
              <a:pPr algn="ctr"/>
              <a:r>
                <a:rPr lang="en-US" sz="980" b="1" dirty="0">
                  <a:solidFill>
                    <a:srgbClr val="FFFFFF"/>
                  </a:solidFill>
                  <a:latin typeface="+mn-lt"/>
                  <a:ea typeface="+mn-ea"/>
                  <a:cs typeface="+mn-cs"/>
                </a:rPr>
                <a:t>PV5 GroundWatch</a:t>
              </a:r>
            </a:p>
          </p:txBody>
        </p:sp>
        <p:sp>
          <p:nvSpPr>
            <p:cNvPr id="4" name="TextBox 4"/>
            <p:cNvSpPr txBox="1"/>
            <p:nvPr/>
          </p:nvSpPr>
          <p:spPr>
            <a:xfrm>
              <a:off x="1994916" y="301625"/>
              <a:ext cx="1084936" cy="205359"/>
            </a:xfrm>
            <a:prstGeom prst="rect">
              <a:avLst/>
            </a:prstGeom>
            <a:noFill/>
            <a:ln>
              <a:noFill/>
            </a:ln>
          </p:spPr>
          <p:txBody>
            <a:bodyPr wrap="none" lIns="0" tIns="0" rIns="0" bIns="0" anchor="t" anchorCtr="0">
              <a:spAutoFit/>
            </a:bodyPr>
            <a:lstStyle/>
            <a:p>
              <a:pPr algn="l"/>
              <a:r>
                <a:rPr lang="ko-KR" sz="1050" dirty="0">
                  <a:solidFill>
                    <a:srgbClr val="374151"/>
                  </a:solidFill>
                  <a:latin typeface="+mn-lt"/>
                  <a:ea typeface="+mn-ea"/>
                  <a:cs typeface="+mn-cs"/>
                </a:rPr>
                <a:t>지금 체계의 맹점</a:t>
              </a:r>
            </a:p>
          </p:txBody>
        </p:sp>
        <p:sp>
          <p:nvSpPr>
            <p:cNvPr id="5" name="TextBox 5"/>
            <p:cNvSpPr txBox="1"/>
            <p:nvPr/>
          </p:nvSpPr>
          <p:spPr>
            <a:xfrm>
              <a:off x="8425815" y="301625"/>
              <a:ext cx="293370" cy="205359"/>
            </a:xfrm>
            <a:prstGeom prst="rect">
              <a:avLst/>
            </a:prstGeom>
            <a:noFill/>
            <a:ln>
              <a:noFill/>
            </a:ln>
          </p:spPr>
          <p:txBody>
            <a:bodyPr wrap="none" lIns="0" tIns="0" rIns="0" bIns="0" anchor="t" anchorCtr="0">
              <a:spAutoFit/>
            </a:bodyPr>
            <a:lstStyle/>
            <a:p>
              <a:pPr algn="ctr"/>
              <a:r>
                <a:rPr lang="ko-KR" sz="1050" b="1" dirty="0">
                  <a:solidFill>
                    <a:srgbClr val="0B1E3C"/>
                  </a:solidFill>
                  <a:latin typeface="+mn-lt"/>
                  <a:ea typeface="+mn-ea"/>
                  <a:cs typeface="+mn-cs"/>
                </a:rPr>
                <a:t>문제</a:t>
              </a:r>
            </a:p>
          </p:txBody>
        </p:sp>
        <p:sp>
          <p:nvSpPr>
            <p:cNvPr id="6" name="Rectangle 6"/>
            <p:cNvSpPr/>
            <p:nvPr/>
          </p:nvSpPr>
          <p:spPr>
            <a:xfrm>
              <a:off x="8343900" y="514350"/>
              <a:ext cx="457200" cy="28575"/>
            </a:xfrm>
            <a:prstGeom prst="rect">
              <a:avLst/>
            </a:prstGeom>
            <a:solidFill>
              <a:srgbClr val="F5B700"/>
            </a:solidFill>
            <a:ln>
              <a:noFill/>
            </a:ln>
          </p:spPr>
        </p:sp>
        <p:sp>
          <p:nvSpPr>
            <p:cNvPr id="7" name="TextBox 7"/>
            <p:cNvSpPr txBox="1"/>
            <p:nvPr/>
          </p:nvSpPr>
          <p:spPr>
            <a:xfrm>
              <a:off x="884874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8" name="TextBox 8"/>
            <p:cNvSpPr txBox="1"/>
            <p:nvPr/>
          </p:nvSpPr>
          <p:spPr>
            <a:xfrm>
              <a:off x="9054465" y="301625"/>
              <a:ext cx="293370" cy="205359"/>
            </a:xfrm>
            <a:prstGeom prst="rect">
              <a:avLst/>
            </a:prstGeom>
            <a:noFill/>
            <a:ln>
              <a:noFill/>
            </a:ln>
          </p:spPr>
          <p:txBody>
            <a:bodyPr wrap="none" lIns="0" tIns="0" rIns="0" bIns="0" anchor="t" anchorCtr="0">
              <a:spAutoFit/>
            </a:bodyPr>
            <a:lstStyle/>
            <a:p>
              <a:pPr algn="ctr"/>
              <a:r>
                <a:rPr lang="ko-KR" sz="1050" dirty="0">
                  <a:solidFill>
                    <a:srgbClr val="9AA3AF"/>
                  </a:solidFill>
                  <a:latin typeface="+mn-lt"/>
                  <a:ea typeface="+mn-ea"/>
                  <a:cs typeface="+mn-cs"/>
                </a:rPr>
                <a:t>해법</a:t>
              </a:r>
            </a:p>
          </p:txBody>
        </p:sp>
        <p:sp>
          <p:nvSpPr>
            <p:cNvPr id="9" name="TextBox 9"/>
            <p:cNvSpPr txBox="1"/>
            <p:nvPr/>
          </p:nvSpPr>
          <p:spPr>
            <a:xfrm>
              <a:off x="947739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10" name="TextBox 10"/>
            <p:cNvSpPr txBox="1"/>
            <p:nvPr/>
          </p:nvSpPr>
          <p:spPr>
            <a:xfrm>
              <a:off x="9701251" y="301625"/>
              <a:ext cx="257099" cy="205359"/>
            </a:xfrm>
            <a:prstGeom prst="rect">
              <a:avLst/>
            </a:prstGeom>
            <a:noFill/>
            <a:ln>
              <a:noFill/>
            </a:ln>
          </p:spPr>
          <p:txBody>
            <a:bodyPr wrap="none" lIns="0" tIns="0" rIns="0" bIns="0" anchor="t" anchorCtr="0">
              <a:spAutoFit/>
            </a:bodyPr>
            <a:lstStyle/>
            <a:p>
              <a:pPr algn="ctr"/>
              <a:r>
                <a:rPr lang="en-US" sz="1050" dirty="0">
                  <a:solidFill>
                    <a:srgbClr val="9AA3AF"/>
                  </a:solidFill>
                  <a:latin typeface="+mn-lt"/>
                  <a:ea typeface="+mn-ea"/>
                  <a:cs typeface="+mn-cs"/>
                </a:rPr>
                <a:t>PV5</a:t>
              </a:r>
            </a:p>
          </p:txBody>
        </p:sp>
        <p:sp>
          <p:nvSpPr>
            <p:cNvPr id="11" name="TextBox 11"/>
            <p:cNvSpPr txBox="1"/>
            <p:nvPr/>
          </p:nvSpPr>
          <p:spPr>
            <a:xfrm>
              <a:off x="1010604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12" name="TextBox 12"/>
            <p:cNvSpPr txBox="1"/>
            <p:nvPr/>
          </p:nvSpPr>
          <p:spPr>
            <a:xfrm>
              <a:off x="10311765" y="301625"/>
              <a:ext cx="293370" cy="205359"/>
            </a:xfrm>
            <a:prstGeom prst="rect">
              <a:avLst/>
            </a:prstGeom>
            <a:noFill/>
            <a:ln>
              <a:noFill/>
            </a:ln>
          </p:spPr>
          <p:txBody>
            <a:bodyPr wrap="none" lIns="0" tIns="0" rIns="0" bIns="0" anchor="t" anchorCtr="0">
              <a:spAutoFit/>
            </a:bodyPr>
            <a:lstStyle/>
            <a:p>
              <a:pPr algn="ctr"/>
              <a:r>
                <a:rPr lang="ko-KR" sz="1050" dirty="0">
                  <a:solidFill>
                    <a:srgbClr val="9AA3AF"/>
                  </a:solidFill>
                  <a:latin typeface="+mn-lt"/>
                  <a:ea typeface="+mn-ea"/>
                  <a:cs typeface="+mn-cs"/>
                </a:rPr>
                <a:t>검증</a:t>
              </a:r>
            </a:p>
          </p:txBody>
        </p:sp>
        <p:sp>
          <p:nvSpPr>
            <p:cNvPr id="13" name="TextBox 13"/>
            <p:cNvSpPr txBox="1"/>
            <p:nvPr/>
          </p:nvSpPr>
          <p:spPr>
            <a:xfrm>
              <a:off x="1073469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14" name="TextBox 14"/>
            <p:cNvSpPr txBox="1"/>
            <p:nvPr/>
          </p:nvSpPr>
          <p:spPr>
            <a:xfrm>
              <a:off x="10940415" y="301625"/>
              <a:ext cx="293370" cy="205359"/>
            </a:xfrm>
            <a:prstGeom prst="rect">
              <a:avLst/>
            </a:prstGeom>
            <a:noFill/>
            <a:ln>
              <a:noFill/>
            </a:ln>
          </p:spPr>
          <p:txBody>
            <a:bodyPr wrap="none" lIns="0" tIns="0" rIns="0" bIns="0" anchor="t" anchorCtr="0">
              <a:spAutoFit/>
            </a:bodyPr>
            <a:lstStyle/>
            <a:p>
              <a:pPr algn="ctr"/>
              <a:r>
                <a:rPr lang="ko-KR" sz="1050" dirty="0">
                  <a:solidFill>
                    <a:srgbClr val="9AA3AF"/>
                  </a:solidFill>
                  <a:latin typeface="+mn-lt"/>
                  <a:ea typeface="+mn-ea"/>
                  <a:cs typeface="+mn-cs"/>
                </a:rPr>
                <a:t>사업</a:t>
              </a:r>
            </a:p>
          </p:txBody>
        </p:sp>
        <p:sp>
          <p:nvSpPr>
            <p:cNvPr id="15" name="Line 15"/>
            <p:cNvSpPr/>
            <p:nvPr/>
          </p:nvSpPr>
          <p:spPr>
            <a:xfrm>
              <a:off x="533400" y="590550"/>
              <a:ext cx="11125200" cy="9525"/>
            </a:xfrm>
            <a:custGeom>
              <a:avLst/>
              <a:gdLst/>
              <a:ahLst/>
              <a:cxnLst/>
              <a:rect l="l" t="t" r="r" b="b"/>
              <a:pathLst>
                <a:path w="11125200" h="9525">
                  <a:moveTo>
                    <a:pt x="0" y="0"/>
                  </a:moveTo>
                  <a:lnTo>
                    <a:pt x="11125200" y="0"/>
                  </a:lnTo>
                </a:path>
              </a:pathLst>
            </a:custGeom>
            <a:noFill/>
            <a:ln w="9525">
              <a:solidFill>
                <a:srgbClr val="0B1E3C"/>
              </a:solidFill>
            </a:ln>
          </p:spPr>
        </p:sp>
      </p:grpSp>
      <p:grpSp>
        <p:nvGrpSpPr>
          <p:cNvPr id="18" name="title"/>
          <p:cNvGrpSpPr/>
          <p:nvPr/>
        </p:nvGrpSpPr>
        <p:grpSpPr>
          <a:xfrm>
            <a:off x="518160" y="774700"/>
            <a:ext cx="8783936" cy="586740"/>
            <a:chOff x="518160" y="774700"/>
            <a:chExt cx="8783936" cy="586740"/>
          </a:xfrm>
        </p:grpSpPr>
        <p:sp>
          <p:nvSpPr>
            <p:cNvPr id="17" name="TextBox 17"/>
            <p:cNvSpPr txBox="1"/>
            <p:nvPr/>
          </p:nvSpPr>
          <p:spPr>
            <a:xfrm>
              <a:off x="518160" y="774700"/>
              <a:ext cx="8783936" cy="586740"/>
            </a:xfrm>
            <a:prstGeom prst="rect">
              <a:avLst/>
            </a:prstGeom>
            <a:noFill/>
            <a:ln>
              <a:noFill/>
            </a:ln>
          </p:spPr>
          <p:txBody>
            <a:bodyPr wrap="none" lIns="0" tIns="0" rIns="0" bIns="0" anchor="t" anchorCtr="0">
              <a:spAutoFit/>
            </a:bodyPr>
            <a:lstStyle/>
            <a:p>
              <a:pPr algn="l"/>
              <a:r>
                <a:rPr lang="ko-KR" sz="3000" b="1" spc="-75" dirty="0">
                  <a:solidFill>
                    <a:srgbClr val="0B1E3C"/>
                  </a:solidFill>
                  <a:latin typeface="+mn-lt"/>
                  <a:ea typeface="+mn-ea"/>
                  <a:cs typeface="+mn-cs"/>
                </a:rPr>
                <a:t>맹점은 탐사가 아니라, 탐사와 탐사 ‘사이’입니다</a:t>
              </a:r>
            </a:p>
          </p:txBody>
        </p:sp>
      </p:grpSp>
      <p:grpSp>
        <p:nvGrpSpPr>
          <p:cNvPr id="30" name="gap-chart"/>
          <p:cNvGrpSpPr/>
          <p:nvPr/>
        </p:nvGrpSpPr>
        <p:grpSpPr>
          <a:xfrm>
            <a:off x="526542" y="1600200"/>
            <a:ext cx="6483858" cy="3264281"/>
            <a:chOff x="526542" y="1600200"/>
            <a:chExt cx="6483858" cy="3264281"/>
          </a:xfrm>
        </p:grpSpPr>
        <p:sp>
          <p:nvSpPr>
            <p:cNvPr id="19" name="Rectangle 19"/>
            <p:cNvSpPr/>
            <p:nvPr/>
          </p:nvSpPr>
          <p:spPr>
            <a:xfrm>
              <a:off x="533400" y="1600200"/>
              <a:ext cx="6477000" cy="28575"/>
            </a:xfrm>
            <a:prstGeom prst="rect">
              <a:avLst/>
            </a:prstGeom>
            <a:solidFill>
              <a:srgbClr val="0B1E3C"/>
            </a:solidFill>
            <a:ln>
              <a:noFill/>
            </a:ln>
          </p:spPr>
        </p:sp>
        <p:sp>
          <p:nvSpPr>
            <p:cNvPr id="20" name="TextBox 20"/>
            <p:cNvSpPr txBox="1"/>
            <p:nvPr/>
          </p:nvSpPr>
          <p:spPr>
            <a:xfrm>
              <a:off x="527685" y="1803400"/>
              <a:ext cx="2359741" cy="220028"/>
            </a:xfrm>
            <a:prstGeom prst="rect">
              <a:avLst/>
            </a:prstGeom>
            <a:noFill/>
            <a:ln>
              <a:noFill/>
            </a:ln>
          </p:spPr>
          <p:txBody>
            <a:bodyPr wrap="none" lIns="0" tIns="0" rIns="0" bIns="0" anchor="t" anchorCtr="0">
              <a:spAutoFit/>
            </a:bodyPr>
            <a:lstStyle/>
            <a:p>
              <a:pPr algn="l"/>
              <a:r>
                <a:rPr lang="ko-KR" sz="1120" b="1" dirty="0">
                  <a:solidFill>
                    <a:srgbClr val="B45309"/>
                  </a:solidFill>
                  <a:latin typeface="+mn-lt"/>
                  <a:ea typeface="+mn-ea"/>
                  <a:cs typeface="+mn-cs"/>
                </a:rPr>
                <a:t>한 번 탐사한 도로를 다시 보기까지</a:t>
              </a:r>
            </a:p>
          </p:txBody>
        </p:sp>
        <p:sp>
          <p:nvSpPr>
            <p:cNvPr id="21" name="TextBox 21"/>
            <p:cNvSpPr txBox="1"/>
            <p:nvPr/>
          </p:nvSpPr>
          <p:spPr>
            <a:xfrm>
              <a:off x="526542" y="2273300"/>
              <a:ext cx="2942913" cy="264033"/>
            </a:xfrm>
            <a:prstGeom prst="rect">
              <a:avLst/>
            </a:prstGeom>
            <a:noFill/>
            <a:ln>
              <a:noFill/>
            </a:ln>
          </p:spPr>
          <p:txBody>
            <a:bodyPr wrap="none" lIns="0" tIns="0" rIns="0" bIns="0" anchor="t" anchorCtr="0">
              <a:spAutoFit/>
            </a:bodyPr>
            <a:lstStyle/>
            <a:p>
              <a:pPr algn="l"/>
              <a:r>
                <a:rPr lang="ko-KR" sz="1350" dirty="0">
                  <a:solidFill>
                    <a:srgbClr val="111827"/>
                  </a:solidFill>
                  <a:latin typeface="+mn-lt"/>
                  <a:ea typeface="+mn-ea"/>
                  <a:cs typeface="+mn-cs"/>
                </a:rPr>
                <a:t xml:space="preserve">법정 공동조사 주기 </a:t>
              </a:r>
              <a:r>
                <a:rPr lang="ko-KR" sz="1120" dirty="0">
                  <a:solidFill>
                    <a:srgbClr val="374151"/>
                  </a:solidFill>
                  <a:latin typeface="+mn-lt"/>
                  <a:ea typeface="+mn-ea"/>
                  <a:cs typeface="+mn-cs"/>
                </a:rPr>
                <a:t>(하수관 등 관리자)</a:t>
              </a:r>
            </a:p>
          </p:txBody>
        </p:sp>
        <p:sp>
          <p:nvSpPr>
            <p:cNvPr id="22" name="Rectangle 22"/>
            <p:cNvSpPr/>
            <p:nvPr/>
          </p:nvSpPr>
          <p:spPr>
            <a:xfrm>
              <a:off x="533400" y="2571750"/>
              <a:ext cx="5715000" cy="323850"/>
            </a:xfrm>
            <a:prstGeom prst="rect">
              <a:avLst/>
            </a:prstGeom>
            <a:solidFill>
              <a:srgbClr val="9AA3AF"/>
            </a:solidFill>
            <a:ln>
              <a:noFill/>
            </a:ln>
          </p:spPr>
        </p:sp>
        <p:sp>
          <p:nvSpPr>
            <p:cNvPr id="23" name="TextBox 23"/>
            <p:cNvSpPr txBox="1"/>
            <p:nvPr/>
          </p:nvSpPr>
          <p:spPr>
            <a:xfrm>
              <a:off x="6352794" y="2578100"/>
              <a:ext cx="433920" cy="381381"/>
            </a:xfrm>
            <a:prstGeom prst="rect">
              <a:avLst/>
            </a:prstGeom>
            <a:noFill/>
            <a:ln>
              <a:noFill/>
            </a:ln>
          </p:spPr>
          <p:txBody>
            <a:bodyPr wrap="none" lIns="0" tIns="0" rIns="0" bIns="0" anchor="t" anchorCtr="0">
              <a:spAutoFit/>
            </a:bodyPr>
            <a:lstStyle/>
            <a:p>
              <a:pPr algn="l"/>
              <a:r>
                <a:rPr lang="ko-KR" sz="1950" b="1" dirty="0">
                  <a:solidFill>
                    <a:srgbClr val="111827"/>
                  </a:solidFill>
                  <a:latin typeface="+mn-lt"/>
                  <a:ea typeface="+mn-ea"/>
                  <a:cs typeface="+mn-cs"/>
                </a:rPr>
                <a:t>5년</a:t>
              </a:r>
            </a:p>
          </p:txBody>
        </p:sp>
        <p:sp>
          <p:nvSpPr>
            <p:cNvPr id="24" name="TextBox 24"/>
            <p:cNvSpPr txBox="1"/>
            <p:nvPr/>
          </p:nvSpPr>
          <p:spPr>
            <a:xfrm>
              <a:off x="526542" y="3225800"/>
              <a:ext cx="4022565" cy="264033"/>
            </a:xfrm>
            <a:prstGeom prst="rect">
              <a:avLst/>
            </a:prstGeom>
            <a:noFill/>
            <a:ln>
              <a:noFill/>
            </a:ln>
          </p:spPr>
          <p:txBody>
            <a:bodyPr wrap="none" lIns="0" tIns="0" rIns="0" bIns="0" anchor="t" anchorCtr="0">
              <a:spAutoFit/>
            </a:bodyPr>
            <a:lstStyle/>
            <a:p>
              <a:pPr algn="l"/>
              <a:r>
                <a:rPr lang="ko-KR" sz="1350" dirty="0">
                  <a:solidFill>
                    <a:srgbClr val="111827"/>
                  </a:solidFill>
                  <a:latin typeface="+mn-lt"/>
                  <a:ea typeface="+mn-ea"/>
                  <a:cs typeface="+mn-cs"/>
                </a:rPr>
                <a:t xml:space="preserve">서울시가 줄이기로 한 정기점검 주기 </a:t>
              </a:r>
              <a:r>
                <a:rPr lang="ko-KR" sz="1120" dirty="0">
                  <a:solidFill>
                    <a:srgbClr val="374151"/>
                  </a:solidFill>
                  <a:latin typeface="+mn-lt"/>
                  <a:ea typeface="+mn-ea"/>
                  <a:cs typeface="+mn-cs"/>
                </a:rPr>
                <a:t>(2025.4 발표)</a:t>
              </a:r>
            </a:p>
          </p:txBody>
        </p:sp>
        <p:sp>
          <p:nvSpPr>
            <p:cNvPr id="25" name="Rectangle 25"/>
            <p:cNvSpPr/>
            <p:nvPr/>
          </p:nvSpPr>
          <p:spPr>
            <a:xfrm>
              <a:off x="533400" y="3524250"/>
              <a:ext cx="1143000" cy="323850"/>
            </a:xfrm>
            <a:prstGeom prst="rect">
              <a:avLst/>
            </a:prstGeom>
            <a:solidFill>
              <a:srgbClr val="0B1E3C"/>
            </a:solidFill>
            <a:ln>
              <a:noFill/>
            </a:ln>
          </p:spPr>
        </p:sp>
        <p:sp>
          <p:nvSpPr>
            <p:cNvPr id="26" name="TextBox 26"/>
            <p:cNvSpPr txBox="1"/>
            <p:nvPr/>
          </p:nvSpPr>
          <p:spPr>
            <a:xfrm>
              <a:off x="1780794" y="3530600"/>
              <a:ext cx="433920" cy="381381"/>
            </a:xfrm>
            <a:prstGeom prst="rect">
              <a:avLst/>
            </a:prstGeom>
            <a:noFill/>
            <a:ln>
              <a:noFill/>
            </a:ln>
          </p:spPr>
          <p:txBody>
            <a:bodyPr wrap="none" lIns="0" tIns="0" rIns="0" bIns="0" anchor="t" anchorCtr="0">
              <a:spAutoFit/>
            </a:bodyPr>
            <a:lstStyle/>
            <a:p>
              <a:pPr algn="l"/>
              <a:r>
                <a:rPr lang="ko-KR" sz="1950" b="1" dirty="0">
                  <a:solidFill>
                    <a:srgbClr val="0B1E3C"/>
                  </a:solidFill>
                  <a:latin typeface="+mn-lt"/>
                  <a:ea typeface="+mn-ea"/>
                  <a:cs typeface="+mn-cs"/>
                </a:rPr>
                <a:t>1년</a:t>
              </a:r>
            </a:p>
          </p:txBody>
        </p:sp>
        <p:sp>
          <p:nvSpPr>
            <p:cNvPr id="27" name="TextBox 27"/>
            <p:cNvSpPr txBox="1"/>
            <p:nvPr/>
          </p:nvSpPr>
          <p:spPr>
            <a:xfrm>
              <a:off x="526542" y="4178300"/>
              <a:ext cx="3283619" cy="264033"/>
            </a:xfrm>
            <a:prstGeom prst="rect">
              <a:avLst/>
            </a:prstGeom>
            <a:noFill/>
            <a:ln>
              <a:noFill/>
            </a:ln>
          </p:spPr>
          <p:txBody>
            <a:bodyPr wrap="none" lIns="0" tIns="0" rIns="0" bIns="0" anchor="t" anchorCtr="0">
              <a:spAutoFit/>
            </a:bodyPr>
            <a:lstStyle/>
            <a:p>
              <a:pPr algn="l"/>
              <a:r>
                <a:rPr lang="ko-KR" sz="1350" b="1" dirty="0">
                  <a:solidFill>
                    <a:srgbClr val="C62828"/>
                  </a:solidFill>
                  <a:latin typeface="+mn-lt"/>
                  <a:ea typeface="+mn-ea"/>
                  <a:cs typeface="+mn-cs"/>
                </a:rPr>
                <a:t>연희동: 탐사 ‘이상 없음’에서 함몰까지</a:t>
              </a:r>
            </a:p>
          </p:txBody>
        </p:sp>
        <p:sp>
          <p:nvSpPr>
            <p:cNvPr id="28" name="Rectangle 28"/>
            <p:cNvSpPr/>
            <p:nvPr/>
          </p:nvSpPr>
          <p:spPr>
            <a:xfrm>
              <a:off x="533400" y="4476750"/>
              <a:ext cx="333375" cy="323850"/>
            </a:xfrm>
            <a:prstGeom prst="rect">
              <a:avLst/>
            </a:prstGeom>
            <a:solidFill>
              <a:srgbClr val="C62828"/>
            </a:solidFill>
            <a:ln>
              <a:noFill/>
            </a:ln>
          </p:spPr>
        </p:sp>
        <p:sp>
          <p:nvSpPr>
            <p:cNvPr id="29" name="TextBox 29"/>
            <p:cNvSpPr txBox="1"/>
            <p:nvPr/>
          </p:nvSpPr>
          <p:spPr>
            <a:xfrm>
              <a:off x="971169" y="4483100"/>
              <a:ext cx="1082317" cy="381381"/>
            </a:xfrm>
            <a:prstGeom prst="rect">
              <a:avLst/>
            </a:prstGeom>
            <a:noFill/>
            <a:ln>
              <a:noFill/>
            </a:ln>
          </p:spPr>
          <p:txBody>
            <a:bodyPr wrap="none" lIns="0" tIns="0" rIns="0" bIns="0" anchor="t" anchorCtr="0">
              <a:spAutoFit/>
            </a:bodyPr>
            <a:lstStyle/>
            <a:p>
              <a:pPr algn="l"/>
              <a:r>
                <a:rPr lang="ko-KR" sz="1950" b="1" dirty="0">
                  <a:solidFill>
                    <a:srgbClr val="C62828"/>
                  </a:solidFill>
                  <a:latin typeface="+mn-lt"/>
                  <a:ea typeface="+mn-ea"/>
                  <a:cs typeface="+mn-cs"/>
                </a:rPr>
                <a:t>100여 일</a:t>
              </a:r>
            </a:p>
          </p:txBody>
        </p:sp>
      </p:grpSp>
      <p:grpSp>
        <p:nvGrpSpPr>
          <p:cNvPr id="44" name="evidence"/>
          <p:cNvGrpSpPr/>
          <p:nvPr/>
        </p:nvGrpSpPr>
        <p:grpSpPr>
          <a:xfrm>
            <a:off x="7457694" y="1600200"/>
            <a:ext cx="4200906" cy="3644646"/>
            <a:chOff x="7457694" y="1600200"/>
            <a:chExt cx="4200906" cy="3644646"/>
          </a:xfrm>
        </p:grpSpPr>
        <p:sp>
          <p:nvSpPr>
            <p:cNvPr id="31" name="Rectangle 31"/>
            <p:cNvSpPr/>
            <p:nvPr/>
          </p:nvSpPr>
          <p:spPr>
            <a:xfrm>
              <a:off x="7467600" y="1600200"/>
              <a:ext cx="4191000" cy="28575"/>
            </a:xfrm>
            <a:prstGeom prst="rect">
              <a:avLst/>
            </a:prstGeom>
            <a:solidFill>
              <a:srgbClr val="0B1E3C"/>
            </a:solidFill>
            <a:ln>
              <a:noFill/>
            </a:ln>
          </p:spPr>
        </p:sp>
        <p:sp>
          <p:nvSpPr>
            <p:cNvPr id="32" name="TextBox 32"/>
            <p:cNvSpPr txBox="1"/>
            <p:nvPr/>
          </p:nvSpPr>
          <p:spPr>
            <a:xfrm>
              <a:off x="7461885" y="1803400"/>
              <a:ext cx="1661656" cy="220028"/>
            </a:xfrm>
            <a:prstGeom prst="rect">
              <a:avLst/>
            </a:prstGeom>
            <a:noFill/>
            <a:ln>
              <a:noFill/>
            </a:ln>
          </p:spPr>
          <p:txBody>
            <a:bodyPr wrap="none" lIns="0" tIns="0" rIns="0" bIns="0" anchor="t" anchorCtr="0">
              <a:spAutoFit/>
            </a:bodyPr>
            <a:lstStyle/>
            <a:p>
              <a:pPr algn="l"/>
              <a:r>
                <a:rPr lang="ko-KR" sz="1120" b="1" dirty="0">
                  <a:solidFill>
                    <a:srgbClr val="B45309"/>
                  </a:solidFill>
                  <a:latin typeface="+mn-lt"/>
                  <a:ea typeface="+mn-ea"/>
                  <a:cs typeface="+mn-cs"/>
                </a:rPr>
                <a:t>그 사이 공동은 자랍니다</a:t>
              </a:r>
            </a:p>
          </p:txBody>
        </p:sp>
        <p:sp>
          <p:nvSpPr>
            <p:cNvPr id="33" name="TextBox 33"/>
            <p:cNvSpPr txBox="1"/>
            <p:nvPr/>
          </p:nvSpPr>
          <p:spPr>
            <a:xfrm>
              <a:off x="7457694" y="2139950"/>
              <a:ext cx="2961882" cy="381381"/>
            </a:xfrm>
            <a:prstGeom prst="rect">
              <a:avLst/>
            </a:prstGeom>
            <a:noFill/>
            <a:ln>
              <a:noFill/>
            </a:ln>
          </p:spPr>
          <p:txBody>
            <a:bodyPr wrap="none" lIns="0" tIns="0" rIns="0" bIns="0" anchor="t" anchorCtr="0">
              <a:spAutoFit/>
            </a:bodyPr>
            <a:lstStyle/>
            <a:p>
              <a:pPr algn="l"/>
              <a:r>
                <a:rPr lang="ko-KR" sz="1950" b="1" dirty="0">
                  <a:solidFill>
                    <a:srgbClr val="0B1E3C"/>
                  </a:solidFill>
                  <a:latin typeface="+mn-lt"/>
                  <a:ea typeface="+mn-ea"/>
                  <a:cs typeface="+mn-cs"/>
                </a:rPr>
                <a:t>“종래 생각보다 단기간에</a:t>
              </a:r>
            </a:p>
          </p:txBody>
        </p:sp>
        <p:sp>
          <p:nvSpPr>
            <p:cNvPr id="34" name="TextBox 34"/>
            <p:cNvSpPr txBox="1"/>
            <p:nvPr/>
          </p:nvSpPr>
          <p:spPr>
            <a:xfrm>
              <a:off x="7457694" y="2482850"/>
              <a:ext cx="2782063" cy="381381"/>
            </a:xfrm>
            <a:prstGeom prst="rect">
              <a:avLst/>
            </a:prstGeom>
            <a:noFill/>
            <a:ln>
              <a:noFill/>
            </a:ln>
          </p:spPr>
          <p:txBody>
            <a:bodyPr wrap="none" lIns="0" tIns="0" rIns="0" bIns="0" anchor="t" anchorCtr="0">
              <a:spAutoFit/>
            </a:bodyPr>
            <a:lstStyle/>
            <a:p>
              <a:pPr algn="l"/>
              <a:r>
                <a:rPr lang="ko-KR" sz="1950" b="1" dirty="0">
                  <a:solidFill>
                    <a:srgbClr val="0B1E3C"/>
                  </a:solidFill>
                  <a:latin typeface="+mn-lt"/>
                  <a:ea typeface="+mn-ea"/>
                  <a:cs typeface="+mn-cs"/>
                </a:rPr>
                <a:t>공동이 성장할 수 있다”</a:t>
              </a:r>
            </a:p>
          </p:txBody>
        </p:sp>
        <p:sp>
          <p:nvSpPr>
            <p:cNvPr id="35" name="TextBox 35"/>
            <p:cNvSpPr txBox="1"/>
            <p:nvPr/>
          </p:nvSpPr>
          <p:spPr>
            <a:xfrm>
              <a:off x="7461504" y="2990850"/>
              <a:ext cx="1886102" cy="234696"/>
            </a:xfrm>
            <a:prstGeom prst="rect">
              <a:avLst/>
            </a:prstGeom>
            <a:noFill/>
            <a:ln>
              <a:noFill/>
            </a:ln>
          </p:spPr>
          <p:txBody>
            <a:bodyPr wrap="none" lIns="0" tIns="0" rIns="0" bIns="0" anchor="t" anchorCtr="0">
              <a:spAutoFit/>
            </a:bodyPr>
            <a:lstStyle/>
            <a:p>
              <a:pPr algn="l"/>
              <a:r>
                <a:rPr lang="ko-KR" sz="1200" dirty="0">
                  <a:solidFill>
                    <a:srgbClr val="374151"/>
                  </a:solidFill>
                  <a:latin typeface="+mn-lt"/>
                  <a:ea typeface="+mn-ea"/>
                  <a:cs typeface="+mn-cs"/>
                </a:rPr>
                <a:t>일본 국토교통성 위탁연구</a:t>
              </a:r>
            </a:p>
          </p:txBody>
        </p:sp>
        <p:sp>
          <p:nvSpPr>
            <p:cNvPr id="36" name="TextBox 36"/>
            <p:cNvSpPr txBox="1"/>
            <p:nvPr/>
          </p:nvSpPr>
          <p:spPr>
            <a:xfrm>
              <a:off x="7461504" y="3200400"/>
              <a:ext cx="3226918" cy="234696"/>
            </a:xfrm>
            <a:prstGeom prst="rect">
              <a:avLst/>
            </a:prstGeom>
            <a:noFill/>
            <a:ln>
              <a:noFill/>
            </a:ln>
          </p:spPr>
          <p:txBody>
            <a:bodyPr wrap="none" lIns="0" tIns="0" rIns="0" bIns="0" anchor="t" anchorCtr="0">
              <a:spAutoFit/>
            </a:bodyPr>
            <a:lstStyle/>
            <a:p>
              <a:pPr algn="l"/>
              <a:r>
                <a:rPr lang="ko-KR" sz="1200" dirty="0">
                  <a:solidFill>
                    <a:srgbClr val="374151"/>
                  </a:solidFill>
                  <a:latin typeface="+mn-lt"/>
                  <a:ea typeface="+mn-ea"/>
                  <a:cs typeface="+mn-cs"/>
                </a:rPr>
                <a:t>(도쿄대·지오서치, 2018~2020 · 원문 번역)</a:t>
              </a:r>
            </a:p>
          </p:txBody>
        </p:sp>
        <p:sp>
          <p:nvSpPr>
            <p:cNvPr id="37" name="Line 37"/>
            <p:cNvSpPr/>
            <p:nvPr/>
          </p:nvSpPr>
          <p:spPr>
            <a:xfrm>
              <a:off x="7467600" y="3619500"/>
              <a:ext cx="4191000" cy="9525"/>
            </a:xfrm>
            <a:custGeom>
              <a:avLst/>
              <a:gdLst/>
              <a:ahLst/>
              <a:cxnLst/>
              <a:rect l="l" t="t" r="r" b="b"/>
              <a:pathLst>
                <a:path w="4191000" h="9525">
                  <a:moveTo>
                    <a:pt x="0" y="0"/>
                  </a:moveTo>
                  <a:lnTo>
                    <a:pt x="4191000" y="0"/>
                  </a:lnTo>
                </a:path>
              </a:pathLst>
            </a:custGeom>
            <a:noFill/>
            <a:ln w="9525">
              <a:solidFill>
                <a:srgbClr val="E2E6EC"/>
              </a:solidFill>
            </a:ln>
          </p:spPr>
        </p:sp>
        <p:sp>
          <p:nvSpPr>
            <p:cNvPr id="38" name="TextBox 38"/>
            <p:cNvSpPr txBox="1"/>
            <p:nvPr/>
          </p:nvSpPr>
          <p:spPr>
            <a:xfrm>
              <a:off x="7461504" y="3790950"/>
              <a:ext cx="2257654" cy="234696"/>
            </a:xfrm>
            <a:prstGeom prst="rect">
              <a:avLst/>
            </a:prstGeom>
            <a:noFill/>
            <a:ln>
              <a:noFill/>
            </a:ln>
          </p:spPr>
          <p:txBody>
            <a:bodyPr wrap="none" lIns="0" tIns="0" rIns="0" bIns="0" anchor="t" anchorCtr="0">
              <a:spAutoFit/>
            </a:bodyPr>
            <a:lstStyle/>
            <a:p>
              <a:pPr algn="l"/>
              <a:r>
                <a:rPr lang="ko-KR" sz="1200" dirty="0">
                  <a:solidFill>
                    <a:srgbClr val="111827"/>
                  </a:solidFill>
                  <a:latin typeface="+mn-lt"/>
                  <a:ea typeface="+mn-ea"/>
                  <a:cs typeface="+mn-cs"/>
                </a:rPr>
                <a:t>같은 도로를 반복 모니터링하자</a:t>
              </a:r>
            </a:p>
          </p:txBody>
        </p:sp>
        <p:sp>
          <p:nvSpPr>
            <p:cNvPr id="39" name="TextBox 39"/>
            <p:cNvSpPr txBox="1"/>
            <p:nvPr/>
          </p:nvSpPr>
          <p:spPr>
            <a:xfrm>
              <a:off x="7461504" y="4019550"/>
              <a:ext cx="2136496" cy="234696"/>
            </a:xfrm>
            <a:prstGeom prst="rect">
              <a:avLst/>
            </a:prstGeom>
            <a:noFill/>
            <a:ln>
              <a:noFill/>
            </a:ln>
          </p:spPr>
          <p:txBody>
            <a:bodyPr wrap="none" lIns="0" tIns="0" rIns="0" bIns="0" anchor="t" anchorCtr="0">
              <a:spAutoFit/>
            </a:bodyPr>
            <a:lstStyle/>
            <a:p>
              <a:pPr algn="l"/>
              <a:r>
                <a:rPr lang="ko-KR" sz="1200" dirty="0">
                  <a:solidFill>
                    <a:srgbClr val="111827"/>
                  </a:solidFill>
                  <a:latin typeface="+mn-lt"/>
                  <a:ea typeface="+mn-ea"/>
                  <a:cs typeface="+mn-cs"/>
                </a:rPr>
                <a:t>지하 1.64m 하수관 위 공동이</a:t>
              </a:r>
            </a:p>
          </p:txBody>
        </p:sp>
        <p:sp>
          <p:nvSpPr>
            <p:cNvPr id="40" name="TextBox 40"/>
            <p:cNvSpPr txBox="1"/>
            <p:nvPr/>
          </p:nvSpPr>
          <p:spPr>
            <a:xfrm>
              <a:off x="7461504" y="4248150"/>
              <a:ext cx="2346503" cy="234696"/>
            </a:xfrm>
            <a:prstGeom prst="rect">
              <a:avLst/>
            </a:prstGeom>
            <a:noFill/>
            <a:ln>
              <a:noFill/>
            </a:ln>
          </p:spPr>
          <p:txBody>
            <a:bodyPr wrap="none" lIns="0" tIns="0" rIns="0" bIns="0" anchor="t" anchorCtr="0">
              <a:spAutoFit/>
            </a:bodyPr>
            <a:lstStyle/>
            <a:p>
              <a:pPr algn="l"/>
              <a:r>
                <a:rPr lang="ko-KR" sz="1200" dirty="0">
                  <a:solidFill>
                    <a:srgbClr val="111827"/>
                  </a:solidFill>
                  <a:latin typeface="+mn-lt"/>
                  <a:ea typeface="+mn-ea"/>
                  <a:cs typeface="+mn-cs"/>
                </a:rPr>
                <a:t>급격히 자란 것이 확인됐습니다.</a:t>
              </a:r>
            </a:p>
          </p:txBody>
        </p:sp>
        <p:sp>
          <p:nvSpPr>
            <p:cNvPr id="41" name="Line 41"/>
            <p:cNvSpPr/>
            <p:nvPr/>
          </p:nvSpPr>
          <p:spPr>
            <a:xfrm>
              <a:off x="7467600" y="4629150"/>
              <a:ext cx="4191000" cy="9525"/>
            </a:xfrm>
            <a:custGeom>
              <a:avLst/>
              <a:gdLst/>
              <a:ahLst/>
              <a:cxnLst/>
              <a:rect l="l" t="t" r="r" b="b"/>
              <a:pathLst>
                <a:path w="4191000" h="9525">
                  <a:moveTo>
                    <a:pt x="0" y="0"/>
                  </a:moveTo>
                  <a:lnTo>
                    <a:pt x="4191000" y="0"/>
                  </a:lnTo>
                </a:path>
              </a:pathLst>
            </a:custGeom>
            <a:noFill/>
            <a:ln w="9525">
              <a:solidFill>
                <a:srgbClr val="E2E6EC"/>
              </a:solidFill>
            </a:ln>
          </p:spPr>
        </p:sp>
        <p:sp>
          <p:nvSpPr>
            <p:cNvPr id="42" name="TextBox 42"/>
            <p:cNvSpPr txBox="1"/>
            <p:nvPr/>
          </p:nvSpPr>
          <p:spPr>
            <a:xfrm>
              <a:off x="7461504" y="4781550"/>
              <a:ext cx="3089605" cy="234696"/>
            </a:xfrm>
            <a:prstGeom prst="rect">
              <a:avLst/>
            </a:prstGeom>
            <a:noFill/>
            <a:ln>
              <a:noFill/>
            </a:ln>
          </p:spPr>
          <p:txBody>
            <a:bodyPr wrap="none" lIns="0" tIns="0" rIns="0" bIns="0" anchor="t" anchorCtr="0">
              <a:spAutoFit/>
            </a:bodyPr>
            <a:lstStyle/>
            <a:p>
              <a:pPr algn="l"/>
              <a:r>
                <a:rPr lang="ko-KR" sz="1200" dirty="0">
                  <a:solidFill>
                    <a:srgbClr val="111827"/>
                  </a:solidFill>
                  <a:latin typeface="+mn-lt"/>
                  <a:ea typeface="+mn-ea"/>
                  <a:cs typeface="+mn-cs"/>
                </a:rPr>
                <a:t>연희동 공동을 놓쳤는지, 그 뒤 생겼는지는</a:t>
              </a:r>
            </a:p>
          </p:txBody>
        </p:sp>
        <p:sp>
          <p:nvSpPr>
            <p:cNvPr id="43" name="TextBox 43"/>
            <p:cNvSpPr txBox="1"/>
            <p:nvPr/>
          </p:nvSpPr>
          <p:spPr>
            <a:xfrm>
              <a:off x="7461504" y="5010150"/>
              <a:ext cx="2783075" cy="234696"/>
            </a:xfrm>
            <a:prstGeom prst="rect">
              <a:avLst/>
            </a:prstGeom>
            <a:noFill/>
            <a:ln>
              <a:noFill/>
            </a:ln>
          </p:spPr>
          <p:txBody>
            <a:bodyPr wrap="none" lIns="0" tIns="0" rIns="0" bIns="0" anchor="t" anchorCtr="0">
              <a:spAutoFit/>
            </a:bodyPr>
            <a:lstStyle/>
            <a:p>
              <a:pPr algn="l"/>
              <a:r>
                <a:rPr lang="ko-KR" sz="1200" b="1" dirty="0">
                  <a:solidFill>
                    <a:srgbClr val="0B1E3C"/>
                  </a:solidFill>
                  <a:latin typeface="+mn-lt"/>
                  <a:ea typeface="+mn-ea"/>
                  <a:cs typeface="+mn-cs"/>
                </a:rPr>
                <a:t>한 번의 탐사로는 구분할 수 없습니다.</a:t>
              </a:r>
            </a:p>
          </p:txBody>
        </p:sp>
      </p:grpSp>
      <p:grpSp>
        <p:nvGrpSpPr>
          <p:cNvPr id="47" name="conclusion"/>
          <p:cNvGrpSpPr/>
          <p:nvPr/>
        </p:nvGrpSpPr>
        <p:grpSpPr>
          <a:xfrm>
            <a:off x="533400" y="5391150"/>
            <a:ext cx="7169730" cy="419100"/>
            <a:chOff x="533400" y="5391150"/>
            <a:chExt cx="7169730" cy="419100"/>
          </a:xfrm>
        </p:grpSpPr>
        <p:sp>
          <p:nvSpPr>
            <p:cNvPr id="45" name="Rectangle 45"/>
            <p:cNvSpPr/>
            <p:nvPr/>
          </p:nvSpPr>
          <p:spPr>
            <a:xfrm>
              <a:off x="533400" y="5391150"/>
              <a:ext cx="38100" cy="419100"/>
            </a:xfrm>
            <a:prstGeom prst="rect">
              <a:avLst/>
            </a:prstGeom>
            <a:solidFill>
              <a:srgbClr val="F5B700"/>
            </a:solidFill>
            <a:ln>
              <a:noFill/>
            </a:ln>
          </p:spPr>
        </p:sp>
        <p:sp>
          <p:nvSpPr>
            <p:cNvPr id="46" name="TextBox 46"/>
            <p:cNvSpPr txBox="1"/>
            <p:nvPr/>
          </p:nvSpPr>
          <p:spPr>
            <a:xfrm>
              <a:off x="715899" y="5486400"/>
              <a:ext cx="6987231" cy="308991"/>
            </a:xfrm>
            <a:prstGeom prst="rect">
              <a:avLst/>
            </a:prstGeom>
            <a:noFill/>
            <a:ln>
              <a:noFill/>
            </a:ln>
          </p:spPr>
          <p:txBody>
            <a:bodyPr wrap="none" lIns="0" tIns="0" rIns="0" bIns="0" anchor="t" anchorCtr="0">
              <a:spAutoFit/>
            </a:bodyPr>
            <a:lstStyle/>
            <a:p>
              <a:pPr algn="l"/>
              <a:r>
                <a:rPr lang="ko-KR" sz="1580" b="1" dirty="0">
                  <a:solidFill>
                    <a:srgbClr val="0B1E3C"/>
                  </a:solidFill>
                  <a:latin typeface="+mn-lt"/>
                  <a:ea typeface="+mn-ea"/>
                  <a:cs typeface="+mn-cs"/>
                </a:rPr>
                <a:t>한 번의 탐사는 그 시점만 말해 줍니다. 그 사이의 ‘변화’를 봐야 합니다.</a:t>
              </a:r>
            </a:p>
          </p:txBody>
        </p:sp>
      </p:grpSp>
      <p:grpSp>
        <p:nvGrpSpPr>
          <p:cNvPr id="49" name="source"/>
          <p:cNvGrpSpPr/>
          <p:nvPr/>
        </p:nvGrpSpPr>
        <p:grpSpPr>
          <a:xfrm>
            <a:off x="528447" y="6381750"/>
            <a:ext cx="9178874" cy="191643"/>
            <a:chOff x="528447" y="6381750"/>
            <a:chExt cx="9178874" cy="191643"/>
          </a:xfrm>
        </p:grpSpPr>
        <p:sp>
          <p:nvSpPr>
            <p:cNvPr id="48" name="TextBox 48"/>
            <p:cNvSpPr txBox="1"/>
            <p:nvPr/>
          </p:nvSpPr>
          <p:spPr>
            <a:xfrm>
              <a:off x="528447" y="6381750"/>
              <a:ext cx="9178874" cy="191643"/>
            </a:xfrm>
            <a:prstGeom prst="rect">
              <a:avLst/>
            </a:prstGeom>
            <a:noFill/>
            <a:ln>
              <a:noFill/>
            </a:ln>
          </p:spPr>
          <p:txBody>
            <a:bodyPr wrap="none" lIns="0" tIns="0" rIns="0" bIns="0" anchor="t" anchorCtr="0">
              <a:spAutoFit/>
            </a:bodyPr>
            <a:lstStyle/>
            <a:p>
              <a:pPr algn="l"/>
              <a:r>
                <a:rPr lang="ko-KR" sz="980" dirty="0">
                  <a:solidFill>
                    <a:srgbClr val="4B5563"/>
                  </a:solidFill>
                  <a:latin typeface="+mn-lt"/>
                  <a:ea typeface="+mn-ea"/>
                  <a:cs typeface="+mn-cs"/>
                </a:rPr>
                <a:t>출처: 지하안전법(지하시설물관리자 공동조사 5년 1회 이상) · 이투데이(2025.4.23) · 뉴시스(2024.8.30) · 일본 국토교통성 도로정책 연구 30-5(2021)</a:t>
              </a:r>
            </a:p>
          </p:txBody>
        </p:sp>
      </p:grpSp>
      <p:grpSp>
        <p:nvGrpSpPr>
          <p:cNvPr id="52" name="footer"/>
          <p:cNvGrpSpPr/>
          <p:nvPr/>
        </p:nvGrpSpPr>
        <p:grpSpPr>
          <a:xfrm>
            <a:off x="528638" y="6610350"/>
            <a:ext cx="11134724" cy="176212"/>
            <a:chOff x="528638" y="6610350"/>
            <a:chExt cx="11134724" cy="176212"/>
          </a:xfrm>
        </p:grpSpPr>
        <p:sp>
          <p:nvSpPr>
            <p:cNvPr id="50" name="TextBox 50"/>
            <p:cNvSpPr txBox="1"/>
            <p:nvPr/>
          </p:nvSpPr>
          <p:spPr>
            <a:xfrm>
              <a:off x="528638" y="6610350"/>
              <a:ext cx="1020324" cy="176212"/>
            </a:xfrm>
            <a:prstGeom prst="rect">
              <a:avLst/>
            </a:prstGeom>
            <a:noFill/>
            <a:ln>
              <a:noFill/>
            </a:ln>
          </p:spPr>
          <p:txBody>
            <a:bodyPr wrap="none" lIns="0" tIns="0" rIns="0" bIns="0" anchor="t" anchorCtr="0">
              <a:spAutoFit/>
            </a:bodyPr>
            <a:lstStyle/>
            <a:p>
              <a:pPr algn="l"/>
              <a:r>
                <a:rPr lang="en-US" sz="900" dirty="0">
                  <a:solidFill>
                    <a:srgbClr val="4B5563"/>
                  </a:solidFill>
                  <a:latin typeface="+mn-lt"/>
                  <a:ea typeface="+mn-ea"/>
                  <a:cs typeface="+mn-cs"/>
                </a:rPr>
                <a:t>PV5 GroundWatch</a:t>
              </a:r>
            </a:p>
          </p:txBody>
        </p:sp>
        <p:sp>
          <p:nvSpPr>
            <p:cNvPr id="51" name="TextBox 51"/>
            <p:cNvSpPr txBox="1"/>
            <p:nvPr/>
          </p:nvSpPr>
          <p:spPr>
            <a:xfrm>
              <a:off x="11247958" y="6610350"/>
              <a:ext cx="415404" cy="176212"/>
            </a:xfrm>
            <a:prstGeom prst="rect">
              <a:avLst/>
            </a:prstGeom>
            <a:noFill/>
            <a:ln>
              <a:noFill/>
            </a:ln>
          </p:spPr>
          <p:txBody>
            <a:bodyPr wrap="none" lIns="0" tIns="0" rIns="0" bIns="0" anchor="t" anchorCtr="0">
              <a:spAutoFit/>
            </a:bodyPr>
            <a:lstStyle/>
            <a:p>
              <a:pPr algn="r"/>
              <a:r>
                <a:rPr lang="ko-KR" sz="900" dirty="0">
                  <a:solidFill>
                    <a:srgbClr val="4B5563"/>
                  </a:solidFill>
                  <a:latin typeface="+mn-lt"/>
                  <a:ea typeface="+mn-ea"/>
                  <a:cs typeface="+mn-cs"/>
                </a:rPr>
                <a:t>05 / 15</a:t>
              </a:r>
            </a:p>
          </p:txBody>
        </p:sp>
      </p:grpSp>
    </p:spTree>
  </p:cSld>
  <p:clrMapOvr>
    <a:masterClrMapping/>
  </p:clrMapOvr>
  <p:transition xmlns:p14="http://schemas.microsoft.com/office/powerpoint/2010/main" p14:dur="400">
    <p:fade/>
  </p:transition>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grpSp>
        <p:nvGrpSpPr>
          <p:cNvPr id="16" name="header"/>
          <p:cNvGrpSpPr/>
          <p:nvPr/>
        </p:nvGrpSpPr>
        <p:grpSpPr>
          <a:xfrm>
            <a:off x="533400" y="266700"/>
            <a:ext cx="11125200" cy="333375"/>
            <a:chOff x="533400" y="266700"/>
            <a:chExt cx="11125200" cy="333375"/>
          </a:xfrm>
        </p:grpSpPr>
        <p:sp>
          <p:nvSpPr>
            <p:cNvPr id="2" name="Rectangle 2"/>
            <p:cNvSpPr/>
            <p:nvPr/>
          </p:nvSpPr>
          <p:spPr>
            <a:xfrm>
              <a:off x="533400" y="266700"/>
              <a:ext cx="1333500" cy="228600"/>
            </a:xfrm>
            <a:prstGeom prst="rect">
              <a:avLst/>
            </a:prstGeom>
            <a:solidFill>
              <a:srgbClr val="0B1E3C"/>
            </a:solidFill>
            <a:ln>
              <a:noFill/>
            </a:ln>
          </p:spPr>
        </p:sp>
        <p:sp>
          <p:nvSpPr>
            <p:cNvPr id="3" name="TextBox 3"/>
            <p:cNvSpPr txBox="1"/>
            <p:nvPr/>
          </p:nvSpPr>
          <p:spPr>
            <a:xfrm>
              <a:off x="617357" y="314325"/>
              <a:ext cx="1165586" cy="191643"/>
            </a:xfrm>
            <a:prstGeom prst="rect">
              <a:avLst/>
            </a:prstGeom>
            <a:noFill/>
            <a:ln>
              <a:noFill/>
            </a:ln>
          </p:spPr>
          <p:txBody>
            <a:bodyPr wrap="none" lIns="0" tIns="0" rIns="0" bIns="0" anchor="t" anchorCtr="0">
              <a:spAutoFit/>
            </a:bodyPr>
            <a:lstStyle/>
            <a:p>
              <a:pPr algn="ctr"/>
              <a:r>
                <a:rPr lang="en-US" sz="980" b="1" dirty="0">
                  <a:solidFill>
                    <a:srgbClr val="FFFFFF"/>
                  </a:solidFill>
                  <a:latin typeface="+mn-lt"/>
                  <a:ea typeface="+mn-ea"/>
                  <a:cs typeface="+mn-cs"/>
                </a:rPr>
                <a:t>PV5 GroundWatch</a:t>
              </a:r>
            </a:p>
          </p:txBody>
        </p:sp>
        <p:sp>
          <p:nvSpPr>
            <p:cNvPr id="4" name="TextBox 4"/>
            <p:cNvSpPr txBox="1"/>
            <p:nvPr/>
          </p:nvSpPr>
          <p:spPr>
            <a:xfrm>
              <a:off x="1994916" y="301625"/>
              <a:ext cx="1084936" cy="205359"/>
            </a:xfrm>
            <a:prstGeom prst="rect">
              <a:avLst/>
            </a:prstGeom>
            <a:noFill/>
            <a:ln>
              <a:noFill/>
            </a:ln>
          </p:spPr>
          <p:txBody>
            <a:bodyPr wrap="none" lIns="0" tIns="0" rIns="0" bIns="0" anchor="t" anchorCtr="0">
              <a:spAutoFit/>
            </a:bodyPr>
            <a:lstStyle/>
            <a:p>
              <a:pPr algn="l"/>
              <a:r>
                <a:rPr lang="ko-KR" sz="1050" dirty="0">
                  <a:solidFill>
                    <a:srgbClr val="374151"/>
                  </a:solidFill>
                  <a:latin typeface="+mn-lt"/>
                  <a:ea typeface="+mn-ea"/>
                  <a:cs typeface="+mn-cs"/>
                </a:rPr>
                <a:t>우리가 막을 대상</a:t>
              </a:r>
            </a:p>
          </p:txBody>
        </p:sp>
        <p:sp>
          <p:nvSpPr>
            <p:cNvPr id="5" name="TextBox 5"/>
            <p:cNvSpPr txBox="1"/>
            <p:nvPr/>
          </p:nvSpPr>
          <p:spPr>
            <a:xfrm>
              <a:off x="8425815" y="301625"/>
              <a:ext cx="293370" cy="205359"/>
            </a:xfrm>
            <a:prstGeom prst="rect">
              <a:avLst/>
            </a:prstGeom>
            <a:noFill/>
            <a:ln>
              <a:noFill/>
            </a:ln>
          </p:spPr>
          <p:txBody>
            <a:bodyPr wrap="none" lIns="0" tIns="0" rIns="0" bIns="0" anchor="t" anchorCtr="0">
              <a:spAutoFit/>
            </a:bodyPr>
            <a:lstStyle/>
            <a:p>
              <a:pPr algn="ctr"/>
              <a:r>
                <a:rPr lang="ko-KR" sz="1050" b="1" dirty="0">
                  <a:solidFill>
                    <a:srgbClr val="0B1E3C"/>
                  </a:solidFill>
                  <a:latin typeface="+mn-lt"/>
                  <a:ea typeface="+mn-ea"/>
                  <a:cs typeface="+mn-cs"/>
                </a:rPr>
                <a:t>문제</a:t>
              </a:r>
            </a:p>
          </p:txBody>
        </p:sp>
        <p:sp>
          <p:nvSpPr>
            <p:cNvPr id="6" name="Rectangle 6"/>
            <p:cNvSpPr/>
            <p:nvPr/>
          </p:nvSpPr>
          <p:spPr>
            <a:xfrm>
              <a:off x="8343900" y="514350"/>
              <a:ext cx="457200" cy="28575"/>
            </a:xfrm>
            <a:prstGeom prst="rect">
              <a:avLst/>
            </a:prstGeom>
            <a:solidFill>
              <a:srgbClr val="F5B700"/>
            </a:solidFill>
            <a:ln>
              <a:noFill/>
            </a:ln>
          </p:spPr>
        </p:sp>
        <p:sp>
          <p:nvSpPr>
            <p:cNvPr id="7" name="TextBox 7"/>
            <p:cNvSpPr txBox="1"/>
            <p:nvPr/>
          </p:nvSpPr>
          <p:spPr>
            <a:xfrm>
              <a:off x="884874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8" name="TextBox 8"/>
            <p:cNvSpPr txBox="1"/>
            <p:nvPr/>
          </p:nvSpPr>
          <p:spPr>
            <a:xfrm>
              <a:off x="9054465" y="301625"/>
              <a:ext cx="293370" cy="205359"/>
            </a:xfrm>
            <a:prstGeom prst="rect">
              <a:avLst/>
            </a:prstGeom>
            <a:noFill/>
            <a:ln>
              <a:noFill/>
            </a:ln>
          </p:spPr>
          <p:txBody>
            <a:bodyPr wrap="none" lIns="0" tIns="0" rIns="0" bIns="0" anchor="t" anchorCtr="0">
              <a:spAutoFit/>
            </a:bodyPr>
            <a:lstStyle/>
            <a:p>
              <a:pPr algn="ctr"/>
              <a:r>
                <a:rPr lang="ko-KR" sz="1050" dirty="0">
                  <a:solidFill>
                    <a:srgbClr val="9AA3AF"/>
                  </a:solidFill>
                  <a:latin typeface="+mn-lt"/>
                  <a:ea typeface="+mn-ea"/>
                  <a:cs typeface="+mn-cs"/>
                </a:rPr>
                <a:t>해법</a:t>
              </a:r>
            </a:p>
          </p:txBody>
        </p:sp>
        <p:sp>
          <p:nvSpPr>
            <p:cNvPr id="9" name="TextBox 9"/>
            <p:cNvSpPr txBox="1"/>
            <p:nvPr/>
          </p:nvSpPr>
          <p:spPr>
            <a:xfrm>
              <a:off x="947739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10" name="TextBox 10"/>
            <p:cNvSpPr txBox="1"/>
            <p:nvPr/>
          </p:nvSpPr>
          <p:spPr>
            <a:xfrm>
              <a:off x="9701251" y="301625"/>
              <a:ext cx="257099" cy="205359"/>
            </a:xfrm>
            <a:prstGeom prst="rect">
              <a:avLst/>
            </a:prstGeom>
            <a:noFill/>
            <a:ln>
              <a:noFill/>
            </a:ln>
          </p:spPr>
          <p:txBody>
            <a:bodyPr wrap="none" lIns="0" tIns="0" rIns="0" bIns="0" anchor="t" anchorCtr="0">
              <a:spAutoFit/>
            </a:bodyPr>
            <a:lstStyle/>
            <a:p>
              <a:pPr algn="ctr"/>
              <a:r>
                <a:rPr lang="en-US" sz="1050" dirty="0">
                  <a:solidFill>
                    <a:srgbClr val="9AA3AF"/>
                  </a:solidFill>
                  <a:latin typeface="+mn-lt"/>
                  <a:ea typeface="+mn-ea"/>
                  <a:cs typeface="+mn-cs"/>
                </a:rPr>
                <a:t>PV5</a:t>
              </a:r>
            </a:p>
          </p:txBody>
        </p:sp>
        <p:sp>
          <p:nvSpPr>
            <p:cNvPr id="11" name="TextBox 11"/>
            <p:cNvSpPr txBox="1"/>
            <p:nvPr/>
          </p:nvSpPr>
          <p:spPr>
            <a:xfrm>
              <a:off x="1010604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12" name="TextBox 12"/>
            <p:cNvSpPr txBox="1"/>
            <p:nvPr/>
          </p:nvSpPr>
          <p:spPr>
            <a:xfrm>
              <a:off x="10311765" y="301625"/>
              <a:ext cx="293370" cy="205359"/>
            </a:xfrm>
            <a:prstGeom prst="rect">
              <a:avLst/>
            </a:prstGeom>
            <a:noFill/>
            <a:ln>
              <a:noFill/>
            </a:ln>
          </p:spPr>
          <p:txBody>
            <a:bodyPr wrap="none" lIns="0" tIns="0" rIns="0" bIns="0" anchor="t" anchorCtr="0">
              <a:spAutoFit/>
            </a:bodyPr>
            <a:lstStyle/>
            <a:p>
              <a:pPr algn="ctr"/>
              <a:r>
                <a:rPr lang="ko-KR" sz="1050" dirty="0">
                  <a:solidFill>
                    <a:srgbClr val="9AA3AF"/>
                  </a:solidFill>
                  <a:latin typeface="+mn-lt"/>
                  <a:ea typeface="+mn-ea"/>
                  <a:cs typeface="+mn-cs"/>
                </a:rPr>
                <a:t>검증</a:t>
              </a:r>
            </a:p>
          </p:txBody>
        </p:sp>
        <p:sp>
          <p:nvSpPr>
            <p:cNvPr id="13" name="TextBox 13"/>
            <p:cNvSpPr txBox="1"/>
            <p:nvPr/>
          </p:nvSpPr>
          <p:spPr>
            <a:xfrm>
              <a:off x="1073469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14" name="TextBox 14"/>
            <p:cNvSpPr txBox="1"/>
            <p:nvPr/>
          </p:nvSpPr>
          <p:spPr>
            <a:xfrm>
              <a:off x="10940415" y="301625"/>
              <a:ext cx="293370" cy="205359"/>
            </a:xfrm>
            <a:prstGeom prst="rect">
              <a:avLst/>
            </a:prstGeom>
            <a:noFill/>
            <a:ln>
              <a:noFill/>
            </a:ln>
          </p:spPr>
          <p:txBody>
            <a:bodyPr wrap="none" lIns="0" tIns="0" rIns="0" bIns="0" anchor="t" anchorCtr="0">
              <a:spAutoFit/>
            </a:bodyPr>
            <a:lstStyle/>
            <a:p>
              <a:pPr algn="ctr"/>
              <a:r>
                <a:rPr lang="ko-KR" sz="1050" dirty="0">
                  <a:solidFill>
                    <a:srgbClr val="9AA3AF"/>
                  </a:solidFill>
                  <a:latin typeface="+mn-lt"/>
                  <a:ea typeface="+mn-ea"/>
                  <a:cs typeface="+mn-cs"/>
                </a:rPr>
                <a:t>사업</a:t>
              </a:r>
            </a:p>
          </p:txBody>
        </p:sp>
        <p:sp>
          <p:nvSpPr>
            <p:cNvPr id="15" name="Line 15"/>
            <p:cNvSpPr/>
            <p:nvPr/>
          </p:nvSpPr>
          <p:spPr>
            <a:xfrm>
              <a:off x="533400" y="590550"/>
              <a:ext cx="11125200" cy="9525"/>
            </a:xfrm>
            <a:custGeom>
              <a:avLst/>
              <a:gdLst/>
              <a:ahLst/>
              <a:cxnLst/>
              <a:rect l="l" t="t" r="r" b="b"/>
              <a:pathLst>
                <a:path w="11125200" h="9525">
                  <a:moveTo>
                    <a:pt x="0" y="0"/>
                  </a:moveTo>
                  <a:lnTo>
                    <a:pt x="11125200" y="0"/>
                  </a:lnTo>
                </a:path>
              </a:pathLst>
            </a:custGeom>
            <a:noFill/>
            <a:ln w="9525">
              <a:solidFill>
                <a:srgbClr val="0B1E3C"/>
              </a:solidFill>
            </a:ln>
          </p:spPr>
        </p:sp>
      </p:grpSp>
      <p:grpSp>
        <p:nvGrpSpPr>
          <p:cNvPr id="18" name="title"/>
          <p:cNvGrpSpPr/>
          <p:nvPr/>
        </p:nvGrpSpPr>
        <p:grpSpPr>
          <a:xfrm>
            <a:off x="518160" y="774700"/>
            <a:ext cx="10745076" cy="586740"/>
            <a:chOff x="518160" y="774700"/>
            <a:chExt cx="10745076" cy="586740"/>
          </a:xfrm>
        </p:grpSpPr>
        <p:sp>
          <p:nvSpPr>
            <p:cNvPr id="17" name="TextBox 17"/>
            <p:cNvSpPr txBox="1"/>
            <p:nvPr/>
          </p:nvSpPr>
          <p:spPr>
            <a:xfrm>
              <a:off x="518160" y="774700"/>
              <a:ext cx="10745076" cy="586740"/>
            </a:xfrm>
            <a:prstGeom prst="rect">
              <a:avLst/>
            </a:prstGeom>
            <a:noFill/>
            <a:ln>
              <a:noFill/>
            </a:ln>
          </p:spPr>
          <p:txBody>
            <a:bodyPr wrap="none" lIns="0" tIns="0" rIns="0" bIns="0" anchor="t" anchorCtr="0">
              <a:spAutoFit/>
            </a:bodyPr>
            <a:lstStyle/>
            <a:p>
              <a:pPr algn="l"/>
              <a:r>
                <a:rPr lang="ko-KR" sz="3000" b="1" spc="-75" dirty="0">
                  <a:solidFill>
                    <a:srgbClr val="0B1E3C"/>
                  </a:solidFill>
                  <a:latin typeface="+mn-lt"/>
                  <a:ea typeface="+mn-ea"/>
                  <a:cs typeface="+mn-cs"/>
                </a:rPr>
                <a:t>땅꺼짐 원인 1위는 하수관 손상, 그 위 2m가 탐사 대상입니다</a:t>
              </a:r>
            </a:p>
          </p:txBody>
        </p:sp>
      </p:grpSp>
      <p:grpSp>
        <p:nvGrpSpPr>
          <p:cNvPr id="29" name="section"/>
          <p:cNvGrpSpPr/>
          <p:nvPr/>
        </p:nvGrpSpPr>
        <p:grpSpPr>
          <a:xfrm>
            <a:off x="537006" y="1581150"/>
            <a:ext cx="6088789" cy="3876675"/>
            <a:chOff x="537006" y="1581150"/>
            <a:chExt cx="6088789" cy="3876675"/>
          </a:xfrm>
        </p:grpSpPr>
        <p:pic>
          <p:nvPicPr>
            <p:cNvPr id="19" name="Image 19"/>
            <p:cNvPicPr>
              <a:picLocks noChangeAspect="1"/>
            </p:cNvPicPr>
            <p:nvPr/>
          </p:nvPicPr>
          <p:blipFill>
            <a:blip r:embed="rId2"/>
            <a:stretch>
              <a:fillRect/>
            </a:stretch>
          </p:blipFill>
          <p:spPr>
            <a:xfrm>
              <a:off x="537006" y="1581150"/>
              <a:ext cx="6088789" cy="3876675"/>
            </a:xfrm>
            <a:prstGeom prst="rect">
              <a:avLst/>
            </a:prstGeom>
          </p:spPr>
        </p:pic>
        <p:grpSp>
          <p:nvGrpSpPr>
            <p:cNvPr id="28" name="Group 28"/>
            <p:cNvGrpSpPr/>
            <p:nvPr/>
          </p:nvGrpSpPr>
          <p:grpSpPr>
            <a:xfrm>
              <a:off x="1085850" y="2038350"/>
              <a:ext cx="3962400" cy="3219450"/>
              <a:chOff x="1085850" y="2038350"/>
              <a:chExt cx="3962400" cy="3219450"/>
            </a:xfrm>
          </p:grpSpPr>
          <p:sp>
            <p:nvSpPr>
              <p:cNvPr id="20" name="Rectangle 20"/>
              <p:cNvSpPr/>
              <p:nvPr/>
            </p:nvSpPr>
            <p:spPr>
              <a:xfrm>
                <a:off x="2762250" y="2038350"/>
                <a:ext cx="1066800" cy="266700"/>
              </a:xfrm>
              <a:prstGeom prst="roundRect">
                <a:avLst>
                  <a:gd name="adj" fmla="val 50000"/>
                </a:avLst>
              </a:prstGeom>
              <a:solidFill>
                <a:srgbClr val="0B1E3C"/>
              </a:solidFill>
              <a:ln>
                <a:noFill/>
              </a:ln>
            </p:spPr>
          </p:sp>
          <p:sp>
            <p:nvSpPr>
              <p:cNvPr id="21" name="TextBox 21"/>
              <p:cNvSpPr txBox="1"/>
              <p:nvPr/>
            </p:nvSpPr>
            <p:spPr>
              <a:xfrm>
                <a:off x="2897356" y="2079625"/>
                <a:ext cx="796588" cy="220028"/>
              </a:xfrm>
              <a:prstGeom prst="rect">
                <a:avLst/>
              </a:prstGeom>
              <a:noFill/>
              <a:ln>
                <a:noFill/>
              </a:ln>
            </p:spPr>
            <p:txBody>
              <a:bodyPr wrap="none" lIns="0" tIns="0" rIns="0" bIns="0" anchor="t" anchorCtr="0">
                <a:spAutoFit/>
              </a:bodyPr>
              <a:lstStyle/>
              <a:p>
                <a:pPr algn="ctr"/>
                <a:r>
                  <a:rPr lang="ko-KR" sz="1120" b="1" dirty="0">
                    <a:solidFill>
                      <a:srgbClr val="FFFFFF"/>
                    </a:solidFill>
                    <a:latin typeface="+mn-lt"/>
                    <a:ea typeface="+mn-ea"/>
                    <a:cs typeface="+mn-cs"/>
                  </a:rPr>
                  <a:t>3 노면 침하</a:t>
                </a:r>
              </a:p>
            </p:txBody>
          </p:sp>
          <p:sp>
            <p:nvSpPr>
              <p:cNvPr id="22" name="Rectangle 22"/>
              <p:cNvSpPr/>
              <p:nvPr/>
            </p:nvSpPr>
            <p:spPr>
              <a:xfrm>
                <a:off x="1085850" y="2686050"/>
                <a:ext cx="1066800" cy="266700"/>
              </a:xfrm>
              <a:prstGeom prst="roundRect">
                <a:avLst>
                  <a:gd name="adj" fmla="val 50000"/>
                </a:avLst>
              </a:prstGeom>
              <a:solidFill>
                <a:srgbClr val="0B1E3C"/>
              </a:solidFill>
              <a:ln>
                <a:noFill/>
              </a:ln>
            </p:spPr>
          </p:sp>
          <p:sp>
            <p:nvSpPr>
              <p:cNvPr id="23" name="TextBox 23"/>
              <p:cNvSpPr txBox="1"/>
              <p:nvPr/>
            </p:nvSpPr>
            <p:spPr>
              <a:xfrm>
                <a:off x="1220956" y="2727325"/>
                <a:ext cx="796588" cy="220028"/>
              </a:xfrm>
              <a:prstGeom prst="rect">
                <a:avLst/>
              </a:prstGeom>
              <a:noFill/>
              <a:ln>
                <a:noFill/>
              </a:ln>
            </p:spPr>
            <p:txBody>
              <a:bodyPr wrap="none" lIns="0" tIns="0" rIns="0" bIns="0" anchor="t" anchorCtr="0">
                <a:spAutoFit/>
              </a:bodyPr>
              <a:lstStyle/>
              <a:p>
                <a:pPr algn="ctr"/>
                <a:r>
                  <a:rPr lang="ko-KR" sz="1120" b="1" dirty="0">
                    <a:solidFill>
                      <a:srgbClr val="FFFFFF"/>
                    </a:solidFill>
                    <a:latin typeface="+mn-lt"/>
                    <a:ea typeface="+mn-ea"/>
                    <a:cs typeface="+mn-cs"/>
                  </a:rPr>
                  <a:t>2 공동 형성</a:t>
                </a:r>
              </a:p>
            </p:txBody>
          </p:sp>
          <p:sp>
            <p:nvSpPr>
              <p:cNvPr id="24" name="Rectangle 24"/>
              <p:cNvSpPr/>
              <p:nvPr/>
            </p:nvSpPr>
            <p:spPr>
              <a:xfrm>
                <a:off x="3867150" y="3238500"/>
                <a:ext cx="1181100" cy="266700"/>
              </a:xfrm>
              <a:prstGeom prst="roundRect">
                <a:avLst>
                  <a:gd name="adj" fmla="val 50000"/>
                </a:avLst>
              </a:prstGeom>
              <a:solidFill>
                <a:srgbClr val="0B1E3C"/>
              </a:solidFill>
              <a:ln>
                <a:noFill/>
              </a:ln>
            </p:spPr>
          </p:sp>
          <p:sp>
            <p:nvSpPr>
              <p:cNvPr id="25" name="TextBox 25"/>
              <p:cNvSpPr txBox="1"/>
              <p:nvPr/>
            </p:nvSpPr>
            <p:spPr>
              <a:xfrm>
                <a:off x="3984019" y="3279775"/>
                <a:ext cx="947362" cy="220028"/>
              </a:xfrm>
              <a:prstGeom prst="rect">
                <a:avLst/>
              </a:prstGeom>
              <a:noFill/>
              <a:ln>
                <a:noFill/>
              </a:ln>
            </p:spPr>
            <p:txBody>
              <a:bodyPr wrap="none" lIns="0" tIns="0" rIns="0" bIns="0" anchor="t" anchorCtr="0">
                <a:spAutoFit/>
              </a:bodyPr>
              <a:lstStyle/>
              <a:p>
                <a:pPr algn="ctr"/>
                <a:r>
                  <a:rPr lang="ko-KR" sz="1120" b="1" dirty="0">
                    <a:solidFill>
                      <a:srgbClr val="FFFFFF"/>
                    </a:solidFill>
                    <a:latin typeface="+mn-lt"/>
                    <a:ea typeface="+mn-ea"/>
                    <a:cs typeface="+mn-cs"/>
                  </a:rPr>
                  <a:t>1 하수관 누수</a:t>
                </a:r>
              </a:p>
            </p:txBody>
          </p:sp>
          <p:sp>
            <p:nvSpPr>
              <p:cNvPr id="26" name="Rectangle 26"/>
              <p:cNvSpPr/>
              <p:nvPr/>
            </p:nvSpPr>
            <p:spPr>
              <a:xfrm>
                <a:off x="1314450" y="4991100"/>
                <a:ext cx="1524000" cy="266700"/>
              </a:xfrm>
              <a:prstGeom prst="roundRect">
                <a:avLst>
                  <a:gd name="adj" fmla="val 50000"/>
                </a:avLst>
              </a:prstGeom>
              <a:solidFill>
                <a:srgbClr val="FFFFFF"/>
              </a:solidFill>
              <a:ln w="9525">
                <a:solidFill>
                  <a:srgbClr val="9AA3AF"/>
                </a:solidFill>
              </a:ln>
            </p:spPr>
          </p:sp>
          <p:sp>
            <p:nvSpPr>
              <p:cNvPr id="27" name="TextBox 27"/>
              <p:cNvSpPr txBox="1"/>
              <p:nvPr/>
            </p:nvSpPr>
            <p:spPr>
              <a:xfrm>
                <a:off x="1404501" y="5032375"/>
                <a:ext cx="1343899" cy="220028"/>
              </a:xfrm>
              <a:prstGeom prst="rect">
                <a:avLst/>
              </a:prstGeom>
              <a:noFill/>
              <a:ln>
                <a:noFill/>
              </a:ln>
            </p:spPr>
            <p:txBody>
              <a:bodyPr wrap="none" lIns="0" tIns="0" rIns="0" bIns="0" anchor="t" anchorCtr="0">
                <a:spAutoFit/>
              </a:bodyPr>
              <a:lstStyle/>
              <a:p>
                <a:pPr algn="ctr"/>
                <a:r>
                  <a:rPr lang="ko-KR" sz="1120" b="1" dirty="0">
                    <a:solidFill>
                      <a:srgbClr val="374151"/>
                    </a:solidFill>
                    <a:latin typeface="+mn-lt"/>
                    <a:ea typeface="+mn-ea"/>
                    <a:cs typeface="+mn-cs"/>
                  </a:rPr>
                  <a:t>깊은 층 · 대상 아님</a:t>
                </a:r>
              </a:p>
            </p:txBody>
          </p:sp>
        </p:grpSp>
      </p:grpSp>
      <p:grpSp>
        <p:nvGrpSpPr>
          <p:cNvPr id="33" name="stat"/>
          <p:cNvGrpSpPr/>
          <p:nvPr/>
        </p:nvGrpSpPr>
        <p:grpSpPr>
          <a:xfrm>
            <a:off x="7067550" y="1581150"/>
            <a:ext cx="3001099" cy="1472946"/>
            <a:chOff x="7067550" y="1581150"/>
            <a:chExt cx="3001099" cy="1472946"/>
          </a:xfrm>
        </p:grpSpPr>
        <p:sp>
          <p:nvSpPr>
            <p:cNvPr id="30" name="TextBox 30"/>
            <p:cNvSpPr txBox="1"/>
            <p:nvPr/>
          </p:nvSpPr>
          <p:spPr>
            <a:xfrm>
              <a:off x="7067550" y="1581150"/>
              <a:ext cx="2669046" cy="1276350"/>
            </a:xfrm>
            <a:prstGeom prst="rect">
              <a:avLst/>
            </a:prstGeom>
            <a:noFill/>
            <a:ln>
              <a:noFill/>
            </a:ln>
          </p:spPr>
          <p:txBody>
            <a:bodyPr wrap="none" lIns="0" tIns="0" rIns="0" bIns="0" anchor="t" anchorCtr="0">
              <a:spAutoFit/>
            </a:bodyPr>
            <a:lstStyle/>
            <a:p>
              <a:pPr algn="l"/>
              <a:r>
                <a:rPr lang="ko-KR" sz="6600" b="1" spc="-225" dirty="0">
                  <a:solidFill>
                    <a:srgbClr val="0B1E3C"/>
                  </a:solidFill>
                  <a:latin typeface="+mn-lt"/>
                  <a:ea typeface="+mn-ea"/>
                  <a:cs typeface="+mn-cs"/>
                </a:rPr>
                <a:t>45.4%</a:t>
              </a:r>
            </a:p>
          </p:txBody>
        </p:sp>
        <p:sp>
          <p:nvSpPr>
            <p:cNvPr id="31" name="TextBox 31"/>
            <p:cNvSpPr txBox="1"/>
            <p:nvPr/>
          </p:nvSpPr>
          <p:spPr>
            <a:xfrm>
              <a:off x="7078980" y="2546350"/>
              <a:ext cx="2989669" cy="293370"/>
            </a:xfrm>
            <a:prstGeom prst="rect">
              <a:avLst/>
            </a:prstGeom>
            <a:noFill/>
            <a:ln>
              <a:noFill/>
            </a:ln>
          </p:spPr>
          <p:txBody>
            <a:bodyPr wrap="none" lIns="0" tIns="0" rIns="0" bIns="0" anchor="t" anchorCtr="0">
              <a:spAutoFit/>
            </a:bodyPr>
            <a:lstStyle/>
            <a:p>
              <a:pPr algn="l"/>
              <a:r>
                <a:rPr lang="ko-KR" sz="1500" b="1" dirty="0">
                  <a:solidFill>
                    <a:srgbClr val="111827"/>
                  </a:solidFill>
                  <a:latin typeface="+mn-lt"/>
                  <a:ea typeface="+mn-ea"/>
                  <a:cs typeface="+mn-cs"/>
                </a:rPr>
                <a:t>지반침하 원인 1위 · 하수관 손상</a:t>
              </a:r>
            </a:p>
          </p:txBody>
        </p:sp>
        <p:sp>
          <p:nvSpPr>
            <p:cNvPr id="32" name="TextBox 32"/>
            <p:cNvSpPr txBox="1"/>
            <p:nvPr/>
          </p:nvSpPr>
          <p:spPr>
            <a:xfrm>
              <a:off x="7080504" y="2819400"/>
              <a:ext cx="2524201" cy="234696"/>
            </a:xfrm>
            <a:prstGeom prst="rect">
              <a:avLst/>
            </a:prstGeom>
            <a:noFill/>
            <a:ln>
              <a:noFill/>
            </a:ln>
          </p:spPr>
          <p:txBody>
            <a:bodyPr wrap="none" lIns="0" tIns="0" rIns="0" bIns="0" anchor="t" anchorCtr="0">
              <a:spAutoFit/>
            </a:bodyPr>
            <a:lstStyle/>
            <a:p>
              <a:pPr algn="l"/>
              <a:r>
                <a:rPr lang="ko-KR" sz="1200" dirty="0">
                  <a:solidFill>
                    <a:srgbClr val="374151"/>
                  </a:solidFill>
                  <a:latin typeface="+mn-lt"/>
                  <a:ea typeface="+mn-ea"/>
                  <a:cs typeface="+mn-cs"/>
                </a:rPr>
                <a:t>전국 867건 중 394건 (2020~2024)</a:t>
              </a:r>
            </a:p>
          </p:txBody>
        </p:sp>
      </p:grpSp>
      <p:grpSp>
        <p:nvGrpSpPr>
          <p:cNvPr id="40" name="scope"/>
          <p:cNvGrpSpPr/>
          <p:nvPr/>
        </p:nvGrpSpPr>
        <p:grpSpPr>
          <a:xfrm>
            <a:off x="7079361" y="3238500"/>
            <a:ext cx="4579239" cy="1644396"/>
            <a:chOff x="7079361" y="3238500"/>
            <a:chExt cx="4579239" cy="1644396"/>
          </a:xfrm>
        </p:grpSpPr>
        <p:sp>
          <p:nvSpPr>
            <p:cNvPr id="34" name="Rectangle 34"/>
            <p:cNvSpPr/>
            <p:nvPr/>
          </p:nvSpPr>
          <p:spPr>
            <a:xfrm>
              <a:off x="7086600" y="3238500"/>
              <a:ext cx="4572000" cy="28575"/>
            </a:xfrm>
            <a:prstGeom prst="rect">
              <a:avLst/>
            </a:prstGeom>
            <a:solidFill>
              <a:srgbClr val="F5B700"/>
            </a:solidFill>
            <a:ln>
              <a:noFill/>
            </a:ln>
          </p:spPr>
        </p:sp>
        <p:sp>
          <p:nvSpPr>
            <p:cNvPr id="35" name="TextBox 35"/>
            <p:cNvSpPr txBox="1"/>
            <p:nvPr/>
          </p:nvSpPr>
          <p:spPr>
            <a:xfrm>
              <a:off x="7079361" y="3422650"/>
              <a:ext cx="4159927" cy="278702"/>
            </a:xfrm>
            <a:prstGeom prst="rect">
              <a:avLst/>
            </a:prstGeom>
            <a:noFill/>
            <a:ln>
              <a:noFill/>
            </a:ln>
          </p:spPr>
          <p:txBody>
            <a:bodyPr wrap="none" lIns="0" tIns="0" rIns="0" bIns="0" anchor="t" anchorCtr="0">
              <a:spAutoFit/>
            </a:bodyPr>
            <a:lstStyle/>
            <a:p>
              <a:pPr algn="l"/>
              <a:r>
                <a:rPr lang="ko-KR" sz="1420" b="1" dirty="0">
                  <a:solidFill>
                    <a:srgbClr val="0B1E3C"/>
                  </a:solidFill>
                  <a:latin typeface="+mn-lt"/>
                  <a:ea typeface="+mn-ea"/>
                  <a:cs typeface="+mn-cs"/>
                </a:rPr>
                <a:t>얕은 공동형 · 약 2m 이내 → GroundWatch 대상</a:t>
              </a:r>
            </a:p>
          </p:txBody>
        </p:sp>
        <p:sp>
          <p:nvSpPr>
            <p:cNvPr id="36" name="TextBox 36"/>
            <p:cNvSpPr txBox="1"/>
            <p:nvPr/>
          </p:nvSpPr>
          <p:spPr>
            <a:xfrm>
              <a:off x="7080504" y="3695700"/>
              <a:ext cx="3768090" cy="234696"/>
            </a:xfrm>
            <a:prstGeom prst="rect">
              <a:avLst/>
            </a:prstGeom>
            <a:noFill/>
            <a:ln>
              <a:noFill/>
            </a:ln>
          </p:spPr>
          <p:txBody>
            <a:bodyPr wrap="none" lIns="0" tIns="0" rIns="0" bIns="0" anchor="t" anchorCtr="0">
              <a:spAutoFit/>
            </a:bodyPr>
            <a:lstStyle/>
            <a:p>
              <a:pPr algn="l"/>
              <a:r>
                <a:rPr lang="ko-KR" sz="1200" dirty="0">
                  <a:solidFill>
                    <a:srgbClr val="374151"/>
                  </a:solidFill>
                  <a:latin typeface="+mn-lt"/>
                  <a:ea typeface="+mn-ea"/>
                  <a:cs typeface="+mn-cs"/>
                </a:rPr>
                <a:t>공동이 먼저 생겨 자람 → 반복 측정으로 잡을 수 있음</a:t>
              </a:r>
            </a:p>
          </p:txBody>
        </p:sp>
        <p:sp>
          <p:nvSpPr>
            <p:cNvPr id="37" name="Rectangle 37"/>
            <p:cNvSpPr/>
            <p:nvPr/>
          </p:nvSpPr>
          <p:spPr>
            <a:xfrm>
              <a:off x="7086600" y="4191000"/>
              <a:ext cx="4572000" cy="28575"/>
            </a:xfrm>
            <a:prstGeom prst="rect">
              <a:avLst/>
            </a:prstGeom>
            <a:solidFill>
              <a:srgbClr val="C3CCD9"/>
            </a:solidFill>
            <a:ln>
              <a:noFill/>
            </a:ln>
          </p:spPr>
        </p:sp>
        <p:sp>
          <p:nvSpPr>
            <p:cNvPr id="38" name="TextBox 38"/>
            <p:cNvSpPr txBox="1"/>
            <p:nvPr/>
          </p:nvSpPr>
          <p:spPr>
            <a:xfrm>
              <a:off x="7079361" y="4375150"/>
              <a:ext cx="3683802" cy="278702"/>
            </a:xfrm>
            <a:prstGeom prst="rect">
              <a:avLst/>
            </a:prstGeom>
            <a:noFill/>
            <a:ln>
              <a:noFill/>
            </a:ln>
          </p:spPr>
          <p:txBody>
            <a:bodyPr wrap="none" lIns="0" tIns="0" rIns="0" bIns="0" anchor="t" anchorCtr="0">
              <a:spAutoFit/>
            </a:bodyPr>
            <a:lstStyle/>
            <a:p>
              <a:pPr algn="l"/>
              <a:r>
                <a:rPr lang="ko-KR" sz="1420" b="1" dirty="0">
                  <a:solidFill>
                    <a:srgbClr val="4B5563"/>
                  </a:solidFill>
                  <a:latin typeface="+mn-lt"/>
                  <a:ea typeface="+mn-ea"/>
                  <a:cs typeface="+mn-cs"/>
                </a:rPr>
                <a:t>심부 붕괴형 · 예: 명일동 16m → 대상 아님</a:t>
              </a:r>
            </a:p>
          </p:txBody>
        </p:sp>
        <p:sp>
          <p:nvSpPr>
            <p:cNvPr id="39" name="TextBox 39"/>
            <p:cNvSpPr txBox="1"/>
            <p:nvPr/>
          </p:nvSpPr>
          <p:spPr>
            <a:xfrm>
              <a:off x="7080504" y="4648200"/>
              <a:ext cx="3461156" cy="234696"/>
            </a:xfrm>
            <a:prstGeom prst="rect">
              <a:avLst/>
            </a:prstGeom>
            <a:noFill/>
            <a:ln>
              <a:noFill/>
            </a:ln>
          </p:spPr>
          <p:txBody>
            <a:bodyPr wrap="none" lIns="0" tIns="0" rIns="0" bIns="0" anchor="t" anchorCtr="0">
              <a:spAutoFit/>
            </a:bodyPr>
            <a:lstStyle/>
            <a:p>
              <a:pPr algn="l"/>
              <a:r>
                <a:rPr lang="ko-KR" sz="1200" dirty="0">
                  <a:solidFill>
                    <a:srgbClr val="374151"/>
                  </a:solidFill>
                  <a:latin typeface="+mn-lt"/>
                  <a:ea typeface="+mn-ea"/>
                  <a:cs typeface="+mn-cs"/>
                </a:rPr>
                <a:t>깊은 지층·터널 공사 영역은 공사장 계측이 맡음</a:t>
              </a:r>
            </a:p>
          </p:txBody>
        </p:sp>
      </p:grpSp>
      <p:grpSp>
        <p:nvGrpSpPr>
          <p:cNvPr id="43" name="conclusion"/>
          <p:cNvGrpSpPr/>
          <p:nvPr/>
        </p:nvGrpSpPr>
        <p:grpSpPr>
          <a:xfrm>
            <a:off x="533400" y="5715000"/>
            <a:ext cx="6376020" cy="419100"/>
            <a:chOff x="533400" y="5715000"/>
            <a:chExt cx="6376020" cy="419100"/>
          </a:xfrm>
        </p:grpSpPr>
        <p:sp>
          <p:nvSpPr>
            <p:cNvPr id="41" name="Rectangle 41"/>
            <p:cNvSpPr/>
            <p:nvPr/>
          </p:nvSpPr>
          <p:spPr>
            <a:xfrm>
              <a:off x="533400" y="5715000"/>
              <a:ext cx="38100" cy="419100"/>
            </a:xfrm>
            <a:prstGeom prst="rect">
              <a:avLst/>
            </a:prstGeom>
            <a:solidFill>
              <a:srgbClr val="F5B700"/>
            </a:solidFill>
            <a:ln>
              <a:noFill/>
            </a:ln>
          </p:spPr>
        </p:sp>
        <p:sp>
          <p:nvSpPr>
            <p:cNvPr id="42" name="TextBox 42"/>
            <p:cNvSpPr txBox="1"/>
            <p:nvPr/>
          </p:nvSpPr>
          <p:spPr>
            <a:xfrm>
              <a:off x="715899" y="5810250"/>
              <a:ext cx="6193521" cy="308991"/>
            </a:xfrm>
            <a:prstGeom prst="rect">
              <a:avLst/>
            </a:prstGeom>
            <a:noFill/>
            <a:ln>
              <a:noFill/>
            </a:ln>
          </p:spPr>
          <p:txBody>
            <a:bodyPr wrap="none" lIns="0" tIns="0" rIns="0" bIns="0" anchor="t" anchorCtr="0">
              <a:spAutoFit/>
            </a:bodyPr>
            <a:lstStyle/>
            <a:p>
              <a:pPr algn="l"/>
              <a:r>
                <a:rPr lang="ko-KR" sz="1580" b="1" dirty="0">
                  <a:solidFill>
                    <a:srgbClr val="0B1E3C"/>
                  </a:solidFill>
                  <a:latin typeface="+mn-lt"/>
                  <a:ea typeface="+mn-ea"/>
                  <a:cs typeface="+mn-cs"/>
                </a:rPr>
                <a:t>차량형 GPR이 보는 깊이(약 2m)에, 가장 흔한 원인이 있습니다.</a:t>
              </a:r>
            </a:p>
          </p:txBody>
        </p:sp>
      </p:grpSp>
      <p:grpSp>
        <p:nvGrpSpPr>
          <p:cNvPr id="45" name="source"/>
          <p:cNvGrpSpPr/>
          <p:nvPr/>
        </p:nvGrpSpPr>
        <p:grpSpPr>
          <a:xfrm>
            <a:off x="528447" y="6381750"/>
            <a:ext cx="9294622" cy="191643"/>
            <a:chOff x="528447" y="6381750"/>
            <a:chExt cx="9294622" cy="191643"/>
          </a:xfrm>
        </p:grpSpPr>
        <p:sp>
          <p:nvSpPr>
            <p:cNvPr id="44" name="TextBox 44"/>
            <p:cNvSpPr txBox="1"/>
            <p:nvPr/>
          </p:nvSpPr>
          <p:spPr>
            <a:xfrm>
              <a:off x="528447" y="6381750"/>
              <a:ext cx="9294622" cy="191643"/>
            </a:xfrm>
            <a:prstGeom prst="rect">
              <a:avLst/>
            </a:prstGeom>
            <a:noFill/>
            <a:ln>
              <a:noFill/>
            </a:ln>
          </p:spPr>
          <p:txBody>
            <a:bodyPr wrap="none" lIns="0" tIns="0" rIns="0" bIns="0" anchor="t" anchorCtr="0">
              <a:spAutoFit/>
            </a:bodyPr>
            <a:lstStyle/>
            <a:p>
              <a:pPr algn="l"/>
              <a:r>
                <a:rPr lang="ko-KR" sz="980" dirty="0">
                  <a:solidFill>
                    <a:srgbClr val="4B5563"/>
                  </a:solidFill>
                  <a:latin typeface="+mn-lt"/>
                  <a:ea typeface="+mn-ea"/>
                  <a:cs typeface="+mn-cs"/>
                </a:rPr>
                <a:t>출처: 국토교통부 지반침하 원인 통계(2020~2024) · 국토교통부 명일동 사고조사(2025.12.3) · 서울시 차량형 GPR 탐사 깊이 약 2m · 단면도는 원리 설명용</a:t>
              </a:r>
            </a:p>
          </p:txBody>
        </p:sp>
      </p:grpSp>
      <p:grpSp>
        <p:nvGrpSpPr>
          <p:cNvPr id="48" name="footer"/>
          <p:cNvGrpSpPr/>
          <p:nvPr/>
        </p:nvGrpSpPr>
        <p:grpSpPr>
          <a:xfrm>
            <a:off x="528638" y="6610350"/>
            <a:ext cx="11134724" cy="176212"/>
            <a:chOff x="528638" y="6610350"/>
            <a:chExt cx="11134724" cy="176212"/>
          </a:xfrm>
        </p:grpSpPr>
        <p:sp>
          <p:nvSpPr>
            <p:cNvPr id="46" name="TextBox 46"/>
            <p:cNvSpPr txBox="1"/>
            <p:nvPr/>
          </p:nvSpPr>
          <p:spPr>
            <a:xfrm>
              <a:off x="528638" y="6610350"/>
              <a:ext cx="1020324" cy="176212"/>
            </a:xfrm>
            <a:prstGeom prst="rect">
              <a:avLst/>
            </a:prstGeom>
            <a:noFill/>
            <a:ln>
              <a:noFill/>
            </a:ln>
          </p:spPr>
          <p:txBody>
            <a:bodyPr wrap="none" lIns="0" tIns="0" rIns="0" bIns="0" anchor="t" anchorCtr="0">
              <a:spAutoFit/>
            </a:bodyPr>
            <a:lstStyle/>
            <a:p>
              <a:pPr algn="l"/>
              <a:r>
                <a:rPr lang="en-US" sz="900" dirty="0">
                  <a:solidFill>
                    <a:srgbClr val="4B5563"/>
                  </a:solidFill>
                  <a:latin typeface="+mn-lt"/>
                  <a:ea typeface="+mn-ea"/>
                  <a:cs typeface="+mn-cs"/>
                </a:rPr>
                <a:t>PV5 GroundWatch</a:t>
              </a:r>
            </a:p>
          </p:txBody>
        </p:sp>
        <p:sp>
          <p:nvSpPr>
            <p:cNvPr id="47" name="TextBox 47"/>
            <p:cNvSpPr txBox="1"/>
            <p:nvPr/>
          </p:nvSpPr>
          <p:spPr>
            <a:xfrm>
              <a:off x="11247958" y="6610350"/>
              <a:ext cx="415404" cy="176212"/>
            </a:xfrm>
            <a:prstGeom prst="rect">
              <a:avLst/>
            </a:prstGeom>
            <a:noFill/>
            <a:ln>
              <a:noFill/>
            </a:ln>
          </p:spPr>
          <p:txBody>
            <a:bodyPr wrap="none" lIns="0" tIns="0" rIns="0" bIns="0" anchor="t" anchorCtr="0">
              <a:spAutoFit/>
            </a:bodyPr>
            <a:lstStyle/>
            <a:p>
              <a:pPr algn="r"/>
              <a:r>
                <a:rPr lang="ko-KR" sz="900" dirty="0">
                  <a:solidFill>
                    <a:srgbClr val="4B5563"/>
                  </a:solidFill>
                  <a:latin typeface="+mn-lt"/>
                  <a:ea typeface="+mn-ea"/>
                  <a:cs typeface="+mn-cs"/>
                </a:rPr>
                <a:t>06 / 15</a:t>
              </a:r>
            </a:p>
          </p:txBody>
        </p:sp>
      </p:grpSp>
    </p:spTree>
  </p:cSld>
  <p:clrMapOvr>
    <a:masterClrMapping/>
  </p:clrMapOvr>
  <p:transition xmlns:p14="http://schemas.microsoft.com/office/powerpoint/2010/main" p14:dur="400">
    <p:fade/>
  </p:transition>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grpSp>
        <p:nvGrpSpPr>
          <p:cNvPr id="16" name="header"/>
          <p:cNvGrpSpPr/>
          <p:nvPr/>
        </p:nvGrpSpPr>
        <p:grpSpPr>
          <a:xfrm>
            <a:off x="533400" y="266700"/>
            <a:ext cx="11125200" cy="333375"/>
            <a:chOff x="533400" y="266700"/>
            <a:chExt cx="11125200" cy="333375"/>
          </a:xfrm>
        </p:grpSpPr>
        <p:sp>
          <p:nvSpPr>
            <p:cNvPr id="2" name="Rectangle 2"/>
            <p:cNvSpPr/>
            <p:nvPr/>
          </p:nvSpPr>
          <p:spPr>
            <a:xfrm>
              <a:off x="533400" y="266700"/>
              <a:ext cx="1333500" cy="228600"/>
            </a:xfrm>
            <a:prstGeom prst="rect">
              <a:avLst/>
            </a:prstGeom>
            <a:solidFill>
              <a:srgbClr val="0B1E3C"/>
            </a:solidFill>
            <a:ln>
              <a:noFill/>
            </a:ln>
          </p:spPr>
        </p:sp>
        <p:sp>
          <p:nvSpPr>
            <p:cNvPr id="3" name="TextBox 3"/>
            <p:cNvSpPr txBox="1"/>
            <p:nvPr/>
          </p:nvSpPr>
          <p:spPr>
            <a:xfrm>
              <a:off x="617357" y="314325"/>
              <a:ext cx="1165586" cy="191643"/>
            </a:xfrm>
            <a:prstGeom prst="rect">
              <a:avLst/>
            </a:prstGeom>
            <a:noFill/>
            <a:ln>
              <a:noFill/>
            </a:ln>
          </p:spPr>
          <p:txBody>
            <a:bodyPr wrap="none" lIns="0" tIns="0" rIns="0" bIns="0" anchor="t" anchorCtr="0">
              <a:spAutoFit/>
            </a:bodyPr>
            <a:lstStyle/>
            <a:p>
              <a:pPr algn="ctr"/>
              <a:r>
                <a:rPr lang="en-US" sz="980" b="1" dirty="0">
                  <a:solidFill>
                    <a:srgbClr val="FFFFFF"/>
                  </a:solidFill>
                  <a:latin typeface="+mn-lt"/>
                  <a:ea typeface="+mn-ea"/>
                  <a:cs typeface="+mn-cs"/>
                </a:rPr>
                <a:t>PV5 GroundWatch</a:t>
              </a:r>
            </a:p>
          </p:txBody>
        </p:sp>
        <p:sp>
          <p:nvSpPr>
            <p:cNvPr id="4" name="TextBox 4"/>
            <p:cNvSpPr txBox="1"/>
            <p:nvPr/>
          </p:nvSpPr>
          <p:spPr>
            <a:xfrm>
              <a:off x="1994916" y="301625"/>
              <a:ext cx="1369662" cy="205359"/>
            </a:xfrm>
            <a:prstGeom prst="rect">
              <a:avLst/>
            </a:prstGeom>
            <a:noFill/>
            <a:ln>
              <a:noFill/>
            </a:ln>
          </p:spPr>
          <p:txBody>
            <a:bodyPr wrap="none" lIns="0" tIns="0" rIns="0" bIns="0" anchor="t" anchorCtr="0">
              <a:spAutoFit/>
            </a:bodyPr>
            <a:lstStyle/>
            <a:p>
              <a:pPr algn="l"/>
              <a:r>
                <a:rPr lang="ko-KR" sz="1050" dirty="0">
                  <a:solidFill>
                    <a:srgbClr val="374151"/>
                  </a:solidFill>
                  <a:latin typeface="+mn-lt"/>
                  <a:ea typeface="+mn-ea"/>
                  <a:cs typeface="+mn-cs"/>
                </a:rPr>
                <a:t>GroundWatch의 핵심</a:t>
              </a:r>
            </a:p>
          </p:txBody>
        </p:sp>
        <p:sp>
          <p:nvSpPr>
            <p:cNvPr id="5" name="TextBox 5"/>
            <p:cNvSpPr txBox="1"/>
            <p:nvPr/>
          </p:nvSpPr>
          <p:spPr>
            <a:xfrm>
              <a:off x="8425815" y="301625"/>
              <a:ext cx="293370" cy="205359"/>
            </a:xfrm>
            <a:prstGeom prst="rect">
              <a:avLst/>
            </a:prstGeom>
            <a:noFill/>
            <a:ln>
              <a:noFill/>
            </a:ln>
          </p:spPr>
          <p:txBody>
            <a:bodyPr wrap="none" lIns="0" tIns="0" rIns="0" bIns="0" anchor="t" anchorCtr="0">
              <a:spAutoFit/>
            </a:bodyPr>
            <a:lstStyle/>
            <a:p>
              <a:pPr algn="ctr"/>
              <a:r>
                <a:rPr lang="ko-KR" sz="1050" dirty="0">
                  <a:solidFill>
                    <a:srgbClr val="9AA3AF"/>
                  </a:solidFill>
                  <a:latin typeface="+mn-lt"/>
                  <a:ea typeface="+mn-ea"/>
                  <a:cs typeface="+mn-cs"/>
                </a:rPr>
                <a:t>문제</a:t>
              </a:r>
            </a:p>
          </p:txBody>
        </p:sp>
        <p:sp>
          <p:nvSpPr>
            <p:cNvPr id="6" name="TextBox 6"/>
            <p:cNvSpPr txBox="1"/>
            <p:nvPr/>
          </p:nvSpPr>
          <p:spPr>
            <a:xfrm>
              <a:off x="884874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7" name="TextBox 7"/>
            <p:cNvSpPr txBox="1"/>
            <p:nvPr/>
          </p:nvSpPr>
          <p:spPr>
            <a:xfrm>
              <a:off x="9054465" y="301625"/>
              <a:ext cx="293370" cy="205359"/>
            </a:xfrm>
            <a:prstGeom prst="rect">
              <a:avLst/>
            </a:prstGeom>
            <a:noFill/>
            <a:ln>
              <a:noFill/>
            </a:ln>
          </p:spPr>
          <p:txBody>
            <a:bodyPr wrap="none" lIns="0" tIns="0" rIns="0" bIns="0" anchor="t" anchorCtr="0">
              <a:spAutoFit/>
            </a:bodyPr>
            <a:lstStyle/>
            <a:p>
              <a:pPr algn="ctr"/>
              <a:r>
                <a:rPr lang="ko-KR" sz="1050" b="1" dirty="0">
                  <a:solidFill>
                    <a:srgbClr val="0B1E3C"/>
                  </a:solidFill>
                  <a:latin typeface="+mn-lt"/>
                  <a:ea typeface="+mn-ea"/>
                  <a:cs typeface="+mn-cs"/>
                </a:rPr>
                <a:t>해법</a:t>
              </a:r>
            </a:p>
          </p:txBody>
        </p:sp>
        <p:sp>
          <p:nvSpPr>
            <p:cNvPr id="8" name="Rectangle 8"/>
            <p:cNvSpPr/>
            <p:nvPr/>
          </p:nvSpPr>
          <p:spPr>
            <a:xfrm>
              <a:off x="8972550" y="514350"/>
              <a:ext cx="457200" cy="28575"/>
            </a:xfrm>
            <a:prstGeom prst="rect">
              <a:avLst/>
            </a:prstGeom>
            <a:solidFill>
              <a:srgbClr val="F5B700"/>
            </a:solidFill>
            <a:ln>
              <a:noFill/>
            </a:ln>
          </p:spPr>
        </p:sp>
        <p:sp>
          <p:nvSpPr>
            <p:cNvPr id="9" name="TextBox 9"/>
            <p:cNvSpPr txBox="1"/>
            <p:nvPr/>
          </p:nvSpPr>
          <p:spPr>
            <a:xfrm>
              <a:off x="947739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10" name="TextBox 10"/>
            <p:cNvSpPr txBox="1"/>
            <p:nvPr/>
          </p:nvSpPr>
          <p:spPr>
            <a:xfrm>
              <a:off x="9701251" y="301625"/>
              <a:ext cx="257099" cy="205359"/>
            </a:xfrm>
            <a:prstGeom prst="rect">
              <a:avLst/>
            </a:prstGeom>
            <a:noFill/>
            <a:ln>
              <a:noFill/>
            </a:ln>
          </p:spPr>
          <p:txBody>
            <a:bodyPr wrap="none" lIns="0" tIns="0" rIns="0" bIns="0" anchor="t" anchorCtr="0">
              <a:spAutoFit/>
            </a:bodyPr>
            <a:lstStyle/>
            <a:p>
              <a:pPr algn="ctr"/>
              <a:r>
                <a:rPr lang="en-US" sz="1050" dirty="0">
                  <a:solidFill>
                    <a:srgbClr val="9AA3AF"/>
                  </a:solidFill>
                  <a:latin typeface="+mn-lt"/>
                  <a:ea typeface="+mn-ea"/>
                  <a:cs typeface="+mn-cs"/>
                </a:rPr>
                <a:t>PV5</a:t>
              </a:r>
            </a:p>
          </p:txBody>
        </p:sp>
        <p:sp>
          <p:nvSpPr>
            <p:cNvPr id="11" name="TextBox 11"/>
            <p:cNvSpPr txBox="1"/>
            <p:nvPr/>
          </p:nvSpPr>
          <p:spPr>
            <a:xfrm>
              <a:off x="1010604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12" name="TextBox 12"/>
            <p:cNvSpPr txBox="1"/>
            <p:nvPr/>
          </p:nvSpPr>
          <p:spPr>
            <a:xfrm>
              <a:off x="10311765" y="301625"/>
              <a:ext cx="293370" cy="205359"/>
            </a:xfrm>
            <a:prstGeom prst="rect">
              <a:avLst/>
            </a:prstGeom>
            <a:noFill/>
            <a:ln>
              <a:noFill/>
            </a:ln>
          </p:spPr>
          <p:txBody>
            <a:bodyPr wrap="none" lIns="0" tIns="0" rIns="0" bIns="0" anchor="t" anchorCtr="0">
              <a:spAutoFit/>
            </a:bodyPr>
            <a:lstStyle/>
            <a:p>
              <a:pPr algn="ctr"/>
              <a:r>
                <a:rPr lang="ko-KR" sz="1050" dirty="0">
                  <a:solidFill>
                    <a:srgbClr val="9AA3AF"/>
                  </a:solidFill>
                  <a:latin typeface="+mn-lt"/>
                  <a:ea typeface="+mn-ea"/>
                  <a:cs typeface="+mn-cs"/>
                </a:rPr>
                <a:t>검증</a:t>
              </a:r>
            </a:p>
          </p:txBody>
        </p:sp>
        <p:sp>
          <p:nvSpPr>
            <p:cNvPr id="13" name="TextBox 13"/>
            <p:cNvSpPr txBox="1"/>
            <p:nvPr/>
          </p:nvSpPr>
          <p:spPr>
            <a:xfrm>
              <a:off x="1073469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14" name="TextBox 14"/>
            <p:cNvSpPr txBox="1"/>
            <p:nvPr/>
          </p:nvSpPr>
          <p:spPr>
            <a:xfrm>
              <a:off x="10940415" y="301625"/>
              <a:ext cx="293370" cy="205359"/>
            </a:xfrm>
            <a:prstGeom prst="rect">
              <a:avLst/>
            </a:prstGeom>
            <a:noFill/>
            <a:ln>
              <a:noFill/>
            </a:ln>
          </p:spPr>
          <p:txBody>
            <a:bodyPr wrap="none" lIns="0" tIns="0" rIns="0" bIns="0" anchor="t" anchorCtr="0">
              <a:spAutoFit/>
            </a:bodyPr>
            <a:lstStyle/>
            <a:p>
              <a:pPr algn="ctr"/>
              <a:r>
                <a:rPr lang="ko-KR" sz="1050" dirty="0">
                  <a:solidFill>
                    <a:srgbClr val="9AA3AF"/>
                  </a:solidFill>
                  <a:latin typeface="+mn-lt"/>
                  <a:ea typeface="+mn-ea"/>
                  <a:cs typeface="+mn-cs"/>
                </a:rPr>
                <a:t>사업</a:t>
              </a:r>
            </a:p>
          </p:txBody>
        </p:sp>
        <p:sp>
          <p:nvSpPr>
            <p:cNvPr id="15" name="Line 15"/>
            <p:cNvSpPr/>
            <p:nvPr/>
          </p:nvSpPr>
          <p:spPr>
            <a:xfrm>
              <a:off x="533400" y="590550"/>
              <a:ext cx="11125200" cy="9525"/>
            </a:xfrm>
            <a:custGeom>
              <a:avLst/>
              <a:gdLst/>
              <a:ahLst/>
              <a:cxnLst/>
              <a:rect l="l" t="t" r="r" b="b"/>
              <a:pathLst>
                <a:path w="11125200" h="9525">
                  <a:moveTo>
                    <a:pt x="0" y="0"/>
                  </a:moveTo>
                  <a:lnTo>
                    <a:pt x="11125200" y="0"/>
                  </a:lnTo>
                </a:path>
              </a:pathLst>
            </a:custGeom>
            <a:noFill/>
            <a:ln w="9525">
              <a:solidFill>
                <a:srgbClr val="0B1E3C"/>
              </a:solidFill>
            </a:ln>
          </p:spPr>
        </p:sp>
      </p:grpSp>
      <p:grpSp>
        <p:nvGrpSpPr>
          <p:cNvPr id="18" name="title"/>
          <p:cNvGrpSpPr/>
          <p:nvPr/>
        </p:nvGrpSpPr>
        <p:grpSpPr>
          <a:xfrm>
            <a:off x="518160" y="774700"/>
            <a:ext cx="9701975" cy="586740"/>
            <a:chOff x="518160" y="774700"/>
            <a:chExt cx="9701975" cy="586740"/>
          </a:xfrm>
        </p:grpSpPr>
        <p:sp>
          <p:nvSpPr>
            <p:cNvPr id="17" name="TextBox 17"/>
            <p:cNvSpPr txBox="1"/>
            <p:nvPr/>
          </p:nvSpPr>
          <p:spPr>
            <a:xfrm>
              <a:off x="518160" y="774700"/>
              <a:ext cx="9701975" cy="586740"/>
            </a:xfrm>
            <a:prstGeom prst="rect">
              <a:avLst/>
            </a:prstGeom>
            <a:noFill/>
            <a:ln>
              <a:noFill/>
            </a:ln>
          </p:spPr>
          <p:txBody>
            <a:bodyPr wrap="none" lIns="0" tIns="0" rIns="0" bIns="0" anchor="t" anchorCtr="0">
              <a:spAutoFit/>
            </a:bodyPr>
            <a:lstStyle/>
            <a:p>
              <a:pPr algn="l"/>
              <a:r>
                <a:rPr lang="ko-KR" sz="3000" b="1" spc="-75" dirty="0">
                  <a:solidFill>
                    <a:srgbClr val="0B1E3C"/>
                  </a:solidFill>
                  <a:latin typeface="+mn-lt"/>
                  <a:ea typeface="+mn-ea"/>
                  <a:cs typeface="+mn-cs"/>
                </a:rPr>
                <a:t>같은 길을 약 2개월마다 다시 찍고, 달라진 곳만 봅니다</a:t>
              </a:r>
            </a:p>
          </p:txBody>
        </p:sp>
      </p:grpSp>
      <p:grpSp>
        <p:nvGrpSpPr>
          <p:cNvPr id="36" name="scans"/>
          <p:cNvGrpSpPr/>
          <p:nvPr/>
        </p:nvGrpSpPr>
        <p:grpSpPr>
          <a:xfrm>
            <a:off x="527304" y="1485900"/>
            <a:ext cx="11131296" cy="2309178"/>
            <a:chOff x="527304" y="1485900"/>
            <a:chExt cx="11131296" cy="2309178"/>
          </a:xfrm>
        </p:grpSpPr>
        <p:pic>
          <p:nvPicPr>
            <p:cNvPr id="19" name="Image 19"/>
            <p:cNvPicPr>
              <a:picLocks noChangeAspect="1"/>
            </p:cNvPicPr>
            <p:nvPr/>
          </p:nvPicPr>
          <p:blipFill>
            <a:blip r:embed="rId2"/>
            <a:stretch>
              <a:fillRect/>
            </a:stretch>
          </p:blipFill>
          <p:spPr>
            <a:xfrm>
              <a:off x="533400" y="1485900"/>
              <a:ext cx="3429000" cy="1771650"/>
            </a:xfrm>
            <a:prstGeom prst="rect">
              <a:avLst/>
            </a:prstGeom>
          </p:spPr>
        </p:pic>
        <p:sp>
          <p:nvSpPr>
            <p:cNvPr id="20" name="TextBox 20"/>
            <p:cNvSpPr txBox="1"/>
            <p:nvPr/>
          </p:nvSpPr>
          <p:spPr>
            <a:xfrm>
              <a:off x="527304" y="3352800"/>
              <a:ext cx="2340849" cy="234696"/>
            </a:xfrm>
            <a:prstGeom prst="rect">
              <a:avLst/>
            </a:prstGeom>
            <a:noFill/>
            <a:ln>
              <a:noFill/>
            </a:ln>
          </p:spPr>
          <p:txBody>
            <a:bodyPr wrap="none" lIns="0" tIns="0" rIns="0" bIns="0" anchor="t" anchorCtr="0">
              <a:spAutoFit/>
            </a:bodyPr>
            <a:lstStyle/>
            <a:p>
              <a:pPr algn="l"/>
              <a:r>
                <a:rPr lang="ko-KR" sz="1200" b="1" dirty="0">
                  <a:solidFill>
                    <a:srgbClr val="0B1E3C"/>
                  </a:solidFill>
                  <a:latin typeface="+mn-lt"/>
                  <a:ea typeface="+mn-ea"/>
                  <a:cs typeface="+mn-cs"/>
                </a:rPr>
                <a:t>새벽, 같은 경로를 약 2개월마다</a:t>
              </a:r>
            </a:p>
          </p:txBody>
        </p:sp>
        <p:sp>
          <p:nvSpPr>
            <p:cNvPr id="21" name="TextBox 21"/>
            <p:cNvSpPr txBox="1"/>
            <p:nvPr/>
          </p:nvSpPr>
          <p:spPr>
            <a:xfrm>
              <a:off x="527685" y="3575050"/>
              <a:ext cx="1066851" cy="220028"/>
            </a:xfrm>
            <a:prstGeom prst="rect">
              <a:avLst/>
            </a:prstGeom>
            <a:noFill/>
            <a:ln>
              <a:noFill/>
            </a:ln>
          </p:spPr>
          <p:txBody>
            <a:bodyPr wrap="none" lIns="0" tIns="0" rIns="0" bIns="0" anchor="t" anchorCtr="0">
              <a:spAutoFit/>
            </a:bodyPr>
            <a:lstStyle/>
            <a:p>
              <a:pPr algn="l"/>
              <a:r>
                <a:rPr lang="ko-KR" sz="1120" dirty="0">
                  <a:solidFill>
                    <a:srgbClr val="374151"/>
                  </a:solidFill>
                  <a:latin typeface="+mn-lt"/>
                  <a:ea typeface="+mn-ea"/>
                  <a:cs typeface="+mn-cs"/>
                </a:rPr>
                <a:t>공동 반경 18cm</a:t>
              </a:r>
            </a:p>
          </p:txBody>
        </p:sp>
        <p:sp>
          <p:nvSpPr>
            <p:cNvPr id="22" name="Rectangle 22"/>
            <p:cNvSpPr/>
            <p:nvPr/>
          </p:nvSpPr>
          <p:spPr>
            <a:xfrm>
              <a:off x="609600" y="1562100"/>
              <a:ext cx="904875" cy="247650"/>
            </a:xfrm>
            <a:prstGeom prst="roundRect">
              <a:avLst>
                <a:gd name="adj" fmla="val 11538"/>
              </a:avLst>
            </a:prstGeom>
            <a:solidFill>
              <a:srgbClr val="0B1E3C">
                <a:alpha val="90000"/>
              </a:srgbClr>
            </a:solidFill>
            <a:ln>
              <a:noFill/>
            </a:ln>
          </p:spPr>
        </p:sp>
        <p:sp>
          <p:nvSpPr>
            <p:cNvPr id="23" name="TextBox 23"/>
            <p:cNvSpPr txBox="1"/>
            <p:nvPr/>
          </p:nvSpPr>
          <p:spPr>
            <a:xfrm>
              <a:off x="699135" y="1593850"/>
              <a:ext cx="662022" cy="220028"/>
            </a:xfrm>
            <a:prstGeom prst="rect">
              <a:avLst/>
            </a:prstGeom>
            <a:noFill/>
            <a:ln>
              <a:noFill/>
            </a:ln>
          </p:spPr>
          <p:txBody>
            <a:bodyPr wrap="none" lIns="0" tIns="0" rIns="0" bIns="0" anchor="t" anchorCtr="0">
              <a:spAutoFit/>
            </a:bodyPr>
            <a:lstStyle/>
            <a:p>
              <a:pPr algn="l"/>
              <a:r>
                <a:rPr lang="ko-KR" sz="1120" b="1" dirty="0">
                  <a:solidFill>
                    <a:srgbClr val="FFFFFF"/>
                  </a:solidFill>
                  <a:latin typeface="+mn-lt"/>
                  <a:ea typeface="+mn-ea"/>
                  <a:cs typeface="+mn-cs"/>
                </a:rPr>
                <a:t>지난 회차</a:t>
              </a:r>
            </a:p>
          </p:txBody>
        </p:sp>
        <p:sp>
          <p:nvSpPr>
            <p:cNvPr id="24" name="TextBox 24"/>
            <p:cNvSpPr txBox="1"/>
            <p:nvPr/>
          </p:nvSpPr>
          <p:spPr>
            <a:xfrm>
              <a:off x="4088449" y="2181225"/>
              <a:ext cx="224153" cy="498729"/>
            </a:xfrm>
            <a:prstGeom prst="rect">
              <a:avLst/>
            </a:prstGeom>
            <a:noFill/>
            <a:ln>
              <a:noFill/>
            </a:ln>
          </p:spPr>
          <p:txBody>
            <a:bodyPr wrap="none" lIns="0" tIns="0" rIns="0" bIns="0" anchor="t" anchorCtr="0">
              <a:spAutoFit/>
            </a:bodyPr>
            <a:lstStyle/>
            <a:p>
              <a:pPr algn="ctr"/>
              <a:r>
                <a:rPr lang="ko-KR" sz="2550" b="1" dirty="0">
                  <a:solidFill>
                    <a:srgbClr val="0B1E3C"/>
                  </a:solidFill>
                  <a:latin typeface="+mn-lt"/>
                  <a:ea typeface="+mn-ea"/>
                  <a:cs typeface="+mn-cs"/>
                </a:rPr>
                <a:t>−</a:t>
              </a:r>
            </a:p>
          </p:txBody>
        </p:sp>
        <p:pic>
          <p:nvPicPr>
            <p:cNvPr id="25" name="Image 25"/>
            <p:cNvPicPr>
              <a:picLocks noChangeAspect="1"/>
            </p:cNvPicPr>
            <p:nvPr/>
          </p:nvPicPr>
          <p:blipFill>
            <a:blip r:embed="rId3"/>
            <a:stretch>
              <a:fillRect/>
            </a:stretch>
          </p:blipFill>
          <p:spPr>
            <a:xfrm>
              <a:off x="4381500" y="1485900"/>
              <a:ext cx="3429000" cy="1771650"/>
            </a:xfrm>
            <a:prstGeom prst="rect">
              <a:avLst/>
            </a:prstGeom>
          </p:spPr>
        </p:pic>
        <p:sp>
          <p:nvSpPr>
            <p:cNvPr id="26" name="TextBox 26"/>
            <p:cNvSpPr txBox="1"/>
            <p:nvPr/>
          </p:nvSpPr>
          <p:spPr>
            <a:xfrm>
              <a:off x="4375404" y="3352800"/>
              <a:ext cx="1618747" cy="234696"/>
            </a:xfrm>
            <a:prstGeom prst="rect">
              <a:avLst/>
            </a:prstGeom>
            <a:noFill/>
            <a:ln>
              <a:noFill/>
            </a:ln>
          </p:spPr>
          <p:txBody>
            <a:bodyPr wrap="none" lIns="0" tIns="0" rIns="0" bIns="0" anchor="t" anchorCtr="0">
              <a:spAutoFit/>
            </a:bodyPr>
            <a:lstStyle/>
            <a:p>
              <a:pPr algn="l"/>
              <a:r>
                <a:rPr lang="ko-KR" sz="1200" b="1" dirty="0">
                  <a:solidFill>
                    <a:srgbClr val="0B1E3C"/>
                  </a:solidFill>
                  <a:latin typeface="+mn-lt"/>
                  <a:ea typeface="+mn-ea"/>
                  <a:cs typeface="+mn-cs"/>
                </a:rPr>
                <a:t>같은 길을 다시 찍으면</a:t>
              </a:r>
            </a:p>
          </p:txBody>
        </p:sp>
        <p:sp>
          <p:nvSpPr>
            <p:cNvPr id="27" name="TextBox 27"/>
            <p:cNvSpPr txBox="1"/>
            <p:nvPr/>
          </p:nvSpPr>
          <p:spPr>
            <a:xfrm>
              <a:off x="4375785" y="3575050"/>
              <a:ext cx="1564406" cy="220028"/>
            </a:xfrm>
            <a:prstGeom prst="rect">
              <a:avLst/>
            </a:prstGeom>
            <a:noFill/>
            <a:ln>
              <a:noFill/>
            </a:ln>
          </p:spPr>
          <p:txBody>
            <a:bodyPr wrap="none" lIns="0" tIns="0" rIns="0" bIns="0" anchor="t" anchorCtr="0">
              <a:spAutoFit/>
            </a:bodyPr>
            <a:lstStyle/>
            <a:p>
              <a:pPr algn="l"/>
              <a:r>
                <a:rPr lang="ko-KR" sz="1120" dirty="0">
                  <a:solidFill>
                    <a:srgbClr val="374151"/>
                  </a:solidFill>
                  <a:latin typeface="+mn-lt"/>
                  <a:ea typeface="+mn-ea"/>
                  <a:cs typeface="+mn-cs"/>
                </a:rPr>
                <a:t>공동이 20cm 자라 있음</a:t>
              </a:r>
            </a:p>
          </p:txBody>
        </p:sp>
        <p:sp>
          <p:nvSpPr>
            <p:cNvPr id="28" name="Rectangle 28"/>
            <p:cNvSpPr/>
            <p:nvPr/>
          </p:nvSpPr>
          <p:spPr>
            <a:xfrm>
              <a:off x="4457700" y="1562100"/>
              <a:ext cx="904875" cy="247650"/>
            </a:xfrm>
            <a:prstGeom prst="roundRect">
              <a:avLst>
                <a:gd name="adj" fmla="val 11538"/>
              </a:avLst>
            </a:prstGeom>
            <a:solidFill>
              <a:srgbClr val="0B1E3C">
                <a:alpha val="90000"/>
              </a:srgbClr>
            </a:solidFill>
            <a:ln>
              <a:noFill/>
            </a:ln>
          </p:spPr>
        </p:sp>
        <p:sp>
          <p:nvSpPr>
            <p:cNvPr id="29" name="TextBox 29"/>
            <p:cNvSpPr txBox="1"/>
            <p:nvPr/>
          </p:nvSpPr>
          <p:spPr>
            <a:xfrm>
              <a:off x="4547235" y="1593850"/>
              <a:ext cx="662022" cy="220028"/>
            </a:xfrm>
            <a:prstGeom prst="rect">
              <a:avLst/>
            </a:prstGeom>
            <a:noFill/>
            <a:ln>
              <a:noFill/>
            </a:ln>
          </p:spPr>
          <p:txBody>
            <a:bodyPr wrap="none" lIns="0" tIns="0" rIns="0" bIns="0" anchor="t" anchorCtr="0">
              <a:spAutoFit/>
            </a:bodyPr>
            <a:lstStyle/>
            <a:p>
              <a:pPr algn="l"/>
              <a:r>
                <a:rPr lang="ko-KR" sz="1120" b="1" dirty="0">
                  <a:solidFill>
                    <a:srgbClr val="FFFFFF"/>
                  </a:solidFill>
                  <a:latin typeface="+mn-lt"/>
                  <a:ea typeface="+mn-ea"/>
                  <a:cs typeface="+mn-cs"/>
                </a:rPr>
                <a:t>이번 회차</a:t>
              </a:r>
            </a:p>
          </p:txBody>
        </p:sp>
        <p:sp>
          <p:nvSpPr>
            <p:cNvPr id="30" name="TextBox 30"/>
            <p:cNvSpPr txBox="1"/>
            <p:nvPr/>
          </p:nvSpPr>
          <p:spPr>
            <a:xfrm>
              <a:off x="7936549" y="2181225"/>
              <a:ext cx="224153" cy="498729"/>
            </a:xfrm>
            <a:prstGeom prst="rect">
              <a:avLst/>
            </a:prstGeom>
            <a:noFill/>
            <a:ln>
              <a:noFill/>
            </a:ln>
          </p:spPr>
          <p:txBody>
            <a:bodyPr wrap="none" lIns="0" tIns="0" rIns="0" bIns="0" anchor="t" anchorCtr="0">
              <a:spAutoFit/>
            </a:bodyPr>
            <a:lstStyle/>
            <a:p>
              <a:pPr algn="ctr"/>
              <a:r>
                <a:rPr lang="ko-KR" sz="2550" b="1" dirty="0">
                  <a:solidFill>
                    <a:srgbClr val="0B1E3C"/>
                  </a:solidFill>
                  <a:latin typeface="+mn-lt"/>
                  <a:ea typeface="+mn-ea"/>
                  <a:cs typeface="+mn-cs"/>
                </a:rPr>
                <a:t>=</a:t>
              </a:r>
            </a:p>
          </p:txBody>
        </p:sp>
        <p:pic>
          <p:nvPicPr>
            <p:cNvPr id="31" name="Image 31"/>
            <p:cNvPicPr>
              <a:picLocks noChangeAspect="1"/>
            </p:cNvPicPr>
            <p:nvPr/>
          </p:nvPicPr>
          <p:blipFill>
            <a:blip r:embed="rId4"/>
            <a:stretch>
              <a:fillRect/>
            </a:stretch>
          </p:blipFill>
          <p:spPr>
            <a:xfrm>
              <a:off x="8229600" y="1485900"/>
              <a:ext cx="3429000" cy="1771650"/>
            </a:xfrm>
            <a:prstGeom prst="rect">
              <a:avLst/>
            </a:prstGeom>
          </p:spPr>
        </p:pic>
        <p:sp>
          <p:nvSpPr>
            <p:cNvPr id="32" name="TextBox 32"/>
            <p:cNvSpPr txBox="1"/>
            <p:nvPr/>
          </p:nvSpPr>
          <p:spPr>
            <a:xfrm>
              <a:off x="8223504" y="3352800"/>
              <a:ext cx="2154265" cy="234696"/>
            </a:xfrm>
            <a:prstGeom prst="rect">
              <a:avLst/>
            </a:prstGeom>
            <a:noFill/>
            <a:ln>
              <a:noFill/>
            </a:ln>
          </p:spPr>
          <p:txBody>
            <a:bodyPr wrap="none" lIns="0" tIns="0" rIns="0" bIns="0" anchor="t" anchorCtr="0">
              <a:spAutoFit/>
            </a:bodyPr>
            <a:lstStyle/>
            <a:p>
              <a:pPr algn="l"/>
              <a:r>
                <a:rPr lang="ko-KR" sz="1200" b="1" dirty="0">
                  <a:solidFill>
                    <a:srgbClr val="0B1E3C"/>
                  </a:solidFill>
                  <a:latin typeface="+mn-lt"/>
                  <a:ea typeface="+mn-ea"/>
                  <a:cs typeface="+mn-cs"/>
                </a:rPr>
                <a:t>위치를 맞춰 빼면 변화만 남음</a:t>
              </a:r>
            </a:p>
          </p:txBody>
        </p:sp>
        <p:sp>
          <p:nvSpPr>
            <p:cNvPr id="33" name="TextBox 33"/>
            <p:cNvSpPr txBox="1"/>
            <p:nvPr/>
          </p:nvSpPr>
          <p:spPr>
            <a:xfrm>
              <a:off x="8223885" y="3575050"/>
              <a:ext cx="2591237" cy="220028"/>
            </a:xfrm>
            <a:prstGeom prst="rect">
              <a:avLst/>
            </a:prstGeom>
            <a:noFill/>
            <a:ln>
              <a:noFill/>
            </a:ln>
          </p:spPr>
          <p:txBody>
            <a:bodyPr wrap="none" lIns="0" tIns="0" rIns="0" bIns="0" anchor="t" anchorCtr="0">
              <a:spAutoFit/>
            </a:bodyPr>
            <a:lstStyle/>
            <a:p>
              <a:pPr algn="l"/>
              <a:r>
                <a:rPr lang="ko-KR" sz="1120" dirty="0">
                  <a:solidFill>
                    <a:srgbClr val="374151"/>
                  </a:solidFill>
                  <a:latin typeface="+mn-lt"/>
                  <a:ea typeface="+mn-ea"/>
                  <a:cs typeface="+mn-cs"/>
                </a:rPr>
                <a:t>전문가 승인 → 수동 GPR로 현장 재확인</a:t>
              </a:r>
            </a:p>
          </p:txBody>
        </p:sp>
        <p:sp>
          <p:nvSpPr>
            <p:cNvPr id="34" name="Rectangle 34"/>
            <p:cNvSpPr/>
            <p:nvPr/>
          </p:nvSpPr>
          <p:spPr>
            <a:xfrm>
              <a:off x="8305800" y="1562100"/>
              <a:ext cx="1476375" cy="247650"/>
            </a:xfrm>
            <a:prstGeom prst="roundRect">
              <a:avLst>
                <a:gd name="adj" fmla="val 11538"/>
              </a:avLst>
            </a:prstGeom>
            <a:solidFill>
              <a:srgbClr val="0B1E3C">
                <a:alpha val="90000"/>
              </a:srgbClr>
            </a:solidFill>
            <a:ln>
              <a:noFill/>
            </a:ln>
          </p:spPr>
        </p:sp>
        <p:sp>
          <p:nvSpPr>
            <p:cNvPr id="35" name="TextBox 35"/>
            <p:cNvSpPr txBox="1"/>
            <p:nvPr/>
          </p:nvSpPr>
          <p:spPr>
            <a:xfrm>
              <a:off x="8395335" y="1593850"/>
              <a:ext cx="1161839" cy="220028"/>
            </a:xfrm>
            <a:prstGeom prst="rect">
              <a:avLst/>
            </a:prstGeom>
            <a:noFill/>
            <a:ln>
              <a:noFill/>
            </a:ln>
          </p:spPr>
          <p:txBody>
            <a:bodyPr wrap="none" lIns="0" tIns="0" rIns="0" bIns="0" anchor="t" anchorCtr="0">
              <a:spAutoFit/>
            </a:bodyPr>
            <a:lstStyle/>
            <a:p>
              <a:pPr algn="l"/>
              <a:r>
                <a:rPr lang="ko-KR" sz="1120" b="1" dirty="0">
                  <a:solidFill>
                    <a:srgbClr val="FFFFFF"/>
                  </a:solidFill>
                  <a:latin typeface="+mn-lt"/>
                  <a:ea typeface="+mn-ea"/>
                  <a:cs typeface="+mn-cs"/>
                </a:rPr>
                <a:t>자동 선별된 차이</a:t>
              </a:r>
            </a:p>
          </p:txBody>
        </p:sp>
      </p:grpSp>
      <p:grpSp>
        <p:nvGrpSpPr>
          <p:cNvPr id="49" name="diff"/>
          <p:cNvGrpSpPr/>
          <p:nvPr/>
        </p:nvGrpSpPr>
        <p:grpSpPr>
          <a:xfrm>
            <a:off x="527304" y="3924300"/>
            <a:ext cx="5340096" cy="1591818"/>
            <a:chOff x="527304" y="3924300"/>
            <a:chExt cx="5340096" cy="1591818"/>
          </a:xfrm>
        </p:grpSpPr>
        <p:sp>
          <p:nvSpPr>
            <p:cNvPr id="37" name="Rectangle 37"/>
            <p:cNvSpPr/>
            <p:nvPr/>
          </p:nvSpPr>
          <p:spPr>
            <a:xfrm>
              <a:off x="533400" y="3924300"/>
              <a:ext cx="5334000" cy="28575"/>
            </a:xfrm>
            <a:prstGeom prst="rect">
              <a:avLst/>
            </a:prstGeom>
            <a:solidFill>
              <a:srgbClr val="0B1E3C"/>
            </a:solidFill>
            <a:ln>
              <a:noFill/>
            </a:ln>
          </p:spPr>
        </p:sp>
        <p:sp>
          <p:nvSpPr>
            <p:cNvPr id="38" name="TextBox 38"/>
            <p:cNvSpPr txBox="1"/>
            <p:nvPr/>
          </p:nvSpPr>
          <p:spPr>
            <a:xfrm>
              <a:off x="527685" y="4070350"/>
              <a:ext cx="2590601" cy="220028"/>
            </a:xfrm>
            <a:prstGeom prst="rect">
              <a:avLst/>
            </a:prstGeom>
            <a:noFill/>
            <a:ln>
              <a:noFill/>
            </a:ln>
          </p:spPr>
          <p:txBody>
            <a:bodyPr wrap="none" lIns="0" tIns="0" rIns="0" bIns="0" anchor="t" anchorCtr="0">
              <a:spAutoFit/>
            </a:bodyPr>
            <a:lstStyle/>
            <a:p>
              <a:pPr algn="l"/>
              <a:r>
                <a:rPr lang="ko-KR" sz="1120" b="1" dirty="0">
                  <a:solidFill>
                    <a:srgbClr val="B45309"/>
                  </a:solidFill>
                  <a:latin typeface="+mn-lt"/>
                  <a:ea typeface="+mn-ea"/>
                  <a:cs typeface="+mn-cs"/>
                </a:rPr>
                <a:t xml:space="preserve">무엇이 새로운가 </a:t>
              </a:r>
              <a:r>
                <a:rPr lang="ko-KR" sz="1120" dirty="0">
                  <a:solidFill>
                    <a:srgbClr val="4B5563"/>
                  </a:solidFill>
                  <a:latin typeface="+mn-lt"/>
                  <a:ea typeface="+mn-ea"/>
                  <a:cs typeface="+mn-cs"/>
                </a:rPr>
                <a:t>기존 → GroundWatch</a:t>
              </a:r>
            </a:p>
          </p:txBody>
        </p:sp>
        <p:sp>
          <p:nvSpPr>
            <p:cNvPr id="39" name="TextBox 39"/>
            <p:cNvSpPr txBox="1"/>
            <p:nvPr/>
          </p:nvSpPr>
          <p:spPr>
            <a:xfrm>
              <a:off x="527304" y="4362450"/>
              <a:ext cx="916838" cy="234696"/>
            </a:xfrm>
            <a:prstGeom prst="rect">
              <a:avLst/>
            </a:prstGeom>
            <a:noFill/>
            <a:ln>
              <a:noFill/>
            </a:ln>
          </p:spPr>
          <p:txBody>
            <a:bodyPr wrap="none" lIns="0" tIns="0" rIns="0" bIns="0" anchor="t" anchorCtr="0">
              <a:spAutoFit/>
            </a:bodyPr>
            <a:lstStyle/>
            <a:p>
              <a:pPr algn="l"/>
              <a:r>
                <a:rPr lang="ko-KR" sz="1200" dirty="0">
                  <a:solidFill>
                    <a:srgbClr val="374151"/>
                  </a:solidFill>
                  <a:latin typeface="+mn-lt"/>
                  <a:ea typeface="+mn-ea"/>
                  <a:cs typeface="+mn-cs"/>
                </a:rPr>
                <a:t>다시 보는 곳</a:t>
              </a:r>
            </a:p>
          </p:txBody>
        </p:sp>
        <p:sp>
          <p:nvSpPr>
            <p:cNvPr id="40" name="TextBox 40"/>
            <p:cNvSpPr txBox="1"/>
            <p:nvPr/>
          </p:nvSpPr>
          <p:spPr>
            <a:xfrm>
              <a:off x="1860804" y="4362450"/>
              <a:ext cx="1167232" cy="234696"/>
            </a:xfrm>
            <a:prstGeom prst="rect">
              <a:avLst/>
            </a:prstGeom>
            <a:noFill/>
            <a:ln>
              <a:noFill/>
            </a:ln>
          </p:spPr>
          <p:txBody>
            <a:bodyPr wrap="none" lIns="0" tIns="0" rIns="0" bIns="0" anchor="t" anchorCtr="0">
              <a:spAutoFit/>
            </a:bodyPr>
            <a:lstStyle/>
            <a:p>
              <a:pPr algn="l"/>
              <a:r>
                <a:rPr lang="ko-KR" sz="1200" dirty="0">
                  <a:solidFill>
                    <a:srgbClr val="4B5563"/>
                  </a:solidFill>
                  <a:latin typeface="+mn-lt"/>
                  <a:ea typeface="+mn-ea"/>
                  <a:cs typeface="+mn-cs"/>
                </a:rPr>
                <a:t>발견한 공동만 →</a:t>
              </a:r>
            </a:p>
          </p:txBody>
        </p:sp>
        <p:sp>
          <p:nvSpPr>
            <p:cNvPr id="41" name="TextBox 41"/>
            <p:cNvSpPr txBox="1"/>
            <p:nvPr/>
          </p:nvSpPr>
          <p:spPr>
            <a:xfrm>
              <a:off x="3232023" y="4362450"/>
              <a:ext cx="1699043" cy="250317"/>
            </a:xfrm>
            <a:prstGeom prst="rect">
              <a:avLst/>
            </a:prstGeom>
            <a:noFill/>
            <a:ln>
              <a:noFill/>
            </a:ln>
          </p:spPr>
          <p:txBody>
            <a:bodyPr wrap="none" lIns="0" tIns="0" rIns="0" bIns="0" anchor="t" anchorCtr="0">
              <a:spAutoFit/>
            </a:bodyPr>
            <a:lstStyle/>
            <a:p>
              <a:pPr algn="l"/>
              <a:r>
                <a:rPr lang="ko-KR" sz="1280" b="1" dirty="0">
                  <a:solidFill>
                    <a:srgbClr val="0B1E3C"/>
                  </a:solidFill>
                  <a:latin typeface="+mn-lt"/>
                  <a:ea typeface="+mn-ea"/>
                  <a:cs typeface="+mn-cs"/>
                </a:rPr>
                <a:t>‘이상 없음’ 구간까지</a:t>
              </a:r>
            </a:p>
          </p:txBody>
        </p:sp>
        <p:sp>
          <p:nvSpPr>
            <p:cNvPr id="42" name="TextBox 42"/>
            <p:cNvSpPr txBox="1"/>
            <p:nvPr/>
          </p:nvSpPr>
          <p:spPr>
            <a:xfrm>
              <a:off x="527304" y="4686300"/>
              <a:ext cx="706831" cy="234696"/>
            </a:xfrm>
            <a:prstGeom prst="rect">
              <a:avLst/>
            </a:prstGeom>
            <a:noFill/>
            <a:ln>
              <a:noFill/>
            </a:ln>
          </p:spPr>
          <p:txBody>
            <a:bodyPr wrap="none" lIns="0" tIns="0" rIns="0" bIns="0" anchor="t" anchorCtr="0">
              <a:spAutoFit/>
            </a:bodyPr>
            <a:lstStyle/>
            <a:p>
              <a:pPr algn="l"/>
              <a:r>
                <a:rPr lang="ko-KR" sz="1200" dirty="0">
                  <a:solidFill>
                    <a:srgbClr val="374151"/>
                  </a:solidFill>
                  <a:latin typeface="+mn-lt"/>
                  <a:ea typeface="+mn-ea"/>
                  <a:cs typeface="+mn-cs"/>
                </a:rPr>
                <a:t>판정 방식</a:t>
              </a:r>
            </a:p>
          </p:txBody>
        </p:sp>
        <p:sp>
          <p:nvSpPr>
            <p:cNvPr id="43" name="TextBox 43"/>
            <p:cNvSpPr txBox="1"/>
            <p:nvPr/>
          </p:nvSpPr>
          <p:spPr>
            <a:xfrm>
              <a:off x="1860804" y="4686300"/>
              <a:ext cx="1167232" cy="234696"/>
            </a:xfrm>
            <a:prstGeom prst="rect">
              <a:avLst/>
            </a:prstGeom>
            <a:noFill/>
            <a:ln>
              <a:noFill/>
            </a:ln>
          </p:spPr>
          <p:txBody>
            <a:bodyPr wrap="none" lIns="0" tIns="0" rIns="0" bIns="0" anchor="t" anchorCtr="0">
              <a:spAutoFit/>
            </a:bodyPr>
            <a:lstStyle/>
            <a:p>
              <a:pPr algn="l"/>
              <a:r>
                <a:rPr lang="ko-KR" sz="1200" dirty="0">
                  <a:solidFill>
                    <a:srgbClr val="4B5563"/>
                  </a:solidFill>
                  <a:latin typeface="+mn-lt"/>
                  <a:ea typeface="+mn-ea"/>
                  <a:cs typeface="+mn-cs"/>
                </a:rPr>
                <a:t>회차마다 판독 →</a:t>
              </a:r>
            </a:p>
          </p:txBody>
        </p:sp>
        <p:sp>
          <p:nvSpPr>
            <p:cNvPr id="44" name="TextBox 44"/>
            <p:cNvSpPr txBox="1"/>
            <p:nvPr/>
          </p:nvSpPr>
          <p:spPr>
            <a:xfrm>
              <a:off x="3232023" y="4686300"/>
              <a:ext cx="1672334" cy="250317"/>
            </a:xfrm>
            <a:prstGeom prst="rect">
              <a:avLst/>
            </a:prstGeom>
            <a:noFill/>
            <a:ln>
              <a:noFill/>
            </a:ln>
          </p:spPr>
          <p:txBody>
            <a:bodyPr wrap="none" lIns="0" tIns="0" rIns="0" bIns="0" anchor="t" anchorCtr="0">
              <a:spAutoFit/>
            </a:bodyPr>
            <a:lstStyle/>
            <a:p>
              <a:pPr algn="l"/>
              <a:r>
                <a:rPr lang="ko-KR" sz="1280" b="1" dirty="0">
                  <a:solidFill>
                    <a:srgbClr val="0B1E3C"/>
                  </a:solidFill>
                  <a:latin typeface="+mn-lt"/>
                  <a:ea typeface="+mn-ea"/>
                  <a:cs typeface="+mn-cs"/>
                </a:rPr>
                <a:t>지난 회차와의 차이만</a:t>
              </a:r>
            </a:p>
          </p:txBody>
        </p:sp>
        <p:sp>
          <p:nvSpPr>
            <p:cNvPr id="45" name="TextBox 45"/>
            <p:cNvSpPr txBox="1"/>
            <p:nvPr/>
          </p:nvSpPr>
          <p:spPr>
            <a:xfrm>
              <a:off x="527304" y="5010150"/>
              <a:ext cx="706831" cy="234696"/>
            </a:xfrm>
            <a:prstGeom prst="rect">
              <a:avLst/>
            </a:prstGeom>
            <a:noFill/>
            <a:ln>
              <a:noFill/>
            </a:ln>
          </p:spPr>
          <p:txBody>
            <a:bodyPr wrap="none" lIns="0" tIns="0" rIns="0" bIns="0" anchor="t" anchorCtr="0">
              <a:spAutoFit/>
            </a:bodyPr>
            <a:lstStyle/>
            <a:p>
              <a:pPr algn="l"/>
              <a:r>
                <a:rPr lang="ko-KR" sz="1200" dirty="0">
                  <a:solidFill>
                    <a:srgbClr val="374151"/>
                  </a:solidFill>
                  <a:latin typeface="+mn-lt"/>
                  <a:ea typeface="+mn-ea"/>
                  <a:cs typeface="+mn-cs"/>
                </a:rPr>
                <a:t>현장 확인</a:t>
              </a:r>
            </a:p>
          </p:txBody>
        </p:sp>
        <p:sp>
          <p:nvSpPr>
            <p:cNvPr id="46" name="TextBox 46"/>
            <p:cNvSpPr txBox="1"/>
            <p:nvPr/>
          </p:nvSpPr>
          <p:spPr>
            <a:xfrm>
              <a:off x="1860804" y="5010150"/>
              <a:ext cx="844144" cy="234696"/>
            </a:xfrm>
            <a:prstGeom prst="rect">
              <a:avLst/>
            </a:prstGeom>
            <a:noFill/>
            <a:ln>
              <a:noFill/>
            </a:ln>
          </p:spPr>
          <p:txBody>
            <a:bodyPr wrap="none" lIns="0" tIns="0" rIns="0" bIns="0" anchor="t" anchorCtr="0">
              <a:spAutoFit/>
            </a:bodyPr>
            <a:lstStyle/>
            <a:p>
              <a:pPr algn="l"/>
              <a:r>
                <a:rPr lang="ko-KR" sz="1200" dirty="0">
                  <a:solidFill>
                    <a:srgbClr val="4B5563"/>
                  </a:solidFill>
                  <a:latin typeface="+mn-lt"/>
                  <a:ea typeface="+mn-ea"/>
                  <a:cs typeface="+mn-cs"/>
                </a:rPr>
                <a:t>별도 발주 →</a:t>
              </a:r>
            </a:p>
          </p:txBody>
        </p:sp>
        <p:sp>
          <p:nvSpPr>
            <p:cNvPr id="47" name="TextBox 47"/>
            <p:cNvSpPr txBox="1"/>
            <p:nvPr/>
          </p:nvSpPr>
          <p:spPr>
            <a:xfrm>
              <a:off x="3232023" y="5010150"/>
              <a:ext cx="1327707" cy="250317"/>
            </a:xfrm>
            <a:prstGeom prst="rect">
              <a:avLst/>
            </a:prstGeom>
            <a:noFill/>
            <a:ln>
              <a:noFill/>
            </a:ln>
          </p:spPr>
          <p:txBody>
            <a:bodyPr wrap="none" lIns="0" tIns="0" rIns="0" bIns="0" anchor="t" anchorCtr="0">
              <a:spAutoFit/>
            </a:bodyPr>
            <a:lstStyle/>
            <a:p>
              <a:pPr algn="l"/>
              <a:r>
                <a:rPr lang="ko-KR" sz="1280" b="1" dirty="0">
                  <a:solidFill>
                    <a:srgbClr val="0B1E3C"/>
                  </a:solidFill>
                  <a:latin typeface="+mn-lt"/>
                  <a:ea typeface="+mn-ea"/>
                  <a:cs typeface="+mn-cs"/>
                </a:rPr>
                <a:t>같은 차에서 바로</a:t>
              </a:r>
            </a:p>
          </p:txBody>
        </p:sp>
        <p:sp>
          <p:nvSpPr>
            <p:cNvPr id="48" name="TextBox 48"/>
            <p:cNvSpPr txBox="1"/>
            <p:nvPr/>
          </p:nvSpPr>
          <p:spPr>
            <a:xfrm>
              <a:off x="528447" y="5324475"/>
              <a:ext cx="4376710" cy="191643"/>
            </a:xfrm>
            <a:prstGeom prst="rect">
              <a:avLst/>
            </a:prstGeom>
            <a:noFill/>
            <a:ln>
              <a:noFill/>
            </a:ln>
          </p:spPr>
          <p:txBody>
            <a:bodyPr wrap="none" lIns="0" tIns="0" rIns="0" bIns="0" anchor="t" anchorCtr="0">
              <a:spAutoFit/>
            </a:bodyPr>
            <a:lstStyle/>
            <a:p>
              <a:pPr algn="l"/>
              <a:r>
                <a:rPr lang="ko-KR" sz="980" dirty="0">
                  <a:solidFill>
                    <a:srgbClr val="4B5563"/>
                  </a:solidFill>
                  <a:latin typeface="+mn-lt"/>
                  <a:ea typeface="+mn-ea"/>
                  <a:cs typeface="+mn-cs"/>
                </a:rPr>
                <a:t>기존: 일본 후지사와시·지오서치 경과관찰, 국토교통성 연구(3개월 주기)</a:t>
              </a:r>
            </a:p>
          </p:txBody>
        </p:sp>
      </p:grpSp>
      <p:grpSp>
        <p:nvGrpSpPr>
          <p:cNvPr id="71" name="proof"/>
          <p:cNvGrpSpPr/>
          <p:nvPr/>
        </p:nvGrpSpPr>
        <p:grpSpPr>
          <a:xfrm>
            <a:off x="6318885" y="3924300"/>
            <a:ext cx="5339715" cy="1600200"/>
            <a:chOff x="6318885" y="3924300"/>
            <a:chExt cx="5339715" cy="1600200"/>
          </a:xfrm>
        </p:grpSpPr>
        <p:sp>
          <p:nvSpPr>
            <p:cNvPr id="50" name="Rectangle 50"/>
            <p:cNvSpPr/>
            <p:nvPr/>
          </p:nvSpPr>
          <p:spPr>
            <a:xfrm>
              <a:off x="6324600" y="3924300"/>
              <a:ext cx="5334000" cy="28575"/>
            </a:xfrm>
            <a:prstGeom prst="rect">
              <a:avLst/>
            </a:prstGeom>
            <a:solidFill>
              <a:srgbClr val="0B1E3C"/>
            </a:solidFill>
            <a:ln>
              <a:noFill/>
            </a:ln>
          </p:spPr>
        </p:sp>
        <p:sp>
          <p:nvSpPr>
            <p:cNvPr id="51" name="TextBox 51"/>
            <p:cNvSpPr txBox="1"/>
            <p:nvPr/>
          </p:nvSpPr>
          <p:spPr>
            <a:xfrm>
              <a:off x="6318885" y="4032250"/>
              <a:ext cx="3663563" cy="220028"/>
            </a:xfrm>
            <a:prstGeom prst="rect">
              <a:avLst/>
            </a:prstGeom>
            <a:noFill/>
            <a:ln>
              <a:noFill/>
            </a:ln>
          </p:spPr>
          <p:txBody>
            <a:bodyPr wrap="none" lIns="0" tIns="0" rIns="0" bIns="0" anchor="t" anchorCtr="0">
              <a:spAutoFit/>
            </a:bodyPr>
            <a:lstStyle/>
            <a:p>
              <a:pPr algn="l"/>
              <a:r>
                <a:rPr lang="ko-KR" sz="1120" b="1" dirty="0">
                  <a:solidFill>
                    <a:srgbClr val="B45309"/>
                  </a:solidFill>
                  <a:latin typeface="+mn-lt"/>
                  <a:ea typeface="+mn-ea"/>
                  <a:cs typeface="+mn-cs"/>
                </a:rPr>
                <a:t xml:space="preserve">검증 · 전자기 시뮬레이션 (실측 아님) </a:t>
              </a:r>
              <a:r>
                <a:rPr lang="ko-KR" sz="1120" dirty="0">
                  <a:solidFill>
                    <a:srgbClr val="4B5563"/>
                  </a:solidFill>
                  <a:latin typeface="+mn-lt"/>
                  <a:ea typeface="+mn-ea"/>
                  <a:cs typeface="+mn-cs"/>
                </a:rPr>
                <a:t>변화 신호 세기</a:t>
              </a:r>
            </a:p>
          </p:txBody>
        </p:sp>
        <p:sp>
          <p:nvSpPr>
            <p:cNvPr id="52" name="TextBox 52"/>
            <p:cNvSpPr txBox="1"/>
            <p:nvPr/>
          </p:nvSpPr>
          <p:spPr>
            <a:xfrm>
              <a:off x="6318885" y="4298950"/>
              <a:ext cx="1066851" cy="220028"/>
            </a:xfrm>
            <a:prstGeom prst="rect">
              <a:avLst/>
            </a:prstGeom>
            <a:noFill/>
            <a:ln>
              <a:noFill/>
            </a:ln>
          </p:spPr>
          <p:txBody>
            <a:bodyPr wrap="none" lIns="0" tIns="0" rIns="0" bIns="0" anchor="t" anchorCtr="0">
              <a:spAutoFit/>
            </a:bodyPr>
            <a:lstStyle/>
            <a:p>
              <a:pPr algn="l"/>
              <a:r>
                <a:rPr lang="ko-KR" sz="1120" dirty="0">
                  <a:solidFill>
                    <a:srgbClr val="374151"/>
                  </a:solidFill>
                  <a:latin typeface="+mn-lt"/>
                  <a:ea typeface="+mn-ea"/>
                  <a:cs typeface="+mn-cs"/>
                </a:rPr>
                <a:t>공동 20cm 성장</a:t>
              </a:r>
            </a:p>
          </p:txBody>
        </p:sp>
        <p:sp>
          <p:nvSpPr>
            <p:cNvPr id="53" name="Rectangle 53"/>
            <p:cNvSpPr/>
            <p:nvPr/>
          </p:nvSpPr>
          <p:spPr>
            <a:xfrm>
              <a:off x="7696200" y="4324350"/>
              <a:ext cx="3267075" cy="142875"/>
            </a:xfrm>
            <a:prstGeom prst="rect">
              <a:avLst/>
            </a:prstGeom>
            <a:solidFill>
              <a:srgbClr val="0B1E3C"/>
            </a:solidFill>
            <a:ln>
              <a:noFill/>
            </a:ln>
          </p:spPr>
        </p:sp>
        <p:sp>
          <p:nvSpPr>
            <p:cNvPr id="54" name="TextBox 54"/>
            <p:cNvSpPr txBox="1"/>
            <p:nvPr/>
          </p:nvSpPr>
          <p:spPr>
            <a:xfrm>
              <a:off x="11033760" y="4298950"/>
              <a:ext cx="272647" cy="220028"/>
            </a:xfrm>
            <a:prstGeom prst="rect">
              <a:avLst/>
            </a:prstGeom>
            <a:noFill/>
            <a:ln>
              <a:noFill/>
            </a:ln>
          </p:spPr>
          <p:txBody>
            <a:bodyPr wrap="none" lIns="0" tIns="0" rIns="0" bIns="0" anchor="t" anchorCtr="0">
              <a:spAutoFit/>
            </a:bodyPr>
            <a:lstStyle/>
            <a:p>
              <a:pPr algn="l"/>
              <a:r>
                <a:rPr lang="ko-KR" sz="1120" b="1" dirty="0">
                  <a:solidFill>
                    <a:srgbClr val="111827"/>
                  </a:solidFill>
                  <a:latin typeface="+mn-lt"/>
                  <a:ea typeface="+mn-ea"/>
                  <a:cs typeface="+mn-cs"/>
                </a:rPr>
                <a:t>2.9</a:t>
              </a:r>
            </a:p>
          </p:txBody>
        </p:sp>
        <p:sp>
          <p:nvSpPr>
            <p:cNvPr id="55" name="TextBox 55"/>
            <p:cNvSpPr txBox="1"/>
            <p:nvPr/>
          </p:nvSpPr>
          <p:spPr>
            <a:xfrm>
              <a:off x="6318885" y="4498975"/>
              <a:ext cx="1066851" cy="220028"/>
            </a:xfrm>
            <a:prstGeom prst="rect">
              <a:avLst/>
            </a:prstGeom>
            <a:noFill/>
            <a:ln>
              <a:noFill/>
            </a:ln>
          </p:spPr>
          <p:txBody>
            <a:bodyPr wrap="none" lIns="0" tIns="0" rIns="0" bIns="0" anchor="t" anchorCtr="0">
              <a:spAutoFit/>
            </a:bodyPr>
            <a:lstStyle/>
            <a:p>
              <a:pPr algn="l"/>
              <a:r>
                <a:rPr lang="ko-KR" sz="1120" dirty="0">
                  <a:solidFill>
                    <a:srgbClr val="374151"/>
                  </a:solidFill>
                  <a:latin typeface="+mn-lt"/>
                  <a:ea typeface="+mn-ea"/>
                  <a:cs typeface="+mn-cs"/>
                </a:rPr>
                <a:t>공동 10cm 성장</a:t>
              </a:r>
            </a:p>
          </p:txBody>
        </p:sp>
        <p:sp>
          <p:nvSpPr>
            <p:cNvPr id="56" name="Rectangle 56"/>
            <p:cNvSpPr/>
            <p:nvPr/>
          </p:nvSpPr>
          <p:spPr>
            <a:xfrm>
              <a:off x="7696200" y="4524375"/>
              <a:ext cx="2790825" cy="142875"/>
            </a:xfrm>
            <a:prstGeom prst="rect">
              <a:avLst/>
            </a:prstGeom>
            <a:solidFill>
              <a:srgbClr val="0B1E3C"/>
            </a:solidFill>
            <a:ln>
              <a:noFill/>
            </a:ln>
          </p:spPr>
        </p:sp>
        <p:sp>
          <p:nvSpPr>
            <p:cNvPr id="57" name="TextBox 57"/>
            <p:cNvSpPr txBox="1"/>
            <p:nvPr/>
          </p:nvSpPr>
          <p:spPr>
            <a:xfrm>
              <a:off x="10557510" y="4498975"/>
              <a:ext cx="272647" cy="220028"/>
            </a:xfrm>
            <a:prstGeom prst="rect">
              <a:avLst/>
            </a:prstGeom>
            <a:noFill/>
            <a:ln>
              <a:noFill/>
            </a:ln>
          </p:spPr>
          <p:txBody>
            <a:bodyPr wrap="none" lIns="0" tIns="0" rIns="0" bIns="0" anchor="t" anchorCtr="0">
              <a:spAutoFit/>
            </a:bodyPr>
            <a:lstStyle/>
            <a:p>
              <a:pPr algn="l"/>
              <a:r>
                <a:rPr lang="ko-KR" sz="1120" b="1" dirty="0">
                  <a:solidFill>
                    <a:srgbClr val="111827"/>
                  </a:solidFill>
                  <a:latin typeface="+mn-lt"/>
                  <a:ea typeface="+mn-ea"/>
                  <a:cs typeface="+mn-cs"/>
                </a:rPr>
                <a:t>2.4</a:t>
              </a:r>
            </a:p>
          </p:txBody>
        </p:sp>
        <p:sp>
          <p:nvSpPr>
            <p:cNvPr id="58" name="TextBox 58"/>
            <p:cNvSpPr txBox="1"/>
            <p:nvPr/>
          </p:nvSpPr>
          <p:spPr>
            <a:xfrm>
              <a:off x="6318885" y="4699000"/>
              <a:ext cx="983925" cy="220028"/>
            </a:xfrm>
            <a:prstGeom prst="rect">
              <a:avLst/>
            </a:prstGeom>
            <a:noFill/>
            <a:ln>
              <a:noFill/>
            </a:ln>
          </p:spPr>
          <p:txBody>
            <a:bodyPr wrap="none" lIns="0" tIns="0" rIns="0" bIns="0" anchor="t" anchorCtr="0">
              <a:spAutoFit/>
            </a:bodyPr>
            <a:lstStyle/>
            <a:p>
              <a:pPr algn="l"/>
              <a:r>
                <a:rPr lang="ko-KR" sz="1120" dirty="0">
                  <a:solidFill>
                    <a:srgbClr val="374151"/>
                  </a:solidFill>
                  <a:latin typeface="+mn-lt"/>
                  <a:ea typeface="+mn-ea"/>
                  <a:cs typeface="+mn-cs"/>
                </a:rPr>
                <a:t>공동 5cm 성장</a:t>
              </a:r>
            </a:p>
          </p:txBody>
        </p:sp>
        <p:sp>
          <p:nvSpPr>
            <p:cNvPr id="59" name="Rectangle 59"/>
            <p:cNvSpPr/>
            <p:nvPr/>
          </p:nvSpPr>
          <p:spPr>
            <a:xfrm>
              <a:off x="7696200" y="4724400"/>
              <a:ext cx="1552575" cy="142875"/>
            </a:xfrm>
            <a:prstGeom prst="rect">
              <a:avLst/>
            </a:prstGeom>
            <a:solidFill>
              <a:srgbClr val="B45309"/>
            </a:solidFill>
            <a:ln>
              <a:noFill/>
            </a:ln>
          </p:spPr>
        </p:sp>
        <p:sp>
          <p:nvSpPr>
            <p:cNvPr id="60" name="TextBox 60"/>
            <p:cNvSpPr txBox="1"/>
            <p:nvPr/>
          </p:nvSpPr>
          <p:spPr>
            <a:xfrm>
              <a:off x="9319260" y="4699000"/>
              <a:ext cx="272647" cy="220028"/>
            </a:xfrm>
            <a:prstGeom prst="rect">
              <a:avLst/>
            </a:prstGeom>
            <a:noFill/>
            <a:ln>
              <a:noFill/>
            </a:ln>
          </p:spPr>
          <p:txBody>
            <a:bodyPr wrap="none" lIns="0" tIns="0" rIns="0" bIns="0" anchor="t" anchorCtr="0">
              <a:spAutoFit/>
            </a:bodyPr>
            <a:lstStyle/>
            <a:p>
              <a:pPr algn="l"/>
              <a:r>
                <a:rPr lang="ko-KR" sz="1120" b="1" dirty="0">
                  <a:solidFill>
                    <a:srgbClr val="111827"/>
                  </a:solidFill>
                  <a:latin typeface="+mn-lt"/>
                  <a:ea typeface="+mn-ea"/>
                  <a:cs typeface="+mn-cs"/>
                </a:rPr>
                <a:t>1.4</a:t>
              </a:r>
            </a:p>
          </p:txBody>
        </p:sp>
        <p:sp>
          <p:nvSpPr>
            <p:cNvPr id="61" name="TextBox 61"/>
            <p:cNvSpPr txBox="1"/>
            <p:nvPr/>
          </p:nvSpPr>
          <p:spPr>
            <a:xfrm>
              <a:off x="6318885" y="4899025"/>
              <a:ext cx="1285474" cy="220028"/>
            </a:xfrm>
            <a:prstGeom prst="rect">
              <a:avLst/>
            </a:prstGeom>
            <a:noFill/>
            <a:ln>
              <a:noFill/>
            </a:ln>
          </p:spPr>
          <p:txBody>
            <a:bodyPr wrap="none" lIns="0" tIns="0" rIns="0" bIns="0" anchor="t" anchorCtr="0">
              <a:spAutoFit/>
            </a:bodyPr>
            <a:lstStyle/>
            <a:p>
              <a:pPr algn="l"/>
              <a:r>
                <a:rPr lang="ko-KR" sz="1120" dirty="0">
                  <a:solidFill>
                    <a:srgbClr val="374151"/>
                  </a:solidFill>
                  <a:latin typeface="+mn-lt"/>
                  <a:ea typeface="+mn-ea"/>
                  <a:cs typeface="+mn-cs"/>
                </a:rPr>
                <a:t>주행선 8cm 어긋남</a:t>
              </a:r>
            </a:p>
          </p:txBody>
        </p:sp>
        <p:sp>
          <p:nvSpPr>
            <p:cNvPr id="62" name="Rectangle 62"/>
            <p:cNvSpPr/>
            <p:nvPr/>
          </p:nvSpPr>
          <p:spPr>
            <a:xfrm>
              <a:off x="7696200" y="4924425"/>
              <a:ext cx="1143000" cy="142875"/>
            </a:xfrm>
            <a:prstGeom prst="rect">
              <a:avLst/>
            </a:prstGeom>
            <a:solidFill>
              <a:srgbClr val="C62828"/>
            </a:solidFill>
            <a:ln>
              <a:noFill/>
            </a:ln>
          </p:spPr>
        </p:sp>
        <p:sp>
          <p:nvSpPr>
            <p:cNvPr id="63" name="TextBox 63"/>
            <p:cNvSpPr txBox="1"/>
            <p:nvPr/>
          </p:nvSpPr>
          <p:spPr>
            <a:xfrm>
              <a:off x="8909685" y="4899025"/>
              <a:ext cx="272647" cy="220028"/>
            </a:xfrm>
            <a:prstGeom prst="rect">
              <a:avLst/>
            </a:prstGeom>
            <a:noFill/>
            <a:ln>
              <a:noFill/>
            </a:ln>
          </p:spPr>
          <p:txBody>
            <a:bodyPr wrap="none" lIns="0" tIns="0" rIns="0" bIns="0" anchor="t" anchorCtr="0">
              <a:spAutoFit/>
            </a:bodyPr>
            <a:lstStyle/>
            <a:p>
              <a:pPr algn="l"/>
              <a:r>
                <a:rPr lang="ko-KR" sz="1120" b="1" dirty="0">
                  <a:solidFill>
                    <a:srgbClr val="111827"/>
                  </a:solidFill>
                  <a:latin typeface="+mn-lt"/>
                  <a:ea typeface="+mn-ea"/>
                  <a:cs typeface="+mn-cs"/>
                </a:rPr>
                <a:t>1.0</a:t>
              </a:r>
            </a:p>
          </p:txBody>
        </p:sp>
        <p:sp>
          <p:nvSpPr>
            <p:cNvPr id="64" name="TextBox 64"/>
            <p:cNvSpPr txBox="1"/>
            <p:nvPr/>
          </p:nvSpPr>
          <p:spPr>
            <a:xfrm>
              <a:off x="6318885" y="5099050"/>
              <a:ext cx="810534" cy="220028"/>
            </a:xfrm>
            <a:prstGeom prst="rect">
              <a:avLst/>
            </a:prstGeom>
            <a:noFill/>
            <a:ln>
              <a:noFill/>
            </a:ln>
          </p:spPr>
          <p:txBody>
            <a:bodyPr wrap="none" lIns="0" tIns="0" rIns="0" bIns="0" anchor="t" anchorCtr="0">
              <a:spAutoFit/>
            </a:bodyPr>
            <a:lstStyle/>
            <a:p>
              <a:pPr algn="l"/>
              <a:r>
                <a:rPr lang="ko-KR" sz="1120" dirty="0">
                  <a:solidFill>
                    <a:srgbClr val="374151"/>
                  </a:solidFill>
                  <a:latin typeface="+mn-lt"/>
                  <a:ea typeface="+mn-ea"/>
                  <a:cs typeface="+mn-cs"/>
                </a:rPr>
                <a:t>함수비 변화</a:t>
              </a:r>
            </a:p>
          </p:txBody>
        </p:sp>
        <p:sp>
          <p:nvSpPr>
            <p:cNvPr id="65" name="Rectangle 65"/>
            <p:cNvSpPr/>
            <p:nvPr/>
          </p:nvSpPr>
          <p:spPr>
            <a:xfrm>
              <a:off x="7696200" y="5124450"/>
              <a:ext cx="923925" cy="142875"/>
            </a:xfrm>
            <a:prstGeom prst="rect">
              <a:avLst/>
            </a:prstGeom>
            <a:solidFill>
              <a:srgbClr val="4B5563"/>
            </a:solidFill>
            <a:ln>
              <a:noFill/>
            </a:ln>
          </p:spPr>
        </p:sp>
        <p:sp>
          <p:nvSpPr>
            <p:cNvPr id="66" name="TextBox 66"/>
            <p:cNvSpPr txBox="1"/>
            <p:nvPr/>
          </p:nvSpPr>
          <p:spPr>
            <a:xfrm>
              <a:off x="8909685" y="5099050"/>
              <a:ext cx="272647" cy="220028"/>
            </a:xfrm>
            <a:prstGeom prst="rect">
              <a:avLst/>
            </a:prstGeom>
            <a:noFill/>
            <a:ln>
              <a:noFill/>
            </a:ln>
          </p:spPr>
          <p:txBody>
            <a:bodyPr wrap="none" lIns="0" tIns="0" rIns="0" bIns="0" anchor="t" anchorCtr="0">
              <a:spAutoFit/>
            </a:bodyPr>
            <a:lstStyle/>
            <a:p>
              <a:pPr algn="l"/>
              <a:r>
                <a:rPr lang="ko-KR" sz="1120" b="1" dirty="0">
                  <a:solidFill>
                    <a:srgbClr val="111827"/>
                  </a:solidFill>
                  <a:latin typeface="+mn-lt"/>
                  <a:ea typeface="+mn-ea"/>
                  <a:cs typeface="+mn-cs"/>
                </a:rPr>
                <a:t>0.8</a:t>
              </a:r>
            </a:p>
          </p:txBody>
        </p:sp>
        <p:sp>
          <p:nvSpPr>
            <p:cNvPr id="67" name="TextBox 67"/>
            <p:cNvSpPr txBox="1"/>
            <p:nvPr/>
          </p:nvSpPr>
          <p:spPr>
            <a:xfrm>
              <a:off x="6318885" y="5299075"/>
              <a:ext cx="463753" cy="220028"/>
            </a:xfrm>
            <a:prstGeom prst="rect">
              <a:avLst/>
            </a:prstGeom>
            <a:noFill/>
            <a:ln>
              <a:noFill/>
            </a:ln>
          </p:spPr>
          <p:txBody>
            <a:bodyPr wrap="none" lIns="0" tIns="0" rIns="0" bIns="0" anchor="t" anchorCtr="0">
              <a:spAutoFit/>
            </a:bodyPr>
            <a:lstStyle/>
            <a:p>
              <a:pPr algn="l"/>
              <a:r>
                <a:rPr lang="ko-KR" sz="1120" dirty="0">
                  <a:solidFill>
                    <a:srgbClr val="374151"/>
                  </a:solidFill>
                  <a:latin typeface="+mn-lt"/>
                  <a:ea typeface="+mn-ea"/>
                  <a:cs typeface="+mn-cs"/>
                </a:rPr>
                <a:t>재포장</a:t>
              </a:r>
            </a:p>
          </p:txBody>
        </p:sp>
        <p:sp>
          <p:nvSpPr>
            <p:cNvPr id="68" name="Rectangle 68"/>
            <p:cNvSpPr/>
            <p:nvPr/>
          </p:nvSpPr>
          <p:spPr>
            <a:xfrm>
              <a:off x="7696200" y="5324475"/>
              <a:ext cx="381000" cy="142875"/>
            </a:xfrm>
            <a:prstGeom prst="rect">
              <a:avLst/>
            </a:prstGeom>
            <a:solidFill>
              <a:srgbClr val="4B5563"/>
            </a:solidFill>
            <a:ln>
              <a:noFill/>
            </a:ln>
          </p:spPr>
        </p:sp>
        <p:sp>
          <p:nvSpPr>
            <p:cNvPr id="69" name="TextBox 69"/>
            <p:cNvSpPr txBox="1"/>
            <p:nvPr/>
          </p:nvSpPr>
          <p:spPr>
            <a:xfrm>
              <a:off x="8909685" y="5299075"/>
              <a:ext cx="272647" cy="220028"/>
            </a:xfrm>
            <a:prstGeom prst="rect">
              <a:avLst/>
            </a:prstGeom>
            <a:noFill/>
            <a:ln>
              <a:noFill/>
            </a:ln>
          </p:spPr>
          <p:txBody>
            <a:bodyPr wrap="none" lIns="0" tIns="0" rIns="0" bIns="0" anchor="t" anchorCtr="0">
              <a:spAutoFit/>
            </a:bodyPr>
            <a:lstStyle/>
            <a:p>
              <a:pPr algn="l"/>
              <a:r>
                <a:rPr lang="ko-KR" sz="1120" b="1" dirty="0">
                  <a:solidFill>
                    <a:srgbClr val="111827"/>
                  </a:solidFill>
                  <a:latin typeface="+mn-lt"/>
                  <a:ea typeface="+mn-ea"/>
                  <a:cs typeface="+mn-cs"/>
                </a:rPr>
                <a:t>0.3</a:t>
              </a:r>
            </a:p>
          </p:txBody>
        </p:sp>
        <p:sp>
          <p:nvSpPr>
            <p:cNvPr id="70" name="Line 70"/>
            <p:cNvSpPr/>
            <p:nvPr/>
          </p:nvSpPr>
          <p:spPr>
            <a:xfrm>
              <a:off x="8839200" y="4286250"/>
              <a:ext cx="9525" cy="1238250"/>
            </a:xfrm>
            <a:custGeom>
              <a:avLst/>
              <a:gdLst/>
              <a:ahLst/>
              <a:cxnLst/>
              <a:rect l="l" t="t" r="r" b="b"/>
              <a:pathLst>
                <a:path w="9525" h="1238250">
                  <a:moveTo>
                    <a:pt x="0" y="0"/>
                  </a:moveTo>
                  <a:lnTo>
                    <a:pt x="0" y="1238250"/>
                  </a:lnTo>
                </a:path>
              </a:pathLst>
            </a:custGeom>
            <a:noFill/>
            <a:ln w="14288">
              <a:solidFill>
                <a:srgbClr val="C62828"/>
              </a:solidFill>
              <a:custDash>
                <a:ds d="266667" sp="200000"/>
              </a:custDash>
            </a:ln>
          </p:spPr>
        </p:sp>
      </p:grpSp>
      <p:grpSp>
        <p:nvGrpSpPr>
          <p:cNvPr id="74" name="conclusion"/>
          <p:cNvGrpSpPr/>
          <p:nvPr/>
        </p:nvGrpSpPr>
        <p:grpSpPr>
          <a:xfrm>
            <a:off x="533400" y="5676900"/>
            <a:ext cx="9170702" cy="419100"/>
            <a:chOff x="533400" y="5676900"/>
            <a:chExt cx="9170702" cy="419100"/>
          </a:xfrm>
        </p:grpSpPr>
        <p:sp>
          <p:nvSpPr>
            <p:cNvPr id="72" name="Rectangle 72"/>
            <p:cNvSpPr/>
            <p:nvPr/>
          </p:nvSpPr>
          <p:spPr>
            <a:xfrm>
              <a:off x="533400" y="5676900"/>
              <a:ext cx="38100" cy="419100"/>
            </a:xfrm>
            <a:prstGeom prst="rect">
              <a:avLst/>
            </a:prstGeom>
            <a:solidFill>
              <a:srgbClr val="F5B700"/>
            </a:solidFill>
            <a:ln>
              <a:noFill/>
            </a:ln>
          </p:spPr>
        </p:sp>
        <p:sp>
          <p:nvSpPr>
            <p:cNvPr id="73" name="TextBox 73"/>
            <p:cNvSpPr txBox="1"/>
            <p:nvPr/>
          </p:nvSpPr>
          <p:spPr>
            <a:xfrm>
              <a:off x="715899" y="5772150"/>
              <a:ext cx="8988203" cy="308991"/>
            </a:xfrm>
            <a:prstGeom prst="rect">
              <a:avLst/>
            </a:prstGeom>
            <a:noFill/>
            <a:ln>
              <a:noFill/>
            </a:ln>
          </p:spPr>
          <p:txBody>
            <a:bodyPr wrap="none" lIns="0" tIns="0" rIns="0" bIns="0" anchor="t" anchorCtr="0">
              <a:spAutoFit/>
            </a:bodyPr>
            <a:lstStyle/>
            <a:p>
              <a:pPr algn="l"/>
              <a:r>
                <a:rPr lang="ko-KR" sz="1580" b="1" dirty="0">
                  <a:solidFill>
                    <a:srgbClr val="0B1E3C"/>
                  </a:solidFill>
                  <a:latin typeface="+mn-lt"/>
                  <a:ea typeface="+mn-ea"/>
                  <a:cs typeface="+mn-cs"/>
                </a:rPr>
                <a:t>10cm 이상 자란 공동은 오탐 요인의 2배 넘는 신호, 5cm는 경계 — 주행선 정합이 관건입니다.</a:t>
              </a:r>
            </a:p>
          </p:txBody>
        </p:sp>
      </p:grpSp>
      <p:grpSp>
        <p:nvGrpSpPr>
          <p:cNvPr id="76" name="source"/>
          <p:cNvGrpSpPr/>
          <p:nvPr/>
        </p:nvGrpSpPr>
        <p:grpSpPr>
          <a:xfrm>
            <a:off x="528447" y="6381750"/>
            <a:ext cx="10106309" cy="191643"/>
            <a:chOff x="528447" y="6381750"/>
            <a:chExt cx="10106309" cy="191643"/>
          </a:xfrm>
        </p:grpSpPr>
        <p:sp>
          <p:nvSpPr>
            <p:cNvPr id="75" name="TextBox 75"/>
            <p:cNvSpPr txBox="1"/>
            <p:nvPr/>
          </p:nvSpPr>
          <p:spPr>
            <a:xfrm>
              <a:off x="528447" y="6381750"/>
              <a:ext cx="10106309" cy="191643"/>
            </a:xfrm>
            <a:prstGeom prst="rect">
              <a:avLst/>
            </a:prstGeom>
            <a:noFill/>
            <a:ln>
              <a:noFill/>
            </a:ln>
          </p:spPr>
          <p:txBody>
            <a:bodyPr wrap="none" lIns="0" tIns="0" rIns="0" bIns="0" anchor="t" anchorCtr="0">
              <a:spAutoFit/>
            </a:bodyPr>
            <a:lstStyle/>
            <a:p>
              <a:pPr algn="l"/>
              <a:r>
                <a:rPr lang="ko-KR" sz="980" dirty="0">
                  <a:solidFill>
                    <a:srgbClr val="4B5563"/>
                  </a:solidFill>
                  <a:latin typeface="+mn-lt"/>
                  <a:ea typeface="+mn-ea"/>
                  <a:cs typeface="+mn-cs"/>
                </a:rPr>
                <a:t>시뮬레이션: 2D 전자기 파동 계산(FDTD) · 400MHz · Ø0.8m 하수관 위 공동 반경 18cm 기준 · 세기 = 회차 차분 에너지 ÷ 가장 큰 오탐 요인 · 판정은 전문가, 확정은 천공</a:t>
              </a:r>
            </a:p>
          </p:txBody>
        </p:sp>
      </p:grpSp>
      <p:grpSp>
        <p:nvGrpSpPr>
          <p:cNvPr id="79" name="footer"/>
          <p:cNvGrpSpPr/>
          <p:nvPr/>
        </p:nvGrpSpPr>
        <p:grpSpPr>
          <a:xfrm>
            <a:off x="528638" y="6610350"/>
            <a:ext cx="11134724" cy="176212"/>
            <a:chOff x="528638" y="6610350"/>
            <a:chExt cx="11134724" cy="176212"/>
          </a:xfrm>
        </p:grpSpPr>
        <p:sp>
          <p:nvSpPr>
            <p:cNvPr id="77" name="TextBox 77"/>
            <p:cNvSpPr txBox="1"/>
            <p:nvPr/>
          </p:nvSpPr>
          <p:spPr>
            <a:xfrm>
              <a:off x="528638" y="6610350"/>
              <a:ext cx="1020324" cy="176212"/>
            </a:xfrm>
            <a:prstGeom prst="rect">
              <a:avLst/>
            </a:prstGeom>
            <a:noFill/>
            <a:ln>
              <a:noFill/>
            </a:ln>
          </p:spPr>
          <p:txBody>
            <a:bodyPr wrap="none" lIns="0" tIns="0" rIns="0" bIns="0" anchor="t" anchorCtr="0">
              <a:spAutoFit/>
            </a:bodyPr>
            <a:lstStyle/>
            <a:p>
              <a:pPr algn="l"/>
              <a:r>
                <a:rPr lang="en-US" sz="900" dirty="0">
                  <a:solidFill>
                    <a:srgbClr val="4B5563"/>
                  </a:solidFill>
                  <a:latin typeface="+mn-lt"/>
                  <a:ea typeface="+mn-ea"/>
                  <a:cs typeface="+mn-cs"/>
                </a:rPr>
                <a:t>PV5 GroundWatch</a:t>
              </a:r>
            </a:p>
          </p:txBody>
        </p:sp>
        <p:sp>
          <p:nvSpPr>
            <p:cNvPr id="78" name="TextBox 78"/>
            <p:cNvSpPr txBox="1"/>
            <p:nvPr/>
          </p:nvSpPr>
          <p:spPr>
            <a:xfrm>
              <a:off x="11247958" y="6610350"/>
              <a:ext cx="415404" cy="176212"/>
            </a:xfrm>
            <a:prstGeom prst="rect">
              <a:avLst/>
            </a:prstGeom>
            <a:noFill/>
            <a:ln>
              <a:noFill/>
            </a:ln>
          </p:spPr>
          <p:txBody>
            <a:bodyPr wrap="none" lIns="0" tIns="0" rIns="0" bIns="0" anchor="t" anchorCtr="0">
              <a:spAutoFit/>
            </a:bodyPr>
            <a:lstStyle/>
            <a:p>
              <a:pPr algn="r"/>
              <a:r>
                <a:rPr lang="ko-KR" sz="900" dirty="0">
                  <a:solidFill>
                    <a:srgbClr val="4B5563"/>
                  </a:solidFill>
                  <a:latin typeface="+mn-lt"/>
                  <a:ea typeface="+mn-ea"/>
                  <a:cs typeface="+mn-cs"/>
                </a:rPr>
                <a:t>07 / 15</a:t>
              </a:r>
            </a:p>
          </p:txBody>
        </p:sp>
      </p:grpSp>
    </p:spTree>
  </p:cSld>
  <p:clrMapOvr>
    <a:masterClrMapping/>
  </p:clrMapOvr>
  <p:transition xmlns:p14="http://schemas.microsoft.com/office/powerpoint/2010/main" p14:dur="400">
    <p:fade/>
  </p:transition>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grpSp>
        <p:nvGrpSpPr>
          <p:cNvPr id="16" name="header"/>
          <p:cNvGrpSpPr/>
          <p:nvPr/>
        </p:nvGrpSpPr>
        <p:grpSpPr>
          <a:xfrm>
            <a:off x="533400" y="266700"/>
            <a:ext cx="11125200" cy="333375"/>
            <a:chOff x="533400" y="266700"/>
            <a:chExt cx="11125200" cy="333375"/>
          </a:xfrm>
        </p:grpSpPr>
        <p:sp>
          <p:nvSpPr>
            <p:cNvPr id="2" name="Rectangle 2"/>
            <p:cNvSpPr/>
            <p:nvPr/>
          </p:nvSpPr>
          <p:spPr>
            <a:xfrm>
              <a:off x="533400" y="266700"/>
              <a:ext cx="1333500" cy="228600"/>
            </a:xfrm>
            <a:prstGeom prst="rect">
              <a:avLst/>
            </a:prstGeom>
            <a:solidFill>
              <a:srgbClr val="0B1E3C"/>
            </a:solidFill>
            <a:ln>
              <a:noFill/>
            </a:ln>
          </p:spPr>
        </p:sp>
        <p:sp>
          <p:nvSpPr>
            <p:cNvPr id="3" name="TextBox 3"/>
            <p:cNvSpPr txBox="1"/>
            <p:nvPr/>
          </p:nvSpPr>
          <p:spPr>
            <a:xfrm>
              <a:off x="617357" y="314325"/>
              <a:ext cx="1165586" cy="191643"/>
            </a:xfrm>
            <a:prstGeom prst="rect">
              <a:avLst/>
            </a:prstGeom>
            <a:noFill/>
            <a:ln>
              <a:noFill/>
            </a:ln>
          </p:spPr>
          <p:txBody>
            <a:bodyPr wrap="none" lIns="0" tIns="0" rIns="0" bIns="0" anchor="t" anchorCtr="0">
              <a:spAutoFit/>
            </a:bodyPr>
            <a:lstStyle/>
            <a:p>
              <a:pPr algn="ctr"/>
              <a:r>
                <a:rPr lang="en-US" sz="980" b="1" dirty="0">
                  <a:solidFill>
                    <a:srgbClr val="FFFFFF"/>
                  </a:solidFill>
                  <a:latin typeface="+mn-lt"/>
                  <a:ea typeface="+mn-ea"/>
                  <a:cs typeface="+mn-cs"/>
                </a:rPr>
                <a:t>PV5 GroundWatch</a:t>
              </a:r>
            </a:p>
          </p:txBody>
        </p:sp>
        <p:sp>
          <p:nvSpPr>
            <p:cNvPr id="4" name="TextBox 4"/>
            <p:cNvSpPr txBox="1"/>
            <p:nvPr/>
          </p:nvSpPr>
          <p:spPr>
            <a:xfrm>
              <a:off x="1994916" y="301625"/>
              <a:ext cx="759828" cy="205359"/>
            </a:xfrm>
            <a:prstGeom prst="rect">
              <a:avLst/>
            </a:prstGeom>
            <a:noFill/>
            <a:ln>
              <a:noFill/>
            </a:ln>
          </p:spPr>
          <p:txBody>
            <a:bodyPr wrap="none" lIns="0" tIns="0" rIns="0" bIns="0" anchor="t" anchorCtr="0">
              <a:spAutoFit/>
            </a:bodyPr>
            <a:lstStyle/>
            <a:p>
              <a:pPr algn="l"/>
              <a:r>
                <a:rPr lang="ko-KR" sz="1050" dirty="0">
                  <a:solidFill>
                    <a:srgbClr val="374151"/>
                  </a:solidFill>
                  <a:latin typeface="+mn-lt"/>
                  <a:ea typeface="+mn-ea"/>
                  <a:cs typeface="+mn-cs"/>
                </a:rPr>
                <a:t>현장 재확인</a:t>
              </a:r>
            </a:p>
          </p:txBody>
        </p:sp>
        <p:sp>
          <p:nvSpPr>
            <p:cNvPr id="5" name="TextBox 5"/>
            <p:cNvSpPr txBox="1"/>
            <p:nvPr/>
          </p:nvSpPr>
          <p:spPr>
            <a:xfrm>
              <a:off x="8425815" y="301625"/>
              <a:ext cx="293370" cy="205359"/>
            </a:xfrm>
            <a:prstGeom prst="rect">
              <a:avLst/>
            </a:prstGeom>
            <a:noFill/>
            <a:ln>
              <a:noFill/>
            </a:ln>
          </p:spPr>
          <p:txBody>
            <a:bodyPr wrap="none" lIns="0" tIns="0" rIns="0" bIns="0" anchor="t" anchorCtr="0">
              <a:spAutoFit/>
            </a:bodyPr>
            <a:lstStyle/>
            <a:p>
              <a:pPr algn="ctr"/>
              <a:r>
                <a:rPr lang="ko-KR" sz="1050" dirty="0">
                  <a:solidFill>
                    <a:srgbClr val="9AA3AF"/>
                  </a:solidFill>
                  <a:latin typeface="+mn-lt"/>
                  <a:ea typeface="+mn-ea"/>
                  <a:cs typeface="+mn-cs"/>
                </a:rPr>
                <a:t>문제</a:t>
              </a:r>
            </a:p>
          </p:txBody>
        </p:sp>
        <p:sp>
          <p:nvSpPr>
            <p:cNvPr id="6" name="TextBox 6"/>
            <p:cNvSpPr txBox="1"/>
            <p:nvPr/>
          </p:nvSpPr>
          <p:spPr>
            <a:xfrm>
              <a:off x="884874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7" name="TextBox 7"/>
            <p:cNvSpPr txBox="1"/>
            <p:nvPr/>
          </p:nvSpPr>
          <p:spPr>
            <a:xfrm>
              <a:off x="9054465" y="301625"/>
              <a:ext cx="293370" cy="205359"/>
            </a:xfrm>
            <a:prstGeom prst="rect">
              <a:avLst/>
            </a:prstGeom>
            <a:noFill/>
            <a:ln>
              <a:noFill/>
            </a:ln>
          </p:spPr>
          <p:txBody>
            <a:bodyPr wrap="none" lIns="0" tIns="0" rIns="0" bIns="0" anchor="t" anchorCtr="0">
              <a:spAutoFit/>
            </a:bodyPr>
            <a:lstStyle/>
            <a:p>
              <a:pPr algn="ctr"/>
              <a:r>
                <a:rPr lang="ko-KR" sz="1050" b="1" dirty="0">
                  <a:solidFill>
                    <a:srgbClr val="0B1E3C"/>
                  </a:solidFill>
                  <a:latin typeface="+mn-lt"/>
                  <a:ea typeface="+mn-ea"/>
                  <a:cs typeface="+mn-cs"/>
                </a:rPr>
                <a:t>해법</a:t>
              </a:r>
            </a:p>
          </p:txBody>
        </p:sp>
        <p:sp>
          <p:nvSpPr>
            <p:cNvPr id="8" name="Rectangle 8"/>
            <p:cNvSpPr/>
            <p:nvPr/>
          </p:nvSpPr>
          <p:spPr>
            <a:xfrm>
              <a:off x="8972550" y="514350"/>
              <a:ext cx="457200" cy="28575"/>
            </a:xfrm>
            <a:prstGeom prst="rect">
              <a:avLst/>
            </a:prstGeom>
            <a:solidFill>
              <a:srgbClr val="F5B700"/>
            </a:solidFill>
            <a:ln>
              <a:noFill/>
            </a:ln>
          </p:spPr>
        </p:sp>
        <p:sp>
          <p:nvSpPr>
            <p:cNvPr id="9" name="TextBox 9"/>
            <p:cNvSpPr txBox="1"/>
            <p:nvPr/>
          </p:nvSpPr>
          <p:spPr>
            <a:xfrm>
              <a:off x="947739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10" name="TextBox 10"/>
            <p:cNvSpPr txBox="1"/>
            <p:nvPr/>
          </p:nvSpPr>
          <p:spPr>
            <a:xfrm>
              <a:off x="9701251" y="301625"/>
              <a:ext cx="257099" cy="205359"/>
            </a:xfrm>
            <a:prstGeom prst="rect">
              <a:avLst/>
            </a:prstGeom>
            <a:noFill/>
            <a:ln>
              <a:noFill/>
            </a:ln>
          </p:spPr>
          <p:txBody>
            <a:bodyPr wrap="none" lIns="0" tIns="0" rIns="0" bIns="0" anchor="t" anchorCtr="0">
              <a:spAutoFit/>
            </a:bodyPr>
            <a:lstStyle/>
            <a:p>
              <a:pPr algn="ctr"/>
              <a:r>
                <a:rPr lang="en-US" sz="1050" dirty="0">
                  <a:solidFill>
                    <a:srgbClr val="9AA3AF"/>
                  </a:solidFill>
                  <a:latin typeface="+mn-lt"/>
                  <a:ea typeface="+mn-ea"/>
                  <a:cs typeface="+mn-cs"/>
                </a:rPr>
                <a:t>PV5</a:t>
              </a:r>
            </a:p>
          </p:txBody>
        </p:sp>
        <p:sp>
          <p:nvSpPr>
            <p:cNvPr id="11" name="TextBox 11"/>
            <p:cNvSpPr txBox="1"/>
            <p:nvPr/>
          </p:nvSpPr>
          <p:spPr>
            <a:xfrm>
              <a:off x="1010604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12" name="TextBox 12"/>
            <p:cNvSpPr txBox="1"/>
            <p:nvPr/>
          </p:nvSpPr>
          <p:spPr>
            <a:xfrm>
              <a:off x="10311765" y="301625"/>
              <a:ext cx="293370" cy="205359"/>
            </a:xfrm>
            <a:prstGeom prst="rect">
              <a:avLst/>
            </a:prstGeom>
            <a:noFill/>
            <a:ln>
              <a:noFill/>
            </a:ln>
          </p:spPr>
          <p:txBody>
            <a:bodyPr wrap="none" lIns="0" tIns="0" rIns="0" bIns="0" anchor="t" anchorCtr="0">
              <a:spAutoFit/>
            </a:bodyPr>
            <a:lstStyle/>
            <a:p>
              <a:pPr algn="ctr"/>
              <a:r>
                <a:rPr lang="ko-KR" sz="1050" dirty="0">
                  <a:solidFill>
                    <a:srgbClr val="9AA3AF"/>
                  </a:solidFill>
                  <a:latin typeface="+mn-lt"/>
                  <a:ea typeface="+mn-ea"/>
                  <a:cs typeface="+mn-cs"/>
                </a:rPr>
                <a:t>검증</a:t>
              </a:r>
            </a:p>
          </p:txBody>
        </p:sp>
        <p:sp>
          <p:nvSpPr>
            <p:cNvPr id="13" name="TextBox 13"/>
            <p:cNvSpPr txBox="1"/>
            <p:nvPr/>
          </p:nvSpPr>
          <p:spPr>
            <a:xfrm>
              <a:off x="1073469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14" name="TextBox 14"/>
            <p:cNvSpPr txBox="1"/>
            <p:nvPr/>
          </p:nvSpPr>
          <p:spPr>
            <a:xfrm>
              <a:off x="10940415" y="301625"/>
              <a:ext cx="293370" cy="205359"/>
            </a:xfrm>
            <a:prstGeom prst="rect">
              <a:avLst/>
            </a:prstGeom>
            <a:noFill/>
            <a:ln>
              <a:noFill/>
            </a:ln>
          </p:spPr>
          <p:txBody>
            <a:bodyPr wrap="none" lIns="0" tIns="0" rIns="0" bIns="0" anchor="t" anchorCtr="0">
              <a:spAutoFit/>
            </a:bodyPr>
            <a:lstStyle/>
            <a:p>
              <a:pPr algn="ctr"/>
              <a:r>
                <a:rPr lang="ko-KR" sz="1050" dirty="0">
                  <a:solidFill>
                    <a:srgbClr val="9AA3AF"/>
                  </a:solidFill>
                  <a:latin typeface="+mn-lt"/>
                  <a:ea typeface="+mn-ea"/>
                  <a:cs typeface="+mn-cs"/>
                </a:rPr>
                <a:t>사업</a:t>
              </a:r>
            </a:p>
          </p:txBody>
        </p:sp>
        <p:sp>
          <p:nvSpPr>
            <p:cNvPr id="15" name="Line 15"/>
            <p:cNvSpPr/>
            <p:nvPr/>
          </p:nvSpPr>
          <p:spPr>
            <a:xfrm>
              <a:off x="533400" y="590550"/>
              <a:ext cx="11125200" cy="9525"/>
            </a:xfrm>
            <a:custGeom>
              <a:avLst/>
              <a:gdLst/>
              <a:ahLst/>
              <a:cxnLst/>
              <a:rect l="l" t="t" r="r" b="b"/>
              <a:pathLst>
                <a:path w="11125200" h="9525">
                  <a:moveTo>
                    <a:pt x="0" y="0"/>
                  </a:moveTo>
                  <a:lnTo>
                    <a:pt x="11125200" y="0"/>
                  </a:lnTo>
                </a:path>
              </a:pathLst>
            </a:custGeom>
            <a:noFill/>
            <a:ln w="9525">
              <a:solidFill>
                <a:srgbClr val="0B1E3C"/>
              </a:solidFill>
            </a:ln>
          </p:spPr>
        </p:sp>
      </p:grpSp>
      <p:grpSp>
        <p:nvGrpSpPr>
          <p:cNvPr id="18" name="title"/>
          <p:cNvGrpSpPr/>
          <p:nvPr/>
        </p:nvGrpSpPr>
        <p:grpSpPr>
          <a:xfrm>
            <a:off x="518160" y="774700"/>
            <a:ext cx="9636081" cy="586740"/>
            <a:chOff x="518160" y="774700"/>
            <a:chExt cx="9636081" cy="586740"/>
          </a:xfrm>
        </p:grpSpPr>
        <p:sp>
          <p:nvSpPr>
            <p:cNvPr id="17" name="TextBox 17"/>
            <p:cNvSpPr txBox="1"/>
            <p:nvPr/>
          </p:nvSpPr>
          <p:spPr>
            <a:xfrm>
              <a:off x="518160" y="774700"/>
              <a:ext cx="9636081" cy="586740"/>
            </a:xfrm>
            <a:prstGeom prst="rect">
              <a:avLst/>
            </a:prstGeom>
            <a:noFill/>
            <a:ln>
              <a:noFill/>
            </a:ln>
          </p:spPr>
          <p:txBody>
            <a:bodyPr wrap="none" lIns="0" tIns="0" rIns="0" bIns="0" anchor="t" anchorCtr="0">
              <a:spAutoFit/>
            </a:bodyPr>
            <a:lstStyle/>
            <a:p>
              <a:pPr algn="l"/>
              <a:r>
                <a:rPr lang="ko-KR" sz="3000" b="1" spc="-75" dirty="0">
                  <a:solidFill>
                    <a:srgbClr val="0B1E3C"/>
                  </a:solidFill>
                  <a:latin typeface="+mn-lt"/>
                  <a:ea typeface="+mn-ea"/>
                  <a:cs typeface="+mn-cs"/>
                </a:rPr>
                <a:t>차가 찾은 지점을, 작업자가 현장에서 바로 확인합니다</a:t>
              </a:r>
            </a:p>
          </p:txBody>
        </p:sp>
      </p:grpSp>
      <p:grpSp>
        <p:nvGrpSpPr>
          <p:cNvPr id="40" name="system-chain"/>
          <p:cNvGrpSpPr/>
          <p:nvPr/>
        </p:nvGrpSpPr>
        <p:grpSpPr>
          <a:xfrm>
            <a:off x="533400" y="1428750"/>
            <a:ext cx="11125200" cy="552450"/>
            <a:chOff x="533400" y="1428750"/>
            <a:chExt cx="11125200" cy="552450"/>
          </a:xfrm>
        </p:grpSpPr>
        <p:grpSp>
          <p:nvGrpSpPr>
            <p:cNvPr id="34" name="Group 34"/>
            <p:cNvGrpSpPr/>
            <p:nvPr/>
          </p:nvGrpSpPr>
          <p:grpSpPr>
            <a:xfrm>
              <a:off x="533400" y="1428750"/>
              <a:ext cx="11125200" cy="552450"/>
              <a:chOff x="533400" y="1428750"/>
              <a:chExt cx="11125200" cy="552450"/>
            </a:xfrm>
          </p:grpSpPr>
          <p:sp>
            <p:nvSpPr>
              <p:cNvPr id="19" name="Rectangle 19"/>
              <p:cNvSpPr/>
              <p:nvPr/>
            </p:nvSpPr>
            <p:spPr>
              <a:xfrm>
                <a:off x="533400" y="1428750"/>
                <a:ext cx="1905000" cy="552450"/>
              </a:xfrm>
              <a:prstGeom prst="roundRect">
                <a:avLst>
                  <a:gd name="adj" fmla="val 13793"/>
                </a:avLst>
              </a:prstGeom>
              <a:solidFill>
                <a:srgbClr val="FFFFFF"/>
              </a:solidFill>
              <a:ln w="19050">
                <a:solidFill>
                  <a:srgbClr val="0B1E3C"/>
                </a:solidFill>
              </a:ln>
            </p:spPr>
          </p:sp>
          <p:sp>
            <p:nvSpPr>
              <p:cNvPr id="20" name="TextBox 20"/>
              <p:cNvSpPr txBox="1"/>
              <p:nvPr/>
            </p:nvSpPr>
            <p:spPr>
              <a:xfrm>
                <a:off x="704122" y="1504950"/>
                <a:ext cx="1563556" cy="234696"/>
              </a:xfrm>
              <a:prstGeom prst="rect">
                <a:avLst/>
              </a:prstGeom>
              <a:noFill/>
              <a:ln>
                <a:noFill/>
              </a:ln>
            </p:spPr>
            <p:txBody>
              <a:bodyPr wrap="none" lIns="0" tIns="0" rIns="0" bIns="0" anchor="t" anchorCtr="0">
                <a:spAutoFit/>
              </a:bodyPr>
              <a:lstStyle/>
              <a:p>
                <a:pPr algn="ctr"/>
                <a:r>
                  <a:rPr lang="en-US" sz="1200" b="1" dirty="0">
                    <a:solidFill>
                      <a:srgbClr val="0B1E3C"/>
                    </a:solidFill>
                    <a:latin typeface="+mn-lt"/>
                    <a:ea typeface="+mn-ea"/>
                    <a:cs typeface="+mn-cs"/>
                  </a:rPr>
                  <a:t>GroundWatch Cloud</a:t>
                </a:r>
              </a:p>
            </p:txBody>
          </p:sp>
          <p:sp>
            <p:nvSpPr>
              <p:cNvPr id="21" name="TextBox 21"/>
              <p:cNvSpPr txBox="1"/>
              <p:nvPr/>
            </p:nvSpPr>
            <p:spPr>
              <a:xfrm>
                <a:off x="646445" y="1727200"/>
                <a:ext cx="1678910" cy="220028"/>
              </a:xfrm>
              <a:prstGeom prst="rect">
                <a:avLst/>
              </a:prstGeom>
              <a:noFill/>
              <a:ln>
                <a:noFill/>
              </a:ln>
            </p:spPr>
            <p:txBody>
              <a:bodyPr wrap="none" lIns="0" tIns="0" rIns="0" bIns="0" anchor="t" anchorCtr="0">
                <a:spAutoFit/>
              </a:bodyPr>
              <a:lstStyle/>
              <a:p>
                <a:pPr algn="ctr"/>
                <a:r>
                  <a:rPr lang="ko-KR" sz="1120" dirty="0">
                    <a:solidFill>
                      <a:srgbClr val="374151"/>
                    </a:solidFill>
                    <a:latin typeface="+mn-lt"/>
                    <a:ea typeface="+mn-ea"/>
                    <a:cs typeface="+mn-cs"/>
                  </a:rPr>
                  <a:t>4D 지도 · AI 분석 · 경로</a:t>
                </a:r>
              </a:p>
            </p:txBody>
          </p:sp>
          <p:sp>
            <p:nvSpPr>
              <p:cNvPr id="22" name="Rectangle 22"/>
              <p:cNvSpPr/>
              <p:nvPr/>
            </p:nvSpPr>
            <p:spPr>
              <a:xfrm>
                <a:off x="2838450" y="1428750"/>
                <a:ext cx="1905000" cy="552450"/>
              </a:xfrm>
              <a:prstGeom prst="roundRect">
                <a:avLst>
                  <a:gd name="adj" fmla="val 13793"/>
                </a:avLst>
              </a:prstGeom>
              <a:solidFill>
                <a:srgbClr val="FFFFFF"/>
              </a:solidFill>
              <a:ln w="19050">
                <a:solidFill>
                  <a:srgbClr val="0B1E3C"/>
                </a:solidFill>
              </a:ln>
            </p:spPr>
          </p:sp>
          <p:sp>
            <p:nvSpPr>
              <p:cNvPr id="23" name="TextBox 23"/>
              <p:cNvSpPr txBox="1"/>
              <p:nvPr/>
            </p:nvSpPr>
            <p:spPr>
              <a:xfrm>
                <a:off x="3230299" y="1504950"/>
                <a:ext cx="1121302" cy="234696"/>
              </a:xfrm>
              <a:prstGeom prst="rect">
                <a:avLst/>
              </a:prstGeom>
              <a:noFill/>
              <a:ln>
                <a:noFill/>
              </a:ln>
            </p:spPr>
            <p:txBody>
              <a:bodyPr wrap="none" lIns="0" tIns="0" rIns="0" bIns="0" anchor="t" anchorCtr="0">
                <a:spAutoFit/>
              </a:bodyPr>
              <a:lstStyle/>
              <a:p>
                <a:pPr algn="ctr"/>
                <a:r>
                  <a:rPr lang="ko-KR" sz="1200" b="1" dirty="0">
                    <a:solidFill>
                      <a:srgbClr val="0B1E3C"/>
                    </a:solidFill>
                    <a:latin typeface="+mn-lt"/>
                    <a:ea typeface="+mn-ea"/>
                    <a:cs typeface="+mn-cs"/>
                  </a:rPr>
                  <a:t>Patrol 차량 앱</a:t>
                </a:r>
              </a:p>
            </p:txBody>
          </p:sp>
          <p:sp>
            <p:nvSpPr>
              <p:cNvPr id="24" name="TextBox 24"/>
              <p:cNvSpPr txBox="1"/>
              <p:nvPr/>
            </p:nvSpPr>
            <p:spPr>
              <a:xfrm>
                <a:off x="3268833" y="1727200"/>
                <a:ext cx="1044235" cy="220028"/>
              </a:xfrm>
              <a:prstGeom prst="rect">
                <a:avLst/>
              </a:prstGeom>
              <a:noFill/>
              <a:ln>
                <a:noFill/>
              </a:ln>
            </p:spPr>
            <p:txBody>
              <a:bodyPr wrap="none" lIns="0" tIns="0" rIns="0" bIns="0" anchor="t" anchorCtr="0">
                <a:spAutoFit/>
              </a:bodyPr>
              <a:lstStyle/>
              <a:p>
                <a:pPr algn="ctr"/>
                <a:r>
                  <a:rPr lang="ko-KR" sz="1120" dirty="0">
                    <a:solidFill>
                      <a:srgbClr val="374151"/>
                    </a:solidFill>
                    <a:latin typeface="+mn-lt"/>
                    <a:ea typeface="+mn-ea"/>
                    <a:cs typeface="+mn-cs"/>
                  </a:rPr>
                  <a:t>업무·경로 관리</a:t>
                </a:r>
              </a:p>
            </p:txBody>
          </p:sp>
          <p:sp>
            <p:nvSpPr>
              <p:cNvPr id="25" name="Rectangle 25"/>
              <p:cNvSpPr/>
              <p:nvPr/>
            </p:nvSpPr>
            <p:spPr>
              <a:xfrm>
                <a:off x="5143500" y="1428750"/>
                <a:ext cx="1905000" cy="552450"/>
              </a:xfrm>
              <a:prstGeom prst="roundRect">
                <a:avLst>
                  <a:gd name="adj" fmla="val 13793"/>
                </a:avLst>
              </a:prstGeom>
              <a:solidFill>
                <a:srgbClr val="FFFFFF"/>
              </a:solidFill>
              <a:ln w="19050">
                <a:solidFill>
                  <a:srgbClr val="0B1E3C"/>
                </a:solidFill>
              </a:ln>
            </p:spPr>
          </p:sp>
          <p:sp>
            <p:nvSpPr>
              <p:cNvPr id="26" name="TextBox 26"/>
              <p:cNvSpPr txBox="1"/>
              <p:nvPr/>
            </p:nvSpPr>
            <p:spPr>
              <a:xfrm>
                <a:off x="5528677" y="1504950"/>
                <a:ext cx="1134645" cy="234696"/>
              </a:xfrm>
              <a:prstGeom prst="rect">
                <a:avLst/>
              </a:prstGeom>
              <a:noFill/>
              <a:ln>
                <a:noFill/>
              </a:ln>
            </p:spPr>
            <p:txBody>
              <a:bodyPr wrap="none" lIns="0" tIns="0" rIns="0" bIns="0" anchor="t" anchorCtr="0">
                <a:spAutoFit/>
              </a:bodyPr>
              <a:lstStyle/>
              <a:p>
                <a:pPr algn="ctr"/>
                <a:r>
                  <a:rPr lang="en-US" sz="1200" b="1" dirty="0">
                    <a:solidFill>
                      <a:srgbClr val="0B1E3C"/>
                    </a:solidFill>
                    <a:latin typeface="+mn-lt"/>
                    <a:ea typeface="+mn-ea"/>
                    <a:cs typeface="+mn-cs"/>
                  </a:rPr>
                  <a:t>Edge Gateway</a:t>
                </a:r>
              </a:p>
            </p:txBody>
          </p:sp>
          <p:sp>
            <p:nvSpPr>
              <p:cNvPr id="27" name="TextBox 27"/>
              <p:cNvSpPr txBox="1"/>
              <p:nvPr/>
            </p:nvSpPr>
            <p:spPr>
              <a:xfrm>
                <a:off x="5325105" y="1727200"/>
                <a:ext cx="1541790" cy="220028"/>
              </a:xfrm>
              <a:prstGeom prst="rect">
                <a:avLst/>
              </a:prstGeom>
              <a:noFill/>
              <a:ln>
                <a:noFill/>
              </a:ln>
            </p:spPr>
            <p:txBody>
              <a:bodyPr wrap="none" lIns="0" tIns="0" rIns="0" bIns="0" anchor="t" anchorCtr="0">
                <a:spAutoFit/>
              </a:bodyPr>
              <a:lstStyle/>
              <a:p>
                <a:pPr algn="ctr"/>
                <a:r>
                  <a:rPr lang="ko-KR" sz="1120" dirty="0">
                    <a:solidFill>
                      <a:srgbClr val="374151"/>
                    </a:solidFill>
                    <a:latin typeface="+mn-lt"/>
                    <a:ea typeface="+mn-ea"/>
                    <a:cs typeface="+mn-cs"/>
                  </a:rPr>
                  <a:t>센서 동기화·로컬 통신</a:t>
                </a:r>
              </a:p>
            </p:txBody>
          </p:sp>
          <p:sp>
            <p:nvSpPr>
              <p:cNvPr id="28" name="Rectangle 28"/>
              <p:cNvSpPr/>
              <p:nvPr/>
            </p:nvSpPr>
            <p:spPr>
              <a:xfrm>
                <a:off x="7448550" y="1428750"/>
                <a:ext cx="1905000" cy="552450"/>
              </a:xfrm>
              <a:prstGeom prst="roundRect">
                <a:avLst>
                  <a:gd name="adj" fmla="val 13793"/>
                </a:avLst>
              </a:prstGeom>
              <a:solidFill>
                <a:srgbClr val="FFFFFF"/>
              </a:solidFill>
              <a:ln w="19050">
                <a:solidFill>
                  <a:srgbClr val="0B1E3C"/>
                </a:solidFill>
              </a:ln>
            </p:spPr>
          </p:sp>
          <p:sp>
            <p:nvSpPr>
              <p:cNvPr id="29" name="TextBox 29"/>
              <p:cNvSpPr txBox="1"/>
              <p:nvPr/>
            </p:nvSpPr>
            <p:spPr>
              <a:xfrm>
                <a:off x="8027182" y="1504950"/>
                <a:ext cx="747735" cy="234696"/>
              </a:xfrm>
              <a:prstGeom prst="rect">
                <a:avLst/>
              </a:prstGeom>
              <a:noFill/>
              <a:ln>
                <a:noFill/>
              </a:ln>
            </p:spPr>
            <p:txBody>
              <a:bodyPr wrap="none" lIns="0" tIns="0" rIns="0" bIns="0" anchor="t" anchorCtr="0">
                <a:spAutoFit/>
              </a:bodyPr>
              <a:lstStyle/>
              <a:p>
                <a:pPr algn="ctr"/>
                <a:r>
                  <a:rPr lang="ko-KR" sz="1200" b="1" dirty="0">
                    <a:solidFill>
                      <a:srgbClr val="0B1E3C"/>
                    </a:solidFill>
                    <a:latin typeface="+mn-lt"/>
                    <a:ea typeface="+mn-ea"/>
                    <a:cs typeface="+mn-cs"/>
                  </a:rPr>
                  <a:t>AR 글래스</a:t>
                </a:r>
              </a:p>
            </p:txBody>
          </p:sp>
          <p:sp>
            <p:nvSpPr>
              <p:cNvPr id="30" name="TextBox 30"/>
              <p:cNvSpPr txBox="1"/>
              <p:nvPr/>
            </p:nvSpPr>
            <p:spPr>
              <a:xfrm>
                <a:off x="7705542" y="1727200"/>
                <a:ext cx="1391016" cy="220028"/>
              </a:xfrm>
              <a:prstGeom prst="rect">
                <a:avLst/>
              </a:prstGeom>
              <a:noFill/>
              <a:ln>
                <a:noFill/>
              </a:ln>
            </p:spPr>
            <p:txBody>
              <a:bodyPr wrap="none" lIns="0" tIns="0" rIns="0" bIns="0" anchor="t" anchorCtr="0">
                <a:spAutoFit/>
              </a:bodyPr>
              <a:lstStyle/>
              <a:p>
                <a:pPr algn="ctr"/>
                <a:r>
                  <a:rPr lang="ko-KR" sz="1120" dirty="0">
                    <a:solidFill>
                      <a:srgbClr val="374151"/>
                    </a:solidFill>
                    <a:latin typeface="+mn-lt"/>
                    <a:ea typeface="+mn-ea"/>
                    <a:cs typeface="+mn-cs"/>
                  </a:rPr>
                  <a:t>위치 정합·탐사 안내</a:t>
                </a:r>
              </a:p>
            </p:txBody>
          </p:sp>
          <p:sp>
            <p:nvSpPr>
              <p:cNvPr id="31" name="Rectangle 31"/>
              <p:cNvSpPr/>
              <p:nvPr/>
            </p:nvSpPr>
            <p:spPr>
              <a:xfrm>
                <a:off x="9753600" y="1428750"/>
                <a:ext cx="1905000" cy="552450"/>
              </a:xfrm>
              <a:prstGeom prst="roundRect">
                <a:avLst>
                  <a:gd name="adj" fmla="val 13793"/>
                </a:avLst>
              </a:prstGeom>
              <a:solidFill>
                <a:srgbClr val="FFFFFF"/>
              </a:solidFill>
              <a:ln w="19050">
                <a:solidFill>
                  <a:srgbClr val="0B1E3C"/>
                </a:solidFill>
              </a:ln>
            </p:spPr>
          </p:sp>
          <p:sp>
            <p:nvSpPr>
              <p:cNvPr id="32" name="TextBox 32"/>
              <p:cNvSpPr txBox="1"/>
              <p:nvPr/>
            </p:nvSpPr>
            <p:spPr>
              <a:xfrm>
                <a:off x="10363718" y="1504950"/>
                <a:ext cx="684764" cy="234696"/>
              </a:xfrm>
              <a:prstGeom prst="rect">
                <a:avLst/>
              </a:prstGeom>
              <a:noFill/>
              <a:ln>
                <a:noFill/>
              </a:ln>
            </p:spPr>
            <p:txBody>
              <a:bodyPr wrap="none" lIns="0" tIns="0" rIns="0" bIns="0" anchor="t" anchorCtr="0">
                <a:spAutoFit/>
              </a:bodyPr>
              <a:lstStyle/>
              <a:p>
                <a:pPr algn="ctr"/>
                <a:r>
                  <a:rPr lang="ko-KR" sz="1200" b="1" dirty="0">
                    <a:solidFill>
                      <a:srgbClr val="0B1E3C"/>
                    </a:solidFill>
                    <a:latin typeface="+mn-lt"/>
                    <a:ea typeface="+mn-ea"/>
                    <a:cs typeface="+mn-cs"/>
                  </a:rPr>
                  <a:t>수동 GPR</a:t>
                </a:r>
              </a:p>
            </p:txBody>
          </p:sp>
          <p:sp>
            <p:nvSpPr>
              <p:cNvPr id="33" name="TextBox 33"/>
              <p:cNvSpPr txBox="1"/>
              <p:nvPr/>
            </p:nvSpPr>
            <p:spPr>
              <a:xfrm>
                <a:off x="9784431" y="1727200"/>
                <a:ext cx="1843339" cy="220028"/>
              </a:xfrm>
              <a:prstGeom prst="rect">
                <a:avLst/>
              </a:prstGeom>
              <a:noFill/>
              <a:ln>
                <a:noFill/>
              </a:ln>
            </p:spPr>
            <p:txBody>
              <a:bodyPr wrap="none" lIns="0" tIns="0" rIns="0" bIns="0" anchor="t" anchorCtr="0">
                <a:spAutoFit/>
              </a:bodyPr>
              <a:lstStyle/>
              <a:p>
                <a:pPr algn="ctr"/>
                <a:r>
                  <a:rPr lang="ko-KR" sz="1120" dirty="0">
                    <a:solidFill>
                      <a:srgbClr val="374151"/>
                    </a:solidFill>
                    <a:latin typeface="+mn-lt"/>
                    <a:ea typeface="+mn-ea"/>
                    <a:cs typeface="+mn-cs"/>
                  </a:rPr>
                  <a:t>다른 주파수·방향 교차검증</a:t>
                </a:r>
              </a:p>
            </p:txBody>
          </p:sp>
        </p:grpSp>
        <p:grpSp>
          <p:nvGrpSpPr>
            <p:cNvPr id="39" name="Group 39"/>
            <p:cNvGrpSpPr/>
            <p:nvPr/>
          </p:nvGrpSpPr>
          <p:grpSpPr>
            <a:xfrm>
              <a:off x="2466975" y="1704975"/>
              <a:ext cx="7258050" cy="1"/>
              <a:chOff x="2466975" y="1704975"/>
              <a:chExt cx="7258050" cy="1"/>
            </a:xfrm>
          </p:grpSpPr>
          <p:sp>
            <p:nvSpPr>
              <p:cNvPr id="35" name="Line 35"/>
              <p:cNvSpPr/>
              <p:nvPr/>
            </p:nvSpPr>
            <p:spPr>
              <a:xfrm>
                <a:off x="2466975" y="1704975"/>
                <a:ext cx="342900" cy="1"/>
              </a:xfrm>
              <a:prstGeom prst="line">
                <a:avLst/>
              </a:prstGeom>
              <a:noFill/>
              <a:ln w="19050">
                <a:solidFill>
                  <a:srgbClr val="0B1E3C"/>
                </a:solidFill>
                <a:headEnd type="triangle" w="lg" len="lg"/>
                <a:tailEnd type="triangle" w="lg" len="lg"/>
              </a:ln>
            </p:spPr>
          </p:sp>
          <p:sp>
            <p:nvSpPr>
              <p:cNvPr id="36" name="Line 36"/>
              <p:cNvSpPr/>
              <p:nvPr/>
            </p:nvSpPr>
            <p:spPr>
              <a:xfrm>
                <a:off x="4772025" y="1704975"/>
                <a:ext cx="342900" cy="1"/>
              </a:xfrm>
              <a:prstGeom prst="line">
                <a:avLst/>
              </a:prstGeom>
              <a:noFill/>
              <a:ln w="19050">
                <a:solidFill>
                  <a:srgbClr val="0B1E3C"/>
                </a:solidFill>
                <a:headEnd type="triangle" w="lg" len="lg"/>
                <a:tailEnd type="triangle" w="lg" len="lg"/>
              </a:ln>
            </p:spPr>
          </p:sp>
          <p:sp>
            <p:nvSpPr>
              <p:cNvPr id="37" name="Line 37"/>
              <p:cNvSpPr/>
              <p:nvPr/>
            </p:nvSpPr>
            <p:spPr>
              <a:xfrm>
                <a:off x="7077075" y="1704975"/>
                <a:ext cx="342900" cy="1"/>
              </a:xfrm>
              <a:prstGeom prst="line">
                <a:avLst/>
              </a:prstGeom>
              <a:noFill/>
              <a:ln w="19050">
                <a:solidFill>
                  <a:srgbClr val="0B1E3C"/>
                </a:solidFill>
                <a:headEnd type="triangle" w="lg" len="lg"/>
                <a:tailEnd type="triangle" w="lg" len="lg"/>
              </a:ln>
            </p:spPr>
          </p:sp>
          <p:sp>
            <p:nvSpPr>
              <p:cNvPr id="38" name="Line 38"/>
              <p:cNvSpPr/>
              <p:nvPr/>
            </p:nvSpPr>
            <p:spPr>
              <a:xfrm>
                <a:off x="9382125" y="1704975"/>
                <a:ext cx="342900" cy="1"/>
              </a:xfrm>
              <a:prstGeom prst="line">
                <a:avLst/>
              </a:prstGeom>
              <a:noFill/>
              <a:ln w="19050">
                <a:solidFill>
                  <a:srgbClr val="0B1E3C"/>
                </a:solidFill>
                <a:headEnd type="triangle" w="lg" len="lg"/>
                <a:tailEnd type="triangle" w="lg" len="lg"/>
              </a:ln>
            </p:spPr>
          </p:sp>
        </p:grpSp>
      </p:grpSp>
      <p:grpSp>
        <p:nvGrpSpPr>
          <p:cNvPr id="46" name="cabin-panel"/>
          <p:cNvGrpSpPr/>
          <p:nvPr/>
        </p:nvGrpSpPr>
        <p:grpSpPr>
          <a:xfrm>
            <a:off x="526542" y="2381250"/>
            <a:ext cx="5302758" cy="3739896"/>
            <a:chOff x="526542" y="2381250"/>
            <a:chExt cx="5302758" cy="3739896"/>
          </a:xfrm>
        </p:grpSpPr>
        <p:pic>
          <p:nvPicPr>
            <p:cNvPr id="41" name="Image 41"/>
            <p:cNvPicPr>
              <a:picLocks noChangeAspect="1"/>
            </p:cNvPicPr>
            <p:nvPr/>
          </p:nvPicPr>
          <p:blipFill>
            <a:blip r:embed="rId2"/>
            <a:srcRect l="12" t="0" r="11" b="0"/>
            <a:stretch>
              <a:fillRect/>
            </a:stretch>
          </p:blipFill>
          <p:spPr>
            <a:xfrm>
              <a:off x="533400" y="2381250"/>
              <a:ext cx="5295900" cy="3143250"/>
            </a:xfrm>
            <a:prstGeom prst="rect">
              <a:avLst/>
            </a:prstGeom>
          </p:spPr>
        </p:pic>
        <p:sp>
          <p:nvSpPr>
            <p:cNvPr id="42" name="Rectangle 42"/>
            <p:cNvSpPr/>
            <p:nvPr/>
          </p:nvSpPr>
          <p:spPr>
            <a:xfrm>
              <a:off x="628650" y="2476500"/>
              <a:ext cx="1314450" cy="228600"/>
            </a:xfrm>
            <a:prstGeom prst="roundRect">
              <a:avLst>
                <a:gd name="adj" fmla="val 12500"/>
              </a:avLst>
            </a:prstGeom>
            <a:solidFill>
              <a:srgbClr val="0B1E3C"/>
            </a:solidFill>
            <a:ln>
              <a:noFill/>
            </a:ln>
          </p:spPr>
        </p:sp>
        <p:sp>
          <p:nvSpPr>
            <p:cNvPr id="43" name="TextBox 43"/>
            <p:cNvSpPr txBox="1"/>
            <p:nvPr/>
          </p:nvSpPr>
          <p:spPr>
            <a:xfrm>
              <a:off x="680651" y="2524125"/>
              <a:ext cx="1210447" cy="191643"/>
            </a:xfrm>
            <a:prstGeom prst="rect">
              <a:avLst/>
            </a:prstGeom>
            <a:noFill/>
            <a:ln>
              <a:noFill/>
            </a:ln>
          </p:spPr>
          <p:txBody>
            <a:bodyPr wrap="none" lIns="0" tIns="0" rIns="0" bIns="0" anchor="t" anchorCtr="0">
              <a:spAutoFit/>
            </a:bodyPr>
            <a:lstStyle/>
            <a:p>
              <a:pPr algn="ctr"/>
              <a:r>
                <a:rPr lang="ko-KR" sz="980" b="1" dirty="0">
                  <a:solidFill>
                    <a:srgbClr val="FFFFFF"/>
                  </a:solidFill>
                  <a:latin typeface="+mn-lt"/>
                  <a:ea typeface="+mn-ea"/>
                  <a:cs typeface="+mn-cs"/>
                </a:rPr>
                <a:t>[화면 예시] 운행 전</a:t>
              </a:r>
            </a:p>
          </p:txBody>
        </p:sp>
        <p:sp>
          <p:nvSpPr>
            <p:cNvPr id="44" name="TextBox 44"/>
            <p:cNvSpPr txBox="1"/>
            <p:nvPr/>
          </p:nvSpPr>
          <p:spPr>
            <a:xfrm>
              <a:off x="526542" y="5626100"/>
              <a:ext cx="2870330" cy="264033"/>
            </a:xfrm>
            <a:prstGeom prst="rect">
              <a:avLst/>
            </a:prstGeom>
            <a:noFill/>
            <a:ln>
              <a:noFill/>
            </a:ln>
          </p:spPr>
          <p:txBody>
            <a:bodyPr wrap="none" lIns="0" tIns="0" rIns="0" bIns="0" anchor="t" anchorCtr="0">
              <a:spAutoFit/>
            </a:bodyPr>
            <a:lstStyle/>
            <a:p>
              <a:pPr algn="l"/>
              <a:r>
                <a:rPr lang="ko-KR" sz="1350" b="1" dirty="0">
                  <a:solidFill>
                    <a:srgbClr val="111827"/>
                  </a:solidFill>
                  <a:latin typeface="+mn-lt"/>
                  <a:ea typeface="+mn-ea"/>
                  <a:cs typeface="+mn-cs"/>
                </a:rPr>
                <a:t>운전석 · GroundWatch Patrol 앱</a:t>
              </a:r>
            </a:p>
          </p:txBody>
        </p:sp>
        <p:sp>
          <p:nvSpPr>
            <p:cNvPr id="45" name="TextBox 45"/>
            <p:cNvSpPr txBox="1"/>
            <p:nvPr/>
          </p:nvSpPr>
          <p:spPr>
            <a:xfrm>
              <a:off x="527304" y="5886450"/>
              <a:ext cx="4543501" cy="234696"/>
            </a:xfrm>
            <a:prstGeom prst="rect">
              <a:avLst/>
            </a:prstGeom>
            <a:noFill/>
            <a:ln>
              <a:noFill/>
            </a:ln>
          </p:spPr>
          <p:txBody>
            <a:bodyPr wrap="none" lIns="0" tIns="0" rIns="0" bIns="0" anchor="t" anchorCtr="0">
              <a:spAutoFit/>
            </a:bodyPr>
            <a:lstStyle/>
            <a:p>
              <a:pPr algn="l"/>
              <a:r>
                <a:rPr lang="ko-KR" sz="1200" dirty="0">
                  <a:solidFill>
                    <a:srgbClr val="4B5563"/>
                  </a:solidFill>
                  <a:latin typeface="+mn-lt"/>
                  <a:ea typeface="+mn-ea"/>
                  <a:cs typeface="+mn-cs"/>
                </a:rPr>
                <a:t>순찰경로·재확인 지점·장비 상태, 도착 전 안전 정차 위치 안내</a:t>
              </a:r>
            </a:p>
          </p:txBody>
        </p:sp>
      </p:grpSp>
      <p:grpSp>
        <p:nvGrpSpPr>
          <p:cNvPr id="67" name="ar-panel"/>
          <p:cNvGrpSpPr/>
          <p:nvPr/>
        </p:nvGrpSpPr>
        <p:grpSpPr>
          <a:xfrm>
            <a:off x="6089142" y="2381250"/>
            <a:ext cx="5569458" cy="3739896"/>
            <a:chOff x="6089142" y="2381250"/>
            <a:chExt cx="5569458" cy="3739896"/>
          </a:xfrm>
        </p:grpSpPr>
        <p:pic>
          <p:nvPicPr>
            <p:cNvPr id="47" name="Image 47"/>
            <p:cNvPicPr>
              <a:picLocks noChangeAspect="1"/>
            </p:cNvPicPr>
            <p:nvPr/>
          </p:nvPicPr>
          <p:blipFill>
            <a:blip r:embed="rId3"/>
            <a:srcRect l="0" t="7620" r="0" b="7620"/>
            <a:stretch>
              <a:fillRect/>
            </a:stretch>
          </p:blipFill>
          <p:spPr>
            <a:xfrm>
              <a:off x="6096000" y="2381250"/>
              <a:ext cx="5562600" cy="3143250"/>
            </a:xfrm>
            <a:prstGeom prst="rect">
              <a:avLst/>
            </a:prstGeom>
          </p:spPr>
        </p:pic>
        <p:sp>
          <p:nvSpPr>
            <p:cNvPr id="48" name="Polygon 48"/>
            <p:cNvSpPr/>
            <p:nvPr/>
          </p:nvSpPr>
          <p:spPr>
            <a:xfrm>
              <a:off x="8096250" y="4171950"/>
              <a:ext cx="1895475" cy="666750"/>
            </a:xfrm>
            <a:custGeom>
              <a:avLst/>
              <a:gdLst/>
              <a:ahLst/>
              <a:cxnLst/>
              <a:rect l="l" t="t" r="r" b="b"/>
              <a:pathLst>
                <a:path w="1895475" h="666750">
                  <a:moveTo>
                    <a:pt x="561975" y="0"/>
                  </a:moveTo>
                  <a:lnTo>
                    <a:pt x="1333500" y="0"/>
                  </a:lnTo>
                  <a:lnTo>
                    <a:pt x="1895475" y="666750"/>
                  </a:lnTo>
                  <a:lnTo>
                    <a:pt x="0" y="666750"/>
                  </a:lnTo>
                  <a:close/>
                </a:path>
              </a:pathLst>
            </a:custGeom>
            <a:solidFill>
              <a:srgbClr val="F5B700">
                <a:alpha val="26000"/>
              </a:srgbClr>
            </a:solidFill>
            <a:ln w="23812">
              <a:solidFill>
                <a:srgbClr val="F5B700"/>
              </a:solidFill>
            </a:ln>
          </p:spPr>
        </p:sp>
        <p:grpSp>
          <p:nvGrpSpPr>
            <p:cNvPr id="52" name="Group 52"/>
            <p:cNvGrpSpPr/>
            <p:nvPr/>
          </p:nvGrpSpPr>
          <p:grpSpPr>
            <a:xfrm>
              <a:off x="8229600" y="4343400"/>
              <a:ext cx="1628775" cy="352425"/>
              <a:chOff x="8229600" y="4343400"/>
              <a:chExt cx="1628775" cy="352425"/>
            </a:xfrm>
          </p:grpSpPr>
          <p:sp>
            <p:nvSpPr>
              <p:cNvPr id="49" name="Line 49"/>
              <p:cNvSpPr/>
              <p:nvPr/>
            </p:nvSpPr>
            <p:spPr>
              <a:xfrm>
                <a:off x="8515350" y="4343400"/>
                <a:ext cx="1057275" cy="9525"/>
              </a:xfrm>
              <a:custGeom>
                <a:avLst/>
                <a:gdLst/>
                <a:ahLst/>
                <a:cxnLst/>
                <a:rect l="l" t="t" r="r" b="b"/>
                <a:pathLst>
                  <a:path w="1057275" h="9525">
                    <a:moveTo>
                      <a:pt x="0" y="0"/>
                    </a:moveTo>
                    <a:lnTo>
                      <a:pt x="1057275" y="0"/>
                    </a:lnTo>
                  </a:path>
                </a:pathLst>
              </a:custGeom>
              <a:noFill/>
              <a:ln w="14288">
                <a:solidFill>
                  <a:srgbClr val="F5B700"/>
                </a:solidFill>
                <a:custDash>
                  <a:ds d="400000" sp="266667"/>
                </a:custDash>
              </a:ln>
            </p:spPr>
          </p:sp>
          <p:sp>
            <p:nvSpPr>
              <p:cNvPr id="50" name="Line 50"/>
              <p:cNvSpPr/>
              <p:nvPr/>
            </p:nvSpPr>
            <p:spPr>
              <a:xfrm>
                <a:off x="8372475" y="4514850"/>
                <a:ext cx="1343025" cy="9525"/>
              </a:xfrm>
              <a:custGeom>
                <a:avLst/>
                <a:gdLst/>
                <a:ahLst/>
                <a:cxnLst/>
                <a:rect l="l" t="t" r="r" b="b"/>
                <a:pathLst>
                  <a:path w="1343025" h="9525">
                    <a:moveTo>
                      <a:pt x="0" y="0"/>
                    </a:moveTo>
                    <a:lnTo>
                      <a:pt x="1343025" y="0"/>
                    </a:lnTo>
                  </a:path>
                </a:pathLst>
              </a:custGeom>
              <a:noFill/>
              <a:ln w="14288">
                <a:solidFill>
                  <a:srgbClr val="F5B700"/>
                </a:solidFill>
                <a:custDash>
                  <a:ds d="400000" sp="266667"/>
                </a:custDash>
              </a:ln>
            </p:spPr>
          </p:sp>
          <p:sp>
            <p:nvSpPr>
              <p:cNvPr id="51" name="Line 51"/>
              <p:cNvSpPr/>
              <p:nvPr/>
            </p:nvSpPr>
            <p:spPr>
              <a:xfrm>
                <a:off x="8229600" y="4686300"/>
                <a:ext cx="1628775" cy="9525"/>
              </a:xfrm>
              <a:custGeom>
                <a:avLst/>
                <a:gdLst/>
                <a:ahLst/>
                <a:cxnLst/>
                <a:rect l="l" t="t" r="r" b="b"/>
                <a:pathLst>
                  <a:path w="1628775" h="9525">
                    <a:moveTo>
                      <a:pt x="0" y="0"/>
                    </a:moveTo>
                    <a:lnTo>
                      <a:pt x="1628775" y="0"/>
                    </a:lnTo>
                  </a:path>
                </a:pathLst>
              </a:custGeom>
              <a:noFill/>
              <a:ln w="14288">
                <a:solidFill>
                  <a:srgbClr val="F5B700"/>
                </a:solidFill>
                <a:custDash>
                  <a:ds d="400000" sp="266667"/>
                </a:custDash>
              </a:ln>
            </p:spPr>
          </p:sp>
        </p:grpSp>
        <p:sp>
          <p:nvSpPr>
            <p:cNvPr id="53" name="Ellipse 53"/>
            <p:cNvSpPr/>
            <p:nvPr/>
          </p:nvSpPr>
          <p:spPr>
            <a:xfrm>
              <a:off x="7943850" y="4933950"/>
              <a:ext cx="1866900" cy="628650"/>
            </a:xfrm>
            <a:prstGeom prst="ellipse">
              <a:avLst/>
            </a:prstGeom>
            <a:noFill/>
            <a:ln w="23812">
              <a:solidFill>
                <a:srgbClr val="FFFFFF"/>
              </a:solidFill>
            </a:ln>
          </p:spPr>
        </p:sp>
        <p:sp>
          <p:nvSpPr>
            <p:cNvPr id="54" name="Rectangle 54"/>
            <p:cNvSpPr/>
            <p:nvPr/>
          </p:nvSpPr>
          <p:spPr>
            <a:xfrm>
              <a:off x="9906000" y="5086350"/>
              <a:ext cx="1066800" cy="209550"/>
            </a:xfrm>
            <a:prstGeom prst="roundRect">
              <a:avLst>
                <a:gd name="adj" fmla="val 13636"/>
              </a:avLst>
            </a:prstGeom>
            <a:solidFill>
              <a:srgbClr val="0B1E3C">
                <a:alpha val="85000"/>
              </a:srgbClr>
            </a:solidFill>
            <a:ln>
              <a:noFill/>
            </a:ln>
          </p:spPr>
        </p:sp>
        <p:sp>
          <p:nvSpPr>
            <p:cNvPr id="55" name="TextBox 55"/>
            <p:cNvSpPr txBox="1"/>
            <p:nvPr/>
          </p:nvSpPr>
          <p:spPr>
            <a:xfrm>
              <a:off x="10004527" y="5124450"/>
              <a:ext cx="869747" cy="176212"/>
            </a:xfrm>
            <a:prstGeom prst="rect">
              <a:avLst/>
            </a:prstGeom>
            <a:noFill/>
            <a:ln>
              <a:noFill/>
            </a:ln>
          </p:spPr>
          <p:txBody>
            <a:bodyPr wrap="none" lIns="0" tIns="0" rIns="0" bIns="0" anchor="t" anchorCtr="0">
              <a:spAutoFit/>
            </a:bodyPr>
            <a:lstStyle/>
            <a:p>
              <a:pPr algn="ctr"/>
              <a:r>
                <a:rPr lang="ko-KR" sz="900" b="1" dirty="0">
                  <a:solidFill>
                    <a:srgbClr val="FFFFFF"/>
                  </a:solidFill>
                  <a:latin typeface="+mn-lt"/>
                  <a:ea typeface="+mn-ea"/>
                  <a:cs typeface="+mn-cs"/>
                </a:rPr>
                <a:t>기준점 1 · 맨홀</a:t>
              </a:r>
            </a:p>
          </p:txBody>
        </p:sp>
        <p:sp>
          <p:nvSpPr>
            <p:cNvPr id="56" name="Ellipse 56"/>
            <p:cNvSpPr/>
            <p:nvPr/>
          </p:nvSpPr>
          <p:spPr>
            <a:xfrm>
              <a:off x="7267575" y="4705350"/>
              <a:ext cx="133350" cy="133350"/>
            </a:xfrm>
            <a:prstGeom prst="ellipse">
              <a:avLst/>
            </a:prstGeom>
            <a:noFill/>
            <a:ln w="23812">
              <a:solidFill>
                <a:srgbClr val="FFFFFF"/>
              </a:solidFill>
            </a:ln>
          </p:spPr>
        </p:sp>
        <p:sp>
          <p:nvSpPr>
            <p:cNvPr id="57" name="Rectangle 57"/>
            <p:cNvSpPr/>
            <p:nvPr/>
          </p:nvSpPr>
          <p:spPr>
            <a:xfrm>
              <a:off x="6286500" y="4362450"/>
              <a:ext cx="1181100" cy="209550"/>
            </a:xfrm>
            <a:prstGeom prst="roundRect">
              <a:avLst>
                <a:gd name="adj" fmla="val 13636"/>
              </a:avLst>
            </a:prstGeom>
            <a:solidFill>
              <a:srgbClr val="0B1E3C">
                <a:alpha val="85000"/>
              </a:srgbClr>
            </a:solidFill>
            <a:ln>
              <a:noFill/>
            </a:ln>
          </p:spPr>
        </p:sp>
        <p:sp>
          <p:nvSpPr>
            <p:cNvPr id="58" name="TextBox 58"/>
            <p:cNvSpPr txBox="1"/>
            <p:nvPr/>
          </p:nvSpPr>
          <p:spPr>
            <a:xfrm>
              <a:off x="6381598" y="4400550"/>
              <a:ext cx="990905" cy="176212"/>
            </a:xfrm>
            <a:prstGeom prst="rect">
              <a:avLst/>
            </a:prstGeom>
            <a:noFill/>
            <a:ln>
              <a:noFill/>
            </a:ln>
          </p:spPr>
          <p:txBody>
            <a:bodyPr wrap="none" lIns="0" tIns="0" rIns="0" bIns="0" anchor="t" anchorCtr="0">
              <a:spAutoFit/>
            </a:bodyPr>
            <a:lstStyle/>
            <a:p>
              <a:pPr algn="ctr"/>
              <a:r>
                <a:rPr lang="ko-KR" sz="900" b="1" dirty="0">
                  <a:solidFill>
                    <a:srgbClr val="FFFFFF"/>
                  </a:solidFill>
                  <a:latin typeface="+mn-lt"/>
                  <a:ea typeface="+mn-ea"/>
                  <a:cs typeface="+mn-cs"/>
                </a:rPr>
                <a:t>기준점 2 · 경계석</a:t>
              </a:r>
            </a:p>
          </p:txBody>
        </p:sp>
        <p:sp>
          <p:nvSpPr>
            <p:cNvPr id="59" name="Rectangle 59"/>
            <p:cNvSpPr/>
            <p:nvPr/>
          </p:nvSpPr>
          <p:spPr>
            <a:xfrm>
              <a:off x="6096000" y="2381250"/>
              <a:ext cx="5562600" cy="228600"/>
            </a:xfrm>
            <a:prstGeom prst="rect">
              <a:avLst/>
            </a:prstGeom>
            <a:solidFill>
              <a:srgbClr val="C62828">
                <a:alpha val="92000"/>
              </a:srgbClr>
            </a:solidFill>
            <a:ln>
              <a:noFill/>
            </a:ln>
          </p:spPr>
        </p:sp>
        <p:sp>
          <p:nvSpPr>
            <p:cNvPr id="60" name="TextBox 60"/>
            <p:cNvSpPr txBox="1"/>
            <p:nvPr/>
          </p:nvSpPr>
          <p:spPr>
            <a:xfrm>
              <a:off x="6762062" y="2428875"/>
              <a:ext cx="4230475" cy="176212"/>
            </a:xfrm>
            <a:prstGeom prst="rect">
              <a:avLst/>
            </a:prstGeom>
            <a:noFill/>
            <a:ln>
              <a:noFill/>
            </a:ln>
          </p:spPr>
          <p:txBody>
            <a:bodyPr wrap="none" lIns="0" tIns="0" rIns="0" bIns="0" anchor="t" anchorCtr="0">
              <a:spAutoFit/>
            </a:bodyPr>
            <a:lstStyle/>
            <a:p>
              <a:pPr algn="ctr"/>
              <a:r>
                <a:rPr lang="ko-KR" sz="900" b="1" dirty="0">
                  <a:solidFill>
                    <a:srgbClr val="FFFFFF"/>
                  </a:solidFill>
                  <a:latin typeface="+mn-lt"/>
                  <a:ea typeface="+mn-ea"/>
                  <a:cs typeface="+mn-cs"/>
                </a:rPr>
                <a:t>GPR 기반 추정 위치입니다. 굴착 전 정밀조사와 관계기관 승인이 필요합니다.</a:t>
              </a:r>
            </a:p>
          </p:txBody>
        </p:sp>
        <p:sp>
          <p:nvSpPr>
            <p:cNvPr id="61" name="Rectangle 61"/>
            <p:cNvSpPr/>
            <p:nvPr/>
          </p:nvSpPr>
          <p:spPr>
            <a:xfrm>
              <a:off x="6248400" y="2724150"/>
              <a:ext cx="2571750" cy="685800"/>
            </a:xfrm>
            <a:prstGeom prst="roundRect">
              <a:avLst>
                <a:gd name="adj" fmla="val 8333"/>
              </a:avLst>
            </a:prstGeom>
            <a:solidFill>
              <a:srgbClr val="0B1E3C">
                <a:alpha val="85000"/>
              </a:srgbClr>
            </a:solidFill>
            <a:ln>
              <a:noFill/>
            </a:ln>
          </p:spPr>
        </p:sp>
        <p:sp>
          <p:nvSpPr>
            <p:cNvPr id="62" name="TextBox 62"/>
            <p:cNvSpPr txBox="1"/>
            <p:nvPr/>
          </p:nvSpPr>
          <p:spPr>
            <a:xfrm>
              <a:off x="6395085" y="2813050"/>
              <a:ext cx="2265102" cy="220028"/>
            </a:xfrm>
            <a:prstGeom prst="rect">
              <a:avLst/>
            </a:prstGeom>
            <a:noFill/>
            <a:ln>
              <a:noFill/>
            </a:ln>
          </p:spPr>
          <p:txBody>
            <a:bodyPr wrap="none" lIns="0" tIns="0" rIns="0" bIns="0" anchor="t" anchorCtr="0">
              <a:spAutoFit/>
            </a:bodyPr>
            <a:lstStyle/>
            <a:p>
              <a:pPr algn="l"/>
              <a:r>
                <a:rPr lang="ko-KR" sz="1120" b="1" dirty="0">
                  <a:solidFill>
                    <a:srgbClr val="FFFFFF"/>
                  </a:solidFill>
                  <a:latin typeface="+mn-lt"/>
                  <a:ea typeface="+mn-ea"/>
                  <a:cs typeface="+mn-cs"/>
                </a:rPr>
                <a:t>재확인 R-0427 · 재탐사 3 / 4회</a:t>
              </a:r>
            </a:p>
          </p:txBody>
        </p:sp>
        <p:sp>
          <p:nvSpPr>
            <p:cNvPr id="63" name="TextBox 63"/>
            <p:cNvSpPr txBox="1"/>
            <p:nvPr/>
          </p:nvSpPr>
          <p:spPr>
            <a:xfrm>
              <a:off x="6395847" y="3038475"/>
              <a:ext cx="2549512" cy="191643"/>
            </a:xfrm>
            <a:prstGeom prst="rect">
              <a:avLst/>
            </a:prstGeom>
            <a:noFill/>
            <a:ln>
              <a:noFill/>
            </a:ln>
          </p:spPr>
          <p:txBody>
            <a:bodyPr wrap="none" lIns="0" tIns="0" rIns="0" bIns="0" anchor="t" anchorCtr="0">
              <a:spAutoFit/>
            </a:bodyPr>
            <a:lstStyle/>
            <a:p>
              <a:pPr algn="l"/>
              <a:r>
                <a:rPr lang="ko-KR" sz="980" dirty="0">
                  <a:solidFill>
                    <a:srgbClr val="E5E9F0"/>
                  </a:solidFill>
                  <a:latin typeface="+mn-lt"/>
                  <a:ea typeface="+mn-ea"/>
                  <a:cs typeface="+mn-cs"/>
                </a:rPr>
                <a:t>추정 깊이 0.9~1.3m · 지난 회차 대비 신규</a:t>
              </a:r>
            </a:p>
          </p:txBody>
        </p:sp>
        <p:sp>
          <p:nvSpPr>
            <p:cNvPr id="64" name="TextBox 64"/>
            <p:cNvSpPr txBox="1"/>
            <p:nvPr/>
          </p:nvSpPr>
          <p:spPr>
            <a:xfrm>
              <a:off x="6396038" y="3209925"/>
              <a:ext cx="2559901" cy="176212"/>
            </a:xfrm>
            <a:prstGeom prst="rect">
              <a:avLst/>
            </a:prstGeom>
            <a:noFill/>
            <a:ln>
              <a:noFill/>
            </a:ln>
          </p:spPr>
          <p:txBody>
            <a:bodyPr wrap="none" lIns="0" tIns="0" rIns="0" bIns="0" anchor="t" anchorCtr="0">
              <a:spAutoFit/>
            </a:bodyPr>
            <a:lstStyle/>
            <a:p>
              <a:pPr algn="l"/>
              <a:r>
                <a:rPr lang="ko-KR" sz="900" dirty="0">
                  <a:solidFill>
                    <a:srgbClr val="C9D3E2"/>
                  </a:solidFill>
                  <a:latin typeface="+mn-lt"/>
                  <a:ea typeface="+mn-ea"/>
                  <a:cs typeface="+mn-cs"/>
                </a:rPr>
                <a:t>[화면 예시] 전문가 승인 · 위치 오차 기준 충족</a:t>
              </a:r>
            </a:p>
          </p:txBody>
        </p:sp>
        <p:sp>
          <p:nvSpPr>
            <p:cNvPr id="65" name="TextBox 65"/>
            <p:cNvSpPr txBox="1"/>
            <p:nvPr/>
          </p:nvSpPr>
          <p:spPr>
            <a:xfrm>
              <a:off x="6089142" y="5626100"/>
              <a:ext cx="3922613" cy="264033"/>
            </a:xfrm>
            <a:prstGeom prst="rect">
              <a:avLst/>
            </a:prstGeom>
            <a:noFill/>
            <a:ln>
              <a:noFill/>
            </a:ln>
          </p:spPr>
          <p:txBody>
            <a:bodyPr wrap="none" lIns="0" tIns="0" rIns="0" bIns="0" anchor="t" anchorCtr="0">
              <a:spAutoFit/>
            </a:bodyPr>
            <a:lstStyle/>
            <a:p>
              <a:pPr algn="l"/>
              <a:r>
                <a:rPr lang="ko-KR" sz="1350" b="1" dirty="0">
                  <a:solidFill>
                    <a:srgbClr val="111827"/>
                  </a:solidFill>
                  <a:latin typeface="+mn-lt"/>
                  <a:ea typeface="+mn-ea"/>
                  <a:cs typeface="+mn-cs"/>
                </a:rPr>
                <a:t>차량 밖 · 산업용 AR 글래스 (정차 후 작업자만)</a:t>
              </a:r>
            </a:p>
          </p:txBody>
        </p:sp>
        <p:sp>
          <p:nvSpPr>
            <p:cNvPr id="66" name="TextBox 66"/>
            <p:cNvSpPr txBox="1"/>
            <p:nvPr/>
          </p:nvSpPr>
          <p:spPr>
            <a:xfrm>
              <a:off x="6089904" y="5886450"/>
              <a:ext cx="4286707" cy="234696"/>
            </a:xfrm>
            <a:prstGeom prst="rect">
              <a:avLst/>
            </a:prstGeom>
            <a:noFill/>
            <a:ln>
              <a:noFill/>
            </a:ln>
          </p:spPr>
          <p:txBody>
            <a:bodyPr wrap="none" lIns="0" tIns="0" rIns="0" bIns="0" anchor="t" anchorCtr="0">
              <a:spAutoFit/>
            </a:bodyPr>
            <a:lstStyle/>
            <a:p>
              <a:pPr algn="l"/>
              <a:r>
                <a:rPr lang="ko-KR" sz="1200" dirty="0">
                  <a:solidFill>
                    <a:srgbClr val="4B5563"/>
                  </a:solidFill>
                  <a:latin typeface="+mn-lt"/>
                  <a:ea typeface="+mn-ea"/>
                  <a:cs typeface="+mn-cs"/>
                </a:rPr>
                <a:t>두 손으로 수동 GPR을 미는 동안 재탐사 범위를 눈앞에 표시</a:t>
              </a:r>
            </a:p>
          </p:txBody>
        </p:sp>
      </p:grpSp>
      <p:grpSp>
        <p:nvGrpSpPr>
          <p:cNvPr id="69" name="source"/>
          <p:cNvGrpSpPr/>
          <p:nvPr/>
        </p:nvGrpSpPr>
        <p:grpSpPr>
          <a:xfrm>
            <a:off x="528447" y="6343650"/>
            <a:ext cx="8746670" cy="191643"/>
            <a:chOff x="528447" y="6343650"/>
            <a:chExt cx="8746670" cy="191643"/>
          </a:xfrm>
        </p:grpSpPr>
        <p:sp>
          <p:nvSpPr>
            <p:cNvPr id="68" name="TextBox 68"/>
            <p:cNvSpPr txBox="1"/>
            <p:nvPr/>
          </p:nvSpPr>
          <p:spPr>
            <a:xfrm>
              <a:off x="528447" y="6343650"/>
              <a:ext cx="8746670" cy="191643"/>
            </a:xfrm>
            <a:prstGeom prst="rect">
              <a:avLst/>
            </a:prstGeom>
            <a:noFill/>
            <a:ln>
              <a:noFill/>
            </a:ln>
          </p:spPr>
          <p:txBody>
            <a:bodyPr wrap="none" lIns="0" tIns="0" rIns="0" bIns="0" anchor="t" anchorCtr="0">
              <a:spAutoFit/>
            </a:bodyPr>
            <a:lstStyle/>
            <a:p>
              <a:pPr algn="l"/>
              <a:r>
                <a:rPr lang="ko-KR" sz="980" dirty="0">
                  <a:solidFill>
                    <a:srgbClr val="4B5563"/>
                  </a:solidFill>
                  <a:latin typeface="+mn-lt"/>
                  <a:ea typeface="+mn-ea"/>
                  <a:cs typeface="+mn-cs"/>
                </a:rPr>
                <a:t>2인 1조 운용 · 운전자는 주행 중 AR 미사용 · 앱 배포는 기아 PBV 파트너 승인 필요 · 화면 수치는 예시 · 실내 사진: Alexander Migl, CC BY-SA 4.0</a:t>
              </a:r>
            </a:p>
          </p:txBody>
        </p:sp>
      </p:grpSp>
      <p:grpSp>
        <p:nvGrpSpPr>
          <p:cNvPr id="72" name="footer"/>
          <p:cNvGrpSpPr/>
          <p:nvPr/>
        </p:nvGrpSpPr>
        <p:grpSpPr>
          <a:xfrm>
            <a:off x="528638" y="6610350"/>
            <a:ext cx="11134724" cy="176212"/>
            <a:chOff x="528638" y="6610350"/>
            <a:chExt cx="11134724" cy="176212"/>
          </a:xfrm>
        </p:grpSpPr>
        <p:sp>
          <p:nvSpPr>
            <p:cNvPr id="70" name="TextBox 70"/>
            <p:cNvSpPr txBox="1"/>
            <p:nvPr/>
          </p:nvSpPr>
          <p:spPr>
            <a:xfrm>
              <a:off x="528638" y="6610350"/>
              <a:ext cx="1020324" cy="176212"/>
            </a:xfrm>
            <a:prstGeom prst="rect">
              <a:avLst/>
            </a:prstGeom>
            <a:noFill/>
            <a:ln>
              <a:noFill/>
            </a:ln>
          </p:spPr>
          <p:txBody>
            <a:bodyPr wrap="none" lIns="0" tIns="0" rIns="0" bIns="0" anchor="t" anchorCtr="0">
              <a:spAutoFit/>
            </a:bodyPr>
            <a:lstStyle/>
            <a:p>
              <a:pPr algn="l"/>
              <a:r>
                <a:rPr lang="en-US" sz="900" dirty="0">
                  <a:solidFill>
                    <a:srgbClr val="4B5563"/>
                  </a:solidFill>
                  <a:latin typeface="+mn-lt"/>
                  <a:ea typeface="+mn-ea"/>
                  <a:cs typeface="+mn-cs"/>
                </a:rPr>
                <a:t>PV5 GroundWatch</a:t>
              </a:r>
            </a:p>
          </p:txBody>
        </p:sp>
        <p:sp>
          <p:nvSpPr>
            <p:cNvPr id="71" name="TextBox 71"/>
            <p:cNvSpPr txBox="1"/>
            <p:nvPr/>
          </p:nvSpPr>
          <p:spPr>
            <a:xfrm>
              <a:off x="11247958" y="6610350"/>
              <a:ext cx="415404" cy="176212"/>
            </a:xfrm>
            <a:prstGeom prst="rect">
              <a:avLst/>
            </a:prstGeom>
            <a:noFill/>
            <a:ln>
              <a:noFill/>
            </a:ln>
          </p:spPr>
          <p:txBody>
            <a:bodyPr wrap="none" lIns="0" tIns="0" rIns="0" bIns="0" anchor="t" anchorCtr="0">
              <a:spAutoFit/>
            </a:bodyPr>
            <a:lstStyle/>
            <a:p>
              <a:pPr algn="r"/>
              <a:r>
                <a:rPr lang="ko-KR" sz="900" dirty="0">
                  <a:solidFill>
                    <a:srgbClr val="4B5563"/>
                  </a:solidFill>
                  <a:latin typeface="+mn-lt"/>
                  <a:ea typeface="+mn-ea"/>
                  <a:cs typeface="+mn-cs"/>
                </a:rPr>
                <a:t>08 / 15</a:t>
              </a:r>
            </a:p>
          </p:txBody>
        </p:sp>
      </p:grpSp>
    </p:spTree>
  </p:cSld>
  <p:clrMapOvr>
    <a:masterClrMapping/>
  </p:clrMapOvr>
  <p:transition xmlns:p14="http://schemas.microsoft.com/office/powerpoint/2010/main" p14:dur="400">
    <p:fade/>
  </p:transition>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grpSp>
        <p:nvGrpSpPr>
          <p:cNvPr id="16" name="header"/>
          <p:cNvGrpSpPr/>
          <p:nvPr/>
        </p:nvGrpSpPr>
        <p:grpSpPr>
          <a:xfrm>
            <a:off x="533400" y="266700"/>
            <a:ext cx="11125200" cy="333375"/>
            <a:chOff x="533400" y="266700"/>
            <a:chExt cx="11125200" cy="333375"/>
          </a:xfrm>
        </p:grpSpPr>
        <p:sp>
          <p:nvSpPr>
            <p:cNvPr id="2" name="Rectangle 2"/>
            <p:cNvSpPr/>
            <p:nvPr/>
          </p:nvSpPr>
          <p:spPr>
            <a:xfrm>
              <a:off x="533400" y="266700"/>
              <a:ext cx="1333500" cy="228600"/>
            </a:xfrm>
            <a:prstGeom prst="rect">
              <a:avLst/>
            </a:prstGeom>
            <a:solidFill>
              <a:srgbClr val="0B1E3C"/>
            </a:solidFill>
            <a:ln>
              <a:noFill/>
            </a:ln>
          </p:spPr>
        </p:sp>
        <p:sp>
          <p:nvSpPr>
            <p:cNvPr id="3" name="TextBox 3"/>
            <p:cNvSpPr txBox="1"/>
            <p:nvPr/>
          </p:nvSpPr>
          <p:spPr>
            <a:xfrm>
              <a:off x="617357" y="314325"/>
              <a:ext cx="1165586" cy="191643"/>
            </a:xfrm>
            <a:prstGeom prst="rect">
              <a:avLst/>
            </a:prstGeom>
            <a:noFill/>
            <a:ln>
              <a:noFill/>
            </a:ln>
          </p:spPr>
          <p:txBody>
            <a:bodyPr wrap="none" lIns="0" tIns="0" rIns="0" bIns="0" anchor="t" anchorCtr="0">
              <a:spAutoFit/>
            </a:bodyPr>
            <a:lstStyle/>
            <a:p>
              <a:pPr algn="ctr"/>
              <a:r>
                <a:rPr lang="en-US" sz="980" b="1" dirty="0">
                  <a:solidFill>
                    <a:srgbClr val="FFFFFF"/>
                  </a:solidFill>
                  <a:latin typeface="+mn-lt"/>
                  <a:ea typeface="+mn-ea"/>
                  <a:cs typeface="+mn-cs"/>
                </a:rPr>
                <a:t>PV5 GroundWatch</a:t>
              </a:r>
            </a:p>
          </p:txBody>
        </p:sp>
        <p:sp>
          <p:nvSpPr>
            <p:cNvPr id="4" name="TextBox 4"/>
            <p:cNvSpPr txBox="1"/>
            <p:nvPr/>
          </p:nvSpPr>
          <p:spPr>
            <a:xfrm>
              <a:off x="1994916" y="301625"/>
              <a:ext cx="1192416" cy="205359"/>
            </a:xfrm>
            <a:prstGeom prst="rect">
              <a:avLst/>
            </a:prstGeom>
            <a:noFill/>
            <a:ln>
              <a:noFill/>
            </a:ln>
          </p:spPr>
          <p:txBody>
            <a:bodyPr wrap="none" lIns="0" tIns="0" rIns="0" bIns="0" anchor="t" anchorCtr="0">
              <a:spAutoFit/>
            </a:bodyPr>
            <a:lstStyle/>
            <a:p>
              <a:pPr algn="l"/>
              <a:r>
                <a:rPr lang="ko-KR" sz="1050" dirty="0">
                  <a:solidFill>
                    <a:srgbClr val="374151"/>
                  </a:solidFill>
                  <a:latin typeface="+mn-lt"/>
                  <a:ea typeface="+mn-ea"/>
                  <a:cs typeface="+mn-cs"/>
                </a:rPr>
                <a:t>PV5 이동형 탐사실</a:t>
              </a:r>
            </a:p>
          </p:txBody>
        </p:sp>
        <p:sp>
          <p:nvSpPr>
            <p:cNvPr id="5" name="TextBox 5"/>
            <p:cNvSpPr txBox="1"/>
            <p:nvPr/>
          </p:nvSpPr>
          <p:spPr>
            <a:xfrm>
              <a:off x="8425815" y="301625"/>
              <a:ext cx="293370" cy="205359"/>
            </a:xfrm>
            <a:prstGeom prst="rect">
              <a:avLst/>
            </a:prstGeom>
            <a:noFill/>
            <a:ln>
              <a:noFill/>
            </a:ln>
          </p:spPr>
          <p:txBody>
            <a:bodyPr wrap="none" lIns="0" tIns="0" rIns="0" bIns="0" anchor="t" anchorCtr="0">
              <a:spAutoFit/>
            </a:bodyPr>
            <a:lstStyle/>
            <a:p>
              <a:pPr algn="ctr"/>
              <a:r>
                <a:rPr lang="ko-KR" sz="1050" dirty="0">
                  <a:solidFill>
                    <a:srgbClr val="9AA3AF"/>
                  </a:solidFill>
                  <a:latin typeface="+mn-lt"/>
                  <a:ea typeface="+mn-ea"/>
                  <a:cs typeface="+mn-cs"/>
                </a:rPr>
                <a:t>문제</a:t>
              </a:r>
            </a:p>
          </p:txBody>
        </p:sp>
        <p:sp>
          <p:nvSpPr>
            <p:cNvPr id="6" name="TextBox 6"/>
            <p:cNvSpPr txBox="1"/>
            <p:nvPr/>
          </p:nvSpPr>
          <p:spPr>
            <a:xfrm>
              <a:off x="884874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7" name="TextBox 7"/>
            <p:cNvSpPr txBox="1"/>
            <p:nvPr/>
          </p:nvSpPr>
          <p:spPr>
            <a:xfrm>
              <a:off x="9054465" y="301625"/>
              <a:ext cx="293370" cy="205359"/>
            </a:xfrm>
            <a:prstGeom prst="rect">
              <a:avLst/>
            </a:prstGeom>
            <a:noFill/>
            <a:ln>
              <a:noFill/>
            </a:ln>
          </p:spPr>
          <p:txBody>
            <a:bodyPr wrap="none" lIns="0" tIns="0" rIns="0" bIns="0" anchor="t" anchorCtr="0">
              <a:spAutoFit/>
            </a:bodyPr>
            <a:lstStyle/>
            <a:p>
              <a:pPr algn="ctr"/>
              <a:r>
                <a:rPr lang="ko-KR" sz="1050" dirty="0">
                  <a:solidFill>
                    <a:srgbClr val="9AA3AF"/>
                  </a:solidFill>
                  <a:latin typeface="+mn-lt"/>
                  <a:ea typeface="+mn-ea"/>
                  <a:cs typeface="+mn-cs"/>
                </a:rPr>
                <a:t>해법</a:t>
              </a:r>
            </a:p>
          </p:txBody>
        </p:sp>
        <p:sp>
          <p:nvSpPr>
            <p:cNvPr id="8" name="TextBox 8"/>
            <p:cNvSpPr txBox="1"/>
            <p:nvPr/>
          </p:nvSpPr>
          <p:spPr>
            <a:xfrm>
              <a:off x="947739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9" name="TextBox 9"/>
            <p:cNvSpPr txBox="1"/>
            <p:nvPr/>
          </p:nvSpPr>
          <p:spPr>
            <a:xfrm>
              <a:off x="9695090" y="301625"/>
              <a:ext cx="269420" cy="205359"/>
            </a:xfrm>
            <a:prstGeom prst="rect">
              <a:avLst/>
            </a:prstGeom>
            <a:noFill/>
            <a:ln>
              <a:noFill/>
            </a:ln>
          </p:spPr>
          <p:txBody>
            <a:bodyPr wrap="none" lIns="0" tIns="0" rIns="0" bIns="0" anchor="t" anchorCtr="0">
              <a:spAutoFit/>
            </a:bodyPr>
            <a:lstStyle/>
            <a:p>
              <a:pPr algn="ctr"/>
              <a:r>
                <a:rPr lang="en-US" sz="1050" b="1" dirty="0">
                  <a:solidFill>
                    <a:srgbClr val="0B1E3C"/>
                  </a:solidFill>
                  <a:latin typeface="+mn-lt"/>
                  <a:ea typeface="+mn-ea"/>
                  <a:cs typeface="+mn-cs"/>
                </a:rPr>
                <a:t>PV5</a:t>
              </a:r>
            </a:p>
          </p:txBody>
        </p:sp>
        <p:sp>
          <p:nvSpPr>
            <p:cNvPr id="10" name="Rectangle 10"/>
            <p:cNvSpPr/>
            <p:nvPr/>
          </p:nvSpPr>
          <p:spPr>
            <a:xfrm>
              <a:off x="9601200" y="514350"/>
              <a:ext cx="457200" cy="28575"/>
            </a:xfrm>
            <a:prstGeom prst="rect">
              <a:avLst/>
            </a:prstGeom>
            <a:solidFill>
              <a:srgbClr val="F5B700"/>
            </a:solidFill>
            <a:ln>
              <a:noFill/>
            </a:ln>
          </p:spPr>
        </p:sp>
        <p:sp>
          <p:nvSpPr>
            <p:cNvPr id="11" name="TextBox 11"/>
            <p:cNvSpPr txBox="1"/>
            <p:nvPr/>
          </p:nvSpPr>
          <p:spPr>
            <a:xfrm>
              <a:off x="1010604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12" name="TextBox 12"/>
            <p:cNvSpPr txBox="1"/>
            <p:nvPr/>
          </p:nvSpPr>
          <p:spPr>
            <a:xfrm>
              <a:off x="10311765" y="301625"/>
              <a:ext cx="293370" cy="205359"/>
            </a:xfrm>
            <a:prstGeom prst="rect">
              <a:avLst/>
            </a:prstGeom>
            <a:noFill/>
            <a:ln>
              <a:noFill/>
            </a:ln>
          </p:spPr>
          <p:txBody>
            <a:bodyPr wrap="none" lIns="0" tIns="0" rIns="0" bIns="0" anchor="t" anchorCtr="0">
              <a:spAutoFit/>
            </a:bodyPr>
            <a:lstStyle/>
            <a:p>
              <a:pPr algn="ctr"/>
              <a:r>
                <a:rPr lang="ko-KR" sz="1050" dirty="0">
                  <a:solidFill>
                    <a:srgbClr val="9AA3AF"/>
                  </a:solidFill>
                  <a:latin typeface="+mn-lt"/>
                  <a:ea typeface="+mn-ea"/>
                  <a:cs typeface="+mn-cs"/>
                </a:rPr>
                <a:t>검증</a:t>
              </a:r>
            </a:p>
          </p:txBody>
        </p:sp>
        <p:sp>
          <p:nvSpPr>
            <p:cNvPr id="13" name="TextBox 13"/>
            <p:cNvSpPr txBox="1"/>
            <p:nvPr/>
          </p:nvSpPr>
          <p:spPr>
            <a:xfrm>
              <a:off x="1073469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14" name="TextBox 14"/>
            <p:cNvSpPr txBox="1"/>
            <p:nvPr/>
          </p:nvSpPr>
          <p:spPr>
            <a:xfrm>
              <a:off x="10940415" y="301625"/>
              <a:ext cx="293370" cy="205359"/>
            </a:xfrm>
            <a:prstGeom prst="rect">
              <a:avLst/>
            </a:prstGeom>
            <a:noFill/>
            <a:ln>
              <a:noFill/>
            </a:ln>
          </p:spPr>
          <p:txBody>
            <a:bodyPr wrap="none" lIns="0" tIns="0" rIns="0" bIns="0" anchor="t" anchorCtr="0">
              <a:spAutoFit/>
            </a:bodyPr>
            <a:lstStyle/>
            <a:p>
              <a:pPr algn="ctr"/>
              <a:r>
                <a:rPr lang="ko-KR" sz="1050" dirty="0">
                  <a:solidFill>
                    <a:srgbClr val="9AA3AF"/>
                  </a:solidFill>
                  <a:latin typeface="+mn-lt"/>
                  <a:ea typeface="+mn-ea"/>
                  <a:cs typeface="+mn-cs"/>
                </a:rPr>
                <a:t>사업</a:t>
              </a:r>
            </a:p>
          </p:txBody>
        </p:sp>
        <p:sp>
          <p:nvSpPr>
            <p:cNvPr id="15" name="Line 15"/>
            <p:cNvSpPr/>
            <p:nvPr/>
          </p:nvSpPr>
          <p:spPr>
            <a:xfrm>
              <a:off x="533400" y="590550"/>
              <a:ext cx="11125200" cy="9525"/>
            </a:xfrm>
            <a:custGeom>
              <a:avLst/>
              <a:gdLst/>
              <a:ahLst/>
              <a:cxnLst/>
              <a:rect l="l" t="t" r="r" b="b"/>
              <a:pathLst>
                <a:path w="11125200" h="9525">
                  <a:moveTo>
                    <a:pt x="0" y="0"/>
                  </a:moveTo>
                  <a:lnTo>
                    <a:pt x="11125200" y="0"/>
                  </a:lnTo>
                </a:path>
              </a:pathLst>
            </a:custGeom>
            <a:noFill/>
            <a:ln w="9525">
              <a:solidFill>
                <a:srgbClr val="0B1E3C"/>
              </a:solidFill>
            </a:ln>
          </p:spPr>
        </p:sp>
      </p:grpSp>
      <p:grpSp>
        <p:nvGrpSpPr>
          <p:cNvPr id="18" name="title"/>
          <p:cNvGrpSpPr/>
          <p:nvPr/>
        </p:nvGrpSpPr>
        <p:grpSpPr>
          <a:xfrm>
            <a:off x="518160" y="774700"/>
            <a:ext cx="9168708" cy="586740"/>
            <a:chOff x="518160" y="774700"/>
            <a:chExt cx="9168708" cy="586740"/>
          </a:xfrm>
        </p:grpSpPr>
        <p:sp>
          <p:nvSpPr>
            <p:cNvPr id="17" name="TextBox 17"/>
            <p:cNvSpPr txBox="1"/>
            <p:nvPr/>
          </p:nvSpPr>
          <p:spPr>
            <a:xfrm>
              <a:off x="518160" y="774700"/>
              <a:ext cx="9168708" cy="586740"/>
            </a:xfrm>
            <a:prstGeom prst="rect">
              <a:avLst/>
            </a:prstGeom>
            <a:noFill/>
            <a:ln>
              <a:noFill/>
            </a:ln>
          </p:spPr>
          <p:txBody>
            <a:bodyPr wrap="none" lIns="0" tIns="0" rIns="0" bIns="0" anchor="t" anchorCtr="0">
              <a:spAutoFit/>
            </a:bodyPr>
            <a:lstStyle/>
            <a:p>
              <a:pPr algn="l"/>
              <a:r>
                <a:rPr lang="ko-KR" sz="3000" b="1" spc="-75" dirty="0">
                  <a:solidFill>
                    <a:srgbClr val="0B1E3C"/>
                  </a:solidFill>
                  <a:latin typeface="+mn-lt"/>
                  <a:ea typeface="+mn-ea"/>
                  <a:cs typeface="+mn-cs"/>
                </a:rPr>
                <a:t>PV5 한 대에 탐사실이 들어가고, 차량과 연결됩니다</a:t>
              </a:r>
            </a:p>
          </p:txBody>
        </p:sp>
      </p:grpSp>
      <p:grpSp>
        <p:nvGrpSpPr>
          <p:cNvPr id="34" name="cutaway"/>
          <p:cNvGrpSpPr/>
          <p:nvPr/>
        </p:nvGrpSpPr>
        <p:grpSpPr>
          <a:xfrm>
            <a:off x="527685" y="1428750"/>
            <a:ext cx="5911215" cy="4096893"/>
            <a:chOff x="527685" y="1428750"/>
            <a:chExt cx="5911215" cy="4096893"/>
          </a:xfrm>
        </p:grpSpPr>
        <p:pic>
          <p:nvPicPr>
            <p:cNvPr id="19" name="Image 19"/>
            <p:cNvPicPr>
              <a:picLocks noChangeAspect="1"/>
            </p:cNvPicPr>
            <p:nvPr/>
          </p:nvPicPr>
          <p:blipFill>
            <a:blip r:embed="rId2"/>
            <a:stretch>
              <a:fillRect/>
            </a:stretch>
          </p:blipFill>
          <p:spPr>
            <a:xfrm>
              <a:off x="533400" y="1428750"/>
              <a:ext cx="5905500" cy="3324225"/>
            </a:xfrm>
            <a:prstGeom prst="rect">
              <a:avLst/>
            </a:prstGeom>
          </p:spPr>
        </p:pic>
        <p:grpSp>
          <p:nvGrpSpPr>
            <p:cNvPr id="28" name="Group 28"/>
            <p:cNvGrpSpPr/>
            <p:nvPr/>
          </p:nvGrpSpPr>
          <p:grpSpPr>
            <a:xfrm>
              <a:off x="2876550" y="2428875"/>
              <a:ext cx="2724150" cy="1969738"/>
              <a:chOff x="2876550" y="2428875"/>
              <a:chExt cx="2724150" cy="1969738"/>
            </a:xfrm>
          </p:grpSpPr>
          <p:sp>
            <p:nvSpPr>
              <p:cNvPr id="20" name="Ellipse 20"/>
              <p:cNvSpPr/>
              <p:nvPr/>
            </p:nvSpPr>
            <p:spPr>
              <a:xfrm>
                <a:off x="2876550" y="2676525"/>
                <a:ext cx="323850" cy="323850"/>
              </a:xfrm>
              <a:prstGeom prst="ellipse">
                <a:avLst/>
              </a:prstGeom>
              <a:solidFill>
                <a:srgbClr val="F5B700"/>
              </a:solidFill>
              <a:ln w="19050">
                <a:solidFill>
                  <a:srgbClr val="0B1E3C"/>
                </a:solidFill>
              </a:ln>
            </p:spPr>
          </p:sp>
          <p:sp>
            <p:nvSpPr>
              <p:cNvPr id="21" name="TextBox 21"/>
              <p:cNvSpPr txBox="1"/>
              <p:nvPr/>
            </p:nvSpPr>
            <p:spPr>
              <a:xfrm>
                <a:off x="2983093" y="2743200"/>
                <a:ext cx="110764" cy="234696"/>
              </a:xfrm>
              <a:prstGeom prst="rect">
                <a:avLst/>
              </a:prstGeom>
              <a:noFill/>
              <a:ln>
                <a:noFill/>
              </a:ln>
            </p:spPr>
            <p:txBody>
              <a:bodyPr wrap="none" lIns="0" tIns="0" rIns="0" bIns="0" anchor="t" anchorCtr="0">
                <a:spAutoFit/>
              </a:bodyPr>
              <a:lstStyle/>
              <a:p>
                <a:pPr algn="ctr"/>
                <a:r>
                  <a:rPr lang="en-US" sz="1200" b="1" dirty="0">
                    <a:solidFill>
                      <a:srgbClr val="0B1E3C"/>
                    </a:solidFill>
                    <a:latin typeface="+mn-lt"/>
                    <a:ea typeface="+mn-ea"/>
                    <a:cs typeface="+mn-cs"/>
                  </a:rPr>
                  <a:t>A</a:t>
                </a:r>
              </a:p>
            </p:txBody>
          </p:sp>
          <p:sp>
            <p:nvSpPr>
              <p:cNvPr id="22" name="Ellipse 22"/>
              <p:cNvSpPr/>
              <p:nvPr/>
            </p:nvSpPr>
            <p:spPr>
              <a:xfrm>
                <a:off x="4114800" y="2428875"/>
                <a:ext cx="323850" cy="323850"/>
              </a:xfrm>
              <a:prstGeom prst="ellipse">
                <a:avLst/>
              </a:prstGeom>
              <a:solidFill>
                <a:srgbClr val="F5B700"/>
              </a:solidFill>
              <a:ln w="19050">
                <a:solidFill>
                  <a:srgbClr val="0B1E3C"/>
                </a:solidFill>
              </a:ln>
            </p:spPr>
          </p:sp>
          <p:sp>
            <p:nvSpPr>
              <p:cNvPr id="23" name="TextBox 23"/>
              <p:cNvSpPr txBox="1"/>
              <p:nvPr/>
            </p:nvSpPr>
            <p:spPr>
              <a:xfrm>
                <a:off x="4221343" y="2495550"/>
                <a:ext cx="110764" cy="234696"/>
              </a:xfrm>
              <a:prstGeom prst="rect">
                <a:avLst/>
              </a:prstGeom>
              <a:noFill/>
              <a:ln>
                <a:noFill/>
              </a:ln>
            </p:spPr>
            <p:txBody>
              <a:bodyPr wrap="none" lIns="0" tIns="0" rIns="0" bIns="0" anchor="t" anchorCtr="0">
                <a:spAutoFit/>
              </a:bodyPr>
              <a:lstStyle/>
              <a:p>
                <a:pPr algn="ctr"/>
                <a:r>
                  <a:rPr lang="en-US" sz="1200" b="1" dirty="0">
                    <a:solidFill>
                      <a:srgbClr val="0B1E3C"/>
                    </a:solidFill>
                    <a:latin typeface="+mn-lt"/>
                    <a:ea typeface="+mn-ea"/>
                    <a:cs typeface="+mn-cs"/>
                  </a:rPr>
                  <a:t>B</a:t>
                </a:r>
              </a:p>
            </p:txBody>
          </p:sp>
          <p:sp>
            <p:nvSpPr>
              <p:cNvPr id="24" name="Ellipse 24"/>
              <p:cNvSpPr/>
              <p:nvPr/>
            </p:nvSpPr>
            <p:spPr>
              <a:xfrm>
                <a:off x="5276850" y="2428875"/>
                <a:ext cx="323850" cy="323850"/>
              </a:xfrm>
              <a:prstGeom prst="ellipse">
                <a:avLst/>
              </a:prstGeom>
              <a:solidFill>
                <a:srgbClr val="F5B700"/>
              </a:solidFill>
              <a:ln w="19050">
                <a:solidFill>
                  <a:srgbClr val="0B1E3C"/>
                </a:solidFill>
              </a:ln>
            </p:spPr>
          </p:sp>
          <p:sp>
            <p:nvSpPr>
              <p:cNvPr id="25" name="TextBox 25"/>
              <p:cNvSpPr txBox="1"/>
              <p:nvPr/>
            </p:nvSpPr>
            <p:spPr>
              <a:xfrm>
                <a:off x="5383393" y="2495550"/>
                <a:ext cx="110764" cy="234696"/>
              </a:xfrm>
              <a:prstGeom prst="rect">
                <a:avLst/>
              </a:prstGeom>
              <a:noFill/>
              <a:ln>
                <a:noFill/>
              </a:ln>
            </p:spPr>
            <p:txBody>
              <a:bodyPr wrap="none" lIns="0" tIns="0" rIns="0" bIns="0" anchor="t" anchorCtr="0">
                <a:spAutoFit/>
              </a:bodyPr>
              <a:lstStyle/>
              <a:p>
                <a:pPr algn="ctr"/>
                <a:r>
                  <a:rPr lang="en-US" sz="1200" b="1" dirty="0">
                    <a:solidFill>
                      <a:srgbClr val="0B1E3C"/>
                    </a:solidFill>
                    <a:latin typeface="+mn-lt"/>
                    <a:ea typeface="+mn-ea"/>
                    <a:cs typeface="+mn-cs"/>
                  </a:rPr>
                  <a:t>C</a:t>
                </a:r>
              </a:p>
            </p:txBody>
          </p:sp>
          <p:sp>
            <p:nvSpPr>
              <p:cNvPr id="26" name="Ellipse 26"/>
              <p:cNvSpPr/>
              <p:nvPr/>
            </p:nvSpPr>
            <p:spPr>
              <a:xfrm>
                <a:off x="4592212" y="4074763"/>
                <a:ext cx="323850" cy="323850"/>
              </a:xfrm>
              <a:prstGeom prst="ellipse">
                <a:avLst/>
              </a:prstGeom>
              <a:solidFill>
                <a:srgbClr val="F5B700"/>
              </a:solidFill>
              <a:ln w="19050">
                <a:solidFill>
                  <a:srgbClr val="0B1E3C"/>
                </a:solidFill>
              </a:ln>
            </p:spPr>
          </p:sp>
          <p:sp>
            <p:nvSpPr>
              <p:cNvPr id="27" name="TextBox 27"/>
              <p:cNvSpPr txBox="1"/>
              <p:nvPr/>
            </p:nvSpPr>
            <p:spPr>
              <a:xfrm>
                <a:off x="4698755" y="4141438"/>
                <a:ext cx="110764" cy="234696"/>
              </a:xfrm>
              <a:prstGeom prst="rect">
                <a:avLst/>
              </a:prstGeom>
              <a:noFill/>
              <a:ln>
                <a:noFill/>
              </a:ln>
            </p:spPr>
            <p:txBody>
              <a:bodyPr wrap="none" lIns="0" tIns="0" rIns="0" bIns="0" anchor="t" anchorCtr="0">
                <a:spAutoFit/>
              </a:bodyPr>
              <a:lstStyle/>
              <a:p>
                <a:pPr algn="ctr"/>
                <a:r>
                  <a:rPr lang="en-US" sz="1200" b="1" dirty="0">
                    <a:solidFill>
                      <a:srgbClr val="0B1E3C"/>
                    </a:solidFill>
                    <a:latin typeface="+mn-lt"/>
                    <a:ea typeface="+mn-ea"/>
                    <a:cs typeface="+mn-cs"/>
                  </a:rPr>
                  <a:t>D</a:t>
                </a:r>
              </a:p>
            </p:txBody>
          </p:sp>
        </p:grpSp>
        <p:sp>
          <p:nvSpPr>
            <p:cNvPr id="29" name="TextBox 29"/>
            <p:cNvSpPr txBox="1"/>
            <p:nvPr/>
          </p:nvSpPr>
          <p:spPr>
            <a:xfrm>
              <a:off x="527685" y="4832350"/>
              <a:ext cx="2703009" cy="220028"/>
            </a:xfrm>
            <a:prstGeom prst="rect">
              <a:avLst/>
            </a:prstGeom>
            <a:noFill/>
            <a:ln>
              <a:noFill/>
            </a:ln>
          </p:spPr>
          <p:txBody>
            <a:bodyPr wrap="none" lIns="0" tIns="0" rIns="0" bIns="0" anchor="t" anchorCtr="0">
              <a:spAutoFit/>
            </a:bodyPr>
            <a:lstStyle/>
            <a:p>
              <a:pPr algn="l"/>
              <a:r>
                <a:rPr lang="en-US" sz="1120" b="1" dirty="0">
                  <a:solidFill>
                    <a:srgbClr val="0B1E3C"/>
                  </a:solidFill>
                  <a:latin typeface="+mn-lt"/>
                  <a:ea typeface="+mn-ea"/>
                  <a:cs typeface="+mn-cs"/>
                </a:rPr>
                <a:t>A</a:t>
              </a:r>
              <a:r>
                <a:rPr lang="ko-KR" sz="1120" dirty="0">
                  <a:solidFill>
                    <a:srgbClr val="111827"/>
                  </a:solidFill>
                  <a:latin typeface="+mn-lt"/>
                  <a:ea typeface="+mn-ea"/>
                  <a:cs typeface="+mn-cs"/>
                </a:rPr>
                <a:t xml:space="preserve"> 분석 장비 랙 (엣지 컴퓨터·GPR 제어)</a:t>
              </a:r>
            </a:p>
          </p:txBody>
        </p:sp>
        <p:sp>
          <p:nvSpPr>
            <p:cNvPr id="30" name="TextBox 30"/>
            <p:cNvSpPr txBox="1"/>
            <p:nvPr/>
          </p:nvSpPr>
          <p:spPr>
            <a:xfrm>
              <a:off x="3804285" y="4832350"/>
              <a:ext cx="1523839" cy="220028"/>
            </a:xfrm>
            <a:prstGeom prst="rect">
              <a:avLst/>
            </a:prstGeom>
            <a:noFill/>
            <a:ln>
              <a:noFill/>
            </a:ln>
          </p:spPr>
          <p:txBody>
            <a:bodyPr wrap="none" lIns="0" tIns="0" rIns="0" bIns="0" anchor="t" anchorCtr="0">
              <a:spAutoFit/>
            </a:bodyPr>
            <a:lstStyle/>
            <a:p>
              <a:pPr algn="l"/>
              <a:r>
                <a:rPr lang="en-US" sz="1120" b="1" dirty="0">
                  <a:solidFill>
                    <a:srgbClr val="0B1E3C"/>
                  </a:solidFill>
                  <a:latin typeface="+mn-lt"/>
                  <a:ea typeface="+mn-ea"/>
                  <a:cs typeface="+mn-cs"/>
                </a:rPr>
                <a:t>B</a:t>
              </a:r>
              <a:r>
                <a:rPr lang="ko-KR" sz="1120" dirty="0">
                  <a:solidFill>
                    <a:srgbClr val="111827"/>
                  </a:solidFill>
                  <a:latin typeface="+mn-lt"/>
                  <a:ea typeface="+mn-ea"/>
                  <a:cs typeface="+mn-cs"/>
                </a:rPr>
                <a:t xml:space="preserve"> 수동 GPR·AR 글래스</a:t>
              </a:r>
            </a:p>
          </p:txBody>
        </p:sp>
        <p:sp>
          <p:nvSpPr>
            <p:cNvPr id="31" name="TextBox 31"/>
            <p:cNvSpPr txBox="1"/>
            <p:nvPr/>
          </p:nvSpPr>
          <p:spPr>
            <a:xfrm>
              <a:off x="527685" y="5060950"/>
              <a:ext cx="1287010" cy="220028"/>
            </a:xfrm>
            <a:prstGeom prst="rect">
              <a:avLst/>
            </a:prstGeom>
            <a:noFill/>
            <a:ln>
              <a:noFill/>
            </a:ln>
          </p:spPr>
          <p:txBody>
            <a:bodyPr wrap="none" lIns="0" tIns="0" rIns="0" bIns="0" anchor="t" anchorCtr="0">
              <a:spAutoFit/>
            </a:bodyPr>
            <a:lstStyle/>
            <a:p>
              <a:pPr algn="l"/>
              <a:r>
                <a:rPr lang="en-US" sz="1120" b="1" dirty="0">
                  <a:solidFill>
                    <a:srgbClr val="0B1E3C"/>
                  </a:solidFill>
                  <a:latin typeface="+mn-lt"/>
                  <a:ea typeface="+mn-ea"/>
                  <a:cs typeface="+mn-cs"/>
                </a:rPr>
                <a:t>C</a:t>
              </a:r>
              <a:r>
                <a:rPr lang="ko-KR" sz="1120" dirty="0">
                  <a:solidFill>
                    <a:srgbClr val="111827"/>
                  </a:solidFill>
                  <a:latin typeface="+mn-lt"/>
                  <a:ea typeface="+mn-ea"/>
                  <a:cs typeface="+mn-cs"/>
                </a:rPr>
                <a:t xml:space="preserve"> 내시경·안전장비</a:t>
              </a:r>
            </a:p>
          </p:txBody>
        </p:sp>
        <p:sp>
          <p:nvSpPr>
            <p:cNvPr id="32" name="TextBox 32"/>
            <p:cNvSpPr txBox="1"/>
            <p:nvPr/>
          </p:nvSpPr>
          <p:spPr>
            <a:xfrm>
              <a:off x="3804285" y="5060950"/>
              <a:ext cx="2102756" cy="220028"/>
            </a:xfrm>
            <a:prstGeom prst="rect">
              <a:avLst/>
            </a:prstGeom>
            <a:noFill/>
            <a:ln>
              <a:noFill/>
            </a:ln>
          </p:spPr>
          <p:txBody>
            <a:bodyPr wrap="none" lIns="0" tIns="0" rIns="0" bIns="0" anchor="t" anchorCtr="0">
              <a:spAutoFit/>
            </a:bodyPr>
            <a:lstStyle/>
            <a:p>
              <a:pPr algn="l"/>
              <a:r>
                <a:rPr lang="en-US" sz="1120" b="1" dirty="0">
                  <a:solidFill>
                    <a:srgbClr val="0B1E3C"/>
                  </a:solidFill>
                  <a:latin typeface="+mn-lt"/>
                  <a:ea typeface="+mn-ea"/>
                  <a:cs typeface="+mn-cs"/>
                </a:rPr>
                <a:t>D</a:t>
              </a:r>
              <a:r>
                <a:rPr lang="ko-KR" sz="1120" dirty="0">
                  <a:solidFill>
                    <a:srgbClr val="111827"/>
                  </a:solidFill>
                  <a:latin typeface="+mn-lt"/>
                  <a:ea typeface="+mn-ea"/>
                  <a:cs typeface="+mn-cs"/>
                </a:rPr>
                <a:t xml:space="preserve"> 바닥 아래 차량형 다채널 GPR</a:t>
              </a:r>
            </a:p>
          </p:txBody>
        </p:sp>
        <p:sp>
          <p:nvSpPr>
            <p:cNvPr id="33" name="TextBox 33"/>
            <p:cNvSpPr txBox="1"/>
            <p:nvPr/>
          </p:nvSpPr>
          <p:spPr>
            <a:xfrm>
              <a:off x="528447" y="5334000"/>
              <a:ext cx="3661065" cy="191643"/>
            </a:xfrm>
            <a:prstGeom prst="rect">
              <a:avLst/>
            </a:prstGeom>
            <a:noFill/>
            <a:ln>
              <a:noFill/>
            </a:ln>
          </p:spPr>
          <p:txBody>
            <a:bodyPr wrap="none" lIns="0" tIns="0" rIns="0" bIns="0" anchor="t" anchorCtr="0">
              <a:spAutoFit/>
            </a:bodyPr>
            <a:lstStyle/>
            <a:p>
              <a:pPr algn="l"/>
              <a:r>
                <a:rPr lang="ko-KR" sz="980" dirty="0">
                  <a:solidFill>
                    <a:srgbClr val="4B5563"/>
                  </a:solidFill>
                  <a:latin typeface="+mn-lt"/>
                  <a:ea typeface="+mn-ea"/>
                  <a:cs typeface="+mn-cs"/>
                </a:rPr>
                <a:t>콘셉트 이미지 · GPR 장착 위치는 배터리 팩 간섭 시험 후 확정</a:t>
              </a:r>
            </a:p>
          </p:txBody>
        </p:sp>
      </p:grpSp>
      <p:grpSp>
        <p:nvGrpSpPr>
          <p:cNvPr id="58" name="spec"/>
          <p:cNvGrpSpPr/>
          <p:nvPr/>
        </p:nvGrpSpPr>
        <p:grpSpPr>
          <a:xfrm>
            <a:off x="6622923" y="1466850"/>
            <a:ext cx="5035677" cy="3776028"/>
            <a:chOff x="6622923" y="1466850"/>
            <a:chExt cx="5035677" cy="3776028"/>
          </a:xfrm>
        </p:grpSpPr>
        <p:grpSp>
          <p:nvGrpSpPr>
            <p:cNvPr id="37" name="Group 37"/>
            <p:cNvGrpSpPr/>
            <p:nvPr/>
          </p:nvGrpSpPr>
          <p:grpSpPr>
            <a:xfrm>
              <a:off x="6624447" y="1466850"/>
              <a:ext cx="2877266" cy="191643"/>
              <a:chOff x="6624447" y="1466850"/>
              <a:chExt cx="2877266" cy="191643"/>
            </a:xfrm>
          </p:grpSpPr>
          <p:sp>
            <p:nvSpPr>
              <p:cNvPr id="35" name="TextBox 35"/>
              <p:cNvSpPr txBox="1"/>
              <p:nvPr/>
            </p:nvSpPr>
            <p:spPr>
              <a:xfrm>
                <a:off x="6624447" y="1466850"/>
                <a:ext cx="1148441" cy="191643"/>
              </a:xfrm>
              <a:prstGeom prst="rect">
                <a:avLst/>
              </a:prstGeom>
              <a:noFill/>
              <a:ln>
                <a:noFill/>
              </a:ln>
            </p:spPr>
            <p:txBody>
              <a:bodyPr wrap="none" lIns="0" tIns="0" rIns="0" bIns="0" anchor="t" anchorCtr="0">
                <a:spAutoFit/>
              </a:bodyPr>
              <a:lstStyle/>
              <a:p>
                <a:pPr algn="l"/>
                <a:r>
                  <a:rPr lang="ko-KR" sz="980" b="1" dirty="0">
                    <a:solidFill>
                      <a:srgbClr val="4B5563"/>
                    </a:solidFill>
                    <a:latin typeface="+mn-lt"/>
                    <a:ea typeface="+mn-ea"/>
                    <a:cs typeface="+mn-cs"/>
                  </a:rPr>
                  <a:t>탐사실에 필요한 것</a:t>
                </a:r>
              </a:p>
            </p:txBody>
          </p:sp>
          <p:sp>
            <p:nvSpPr>
              <p:cNvPr id="36" name="TextBox 36"/>
              <p:cNvSpPr txBox="1"/>
              <p:nvPr/>
            </p:nvSpPr>
            <p:spPr>
              <a:xfrm>
                <a:off x="8243697" y="1466850"/>
                <a:ext cx="1258016" cy="191643"/>
              </a:xfrm>
              <a:prstGeom prst="rect">
                <a:avLst/>
              </a:prstGeom>
              <a:noFill/>
              <a:ln>
                <a:noFill/>
              </a:ln>
            </p:spPr>
            <p:txBody>
              <a:bodyPr wrap="none" lIns="0" tIns="0" rIns="0" bIns="0" anchor="t" anchorCtr="0">
                <a:spAutoFit/>
              </a:bodyPr>
              <a:lstStyle/>
              <a:p>
                <a:pPr algn="l"/>
                <a:r>
                  <a:rPr lang="ko-KR" sz="980" b="1" dirty="0">
                    <a:solidFill>
                      <a:srgbClr val="4B5563"/>
                    </a:solidFill>
                    <a:latin typeface="+mn-lt"/>
                    <a:ea typeface="+mn-ea"/>
                    <a:cs typeface="+mn-cs"/>
                  </a:rPr>
                  <a:t>PV5에서 확인된 사양</a:t>
                </a:r>
              </a:p>
            </p:txBody>
          </p:sp>
        </p:grpSp>
        <p:sp>
          <p:nvSpPr>
            <p:cNvPr id="38" name="Line 38"/>
            <p:cNvSpPr/>
            <p:nvPr/>
          </p:nvSpPr>
          <p:spPr>
            <a:xfrm>
              <a:off x="6629400" y="1695450"/>
              <a:ext cx="5029200" cy="9525"/>
            </a:xfrm>
            <a:custGeom>
              <a:avLst/>
              <a:gdLst/>
              <a:ahLst/>
              <a:cxnLst/>
              <a:rect l="l" t="t" r="r" b="b"/>
              <a:pathLst>
                <a:path w="5029200" h="9525">
                  <a:moveTo>
                    <a:pt x="0" y="0"/>
                  </a:moveTo>
                  <a:lnTo>
                    <a:pt x="5029200" y="0"/>
                  </a:lnTo>
                </a:path>
              </a:pathLst>
            </a:custGeom>
            <a:noFill/>
            <a:ln w="14288">
              <a:solidFill>
                <a:srgbClr val="0B1E3C"/>
              </a:solidFill>
            </a:ln>
          </p:spPr>
        </p:sp>
        <p:sp>
          <p:nvSpPr>
            <p:cNvPr id="39" name="TextBox 39"/>
            <p:cNvSpPr txBox="1"/>
            <p:nvPr/>
          </p:nvSpPr>
          <p:spPr>
            <a:xfrm>
              <a:off x="6622923" y="1885950"/>
              <a:ext cx="756487" cy="250317"/>
            </a:xfrm>
            <a:prstGeom prst="rect">
              <a:avLst/>
            </a:prstGeom>
            <a:noFill/>
            <a:ln>
              <a:noFill/>
            </a:ln>
          </p:spPr>
          <p:txBody>
            <a:bodyPr wrap="none" lIns="0" tIns="0" rIns="0" bIns="0" anchor="t" anchorCtr="0">
              <a:spAutoFit/>
            </a:bodyPr>
            <a:lstStyle/>
            <a:p>
              <a:pPr algn="l"/>
              <a:r>
                <a:rPr lang="ko-KR" sz="1280" b="1" dirty="0">
                  <a:solidFill>
                    <a:srgbClr val="0B1E3C"/>
                  </a:solidFill>
                  <a:latin typeface="+mn-lt"/>
                  <a:ea typeface="+mn-ea"/>
                  <a:cs typeface="+mn-cs"/>
                </a:rPr>
                <a:t>장비 적재</a:t>
              </a:r>
            </a:p>
          </p:txBody>
        </p:sp>
        <p:sp>
          <p:nvSpPr>
            <p:cNvPr id="40" name="TextBox 40"/>
            <p:cNvSpPr txBox="1"/>
            <p:nvPr/>
          </p:nvSpPr>
          <p:spPr>
            <a:xfrm>
              <a:off x="8242554" y="1885950"/>
              <a:ext cx="2494940" cy="234696"/>
            </a:xfrm>
            <a:prstGeom prst="rect">
              <a:avLst/>
            </a:prstGeom>
            <a:noFill/>
            <a:ln>
              <a:noFill/>
            </a:ln>
          </p:spPr>
          <p:txBody>
            <a:bodyPr wrap="none" lIns="0" tIns="0" rIns="0" bIns="0" anchor="t" anchorCtr="0">
              <a:spAutoFit/>
            </a:bodyPr>
            <a:lstStyle/>
            <a:p>
              <a:pPr algn="l"/>
              <a:r>
                <a:rPr lang="ko-KR" sz="1200" dirty="0">
                  <a:solidFill>
                    <a:srgbClr val="111827"/>
                  </a:solidFill>
                  <a:latin typeface="+mn-lt"/>
                  <a:ea typeface="+mn-ea"/>
                  <a:cs typeface="+mn-cs"/>
                </a:rPr>
                <a:t>카고룸 4,420L · 최대 적재 550kg</a:t>
              </a:r>
            </a:p>
          </p:txBody>
        </p:sp>
        <p:sp>
          <p:nvSpPr>
            <p:cNvPr id="41" name="TextBox 41"/>
            <p:cNvSpPr txBox="1"/>
            <p:nvPr/>
          </p:nvSpPr>
          <p:spPr>
            <a:xfrm>
              <a:off x="8242935" y="2127250"/>
              <a:ext cx="3298312" cy="220028"/>
            </a:xfrm>
            <a:prstGeom prst="rect">
              <a:avLst/>
            </a:prstGeom>
            <a:noFill/>
            <a:ln>
              <a:noFill/>
            </a:ln>
          </p:spPr>
          <p:txBody>
            <a:bodyPr wrap="none" lIns="0" tIns="0" rIns="0" bIns="0" anchor="t" anchorCtr="0">
              <a:spAutoFit/>
            </a:bodyPr>
            <a:lstStyle/>
            <a:p>
              <a:pPr algn="l"/>
              <a:r>
                <a:rPr lang="ko-KR" sz="1120" dirty="0">
                  <a:solidFill>
                    <a:srgbClr val="374151"/>
                  </a:solidFill>
                  <a:latin typeface="+mn-lt"/>
                  <a:ea typeface="+mn-ea"/>
                  <a:cs typeface="+mn-cs"/>
                </a:rPr>
                <a:t>순정 액세서리 장착 기준 · 장비 약 300kg [가설]</a:t>
              </a:r>
            </a:p>
          </p:txBody>
        </p:sp>
        <p:sp>
          <p:nvSpPr>
            <p:cNvPr id="42" name="Line 42"/>
            <p:cNvSpPr/>
            <p:nvPr/>
          </p:nvSpPr>
          <p:spPr>
            <a:xfrm>
              <a:off x="6629400" y="2457450"/>
              <a:ext cx="5029200" cy="9525"/>
            </a:xfrm>
            <a:custGeom>
              <a:avLst/>
              <a:gdLst/>
              <a:ahLst/>
              <a:cxnLst/>
              <a:rect l="l" t="t" r="r" b="b"/>
              <a:pathLst>
                <a:path w="5029200" h="9525">
                  <a:moveTo>
                    <a:pt x="0" y="0"/>
                  </a:moveTo>
                  <a:lnTo>
                    <a:pt x="5029200" y="0"/>
                  </a:lnTo>
                </a:path>
              </a:pathLst>
            </a:custGeom>
            <a:noFill/>
            <a:ln w="9525">
              <a:solidFill>
                <a:srgbClr val="E2E6EC"/>
              </a:solidFill>
            </a:ln>
          </p:spPr>
        </p:sp>
        <p:sp>
          <p:nvSpPr>
            <p:cNvPr id="43" name="TextBox 43"/>
            <p:cNvSpPr txBox="1"/>
            <p:nvPr/>
          </p:nvSpPr>
          <p:spPr>
            <a:xfrm>
              <a:off x="6622923" y="2609850"/>
              <a:ext cx="756487" cy="250317"/>
            </a:xfrm>
            <a:prstGeom prst="rect">
              <a:avLst/>
            </a:prstGeom>
            <a:noFill/>
            <a:ln>
              <a:noFill/>
            </a:ln>
          </p:spPr>
          <p:txBody>
            <a:bodyPr wrap="none" lIns="0" tIns="0" rIns="0" bIns="0" anchor="t" anchorCtr="0">
              <a:spAutoFit/>
            </a:bodyPr>
            <a:lstStyle/>
            <a:p>
              <a:pPr algn="l"/>
              <a:r>
                <a:rPr lang="ko-KR" sz="1280" b="1" dirty="0">
                  <a:solidFill>
                    <a:srgbClr val="0B1E3C"/>
                  </a:solidFill>
                  <a:latin typeface="+mn-lt"/>
                  <a:ea typeface="+mn-ea"/>
                  <a:cs typeface="+mn-cs"/>
                </a:rPr>
                <a:t>장비 전원</a:t>
              </a:r>
            </a:p>
          </p:txBody>
        </p:sp>
        <p:sp>
          <p:nvSpPr>
            <p:cNvPr id="44" name="TextBox 44"/>
            <p:cNvSpPr txBox="1"/>
            <p:nvPr/>
          </p:nvSpPr>
          <p:spPr>
            <a:xfrm>
              <a:off x="8242554" y="2609850"/>
              <a:ext cx="3012796" cy="234696"/>
            </a:xfrm>
            <a:prstGeom prst="rect">
              <a:avLst/>
            </a:prstGeom>
            <a:noFill/>
            <a:ln>
              <a:noFill/>
            </a:ln>
          </p:spPr>
          <p:txBody>
            <a:bodyPr wrap="none" lIns="0" tIns="0" rIns="0" bIns="0" anchor="t" anchorCtr="0">
              <a:spAutoFit/>
            </a:bodyPr>
            <a:lstStyle/>
            <a:p>
              <a:pPr algn="l"/>
              <a:r>
                <a:rPr lang="ko-KR" sz="1200" dirty="0">
                  <a:solidFill>
                    <a:srgbClr val="111827"/>
                  </a:solidFill>
                  <a:latin typeface="+mn-lt"/>
                  <a:ea typeface="+mn-ea"/>
                  <a:cs typeface="+mn-cs"/>
                </a:rPr>
                <a:t>실내·실외 V2L (최대 3.6kW, 해외 제원)</a:t>
              </a:r>
            </a:p>
          </p:txBody>
        </p:sp>
        <p:sp>
          <p:nvSpPr>
            <p:cNvPr id="45" name="TextBox 45"/>
            <p:cNvSpPr txBox="1"/>
            <p:nvPr/>
          </p:nvSpPr>
          <p:spPr>
            <a:xfrm>
              <a:off x="8242935" y="2851150"/>
              <a:ext cx="3412531" cy="220028"/>
            </a:xfrm>
            <a:prstGeom prst="rect">
              <a:avLst/>
            </a:prstGeom>
            <a:noFill/>
            <a:ln>
              <a:noFill/>
            </a:ln>
          </p:spPr>
          <p:txBody>
            <a:bodyPr wrap="none" lIns="0" tIns="0" rIns="0" bIns="0" anchor="t" anchorCtr="0">
              <a:spAutoFit/>
            </a:bodyPr>
            <a:lstStyle/>
            <a:p>
              <a:pPr algn="l"/>
              <a:r>
                <a:rPr lang="ko-KR" sz="1120" dirty="0">
                  <a:solidFill>
                    <a:srgbClr val="374151"/>
                  </a:solidFill>
                  <a:latin typeface="+mn-lt"/>
                  <a:ea typeface="+mn-ea"/>
                  <a:cs typeface="+mn-cs"/>
                </a:rPr>
                <a:t>장비 1.5kW · 하루 10kWh = 배터리의 14% [가설]</a:t>
              </a:r>
            </a:p>
          </p:txBody>
        </p:sp>
        <p:sp>
          <p:nvSpPr>
            <p:cNvPr id="46" name="Line 46"/>
            <p:cNvSpPr/>
            <p:nvPr/>
          </p:nvSpPr>
          <p:spPr>
            <a:xfrm>
              <a:off x="6629400" y="3181350"/>
              <a:ext cx="5029200" cy="9525"/>
            </a:xfrm>
            <a:custGeom>
              <a:avLst/>
              <a:gdLst/>
              <a:ahLst/>
              <a:cxnLst/>
              <a:rect l="l" t="t" r="r" b="b"/>
              <a:pathLst>
                <a:path w="5029200" h="9525">
                  <a:moveTo>
                    <a:pt x="0" y="0"/>
                  </a:moveTo>
                  <a:lnTo>
                    <a:pt x="5029200" y="0"/>
                  </a:lnTo>
                </a:path>
              </a:pathLst>
            </a:custGeom>
            <a:noFill/>
            <a:ln w="9525">
              <a:solidFill>
                <a:srgbClr val="E2E6EC"/>
              </a:solidFill>
            </a:ln>
          </p:spPr>
        </p:sp>
        <p:sp>
          <p:nvSpPr>
            <p:cNvPr id="47" name="TextBox 47"/>
            <p:cNvSpPr txBox="1"/>
            <p:nvPr/>
          </p:nvSpPr>
          <p:spPr>
            <a:xfrm>
              <a:off x="6622923" y="3333750"/>
              <a:ext cx="1155393" cy="250317"/>
            </a:xfrm>
            <a:prstGeom prst="rect">
              <a:avLst/>
            </a:prstGeom>
            <a:noFill/>
            <a:ln>
              <a:noFill/>
            </a:ln>
          </p:spPr>
          <p:txBody>
            <a:bodyPr wrap="none" lIns="0" tIns="0" rIns="0" bIns="0" anchor="t" anchorCtr="0">
              <a:spAutoFit/>
            </a:bodyPr>
            <a:lstStyle/>
            <a:p>
              <a:pPr algn="l"/>
              <a:r>
                <a:rPr lang="ko-KR" sz="1280" b="1" dirty="0">
                  <a:solidFill>
                    <a:srgbClr val="0B1E3C"/>
                  </a:solidFill>
                  <a:latin typeface="+mn-lt"/>
                  <a:ea typeface="+mn-ea"/>
                  <a:cs typeface="+mn-cs"/>
                </a:rPr>
                <a:t>같은 위치 고정</a:t>
              </a:r>
            </a:p>
          </p:txBody>
        </p:sp>
        <p:sp>
          <p:nvSpPr>
            <p:cNvPr id="48" name="TextBox 48"/>
            <p:cNvSpPr txBox="1"/>
            <p:nvPr/>
          </p:nvSpPr>
          <p:spPr>
            <a:xfrm>
              <a:off x="8242554" y="3333750"/>
              <a:ext cx="2674925" cy="234696"/>
            </a:xfrm>
            <a:prstGeom prst="rect">
              <a:avLst/>
            </a:prstGeom>
            <a:noFill/>
            <a:ln>
              <a:noFill/>
            </a:ln>
          </p:spPr>
          <p:txBody>
            <a:bodyPr wrap="none" lIns="0" tIns="0" rIns="0" bIns="0" anchor="t" anchorCtr="0">
              <a:spAutoFit/>
            </a:bodyPr>
            <a:lstStyle/>
            <a:p>
              <a:pPr algn="l"/>
              <a:r>
                <a:rPr lang="ko-KR" sz="1200" dirty="0">
                  <a:solidFill>
                    <a:srgbClr val="111827"/>
                  </a:solidFill>
                  <a:latin typeface="+mn-lt"/>
                  <a:ea typeface="+mn-ea"/>
                  <a:cs typeface="+mn-cs"/>
                </a:rPr>
                <a:t>L-Track·몰리 패널 (순정 액세서리)</a:t>
              </a:r>
            </a:p>
          </p:txBody>
        </p:sp>
        <p:sp>
          <p:nvSpPr>
            <p:cNvPr id="49" name="TextBox 49"/>
            <p:cNvSpPr txBox="1"/>
            <p:nvPr/>
          </p:nvSpPr>
          <p:spPr>
            <a:xfrm>
              <a:off x="8242935" y="3575050"/>
              <a:ext cx="1805645" cy="220028"/>
            </a:xfrm>
            <a:prstGeom prst="rect">
              <a:avLst/>
            </a:prstGeom>
            <a:noFill/>
            <a:ln>
              <a:noFill/>
            </a:ln>
          </p:spPr>
          <p:txBody>
            <a:bodyPr wrap="none" lIns="0" tIns="0" rIns="0" bIns="0" anchor="t" anchorCtr="0">
              <a:spAutoFit/>
            </a:bodyPr>
            <a:lstStyle/>
            <a:p>
              <a:pPr algn="l"/>
              <a:r>
                <a:rPr lang="ko-KR" sz="1120" dirty="0">
                  <a:solidFill>
                    <a:srgbClr val="374151"/>
                  </a:solidFill>
                  <a:latin typeface="+mn-lt"/>
                  <a:ea typeface="+mn-ea"/>
                  <a:cs typeface="+mn-cs"/>
                </a:rPr>
                <a:t>회차마다 같은 자리에 장착</a:t>
              </a:r>
            </a:p>
          </p:txBody>
        </p:sp>
        <p:sp>
          <p:nvSpPr>
            <p:cNvPr id="50" name="Line 50"/>
            <p:cNvSpPr/>
            <p:nvPr/>
          </p:nvSpPr>
          <p:spPr>
            <a:xfrm>
              <a:off x="6629400" y="3905250"/>
              <a:ext cx="5029200" cy="9525"/>
            </a:xfrm>
            <a:custGeom>
              <a:avLst/>
              <a:gdLst/>
              <a:ahLst/>
              <a:cxnLst/>
              <a:rect l="l" t="t" r="r" b="b"/>
              <a:pathLst>
                <a:path w="5029200" h="9525">
                  <a:moveTo>
                    <a:pt x="0" y="0"/>
                  </a:moveTo>
                  <a:lnTo>
                    <a:pt x="5029200" y="0"/>
                  </a:lnTo>
                </a:path>
              </a:pathLst>
            </a:custGeom>
            <a:noFill/>
            <a:ln w="9525">
              <a:solidFill>
                <a:srgbClr val="E2E6EC"/>
              </a:solidFill>
            </a:ln>
          </p:spPr>
        </p:sp>
        <p:sp>
          <p:nvSpPr>
            <p:cNvPr id="51" name="TextBox 51"/>
            <p:cNvSpPr txBox="1"/>
            <p:nvPr/>
          </p:nvSpPr>
          <p:spPr>
            <a:xfrm>
              <a:off x="6622923" y="4057650"/>
              <a:ext cx="928801" cy="250317"/>
            </a:xfrm>
            <a:prstGeom prst="rect">
              <a:avLst/>
            </a:prstGeom>
            <a:noFill/>
            <a:ln>
              <a:noFill/>
            </a:ln>
          </p:spPr>
          <p:txBody>
            <a:bodyPr wrap="none" lIns="0" tIns="0" rIns="0" bIns="0" anchor="t" anchorCtr="0">
              <a:spAutoFit/>
            </a:bodyPr>
            <a:lstStyle/>
            <a:p>
              <a:pPr algn="l"/>
              <a:r>
                <a:rPr lang="ko-KR" sz="1280" b="1" dirty="0">
                  <a:solidFill>
                    <a:srgbClr val="0B1E3C"/>
                  </a:solidFill>
                  <a:latin typeface="+mn-lt"/>
                  <a:ea typeface="+mn-ea"/>
                  <a:cs typeface="+mn-cs"/>
                </a:rPr>
                <a:t>차량과 연동</a:t>
              </a:r>
            </a:p>
          </p:txBody>
        </p:sp>
        <p:sp>
          <p:nvSpPr>
            <p:cNvPr id="52" name="TextBox 52"/>
            <p:cNvSpPr txBox="1"/>
            <p:nvPr/>
          </p:nvSpPr>
          <p:spPr>
            <a:xfrm>
              <a:off x="8242554" y="4057650"/>
              <a:ext cx="2890647" cy="234696"/>
            </a:xfrm>
            <a:prstGeom prst="rect">
              <a:avLst/>
            </a:prstGeom>
            <a:noFill/>
            <a:ln>
              <a:noFill/>
            </a:ln>
          </p:spPr>
          <p:txBody>
            <a:bodyPr wrap="none" lIns="0" tIns="0" rIns="0" bIns="0" anchor="t" anchorCtr="0">
              <a:spAutoFit/>
            </a:bodyPr>
            <a:lstStyle/>
            <a:p>
              <a:pPr algn="l"/>
              <a:r>
                <a:rPr lang="en-US" sz="1200" dirty="0">
                  <a:solidFill>
                    <a:srgbClr val="111827"/>
                  </a:solidFill>
                  <a:latin typeface="+mn-lt"/>
                  <a:ea typeface="+mn-ea"/>
                  <a:cs typeface="+mn-cs"/>
                </a:rPr>
                <a:t>Pleos Connect SDK · Navihelper · PIM</a:t>
              </a:r>
            </a:p>
          </p:txBody>
        </p:sp>
        <p:sp>
          <p:nvSpPr>
            <p:cNvPr id="53" name="TextBox 53"/>
            <p:cNvSpPr txBox="1"/>
            <p:nvPr/>
          </p:nvSpPr>
          <p:spPr>
            <a:xfrm>
              <a:off x="8242935" y="4298950"/>
              <a:ext cx="2582134" cy="220028"/>
            </a:xfrm>
            <a:prstGeom prst="rect">
              <a:avLst/>
            </a:prstGeom>
            <a:noFill/>
            <a:ln>
              <a:noFill/>
            </a:ln>
          </p:spPr>
          <p:txBody>
            <a:bodyPr wrap="none" lIns="0" tIns="0" rIns="0" bIns="0" anchor="t" anchorCtr="0">
              <a:spAutoFit/>
            </a:bodyPr>
            <a:lstStyle/>
            <a:p>
              <a:pPr algn="l"/>
              <a:r>
                <a:rPr lang="ko-KR" sz="1120" dirty="0">
                  <a:solidFill>
                    <a:srgbClr val="374151"/>
                  </a:solidFill>
                  <a:latin typeface="+mn-lt"/>
                  <a:ea typeface="+mn-ea"/>
                  <a:cs typeface="+mn-cs"/>
                </a:rPr>
                <a:t>재확인 지점 안내, 화면에서 장비 제어</a:t>
              </a:r>
            </a:p>
          </p:txBody>
        </p:sp>
        <p:sp>
          <p:nvSpPr>
            <p:cNvPr id="54" name="Line 54"/>
            <p:cNvSpPr/>
            <p:nvPr/>
          </p:nvSpPr>
          <p:spPr>
            <a:xfrm>
              <a:off x="6629400" y="4629150"/>
              <a:ext cx="5029200" cy="9525"/>
            </a:xfrm>
            <a:custGeom>
              <a:avLst/>
              <a:gdLst/>
              <a:ahLst/>
              <a:cxnLst/>
              <a:rect l="l" t="t" r="r" b="b"/>
              <a:pathLst>
                <a:path w="5029200" h="9525">
                  <a:moveTo>
                    <a:pt x="0" y="0"/>
                  </a:moveTo>
                  <a:lnTo>
                    <a:pt x="5029200" y="0"/>
                  </a:lnTo>
                </a:path>
              </a:pathLst>
            </a:custGeom>
            <a:noFill/>
            <a:ln w="9525">
              <a:solidFill>
                <a:srgbClr val="E2E6EC"/>
              </a:solidFill>
            </a:ln>
          </p:spPr>
        </p:sp>
        <p:sp>
          <p:nvSpPr>
            <p:cNvPr id="55" name="TextBox 55"/>
            <p:cNvSpPr txBox="1"/>
            <p:nvPr/>
          </p:nvSpPr>
          <p:spPr>
            <a:xfrm>
              <a:off x="6622923" y="4781550"/>
              <a:ext cx="983080" cy="250317"/>
            </a:xfrm>
            <a:prstGeom prst="rect">
              <a:avLst/>
            </a:prstGeom>
            <a:noFill/>
            <a:ln>
              <a:noFill/>
            </a:ln>
          </p:spPr>
          <p:txBody>
            <a:bodyPr wrap="none" lIns="0" tIns="0" rIns="0" bIns="0" anchor="t" anchorCtr="0">
              <a:spAutoFit/>
            </a:bodyPr>
            <a:lstStyle/>
            <a:p>
              <a:pPr algn="l"/>
              <a:r>
                <a:rPr lang="ko-KR" sz="1280" b="1" dirty="0">
                  <a:solidFill>
                    <a:srgbClr val="0B1E3C"/>
                  </a:solidFill>
                  <a:latin typeface="+mn-lt"/>
                  <a:ea typeface="+mn-ea"/>
                  <a:cs typeface="+mn-cs"/>
                </a:rPr>
                <a:t>여러 대 운영</a:t>
              </a:r>
            </a:p>
          </p:txBody>
        </p:sp>
        <p:sp>
          <p:nvSpPr>
            <p:cNvPr id="56" name="TextBox 56"/>
            <p:cNvSpPr txBox="1"/>
            <p:nvPr/>
          </p:nvSpPr>
          <p:spPr>
            <a:xfrm>
              <a:off x="8242554" y="4781550"/>
              <a:ext cx="2294230" cy="234696"/>
            </a:xfrm>
            <a:prstGeom prst="rect">
              <a:avLst/>
            </a:prstGeom>
            <a:noFill/>
            <a:ln>
              <a:noFill/>
            </a:ln>
          </p:spPr>
          <p:txBody>
            <a:bodyPr wrap="none" lIns="0" tIns="0" rIns="0" bIns="0" anchor="t" anchorCtr="0">
              <a:spAutoFit/>
            </a:bodyPr>
            <a:lstStyle/>
            <a:p>
              <a:pPr algn="l"/>
              <a:r>
                <a:rPr lang="ko-KR" sz="1200" dirty="0">
                  <a:solidFill>
                    <a:srgbClr val="111827"/>
                  </a:solidFill>
                  <a:latin typeface="+mn-lt"/>
                  <a:ea typeface="+mn-ea"/>
                  <a:cs typeface="+mn-cs"/>
                </a:rPr>
                <a:t>컨버전 포털 · Pleos Fleet 관제</a:t>
              </a:r>
            </a:p>
          </p:txBody>
        </p:sp>
        <p:sp>
          <p:nvSpPr>
            <p:cNvPr id="57" name="TextBox 57"/>
            <p:cNvSpPr txBox="1"/>
            <p:nvPr/>
          </p:nvSpPr>
          <p:spPr>
            <a:xfrm>
              <a:off x="8242935" y="5022850"/>
              <a:ext cx="2928915" cy="220028"/>
            </a:xfrm>
            <a:prstGeom prst="rect">
              <a:avLst/>
            </a:prstGeom>
            <a:noFill/>
            <a:ln>
              <a:noFill/>
            </a:ln>
          </p:spPr>
          <p:txBody>
            <a:bodyPr wrap="none" lIns="0" tIns="0" rIns="0" bIns="0" anchor="t" anchorCtr="0">
              <a:spAutoFit/>
            </a:bodyPr>
            <a:lstStyle/>
            <a:p>
              <a:pPr algn="l"/>
              <a:r>
                <a:rPr lang="ko-KR" sz="1120" dirty="0">
                  <a:solidFill>
                    <a:srgbClr val="374151"/>
                  </a:solidFill>
                  <a:latin typeface="+mn-lt"/>
                  <a:ea typeface="+mn-ea"/>
                  <a:cs typeface="+mn-cs"/>
                </a:rPr>
                <a:t>같은 탐사실을 복제, 단말기 없이 플릿 관제</a:t>
              </a:r>
            </a:p>
          </p:txBody>
        </p:sp>
      </p:grpSp>
      <p:grpSp>
        <p:nvGrpSpPr>
          <p:cNvPr id="61" name="conclusion"/>
          <p:cNvGrpSpPr/>
          <p:nvPr/>
        </p:nvGrpSpPr>
        <p:grpSpPr>
          <a:xfrm>
            <a:off x="533400" y="5695950"/>
            <a:ext cx="6764768" cy="419100"/>
            <a:chOff x="533400" y="5695950"/>
            <a:chExt cx="6764768" cy="419100"/>
          </a:xfrm>
        </p:grpSpPr>
        <p:sp>
          <p:nvSpPr>
            <p:cNvPr id="59" name="Rectangle 59"/>
            <p:cNvSpPr/>
            <p:nvPr/>
          </p:nvSpPr>
          <p:spPr>
            <a:xfrm>
              <a:off x="533400" y="5695950"/>
              <a:ext cx="38100" cy="419100"/>
            </a:xfrm>
            <a:prstGeom prst="rect">
              <a:avLst/>
            </a:prstGeom>
            <a:solidFill>
              <a:srgbClr val="F5B700"/>
            </a:solidFill>
            <a:ln>
              <a:noFill/>
            </a:ln>
          </p:spPr>
        </p:sp>
        <p:sp>
          <p:nvSpPr>
            <p:cNvPr id="60" name="TextBox 60"/>
            <p:cNvSpPr txBox="1"/>
            <p:nvPr/>
          </p:nvSpPr>
          <p:spPr>
            <a:xfrm>
              <a:off x="715899" y="5791200"/>
              <a:ext cx="6582269" cy="308991"/>
            </a:xfrm>
            <a:prstGeom prst="rect">
              <a:avLst/>
            </a:prstGeom>
            <a:noFill/>
            <a:ln>
              <a:noFill/>
            </a:ln>
          </p:spPr>
          <p:txBody>
            <a:bodyPr wrap="none" lIns="0" tIns="0" rIns="0" bIns="0" anchor="t" anchorCtr="0">
              <a:spAutoFit/>
            </a:bodyPr>
            <a:lstStyle/>
            <a:p>
              <a:pPr algn="l"/>
              <a:r>
                <a:rPr lang="ko-KR" sz="1580" b="1" dirty="0">
                  <a:solidFill>
                    <a:srgbClr val="0B1E3C"/>
                  </a:solidFill>
                  <a:latin typeface="+mn-lt"/>
                  <a:ea typeface="+mn-ea"/>
                  <a:cs typeface="+mn-cs"/>
                </a:rPr>
                <a:t>장비를 싣는 것을 넘어, PV5에서는 차가 탐사 업무의 일부가 됩니다.</a:t>
              </a:r>
            </a:p>
          </p:txBody>
        </p:sp>
      </p:grpSp>
      <p:grpSp>
        <p:nvGrpSpPr>
          <p:cNvPr id="63" name="source"/>
          <p:cNvGrpSpPr/>
          <p:nvPr/>
        </p:nvGrpSpPr>
        <p:grpSpPr>
          <a:xfrm>
            <a:off x="528447" y="6381750"/>
            <a:ext cx="10195055" cy="191643"/>
            <a:chOff x="528447" y="6381750"/>
            <a:chExt cx="10195055" cy="191643"/>
          </a:xfrm>
        </p:grpSpPr>
        <p:sp>
          <p:nvSpPr>
            <p:cNvPr id="62" name="TextBox 62"/>
            <p:cNvSpPr txBox="1"/>
            <p:nvPr/>
          </p:nvSpPr>
          <p:spPr>
            <a:xfrm>
              <a:off x="528447" y="6381750"/>
              <a:ext cx="10195055" cy="191643"/>
            </a:xfrm>
            <a:prstGeom prst="rect">
              <a:avLst/>
            </a:prstGeom>
            <a:noFill/>
            <a:ln>
              <a:noFill/>
            </a:ln>
          </p:spPr>
          <p:txBody>
            <a:bodyPr wrap="none" lIns="0" tIns="0" rIns="0" bIns="0" anchor="t" anchorCtr="0">
              <a:spAutoFit/>
            </a:bodyPr>
            <a:lstStyle/>
            <a:p>
              <a:pPr algn="l"/>
              <a:r>
                <a:rPr lang="ko-KR" sz="980" dirty="0">
                  <a:solidFill>
                    <a:srgbClr val="4B5563"/>
                  </a:solidFill>
                  <a:latin typeface="+mn-lt"/>
                  <a:ea typeface="+mn-ea"/>
                  <a:cs typeface="+mn-cs"/>
                </a:rPr>
                <a:t>출처: 기아 PV5 카고 카탈로그(2026.9)·공식 제원표 · 공모전 솔루션 부문 안내(Pleos Connect SDK) · 오토뷰(2026.1.28, PIM) · V2L 3.6kW 해외 제원 · 배치는 콘셉트</a:t>
              </a:r>
            </a:p>
          </p:txBody>
        </p:sp>
      </p:grpSp>
      <p:grpSp>
        <p:nvGrpSpPr>
          <p:cNvPr id="66" name="footer"/>
          <p:cNvGrpSpPr/>
          <p:nvPr/>
        </p:nvGrpSpPr>
        <p:grpSpPr>
          <a:xfrm>
            <a:off x="528638" y="6610350"/>
            <a:ext cx="11134724" cy="176212"/>
            <a:chOff x="528638" y="6610350"/>
            <a:chExt cx="11134724" cy="176212"/>
          </a:xfrm>
        </p:grpSpPr>
        <p:sp>
          <p:nvSpPr>
            <p:cNvPr id="64" name="TextBox 64"/>
            <p:cNvSpPr txBox="1"/>
            <p:nvPr/>
          </p:nvSpPr>
          <p:spPr>
            <a:xfrm>
              <a:off x="528638" y="6610350"/>
              <a:ext cx="1020324" cy="176212"/>
            </a:xfrm>
            <a:prstGeom prst="rect">
              <a:avLst/>
            </a:prstGeom>
            <a:noFill/>
            <a:ln>
              <a:noFill/>
            </a:ln>
          </p:spPr>
          <p:txBody>
            <a:bodyPr wrap="none" lIns="0" tIns="0" rIns="0" bIns="0" anchor="t" anchorCtr="0">
              <a:spAutoFit/>
            </a:bodyPr>
            <a:lstStyle/>
            <a:p>
              <a:pPr algn="l"/>
              <a:r>
                <a:rPr lang="en-US" sz="900" dirty="0">
                  <a:solidFill>
                    <a:srgbClr val="4B5563"/>
                  </a:solidFill>
                  <a:latin typeface="+mn-lt"/>
                  <a:ea typeface="+mn-ea"/>
                  <a:cs typeface="+mn-cs"/>
                </a:rPr>
                <a:t>PV5 GroundWatch</a:t>
              </a:r>
            </a:p>
          </p:txBody>
        </p:sp>
        <p:sp>
          <p:nvSpPr>
            <p:cNvPr id="65" name="TextBox 65"/>
            <p:cNvSpPr txBox="1"/>
            <p:nvPr/>
          </p:nvSpPr>
          <p:spPr>
            <a:xfrm>
              <a:off x="11247958" y="6610350"/>
              <a:ext cx="415404" cy="176212"/>
            </a:xfrm>
            <a:prstGeom prst="rect">
              <a:avLst/>
            </a:prstGeom>
            <a:noFill/>
            <a:ln>
              <a:noFill/>
            </a:ln>
          </p:spPr>
          <p:txBody>
            <a:bodyPr wrap="none" lIns="0" tIns="0" rIns="0" bIns="0" anchor="t" anchorCtr="0">
              <a:spAutoFit/>
            </a:bodyPr>
            <a:lstStyle/>
            <a:p>
              <a:pPr algn="r"/>
              <a:r>
                <a:rPr lang="ko-KR" sz="900" dirty="0">
                  <a:solidFill>
                    <a:srgbClr val="4B5563"/>
                  </a:solidFill>
                  <a:latin typeface="+mn-lt"/>
                  <a:ea typeface="+mn-ea"/>
                  <a:cs typeface="+mn-cs"/>
                </a:rPr>
                <a:t>09 / 15</a:t>
              </a:r>
            </a:p>
          </p:txBody>
        </p:sp>
      </p:grpSp>
    </p:spTree>
  </p:cSld>
  <p:clrMapOvr>
    <a:masterClrMapping/>
  </p:clrMapOvr>
  <p:transition xmlns:p14="http://schemas.microsoft.com/office/powerpoint/2010/main" p14:dur="400">
    <p:fade/>
  </p:transition>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grpSp>
        <p:nvGrpSpPr>
          <p:cNvPr id="16" name="header"/>
          <p:cNvGrpSpPr/>
          <p:nvPr/>
        </p:nvGrpSpPr>
        <p:grpSpPr>
          <a:xfrm>
            <a:off x="533400" y="266700"/>
            <a:ext cx="11125200" cy="333375"/>
            <a:chOff x="533400" y="266700"/>
            <a:chExt cx="11125200" cy="333375"/>
          </a:xfrm>
        </p:grpSpPr>
        <p:sp>
          <p:nvSpPr>
            <p:cNvPr id="2" name="Rectangle 2"/>
            <p:cNvSpPr/>
            <p:nvPr/>
          </p:nvSpPr>
          <p:spPr>
            <a:xfrm>
              <a:off x="533400" y="266700"/>
              <a:ext cx="1333500" cy="228600"/>
            </a:xfrm>
            <a:prstGeom prst="rect">
              <a:avLst/>
            </a:prstGeom>
            <a:solidFill>
              <a:srgbClr val="0B1E3C"/>
            </a:solidFill>
            <a:ln>
              <a:noFill/>
            </a:ln>
          </p:spPr>
        </p:sp>
        <p:sp>
          <p:nvSpPr>
            <p:cNvPr id="3" name="TextBox 3"/>
            <p:cNvSpPr txBox="1"/>
            <p:nvPr/>
          </p:nvSpPr>
          <p:spPr>
            <a:xfrm>
              <a:off x="617357" y="314325"/>
              <a:ext cx="1165586" cy="191643"/>
            </a:xfrm>
            <a:prstGeom prst="rect">
              <a:avLst/>
            </a:prstGeom>
            <a:noFill/>
            <a:ln>
              <a:noFill/>
            </a:ln>
          </p:spPr>
          <p:txBody>
            <a:bodyPr wrap="none" lIns="0" tIns="0" rIns="0" bIns="0" anchor="t" anchorCtr="0">
              <a:spAutoFit/>
            </a:bodyPr>
            <a:lstStyle/>
            <a:p>
              <a:pPr algn="ctr"/>
              <a:r>
                <a:rPr lang="en-US" sz="980" b="1" dirty="0">
                  <a:solidFill>
                    <a:srgbClr val="FFFFFF"/>
                  </a:solidFill>
                  <a:latin typeface="+mn-lt"/>
                  <a:ea typeface="+mn-ea"/>
                  <a:cs typeface="+mn-cs"/>
                </a:rPr>
                <a:t>PV5 GroundWatch</a:t>
              </a:r>
            </a:p>
          </p:txBody>
        </p:sp>
        <p:sp>
          <p:nvSpPr>
            <p:cNvPr id="4" name="TextBox 4"/>
            <p:cNvSpPr txBox="1"/>
            <p:nvPr/>
          </p:nvSpPr>
          <p:spPr>
            <a:xfrm>
              <a:off x="1994916" y="301625"/>
              <a:ext cx="725957" cy="205359"/>
            </a:xfrm>
            <a:prstGeom prst="rect">
              <a:avLst/>
            </a:prstGeom>
            <a:noFill/>
            <a:ln>
              <a:noFill/>
            </a:ln>
          </p:spPr>
          <p:txBody>
            <a:bodyPr wrap="none" lIns="0" tIns="0" rIns="0" bIns="0" anchor="t" anchorCtr="0">
              <a:spAutoFit/>
            </a:bodyPr>
            <a:lstStyle/>
            <a:p>
              <a:pPr algn="l"/>
              <a:r>
                <a:rPr lang="ko-KR" sz="1050" dirty="0">
                  <a:solidFill>
                    <a:srgbClr val="374151"/>
                  </a:solidFill>
                  <a:latin typeface="+mn-lt"/>
                  <a:ea typeface="+mn-ea"/>
                  <a:cs typeface="+mn-cs"/>
                </a:rPr>
                <a:t>왜 PV5인가</a:t>
              </a:r>
            </a:p>
          </p:txBody>
        </p:sp>
        <p:sp>
          <p:nvSpPr>
            <p:cNvPr id="5" name="TextBox 5"/>
            <p:cNvSpPr txBox="1"/>
            <p:nvPr/>
          </p:nvSpPr>
          <p:spPr>
            <a:xfrm>
              <a:off x="8425815" y="301625"/>
              <a:ext cx="293370" cy="205359"/>
            </a:xfrm>
            <a:prstGeom prst="rect">
              <a:avLst/>
            </a:prstGeom>
            <a:noFill/>
            <a:ln>
              <a:noFill/>
            </a:ln>
          </p:spPr>
          <p:txBody>
            <a:bodyPr wrap="none" lIns="0" tIns="0" rIns="0" bIns="0" anchor="t" anchorCtr="0">
              <a:spAutoFit/>
            </a:bodyPr>
            <a:lstStyle/>
            <a:p>
              <a:pPr algn="ctr"/>
              <a:r>
                <a:rPr lang="ko-KR" sz="1050" dirty="0">
                  <a:solidFill>
                    <a:srgbClr val="9AA3AF"/>
                  </a:solidFill>
                  <a:latin typeface="+mn-lt"/>
                  <a:ea typeface="+mn-ea"/>
                  <a:cs typeface="+mn-cs"/>
                </a:rPr>
                <a:t>문제</a:t>
              </a:r>
            </a:p>
          </p:txBody>
        </p:sp>
        <p:sp>
          <p:nvSpPr>
            <p:cNvPr id="6" name="TextBox 6"/>
            <p:cNvSpPr txBox="1"/>
            <p:nvPr/>
          </p:nvSpPr>
          <p:spPr>
            <a:xfrm>
              <a:off x="884874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7" name="TextBox 7"/>
            <p:cNvSpPr txBox="1"/>
            <p:nvPr/>
          </p:nvSpPr>
          <p:spPr>
            <a:xfrm>
              <a:off x="9054465" y="301625"/>
              <a:ext cx="293370" cy="205359"/>
            </a:xfrm>
            <a:prstGeom prst="rect">
              <a:avLst/>
            </a:prstGeom>
            <a:noFill/>
            <a:ln>
              <a:noFill/>
            </a:ln>
          </p:spPr>
          <p:txBody>
            <a:bodyPr wrap="none" lIns="0" tIns="0" rIns="0" bIns="0" anchor="t" anchorCtr="0">
              <a:spAutoFit/>
            </a:bodyPr>
            <a:lstStyle/>
            <a:p>
              <a:pPr algn="ctr"/>
              <a:r>
                <a:rPr lang="ko-KR" sz="1050" dirty="0">
                  <a:solidFill>
                    <a:srgbClr val="9AA3AF"/>
                  </a:solidFill>
                  <a:latin typeface="+mn-lt"/>
                  <a:ea typeface="+mn-ea"/>
                  <a:cs typeface="+mn-cs"/>
                </a:rPr>
                <a:t>해법</a:t>
              </a:r>
            </a:p>
          </p:txBody>
        </p:sp>
        <p:sp>
          <p:nvSpPr>
            <p:cNvPr id="8" name="TextBox 8"/>
            <p:cNvSpPr txBox="1"/>
            <p:nvPr/>
          </p:nvSpPr>
          <p:spPr>
            <a:xfrm>
              <a:off x="947739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9" name="TextBox 9"/>
            <p:cNvSpPr txBox="1"/>
            <p:nvPr/>
          </p:nvSpPr>
          <p:spPr>
            <a:xfrm>
              <a:off x="9695090" y="301625"/>
              <a:ext cx="269420" cy="205359"/>
            </a:xfrm>
            <a:prstGeom prst="rect">
              <a:avLst/>
            </a:prstGeom>
            <a:noFill/>
            <a:ln>
              <a:noFill/>
            </a:ln>
          </p:spPr>
          <p:txBody>
            <a:bodyPr wrap="none" lIns="0" tIns="0" rIns="0" bIns="0" anchor="t" anchorCtr="0">
              <a:spAutoFit/>
            </a:bodyPr>
            <a:lstStyle/>
            <a:p>
              <a:pPr algn="ctr"/>
              <a:r>
                <a:rPr lang="en-US" sz="1050" b="1" dirty="0">
                  <a:solidFill>
                    <a:srgbClr val="0B1E3C"/>
                  </a:solidFill>
                  <a:latin typeface="+mn-lt"/>
                  <a:ea typeface="+mn-ea"/>
                  <a:cs typeface="+mn-cs"/>
                </a:rPr>
                <a:t>PV5</a:t>
              </a:r>
            </a:p>
          </p:txBody>
        </p:sp>
        <p:sp>
          <p:nvSpPr>
            <p:cNvPr id="10" name="Rectangle 10"/>
            <p:cNvSpPr/>
            <p:nvPr/>
          </p:nvSpPr>
          <p:spPr>
            <a:xfrm>
              <a:off x="9601200" y="514350"/>
              <a:ext cx="457200" cy="28575"/>
            </a:xfrm>
            <a:prstGeom prst="rect">
              <a:avLst/>
            </a:prstGeom>
            <a:solidFill>
              <a:srgbClr val="F5B700"/>
            </a:solidFill>
            <a:ln>
              <a:noFill/>
            </a:ln>
          </p:spPr>
        </p:sp>
        <p:sp>
          <p:nvSpPr>
            <p:cNvPr id="11" name="TextBox 11"/>
            <p:cNvSpPr txBox="1"/>
            <p:nvPr/>
          </p:nvSpPr>
          <p:spPr>
            <a:xfrm>
              <a:off x="1010604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12" name="TextBox 12"/>
            <p:cNvSpPr txBox="1"/>
            <p:nvPr/>
          </p:nvSpPr>
          <p:spPr>
            <a:xfrm>
              <a:off x="10311765" y="301625"/>
              <a:ext cx="293370" cy="205359"/>
            </a:xfrm>
            <a:prstGeom prst="rect">
              <a:avLst/>
            </a:prstGeom>
            <a:noFill/>
            <a:ln>
              <a:noFill/>
            </a:ln>
          </p:spPr>
          <p:txBody>
            <a:bodyPr wrap="none" lIns="0" tIns="0" rIns="0" bIns="0" anchor="t" anchorCtr="0">
              <a:spAutoFit/>
            </a:bodyPr>
            <a:lstStyle/>
            <a:p>
              <a:pPr algn="ctr"/>
              <a:r>
                <a:rPr lang="ko-KR" sz="1050" dirty="0">
                  <a:solidFill>
                    <a:srgbClr val="9AA3AF"/>
                  </a:solidFill>
                  <a:latin typeface="+mn-lt"/>
                  <a:ea typeface="+mn-ea"/>
                  <a:cs typeface="+mn-cs"/>
                </a:rPr>
                <a:t>검증</a:t>
              </a:r>
            </a:p>
          </p:txBody>
        </p:sp>
        <p:sp>
          <p:nvSpPr>
            <p:cNvPr id="13" name="TextBox 13"/>
            <p:cNvSpPr txBox="1"/>
            <p:nvPr/>
          </p:nvSpPr>
          <p:spPr>
            <a:xfrm>
              <a:off x="1073469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14" name="TextBox 14"/>
            <p:cNvSpPr txBox="1"/>
            <p:nvPr/>
          </p:nvSpPr>
          <p:spPr>
            <a:xfrm>
              <a:off x="10940415" y="301625"/>
              <a:ext cx="293370" cy="205359"/>
            </a:xfrm>
            <a:prstGeom prst="rect">
              <a:avLst/>
            </a:prstGeom>
            <a:noFill/>
            <a:ln>
              <a:noFill/>
            </a:ln>
          </p:spPr>
          <p:txBody>
            <a:bodyPr wrap="none" lIns="0" tIns="0" rIns="0" bIns="0" anchor="t" anchorCtr="0">
              <a:spAutoFit/>
            </a:bodyPr>
            <a:lstStyle/>
            <a:p>
              <a:pPr algn="ctr"/>
              <a:r>
                <a:rPr lang="ko-KR" sz="1050" dirty="0">
                  <a:solidFill>
                    <a:srgbClr val="9AA3AF"/>
                  </a:solidFill>
                  <a:latin typeface="+mn-lt"/>
                  <a:ea typeface="+mn-ea"/>
                  <a:cs typeface="+mn-cs"/>
                </a:rPr>
                <a:t>사업</a:t>
              </a:r>
            </a:p>
          </p:txBody>
        </p:sp>
        <p:sp>
          <p:nvSpPr>
            <p:cNvPr id="15" name="Line 15"/>
            <p:cNvSpPr/>
            <p:nvPr/>
          </p:nvSpPr>
          <p:spPr>
            <a:xfrm>
              <a:off x="533400" y="590550"/>
              <a:ext cx="11125200" cy="9525"/>
            </a:xfrm>
            <a:custGeom>
              <a:avLst/>
              <a:gdLst/>
              <a:ahLst/>
              <a:cxnLst/>
              <a:rect l="l" t="t" r="r" b="b"/>
              <a:pathLst>
                <a:path w="11125200" h="9525">
                  <a:moveTo>
                    <a:pt x="0" y="0"/>
                  </a:moveTo>
                  <a:lnTo>
                    <a:pt x="11125200" y="0"/>
                  </a:lnTo>
                </a:path>
              </a:pathLst>
            </a:custGeom>
            <a:noFill/>
            <a:ln w="9525">
              <a:solidFill>
                <a:srgbClr val="0B1E3C"/>
              </a:solidFill>
            </a:ln>
          </p:spPr>
        </p:sp>
      </p:grpSp>
      <p:grpSp>
        <p:nvGrpSpPr>
          <p:cNvPr id="18" name="title"/>
          <p:cNvGrpSpPr/>
          <p:nvPr/>
        </p:nvGrpSpPr>
        <p:grpSpPr>
          <a:xfrm>
            <a:off x="518160" y="774700"/>
            <a:ext cx="6740804" cy="586740"/>
            <a:chOff x="518160" y="774700"/>
            <a:chExt cx="6740804" cy="586740"/>
          </a:xfrm>
        </p:grpSpPr>
        <p:sp>
          <p:nvSpPr>
            <p:cNvPr id="17" name="TextBox 17"/>
            <p:cNvSpPr txBox="1"/>
            <p:nvPr/>
          </p:nvSpPr>
          <p:spPr>
            <a:xfrm>
              <a:off x="518160" y="774700"/>
              <a:ext cx="6740804" cy="586740"/>
            </a:xfrm>
            <a:prstGeom prst="rect">
              <a:avLst/>
            </a:prstGeom>
            <a:noFill/>
            <a:ln>
              <a:noFill/>
            </a:ln>
          </p:spPr>
          <p:txBody>
            <a:bodyPr wrap="none" lIns="0" tIns="0" rIns="0" bIns="0" anchor="t" anchorCtr="0">
              <a:spAutoFit/>
            </a:bodyPr>
            <a:lstStyle/>
            <a:p>
              <a:pPr algn="l"/>
              <a:r>
                <a:rPr lang="ko-KR" sz="3000" b="1" spc="-75" dirty="0">
                  <a:solidFill>
                    <a:srgbClr val="0B1E3C"/>
                  </a:solidFill>
                  <a:latin typeface="+mn-lt"/>
                  <a:ea typeface="+mn-ea"/>
                  <a:cs typeface="+mn-cs"/>
                </a:rPr>
                <a:t>가격이 아니라 구조 때문에 PV5입니다</a:t>
              </a:r>
            </a:p>
          </p:txBody>
        </p:sp>
      </p:grpSp>
      <p:grpSp>
        <p:nvGrpSpPr>
          <p:cNvPr id="20" name="lead"/>
          <p:cNvGrpSpPr/>
          <p:nvPr/>
        </p:nvGrpSpPr>
        <p:grpSpPr>
          <a:xfrm>
            <a:off x="526542" y="1339850"/>
            <a:ext cx="10338264" cy="264033"/>
            <a:chOff x="526542" y="1339850"/>
            <a:chExt cx="10338264" cy="264033"/>
          </a:xfrm>
        </p:grpSpPr>
        <p:sp>
          <p:nvSpPr>
            <p:cNvPr id="19" name="TextBox 19"/>
            <p:cNvSpPr txBox="1"/>
            <p:nvPr/>
          </p:nvSpPr>
          <p:spPr>
            <a:xfrm>
              <a:off x="526542" y="1339850"/>
              <a:ext cx="10338264" cy="264033"/>
            </a:xfrm>
            <a:prstGeom prst="rect">
              <a:avLst/>
            </a:prstGeom>
            <a:noFill/>
            <a:ln>
              <a:noFill/>
            </a:ln>
          </p:spPr>
          <p:txBody>
            <a:bodyPr wrap="none" lIns="0" tIns="0" rIns="0" bIns="0" anchor="t" anchorCtr="0">
              <a:spAutoFit/>
            </a:bodyPr>
            <a:lstStyle/>
            <a:p>
              <a:pPr algn="l"/>
              <a:r>
                <a:rPr lang="ko-KR" sz="1350" dirty="0">
                  <a:solidFill>
                    <a:srgbClr val="374151"/>
                  </a:solidFill>
                  <a:latin typeface="+mn-lt"/>
                  <a:ea typeface="+mn-ea"/>
                  <a:cs typeface="+mn-cs"/>
                </a:rPr>
                <a:t>차값 차이는 최대 1,354만 원, 차량형 GPR은 대당 2억~8억 원(서울시 약 5억 원)입니다. 그래서 전원·고정 구조로 골랐습니다.</a:t>
              </a:r>
            </a:p>
          </p:txBody>
        </p:sp>
      </p:grpSp>
      <p:grpSp>
        <p:nvGrpSpPr>
          <p:cNvPr id="53" name="compare"/>
          <p:cNvGrpSpPr/>
          <p:nvPr/>
        </p:nvGrpSpPr>
        <p:grpSpPr>
          <a:xfrm>
            <a:off x="527685" y="1733550"/>
            <a:ext cx="11130915" cy="2362200"/>
            <a:chOff x="527685" y="1733550"/>
            <a:chExt cx="11130915" cy="2362200"/>
          </a:xfrm>
        </p:grpSpPr>
        <p:sp>
          <p:nvSpPr>
            <p:cNvPr id="21" name="Rectangle 21"/>
            <p:cNvSpPr/>
            <p:nvPr/>
          </p:nvSpPr>
          <p:spPr>
            <a:xfrm>
              <a:off x="2057400" y="1733550"/>
              <a:ext cx="2400300" cy="2362200"/>
            </a:xfrm>
            <a:prstGeom prst="rect">
              <a:avLst/>
            </a:prstGeom>
            <a:solidFill>
              <a:srgbClr val="FFF6D6"/>
            </a:solidFill>
            <a:ln>
              <a:noFill/>
            </a:ln>
          </p:spPr>
        </p:sp>
        <p:sp>
          <p:nvSpPr>
            <p:cNvPr id="22" name="Rectangle 22"/>
            <p:cNvSpPr/>
            <p:nvPr/>
          </p:nvSpPr>
          <p:spPr>
            <a:xfrm>
              <a:off x="2057400" y="1733550"/>
              <a:ext cx="2400300" cy="38100"/>
            </a:xfrm>
            <a:prstGeom prst="rect">
              <a:avLst/>
            </a:prstGeom>
            <a:solidFill>
              <a:srgbClr val="F5B700"/>
            </a:solidFill>
            <a:ln>
              <a:noFill/>
            </a:ln>
          </p:spPr>
        </p:sp>
        <p:grpSp>
          <p:nvGrpSpPr>
            <p:cNvPr id="27" name="Group 27"/>
            <p:cNvGrpSpPr/>
            <p:nvPr/>
          </p:nvGrpSpPr>
          <p:grpSpPr>
            <a:xfrm>
              <a:off x="2203323" y="1885950"/>
              <a:ext cx="8562647" cy="250317"/>
              <a:chOff x="2203323" y="1885950"/>
              <a:chExt cx="8562647" cy="250317"/>
            </a:xfrm>
          </p:grpSpPr>
          <p:sp>
            <p:nvSpPr>
              <p:cNvPr id="23" name="TextBox 23"/>
              <p:cNvSpPr txBox="1"/>
              <p:nvPr/>
            </p:nvSpPr>
            <p:spPr>
              <a:xfrm>
                <a:off x="2203323" y="1885950"/>
                <a:ext cx="1132342" cy="250317"/>
              </a:xfrm>
              <a:prstGeom prst="rect">
                <a:avLst/>
              </a:prstGeom>
              <a:noFill/>
              <a:ln>
                <a:noFill/>
              </a:ln>
            </p:spPr>
            <p:txBody>
              <a:bodyPr wrap="none" lIns="0" tIns="0" rIns="0" bIns="0" anchor="t" anchorCtr="0">
                <a:spAutoFit/>
              </a:bodyPr>
              <a:lstStyle/>
              <a:p>
                <a:pPr algn="l"/>
                <a:r>
                  <a:rPr lang="ko-KR" sz="1280" b="1" dirty="0">
                    <a:solidFill>
                      <a:srgbClr val="0B1E3C"/>
                    </a:solidFill>
                    <a:latin typeface="+mn-lt"/>
                    <a:ea typeface="+mn-ea"/>
                    <a:cs typeface="+mn-cs"/>
                  </a:rPr>
                  <a:t>기아 PV5 카고</a:t>
                </a:r>
              </a:p>
            </p:txBody>
          </p:sp>
          <p:sp>
            <p:nvSpPr>
              <p:cNvPr id="24" name="TextBox 24"/>
              <p:cNvSpPr txBox="1"/>
              <p:nvPr/>
            </p:nvSpPr>
            <p:spPr>
              <a:xfrm>
                <a:off x="4603623" y="1885950"/>
                <a:ext cx="1844648" cy="250317"/>
              </a:xfrm>
              <a:prstGeom prst="rect">
                <a:avLst/>
              </a:prstGeom>
              <a:noFill/>
              <a:ln>
                <a:noFill/>
              </a:ln>
            </p:spPr>
            <p:txBody>
              <a:bodyPr wrap="none" lIns="0" tIns="0" rIns="0" bIns="0" anchor="t" anchorCtr="0">
                <a:spAutoFit/>
              </a:bodyPr>
              <a:lstStyle/>
              <a:p>
                <a:pPr algn="l"/>
                <a:r>
                  <a:rPr lang="ko-KR" sz="1280" b="1" dirty="0">
                    <a:solidFill>
                      <a:srgbClr val="374151"/>
                    </a:solidFill>
                    <a:latin typeface="+mn-lt"/>
                    <a:ea typeface="+mn-ea"/>
                    <a:cs typeface="+mn-cs"/>
                  </a:rPr>
                  <a:t>스타리아 일렉트릭 카고</a:t>
                </a:r>
              </a:p>
            </p:txBody>
          </p:sp>
          <p:sp>
            <p:nvSpPr>
              <p:cNvPr id="25" name="TextBox 25"/>
              <p:cNvSpPr txBox="1"/>
              <p:nvPr/>
            </p:nvSpPr>
            <p:spPr>
              <a:xfrm>
                <a:off x="7003923" y="1885950"/>
                <a:ext cx="1132342" cy="250317"/>
              </a:xfrm>
              <a:prstGeom prst="rect">
                <a:avLst/>
              </a:prstGeom>
              <a:noFill/>
              <a:ln>
                <a:noFill/>
              </a:ln>
            </p:spPr>
            <p:txBody>
              <a:bodyPr wrap="none" lIns="0" tIns="0" rIns="0" bIns="0" anchor="t" anchorCtr="0">
                <a:spAutoFit/>
              </a:bodyPr>
              <a:lstStyle/>
              <a:p>
                <a:pPr algn="l"/>
                <a:r>
                  <a:rPr lang="ko-KR" sz="1280" b="1" dirty="0">
                    <a:solidFill>
                      <a:srgbClr val="374151"/>
                    </a:solidFill>
                    <a:latin typeface="+mn-lt"/>
                    <a:ea typeface="+mn-ea"/>
                    <a:cs typeface="+mn-cs"/>
                  </a:rPr>
                  <a:t>현대 ST1 카고</a:t>
                </a:r>
              </a:p>
            </p:txBody>
          </p:sp>
          <p:sp>
            <p:nvSpPr>
              <p:cNvPr id="26" name="TextBox 26"/>
              <p:cNvSpPr txBox="1"/>
              <p:nvPr/>
            </p:nvSpPr>
            <p:spPr>
              <a:xfrm>
                <a:off x="9404223" y="1885950"/>
                <a:ext cx="1361747" cy="250317"/>
              </a:xfrm>
              <a:prstGeom prst="rect">
                <a:avLst/>
              </a:prstGeom>
              <a:noFill/>
              <a:ln>
                <a:noFill/>
              </a:ln>
            </p:spPr>
            <p:txBody>
              <a:bodyPr wrap="none" lIns="0" tIns="0" rIns="0" bIns="0" anchor="t" anchorCtr="0">
                <a:spAutoFit/>
              </a:bodyPr>
              <a:lstStyle/>
              <a:p>
                <a:pPr algn="l"/>
                <a:r>
                  <a:rPr lang="ko-KR" sz="1280" b="1" dirty="0">
                    <a:solidFill>
                      <a:srgbClr val="374151"/>
                    </a:solidFill>
                    <a:latin typeface="+mn-lt"/>
                    <a:ea typeface="+mn-ea"/>
                    <a:cs typeface="+mn-cs"/>
                  </a:rPr>
                  <a:t>포터II·봉고III EV</a:t>
                </a:r>
              </a:p>
            </p:txBody>
          </p:sp>
        </p:grpSp>
        <p:grpSp>
          <p:nvGrpSpPr>
            <p:cNvPr id="32" name="Group 32"/>
            <p:cNvGrpSpPr/>
            <p:nvPr/>
          </p:nvGrpSpPr>
          <p:grpSpPr>
            <a:xfrm>
              <a:off x="2204085" y="2108200"/>
              <a:ext cx="7928508" cy="220028"/>
              <a:chOff x="2204085" y="2108200"/>
              <a:chExt cx="7928508" cy="220028"/>
            </a:xfrm>
          </p:grpSpPr>
          <p:sp>
            <p:nvSpPr>
              <p:cNvPr id="28" name="TextBox 28"/>
              <p:cNvSpPr txBox="1"/>
              <p:nvPr/>
            </p:nvSpPr>
            <p:spPr>
              <a:xfrm>
                <a:off x="2204085" y="2108200"/>
                <a:ext cx="938693" cy="220028"/>
              </a:xfrm>
              <a:prstGeom prst="rect">
                <a:avLst/>
              </a:prstGeom>
              <a:noFill/>
              <a:ln>
                <a:noFill/>
              </a:ln>
            </p:spPr>
            <p:txBody>
              <a:bodyPr wrap="none" lIns="0" tIns="0" rIns="0" bIns="0" anchor="t" anchorCtr="0">
                <a:spAutoFit/>
              </a:bodyPr>
              <a:lstStyle/>
              <a:p>
                <a:pPr algn="l"/>
                <a:r>
                  <a:rPr lang="ko-KR" sz="1120" dirty="0">
                    <a:solidFill>
                      <a:srgbClr val="374151"/>
                    </a:solidFill>
                    <a:latin typeface="+mn-lt"/>
                    <a:ea typeface="+mn-ea"/>
                    <a:cs typeface="+mn-cs"/>
                  </a:rPr>
                  <a:t>롱 · 롱레인지</a:t>
                </a:r>
              </a:p>
            </p:txBody>
          </p:sp>
          <p:sp>
            <p:nvSpPr>
              <p:cNvPr id="29" name="TextBox 29"/>
              <p:cNvSpPr txBox="1"/>
              <p:nvPr/>
            </p:nvSpPr>
            <p:spPr>
              <a:xfrm>
                <a:off x="4604385" y="2108200"/>
                <a:ext cx="395905" cy="220028"/>
              </a:xfrm>
              <a:prstGeom prst="rect">
                <a:avLst/>
              </a:prstGeom>
              <a:noFill/>
              <a:ln>
                <a:noFill/>
              </a:ln>
            </p:spPr>
            <p:txBody>
              <a:bodyPr wrap="none" lIns="0" tIns="0" rIns="0" bIns="0" anchor="t" anchorCtr="0">
                <a:spAutoFit/>
              </a:bodyPr>
              <a:lstStyle/>
              <a:p>
                <a:pPr algn="l"/>
                <a:r>
                  <a:rPr lang="ko-KR" sz="1120" dirty="0">
                    <a:solidFill>
                      <a:srgbClr val="374151"/>
                    </a:solidFill>
                    <a:latin typeface="+mn-lt"/>
                    <a:ea typeface="+mn-ea"/>
                    <a:cs typeface="+mn-cs"/>
                  </a:rPr>
                  <a:t>3인승</a:t>
                </a:r>
              </a:p>
            </p:txBody>
          </p:sp>
          <p:sp>
            <p:nvSpPr>
              <p:cNvPr id="30" name="TextBox 30"/>
              <p:cNvSpPr txBox="1"/>
              <p:nvPr/>
            </p:nvSpPr>
            <p:spPr>
              <a:xfrm>
                <a:off x="7004685" y="2108200"/>
                <a:ext cx="810534" cy="220028"/>
              </a:xfrm>
              <a:prstGeom prst="rect">
                <a:avLst/>
              </a:prstGeom>
              <a:noFill/>
              <a:ln>
                <a:noFill/>
              </a:ln>
            </p:spPr>
            <p:txBody>
              <a:bodyPr wrap="none" lIns="0" tIns="0" rIns="0" bIns="0" anchor="t" anchorCtr="0">
                <a:spAutoFit/>
              </a:bodyPr>
              <a:lstStyle/>
              <a:p>
                <a:pPr algn="l"/>
                <a:r>
                  <a:rPr lang="ko-KR" sz="1120" dirty="0">
                    <a:solidFill>
                      <a:srgbClr val="374151"/>
                    </a:solidFill>
                    <a:latin typeface="+mn-lt"/>
                    <a:ea typeface="+mn-ea"/>
                    <a:cs typeface="+mn-cs"/>
                  </a:rPr>
                  <a:t>카고 스타일</a:t>
                </a:r>
              </a:p>
            </p:txBody>
          </p:sp>
          <p:sp>
            <p:nvSpPr>
              <p:cNvPr id="31" name="TextBox 31"/>
              <p:cNvSpPr txBox="1"/>
              <p:nvPr/>
            </p:nvSpPr>
            <p:spPr>
              <a:xfrm>
                <a:off x="9404985" y="2108200"/>
                <a:ext cx="727608" cy="220028"/>
              </a:xfrm>
              <a:prstGeom prst="rect">
                <a:avLst/>
              </a:prstGeom>
              <a:noFill/>
              <a:ln>
                <a:noFill/>
              </a:ln>
            </p:spPr>
            <p:txBody>
              <a:bodyPr wrap="none" lIns="0" tIns="0" rIns="0" bIns="0" anchor="t" anchorCtr="0">
                <a:spAutoFit/>
              </a:bodyPr>
              <a:lstStyle/>
              <a:p>
                <a:pPr algn="l"/>
                <a:r>
                  <a:rPr lang="ko-KR" sz="1120" dirty="0">
                    <a:solidFill>
                      <a:srgbClr val="374151"/>
                    </a:solidFill>
                    <a:latin typeface="+mn-lt"/>
                    <a:ea typeface="+mn-ea"/>
                    <a:cs typeface="+mn-cs"/>
                  </a:rPr>
                  <a:t>2025년형~</a:t>
                </a:r>
              </a:p>
            </p:txBody>
          </p:sp>
        </p:grpSp>
        <p:sp>
          <p:nvSpPr>
            <p:cNvPr id="33" name="Line 33"/>
            <p:cNvSpPr/>
            <p:nvPr/>
          </p:nvSpPr>
          <p:spPr>
            <a:xfrm>
              <a:off x="533400" y="2381250"/>
              <a:ext cx="11125200" cy="9525"/>
            </a:xfrm>
            <a:custGeom>
              <a:avLst/>
              <a:gdLst/>
              <a:ahLst/>
              <a:cxnLst/>
              <a:rect l="l" t="t" r="r" b="b"/>
              <a:pathLst>
                <a:path w="11125200" h="9525">
                  <a:moveTo>
                    <a:pt x="0" y="0"/>
                  </a:moveTo>
                  <a:lnTo>
                    <a:pt x="11125200" y="0"/>
                  </a:lnTo>
                </a:path>
              </a:pathLst>
            </a:custGeom>
            <a:noFill/>
            <a:ln w="14288">
              <a:solidFill>
                <a:srgbClr val="0B1E3C"/>
              </a:solidFill>
            </a:ln>
          </p:spPr>
        </p:sp>
        <p:grpSp>
          <p:nvGrpSpPr>
            <p:cNvPr id="37" name="Group 37"/>
            <p:cNvGrpSpPr/>
            <p:nvPr/>
          </p:nvGrpSpPr>
          <p:grpSpPr>
            <a:xfrm>
              <a:off x="527685" y="2508250"/>
              <a:ext cx="662022" cy="1477328"/>
              <a:chOff x="527685" y="2508250"/>
              <a:chExt cx="662022" cy="1477328"/>
            </a:xfrm>
          </p:grpSpPr>
          <p:sp>
            <p:nvSpPr>
              <p:cNvPr id="34" name="TextBox 34"/>
              <p:cNvSpPr txBox="1"/>
              <p:nvPr/>
            </p:nvSpPr>
            <p:spPr>
              <a:xfrm>
                <a:off x="527685" y="2508250"/>
                <a:ext cx="662022" cy="220028"/>
              </a:xfrm>
              <a:prstGeom prst="rect">
                <a:avLst/>
              </a:prstGeom>
              <a:noFill/>
              <a:ln>
                <a:noFill/>
              </a:ln>
            </p:spPr>
            <p:txBody>
              <a:bodyPr wrap="none" lIns="0" tIns="0" rIns="0" bIns="0" anchor="t" anchorCtr="0">
                <a:spAutoFit/>
              </a:bodyPr>
              <a:lstStyle/>
              <a:p>
                <a:pPr algn="l"/>
                <a:r>
                  <a:rPr lang="ko-KR" sz="1120" b="1" dirty="0">
                    <a:solidFill>
                      <a:srgbClr val="374151"/>
                    </a:solidFill>
                    <a:latin typeface="+mn-lt"/>
                    <a:ea typeface="+mn-ea"/>
                    <a:cs typeface="+mn-cs"/>
                  </a:rPr>
                  <a:t>차체 성격</a:t>
                </a:r>
              </a:p>
            </p:txBody>
          </p:sp>
          <p:sp>
            <p:nvSpPr>
              <p:cNvPr id="35" name="TextBox 35"/>
              <p:cNvSpPr txBox="1"/>
              <p:nvPr/>
            </p:nvSpPr>
            <p:spPr>
              <a:xfrm>
                <a:off x="527685" y="3270250"/>
                <a:ext cx="662022" cy="220028"/>
              </a:xfrm>
              <a:prstGeom prst="rect">
                <a:avLst/>
              </a:prstGeom>
              <a:noFill/>
              <a:ln>
                <a:noFill/>
              </a:ln>
            </p:spPr>
            <p:txBody>
              <a:bodyPr wrap="none" lIns="0" tIns="0" rIns="0" bIns="0" anchor="t" anchorCtr="0">
                <a:spAutoFit/>
              </a:bodyPr>
              <a:lstStyle/>
              <a:p>
                <a:pPr algn="l"/>
                <a:r>
                  <a:rPr lang="ko-KR" sz="1120" b="1" dirty="0">
                    <a:solidFill>
                      <a:srgbClr val="374151"/>
                    </a:solidFill>
                    <a:latin typeface="+mn-lt"/>
                    <a:ea typeface="+mn-ea"/>
                    <a:cs typeface="+mn-cs"/>
                  </a:rPr>
                  <a:t>차량 가격</a:t>
                </a:r>
              </a:p>
            </p:txBody>
          </p:sp>
          <p:sp>
            <p:nvSpPr>
              <p:cNvPr id="36" name="TextBox 36"/>
              <p:cNvSpPr txBox="1"/>
              <p:nvPr/>
            </p:nvSpPr>
            <p:spPr>
              <a:xfrm>
                <a:off x="527685" y="3765550"/>
                <a:ext cx="598319" cy="220028"/>
              </a:xfrm>
              <a:prstGeom prst="rect">
                <a:avLst/>
              </a:prstGeom>
              <a:noFill/>
              <a:ln>
                <a:noFill/>
              </a:ln>
            </p:spPr>
            <p:txBody>
              <a:bodyPr wrap="none" lIns="0" tIns="0" rIns="0" bIns="0" anchor="t" anchorCtr="0">
                <a:spAutoFit/>
              </a:bodyPr>
              <a:lstStyle/>
              <a:p>
                <a:pPr algn="l"/>
                <a:r>
                  <a:rPr lang="ko-KR" sz="1120" b="1" dirty="0">
                    <a:solidFill>
                      <a:srgbClr val="374151"/>
                    </a:solidFill>
                    <a:latin typeface="+mn-lt"/>
                    <a:ea typeface="+mn-ea"/>
                    <a:cs typeface="+mn-cs"/>
                  </a:rPr>
                  <a:t>1회 충전</a:t>
                </a:r>
              </a:p>
            </p:txBody>
          </p:sp>
        </p:grpSp>
        <p:grpSp>
          <p:nvGrpSpPr>
            <p:cNvPr id="52" name="Group 52"/>
            <p:cNvGrpSpPr/>
            <p:nvPr/>
          </p:nvGrpSpPr>
          <p:grpSpPr>
            <a:xfrm>
              <a:off x="533400" y="2495550"/>
              <a:ext cx="11125200" cy="1566291"/>
              <a:chOff x="533400" y="2495550"/>
              <a:chExt cx="11125200" cy="1566291"/>
            </a:xfrm>
          </p:grpSpPr>
          <p:sp>
            <p:nvSpPr>
              <p:cNvPr id="38" name="TextBox 38"/>
              <p:cNvSpPr txBox="1"/>
              <p:nvPr/>
            </p:nvSpPr>
            <p:spPr>
              <a:xfrm>
                <a:off x="2203704" y="2495550"/>
                <a:ext cx="1932432" cy="634746"/>
              </a:xfrm>
              <a:prstGeom prst="rect">
                <a:avLst/>
              </a:prstGeom>
              <a:noFill/>
              <a:ln>
                <a:noFill/>
              </a:ln>
            </p:spPr>
            <p:txBody>
              <a:bodyPr wrap="none" lIns="0" tIns="0" rIns="0" bIns="0" anchor="t" anchorCtr="0">
                <a:spAutoFit/>
              </a:bodyPr>
              <a:lstStyle/>
              <a:p>
                <a:pPr algn="l">
                  <a:lnSpc>
                    <a:spcPts val="1575"/>
                  </a:lnSpc>
                </a:pPr>
                <a:r>
                  <a:rPr lang="ko-KR" sz="1200" b="1" dirty="0">
                    <a:solidFill>
                      <a:srgbClr val="0B1E3C"/>
                    </a:solidFill>
                    <a:latin typeface="+mn-lt"/>
                    <a:ea typeface="+mn-ea"/>
                    <a:cs typeface="+mn-cs"/>
                  </a:rPr>
                  <a:t>컨버전 전제 소형 PBV</a:t>
                </a:r>
                <a:br>
                  <a:rPr lang="ko-KR" sz="1200" b="1" dirty="0">
                    <a:solidFill>
                      <a:srgbClr val="0B1E3C"/>
                    </a:solidFill>
                    <a:latin typeface="+mn-lt"/>
                    <a:ea typeface="+mn-ea"/>
                    <a:cs typeface="+mn-cs"/>
                  </a:rPr>
                </a:br>
                <a:r>
                  <a:rPr lang="ko-KR" sz="1200" dirty="0">
                    <a:solidFill>
                      <a:srgbClr val="374151"/>
                    </a:solidFill>
                    <a:latin typeface="+mn-lt"/>
                    <a:ea typeface="+mn-ea"/>
                    <a:cs typeface="+mn-cs"/>
                  </a:rPr>
                  <a:t>밀폐 카고룸 4,420L · V2L</a:t>
                </a:r>
                <a:br>
                  <a:rPr lang="ko-KR" sz="1200" dirty="0">
                    <a:solidFill>
                      <a:srgbClr val="374151"/>
                    </a:solidFill>
                    <a:latin typeface="+mn-lt"/>
                    <a:ea typeface="+mn-ea"/>
                    <a:cs typeface="+mn-cs"/>
                  </a:rPr>
                </a:br>
                <a:r>
                  <a:rPr lang="ko-KR" sz="1200" dirty="0">
                    <a:solidFill>
                      <a:srgbClr val="374151"/>
                    </a:solidFill>
                    <a:latin typeface="+mn-lt"/>
                    <a:ea typeface="+mn-ea"/>
                    <a:cs typeface="+mn-cs"/>
                  </a:rPr>
                  <a:t>L-Track · 공식 컨버전 체계</a:t>
                </a:r>
              </a:p>
            </p:txBody>
          </p:sp>
          <p:sp>
            <p:nvSpPr>
              <p:cNvPr id="39" name="TextBox 39"/>
              <p:cNvSpPr txBox="1"/>
              <p:nvPr/>
            </p:nvSpPr>
            <p:spPr>
              <a:xfrm>
                <a:off x="4604004" y="2495550"/>
                <a:ext cx="865632" cy="434721"/>
              </a:xfrm>
              <a:prstGeom prst="rect">
                <a:avLst/>
              </a:prstGeom>
              <a:noFill/>
              <a:ln>
                <a:noFill/>
              </a:ln>
            </p:spPr>
            <p:txBody>
              <a:bodyPr wrap="none" lIns="0" tIns="0" rIns="0" bIns="0" anchor="t" anchorCtr="0">
                <a:spAutoFit/>
              </a:bodyPr>
              <a:lstStyle/>
              <a:p>
                <a:pPr algn="l">
                  <a:lnSpc>
                    <a:spcPts val="1575"/>
                  </a:lnSpc>
                </a:pPr>
                <a:r>
                  <a:rPr lang="ko-KR" sz="1200" dirty="0">
                    <a:solidFill>
                      <a:srgbClr val="111827"/>
                    </a:solidFill>
                    <a:latin typeface="+mn-lt"/>
                    <a:ea typeface="+mn-ea"/>
                    <a:cs typeface="+mn-cs"/>
                  </a:rPr>
                  <a:t>승합 기반 밴</a:t>
                </a:r>
                <a:br>
                  <a:rPr lang="ko-KR" sz="1200" dirty="0">
                    <a:solidFill>
                      <a:srgbClr val="111827"/>
                    </a:solidFill>
                    <a:latin typeface="+mn-lt"/>
                    <a:ea typeface="+mn-ea"/>
                    <a:cs typeface="+mn-cs"/>
                  </a:rPr>
                </a:br>
                <a:r>
                  <a:rPr lang="ko-KR" sz="1200" dirty="0">
                    <a:solidFill>
                      <a:srgbClr val="374151"/>
                    </a:solidFill>
                    <a:latin typeface="+mn-lt"/>
                    <a:ea typeface="+mn-ea"/>
                    <a:cs typeface="+mn-cs"/>
                  </a:rPr>
                  <a:t>밀폐 카고</a:t>
                </a:r>
              </a:p>
            </p:txBody>
          </p:sp>
          <p:sp>
            <p:nvSpPr>
              <p:cNvPr id="40" name="TextBox 40"/>
              <p:cNvSpPr txBox="1"/>
              <p:nvPr/>
            </p:nvSpPr>
            <p:spPr>
              <a:xfrm>
                <a:off x="7004304" y="2495550"/>
                <a:ext cx="1018032" cy="434721"/>
              </a:xfrm>
              <a:prstGeom prst="rect">
                <a:avLst/>
              </a:prstGeom>
              <a:noFill/>
              <a:ln>
                <a:noFill/>
              </a:ln>
            </p:spPr>
            <p:txBody>
              <a:bodyPr wrap="none" lIns="0" tIns="0" rIns="0" bIns="0" anchor="t" anchorCtr="0">
                <a:spAutoFit/>
              </a:bodyPr>
              <a:lstStyle/>
              <a:p>
                <a:pPr algn="l">
                  <a:lnSpc>
                    <a:spcPts val="1575"/>
                  </a:lnSpc>
                </a:pPr>
                <a:r>
                  <a:rPr lang="ko-KR" sz="1200" dirty="0">
                    <a:solidFill>
                      <a:srgbClr val="111827"/>
                    </a:solidFill>
                    <a:latin typeface="+mn-lt"/>
                    <a:ea typeface="+mn-ea"/>
                    <a:cs typeface="+mn-cs"/>
                  </a:rPr>
                  <a:t>물류 특화 카고</a:t>
                </a:r>
                <a:br>
                  <a:rPr lang="ko-KR" sz="1200" dirty="0">
                    <a:solidFill>
                      <a:srgbClr val="111827"/>
                    </a:solidFill>
                    <a:latin typeface="+mn-lt"/>
                    <a:ea typeface="+mn-ea"/>
                    <a:cs typeface="+mn-cs"/>
                  </a:rPr>
                </a:br>
                <a:r>
                  <a:rPr lang="ko-KR" sz="1200" dirty="0">
                    <a:solidFill>
                      <a:srgbClr val="374151"/>
                    </a:solidFill>
                    <a:latin typeface="+mn-lt"/>
                    <a:ea typeface="+mn-ea"/>
                    <a:cs typeface="+mn-cs"/>
                  </a:rPr>
                  <a:t>밀폐 카고 박스</a:t>
                </a:r>
              </a:p>
            </p:txBody>
          </p:sp>
          <p:sp>
            <p:nvSpPr>
              <p:cNvPr id="41" name="TextBox 41"/>
              <p:cNvSpPr txBox="1"/>
              <p:nvPr/>
            </p:nvSpPr>
            <p:spPr>
              <a:xfrm>
                <a:off x="9404604" y="2495550"/>
                <a:ext cx="972312" cy="434721"/>
              </a:xfrm>
              <a:prstGeom prst="rect">
                <a:avLst/>
              </a:prstGeom>
              <a:noFill/>
              <a:ln>
                <a:noFill/>
              </a:ln>
            </p:spPr>
            <p:txBody>
              <a:bodyPr wrap="none" lIns="0" tIns="0" rIns="0" bIns="0" anchor="t" anchorCtr="0">
                <a:spAutoFit/>
              </a:bodyPr>
              <a:lstStyle/>
              <a:p>
                <a:pPr algn="l">
                  <a:lnSpc>
                    <a:spcPts val="1575"/>
                  </a:lnSpc>
                </a:pPr>
                <a:r>
                  <a:rPr lang="ko-KR" sz="1200" dirty="0">
                    <a:solidFill>
                      <a:srgbClr val="111827"/>
                    </a:solidFill>
                    <a:latin typeface="+mn-lt"/>
                    <a:ea typeface="+mn-ea"/>
                    <a:cs typeface="+mn-cs"/>
                  </a:rPr>
                  <a:t>1톤 트럭</a:t>
                </a:r>
                <a:br>
                  <a:rPr lang="ko-KR" sz="1200" dirty="0">
                    <a:solidFill>
                      <a:srgbClr val="111827"/>
                    </a:solidFill>
                    <a:latin typeface="+mn-lt"/>
                    <a:ea typeface="+mn-ea"/>
                    <a:cs typeface="+mn-cs"/>
                  </a:rPr>
                </a:br>
                <a:r>
                  <a:rPr lang="ko-KR" sz="1200" dirty="0">
                    <a:solidFill>
                      <a:srgbClr val="374151"/>
                    </a:solidFill>
                    <a:latin typeface="+mn-lt"/>
                    <a:ea typeface="+mn-ea"/>
                    <a:cs typeface="+mn-cs"/>
                  </a:rPr>
                  <a:t>개방형 적재함</a:t>
                </a:r>
              </a:p>
            </p:txBody>
          </p:sp>
          <p:sp>
            <p:nvSpPr>
              <p:cNvPr id="42" name="Line 42"/>
              <p:cNvSpPr/>
              <p:nvPr/>
            </p:nvSpPr>
            <p:spPr>
              <a:xfrm>
                <a:off x="533400" y="3143250"/>
                <a:ext cx="11125200" cy="9525"/>
              </a:xfrm>
              <a:custGeom>
                <a:avLst/>
                <a:gdLst/>
                <a:ahLst/>
                <a:cxnLst/>
                <a:rect l="l" t="t" r="r" b="b"/>
                <a:pathLst>
                  <a:path w="11125200" h="9525">
                    <a:moveTo>
                      <a:pt x="0" y="0"/>
                    </a:moveTo>
                    <a:lnTo>
                      <a:pt x="11125200" y="0"/>
                    </a:lnTo>
                  </a:path>
                </a:pathLst>
              </a:custGeom>
              <a:noFill/>
              <a:ln w="9525">
                <a:solidFill>
                  <a:srgbClr val="E2E6EC"/>
                </a:solidFill>
              </a:ln>
            </p:spPr>
          </p:sp>
          <p:sp>
            <p:nvSpPr>
              <p:cNvPr id="43" name="TextBox 43"/>
              <p:cNvSpPr txBox="1"/>
              <p:nvPr/>
            </p:nvSpPr>
            <p:spPr>
              <a:xfrm>
                <a:off x="2201799" y="3257550"/>
                <a:ext cx="1090135" cy="308991"/>
              </a:xfrm>
              <a:prstGeom prst="rect">
                <a:avLst/>
              </a:prstGeom>
              <a:noFill/>
              <a:ln>
                <a:noFill/>
              </a:ln>
            </p:spPr>
            <p:txBody>
              <a:bodyPr wrap="none" lIns="0" tIns="0" rIns="0" bIns="0" anchor="t" anchorCtr="0">
                <a:spAutoFit/>
              </a:bodyPr>
              <a:lstStyle/>
              <a:p>
                <a:pPr algn="l"/>
                <a:r>
                  <a:rPr lang="ko-KR" sz="1580" dirty="0">
                    <a:solidFill>
                      <a:srgbClr val="0B1E3C"/>
                    </a:solidFill>
                    <a:latin typeface="+mn-lt"/>
                    <a:ea typeface="+mn-ea"/>
                    <a:cs typeface="+mn-cs"/>
                  </a:rPr>
                  <a:t>4,520만 원</a:t>
                </a:r>
              </a:p>
            </p:txBody>
          </p:sp>
          <p:sp>
            <p:nvSpPr>
              <p:cNvPr id="44" name="TextBox 44"/>
              <p:cNvSpPr txBox="1"/>
              <p:nvPr/>
            </p:nvSpPr>
            <p:spPr>
              <a:xfrm>
                <a:off x="4602099" y="3257550"/>
                <a:ext cx="1090135" cy="308991"/>
              </a:xfrm>
              <a:prstGeom prst="rect">
                <a:avLst/>
              </a:prstGeom>
              <a:noFill/>
              <a:ln>
                <a:noFill/>
              </a:ln>
            </p:spPr>
            <p:txBody>
              <a:bodyPr wrap="none" lIns="0" tIns="0" rIns="0" bIns="0" anchor="t" anchorCtr="0">
                <a:spAutoFit/>
              </a:bodyPr>
              <a:lstStyle/>
              <a:p>
                <a:pPr algn="l"/>
                <a:r>
                  <a:rPr lang="ko-KR" sz="1580" dirty="0">
                    <a:solidFill>
                      <a:srgbClr val="111827"/>
                    </a:solidFill>
                    <a:latin typeface="+mn-lt"/>
                    <a:ea typeface="+mn-ea"/>
                    <a:cs typeface="+mn-cs"/>
                  </a:rPr>
                  <a:t>5,792만 원</a:t>
                </a:r>
              </a:p>
            </p:txBody>
          </p:sp>
          <p:sp>
            <p:nvSpPr>
              <p:cNvPr id="45" name="TextBox 45"/>
              <p:cNvSpPr txBox="1"/>
              <p:nvPr/>
            </p:nvSpPr>
            <p:spPr>
              <a:xfrm>
                <a:off x="7002399" y="3257550"/>
                <a:ext cx="1090135" cy="308991"/>
              </a:xfrm>
              <a:prstGeom prst="rect">
                <a:avLst/>
              </a:prstGeom>
              <a:noFill/>
              <a:ln>
                <a:noFill/>
              </a:ln>
            </p:spPr>
            <p:txBody>
              <a:bodyPr wrap="none" lIns="0" tIns="0" rIns="0" bIns="0" anchor="t" anchorCtr="0">
                <a:spAutoFit/>
              </a:bodyPr>
              <a:lstStyle/>
              <a:p>
                <a:pPr algn="l"/>
                <a:r>
                  <a:rPr lang="ko-KR" sz="1580" dirty="0">
                    <a:solidFill>
                      <a:srgbClr val="111827"/>
                    </a:solidFill>
                    <a:latin typeface="+mn-lt"/>
                    <a:ea typeface="+mn-ea"/>
                    <a:cs typeface="+mn-cs"/>
                  </a:rPr>
                  <a:t>5,874만 원</a:t>
                </a:r>
              </a:p>
            </p:txBody>
          </p:sp>
          <p:sp>
            <p:nvSpPr>
              <p:cNvPr id="46" name="TextBox 46"/>
              <p:cNvSpPr txBox="1"/>
              <p:nvPr/>
            </p:nvSpPr>
            <p:spPr>
              <a:xfrm>
                <a:off x="9404985" y="3308350"/>
                <a:ext cx="1677487" cy="220028"/>
              </a:xfrm>
              <a:prstGeom prst="rect">
                <a:avLst/>
              </a:prstGeom>
              <a:noFill/>
              <a:ln>
                <a:noFill/>
              </a:ln>
            </p:spPr>
            <p:txBody>
              <a:bodyPr wrap="none" lIns="0" tIns="0" rIns="0" bIns="0" anchor="t" anchorCtr="0">
                <a:spAutoFit/>
              </a:bodyPr>
              <a:lstStyle/>
              <a:p>
                <a:pPr algn="l"/>
                <a:r>
                  <a:rPr lang="ko-KR" sz="1120" dirty="0">
                    <a:solidFill>
                      <a:srgbClr val="4B5563"/>
                    </a:solidFill>
                    <a:latin typeface="+mn-lt"/>
                    <a:ea typeface="+mn-ea"/>
                    <a:cs typeface="+mn-cs"/>
                  </a:rPr>
                  <a:t>탑 개조 필요 · 비교 제외</a:t>
                </a:r>
              </a:p>
            </p:txBody>
          </p:sp>
          <p:sp>
            <p:nvSpPr>
              <p:cNvPr id="47" name="Line 47"/>
              <p:cNvSpPr/>
              <p:nvPr/>
            </p:nvSpPr>
            <p:spPr>
              <a:xfrm>
                <a:off x="533400" y="3638550"/>
                <a:ext cx="11125200" cy="9525"/>
              </a:xfrm>
              <a:custGeom>
                <a:avLst/>
                <a:gdLst/>
                <a:ahLst/>
                <a:cxnLst/>
                <a:rect l="l" t="t" r="r" b="b"/>
                <a:pathLst>
                  <a:path w="11125200" h="9525">
                    <a:moveTo>
                      <a:pt x="0" y="0"/>
                    </a:moveTo>
                    <a:lnTo>
                      <a:pt x="11125200" y="0"/>
                    </a:lnTo>
                  </a:path>
                </a:pathLst>
              </a:custGeom>
              <a:noFill/>
              <a:ln w="9525">
                <a:solidFill>
                  <a:srgbClr val="E2E6EC"/>
                </a:solidFill>
              </a:ln>
            </p:spPr>
          </p:sp>
          <p:sp>
            <p:nvSpPr>
              <p:cNvPr id="48" name="TextBox 48"/>
              <p:cNvSpPr txBox="1"/>
              <p:nvPr/>
            </p:nvSpPr>
            <p:spPr>
              <a:xfrm>
                <a:off x="2201799" y="3752850"/>
                <a:ext cx="643466" cy="308991"/>
              </a:xfrm>
              <a:prstGeom prst="rect">
                <a:avLst/>
              </a:prstGeom>
              <a:noFill/>
              <a:ln>
                <a:noFill/>
              </a:ln>
            </p:spPr>
            <p:txBody>
              <a:bodyPr wrap="none" lIns="0" tIns="0" rIns="0" bIns="0" anchor="t" anchorCtr="0">
                <a:spAutoFit/>
              </a:bodyPr>
              <a:lstStyle/>
              <a:p>
                <a:pPr algn="l"/>
                <a:r>
                  <a:rPr lang="en-US" sz="1580" dirty="0">
                    <a:solidFill>
                      <a:srgbClr val="0B1E3C"/>
                    </a:solidFill>
                    <a:latin typeface="+mn-lt"/>
                    <a:ea typeface="+mn-ea"/>
                    <a:cs typeface="+mn-cs"/>
                  </a:rPr>
                  <a:t>377km</a:t>
                </a:r>
              </a:p>
            </p:txBody>
          </p:sp>
          <p:sp>
            <p:nvSpPr>
              <p:cNvPr id="49" name="TextBox 49"/>
              <p:cNvSpPr txBox="1"/>
              <p:nvPr/>
            </p:nvSpPr>
            <p:spPr>
              <a:xfrm>
                <a:off x="4602099" y="3752850"/>
                <a:ext cx="643466" cy="308991"/>
              </a:xfrm>
              <a:prstGeom prst="rect">
                <a:avLst/>
              </a:prstGeom>
              <a:noFill/>
              <a:ln>
                <a:noFill/>
              </a:ln>
            </p:spPr>
            <p:txBody>
              <a:bodyPr wrap="none" lIns="0" tIns="0" rIns="0" bIns="0" anchor="t" anchorCtr="0">
                <a:spAutoFit/>
              </a:bodyPr>
              <a:lstStyle/>
              <a:p>
                <a:pPr algn="l"/>
                <a:r>
                  <a:rPr lang="en-US" sz="1580" dirty="0">
                    <a:solidFill>
                      <a:srgbClr val="111827"/>
                    </a:solidFill>
                    <a:latin typeface="+mn-lt"/>
                    <a:ea typeface="+mn-ea"/>
                    <a:cs typeface="+mn-cs"/>
                  </a:rPr>
                  <a:t>387km</a:t>
                </a:r>
              </a:p>
            </p:txBody>
          </p:sp>
          <p:sp>
            <p:nvSpPr>
              <p:cNvPr id="50" name="TextBox 50"/>
              <p:cNvSpPr txBox="1"/>
              <p:nvPr/>
            </p:nvSpPr>
            <p:spPr>
              <a:xfrm>
                <a:off x="7002399" y="3752850"/>
                <a:ext cx="643466" cy="308991"/>
              </a:xfrm>
              <a:prstGeom prst="rect">
                <a:avLst/>
              </a:prstGeom>
              <a:noFill/>
              <a:ln>
                <a:noFill/>
              </a:ln>
            </p:spPr>
            <p:txBody>
              <a:bodyPr wrap="none" lIns="0" tIns="0" rIns="0" bIns="0" anchor="t" anchorCtr="0">
                <a:spAutoFit/>
              </a:bodyPr>
              <a:lstStyle/>
              <a:p>
                <a:pPr algn="l"/>
                <a:r>
                  <a:rPr lang="en-US" sz="1580" dirty="0">
                    <a:solidFill>
                      <a:srgbClr val="111827"/>
                    </a:solidFill>
                    <a:latin typeface="+mn-lt"/>
                    <a:ea typeface="+mn-ea"/>
                    <a:cs typeface="+mn-cs"/>
                  </a:rPr>
                  <a:t>317km</a:t>
                </a:r>
              </a:p>
            </p:txBody>
          </p:sp>
          <p:sp>
            <p:nvSpPr>
              <p:cNvPr id="51" name="TextBox 51"/>
              <p:cNvSpPr txBox="1"/>
              <p:nvPr/>
            </p:nvSpPr>
            <p:spPr>
              <a:xfrm>
                <a:off x="9402699" y="3752850"/>
                <a:ext cx="643466" cy="308991"/>
              </a:xfrm>
              <a:prstGeom prst="rect">
                <a:avLst/>
              </a:prstGeom>
              <a:noFill/>
              <a:ln>
                <a:noFill/>
              </a:ln>
            </p:spPr>
            <p:txBody>
              <a:bodyPr wrap="none" lIns="0" tIns="0" rIns="0" bIns="0" anchor="t" anchorCtr="0">
                <a:spAutoFit/>
              </a:bodyPr>
              <a:lstStyle/>
              <a:p>
                <a:pPr algn="l"/>
                <a:r>
                  <a:rPr lang="en-US" sz="1580" dirty="0">
                    <a:solidFill>
                      <a:srgbClr val="111827"/>
                    </a:solidFill>
                    <a:latin typeface="+mn-lt"/>
                    <a:ea typeface="+mn-ea"/>
                    <a:cs typeface="+mn-cs"/>
                  </a:rPr>
                  <a:t>217km</a:t>
                </a:r>
              </a:p>
            </p:txBody>
          </p:sp>
        </p:grpSp>
      </p:grpSp>
      <p:grpSp>
        <p:nvGrpSpPr>
          <p:cNvPr id="68" name="kit"/>
          <p:cNvGrpSpPr/>
          <p:nvPr/>
        </p:nvGrpSpPr>
        <p:grpSpPr>
          <a:xfrm>
            <a:off x="527685" y="4248150"/>
            <a:ext cx="11130915" cy="1353693"/>
            <a:chOff x="527685" y="4248150"/>
            <a:chExt cx="11130915" cy="1353693"/>
          </a:xfrm>
        </p:grpSpPr>
        <p:pic>
          <p:nvPicPr>
            <p:cNvPr id="54" name="Image 54"/>
            <p:cNvPicPr>
              <a:picLocks noChangeAspect="1"/>
            </p:cNvPicPr>
            <p:nvPr/>
          </p:nvPicPr>
          <p:blipFill>
            <a:blip r:embed="rId2"/>
            <a:srcRect l="0" t="28446" r="0" b="28445"/>
            <a:stretch>
              <a:fillRect/>
            </a:stretch>
          </p:blipFill>
          <p:spPr>
            <a:xfrm>
              <a:off x="533400" y="4248150"/>
              <a:ext cx="2609850" cy="876300"/>
            </a:xfrm>
            <a:prstGeom prst="rect">
              <a:avLst/>
            </a:prstGeom>
          </p:spPr>
        </p:pic>
        <p:sp>
          <p:nvSpPr>
            <p:cNvPr id="55" name="TextBox 55"/>
            <p:cNvSpPr txBox="1"/>
            <p:nvPr/>
          </p:nvSpPr>
          <p:spPr>
            <a:xfrm>
              <a:off x="527685" y="5194300"/>
              <a:ext cx="1641486" cy="220028"/>
            </a:xfrm>
            <a:prstGeom prst="rect">
              <a:avLst/>
            </a:prstGeom>
            <a:noFill/>
            <a:ln>
              <a:noFill/>
            </a:ln>
          </p:spPr>
          <p:txBody>
            <a:bodyPr wrap="none" lIns="0" tIns="0" rIns="0" bIns="0" anchor="t" anchorCtr="0">
              <a:spAutoFit/>
            </a:bodyPr>
            <a:lstStyle/>
            <a:p>
              <a:pPr algn="l"/>
              <a:r>
                <a:rPr lang="ko-KR" sz="1120" b="1" dirty="0">
                  <a:solidFill>
                    <a:srgbClr val="111827"/>
                  </a:solidFill>
                  <a:latin typeface="+mn-lt"/>
                  <a:ea typeface="+mn-ea"/>
                  <a:cs typeface="+mn-cs"/>
                </a:rPr>
                <a:t>카고룸 실내 V2L 콘센트</a:t>
              </a:r>
            </a:p>
          </p:txBody>
        </p:sp>
        <p:sp>
          <p:nvSpPr>
            <p:cNvPr id="56" name="TextBox 56"/>
            <p:cNvSpPr txBox="1"/>
            <p:nvPr/>
          </p:nvSpPr>
          <p:spPr>
            <a:xfrm>
              <a:off x="528447" y="5410200"/>
              <a:ext cx="1624899" cy="191643"/>
            </a:xfrm>
            <a:prstGeom prst="rect">
              <a:avLst/>
            </a:prstGeom>
            <a:noFill/>
            <a:ln>
              <a:noFill/>
            </a:ln>
          </p:spPr>
          <p:txBody>
            <a:bodyPr wrap="none" lIns="0" tIns="0" rIns="0" bIns="0" anchor="t" anchorCtr="0">
              <a:spAutoFit/>
            </a:bodyPr>
            <a:lstStyle/>
            <a:p>
              <a:pPr algn="l"/>
              <a:r>
                <a:rPr lang="ko-KR" sz="980" dirty="0">
                  <a:solidFill>
                    <a:srgbClr val="374151"/>
                  </a:solidFill>
                  <a:latin typeface="+mn-lt"/>
                  <a:ea typeface="+mn-ea"/>
                  <a:cs typeface="+mn-cs"/>
                </a:rPr>
                <a:t>시동 없이 GPR·컴퓨터 전원</a:t>
              </a:r>
            </a:p>
          </p:txBody>
        </p:sp>
        <p:pic>
          <p:nvPicPr>
            <p:cNvPr id="57" name="Image 57"/>
            <p:cNvPicPr>
              <a:picLocks noChangeAspect="1"/>
            </p:cNvPicPr>
            <p:nvPr/>
          </p:nvPicPr>
          <p:blipFill>
            <a:blip r:embed="rId3"/>
            <a:srcRect l="0" t="24858" r="0" b="24858"/>
            <a:stretch>
              <a:fillRect/>
            </a:stretch>
          </p:blipFill>
          <p:spPr>
            <a:xfrm>
              <a:off x="3371850" y="4248150"/>
              <a:ext cx="2609850" cy="876300"/>
            </a:xfrm>
            <a:prstGeom prst="rect">
              <a:avLst/>
            </a:prstGeom>
          </p:spPr>
        </p:pic>
        <p:sp>
          <p:nvSpPr>
            <p:cNvPr id="58" name="TextBox 58"/>
            <p:cNvSpPr txBox="1"/>
            <p:nvPr/>
          </p:nvSpPr>
          <p:spPr>
            <a:xfrm>
              <a:off x="3366135" y="5194300"/>
              <a:ext cx="1482192" cy="220028"/>
            </a:xfrm>
            <a:prstGeom prst="rect">
              <a:avLst/>
            </a:prstGeom>
            <a:noFill/>
            <a:ln>
              <a:noFill/>
            </a:ln>
          </p:spPr>
          <p:txBody>
            <a:bodyPr wrap="none" lIns="0" tIns="0" rIns="0" bIns="0" anchor="t" anchorCtr="0">
              <a:spAutoFit/>
            </a:bodyPr>
            <a:lstStyle/>
            <a:p>
              <a:pPr algn="l"/>
              <a:r>
                <a:rPr lang="ko-KR" sz="1120" b="1" dirty="0">
                  <a:solidFill>
                    <a:srgbClr val="111827"/>
                  </a:solidFill>
                  <a:latin typeface="+mn-lt"/>
                  <a:ea typeface="+mn-ea"/>
                  <a:cs typeface="+mn-cs"/>
                </a:rPr>
                <a:t>L-Track 러기지 트림</a:t>
              </a:r>
            </a:p>
          </p:txBody>
        </p:sp>
        <p:sp>
          <p:nvSpPr>
            <p:cNvPr id="59" name="TextBox 59"/>
            <p:cNvSpPr txBox="1"/>
            <p:nvPr/>
          </p:nvSpPr>
          <p:spPr>
            <a:xfrm>
              <a:off x="3366897" y="5410200"/>
              <a:ext cx="1883278" cy="191643"/>
            </a:xfrm>
            <a:prstGeom prst="rect">
              <a:avLst/>
            </a:prstGeom>
            <a:noFill/>
            <a:ln>
              <a:noFill/>
            </a:ln>
          </p:spPr>
          <p:txBody>
            <a:bodyPr wrap="none" lIns="0" tIns="0" rIns="0" bIns="0" anchor="t" anchorCtr="0">
              <a:spAutoFit/>
            </a:bodyPr>
            <a:lstStyle/>
            <a:p>
              <a:pPr algn="l"/>
              <a:r>
                <a:rPr lang="ko-KR" sz="980" dirty="0">
                  <a:solidFill>
                    <a:srgbClr val="374151"/>
                  </a:solidFill>
                  <a:latin typeface="+mn-lt"/>
                  <a:ea typeface="+mn-ea"/>
                  <a:cs typeface="+mn-cs"/>
                </a:rPr>
                <a:t>회차마다 같은 자리에 장비 고정</a:t>
              </a:r>
            </a:p>
          </p:txBody>
        </p:sp>
        <p:pic>
          <p:nvPicPr>
            <p:cNvPr id="60" name="Image 60"/>
            <p:cNvPicPr>
              <a:picLocks noChangeAspect="1"/>
            </p:cNvPicPr>
            <p:nvPr/>
          </p:nvPicPr>
          <p:blipFill>
            <a:blip r:embed="rId4"/>
            <a:srcRect l="0" t="25152" r="0" b="25152"/>
            <a:stretch>
              <a:fillRect/>
            </a:stretch>
          </p:blipFill>
          <p:spPr>
            <a:xfrm>
              <a:off x="6210300" y="4248150"/>
              <a:ext cx="2609850" cy="876300"/>
            </a:xfrm>
            <a:prstGeom prst="rect">
              <a:avLst/>
            </a:prstGeom>
          </p:spPr>
        </p:pic>
        <p:sp>
          <p:nvSpPr>
            <p:cNvPr id="61" name="TextBox 61"/>
            <p:cNvSpPr txBox="1"/>
            <p:nvPr/>
          </p:nvSpPr>
          <p:spPr>
            <a:xfrm>
              <a:off x="6204585" y="5194300"/>
              <a:ext cx="2228944" cy="220028"/>
            </a:xfrm>
            <a:prstGeom prst="rect">
              <a:avLst/>
            </a:prstGeom>
            <a:noFill/>
            <a:ln>
              <a:noFill/>
            </a:ln>
          </p:spPr>
          <p:txBody>
            <a:bodyPr wrap="none" lIns="0" tIns="0" rIns="0" bIns="0" anchor="t" anchorCtr="0">
              <a:spAutoFit/>
            </a:bodyPr>
            <a:lstStyle/>
            <a:p>
              <a:pPr algn="l"/>
              <a:r>
                <a:rPr lang="ko-KR" sz="1120" b="1" dirty="0">
                  <a:solidFill>
                    <a:srgbClr val="111827"/>
                  </a:solidFill>
                  <a:latin typeface="+mn-lt"/>
                  <a:ea typeface="+mn-ea"/>
                  <a:cs typeface="+mn-cs"/>
                </a:rPr>
                <a:t>카고룸 2,255×1,565×1,520mm</a:t>
              </a:r>
            </a:p>
          </p:txBody>
        </p:sp>
        <p:sp>
          <p:nvSpPr>
            <p:cNvPr id="62" name="TextBox 62"/>
            <p:cNvSpPr txBox="1"/>
            <p:nvPr/>
          </p:nvSpPr>
          <p:spPr>
            <a:xfrm>
              <a:off x="6205347" y="5410200"/>
              <a:ext cx="1794538" cy="191643"/>
            </a:xfrm>
            <a:prstGeom prst="rect">
              <a:avLst/>
            </a:prstGeom>
            <a:noFill/>
            <a:ln>
              <a:noFill/>
            </a:ln>
          </p:spPr>
          <p:txBody>
            <a:bodyPr wrap="none" lIns="0" tIns="0" rIns="0" bIns="0" anchor="t" anchorCtr="0">
              <a:spAutoFit/>
            </a:bodyPr>
            <a:lstStyle/>
            <a:p>
              <a:pPr algn="l"/>
              <a:r>
                <a:rPr lang="ko-KR" sz="980" dirty="0">
                  <a:solidFill>
                    <a:srgbClr val="374151"/>
                  </a:solidFill>
                  <a:latin typeface="+mn-lt"/>
                  <a:ea typeface="+mn-ea"/>
                  <a:cs typeface="+mn-cs"/>
                </a:rPr>
                <a:t>랙·수동 GPR 카트를 함께 적재</a:t>
              </a:r>
            </a:p>
          </p:txBody>
        </p:sp>
        <p:sp>
          <p:nvSpPr>
            <p:cNvPr id="63" name="Rectangle 63"/>
            <p:cNvSpPr/>
            <p:nvPr/>
          </p:nvSpPr>
          <p:spPr>
            <a:xfrm>
              <a:off x="9048750" y="4248150"/>
              <a:ext cx="2609850" cy="28575"/>
            </a:xfrm>
            <a:prstGeom prst="rect">
              <a:avLst/>
            </a:prstGeom>
            <a:solidFill>
              <a:srgbClr val="C62828"/>
            </a:solidFill>
            <a:ln>
              <a:noFill/>
            </a:ln>
          </p:spPr>
        </p:sp>
        <p:sp>
          <p:nvSpPr>
            <p:cNvPr id="64" name="TextBox 64"/>
            <p:cNvSpPr txBox="1"/>
            <p:nvPr/>
          </p:nvSpPr>
          <p:spPr>
            <a:xfrm>
              <a:off x="9043035" y="4375150"/>
              <a:ext cx="1136292" cy="220028"/>
            </a:xfrm>
            <a:prstGeom prst="rect">
              <a:avLst/>
            </a:prstGeom>
            <a:noFill/>
            <a:ln>
              <a:noFill/>
            </a:ln>
          </p:spPr>
          <p:txBody>
            <a:bodyPr wrap="none" lIns="0" tIns="0" rIns="0" bIns="0" anchor="t" anchorCtr="0">
              <a:spAutoFit/>
            </a:bodyPr>
            <a:lstStyle/>
            <a:p>
              <a:pPr algn="l"/>
              <a:r>
                <a:rPr lang="ko-KR" sz="1120" b="1" dirty="0">
                  <a:solidFill>
                    <a:srgbClr val="C62828"/>
                  </a:solidFill>
                  <a:latin typeface="+mn-lt"/>
                  <a:ea typeface="+mn-ea"/>
                  <a:cs typeface="+mn-cs"/>
                </a:rPr>
                <a:t>PV5가 불리한 점</a:t>
              </a:r>
            </a:p>
          </p:txBody>
        </p:sp>
        <p:sp>
          <p:nvSpPr>
            <p:cNvPr id="65" name="TextBox 65"/>
            <p:cNvSpPr txBox="1"/>
            <p:nvPr/>
          </p:nvSpPr>
          <p:spPr>
            <a:xfrm>
              <a:off x="9042654" y="4648200"/>
              <a:ext cx="2362657" cy="234696"/>
            </a:xfrm>
            <a:prstGeom prst="rect">
              <a:avLst/>
            </a:prstGeom>
            <a:noFill/>
            <a:ln>
              <a:noFill/>
            </a:ln>
          </p:spPr>
          <p:txBody>
            <a:bodyPr wrap="none" lIns="0" tIns="0" rIns="0" bIns="0" anchor="t" anchorCtr="0">
              <a:spAutoFit/>
            </a:bodyPr>
            <a:lstStyle/>
            <a:p>
              <a:pPr algn="l"/>
              <a:r>
                <a:rPr lang="ko-KR" sz="1200" dirty="0">
                  <a:solidFill>
                    <a:srgbClr val="111827"/>
                  </a:solidFill>
                  <a:latin typeface="+mn-lt"/>
                  <a:ea typeface="+mn-ea"/>
                  <a:cs typeface="+mn-cs"/>
                </a:rPr>
                <a:t>주행거리 377km는 스타리아보다</a:t>
              </a:r>
            </a:p>
          </p:txBody>
        </p:sp>
        <p:sp>
          <p:nvSpPr>
            <p:cNvPr id="66" name="TextBox 66"/>
            <p:cNvSpPr txBox="1"/>
            <p:nvPr/>
          </p:nvSpPr>
          <p:spPr>
            <a:xfrm>
              <a:off x="9042654" y="4876800"/>
              <a:ext cx="2136496" cy="234696"/>
            </a:xfrm>
            <a:prstGeom prst="rect">
              <a:avLst/>
            </a:prstGeom>
            <a:noFill/>
            <a:ln>
              <a:noFill/>
            </a:ln>
          </p:spPr>
          <p:txBody>
            <a:bodyPr wrap="none" lIns="0" tIns="0" rIns="0" bIns="0" anchor="t" anchorCtr="0">
              <a:spAutoFit/>
            </a:bodyPr>
            <a:lstStyle/>
            <a:p>
              <a:pPr algn="l"/>
              <a:r>
                <a:rPr lang="ko-KR" sz="1200" dirty="0">
                  <a:solidFill>
                    <a:srgbClr val="111827"/>
                  </a:solidFill>
                  <a:latin typeface="+mn-lt"/>
                  <a:ea typeface="+mn-ea"/>
                  <a:cs typeface="+mn-cs"/>
                </a:rPr>
                <a:t>10km 짧습니다. 하루 순찰 약</a:t>
              </a:r>
            </a:p>
          </p:txBody>
        </p:sp>
        <p:sp>
          <p:nvSpPr>
            <p:cNvPr id="67" name="TextBox 67"/>
            <p:cNvSpPr txBox="1"/>
            <p:nvPr/>
          </p:nvSpPr>
          <p:spPr>
            <a:xfrm>
              <a:off x="9042654" y="5105400"/>
              <a:ext cx="2217268" cy="234696"/>
            </a:xfrm>
            <a:prstGeom prst="rect">
              <a:avLst/>
            </a:prstGeom>
            <a:noFill/>
            <a:ln>
              <a:noFill/>
            </a:ln>
          </p:spPr>
          <p:txBody>
            <a:bodyPr wrap="none" lIns="0" tIns="0" rIns="0" bIns="0" anchor="t" anchorCtr="0">
              <a:spAutoFit/>
            </a:bodyPr>
            <a:lstStyle/>
            <a:p>
              <a:pPr algn="l"/>
              <a:r>
                <a:rPr lang="en-US" sz="1200" dirty="0">
                  <a:solidFill>
                    <a:srgbClr val="111827"/>
                  </a:solidFill>
                  <a:latin typeface="+mn-lt"/>
                  <a:ea typeface="+mn-ea"/>
                  <a:cs typeface="+mn-cs"/>
                </a:rPr>
                <a:t xml:space="preserve">30km </a:t>
              </a:r>
              <a:r>
                <a:rPr lang="ko-KR" sz="1200" dirty="0">
                  <a:solidFill>
                    <a:srgbClr val="4B5563"/>
                  </a:solidFill>
                  <a:latin typeface="+mn-lt"/>
                  <a:ea typeface="+mn-ea"/>
                  <a:cs typeface="+mn-cs"/>
                </a:rPr>
                <a:t>[가설]</a:t>
              </a:r>
              <a:r>
                <a:rPr lang="ko-KR" sz="1200" dirty="0">
                  <a:solidFill>
                    <a:srgbClr val="111827"/>
                  </a:solidFill>
                  <a:latin typeface="+mn-lt"/>
                  <a:ea typeface="+mn-ea"/>
                  <a:cs typeface="+mn-cs"/>
                </a:rPr>
                <a:t>에는 충분합니다.</a:t>
              </a:r>
            </a:p>
          </p:txBody>
        </p:sp>
      </p:grpSp>
      <p:grpSp>
        <p:nvGrpSpPr>
          <p:cNvPr id="71" name="conclusion"/>
          <p:cNvGrpSpPr/>
          <p:nvPr/>
        </p:nvGrpSpPr>
        <p:grpSpPr>
          <a:xfrm>
            <a:off x="533400" y="5657850"/>
            <a:ext cx="8992086" cy="495300"/>
            <a:chOff x="533400" y="5657850"/>
            <a:chExt cx="8992086" cy="495300"/>
          </a:xfrm>
        </p:grpSpPr>
        <p:sp>
          <p:nvSpPr>
            <p:cNvPr id="69" name="Rectangle 69"/>
            <p:cNvSpPr/>
            <p:nvPr/>
          </p:nvSpPr>
          <p:spPr>
            <a:xfrm>
              <a:off x="533400" y="5657850"/>
              <a:ext cx="38100" cy="495300"/>
            </a:xfrm>
            <a:prstGeom prst="rect">
              <a:avLst/>
            </a:prstGeom>
            <a:solidFill>
              <a:srgbClr val="F5B700"/>
            </a:solidFill>
            <a:ln>
              <a:noFill/>
            </a:ln>
          </p:spPr>
        </p:sp>
        <p:sp>
          <p:nvSpPr>
            <p:cNvPr id="70" name="TextBox 70"/>
            <p:cNvSpPr txBox="1"/>
            <p:nvPr/>
          </p:nvSpPr>
          <p:spPr>
            <a:xfrm>
              <a:off x="754380" y="5794375"/>
              <a:ext cx="8771106" cy="293370"/>
            </a:xfrm>
            <a:prstGeom prst="rect">
              <a:avLst/>
            </a:prstGeom>
            <a:noFill/>
            <a:ln>
              <a:noFill/>
            </a:ln>
          </p:spPr>
          <p:txBody>
            <a:bodyPr wrap="none" lIns="0" tIns="0" rIns="0" bIns="0" anchor="t" anchorCtr="0">
              <a:spAutoFit/>
            </a:bodyPr>
            <a:lstStyle/>
            <a:p>
              <a:pPr algn="l"/>
              <a:r>
                <a:rPr lang="ko-KR" sz="1500" b="1" dirty="0">
                  <a:solidFill>
                    <a:srgbClr val="0B1E3C"/>
                  </a:solidFill>
                  <a:latin typeface="+mn-lt"/>
                  <a:ea typeface="+mn-ea"/>
                  <a:cs typeface="+mn-cs"/>
                </a:rPr>
                <a:t xml:space="preserve">전원·고정 구조와 </a:t>
              </a:r>
              <a:r>
                <a:rPr lang="ko-KR" sz="1500" b="1" dirty="0">
                  <a:solidFill>
                    <a:srgbClr val="B45309"/>
                  </a:solidFill>
                  <a:latin typeface="+mn-lt"/>
                  <a:ea typeface="+mn-ea"/>
                  <a:cs typeface="+mn-cs"/>
                </a:rPr>
                <a:t>공식 컨버전 체계</a:t>
              </a:r>
              <a:r>
                <a:rPr lang="ko-KR" sz="1500" b="1" dirty="0">
                  <a:solidFill>
                    <a:srgbClr val="0B1E3C"/>
                  </a:solidFill>
                  <a:latin typeface="+mn-lt"/>
                  <a:ea typeface="+mn-ea"/>
                  <a:cs typeface="+mn-cs"/>
                </a:rPr>
                <a:t>를 갖춘 PV5로, 같은 탐사실을 여러 대에 그대로 복제합니다.</a:t>
              </a:r>
            </a:p>
          </p:txBody>
        </p:sp>
      </p:grpSp>
      <p:grpSp>
        <p:nvGrpSpPr>
          <p:cNvPr id="73" name="source"/>
          <p:cNvGrpSpPr/>
          <p:nvPr/>
        </p:nvGrpSpPr>
        <p:grpSpPr>
          <a:xfrm>
            <a:off x="528447" y="6248400"/>
            <a:ext cx="9107932" cy="344043"/>
            <a:chOff x="528447" y="6248400"/>
            <a:chExt cx="9107932" cy="344043"/>
          </a:xfrm>
        </p:grpSpPr>
        <p:sp>
          <p:nvSpPr>
            <p:cNvPr id="72" name="TextBox 72"/>
            <p:cNvSpPr txBox="1"/>
            <p:nvPr/>
          </p:nvSpPr>
          <p:spPr>
            <a:xfrm>
              <a:off x="528447" y="6248400"/>
              <a:ext cx="9107932" cy="344043"/>
            </a:xfrm>
            <a:prstGeom prst="rect">
              <a:avLst/>
            </a:prstGeom>
            <a:noFill/>
            <a:ln>
              <a:noFill/>
            </a:ln>
          </p:spPr>
          <p:txBody>
            <a:bodyPr wrap="none" lIns="0" tIns="0" rIns="0" bIns="0" anchor="t" anchorCtr="0">
              <a:spAutoFit/>
            </a:bodyPr>
            <a:lstStyle/>
            <a:p>
              <a:pPr algn="l">
                <a:lnSpc>
                  <a:spcPts val="1200"/>
                </a:lnSpc>
              </a:pPr>
              <a:r>
                <a:rPr lang="ko-KR" sz="980" dirty="0">
                  <a:solidFill>
                    <a:srgbClr val="4B5563"/>
                  </a:solidFill>
                  <a:latin typeface="+mn-lt"/>
                  <a:ea typeface="+mn-ea"/>
                  <a:cs typeface="+mn-cs"/>
                </a:rPr>
                <a:t>출처: 기아 PV5 카고 가격표(2026.10.1)·제원 · 오토뷰(2026.1.28, PV5 컨버전 포털) · 스타리아 일렉트릭 출시(2026.4.23) · ST1(2025.7.16, 317km)</a:t>
              </a:r>
              <a:br>
                <a:rPr lang="ko-KR" sz="980" dirty="0">
                  <a:solidFill>
                    <a:srgbClr val="4B5563"/>
                  </a:solidFill>
                  <a:latin typeface="+mn-lt"/>
                  <a:ea typeface="+mn-ea"/>
                  <a:cs typeface="+mn-cs"/>
                </a:rPr>
              </a:br>
              <a:r>
                <a:rPr lang="ko-KR" sz="980" dirty="0">
                  <a:solidFill>
                    <a:srgbClr val="4B5563"/>
                  </a:solidFill>
                  <a:latin typeface="+mn-lt"/>
                  <a:ea typeface="+mn-ea"/>
                  <a:cs typeface="+mn-cs"/>
                </a:rPr>
                <a:t>포터II·봉고III EV(2025년형, 217km) · 시사저널(2025.4.25, 경기도청 인용 GPR 대당 2억~8억 원) · 가격은 보조금 제외 · 사진: 기아 PV5 카고 카탈로그(2026.9)</a:t>
              </a:r>
            </a:p>
          </p:txBody>
        </p:sp>
      </p:grpSp>
      <p:grpSp>
        <p:nvGrpSpPr>
          <p:cNvPr id="76" name="footer"/>
          <p:cNvGrpSpPr/>
          <p:nvPr/>
        </p:nvGrpSpPr>
        <p:grpSpPr>
          <a:xfrm>
            <a:off x="528638" y="6610350"/>
            <a:ext cx="11134724" cy="176212"/>
            <a:chOff x="528638" y="6610350"/>
            <a:chExt cx="11134724" cy="176212"/>
          </a:xfrm>
        </p:grpSpPr>
        <p:sp>
          <p:nvSpPr>
            <p:cNvPr id="74" name="TextBox 74"/>
            <p:cNvSpPr txBox="1"/>
            <p:nvPr/>
          </p:nvSpPr>
          <p:spPr>
            <a:xfrm>
              <a:off x="528638" y="6610350"/>
              <a:ext cx="1020324" cy="176212"/>
            </a:xfrm>
            <a:prstGeom prst="rect">
              <a:avLst/>
            </a:prstGeom>
            <a:noFill/>
            <a:ln>
              <a:noFill/>
            </a:ln>
          </p:spPr>
          <p:txBody>
            <a:bodyPr wrap="none" lIns="0" tIns="0" rIns="0" bIns="0" anchor="t" anchorCtr="0">
              <a:spAutoFit/>
            </a:bodyPr>
            <a:lstStyle/>
            <a:p>
              <a:pPr algn="l"/>
              <a:r>
                <a:rPr lang="en-US" sz="900" dirty="0">
                  <a:solidFill>
                    <a:srgbClr val="4B5563"/>
                  </a:solidFill>
                  <a:latin typeface="+mn-lt"/>
                  <a:ea typeface="+mn-ea"/>
                  <a:cs typeface="+mn-cs"/>
                </a:rPr>
                <a:t>PV5 GroundWatch</a:t>
              </a:r>
            </a:p>
          </p:txBody>
        </p:sp>
        <p:sp>
          <p:nvSpPr>
            <p:cNvPr id="75" name="TextBox 75"/>
            <p:cNvSpPr txBox="1"/>
            <p:nvPr/>
          </p:nvSpPr>
          <p:spPr>
            <a:xfrm>
              <a:off x="11247958" y="6610350"/>
              <a:ext cx="415404" cy="176212"/>
            </a:xfrm>
            <a:prstGeom prst="rect">
              <a:avLst/>
            </a:prstGeom>
            <a:noFill/>
            <a:ln>
              <a:noFill/>
            </a:ln>
          </p:spPr>
          <p:txBody>
            <a:bodyPr wrap="none" lIns="0" tIns="0" rIns="0" bIns="0" anchor="t" anchorCtr="0">
              <a:spAutoFit/>
            </a:bodyPr>
            <a:lstStyle/>
            <a:p>
              <a:pPr algn="r"/>
              <a:r>
                <a:rPr lang="ko-KR" sz="900" dirty="0">
                  <a:solidFill>
                    <a:srgbClr val="4B5563"/>
                  </a:solidFill>
                  <a:latin typeface="+mn-lt"/>
                  <a:ea typeface="+mn-ea"/>
                  <a:cs typeface="+mn-cs"/>
                </a:rPr>
                <a:t>10 / 15</a:t>
              </a:r>
            </a:p>
          </p:txBody>
        </p:sp>
      </p:grpSp>
    </p:spTree>
  </p:cSld>
  <p:clrMapOvr>
    <a:masterClrMapping/>
  </p:clrMapOvr>
  <p:transition xmlns:p14="http://schemas.microsoft.com/office/powerpoint/2010/main" p14:dur="400">
    <p:fade/>
  </p:transition>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grpSp>
        <p:nvGrpSpPr>
          <p:cNvPr id="16" name="header"/>
          <p:cNvGrpSpPr/>
          <p:nvPr/>
        </p:nvGrpSpPr>
        <p:grpSpPr>
          <a:xfrm>
            <a:off x="533400" y="266700"/>
            <a:ext cx="11125200" cy="333375"/>
            <a:chOff x="533400" y="266700"/>
            <a:chExt cx="11125200" cy="333375"/>
          </a:xfrm>
        </p:grpSpPr>
        <p:sp>
          <p:nvSpPr>
            <p:cNvPr id="2" name="Rectangle 2"/>
            <p:cNvSpPr/>
            <p:nvPr/>
          </p:nvSpPr>
          <p:spPr>
            <a:xfrm>
              <a:off x="533400" y="266700"/>
              <a:ext cx="1333500" cy="228600"/>
            </a:xfrm>
            <a:prstGeom prst="rect">
              <a:avLst/>
            </a:prstGeom>
            <a:solidFill>
              <a:srgbClr val="0B1E3C"/>
            </a:solidFill>
            <a:ln>
              <a:noFill/>
            </a:ln>
          </p:spPr>
        </p:sp>
        <p:sp>
          <p:nvSpPr>
            <p:cNvPr id="3" name="TextBox 3"/>
            <p:cNvSpPr txBox="1"/>
            <p:nvPr/>
          </p:nvSpPr>
          <p:spPr>
            <a:xfrm>
              <a:off x="617357" y="314325"/>
              <a:ext cx="1165586" cy="191643"/>
            </a:xfrm>
            <a:prstGeom prst="rect">
              <a:avLst/>
            </a:prstGeom>
            <a:noFill/>
            <a:ln>
              <a:noFill/>
            </a:ln>
          </p:spPr>
          <p:txBody>
            <a:bodyPr wrap="none" lIns="0" tIns="0" rIns="0" bIns="0" anchor="t" anchorCtr="0">
              <a:spAutoFit/>
            </a:bodyPr>
            <a:lstStyle/>
            <a:p>
              <a:pPr algn="ctr"/>
              <a:r>
                <a:rPr lang="en-US" sz="980" b="1" dirty="0">
                  <a:solidFill>
                    <a:srgbClr val="FFFFFF"/>
                  </a:solidFill>
                  <a:latin typeface="+mn-lt"/>
                  <a:ea typeface="+mn-ea"/>
                  <a:cs typeface="+mn-cs"/>
                </a:rPr>
                <a:t>PV5 GroundWatch</a:t>
              </a:r>
            </a:p>
          </p:txBody>
        </p:sp>
        <p:sp>
          <p:nvSpPr>
            <p:cNvPr id="4" name="TextBox 4"/>
            <p:cNvSpPr txBox="1"/>
            <p:nvPr/>
          </p:nvSpPr>
          <p:spPr>
            <a:xfrm>
              <a:off x="1994916" y="301625"/>
              <a:ext cx="943585" cy="205359"/>
            </a:xfrm>
            <a:prstGeom prst="rect">
              <a:avLst/>
            </a:prstGeom>
            <a:noFill/>
            <a:ln>
              <a:noFill/>
            </a:ln>
          </p:spPr>
          <p:txBody>
            <a:bodyPr wrap="none" lIns="0" tIns="0" rIns="0" bIns="0" anchor="t" anchorCtr="0">
              <a:spAutoFit/>
            </a:bodyPr>
            <a:lstStyle/>
            <a:p>
              <a:pPr algn="l"/>
              <a:r>
                <a:rPr lang="ko-KR" sz="1050" dirty="0">
                  <a:solidFill>
                    <a:srgbClr val="374151"/>
                  </a:solidFill>
                  <a:latin typeface="+mn-lt"/>
                  <a:ea typeface="+mn-ea"/>
                  <a:cs typeface="+mn-cs"/>
                </a:rPr>
                <a:t>기술 실증 계획</a:t>
              </a:r>
            </a:p>
          </p:txBody>
        </p:sp>
        <p:sp>
          <p:nvSpPr>
            <p:cNvPr id="5" name="TextBox 5"/>
            <p:cNvSpPr txBox="1"/>
            <p:nvPr/>
          </p:nvSpPr>
          <p:spPr>
            <a:xfrm>
              <a:off x="8425815" y="301625"/>
              <a:ext cx="293370" cy="205359"/>
            </a:xfrm>
            <a:prstGeom prst="rect">
              <a:avLst/>
            </a:prstGeom>
            <a:noFill/>
            <a:ln>
              <a:noFill/>
            </a:ln>
          </p:spPr>
          <p:txBody>
            <a:bodyPr wrap="none" lIns="0" tIns="0" rIns="0" bIns="0" anchor="t" anchorCtr="0">
              <a:spAutoFit/>
            </a:bodyPr>
            <a:lstStyle/>
            <a:p>
              <a:pPr algn="ctr"/>
              <a:r>
                <a:rPr lang="ko-KR" sz="1050" dirty="0">
                  <a:solidFill>
                    <a:srgbClr val="9AA3AF"/>
                  </a:solidFill>
                  <a:latin typeface="+mn-lt"/>
                  <a:ea typeface="+mn-ea"/>
                  <a:cs typeface="+mn-cs"/>
                </a:rPr>
                <a:t>문제</a:t>
              </a:r>
            </a:p>
          </p:txBody>
        </p:sp>
        <p:sp>
          <p:nvSpPr>
            <p:cNvPr id="6" name="TextBox 6"/>
            <p:cNvSpPr txBox="1"/>
            <p:nvPr/>
          </p:nvSpPr>
          <p:spPr>
            <a:xfrm>
              <a:off x="884874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7" name="TextBox 7"/>
            <p:cNvSpPr txBox="1"/>
            <p:nvPr/>
          </p:nvSpPr>
          <p:spPr>
            <a:xfrm>
              <a:off x="9054465" y="301625"/>
              <a:ext cx="293370" cy="205359"/>
            </a:xfrm>
            <a:prstGeom prst="rect">
              <a:avLst/>
            </a:prstGeom>
            <a:noFill/>
            <a:ln>
              <a:noFill/>
            </a:ln>
          </p:spPr>
          <p:txBody>
            <a:bodyPr wrap="none" lIns="0" tIns="0" rIns="0" bIns="0" anchor="t" anchorCtr="0">
              <a:spAutoFit/>
            </a:bodyPr>
            <a:lstStyle/>
            <a:p>
              <a:pPr algn="ctr"/>
              <a:r>
                <a:rPr lang="ko-KR" sz="1050" dirty="0">
                  <a:solidFill>
                    <a:srgbClr val="9AA3AF"/>
                  </a:solidFill>
                  <a:latin typeface="+mn-lt"/>
                  <a:ea typeface="+mn-ea"/>
                  <a:cs typeface="+mn-cs"/>
                </a:rPr>
                <a:t>해법</a:t>
              </a:r>
            </a:p>
          </p:txBody>
        </p:sp>
        <p:sp>
          <p:nvSpPr>
            <p:cNvPr id="8" name="TextBox 8"/>
            <p:cNvSpPr txBox="1"/>
            <p:nvPr/>
          </p:nvSpPr>
          <p:spPr>
            <a:xfrm>
              <a:off x="947739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9" name="TextBox 9"/>
            <p:cNvSpPr txBox="1"/>
            <p:nvPr/>
          </p:nvSpPr>
          <p:spPr>
            <a:xfrm>
              <a:off x="9701251" y="301625"/>
              <a:ext cx="257099" cy="205359"/>
            </a:xfrm>
            <a:prstGeom prst="rect">
              <a:avLst/>
            </a:prstGeom>
            <a:noFill/>
            <a:ln>
              <a:noFill/>
            </a:ln>
          </p:spPr>
          <p:txBody>
            <a:bodyPr wrap="none" lIns="0" tIns="0" rIns="0" bIns="0" anchor="t" anchorCtr="0">
              <a:spAutoFit/>
            </a:bodyPr>
            <a:lstStyle/>
            <a:p>
              <a:pPr algn="ctr"/>
              <a:r>
                <a:rPr lang="en-US" sz="1050" dirty="0">
                  <a:solidFill>
                    <a:srgbClr val="9AA3AF"/>
                  </a:solidFill>
                  <a:latin typeface="+mn-lt"/>
                  <a:ea typeface="+mn-ea"/>
                  <a:cs typeface="+mn-cs"/>
                </a:rPr>
                <a:t>PV5</a:t>
              </a:r>
            </a:p>
          </p:txBody>
        </p:sp>
        <p:sp>
          <p:nvSpPr>
            <p:cNvPr id="10" name="TextBox 10"/>
            <p:cNvSpPr txBox="1"/>
            <p:nvPr/>
          </p:nvSpPr>
          <p:spPr>
            <a:xfrm>
              <a:off x="1010604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11" name="TextBox 11"/>
            <p:cNvSpPr txBox="1"/>
            <p:nvPr/>
          </p:nvSpPr>
          <p:spPr>
            <a:xfrm>
              <a:off x="10311765" y="301625"/>
              <a:ext cx="293370" cy="205359"/>
            </a:xfrm>
            <a:prstGeom prst="rect">
              <a:avLst/>
            </a:prstGeom>
            <a:noFill/>
            <a:ln>
              <a:noFill/>
            </a:ln>
          </p:spPr>
          <p:txBody>
            <a:bodyPr wrap="none" lIns="0" tIns="0" rIns="0" bIns="0" anchor="t" anchorCtr="0">
              <a:spAutoFit/>
            </a:bodyPr>
            <a:lstStyle/>
            <a:p>
              <a:pPr algn="ctr"/>
              <a:r>
                <a:rPr lang="ko-KR" sz="1050" b="1" dirty="0">
                  <a:solidFill>
                    <a:srgbClr val="0B1E3C"/>
                  </a:solidFill>
                  <a:latin typeface="+mn-lt"/>
                  <a:ea typeface="+mn-ea"/>
                  <a:cs typeface="+mn-cs"/>
                </a:rPr>
                <a:t>검증</a:t>
              </a:r>
            </a:p>
          </p:txBody>
        </p:sp>
        <p:sp>
          <p:nvSpPr>
            <p:cNvPr id="12" name="Rectangle 12"/>
            <p:cNvSpPr/>
            <p:nvPr/>
          </p:nvSpPr>
          <p:spPr>
            <a:xfrm>
              <a:off x="10229850" y="514350"/>
              <a:ext cx="457200" cy="28575"/>
            </a:xfrm>
            <a:prstGeom prst="rect">
              <a:avLst/>
            </a:prstGeom>
            <a:solidFill>
              <a:srgbClr val="F5B700"/>
            </a:solidFill>
            <a:ln>
              <a:noFill/>
            </a:ln>
          </p:spPr>
        </p:sp>
        <p:sp>
          <p:nvSpPr>
            <p:cNvPr id="13" name="TextBox 13"/>
            <p:cNvSpPr txBox="1"/>
            <p:nvPr/>
          </p:nvSpPr>
          <p:spPr>
            <a:xfrm>
              <a:off x="1073469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14" name="TextBox 14"/>
            <p:cNvSpPr txBox="1"/>
            <p:nvPr/>
          </p:nvSpPr>
          <p:spPr>
            <a:xfrm>
              <a:off x="10940415" y="301625"/>
              <a:ext cx="293370" cy="205359"/>
            </a:xfrm>
            <a:prstGeom prst="rect">
              <a:avLst/>
            </a:prstGeom>
            <a:noFill/>
            <a:ln>
              <a:noFill/>
            </a:ln>
          </p:spPr>
          <p:txBody>
            <a:bodyPr wrap="none" lIns="0" tIns="0" rIns="0" bIns="0" anchor="t" anchorCtr="0">
              <a:spAutoFit/>
            </a:bodyPr>
            <a:lstStyle/>
            <a:p>
              <a:pPr algn="ctr"/>
              <a:r>
                <a:rPr lang="ko-KR" sz="1050" dirty="0">
                  <a:solidFill>
                    <a:srgbClr val="9AA3AF"/>
                  </a:solidFill>
                  <a:latin typeface="+mn-lt"/>
                  <a:ea typeface="+mn-ea"/>
                  <a:cs typeface="+mn-cs"/>
                </a:rPr>
                <a:t>사업</a:t>
              </a:r>
            </a:p>
          </p:txBody>
        </p:sp>
        <p:sp>
          <p:nvSpPr>
            <p:cNvPr id="15" name="Line 15"/>
            <p:cNvSpPr/>
            <p:nvPr/>
          </p:nvSpPr>
          <p:spPr>
            <a:xfrm>
              <a:off x="533400" y="590550"/>
              <a:ext cx="11125200" cy="9525"/>
            </a:xfrm>
            <a:custGeom>
              <a:avLst/>
              <a:gdLst/>
              <a:ahLst/>
              <a:cxnLst/>
              <a:rect l="l" t="t" r="r" b="b"/>
              <a:pathLst>
                <a:path w="11125200" h="9525">
                  <a:moveTo>
                    <a:pt x="0" y="0"/>
                  </a:moveTo>
                  <a:lnTo>
                    <a:pt x="11125200" y="0"/>
                  </a:lnTo>
                </a:path>
              </a:pathLst>
            </a:custGeom>
            <a:noFill/>
            <a:ln w="9525">
              <a:solidFill>
                <a:srgbClr val="0B1E3C"/>
              </a:solidFill>
            </a:ln>
          </p:spPr>
        </p:sp>
      </p:grpSp>
      <p:grpSp>
        <p:nvGrpSpPr>
          <p:cNvPr id="18" name="title"/>
          <p:cNvGrpSpPr/>
          <p:nvPr/>
        </p:nvGrpSpPr>
        <p:grpSpPr>
          <a:xfrm>
            <a:off x="518160" y="774700"/>
            <a:ext cx="7089477" cy="586740"/>
            <a:chOff x="518160" y="774700"/>
            <a:chExt cx="7089477" cy="586740"/>
          </a:xfrm>
        </p:grpSpPr>
        <p:sp>
          <p:nvSpPr>
            <p:cNvPr id="17" name="TextBox 17"/>
            <p:cNvSpPr txBox="1"/>
            <p:nvPr/>
          </p:nvSpPr>
          <p:spPr>
            <a:xfrm>
              <a:off x="518160" y="774700"/>
              <a:ext cx="7089477" cy="586740"/>
            </a:xfrm>
            <a:prstGeom prst="rect">
              <a:avLst/>
            </a:prstGeom>
            <a:noFill/>
            <a:ln>
              <a:noFill/>
            </a:ln>
          </p:spPr>
          <p:txBody>
            <a:bodyPr wrap="none" lIns="0" tIns="0" rIns="0" bIns="0" anchor="t" anchorCtr="0">
              <a:spAutoFit/>
            </a:bodyPr>
            <a:lstStyle/>
            <a:p>
              <a:pPr algn="l"/>
              <a:r>
                <a:rPr lang="ko-KR" sz="3000" b="1" spc="-75" dirty="0">
                  <a:solidFill>
                    <a:srgbClr val="0B1E3C"/>
                  </a:solidFill>
                  <a:latin typeface="+mn-lt"/>
                  <a:ea typeface="+mn-ea"/>
                  <a:cs typeface="+mn-cs"/>
                </a:rPr>
                <a:t>남은 질문은 4가지, 4단계로 실증합니다</a:t>
              </a:r>
            </a:p>
          </p:txBody>
        </p:sp>
      </p:grpSp>
      <p:grpSp>
        <p:nvGrpSpPr>
          <p:cNvPr id="20" name="lead"/>
          <p:cNvGrpSpPr/>
          <p:nvPr/>
        </p:nvGrpSpPr>
        <p:grpSpPr>
          <a:xfrm>
            <a:off x="526161" y="1346200"/>
            <a:ext cx="9481805" cy="278702"/>
            <a:chOff x="526161" y="1346200"/>
            <a:chExt cx="9481805" cy="278702"/>
          </a:xfrm>
        </p:grpSpPr>
        <p:sp>
          <p:nvSpPr>
            <p:cNvPr id="19" name="TextBox 19"/>
            <p:cNvSpPr txBox="1"/>
            <p:nvPr/>
          </p:nvSpPr>
          <p:spPr>
            <a:xfrm>
              <a:off x="526161" y="1346200"/>
              <a:ext cx="9481805" cy="278702"/>
            </a:xfrm>
            <a:prstGeom prst="rect">
              <a:avLst/>
            </a:prstGeom>
            <a:noFill/>
            <a:ln>
              <a:noFill/>
            </a:ln>
          </p:spPr>
          <p:txBody>
            <a:bodyPr wrap="none" lIns="0" tIns="0" rIns="0" bIns="0" anchor="t" anchorCtr="0">
              <a:spAutoFit/>
            </a:bodyPr>
            <a:lstStyle/>
            <a:p>
              <a:pPr algn="l"/>
              <a:r>
                <a:rPr lang="ko-KR" sz="1420" dirty="0">
                  <a:solidFill>
                    <a:srgbClr val="374151"/>
                  </a:solidFill>
                  <a:latin typeface="+mn-lt"/>
                  <a:ea typeface="+mn-ea"/>
                  <a:cs typeface="+mn-cs"/>
                </a:rPr>
                <a:t xml:space="preserve">공동이 단기간에 자랄 수 있다는 것은 연구로 확인됐습니다(5장). 남은 건 </a:t>
              </a:r>
              <a:r>
                <a:rPr lang="ko-KR" sz="1420" b="1" dirty="0">
                  <a:solidFill>
                    <a:srgbClr val="0B1E3C"/>
                  </a:solidFill>
                  <a:latin typeface="+mn-lt"/>
                  <a:ea typeface="+mn-ea"/>
                  <a:cs typeface="+mn-cs"/>
                </a:rPr>
                <a:t>PV5에 실었을 때도 정확한가</a:t>
              </a:r>
              <a:r>
                <a:rPr lang="ko-KR" sz="1420" dirty="0">
                  <a:solidFill>
                    <a:srgbClr val="374151"/>
                  </a:solidFill>
                  <a:latin typeface="+mn-lt"/>
                  <a:ea typeface="+mn-ea"/>
                  <a:cs typeface="+mn-cs"/>
                </a:rPr>
                <a:t>입니다.</a:t>
              </a:r>
            </a:p>
          </p:txBody>
        </p:sp>
      </p:grpSp>
      <p:grpSp>
        <p:nvGrpSpPr>
          <p:cNvPr id="45" name="questions"/>
          <p:cNvGrpSpPr/>
          <p:nvPr/>
        </p:nvGrpSpPr>
        <p:grpSpPr>
          <a:xfrm>
            <a:off x="527685" y="1822450"/>
            <a:ext cx="11130915" cy="2069402"/>
            <a:chOff x="527685" y="1822450"/>
            <a:chExt cx="11130915" cy="2069402"/>
          </a:xfrm>
        </p:grpSpPr>
        <p:grpSp>
          <p:nvGrpSpPr>
            <p:cNvPr id="24" name="Group 24"/>
            <p:cNvGrpSpPr/>
            <p:nvPr/>
          </p:nvGrpSpPr>
          <p:grpSpPr>
            <a:xfrm>
              <a:off x="527685" y="1822450"/>
              <a:ext cx="8391445" cy="220028"/>
              <a:chOff x="527685" y="1822450"/>
              <a:chExt cx="8391445" cy="220028"/>
            </a:xfrm>
          </p:grpSpPr>
          <p:sp>
            <p:nvSpPr>
              <p:cNvPr id="21" name="TextBox 21"/>
              <p:cNvSpPr txBox="1"/>
              <p:nvPr/>
            </p:nvSpPr>
            <p:spPr>
              <a:xfrm>
                <a:off x="527685" y="1822450"/>
                <a:ext cx="812796" cy="220028"/>
              </a:xfrm>
              <a:prstGeom prst="rect">
                <a:avLst/>
              </a:prstGeom>
              <a:noFill/>
              <a:ln>
                <a:noFill/>
              </a:ln>
            </p:spPr>
            <p:txBody>
              <a:bodyPr wrap="none" lIns="0" tIns="0" rIns="0" bIns="0" anchor="t" anchorCtr="0">
                <a:spAutoFit/>
              </a:bodyPr>
              <a:lstStyle/>
              <a:p>
                <a:pPr algn="l"/>
                <a:r>
                  <a:rPr lang="ko-KR" sz="1120" b="1" dirty="0">
                    <a:solidFill>
                      <a:srgbClr val="4B5563"/>
                    </a:solidFill>
                    <a:latin typeface="+mn-lt"/>
                    <a:ea typeface="+mn-ea"/>
                    <a:cs typeface="+mn-cs"/>
                  </a:rPr>
                  <a:t>확인할 질문</a:t>
                </a:r>
              </a:p>
            </p:txBody>
          </p:sp>
          <p:sp>
            <p:nvSpPr>
              <p:cNvPr id="22" name="TextBox 22"/>
              <p:cNvSpPr txBox="1"/>
              <p:nvPr/>
            </p:nvSpPr>
            <p:spPr>
              <a:xfrm>
                <a:off x="4947285" y="1822450"/>
                <a:ext cx="511247" cy="220028"/>
              </a:xfrm>
              <a:prstGeom prst="rect">
                <a:avLst/>
              </a:prstGeom>
              <a:noFill/>
              <a:ln>
                <a:noFill/>
              </a:ln>
            </p:spPr>
            <p:txBody>
              <a:bodyPr wrap="none" lIns="0" tIns="0" rIns="0" bIns="0" anchor="t" anchorCtr="0">
                <a:spAutoFit/>
              </a:bodyPr>
              <a:lstStyle/>
              <a:p>
                <a:pPr algn="l"/>
                <a:r>
                  <a:rPr lang="ko-KR" sz="1120" b="1" dirty="0">
                    <a:solidFill>
                      <a:srgbClr val="4B5563"/>
                    </a:solidFill>
                    <a:latin typeface="+mn-lt"/>
                    <a:ea typeface="+mn-ea"/>
                    <a:cs typeface="+mn-cs"/>
                  </a:rPr>
                  <a:t>안 되면</a:t>
                </a:r>
              </a:p>
            </p:txBody>
          </p:sp>
          <p:sp>
            <p:nvSpPr>
              <p:cNvPr id="23" name="TextBox 23"/>
              <p:cNvSpPr txBox="1"/>
              <p:nvPr/>
            </p:nvSpPr>
            <p:spPr>
              <a:xfrm>
                <a:off x="7804785" y="1822450"/>
                <a:ext cx="1114345" cy="220028"/>
              </a:xfrm>
              <a:prstGeom prst="rect">
                <a:avLst/>
              </a:prstGeom>
              <a:noFill/>
              <a:ln>
                <a:noFill/>
              </a:ln>
            </p:spPr>
            <p:txBody>
              <a:bodyPr wrap="none" lIns="0" tIns="0" rIns="0" bIns="0" anchor="t" anchorCtr="0">
                <a:spAutoFit/>
              </a:bodyPr>
              <a:lstStyle/>
              <a:p>
                <a:pPr algn="l"/>
                <a:r>
                  <a:rPr lang="ko-KR" sz="1120" b="1" dirty="0">
                    <a:solidFill>
                      <a:srgbClr val="4B5563"/>
                    </a:solidFill>
                    <a:latin typeface="+mn-lt"/>
                    <a:ea typeface="+mn-ea"/>
                    <a:cs typeface="+mn-cs"/>
                  </a:rPr>
                  <a:t>어떻게 확인하나</a:t>
                </a:r>
              </a:p>
            </p:txBody>
          </p:sp>
        </p:grpSp>
        <p:sp>
          <p:nvSpPr>
            <p:cNvPr id="25" name="Line 25"/>
            <p:cNvSpPr/>
            <p:nvPr/>
          </p:nvSpPr>
          <p:spPr>
            <a:xfrm>
              <a:off x="533400" y="2057400"/>
              <a:ext cx="11125200" cy="9525"/>
            </a:xfrm>
            <a:custGeom>
              <a:avLst/>
              <a:gdLst/>
              <a:ahLst/>
              <a:cxnLst/>
              <a:rect l="l" t="t" r="r" b="b"/>
              <a:pathLst>
                <a:path w="11125200" h="9525">
                  <a:moveTo>
                    <a:pt x="0" y="0"/>
                  </a:moveTo>
                  <a:lnTo>
                    <a:pt x="11125200" y="0"/>
                  </a:lnTo>
                </a:path>
              </a:pathLst>
            </a:custGeom>
            <a:noFill/>
            <a:ln w="14288">
              <a:solidFill>
                <a:srgbClr val="0B1E3C"/>
              </a:solidFill>
            </a:ln>
          </p:spPr>
        </p:sp>
        <p:sp>
          <p:nvSpPr>
            <p:cNvPr id="26" name="TextBox 26"/>
            <p:cNvSpPr txBox="1"/>
            <p:nvPr/>
          </p:nvSpPr>
          <p:spPr>
            <a:xfrm>
              <a:off x="527685" y="2279650"/>
              <a:ext cx="98502" cy="220028"/>
            </a:xfrm>
            <a:prstGeom prst="rect">
              <a:avLst/>
            </a:prstGeom>
            <a:noFill/>
            <a:ln>
              <a:noFill/>
            </a:ln>
          </p:spPr>
          <p:txBody>
            <a:bodyPr wrap="none" lIns="0" tIns="0" rIns="0" bIns="0" anchor="t" anchorCtr="0">
              <a:spAutoFit/>
            </a:bodyPr>
            <a:lstStyle/>
            <a:p>
              <a:pPr algn="l"/>
              <a:r>
                <a:rPr lang="ko-KR" sz="1120" b="1" dirty="0">
                  <a:solidFill>
                    <a:srgbClr val="4B5563"/>
                  </a:solidFill>
                  <a:latin typeface="+mn-lt"/>
                  <a:ea typeface="+mn-ea"/>
                  <a:cs typeface="+mn-cs"/>
                </a:rPr>
                <a:t>1</a:t>
              </a:r>
            </a:p>
          </p:txBody>
        </p:sp>
        <p:sp>
          <p:nvSpPr>
            <p:cNvPr id="27" name="TextBox 27"/>
            <p:cNvSpPr txBox="1"/>
            <p:nvPr/>
          </p:nvSpPr>
          <p:spPr>
            <a:xfrm>
              <a:off x="754761" y="2241550"/>
              <a:ext cx="2756981" cy="278702"/>
            </a:xfrm>
            <a:prstGeom prst="rect">
              <a:avLst/>
            </a:prstGeom>
            <a:noFill/>
            <a:ln>
              <a:noFill/>
            </a:ln>
          </p:spPr>
          <p:txBody>
            <a:bodyPr wrap="none" lIns="0" tIns="0" rIns="0" bIns="0" anchor="t" anchorCtr="0">
              <a:spAutoFit/>
            </a:bodyPr>
            <a:lstStyle/>
            <a:p>
              <a:pPr algn="l"/>
              <a:r>
                <a:rPr lang="ko-KR" sz="1420" b="1" dirty="0">
                  <a:solidFill>
                    <a:srgbClr val="0B1E3C"/>
                  </a:solidFill>
                  <a:latin typeface="+mn-lt"/>
                  <a:ea typeface="+mn-ea"/>
                  <a:cs typeface="+mn-cs"/>
                </a:rPr>
                <a:t>EV 구동계와 GPR의 전자파 간섭</a:t>
              </a:r>
            </a:p>
          </p:txBody>
        </p:sp>
        <p:sp>
          <p:nvSpPr>
            <p:cNvPr id="28" name="TextBox 28"/>
            <p:cNvSpPr txBox="1"/>
            <p:nvPr/>
          </p:nvSpPr>
          <p:spPr>
            <a:xfrm>
              <a:off x="4946523" y="2266950"/>
              <a:ext cx="2063486" cy="250317"/>
            </a:xfrm>
            <a:prstGeom prst="rect">
              <a:avLst/>
            </a:prstGeom>
            <a:noFill/>
            <a:ln>
              <a:noFill/>
            </a:ln>
          </p:spPr>
          <p:txBody>
            <a:bodyPr wrap="none" lIns="0" tIns="0" rIns="0" bIns="0" anchor="t" anchorCtr="0">
              <a:spAutoFit/>
            </a:bodyPr>
            <a:lstStyle/>
            <a:p>
              <a:pPr algn="l"/>
              <a:r>
                <a:rPr lang="ko-KR" sz="1280" dirty="0">
                  <a:solidFill>
                    <a:srgbClr val="C62828"/>
                  </a:solidFill>
                  <a:latin typeface="+mn-lt"/>
                  <a:ea typeface="+mn-ea"/>
                  <a:cs typeface="+mn-cs"/>
                </a:rPr>
                <a:t>차량에서 측정 자체가 불가</a:t>
              </a:r>
            </a:p>
          </p:txBody>
        </p:sp>
        <p:sp>
          <p:nvSpPr>
            <p:cNvPr id="29" name="TextBox 29"/>
            <p:cNvSpPr txBox="1"/>
            <p:nvPr/>
          </p:nvSpPr>
          <p:spPr>
            <a:xfrm>
              <a:off x="7804023" y="2266950"/>
              <a:ext cx="2561732" cy="250317"/>
            </a:xfrm>
            <a:prstGeom prst="rect">
              <a:avLst/>
            </a:prstGeom>
            <a:noFill/>
            <a:ln>
              <a:noFill/>
            </a:ln>
          </p:spPr>
          <p:txBody>
            <a:bodyPr wrap="none" lIns="0" tIns="0" rIns="0" bIns="0" anchor="t" anchorCtr="0">
              <a:spAutoFit/>
            </a:bodyPr>
            <a:lstStyle/>
            <a:p>
              <a:pPr algn="l"/>
              <a:r>
                <a:rPr lang="ko-KR" sz="1280" dirty="0">
                  <a:solidFill>
                    <a:srgbClr val="111827"/>
                  </a:solidFill>
                  <a:latin typeface="+mn-lt"/>
                  <a:ea typeface="+mn-ea"/>
                  <a:cs typeface="+mn-cs"/>
                </a:rPr>
                <a:t>주행·정차·V2L 상태별 잡음 비교</a:t>
              </a:r>
            </a:p>
          </p:txBody>
        </p:sp>
        <p:sp>
          <p:nvSpPr>
            <p:cNvPr id="30" name="Line 30"/>
            <p:cNvSpPr/>
            <p:nvPr/>
          </p:nvSpPr>
          <p:spPr>
            <a:xfrm>
              <a:off x="533400" y="2590800"/>
              <a:ext cx="11125200" cy="9525"/>
            </a:xfrm>
            <a:custGeom>
              <a:avLst/>
              <a:gdLst/>
              <a:ahLst/>
              <a:cxnLst/>
              <a:rect l="l" t="t" r="r" b="b"/>
              <a:pathLst>
                <a:path w="11125200" h="9525">
                  <a:moveTo>
                    <a:pt x="0" y="0"/>
                  </a:moveTo>
                  <a:lnTo>
                    <a:pt x="11125200" y="0"/>
                  </a:lnTo>
                </a:path>
              </a:pathLst>
            </a:custGeom>
            <a:noFill/>
            <a:ln w="9525">
              <a:solidFill>
                <a:srgbClr val="E2E6EC"/>
              </a:solidFill>
            </a:ln>
          </p:spPr>
        </p:sp>
        <p:sp>
          <p:nvSpPr>
            <p:cNvPr id="31" name="TextBox 31"/>
            <p:cNvSpPr txBox="1"/>
            <p:nvPr/>
          </p:nvSpPr>
          <p:spPr>
            <a:xfrm>
              <a:off x="527685" y="2736850"/>
              <a:ext cx="98502" cy="220028"/>
            </a:xfrm>
            <a:prstGeom prst="rect">
              <a:avLst/>
            </a:prstGeom>
            <a:noFill/>
            <a:ln>
              <a:noFill/>
            </a:ln>
          </p:spPr>
          <p:txBody>
            <a:bodyPr wrap="none" lIns="0" tIns="0" rIns="0" bIns="0" anchor="t" anchorCtr="0">
              <a:spAutoFit/>
            </a:bodyPr>
            <a:lstStyle/>
            <a:p>
              <a:pPr algn="l"/>
              <a:r>
                <a:rPr lang="ko-KR" sz="1120" b="1" dirty="0">
                  <a:solidFill>
                    <a:srgbClr val="4B5563"/>
                  </a:solidFill>
                  <a:latin typeface="+mn-lt"/>
                  <a:ea typeface="+mn-ea"/>
                  <a:cs typeface="+mn-cs"/>
                </a:rPr>
                <a:t>2</a:t>
              </a:r>
            </a:p>
          </p:txBody>
        </p:sp>
        <p:sp>
          <p:nvSpPr>
            <p:cNvPr id="32" name="TextBox 32"/>
            <p:cNvSpPr txBox="1"/>
            <p:nvPr/>
          </p:nvSpPr>
          <p:spPr>
            <a:xfrm>
              <a:off x="754761" y="2698750"/>
              <a:ext cx="2489049" cy="278702"/>
            </a:xfrm>
            <a:prstGeom prst="rect">
              <a:avLst/>
            </a:prstGeom>
            <a:noFill/>
            <a:ln>
              <a:noFill/>
            </a:ln>
          </p:spPr>
          <p:txBody>
            <a:bodyPr wrap="none" lIns="0" tIns="0" rIns="0" bIns="0" anchor="t" anchorCtr="0">
              <a:spAutoFit/>
            </a:bodyPr>
            <a:lstStyle/>
            <a:p>
              <a:pPr algn="l"/>
              <a:r>
                <a:rPr lang="ko-KR" sz="1420" b="1" dirty="0">
                  <a:solidFill>
                    <a:srgbClr val="0B1E3C"/>
                  </a:solidFill>
                  <a:latin typeface="+mn-lt"/>
                  <a:ea typeface="+mn-ea"/>
                  <a:cs typeface="+mn-cs"/>
                </a:rPr>
                <a:t>회차마다 같은 자리를 찍는가</a:t>
              </a:r>
            </a:p>
          </p:txBody>
        </p:sp>
        <p:sp>
          <p:nvSpPr>
            <p:cNvPr id="33" name="TextBox 33"/>
            <p:cNvSpPr txBox="1"/>
            <p:nvPr/>
          </p:nvSpPr>
          <p:spPr>
            <a:xfrm>
              <a:off x="4946523" y="2724150"/>
              <a:ext cx="1322537" cy="250317"/>
            </a:xfrm>
            <a:prstGeom prst="rect">
              <a:avLst/>
            </a:prstGeom>
            <a:noFill/>
            <a:ln>
              <a:noFill/>
            </a:ln>
          </p:spPr>
          <p:txBody>
            <a:bodyPr wrap="none" lIns="0" tIns="0" rIns="0" bIns="0" anchor="t" anchorCtr="0">
              <a:spAutoFit/>
            </a:bodyPr>
            <a:lstStyle/>
            <a:p>
              <a:pPr algn="l"/>
              <a:r>
                <a:rPr lang="ko-KR" sz="1280" dirty="0">
                  <a:solidFill>
                    <a:srgbClr val="C62828"/>
                  </a:solidFill>
                  <a:latin typeface="+mn-lt"/>
                  <a:ea typeface="+mn-ea"/>
                  <a:cs typeface="+mn-cs"/>
                </a:rPr>
                <a:t>변화 비교가 불가</a:t>
              </a:r>
            </a:p>
          </p:txBody>
        </p:sp>
        <p:sp>
          <p:nvSpPr>
            <p:cNvPr id="34" name="TextBox 34"/>
            <p:cNvSpPr txBox="1"/>
            <p:nvPr/>
          </p:nvSpPr>
          <p:spPr>
            <a:xfrm>
              <a:off x="7804023" y="2724150"/>
              <a:ext cx="3627801" cy="250317"/>
            </a:xfrm>
            <a:prstGeom prst="rect">
              <a:avLst/>
            </a:prstGeom>
            <a:noFill/>
            <a:ln>
              <a:noFill/>
            </a:ln>
          </p:spPr>
          <p:txBody>
            <a:bodyPr wrap="none" lIns="0" tIns="0" rIns="0" bIns="0" anchor="t" anchorCtr="0">
              <a:spAutoFit/>
            </a:bodyPr>
            <a:lstStyle/>
            <a:p>
              <a:pPr algn="l"/>
              <a:r>
                <a:rPr lang="ko-KR" sz="1280" dirty="0">
                  <a:solidFill>
                    <a:srgbClr val="111827"/>
                  </a:solidFill>
                  <a:latin typeface="+mn-lt"/>
                  <a:ea typeface="+mn-ea"/>
                  <a:cs typeface="+mn-cs"/>
                </a:rPr>
                <a:t>8cm 어긋남이 최대 오탐(7장) → RTK·IMU 정합</a:t>
              </a:r>
            </a:p>
          </p:txBody>
        </p:sp>
        <p:sp>
          <p:nvSpPr>
            <p:cNvPr id="35" name="Line 35"/>
            <p:cNvSpPr/>
            <p:nvPr/>
          </p:nvSpPr>
          <p:spPr>
            <a:xfrm>
              <a:off x="533400" y="3048000"/>
              <a:ext cx="11125200" cy="9525"/>
            </a:xfrm>
            <a:custGeom>
              <a:avLst/>
              <a:gdLst/>
              <a:ahLst/>
              <a:cxnLst/>
              <a:rect l="l" t="t" r="r" b="b"/>
              <a:pathLst>
                <a:path w="11125200" h="9525">
                  <a:moveTo>
                    <a:pt x="0" y="0"/>
                  </a:moveTo>
                  <a:lnTo>
                    <a:pt x="11125200" y="0"/>
                  </a:lnTo>
                </a:path>
              </a:pathLst>
            </a:custGeom>
            <a:noFill/>
            <a:ln w="9525">
              <a:solidFill>
                <a:srgbClr val="E2E6EC"/>
              </a:solidFill>
            </a:ln>
          </p:spPr>
        </p:sp>
        <p:sp>
          <p:nvSpPr>
            <p:cNvPr id="36" name="TextBox 36"/>
            <p:cNvSpPr txBox="1"/>
            <p:nvPr/>
          </p:nvSpPr>
          <p:spPr>
            <a:xfrm>
              <a:off x="527685" y="3194050"/>
              <a:ext cx="98502" cy="220028"/>
            </a:xfrm>
            <a:prstGeom prst="rect">
              <a:avLst/>
            </a:prstGeom>
            <a:noFill/>
            <a:ln>
              <a:noFill/>
            </a:ln>
          </p:spPr>
          <p:txBody>
            <a:bodyPr wrap="none" lIns="0" tIns="0" rIns="0" bIns="0" anchor="t" anchorCtr="0">
              <a:spAutoFit/>
            </a:bodyPr>
            <a:lstStyle/>
            <a:p>
              <a:pPr algn="l"/>
              <a:r>
                <a:rPr lang="ko-KR" sz="1120" b="1" dirty="0">
                  <a:solidFill>
                    <a:srgbClr val="4B5563"/>
                  </a:solidFill>
                  <a:latin typeface="+mn-lt"/>
                  <a:ea typeface="+mn-ea"/>
                  <a:cs typeface="+mn-cs"/>
                </a:rPr>
                <a:t>3</a:t>
              </a:r>
            </a:p>
          </p:txBody>
        </p:sp>
        <p:sp>
          <p:nvSpPr>
            <p:cNvPr id="37" name="TextBox 37"/>
            <p:cNvSpPr txBox="1"/>
            <p:nvPr/>
          </p:nvSpPr>
          <p:spPr>
            <a:xfrm>
              <a:off x="754761" y="3155950"/>
              <a:ext cx="2286996" cy="278702"/>
            </a:xfrm>
            <a:prstGeom prst="rect">
              <a:avLst/>
            </a:prstGeom>
            <a:noFill/>
            <a:ln>
              <a:noFill/>
            </a:ln>
          </p:spPr>
          <p:txBody>
            <a:bodyPr wrap="none" lIns="0" tIns="0" rIns="0" bIns="0" anchor="t" anchorCtr="0">
              <a:spAutoFit/>
            </a:bodyPr>
            <a:lstStyle/>
            <a:p>
              <a:pPr algn="l"/>
              <a:r>
                <a:rPr lang="ko-KR" sz="1420" b="1" dirty="0">
                  <a:solidFill>
                    <a:srgbClr val="0B1E3C"/>
                  </a:solidFill>
                  <a:latin typeface="+mn-lt"/>
                  <a:ea typeface="+mn-ea"/>
                  <a:cs typeface="+mn-cs"/>
                </a:rPr>
                <a:t>AI가 변화를 맞게 고르는가</a:t>
              </a:r>
            </a:p>
          </p:txBody>
        </p:sp>
        <p:sp>
          <p:nvSpPr>
            <p:cNvPr id="38" name="TextBox 38"/>
            <p:cNvSpPr txBox="1"/>
            <p:nvPr/>
          </p:nvSpPr>
          <p:spPr>
            <a:xfrm>
              <a:off x="4946523" y="3181350"/>
              <a:ext cx="1494851" cy="250317"/>
            </a:xfrm>
            <a:prstGeom prst="rect">
              <a:avLst/>
            </a:prstGeom>
            <a:noFill/>
            <a:ln>
              <a:noFill/>
            </a:ln>
          </p:spPr>
          <p:txBody>
            <a:bodyPr wrap="none" lIns="0" tIns="0" rIns="0" bIns="0" anchor="t" anchorCtr="0">
              <a:spAutoFit/>
            </a:bodyPr>
            <a:lstStyle/>
            <a:p>
              <a:pPr algn="l"/>
              <a:r>
                <a:rPr lang="ko-KR" sz="1280" dirty="0">
                  <a:solidFill>
                    <a:srgbClr val="C62828"/>
                  </a:solidFill>
                  <a:latin typeface="+mn-lt"/>
                  <a:ea typeface="+mn-ea"/>
                  <a:cs typeface="+mn-cs"/>
                </a:rPr>
                <a:t>재확인 출동이 과다</a:t>
              </a:r>
            </a:p>
          </p:txBody>
        </p:sp>
        <p:sp>
          <p:nvSpPr>
            <p:cNvPr id="39" name="TextBox 39"/>
            <p:cNvSpPr txBox="1"/>
            <p:nvPr/>
          </p:nvSpPr>
          <p:spPr>
            <a:xfrm>
              <a:off x="7804023" y="3181350"/>
              <a:ext cx="3235218" cy="250317"/>
            </a:xfrm>
            <a:prstGeom prst="rect">
              <a:avLst/>
            </a:prstGeom>
            <a:noFill/>
            <a:ln>
              <a:noFill/>
            </a:ln>
          </p:spPr>
          <p:txBody>
            <a:bodyPr wrap="none" lIns="0" tIns="0" rIns="0" bIns="0" anchor="t" anchorCtr="0">
              <a:spAutoFit/>
            </a:bodyPr>
            <a:lstStyle/>
            <a:p>
              <a:pPr algn="l"/>
              <a:r>
                <a:rPr lang="ko-KR" sz="1280" dirty="0">
                  <a:solidFill>
                    <a:srgbClr val="111827"/>
                  </a:solidFill>
                  <a:latin typeface="+mn-lt"/>
                  <a:ea typeface="+mn-ea"/>
                  <a:cs typeface="+mn-cs"/>
                </a:rPr>
                <a:t>시뮬레이션 통과(7장) → 공동 모사체 실측</a:t>
              </a:r>
            </a:p>
          </p:txBody>
        </p:sp>
        <p:sp>
          <p:nvSpPr>
            <p:cNvPr id="40" name="Line 40"/>
            <p:cNvSpPr/>
            <p:nvPr/>
          </p:nvSpPr>
          <p:spPr>
            <a:xfrm>
              <a:off x="533400" y="3505200"/>
              <a:ext cx="11125200" cy="9525"/>
            </a:xfrm>
            <a:custGeom>
              <a:avLst/>
              <a:gdLst/>
              <a:ahLst/>
              <a:cxnLst/>
              <a:rect l="l" t="t" r="r" b="b"/>
              <a:pathLst>
                <a:path w="11125200" h="9525">
                  <a:moveTo>
                    <a:pt x="0" y="0"/>
                  </a:moveTo>
                  <a:lnTo>
                    <a:pt x="11125200" y="0"/>
                  </a:lnTo>
                </a:path>
              </a:pathLst>
            </a:custGeom>
            <a:noFill/>
            <a:ln w="9525">
              <a:solidFill>
                <a:srgbClr val="E2E6EC"/>
              </a:solidFill>
            </a:ln>
          </p:spPr>
        </p:sp>
        <p:sp>
          <p:nvSpPr>
            <p:cNvPr id="41" name="TextBox 41"/>
            <p:cNvSpPr txBox="1"/>
            <p:nvPr/>
          </p:nvSpPr>
          <p:spPr>
            <a:xfrm>
              <a:off x="527685" y="3651250"/>
              <a:ext cx="98502" cy="220028"/>
            </a:xfrm>
            <a:prstGeom prst="rect">
              <a:avLst/>
            </a:prstGeom>
            <a:noFill/>
            <a:ln>
              <a:noFill/>
            </a:ln>
          </p:spPr>
          <p:txBody>
            <a:bodyPr wrap="none" lIns="0" tIns="0" rIns="0" bIns="0" anchor="t" anchorCtr="0">
              <a:spAutoFit/>
            </a:bodyPr>
            <a:lstStyle/>
            <a:p>
              <a:pPr algn="l"/>
              <a:r>
                <a:rPr lang="ko-KR" sz="1120" b="1" dirty="0">
                  <a:solidFill>
                    <a:srgbClr val="4B5563"/>
                  </a:solidFill>
                  <a:latin typeface="+mn-lt"/>
                  <a:ea typeface="+mn-ea"/>
                  <a:cs typeface="+mn-cs"/>
                </a:rPr>
                <a:t>4</a:t>
              </a:r>
            </a:p>
          </p:txBody>
        </p:sp>
        <p:sp>
          <p:nvSpPr>
            <p:cNvPr id="42" name="TextBox 42"/>
            <p:cNvSpPr txBox="1"/>
            <p:nvPr/>
          </p:nvSpPr>
          <p:spPr>
            <a:xfrm>
              <a:off x="754761" y="3613150"/>
              <a:ext cx="2152264" cy="278702"/>
            </a:xfrm>
            <a:prstGeom prst="rect">
              <a:avLst/>
            </a:prstGeom>
            <a:noFill/>
            <a:ln>
              <a:noFill/>
            </a:ln>
          </p:spPr>
          <p:txBody>
            <a:bodyPr wrap="none" lIns="0" tIns="0" rIns="0" bIns="0" anchor="t" anchorCtr="0">
              <a:spAutoFit/>
            </a:bodyPr>
            <a:lstStyle/>
            <a:p>
              <a:pPr algn="l"/>
              <a:r>
                <a:rPr lang="ko-KR" sz="1420" b="1" dirty="0">
                  <a:solidFill>
                    <a:srgbClr val="0B1E3C"/>
                  </a:solidFill>
                  <a:latin typeface="+mn-lt"/>
                  <a:ea typeface="+mn-ea"/>
                  <a:cs typeface="+mn-cs"/>
                </a:rPr>
                <a:t>밤에 AR이 정확히 맞는가</a:t>
              </a:r>
            </a:p>
          </p:txBody>
        </p:sp>
        <p:sp>
          <p:nvSpPr>
            <p:cNvPr id="43" name="TextBox 43"/>
            <p:cNvSpPr txBox="1"/>
            <p:nvPr/>
          </p:nvSpPr>
          <p:spPr>
            <a:xfrm>
              <a:off x="4946523" y="3638550"/>
              <a:ext cx="1718859" cy="250317"/>
            </a:xfrm>
            <a:prstGeom prst="rect">
              <a:avLst/>
            </a:prstGeom>
            <a:noFill/>
            <a:ln>
              <a:noFill/>
            </a:ln>
          </p:spPr>
          <p:txBody>
            <a:bodyPr wrap="none" lIns="0" tIns="0" rIns="0" bIns="0" anchor="t" anchorCtr="0">
              <a:spAutoFit/>
            </a:bodyPr>
            <a:lstStyle/>
            <a:p>
              <a:pPr algn="l"/>
              <a:r>
                <a:rPr lang="ko-KR" sz="1280" dirty="0">
                  <a:solidFill>
                    <a:srgbClr val="C62828"/>
                  </a:solidFill>
                  <a:latin typeface="+mn-lt"/>
                  <a:ea typeface="+mn-ea"/>
                  <a:cs typeface="+mn-cs"/>
                </a:rPr>
                <a:t>현장 탐색 범위가 커짐</a:t>
              </a:r>
            </a:p>
          </p:txBody>
        </p:sp>
        <p:sp>
          <p:nvSpPr>
            <p:cNvPr id="44" name="TextBox 44"/>
            <p:cNvSpPr txBox="1"/>
            <p:nvPr/>
          </p:nvSpPr>
          <p:spPr>
            <a:xfrm>
              <a:off x="7804023" y="3638550"/>
              <a:ext cx="2330572" cy="250317"/>
            </a:xfrm>
            <a:prstGeom prst="rect">
              <a:avLst/>
            </a:prstGeom>
            <a:noFill/>
            <a:ln>
              <a:noFill/>
            </a:ln>
          </p:spPr>
          <p:txBody>
            <a:bodyPr wrap="none" lIns="0" tIns="0" rIns="0" bIns="0" anchor="t" anchorCtr="0">
              <a:spAutoFit/>
            </a:bodyPr>
            <a:lstStyle/>
            <a:p>
              <a:pPr algn="l"/>
              <a:r>
                <a:rPr lang="ko-KR" sz="1280" dirty="0">
                  <a:solidFill>
                    <a:srgbClr val="111827"/>
                  </a:solidFill>
                  <a:latin typeface="+mn-lt"/>
                  <a:ea typeface="+mn-ea"/>
                  <a:cs typeface="+mn-cs"/>
                </a:rPr>
                <a:t>맨홀·경계석 기준점 오차 측정</a:t>
              </a:r>
            </a:p>
          </p:txBody>
        </p:sp>
      </p:grpSp>
      <p:grpSp>
        <p:nvGrpSpPr>
          <p:cNvPr id="70" name="stages"/>
          <p:cNvGrpSpPr/>
          <p:nvPr/>
        </p:nvGrpSpPr>
        <p:grpSpPr>
          <a:xfrm>
            <a:off x="527685" y="4298950"/>
            <a:ext cx="11140440" cy="1168400"/>
            <a:chOff x="527685" y="4298950"/>
            <a:chExt cx="11140440" cy="1168400"/>
          </a:xfrm>
        </p:grpSpPr>
        <p:sp>
          <p:nvSpPr>
            <p:cNvPr id="46" name="TextBox 46"/>
            <p:cNvSpPr txBox="1"/>
            <p:nvPr/>
          </p:nvSpPr>
          <p:spPr>
            <a:xfrm>
              <a:off x="527685" y="4298950"/>
              <a:ext cx="662022" cy="220028"/>
            </a:xfrm>
            <a:prstGeom prst="rect">
              <a:avLst/>
            </a:prstGeom>
            <a:noFill/>
            <a:ln>
              <a:noFill/>
            </a:ln>
          </p:spPr>
          <p:txBody>
            <a:bodyPr wrap="none" lIns="0" tIns="0" rIns="0" bIns="0" anchor="t" anchorCtr="0">
              <a:spAutoFit/>
            </a:bodyPr>
            <a:lstStyle/>
            <a:p>
              <a:pPr algn="l"/>
              <a:r>
                <a:rPr lang="ko-KR" sz="1120" b="1" dirty="0">
                  <a:solidFill>
                    <a:srgbClr val="4B5563"/>
                  </a:solidFill>
                  <a:latin typeface="+mn-lt"/>
                  <a:ea typeface="+mn-ea"/>
                  <a:cs typeface="+mn-cs"/>
                </a:rPr>
                <a:t>실증 순서</a:t>
              </a:r>
            </a:p>
          </p:txBody>
        </p:sp>
        <p:sp>
          <p:nvSpPr>
            <p:cNvPr id="47" name="Rectangle 47"/>
            <p:cNvSpPr/>
            <p:nvPr/>
          </p:nvSpPr>
          <p:spPr>
            <a:xfrm>
              <a:off x="533400" y="4572000"/>
              <a:ext cx="2647950" cy="895350"/>
            </a:xfrm>
            <a:prstGeom prst="rect">
              <a:avLst/>
            </a:prstGeom>
            <a:solidFill>
              <a:srgbClr val="F3F5F8"/>
            </a:solidFill>
            <a:ln>
              <a:noFill/>
            </a:ln>
          </p:spPr>
        </p:sp>
        <p:sp>
          <p:nvSpPr>
            <p:cNvPr id="48" name="Rectangle 48"/>
            <p:cNvSpPr/>
            <p:nvPr/>
          </p:nvSpPr>
          <p:spPr>
            <a:xfrm>
              <a:off x="533400" y="4572000"/>
              <a:ext cx="2647950" cy="38100"/>
            </a:xfrm>
            <a:prstGeom prst="rect">
              <a:avLst/>
            </a:prstGeom>
            <a:solidFill>
              <a:srgbClr val="0B1E3C"/>
            </a:solidFill>
            <a:ln>
              <a:noFill/>
            </a:ln>
          </p:spPr>
        </p:sp>
        <p:sp>
          <p:nvSpPr>
            <p:cNvPr id="49" name="TextBox 49"/>
            <p:cNvSpPr txBox="1"/>
            <p:nvPr/>
          </p:nvSpPr>
          <p:spPr>
            <a:xfrm>
              <a:off x="699135" y="4699000"/>
              <a:ext cx="1018226" cy="220028"/>
            </a:xfrm>
            <a:prstGeom prst="rect">
              <a:avLst/>
            </a:prstGeom>
            <a:noFill/>
            <a:ln>
              <a:noFill/>
            </a:ln>
          </p:spPr>
          <p:txBody>
            <a:bodyPr wrap="none" lIns="0" tIns="0" rIns="0" bIns="0" anchor="t" anchorCtr="0">
              <a:spAutoFit/>
            </a:bodyPr>
            <a:lstStyle/>
            <a:p>
              <a:pPr algn="l"/>
              <a:r>
                <a:rPr lang="ko-KR" sz="1120" b="1" dirty="0">
                  <a:solidFill>
                    <a:srgbClr val="B45309"/>
                  </a:solidFill>
                  <a:latin typeface="+mn-lt"/>
                  <a:ea typeface="+mn-ea"/>
                  <a:cs typeface="+mn-cs"/>
                </a:rPr>
                <a:t>1단계 · 질문 1</a:t>
              </a:r>
            </a:p>
          </p:txBody>
        </p:sp>
        <p:sp>
          <p:nvSpPr>
            <p:cNvPr id="50" name="TextBox 50"/>
            <p:cNvSpPr txBox="1"/>
            <p:nvPr/>
          </p:nvSpPr>
          <p:spPr>
            <a:xfrm>
              <a:off x="697230" y="4927600"/>
              <a:ext cx="1088498" cy="293370"/>
            </a:xfrm>
            <a:prstGeom prst="rect">
              <a:avLst/>
            </a:prstGeom>
            <a:noFill/>
            <a:ln>
              <a:noFill/>
            </a:ln>
          </p:spPr>
          <p:txBody>
            <a:bodyPr wrap="none" lIns="0" tIns="0" rIns="0" bIns="0" anchor="t" anchorCtr="0">
              <a:spAutoFit/>
            </a:bodyPr>
            <a:lstStyle/>
            <a:p>
              <a:pPr algn="l"/>
              <a:r>
                <a:rPr lang="ko-KR" sz="1500" b="1" dirty="0">
                  <a:solidFill>
                    <a:srgbClr val="0B1E3C"/>
                  </a:solidFill>
                  <a:latin typeface="+mn-lt"/>
                  <a:ea typeface="+mn-ea"/>
                  <a:cs typeface="+mn-cs"/>
                </a:rPr>
                <a:t>폐쇄 시험장</a:t>
              </a:r>
            </a:p>
          </p:txBody>
        </p:sp>
        <p:sp>
          <p:nvSpPr>
            <p:cNvPr id="51" name="TextBox 51"/>
            <p:cNvSpPr txBox="1"/>
            <p:nvPr/>
          </p:nvSpPr>
          <p:spPr>
            <a:xfrm>
              <a:off x="699135" y="5213350"/>
              <a:ext cx="1481480" cy="220028"/>
            </a:xfrm>
            <a:prstGeom prst="rect">
              <a:avLst/>
            </a:prstGeom>
            <a:noFill/>
            <a:ln>
              <a:noFill/>
            </a:ln>
          </p:spPr>
          <p:txBody>
            <a:bodyPr wrap="none" lIns="0" tIns="0" rIns="0" bIns="0" anchor="t" anchorCtr="0">
              <a:spAutoFit/>
            </a:bodyPr>
            <a:lstStyle/>
            <a:p>
              <a:pPr algn="l"/>
              <a:r>
                <a:rPr lang="ko-KR" sz="1120" dirty="0">
                  <a:solidFill>
                    <a:srgbClr val="0B1E3C"/>
                  </a:solidFill>
                  <a:latin typeface="+mn-lt"/>
                  <a:ea typeface="+mn-ea"/>
                  <a:cs typeface="+mn-cs"/>
                </a:rPr>
                <a:t>통과 → 차량 측정 가능</a:t>
              </a:r>
            </a:p>
          </p:txBody>
        </p:sp>
        <p:sp>
          <p:nvSpPr>
            <p:cNvPr id="52" name="TextBox 52"/>
            <p:cNvSpPr txBox="1"/>
            <p:nvPr/>
          </p:nvSpPr>
          <p:spPr>
            <a:xfrm>
              <a:off x="3250692" y="4940300"/>
              <a:ext cx="113671" cy="264033"/>
            </a:xfrm>
            <a:prstGeom prst="rect">
              <a:avLst/>
            </a:prstGeom>
            <a:noFill/>
            <a:ln>
              <a:noFill/>
            </a:ln>
          </p:spPr>
          <p:txBody>
            <a:bodyPr wrap="none" lIns="0" tIns="0" rIns="0" bIns="0" anchor="t" anchorCtr="0">
              <a:spAutoFit/>
            </a:bodyPr>
            <a:lstStyle/>
            <a:p>
              <a:pPr algn="l"/>
              <a:r>
                <a:rPr lang="ko-KR" sz="1350" dirty="0">
                  <a:solidFill>
                    <a:srgbClr val="4B5563"/>
                  </a:solidFill>
                  <a:latin typeface="+mn-lt"/>
                  <a:ea typeface="+mn-ea"/>
                  <a:cs typeface="+mn-cs"/>
                </a:rPr>
                <a:t>›</a:t>
              </a:r>
            </a:p>
          </p:txBody>
        </p:sp>
        <p:sp>
          <p:nvSpPr>
            <p:cNvPr id="53" name="Rectangle 53"/>
            <p:cNvSpPr/>
            <p:nvPr/>
          </p:nvSpPr>
          <p:spPr>
            <a:xfrm>
              <a:off x="3362325" y="4572000"/>
              <a:ext cx="2647950" cy="895350"/>
            </a:xfrm>
            <a:prstGeom prst="rect">
              <a:avLst/>
            </a:prstGeom>
            <a:solidFill>
              <a:srgbClr val="F3F5F8"/>
            </a:solidFill>
            <a:ln>
              <a:noFill/>
            </a:ln>
          </p:spPr>
        </p:sp>
        <p:sp>
          <p:nvSpPr>
            <p:cNvPr id="54" name="Rectangle 54"/>
            <p:cNvSpPr/>
            <p:nvPr/>
          </p:nvSpPr>
          <p:spPr>
            <a:xfrm>
              <a:off x="3362325" y="4572000"/>
              <a:ext cx="2647950" cy="38100"/>
            </a:xfrm>
            <a:prstGeom prst="rect">
              <a:avLst/>
            </a:prstGeom>
            <a:solidFill>
              <a:srgbClr val="0B1E3C"/>
            </a:solidFill>
            <a:ln>
              <a:noFill/>
            </a:ln>
          </p:spPr>
        </p:sp>
        <p:sp>
          <p:nvSpPr>
            <p:cNvPr id="55" name="TextBox 55"/>
            <p:cNvSpPr txBox="1"/>
            <p:nvPr/>
          </p:nvSpPr>
          <p:spPr>
            <a:xfrm>
              <a:off x="3528060" y="4699000"/>
              <a:ext cx="1192370" cy="220028"/>
            </a:xfrm>
            <a:prstGeom prst="rect">
              <a:avLst/>
            </a:prstGeom>
            <a:noFill/>
            <a:ln>
              <a:noFill/>
            </a:ln>
          </p:spPr>
          <p:txBody>
            <a:bodyPr wrap="none" lIns="0" tIns="0" rIns="0" bIns="0" anchor="t" anchorCtr="0">
              <a:spAutoFit/>
            </a:bodyPr>
            <a:lstStyle/>
            <a:p>
              <a:pPr algn="l"/>
              <a:r>
                <a:rPr lang="ko-KR" sz="1120" b="1" dirty="0">
                  <a:solidFill>
                    <a:srgbClr val="B45309"/>
                  </a:solidFill>
                  <a:latin typeface="+mn-lt"/>
                  <a:ea typeface="+mn-ea"/>
                  <a:cs typeface="+mn-cs"/>
                </a:rPr>
                <a:t>2단계 · 질문 2·3</a:t>
              </a:r>
            </a:p>
          </p:txBody>
        </p:sp>
        <p:sp>
          <p:nvSpPr>
            <p:cNvPr id="56" name="TextBox 56"/>
            <p:cNvSpPr txBox="1"/>
            <p:nvPr/>
          </p:nvSpPr>
          <p:spPr>
            <a:xfrm>
              <a:off x="3526155" y="4927600"/>
              <a:ext cx="1555966" cy="293370"/>
            </a:xfrm>
            <a:prstGeom prst="rect">
              <a:avLst/>
            </a:prstGeom>
            <a:noFill/>
            <a:ln>
              <a:noFill/>
            </a:ln>
          </p:spPr>
          <p:txBody>
            <a:bodyPr wrap="none" lIns="0" tIns="0" rIns="0" bIns="0" anchor="t" anchorCtr="0">
              <a:spAutoFit/>
            </a:bodyPr>
            <a:lstStyle/>
            <a:p>
              <a:pPr algn="l"/>
              <a:r>
                <a:rPr lang="ko-KR" sz="1500" b="1" dirty="0">
                  <a:solidFill>
                    <a:srgbClr val="0B1E3C"/>
                  </a:solidFill>
                  <a:latin typeface="+mn-lt"/>
                  <a:ea typeface="+mn-ea"/>
                  <a:cs typeface="+mn-cs"/>
                </a:rPr>
                <a:t>통제된 시험 구간</a:t>
              </a:r>
            </a:p>
          </p:txBody>
        </p:sp>
        <p:sp>
          <p:nvSpPr>
            <p:cNvPr id="57" name="TextBox 57"/>
            <p:cNvSpPr txBox="1"/>
            <p:nvPr/>
          </p:nvSpPr>
          <p:spPr>
            <a:xfrm>
              <a:off x="3528060" y="5213350"/>
              <a:ext cx="1481480" cy="220028"/>
            </a:xfrm>
            <a:prstGeom prst="rect">
              <a:avLst/>
            </a:prstGeom>
            <a:noFill/>
            <a:ln>
              <a:noFill/>
            </a:ln>
          </p:spPr>
          <p:txBody>
            <a:bodyPr wrap="none" lIns="0" tIns="0" rIns="0" bIns="0" anchor="t" anchorCtr="0">
              <a:spAutoFit/>
            </a:bodyPr>
            <a:lstStyle/>
            <a:p>
              <a:pPr algn="l"/>
              <a:r>
                <a:rPr lang="ko-KR" sz="1120" dirty="0">
                  <a:solidFill>
                    <a:srgbClr val="0B1E3C"/>
                  </a:solidFill>
                  <a:latin typeface="+mn-lt"/>
                  <a:ea typeface="+mn-ea"/>
                  <a:cs typeface="+mn-cs"/>
                </a:rPr>
                <a:t>통과 → 회차 비교 가능</a:t>
              </a:r>
            </a:p>
          </p:txBody>
        </p:sp>
        <p:sp>
          <p:nvSpPr>
            <p:cNvPr id="58" name="TextBox 58"/>
            <p:cNvSpPr txBox="1"/>
            <p:nvPr/>
          </p:nvSpPr>
          <p:spPr>
            <a:xfrm>
              <a:off x="6079617" y="4940300"/>
              <a:ext cx="113671" cy="264033"/>
            </a:xfrm>
            <a:prstGeom prst="rect">
              <a:avLst/>
            </a:prstGeom>
            <a:noFill/>
            <a:ln>
              <a:noFill/>
            </a:ln>
          </p:spPr>
          <p:txBody>
            <a:bodyPr wrap="none" lIns="0" tIns="0" rIns="0" bIns="0" anchor="t" anchorCtr="0">
              <a:spAutoFit/>
            </a:bodyPr>
            <a:lstStyle/>
            <a:p>
              <a:pPr algn="l"/>
              <a:r>
                <a:rPr lang="ko-KR" sz="1350" dirty="0">
                  <a:solidFill>
                    <a:srgbClr val="4B5563"/>
                  </a:solidFill>
                  <a:latin typeface="+mn-lt"/>
                  <a:ea typeface="+mn-ea"/>
                  <a:cs typeface="+mn-cs"/>
                </a:rPr>
                <a:t>›</a:t>
              </a:r>
            </a:p>
          </p:txBody>
        </p:sp>
        <p:sp>
          <p:nvSpPr>
            <p:cNvPr id="59" name="Rectangle 59"/>
            <p:cNvSpPr/>
            <p:nvPr/>
          </p:nvSpPr>
          <p:spPr>
            <a:xfrm>
              <a:off x="6191250" y="4572000"/>
              <a:ext cx="2647950" cy="895350"/>
            </a:xfrm>
            <a:prstGeom prst="rect">
              <a:avLst/>
            </a:prstGeom>
            <a:solidFill>
              <a:srgbClr val="F3F5F8"/>
            </a:solidFill>
            <a:ln>
              <a:noFill/>
            </a:ln>
          </p:spPr>
        </p:sp>
        <p:sp>
          <p:nvSpPr>
            <p:cNvPr id="60" name="Rectangle 60"/>
            <p:cNvSpPr/>
            <p:nvPr/>
          </p:nvSpPr>
          <p:spPr>
            <a:xfrm>
              <a:off x="6191250" y="4572000"/>
              <a:ext cx="2647950" cy="38100"/>
            </a:xfrm>
            <a:prstGeom prst="rect">
              <a:avLst/>
            </a:prstGeom>
            <a:solidFill>
              <a:srgbClr val="0B1E3C"/>
            </a:solidFill>
            <a:ln>
              <a:noFill/>
            </a:ln>
          </p:spPr>
        </p:sp>
        <p:sp>
          <p:nvSpPr>
            <p:cNvPr id="61" name="TextBox 61"/>
            <p:cNvSpPr txBox="1"/>
            <p:nvPr/>
          </p:nvSpPr>
          <p:spPr>
            <a:xfrm>
              <a:off x="6356985" y="4699000"/>
              <a:ext cx="1192370" cy="220028"/>
            </a:xfrm>
            <a:prstGeom prst="rect">
              <a:avLst/>
            </a:prstGeom>
            <a:noFill/>
            <a:ln>
              <a:noFill/>
            </a:ln>
          </p:spPr>
          <p:txBody>
            <a:bodyPr wrap="none" lIns="0" tIns="0" rIns="0" bIns="0" anchor="t" anchorCtr="0">
              <a:spAutoFit/>
            </a:bodyPr>
            <a:lstStyle/>
            <a:p>
              <a:pPr algn="l"/>
              <a:r>
                <a:rPr lang="ko-KR" sz="1120" b="1" dirty="0">
                  <a:solidFill>
                    <a:srgbClr val="B45309"/>
                  </a:solidFill>
                  <a:latin typeface="+mn-lt"/>
                  <a:ea typeface="+mn-ea"/>
                  <a:cs typeface="+mn-cs"/>
                </a:rPr>
                <a:t>3단계 · 질문 3·4</a:t>
              </a:r>
            </a:p>
          </p:txBody>
        </p:sp>
        <p:sp>
          <p:nvSpPr>
            <p:cNvPr id="62" name="TextBox 62"/>
            <p:cNvSpPr txBox="1"/>
            <p:nvPr/>
          </p:nvSpPr>
          <p:spPr>
            <a:xfrm>
              <a:off x="6355080" y="4927600"/>
              <a:ext cx="1757896" cy="293370"/>
            </a:xfrm>
            <a:prstGeom prst="rect">
              <a:avLst/>
            </a:prstGeom>
            <a:noFill/>
            <a:ln>
              <a:noFill/>
            </a:ln>
          </p:spPr>
          <p:txBody>
            <a:bodyPr wrap="none" lIns="0" tIns="0" rIns="0" bIns="0" anchor="t" anchorCtr="0">
              <a:spAutoFit/>
            </a:bodyPr>
            <a:lstStyle/>
            <a:p>
              <a:pPr algn="l"/>
              <a:r>
                <a:rPr lang="ko-KR" sz="1500" b="1" dirty="0">
                  <a:solidFill>
                    <a:srgbClr val="0B1E3C"/>
                  </a:solidFill>
                  <a:latin typeface="+mn-lt"/>
                  <a:ea typeface="+mn-ea"/>
                  <a:cs typeface="+mn-cs"/>
                </a:rPr>
                <a:t>실제 도로 위험구간</a:t>
              </a:r>
            </a:p>
          </p:txBody>
        </p:sp>
        <p:sp>
          <p:nvSpPr>
            <p:cNvPr id="63" name="TextBox 63"/>
            <p:cNvSpPr txBox="1"/>
            <p:nvPr/>
          </p:nvSpPr>
          <p:spPr>
            <a:xfrm>
              <a:off x="6356985" y="5213350"/>
              <a:ext cx="1240241" cy="220028"/>
            </a:xfrm>
            <a:prstGeom prst="rect">
              <a:avLst/>
            </a:prstGeom>
            <a:noFill/>
            <a:ln>
              <a:noFill/>
            </a:ln>
          </p:spPr>
          <p:txBody>
            <a:bodyPr wrap="none" lIns="0" tIns="0" rIns="0" bIns="0" anchor="t" anchorCtr="0">
              <a:spAutoFit/>
            </a:bodyPr>
            <a:lstStyle/>
            <a:p>
              <a:pPr algn="l"/>
              <a:r>
                <a:rPr lang="ko-KR" sz="1120" dirty="0">
                  <a:solidFill>
                    <a:srgbClr val="0B1E3C"/>
                  </a:solidFill>
                  <a:latin typeface="+mn-lt"/>
                  <a:ea typeface="+mn-ea"/>
                  <a:cs typeface="+mn-cs"/>
                </a:rPr>
                <a:t>통과 → 실증확인서</a:t>
              </a:r>
            </a:p>
          </p:txBody>
        </p:sp>
        <p:sp>
          <p:nvSpPr>
            <p:cNvPr id="64" name="TextBox 64"/>
            <p:cNvSpPr txBox="1"/>
            <p:nvPr/>
          </p:nvSpPr>
          <p:spPr>
            <a:xfrm>
              <a:off x="8908542" y="4940300"/>
              <a:ext cx="113671" cy="264033"/>
            </a:xfrm>
            <a:prstGeom prst="rect">
              <a:avLst/>
            </a:prstGeom>
            <a:noFill/>
            <a:ln>
              <a:noFill/>
            </a:ln>
          </p:spPr>
          <p:txBody>
            <a:bodyPr wrap="none" lIns="0" tIns="0" rIns="0" bIns="0" anchor="t" anchorCtr="0">
              <a:spAutoFit/>
            </a:bodyPr>
            <a:lstStyle/>
            <a:p>
              <a:pPr algn="l"/>
              <a:r>
                <a:rPr lang="ko-KR" sz="1350" dirty="0">
                  <a:solidFill>
                    <a:srgbClr val="4B5563"/>
                  </a:solidFill>
                  <a:latin typeface="+mn-lt"/>
                  <a:ea typeface="+mn-ea"/>
                  <a:cs typeface="+mn-cs"/>
                </a:rPr>
                <a:t>›</a:t>
              </a:r>
            </a:p>
          </p:txBody>
        </p:sp>
        <p:sp>
          <p:nvSpPr>
            <p:cNvPr id="65" name="Rectangle 65"/>
            <p:cNvSpPr/>
            <p:nvPr/>
          </p:nvSpPr>
          <p:spPr>
            <a:xfrm>
              <a:off x="9020175" y="4572000"/>
              <a:ext cx="2647950" cy="895350"/>
            </a:xfrm>
            <a:prstGeom prst="rect">
              <a:avLst/>
            </a:prstGeom>
            <a:solidFill>
              <a:srgbClr val="F3F5F8"/>
            </a:solidFill>
            <a:ln>
              <a:noFill/>
            </a:ln>
          </p:spPr>
        </p:sp>
        <p:sp>
          <p:nvSpPr>
            <p:cNvPr id="66" name="Rectangle 66"/>
            <p:cNvSpPr/>
            <p:nvPr/>
          </p:nvSpPr>
          <p:spPr>
            <a:xfrm>
              <a:off x="9020175" y="4572000"/>
              <a:ext cx="2647950" cy="38100"/>
            </a:xfrm>
            <a:prstGeom prst="rect">
              <a:avLst/>
            </a:prstGeom>
            <a:solidFill>
              <a:srgbClr val="F5B700"/>
            </a:solidFill>
            <a:ln>
              <a:noFill/>
            </a:ln>
          </p:spPr>
        </p:sp>
        <p:sp>
          <p:nvSpPr>
            <p:cNvPr id="67" name="TextBox 67"/>
            <p:cNvSpPr txBox="1"/>
            <p:nvPr/>
          </p:nvSpPr>
          <p:spPr>
            <a:xfrm>
              <a:off x="9185910" y="4699000"/>
              <a:ext cx="1232703" cy="220028"/>
            </a:xfrm>
            <a:prstGeom prst="rect">
              <a:avLst/>
            </a:prstGeom>
            <a:noFill/>
            <a:ln>
              <a:noFill/>
            </a:ln>
          </p:spPr>
          <p:txBody>
            <a:bodyPr wrap="none" lIns="0" tIns="0" rIns="0" bIns="0" anchor="t" anchorCtr="0">
              <a:spAutoFit/>
            </a:bodyPr>
            <a:lstStyle/>
            <a:p>
              <a:pPr algn="l"/>
              <a:r>
                <a:rPr lang="ko-KR" sz="1120" b="1" dirty="0">
                  <a:solidFill>
                    <a:srgbClr val="B45309"/>
                  </a:solidFill>
                  <a:latin typeface="+mn-lt"/>
                  <a:ea typeface="+mn-ea"/>
                  <a:cs typeface="+mn-cs"/>
                </a:rPr>
                <a:t>4단계 · 운영 지표</a:t>
              </a:r>
            </a:p>
          </p:txBody>
        </p:sp>
        <p:sp>
          <p:nvSpPr>
            <p:cNvPr id="68" name="TextBox 68"/>
            <p:cNvSpPr txBox="1"/>
            <p:nvPr/>
          </p:nvSpPr>
          <p:spPr>
            <a:xfrm>
              <a:off x="9184005" y="4927600"/>
              <a:ext cx="886568" cy="293370"/>
            </a:xfrm>
            <a:prstGeom prst="rect">
              <a:avLst/>
            </a:prstGeom>
            <a:noFill/>
            <a:ln>
              <a:noFill/>
            </a:ln>
          </p:spPr>
          <p:txBody>
            <a:bodyPr wrap="none" lIns="0" tIns="0" rIns="0" bIns="0" anchor="t" anchorCtr="0">
              <a:spAutoFit/>
            </a:bodyPr>
            <a:lstStyle/>
            <a:p>
              <a:pPr algn="l"/>
              <a:r>
                <a:rPr lang="ko-KR" sz="1500" b="1" dirty="0">
                  <a:solidFill>
                    <a:srgbClr val="0B1E3C"/>
                  </a:solidFill>
                  <a:latin typeface="+mn-lt"/>
                  <a:ea typeface="+mn-ea"/>
                  <a:cs typeface="+mn-cs"/>
                </a:rPr>
                <a:t>실제 운영</a:t>
              </a:r>
            </a:p>
          </p:txBody>
        </p:sp>
        <p:sp>
          <p:nvSpPr>
            <p:cNvPr id="69" name="TextBox 69"/>
            <p:cNvSpPr txBox="1"/>
            <p:nvPr/>
          </p:nvSpPr>
          <p:spPr>
            <a:xfrm>
              <a:off x="9185910" y="5213350"/>
              <a:ext cx="1481480" cy="220028"/>
            </a:xfrm>
            <a:prstGeom prst="rect">
              <a:avLst/>
            </a:prstGeom>
            <a:noFill/>
            <a:ln>
              <a:noFill/>
            </a:ln>
          </p:spPr>
          <p:txBody>
            <a:bodyPr wrap="none" lIns="0" tIns="0" rIns="0" bIns="0" anchor="t" anchorCtr="0">
              <a:spAutoFit/>
            </a:bodyPr>
            <a:lstStyle/>
            <a:p>
              <a:pPr algn="l"/>
              <a:r>
                <a:rPr lang="ko-KR" sz="1120" dirty="0">
                  <a:solidFill>
                    <a:srgbClr val="0B1E3C"/>
                  </a:solidFill>
                  <a:latin typeface="+mn-lt"/>
                  <a:ea typeface="+mn-ea"/>
                  <a:cs typeface="+mn-cs"/>
                </a:rPr>
                <a:t>통과 → 연간 관제 계약</a:t>
              </a:r>
            </a:p>
          </p:txBody>
        </p:sp>
      </p:grpSp>
      <p:grpSp>
        <p:nvGrpSpPr>
          <p:cNvPr id="73" name="conclusion"/>
          <p:cNvGrpSpPr/>
          <p:nvPr/>
        </p:nvGrpSpPr>
        <p:grpSpPr>
          <a:xfrm>
            <a:off x="533400" y="5715000"/>
            <a:ext cx="6510362" cy="419100"/>
            <a:chOff x="533400" y="5715000"/>
            <a:chExt cx="6510362" cy="419100"/>
          </a:xfrm>
        </p:grpSpPr>
        <p:sp>
          <p:nvSpPr>
            <p:cNvPr id="71" name="Rectangle 71"/>
            <p:cNvSpPr/>
            <p:nvPr/>
          </p:nvSpPr>
          <p:spPr>
            <a:xfrm>
              <a:off x="533400" y="5715000"/>
              <a:ext cx="38100" cy="419100"/>
            </a:xfrm>
            <a:prstGeom prst="rect">
              <a:avLst/>
            </a:prstGeom>
            <a:solidFill>
              <a:srgbClr val="F5B700"/>
            </a:solidFill>
            <a:ln>
              <a:noFill/>
            </a:ln>
          </p:spPr>
        </p:sp>
        <p:sp>
          <p:nvSpPr>
            <p:cNvPr id="72" name="TextBox 72"/>
            <p:cNvSpPr txBox="1"/>
            <p:nvPr/>
          </p:nvSpPr>
          <p:spPr>
            <a:xfrm>
              <a:off x="715899" y="5810250"/>
              <a:ext cx="6327863" cy="308991"/>
            </a:xfrm>
            <a:prstGeom prst="rect">
              <a:avLst/>
            </a:prstGeom>
            <a:noFill/>
            <a:ln>
              <a:noFill/>
            </a:ln>
          </p:spPr>
          <p:txBody>
            <a:bodyPr wrap="none" lIns="0" tIns="0" rIns="0" bIns="0" anchor="t" anchorCtr="0">
              <a:spAutoFit/>
            </a:bodyPr>
            <a:lstStyle/>
            <a:p>
              <a:pPr algn="l"/>
              <a:r>
                <a:rPr lang="ko-KR" sz="1580" b="1" dirty="0">
                  <a:solidFill>
                    <a:srgbClr val="0B1E3C"/>
                  </a:solidFill>
                  <a:latin typeface="+mn-lt"/>
                  <a:ea typeface="+mn-ea"/>
                  <a:cs typeface="+mn-cs"/>
                </a:rPr>
                <a:t>정확도 숫자를 미리 약속하지 않고, 단계마다 통과 조건을 둡니다.</a:t>
              </a:r>
            </a:p>
          </p:txBody>
        </p:sp>
      </p:grpSp>
      <p:grpSp>
        <p:nvGrpSpPr>
          <p:cNvPr id="75" name="source"/>
          <p:cNvGrpSpPr/>
          <p:nvPr/>
        </p:nvGrpSpPr>
        <p:grpSpPr>
          <a:xfrm>
            <a:off x="528447" y="6381750"/>
            <a:ext cx="9894644" cy="191643"/>
            <a:chOff x="528447" y="6381750"/>
            <a:chExt cx="9894644" cy="191643"/>
          </a:xfrm>
        </p:grpSpPr>
        <p:sp>
          <p:nvSpPr>
            <p:cNvPr id="74" name="TextBox 74"/>
            <p:cNvSpPr txBox="1"/>
            <p:nvPr/>
          </p:nvSpPr>
          <p:spPr>
            <a:xfrm>
              <a:off x="528447" y="6381750"/>
              <a:ext cx="9894644" cy="191643"/>
            </a:xfrm>
            <a:prstGeom prst="rect">
              <a:avLst/>
            </a:prstGeom>
            <a:noFill/>
            <a:ln>
              <a:noFill/>
            </a:ln>
          </p:spPr>
          <p:txBody>
            <a:bodyPr wrap="none" lIns="0" tIns="0" rIns="0" bIns="0" anchor="t" anchorCtr="0">
              <a:spAutoFit/>
            </a:bodyPr>
            <a:lstStyle/>
            <a:p>
              <a:pPr algn="l"/>
              <a:r>
                <a:rPr lang="ko-KR" sz="980" dirty="0">
                  <a:solidFill>
                    <a:srgbClr val="4B5563"/>
                  </a:solidFill>
                  <a:latin typeface="+mn-lt"/>
                  <a:ea typeface="+mn-ea"/>
                  <a:cs typeface="+mn-cs"/>
                </a:rPr>
                <a:t>인허가: 도로 영상은 개인정보보호법 제25조의2(2023.9)대로 차량 외부 표시 · GPR 전파 적합성평가·튜닝 승인은 사업화 전 확인 · 출처: 일본 국토교통성 연구(2021)</a:t>
              </a:r>
            </a:p>
          </p:txBody>
        </p:sp>
      </p:grpSp>
      <p:grpSp>
        <p:nvGrpSpPr>
          <p:cNvPr id="78" name="footer"/>
          <p:cNvGrpSpPr/>
          <p:nvPr/>
        </p:nvGrpSpPr>
        <p:grpSpPr>
          <a:xfrm>
            <a:off x="528638" y="6610350"/>
            <a:ext cx="11134724" cy="176212"/>
            <a:chOff x="528638" y="6610350"/>
            <a:chExt cx="11134724" cy="176212"/>
          </a:xfrm>
        </p:grpSpPr>
        <p:sp>
          <p:nvSpPr>
            <p:cNvPr id="76" name="TextBox 76"/>
            <p:cNvSpPr txBox="1"/>
            <p:nvPr/>
          </p:nvSpPr>
          <p:spPr>
            <a:xfrm>
              <a:off x="528638" y="6610350"/>
              <a:ext cx="1020324" cy="176212"/>
            </a:xfrm>
            <a:prstGeom prst="rect">
              <a:avLst/>
            </a:prstGeom>
            <a:noFill/>
            <a:ln>
              <a:noFill/>
            </a:ln>
          </p:spPr>
          <p:txBody>
            <a:bodyPr wrap="none" lIns="0" tIns="0" rIns="0" bIns="0" anchor="t" anchorCtr="0">
              <a:spAutoFit/>
            </a:bodyPr>
            <a:lstStyle/>
            <a:p>
              <a:pPr algn="l"/>
              <a:r>
                <a:rPr lang="en-US" sz="900" dirty="0">
                  <a:solidFill>
                    <a:srgbClr val="4B5563"/>
                  </a:solidFill>
                  <a:latin typeface="+mn-lt"/>
                  <a:ea typeface="+mn-ea"/>
                  <a:cs typeface="+mn-cs"/>
                </a:rPr>
                <a:t>PV5 GroundWatch</a:t>
              </a:r>
            </a:p>
          </p:txBody>
        </p:sp>
        <p:sp>
          <p:nvSpPr>
            <p:cNvPr id="77" name="TextBox 77"/>
            <p:cNvSpPr txBox="1"/>
            <p:nvPr/>
          </p:nvSpPr>
          <p:spPr>
            <a:xfrm>
              <a:off x="11247958" y="6610350"/>
              <a:ext cx="415404" cy="176212"/>
            </a:xfrm>
            <a:prstGeom prst="rect">
              <a:avLst/>
            </a:prstGeom>
            <a:noFill/>
            <a:ln>
              <a:noFill/>
            </a:ln>
          </p:spPr>
          <p:txBody>
            <a:bodyPr wrap="none" lIns="0" tIns="0" rIns="0" bIns="0" anchor="t" anchorCtr="0">
              <a:spAutoFit/>
            </a:bodyPr>
            <a:lstStyle/>
            <a:p>
              <a:pPr algn="r"/>
              <a:r>
                <a:rPr lang="ko-KR" sz="900" dirty="0">
                  <a:solidFill>
                    <a:srgbClr val="4B5563"/>
                  </a:solidFill>
                  <a:latin typeface="+mn-lt"/>
                  <a:ea typeface="+mn-ea"/>
                  <a:cs typeface="+mn-cs"/>
                </a:rPr>
                <a:t>11 / 15</a:t>
              </a:r>
            </a:p>
          </p:txBody>
        </p:sp>
      </p:grpSp>
    </p:spTree>
  </p:cSld>
  <p:clrMapOvr>
    <a:masterClrMapping/>
  </p:clrMapOvr>
  <p:transition xmlns:p14="http://schemas.microsoft.com/office/powerpoint/2010/main" p14:dur="400">
    <p:fade/>
  </p:transition>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grpSp>
        <p:nvGrpSpPr>
          <p:cNvPr id="16" name="header"/>
          <p:cNvGrpSpPr/>
          <p:nvPr/>
        </p:nvGrpSpPr>
        <p:grpSpPr>
          <a:xfrm>
            <a:off x="533400" y="266700"/>
            <a:ext cx="11125200" cy="333375"/>
            <a:chOff x="533400" y="266700"/>
            <a:chExt cx="11125200" cy="333375"/>
          </a:xfrm>
        </p:grpSpPr>
        <p:sp>
          <p:nvSpPr>
            <p:cNvPr id="2" name="Rectangle 2"/>
            <p:cNvSpPr/>
            <p:nvPr/>
          </p:nvSpPr>
          <p:spPr>
            <a:xfrm>
              <a:off x="533400" y="266700"/>
              <a:ext cx="1333500" cy="228600"/>
            </a:xfrm>
            <a:prstGeom prst="rect">
              <a:avLst/>
            </a:prstGeom>
            <a:solidFill>
              <a:srgbClr val="0B1E3C"/>
            </a:solidFill>
            <a:ln>
              <a:noFill/>
            </a:ln>
          </p:spPr>
        </p:sp>
        <p:sp>
          <p:nvSpPr>
            <p:cNvPr id="3" name="TextBox 3"/>
            <p:cNvSpPr txBox="1"/>
            <p:nvPr/>
          </p:nvSpPr>
          <p:spPr>
            <a:xfrm>
              <a:off x="617357" y="314325"/>
              <a:ext cx="1165586" cy="191643"/>
            </a:xfrm>
            <a:prstGeom prst="rect">
              <a:avLst/>
            </a:prstGeom>
            <a:noFill/>
            <a:ln>
              <a:noFill/>
            </a:ln>
          </p:spPr>
          <p:txBody>
            <a:bodyPr wrap="none" lIns="0" tIns="0" rIns="0" bIns="0" anchor="t" anchorCtr="0">
              <a:spAutoFit/>
            </a:bodyPr>
            <a:lstStyle/>
            <a:p>
              <a:pPr algn="ctr"/>
              <a:r>
                <a:rPr lang="en-US" sz="980" b="1" dirty="0">
                  <a:solidFill>
                    <a:srgbClr val="FFFFFF"/>
                  </a:solidFill>
                  <a:latin typeface="+mn-lt"/>
                  <a:ea typeface="+mn-ea"/>
                  <a:cs typeface="+mn-cs"/>
                </a:rPr>
                <a:t>PV5 GroundWatch</a:t>
              </a:r>
            </a:p>
          </p:txBody>
        </p:sp>
        <p:sp>
          <p:nvSpPr>
            <p:cNvPr id="4" name="TextBox 4"/>
            <p:cNvSpPr txBox="1"/>
            <p:nvPr/>
          </p:nvSpPr>
          <p:spPr>
            <a:xfrm>
              <a:off x="1994916" y="301625"/>
              <a:ext cx="759828" cy="205359"/>
            </a:xfrm>
            <a:prstGeom prst="rect">
              <a:avLst/>
            </a:prstGeom>
            <a:noFill/>
            <a:ln>
              <a:noFill/>
            </a:ln>
          </p:spPr>
          <p:txBody>
            <a:bodyPr wrap="none" lIns="0" tIns="0" rIns="0" bIns="0" anchor="t" anchorCtr="0">
              <a:spAutoFit/>
            </a:bodyPr>
            <a:lstStyle/>
            <a:p>
              <a:pPr algn="l"/>
              <a:r>
                <a:rPr lang="ko-KR" sz="1050" dirty="0">
                  <a:solidFill>
                    <a:srgbClr val="374151"/>
                  </a:solidFill>
                  <a:latin typeface="+mn-lt"/>
                  <a:ea typeface="+mn-ea"/>
                  <a:cs typeface="+mn-cs"/>
                </a:rPr>
                <a:t>단가와 수지</a:t>
              </a:r>
            </a:p>
          </p:txBody>
        </p:sp>
        <p:sp>
          <p:nvSpPr>
            <p:cNvPr id="5" name="TextBox 5"/>
            <p:cNvSpPr txBox="1"/>
            <p:nvPr/>
          </p:nvSpPr>
          <p:spPr>
            <a:xfrm>
              <a:off x="8425815" y="301625"/>
              <a:ext cx="293370" cy="205359"/>
            </a:xfrm>
            <a:prstGeom prst="rect">
              <a:avLst/>
            </a:prstGeom>
            <a:noFill/>
            <a:ln>
              <a:noFill/>
            </a:ln>
          </p:spPr>
          <p:txBody>
            <a:bodyPr wrap="none" lIns="0" tIns="0" rIns="0" bIns="0" anchor="t" anchorCtr="0">
              <a:spAutoFit/>
            </a:bodyPr>
            <a:lstStyle/>
            <a:p>
              <a:pPr algn="ctr"/>
              <a:r>
                <a:rPr lang="ko-KR" sz="1050" dirty="0">
                  <a:solidFill>
                    <a:srgbClr val="9AA3AF"/>
                  </a:solidFill>
                  <a:latin typeface="+mn-lt"/>
                  <a:ea typeface="+mn-ea"/>
                  <a:cs typeface="+mn-cs"/>
                </a:rPr>
                <a:t>문제</a:t>
              </a:r>
            </a:p>
          </p:txBody>
        </p:sp>
        <p:sp>
          <p:nvSpPr>
            <p:cNvPr id="6" name="TextBox 6"/>
            <p:cNvSpPr txBox="1"/>
            <p:nvPr/>
          </p:nvSpPr>
          <p:spPr>
            <a:xfrm>
              <a:off x="884874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7" name="TextBox 7"/>
            <p:cNvSpPr txBox="1"/>
            <p:nvPr/>
          </p:nvSpPr>
          <p:spPr>
            <a:xfrm>
              <a:off x="9054465" y="301625"/>
              <a:ext cx="293370" cy="205359"/>
            </a:xfrm>
            <a:prstGeom prst="rect">
              <a:avLst/>
            </a:prstGeom>
            <a:noFill/>
            <a:ln>
              <a:noFill/>
            </a:ln>
          </p:spPr>
          <p:txBody>
            <a:bodyPr wrap="none" lIns="0" tIns="0" rIns="0" bIns="0" anchor="t" anchorCtr="0">
              <a:spAutoFit/>
            </a:bodyPr>
            <a:lstStyle/>
            <a:p>
              <a:pPr algn="ctr"/>
              <a:r>
                <a:rPr lang="ko-KR" sz="1050" dirty="0">
                  <a:solidFill>
                    <a:srgbClr val="9AA3AF"/>
                  </a:solidFill>
                  <a:latin typeface="+mn-lt"/>
                  <a:ea typeface="+mn-ea"/>
                  <a:cs typeface="+mn-cs"/>
                </a:rPr>
                <a:t>해법</a:t>
              </a:r>
            </a:p>
          </p:txBody>
        </p:sp>
        <p:sp>
          <p:nvSpPr>
            <p:cNvPr id="8" name="TextBox 8"/>
            <p:cNvSpPr txBox="1"/>
            <p:nvPr/>
          </p:nvSpPr>
          <p:spPr>
            <a:xfrm>
              <a:off x="947739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9" name="TextBox 9"/>
            <p:cNvSpPr txBox="1"/>
            <p:nvPr/>
          </p:nvSpPr>
          <p:spPr>
            <a:xfrm>
              <a:off x="9701251" y="301625"/>
              <a:ext cx="257099" cy="205359"/>
            </a:xfrm>
            <a:prstGeom prst="rect">
              <a:avLst/>
            </a:prstGeom>
            <a:noFill/>
            <a:ln>
              <a:noFill/>
            </a:ln>
          </p:spPr>
          <p:txBody>
            <a:bodyPr wrap="none" lIns="0" tIns="0" rIns="0" bIns="0" anchor="t" anchorCtr="0">
              <a:spAutoFit/>
            </a:bodyPr>
            <a:lstStyle/>
            <a:p>
              <a:pPr algn="ctr"/>
              <a:r>
                <a:rPr lang="en-US" sz="1050" dirty="0">
                  <a:solidFill>
                    <a:srgbClr val="9AA3AF"/>
                  </a:solidFill>
                  <a:latin typeface="+mn-lt"/>
                  <a:ea typeface="+mn-ea"/>
                  <a:cs typeface="+mn-cs"/>
                </a:rPr>
                <a:t>PV5</a:t>
              </a:r>
            </a:p>
          </p:txBody>
        </p:sp>
        <p:sp>
          <p:nvSpPr>
            <p:cNvPr id="10" name="TextBox 10"/>
            <p:cNvSpPr txBox="1"/>
            <p:nvPr/>
          </p:nvSpPr>
          <p:spPr>
            <a:xfrm>
              <a:off x="1010604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11" name="TextBox 11"/>
            <p:cNvSpPr txBox="1"/>
            <p:nvPr/>
          </p:nvSpPr>
          <p:spPr>
            <a:xfrm>
              <a:off x="10311765" y="301625"/>
              <a:ext cx="293370" cy="205359"/>
            </a:xfrm>
            <a:prstGeom prst="rect">
              <a:avLst/>
            </a:prstGeom>
            <a:noFill/>
            <a:ln>
              <a:noFill/>
            </a:ln>
          </p:spPr>
          <p:txBody>
            <a:bodyPr wrap="none" lIns="0" tIns="0" rIns="0" bIns="0" anchor="t" anchorCtr="0">
              <a:spAutoFit/>
            </a:bodyPr>
            <a:lstStyle/>
            <a:p>
              <a:pPr algn="ctr"/>
              <a:r>
                <a:rPr lang="ko-KR" sz="1050" dirty="0">
                  <a:solidFill>
                    <a:srgbClr val="9AA3AF"/>
                  </a:solidFill>
                  <a:latin typeface="+mn-lt"/>
                  <a:ea typeface="+mn-ea"/>
                  <a:cs typeface="+mn-cs"/>
                </a:rPr>
                <a:t>검증</a:t>
              </a:r>
            </a:p>
          </p:txBody>
        </p:sp>
        <p:sp>
          <p:nvSpPr>
            <p:cNvPr id="12" name="TextBox 12"/>
            <p:cNvSpPr txBox="1"/>
            <p:nvPr/>
          </p:nvSpPr>
          <p:spPr>
            <a:xfrm>
              <a:off x="1073469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13" name="TextBox 13"/>
            <p:cNvSpPr txBox="1"/>
            <p:nvPr/>
          </p:nvSpPr>
          <p:spPr>
            <a:xfrm>
              <a:off x="10940415" y="301625"/>
              <a:ext cx="293370" cy="205359"/>
            </a:xfrm>
            <a:prstGeom prst="rect">
              <a:avLst/>
            </a:prstGeom>
            <a:noFill/>
            <a:ln>
              <a:noFill/>
            </a:ln>
          </p:spPr>
          <p:txBody>
            <a:bodyPr wrap="none" lIns="0" tIns="0" rIns="0" bIns="0" anchor="t" anchorCtr="0">
              <a:spAutoFit/>
            </a:bodyPr>
            <a:lstStyle/>
            <a:p>
              <a:pPr algn="ctr"/>
              <a:r>
                <a:rPr lang="ko-KR" sz="1050" b="1" dirty="0">
                  <a:solidFill>
                    <a:srgbClr val="0B1E3C"/>
                  </a:solidFill>
                  <a:latin typeface="+mn-lt"/>
                  <a:ea typeface="+mn-ea"/>
                  <a:cs typeface="+mn-cs"/>
                </a:rPr>
                <a:t>사업</a:t>
              </a:r>
            </a:p>
          </p:txBody>
        </p:sp>
        <p:sp>
          <p:nvSpPr>
            <p:cNvPr id="14" name="Rectangle 14"/>
            <p:cNvSpPr/>
            <p:nvPr/>
          </p:nvSpPr>
          <p:spPr>
            <a:xfrm>
              <a:off x="10858500" y="514350"/>
              <a:ext cx="457200" cy="28575"/>
            </a:xfrm>
            <a:prstGeom prst="rect">
              <a:avLst/>
            </a:prstGeom>
            <a:solidFill>
              <a:srgbClr val="F5B700"/>
            </a:solidFill>
            <a:ln>
              <a:noFill/>
            </a:ln>
          </p:spPr>
        </p:sp>
        <p:sp>
          <p:nvSpPr>
            <p:cNvPr id="15" name="Line 15"/>
            <p:cNvSpPr/>
            <p:nvPr/>
          </p:nvSpPr>
          <p:spPr>
            <a:xfrm>
              <a:off x="533400" y="590550"/>
              <a:ext cx="11125200" cy="9525"/>
            </a:xfrm>
            <a:custGeom>
              <a:avLst/>
              <a:gdLst/>
              <a:ahLst/>
              <a:cxnLst/>
              <a:rect l="l" t="t" r="r" b="b"/>
              <a:pathLst>
                <a:path w="11125200" h="9525">
                  <a:moveTo>
                    <a:pt x="0" y="0"/>
                  </a:moveTo>
                  <a:lnTo>
                    <a:pt x="11125200" y="0"/>
                  </a:lnTo>
                </a:path>
              </a:pathLst>
            </a:custGeom>
            <a:noFill/>
            <a:ln w="9525">
              <a:solidFill>
                <a:srgbClr val="0B1E3C"/>
              </a:solidFill>
            </a:ln>
          </p:spPr>
        </p:sp>
      </p:grpSp>
      <p:grpSp>
        <p:nvGrpSpPr>
          <p:cNvPr id="18" name="title"/>
          <p:cNvGrpSpPr/>
          <p:nvPr/>
        </p:nvGrpSpPr>
        <p:grpSpPr>
          <a:xfrm>
            <a:off x="518160" y="774700"/>
            <a:ext cx="9156630" cy="586740"/>
            <a:chOff x="518160" y="774700"/>
            <a:chExt cx="9156630" cy="586740"/>
          </a:xfrm>
        </p:grpSpPr>
        <p:sp>
          <p:nvSpPr>
            <p:cNvPr id="17" name="TextBox 17"/>
            <p:cNvSpPr txBox="1"/>
            <p:nvPr/>
          </p:nvSpPr>
          <p:spPr>
            <a:xfrm>
              <a:off x="518160" y="774700"/>
              <a:ext cx="9156630" cy="586740"/>
            </a:xfrm>
            <a:prstGeom prst="rect">
              <a:avLst/>
            </a:prstGeom>
            <a:noFill/>
            <a:ln>
              <a:noFill/>
            </a:ln>
          </p:spPr>
          <p:txBody>
            <a:bodyPr wrap="none" lIns="0" tIns="0" rIns="0" bIns="0" anchor="t" anchorCtr="0">
              <a:spAutoFit/>
            </a:bodyPr>
            <a:lstStyle/>
            <a:p>
              <a:pPr algn="l"/>
              <a:r>
                <a:rPr lang="ko-KR" sz="3000" b="1" spc="-75" dirty="0">
                  <a:solidFill>
                    <a:srgbClr val="0B1E3C"/>
                  </a:solidFill>
                  <a:latin typeface="+mn-lt"/>
                  <a:ea typeface="+mn-ea"/>
                  <a:cs typeface="+mn-cs"/>
                </a:rPr>
                <a:t>반복 탐사는 km당 약 4.7만 원이면 원가가 맞습니다</a:t>
              </a:r>
            </a:p>
          </p:txBody>
        </p:sp>
      </p:grpSp>
      <p:grpSp>
        <p:nvGrpSpPr>
          <p:cNvPr id="24" name="now"/>
          <p:cNvGrpSpPr/>
          <p:nvPr/>
        </p:nvGrpSpPr>
        <p:grpSpPr>
          <a:xfrm>
            <a:off x="519684" y="1409700"/>
            <a:ext cx="11138916" cy="940816"/>
            <a:chOff x="519684" y="1409700"/>
            <a:chExt cx="11138916" cy="940816"/>
          </a:xfrm>
        </p:grpSpPr>
        <p:sp>
          <p:nvSpPr>
            <p:cNvPr id="19" name="Rectangle 19"/>
            <p:cNvSpPr/>
            <p:nvPr/>
          </p:nvSpPr>
          <p:spPr>
            <a:xfrm>
              <a:off x="533400" y="1409700"/>
              <a:ext cx="11125200" cy="28575"/>
            </a:xfrm>
            <a:prstGeom prst="rect">
              <a:avLst/>
            </a:prstGeom>
            <a:solidFill>
              <a:srgbClr val="0B1E3C"/>
            </a:solidFill>
            <a:ln>
              <a:noFill/>
            </a:ln>
          </p:spPr>
        </p:sp>
        <p:sp>
          <p:nvSpPr>
            <p:cNvPr id="20" name="TextBox 20"/>
            <p:cNvSpPr txBox="1"/>
            <p:nvPr/>
          </p:nvSpPr>
          <p:spPr>
            <a:xfrm>
              <a:off x="527685" y="1593850"/>
              <a:ext cx="4445328" cy="220028"/>
            </a:xfrm>
            <a:prstGeom prst="rect">
              <a:avLst/>
            </a:prstGeom>
            <a:noFill/>
            <a:ln>
              <a:noFill/>
            </a:ln>
          </p:spPr>
          <p:txBody>
            <a:bodyPr wrap="none" lIns="0" tIns="0" rIns="0" bIns="0" anchor="t" anchorCtr="0">
              <a:spAutoFit/>
            </a:bodyPr>
            <a:lstStyle/>
            <a:p>
              <a:pPr algn="l"/>
              <a:r>
                <a:rPr lang="ko-KR" sz="1120" b="1" dirty="0">
                  <a:solidFill>
                    <a:srgbClr val="B45309"/>
                  </a:solidFill>
                  <a:latin typeface="+mn-lt"/>
                  <a:ea typeface="+mn-ea"/>
                  <a:cs typeface="+mn-cs"/>
                </a:rPr>
                <a:t>지금의 실제 단가 · 서울시 2024 지반침하 특별점검 공동조사용역</a:t>
              </a:r>
            </a:p>
          </p:txBody>
        </p:sp>
        <p:sp>
          <p:nvSpPr>
            <p:cNvPr id="21" name="TextBox 21"/>
            <p:cNvSpPr txBox="1"/>
            <p:nvPr/>
          </p:nvSpPr>
          <p:spPr>
            <a:xfrm>
              <a:off x="519684" y="1822450"/>
              <a:ext cx="7265108" cy="528066"/>
            </a:xfrm>
            <a:prstGeom prst="rect">
              <a:avLst/>
            </a:prstGeom>
            <a:noFill/>
            <a:ln>
              <a:noFill/>
            </a:ln>
          </p:spPr>
          <p:txBody>
            <a:bodyPr wrap="none" lIns="0" tIns="0" rIns="0" bIns="0" anchor="t" anchorCtr="0">
              <a:spAutoFit/>
            </a:bodyPr>
            <a:lstStyle/>
            <a:p>
              <a:pPr algn="l"/>
              <a:r>
                <a:rPr lang="ko-KR" sz="2700" b="1" dirty="0">
                  <a:solidFill>
                    <a:srgbClr val="0B1E3C"/>
                  </a:solidFill>
                  <a:latin typeface="+mn-lt"/>
                  <a:ea typeface="+mn-ea"/>
                  <a:cs typeface="+mn-cs"/>
                </a:rPr>
                <a:t>17.8억 원 ÷ 1,930.6km = km당 약 92만 원</a:t>
              </a:r>
            </a:p>
          </p:txBody>
        </p:sp>
        <p:sp>
          <p:nvSpPr>
            <p:cNvPr id="22" name="TextBox 22"/>
            <p:cNvSpPr txBox="1"/>
            <p:nvPr/>
          </p:nvSpPr>
          <p:spPr>
            <a:xfrm>
              <a:off x="8566785" y="1898650"/>
              <a:ext cx="1715181" cy="220028"/>
            </a:xfrm>
            <a:prstGeom prst="rect">
              <a:avLst/>
            </a:prstGeom>
            <a:noFill/>
            <a:ln>
              <a:noFill/>
            </a:ln>
          </p:spPr>
          <p:txBody>
            <a:bodyPr wrap="none" lIns="0" tIns="0" rIns="0" bIns="0" anchor="t" anchorCtr="0">
              <a:spAutoFit/>
            </a:bodyPr>
            <a:lstStyle/>
            <a:p>
              <a:pPr algn="l"/>
              <a:r>
                <a:rPr lang="ko-KR" sz="1120" dirty="0">
                  <a:solidFill>
                    <a:srgbClr val="374151"/>
                  </a:solidFill>
                  <a:latin typeface="+mn-lt"/>
                  <a:ea typeface="+mn-ea"/>
                  <a:cs typeface="+mn-cs"/>
                </a:rPr>
                <a:t>1·2차 탐사, 천공 499곳,</a:t>
              </a:r>
            </a:p>
          </p:txBody>
        </p:sp>
        <p:sp>
          <p:nvSpPr>
            <p:cNvPr id="23" name="TextBox 23"/>
            <p:cNvSpPr txBox="1"/>
            <p:nvPr/>
          </p:nvSpPr>
          <p:spPr>
            <a:xfrm>
              <a:off x="8566785" y="2108200"/>
              <a:ext cx="1858416" cy="220028"/>
            </a:xfrm>
            <a:prstGeom prst="rect">
              <a:avLst/>
            </a:prstGeom>
            <a:noFill/>
            <a:ln>
              <a:noFill/>
            </a:ln>
          </p:spPr>
          <p:txBody>
            <a:bodyPr wrap="none" lIns="0" tIns="0" rIns="0" bIns="0" anchor="t" anchorCtr="0">
              <a:spAutoFit/>
            </a:bodyPr>
            <a:lstStyle/>
            <a:p>
              <a:pPr algn="l"/>
              <a:r>
                <a:rPr lang="ko-KR" sz="1120" dirty="0">
                  <a:solidFill>
                    <a:srgbClr val="374151"/>
                  </a:solidFill>
                  <a:latin typeface="+mn-lt"/>
                  <a:ea typeface="+mn-ea"/>
                  <a:cs typeface="+mn-cs"/>
                </a:rPr>
                <a:t>공동 복구 285곳 포함 · 1회</a:t>
              </a:r>
            </a:p>
          </p:txBody>
        </p:sp>
      </p:grpSp>
      <p:grpSp>
        <p:nvGrpSpPr>
          <p:cNvPr id="45" name="cost"/>
          <p:cNvGrpSpPr/>
          <p:nvPr/>
        </p:nvGrpSpPr>
        <p:grpSpPr>
          <a:xfrm>
            <a:off x="526542" y="2571750"/>
            <a:ext cx="5410297" cy="2671128"/>
            <a:chOff x="526542" y="2571750"/>
            <a:chExt cx="5410297" cy="2671128"/>
          </a:xfrm>
        </p:grpSpPr>
        <p:sp>
          <p:nvSpPr>
            <p:cNvPr id="25" name="TextBox 25"/>
            <p:cNvSpPr txBox="1"/>
            <p:nvPr/>
          </p:nvSpPr>
          <p:spPr>
            <a:xfrm>
              <a:off x="527304" y="2571750"/>
              <a:ext cx="3063077" cy="234696"/>
            </a:xfrm>
            <a:prstGeom prst="rect">
              <a:avLst/>
            </a:prstGeom>
            <a:noFill/>
            <a:ln>
              <a:noFill/>
            </a:ln>
          </p:spPr>
          <p:txBody>
            <a:bodyPr wrap="none" lIns="0" tIns="0" rIns="0" bIns="0" anchor="t" anchorCtr="0">
              <a:spAutoFit/>
            </a:bodyPr>
            <a:lstStyle/>
            <a:p>
              <a:pPr algn="l"/>
              <a:r>
                <a:rPr lang="ko-KR" sz="1200" b="1" dirty="0">
                  <a:solidFill>
                    <a:srgbClr val="0B1E3C"/>
                  </a:solidFill>
                  <a:latin typeface="+mn-lt"/>
                  <a:ea typeface="+mn-ea"/>
                  <a:cs typeface="+mn-cs"/>
                </a:rPr>
                <a:t xml:space="preserve">GroundWatch 차량 1대 연간 원가 </a:t>
              </a:r>
              <a:r>
                <a:rPr lang="ko-KR" sz="1200" dirty="0">
                  <a:solidFill>
                    <a:srgbClr val="4B5563"/>
                  </a:solidFill>
                  <a:latin typeface="+mn-lt"/>
                  <a:ea typeface="+mn-ea"/>
                  <a:cs typeface="+mn-cs"/>
                </a:rPr>
                <a:t>[가설]</a:t>
              </a:r>
            </a:p>
          </p:txBody>
        </p:sp>
        <p:sp>
          <p:nvSpPr>
            <p:cNvPr id="26" name="Line 26"/>
            <p:cNvSpPr/>
            <p:nvPr/>
          </p:nvSpPr>
          <p:spPr>
            <a:xfrm>
              <a:off x="533400" y="2838450"/>
              <a:ext cx="5334000" cy="9525"/>
            </a:xfrm>
            <a:custGeom>
              <a:avLst/>
              <a:gdLst/>
              <a:ahLst/>
              <a:cxnLst/>
              <a:rect l="l" t="t" r="r" b="b"/>
              <a:pathLst>
                <a:path w="5334000" h="9525">
                  <a:moveTo>
                    <a:pt x="0" y="0"/>
                  </a:moveTo>
                  <a:lnTo>
                    <a:pt x="5334000" y="0"/>
                  </a:lnTo>
                </a:path>
              </a:pathLst>
            </a:custGeom>
            <a:noFill/>
            <a:ln w="14288">
              <a:solidFill>
                <a:srgbClr val="0B1E3C"/>
              </a:solidFill>
            </a:ln>
          </p:spPr>
        </p:sp>
        <p:sp>
          <p:nvSpPr>
            <p:cNvPr id="27" name="TextBox 27"/>
            <p:cNvSpPr txBox="1"/>
            <p:nvPr/>
          </p:nvSpPr>
          <p:spPr>
            <a:xfrm>
              <a:off x="527304" y="2952750"/>
              <a:ext cx="1968551" cy="234696"/>
            </a:xfrm>
            <a:prstGeom prst="rect">
              <a:avLst/>
            </a:prstGeom>
            <a:noFill/>
            <a:ln>
              <a:noFill/>
            </a:ln>
          </p:spPr>
          <p:txBody>
            <a:bodyPr wrap="none" lIns="0" tIns="0" rIns="0" bIns="0" anchor="t" anchorCtr="0">
              <a:spAutoFit/>
            </a:bodyPr>
            <a:lstStyle/>
            <a:p>
              <a:pPr algn="l"/>
              <a:r>
                <a:rPr lang="ko-KR" sz="1200" dirty="0">
                  <a:solidFill>
                    <a:srgbClr val="111827"/>
                  </a:solidFill>
                  <a:latin typeface="+mn-lt"/>
                  <a:ea typeface="+mn-ea"/>
                  <a:cs typeface="+mn-cs"/>
                </a:rPr>
                <a:t>PV5 카고 4,520만 원 · 5년</a:t>
              </a:r>
            </a:p>
          </p:txBody>
        </p:sp>
        <p:sp>
          <p:nvSpPr>
            <p:cNvPr id="28" name="TextBox 28"/>
            <p:cNvSpPr txBox="1"/>
            <p:nvPr/>
          </p:nvSpPr>
          <p:spPr>
            <a:xfrm>
              <a:off x="5114163" y="2952750"/>
              <a:ext cx="759333" cy="234696"/>
            </a:xfrm>
            <a:prstGeom prst="rect">
              <a:avLst/>
            </a:prstGeom>
            <a:noFill/>
            <a:ln>
              <a:noFill/>
            </a:ln>
          </p:spPr>
          <p:txBody>
            <a:bodyPr wrap="none" lIns="0" tIns="0" rIns="0" bIns="0" anchor="t" anchorCtr="0">
              <a:spAutoFit/>
            </a:bodyPr>
            <a:lstStyle/>
            <a:p>
              <a:pPr algn="r"/>
              <a:r>
                <a:rPr lang="ko-KR" sz="1200" b="1" dirty="0">
                  <a:solidFill>
                    <a:srgbClr val="111827"/>
                  </a:solidFill>
                  <a:latin typeface="+mn-lt"/>
                  <a:ea typeface="+mn-ea"/>
                  <a:cs typeface="+mn-cs"/>
                </a:rPr>
                <a:t>0.09억 원</a:t>
              </a:r>
            </a:p>
          </p:txBody>
        </p:sp>
        <p:sp>
          <p:nvSpPr>
            <p:cNvPr id="29" name="Line 29"/>
            <p:cNvSpPr/>
            <p:nvPr/>
          </p:nvSpPr>
          <p:spPr>
            <a:xfrm>
              <a:off x="533400" y="3219450"/>
              <a:ext cx="5334000" cy="9525"/>
            </a:xfrm>
            <a:custGeom>
              <a:avLst/>
              <a:gdLst/>
              <a:ahLst/>
              <a:cxnLst/>
              <a:rect l="l" t="t" r="r" b="b"/>
              <a:pathLst>
                <a:path w="5334000" h="9525">
                  <a:moveTo>
                    <a:pt x="0" y="0"/>
                  </a:moveTo>
                  <a:lnTo>
                    <a:pt x="5334000" y="0"/>
                  </a:lnTo>
                </a:path>
              </a:pathLst>
            </a:custGeom>
            <a:noFill/>
            <a:ln w="9525">
              <a:solidFill>
                <a:srgbClr val="E2E6EC"/>
              </a:solidFill>
            </a:ln>
          </p:spPr>
        </p:sp>
        <p:sp>
          <p:nvSpPr>
            <p:cNvPr id="30" name="TextBox 30"/>
            <p:cNvSpPr txBox="1"/>
            <p:nvPr/>
          </p:nvSpPr>
          <p:spPr>
            <a:xfrm>
              <a:off x="527304" y="3295650"/>
              <a:ext cx="2977896" cy="234696"/>
            </a:xfrm>
            <a:prstGeom prst="rect">
              <a:avLst/>
            </a:prstGeom>
            <a:noFill/>
            <a:ln>
              <a:noFill/>
            </a:ln>
          </p:spPr>
          <p:txBody>
            <a:bodyPr wrap="none" lIns="0" tIns="0" rIns="0" bIns="0" anchor="t" anchorCtr="0">
              <a:spAutoFit/>
            </a:bodyPr>
            <a:lstStyle/>
            <a:p>
              <a:pPr algn="l"/>
              <a:r>
                <a:rPr lang="ko-KR" sz="1200" dirty="0">
                  <a:solidFill>
                    <a:srgbClr val="111827"/>
                  </a:solidFill>
                  <a:latin typeface="+mn-lt"/>
                  <a:ea typeface="+mn-ea"/>
                  <a:cs typeface="+mn-cs"/>
                </a:rPr>
                <a:t>차량형 GPR 5억 원(서울시 구매가) · 5년</a:t>
              </a:r>
            </a:p>
          </p:txBody>
        </p:sp>
        <p:sp>
          <p:nvSpPr>
            <p:cNvPr id="31" name="TextBox 31"/>
            <p:cNvSpPr txBox="1"/>
            <p:nvPr/>
          </p:nvSpPr>
          <p:spPr>
            <a:xfrm>
              <a:off x="5114163" y="3295650"/>
              <a:ext cx="759333" cy="234696"/>
            </a:xfrm>
            <a:prstGeom prst="rect">
              <a:avLst/>
            </a:prstGeom>
            <a:noFill/>
            <a:ln>
              <a:noFill/>
            </a:ln>
          </p:spPr>
          <p:txBody>
            <a:bodyPr wrap="none" lIns="0" tIns="0" rIns="0" bIns="0" anchor="t" anchorCtr="0">
              <a:spAutoFit/>
            </a:bodyPr>
            <a:lstStyle/>
            <a:p>
              <a:pPr algn="r"/>
              <a:r>
                <a:rPr lang="ko-KR" sz="1200" b="1" dirty="0">
                  <a:solidFill>
                    <a:srgbClr val="111827"/>
                  </a:solidFill>
                  <a:latin typeface="+mn-lt"/>
                  <a:ea typeface="+mn-ea"/>
                  <a:cs typeface="+mn-cs"/>
                </a:rPr>
                <a:t>1.00억 원</a:t>
              </a:r>
            </a:p>
          </p:txBody>
        </p:sp>
        <p:sp>
          <p:nvSpPr>
            <p:cNvPr id="32" name="Line 32"/>
            <p:cNvSpPr/>
            <p:nvPr/>
          </p:nvSpPr>
          <p:spPr>
            <a:xfrm>
              <a:off x="533400" y="3562350"/>
              <a:ext cx="5334000" cy="9525"/>
            </a:xfrm>
            <a:custGeom>
              <a:avLst/>
              <a:gdLst/>
              <a:ahLst/>
              <a:cxnLst/>
              <a:rect l="l" t="t" r="r" b="b"/>
              <a:pathLst>
                <a:path w="5334000" h="9525">
                  <a:moveTo>
                    <a:pt x="0" y="0"/>
                  </a:moveTo>
                  <a:lnTo>
                    <a:pt x="5334000" y="0"/>
                  </a:lnTo>
                </a:path>
              </a:pathLst>
            </a:custGeom>
            <a:noFill/>
            <a:ln w="9525">
              <a:solidFill>
                <a:srgbClr val="E2E6EC"/>
              </a:solidFill>
            </a:ln>
          </p:spPr>
        </p:sp>
        <p:sp>
          <p:nvSpPr>
            <p:cNvPr id="33" name="TextBox 33"/>
            <p:cNvSpPr txBox="1"/>
            <p:nvPr/>
          </p:nvSpPr>
          <p:spPr>
            <a:xfrm>
              <a:off x="527304" y="3638550"/>
              <a:ext cx="2104187" cy="234696"/>
            </a:xfrm>
            <a:prstGeom prst="rect">
              <a:avLst/>
            </a:prstGeom>
            <a:noFill/>
            <a:ln>
              <a:noFill/>
            </a:ln>
          </p:spPr>
          <p:txBody>
            <a:bodyPr wrap="none" lIns="0" tIns="0" rIns="0" bIns="0" anchor="t" anchorCtr="0">
              <a:spAutoFit/>
            </a:bodyPr>
            <a:lstStyle/>
            <a:p>
              <a:pPr algn="l"/>
              <a:r>
                <a:rPr lang="ko-KR" sz="1200" dirty="0">
                  <a:solidFill>
                    <a:srgbClr val="111827"/>
                  </a:solidFill>
                  <a:latin typeface="+mn-lt"/>
                  <a:ea typeface="+mn-ea"/>
                  <a:cs typeface="+mn-cs"/>
                </a:rPr>
                <a:t>현장 2인 (운전·안전 / 탐사)</a:t>
              </a:r>
            </a:p>
          </p:txBody>
        </p:sp>
        <p:sp>
          <p:nvSpPr>
            <p:cNvPr id="34" name="TextBox 34"/>
            <p:cNvSpPr txBox="1"/>
            <p:nvPr/>
          </p:nvSpPr>
          <p:spPr>
            <a:xfrm>
              <a:off x="5114163" y="3638550"/>
              <a:ext cx="759333" cy="234696"/>
            </a:xfrm>
            <a:prstGeom prst="rect">
              <a:avLst/>
            </a:prstGeom>
            <a:noFill/>
            <a:ln>
              <a:noFill/>
            </a:ln>
          </p:spPr>
          <p:txBody>
            <a:bodyPr wrap="none" lIns="0" tIns="0" rIns="0" bIns="0" anchor="t" anchorCtr="0">
              <a:spAutoFit/>
            </a:bodyPr>
            <a:lstStyle/>
            <a:p>
              <a:pPr algn="r"/>
              <a:r>
                <a:rPr lang="ko-KR" sz="1200" b="1" dirty="0">
                  <a:solidFill>
                    <a:srgbClr val="111827"/>
                  </a:solidFill>
                  <a:latin typeface="+mn-lt"/>
                  <a:ea typeface="+mn-ea"/>
                  <a:cs typeface="+mn-cs"/>
                </a:rPr>
                <a:t>1.20억 원</a:t>
              </a:r>
            </a:p>
          </p:txBody>
        </p:sp>
        <p:sp>
          <p:nvSpPr>
            <p:cNvPr id="35" name="Line 35"/>
            <p:cNvSpPr/>
            <p:nvPr/>
          </p:nvSpPr>
          <p:spPr>
            <a:xfrm>
              <a:off x="533400" y="3905250"/>
              <a:ext cx="5334000" cy="9525"/>
            </a:xfrm>
            <a:custGeom>
              <a:avLst/>
              <a:gdLst/>
              <a:ahLst/>
              <a:cxnLst/>
              <a:rect l="l" t="t" r="r" b="b"/>
              <a:pathLst>
                <a:path w="5334000" h="9525">
                  <a:moveTo>
                    <a:pt x="0" y="0"/>
                  </a:moveTo>
                  <a:lnTo>
                    <a:pt x="5334000" y="0"/>
                  </a:lnTo>
                </a:path>
              </a:pathLst>
            </a:custGeom>
            <a:noFill/>
            <a:ln w="9525">
              <a:solidFill>
                <a:srgbClr val="E2E6EC"/>
              </a:solidFill>
            </a:ln>
          </p:spPr>
        </p:sp>
        <p:sp>
          <p:nvSpPr>
            <p:cNvPr id="36" name="TextBox 36"/>
            <p:cNvSpPr txBox="1"/>
            <p:nvPr/>
          </p:nvSpPr>
          <p:spPr>
            <a:xfrm>
              <a:off x="527304" y="3981450"/>
              <a:ext cx="1344930" cy="234696"/>
            </a:xfrm>
            <a:prstGeom prst="rect">
              <a:avLst/>
            </a:prstGeom>
            <a:noFill/>
            <a:ln>
              <a:noFill/>
            </a:ln>
          </p:spPr>
          <p:txBody>
            <a:bodyPr wrap="none" lIns="0" tIns="0" rIns="0" bIns="0" anchor="t" anchorCtr="0">
              <a:spAutoFit/>
            </a:bodyPr>
            <a:lstStyle/>
            <a:p>
              <a:pPr algn="l"/>
              <a:r>
                <a:rPr lang="ko-KR" sz="1200" dirty="0">
                  <a:solidFill>
                    <a:srgbClr val="111827"/>
                  </a:solidFill>
                  <a:latin typeface="+mn-lt"/>
                  <a:ea typeface="+mn-ea"/>
                  <a:cs typeface="+mn-cs"/>
                </a:rPr>
                <a:t>판독 전문가 0.5인</a:t>
              </a:r>
            </a:p>
          </p:txBody>
        </p:sp>
        <p:sp>
          <p:nvSpPr>
            <p:cNvPr id="37" name="TextBox 37"/>
            <p:cNvSpPr txBox="1"/>
            <p:nvPr/>
          </p:nvSpPr>
          <p:spPr>
            <a:xfrm>
              <a:off x="5114163" y="3981450"/>
              <a:ext cx="759333" cy="234696"/>
            </a:xfrm>
            <a:prstGeom prst="rect">
              <a:avLst/>
            </a:prstGeom>
            <a:noFill/>
            <a:ln>
              <a:noFill/>
            </a:ln>
          </p:spPr>
          <p:txBody>
            <a:bodyPr wrap="none" lIns="0" tIns="0" rIns="0" bIns="0" anchor="t" anchorCtr="0">
              <a:spAutoFit/>
            </a:bodyPr>
            <a:lstStyle/>
            <a:p>
              <a:pPr algn="r"/>
              <a:r>
                <a:rPr lang="ko-KR" sz="1200" b="1" dirty="0">
                  <a:solidFill>
                    <a:srgbClr val="111827"/>
                  </a:solidFill>
                  <a:latin typeface="+mn-lt"/>
                  <a:ea typeface="+mn-ea"/>
                  <a:cs typeface="+mn-cs"/>
                </a:rPr>
                <a:t>0.40억 원</a:t>
              </a:r>
            </a:p>
          </p:txBody>
        </p:sp>
        <p:sp>
          <p:nvSpPr>
            <p:cNvPr id="38" name="Line 38"/>
            <p:cNvSpPr/>
            <p:nvPr/>
          </p:nvSpPr>
          <p:spPr>
            <a:xfrm>
              <a:off x="533400" y="4248150"/>
              <a:ext cx="5334000" cy="9525"/>
            </a:xfrm>
            <a:custGeom>
              <a:avLst/>
              <a:gdLst/>
              <a:ahLst/>
              <a:cxnLst/>
              <a:rect l="l" t="t" r="r" b="b"/>
              <a:pathLst>
                <a:path w="5334000" h="9525">
                  <a:moveTo>
                    <a:pt x="0" y="0"/>
                  </a:moveTo>
                  <a:lnTo>
                    <a:pt x="5334000" y="0"/>
                  </a:lnTo>
                </a:path>
              </a:pathLst>
            </a:custGeom>
            <a:noFill/>
            <a:ln w="9525">
              <a:solidFill>
                <a:srgbClr val="E2E6EC"/>
              </a:solidFill>
            </a:ln>
          </p:spPr>
        </p:sp>
        <p:sp>
          <p:nvSpPr>
            <p:cNvPr id="39" name="TextBox 39"/>
            <p:cNvSpPr txBox="1"/>
            <p:nvPr/>
          </p:nvSpPr>
          <p:spPr>
            <a:xfrm>
              <a:off x="527304" y="4324350"/>
              <a:ext cx="2513686" cy="234696"/>
            </a:xfrm>
            <a:prstGeom prst="rect">
              <a:avLst/>
            </a:prstGeom>
            <a:noFill/>
            <a:ln>
              <a:noFill/>
            </a:ln>
          </p:spPr>
          <p:txBody>
            <a:bodyPr wrap="none" lIns="0" tIns="0" rIns="0" bIns="0" anchor="t" anchorCtr="0">
              <a:spAutoFit/>
            </a:bodyPr>
            <a:lstStyle/>
            <a:p>
              <a:pPr algn="l"/>
              <a:r>
                <a:rPr lang="ko-KR" sz="1200" dirty="0">
                  <a:solidFill>
                    <a:srgbClr val="111827"/>
                  </a:solidFill>
                  <a:latin typeface="+mn-lt"/>
                  <a:ea typeface="+mn-ea"/>
                  <a:cs typeface="+mn-cs"/>
                </a:rPr>
                <a:t>수동 GPR·AR·클라우드·보험·유지</a:t>
              </a:r>
            </a:p>
          </p:txBody>
        </p:sp>
        <p:sp>
          <p:nvSpPr>
            <p:cNvPr id="40" name="TextBox 40"/>
            <p:cNvSpPr txBox="1"/>
            <p:nvPr/>
          </p:nvSpPr>
          <p:spPr>
            <a:xfrm>
              <a:off x="5114163" y="4324350"/>
              <a:ext cx="759333" cy="234696"/>
            </a:xfrm>
            <a:prstGeom prst="rect">
              <a:avLst/>
            </a:prstGeom>
            <a:noFill/>
            <a:ln>
              <a:noFill/>
            </a:ln>
          </p:spPr>
          <p:txBody>
            <a:bodyPr wrap="none" lIns="0" tIns="0" rIns="0" bIns="0" anchor="t" anchorCtr="0">
              <a:spAutoFit/>
            </a:bodyPr>
            <a:lstStyle/>
            <a:p>
              <a:pPr algn="r"/>
              <a:r>
                <a:rPr lang="ko-KR" sz="1200" b="1" dirty="0">
                  <a:solidFill>
                    <a:srgbClr val="111827"/>
                  </a:solidFill>
                  <a:latin typeface="+mn-lt"/>
                  <a:ea typeface="+mn-ea"/>
                  <a:cs typeface="+mn-cs"/>
                </a:rPr>
                <a:t>0.40억 원</a:t>
              </a:r>
            </a:p>
          </p:txBody>
        </p:sp>
        <p:sp>
          <p:nvSpPr>
            <p:cNvPr id="41" name="Line 41"/>
            <p:cNvSpPr/>
            <p:nvPr/>
          </p:nvSpPr>
          <p:spPr>
            <a:xfrm>
              <a:off x="533400" y="4591050"/>
              <a:ext cx="5334000" cy="9525"/>
            </a:xfrm>
            <a:custGeom>
              <a:avLst/>
              <a:gdLst/>
              <a:ahLst/>
              <a:cxnLst/>
              <a:rect l="l" t="t" r="r" b="b"/>
              <a:pathLst>
                <a:path w="5334000" h="9525">
                  <a:moveTo>
                    <a:pt x="0" y="0"/>
                  </a:moveTo>
                  <a:lnTo>
                    <a:pt x="5334000" y="0"/>
                  </a:lnTo>
                </a:path>
              </a:pathLst>
            </a:custGeom>
            <a:noFill/>
            <a:ln w="9525">
              <a:solidFill>
                <a:srgbClr val="E2E6EC"/>
              </a:solidFill>
            </a:ln>
          </p:spPr>
        </p:sp>
        <p:sp>
          <p:nvSpPr>
            <p:cNvPr id="42" name="TextBox 42"/>
            <p:cNvSpPr txBox="1"/>
            <p:nvPr/>
          </p:nvSpPr>
          <p:spPr>
            <a:xfrm>
              <a:off x="526542" y="4749800"/>
              <a:ext cx="2506239" cy="264033"/>
            </a:xfrm>
            <a:prstGeom prst="rect">
              <a:avLst/>
            </a:prstGeom>
            <a:noFill/>
            <a:ln>
              <a:noFill/>
            </a:ln>
          </p:spPr>
          <p:txBody>
            <a:bodyPr wrap="none" lIns="0" tIns="0" rIns="0" bIns="0" anchor="t" anchorCtr="0">
              <a:spAutoFit/>
            </a:bodyPr>
            <a:lstStyle/>
            <a:p>
              <a:pPr algn="l"/>
              <a:r>
                <a:rPr lang="ko-KR" sz="1350" b="1" dirty="0">
                  <a:solidFill>
                    <a:srgbClr val="0B1E3C"/>
                  </a:solidFill>
                  <a:latin typeface="+mn-lt"/>
                  <a:ea typeface="+mn-ea"/>
                  <a:cs typeface="+mn-cs"/>
                </a:rPr>
                <a:t>합계 3.09억 원 ÷ 연 6,600km</a:t>
              </a:r>
            </a:p>
          </p:txBody>
        </p:sp>
        <p:sp>
          <p:nvSpPr>
            <p:cNvPr id="43" name="TextBox 43"/>
            <p:cNvSpPr txBox="1"/>
            <p:nvPr/>
          </p:nvSpPr>
          <p:spPr>
            <a:xfrm>
              <a:off x="4072594" y="4711700"/>
              <a:ext cx="1803188" cy="322707"/>
            </a:xfrm>
            <a:prstGeom prst="rect">
              <a:avLst/>
            </a:prstGeom>
            <a:noFill/>
            <a:ln>
              <a:noFill/>
            </a:ln>
          </p:spPr>
          <p:txBody>
            <a:bodyPr wrap="none" lIns="0" tIns="0" rIns="0" bIns="0" anchor="t" anchorCtr="0">
              <a:spAutoFit/>
            </a:bodyPr>
            <a:lstStyle/>
            <a:p>
              <a:pPr algn="r"/>
              <a:r>
                <a:rPr lang="ko-KR" sz="1650" b="1" dirty="0">
                  <a:solidFill>
                    <a:srgbClr val="0B1E3C"/>
                  </a:solidFill>
                  <a:latin typeface="+mn-lt"/>
                  <a:ea typeface="+mn-ea"/>
                  <a:cs typeface="+mn-cs"/>
                </a:rPr>
                <a:t>km당 약 4.7만 원</a:t>
              </a:r>
            </a:p>
          </p:txBody>
        </p:sp>
        <p:sp>
          <p:nvSpPr>
            <p:cNvPr id="44" name="TextBox 44"/>
            <p:cNvSpPr txBox="1"/>
            <p:nvPr/>
          </p:nvSpPr>
          <p:spPr>
            <a:xfrm>
              <a:off x="527685" y="5022850"/>
              <a:ext cx="5409154" cy="220028"/>
            </a:xfrm>
            <a:prstGeom prst="rect">
              <a:avLst/>
            </a:prstGeom>
            <a:noFill/>
            <a:ln>
              <a:noFill/>
            </a:ln>
          </p:spPr>
          <p:txBody>
            <a:bodyPr wrap="none" lIns="0" tIns="0" rIns="0" bIns="0" anchor="t" anchorCtr="0">
              <a:spAutoFit/>
            </a:bodyPr>
            <a:lstStyle/>
            <a:p>
              <a:pPr algn="l"/>
              <a:r>
                <a:rPr lang="ko-KR" sz="1120" dirty="0">
                  <a:solidFill>
                    <a:srgbClr val="4B5563"/>
                  </a:solidFill>
                  <a:latin typeface="+mn-lt"/>
                  <a:ea typeface="+mn-ea"/>
                  <a:cs typeface="+mn-cs"/>
                </a:rPr>
                <a:t>6,600km = 하루 30km × 220일 · 보수적 가정 (장비 탐사 속도는 시속 20~30km)</a:t>
              </a:r>
            </a:p>
          </p:txBody>
        </p:sp>
      </p:grpSp>
      <p:grpSp>
        <p:nvGrpSpPr>
          <p:cNvPr id="56" name="compare"/>
          <p:cNvGrpSpPr/>
          <p:nvPr/>
        </p:nvGrpSpPr>
        <p:grpSpPr>
          <a:xfrm>
            <a:off x="6318504" y="2571750"/>
            <a:ext cx="5340096" cy="2406396"/>
            <a:chOff x="6318504" y="2571750"/>
            <a:chExt cx="5340096" cy="2406396"/>
          </a:xfrm>
        </p:grpSpPr>
        <p:sp>
          <p:nvSpPr>
            <p:cNvPr id="46" name="TextBox 46"/>
            <p:cNvSpPr txBox="1"/>
            <p:nvPr/>
          </p:nvSpPr>
          <p:spPr>
            <a:xfrm>
              <a:off x="6318504" y="2571750"/>
              <a:ext cx="1915180" cy="234696"/>
            </a:xfrm>
            <a:prstGeom prst="rect">
              <a:avLst/>
            </a:prstGeom>
            <a:noFill/>
            <a:ln>
              <a:noFill/>
            </a:ln>
          </p:spPr>
          <p:txBody>
            <a:bodyPr wrap="none" lIns="0" tIns="0" rIns="0" bIns="0" anchor="t" anchorCtr="0">
              <a:spAutoFit/>
            </a:bodyPr>
            <a:lstStyle/>
            <a:p>
              <a:pPr algn="l"/>
              <a:r>
                <a:rPr lang="ko-KR" sz="1200" b="1" dirty="0">
                  <a:solidFill>
                    <a:srgbClr val="0B1E3C"/>
                  </a:solidFill>
                  <a:latin typeface="+mn-lt"/>
                  <a:ea typeface="+mn-ea"/>
                  <a:cs typeface="+mn-cs"/>
                </a:rPr>
                <a:t>같은 도로 1km를 1년 동안</a:t>
              </a:r>
            </a:p>
          </p:txBody>
        </p:sp>
        <p:sp>
          <p:nvSpPr>
            <p:cNvPr id="47" name="Line 47"/>
            <p:cNvSpPr/>
            <p:nvPr/>
          </p:nvSpPr>
          <p:spPr>
            <a:xfrm>
              <a:off x="6324600" y="2838450"/>
              <a:ext cx="5334000" cy="9525"/>
            </a:xfrm>
            <a:custGeom>
              <a:avLst/>
              <a:gdLst/>
              <a:ahLst/>
              <a:cxnLst/>
              <a:rect l="l" t="t" r="r" b="b"/>
              <a:pathLst>
                <a:path w="5334000" h="9525">
                  <a:moveTo>
                    <a:pt x="0" y="0"/>
                  </a:moveTo>
                  <a:lnTo>
                    <a:pt x="5334000" y="0"/>
                  </a:lnTo>
                </a:path>
              </a:pathLst>
            </a:custGeom>
            <a:noFill/>
            <a:ln w="14288">
              <a:solidFill>
                <a:srgbClr val="0B1E3C"/>
              </a:solidFill>
            </a:ln>
          </p:spPr>
        </p:sp>
        <p:sp>
          <p:nvSpPr>
            <p:cNvPr id="48" name="TextBox 48"/>
            <p:cNvSpPr txBox="1"/>
            <p:nvPr/>
          </p:nvSpPr>
          <p:spPr>
            <a:xfrm>
              <a:off x="6318504" y="3028950"/>
              <a:ext cx="1377239" cy="234696"/>
            </a:xfrm>
            <a:prstGeom prst="rect">
              <a:avLst/>
            </a:prstGeom>
            <a:noFill/>
            <a:ln>
              <a:noFill/>
            </a:ln>
          </p:spPr>
          <p:txBody>
            <a:bodyPr wrap="none" lIns="0" tIns="0" rIns="0" bIns="0" anchor="t" anchorCtr="0">
              <a:spAutoFit/>
            </a:bodyPr>
            <a:lstStyle/>
            <a:p>
              <a:pPr algn="l"/>
              <a:r>
                <a:rPr lang="ko-KR" sz="1200" dirty="0">
                  <a:solidFill>
                    <a:srgbClr val="111827"/>
                  </a:solidFill>
                  <a:latin typeface="+mn-lt"/>
                  <a:ea typeface="+mn-ea"/>
                  <a:cs typeface="+mn-cs"/>
                </a:rPr>
                <a:t>현행 전체 공정 1회</a:t>
              </a:r>
            </a:p>
          </p:txBody>
        </p:sp>
        <p:sp>
          <p:nvSpPr>
            <p:cNvPr id="49" name="Rectangle 49"/>
            <p:cNvSpPr/>
            <p:nvPr/>
          </p:nvSpPr>
          <p:spPr>
            <a:xfrm>
              <a:off x="6324600" y="3276600"/>
              <a:ext cx="4381500" cy="323850"/>
            </a:xfrm>
            <a:prstGeom prst="rect">
              <a:avLst/>
            </a:prstGeom>
            <a:solidFill>
              <a:srgbClr val="9AA3AF"/>
            </a:solidFill>
            <a:ln>
              <a:noFill/>
            </a:ln>
          </p:spPr>
        </p:sp>
        <p:sp>
          <p:nvSpPr>
            <p:cNvPr id="50" name="TextBox 50"/>
            <p:cNvSpPr txBox="1"/>
            <p:nvPr/>
          </p:nvSpPr>
          <p:spPr>
            <a:xfrm>
              <a:off x="10794492" y="3340100"/>
              <a:ext cx="644343" cy="264033"/>
            </a:xfrm>
            <a:prstGeom prst="rect">
              <a:avLst/>
            </a:prstGeom>
            <a:noFill/>
            <a:ln>
              <a:noFill/>
            </a:ln>
          </p:spPr>
          <p:txBody>
            <a:bodyPr wrap="none" lIns="0" tIns="0" rIns="0" bIns="0" anchor="t" anchorCtr="0">
              <a:spAutoFit/>
            </a:bodyPr>
            <a:lstStyle/>
            <a:p>
              <a:pPr algn="l"/>
              <a:r>
                <a:rPr lang="ko-KR" sz="1350" b="1" dirty="0">
                  <a:solidFill>
                    <a:srgbClr val="111827"/>
                  </a:solidFill>
                  <a:latin typeface="+mn-lt"/>
                  <a:ea typeface="+mn-ea"/>
                  <a:cs typeface="+mn-cs"/>
                </a:rPr>
                <a:t>92만 원</a:t>
              </a:r>
            </a:p>
          </p:txBody>
        </p:sp>
        <p:sp>
          <p:nvSpPr>
            <p:cNvPr id="51" name="TextBox 51"/>
            <p:cNvSpPr txBox="1"/>
            <p:nvPr/>
          </p:nvSpPr>
          <p:spPr>
            <a:xfrm>
              <a:off x="6318504" y="3771900"/>
              <a:ext cx="3245884" cy="234696"/>
            </a:xfrm>
            <a:prstGeom prst="rect">
              <a:avLst/>
            </a:prstGeom>
            <a:noFill/>
            <a:ln>
              <a:noFill/>
            </a:ln>
          </p:spPr>
          <p:txBody>
            <a:bodyPr wrap="none" lIns="0" tIns="0" rIns="0" bIns="0" anchor="t" anchorCtr="0">
              <a:spAutoFit/>
            </a:bodyPr>
            <a:lstStyle/>
            <a:p>
              <a:pPr algn="l"/>
              <a:r>
                <a:rPr lang="ko-KR" sz="1200" dirty="0">
                  <a:solidFill>
                    <a:srgbClr val="111827"/>
                  </a:solidFill>
                  <a:latin typeface="+mn-lt"/>
                  <a:ea typeface="+mn-ea"/>
                  <a:cs typeface="+mn-cs"/>
                </a:rPr>
                <a:t>GroundWatch 반복 탐사 6회 (약 2개월마다)</a:t>
              </a:r>
            </a:p>
          </p:txBody>
        </p:sp>
        <p:sp>
          <p:nvSpPr>
            <p:cNvPr id="52" name="Rectangle 52"/>
            <p:cNvSpPr/>
            <p:nvPr/>
          </p:nvSpPr>
          <p:spPr>
            <a:xfrm>
              <a:off x="6324600" y="4019550"/>
              <a:ext cx="1343025" cy="323850"/>
            </a:xfrm>
            <a:prstGeom prst="rect">
              <a:avLst/>
            </a:prstGeom>
            <a:solidFill>
              <a:srgbClr val="0B1E3C"/>
            </a:solidFill>
            <a:ln>
              <a:noFill/>
            </a:ln>
          </p:spPr>
        </p:sp>
        <p:sp>
          <p:nvSpPr>
            <p:cNvPr id="53" name="TextBox 53"/>
            <p:cNvSpPr txBox="1"/>
            <p:nvPr/>
          </p:nvSpPr>
          <p:spPr>
            <a:xfrm>
              <a:off x="7756017" y="4083050"/>
              <a:ext cx="1870092" cy="264033"/>
            </a:xfrm>
            <a:prstGeom prst="rect">
              <a:avLst/>
            </a:prstGeom>
            <a:noFill/>
            <a:ln>
              <a:noFill/>
            </a:ln>
          </p:spPr>
          <p:txBody>
            <a:bodyPr wrap="none" lIns="0" tIns="0" rIns="0" bIns="0" anchor="t" anchorCtr="0">
              <a:spAutoFit/>
            </a:bodyPr>
            <a:lstStyle/>
            <a:p>
              <a:pPr algn="l"/>
              <a:r>
                <a:rPr lang="ko-KR" sz="1350" b="1" dirty="0">
                  <a:solidFill>
                    <a:srgbClr val="0B1E3C"/>
                  </a:solidFill>
                  <a:latin typeface="+mn-lt"/>
                  <a:ea typeface="+mn-ea"/>
                  <a:cs typeface="+mn-cs"/>
                </a:rPr>
                <a:t xml:space="preserve">28만 원 </a:t>
              </a:r>
              <a:r>
                <a:rPr lang="ko-KR" sz="1120" dirty="0">
                  <a:solidFill>
                    <a:srgbClr val="4B5563"/>
                  </a:solidFill>
                  <a:latin typeface="+mn-lt"/>
                  <a:ea typeface="+mn-ea"/>
                  <a:cs typeface="+mn-cs"/>
                </a:rPr>
                <a:t>(4.7만 원 × 6회)</a:t>
              </a:r>
            </a:p>
          </p:txBody>
        </p:sp>
        <p:sp>
          <p:nvSpPr>
            <p:cNvPr id="54" name="TextBox 54"/>
            <p:cNvSpPr txBox="1"/>
            <p:nvPr/>
          </p:nvSpPr>
          <p:spPr>
            <a:xfrm>
              <a:off x="6318504" y="4514850"/>
              <a:ext cx="1950720" cy="234696"/>
            </a:xfrm>
            <a:prstGeom prst="rect">
              <a:avLst/>
            </a:prstGeom>
            <a:noFill/>
            <a:ln>
              <a:noFill/>
            </a:ln>
          </p:spPr>
          <p:txBody>
            <a:bodyPr wrap="none" lIns="0" tIns="0" rIns="0" bIns="0" anchor="t" anchorCtr="0">
              <a:spAutoFit/>
            </a:bodyPr>
            <a:lstStyle/>
            <a:p>
              <a:pPr algn="l"/>
              <a:r>
                <a:rPr lang="ko-KR" sz="1200" dirty="0">
                  <a:solidFill>
                    <a:srgbClr val="111827"/>
                  </a:solidFill>
                  <a:latin typeface="+mn-lt"/>
                  <a:ea typeface="+mn-ea"/>
                  <a:cs typeface="+mn-cs"/>
                </a:rPr>
                <a:t>천공·복구 같은 2차 조사는</a:t>
              </a:r>
            </a:p>
          </p:txBody>
        </p:sp>
        <p:sp>
          <p:nvSpPr>
            <p:cNvPr id="55" name="TextBox 55"/>
            <p:cNvSpPr txBox="1"/>
            <p:nvPr/>
          </p:nvSpPr>
          <p:spPr>
            <a:xfrm>
              <a:off x="6318504" y="4743450"/>
              <a:ext cx="2570645" cy="234696"/>
            </a:xfrm>
            <a:prstGeom prst="rect">
              <a:avLst/>
            </a:prstGeom>
            <a:noFill/>
            <a:ln>
              <a:noFill/>
            </a:ln>
          </p:spPr>
          <p:txBody>
            <a:bodyPr wrap="none" lIns="0" tIns="0" rIns="0" bIns="0" anchor="t" anchorCtr="0">
              <a:spAutoFit/>
            </a:bodyPr>
            <a:lstStyle/>
            <a:p>
              <a:pPr algn="l"/>
              <a:r>
                <a:rPr lang="ko-KR" sz="1200" b="1" dirty="0">
                  <a:solidFill>
                    <a:srgbClr val="0B1E3C"/>
                  </a:solidFill>
                  <a:latin typeface="+mn-lt"/>
                  <a:ea typeface="+mn-ea"/>
                  <a:cs typeface="+mn-cs"/>
                </a:rPr>
                <a:t>변화가 나온 곳에만, 지금 단가대로</a:t>
              </a:r>
            </a:p>
          </p:txBody>
        </p:sp>
      </p:grpSp>
      <p:grpSp>
        <p:nvGrpSpPr>
          <p:cNvPr id="59" name="conclusion"/>
          <p:cNvGrpSpPr/>
          <p:nvPr/>
        </p:nvGrpSpPr>
        <p:grpSpPr>
          <a:xfrm>
            <a:off x="533400" y="5676900"/>
            <a:ext cx="6687434" cy="419100"/>
            <a:chOff x="533400" y="5676900"/>
            <a:chExt cx="6687434" cy="419100"/>
          </a:xfrm>
        </p:grpSpPr>
        <p:sp>
          <p:nvSpPr>
            <p:cNvPr id="57" name="Rectangle 57"/>
            <p:cNvSpPr/>
            <p:nvPr/>
          </p:nvSpPr>
          <p:spPr>
            <a:xfrm>
              <a:off x="533400" y="5676900"/>
              <a:ext cx="38100" cy="419100"/>
            </a:xfrm>
            <a:prstGeom prst="rect">
              <a:avLst/>
            </a:prstGeom>
            <a:solidFill>
              <a:srgbClr val="F5B700"/>
            </a:solidFill>
            <a:ln>
              <a:noFill/>
            </a:ln>
          </p:spPr>
        </p:sp>
        <p:sp>
          <p:nvSpPr>
            <p:cNvPr id="58" name="TextBox 58"/>
            <p:cNvSpPr txBox="1"/>
            <p:nvPr/>
          </p:nvSpPr>
          <p:spPr>
            <a:xfrm>
              <a:off x="715899" y="5772150"/>
              <a:ext cx="6504935" cy="308991"/>
            </a:xfrm>
            <a:prstGeom prst="rect">
              <a:avLst/>
            </a:prstGeom>
            <a:noFill/>
            <a:ln>
              <a:noFill/>
            </a:ln>
          </p:spPr>
          <p:txBody>
            <a:bodyPr wrap="none" lIns="0" tIns="0" rIns="0" bIns="0" anchor="t" anchorCtr="0">
              <a:spAutoFit/>
            </a:bodyPr>
            <a:lstStyle/>
            <a:p>
              <a:pPr algn="l"/>
              <a:r>
                <a:rPr lang="ko-KR" sz="1580" b="1" dirty="0">
                  <a:solidFill>
                    <a:srgbClr val="0B1E3C"/>
                  </a:solidFill>
                  <a:latin typeface="+mn-lt"/>
                  <a:ea typeface="+mn-ea"/>
                  <a:cs typeface="+mn-cs"/>
                </a:rPr>
                <a:t>현행 1회 전체 탐사비의 약 3분의 1로, 같은 길을 1년에 6번 봅니다.</a:t>
              </a:r>
            </a:p>
          </p:txBody>
        </p:sp>
      </p:grpSp>
      <p:grpSp>
        <p:nvGrpSpPr>
          <p:cNvPr id="61" name="source"/>
          <p:cNvGrpSpPr/>
          <p:nvPr/>
        </p:nvGrpSpPr>
        <p:grpSpPr>
          <a:xfrm>
            <a:off x="528447" y="6381750"/>
            <a:ext cx="10796107" cy="191643"/>
            <a:chOff x="528447" y="6381750"/>
            <a:chExt cx="10796107" cy="191643"/>
          </a:xfrm>
        </p:grpSpPr>
        <p:sp>
          <p:nvSpPr>
            <p:cNvPr id="60" name="TextBox 60"/>
            <p:cNvSpPr txBox="1"/>
            <p:nvPr/>
          </p:nvSpPr>
          <p:spPr>
            <a:xfrm>
              <a:off x="528447" y="6381750"/>
              <a:ext cx="10796107" cy="191643"/>
            </a:xfrm>
            <a:prstGeom prst="rect">
              <a:avLst/>
            </a:prstGeom>
            <a:noFill/>
            <a:ln>
              <a:noFill/>
            </a:ln>
          </p:spPr>
          <p:txBody>
            <a:bodyPr wrap="none" lIns="0" tIns="0" rIns="0" bIns="0" anchor="t" anchorCtr="0">
              <a:spAutoFit/>
            </a:bodyPr>
            <a:lstStyle/>
            <a:p>
              <a:pPr algn="l"/>
              <a:r>
                <a:rPr lang="ko-KR" sz="980" dirty="0">
                  <a:solidFill>
                    <a:srgbClr val="4B5563"/>
                  </a:solidFill>
                  <a:latin typeface="+mn-lt"/>
                  <a:ea typeface="+mn-ea"/>
                  <a:cs typeface="+mn-cs"/>
                </a:rPr>
                <a:t>출처: 서울시 「지반침하 특별점검 공동조사용역 최종보고서」(2024.10, 사업비 17억 8,090만 원·수행 1,930.6km) · 이투데이(2025.4.23, 차량형 GPR 3대 15억 원) · 원가는 가설</a:t>
              </a:r>
            </a:p>
          </p:txBody>
        </p:sp>
      </p:grpSp>
      <p:grpSp>
        <p:nvGrpSpPr>
          <p:cNvPr id="64" name="footer"/>
          <p:cNvGrpSpPr/>
          <p:nvPr/>
        </p:nvGrpSpPr>
        <p:grpSpPr>
          <a:xfrm>
            <a:off x="528638" y="6610350"/>
            <a:ext cx="11134724" cy="176212"/>
            <a:chOff x="528638" y="6610350"/>
            <a:chExt cx="11134724" cy="176212"/>
          </a:xfrm>
        </p:grpSpPr>
        <p:sp>
          <p:nvSpPr>
            <p:cNvPr id="62" name="TextBox 62"/>
            <p:cNvSpPr txBox="1"/>
            <p:nvPr/>
          </p:nvSpPr>
          <p:spPr>
            <a:xfrm>
              <a:off x="528638" y="6610350"/>
              <a:ext cx="1020324" cy="176212"/>
            </a:xfrm>
            <a:prstGeom prst="rect">
              <a:avLst/>
            </a:prstGeom>
            <a:noFill/>
            <a:ln>
              <a:noFill/>
            </a:ln>
          </p:spPr>
          <p:txBody>
            <a:bodyPr wrap="none" lIns="0" tIns="0" rIns="0" bIns="0" anchor="t" anchorCtr="0">
              <a:spAutoFit/>
            </a:bodyPr>
            <a:lstStyle/>
            <a:p>
              <a:pPr algn="l"/>
              <a:r>
                <a:rPr lang="en-US" sz="900" dirty="0">
                  <a:solidFill>
                    <a:srgbClr val="4B5563"/>
                  </a:solidFill>
                  <a:latin typeface="+mn-lt"/>
                  <a:ea typeface="+mn-ea"/>
                  <a:cs typeface="+mn-cs"/>
                </a:rPr>
                <a:t>PV5 GroundWatch</a:t>
              </a:r>
            </a:p>
          </p:txBody>
        </p:sp>
        <p:sp>
          <p:nvSpPr>
            <p:cNvPr id="63" name="TextBox 63"/>
            <p:cNvSpPr txBox="1"/>
            <p:nvPr/>
          </p:nvSpPr>
          <p:spPr>
            <a:xfrm>
              <a:off x="11247958" y="6610350"/>
              <a:ext cx="415404" cy="176212"/>
            </a:xfrm>
            <a:prstGeom prst="rect">
              <a:avLst/>
            </a:prstGeom>
            <a:noFill/>
            <a:ln>
              <a:noFill/>
            </a:ln>
          </p:spPr>
          <p:txBody>
            <a:bodyPr wrap="none" lIns="0" tIns="0" rIns="0" bIns="0" anchor="t" anchorCtr="0">
              <a:spAutoFit/>
            </a:bodyPr>
            <a:lstStyle/>
            <a:p>
              <a:pPr algn="r"/>
              <a:r>
                <a:rPr lang="ko-KR" sz="900" dirty="0">
                  <a:solidFill>
                    <a:srgbClr val="4B5563"/>
                  </a:solidFill>
                  <a:latin typeface="+mn-lt"/>
                  <a:ea typeface="+mn-ea"/>
                  <a:cs typeface="+mn-cs"/>
                </a:rPr>
                <a:t>12 / 15</a:t>
              </a:r>
            </a:p>
          </p:txBody>
        </p:sp>
      </p:grpSp>
    </p:spTree>
  </p:cSld>
  <p:clrMapOvr>
    <a:masterClrMapping/>
  </p:clrMapOvr>
  <p:transition xmlns:p14="http://schemas.microsoft.com/office/powerpoint/2010/main" p14:dur="400">
    <p:fade/>
  </p:transition>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grpSp>
        <p:nvGrpSpPr>
          <p:cNvPr id="16" name="header"/>
          <p:cNvGrpSpPr/>
          <p:nvPr/>
        </p:nvGrpSpPr>
        <p:grpSpPr>
          <a:xfrm>
            <a:off x="533400" y="266700"/>
            <a:ext cx="11125200" cy="333375"/>
            <a:chOff x="533400" y="266700"/>
            <a:chExt cx="11125200" cy="333375"/>
          </a:xfrm>
        </p:grpSpPr>
        <p:sp>
          <p:nvSpPr>
            <p:cNvPr id="2" name="Rectangle 2"/>
            <p:cNvSpPr/>
            <p:nvPr/>
          </p:nvSpPr>
          <p:spPr>
            <a:xfrm>
              <a:off x="533400" y="266700"/>
              <a:ext cx="1333500" cy="228600"/>
            </a:xfrm>
            <a:prstGeom prst="rect">
              <a:avLst/>
            </a:prstGeom>
            <a:solidFill>
              <a:srgbClr val="0B1E3C"/>
            </a:solidFill>
            <a:ln>
              <a:noFill/>
            </a:ln>
          </p:spPr>
        </p:sp>
        <p:sp>
          <p:nvSpPr>
            <p:cNvPr id="3" name="TextBox 3"/>
            <p:cNvSpPr txBox="1"/>
            <p:nvPr/>
          </p:nvSpPr>
          <p:spPr>
            <a:xfrm>
              <a:off x="617357" y="314325"/>
              <a:ext cx="1165586" cy="191643"/>
            </a:xfrm>
            <a:prstGeom prst="rect">
              <a:avLst/>
            </a:prstGeom>
            <a:noFill/>
            <a:ln>
              <a:noFill/>
            </a:ln>
          </p:spPr>
          <p:txBody>
            <a:bodyPr wrap="none" lIns="0" tIns="0" rIns="0" bIns="0" anchor="t" anchorCtr="0">
              <a:spAutoFit/>
            </a:bodyPr>
            <a:lstStyle/>
            <a:p>
              <a:pPr algn="ctr"/>
              <a:r>
                <a:rPr lang="en-US" sz="980" b="1" dirty="0">
                  <a:solidFill>
                    <a:srgbClr val="FFFFFF"/>
                  </a:solidFill>
                  <a:latin typeface="+mn-lt"/>
                  <a:ea typeface="+mn-ea"/>
                  <a:cs typeface="+mn-cs"/>
                </a:rPr>
                <a:t>PV5 GroundWatch</a:t>
              </a:r>
            </a:p>
          </p:txBody>
        </p:sp>
        <p:sp>
          <p:nvSpPr>
            <p:cNvPr id="4" name="TextBox 4"/>
            <p:cNvSpPr txBox="1"/>
            <p:nvPr/>
          </p:nvSpPr>
          <p:spPr>
            <a:xfrm>
              <a:off x="1994916" y="301625"/>
              <a:ext cx="1268692" cy="205359"/>
            </a:xfrm>
            <a:prstGeom prst="rect">
              <a:avLst/>
            </a:prstGeom>
            <a:noFill/>
            <a:ln>
              <a:noFill/>
            </a:ln>
          </p:spPr>
          <p:txBody>
            <a:bodyPr wrap="none" lIns="0" tIns="0" rIns="0" bIns="0" anchor="t" anchorCtr="0">
              <a:spAutoFit/>
            </a:bodyPr>
            <a:lstStyle/>
            <a:p>
              <a:pPr algn="l"/>
              <a:r>
                <a:rPr lang="ko-KR" sz="1050" dirty="0">
                  <a:solidFill>
                    <a:srgbClr val="374151"/>
                  </a:solidFill>
                  <a:latin typeface="+mn-lt"/>
                  <a:ea typeface="+mn-ea"/>
                  <a:cs typeface="+mn-cs"/>
                </a:rPr>
                <a:t>누가 사고 누가 쓰나</a:t>
              </a:r>
            </a:p>
          </p:txBody>
        </p:sp>
        <p:sp>
          <p:nvSpPr>
            <p:cNvPr id="5" name="TextBox 5"/>
            <p:cNvSpPr txBox="1"/>
            <p:nvPr/>
          </p:nvSpPr>
          <p:spPr>
            <a:xfrm>
              <a:off x="8425815" y="301625"/>
              <a:ext cx="293370" cy="205359"/>
            </a:xfrm>
            <a:prstGeom prst="rect">
              <a:avLst/>
            </a:prstGeom>
            <a:noFill/>
            <a:ln>
              <a:noFill/>
            </a:ln>
          </p:spPr>
          <p:txBody>
            <a:bodyPr wrap="none" lIns="0" tIns="0" rIns="0" bIns="0" anchor="t" anchorCtr="0">
              <a:spAutoFit/>
            </a:bodyPr>
            <a:lstStyle/>
            <a:p>
              <a:pPr algn="ctr"/>
              <a:r>
                <a:rPr lang="ko-KR" sz="1050" dirty="0">
                  <a:solidFill>
                    <a:srgbClr val="9AA3AF"/>
                  </a:solidFill>
                  <a:latin typeface="+mn-lt"/>
                  <a:ea typeface="+mn-ea"/>
                  <a:cs typeface="+mn-cs"/>
                </a:rPr>
                <a:t>문제</a:t>
              </a:r>
            </a:p>
          </p:txBody>
        </p:sp>
        <p:sp>
          <p:nvSpPr>
            <p:cNvPr id="6" name="TextBox 6"/>
            <p:cNvSpPr txBox="1"/>
            <p:nvPr/>
          </p:nvSpPr>
          <p:spPr>
            <a:xfrm>
              <a:off x="884874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7" name="TextBox 7"/>
            <p:cNvSpPr txBox="1"/>
            <p:nvPr/>
          </p:nvSpPr>
          <p:spPr>
            <a:xfrm>
              <a:off x="9054465" y="301625"/>
              <a:ext cx="293370" cy="205359"/>
            </a:xfrm>
            <a:prstGeom prst="rect">
              <a:avLst/>
            </a:prstGeom>
            <a:noFill/>
            <a:ln>
              <a:noFill/>
            </a:ln>
          </p:spPr>
          <p:txBody>
            <a:bodyPr wrap="none" lIns="0" tIns="0" rIns="0" bIns="0" anchor="t" anchorCtr="0">
              <a:spAutoFit/>
            </a:bodyPr>
            <a:lstStyle/>
            <a:p>
              <a:pPr algn="ctr"/>
              <a:r>
                <a:rPr lang="ko-KR" sz="1050" dirty="0">
                  <a:solidFill>
                    <a:srgbClr val="9AA3AF"/>
                  </a:solidFill>
                  <a:latin typeface="+mn-lt"/>
                  <a:ea typeface="+mn-ea"/>
                  <a:cs typeface="+mn-cs"/>
                </a:rPr>
                <a:t>해법</a:t>
              </a:r>
            </a:p>
          </p:txBody>
        </p:sp>
        <p:sp>
          <p:nvSpPr>
            <p:cNvPr id="8" name="TextBox 8"/>
            <p:cNvSpPr txBox="1"/>
            <p:nvPr/>
          </p:nvSpPr>
          <p:spPr>
            <a:xfrm>
              <a:off x="947739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9" name="TextBox 9"/>
            <p:cNvSpPr txBox="1"/>
            <p:nvPr/>
          </p:nvSpPr>
          <p:spPr>
            <a:xfrm>
              <a:off x="9701251" y="301625"/>
              <a:ext cx="257099" cy="205359"/>
            </a:xfrm>
            <a:prstGeom prst="rect">
              <a:avLst/>
            </a:prstGeom>
            <a:noFill/>
            <a:ln>
              <a:noFill/>
            </a:ln>
          </p:spPr>
          <p:txBody>
            <a:bodyPr wrap="none" lIns="0" tIns="0" rIns="0" bIns="0" anchor="t" anchorCtr="0">
              <a:spAutoFit/>
            </a:bodyPr>
            <a:lstStyle/>
            <a:p>
              <a:pPr algn="ctr"/>
              <a:r>
                <a:rPr lang="en-US" sz="1050" dirty="0">
                  <a:solidFill>
                    <a:srgbClr val="9AA3AF"/>
                  </a:solidFill>
                  <a:latin typeface="+mn-lt"/>
                  <a:ea typeface="+mn-ea"/>
                  <a:cs typeface="+mn-cs"/>
                </a:rPr>
                <a:t>PV5</a:t>
              </a:r>
            </a:p>
          </p:txBody>
        </p:sp>
        <p:sp>
          <p:nvSpPr>
            <p:cNvPr id="10" name="TextBox 10"/>
            <p:cNvSpPr txBox="1"/>
            <p:nvPr/>
          </p:nvSpPr>
          <p:spPr>
            <a:xfrm>
              <a:off x="1010604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11" name="TextBox 11"/>
            <p:cNvSpPr txBox="1"/>
            <p:nvPr/>
          </p:nvSpPr>
          <p:spPr>
            <a:xfrm>
              <a:off x="10311765" y="301625"/>
              <a:ext cx="293370" cy="205359"/>
            </a:xfrm>
            <a:prstGeom prst="rect">
              <a:avLst/>
            </a:prstGeom>
            <a:noFill/>
            <a:ln>
              <a:noFill/>
            </a:ln>
          </p:spPr>
          <p:txBody>
            <a:bodyPr wrap="none" lIns="0" tIns="0" rIns="0" bIns="0" anchor="t" anchorCtr="0">
              <a:spAutoFit/>
            </a:bodyPr>
            <a:lstStyle/>
            <a:p>
              <a:pPr algn="ctr"/>
              <a:r>
                <a:rPr lang="ko-KR" sz="1050" dirty="0">
                  <a:solidFill>
                    <a:srgbClr val="9AA3AF"/>
                  </a:solidFill>
                  <a:latin typeface="+mn-lt"/>
                  <a:ea typeface="+mn-ea"/>
                  <a:cs typeface="+mn-cs"/>
                </a:rPr>
                <a:t>검증</a:t>
              </a:r>
            </a:p>
          </p:txBody>
        </p:sp>
        <p:sp>
          <p:nvSpPr>
            <p:cNvPr id="12" name="TextBox 12"/>
            <p:cNvSpPr txBox="1"/>
            <p:nvPr/>
          </p:nvSpPr>
          <p:spPr>
            <a:xfrm>
              <a:off x="1073469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13" name="TextBox 13"/>
            <p:cNvSpPr txBox="1"/>
            <p:nvPr/>
          </p:nvSpPr>
          <p:spPr>
            <a:xfrm>
              <a:off x="10940415" y="301625"/>
              <a:ext cx="293370" cy="205359"/>
            </a:xfrm>
            <a:prstGeom prst="rect">
              <a:avLst/>
            </a:prstGeom>
            <a:noFill/>
            <a:ln>
              <a:noFill/>
            </a:ln>
          </p:spPr>
          <p:txBody>
            <a:bodyPr wrap="none" lIns="0" tIns="0" rIns="0" bIns="0" anchor="t" anchorCtr="0">
              <a:spAutoFit/>
            </a:bodyPr>
            <a:lstStyle/>
            <a:p>
              <a:pPr algn="ctr"/>
              <a:r>
                <a:rPr lang="ko-KR" sz="1050" b="1" dirty="0">
                  <a:solidFill>
                    <a:srgbClr val="0B1E3C"/>
                  </a:solidFill>
                  <a:latin typeface="+mn-lt"/>
                  <a:ea typeface="+mn-ea"/>
                  <a:cs typeface="+mn-cs"/>
                </a:rPr>
                <a:t>사업</a:t>
              </a:r>
            </a:p>
          </p:txBody>
        </p:sp>
        <p:sp>
          <p:nvSpPr>
            <p:cNvPr id="14" name="Rectangle 14"/>
            <p:cNvSpPr/>
            <p:nvPr/>
          </p:nvSpPr>
          <p:spPr>
            <a:xfrm>
              <a:off x="10858500" y="514350"/>
              <a:ext cx="457200" cy="28575"/>
            </a:xfrm>
            <a:prstGeom prst="rect">
              <a:avLst/>
            </a:prstGeom>
            <a:solidFill>
              <a:srgbClr val="F5B700"/>
            </a:solidFill>
            <a:ln>
              <a:noFill/>
            </a:ln>
          </p:spPr>
        </p:sp>
        <p:sp>
          <p:nvSpPr>
            <p:cNvPr id="15" name="Line 15"/>
            <p:cNvSpPr/>
            <p:nvPr/>
          </p:nvSpPr>
          <p:spPr>
            <a:xfrm>
              <a:off x="533400" y="590550"/>
              <a:ext cx="11125200" cy="9525"/>
            </a:xfrm>
            <a:custGeom>
              <a:avLst/>
              <a:gdLst/>
              <a:ahLst/>
              <a:cxnLst/>
              <a:rect l="l" t="t" r="r" b="b"/>
              <a:pathLst>
                <a:path w="11125200" h="9525">
                  <a:moveTo>
                    <a:pt x="0" y="0"/>
                  </a:moveTo>
                  <a:lnTo>
                    <a:pt x="11125200" y="0"/>
                  </a:lnTo>
                </a:path>
              </a:pathLst>
            </a:custGeom>
            <a:noFill/>
            <a:ln w="9525">
              <a:solidFill>
                <a:srgbClr val="0B1E3C"/>
              </a:solidFill>
            </a:ln>
          </p:spPr>
        </p:sp>
      </p:grpSp>
      <p:grpSp>
        <p:nvGrpSpPr>
          <p:cNvPr id="18" name="title"/>
          <p:cNvGrpSpPr/>
          <p:nvPr/>
        </p:nvGrpSpPr>
        <p:grpSpPr>
          <a:xfrm>
            <a:off x="518160" y="774700"/>
            <a:ext cx="10179939" cy="586740"/>
            <a:chOff x="518160" y="774700"/>
            <a:chExt cx="10179939" cy="586740"/>
          </a:xfrm>
        </p:grpSpPr>
        <p:sp>
          <p:nvSpPr>
            <p:cNvPr id="17" name="TextBox 17"/>
            <p:cNvSpPr txBox="1"/>
            <p:nvPr/>
          </p:nvSpPr>
          <p:spPr>
            <a:xfrm>
              <a:off x="518160" y="774700"/>
              <a:ext cx="10179939" cy="586740"/>
            </a:xfrm>
            <a:prstGeom prst="rect">
              <a:avLst/>
            </a:prstGeom>
            <a:noFill/>
            <a:ln>
              <a:noFill/>
            </a:ln>
          </p:spPr>
          <p:txBody>
            <a:bodyPr wrap="none" lIns="0" tIns="0" rIns="0" bIns="0" anchor="t" anchorCtr="0">
              <a:spAutoFit/>
            </a:bodyPr>
            <a:lstStyle/>
            <a:p>
              <a:pPr algn="l"/>
              <a:r>
                <a:rPr lang="ko-KR" sz="3000" b="1" spc="-75" dirty="0">
                  <a:solidFill>
                    <a:srgbClr val="0B1E3C"/>
                  </a:solidFill>
                  <a:latin typeface="+mn-lt"/>
                  <a:ea typeface="+mn-ea"/>
                  <a:cs typeface="+mn-cs"/>
                </a:rPr>
                <a:t>지자체가 사고, 현장팀이 쓰고, 기아는 PV5를 공급합니다</a:t>
              </a:r>
            </a:p>
          </p:txBody>
        </p:sp>
      </p:grpSp>
      <p:grpSp>
        <p:nvGrpSpPr>
          <p:cNvPr id="25" name="who0"/>
          <p:cNvGrpSpPr/>
          <p:nvPr/>
        </p:nvGrpSpPr>
        <p:grpSpPr>
          <a:xfrm>
            <a:off x="524637" y="1600200"/>
            <a:ext cx="2618613" cy="1717167"/>
            <a:chOff x="524637" y="1600200"/>
            <a:chExt cx="2618613" cy="1717167"/>
          </a:xfrm>
        </p:grpSpPr>
        <p:sp>
          <p:nvSpPr>
            <p:cNvPr id="19" name="Rectangle 19"/>
            <p:cNvSpPr/>
            <p:nvPr/>
          </p:nvSpPr>
          <p:spPr>
            <a:xfrm>
              <a:off x="533400" y="1600200"/>
              <a:ext cx="2609850" cy="28575"/>
            </a:xfrm>
            <a:prstGeom prst="rect">
              <a:avLst/>
            </a:prstGeom>
            <a:solidFill>
              <a:srgbClr val="0B1E3C"/>
            </a:solidFill>
            <a:ln>
              <a:noFill/>
            </a:ln>
          </p:spPr>
        </p:sp>
        <p:sp>
          <p:nvSpPr>
            <p:cNvPr id="20" name="TextBox 20"/>
            <p:cNvSpPr txBox="1"/>
            <p:nvPr/>
          </p:nvSpPr>
          <p:spPr>
            <a:xfrm>
              <a:off x="527685" y="1784350"/>
              <a:ext cx="463753" cy="220028"/>
            </a:xfrm>
            <a:prstGeom prst="rect">
              <a:avLst/>
            </a:prstGeom>
            <a:noFill/>
            <a:ln>
              <a:noFill/>
            </a:ln>
          </p:spPr>
          <p:txBody>
            <a:bodyPr wrap="none" lIns="0" tIns="0" rIns="0" bIns="0" anchor="t" anchorCtr="0">
              <a:spAutoFit/>
            </a:bodyPr>
            <a:lstStyle/>
            <a:p>
              <a:pPr algn="l"/>
              <a:r>
                <a:rPr lang="ko-KR" sz="1120" b="1" dirty="0">
                  <a:solidFill>
                    <a:srgbClr val="B45309"/>
                  </a:solidFill>
                  <a:latin typeface="+mn-lt"/>
                  <a:ea typeface="+mn-ea"/>
                  <a:cs typeface="+mn-cs"/>
                </a:rPr>
                <a:t>구매자</a:t>
              </a:r>
            </a:p>
          </p:txBody>
        </p:sp>
        <p:sp>
          <p:nvSpPr>
            <p:cNvPr id="21" name="TextBox 21"/>
            <p:cNvSpPr txBox="1"/>
            <p:nvPr/>
          </p:nvSpPr>
          <p:spPr>
            <a:xfrm>
              <a:off x="524637" y="2070100"/>
              <a:ext cx="1772069" cy="337376"/>
            </a:xfrm>
            <a:prstGeom prst="rect">
              <a:avLst/>
            </a:prstGeom>
            <a:noFill/>
            <a:ln>
              <a:noFill/>
            </a:ln>
          </p:spPr>
          <p:txBody>
            <a:bodyPr wrap="none" lIns="0" tIns="0" rIns="0" bIns="0" anchor="t" anchorCtr="0">
              <a:spAutoFit/>
            </a:bodyPr>
            <a:lstStyle/>
            <a:p>
              <a:pPr algn="l"/>
              <a:r>
                <a:rPr lang="ko-KR" sz="1720" b="1" dirty="0">
                  <a:solidFill>
                    <a:srgbClr val="0B1E3C"/>
                  </a:solidFill>
                  <a:latin typeface="+mn-lt"/>
                  <a:ea typeface="+mn-ea"/>
                  <a:cs typeface="+mn-cs"/>
                </a:rPr>
                <a:t>지자체·발주기관</a:t>
              </a:r>
            </a:p>
          </p:txBody>
        </p:sp>
        <p:sp>
          <p:nvSpPr>
            <p:cNvPr id="22" name="TextBox 22"/>
            <p:cNvSpPr txBox="1"/>
            <p:nvPr/>
          </p:nvSpPr>
          <p:spPr>
            <a:xfrm>
              <a:off x="526923" y="2533650"/>
              <a:ext cx="1882557" cy="250317"/>
            </a:xfrm>
            <a:prstGeom prst="rect">
              <a:avLst/>
            </a:prstGeom>
            <a:noFill/>
            <a:ln>
              <a:noFill/>
            </a:ln>
          </p:spPr>
          <p:txBody>
            <a:bodyPr wrap="none" lIns="0" tIns="0" rIns="0" bIns="0" anchor="t" anchorCtr="0">
              <a:spAutoFit/>
            </a:bodyPr>
            <a:lstStyle/>
            <a:p>
              <a:pPr algn="l"/>
              <a:r>
                <a:rPr lang="ko-KR" sz="1280" dirty="0">
                  <a:solidFill>
                    <a:srgbClr val="374151"/>
                  </a:solidFill>
                  <a:latin typeface="+mn-lt"/>
                  <a:ea typeface="+mn-ea"/>
                  <a:cs typeface="+mn-cs"/>
                </a:rPr>
                <a:t>서울시·자치구 도로관리</a:t>
              </a:r>
            </a:p>
          </p:txBody>
        </p:sp>
        <p:sp>
          <p:nvSpPr>
            <p:cNvPr id="23" name="TextBox 23"/>
            <p:cNvSpPr txBox="1"/>
            <p:nvPr/>
          </p:nvSpPr>
          <p:spPr>
            <a:xfrm>
              <a:off x="526923" y="2800350"/>
              <a:ext cx="1839478" cy="250317"/>
            </a:xfrm>
            <a:prstGeom prst="rect">
              <a:avLst/>
            </a:prstGeom>
            <a:noFill/>
            <a:ln>
              <a:noFill/>
            </a:ln>
          </p:spPr>
          <p:txBody>
            <a:bodyPr wrap="none" lIns="0" tIns="0" rIns="0" bIns="0" anchor="t" anchorCtr="0">
              <a:spAutoFit/>
            </a:bodyPr>
            <a:lstStyle/>
            <a:p>
              <a:pPr algn="l"/>
              <a:r>
                <a:rPr lang="ko-KR" sz="1280" dirty="0">
                  <a:solidFill>
                    <a:srgbClr val="374151"/>
                  </a:solidFill>
                  <a:latin typeface="+mn-lt"/>
                  <a:ea typeface="+mn-ea"/>
                  <a:cs typeface="+mn-cs"/>
                </a:rPr>
                <a:t>도시철도 공사 발주기관</a:t>
              </a:r>
            </a:p>
          </p:txBody>
        </p:sp>
        <p:sp>
          <p:nvSpPr>
            <p:cNvPr id="24" name="TextBox 24"/>
            <p:cNvSpPr txBox="1"/>
            <p:nvPr/>
          </p:nvSpPr>
          <p:spPr>
            <a:xfrm>
              <a:off x="526923" y="3067050"/>
              <a:ext cx="1443157" cy="250317"/>
            </a:xfrm>
            <a:prstGeom prst="rect">
              <a:avLst/>
            </a:prstGeom>
            <a:noFill/>
            <a:ln>
              <a:noFill/>
            </a:ln>
          </p:spPr>
          <p:txBody>
            <a:bodyPr wrap="none" lIns="0" tIns="0" rIns="0" bIns="0" anchor="t" anchorCtr="0">
              <a:spAutoFit/>
            </a:bodyPr>
            <a:lstStyle/>
            <a:p>
              <a:pPr algn="l"/>
              <a:r>
                <a:rPr lang="ko-KR" sz="1280" dirty="0">
                  <a:solidFill>
                    <a:srgbClr val="374151"/>
                  </a:solidFill>
                  <a:latin typeface="+mn-lt"/>
                  <a:ea typeface="+mn-ea"/>
                  <a:cs typeface="+mn-cs"/>
                </a:rPr>
                <a:t>상하수도 관리기관</a:t>
              </a:r>
            </a:p>
          </p:txBody>
        </p:sp>
      </p:grpSp>
      <p:grpSp>
        <p:nvGrpSpPr>
          <p:cNvPr id="32" name="who1"/>
          <p:cNvGrpSpPr/>
          <p:nvPr/>
        </p:nvGrpSpPr>
        <p:grpSpPr>
          <a:xfrm>
            <a:off x="3363087" y="1600200"/>
            <a:ext cx="2618613" cy="1717167"/>
            <a:chOff x="3363087" y="1600200"/>
            <a:chExt cx="2618613" cy="1717167"/>
          </a:xfrm>
        </p:grpSpPr>
        <p:sp>
          <p:nvSpPr>
            <p:cNvPr id="26" name="Rectangle 26"/>
            <p:cNvSpPr/>
            <p:nvPr/>
          </p:nvSpPr>
          <p:spPr>
            <a:xfrm>
              <a:off x="3371850" y="1600200"/>
              <a:ext cx="2609850" cy="28575"/>
            </a:xfrm>
            <a:prstGeom prst="rect">
              <a:avLst/>
            </a:prstGeom>
            <a:solidFill>
              <a:srgbClr val="0B1E3C"/>
            </a:solidFill>
            <a:ln>
              <a:noFill/>
            </a:ln>
          </p:spPr>
        </p:sp>
        <p:sp>
          <p:nvSpPr>
            <p:cNvPr id="27" name="TextBox 27"/>
            <p:cNvSpPr txBox="1"/>
            <p:nvPr/>
          </p:nvSpPr>
          <p:spPr>
            <a:xfrm>
              <a:off x="3366135" y="1784350"/>
              <a:ext cx="812796" cy="220028"/>
            </a:xfrm>
            <a:prstGeom prst="rect">
              <a:avLst/>
            </a:prstGeom>
            <a:noFill/>
            <a:ln>
              <a:noFill/>
            </a:ln>
          </p:spPr>
          <p:txBody>
            <a:bodyPr wrap="none" lIns="0" tIns="0" rIns="0" bIns="0" anchor="t" anchorCtr="0">
              <a:spAutoFit/>
            </a:bodyPr>
            <a:lstStyle/>
            <a:p>
              <a:pPr algn="l"/>
              <a:r>
                <a:rPr lang="ko-KR" sz="1120" b="1" dirty="0">
                  <a:solidFill>
                    <a:srgbClr val="B45309"/>
                  </a:solidFill>
                  <a:latin typeface="+mn-lt"/>
                  <a:ea typeface="+mn-ea"/>
                  <a:cs typeface="+mn-cs"/>
                </a:rPr>
                <a:t>실제 사용자</a:t>
              </a:r>
            </a:p>
          </p:txBody>
        </p:sp>
        <p:sp>
          <p:nvSpPr>
            <p:cNvPr id="28" name="TextBox 28"/>
            <p:cNvSpPr txBox="1"/>
            <p:nvPr/>
          </p:nvSpPr>
          <p:spPr>
            <a:xfrm>
              <a:off x="3363087" y="2070100"/>
              <a:ext cx="1248195" cy="337376"/>
            </a:xfrm>
            <a:prstGeom prst="rect">
              <a:avLst/>
            </a:prstGeom>
            <a:noFill/>
            <a:ln>
              <a:noFill/>
            </a:ln>
          </p:spPr>
          <p:txBody>
            <a:bodyPr wrap="none" lIns="0" tIns="0" rIns="0" bIns="0" anchor="t" anchorCtr="0">
              <a:spAutoFit/>
            </a:bodyPr>
            <a:lstStyle/>
            <a:p>
              <a:pPr algn="l"/>
              <a:r>
                <a:rPr lang="ko-KR" sz="1720" b="1" dirty="0">
                  <a:solidFill>
                    <a:srgbClr val="0B1E3C"/>
                  </a:solidFill>
                  <a:latin typeface="+mn-lt"/>
                  <a:ea typeface="+mn-ea"/>
                  <a:cs typeface="+mn-cs"/>
                </a:rPr>
                <a:t>현장 조사팀</a:t>
              </a:r>
            </a:p>
          </p:txBody>
        </p:sp>
        <p:sp>
          <p:nvSpPr>
            <p:cNvPr id="29" name="TextBox 29"/>
            <p:cNvSpPr txBox="1"/>
            <p:nvPr/>
          </p:nvSpPr>
          <p:spPr>
            <a:xfrm>
              <a:off x="3365373" y="2533650"/>
              <a:ext cx="2054870" cy="250317"/>
            </a:xfrm>
            <a:prstGeom prst="rect">
              <a:avLst/>
            </a:prstGeom>
            <a:noFill/>
            <a:ln>
              <a:noFill/>
            </a:ln>
          </p:spPr>
          <p:txBody>
            <a:bodyPr wrap="none" lIns="0" tIns="0" rIns="0" bIns="0" anchor="t" anchorCtr="0">
              <a:spAutoFit/>
            </a:bodyPr>
            <a:lstStyle/>
            <a:p>
              <a:pPr algn="l"/>
              <a:r>
                <a:rPr lang="ko-KR" sz="1280" dirty="0">
                  <a:solidFill>
                    <a:srgbClr val="374151"/>
                  </a:solidFill>
                  <a:latin typeface="+mn-lt"/>
                  <a:ea typeface="+mn-ea"/>
                  <a:cs typeface="+mn-cs"/>
                </a:rPr>
                <a:t>지하안전·도로관리 담당자</a:t>
              </a:r>
            </a:p>
          </p:txBody>
        </p:sp>
        <p:sp>
          <p:nvSpPr>
            <p:cNvPr id="30" name="TextBox 30"/>
            <p:cNvSpPr txBox="1"/>
            <p:nvPr/>
          </p:nvSpPr>
          <p:spPr>
            <a:xfrm>
              <a:off x="3365373" y="2800350"/>
              <a:ext cx="1281247" cy="250317"/>
            </a:xfrm>
            <a:prstGeom prst="rect">
              <a:avLst/>
            </a:prstGeom>
            <a:noFill/>
            <a:ln>
              <a:noFill/>
            </a:ln>
          </p:spPr>
          <p:txBody>
            <a:bodyPr wrap="none" lIns="0" tIns="0" rIns="0" bIns="0" anchor="t" anchorCtr="0">
              <a:spAutoFit/>
            </a:bodyPr>
            <a:lstStyle/>
            <a:p>
              <a:pPr algn="l"/>
              <a:r>
                <a:rPr lang="ko-KR" sz="1280" dirty="0">
                  <a:solidFill>
                    <a:srgbClr val="374151"/>
                  </a:solidFill>
                  <a:latin typeface="+mn-lt"/>
                  <a:ea typeface="+mn-ea"/>
                  <a:cs typeface="+mn-cs"/>
                </a:rPr>
                <a:t>GPR 판독 전문가</a:t>
              </a:r>
            </a:p>
          </p:txBody>
        </p:sp>
        <p:sp>
          <p:nvSpPr>
            <p:cNvPr id="31" name="TextBox 31"/>
            <p:cNvSpPr txBox="1"/>
            <p:nvPr/>
          </p:nvSpPr>
          <p:spPr>
            <a:xfrm>
              <a:off x="3365373" y="3067050"/>
              <a:ext cx="1753321" cy="250317"/>
            </a:xfrm>
            <a:prstGeom prst="rect">
              <a:avLst/>
            </a:prstGeom>
            <a:noFill/>
            <a:ln>
              <a:noFill/>
            </a:ln>
          </p:spPr>
          <p:txBody>
            <a:bodyPr wrap="none" lIns="0" tIns="0" rIns="0" bIns="0" anchor="t" anchorCtr="0">
              <a:spAutoFit/>
            </a:bodyPr>
            <a:lstStyle/>
            <a:p>
              <a:pPr algn="l"/>
              <a:r>
                <a:rPr lang="ko-KR" sz="1280" dirty="0">
                  <a:solidFill>
                    <a:srgbClr val="374151"/>
                  </a:solidFill>
                  <a:latin typeface="+mn-lt"/>
                  <a:ea typeface="+mn-ea"/>
                  <a:cs typeface="+mn-cs"/>
                </a:rPr>
                <a:t>현장 조사원 (2인 1조)</a:t>
              </a:r>
            </a:p>
          </p:txBody>
        </p:sp>
      </p:grpSp>
      <p:grpSp>
        <p:nvGrpSpPr>
          <p:cNvPr id="39" name="who2"/>
          <p:cNvGrpSpPr/>
          <p:nvPr/>
        </p:nvGrpSpPr>
        <p:grpSpPr>
          <a:xfrm>
            <a:off x="6201537" y="1600200"/>
            <a:ext cx="2618613" cy="1717167"/>
            <a:chOff x="6201537" y="1600200"/>
            <a:chExt cx="2618613" cy="1717167"/>
          </a:xfrm>
        </p:grpSpPr>
        <p:sp>
          <p:nvSpPr>
            <p:cNvPr id="33" name="Rectangle 33"/>
            <p:cNvSpPr/>
            <p:nvPr/>
          </p:nvSpPr>
          <p:spPr>
            <a:xfrm>
              <a:off x="6210300" y="1600200"/>
              <a:ext cx="2609850" cy="28575"/>
            </a:xfrm>
            <a:prstGeom prst="rect">
              <a:avLst/>
            </a:prstGeom>
            <a:solidFill>
              <a:srgbClr val="0B1E3C"/>
            </a:solidFill>
            <a:ln>
              <a:noFill/>
            </a:ln>
          </p:spPr>
        </p:sp>
        <p:sp>
          <p:nvSpPr>
            <p:cNvPr id="34" name="TextBox 34"/>
            <p:cNvSpPr txBox="1"/>
            <p:nvPr/>
          </p:nvSpPr>
          <p:spPr>
            <a:xfrm>
              <a:off x="6204585" y="1784350"/>
              <a:ext cx="463753" cy="220028"/>
            </a:xfrm>
            <a:prstGeom prst="rect">
              <a:avLst/>
            </a:prstGeom>
            <a:noFill/>
            <a:ln>
              <a:noFill/>
            </a:ln>
          </p:spPr>
          <p:txBody>
            <a:bodyPr wrap="none" lIns="0" tIns="0" rIns="0" bIns="0" anchor="t" anchorCtr="0">
              <a:spAutoFit/>
            </a:bodyPr>
            <a:lstStyle/>
            <a:p>
              <a:pPr algn="l"/>
              <a:r>
                <a:rPr lang="ko-KR" sz="1120" b="1" dirty="0">
                  <a:solidFill>
                    <a:srgbClr val="B45309"/>
                  </a:solidFill>
                  <a:latin typeface="+mn-lt"/>
                  <a:ea typeface="+mn-ea"/>
                  <a:cs typeface="+mn-cs"/>
                </a:rPr>
                <a:t>협력사</a:t>
              </a:r>
            </a:p>
          </p:txBody>
        </p:sp>
        <p:sp>
          <p:nvSpPr>
            <p:cNvPr id="35" name="TextBox 35"/>
            <p:cNvSpPr txBox="1"/>
            <p:nvPr/>
          </p:nvSpPr>
          <p:spPr>
            <a:xfrm>
              <a:off x="6201537" y="2070100"/>
              <a:ext cx="1845006" cy="337376"/>
            </a:xfrm>
            <a:prstGeom prst="rect">
              <a:avLst/>
            </a:prstGeom>
            <a:noFill/>
            <a:ln>
              <a:noFill/>
            </a:ln>
          </p:spPr>
          <p:txBody>
            <a:bodyPr wrap="none" lIns="0" tIns="0" rIns="0" bIns="0" anchor="t" anchorCtr="0">
              <a:spAutoFit/>
            </a:bodyPr>
            <a:lstStyle/>
            <a:p>
              <a:pPr algn="l"/>
              <a:r>
                <a:rPr lang="ko-KR" sz="1720" b="1" dirty="0">
                  <a:solidFill>
                    <a:srgbClr val="0B1E3C"/>
                  </a:solidFill>
                  <a:latin typeface="+mn-lt"/>
                  <a:ea typeface="+mn-ea"/>
                  <a:cs typeface="+mn-cs"/>
                </a:rPr>
                <a:t>장비·조사 파트너</a:t>
              </a:r>
            </a:p>
          </p:txBody>
        </p:sp>
        <p:sp>
          <p:nvSpPr>
            <p:cNvPr id="36" name="TextBox 36"/>
            <p:cNvSpPr txBox="1"/>
            <p:nvPr/>
          </p:nvSpPr>
          <p:spPr>
            <a:xfrm>
              <a:off x="6203823" y="2533650"/>
              <a:ext cx="1456487" cy="250317"/>
            </a:xfrm>
            <a:prstGeom prst="rect">
              <a:avLst/>
            </a:prstGeom>
            <a:noFill/>
            <a:ln>
              <a:noFill/>
            </a:ln>
          </p:spPr>
          <p:txBody>
            <a:bodyPr wrap="none" lIns="0" tIns="0" rIns="0" bIns="0" anchor="t" anchorCtr="0">
              <a:spAutoFit/>
            </a:bodyPr>
            <a:lstStyle/>
            <a:p>
              <a:pPr algn="l"/>
              <a:r>
                <a:rPr lang="ko-KR" sz="1280" dirty="0">
                  <a:solidFill>
                    <a:srgbClr val="374151"/>
                  </a:solidFill>
                  <a:latin typeface="+mn-lt"/>
                  <a:ea typeface="+mn-ea"/>
                  <a:cs typeface="+mn-cs"/>
                </a:rPr>
                <a:t>기존 GPR 조사기관</a:t>
              </a:r>
            </a:p>
          </p:txBody>
        </p:sp>
        <p:sp>
          <p:nvSpPr>
            <p:cNvPr id="37" name="TextBox 37"/>
            <p:cNvSpPr txBox="1"/>
            <p:nvPr/>
          </p:nvSpPr>
          <p:spPr>
            <a:xfrm>
              <a:off x="6203823" y="2800350"/>
              <a:ext cx="1815419" cy="250317"/>
            </a:xfrm>
            <a:prstGeom prst="rect">
              <a:avLst/>
            </a:prstGeom>
            <a:noFill/>
            <a:ln>
              <a:noFill/>
            </a:ln>
          </p:spPr>
          <p:txBody>
            <a:bodyPr wrap="none" lIns="0" tIns="0" rIns="0" bIns="0" anchor="t" anchorCtr="0">
              <a:spAutoFit/>
            </a:bodyPr>
            <a:lstStyle/>
            <a:p>
              <a:pPr algn="l"/>
              <a:r>
                <a:rPr lang="ko-KR" sz="1280" dirty="0">
                  <a:solidFill>
                    <a:srgbClr val="374151"/>
                  </a:solidFill>
                  <a:latin typeface="+mn-lt"/>
                  <a:ea typeface="+mn-ea"/>
                  <a:cs typeface="+mn-cs"/>
                </a:rPr>
                <a:t>PV5 특장(컨버전) 업체</a:t>
              </a:r>
            </a:p>
          </p:txBody>
        </p:sp>
        <p:sp>
          <p:nvSpPr>
            <p:cNvPr id="38" name="TextBox 38"/>
            <p:cNvSpPr txBox="1"/>
            <p:nvPr/>
          </p:nvSpPr>
          <p:spPr>
            <a:xfrm>
              <a:off x="6203823" y="3067050"/>
              <a:ext cx="1139820" cy="250317"/>
            </a:xfrm>
            <a:prstGeom prst="rect">
              <a:avLst/>
            </a:prstGeom>
            <a:noFill/>
            <a:ln>
              <a:noFill/>
            </a:ln>
          </p:spPr>
          <p:txBody>
            <a:bodyPr wrap="none" lIns="0" tIns="0" rIns="0" bIns="0" anchor="t" anchorCtr="0">
              <a:spAutoFit/>
            </a:bodyPr>
            <a:lstStyle/>
            <a:p>
              <a:pPr algn="l"/>
              <a:r>
                <a:rPr lang="ko-KR" sz="1280" dirty="0">
                  <a:solidFill>
                    <a:srgbClr val="374151"/>
                  </a:solidFill>
                  <a:latin typeface="+mn-lt"/>
                  <a:ea typeface="+mn-ea"/>
                  <a:cs typeface="+mn-cs"/>
                </a:rPr>
                <a:t>GIS·AR 장비사</a:t>
              </a:r>
            </a:p>
          </p:txBody>
        </p:sp>
      </p:grpSp>
      <p:grpSp>
        <p:nvGrpSpPr>
          <p:cNvPr id="46" name="who3"/>
          <p:cNvGrpSpPr/>
          <p:nvPr/>
        </p:nvGrpSpPr>
        <p:grpSpPr>
          <a:xfrm>
            <a:off x="9039987" y="1600200"/>
            <a:ext cx="2618613" cy="1717167"/>
            <a:chOff x="9039987" y="1600200"/>
            <a:chExt cx="2618613" cy="1717167"/>
          </a:xfrm>
        </p:grpSpPr>
        <p:sp>
          <p:nvSpPr>
            <p:cNvPr id="40" name="Rectangle 40"/>
            <p:cNvSpPr/>
            <p:nvPr/>
          </p:nvSpPr>
          <p:spPr>
            <a:xfrm>
              <a:off x="9048750" y="1600200"/>
              <a:ext cx="2609850" cy="28575"/>
            </a:xfrm>
            <a:prstGeom prst="rect">
              <a:avLst/>
            </a:prstGeom>
            <a:solidFill>
              <a:srgbClr val="F5B700"/>
            </a:solidFill>
            <a:ln>
              <a:noFill/>
            </a:ln>
          </p:spPr>
        </p:sp>
        <p:sp>
          <p:nvSpPr>
            <p:cNvPr id="41" name="TextBox 41"/>
            <p:cNvSpPr txBox="1"/>
            <p:nvPr/>
          </p:nvSpPr>
          <p:spPr>
            <a:xfrm>
              <a:off x="9043035" y="1784350"/>
              <a:ext cx="1011064" cy="220028"/>
            </a:xfrm>
            <a:prstGeom prst="rect">
              <a:avLst/>
            </a:prstGeom>
            <a:noFill/>
            <a:ln>
              <a:noFill/>
            </a:ln>
          </p:spPr>
          <p:txBody>
            <a:bodyPr wrap="none" lIns="0" tIns="0" rIns="0" bIns="0" anchor="t" anchorCtr="0">
              <a:spAutoFit/>
            </a:bodyPr>
            <a:lstStyle/>
            <a:p>
              <a:pPr algn="l"/>
              <a:r>
                <a:rPr lang="ko-KR" sz="1120" b="1" dirty="0">
                  <a:solidFill>
                    <a:srgbClr val="B45309"/>
                  </a:solidFill>
                  <a:latin typeface="+mn-lt"/>
                  <a:ea typeface="+mn-ea"/>
                  <a:cs typeface="+mn-cs"/>
                </a:rPr>
                <a:t>기아가 얻는 것</a:t>
              </a:r>
            </a:p>
          </p:txBody>
        </p:sp>
        <p:sp>
          <p:nvSpPr>
            <p:cNvPr id="42" name="TextBox 42"/>
            <p:cNvSpPr txBox="1"/>
            <p:nvPr/>
          </p:nvSpPr>
          <p:spPr>
            <a:xfrm>
              <a:off x="9039987" y="2070100"/>
              <a:ext cx="1749122" cy="337376"/>
            </a:xfrm>
            <a:prstGeom prst="rect">
              <a:avLst/>
            </a:prstGeom>
            <a:noFill/>
            <a:ln>
              <a:noFill/>
            </a:ln>
          </p:spPr>
          <p:txBody>
            <a:bodyPr wrap="none" lIns="0" tIns="0" rIns="0" bIns="0" anchor="t" anchorCtr="0">
              <a:spAutoFit/>
            </a:bodyPr>
            <a:lstStyle/>
            <a:p>
              <a:pPr algn="l"/>
              <a:r>
                <a:rPr lang="ko-KR" sz="1720" b="1" dirty="0">
                  <a:solidFill>
                    <a:srgbClr val="0B1E3C"/>
                  </a:solidFill>
                  <a:latin typeface="+mn-lt"/>
                  <a:ea typeface="+mn-ea"/>
                  <a:cs typeface="+mn-cs"/>
                </a:rPr>
                <a:t>공공 업무용 PV5</a:t>
              </a:r>
            </a:p>
          </p:txBody>
        </p:sp>
        <p:sp>
          <p:nvSpPr>
            <p:cNvPr id="43" name="TextBox 43"/>
            <p:cNvSpPr txBox="1"/>
            <p:nvPr/>
          </p:nvSpPr>
          <p:spPr>
            <a:xfrm>
              <a:off x="9042273" y="2533650"/>
              <a:ext cx="2507600" cy="250317"/>
            </a:xfrm>
            <a:prstGeom prst="rect">
              <a:avLst/>
            </a:prstGeom>
            <a:noFill/>
            <a:ln>
              <a:noFill/>
            </a:ln>
          </p:spPr>
          <p:txBody>
            <a:bodyPr wrap="none" lIns="0" tIns="0" rIns="0" bIns="0" anchor="t" anchorCtr="0">
              <a:spAutoFit/>
            </a:bodyPr>
            <a:lstStyle/>
            <a:p>
              <a:pPr algn="l"/>
              <a:r>
                <a:rPr lang="ko-KR" sz="1280" dirty="0">
                  <a:solidFill>
                    <a:srgbClr val="374151"/>
                  </a:solidFill>
                  <a:latin typeface="+mn-lt"/>
                  <a:ea typeface="+mn-ea"/>
                  <a:cs typeface="+mn-cs"/>
                </a:rPr>
                <a:t>탐사형 PV5 최대 약 97대 (계산)</a:t>
              </a:r>
            </a:p>
          </p:txBody>
        </p:sp>
        <p:sp>
          <p:nvSpPr>
            <p:cNvPr id="44" name="TextBox 44"/>
            <p:cNvSpPr txBox="1"/>
            <p:nvPr/>
          </p:nvSpPr>
          <p:spPr>
            <a:xfrm>
              <a:off x="9042273" y="2800350"/>
              <a:ext cx="2342569" cy="250317"/>
            </a:xfrm>
            <a:prstGeom prst="rect">
              <a:avLst/>
            </a:prstGeom>
            <a:noFill/>
            <a:ln>
              <a:noFill/>
            </a:ln>
          </p:spPr>
          <p:txBody>
            <a:bodyPr wrap="none" lIns="0" tIns="0" rIns="0" bIns="0" anchor="t" anchorCtr="0">
              <a:spAutoFit/>
            </a:bodyPr>
            <a:lstStyle/>
            <a:p>
              <a:pPr algn="l"/>
              <a:r>
                <a:rPr lang="ko-KR" sz="1280" dirty="0">
                  <a:solidFill>
                    <a:srgbClr val="374151"/>
                  </a:solidFill>
                  <a:latin typeface="+mn-lt"/>
                  <a:ea typeface="+mn-ea"/>
                  <a:cs typeface="+mn-cs"/>
                </a:rPr>
                <a:t>Pleos 앱·Fleet 공공 레퍼런스</a:t>
              </a:r>
            </a:p>
          </p:txBody>
        </p:sp>
        <p:sp>
          <p:nvSpPr>
            <p:cNvPr id="45" name="TextBox 45"/>
            <p:cNvSpPr txBox="1"/>
            <p:nvPr/>
          </p:nvSpPr>
          <p:spPr>
            <a:xfrm>
              <a:off x="9042273" y="3067050"/>
              <a:ext cx="2235799" cy="250317"/>
            </a:xfrm>
            <a:prstGeom prst="rect">
              <a:avLst/>
            </a:prstGeom>
            <a:noFill/>
            <a:ln>
              <a:noFill/>
            </a:ln>
          </p:spPr>
          <p:txBody>
            <a:bodyPr wrap="none" lIns="0" tIns="0" rIns="0" bIns="0" anchor="t" anchorCtr="0">
              <a:spAutoFit/>
            </a:bodyPr>
            <a:lstStyle/>
            <a:p>
              <a:pPr algn="l"/>
              <a:r>
                <a:rPr lang="ko-KR" sz="1280" dirty="0">
                  <a:solidFill>
                    <a:srgbClr val="374151"/>
                  </a:solidFill>
                  <a:latin typeface="+mn-lt"/>
                  <a:ea typeface="+mn-ea"/>
                  <a:cs typeface="+mn-cs"/>
                </a:rPr>
                <a:t>같은 키트로 지자체마다 복제</a:t>
              </a:r>
            </a:p>
          </p:txBody>
        </p:sp>
      </p:grpSp>
      <p:grpSp>
        <p:nvGrpSpPr>
          <p:cNvPr id="55" name="data"/>
          <p:cNvGrpSpPr/>
          <p:nvPr/>
        </p:nvGrpSpPr>
        <p:grpSpPr>
          <a:xfrm>
            <a:off x="526542" y="3886200"/>
            <a:ext cx="11132058" cy="1051433"/>
            <a:chOff x="526542" y="3886200"/>
            <a:chExt cx="11132058" cy="1051433"/>
          </a:xfrm>
        </p:grpSpPr>
        <p:sp>
          <p:nvSpPr>
            <p:cNvPr id="47" name="Rectangle 47"/>
            <p:cNvSpPr/>
            <p:nvPr/>
          </p:nvSpPr>
          <p:spPr>
            <a:xfrm>
              <a:off x="533400" y="3886200"/>
              <a:ext cx="5334000" cy="28575"/>
            </a:xfrm>
            <a:prstGeom prst="rect">
              <a:avLst/>
            </a:prstGeom>
            <a:solidFill>
              <a:srgbClr val="0B1E3C"/>
            </a:solidFill>
            <a:ln>
              <a:noFill/>
            </a:ln>
          </p:spPr>
        </p:sp>
        <p:sp>
          <p:nvSpPr>
            <p:cNvPr id="48" name="TextBox 48"/>
            <p:cNvSpPr txBox="1"/>
            <p:nvPr/>
          </p:nvSpPr>
          <p:spPr>
            <a:xfrm>
              <a:off x="527685" y="4070350"/>
              <a:ext cx="1510881" cy="220028"/>
            </a:xfrm>
            <a:prstGeom prst="rect">
              <a:avLst/>
            </a:prstGeom>
            <a:noFill/>
            <a:ln>
              <a:noFill/>
            </a:ln>
          </p:spPr>
          <p:txBody>
            <a:bodyPr wrap="none" lIns="0" tIns="0" rIns="0" bIns="0" anchor="t" anchorCtr="0">
              <a:spAutoFit/>
            </a:bodyPr>
            <a:lstStyle/>
            <a:p>
              <a:pPr algn="l"/>
              <a:r>
                <a:rPr lang="ko-KR" sz="1120" b="1" dirty="0">
                  <a:solidFill>
                    <a:srgbClr val="B45309"/>
                  </a:solidFill>
                  <a:latin typeface="+mn-lt"/>
                  <a:ea typeface="+mn-ea"/>
                  <a:cs typeface="+mn-cs"/>
                </a:rPr>
                <a:t>기아가 이미 가는 방향</a:t>
              </a:r>
            </a:p>
          </p:txBody>
        </p:sp>
        <p:sp>
          <p:nvSpPr>
            <p:cNvPr id="49" name="TextBox 49"/>
            <p:cNvSpPr txBox="1"/>
            <p:nvPr/>
          </p:nvSpPr>
          <p:spPr>
            <a:xfrm>
              <a:off x="526542" y="4406900"/>
              <a:ext cx="3684803" cy="264033"/>
            </a:xfrm>
            <a:prstGeom prst="rect">
              <a:avLst/>
            </a:prstGeom>
            <a:noFill/>
            <a:ln>
              <a:noFill/>
            </a:ln>
          </p:spPr>
          <p:txBody>
            <a:bodyPr wrap="none" lIns="0" tIns="0" rIns="0" bIns="0" anchor="t" anchorCtr="0">
              <a:spAutoFit/>
            </a:bodyPr>
            <a:lstStyle/>
            <a:p>
              <a:pPr algn="l"/>
              <a:r>
                <a:rPr lang="ko-KR" sz="1350" dirty="0">
                  <a:solidFill>
                    <a:srgbClr val="111827"/>
                  </a:solidFill>
                  <a:latin typeface="+mn-lt"/>
                  <a:ea typeface="+mn-ea"/>
                  <a:cs typeface="+mn-cs"/>
                </a:rPr>
                <a:t>공모전 예시 ‘스마트 순찰 및 재난 대응 차량’</a:t>
              </a:r>
            </a:p>
          </p:txBody>
        </p:sp>
        <p:sp>
          <p:nvSpPr>
            <p:cNvPr id="50" name="TextBox 50"/>
            <p:cNvSpPr txBox="1"/>
            <p:nvPr/>
          </p:nvSpPr>
          <p:spPr>
            <a:xfrm>
              <a:off x="526542" y="4673600"/>
              <a:ext cx="3043649" cy="264033"/>
            </a:xfrm>
            <a:prstGeom prst="rect">
              <a:avLst/>
            </a:prstGeom>
            <a:noFill/>
            <a:ln>
              <a:noFill/>
            </a:ln>
          </p:spPr>
          <p:txBody>
            <a:bodyPr wrap="none" lIns="0" tIns="0" rIns="0" bIns="0" anchor="t" anchorCtr="0">
              <a:spAutoFit/>
            </a:bodyPr>
            <a:lstStyle/>
            <a:p>
              <a:pPr algn="l"/>
              <a:r>
                <a:rPr lang="ko-KR" sz="1350" dirty="0">
                  <a:solidFill>
                    <a:srgbClr val="111827"/>
                  </a:solidFill>
                  <a:latin typeface="+mn-lt"/>
                  <a:ea typeface="+mn-ea"/>
                  <a:cs typeface="+mn-cs"/>
                </a:rPr>
                <a:t xml:space="preserve">2026.6 </a:t>
              </a:r>
              <a:r>
                <a:rPr lang="ko-KR" sz="1350" b="1" dirty="0">
                  <a:solidFill>
                    <a:srgbClr val="0B1E3C"/>
                  </a:solidFill>
                  <a:latin typeface="+mn-lt"/>
                  <a:ea typeface="+mn-ea"/>
                  <a:cs typeface="+mn-cs"/>
                </a:rPr>
                <a:t>경찰청과 PV5 AI 순찰차</a:t>
              </a:r>
              <a:r>
                <a:rPr lang="ko-KR" sz="1350" dirty="0">
                  <a:solidFill>
                    <a:srgbClr val="111827"/>
                  </a:solidFill>
                  <a:latin typeface="+mn-lt"/>
                  <a:ea typeface="+mn-ea"/>
                  <a:cs typeface="+mn-cs"/>
                </a:rPr>
                <a:t xml:space="preserve"> 공개</a:t>
              </a:r>
            </a:p>
          </p:txBody>
        </p:sp>
        <p:sp>
          <p:nvSpPr>
            <p:cNvPr id="51" name="Rectangle 51"/>
            <p:cNvSpPr/>
            <p:nvPr/>
          </p:nvSpPr>
          <p:spPr>
            <a:xfrm>
              <a:off x="6324600" y="3886200"/>
              <a:ext cx="5334000" cy="28575"/>
            </a:xfrm>
            <a:prstGeom prst="rect">
              <a:avLst/>
            </a:prstGeom>
            <a:solidFill>
              <a:srgbClr val="C62828"/>
            </a:solidFill>
            <a:ln>
              <a:noFill/>
            </a:ln>
          </p:spPr>
        </p:sp>
        <p:sp>
          <p:nvSpPr>
            <p:cNvPr id="52" name="TextBox 52"/>
            <p:cNvSpPr txBox="1"/>
            <p:nvPr/>
          </p:nvSpPr>
          <p:spPr>
            <a:xfrm>
              <a:off x="6318885" y="4070350"/>
              <a:ext cx="812796" cy="220028"/>
            </a:xfrm>
            <a:prstGeom prst="rect">
              <a:avLst/>
            </a:prstGeom>
            <a:noFill/>
            <a:ln>
              <a:noFill/>
            </a:ln>
          </p:spPr>
          <p:txBody>
            <a:bodyPr wrap="none" lIns="0" tIns="0" rIns="0" bIns="0" anchor="t" anchorCtr="0">
              <a:spAutoFit/>
            </a:bodyPr>
            <a:lstStyle/>
            <a:p>
              <a:pPr algn="l"/>
              <a:r>
                <a:rPr lang="ko-KR" sz="1120" b="1" dirty="0">
                  <a:solidFill>
                    <a:srgbClr val="C62828"/>
                  </a:solidFill>
                  <a:latin typeface="+mn-lt"/>
                  <a:ea typeface="+mn-ea"/>
                  <a:cs typeface="+mn-cs"/>
                </a:rPr>
                <a:t>데이터 원칙</a:t>
              </a:r>
            </a:p>
          </p:txBody>
        </p:sp>
        <p:sp>
          <p:nvSpPr>
            <p:cNvPr id="53" name="TextBox 53"/>
            <p:cNvSpPr txBox="1"/>
            <p:nvPr/>
          </p:nvSpPr>
          <p:spPr>
            <a:xfrm>
              <a:off x="6317742" y="4406900"/>
              <a:ext cx="2834729" cy="264033"/>
            </a:xfrm>
            <a:prstGeom prst="rect">
              <a:avLst/>
            </a:prstGeom>
            <a:noFill/>
            <a:ln>
              <a:noFill/>
            </a:ln>
          </p:spPr>
          <p:txBody>
            <a:bodyPr wrap="none" lIns="0" tIns="0" rIns="0" bIns="0" anchor="t" anchorCtr="0">
              <a:spAutoFit/>
            </a:bodyPr>
            <a:lstStyle/>
            <a:p>
              <a:pPr algn="l"/>
              <a:r>
                <a:rPr lang="ko-KR" sz="1350" b="1" dirty="0">
                  <a:solidFill>
                    <a:srgbClr val="0B1E3C"/>
                  </a:solidFill>
                  <a:latin typeface="+mn-lt"/>
                  <a:ea typeface="+mn-ea"/>
                  <a:cs typeface="+mn-cs"/>
                </a:rPr>
                <a:t>지하 데이터는 판매하지 않습니다.</a:t>
              </a:r>
            </a:p>
          </p:txBody>
        </p:sp>
        <p:sp>
          <p:nvSpPr>
            <p:cNvPr id="54" name="TextBox 54"/>
            <p:cNvSpPr txBox="1"/>
            <p:nvPr/>
          </p:nvSpPr>
          <p:spPr>
            <a:xfrm>
              <a:off x="6317742" y="4673600"/>
              <a:ext cx="3421285" cy="264033"/>
            </a:xfrm>
            <a:prstGeom prst="rect">
              <a:avLst/>
            </a:prstGeom>
            <a:noFill/>
            <a:ln>
              <a:noFill/>
            </a:ln>
          </p:spPr>
          <p:txBody>
            <a:bodyPr wrap="none" lIns="0" tIns="0" rIns="0" bIns="0" anchor="t" anchorCtr="0">
              <a:spAutoFit/>
            </a:bodyPr>
            <a:lstStyle/>
            <a:p>
              <a:pPr algn="l"/>
              <a:r>
                <a:rPr lang="ko-KR" sz="1350" dirty="0">
                  <a:solidFill>
                    <a:srgbClr val="111827"/>
                  </a:solidFill>
                  <a:latin typeface="+mn-lt"/>
                  <a:ea typeface="+mn-ea"/>
                  <a:cs typeface="+mn-cs"/>
                </a:rPr>
                <a:t>계약기관 안에서 접근 권한대로만 씁니다.</a:t>
              </a:r>
            </a:p>
          </p:txBody>
        </p:sp>
      </p:grpSp>
      <p:grpSp>
        <p:nvGrpSpPr>
          <p:cNvPr id="58" name="conclusion"/>
          <p:cNvGrpSpPr/>
          <p:nvPr/>
        </p:nvGrpSpPr>
        <p:grpSpPr>
          <a:xfrm>
            <a:off x="533400" y="5676900"/>
            <a:ext cx="8319467" cy="419100"/>
            <a:chOff x="533400" y="5676900"/>
            <a:chExt cx="8319467" cy="419100"/>
          </a:xfrm>
        </p:grpSpPr>
        <p:sp>
          <p:nvSpPr>
            <p:cNvPr id="56" name="Rectangle 56"/>
            <p:cNvSpPr/>
            <p:nvPr/>
          </p:nvSpPr>
          <p:spPr>
            <a:xfrm>
              <a:off x="533400" y="5676900"/>
              <a:ext cx="38100" cy="419100"/>
            </a:xfrm>
            <a:prstGeom prst="rect">
              <a:avLst/>
            </a:prstGeom>
            <a:solidFill>
              <a:srgbClr val="F5B700"/>
            </a:solidFill>
            <a:ln>
              <a:noFill/>
            </a:ln>
          </p:spPr>
        </p:sp>
        <p:sp>
          <p:nvSpPr>
            <p:cNvPr id="57" name="TextBox 57"/>
            <p:cNvSpPr txBox="1"/>
            <p:nvPr/>
          </p:nvSpPr>
          <p:spPr>
            <a:xfrm>
              <a:off x="715899" y="5772150"/>
              <a:ext cx="8136968" cy="308991"/>
            </a:xfrm>
            <a:prstGeom prst="rect">
              <a:avLst/>
            </a:prstGeom>
            <a:noFill/>
            <a:ln>
              <a:noFill/>
            </a:ln>
          </p:spPr>
          <p:txBody>
            <a:bodyPr wrap="none" lIns="0" tIns="0" rIns="0" bIns="0" anchor="t" anchorCtr="0">
              <a:spAutoFit/>
            </a:bodyPr>
            <a:lstStyle/>
            <a:p>
              <a:pPr algn="l"/>
              <a:r>
                <a:rPr lang="ko-KR" sz="1580" b="1" dirty="0">
                  <a:solidFill>
                    <a:srgbClr val="0B1E3C"/>
                  </a:solidFill>
                  <a:latin typeface="+mn-lt"/>
                  <a:ea typeface="+mn-ea"/>
                  <a:cs typeface="+mn-cs"/>
                </a:rPr>
                <a:t>기아가 지상 순찰차를 만들었다면, GroundWatch는 지하를 보는 PV5 순찰차입니다.</a:t>
              </a:r>
            </a:p>
          </p:txBody>
        </p:sp>
      </p:grpSp>
      <p:grpSp>
        <p:nvGrpSpPr>
          <p:cNvPr id="60" name="source"/>
          <p:cNvGrpSpPr/>
          <p:nvPr/>
        </p:nvGrpSpPr>
        <p:grpSpPr>
          <a:xfrm>
            <a:off x="528447" y="6381750"/>
            <a:ext cx="8081510" cy="191643"/>
            <a:chOff x="528447" y="6381750"/>
            <a:chExt cx="8081510" cy="191643"/>
          </a:xfrm>
        </p:grpSpPr>
        <p:sp>
          <p:nvSpPr>
            <p:cNvPr id="59" name="TextBox 59"/>
            <p:cNvSpPr txBox="1"/>
            <p:nvPr/>
          </p:nvSpPr>
          <p:spPr>
            <a:xfrm>
              <a:off x="528447" y="6381750"/>
              <a:ext cx="8081510" cy="191643"/>
            </a:xfrm>
            <a:prstGeom prst="rect">
              <a:avLst/>
            </a:prstGeom>
            <a:noFill/>
            <a:ln>
              <a:noFill/>
            </a:ln>
          </p:spPr>
          <p:txBody>
            <a:bodyPr wrap="none" lIns="0" tIns="0" rIns="0" bIns="0" anchor="t" anchorCtr="0">
              <a:spAutoFit/>
            </a:bodyPr>
            <a:lstStyle/>
            <a:p>
              <a:pPr algn="l"/>
              <a:r>
                <a:rPr lang="ko-KR" sz="980" dirty="0">
                  <a:solidFill>
                    <a:srgbClr val="4B5563"/>
                  </a:solidFill>
                  <a:latin typeface="+mn-lt"/>
                  <a:ea typeface="+mn-ea"/>
                  <a:cs typeface="+mn-cs"/>
                </a:rPr>
                <a:t>공모전 컨버전 부문 안내(공공서비스 특화) · 머니투데이(2026.6.26, 경찰청 AI 순찰차) · 구매·협력 구조와 데이터 원칙은 제안 [가설]</a:t>
              </a:r>
            </a:p>
          </p:txBody>
        </p:sp>
      </p:grpSp>
      <p:grpSp>
        <p:nvGrpSpPr>
          <p:cNvPr id="63" name="footer"/>
          <p:cNvGrpSpPr/>
          <p:nvPr/>
        </p:nvGrpSpPr>
        <p:grpSpPr>
          <a:xfrm>
            <a:off x="528638" y="6610350"/>
            <a:ext cx="11134724" cy="176212"/>
            <a:chOff x="528638" y="6610350"/>
            <a:chExt cx="11134724" cy="176212"/>
          </a:xfrm>
        </p:grpSpPr>
        <p:sp>
          <p:nvSpPr>
            <p:cNvPr id="61" name="TextBox 61"/>
            <p:cNvSpPr txBox="1"/>
            <p:nvPr/>
          </p:nvSpPr>
          <p:spPr>
            <a:xfrm>
              <a:off x="528638" y="6610350"/>
              <a:ext cx="1020324" cy="176212"/>
            </a:xfrm>
            <a:prstGeom prst="rect">
              <a:avLst/>
            </a:prstGeom>
            <a:noFill/>
            <a:ln>
              <a:noFill/>
            </a:ln>
          </p:spPr>
          <p:txBody>
            <a:bodyPr wrap="none" lIns="0" tIns="0" rIns="0" bIns="0" anchor="t" anchorCtr="0">
              <a:spAutoFit/>
            </a:bodyPr>
            <a:lstStyle/>
            <a:p>
              <a:pPr algn="l"/>
              <a:r>
                <a:rPr lang="en-US" sz="900" dirty="0">
                  <a:solidFill>
                    <a:srgbClr val="4B5563"/>
                  </a:solidFill>
                  <a:latin typeface="+mn-lt"/>
                  <a:ea typeface="+mn-ea"/>
                  <a:cs typeface="+mn-cs"/>
                </a:rPr>
                <a:t>PV5 GroundWatch</a:t>
              </a:r>
            </a:p>
          </p:txBody>
        </p:sp>
        <p:sp>
          <p:nvSpPr>
            <p:cNvPr id="62" name="TextBox 62"/>
            <p:cNvSpPr txBox="1"/>
            <p:nvPr/>
          </p:nvSpPr>
          <p:spPr>
            <a:xfrm>
              <a:off x="11247958" y="6610350"/>
              <a:ext cx="415404" cy="176212"/>
            </a:xfrm>
            <a:prstGeom prst="rect">
              <a:avLst/>
            </a:prstGeom>
            <a:noFill/>
            <a:ln>
              <a:noFill/>
            </a:ln>
          </p:spPr>
          <p:txBody>
            <a:bodyPr wrap="none" lIns="0" tIns="0" rIns="0" bIns="0" anchor="t" anchorCtr="0">
              <a:spAutoFit/>
            </a:bodyPr>
            <a:lstStyle/>
            <a:p>
              <a:pPr algn="r"/>
              <a:r>
                <a:rPr lang="ko-KR" sz="900" dirty="0">
                  <a:solidFill>
                    <a:srgbClr val="4B5563"/>
                  </a:solidFill>
                  <a:latin typeface="+mn-lt"/>
                  <a:ea typeface="+mn-ea"/>
                  <a:cs typeface="+mn-cs"/>
                </a:rPr>
                <a:t>13 / 15</a:t>
              </a:r>
            </a:p>
          </p:txBody>
        </p:sp>
      </p:grpSp>
    </p:spTree>
  </p:cSld>
  <p:clrMapOvr>
    <a:masterClrMapping/>
  </p:clrMapOvr>
  <p:transition xmlns:p14="http://schemas.microsoft.com/office/powerpoint/2010/main" p14:dur="400">
    <p:fade/>
  </p:transition>
</p:sld>
</file>

<file path=ppt/slides/slide1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grpSp>
        <p:nvGrpSpPr>
          <p:cNvPr id="16" name="header"/>
          <p:cNvGrpSpPr/>
          <p:nvPr/>
        </p:nvGrpSpPr>
        <p:grpSpPr>
          <a:xfrm>
            <a:off x="533400" y="266700"/>
            <a:ext cx="11125200" cy="333375"/>
            <a:chOff x="533400" y="266700"/>
            <a:chExt cx="11125200" cy="333375"/>
          </a:xfrm>
        </p:grpSpPr>
        <p:sp>
          <p:nvSpPr>
            <p:cNvPr id="2" name="Rectangle 2"/>
            <p:cNvSpPr/>
            <p:nvPr/>
          </p:nvSpPr>
          <p:spPr>
            <a:xfrm>
              <a:off x="533400" y="266700"/>
              <a:ext cx="1333500" cy="228600"/>
            </a:xfrm>
            <a:prstGeom prst="rect">
              <a:avLst/>
            </a:prstGeom>
            <a:solidFill>
              <a:srgbClr val="0B1E3C"/>
            </a:solidFill>
            <a:ln>
              <a:noFill/>
            </a:ln>
          </p:spPr>
        </p:sp>
        <p:sp>
          <p:nvSpPr>
            <p:cNvPr id="3" name="TextBox 3"/>
            <p:cNvSpPr txBox="1"/>
            <p:nvPr/>
          </p:nvSpPr>
          <p:spPr>
            <a:xfrm>
              <a:off x="617357" y="314325"/>
              <a:ext cx="1165586" cy="191643"/>
            </a:xfrm>
            <a:prstGeom prst="rect">
              <a:avLst/>
            </a:prstGeom>
            <a:noFill/>
            <a:ln>
              <a:noFill/>
            </a:ln>
          </p:spPr>
          <p:txBody>
            <a:bodyPr wrap="none" lIns="0" tIns="0" rIns="0" bIns="0" anchor="t" anchorCtr="0">
              <a:spAutoFit/>
            </a:bodyPr>
            <a:lstStyle/>
            <a:p>
              <a:pPr algn="ctr"/>
              <a:r>
                <a:rPr lang="en-US" sz="980" b="1" dirty="0">
                  <a:solidFill>
                    <a:srgbClr val="FFFFFF"/>
                  </a:solidFill>
                  <a:latin typeface="+mn-lt"/>
                  <a:ea typeface="+mn-ea"/>
                  <a:cs typeface="+mn-cs"/>
                </a:rPr>
                <a:t>PV5 GroundWatch</a:t>
              </a:r>
            </a:p>
          </p:txBody>
        </p:sp>
        <p:sp>
          <p:nvSpPr>
            <p:cNvPr id="4" name="TextBox 4"/>
            <p:cNvSpPr txBox="1"/>
            <p:nvPr/>
          </p:nvSpPr>
          <p:spPr>
            <a:xfrm>
              <a:off x="1994916" y="301625"/>
              <a:ext cx="1452448" cy="205359"/>
            </a:xfrm>
            <a:prstGeom prst="rect">
              <a:avLst/>
            </a:prstGeom>
            <a:noFill/>
            <a:ln>
              <a:noFill/>
            </a:ln>
          </p:spPr>
          <p:txBody>
            <a:bodyPr wrap="none" lIns="0" tIns="0" rIns="0" bIns="0" anchor="t" anchorCtr="0">
              <a:spAutoFit/>
            </a:bodyPr>
            <a:lstStyle/>
            <a:p>
              <a:pPr algn="l"/>
              <a:r>
                <a:rPr lang="ko-KR" sz="1050" dirty="0">
                  <a:solidFill>
                    <a:srgbClr val="374151"/>
                  </a:solidFill>
                  <a:latin typeface="+mn-lt"/>
                  <a:ea typeface="+mn-ea"/>
                  <a:cs typeface="+mn-cs"/>
                </a:rPr>
                <a:t>첫 고객과 기아와 할 일</a:t>
              </a:r>
            </a:p>
          </p:txBody>
        </p:sp>
        <p:sp>
          <p:nvSpPr>
            <p:cNvPr id="5" name="TextBox 5"/>
            <p:cNvSpPr txBox="1"/>
            <p:nvPr/>
          </p:nvSpPr>
          <p:spPr>
            <a:xfrm>
              <a:off x="8425815" y="301625"/>
              <a:ext cx="293370" cy="205359"/>
            </a:xfrm>
            <a:prstGeom prst="rect">
              <a:avLst/>
            </a:prstGeom>
            <a:noFill/>
            <a:ln>
              <a:noFill/>
            </a:ln>
          </p:spPr>
          <p:txBody>
            <a:bodyPr wrap="none" lIns="0" tIns="0" rIns="0" bIns="0" anchor="t" anchorCtr="0">
              <a:spAutoFit/>
            </a:bodyPr>
            <a:lstStyle/>
            <a:p>
              <a:pPr algn="ctr"/>
              <a:r>
                <a:rPr lang="ko-KR" sz="1050" dirty="0">
                  <a:solidFill>
                    <a:srgbClr val="9AA3AF"/>
                  </a:solidFill>
                  <a:latin typeface="+mn-lt"/>
                  <a:ea typeface="+mn-ea"/>
                  <a:cs typeface="+mn-cs"/>
                </a:rPr>
                <a:t>문제</a:t>
              </a:r>
            </a:p>
          </p:txBody>
        </p:sp>
        <p:sp>
          <p:nvSpPr>
            <p:cNvPr id="6" name="TextBox 6"/>
            <p:cNvSpPr txBox="1"/>
            <p:nvPr/>
          </p:nvSpPr>
          <p:spPr>
            <a:xfrm>
              <a:off x="884874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7" name="TextBox 7"/>
            <p:cNvSpPr txBox="1"/>
            <p:nvPr/>
          </p:nvSpPr>
          <p:spPr>
            <a:xfrm>
              <a:off x="9054465" y="301625"/>
              <a:ext cx="293370" cy="205359"/>
            </a:xfrm>
            <a:prstGeom prst="rect">
              <a:avLst/>
            </a:prstGeom>
            <a:noFill/>
            <a:ln>
              <a:noFill/>
            </a:ln>
          </p:spPr>
          <p:txBody>
            <a:bodyPr wrap="none" lIns="0" tIns="0" rIns="0" bIns="0" anchor="t" anchorCtr="0">
              <a:spAutoFit/>
            </a:bodyPr>
            <a:lstStyle/>
            <a:p>
              <a:pPr algn="ctr"/>
              <a:r>
                <a:rPr lang="ko-KR" sz="1050" dirty="0">
                  <a:solidFill>
                    <a:srgbClr val="9AA3AF"/>
                  </a:solidFill>
                  <a:latin typeface="+mn-lt"/>
                  <a:ea typeface="+mn-ea"/>
                  <a:cs typeface="+mn-cs"/>
                </a:rPr>
                <a:t>해법</a:t>
              </a:r>
            </a:p>
          </p:txBody>
        </p:sp>
        <p:sp>
          <p:nvSpPr>
            <p:cNvPr id="8" name="TextBox 8"/>
            <p:cNvSpPr txBox="1"/>
            <p:nvPr/>
          </p:nvSpPr>
          <p:spPr>
            <a:xfrm>
              <a:off x="947739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9" name="TextBox 9"/>
            <p:cNvSpPr txBox="1"/>
            <p:nvPr/>
          </p:nvSpPr>
          <p:spPr>
            <a:xfrm>
              <a:off x="9701251" y="301625"/>
              <a:ext cx="257099" cy="205359"/>
            </a:xfrm>
            <a:prstGeom prst="rect">
              <a:avLst/>
            </a:prstGeom>
            <a:noFill/>
            <a:ln>
              <a:noFill/>
            </a:ln>
          </p:spPr>
          <p:txBody>
            <a:bodyPr wrap="none" lIns="0" tIns="0" rIns="0" bIns="0" anchor="t" anchorCtr="0">
              <a:spAutoFit/>
            </a:bodyPr>
            <a:lstStyle/>
            <a:p>
              <a:pPr algn="ctr"/>
              <a:r>
                <a:rPr lang="en-US" sz="1050" dirty="0">
                  <a:solidFill>
                    <a:srgbClr val="9AA3AF"/>
                  </a:solidFill>
                  <a:latin typeface="+mn-lt"/>
                  <a:ea typeface="+mn-ea"/>
                  <a:cs typeface="+mn-cs"/>
                </a:rPr>
                <a:t>PV5</a:t>
              </a:r>
            </a:p>
          </p:txBody>
        </p:sp>
        <p:sp>
          <p:nvSpPr>
            <p:cNvPr id="10" name="TextBox 10"/>
            <p:cNvSpPr txBox="1"/>
            <p:nvPr/>
          </p:nvSpPr>
          <p:spPr>
            <a:xfrm>
              <a:off x="1010604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11" name="TextBox 11"/>
            <p:cNvSpPr txBox="1"/>
            <p:nvPr/>
          </p:nvSpPr>
          <p:spPr>
            <a:xfrm>
              <a:off x="10311765" y="301625"/>
              <a:ext cx="293370" cy="205359"/>
            </a:xfrm>
            <a:prstGeom prst="rect">
              <a:avLst/>
            </a:prstGeom>
            <a:noFill/>
            <a:ln>
              <a:noFill/>
            </a:ln>
          </p:spPr>
          <p:txBody>
            <a:bodyPr wrap="none" lIns="0" tIns="0" rIns="0" bIns="0" anchor="t" anchorCtr="0">
              <a:spAutoFit/>
            </a:bodyPr>
            <a:lstStyle/>
            <a:p>
              <a:pPr algn="ctr"/>
              <a:r>
                <a:rPr lang="ko-KR" sz="1050" dirty="0">
                  <a:solidFill>
                    <a:srgbClr val="9AA3AF"/>
                  </a:solidFill>
                  <a:latin typeface="+mn-lt"/>
                  <a:ea typeface="+mn-ea"/>
                  <a:cs typeface="+mn-cs"/>
                </a:rPr>
                <a:t>검증</a:t>
              </a:r>
            </a:p>
          </p:txBody>
        </p:sp>
        <p:sp>
          <p:nvSpPr>
            <p:cNvPr id="12" name="TextBox 12"/>
            <p:cNvSpPr txBox="1"/>
            <p:nvPr/>
          </p:nvSpPr>
          <p:spPr>
            <a:xfrm>
              <a:off x="1073469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13" name="TextBox 13"/>
            <p:cNvSpPr txBox="1"/>
            <p:nvPr/>
          </p:nvSpPr>
          <p:spPr>
            <a:xfrm>
              <a:off x="10940415" y="301625"/>
              <a:ext cx="293370" cy="205359"/>
            </a:xfrm>
            <a:prstGeom prst="rect">
              <a:avLst/>
            </a:prstGeom>
            <a:noFill/>
            <a:ln>
              <a:noFill/>
            </a:ln>
          </p:spPr>
          <p:txBody>
            <a:bodyPr wrap="none" lIns="0" tIns="0" rIns="0" bIns="0" anchor="t" anchorCtr="0">
              <a:spAutoFit/>
            </a:bodyPr>
            <a:lstStyle/>
            <a:p>
              <a:pPr algn="ctr"/>
              <a:r>
                <a:rPr lang="ko-KR" sz="1050" b="1" dirty="0">
                  <a:solidFill>
                    <a:srgbClr val="0B1E3C"/>
                  </a:solidFill>
                  <a:latin typeface="+mn-lt"/>
                  <a:ea typeface="+mn-ea"/>
                  <a:cs typeface="+mn-cs"/>
                </a:rPr>
                <a:t>사업</a:t>
              </a:r>
            </a:p>
          </p:txBody>
        </p:sp>
        <p:sp>
          <p:nvSpPr>
            <p:cNvPr id="14" name="Rectangle 14"/>
            <p:cNvSpPr/>
            <p:nvPr/>
          </p:nvSpPr>
          <p:spPr>
            <a:xfrm>
              <a:off x="10858500" y="514350"/>
              <a:ext cx="457200" cy="28575"/>
            </a:xfrm>
            <a:prstGeom prst="rect">
              <a:avLst/>
            </a:prstGeom>
            <a:solidFill>
              <a:srgbClr val="F5B700"/>
            </a:solidFill>
            <a:ln>
              <a:noFill/>
            </a:ln>
          </p:spPr>
        </p:sp>
        <p:sp>
          <p:nvSpPr>
            <p:cNvPr id="15" name="Line 15"/>
            <p:cNvSpPr/>
            <p:nvPr/>
          </p:nvSpPr>
          <p:spPr>
            <a:xfrm>
              <a:off x="533400" y="590550"/>
              <a:ext cx="11125200" cy="9525"/>
            </a:xfrm>
            <a:custGeom>
              <a:avLst/>
              <a:gdLst/>
              <a:ahLst/>
              <a:cxnLst/>
              <a:rect l="l" t="t" r="r" b="b"/>
              <a:pathLst>
                <a:path w="11125200" h="9525">
                  <a:moveTo>
                    <a:pt x="0" y="0"/>
                  </a:moveTo>
                  <a:lnTo>
                    <a:pt x="11125200" y="0"/>
                  </a:lnTo>
                </a:path>
              </a:pathLst>
            </a:custGeom>
            <a:noFill/>
            <a:ln w="9525">
              <a:solidFill>
                <a:srgbClr val="0B1E3C"/>
              </a:solidFill>
            </a:ln>
          </p:spPr>
        </p:sp>
      </p:grpSp>
      <p:grpSp>
        <p:nvGrpSpPr>
          <p:cNvPr id="18" name="title"/>
          <p:cNvGrpSpPr/>
          <p:nvPr/>
        </p:nvGrpSpPr>
        <p:grpSpPr>
          <a:xfrm>
            <a:off x="518160" y="774700"/>
            <a:ext cx="10594372" cy="586740"/>
            <a:chOff x="518160" y="774700"/>
            <a:chExt cx="10594372" cy="586740"/>
          </a:xfrm>
        </p:grpSpPr>
        <p:sp>
          <p:nvSpPr>
            <p:cNvPr id="17" name="TextBox 17"/>
            <p:cNvSpPr txBox="1"/>
            <p:nvPr/>
          </p:nvSpPr>
          <p:spPr>
            <a:xfrm>
              <a:off x="518160" y="774700"/>
              <a:ext cx="10594372" cy="586740"/>
            </a:xfrm>
            <a:prstGeom prst="rect">
              <a:avLst/>
            </a:prstGeom>
            <a:noFill/>
            <a:ln>
              <a:noFill/>
            </a:ln>
          </p:spPr>
          <p:txBody>
            <a:bodyPr wrap="none" lIns="0" tIns="0" rIns="0" bIns="0" anchor="t" anchorCtr="0">
              <a:spAutoFit/>
            </a:bodyPr>
            <a:lstStyle/>
            <a:p>
              <a:pPr algn="l"/>
              <a:r>
                <a:rPr lang="ko-KR" sz="3000" b="1" spc="-75" dirty="0">
                  <a:solidFill>
                    <a:srgbClr val="0B1E3C"/>
                  </a:solidFill>
                  <a:latin typeface="+mn-lt"/>
                  <a:ea typeface="+mn-ea"/>
                  <a:cs typeface="+mn-cs"/>
                </a:rPr>
                <a:t>지자체 예산에서 시작해, 6개월 안에 1단계 실증을 마칩니다</a:t>
              </a:r>
            </a:p>
          </p:txBody>
        </p:sp>
      </p:grpSp>
      <p:grpSp>
        <p:nvGrpSpPr>
          <p:cNvPr id="31" name="facts"/>
          <p:cNvGrpSpPr/>
          <p:nvPr/>
        </p:nvGrpSpPr>
        <p:grpSpPr>
          <a:xfrm>
            <a:off x="521970" y="1409700"/>
            <a:ext cx="11136630" cy="994728"/>
            <a:chOff x="521970" y="1409700"/>
            <a:chExt cx="11136630" cy="994728"/>
          </a:xfrm>
        </p:grpSpPr>
        <p:sp>
          <p:nvSpPr>
            <p:cNvPr id="19" name="Rectangle 19"/>
            <p:cNvSpPr/>
            <p:nvPr/>
          </p:nvSpPr>
          <p:spPr>
            <a:xfrm>
              <a:off x="533400" y="1409700"/>
              <a:ext cx="3581400" cy="28575"/>
            </a:xfrm>
            <a:prstGeom prst="rect">
              <a:avLst/>
            </a:prstGeom>
            <a:solidFill>
              <a:srgbClr val="0B1E3C"/>
            </a:solidFill>
            <a:ln>
              <a:noFill/>
            </a:ln>
          </p:spPr>
        </p:sp>
        <p:sp>
          <p:nvSpPr>
            <p:cNvPr id="20" name="TextBox 20"/>
            <p:cNvSpPr txBox="1"/>
            <p:nvPr/>
          </p:nvSpPr>
          <p:spPr>
            <a:xfrm>
              <a:off x="521970" y="1587500"/>
              <a:ext cx="2601254" cy="440055"/>
            </a:xfrm>
            <a:prstGeom prst="rect">
              <a:avLst/>
            </a:prstGeom>
            <a:noFill/>
            <a:ln>
              <a:noFill/>
            </a:ln>
          </p:spPr>
          <p:txBody>
            <a:bodyPr wrap="none" lIns="0" tIns="0" rIns="0" bIns="0" anchor="t" anchorCtr="0">
              <a:spAutoFit/>
            </a:bodyPr>
            <a:lstStyle/>
            <a:p>
              <a:pPr algn="l"/>
              <a:r>
                <a:rPr lang="ko-KR" sz="2250" b="1" dirty="0">
                  <a:solidFill>
                    <a:srgbClr val="B45309"/>
                  </a:solidFill>
                  <a:latin typeface="+mn-lt"/>
                  <a:ea typeface="+mn-ea"/>
                  <a:cs typeface="+mn-cs"/>
                </a:rPr>
                <a:t>0.85억~1.90억 원</a:t>
              </a:r>
            </a:p>
          </p:txBody>
        </p:sp>
        <p:sp>
          <p:nvSpPr>
            <p:cNvPr id="21" name="TextBox 21"/>
            <p:cNvSpPr txBox="1"/>
            <p:nvPr/>
          </p:nvSpPr>
          <p:spPr>
            <a:xfrm>
              <a:off x="527304" y="1962150"/>
              <a:ext cx="2182734" cy="234696"/>
            </a:xfrm>
            <a:prstGeom prst="rect">
              <a:avLst/>
            </a:prstGeom>
            <a:noFill/>
            <a:ln>
              <a:noFill/>
            </a:ln>
          </p:spPr>
          <p:txBody>
            <a:bodyPr wrap="none" lIns="0" tIns="0" rIns="0" bIns="0" anchor="t" anchorCtr="0">
              <a:spAutoFit/>
            </a:bodyPr>
            <a:lstStyle/>
            <a:p>
              <a:pPr algn="l"/>
              <a:r>
                <a:rPr lang="ko-KR" sz="1200" b="1" dirty="0">
                  <a:solidFill>
                    <a:srgbClr val="0B1E3C"/>
                  </a:solidFill>
                  <a:latin typeface="+mn-lt"/>
                  <a:ea typeface="+mn-ea"/>
                  <a:cs typeface="+mn-cs"/>
                </a:rPr>
                <a:t>2026 지자체 GPR 용역 낙찰액</a:t>
              </a:r>
            </a:p>
          </p:txBody>
        </p:sp>
        <p:sp>
          <p:nvSpPr>
            <p:cNvPr id="22" name="TextBox 22"/>
            <p:cNvSpPr txBox="1"/>
            <p:nvPr/>
          </p:nvSpPr>
          <p:spPr>
            <a:xfrm>
              <a:off x="527685" y="2184400"/>
              <a:ext cx="2205198" cy="220028"/>
            </a:xfrm>
            <a:prstGeom prst="rect">
              <a:avLst/>
            </a:prstGeom>
            <a:noFill/>
            <a:ln>
              <a:noFill/>
            </a:ln>
          </p:spPr>
          <p:txBody>
            <a:bodyPr wrap="none" lIns="0" tIns="0" rIns="0" bIns="0" anchor="t" anchorCtr="0">
              <a:spAutoFit/>
            </a:bodyPr>
            <a:lstStyle/>
            <a:p>
              <a:pPr algn="l"/>
              <a:r>
                <a:rPr lang="ko-KR" sz="1120" dirty="0">
                  <a:solidFill>
                    <a:srgbClr val="374151"/>
                  </a:solidFill>
                  <a:latin typeface="+mn-lt"/>
                  <a:ea typeface="+mn-ea"/>
                  <a:cs typeface="+mn-cs"/>
                </a:rPr>
                <a:t>안양·강동구·용인, 이미 집행 중</a:t>
              </a:r>
            </a:p>
          </p:txBody>
        </p:sp>
        <p:sp>
          <p:nvSpPr>
            <p:cNvPr id="23" name="Rectangle 23"/>
            <p:cNvSpPr/>
            <p:nvPr/>
          </p:nvSpPr>
          <p:spPr>
            <a:xfrm>
              <a:off x="4305300" y="1409700"/>
              <a:ext cx="3581400" cy="28575"/>
            </a:xfrm>
            <a:prstGeom prst="rect">
              <a:avLst/>
            </a:prstGeom>
            <a:solidFill>
              <a:srgbClr val="0B1E3C"/>
            </a:solidFill>
            <a:ln>
              <a:noFill/>
            </a:ln>
          </p:spPr>
        </p:sp>
        <p:sp>
          <p:nvSpPr>
            <p:cNvPr id="24" name="TextBox 24"/>
            <p:cNvSpPr txBox="1"/>
            <p:nvPr/>
          </p:nvSpPr>
          <p:spPr>
            <a:xfrm>
              <a:off x="4293870" y="1587500"/>
              <a:ext cx="1423749" cy="440055"/>
            </a:xfrm>
            <a:prstGeom prst="rect">
              <a:avLst/>
            </a:prstGeom>
            <a:noFill/>
            <a:ln>
              <a:noFill/>
            </a:ln>
          </p:spPr>
          <p:txBody>
            <a:bodyPr wrap="none" lIns="0" tIns="0" rIns="0" bIns="0" anchor="t" anchorCtr="0">
              <a:spAutoFit/>
            </a:bodyPr>
            <a:lstStyle/>
            <a:p>
              <a:pPr algn="l"/>
              <a:r>
                <a:rPr lang="ko-KR" sz="2250" b="1" dirty="0">
                  <a:solidFill>
                    <a:srgbClr val="B45309"/>
                  </a:solidFill>
                  <a:latin typeface="+mn-lt"/>
                  <a:ea typeface="+mn-ea"/>
                  <a:cs typeface="+mn-cs"/>
                </a:rPr>
                <a:t>21.6억 원</a:t>
              </a:r>
            </a:p>
          </p:txBody>
        </p:sp>
        <p:sp>
          <p:nvSpPr>
            <p:cNvPr id="25" name="TextBox 25"/>
            <p:cNvSpPr txBox="1"/>
            <p:nvPr/>
          </p:nvSpPr>
          <p:spPr>
            <a:xfrm>
              <a:off x="4299204" y="1962150"/>
              <a:ext cx="2111052" cy="234696"/>
            </a:xfrm>
            <a:prstGeom prst="rect">
              <a:avLst/>
            </a:prstGeom>
            <a:noFill/>
            <a:ln>
              <a:noFill/>
            </a:ln>
          </p:spPr>
          <p:txBody>
            <a:bodyPr wrap="none" lIns="0" tIns="0" rIns="0" bIns="0" anchor="t" anchorCtr="0">
              <a:spAutoFit/>
            </a:bodyPr>
            <a:lstStyle/>
            <a:p>
              <a:pPr algn="l"/>
              <a:r>
                <a:rPr lang="ko-KR" sz="1200" b="1" dirty="0">
                  <a:solidFill>
                    <a:srgbClr val="0B1E3C"/>
                  </a:solidFill>
                  <a:latin typeface="+mn-lt"/>
                  <a:ea typeface="+mn-ea"/>
                  <a:cs typeface="+mn-cs"/>
                </a:rPr>
                <a:t>경기도 16개 시·군 탐사 지원</a:t>
              </a:r>
            </a:p>
          </p:txBody>
        </p:sp>
        <p:sp>
          <p:nvSpPr>
            <p:cNvPr id="26" name="TextBox 26"/>
            <p:cNvSpPr txBox="1"/>
            <p:nvPr/>
          </p:nvSpPr>
          <p:spPr>
            <a:xfrm>
              <a:off x="4299585" y="2184400"/>
              <a:ext cx="2325817" cy="220028"/>
            </a:xfrm>
            <a:prstGeom prst="rect">
              <a:avLst/>
            </a:prstGeom>
            <a:noFill/>
            <a:ln>
              <a:noFill/>
            </a:ln>
          </p:spPr>
          <p:txBody>
            <a:bodyPr wrap="none" lIns="0" tIns="0" rIns="0" bIns="0" anchor="t" anchorCtr="0">
              <a:spAutoFit/>
            </a:bodyPr>
            <a:lstStyle/>
            <a:p>
              <a:pPr algn="l"/>
              <a:r>
                <a:rPr lang="ko-KR" sz="1120" dirty="0">
                  <a:solidFill>
                    <a:srgbClr val="374151"/>
                  </a:solidFill>
                  <a:latin typeface="+mn-lt"/>
                  <a:ea typeface="+mn-ea"/>
                  <a:cs typeface="+mn-cs"/>
                </a:rPr>
                <a:t>1,080km 지반탐사 지원 (2025.9)</a:t>
              </a:r>
            </a:p>
          </p:txBody>
        </p:sp>
        <p:sp>
          <p:nvSpPr>
            <p:cNvPr id="27" name="Rectangle 27"/>
            <p:cNvSpPr/>
            <p:nvPr/>
          </p:nvSpPr>
          <p:spPr>
            <a:xfrm>
              <a:off x="8077200" y="1409700"/>
              <a:ext cx="3581400" cy="28575"/>
            </a:xfrm>
            <a:prstGeom prst="rect">
              <a:avLst/>
            </a:prstGeom>
            <a:solidFill>
              <a:srgbClr val="0B1E3C"/>
            </a:solidFill>
            <a:ln>
              <a:noFill/>
            </a:ln>
          </p:spPr>
        </p:sp>
        <p:sp>
          <p:nvSpPr>
            <p:cNvPr id="28" name="TextBox 28"/>
            <p:cNvSpPr txBox="1"/>
            <p:nvPr/>
          </p:nvSpPr>
          <p:spPr>
            <a:xfrm>
              <a:off x="8065770" y="1587500"/>
              <a:ext cx="1775108" cy="440055"/>
            </a:xfrm>
            <a:prstGeom prst="rect">
              <a:avLst/>
            </a:prstGeom>
            <a:noFill/>
            <a:ln>
              <a:noFill/>
            </a:ln>
          </p:spPr>
          <p:txBody>
            <a:bodyPr wrap="none" lIns="0" tIns="0" rIns="0" bIns="0" anchor="t" anchorCtr="0">
              <a:spAutoFit/>
            </a:bodyPr>
            <a:lstStyle/>
            <a:p>
              <a:pPr algn="l"/>
              <a:r>
                <a:rPr lang="ko-KR" sz="2250" b="1" dirty="0">
                  <a:solidFill>
                    <a:srgbClr val="B45309"/>
                  </a:solidFill>
                  <a:latin typeface="+mn-lt"/>
                  <a:ea typeface="+mn-ea"/>
                  <a:cs typeface="+mn-cs"/>
                </a:rPr>
                <a:t>최대 약 97대</a:t>
              </a:r>
            </a:p>
          </p:txBody>
        </p:sp>
        <p:sp>
          <p:nvSpPr>
            <p:cNvPr id="29" name="TextBox 29"/>
            <p:cNvSpPr txBox="1"/>
            <p:nvPr/>
          </p:nvSpPr>
          <p:spPr>
            <a:xfrm>
              <a:off x="8071104" y="1962150"/>
              <a:ext cx="1622176" cy="234696"/>
            </a:xfrm>
            <a:prstGeom prst="rect">
              <a:avLst/>
            </a:prstGeom>
            <a:noFill/>
            <a:ln>
              <a:noFill/>
            </a:ln>
          </p:spPr>
          <p:txBody>
            <a:bodyPr wrap="none" lIns="0" tIns="0" rIns="0" bIns="0" anchor="t" anchorCtr="0">
              <a:spAutoFit/>
            </a:bodyPr>
            <a:lstStyle/>
            <a:p>
              <a:pPr algn="l"/>
              <a:r>
                <a:rPr lang="ko-KR" sz="1200" b="1" dirty="0">
                  <a:solidFill>
                    <a:srgbClr val="0B1E3C"/>
                  </a:solidFill>
                  <a:latin typeface="+mn-lt"/>
                  <a:ea typeface="+mn-ea"/>
                  <a:cs typeface="+mn-cs"/>
                </a:rPr>
                <a:t>기아 PV5 수요 (계산)</a:t>
              </a:r>
            </a:p>
          </p:txBody>
        </p:sp>
        <p:sp>
          <p:nvSpPr>
            <p:cNvPr id="30" name="TextBox 30"/>
            <p:cNvSpPr txBox="1"/>
            <p:nvPr/>
          </p:nvSpPr>
          <p:spPr>
            <a:xfrm>
              <a:off x="8071485" y="2184400"/>
              <a:ext cx="2861066" cy="220028"/>
            </a:xfrm>
            <a:prstGeom prst="rect">
              <a:avLst/>
            </a:prstGeom>
            <a:noFill/>
            <a:ln>
              <a:noFill/>
            </a:ln>
          </p:spPr>
          <p:txBody>
            <a:bodyPr wrap="none" lIns="0" tIns="0" rIns="0" bIns="0" anchor="t" anchorCtr="0">
              <a:spAutoFit/>
            </a:bodyPr>
            <a:lstStyle/>
            <a:p>
              <a:pPr algn="l"/>
              <a:r>
                <a:rPr lang="ko-KR" sz="1120" dirty="0">
                  <a:solidFill>
                    <a:srgbClr val="374151"/>
                  </a:solidFill>
                  <a:latin typeface="+mn-lt"/>
                  <a:ea typeface="+mn-ea"/>
                  <a:cs typeface="+mn-cs"/>
                </a:rPr>
                <a:t>차량 매출 최대 약 44억 원 · 서울만 약 8대</a:t>
              </a:r>
            </a:p>
          </p:txBody>
        </p:sp>
      </p:grpSp>
      <p:grpSp>
        <p:nvGrpSpPr>
          <p:cNvPr id="49" name="ask"/>
          <p:cNvGrpSpPr/>
          <p:nvPr/>
        </p:nvGrpSpPr>
        <p:grpSpPr>
          <a:xfrm>
            <a:off x="527685" y="2660650"/>
            <a:ext cx="6101715" cy="2278952"/>
            <a:chOff x="527685" y="2660650"/>
            <a:chExt cx="6101715" cy="2278952"/>
          </a:xfrm>
        </p:grpSpPr>
        <p:sp>
          <p:nvSpPr>
            <p:cNvPr id="32" name="TextBox 32"/>
            <p:cNvSpPr txBox="1"/>
            <p:nvPr/>
          </p:nvSpPr>
          <p:spPr>
            <a:xfrm>
              <a:off x="527685" y="2660650"/>
              <a:ext cx="2930422" cy="220028"/>
            </a:xfrm>
            <a:prstGeom prst="rect">
              <a:avLst/>
            </a:prstGeom>
            <a:noFill/>
            <a:ln>
              <a:noFill/>
            </a:ln>
          </p:spPr>
          <p:txBody>
            <a:bodyPr wrap="none" lIns="0" tIns="0" rIns="0" bIns="0" anchor="t" anchorCtr="0">
              <a:spAutoFit/>
            </a:bodyPr>
            <a:lstStyle/>
            <a:p>
              <a:pPr algn="l"/>
              <a:r>
                <a:rPr lang="ko-KR" sz="1120" b="1" dirty="0">
                  <a:solidFill>
                    <a:srgbClr val="B45309"/>
                  </a:solidFill>
                  <a:latin typeface="+mn-lt"/>
                  <a:ea typeface="+mn-ea"/>
                  <a:cs typeface="+mn-cs"/>
                </a:rPr>
                <a:t>수상 후 첫 6개월 · 기아가 안내한 혜택으로</a:t>
              </a:r>
            </a:p>
          </p:txBody>
        </p:sp>
        <p:sp>
          <p:nvSpPr>
            <p:cNvPr id="33" name="Rectangle 33"/>
            <p:cNvSpPr/>
            <p:nvPr/>
          </p:nvSpPr>
          <p:spPr>
            <a:xfrm>
              <a:off x="533400" y="2895600"/>
              <a:ext cx="6096000" cy="28575"/>
            </a:xfrm>
            <a:prstGeom prst="rect">
              <a:avLst/>
            </a:prstGeom>
            <a:solidFill>
              <a:srgbClr val="0B1E3C"/>
            </a:solidFill>
            <a:ln>
              <a:noFill/>
            </a:ln>
          </p:spPr>
        </p:sp>
        <p:sp>
          <p:nvSpPr>
            <p:cNvPr id="34" name="TextBox 34"/>
            <p:cNvSpPr txBox="1"/>
            <p:nvPr/>
          </p:nvSpPr>
          <p:spPr>
            <a:xfrm>
              <a:off x="527685" y="3098800"/>
              <a:ext cx="98502" cy="220028"/>
            </a:xfrm>
            <a:prstGeom prst="rect">
              <a:avLst/>
            </a:prstGeom>
            <a:noFill/>
            <a:ln>
              <a:noFill/>
            </a:ln>
          </p:spPr>
          <p:txBody>
            <a:bodyPr wrap="none" lIns="0" tIns="0" rIns="0" bIns="0" anchor="t" anchorCtr="0">
              <a:spAutoFit/>
            </a:bodyPr>
            <a:lstStyle/>
            <a:p>
              <a:pPr algn="l"/>
              <a:r>
                <a:rPr lang="ko-KR" sz="1120" b="1" dirty="0">
                  <a:solidFill>
                    <a:srgbClr val="4B5563"/>
                  </a:solidFill>
                  <a:latin typeface="+mn-lt"/>
                  <a:ea typeface="+mn-ea"/>
                  <a:cs typeface="+mn-cs"/>
                </a:rPr>
                <a:t>1</a:t>
              </a:r>
            </a:p>
          </p:txBody>
        </p:sp>
        <p:sp>
          <p:nvSpPr>
            <p:cNvPr id="35" name="TextBox 35"/>
            <p:cNvSpPr txBox="1"/>
            <p:nvPr/>
          </p:nvSpPr>
          <p:spPr>
            <a:xfrm>
              <a:off x="754761" y="3060700"/>
              <a:ext cx="1695427" cy="278702"/>
            </a:xfrm>
            <a:prstGeom prst="rect">
              <a:avLst/>
            </a:prstGeom>
            <a:noFill/>
            <a:ln>
              <a:noFill/>
            </a:ln>
          </p:spPr>
          <p:txBody>
            <a:bodyPr wrap="none" lIns="0" tIns="0" rIns="0" bIns="0" anchor="t" anchorCtr="0">
              <a:spAutoFit/>
            </a:bodyPr>
            <a:lstStyle/>
            <a:p>
              <a:pPr algn="l"/>
              <a:r>
                <a:rPr lang="ko-KR" sz="1420" b="1" dirty="0">
                  <a:solidFill>
                    <a:srgbClr val="0B1E3C"/>
                  </a:solidFill>
                  <a:latin typeface="+mn-lt"/>
                  <a:ea typeface="+mn-ea"/>
                  <a:cs typeface="+mn-cs"/>
                </a:rPr>
                <a:t>PV5 실물 대여 검토</a:t>
              </a:r>
            </a:p>
          </p:txBody>
        </p:sp>
        <p:sp>
          <p:nvSpPr>
            <p:cNvPr id="36" name="TextBox 36"/>
            <p:cNvSpPr txBox="1"/>
            <p:nvPr/>
          </p:nvSpPr>
          <p:spPr>
            <a:xfrm>
              <a:off x="3613023" y="3086100"/>
              <a:ext cx="1960098" cy="250317"/>
            </a:xfrm>
            <a:prstGeom prst="rect">
              <a:avLst/>
            </a:prstGeom>
            <a:noFill/>
            <a:ln>
              <a:noFill/>
            </a:ln>
          </p:spPr>
          <p:txBody>
            <a:bodyPr wrap="none" lIns="0" tIns="0" rIns="0" bIns="0" anchor="t" anchorCtr="0">
              <a:spAutoFit/>
            </a:bodyPr>
            <a:lstStyle/>
            <a:p>
              <a:pPr algn="l"/>
              <a:r>
                <a:rPr lang="ko-KR" sz="1280" dirty="0">
                  <a:solidFill>
                    <a:srgbClr val="111827"/>
                  </a:solidFill>
                  <a:latin typeface="+mn-lt"/>
                  <a:ea typeface="+mn-ea"/>
                  <a:cs typeface="+mn-cs"/>
                </a:rPr>
                <a:t>→ 1단계 폐쇄 시험장 실증</a:t>
              </a:r>
            </a:p>
          </p:txBody>
        </p:sp>
        <p:sp>
          <p:nvSpPr>
            <p:cNvPr id="37" name="Line 37"/>
            <p:cNvSpPr/>
            <p:nvPr/>
          </p:nvSpPr>
          <p:spPr>
            <a:xfrm>
              <a:off x="533400" y="3448050"/>
              <a:ext cx="6096000" cy="9525"/>
            </a:xfrm>
            <a:custGeom>
              <a:avLst/>
              <a:gdLst/>
              <a:ahLst/>
              <a:cxnLst/>
              <a:rect l="l" t="t" r="r" b="b"/>
              <a:pathLst>
                <a:path w="6096000" h="9525">
                  <a:moveTo>
                    <a:pt x="0" y="0"/>
                  </a:moveTo>
                  <a:lnTo>
                    <a:pt x="6096000" y="0"/>
                  </a:lnTo>
                </a:path>
              </a:pathLst>
            </a:custGeom>
            <a:noFill/>
            <a:ln w="9525">
              <a:solidFill>
                <a:srgbClr val="E2E6EC"/>
              </a:solidFill>
            </a:ln>
          </p:spPr>
        </p:sp>
        <p:sp>
          <p:nvSpPr>
            <p:cNvPr id="38" name="TextBox 38"/>
            <p:cNvSpPr txBox="1"/>
            <p:nvPr/>
          </p:nvSpPr>
          <p:spPr>
            <a:xfrm>
              <a:off x="527685" y="3632200"/>
              <a:ext cx="98502" cy="220028"/>
            </a:xfrm>
            <a:prstGeom prst="rect">
              <a:avLst/>
            </a:prstGeom>
            <a:noFill/>
            <a:ln>
              <a:noFill/>
            </a:ln>
          </p:spPr>
          <p:txBody>
            <a:bodyPr wrap="none" lIns="0" tIns="0" rIns="0" bIns="0" anchor="t" anchorCtr="0">
              <a:spAutoFit/>
            </a:bodyPr>
            <a:lstStyle/>
            <a:p>
              <a:pPr algn="l"/>
              <a:r>
                <a:rPr lang="ko-KR" sz="1120" b="1" dirty="0">
                  <a:solidFill>
                    <a:srgbClr val="4B5563"/>
                  </a:solidFill>
                  <a:latin typeface="+mn-lt"/>
                  <a:ea typeface="+mn-ea"/>
                  <a:cs typeface="+mn-cs"/>
                </a:rPr>
                <a:t>2</a:t>
              </a:r>
            </a:p>
          </p:txBody>
        </p:sp>
        <p:sp>
          <p:nvSpPr>
            <p:cNvPr id="39" name="TextBox 39"/>
            <p:cNvSpPr txBox="1"/>
            <p:nvPr/>
          </p:nvSpPr>
          <p:spPr>
            <a:xfrm>
              <a:off x="754761" y="3594100"/>
              <a:ext cx="2156908" cy="278702"/>
            </a:xfrm>
            <a:prstGeom prst="rect">
              <a:avLst/>
            </a:prstGeom>
            <a:noFill/>
            <a:ln>
              <a:noFill/>
            </a:ln>
          </p:spPr>
          <p:txBody>
            <a:bodyPr wrap="none" lIns="0" tIns="0" rIns="0" bIns="0" anchor="t" anchorCtr="0">
              <a:spAutoFit/>
            </a:bodyPr>
            <a:lstStyle/>
            <a:p>
              <a:pPr algn="l"/>
              <a:r>
                <a:rPr lang="ko-KR" sz="1420" b="1" dirty="0">
                  <a:solidFill>
                    <a:srgbClr val="0B1E3C"/>
                  </a:solidFill>
                  <a:latin typeface="+mn-lt"/>
                  <a:ea typeface="+mn-ea"/>
                  <a:cs typeface="+mn-cs"/>
                </a:rPr>
                <a:t>전문가 멘토링·기술 지원</a:t>
              </a:r>
            </a:p>
          </p:txBody>
        </p:sp>
        <p:sp>
          <p:nvSpPr>
            <p:cNvPr id="40" name="TextBox 40"/>
            <p:cNvSpPr txBox="1"/>
            <p:nvPr/>
          </p:nvSpPr>
          <p:spPr>
            <a:xfrm>
              <a:off x="3613023" y="3619500"/>
              <a:ext cx="2099412" cy="250317"/>
            </a:xfrm>
            <a:prstGeom prst="rect">
              <a:avLst/>
            </a:prstGeom>
            <a:noFill/>
            <a:ln>
              <a:noFill/>
            </a:ln>
          </p:spPr>
          <p:txBody>
            <a:bodyPr wrap="none" lIns="0" tIns="0" rIns="0" bIns="0" anchor="t" anchorCtr="0">
              <a:spAutoFit/>
            </a:bodyPr>
            <a:lstStyle/>
            <a:p>
              <a:pPr algn="l"/>
              <a:r>
                <a:rPr lang="ko-KR" sz="1280" dirty="0">
                  <a:solidFill>
                    <a:srgbClr val="111827"/>
                  </a:solidFill>
                  <a:latin typeface="+mn-lt"/>
                  <a:ea typeface="+mn-ea"/>
                  <a:cs typeface="+mn-cs"/>
                </a:rPr>
                <a:t>→ GPR 장착·전원 간섭 검토</a:t>
              </a:r>
            </a:p>
          </p:txBody>
        </p:sp>
        <p:sp>
          <p:nvSpPr>
            <p:cNvPr id="41" name="Line 41"/>
            <p:cNvSpPr/>
            <p:nvPr/>
          </p:nvSpPr>
          <p:spPr>
            <a:xfrm>
              <a:off x="533400" y="3981450"/>
              <a:ext cx="6096000" cy="9525"/>
            </a:xfrm>
            <a:custGeom>
              <a:avLst/>
              <a:gdLst/>
              <a:ahLst/>
              <a:cxnLst/>
              <a:rect l="l" t="t" r="r" b="b"/>
              <a:pathLst>
                <a:path w="6096000" h="9525">
                  <a:moveTo>
                    <a:pt x="0" y="0"/>
                  </a:moveTo>
                  <a:lnTo>
                    <a:pt x="6096000" y="0"/>
                  </a:lnTo>
                </a:path>
              </a:pathLst>
            </a:custGeom>
            <a:noFill/>
            <a:ln w="9525">
              <a:solidFill>
                <a:srgbClr val="E2E6EC"/>
              </a:solidFill>
            </a:ln>
          </p:spPr>
        </p:sp>
        <p:sp>
          <p:nvSpPr>
            <p:cNvPr id="42" name="TextBox 42"/>
            <p:cNvSpPr txBox="1"/>
            <p:nvPr/>
          </p:nvSpPr>
          <p:spPr>
            <a:xfrm>
              <a:off x="527685" y="4165600"/>
              <a:ext cx="98502" cy="220028"/>
            </a:xfrm>
            <a:prstGeom prst="rect">
              <a:avLst/>
            </a:prstGeom>
            <a:noFill/>
            <a:ln>
              <a:noFill/>
            </a:ln>
          </p:spPr>
          <p:txBody>
            <a:bodyPr wrap="none" lIns="0" tIns="0" rIns="0" bIns="0" anchor="t" anchorCtr="0">
              <a:spAutoFit/>
            </a:bodyPr>
            <a:lstStyle/>
            <a:p>
              <a:pPr algn="l"/>
              <a:r>
                <a:rPr lang="ko-KR" sz="1120" b="1" dirty="0">
                  <a:solidFill>
                    <a:srgbClr val="4B5563"/>
                  </a:solidFill>
                  <a:latin typeface="+mn-lt"/>
                  <a:ea typeface="+mn-ea"/>
                  <a:cs typeface="+mn-cs"/>
                </a:rPr>
                <a:t>3</a:t>
              </a:r>
            </a:p>
          </p:txBody>
        </p:sp>
        <p:sp>
          <p:nvSpPr>
            <p:cNvPr id="43" name="TextBox 43"/>
            <p:cNvSpPr txBox="1"/>
            <p:nvPr/>
          </p:nvSpPr>
          <p:spPr>
            <a:xfrm>
              <a:off x="754761" y="4127500"/>
              <a:ext cx="1488739" cy="278702"/>
            </a:xfrm>
            <a:prstGeom prst="rect">
              <a:avLst/>
            </a:prstGeom>
            <a:noFill/>
            <a:ln>
              <a:noFill/>
            </a:ln>
          </p:spPr>
          <p:txBody>
            <a:bodyPr wrap="none" lIns="0" tIns="0" rIns="0" bIns="0" anchor="t" anchorCtr="0">
              <a:spAutoFit/>
            </a:bodyPr>
            <a:lstStyle/>
            <a:p>
              <a:pPr algn="l"/>
              <a:r>
                <a:rPr lang="ko-KR" sz="1420" b="1" dirty="0">
                  <a:solidFill>
                    <a:srgbClr val="0B1E3C"/>
                  </a:solidFill>
                  <a:latin typeface="+mn-lt"/>
                  <a:ea typeface="+mn-ea"/>
                  <a:cs typeface="+mn-cs"/>
                </a:rPr>
                <a:t>PoC·사업화 연계</a:t>
              </a:r>
            </a:p>
          </p:txBody>
        </p:sp>
        <p:sp>
          <p:nvSpPr>
            <p:cNvPr id="44" name="TextBox 44"/>
            <p:cNvSpPr txBox="1"/>
            <p:nvPr/>
          </p:nvSpPr>
          <p:spPr>
            <a:xfrm>
              <a:off x="3613023" y="4152900"/>
              <a:ext cx="1960098" cy="250317"/>
            </a:xfrm>
            <a:prstGeom prst="rect">
              <a:avLst/>
            </a:prstGeom>
            <a:noFill/>
            <a:ln>
              <a:noFill/>
            </a:ln>
          </p:spPr>
          <p:txBody>
            <a:bodyPr wrap="none" lIns="0" tIns="0" rIns="0" bIns="0" anchor="t" anchorCtr="0">
              <a:spAutoFit/>
            </a:bodyPr>
            <a:lstStyle/>
            <a:p>
              <a:pPr algn="l"/>
              <a:r>
                <a:rPr lang="ko-KR" sz="1280" dirty="0">
                  <a:solidFill>
                    <a:srgbClr val="111827"/>
                  </a:solidFill>
                  <a:latin typeface="+mn-lt"/>
                  <a:ea typeface="+mn-ea"/>
                  <a:cs typeface="+mn-cs"/>
                </a:rPr>
                <a:t>→ 지자체 1곳 파일럿 연결</a:t>
              </a:r>
            </a:p>
          </p:txBody>
        </p:sp>
        <p:sp>
          <p:nvSpPr>
            <p:cNvPr id="45" name="Line 45"/>
            <p:cNvSpPr/>
            <p:nvPr/>
          </p:nvSpPr>
          <p:spPr>
            <a:xfrm>
              <a:off x="533400" y="4514850"/>
              <a:ext cx="6096000" cy="9525"/>
            </a:xfrm>
            <a:custGeom>
              <a:avLst/>
              <a:gdLst/>
              <a:ahLst/>
              <a:cxnLst/>
              <a:rect l="l" t="t" r="r" b="b"/>
              <a:pathLst>
                <a:path w="6096000" h="9525">
                  <a:moveTo>
                    <a:pt x="0" y="0"/>
                  </a:moveTo>
                  <a:lnTo>
                    <a:pt x="6096000" y="0"/>
                  </a:lnTo>
                </a:path>
              </a:pathLst>
            </a:custGeom>
            <a:noFill/>
            <a:ln w="9525">
              <a:solidFill>
                <a:srgbClr val="E2E6EC"/>
              </a:solidFill>
            </a:ln>
          </p:spPr>
        </p:sp>
        <p:sp>
          <p:nvSpPr>
            <p:cNvPr id="46" name="TextBox 46"/>
            <p:cNvSpPr txBox="1"/>
            <p:nvPr/>
          </p:nvSpPr>
          <p:spPr>
            <a:xfrm>
              <a:off x="527685" y="4699000"/>
              <a:ext cx="98502" cy="220028"/>
            </a:xfrm>
            <a:prstGeom prst="rect">
              <a:avLst/>
            </a:prstGeom>
            <a:noFill/>
            <a:ln>
              <a:noFill/>
            </a:ln>
          </p:spPr>
          <p:txBody>
            <a:bodyPr wrap="none" lIns="0" tIns="0" rIns="0" bIns="0" anchor="t" anchorCtr="0">
              <a:spAutoFit/>
            </a:bodyPr>
            <a:lstStyle/>
            <a:p>
              <a:pPr algn="l"/>
              <a:r>
                <a:rPr lang="ko-KR" sz="1120" b="1" dirty="0">
                  <a:solidFill>
                    <a:srgbClr val="4B5563"/>
                  </a:solidFill>
                  <a:latin typeface="+mn-lt"/>
                  <a:ea typeface="+mn-ea"/>
                  <a:cs typeface="+mn-cs"/>
                </a:rPr>
                <a:t>4</a:t>
              </a:r>
            </a:p>
          </p:txBody>
        </p:sp>
        <p:sp>
          <p:nvSpPr>
            <p:cNvPr id="47" name="TextBox 47"/>
            <p:cNvSpPr txBox="1"/>
            <p:nvPr/>
          </p:nvSpPr>
          <p:spPr>
            <a:xfrm>
              <a:off x="754761" y="4660900"/>
              <a:ext cx="1664192" cy="278702"/>
            </a:xfrm>
            <a:prstGeom prst="rect">
              <a:avLst/>
            </a:prstGeom>
            <a:noFill/>
            <a:ln>
              <a:noFill/>
            </a:ln>
          </p:spPr>
          <p:txBody>
            <a:bodyPr wrap="none" lIns="0" tIns="0" rIns="0" bIns="0" anchor="t" anchorCtr="0">
              <a:spAutoFit/>
            </a:bodyPr>
            <a:lstStyle/>
            <a:p>
              <a:pPr algn="l"/>
              <a:r>
                <a:rPr lang="ko-KR" sz="1420" b="1" dirty="0">
                  <a:solidFill>
                    <a:srgbClr val="0B1E3C"/>
                  </a:solidFill>
                  <a:latin typeface="+mn-lt"/>
                  <a:ea typeface="+mn-ea"/>
                  <a:cs typeface="+mn-cs"/>
                </a:rPr>
                <a:t>기아 네트워크 협력</a:t>
              </a:r>
            </a:p>
          </p:txBody>
        </p:sp>
        <p:sp>
          <p:nvSpPr>
            <p:cNvPr id="48" name="TextBox 48"/>
            <p:cNvSpPr txBox="1"/>
            <p:nvPr/>
          </p:nvSpPr>
          <p:spPr>
            <a:xfrm>
              <a:off x="3613023" y="4686300"/>
              <a:ext cx="2554580" cy="250317"/>
            </a:xfrm>
            <a:prstGeom prst="rect">
              <a:avLst/>
            </a:prstGeom>
            <a:noFill/>
            <a:ln>
              <a:noFill/>
            </a:ln>
          </p:spPr>
          <p:txBody>
            <a:bodyPr wrap="none" lIns="0" tIns="0" rIns="0" bIns="0" anchor="t" anchorCtr="0">
              <a:spAutoFit/>
            </a:bodyPr>
            <a:lstStyle/>
            <a:p>
              <a:pPr algn="l"/>
              <a:r>
                <a:rPr lang="ko-KR" sz="1280" dirty="0">
                  <a:solidFill>
                    <a:srgbClr val="111827"/>
                  </a:solidFill>
                  <a:latin typeface="+mn-lt"/>
                  <a:ea typeface="+mn-ea"/>
                  <a:cs typeface="+mn-cs"/>
                </a:rPr>
                <a:t>→ 컨버전 파트너와 탐사실 키트화</a:t>
              </a:r>
            </a:p>
          </p:txBody>
        </p:sp>
      </p:grpSp>
      <p:grpSp>
        <p:nvGrpSpPr>
          <p:cNvPr id="57" name="next"/>
          <p:cNvGrpSpPr/>
          <p:nvPr/>
        </p:nvGrpSpPr>
        <p:grpSpPr>
          <a:xfrm>
            <a:off x="7003161" y="2660650"/>
            <a:ext cx="4655439" cy="2467928"/>
            <a:chOff x="7003161" y="2660650"/>
            <a:chExt cx="4655439" cy="2467928"/>
          </a:xfrm>
        </p:grpSpPr>
        <p:sp>
          <p:nvSpPr>
            <p:cNvPr id="50" name="TextBox 50"/>
            <p:cNvSpPr txBox="1"/>
            <p:nvPr/>
          </p:nvSpPr>
          <p:spPr>
            <a:xfrm>
              <a:off x="7004685" y="2660650"/>
              <a:ext cx="463753" cy="220028"/>
            </a:xfrm>
            <a:prstGeom prst="rect">
              <a:avLst/>
            </a:prstGeom>
            <a:noFill/>
            <a:ln>
              <a:noFill/>
            </a:ln>
          </p:spPr>
          <p:txBody>
            <a:bodyPr wrap="none" lIns="0" tIns="0" rIns="0" bIns="0" anchor="t" anchorCtr="0">
              <a:spAutoFit/>
            </a:bodyPr>
            <a:lstStyle/>
            <a:p>
              <a:pPr algn="l"/>
              <a:r>
                <a:rPr lang="ko-KR" sz="1120" b="1" dirty="0">
                  <a:solidFill>
                    <a:srgbClr val="B45309"/>
                  </a:solidFill>
                  <a:latin typeface="+mn-lt"/>
                  <a:ea typeface="+mn-ea"/>
                  <a:cs typeface="+mn-cs"/>
                </a:rPr>
                <a:t>그다음</a:t>
              </a:r>
            </a:p>
          </p:txBody>
        </p:sp>
        <p:sp>
          <p:nvSpPr>
            <p:cNvPr id="51" name="Rectangle 51"/>
            <p:cNvSpPr/>
            <p:nvPr/>
          </p:nvSpPr>
          <p:spPr>
            <a:xfrm>
              <a:off x="7010400" y="2895600"/>
              <a:ext cx="4648200" cy="28575"/>
            </a:xfrm>
            <a:prstGeom prst="rect">
              <a:avLst/>
            </a:prstGeom>
            <a:solidFill>
              <a:srgbClr val="0B1E3C"/>
            </a:solidFill>
            <a:ln>
              <a:noFill/>
            </a:ln>
          </p:spPr>
        </p:sp>
        <p:sp>
          <p:nvSpPr>
            <p:cNvPr id="52" name="TextBox 52"/>
            <p:cNvSpPr txBox="1"/>
            <p:nvPr/>
          </p:nvSpPr>
          <p:spPr>
            <a:xfrm>
              <a:off x="7003161" y="3060700"/>
              <a:ext cx="3416655" cy="278702"/>
            </a:xfrm>
            <a:prstGeom prst="rect">
              <a:avLst/>
            </a:prstGeom>
            <a:noFill/>
            <a:ln>
              <a:noFill/>
            </a:ln>
          </p:spPr>
          <p:txBody>
            <a:bodyPr wrap="none" lIns="0" tIns="0" rIns="0" bIns="0" anchor="t" anchorCtr="0">
              <a:spAutoFit/>
            </a:bodyPr>
            <a:lstStyle/>
            <a:p>
              <a:pPr algn="l"/>
              <a:r>
                <a:rPr lang="ko-KR" sz="1420" b="1" dirty="0">
                  <a:solidFill>
                    <a:srgbClr val="0B1E3C"/>
                  </a:solidFill>
                  <a:latin typeface="+mn-lt"/>
                  <a:ea typeface="+mn-ea"/>
                  <a:cs typeface="+mn-cs"/>
                </a:rPr>
                <a:t xml:space="preserve">1~2년 </a:t>
              </a:r>
              <a:r>
                <a:rPr lang="ko-KR" sz="1420" dirty="0">
                  <a:solidFill>
                    <a:srgbClr val="111827"/>
                  </a:solidFill>
                  <a:latin typeface="+mn-lt"/>
                  <a:ea typeface="+mn-ea"/>
                  <a:cs typeface="+mn-cs"/>
                </a:rPr>
                <a:t>조사기관과 시·군 용역 공동 수주</a:t>
              </a:r>
            </a:p>
          </p:txBody>
        </p:sp>
        <p:sp>
          <p:nvSpPr>
            <p:cNvPr id="53" name="TextBox 53"/>
            <p:cNvSpPr txBox="1"/>
            <p:nvPr/>
          </p:nvSpPr>
          <p:spPr>
            <a:xfrm>
              <a:off x="7003161" y="3594100"/>
              <a:ext cx="3282843" cy="278702"/>
            </a:xfrm>
            <a:prstGeom prst="rect">
              <a:avLst/>
            </a:prstGeom>
            <a:noFill/>
            <a:ln>
              <a:noFill/>
            </a:ln>
          </p:spPr>
          <p:txBody>
            <a:bodyPr wrap="none" lIns="0" tIns="0" rIns="0" bIns="0" anchor="t" anchorCtr="0">
              <a:spAutoFit/>
            </a:bodyPr>
            <a:lstStyle/>
            <a:p>
              <a:pPr algn="l"/>
              <a:r>
                <a:rPr lang="ko-KR" sz="1420" b="1" dirty="0">
                  <a:solidFill>
                    <a:srgbClr val="0B1E3C"/>
                  </a:solidFill>
                  <a:latin typeface="+mn-lt"/>
                  <a:ea typeface="+mn-ea"/>
                  <a:cs typeface="+mn-cs"/>
                </a:rPr>
                <a:t xml:space="preserve">2~3년 </a:t>
              </a:r>
              <a:r>
                <a:rPr lang="ko-KR" sz="1420" dirty="0">
                  <a:solidFill>
                    <a:srgbClr val="111827"/>
                  </a:solidFill>
                  <a:latin typeface="+mn-lt"/>
                  <a:ea typeface="+mn-ea"/>
                  <a:cs typeface="+mn-cs"/>
                </a:rPr>
                <a:t>혁신제품 지정 → 연간 관제 계약</a:t>
              </a:r>
            </a:p>
          </p:txBody>
        </p:sp>
        <p:sp>
          <p:nvSpPr>
            <p:cNvPr id="54" name="TextBox 54"/>
            <p:cNvSpPr txBox="1"/>
            <p:nvPr/>
          </p:nvSpPr>
          <p:spPr>
            <a:xfrm>
              <a:off x="7003161" y="4127500"/>
              <a:ext cx="3321048" cy="278702"/>
            </a:xfrm>
            <a:prstGeom prst="rect">
              <a:avLst/>
            </a:prstGeom>
            <a:noFill/>
            <a:ln>
              <a:noFill/>
            </a:ln>
          </p:spPr>
          <p:txBody>
            <a:bodyPr wrap="none" lIns="0" tIns="0" rIns="0" bIns="0" anchor="t" anchorCtr="0">
              <a:spAutoFit/>
            </a:bodyPr>
            <a:lstStyle/>
            <a:p>
              <a:pPr algn="l"/>
              <a:r>
                <a:rPr lang="ko-KR" sz="1420" b="1" dirty="0">
                  <a:solidFill>
                    <a:srgbClr val="0B1E3C"/>
                  </a:solidFill>
                  <a:latin typeface="+mn-lt"/>
                  <a:ea typeface="+mn-ea"/>
                  <a:cs typeface="+mn-cs"/>
                </a:rPr>
                <a:t xml:space="preserve">3년~ </a:t>
              </a:r>
              <a:r>
                <a:rPr lang="ko-KR" sz="1420" dirty="0">
                  <a:solidFill>
                    <a:srgbClr val="111827"/>
                  </a:solidFill>
                  <a:latin typeface="+mn-lt"/>
                  <a:ea typeface="+mn-ea"/>
                  <a:cs typeface="+mn-cs"/>
                </a:rPr>
                <a:t>권역별 PV5 플릿 · 상하수도 기관</a:t>
              </a:r>
            </a:p>
          </p:txBody>
        </p:sp>
        <p:sp>
          <p:nvSpPr>
            <p:cNvPr id="55" name="TextBox 55"/>
            <p:cNvSpPr txBox="1"/>
            <p:nvPr/>
          </p:nvSpPr>
          <p:spPr>
            <a:xfrm>
              <a:off x="7004685" y="4699000"/>
              <a:ext cx="3011841" cy="220028"/>
            </a:xfrm>
            <a:prstGeom prst="rect">
              <a:avLst/>
            </a:prstGeom>
            <a:noFill/>
            <a:ln>
              <a:noFill/>
            </a:ln>
          </p:spPr>
          <p:txBody>
            <a:bodyPr wrap="none" lIns="0" tIns="0" rIns="0" bIns="0" anchor="t" anchorCtr="0">
              <a:spAutoFit/>
            </a:bodyPr>
            <a:lstStyle/>
            <a:p>
              <a:pPr algn="l"/>
              <a:r>
                <a:rPr lang="ko-KR" sz="1120" dirty="0">
                  <a:solidFill>
                    <a:srgbClr val="374151"/>
                  </a:solidFill>
                  <a:latin typeface="+mn-lt"/>
                  <a:ea typeface="+mn-ea"/>
                  <a:cs typeface="+mn-cs"/>
                </a:rPr>
                <a:t>조달청 혁신제품: 지정 시 최대 6년 수의계약</a:t>
              </a:r>
            </a:p>
          </p:txBody>
        </p:sp>
        <p:sp>
          <p:nvSpPr>
            <p:cNvPr id="56" name="TextBox 56"/>
            <p:cNvSpPr txBox="1"/>
            <p:nvPr/>
          </p:nvSpPr>
          <p:spPr>
            <a:xfrm>
              <a:off x="7004685" y="4908550"/>
              <a:ext cx="2815834" cy="220028"/>
            </a:xfrm>
            <a:prstGeom prst="rect">
              <a:avLst/>
            </a:prstGeom>
            <a:noFill/>
            <a:ln>
              <a:noFill/>
            </a:ln>
          </p:spPr>
          <p:txBody>
            <a:bodyPr wrap="none" lIns="0" tIns="0" rIns="0" bIns="0" anchor="t" anchorCtr="0">
              <a:spAutoFit/>
            </a:bodyPr>
            <a:lstStyle/>
            <a:p>
              <a:pPr algn="l"/>
              <a:r>
                <a:rPr lang="ko-KR" sz="1120" dirty="0">
                  <a:solidFill>
                    <a:srgbClr val="374151"/>
                  </a:solidFill>
                  <a:latin typeface="+mn-lt"/>
                  <a:ea typeface="+mn-ea"/>
                  <a:cs typeface="+mn-cs"/>
                </a:rPr>
                <a:t>테스트베드서울: 과제당 최대 2억 원 실증</a:t>
              </a:r>
            </a:p>
          </p:txBody>
        </p:sp>
      </p:grpSp>
      <p:grpSp>
        <p:nvGrpSpPr>
          <p:cNvPr id="60" name="conclusion"/>
          <p:cNvGrpSpPr/>
          <p:nvPr/>
        </p:nvGrpSpPr>
        <p:grpSpPr>
          <a:xfrm>
            <a:off x="533400" y="5676900"/>
            <a:ext cx="8479960" cy="419100"/>
            <a:chOff x="533400" y="5676900"/>
            <a:chExt cx="8479960" cy="419100"/>
          </a:xfrm>
        </p:grpSpPr>
        <p:sp>
          <p:nvSpPr>
            <p:cNvPr id="58" name="Rectangle 58"/>
            <p:cNvSpPr/>
            <p:nvPr/>
          </p:nvSpPr>
          <p:spPr>
            <a:xfrm>
              <a:off x="533400" y="5676900"/>
              <a:ext cx="38100" cy="419100"/>
            </a:xfrm>
            <a:prstGeom prst="rect">
              <a:avLst/>
            </a:prstGeom>
            <a:solidFill>
              <a:srgbClr val="F5B700"/>
            </a:solidFill>
            <a:ln>
              <a:noFill/>
            </a:ln>
          </p:spPr>
        </p:sp>
        <p:sp>
          <p:nvSpPr>
            <p:cNvPr id="59" name="TextBox 59"/>
            <p:cNvSpPr txBox="1"/>
            <p:nvPr/>
          </p:nvSpPr>
          <p:spPr>
            <a:xfrm>
              <a:off x="715899" y="5772150"/>
              <a:ext cx="8297461" cy="308991"/>
            </a:xfrm>
            <a:prstGeom prst="rect">
              <a:avLst/>
            </a:prstGeom>
            <a:noFill/>
            <a:ln>
              <a:noFill/>
            </a:ln>
          </p:spPr>
          <p:txBody>
            <a:bodyPr wrap="none" lIns="0" tIns="0" rIns="0" bIns="0" anchor="t" anchorCtr="0">
              <a:spAutoFit/>
            </a:bodyPr>
            <a:lstStyle/>
            <a:p>
              <a:pPr algn="l"/>
              <a:r>
                <a:rPr lang="ko-KR" sz="1580" b="1" dirty="0">
                  <a:solidFill>
                    <a:srgbClr val="0B1E3C"/>
                  </a:solidFill>
                  <a:latin typeface="+mn-lt"/>
                  <a:ea typeface="+mn-ea"/>
                  <a:cs typeface="+mn-cs"/>
                </a:rPr>
                <a:t>새 예산이 아니라 지자체가 이미 쓰는 탐사 예산에서, 기아와 함께 첫 실증을 만듭니다.</a:t>
              </a:r>
            </a:p>
          </p:txBody>
        </p:sp>
      </p:grpSp>
      <p:grpSp>
        <p:nvGrpSpPr>
          <p:cNvPr id="62" name="source"/>
          <p:cNvGrpSpPr/>
          <p:nvPr/>
        </p:nvGrpSpPr>
        <p:grpSpPr>
          <a:xfrm>
            <a:off x="528447" y="6381750"/>
            <a:ext cx="10506489" cy="191643"/>
            <a:chOff x="528447" y="6381750"/>
            <a:chExt cx="10506489" cy="191643"/>
          </a:xfrm>
        </p:grpSpPr>
        <p:sp>
          <p:nvSpPr>
            <p:cNvPr id="61" name="TextBox 61"/>
            <p:cNvSpPr txBox="1"/>
            <p:nvPr/>
          </p:nvSpPr>
          <p:spPr>
            <a:xfrm>
              <a:off x="528447" y="6381750"/>
              <a:ext cx="10506489" cy="191643"/>
            </a:xfrm>
            <a:prstGeom prst="rect">
              <a:avLst/>
            </a:prstGeom>
            <a:noFill/>
            <a:ln>
              <a:noFill/>
            </a:ln>
          </p:spPr>
          <p:txBody>
            <a:bodyPr wrap="none" lIns="0" tIns="0" rIns="0" bIns="0" anchor="t" anchorCtr="0">
              <a:spAutoFit/>
            </a:bodyPr>
            <a:lstStyle/>
            <a:p>
              <a:pPr algn="l"/>
              <a:r>
                <a:rPr lang="ko-KR" sz="980" dirty="0">
                  <a:solidFill>
                    <a:srgbClr val="4B5563"/>
                  </a:solidFill>
                  <a:latin typeface="+mn-lt"/>
                  <a:ea typeface="+mn-ea"/>
                  <a:cs typeface="+mn-cs"/>
                </a:rPr>
                <a:t>출처: 나라장터 2026(R26BK01572949 · R26BK01599467 · R26BK01517362) · 헤럴드경제(2025.9.7) · 조달청 · 테스트베드서울 · 공모전 일반 부문 혜택 안내 · 일정은 목표</a:t>
              </a:r>
            </a:p>
          </p:txBody>
        </p:sp>
      </p:grpSp>
      <p:grpSp>
        <p:nvGrpSpPr>
          <p:cNvPr id="65" name="footer"/>
          <p:cNvGrpSpPr/>
          <p:nvPr/>
        </p:nvGrpSpPr>
        <p:grpSpPr>
          <a:xfrm>
            <a:off x="528638" y="6610350"/>
            <a:ext cx="11134724" cy="176212"/>
            <a:chOff x="528638" y="6610350"/>
            <a:chExt cx="11134724" cy="176212"/>
          </a:xfrm>
        </p:grpSpPr>
        <p:sp>
          <p:nvSpPr>
            <p:cNvPr id="63" name="TextBox 63"/>
            <p:cNvSpPr txBox="1"/>
            <p:nvPr/>
          </p:nvSpPr>
          <p:spPr>
            <a:xfrm>
              <a:off x="528638" y="6610350"/>
              <a:ext cx="1020324" cy="176212"/>
            </a:xfrm>
            <a:prstGeom prst="rect">
              <a:avLst/>
            </a:prstGeom>
            <a:noFill/>
            <a:ln>
              <a:noFill/>
            </a:ln>
          </p:spPr>
          <p:txBody>
            <a:bodyPr wrap="none" lIns="0" tIns="0" rIns="0" bIns="0" anchor="t" anchorCtr="0">
              <a:spAutoFit/>
            </a:bodyPr>
            <a:lstStyle/>
            <a:p>
              <a:pPr algn="l"/>
              <a:r>
                <a:rPr lang="en-US" sz="900" dirty="0">
                  <a:solidFill>
                    <a:srgbClr val="4B5563"/>
                  </a:solidFill>
                  <a:latin typeface="+mn-lt"/>
                  <a:ea typeface="+mn-ea"/>
                  <a:cs typeface="+mn-cs"/>
                </a:rPr>
                <a:t>PV5 GroundWatch</a:t>
              </a:r>
            </a:p>
          </p:txBody>
        </p:sp>
        <p:sp>
          <p:nvSpPr>
            <p:cNvPr id="64" name="TextBox 64"/>
            <p:cNvSpPr txBox="1"/>
            <p:nvPr/>
          </p:nvSpPr>
          <p:spPr>
            <a:xfrm>
              <a:off x="11247958" y="6610350"/>
              <a:ext cx="415404" cy="176212"/>
            </a:xfrm>
            <a:prstGeom prst="rect">
              <a:avLst/>
            </a:prstGeom>
            <a:noFill/>
            <a:ln>
              <a:noFill/>
            </a:ln>
          </p:spPr>
          <p:txBody>
            <a:bodyPr wrap="none" lIns="0" tIns="0" rIns="0" bIns="0" anchor="t" anchorCtr="0">
              <a:spAutoFit/>
            </a:bodyPr>
            <a:lstStyle/>
            <a:p>
              <a:pPr algn="r"/>
              <a:r>
                <a:rPr lang="ko-KR" sz="900" dirty="0">
                  <a:solidFill>
                    <a:srgbClr val="4B5563"/>
                  </a:solidFill>
                  <a:latin typeface="+mn-lt"/>
                  <a:ea typeface="+mn-ea"/>
                  <a:cs typeface="+mn-cs"/>
                </a:rPr>
                <a:t>14 / 15</a:t>
              </a:r>
            </a:p>
          </p:txBody>
        </p:sp>
      </p:grpSp>
    </p:spTree>
  </p:cSld>
  <p:clrMapOvr>
    <a:masterClrMapping/>
  </p:clrMapOvr>
  <p:transition xmlns:p14="http://schemas.microsoft.com/office/powerpoint/2010/main" p14:dur="400">
    <p:fade/>
  </p:transition>
</p:sld>
</file>

<file path=ppt/slides/slide1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pic>
        <p:nvPicPr>
          <p:cNvPr id="2" name="Image 2"/>
          <p:cNvPicPr>
            <a:picLocks noChangeAspect="1"/>
          </p:cNvPicPr>
          <p:nvPr/>
        </p:nvPicPr>
        <p:blipFill>
          <a:blip r:embed="rId2"/>
          <a:srcRect l="0" t="781" r="0" b="781"/>
          <a:stretch>
            <a:fillRect/>
          </a:stretch>
        </p:blipFill>
        <p:spPr>
          <a:xfrm>
            <a:off x="0" y="0"/>
            <a:ext cx="12192000" cy="6858000"/>
          </a:xfrm>
          <a:prstGeom prst="rect">
            <a:avLst/>
          </a:prstGeom>
        </p:spPr>
      </p:pic>
      <p:pic>
        <p:nvPicPr>
          <p:cNvPr id="3" name="Image 3"/>
          <p:cNvPicPr>
            <a:picLocks noChangeAspect="1"/>
          </p:cNvPicPr>
          <p:nvPr/>
        </p:nvPicPr>
        <p:blipFill>
          <a:blip r:embed="rId3"/>
          <a:stretch>
            <a:fillRect/>
          </a:stretch>
        </p:blipFill>
        <p:spPr>
          <a:xfrm>
            <a:off x="0" y="0"/>
            <a:ext cx="12192000" cy="6858000"/>
          </a:xfrm>
          <a:prstGeom prst="rect">
            <a:avLst/>
          </a:prstGeom>
        </p:spPr>
      </p:pic>
      <p:grpSp>
        <p:nvGrpSpPr>
          <p:cNvPr id="7" name="closing"/>
          <p:cNvGrpSpPr/>
          <p:nvPr/>
        </p:nvGrpSpPr>
        <p:grpSpPr>
          <a:xfrm>
            <a:off x="597408" y="5308600"/>
            <a:ext cx="4495114" cy="1136142"/>
            <a:chOff x="597408" y="5308600"/>
            <a:chExt cx="4495114" cy="1136142"/>
          </a:xfrm>
        </p:grpSpPr>
        <p:sp>
          <p:nvSpPr>
            <p:cNvPr id="4" name="TextBox 4"/>
            <p:cNvSpPr txBox="1"/>
            <p:nvPr/>
          </p:nvSpPr>
          <p:spPr>
            <a:xfrm>
              <a:off x="603885" y="5308600"/>
              <a:ext cx="2620353" cy="220028"/>
            </a:xfrm>
            <a:prstGeom prst="rect">
              <a:avLst/>
            </a:prstGeom>
            <a:noFill/>
            <a:ln>
              <a:noFill/>
            </a:ln>
          </p:spPr>
          <p:txBody>
            <a:bodyPr wrap="none" lIns="0" tIns="0" rIns="0" bIns="0" anchor="t" anchorCtr="0">
              <a:spAutoFit/>
            </a:bodyPr>
            <a:lstStyle/>
            <a:p>
              <a:pPr algn="l"/>
              <a:r>
                <a:rPr lang="ko-KR" sz="1120" b="1" dirty="0">
                  <a:solidFill>
                    <a:srgbClr val="F5B700"/>
                  </a:solidFill>
                  <a:latin typeface="+mn-lt"/>
                  <a:ea typeface="+mn-ea"/>
                  <a:cs typeface="+mn-cs"/>
                </a:rPr>
                <a:t>PV5 GroundWatch · 지하안전 순찰차</a:t>
              </a:r>
            </a:p>
          </p:txBody>
        </p:sp>
        <p:sp>
          <p:nvSpPr>
            <p:cNvPr id="5" name="TextBox 5"/>
            <p:cNvSpPr txBox="1"/>
            <p:nvPr/>
          </p:nvSpPr>
          <p:spPr>
            <a:xfrm>
              <a:off x="597408" y="5556250"/>
              <a:ext cx="3100989" cy="469392"/>
            </a:xfrm>
            <a:prstGeom prst="rect">
              <a:avLst/>
            </a:prstGeom>
            <a:noFill/>
            <a:ln>
              <a:noFill/>
            </a:ln>
          </p:spPr>
          <p:txBody>
            <a:bodyPr wrap="none" lIns="0" tIns="0" rIns="0" bIns="0" anchor="t" anchorCtr="0">
              <a:spAutoFit/>
            </a:bodyPr>
            <a:lstStyle/>
            <a:p>
              <a:pPr algn="l"/>
              <a:r>
                <a:rPr lang="ko-KR" sz="2400" b="1" dirty="0">
                  <a:solidFill>
                    <a:srgbClr val="FFFFFF"/>
                  </a:solidFill>
                  <a:latin typeface="+mn-lt"/>
                  <a:ea typeface="+mn-ea"/>
                  <a:cs typeface="+mn-cs"/>
                </a:rPr>
                <a:t>한 번의 조기 발견이,</a:t>
              </a:r>
            </a:p>
          </p:txBody>
        </p:sp>
        <p:sp>
          <p:nvSpPr>
            <p:cNvPr id="6" name="TextBox 6"/>
            <p:cNvSpPr txBox="1"/>
            <p:nvPr/>
          </p:nvSpPr>
          <p:spPr>
            <a:xfrm>
              <a:off x="597408" y="5975350"/>
              <a:ext cx="4495114" cy="469392"/>
            </a:xfrm>
            <a:prstGeom prst="rect">
              <a:avLst/>
            </a:prstGeom>
            <a:noFill/>
            <a:ln>
              <a:noFill/>
            </a:ln>
          </p:spPr>
          <p:txBody>
            <a:bodyPr wrap="none" lIns="0" tIns="0" rIns="0" bIns="0" anchor="t" anchorCtr="0">
              <a:spAutoFit/>
            </a:bodyPr>
            <a:lstStyle/>
            <a:p>
              <a:pPr algn="l"/>
              <a:r>
                <a:rPr lang="ko-KR" sz="2400" b="1" dirty="0">
                  <a:solidFill>
                    <a:srgbClr val="FFFFFF"/>
                  </a:solidFill>
                  <a:latin typeface="+mn-lt"/>
                  <a:ea typeface="+mn-ea"/>
                  <a:cs typeface="+mn-cs"/>
                </a:rPr>
                <a:t>한 사람의 무사 귀가가 되도록.</a:t>
              </a:r>
            </a:p>
          </p:txBody>
        </p:sp>
      </p:grpSp>
      <p:grpSp>
        <p:nvGrpSpPr>
          <p:cNvPr id="11" name="footer"/>
          <p:cNvGrpSpPr/>
          <p:nvPr/>
        </p:nvGrpSpPr>
        <p:grpSpPr>
          <a:xfrm>
            <a:off x="604266" y="6578600"/>
            <a:ext cx="11135487" cy="205359"/>
            <a:chOff x="604266" y="6578600"/>
            <a:chExt cx="11135487" cy="205359"/>
          </a:xfrm>
        </p:grpSpPr>
        <p:sp>
          <p:nvSpPr>
            <p:cNvPr id="8" name="TextBox 8"/>
            <p:cNvSpPr txBox="1"/>
            <p:nvPr/>
          </p:nvSpPr>
          <p:spPr>
            <a:xfrm>
              <a:off x="604266" y="6578600"/>
              <a:ext cx="2167044" cy="205359"/>
            </a:xfrm>
            <a:prstGeom prst="rect">
              <a:avLst/>
            </a:prstGeom>
            <a:noFill/>
            <a:ln>
              <a:noFill/>
            </a:ln>
          </p:spPr>
          <p:txBody>
            <a:bodyPr wrap="none" lIns="0" tIns="0" rIns="0" bIns="0" anchor="t" anchorCtr="0">
              <a:spAutoFit/>
            </a:bodyPr>
            <a:lstStyle/>
            <a:p>
              <a:pPr algn="l"/>
              <a:r>
                <a:rPr lang="ko-KR" sz="1050" b="1" dirty="0">
                  <a:solidFill>
                    <a:srgbClr val="F5B700"/>
                  </a:solidFill>
                  <a:latin typeface="+mn-lt"/>
                  <a:ea typeface="+mn-ea"/>
                  <a:cs typeface="+mn-cs"/>
                </a:rPr>
                <a:t>TEAM 한 명이라도 살릴 수 있다면</a:t>
              </a:r>
            </a:p>
          </p:txBody>
        </p:sp>
        <p:sp>
          <p:nvSpPr>
            <p:cNvPr id="9" name="TextBox 9"/>
            <p:cNvSpPr txBox="1"/>
            <p:nvPr/>
          </p:nvSpPr>
          <p:spPr>
            <a:xfrm>
              <a:off x="9295956" y="6604000"/>
              <a:ext cx="1186307" cy="161925"/>
            </a:xfrm>
            <a:prstGeom prst="rect">
              <a:avLst/>
            </a:prstGeom>
            <a:noFill/>
            <a:ln>
              <a:noFill/>
            </a:ln>
          </p:spPr>
          <p:txBody>
            <a:bodyPr wrap="none" lIns="0" tIns="0" rIns="0" bIns="0" anchor="t" anchorCtr="0">
              <a:spAutoFit/>
            </a:bodyPr>
            <a:lstStyle/>
            <a:p>
              <a:pPr algn="r"/>
              <a:r>
                <a:rPr lang="ko-KR" sz="820" dirty="0">
                  <a:solidFill>
                    <a:srgbClr val="C3CCD9"/>
                  </a:solidFill>
                  <a:latin typeface="+mn-lt"/>
                  <a:ea typeface="+mn-ea"/>
                  <a:cs typeface="+mn-cs"/>
                </a:rPr>
                <a:t>PV5 기반 콘셉트 이미지</a:t>
              </a:r>
            </a:p>
          </p:txBody>
        </p:sp>
        <p:sp>
          <p:nvSpPr>
            <p:cNvPr id="10" name="TextBox 10"/>
            <p:cNvSpPr txBox="1"/>
            <p:nvPr/>
          </p:nvSpPr>
          <p:spPr>
            <a:xfrm>
              <a:off x="11265792" y="6591300"/>
              <a:ext cx="473961" cy="191643"/>
            </a:xfrm>
            <a:prstGeom prst="rect">
              <a:avLst/>
            </a:prstGeom>
            <a:noFill/>
            <a:ln>
              <a:noFill/>
            </a:ln>
          </p:spPr>
          <p:txBody>
            <a:bodyPr wrap="none" lIns="0" tIns="0" rIns="0" bIns="0" anchor="t" anchorCtr="0">
              <a:spAutoFit/>
            </a:bodyPr>
            <a:lstStyle/>
            <a:p>
              <a:pPr algn="r"/>
              <a:r>
                <a:rPr lang="ko-KR" sz="980" b="1" dirty="0">
                  <a:solidFill>
                    <a:srgbClr val="F5B700"/>
                  </a:solidFill>
                  <a:latin typeface="+mn-lt"/>
                  <a:ea typeface="+mn-ea"/>
                  <a:cs typeface="+mn-cs"/>
                </a:rPr>
                <a:t>15 / 15</a:t>
              </a:r>
            </a:p>
          </p:txBody>
        </p:sp>
      </p:grpSp>
    </p:spTree>
  </p:cSld>
  <p:clrMapOvr>
    <a:masterClrMapping/>
  </p:clrMapOvr>
  <p:transition xmlns:p14="http://schemas.microsoft.com/office/powerpoint/2010/main" p14:dur="400">
    <p:fade/>
  </p:transition>
</p:sld>
</file>

<file path=ppt/theme/theme1.xml><?xml version="1.0" encoding="utf-8"?>
<a:theme xmlns:a="http://schemas.openxmlformats.org/drawingml/2006/main" name="deck_v5">
  <a:themeElements>
    <a:clrScheme name="deck_v5">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deck_v5">
      <a:majorFont>
        <a:latin typeface="Pretendard"/>
        <a:ea typeface="Pretendard"/>
        <a:cs typeface="Pretendard"/>
        <a:font script="Jpan" typeface="Pretendard"/>
        <a:font script="Hang" typeface="Pretendard"/>
        <a:font script="Hans" typeface="Pretendard"/>
        <a:font script="Hant" typeface="Pretendard"/>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Pretendard"/>
        <a:ea typeface="Pretendard"/>
        <a:cs typeface="Pretendard"/>
        <a:font script="Jpan" typeface="Pretendard"/>
        <a:font script="Hang" typeface="Pretendard"/>
        <a:font script="Hans" typeface="Pretendard"/>
        <a:font script="Hant" typeface="Pretendard"/>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deck_v5">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deck_v5">
  <a:themeElements>
    <a:clrScheme name="deck_v5">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deck_v5">
      <a:majorFont>
        <a:latin typeface="Pretendard"/>
        <a:ea typeface="Pretendard"/>
        <a:cs typeface="Pretendard"/>
        <a:font script="Jpan" typeface="Pretendard"/>
        <a:font script="Hang" typeface="Pretendard"/>
        <a:font script="Hans" typeface="Pretendard"/>
        <a:font script="Hant" typeface="Pretendard"/>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Pretendard"/>
        <a:ea typeface="Pretendard"/>
        <a:cs typeface="Pretendard"/>
        <a:font script="Jpan" typeface="Pretendard"/>
        <a:font script="Hang" typeface="Pretendard"/>
        <a:font script="Hans" typeface="Pretendard"/>
        <a:font script="Hant" typeface="Pretendard"/>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deck_v5">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Office PowerPoint</Application>
  <PresentationFormat>On-screen Show (16:9)</PresentationFormat>
  <Paragraphs>0</Paragraphs>
  <Slides>15</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
  <dc:language>ko-KR</dc:language>
  <cp:lastModifiedBy/>
  <cp:revision>1</cp:revision>
  <dcterms:created xsi:type="dcterms:W3CDTF">2026-10-23T08:01:41Z</dcterms:created>
  <dcterms:modified xsi:type="dcterms:W3CDTF">2026-10-23T08:01:41Z</dcterms:modified>
  <cp:category/>
  <cp:contentStatus/>
</cp:coreProperties>
</file>