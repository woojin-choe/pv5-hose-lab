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  <Relationship Id="rId22"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지표투과레이더(GPR)로 같은 길을 반복해서 보고, 구멍이 되기 전의 변화를 찾습니다. 표지는 새벽 한강변 도로를 순찰하는 PV5와 도로 아래 GPR 탐사를 표현한 PV5 기반 콘셉트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한 장으로 요약합니다. 문제는 2024년 연희동처럼 GPR 탐사에서 '이상 없음'이 나온 도로가 100여 일 뒤 무너지는 일, 즉 법정 점검 5년, 서울시 1년이라는 탐사와 탐사 사이의 공백입니다. 해법은 PV5가 같은 길을 약 2개월마다 GPR로 다시 찍고, AI가 지난 회차와 달라진 곳만 골라 전문가가 승인하면 작업자가 현장에서 재확인하는 것입니다. PV5는 차량 내비·화면과 탐사 장비를 연동하고, V2L·L-Track으로 싣고 고정하며, 공식 컨버전 체계로 같은 탐사실을 복제합니다. 사업은 현행 단가(서울시 2024년 공동조사 km당 약 92만 원)와 비교해, 반복 탐사 원가 km당 약 4.7만 원으로 같은 길을 1년에 6번 보는 구조입니다. GroundWatch는 기아 공모전이 공공서비스 특화 예시로 든 '첨단 장비 탑재 스마트 순찰 및 재난 대응 차량'(컨버전 부문 예시, kiapbvidea.com)을 땅 아래로 넓힌 제안입니다.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a:p>
            <a:pPr/>
            <a:r>
              <a:rPr lang="ko-KR" dirty="0"/>
              <a:t>사고 원인은 서울시가 경사지 매립층, 지하수위 변화, 지하매설물, 주변 공사가 겹친 복합 요인으로 발표했고 하나로 확정되지 않았습니다. 그래서 이 사례는 '그 사이에 무슨 일이 있었는지 기록이 없다'는 공백의 근거로만 씁니다.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서울시는 이미 대규모로 GPR 탐사를 하고 있습니다. 2014년부터 2025년 9월까지 차량 GPR로 누적 33,129km를 탐사해 공동 7,760개를 찾았고, 약 4.3km마다 공동 하나가 나온 셈입니다(메트로신문 2025.10.19 https://www.metroseoul.co.kr/article/20251019500165). 2026년에는 탐사 범위를 16,423km로 늘리고 GPR 인력을 9명에서 19명으로 늘립니다(머니투데이 2026.3.23 https://www.mt.co.kr/estate/2026/03/23/2026032311394354905). 차량탑재형 GPR은 한 번에 폭 3m 이내를 탐지합니다(서울시 https://news.seoul.go.kr/safe/archives/41339). 지금의 흐름은 조사 대상 선정, 차량형 GPR 스캔, 판독, 수동 GPR 재조사, 천공·내시경 확인, 복구 순서입니다. GPR 기술은 이미 검증돼 있습니다. GroundWatch가 바꾸는 것은 한 번 스캔하고 끝나는 방식이며, 같은 길은 다음 정기점검 때가 돼야 다시 봅니다. 사진은 수동형 GPR 장비 예시이며 The Charles Machine Works, CC BY-SA 2.0입니다.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줄이겠다고 발표했습니다(이투데이 2025.4.23). 그래도 연희동은 탐사에서 함몰까지 100여 일이었습니다.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 연희동 공동을 5월 탐사가 놓쳤는지, 그 뒤에 생겼는지는 한 번의 탐사 결과로는 구분할 수 없습니다. 어느 쪽이든 회차를 비교하면 작은 신호가 커지는 과정이 드러납니다.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a:p>
            <a:pPr/>
            <a:r>
              <a:rPr lang="ko-KR" dirty="0"/>
              <a:t>연희동처럼 한 번의 탐사에서 보이지 않던 공동도, 탐지 한계 아래였거나 탐사 뒤에 생겨 자랐을 수 있습니다. 그래서 한 번의 판독이 아니라 회차 사이의 변화를 봅니다. 단면도는 원리 설명용 3D 도식이며 깊이 비례가 아닙니다.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약 2개월마다 반복 주행하며 GPR과 카메라 데이터를 함께 모으고, 위치·깊이·시간 기준으로 4D 지도에 저장합니다. 회차 간 위치를 맞춘 차분으로 달라진 곳을 고르고(이 장의 시뮬레이션으로 검증), AI는 그 신호가 공동인지 배관인지 유형을 분류하며,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위 세 화면은 2D 전자기 시뮬레이션으로 계산한 회차별 GPR 단면(B-scan)과, 위치를 맞춰 뺀 차이입니다. GroundWatch의 새로운 점은 장비가 아니라 변화를 판정하는 방법입니다. 일본 후지사와시는 지오서치와 함께 이미 발견한 공동 중 위험도가 낮은 것을 경과관찰하며 모니터링합니다(지오서치·후지사와시 보고, https://www.city.fujisawa.kanagawa.jp/documents/34128/20250822174442.pdf). 일본 국토교통성 연구(30-5)는 후쿠오카시와 후지사와시에 노선을 정해 3개월마다 공동 모니터링을 했고 공동 성장 속도의 실측값을 얻었습니다(https://www.mlit.go.jp/road/tech/hyouka/h30/30-5_houkoku.pdf). GroundWatch는 이를 연구 노선이 아니라 업무 노선 전체로, 이미 발견된 공동이 아니라 '이상 없음' 구간까지 넓혀, 지난 회차와 위치를 맞춰 뺀 차이만 판독하고, 같은 차에서 바로 재탐사하는 상시 업무로 만듭니다. 방법이 동작하는지 2D 전자기 파동 시뮬레이션(FDTD)으로 확인했습니다. 400MHz 안테나, 토양 비유전율 9, 지름 0.8m 하수관 위 반경 18cm 공동을 기준 회차로 두고, 공동이 5cm·10cm·20cm 자란 회차와 공동은 그대로인데 잡음·재포장·함수비 변화·주행선 8cm 어긋남만 있는 대조 회차를 계산했습니다. 같은 처리(배경 제거, 위치 정합, 차분)를 거친 변화 신호 세기를 가장 큰 오탐 요인 기준 1로 나타내면, 20cm 성장 2.9, 10cm 2.4, 5cm 1.4였고 오탐 요인은 주행선 8cm 1.0, 함수비 0.8, 재포장 0.3, 잡음 0.1이었습니다. 10cm 이상 자란 공동은 오탐 요인보다 2배 넘는 신호로 구분되지만 5cm는 경계이며, 가장 큰 오탐 요인이 주행선 어긋남이므로 회차 간 위치 정합이 1순위 실증 과제입니다. 이것은 시뮬레이션이며 실측이 아닙니다. 계산 코드는 build/fdtd_sweep.py와 build/sweep_eval.py에 있습니다.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운전석 화면은 PV5 실내 사진(Alexander Migl, CC BY-SA 4.0)에 화면을 합성한 예시이고, AR 도로 장면은 연출 이미지이며 수치는 예시입니다.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기본 600kg, 기아 순정 액세서리 장착 시 550kg입니다(기아 공식 제원표)(기아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순정 액세서리 장착 기준 최대 적재 550kg의 약 55%,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 다른 밴에 장비를 싣는 것과 달리 PV5에서는 차가 탐사 업무의 일부가 됩니다. 근거는 기아가 공개한 기능입니다. 공모전 솔루션 부문 안내에 따르면 Pleos Connect SDK는 차량 정보 조회와 내비게이션 연계를 API로 제공하며, Vehicle API(시트·조명·공조·도어·충전 상태·카메라 등), Navihelper(내비게이션 지도와 목적지·경로 연계), Gleo AI(음성 명령과 TTS·STT), Pleos App Market(검증·심사 후 지원 차종·지역 배포)이 예시로 제시됩니다(https://kiapbvidea.com/page3). 또 PV5 컨버전에는 IVI로 차량 데이터를 송수신하고 외부 전장 제품을 제어하는 PIM(PBV Interface Module) 제어기와 추가 전장 제품에 12V 전력을 연결하는 조인트 블록이 적용됩니다(오토뷰 2026.1.28 https://www.autoview.co.kr/ko-kr/articles/98843). GroundWatch는 이를 재확인 지점 내비 안내, 배터리 하한 시 장비 전원 정리와 문 열림 시 현장 작업 모드, 운전 중 음성 기록, 차량 화면에서 GPR·작업등 제어, 다른 지자체 PV5로의 앱 배포에 씁니다. 실제 제공 범위와 권한, 주행 중 사용 조건은 지원 차종·지역과 별도 정책에 따르므로 기아 PBV 파트너 승인 후 확정합니다. 배치도는 PV5 기반 콘셉트 이미지로, A 분석 장비 랙, B 수동 GPR과 AR 글래스, C 내시경과 안전장비, D 바닥 아래 차량형 다채널 GPR을 보여줍니다. PV5는 바닥 아래에 구동 배터리가 있으므로 GPR 장착 위치는 배터리 팩·지상고 간섭 시험 후 확정하며, 구조변경은 기아 컨버전 파트너를 거칩니다. 차량 연동은 기아 공모전 안내의 Pleos Connect SDK(Vehicle API, Navihelper)로 재확인 지점을 내비에 안내하고, 여러 대는 단말기 설치 없이 위치·차량 상태를 관제하는 Pleos Fleet(기아 PV5 카고 카탈로그 2026.9)으로 운영합니다.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차량 3D 데이터와 인증자료를 주는 PBV 컨버전 포털, 12V 조인트 블록과 PIM 제어기를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지금 단가부터 봅니다. 서울시 2024년 지반침하 특별점검 공동조사용역은 사업비 17억 8,090만 원으로 1,930.6km를 조사했습니다. km당 약 92만 원이며, 1차 차량형 탐사와 2차 핸디형 확인, 천공 499곳, 공동 신속복구 285곳이 모두 포함된 금액입니다(서울시 최종보고서 2024.10, 계약 2024.4.29~10.15). GroundWatch 차량 1대의 연간 원가는 가설로 3.09억 원입니다. PV5 4,520만 원과 차량형 GPR 5억 원(서울시가 3대를 15억 원에 도입, 이투데이 2025.4.23)을 5년 감가하고, 현장 2인 1.2억 원, 판독 전문가 0.5인 0.4억 원, 수동 GPR·AR·클라우드·보험·유지 0.4억 원을 더했습니다. 하루 30km, 220일이면 연 6,600km이므로 반복 탐사 원가는 km당 약 4.7만 원입니다. 보고서의 실제 장비 탐사 속도는 시속 20~30km라 처리량은 보수적으로 잡았습니다. 같은 도로 1km를 1년 동안 보면, 현행 전체 공정 1회는 약 92만 원이고 GroundWatch 반복 탐사 6회는 약 28만 원입니다. 천공과 복구 같은 2차 조사는 변화가 나온 곳에만 지금 단가대로 붙습니다. 즉 현행 1회 비용의 약 3분의 1로 같은 길을 1년에 6번 봅니다. 원가는 파일럿에서 확정할 가설입니다.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GroundWatch의 구매자는 이미 GPR 탐사 예산을 쓰는 서울시·자치구 도로관리 부서, 도시철도 공사 발주기관, 상하수도 관리기관입니다. 실제 사용자는 지하안전·도로관리 담당자, GPR 판독 전문가, 2인 1조 현장 조사원입니다. 첫 계약은 기존 GPR 조사기관과 함께 수행하고, PV5 특장(컨버전) 업체와 GIS·AR 장비사가 협력합니다. 기아는 탐사형 PV5 컨버전 플릿을 판매하고, Pleos 차량 앱의 공공 업무 레퍼런스를 얻으며, 같은 키트로 지자체마다 탐사실을 복제할 수 있습니다. 회차 데이터가 쌓이면 하수관 노후도, 굴착공사, 강우 이력과 겹쳐 다음 순찰의 우선순위를 정합니다. 지하 데이터는 제3자에게 판매하지 않고, 계약기관 내부에서 접근 권한에 따라서만 씁니다. 구매·협력 구조와 데이터 원칙은 제안 단계의 가설입니다. 이 방향은 기아가 이미 가고 있는 길입니다. 기아 공모전 컨버전 부문은 공공서비스 특화 예시로 '첨단 장비 탑재 스마트 순찰 및 재난 대응 차량'과 '이동형 환경 데이터 수집/분석 스테이션'을 제시했고(kiapbvidea.com), 일반 부문도 '지역 사회 기여: 재해 대응/안전 서비스'를 예시로 듭니다. 기아는 2026년 6월 부산모빌리티쇼에서 경찰청과 협업한 PV5 기반 AI 순찰차(4K AI 카메라 3개·드론 스테이션)를 공개했습니다(머니투데이 2026.6.26 https://www.mt.co.kr/industry/2026/06/26/2026062517564330792). 기아가 지상을 보는 순찰차를 만들었다면, GroundWatch는 지하를 보는 PV5 순찰차입니다.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안양 8,522만 원(R26BK01572949), 강동구 1억 4,052만 원(R26BK01599467), 용인 기흥구 1억 7,736만 원(R26BK01490375), 용인 긴급 1억 8,950만 원(R26BK01517362)에 낙찰됐습니다(나라장터,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지자체로, 2026년 강동구 노면하부공동탐사 연간단가 용역이 1억 4,052만 원에 낙찰됐습니다(나라장터 R26BK01599467). 첫 계약은 기존 GPR 조사기관과 공동 수행하고, 가격은 첫 해 기존 용역 단가 수준에서 시작하고, 연간 관제는 관리 구간 km와 재확인 건수 기준으로 산정합니다(가설). 지하정보는 제3자에게 판매하지 않습니다. 기아에게 생기는 수요를 계산했습니다. 지자체가 관리하는 도로 96,712km를 약 2개월마다 보려면, 차량 1대가 연 6,600km로 약 1,000km를 맡는다는 가설에서 최대 약 97대가 필요합니다(전 구간을 2개월마다 볼 때의 최대치). 기아의 차량 매출로는 최대 약 44억 원(97대 × 4,520만 원)이며, GPR 장비 매출은 파트너 몫입니다. 서울 도로 8,342km만 맡으면 약 8대입니다(지자체 관리 도로 96,712km는 2025년 말 기준 국가지표체계, 서울 8,342km는 2024년 서울시 도로현황). 대수는 많지 않지만 PV5와 업무 앱을 묶은 공공 레퍼런스의 첫 사례가 됩니다. 수상 후 첫 6개월에 기아에 요청하는 것은 공모전이 이미 안내한 혜택(PV5 대여 검토, PoC·사업화 연계, 멘토링)과 공개 개발자 환경입니다. 일반 부문 공식 혜택에 맞춰, PV5 실물 대여 검토로 1단계 폐쇄 시험장 실증을, 전문가 멘토링·기술 지원으로 GPR 장착 위치·전원 간섭 검토를, PoC·사업화 연계로 지자체 1곳 파일럿을, 기아 네트워크 협력으로 컨버전 파트너와 탐사실 키트화를 진행하고자 합니다. 일정은 목표입니다.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회차마다 따로 보는 탐사를 같은 길의 변화를 보는 탐사로, 사람이 다시 찾아야 하는 의심 지점을 현장에서 바로 확인하는 재탐사로, 장비를 실은 차를 업무에 연동된 PV5 탐사실로 바꾸고, 기아에는 공공 탐사용 PV5 플릿 수요(최대 약 97대)를 만듭니다. 한 번의 조기 발견이 한 사람의 무사 귀가가 되도록, PV5 GroundWatch를 제안합니다. 감사합니다. 마지막 사진도 실제 PV5 카고 사진(Alexander Migl, CC BY-SA 4.0)을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c9c445fbc8c70d4.jp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71777acfc4f5e2f.png"/>
  <Relationship Id="rId3" Type="http://schemas.openxmlformats.org/officeDocument/2006/relationships/image" Target="../media/image_fa22147239f313de.png"/>
  <Relationship Id="rId4" Type="http://schemas.openxmlformats.org/officeDocument/2006/relationships/image" Target="../media/image_a2ed7a41ebc22144.png"/>
  <Relationship Id="rId5"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edd896b72e7ad5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7c61102523c82ce.png"/>
  <Relationship Id="rId3" Type="http://schemas.openxmlformats.org/officeDocument/2006/relationships/image" Target="../media/image_520a869e500b72a0.png"/>
  <Relationship Id="rId4" Type="http://schemas.openxmlformats.org/officeDocument/2006/relationships/image" Target="../media/image_808608ffd9ac7105.png"/>
  <Relationship Id="rId5"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c2d3e48633539ec.png"/>
  <Relationship Id="rId3"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cover-bg"/>
          <p:cNvSpPr/>
          <p:nvPr/>
        </p:nvSpPr>
        <p:spPr>
          <a:xfrm>
            <a:off x="0" y="0"/>
            <a:ext cx="12192000" cy="6858000"/>
          </a:xfrm>
          <a:prstGeom prst="rect">
            <a:avLst/>
          </a:prstGeom>
          <a:solidFill>
            <a:srgbClr val="0B1E3C"/>
          </a:solidFill>
          <a:ln>
            <a:noFill/>
          </a:ln>
        </p:spPr>
      </p:sp>
      <p:pic>
        <p:nvPicPr>
          <p:cNvPr id="3"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4"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6" name="cover-kicker"/>
          <p:cNvGrpSpPr/>
          <p:nvPr/>
        </p:nvGrpSpPr>
        <p:grpSpPr>
          <a:xfrm>
            <a:off x="603123" y="1924050"/>
            <a:ext cx="3498208" cy="250317"/>
            <a:chOff x="603123" y="1924050"/>
            <a:chExt cx="3498208" cy="250317"/>
          </a:xfrm>
        </p:grpSpPr>
        <p:sp>
          <p:nvSpPr>
            <p:cNvPr id="5" name="TextBox 5"/>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9" name="cover-title"/>
          <p:cNvGrpSpPr/>
          <p:nvPr/>
        </p:nvGrpSpPr>
        <p:grpSpPr>
          <a:xfrm>
            <a:off x="590550" y="2254250"/>
            <a:ext cx="3634424" cy="1600200"/>
            <a:chOff x="590550" y="2254250"/>
            <a:chExt cx="3634424" cy="1600200"/>
          </a:xfrm>
        </p:grpSpPr>
        <p:sp>
          <p:nvSpPr>
            <p:cNvPr id="7" name="TextBox 7"/>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8" name="TextBox 8"/>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1" name="cover-subtitle"/>
          <p:cNvGrpSpPr/>
          <p:nvPr/>
        </p:nvGrpSpPr>
        <p:grpSpPr>
          <a:xfrm>
            <a:off x="598170" y="3797300"/>
            <a:ext cx="2893819" cy="440055"/>
            <a:chOff x="598170" y="3797300"/>
            <a:chExt cx="2893819" cy="440055"/>
          </a:xfrm>
        </p:grpSpPr>
        <p:sp>
          <p:nvSpPr>
            <p:cNvPr id="10" name="TextBox 10"/>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4" name="cover-tagline"/>
          <p:cNvGrpSpPr/>
          <p:nvPr/>
        </p:nvGrpSpPr>
        <p:grpSpPr>
          <a:xfrm>
            <a:off x="601599" y="4381500"/>
            <a:ext cx="4530852" cy="785241"/>
            <a:chOff x="601599" y="4381500"/>
            <a:chExt cx="4530852" cy="785241"/>
          </a:xfrm>
        </p:grpSpPr>
        <p:sp>
          <p:nvSpPr>
            <p:cNvPr id="12" name="Rectangle 12"/>
            <p:cNvSpPr/>
            <p:nvPr/>
          </p:nvSpPr>
          <p:spPr>
            <a:xfrm>
              <a:off x="609600" y="4381500"/>
              <a:ext cx="457200" cy="28575"/>
            </a:xfrm>
            <a:prstGeom prst="rect">
              <a:avLst/>
            </a:prstGeom>
            <a:solidFill>
              <a:srgbClr val="F5B700"/>
            </a:solidFill>
            <a:ln>
              <a:noFill/>
            </a:ln>
          </p:spPr>
        </p:sp>
        <p:sp>
          <p:nvSpPr>
            <p:cNvPr id="13" name="TextBox 13"/>
            <p:cNvSpPr txBox="1"/>
            <p:nvPr/>
          </p:nvSpPr>
          <p:spPr>
            <a:xfrm>
              <a:off x="601599" y="4552950"/>
              <a:ext cx="4530852"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지표투과레이더(GPR)로 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7" name="cover-team"/>
          <p:cNvGrpSpPr/>
          <p:nvPr/>
        </p:nvGrpSpPr>
        <p:grpSpPr>
          <a:xfrm>
            <a:off x="601218" y="5784850"/>
            <a:ext cx="2739992" cy="583057"/>
            <a:chOff x="601218" y="5784850"/>
            <a:chExt cx="2739992" cy="583057"/>
          </a:xfrm>
        </p:grpSpPr>
        <p:sp>
          <p:nvSpPr>
            <p:cNvPr id="15" name="TextBox 15"/>
            <p:cNvSpPr txBox="1"/>
            <p:nvPr/>
          </p:nvSpPr>
          <p:spPr>
            <a:xfrm>
              <a:off x="603885" y="5784850"/>
              <a:ext cx="412888" cy="220028"/>
            </a:xfrm>
            <a:prstGeom prst="rect">
              <a:avLst/>
            </a:prstGeom>
            <a:noFill/>
            <a:ln>
              <a:noFill/>
            </a:ln>
          </p:spPr>
          <p:txBody>
            <a:bodyPr wrap="none" lIns="0" tIns="0" rIns="0" bIns="0" anchor="t" anchorCtr="0">
              <a:spAutoFit/>
            </a:bodyPr>
            <a:lstStyle/>
            <a:p>
              <a:pPr algn="l"/>
              <a:r>
                <a:rPr lang="en-US" sz="1120" b="1" dirty="0">
                  <a:solidFill>
                    <a:srgbClr val="F5B700"/>
                  </a:solidFill>
                  <a:latin typeface="+mn-lt"/>
                  <a:ea typeface="+mn-ea"/>
                  <a:cs typeface="+mn-cs"/>
                </a:rPr>
                <a:t>TEAM</a:t>
              </a:r>
            </a:p>
          </p:txBody>
        </p:sp>
        <p:sp>
          <p:nvSpPr>
            <p:cNvPr id="16" name="TextBox 16"/>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20" name="cover-date"/>
          <p:cNvGrpSpPr/>
          <p:nvPr/>
        </p:nvGrpSpPr>
        <p:grpSpPr>
          <a:xfrm>
            <a:off x="10553256" y="6299200"/>
            <a:ext cx="1186497" cy="369443"/>
            <a:chOff x="10553256" y="6299200"/>
            <a:chExt cx="1186497" cy="369443"/>
          </a:xfrm>
        </p:grpSpPr>
        <p:sp>
          <p:nvSpPr>
            <p:cNvPr id="18" name="TextBox 18"/>
            <p:cNvSpPr txBox="1"/>
            <p:nvPr/>
          </p:nvSpPr>
          <p:spPr>
            <a:xfrm>
              <a:off x="10553256" y="6299200"/>
              <a:ext cx="1186307" cy="161925"/>
            </a:xfrm>
            <a:prstGeom prst="rect">
              <a:avLst/>
            </a:prstGeom>
            <a:noFill/>
            <a:ln>
              <a:noFill/>
            </a:ln>
          </p:spPr>
          <p:txBody>
            <a:bodyPr wrap="none" lIns="0" tIns="0" rIns="0" bIns="0" anchor="t" anchorCtr="0">
              <a:spAutoFit/>
            </a:bodyPr>
            <a:lstStyle/>
            <a:p>
              <a:pPr algn="r"/>
              <a:r>
                <a:rPr lang="ko-KR" sz="820" dirty="0">
                  <a:solidFill>
                    <a:srgbClr val="C3CCD9"/>
                  </a:solidFill>
                  <a:latin typeface="+mn-lt"/>
                  <a:ea typeface="+mn-ea"/>
                  <a:cs typeface="+mn-cs"/>
                </a:rPr>
                <a:t>PV5 기반 콘셉트 이미지</a:t>
              </a:r>
            </a:p>
          </p:txBody>
        </p:sp>
        <p:sp>
          <p:nvSpPr>
            <p:cNvPr id="19" name="TextBox 19"/>
            <p:cNvSpPr txBox="1"/>
            <p:nvPr/>
          </p:nvSpPr>
          <p:spPr>
            <a:xfrm>
              <a:off x="11221926" y="6477000"/>
              <a:ext cx="517827"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5"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66088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한 장 요약</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4" name="Line 14"/>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7" name="title"/>
          <p:cNvGrpSpPr/>
          <p:nvPr/>
        </p:nvGrpSpPr>
        <p:grpSpPr>
          <a:xfrm>
            <a:off x="518160" y="774700"/>
            <a:ext cx="9945591" cy="586740"/>
            <a:chOff x="518160" y="774700"/>
            <a:chExt cx="9945591" cy="586740"/>
          </a:xfrm>
        </p:grpSpPr>
        <p:sp>
          <p:nvSpPr>
            <p:cNvPr id="16" name="TextBox 16"/>
            <p:cNvSpPr txBox="1"/>
            <p:nvPr/>
          </p:nvSpPr>
          <p:spPr>
            <a:xfrm>
              <a:off x="518160" y="774700"/>
              <a:ext cx="994559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GroundWatch는 탐사와 탐사 ‘사이’의 공백을 메웁니다</a:t>
              </a:r>
            </a:p>
          </p:txBody>
        </p:sp>
      </p:grpSp>
      <p:grpSp>
        <p:nvGrpSpPr>
          <p:cNvPr id="23" name="col0"/>
          <p:cNvGrpSpPr/>
          <p:nvPr/>
        </p:nvGrpSpPr>
        <p:grpSpPr>
          <a:xfrm>
            <a:off x="524637" y="1600200"/>
            <a:ext cx="2618613" cy="2023428"/>
            <a:chOff x="524637" y="1600200"/>
            <a:chExt cx="2618613" cy="2023428"/>
          </a:xfrm>
        </p:grpSpPr>
        <p:sp>
          <p:nvSpPr>
            <p:cNvPr id="18" name="Rectangle 18"/>
            <p:cNvSpPr/>
            <p:nvPr/>
          </p:nvSpPr>
          <p:spPr>
            <a:xfrm>
              <a:off x="533400" y="1600200"/>
              <a:ext cx="2609850" cy="28575"/>
            </a:xfrm>
            <a:prstGeom prst="rect">
              <a:avLst/>
            </a:prstGeom>
            <a:solidFill>
              <a:srgbClr val="C62828"/>
            </a:solidFill>
            <a:ln>
              <a:noFill/>
            </a:ln>
          </p:spPr>
        </p:sp>
        <p:sp>
          <p:nvSpPr>
            <p:cNvPr id="19" name="TextBox 19"/>
            <p:cNvSpPr txBox="1"/>
            <p:nvPr/>
          </p:nvSpPr>
          <p:spPr>
            <a:xfrm>
              <a:off x="527304" y="1771650"/>
              <a:ext cx="335280" cy="234696"/>
            </a:xfrm>
            <a:prstGeom prst="rect">
              <a:avLst/>
            </a:prstGeom>
            <a:noFill/>
            <a:ln>
              <a:noFill/>
            </a:ln>
          </p:spPr>
          <p:txBody>
            <a:bodyPr wrap="none" lIns="0" tIns="0" rIns="0" bIns="0" anchor="t" anchorCtr="0">
              <a:spAutoFit/>
            </a:bodyPr>
            <a:lstStyle/>
            <a:p>
              <a:pPr algn="l"/>
              <a:r>
                <a:rPr lang="ko-KR" sz="1200" b="1" dirty="0">
                  <a:solidFill>
                    <a:srgbClr val="C62828"/>
                  </a:solidFill>
                  <a:latin typeface="+mn-lt"/>
                  <a:ea typeface="+mn-ea"/>
                  <a:cs typeface="+mn-cs"/>
                </a:rPr>
                <a:t>문제</a:t>
              </a:r>
            </a:p>
          </p:txBody>
        </p:sp>
        <p:sp>
          <p:nvSpPr>
            <p:cNvPr id="20" name="TextBox 20"/>
            <p:cNvSpPr txBox="1"/>
            <p:nvPr/>
          </p:nvSpPr>
          <p:spPr>
            <a:xfrm>
              <a:off x="52463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탐사 100여 일 뒤 함몰</a:t>
              </a:r>
            </a:p>
          </p:txBody>
        </p:sp>
        <p:sp>
          <p:nvSpPr>
            <p:cNvPr id="21" name="TextBox 21"/>
            <p:cNvSpPr txBox="1"/>
            <p:nvPr/>
          </p:nvSpPr>
          <p:spPr>
            <a:xfrm>
              <a:off x="526923" y="2520950"/>
              <a:ext cx="199618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법정 점검 5년, 서울 1년.</a:t>
              </a:r>
              <a:br>
                <a:rPr lang="ko-KR" sz="1280" dirty="0">
                  <a:solidFill>
                    <a:srgbClr val="374151"/>
                  </a:solidFill>
                  <a:latin typeface="+mn-lt"/>
                  <a:ea typeface="+mn-ea"/>
                  <a:cs typeface="+mn-cs"/>
                </a:rPr>
              </a:br>
              <a:r>
                <a:rPr lang="ko-KR" sz="1280" dirty="0">
                  <a:solidFill>
                    <a:srgbClr val="374151"/>
                  </a:solidFill>
                  <a:latin typeface="+mn-lt"/>
                  <a:ea typeface="+mn-ea"/>
                  <a:cs typeface="+mn-cs"/>
                </a:rPr>
                <a:t>그 사이 자라는 얕은 공동을</a:t>
              </a:r>
              <a:br>
                <a:rPr lang="ko-KR" sz="1280" dirty="0">
                  <a:solidFill>
                    <a:srgbClr val="374151"/>
                  </a:solidFill>
                  <a:latin typeface="+mn-lt"/>
                  <a:ea typeface="+mn-ea"/>
                  <a:cs typeface="+mn-cs"/>
                </a:rPr>
              </a:br>
              <a:r>
                <a:rPr lang="ko-KR" sz="1280" dirty="0">
                  <a:solidFill>
                    <a:srgbClr val="374151"/>
                  </a:solidFill>
                  <a:latin typeface="+mn-lt"/>
                  <a:ea typeface="+mn-ea"/>
                  <a:cs typeface="+mn-cs"/>
                </a:rPr>
                <a:t>아무도 보지 못합니다.</a:t>
              </a:r>
            </a:p>
          </p:txBody>
        </p:sp>
        <p:sp>
          <p:nvSpPr>
            <p:cNvPr id="22" name="TextBox 22"/>
            <p:cNvSpPr txBox="1"/>
            <p:nvPr/>
          </p:nvSpPr>
          <p:spPr>
            <a:xfrm>
              <a:off x="52768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3~6장</a:t>
              </a:r>
            </a:p>
          </p:txBody>
        </p:sp>
      </p:grpSp>
      <p:grpSp>
        <p:nvGrpSpPr>
          <p:cNvPr id="29" name="col1"/>
          <p:cNvGrpSpPr/>
          <p:nvPr/>
        </p:nvGrpSpPr>
        <p:grpSpPr>
          <a:xfrm>
            <a:off x="3363087" y="1600200"/>
            <a:ext cx="2618613" cy="2023428"/>
            <a:chOff x="3363087" y="1600200"/>
            <a:chExt cx="2618613" cy="2023428"/>
          </a:xfrm>
        </p:grpSpPr>
        <p:sp>
          <p:nvSpPr>
            <p:cNvPr id="24" name="Rectangle 24"/>
            <p:cNvSpPr/>
            <p:nvPr/>
          </p:nvSpPr>
          <p:spPr>
            <a:xfrm>
              <a:off x="3371850" y="1600200"/>
              <a:ext cx="2609850" cy="28575"/>
            </a:xfrm>
            <a:prstGeom prst="rect">
              <a:avLst/>
            </a:prstGeom>
            <a:solidFill>
              <a:srgbClr val="0B1E3C"/>
            </a:solidFill>
            <a:ln>
              <a:noFill/>
            </a:ln>
          </p:spPr>
        </p:sp>
        <p:sp>
          <p:nvSpPr>
            <p:cNvPr id="25" name="TextBox 25"/>
            <p:cNvSpPr txBox="1"/>
            <p:nvPr/>
          </p:nvSpPr>
          <p:spPr>
            <a:xfrm>
              <a:off x="33657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해법</a:t>
              </a:r>
            </a:p>
          </p:txBody>
        </p:sp>
        <p:sp>
          <p:nvSpPr>
            <p:cNvPr id="26" name="TextBox 26"/>
            <p:cNvSpPr txBox="1"/>
            <p:nvPr/>
          </p:nvSpPr>
          <p:spPr>
            <a:xfrm>
              <a:off x="3363087" y="2070100"/>
              <a:ext cx="245397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같은 길을 약 2개월마다</a:t>
              </a:r>
            </a:p>
          </p:txBody>
        </p:sp>
        <p:sp>
          <p:nvSpPr>
            <p:cNvPr id="27" name="TextBox 27"/>
            <p:cNvSpPr txBox="1"/>
            <p:nvPr/>
          </p:nvSpPr>
          <p:spPr>
            <a:xfrm>
              <a:off x="3365373" y="2520950"/>
              <a:ext cx="1776730"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PV5가 GPR로 다시 찍고,</a:t>
              </a:r>
              <a:br>
                <a:rPr lang="ko-KR" sz="1280" dirty="0">
                  <a:solidFill>
                    <a:srgbClr val="374151"/>
                  </a:solidFill>
                  <a:latin typeface="+mn-lt"/>
                  <a:ea typeface="+mn-ea"/>
                  <a:cs typeface="+mn-cs"/>
                </a:rPr>
              </a:br>
              <a:r>
                <a:rPr lang="ko-KR" sz="1280" dirty="0">
                  <a:solidFill>
                    <a:srgbClr val="374151"/>
                  </a:solidFill>
                  <a:latin typeface="+mn-lt"/>
                  <a:ea typeface="+mn-ea"/>
                  <a:cs typeface="+mn-cs"/>
                </a:rPr>
                <a:t>달라진 곳만 골라</a:t>
              </a:r>
              <a:br>
                <a:rPr lang="ko-KR" sz="1280" dirty="0">
                  <a:solidFill>
                    <a:srgbClr val="374151"/>
                  </a:solidFill>
                  <a:latin typeface="+mn-lt"/>
                  <a:ea typeface="+mn-ea"/>
                  <a:cs typeface="+mn-cs"/>
                </a:rPr>
              </a:br>
              <a:r>
                <a:rPr lang="ko-KR" sz="1280" dirty="0">
                  <a:solidFill>
                    <a:srgbClr val="374151"/>
                  </a:solidFill>
                  <a:latin typeface="+mn-lt"/>
                  <a:ea typeface="+mn-ea"/>
                  <a:cs typeface="+mn-cs"/>
                </a:rPr>
                <a:t>현장에서 재확인합니다.</a:t>
              </a:r>
            </a:p>
          </p:txBody>
        </p:sp>
        <p:sp>
          <p:nvSpPr>
            <p:cNvPr id="28" name="TextBox 28"/>
            <p:cNvSpPr txBox="1"/>
            <p:nvPr/>
          </p:nvSpPr>
          <p:spPr>
            <a:xfrm>
              <a:off x="3366135" y="3403600"/>
              <a:ext cx="1036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7~8장</a:t>
              </a:r>
            </a:p>
          </p:txBody>
        </p:sp>
      </p:grpSp>
      <p:grpSp>
        <p:nvGrpSpPr>
          <p:cNvPr id="35" name="col2"/>
          <p:cNvGrpSpPr/>
          <p:nvPr/>
        </p:nvGrpSpPr>
        <p:grpSpPr>
          <a:xfrm>
            <a:off x="6201537" y="1600200"/>
            <a:ext cx="2618613" cy="2023428"/>
            <a:chOff x="6201537" y="1600200"/>
            <a:chExt cx="2618613" cy="2023428"/>
          </a:xfrm>
        </p:grpSpPr>
        <p:sp>
          <p:nvSpPr>
            <p:cNvPr id="30" name="Rectangle 30"/>
            <p:cNvSpPr/>
            <p:nvPr/>
          </p:nvSpPr>
          <p:spPr>
            <a:xfrm>
              <a:off x="6210300" y="1600200"/>
              <a:ext cx="2609850" cy="28575"/>
            </a:xfrm>
            <a:prstGeom prst="rect">
              <a:avLst/>
            </a:prstGeom>
            <a:solidFill>
              <a:srgbClr val="0B1E3C"/>
            </a:solidFill>
            <a:ln>
              <a:noFill/>
            </a:ln>
          </p:spPr>
        </p:sp>
        <p:sp>
          <p:nvSpPr>
            <p:cNvPr id="31" name="TextBox 31"/>
            <p:cNvSpPr txBox="1"/>
            <p:nvPr/>
          </p:nvSpPr>
          <p:spPr>
            <a:xfrm>
              <a:off x="6204204" y="1771650"/>
              <a:ext cx="52322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왜 PV5</a:t>
              </a:r>
            </a:p>
          </p:txBody>
        </p:sp>
        <p:sp>
          <p:nvSpPr>
            <p:cNvPr id="32" name="TextBox 32"/>
            <p:cNvSpPr txBox="1"/>
            <p:nvPr/>
          </p:nvSpPr>
          <p:spPr>
            <a:xfrm>
              <a:off x="6201537" y="2070100"/>
              <a:ext cx="232025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차가 업무의 일부가 됨</a:t>
              </a:r>
            </a:p>
          </p:txBody>
        </p:sp>
        <p:sp>
          <p:nvSpPr>
            <p:cNvPr id="33" name="TextBox 33"/>
            <p:cNvSpPr txBox="1"/>
            <p:nvPr/>
          </p:nvSpPr>
          <p:spPr>
            <a:xfrm>
              <a:off x="6203823" y="2520950"/>
              <a:ext cx="2158746"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차량 내비·화면과 연동하고,</a:t>
              </a:r>
              <a:br>
                <a:rPr lang="ko-KR" sz="1280" dirty="0">
                  <a:solidFill>
                    <a:srgbClr val="374151"/>
                  </a:solidFill>
                  <a:latin typeface="+mn-lt"/>
                  <a:ea typeface="+mn-ea"/>
                  <a:cs typeface="+mn-cs"/>
                </a:rPr>
              </a:br>
              <a:r>
                <a:rPr lang="ko-KR" sz="1280" dirty="0">
                  <a:solidFill>
                    <a:srgbClr val="374151"/>
                  </a:solidFill>
                  <a:latin typeface="+mn-lt"/>
                  <a:ea typeface="+mn-ea"/>
                  <a:cs typeface="+mn-cs"/>
                </a:rPr>
                <a:t>V2L·L-Track으로 싣고 고정,</a:t>
              </a:r>
              <a:br>
                <a:rPr lang="ko-KR" sz="1280" dirty="0">
                  <a:solidFill>
                    <a:srgbClr val="374151"/>
                  </a:solidFill>
                  <a:latin typeface="+mn-lt"/>
                  <a:ea typeface="+mn-ea"/>
                  <a:cs typeface="+mn-cs"/>
                </a:rPr>
              </a:br>
              <a:r>
                <a:rPr lang="ko-KR" sz="1280" dirty="0">
                  <a:solidFill>
                    <a:srgbClr val="374151"/>
                  </a:solidFill>
                  <a:latin typeface="+mn-lt"/>
                  <a:ea typeface="+mn-ea"/>
                  <a:cs typeface="+mn-cs"/>
                </a:rPr>
                <a:t>공식 컨버전으로 복제.</a:t>
              </a:r>
            </a:p>
          </p:txBody>
        </p:sp>
        <p:sp>
          <p:nvSpPr>
            <p:cNvPr id="34" name="TextBox 34"/>
            <p:cNvSpPr txBox="1"/>
            <p:nvPr/>
          </p:nvSpPr>
          <p:spPr>
            <a:xfrm>
              <a:off x="6204585" y="3403600"/>
              <a:ext cx="111962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9~10장</a:t>
              </a:r>
            </a:p>
          </p:txBody>
        </p:sp>
      </p:grpSp>
      <p:grpSp>
        <p:nvGrpSpPr>
          <p:cNvPr id="41" name="col3"/>
          <p:cNvGrpSpPr/>
          <p:nvPr/>
        </p:nvGrpSpPr>
        <p:grpSpPr>
          <a:xfrm>
            <a:off x="9039987" y="1600200"/>
            <a:ext cx="2618613" cy="2023428"/>
            <a:chOff x="9039987" y="1600200"/>
            <a:chExt cx="2618613" cy="2023428"/>
          </a:xfrm>
        </p:grpSpPr>
        <p:sp>
          <p:nvSpPr>
            <p:cNvPr id="36" name="Rectangle 36"/>
            <p:cNvSpPr/>
            <p:nvPr/>
          </p:nvSpPr>
          <p:spPr>
            <a:xfrm>
              <a:off x="9048750" y="1600200"/>
              <a:ext cx="2609850" cy="28575"/>
            </a:xfrm>
            <a:prstGeom prst="rect">
              <a:avLst/>
            </a:prstGeom>
            <a:solidFill>
              <a:srgbClr val="0B1E3C"/>
            </a:solidFill>
            <a:ln>
              <a:noFill/>
            </a:ln>
          </p:spPr>
        </p:sp>
        <p:sp>
          <p:nvSpPr>
            <p:cNvPr id="37" name="TextBox 37"/>
            <p:cNvSpPr txBox="1"/>
            <p:nvPr/>
          </p:nvSpPr>
          <p:spPr>
            <a:xfrm>
              <a:off x="9042654" y="1771650"/>
              <a:ext cx="335280" cy="234696"/>
            </a:xfrm>
            <a:prstGeom prst="rect">
              <a:avLst/>
            </a:prstGeom>
            <a:noFill/>
            <a:ln>
              <a:noFill/>
            </a:ln>
          </p:spPr>
          <p:txBody>
            <a:bodyPr wrap="none" lIns="0" tIns="0" rIns="0" bIns="0" anchor="t" anchorCtr="0">
              <a:spAutoFit/>
            </a:bodyPr>
            <a:lstStyle/>
            <a:p>
              <a:pPr algn="l"/>
              <a:r>
                <a:rPr lang="ko-KR" sz="1200" b="1" dirty="0">
                  <a:solidFill>
                    <a:srgbClr val="B45309"/>
                  </a:solidFill>
                  <a:latin typeface="+mn-lt"/>
                  <a:ea typeface="+mn-ea"/>
                  <a:cs typeface="+mn-cs"/>
                </a:rPr>
                <a:t>사업</a:t>
              </a:r>
            </a:p>
          </p:txBody>
        </p:sp>
        <p:sp>
          <p:nvSpPr>
            <p:cNvPr id="38" name="TextBox 38"/>
            <p:cNvSpPr txBox="1"/>
            <p:nvPr/>
          </p:nvSpPr>
          <p:spPr>
            <a:xfrm>
              <a:off x="9039987" y="2070100"/>
              <a:ext cx="2331253"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6번 보고 비용 3분의 1</a:t>
              </a:r>
            </a:p>
          </p:txBody>
        </p:sp>
        <p:sp>
          <p:nvSpPr>
            <p:cNvPr id="39" name="TextBox 39"/>
            <p:cNvSpPr txBox="1"/>
            <p:nvPr/>
          </p:nvSpPr>
          <p:spPr>
            <a:xfrm>
              <a:off x="9042273" y="2520950"/>
              <a:ext cx="1866138" cy="669417"/>
            </a:xfrm>
            <a:prstGeom prst="rect">
              <a:avLst/>
            </a:prstGeom>
            <a:noFill/>
            <a:ln>
              <a:noFill/>
            </a:ln>
          </p:spPr>
          <p:txBody>
            <a:bodyPr wrap="none" lIns="0" tIns="0" rIns="0" bIns="0" anchor="t" anchorCtr="0">
              <a:spAutoFit/>
            </a:bodyPr>
            <a:lstStyle/>
            <a:p>
              <a:pPr algn="l">
                <a:lnSpc>
                  <a:spcPts val="1650"/>
                </a:lnSpc>
              </a:pPr>
              <a:r>
                <a:rPr lang="ko-KR" sz="1280" dirty="0">
                  <a:solidFill>
                    <a:srgbClr val="374151"/>
                  </a:solidFill>
                  <a:latin typeface="+mn-lt"/>
                  <a:ea typeface="+mn-ea"/>
                  <a:cs typeface="+mn-cs"/>
                </a:rPr>
                <a:t>현행 km당 92만 원 vs</a:t>
              </a:r>
              <a:br>
                <a:rPr lang="ko-KR" sz="1280" dirty="0">
                  <a:solidFill>
                    <a:srgbClr val="374151"/>
                  </a:solidFill>
                  <a:latin typeface="+mn-lt"/>
                  <a:ea typeface="+mn-ea"/>
                  <a:cs typeface="+mn-cs"/>
                </a:rPr>
              </a:br>
              <a:r>
                <a:rPr lang="ko-KR" sz="1280" dirty="0">
                  <a:solidFill>
                    <a:srgbClr val="374151"/>
                  </a:solidFill>
                  <a:latin typeface="+mn-lt"/>
                  <a:ea typeface="+mn-ea"/>
                  <a:cs typeface="+mn-cs"/>
                </a:rPr>
                <a:t>반복 탐사 원가 4.7만 원.</a:t>
              </a:r>
              <a:br>
                <a:rPr lang="ko-KR" sz="1280" dirty="0">
                  <a:solidFill>
                    <a:srgbClr val="374151"/>
                  </a:solidFill>
                  <a:latin typeface="+mn-lt"/>
                  <a:ea typeface="+mn-ea"/>
                  <a:cs typeface="+mn-cs"/>
                </a:rPr>
              </a:br>
              <a:r>
                <a:rPr lang="ko-KR" sz="1280" dirty="0">
                  <a:solidFill>
                    <a:srgbClr val="374151"/>
                  </a:solidFill>
                  <a:latin typeface="+mn-lt"/>
                  <a:ea typeface="+mn-ea"/>
                  <a:cs typeface="+mn-cs"/>
                </a:rPr>
                <a:t>실증은 4단계로.</a:t>
              </a:r>
            </a:p>
          </p:txBody>
        </p:sp>
        <p:sp>
          <p:nvSpPr>
            <p:cNvPr id="40" name="TextBox 40"/>
            <p:cNvSpPr txBox="1"/>
            <p:nvPr/>
          </p:nvSpPr>
          <p:spPr>
            <a:xfrm>
              <a:off x="9043035" y="3403600"/>
              <a:ext cx="1202548"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자세히 → 11~14장</a:t>
              </a:r>
            </a:p>
          </p:txBody>
        </p:sp>
      </p:grpSp>
      <p:grpSp>
        <p:nvGrpSpPr>
          <p:cNvPr id="52" name="keynum"/>
          <p:cNvGrpSpPr/>
          <p:nvPr/>
        </p:nvGrpSpPr>
        <p:grpSpPr>
          <a:xfrm>
            <a:off x="521208" y="4260850"/>
            <a:ext cx="11137392" cy="1058228"/>
            <a:chOff x="521208" y="4260850"/>
            <a:chExt cx="11137392" cy="1058228"/>
          </a:xfrm>
        </p:grpSpPr>
        <p:sp>
          <p:nvSpPr>
            <p:cNvPr id="42" name="TextBox 42"/>
            <p:cNvSpPr txBox="1"/>
            <p:nvPr/>
          </p:nvSpPr>
          <p:spPr>
            <a:xfrm>
              <a:off x="527685" y="4260850"/>
              <a:ext cx="1161839"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숫자 셋으로 보면</a:t>
              </a:r>
            </a:p>
          </p:txBody>
        </p:sp>
        <p:sp>
          <p:nvSpPr>
            <p:cNvPr id="43" name="Rectangle 43"/>
            <p:cNvSpPr/>
            <p:nvPr/>
          </p:nvSpPr>
          <p:spPr>
            <a:xfrm>
              <a:off x="533400" y="4533900"/>
              <a:ext cx="3581400" cy="28575"/>
            </a:xfrm>
            <a:prstGeom prst="rect">
              <a:avLst/>
            </a:prstGeom>
            <a:solidFill>
              <a:srgbClr val="0B1E3C"/>
            </a:solidFill>
            <a:ln>
              <a:noFill/>
            </a:ln>
          </p:spPr>
        </p:sp>
        <p:sp>
          <p:nvSpPr>
            <p:cNvPr id="44" name="TextBox 44"/>
            <p:cNvSpPr txBox="1"/>
            <p:nvPr/>
          </p:nvSpPr>
          <p:spPr>
            <a:xfrm>
              <a:off x="521208" y="4679950"/>
              <a:ext cx="133208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100여 일</a:t>
              </a:r>
            </a:p>
          </p:txBody>
        </p:sp>
        <p:sp>
          <p:nvSpPr>
            <p:cNvPr id="45" name="TextBox 45"/>
            <p:cNvSpPr txBox="1"/>
            <p:nvPr/>
          </p:nvSpPr>
          <p:spPr>
            <a:xfrm>
              <a:off x="527685" y="5099050"/>
              <a:ext cx="278567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‘이상 없음’ 탐사에서 함몰까지 (연희동)</a:t>
              </a:r>
            </a:p>
          </p:txBody>
        </p:sp>
        <p:sp>
          <p:nvSpPr>
            <p:cNvPr id="46" name="Rectangle 46"/>
            <p:cNvSpPr/>
            <p:nvPr/>
          </p:nvSpPr>
          <p:spPr>
            <a:xfrm>
              <a:off x="4305300" y="4533900"/>
              <a:ext cx="3581400" cy="28575"/>
            </a:xfrm>
            <a:prstGeom prst="rect">
              <a:avLst/>
            </a:prstGeom>
            <a:solidFill>
              <a:srgbClr val="0B1E3C"/>
            </a:solidFill>
            <a:ln>
              <a:noFill/>
            </a:ln>
          </p:spPr>
        </p:sp>
        <p:sp>
          <p:nvSpPr>
            <p:cNvPr id="47" name="TextBox 47"/>
            <p:cNvSpPr txBox="1"/>
            <p:nvPr/>
          </p:nvSpPr>
          <p:spPr>
            <a:xfrm>
              <a:off x="4293108" y="4679950"/>
              <a:ext cx="907222"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2.4배</a:t>
              </a:r>
            </a:p>
          </p:txBody>
        </p:sp>
        <p:sp>
          <p:nvSpPr>
            <p:cNvPr id="48" name="TextBox 48"/>
            <p:cNvSpPr txBox="1"/>
            <p:nvPr/>
          </p:nvSpPr>
          <p:spPr>
            <a:xfrm>
              <a:off x="4299585" y="5099050"/>
              <a:ext cx="34792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10cm 자란 공동 vs 가장 큰 오탐 요인 (시뮬레이션)</a:t>
              </a:r>
            </a:p>
          </p:txBody>
        </p:sp>
        <p:sp>
          <p:nvSpPr>
            <p:cNvPr id="49" name="Rectangle 49"/>
            <p:cNvSpPr/>
            <p:nvPr/>
          </p:nvSpPr>
          <p:spPr>
            <a:xfrm>
              <a:off x="8077200" y="4533900"/>
              <a:ext cx="3581400" cy="28575"/>
            </a:xfrm>
            <a:prstGeom prst="rect">
              <a:avLst/>
            </a:prstGeom>
            <a:solidFill>
              <a:srgbClr val="0B1E3C"/>
            </a:solidFill>
            <a:ln>
              <a:noFill/>
            </a:ln>
          </p:spPr>
        </p:sp>
        <p:sp>
          <p:nvSpPr>
            <p:cNvPr id="50" name="TextBox 50"/>
            <p:cNvSpPr txBox="1"/>
            <p:nvPr/>
          </p:nvSpPr>
          <p:spPr>
            <a:xfrm>
              <a:off x="8065008" y="4679950"/>
              <a:ext cx="2656743" cy="469392"/>
            </a:xfrm>
            <a:prstGeom prst="rect">
              <a:avLst/>
            </a:prstGeom>
            <a:noFill/>
            <a:ln>
              <a:noFill/>
            </a:ln>
          </p:spPr>
          <p:txBody>
            <a:bodyPr wrap="none" lIns="0" tIns="0" rIns="0" bIns="0" anchor="t" anchorCtr="0">
              <a:spAutoFit/>
            </a:bodyPr>
            <a:lstStyle/>
            <a:p>
              <a:pPr algn="l"/>
              <a:r>
                <a:rPr lang="ko-KR" sz="2400" b="1" dirty="0">
                  <a:solidFill>
                    <a:srgbClr val="0B1E3C"/>
                  </a:solidFill>
                  <a:latin typeface="+mn-lt"/>
                  <a:ea typeface="+mn-ea"/>
                  <a:cs typeface="+mn-cs"/>
                </a:rPr>
                <a:t>92만 원 → 28만 원</a:t>
              </a:r>
            </a:p>
          </p:txBody>
        </p:sp>
        <p:sp>
          <p:nvSpPr>
            <p:cNvPr id="51" name="TextBox 51"/>
            <p:cNvSpPr txBox="1"/>
            <p:nvPr/>
          </p:nvSpPr>
          <p:spPr>
            <a:xfrm>
              <a:off x="8071485" y="5099050"/>
              <a:ext cx="24992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도로 1km·1년: 현행 1회 vs 반복 6회</a:t>
              </a:r>
            </a:p>
          </p:txBody>
        </p:sp>
      </p:grpSp>
      <p:grpSp>
        <p:nvGrpSpPr>
          <p:cNvPr id="55" name="conclusion"/>
          <p:cNvGrpSpPr/>
          <p:nvPr/>
        </p:nvGrpSpPr>
        <p:grpSpPr>
          <a:xfrm>
            <a:off x="533400" y="5619750"/>
            <a:ext cx="7382430" cy="419100"/>
            <a:chOff x="533400" y="5619750"/>
            <a:chExt cx="7382430" cy="419100"/>
          </a:xfrm>
        </p:grpSpPr>
        <p:sp>
          <p:nvSpPr>
            <p:cNvPr id="53" name="Rectangle 53"/>
            <p:cNvSpPr/>
            <p:nvPr/>
          </p:nvSpPr>
          <p:spPr>
            <a:xfrm>
              <a:off x="533400" y="5619750"/>
              <a:ext cx="38100" cy="419100"/>
            </a:xfrm>
            <a:prstGeom prst="rect">
              <a:avLst/>
            </a:prstGeom>
            <a:solidFill>
              <a:srgbClr val="F5B700"/>
            </a:solidFill>
            <a:ln>
              <a:noFill/>
            </a:ln>
          </p:spPr>
        </p:sp>
        <p:sp>
          <p:nvSpPr>
            <p:cNvPr id="54" name="TextBox 54"/>
            <p:cNvSpPr txBox="1"/>
            <p:nvPr/>
          </p:nvSpPr>
          <p:spPr>
            <a:xfrm>
              <a:off x="715899" y="5715000"/>
              <a:ext cx="71999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예시로 든 ‘스마트 순찰 및 재난 대응 차량’을, 땅 아래로 넓힙니다.</a:t>
              </a:r>
            </a:p>
          </p:txBody>
        </p:sp>
      </p:grpSp>
      <p:grpSp>
        <p:nvGrpSpPr>
          <p:cNvPr id="57" name="source"/>
          <p:cNvGrpSpPr/>
          <p:nvPr/>
        </p:nvGrpSpPr>
        <p:grpSpPr>
          <a:xfrm>
            <a:off x="528447" y="6381750"/>
            <a:ext cx="6115167" cy="191643"/>
            <a:chOff x="528447" y="6381750"/>
            <a:chExt cx="6115167" cy="191643"/>
          </a:xfrm>
        </p:grpSpPr>
        <p:sp>
          <p:nvSpPr>
            <p:cNvPr id="56" name="TextBox 56"/>
            <p:cNvSpPr txBox="1"/>
            <p:nvPr/>
          </p:nvSpPr>
          <p:spPr>
            <a:xfrm>
              <a:off x="528447" y="6381750"/>
              <a:ext cx="611516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근거: 3장 뉴시스·세계일보 · 7장 GPR 전자기 시뮬레이션 · 12장 서울시 2024 공동조사용역 최종보고서</a:t>
              </a:r>
            </a:p>
          </p:txBody>
        </p:sp>
      </p:grpSp>
      <p:grpSp>
        <p:nvGrpSpPr>
          <p:cNvPr id="60" name="footer"/>
          <p:cNvGrpSpPr/>
          <p:nvPr/>
        </p:nvGrpSpPr>
        <p:grpSpPr>
          <a:xfrm>
            <a:off x="528638" y="6610350"/>
            <a:ext cx="11134724" cy="176212"/>
            <a:chOff x="528638" y="6610350"/>
            <a:chExt cx="11134724" cy="176212"/>
          </a:xfrm>
        </p:grpSpPr>
        <p:sp>
          <p:nvSpPr>
            <p:cNvPr id="58" name="TextBox 58"/>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9" name="TextBox 59"/>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15</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Line 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4" name="incident-map"/>
          <p:cNvGrpSpPr/>
          <p:nvPr/>
        </p:nvGrpSpPr>
        <p:grpSpPr>
          <a:xfrm>
            <a:off x="6477000" y="0"/>
            <a:ext cx="5715000" cy="6858000"/>
            <a:chOff x="6477000" y="0"/>
            <a:chExt cx="5715000" cy="6858000"/>
          </a:xfrm>
        </p:grpSpPr>
        <p:pic>
          <p:nvPicPr>
            <p:cNvPr id="7" name="Image 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8" name="Rectangle 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9" name="Rectangle 9"/>
            <p:cNvSpPr/>
            <p:nvPr/>
          </p:nvSpPr>
          <p:spPr>
            <a:xfrm>
              <a:off x="6667500" y="1428750"/>
              <a:ext cx="2152650" cy="533400"/>
            </a:xfrm>
            <a:prstGeom prst="roundRect">
              <a:avLst>
                <a:gd name="adj" fmla="val 7143"/>
              </a:avLst>
            </a:prstGeom>
            <a:solidFill>
              <a:srgbClr val="0B1E3C">
                <a:alpha val="92000"/>
              </a:srgbClr>
            </a:solidFill>
            <a:ln>
              <a:noFill/>
            </a:ln>
          </p:spPr>
        </p:sp>
        <p:sp>
          <p:nvSpPr>
            <p:cNvPr id="10" name="TextBox 10"/>
            <p:cNvSpPr txBox="1"/>
            <p:nvPr/>
          </p:nvSpPr>
          <p:spPr>
            <a:xfrm>
              <a:off x="6794754" y="1504950"/>
              <a:ext cx="1599766"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2024.8.29 사고 구간</a:t>
              </a:r>
            </a:p>
          </p:txBody>
        </p:sp>
        <p:sp>
          <p:nvSpPr>
            <p:cNvPr id="11" name="TextBox 11"/>
            <p:cNvSpPr txBox="1"/>
            <p:nvPr/>
          </p:nvSpPr>
          <p:spPr>
            <a:xfrm>
              <a:off x="6795135" y="1717675"/>
              <a:ext cx="1609639" cy="220028"/>
            </a:xfrm>
            <a:prstGeom prst="rect">
              <a:avLst/>
            </a:prstGeom>
            <a:noFill/>
            <a:ln>
              <a:noFill/>
            </a:ln>
          </p:spPr>
          <p:txBody>
            <a:bodyPr wrap="none" lIns="0" tIns="0" rIns="0" bIns="0" anchor="t" anchorCtr="0">
              <a:spAutoFit/>
            </a:bodyPr>
            <a:lstStyle/>
            <a:p>
              <a:pPr algn="l"/>
              <a:r>
                <a:rPr lang="ko-KR" sz="1120" dirty="0">
                  <a:solidFill>
                    <a:srgbClr val="D6DDE8"/>
                  </a:solidFill>
                  <a:latin typeface="+mn-lt"/>
                  <a:ea typeface="+mn-ea"/>
                  <a:cs typeface="+mn-cs"/>
                </a:rPr>
                <a:t>서대문구 연희동 성산로</a:t>
              </a:r>
            </a:p>
          </p:txBody>
        </p:sp>
        <p:sp>
          <p:nvSpPr>
            <p:cNvPr id="12" name="TextBox 1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13" name="TextBox 1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16" name="kicker"/>
          <p:cNvGrpSpPr/>
          <p:nvPr/>
        </p:nvGrpSpPr>
        <p:grpSpPr>
          <a:xfrm>
            <a:off x="526542" y="1301750"/>
            <a:ext cx="2927869" cy="264033"/>
            <a:chOff x="526542" y="1301750"/>
            <a:chExt cx="2927869" cy="264033"/>
          </a:xfrm>
        </p:grpSpPr>
        <p:sp>
          <p:nvSpPr>
            <p:cNvPr id="15" name="TextBox 15"/>
            <p:cNvSpPr txBox="1"/>
            <p:nvPr/>
          </p:nvSpPr>
          <p:spPr>
            <a:xfrm>
              <a:off x="526542" y="1301750"/>
              <a:ext cx="292786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2024.8.29 · 서울 서대문구 연희동</a:t>
              </a:r>
            </a:p>
          </p:txBody>
        </p:sp>
      </p:grpSp>
      <p:grpSp>
        <p:nvGrpSpPr>
          <p:cNvPr id="19" name="title"/>
          <p:cNvGrpSpPr/>
          <p:nvPr/>
        </p:nvGrpSpPr>
        <p:grpSpPr>
          <a:xfrm>
            <a:off x="518160" y="1746250"/>
            <a:ext cx="6039790" cy="1120140"/>
            <a:chOff x="518160" y="1746250"/>
            <a:chExt cx="6039790" cy="1120140"/>
          </a:xfrm>
        </p:grpSpPr>
        <p:sp>
          <p:nvSpPr>
            <p:cNvPr id="17" name="TextBox 17"/>
            <p:cNvSpPr txBox="1"/>
            <p:nvPr/>
          </p:nvSpPr>
          <p:spPr>
            <a:xfrm>
              <a:off x="518160" y="1746250"/>
              <a:ext cx="3043100" cy="586740"/>
            </a:xfrm>
            <a:prstGeom prst="rect">
              <a:avLst/>
            </a:prstGeom>
            <a:noFill/>
            <a:ln>
              <a:noFill/>
            </a:ln>
          </p:spPr>
          <p:txBody>
            <a:bodyPr wrap="none" lIns="0" tIns="0" rIns="0" bIns="0" anchor="t" anchorCtr="0">
              <a:spAutoFit/>
            </a:bodyPr>
            <a:lstStyle/>
            <a:p>
              <a:pPr algn="l"/>
              <a:r>
                <a:rPr lang="ko-KR" sz="3000" b="1" spc="-112" dirty="0">
                  <a:solidFill>
                    <a:srgbClr val="0B1E3C"/>
                  </a:solidFill>
                  <a:latin typeface="+mn-lt"/>
                  <a:ea typeface="+mn-ea"/>
                  <a:cs typeface="+mn-cs"/>
                </a:rPr>
                <a:t>‘이상 없음’ 판정</a:t>
              </a:r>
            </a:p>
          </p:txBody>
        </p:sp>
        <p:sp>
          <p:nvSpPr>
            <p:cNvPr id="18" name="TextBox 18"/>
            <p:cNvSpPr txBox="1"/>
            <p:nvPr/>
          </p:nvSpPr>
          <p:spPr>
            <a:xfrm>
              <a:off x="518160" y="2279650"/>
              <a:ext cx="6039790" cy="586740"/>
            </a:xfrm>
            <a:prstGeom prst="rect">
              <a:avLst/>
            </a:prstGeom>
            <a:noFill/>
            <a:ln>
              <a:noFill/>
            </a:ln>
          </p:spPr>
          <p:txBody>
            <a:bodyPr wrap="none" lIns="0" tIns="0" rIns="0" bIns="0" anchor="t" anchorCtr="0">
              <a:spAutoFit/>
            </a:bodyPr>
            <a:lstStyle/>
            <a:p>
              <a:pPr algn="l"/>
              <a:r>
                <a:rPr lang="ko-KR" sz="3000" b="1" spc="-112" dirty="0">
                  <a:solidFill>
                    <a:srgbClr val="C62828"/>
                  </a:solidFill>
                  <a:latin typeface="+mn-lt"/>
                  <a:ea typeface="+mn-ea"/>
                  <a:cs typeface="+mn-cs"/>
                </a:rPr>
                <a:t>100여 일 뒤, 도로가 무너졌습니다</a:t>
              </a:r>
            </a:p>
          </p:txBody>
        </p:sp>
      </p:grpSp>
      <p:grpSp>
        <p:nvGrpSpPr>
          <p:cNvPr id="29" name="timeline"/>
          <p:cNvGrpSpPr/>
          <p:nvPr/>
        </p:nvGrpSpPr>
        <p:grpSpPr>
          <a:xfrm>
            <a:off x="717804" y="3257550"/>
            <a:ext cx="5346192" cy="1053846"/>
            <a:chOff x="717804" y="3257550"/>
            <a:chExt cx="5346192" cy="1053846"/>
          </a:xfrm>
        </p:grpSpPr>
        <p:sp>
          <p:nvSpPr>
            <p:cNvPr id="20" name="Rectangle 20"/>
            <p:cNvSpPr/>
            <p:nvPr/>
          </p:nvSpPr>
          <p:spPr>
            <a:xfrm>
              <a:off x="819150" y="3800475"/>
              <a:ext cx="5143500" cy="95250"/>
            </a:xfrm>
            <a:prstGeom prst="rect">
              <a:avLst/>
            </a:prstGeom>
            <a:solidFill>
              <a:srgbClr val="F5B700">
                <a:alpha val="28000"/>
              </a:srgbClr>
            </a:solidFill>
            <a:ln>
              <a:noFill/>
            </a:ln>
          </p:spPr>
        </p:sp>
        <p:sp>
          <p:nvSpPr>
            <p:cNvPr id="21" name="Line 21"/>
            <p:cNvSpPr/>
            <p:nvPr/>
          </p:nvSpPr>
          <p:spPr>
            <a:xfrm>
              <a:off x="819150" y="3848100"/>
              <a:ext cx="5143500" cy="9525"/>
            </a:xfrm>
            <a:custGeom>
              <a:avLst/>
              <a:gdLst/>
              <a:ahLst/>
              <a:cxnLst/>
              <a:rect l="l" t="t" r="r" b="b"/>
              <a:pathLst>
                <a:path w="5143500" h="9525">
                  <a:moveTo>
                    <a:pt x="0" y="0"/>
                  </a:moveTo>
                  <a:lnTo>
                    <a:pt x="5143500" y="0"/>
                  </a:lnTo>
                </a:path>
              </a:pathLst>
            </a:custGeom>
            <a:noFill/>
            <a:ln w="19050">
              <a:solidFill>
                <a:srgbClr val="C3CCD9"/>
              </a:solidFill>
            </a:ln>
          </p:spPr>
        </p:sp>
        <p:sp>
          <p:nvSpPr>
            <p:cNvPr id="22" name="Ellipse 22"/>
            <p:cNvSpPr/>
            <p:nvPr/>
          </p:nvSpPr>
          <p:spPr>
            <a:xfrm>
              <a:off x="723900" y="3752850"/>
              <a:ext cx="190500" cy="190500"/>
            </a:xfrm>
            <a:prstGeom prst="ellipse">
              <a:avLst/>
            </a:prstGeom>
            <a:solidFill>
              <a:srgbClr val="0B1E3C"/>
            </a:solidFill>
            <a:ln w="28575">
              <a:solidFill>
                <a:srgbClr val="FFFFFF"/>
              </a:solidFill>
            </a:ln>
          </p:spPr>
        </p:sp>
        <p:sp>
          <p:nvSpPr>
            <p:cNvPr id="23" name="Ellipse 23"/>
            <p:cNvSpPr/>
            <p:nvPr/>
          </p:nvSpPr>
          <p:spPr>
            <a:xfrm>
              <a:off x="5867400" y="3752850"/>
              <a:ext cx="190500" cy="190500"/>
            </a:xfrm>
            <a:prstGeom prst="ellipse">
              <a:avLst/>
            </a:prstGeom>
            <a:solidFill>
              <a:srgbClr val="C62828"/>
            </a:solidFill>
            <a:ln w="28575">
              <a:solidFill>
                <a:srgbClr val="FFFFFF"/>
              </a:solidFill>
            </a:ln>
          </p:spPr>
        </p:sp>
        <p:sp>
          <p:nvSpPr>
            <p:cNvPr id="24" name="TextBox 24"/>
            <p:cNvSpPr txBox="1"/>
            <p:nvPr/>
          </p:nvSpPr>
          <p:spPr>
            <a:xfrm>
              <a:off x="717804" y="3257550"/>
              <a:ext cx="103840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2024.5.7~16</a:t>
              </a:r>
            </a:p>
          </p:txBody>
        </p:sp>
        <p:sp>
          <p:nvSpPr>
            <p:cNvPr id="25" name="TextBox 25"/>
            <p:cNvSpPr txBox="1"/>
            <p:nvPr/>
          </p:nvSpPr>
          <p:spPr>
            <a:xfrm>
              <a:off x="718185" y="347980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26" name="TextBox 26"/>
            <p:cNvSpPr txBox="1"/>
            <p:nvPr/>
          </p:nvSpPr>
          <p:spPr>
            <a:xfrm>
              <a:off x="5212179" y="3257550"/>
              <a:ext cx="851817"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2024.8.29</a:t>
              </a:r>
            </a:p>
          </p:txBody>
        </p:sp>
        <p:sp>
          <p:nvSpPr>
            <p:cNvPr id="27" name="TextBox 27"/>
            <p:cNvSpPr txBox="1"/>
            <p:nvPr/>
          </p:nvSpPr>
          <p:spPr>
            <a:xfrm>
              <a:off x="5403855" y="347980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28" name="TextBox 28"/>
            <p:cNvSpPr txBox="1"/>
            <p:nvPr/>
          </p:nvSpPr>
          <p:spPr>
            <a:xfrm>
              <a:off x="1357427" y="4076700"/>
              <a:ext cx="406694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그 사이 지하에서 무슨 일이 있었는지는 기록이 없습니다</a:t>
              </a:r>
            </a:p>
          </p:txBody>
        </p:sp>
      </p:grpSp>
      <p:grpSp>
        <p:nvGrpSpPr>
          <p:cNvPr id="37" name="facts"/>
          <p:cNvGrpSpPr/>
          <p:nvPr/>
        </p:nvGrpSpPr>
        <p:grpSpPr>
          <a:xfrm>
            <a:off x="518160" y="4686300"/>
            <a:ext cx="5539740" cy="880428"/>
            <a:chOff x="518160" y="4686300"/>
            <a:chExt cx="5539740" cy="880428"/>
          </a:xfrm>
        </p:grpSpPr>
        <p:sp>
          <p:nvSpPr>
            <p:cNvPr id="30" name="Line 3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31" name="TextBox 3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32" name="TextBox 3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33" name="TextBox 3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34" name="TextBox 34"/>
            <p:cNvSpPr txBox="1"/>
            <p:nvPr/>
          </p:nvSpPr>
          <p:spPr>
            <a:xfrm>
              <a:off x="237553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깊이</a:t>
              </a:r>
            </a:p>
          </p:txBody>
        </p:sp>
        <p:sp>
          <p:nvSpPr>
            <p:cNvPr id="35" name="TextBox 3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36" name="TextBox 3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39" name="source"/>
          <p:cNvGrpSpPr/>
          <p:nvPr/>
        </p:nvGrpSpPr>
        <p:grpSpPr>
          <a:xfrm>
            <a:off x="528638" y="6096000"/>
            <a:ext cx="3444354" cy="176212"/>
            <a:chOff x="528638" y="6096000"/>
            <a:chExt cx="3444354" cy="176212"/>
          </a:xfrm>
        </p:grpSpPr>
        <p:sp>
          <p:nvSpPr>
            <p:cNvPr id="38" name="TextBox 3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42" name="footer"/>
          <p:cNvGrpSpPr/>
          <p:nvPr/>
        </p:nvGrpSpPr>
        <p:grpSpPr>
          <a:xfrm>
            <a:off x="528638" y="6610350"/>
            <a:ext cx="5534024" cy="176212"/>
            <a:chOff x="528638" y="6610350"/>
            <a:chExt cx="5534024" cy="176212"/>
          </a:xfrm>
        </p:grpSpPr>
        <p:sp>
          <p:nvSpPr>
            <p:cNvPr id="40" name="TextBox 4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1" name="TextBox 4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15</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지금의 탐사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219792" cy="586740"/>
            <a:chOff x="518160" y="774700"/>
            <a:chExt cx="10219792" cy="586740"/>
          </a:xfrm>
        </p:grpSpPr>
        <p:sp>
          <p:nvSpPr>
            <p:cNvPr id="17" name="TextBox 17"/>
            <p:cNvSpPr txBox="1"/>
            <p:nvPr/>
          </p:nvSpPr>
          <p:spPr>
            <a:xfrm>
              <a:off x="518160" y="774700"/>
              <a:ext cx="1021979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서울은 이미 3만 km를 탐사해 공동 7,760개를 찾았습니다</a:t>
              </a:r>
            </a:p>
          </p:txBody>
        </p:sp>
      </p:grpSp>
      <p:grpSp>
        <p:nvGrpSpPr>
          <p:cNvPr id="21" name="photo"/>
          <p:cNvGrpSpPr/>
          <p:nvPr/>
        </p:nvGrpSpPr>
        <p:grpSpPr>
          <a:xfrm>
            <a:off x="528638" y="1428750"/>
            <a:ext cx="4957762" cy="2843212"/>
            <a:chOff x="528638" y="1428750"/>
            <a:chExt cx="4957762" cy="2843212"/>
          </a:xfrm>
        </p:grpSpPr>
        <p:pic>
          <p:nvPicPr>
            <p:cNvPr id="19" name="Image 19"/>
            <p:cNvPicPr>
              <a:picLocks noChangeAspect="1"/>
            </p:cNvPicPr>
            <p:nvPr/>
          </p:nvPicPr>
          <p:blipFill>
            <a:blip r:embed="rId2"/>
            <a:srcRect l="0" t="15128" r="0" b="15128"/>
            <a:stretch>
              <a:fillRect/>
            </a:stretch>
          </p:blipFill>
          <p:spPr>
            <a:xfrm>
              <a:off x="533400" y="1428750"/>
              <a:ext cx="4953000" cy="2590800"/>
            </a:xfrm>
            <a:prstGeom prst="rect">
              <a:avLst/>
            </a:prstGeom>
          </p:spPr>
        </p:pic>
        <p:sp>
          <p:nvSpPr>
            <p:cNvPr id="20" name="TextBox 20"/>
            <p:cNvSpPr txBox="1"/>
            <p:nvPr/>
          </p:nvSpPr>
          <p:spPr>
            <a:xfrm>
              <a:off x="528638" y="4095750"/>
              <a:ext cx="412233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수동형 GPR 탐사 장비 · 사진: The Charles Machine Works, CC BY-SA 2.0</a:t>
              </a:r>
            </a:p>
          </p:txBody>
        </p:sp>
      </p:grpSp>
      <p:grpSp>
        <p:nvGrpSpPr>
          <p:cNvPr id="34" name="stats"/>
          <p:cNvGrpSpPr/>
          <p:nvPr/>
        </p:nvGrpSpPr>
        <p:grpSpPr>
          <a:xfrm>
            <a:off x="522732" y="4438650"/>
            <a:ext cx="4963668" cy="899478"/>
            <a:chOff x="522732" y="4438650"/>
            <a:chExt cx="4963668" cy="899478"/>
          </a:xfrm>
        </p:grpSpPr>
        <p:sp>
          <p:nvSpPr>
            <p:cNvPr id="22" name="Rectangle 22"/>
            <p:cNvSpPr/>
            <p:nvPr/>
          </p:nvSpPr>
          <p:spPr>
            <a:xfrm>
              <a:off x="533400" y="4438650"/>
              <a:ext cx="1524000" cy="28575"/>
            </a:xfrm>
            <a:prstGeom prst="rect">
              <a:avLst/>
            </a:prstGeom>
            <a:solidFill>
              <a:srgbClr val="0B1E3C"/>
            </a:solidFill>
            <a:ln>
              <a:noFill/>
            </a:ln>
          </p:spPr>
        </p:sp>
        <p:sp>
          <p:nvSpPr>
            <p:cNvPr id="23" name="TextBox 23"/>
            <p:cNvSpPr txBox="1"/>
            <p:nvPr/>
          </p:nvSpPr>
          <p:spPr>
            <a:xfrm>
              <a:off x="522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33,129km</a:t>
              </a:r>
            </a:p>
          </p:txBody>
        </p:sp>
        <p:sp>
          <p:nvSpPr>
            <p:cNvPr id="24" name="TextBox 24"/>
            <p:cNvSpPr txBox="1"/>
            <p:nvPr/>
          </p:nvSpPr>
          <p:spPr>
            <a:xfrm>
              <a:off x="527685" y="4908550"/>
              <a:ext cx="133993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누적 차량 GPR 탐사</a:t>
              </a:r>
            </a:p>
          </p:txBody>
        </p:sp>
        <p:sp>
          <p:nvSpPr>
            <p:cNvPr id="25" name="TextBox 25"/>
            <p:cNvSpPr txBox="1"/>
            <p:nvPr/>
          </p:nvSpPr>
          <p:spPr>
            <a:xfrm>
              <a:off x="527685" y="5118100"/>
              <a:ext cx="9236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2014~2025.9</a:t>
              </a:r>
            </a:p>
          </p:txBody>
        </p:sp>
        <p:sp>
          <p:nvSpPr>
            <p:cNvPr id="26" name="Rectangle 26"/>
            <p:cNvSpPr/>
            <p:nvPr/>
          </p:nvSpPr>
          <p:spPr>
            <a:xfrm>
              <a:off x="2247900" y="4438650"/>
              <a:ext cx="1524000" cy="28575"/>
            </a:xfrm>
            <a:prstGeom prst="rect">
              <a:avLst/>
            </a:prstGeom>
            <a:solidFill>
              <a:srgbClr val="0B1E3C"/>
            </a:solidFill>
            <a:ln>
              <a:noFill/>
            </a:ln>
          </p:spPr>
        </p:sp>
        <p:sp>
          <p:nvSpPr>
            <p:cNvPr id="27" name="TextBox 27"/>
            <p:cNvSpPr txBox="1"/>
            <p:nvPr/>
          </p:nvSpPr>
          <p:spPr>
            <a:xfrm>
              <a:off x="2237232" y="4546600"/>
              <a:ext cx="1120340" cy="410718"/>
            </a:xfrm>
            <a:prstGeom prst="rect">
              <a:avLst/>
            </a:prstGeom>
            <a:noFill/>
            <a:ln>
              <a:noFill/>
            </a:ln>
          </p:spPr>
          <p:txBody>
            <a:bodyPr wrap="none" lIns="0" tIns="0" rIns="0" bIns="0" anchor="t" anchorCtr="0">
              <a:spAutoFit/>
            </a:bodyPr>
            <a:lstStyle/>
            <a:p>
              <a:pPr algn="l"/>
              <a:r>
                <a:rPr lang="ko-KR" sz="2100" b="1" dirty="0">
                  <a:solidFill>
                    <a:srgbClr val="0B1E3C"/>
                  </a:solidFill>
                  <a:latin typeface="+mn-lt"/>
                  <a:ea typeface="+mn-ea"/>
                  <a:cs typeface="+mn-cs"/>
                </a:rPr>
                <a:t>7,760개</a:t>
              </a:r>
            </a:p>
          </p:txBody>
        </p:sp>
        <p:sp>
          <p:nvSpPr>
            <p:cNvPr id="28" name="TextBox 28"/>
            <p:cNvSpPr txBox="1"/>
            <p:nvPr/>
          </p:nvSpPr>
          <p:spPr>
            <a:xfrm>
              <a:off x="2242185" y="4908550"/>
              <a:ext cx="136010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같은 기간 찾은 공동</a:t>
              </a:r>
            </a:p>
          </p:txBody>
        </p:sp>
        <p:sp>
          <p:nvSpPr>
            <p:cNvPr id="29" name="TextBox 29"/>
            <p:cNvSpPr txBox="1"/>
            <p:nvPr/>
          </p:nvSpPr>
          <p:spPr>
            <a:xfrm>
              <a:off x="2242185" y="5118100"/>
              <a:ext cx="123270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약 4.3km마다 1개</a:t>
              </a:r>
            </a:p>
          </p:txBody>
        </p:sp>
        <p:sp>
          <p:nvSpPr>
            <p:cNvPr id="30" name="Rectangle 30"/>
            <p:cNvSpPr/>
            <p:nvPr/>
          </p:nvSpPr>
          <p:spPr>
            <a:xfrm>
              <a:off x="3962400" y="4438650"/>
              <a:ext cx="1524000" cy="28575"/>
            </a:xfrm>
            <a:prstGeom prst="rect">
              <a:avLst/>
            </a:prstGeom>
            <a:solidFill>
              <a:srgbClr val="0B1E3C"/>
            </a:solidFill>
            <a:ln>
              <a:noFill/>
            </a:ln>
          </p:spPr>
        </p:sp>
        <p:sp>
          <p:nvSpPr>
            <p:cNvPr id="31" name="TextBox 31"/>
            <p:cNvSpPr txBox="1"/>
            <p:nvPr/>
          </p:nvSpPr>
          <p:spPr>
            <a:xfrm>
              <a:off x="3951732" y="4546600"/>
              <a:ext cx="1386787" cy="410718"/>
            </a:xfrm>
            <a:prstGeom prst="rect">
              <a:avLst/>
            </a:prstGeom>
            <a:noFill/>
            <a:ln>
              <a:noFill/>
            </a:ln>
          </p:spPr>
          <p:txBody>
            <a:bodyPr wrap="none" lIns="0" tIns="0" rIns="0" bIns="0" anchor="t" anchorCtr="0">
              <a:spAutoFit/>
            </a:bodyPr>
            <a:lstStyle/>
            <a:p>
              <a:pPr algn="l"/>
              <a:r>
                <a:rPr lang="en-US" sz="2100" b="1" dirty="0">
                  <a:solidFill>
                    <a:srgbClr val="0B1E3C"/>
                  </a:solidFill>
                  <a:latin typeface="+mn-lt"/>
                  <a:ea typeface="+mn-ea"/>
                  <a:cs typeface="+mn-cs"/>
                </a:rPr>
                <a:t>16,423km</a:t>
              </a:r>
            </a:p>
          </p:txBody>
        </p:sp>
        <p:sp>
          <p:nvSpPr>
            <p:cNvPr id="32" name="TextBox 32"/>
            <p:cNvSpPr txBox="1"/>
            <p:nvPr/>
          </p:nvSpPr>
          <p:spPr>
            <a:xfrm>
              <a:off x="3956685" y="4908550"/>
              <a:ext cx="1208579"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2026년 탐사 계획</a:t>
              </a:r>
            </a:p>
          </p:txBody>
        </p:sp>
        <p:sp>
          <p:nvSpPr>
            <p:cNvPr id="33" name="TextBox 33"/>
            <p:cNvSpPr txBox="1"/>
            <p:nvPr/>
          </p:nvSpPr>
          <p:spPr>
            <a:xfrm>
              <a:off x="3956685" y="5118100"/>
              <a:ext cx="108192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인력 9명 → 19명</a:t>
              </a:r>
            </a:p>
          </p:txBody>
        </p:sp>
      </p:grpSp>
      <p:grpSp>
        <p:nvGrpSpPr>
          <p:cNvPr id="57" name="flow"/>
          <p:cNvGrpSpPr/>
          <p:nvPr/>
        </p:nvGrpSpPr>
        <p:grpSpPr>
          <a:xfrm>
            <a:off x="5937123" y="1428750"/>
            <a:ext cx="5721477" cy="3888867"/>
            <a:chOff x="5937123" y="1428750"/>
            <a:chExt cx="5721477" cy="3888867"/>
          </a:xfrm>
        </p:grpSpPr>
        <p:sp>
          <p:nvSpPr>
            <p:cNvPr id="35" name="Rectangle 35"/>
            <p:cNvSpPr/>
            <p:nvPr/>
          </p:nvSpPr>
          <p:spPr>
            <a:xfrm>
              <a:off x="5943600" y="1428750"/>
              <a:ext cx="5715000" cy="28575"/>
            </a:xfrm>
            <a:prstGeom prst="rect">
              <a:avLst/>
            </a:prstGeom>
            <a:solidFill>
              <a:srgbClr val="0B1E3C"/>
            </a:solidFill>
            <a:ln>
              <a:noFill/>
            </a:ln>
          </p:spPr>
        </p:sp>
        <p:sp>
          <p:nvSpPr>
            <p:cNvPr id="36" name="TextBox 36"/>
            <p:cNvSpPr txBox="1"/>
            <p:nvPr/>
          </p:nvSpPr>
          <p:spPr>
            <a:xfrm>
              <a:off x="5937885" y="1612900"/>
              <a:ext cx="17962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업무 흐름 · 서울시</a:t>
              </a:r>
            </a:p>
          </p:txBody>
        </p:sp>
        <p:sp>
          <p:nvSpPr>
            <p:cNvPr id="37" name="Ellipse 37"/>
            <p:cNvSpPr/>
            <p:nvPr/>
          </p:nvSpPr>
          <p:spPr>
            <a:xfrm>
              <a:off x="5943600" y="1971675"/>
              <a:ext cx="247650" cy="247650"/>
            </a:xfrm>
            <a:prstGeom prst="ellipse">
              <a:avLst/>
            </a:prstGeom>
            <a:solidFill>
              <a:srgbClr val="0B1E3C"/>
            </a:solidFill>
            <a:ln>
              <a:noFill/>
            </a:ln>
          </p:spPr>
        </p:sp>
        <p:sp>
          <p:nvSpPr>
            <p:cNvPr id="38" name="TextBox 38"/>
            <p:cNvSpPr txBox="1"/>
            <p:nvPr/>
          </p:nvSpPr>
          <p:spPr>
            <a:xfrm>
              <a:off x="6018174" y="2003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a:t>
              </a:r>
            </a:p>
          </p:txBody>
        </p:sp>
        <p:sp>
          <p:nvSpPr>
            <p:cNvPr id="39" name="TextBox 39"/>
            <p:cNvSpPr txBox="1"/>
            <p:nvPr/>
          </p:nvSpPr>
          <p:spPr>
            <a:xfrm>
              <a:off x="6317742" y="1987550"/>
              <a:ext cx="3702977"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민원·노후 관로·공사구간으로 조사 대상 선정</a:t>
              </a:r>
            </a:p>
          </p:txBody>
        </p:sp>
        <p:sp>
          <p:nvSpPr>
            <p:cNvPr id="40" name="Ellipse 40"/>
            <p:cNvSpPr/>
            <p:nvPr/>
          </p:nvSpPr>
          <p:spPr>
            <a:xfrm>
              <a:off x="5943600" y="2447925"/>
              <a:ext cx="247650" cy="247650"/>
            </a:xfrm>
            <a:prstGeom prst="ellipse">
              <a:avLst/>
            </a:prstGeom>
            <a:solidFill>
              <a:srgbClr val="0B1E3C"/>
            </a:solidFill>
            <a:ln>
              <a:noFill/>
            </a:ln>
          </p:spPr>
        </p:sp>
        <p:sp>
          <p:nvSpPr>
            <p:cNvPr id="41" name="TextBox 41"/>
            <p:cNvSpPr txBox="1"/>
            <p:nvPr/>
          </p:nvSpPr>
          <p:spPr>
            <a:xfrm>
              <a:off x="6018174" y="2479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a:t>
              </a:r>
            </a:p>
          </p:txBody>
        </p:sp>
        <p:sp>
          <p:nvSpPr>
            <p:cNvPr id="42" name="TextBox 42"/>
            <p:cNvSpPr txBox="1"/>
            <p:nvPr/>
          </p:nvSpPr>
          <p:spPr>
            <a:xfrm>
              <a:off x="6317742" y="2463800"/>
              <a:ext cx="3750297"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차량형 GPR이 도로를 한 번 스캔 (폭 3m 이내)</a:t>
              </a:r>
            </a:p>
          </p:txBody>
        </p:sp>
        <p:sp>
          <p:nvSpPr>
            <p:cNvPr id="43" name="Ellipse 43"/>
            <p:cNvSpPr/>
            <p:nvPr/>
          </p:nvSpPr>
          <p:spPr>
            <a:xfrm>
              <a:off x="5943600" y="2924175"/>
              <a:ext cx="247650" cy="247650"/>
            </a:xfrm>
            <a:prstGeom prst="ellipse">
              <a:avLst/>
            </a:prstGeom>
            <a:solidFill>
              <a:srgbClr val="0B1E3C"/>
            </a:solidFill>
            <a:ln>
              <a:noFill/>
            </a:ln>
          </p:spPr>
        </p:sp>
        <p:sp>
          <p:nvSpPr>
            <p:cNvPr id="44" name="TextBox 44"/>
            <p:cNvSpPr txBox="1"/>
            <p:nvPr/>
          </p:nvSpPr>
          <p:spPr>
            <a:xfrm>
              <a:off x="6018174" y="29559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a:t>
              </a:r>
            </a:p>
          </p:txBody>
        </p:sp>
        <p:sp>
          <p:nvSpPr>
            <p:cNvPr id="45" name="TextBox 45"/>
            <p:cNvSpPr txBox="1"/>
            <p:nvPr/>
          </p:nvSpPr>
          <p:spPr>
            <a:xfrm>
              <a:off x="6317742" y="2940050"/>
              <a:ext cx="3012376"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분석자가 판독해 공동 의심 지점 선별</a:t>
              </a:r>
            </a:p>
          </p:txBody>
        </p:sp>
        <p:sp>
          <p:nvSpPr>
            <p:cNvPr id="46" name="Ellipse 46"/>
            <p:cNvSpPr/>
            <p:nvPr/>
          </p:nvSpPr>
          <p:spPr>
            <a:xfrm>
              <a:off x="5943600" y="3400425"/>
              <a:ext cx="247650" cy="247650"/>
            </a:xfrm>
            <a:prstGeom prst="ellipse">
              <a:avLst/>
            </a:prstGeom>
            <a:solidFill>
              <a:srgbClr val="0B1E3C"/>
            </a:solidFill>
            <a:ln>
              <a:noFill/>
            </a:ln>
          </p:spPr>
        </p:sp>
        <p:sp>
          <p:nvSpPr>
            <p:cNvPr id="47" name="TextBox 47"/>
            <p:cNvSpPr txBox="1"/>
            <p:nvPr/>
          </p:nvSpPr>
          <p:spPr>
            <a:xfrm>
              <a:off x="6018174" y="34321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4</a:t>
              </a:r>
            </a:p>
          </p:txBody>
        </p:sp>
        <p:sp>
          <p:nvSpPr>
            <p:cNvPr id="48" name="TextBox 48"/>
            <p:cNvSpPr txBox="1"/>
            <p:nvPr/>
          </p:nvSpPr>
          <p:spPr>
            <a:xfrm>
              <a:off x="6317742" y="3416300"/>
              <a:ext cx="255083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작업자가 수동 GPR로 다시 조사</a:t>
              </a:r>
            </a:p>
          </p:txBody>
        </p:sp>
        <p:sp>
          <p:nvSpPr>
            <p:cNvPr id="49" name="Ellipse 49"/>
            <p:cNvSpPr/>
            <p:nvPr/>
          </p:nvSpPr>
          <p:spPr>
            <a:xfrm>
              <a:off x="5943600" y="3876675"/>
              <a:ext cx="247650" cy="247650"/>
            </a:xfrm>
            <a:prstGeom prst="ellipse">
              <a:avLst/>
            </a:prstGeom>
            <a:solidFill>
              <a:srgbClr val="0B1E3C"/>
            </a:solidFill>
            <a:ln>
              <a:noFill/>
            </a:ln>
          </p:spPr>
        </p:sp>
        <p:sp>
          <p:nvSpPr>
            <p:cNvPr id="50" name="TextBox 50"/>
            <p:cNvSpPr txBox="1"/>
            <p:nvPr/>
          </p:nvSpPr>
          <p:spPr>
            <a:xfrm>
              <a:off x="6018174" y="390842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5</a:t>
              </a:r>
            </a:p>
          </p:txBody>
        </p:sp>
        <p:sp>
          <p:nvSpPr>
            <p:cNvPr id="51" name="TextBox 51"/>
            <p:cNvSpPr txBox="1"/>
            <p:nvPr/>
          </p:nvSpPr>
          <p:spPr>
            <a:xfrm>
              <a:off x="6317742" y="3892550"/>
              <a:ext cx="282155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교통통제 후 천공·내시경으로 확인</a:t>
              </a:r>
            </a:p>
          </p:txBody>
        </p:sp>
        <p:sp>
          <p:nvSpPr>
            <p:cNvPr id="52" name="Ellipse 52"/>
            <p:cNvSpPr/>
            <p:nvPr/>
          </p:nvSpPr>
          <p:spPr>
            <a:xfrm>
              <a:off x="5943600" y="4352925"/>
              <a:ext cx="247650" cy="247650"/>
            </a:xfrm>
            <a:prstGeom prst="ellipse">
              <a:avLst/>
            </a:prstGeom>
            <a:solidFill>
              <a:srgbClr val="0B1E3C"/>
            </a:solidFill>
            <a:ln>
              <a:noFill/>
            </a:ln>
          </p:spPr>
        </p:sp>
        <p:sp>
          <p:nvSpPr>
            <p:cNvPr id="53" name="TextBox 53"/>
            <p:cNvSpPr txBox="1"/>
            <p:nvPr/>
          </p:nvSpPr>
          <p:spPr>
            <a:xfrm>
              <a:off x="6018174" y="4384675"/>
              <a:ext cx="9850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6</a:t>
              </a:r>
            </a:p>
          </p:txBody>
        </p:sp>
        <p:sp>
          <p:nvSpPr>
            <p:cNvPr id="54" name="TextBox 54"/>
            <p:cNvSpPr txBox="1"/>
            <p:nvPr/>
          </p:nvSpPr>
          <p:spPr>
            <a:xfrm>
              <a:off x="6317742" y="4368800"/>
              <a:ext cx="1758391"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공동이 확인되면 복구</a:t>
              </a:r>
            </a:p>
          </p:txBody>
        </p:sp>
        <p:sp>
          <p:nvSpPr>
            <p:cNvPr id="55" name="Line 55"/>
            <p:cNvSpPr/>
            <p:nvPr/>
          </p:nvSpPr>
          <p:spPr>
            <a:xfrm>
              <a:off x="5943600" y="4876800"/>
              <a:ext cx="5715000" cy="9525"/>
            </a:xfrm>
            <a:custGeom>
              <a:avLst/>
              <a:gdLst/>
              <a:ahLst/>
              <a:cxnLst/>
              <a:rect l="l" t="t" r="r" b="b"/>
              <a:pathLst>
                <a:path w="5715000" h="9525">
                  <a:moveTo>
                    <a:pt x="0" y="0"/>
                  </a:moveTo>
                  <a:lnTo>
                    <a:pt x="5715000" y="0"/>
                  </a:lnTo>
                </a:path>
              </a:pathLst>
            </a:custGeom>
            <a:noFill/>
            <a:ln w="9525">
              <a:solidFill>
                <a:srgbClr val="E2E6EC"/>
              </a:solidFill>
            </a:ln>
          </p:spPr>
        </p:sp>
        <p:sp>
          <p:nvSpPr>
            <p:cNvPr id="56" name="TextBox 56"/>
            <p:cNvSpPr txBox="1"/>
            <p:nvPr/>
          </p:nvSpPr>
          <p:spPr>
            <a:xfrm>
              <a:off x="5937123" y="5067300"/>
              <a:ext cx="5037619"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xml:space="preserve">한 번 스캔으로 끝나고, </a:t>
              </a:r>
              <a:r>
                <a:rPr lang="ko-KR" sz="1280" b="1" dirty="0">
                  <a:solidFill>
                    <a:srgbClr val="C62828"/>
                  </a:solidFill>
                  <a:latin typeface="+mn-lt"/>
                  <a:ea typeface="+mn-ea"/>
                  <a:cs typeface="+mn-cs"/>
                </a:rPr>
                <a:t>같은 길은 다음 정기점검 때</a:t>
              </a:r>
              <a:r>
                <a:rPr lang="ko-KR" sz="1280" dirty="0">
                  <a:solidFill>
                    <a:srgbClr val="111827"/>
                  </a:solidFill>
                  <a:latin typeface="+mn-lt"/>
                  <a:ea typeface="+mn-ea"/>
                  <a:cs typeface="+mn-cs"/>
                </a:rPr>
                <a:t xml:space="preserve"> 다시 봅니다.</a:t>
              </a:r>
            </a:p>
          </p:txBody>
        </p:sp>
      </p:grpSp>
      <p:grpSp>
        <p:nvGrpSpPr>
          <p:cNvPr id="60" name="conclusion"/>
          <p:cNvGrpSpPr/>
          <p:nvPr/>
        </p:nvGrpSpPr>
        <p:grpSpPr>
          <a:xfrm>
            <a:off x="533400" y="5676900"/>
            <a:ext cx="7246423" cy="419100"/>
            <a:chOff x="533400" y="5676900"/>
            <a:chExt cx="7246423"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7063924"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GPR은 이미 검증된 기술입니다. 바꿀 것은 한 번 보고 끝나는 방식입니다.</a:t>
              </a:r>
            </a:p>
          </p:txBody>
        </p:sp>
      </p:grpSp>
      <p:grpSp>
        <p:nvGrpSpPr>
          <p:cNvPr id="62" name="source"/>
          <p:cNvGrpSpPr/>
          <p:nvPr/>
        </p:nvGrpSpPr>
        <p:grpSpPr>
          <a:xfrm>
            <a:off x="528447" y="6381750"/>
            <a:ext cx="8463478" cy="191643"/>
            <a:chOff x="528447" y="6381750"/>
            <a:chExt cx="8463478" cy="191643"/>
          </a:xfrm>
        </p:grpSpPr>
        <p:sp>
          <p:nvSpPr>
            <p:cNvPr id="61" name="TextBox 61"/>
            <p:cNvSpPr txBox="1"/>
            <p:nvPr/>
          </p:nvSpPr>
          <p:spPr>
            <a:xfrm>
              <a:off x="528447" y="6381750"/>
              <a:ext cx="8463478"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메트로신문(2025.10.19, 누적 탐사·공동) · 머니투데이(2026.3.23, 2026 계획·인력) · 서울시 안전정보(차량탑재형 GPR 폭 3m 이내)</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15</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600200"/>
            <a:ext cx="6483858" cy="3264281"/>
            <a:chOff x="526542" y="1600200"/>
            <a:chExt cx="6483858" cy="3264281"/>
          </a:xfrm>
        </p:grpSpPr>
        <p:sp>
          <p:nvSpPr>
            <p:cNvPr id="19" name="Rectangle 19"/>
            <p:cNvSpPr/>
            <p:nvPr/>
          </p:nvSpPr>
          <p:spPr>
            <a:xfrm>
              <a:off x="533400" y="1600200"/>
              <a:ext cx="6477000" cy="28575"/>
            </a:xfrm>
            <a:prstGeom prst="rect">
              <a:avLst/>
            </a:prstGeom>
            <a:solidFill>
              <a:srgbClr val="0B1E3C"/>
            </a:solidFill>
            <a:ln>
              <a:noFill/>
            </a:ln>
          </p:spPr>
        </p:sp>
        <p:sp>
          <p:nvSpPr>
            <p:cNvPr id="20" name="TextBox 20"/>
            <p:cNvSpPr txBox="1"/>
            <p:nvPr/>
          </p:nvSpPr>
          <p:spPr>
            <a:xfrm>
              <a:off x="527685" y="1803400"/>
              <a:ext cx="235974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한 번 탐사한 도로를 다시 보기까지</a:t>
              </a:r>
            </a:p>
          </p:txBody>
        </p:sp>
        <p:sp>
          <p:nvSpPr>
            <p:cNvPr id="21" name="TextBox 21"/>
            <p:cNvSpPr txBox="1"/>
            <p:nvPr/>
          </p:nvSpPr>
          <p:spPr>
            <a:xfrm>
              <a:off x="526542" y="2273300"/>
              <a:ext cx="294291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법정 공동조사 주기 </a:t>
              </a:r>
              <a:r>
                <a:rPr lang="ko-KR" sz="1120" dirty="0">
                  <a:solidFill>
                    <a:srgbClr val="374151"/>
                  </a:solidFill>
                  <a:latin typeface="+mn-lt"/>
                  <a:ea typeface="+mn-ea"/>
                  <a:cs typeface="+mn-cs"/>
                </a:rPr>
                <a:t>(하수관 등 관리자)</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402256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줄이기로 한 정기점검 주기 </a:t>
              </a:r>
              <a:r>
                <a:rPr lang="ko-KR" sz="1120" dirty="0">
                  <a:solidFill>
                    <a:srgbClr val="374151"/>
                  </a:solidFill>
                  <a:latin typeface="+mn-lt"/>
                  <a:ea typeface="+mn-ea"/>
                  <a:cs typeface="+mn-cs"/>
                </a:rPr>
                <a:t>(2025.4 발표)</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082317"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100여 일</a:t>
              </a:r>
            </a:p>
          </p:txBody>
        </p:sp>
      </p:grpSp>
      <p:grpSp>
        <p:nvGrpSpPr>
          <p:cNvPr id="44" name="evidence"/>
          <p:cNvGrpSpPr/>
          <p:nvPr/>
        </p:nvGrpSpPr>
        <p:grpSpPr>
          <a:xfrm>
            <a:off x="7457694" y="1600200"/>
            <a:ext cx="4200906" cy="3644646"/>
            <a:chOff x="7457694" y="1600200"/>
            <a:chExt cx="4200906" cy="3644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961882"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“종래 생각보다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322691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 · 원문 번역)</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sp>
          <p:nvSpPr>
            <p:cNvPr id="41" name="Line 41"/>
            <p:cNvSpPr/>
            <p:nvPr/>
          </p:nvSpPr>
          <p:spPr>
            <a:xfrm>
              <a:off x="7467600" y="462915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2" name="TextBox 42"/>
            <p:cNvSpPr txBox="1"/>
            <p:nvPr/>
          </p:nvSpPr>
          <p:spPr>
            <a:xfrm>
              <a:off x="7461504" y="4781550"/>
              <a:ext cx="308960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연희동 공동을 놓쳤는지, 그 뒤 생겼는지는</a:t>
              </a:r>
            </a:p>
          </p:txBody>
        </p:sp>
        <p:sp>
          <p:nvSpPr>
            <p:cNvPr id="43" name="TextBox 43"/>
            <p:cNvSpPr txBox="1"/>
            <p:nvPr/>
          </p:nvSpPr>
          <p:spPr>
            <a:xfrm>
              <a:off x="7461504" y="5010150"/>
              <a:ext cx="278307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한 번의 탐사로는 구분할 수 없습니다.</a:t>
              </a:r>
            </a:p>
          </p:txBody>
        </p:sp>
      </p:grpSp>
      <p:grpSp>
        <p:nvGrpSpPr>
          <p:cNvPr id="47" name="conclusion"/>
          <p:cNvGrpSpPr/>
          <p:nvPr/>
        </p:nvGrpSpPr>
        <p:grpSpPr>
          <a:xfrm>
            <a:off x="533400" y="5391150"/>
            <a:ext cx="7169730" cy="419100"/>
            <a:chOff x="533400" y="5391150"/>
            <a:chExt cx="7169730" cy="419100"/>
          </a:xfrm>
        </p:grpSpPr>
        <p:sp>
          <p:nvSpPr>
            <p:cNvPr id="45" name="Rectangle 45"/>
            <p:cNvSpPr/>
            <p:nvPr/>
          </p:nvSpPr>
          <p:spPr>
            <a:xfrm>
              <a:off x="533400" y="5391150"/>
              <a:ext cx="38100" cy="419100"/>
            </a:xfrm>
            <a:prstGeom prst="rect">
              <a:avLst/>
            </a:prstGeom>
            <a:solidFill>
              <a:srgbClr val="F5B700"/>
            </a:solidFill>
            <a:ln>
              <a:noFill/>
            </a:ln>
          </p:spPr>
        </p:sp>
        <p:sp>
          <p:nvSpPr>
            <p:cNvPr id="46" name="TextBox 46"/>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9" name="source"/>
          <p:cNvGrpSpPr/>
          <p:nvPr/>
        </p:nvGrpSpPr>
        <p:grpSpPr>
          <a:xfrm>
            <a:off x="528447" y="6381750"/>
            <a:ext cx="9178874" cy="191643"/>
            <a:chOff x="528447" y="6381750"/>
            <a:chExt cx="9178874" cy="191643"/>
          </a:xfrm>
        </p:grpSpPr>
        <p:sp>
          <p:nvSpPr>
            <p:cNvPr id="48" name="TextBox 48"/>
            <p:cNvSpPr txBox="1"/>
            <p:nvPr/>
          </p:nvSpPr>
          <p:spPr>
            <a:xfrm>
              <a:off x="528447" y="6381750"/>
              <a:ext cx="917887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52" name="footer"/>
          <p:cNvGrpSpPr/>
          <p:nvPr/>
        </p:nvGrpSpPr>
        <p:grpSpPr>
          <a:xfrm>
            <a:off x="528638" y="6610350"/>
            <a:ext cx="11134724" cy="176212"/>
            <a:chOff x="528638" y="6610350"/>
            <a:chExt cx="11134724" cy="176212"/>
          </a:xfrm>
        </p:grpSpPr>
        <p:sp>
          <p:nvSpPr>
            <p:cNvPr id="50" name="TextBox 5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51" name="TextBox 5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745076" cy="586740"/>
            <a:chOff x="518160" y="774700"/>
            <a:chExt cx="10745076" cy="586740"/>
          </a:xfrm>
        </p:grpSpPr>
        <p:sp>
          <p:nvSpPr>
            <p:cNvPr id="17" name="TextBox 17"/>
            <p:cNvSpPr txBox="1"/>
            <p:nvPr/>
          </p:nvSpPr>
          <p:spPr>
            <a:xfrm>
              <a:off x="518160" y="774700"/>
              <a:ext cx="1074507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땅꺼짐 원인 1위는 하수관 손상, 그 위 2m가 탐사 대상입니다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768090"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자람 → 반복 측정으로 잡을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447" y="6381750"/>
            <a:ext cx="9294622" cy="191643"/>
            <a:chOff x="528447" y="6381750"/>
            <a:chExt cx="9294622" cy="191643"/>
          </a:xfrm>
        </p:grpSpPr>
        <p:sp>
          <p:nvSpPr>
            <p:cNvPr id="44" name="TextBox 44"/>
            <p:cNvSpPr txBox="1"/>
            <p:nvPr/>
          </p:nvSpPr>
          <p:spPr>
            <a:xfrm>
              <a:off x="528447" y="6381750"/>
              <a:ext cx="9294622"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15</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701975" cy="586740"/>
            <a:chOff x="518160" y="774700"/>
            <a:chExt cx="9701975" cy="586740"/>
          </a:xfrm>
        </p:grpSpPr>
        <p:sp>
          <p:nvSpPr>
            <p:cNvPr id="17" name="TextBox 17"/>
            <p:cNvSpPr txBox="1"/>
            <p:nvPr/>
          </p:nvSpPr>
          <p:spPr>
            <a:xfrm>
              <a:off x="518160" y="774700"/>
              <a:ext cx="970197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약 2개월마다 다시 찍고, 달라진 곳만 봅니다</a:t>
              </a:r>
            </a:p>
          </p:txBody>
        </p:sp>
      </p:grpSp>
      <p:grpSp>
        <p:nvGrpSpPr>
          <p:cNvPr id="31" name="scans"/>
          <p:cNvGrpSpPr/>
          <p:nvPr/>
        </p:nvGrpSpPr>
        <p:grpSpPr>
          <a:xfrm>
            <a:off x="527304" y="1485900"/>
            <a:ext cx="11131296" cy="2234946"/>
            <a:chOff x="527304" y="1485900"/>
            <a:chExt cx="11131296" cy="2234946"/>
          </a:xfrm>
        </p:grpSpPr>
        <p:pic>
          <p:nvPicPr>
            <p:cNvPr id="19" name="Image 19"/>
            <p:cNvPicPr>
              <a:picLocks noChangeAspect="1"/>
            </p:cNvPicPr>
            <p:nvPr/>
          </p:nvPicPr>
          <p:blipFill>
            <a:blip r:embed="rId2"/>
            <a:stretch>
              <a:fillRect/>
            </a:stretch>
          </p:blipFill>
          <p:spPr>
            <a:xfrm>
              <a:off x="533400" y="1485900"/>
              <a:ext cx="3429000" cy="1905000"/>
            </a:xfrm>
            <a:prstGeom prst="rect">
              <a:avLst/>
            </a:prstGeom>
          </p:spPr>
        </p:pic>
        <p:sp>
          <p:nvSpPr>
            <p:cNvPr id="20" name="Rectangle 20"/>
            <p:cNvSpPr/>
            <p:nvPr/>
          </p:nvSpPr>
          <p:spPr>
            <a:xfrm>
              <a:off x="609600" y="1562100"/>
              <a:ext cx="904875" cy="247650"/>
            </a:xfrm>
            <a:prstGeom prst="roundRect">
              <a:avLst>
                <a:gd name="adj" fmla="val 11538"/>
              </a:avLst>
            </a:prstGeom>
            <a:solidFill>
              <a:srgbClr val="0B1E3C">
                <a:alpha val="90000"/>
              </a:srgbClr>
            </a:solidFill>
            <a:ln>
              <a:noFill/>
            </a:ln>
          </p:spPr>
        </p:sp>
        <p:sp>
          <p:nvSpPr>
            <p:cNvPr id="21" name="TextBox 21"/>
            <p:cNvSpPr txBox="1"/>
            <p:nvPr/>
          </p:nvSpPr>
          <p:spPr>
            <a:xfrm>
              <a:off x="6991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지난 회차</a:t>
              </a:r>
            </a:p>
          </p:txBody>
        </p:sp>
        <p:sp>
          <p:nvSpPr>
            <p:cNvPr id="22" name="TextBox 22"/>
            <p:cNvSpPr txBox="1"/>
            <p:nvPr/>
          </p:nvSpPr>
          <p:spPr>
            <a:xfrm>
              <a:off x="40884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3" name="Image 23"/>
            <p:cNvPicPr>
              <a:picLocks noChangeAspect="1"/>
            </p:cNvPicPr>
            <p:nvPr/>
          </p:nvPicPr>
          <p:blipFill>
            <a:blip r:embed="rId3"/>
            <a:stretch>
              <a:fillRect/>
            </a:stretch>
          </p:blipFill>
          <p:spPr>
            <a:xfrm>
              <a:off x="4381500" y="1485900"/>
              <a:ext cx="3429000" cy="1905000"/>
            </a:xfrm>
            <a:prstGeom prst="rect">
              <a:avLst/>
            </a:prstGeom>
          </p:spPr>
        </p:pic>
        <p:sp>
          <p:nvSpPr>
            <p:cNvPr id="24" name="Rectangle 24"/>
            <p:cNvSpPr/>
            <p:nvPr/>
          </p:nvSpPr>
          <p:spPr>
            <a:xfrm>
              <a:off x="4457700" y="1562100"/>
              <a:ext cx="904875" cy="247650"/>
            </a:xfrm>
            <a:prstGeom prst="roundRect">
              <a:avLst>
                <a:gd name="adj" fmla="val 11538"/>
              </a:avLst>
            </a:prstGeom>
            <a:solidFill>
              <a:srgbClr val="0B1E3C">
                <a:alpha val="90000"/>
              </a:srgbClr>
            </a:solidFill>
            <a:ln>
              <a:noFill/>
            </a:ln>
          </p:spPr>
        </p:sp>
        <p:sp>
          <p:nvSpPr>
            <p:cNvPr id="25" name="TextBox 25"/>
            <p:cNvSpPr txBox="1"/>
            <p:nvPr/>
          </p:nvSpPr>
          <p:spPr>
            <a:xfrm>
              <a:off x="4547235" y="1593850"/>
              <a:ext cx="66202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이번 회차</a:t>
              </a:r>
            </a:p>
          </p:txBody>
        </p:sp>
        <p:sp>
          <p:nvSpPr>
            <p:cNvPr id="26" name="TextBox 26"/>
            <p:cNvSpPr txBox="1"/>
            <p:nvPr/>
          </p:nvSpPr>
          <p:spPr>
            <a:xfrm>
              <a:off x="7936549" y="2247900"/>
              <a:ext cx="224153" cy="498729"/>
            </a:xfrm>
            <a:prstGeom prst="rect">
              <a:avLst/>
            </a:prstGeom>
            <a:noFill/>
            <a:ln>
              <a:noFill/>
            </a:ln>
          </p:spPr>
          <p:txBody>
            <a:bodyPr wrap="none" lIns="0" tIns="0" rIns="0" bIns="0" anchor="t" anchorCtr="0">
              <a:spAutoFit/>
            </a:bodyPr>
            <a:lstStyle/>
            <a:p>
              <a:pPr algn="ctr"/>
              <a:r>
                <a:rPr lang="ko-KR" sz="2550" b="1" dirty="0">
                  <a:solidFill>
                    <a:srgbClr val="0B1E3C"/>
                  </a:solidFill>
                  <a:latin typeface="+mn-lt"/>
                  <a:ea typeface="+mn-ea"/>
                  <a:cs typeface="+mn-cs"/>
                </a:rPr>
                <a:t>=</a:t>
              </a:r>
            </a:p>
          </p:txBody>
        </p:sp>
        <p:pic>
          <p:nvPicPr>
            <p:cNvPr id="27" name="Image 27"/>
            <p:cNvPicPr>
              <a:picLocks noChangeAspect="1"/>
            </p:cNvPicPr>
            <p:nvPr/>
          </p:nvPicPr>
          <p:blipFill>
            <a:blip r:embed="rId4"/>
            <a:stretch>
              <a:fillRect/>
            </a:stretch>
          </p:blipFill>
          <p:spPr>
            <a:xfrm>
              <a:off x="8229600" y="1485900"/>
              <a:ext cx="3429000" cy="1905000"/>
            </a:xfrm>
            <a:prstGeom prst="rect">
              <a:avLst/>
            </a:prstGeom>
          </p:spPr>
        </p:pic>
        <p:sp>
          <p:nvSpPr>
            <p:cNvPr id="28" name="Rectangle 28"/>
            <p:cNvSpPr/>
            <p:nvPr/>
          </p:nvSpPr>
          <p:spPr>
            <a:xfrm>
              <a:off x="8305800" y="1562100"/>
              <a:ext cx="1476375" cy="247650"/>
            </a:xfrm>
            <a:prstGeom prst="roundRect">
              <a:avLst>
                <a:gd name="adj" fmla="val 11538"/>
              </a:avLst>
            </a:prstGeom>
            <a:solidFill>
              <a:srgbClr val="0B1E3C">
                <a:alpha val="90000"/>
              </a:srgbClr>
            </a:solidFill>
            <a:ln>
              <a:noFill/>
            </a:ln>
          </p:spPr>
        </p:sp>
        <p:sp>
          <p:nvSpPr>
            <p:cNvPr id="29" name="TextBox 29"/>
            <p:cNvSpPr txBox="1"/>
            <p:nvPr/>
          </p:nvSpPr>
          <p:spPr>
            <a:xfrm>
              <a:off x="8395335" y="1593850"/>
              <a:ext cx="1161839"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자동 선별된 차이</a:t>
              </a:r>
            </a:p>
          </p:txBody>
        </p:sp>
        <p:sp>
          <p:nvSpPr>
            <p:cNvPr id="30" name="TextBox 30"/>
            <p:cNvSpPr txBox="1"/>
            <p:nvPr/>
          </p:nvSpPr>
          <p:spPr>
            <a:xfrm>
              <a:off x="527304" y="3486150"/>
              <a:ext cx="983876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1 반복 측정</a:t>
              </a:r>
              <a:r>
                <a:rPr lang="ko-KR" sz="1200" dirty="0">
                  <a:solidFill>
                    <a:srgbClr val="374151"/>
                  </a:solidFill>
                  <a:latin typeface="+mn-lt"/>
                  <a:ea typeface="+mn-ea"/>
                  <a:cs typeface="+mn-cs"/>
                </a:rPr>
                <a:t xml:space="preserve"> 새벽에 같은 경로를 약 2개월마다 </a:t>
              </a:r>
              <a:r>
                <a:rPr lang="ko-KR" sz="1200" b="1" dirty="0">
                  <a:solidFill>
                    <a:srgbClr val="0B1E3C"/>
                  </a:solidFill>
                  <a:latin typeface="+mn-lt"/>
                  <a:ea typeface="+mn-ea"/>
                  <a:cs typeface="+mn-cs"/>
                </a:rPr>
                <a:t>2 변화만 선별</a:t>
              </a:r>
              <a:r>
                <a:rPr lang="ko-KR" sz="1200" dirty="0">
                  <a:solidFill>
                    <a:srgbClr val="374151"/>
                  </a:solidFill>
                  <a:latin typeface="+mn-lt"/>
                  <a:ea typeface="+mn-ea"/>
                  <a:cs typeface="+mn-cs"/>
                </a:rPr>
                <a:t xml:space="preserve"> 위치를 맞춰 빼고, AI가 신호 유형 분류 </a:t>
              </a:r>
              <a:r>
                <a:rPr lang="ko-KR" sz="1200" b="1" dirty="0">
                  <a:solidFill>
                    <a:srgbClr val="0B1E3C"/>
                  </a:solidFill>
                  <a:latin typeface="+mn-lt"/>
                  <a:ea typeface="+mn-ea"/>
                  <a:cs typeface="+mn-cs"/>
                </a:rPr>
                <a:t>3 현장 재확인</a:t>
              </a:r>
              <a:r>
                <a:rPr lang="ko-KR" sz="1200" dirty="0">
                  <a:solidFill>
                    <a:srgbClr val="374151"/>
                  </a:solidFill>
                  <a:latin typeface="+mn-lt"/>
                  <a:ea typeface="+mn-ea"/>
                  <a:cs typeface="+mn-cs"/>
                </a:rPr>
                <a:t xml:space="preserve"> 승인된 곳만 수동 GPR</a:t>
              </a:r>
            </a:p>
          </p:txBody>
        </p:sp>
      </p:grpSp>
      <p:grpSp>
        <p:nvGrpSpPr>
          <p:cNvPr id="44" name="diff"/>
          <p:cNvGrpSpPr/>
          <p:nvPr/>
        </p:nvGrpSpPr>
        <p:grpSpPr>
          <a:xfrm>
            <a:off x="527304" y="3924300"/>
            <a:ext cx="5340096" cy="1591818"/>
            <a:chOff x="527304" y="3924300"/>
            <a:chExt cx="5340096" cy="1591818"/>
          </a:xfrm>
        </p:grpSpPr>
        <p:sp>
          <p:nvSpPr>
            <p:cNvPr id="32" name="Rectangle 32"/>
            <p:cNvSpPr/>
            <p:nvPr/>
          </p:nvSpPr>
          <p:spPr>
            <a:xfrm>
              <a:off x="533400" y="3924300"/>
              <a:ext cx="5334000" cy="28575"/>
            </a:xfrm>
            <a:prstGeom prst="rect">
              <a:avLst/>
            </a:prstGeom>
            <a:solidFill>
              <a:srgbClr val="0B1E3C"/>
            </a:solidFill>
            <a:ln>
              <a:noFill/>
            </a:ln>
          </p:spPr>
        </p:sp>
        <p:sp>
          <p:nvSpPr>
            <p:cNvPr id="33" name="TextBox 33"/>
            <p:cNvSpPr txBox="1"/>
            <p:nvPr/>
          </p:nvSpPr>
          <p:spPr>
            <a:xfrm>
              <a:off x="527685" y="4070350"/>
              <a:ext cx="259060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무엇이 새로운가 </a:t>
              </a:r>
              <a:r>
                <a:rPr lang="ko-KR" sz="1120" dirty="0">
                  <a:solidFill>
                    <a:srgbClr val="4B5563"/>
                  </a:solidFill>
                  <a:latin typeface="+mn-lt"/>
                  <a:ea typeface="+mn-ea"/>
                  <a:cs typeface="+mn-cs"/>
                </a:rPr>
                <a:t>기존 → GroundWatch</a:t>
              </a:r>
            </a:p>
          </p:txBody>
        </p:sp>
        <p:sp>
          <p:nvSpPr>
            <p:cNvPr id="34" name="TextBox 34"/>
            <p:cNvSpPr txBox="1"/>
            <p:nvPr/>
          </p:nvSpPr>
          <p:spPr>
            <a:xfrm>
              <a:off x="527304" y="4362450"/>
              <a:ext cx="916838"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다시 보는 곳</a:t>
              </a:r>
            </a:p>
          </p:txBody>
        </p:sp>
        <p:sp>
          <p:nvSpPr>
            <p:cNvPr id="35" name="TextBox 35"/>
            <p:cNvSpPr txBox="1"/>
            <p:nvPr/>
          </p:nvSpPr>
          <p:spPr>
            <a:xfrm>
              <a:off x="1860804" y="436245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발견한 공동만 →</a:t>
              </a:r>
            </a:p>
          </p:txBody>
        </p:sp>
        <p:sp>
          <p:nvSpPr>
            <p:cNvPr id="36" name="TextBox 36"/>
            <p:cNvSpPr txBox="1"/>
            <p:nvPr/>
          </p:nvSpPr>
          <p:spPr>
            <a:xfrm>
              <a:off x="3232023" y="4362450"/>
              <a:ext cx="169904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‘이상 없음’ 구간까지</a:t>
              </a:r>
            </a:p>
          </p:txBody>
        </p:sp>
        <p:sp>
          <p:nvSpPr>
            <p:cNvPr id="37" name="TextBox 37"/>
            <p:cNvSpPr txBox="1"/>
            <p:nvPr/>
          </p:nvSpPr>
          <p:spPr>
            <a:xfrm>
              <a:off x="527304" y="468630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판정 방식</a:t>
              </a:r>
            </a:p>
          </p:txBody>
        </p:sp>
        <p:sp>
          <p:nvSpPr>
            <p:cNvPr id="38" name="TextBox 38"/>
            <p:cNvSpPr txBox="1"/>
            <p:nvPr/>
          </p:nvSpPr>
          <p:spPr>
            <a:xfrm>
              <a:off x="1860804" y="4686300"/>
              <a:ext cx="1167232"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회차마다 판독 →</a:t>
              </a:r>
            </a:p>
          </p:txBody>
        </p:sp>
        <p:sp>
          <p:nvSpPr>
            <p:cNvPr id="39" name="TextBox 39"/>
            <p:cNvSpPr txBox="1"/>
            <p:nvPr/>
          </p:nvSpPr>
          <p:spPr>
            <a:xfrm>
              <a:off x="3232023" y="4686300"/>
              <a:ext cx="1672334"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지난 회차와의 차이만</a:t>
              </a:r>
            </a:p>
          </p:txBody>
        </p:sp>
        <p:sp>
          <p:nvSpPr>
            <p:cNvPr id="40" name="TextBox 40"/>
            <p:cNvSpPr txBox="1"/>
            <p:nvPr/>
          </p:nvSpPr>
          <p:spPr>
            <a:xfrm>
              <a:off x="527304" y="5010150"/>
              <a:ext cx="70683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현장 확인</a:t>
              </a:r>
            </a:p>
          </p:txBody>
        </p:sp>
        <p:sp>
          <p:nvSpPr>
            <p:cNvPr id="41" name="TextBox 41"/>
            <p:cNvSpPr txBox="1"/>
            <p:nvPr/>
          </p:nvSpPr>
          <p:spPr>
            <a:xfrm>
              <a:off x="1860804" y="5010150"/>
              <a:ext cx="844144"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별도 발주 →</a:t>
              </a:r>
            </a:p>
          </p:txBody>
        </p:sp>
        <p:sp>
          <p:nvSpPr>
            <p:cNvPr id="42" name="TextBox 42"/>
            <p:cNvSpPr txBox="1"/>
            <p:nvPr/>
          </p:nvSpPr>
          <p:spPr>
            <a:xfrm>
              <a:off x="3232023" y="5010150"/>
              <a:ext cx="132770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차에서 바로</a:t>
              </a:r>
            </a:p>
          </p:txBody>
        </p:sp>
        <p:sp>
          <p:nvSpPr>
            <p:cNvPr id="43" name="TextBox 43"/>
            <p:cNvSpPr txBox="1"/>
            <p:nvPr/>
          </p:nvSpPr>
          <p:spPr>
            <a:xfrm>
              <a:off x="528447" y="5324475"/>
              <a:ext cx="43767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기존: 일본 후지사와시·지오서치 경과관찰, 국토교통성 연구(3개월 주기)</a:t>
              </a:r>
            </a:p>
          </p:txBody>
        </p:sp>
      </p:grpSp>
      <p:grpSp>
        <p:nvGrpSpPr>
          <p:cNvPr id="66" name="proof"/>
          <p:cNvGrpSpPr/>
          <p:nvPr/>
        </p:nvGrpSpPr>
        <p:grpSpPr>
          <a:xfrm>
            <a:off x="6318885" y="3924300"/>
            <a:ext cx="5339715" cy="1600200"/>
            <a:chOff x="6318885" y="3924300"/>
            <a:chExt cx="5339715" cy="1600200"/>
          </a:xfrm>
        </p:grpSpPr>
        <p:sp>
          <p:nvSpPr>
            <p:cNvPr id="45" name="Rectangle 45"/>
            <p:cNvSpPr/>
            <p:nvPr/>
          </p:nvSpPr>
          <p:spPr>
            <a:xfrm>
              <a:off x="6324600" y="3924300"/>
              <a:ext cx="5334000" cy="28575"/>
            </a:xfrm>
            <a:prstGeom prst="rect">
              <a:avLst/>
            </a:prstGeom>
            <a:solidFill>
              <a:srgbClr val="0B1E3C"/>
            </a:solidFill>
            <a:ln>
              <a:noFill/>
            </a:ln>
          </p:spPr>
        </p:sp>
        <p:sp>
          <p:nvSpPr>
            <p:cNvPr id="46" name="TextBox 46"/>
            <p:cNvSpPr txBox="1"/>
            <p:nvPr/>
          </p:nvSpPr>
          <p:spPr>
            <a:xfrm>
              <a:off x="6318885" y="4032250"/>
              <a:ext cx="366356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검증 · 전자기 시뮬레이션 (실측 아님) </a:t>
              </a:r>
              <a:r>
                <a:rPr lang="ko-KR" sz="1120" dirty="0">
                  <a:solidFill>
                    <a:srgbClr val="4B5563"/>
                  </a:solidFill>
                  <a:latin typeface="+mn-lt"/>
                  <a:ea typeface="+mn-ea"/>
                  <a:cs typeface="+mn-cs"/>
                </a:rPr>
                <a:t>변화 신호 세기</a:t>
              </a:r>
            </a:p>
          </p:txBody>
        </p:sp>
        <p:sp>
          <p:nvSpPr>
            <p:cNvPr id="47" name="TextBox 47"/>
            <p:cNvSpPr txBox="1"/>
            <p:nvPr/>
          </p:nvSpPr>
          <p:spPr>
            <a:xfrm>
              <a:off x="6318885" y="4298950"/>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20cm 성장</a:t>
              </a:r>
            </a:p>
          </p:txBody>
        </p:sp>
        <p:sp>
          <p:nvSpPr>
            <p:cNvPr id="48" name="Rectangle 48"/>
            <p:cNvSpPr/>
            <p:nvPr/>
          </p:nvSpPr>
          <p:spPr>
            <a:xfrm>
              <a:off x="7696200" y="4324350"/>
              <a:ext cx="3267075" cy="142875"/>
            </a:xfrm>
            <a:prstGeom prst="rect">
              <a:avLst/>
            </a:prstGeom>
            <a:solidFill>
              <a:srgbClr val="0B1E3C"/>
            </a:solidFill>
            <a:ln>
              <a:noFill/>
            </a:ln>
          </p:spPr>
        </p:sp>
        <p:sp>
          <p:nvSpPr>
            <p:cNvPr id="49" name="TextBox 49"/>
            <p:cNvSpPr txBox="1"/>
            <p:nvPr/>
          </p:nvSpPr>
          <p:spPr>
            <a:xfrm>
              <a:off x="11033760" y="42989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2.9</a:t>
              </a:r>
            </a:p>
          </p:txBody>
        </p:sp>
        <p:sp>
          <p:nvSpPr>
            <p:cNvPr id="50" name="TextBox 50"/>
            <p:cNvSpPr txBox="1"/>
            <p:nvPr/>
          </p:nvSpPr>
          <p:spPr>
            <a:xfrm>
              <a:off x="6318885" y="4498975"/>
              <a:ext cx="10668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10cm 성장</a:t>
              </a:r>
            </a:p>
          </p:txBody>
        </p:sp>
        <p:sp>
          <p:nvSpPr>
            <p:cNvPr id="51" name="Rectangle 51"/>
            <p:cNvSpPr/>
            <p:nvPr/>
          </p:nvSpPr>
          <p:spPr>
            <a:xfrm>
              <a:off x="7696200" y="4524375"/>
              <a:ext cx="2790825" cy="142875"/>
            </a:xfrm>
            <a:prstGeom prst="rect">
              <a:avLst/>
            </a:prstGeom>
            <a:solidFill>
              <a:srgbClr val="0B1E3C"/>
            </a:solidFill>
            <a:ln>
              <a:noFill/>
            </a:ln>
          </p:spPr>
        </p:sp>
        <p:sp>
          <p:nvSpPr>
            <p:cNvPr id="52" name="TextBox 52"/>
            <p:cNvSpPr txBox="1"/>
            <p:nvPr/>
          </p:nvSpPr>
          <p:spPr>
            <a:xfrm>
              <a:off x="10557510" y="44989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2.4</a:t>
              </a:r>
            </a:p>
          </p:txBody>
        </p:sp>
        <p:sp>
          <p:nvSpPr>
            <p:cNvPr id="53" name="TextBox 53"/>
            <p:cNvSpPr txBox="1"/>
            <p:nvPr/>
          </p:nvSpPr>
          <p:spPr>
            <a:xfrm>
              <a:off x="6318885" y="4699000"/>
              <a:ext cx="98392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5cm 성장</a:t>
              </a:r>
            </a:p>
          </p:txBody>
        </p:sp>
        <p:sp>
          <p:nvSpPr>
            <p:cNvPr id="54" name="Rectangle 54"/>
            <p:cNvSpPr/>
            <p:nvPr/>
          </p:nvSpPr>
          <p:spPr>
            <a:xfrm>
              <a:off x="7696200" y="4724400"/>
              <a:ext cx="1552575" cy="142875"/>
            </a:xfrm>
            <a:prstGeom prst="rect">
              <a:avLst/>
            </a:prstGeom>
            <a:solidFill>
              <a:srgbClr val="B45309"/>
            </a:solidFill>
            <a:ln>
              <a:noFill/>
            </a:ln>
          </p:spPr>
        </p:sp>
        <p:sp>
          <p:nvSpPr>
            <p:cNvPr id="55" name="TextBox 55"/>
            <p:cNvSpPr txBox="1"/>
            <p:nvPr/>
          </p:nvSpPr>
          <p:spPr>
            <a:xfrm>
              <a:off x="9319260" y="469900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1.4</a:t>
              </a:r>
            </a:p>
          </p:txBody>
        </p:sp>
        <p:sp>
          <p:nvSpPr>
            <p:cNvPr id="56" name="TextBox 56"/>
            <p:cNvSpPr txBox="1"/>
            <p:nvPr/>
          </p:nvSpPr>
          <p:spPr>
            <a:xfrm>
              <a:off x="6318885" y="4899025"/>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주행선 8cm 어긋남</a:t>
              </a:r>
            </a:p>
          </p:txBody>
        </p:sp>
        <p:sp>
          <p:nvSpPr>
            <p:cNvPr id="57" name="Rectangle 57"/>
            <p:cNvSpPr/>
            <p:nvPr/>
          </p:nvSpPr>
          <p:spPr>
            <a:xfrm>
              <a:off x="7696200" y="4924425"/>
              <a:ext cx="1143000" cy="142875"/>
            </a:xfrm>
            <a:prstGeom prst="rect">
              <a:avLst/>
            </a:prstGeom>
            <a:solidFill>
              <a:srgbClr val="C62828"/>
            </a:solidFill>
            <a:ln>
              <a:noFill/>
            </a:ln>
          </p:spPr>
        </p:sp>
        <p:sp>
          <p:nvSpPr>
            <p:cNvPr id="58" name="TextBox 58"/>
            <p:cNvSpPr txBox="1"/>
            <p:nvPr/>
          </p:nvSpPr>
          <p:spPr>
            <a:xfrm>
              <a:off x="8909685" y="489902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1.0</a:t>
              </a:r>
            </a:p>
          </p:txBody>
        </p:sp>
        <p:sp>
          <p:nvSpPr>
            <p:cNvPr id="59" name="TextBox 59"/>
            <p:cNvSpPr txBox="1"/>
            <p:nvPr/>
          </p:nvSpPr>
          <p:spPr>
            <a:xfrm>
              <a:off x="6318885" y="509905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함수비 변화</a:t>
              </a:r>
            </a:p>
          </p:txBody>
        </p:sp>
        <p:sp>
          <p:nvSpPr>
            <p:cNvPr id="60" name="Rectangle 60"/>
            <p:cNvSpPr/>
            <p:nvPr/>
          </p:nvSpPr>
          <p:spPr>
            <a:xfrm>
              <a:off x="7696200" y="5124450"/>
              <a:ext cx="923925" cy="142875"/>
            </a:xfrm>
            <a:prstGeom prst="rect">
              <a:avLst/>
            </a:prstGeom>
            <a:solidFill>
              <a:srgbClr val="4B5563"/>
            </a:solidFill>
            <a:ln>
              <a:noFill/>
            </a:ln>
          </p:spPr>
        </p:sp>
        <p:sp>
          <p:nvSpPr>
            <p:cNvPr id="61" name="TextBox 61"/>
            <p:cNvSpPr txBox="1"/>
            <p:nvPr/>
          </p:nvSpPr>
          <p:spPr>
            <a:xfrm>
              <a:off x="8909685" y="5099050"/>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0.8</a:t>
              </a:r>
            </a:p>
          </p:txBody>
        </p:sp>
        <p:sp>
          <p:nvSpPr>
            <p:cNvPr id="62" name="TextBox 62"/>
            <p:cNvSpPr txBox="1"/>
            <p:nvPr/>
          </p:nvSpPr>
          <p:spPr>
            <a:xfrm>
              <a:off x="6318885" y="5299075"/>
              <a:ext cx="46375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재포장</a:t>
              </a:r>
            </a:p>
          </p:txBody>
        </p:sp>
        <p:sp>
          <p:nvSpPr>
            <p:cNvPr id="63" name="Rectangle 63"/>
            <p:cNvSpPr/>
            <p:nvPr/>
          </p:nvSpPr>
          <p:spPr>
            <a:xfrm>
              <a:off x="7696200" y="5324475"/>
              <a:ext cx="381000" cy="142875"/>
            </a:xfrm>
            <a:prstGeom prst="rect">
              <a:avLst/>
            </a:prstGeom>
            <a:solidFill>
              <a:srgbClr val="4B5563"/>
            </a:solidFill>
            <a:ln>
              <a:noFill/>
            </a:ln>
          </p:spPr>
        </p:sp>
        <p:sp>
          <p:nvSpPr>
            <p:cNvPr id="64" name="TextBox 64"/>
            <p:cNvSpPr txBox="1"/>
            <p:nvPr/>
          </p:nvSpPr>
          <p:spPr>
            <a:xfrm>
              <a:off x="8909685" y="5299075"/>
              <a:ext cx="272647"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0.3</a:t>
              </a:r>
            </a:p>
          </p:txBody>
        </p:sp>
        <p:sp>
          <p:nvSpPr>
            <p:cNvPr id="65" name="Line 65"/>
            <p:cNvSpPr/>
            <p:nvPr/>
          </p:nvSpPr>
          <p:spPr>
            <a:xfrm>
              <a:off x="8839200" y="4286250"/>
              <a:ext cx="9525" cy="1238250"/>
            </a:xfrm>
            <a:custGeom>
              <a:avLst/>
              <a:gdLst/>
              <a:ahLst/>
              <a:cxnLst/>
              <a:rect l="l" t="t" r="r" b="b"/>
              <a:pathLst>
                <a:path w="9525" h="1238250">
                  <a:moveTo>
                    <a:pt x="0" y="0"/>
                  </a:moveTo>
                  <a:lnTo>
                    <a:pt x="0" y="1238250"/>
                  </a:lnTo>
                </a:path>
              </a:pathLst>
            </a:custGeom>
            <a:noFill/>
            <a:ln w="14288">
              <a:solidFill>
                <a:srgbClr val="C62828"/>
              </a:solidFill>
              <a:custDash>
                <a:ds d="266667" sp="200000"/>
              </a:custDash>
            </a:ln>
          </p:spPr>
        </p:sp>
      </p:grpSp>
      <p:grpSp>
        <p:nvGrpSpPr>
          <p:cNvPr id="69" name="conclusion"/>
          <p:cNvGrpSpPr/>
          <p:nvPr/>
        </p:nvGrpSpPr>
        <p:grpSpPr>
          <a:xfrm>
            <a:off x="533400" y="5676900"/>
            <a:ext cx="9170702" cy="419100"/>
            <a:chOff x="533400" y="5676900"/>
            <a:chExt cx="9170702" cy="419100"/>
          </a:xfrm>
        </p:grpSpPr>
        <p:sp>
          <p:nvSpPr>
            <p:cNvPr id="67" name="Rectangle 67"/>
            <p:cNvSpPr/>
            <p:nvPr/>
          </p:nvSpPr>
          <p:spPr>
            <a:xfrm>
              <a:off x="533400" y="5676900"/>
              <a:ext cx="38100" cy="419100"/>
            </a:xfrm>
            <a:prstGeom prst="rect">
              <a:avLst/>
            </a:prstGeom>
            <a:solidFill>
              <a:srgbClr val="F5B700"/>
            </a:solidFill>
            <a:ln>
              <a:noFill/>
            </a:ln>
          </p:spPr>
        </p:sp>
        <p:sp>
          <p:nvSpPr>
            <p:cNvPr id="68" name="TextBox 68"/>
            <p:cNvSpPr txBox="1"/>
            <p:nvPr/>
          </p:nvSpPr>
          <p:spPr>
            <a:xfrm>
              <a:off x="715899" y="5772150"/>
              <a:ext cx="898820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10cm 이상 자란 공동은 오탐 요인의 2배 넘는 신호, 5cm는 경계 — 주행선 정합이 관건입니다.</a:t>
              </a:r>
            </a:p>
          </p:txBody>
        </p:sp>
      </p:grpSp>
      <p:grpSp>
        <p:nvGrpSpPr>
          <p:cNvPr id="71" name="source"/>
          <p:cNvGrpSpPr/>
          <p:nvPr/>
        </p:nvGrpSpPr>
        <p:grpSpPr>
          <a:xfrm>
            <a:off x="528447" y="6381750"/>
            <a:ext cx="10106309" cy="191643"/>
            <a:chOff x="528447" y="6381750"/>
            <a:chExt cx="10106309" cy="191643"/>
          </a:xfrm>
        </p:grpSpPr>
        <p:sp>
          <p:nvSpPr>
            <p:cNvPr id="70" name="TextBox 70"/>
            <p:cNvSpPr txBox="1"/>
            <p:nvPr/>
          </p:nvSpPr>
          <p:spPr>
            <a:xfrm>
              <a:off x="528447" y="6381750"/>
              <a:ext cx="1010630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시뮬레이션: 2D 전자기 파동 계산(FDTD) · 400MHz · Ø0.8m 하수관 위 공동 반경 18cm 기준 · 세기 = 회차 차분 에너지 ÷ 가장 큰 오탐 요인 · 판정은 전문가, 확정은 천공</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15</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636081" cy="586740"/>
            <a:chOff x="518160" y="774700"/>
            <a:chExt cx="9636081" cy="586740"/>
          </a:xfrm>
        </p:grpSpPr>
        <p:sp>
          <p:nvSpPr>
            <p:cNvPr id="17" name="TextBox 17"/>
            <p:cNvSpPr txBox="1"/>
            <p:nvPr/>
          </p:nvSpPr>
          <p:spPr>
            <a:xfrm>
              <a:off x="518160" y="774700"/>
              <a:ext cx="9636081"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FFFFFF"/>
              </a:solidFill>
              <a:ln w="19050">
                <a:solidFill>
                  <a:srgbClr val="0B1E3C"/>
                </a:solid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GroundWatch Cloud</a:t>
                </a:r>
              </a:p>
            </p:txBody>
          </p:sp>
          <p:sp>
            <p:nvSpPr>
              <p:cNvPr id="21" name="TextBox 21"/>
              <p:cNvSpPr txBox="1"/>
              <p:nvPr/>
            </p:nvSpPr>
            <p:spPr>
              <a:xfrm>
                <a:off x="646445" y="1727200"/>
                <a:ext cx="167891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FFFFFF"/>
              </a:solidFill>
              <a:ln w="19050">
                <a:solidFill>
                  <a:srgbClr val="0B1E3C"/>
                </a:solid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Patrol 차량 앱</a:t>
                </a:r>
              </a:p>
            </p:txBody>
          </p:sp>
          <p:sp>
            <p:nvSpPr>
              <p:cNvPr id="24" name="TextBox 24"/>
              <p:cNvSpPr txBox="1"/>
              <p:nvPr/>
            </p:nvSpPr>
            <p:spPr>
              <a:xfrm>
                <a:off x="3268833" y="1727200"/>
                <a:ext cx="1044235"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FFFFFF"/>
              </a:solidFill>
              <a:ln w="19050">
                <a:solidFill>
                  <a:srgbClr val="0B1E3C"/>
                </a:solid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Edge Gateway</a:t>
                </a:r>
              </a:p>
            </p:txBody>
          </p:sp>
          <p:sp>
            <p:nvSpPr>
              <p:cNvPr id="27" name="TextBox 27"/>
              <p:cNvSpPr txBox="1"/>
              <p:nvPr/>
            </p:nvSpPr>
            <p:spPr>
              <a:xfrm>
                <a:off x="5325105" y="1727200"/>
                <a:ext cx="1541790"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05542" y="1727200"/>
                <a:ext cx="1391016"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784431" y="1727200"/>
                <a:ext cx="1843339" cy="220028"/>
              </a:xfrm>
              <a:prstGeom prst="rect">
                <a:avLst/>
              </a:prstGeom>
              <a:noFill/>
              <a:ln>
                <a:noFill/>
              </a:ln>
            </p:spPr>
            <p:txBody>
              <a:bodyPr wrap="none" lIns="0" tIns="0" rIns="0" bIns="0" anchor="t" anchorCtr="0">
                <a:spAutoFit/>
              </a:bodyPr>
              <a:lstStyle/>
              <a:p>
                <a:pPr algn="ctr"/>
                <a:r>
                  <a:rPr lang="ko-KR" sz="112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549512"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지난 회차 대비 신규</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447" y="6343650"/>
            <a:ext cx="8746670" cy="191643"/>
            <a:chOff x="528447" y="6343650"/>
            <a:chExt cx="8746670" cy="191643"/>
          </a:xfrm>
        </p:grpSpPr>
        <p:sp>
          <p:nvSpPr>
            <p:cNvPr id="68" name="TextBox 68"/>
            <p:cNvSpPr txBox="1"/>
            <p:nvPr/>
          </p:nvSpPr>
          <p:spPr>
            <a:xfrm>
              <a:off x="528447" y="6343650"/>
              <a:ext cx="874667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15</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68708" cy="586740"/>
            <a:chOff x="518160" y="774700"/>
            <a:chExt cx="9168708" cy="586740"/>
          </a:xfrm>
        </p:grpSpPr>
        <p:sp>
          <p:nvSpPr>
            <p:cNvPr id="17" name="TextBox 17"/>
            <p:cNvSpPr txBox="1"/>
            <p:nvPr/>
          </p:nvSpPr>
          <p:spPr>
            <a:xfrm>
              <a:off x="518160" y="774700"/>
              <a:ext cx="9168708"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대에 탐사실이 들어가고, 차량과 연결됩니다</a:t>
              </a:r>
            </a:p>
          </p:txBody>
        </p:sp>
      </p:grpSp>
      <p:grpSp>
        <p:nvGrpSpPr>
          <p:cNvPr id="34" name="cutaway"/>
          <p:cNvGrpSpPr/>
          <p:nvPr/>
        </p:nvGrpSpPr>
        <p:grpSpPr>
          <a:xfrm>
            <a:off x="527685" y="1428750"/>
            <a:ext cx="5911215" cy="4096893"/>
            <a:chOff x="527685" y="1428750"/>
            <a:chExt cx="5911215" cy="4096893"/>
          </a:xfrm>
        </p:grpSpPr>
        <p:pic>
          <p:nvPicPr>
            <p:cNvPr id="19" name="Image 19"/>
            <p:cNvPicPr>
              <a:picLocks noChangeAspect="1"/>
            </p:cNvPicPr>
            <p:nvPr/>
          </p:nvPicPr>
          <p:blipFill>
            <a:blip r:embed="rId2"/>
            <a:stretch>
              <a:fillRect/>
            </a:stretch>
          </p:blipFill>
          <p:spPr>
            <a:xfrm>
              <a:off x="533400" y="1428750"/>
              <a:ext cx="5905500" cy="3324225"/>
            </a:xfrm>
            <a:prstGeom prst="rect">
              <a:avLst/>
            </a:prstGeom>
          </p:spPr>
        </p:pic>
        <p:grpSp>
          <p:nvGrpSpPr>
            <p:cNvPr id="28" name="Group 28"/>
            <p:cNvGrpSpPr/>
            <p:nvPr/>
          </p:nvGrpSpPr>
          <p:grpSpPr>
            <a:xfrm>
              <a:off x="2876550" y="2428875"/>
              <a:ext cx="2724150" cy="1969738"/>
              <a:chOff x="2876550" y="2428875"/>
              <a:chExt cx="2724150" cy="1969738"/>
            </a:xfrm>
          </p:grpSpPr>
          <p:sp>
            <p:nvSpPr>
              <p:cNvPr id="20" name="Ellipse 20"/>
              <p:cNvSpPr/>
              <p:nvPr/>
            </p:nvSpPr>
            <p:spPr>
              <a:xfrm>
                <a:off x="2876550" y="2676525"/>
                <a:ext cx="323850" cy="323850"/>
              </a:xfrm>
              <a:prstGeom prst="ellipse">
                <a:avLst/>
              </a:prstGeom>
              <a:solidFill>
                <a:srgbClr val="F5B700"/>
              </a:solidFill>
              <a:ln w="19050">
                <a:solidFill>
                  <a:srgbClr val="0B1E3C"/>
                </a:solidFill>
              </a:ln>
            </p:spPr>
          </p:sp>
          <p:sp>
            <p:nvSpPr>
              <p:cNvPr id="21" name="TextBox 21"/>
              <p:cNvSpPr txBox="1"/>
              <p:nvPr/>
            </p:nvSpPr>
            <p:spPr>
              <a:xfrm>
                <a:off x="2983093" y="27432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114800" y="2428875"/>
                <a:ext cx="323850" cy="323850"/>
              </a:xfrm>
              <a:prstGeom prst="ellipse">
                <a:avLst/>
              </a:prstGeom>
              <a:solidFill>
                <a:srgbClr val="F5B700"/>
              </a:solidFill>
              <a:ln w="19050">
                <a:solidFill>
                  <a:srgbClr val="0B1E3C"/>
                </a:solidFill>
              </a:ln>
            </p:spPr>
          </p:sp>
          <p:sp>
            <p:nvSpPr>
              <p:cNvPr id="23" name="TextBox 23"/>
              <p:cNvSpPr txBox="1"/>
              <p:nvPr/>
            </p:nvSpPr>
            <p:spPr>
              <a:xfrm>
                <a:off x="422134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276850" y="2428875"/>
                <a:ext cx="323850" cy="323850"/>
              </a:xfrm>
              <a:prstGeom prst="ellipse">
                <a:avLst/>
              </a:prstGeom>
              <a:solidFill>
                <a:srgbClr val="F5B700"/>
              </a:solidFill>
              <a:ln w="19050">
                <a:solidFill>
                  <a:srgbClr val="0B1E3C"/>
                </a:solidFill>
              </a:ln>
            </p:spPr>
          </p:sp>
          <p:sp>
            <p:nvSpPr>
              <p:cNvPr id="25" name="TextBox 25"/>
              <p:cNvSpPr txBox="1"/>
              <p:nvPr/>
            </p:nvSpPr>
            <p:spPr>
              <a:xfrm>
                <a:off x="5383393" y="24955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sp>
            <p:nvSpPr>
              <p:cNvPr id="26" name="Ellipse 26"/>
              <p:cNvSpPr/>
              <p:nvPr/>
            </p:nvSpPr>
            <p:spPr>
              <a:xfrm>
                <a:off x="4592212" y="4074763"/>
                <a:ext cx="323850" cy="323850"/>
              </a:xfrm>
              <a:prstGeom prst="ellipse">
                <a:avLst/>
              </a:prstGeom>
              <a:solidFill>
                <a:srgbClr val="F5B700"/>
              </a:solidFill>
              <a:ln w="19050">
                <a:solidFill>
                  <a:srgbClr val="0B1E3C"/>
                </a:solidFill>
              </a:ln>
            </p:spPr>
          </p:sp>
          <p:sp>
            <p:nvSpPr>
              <p:cNvPr id="27" name="TextBox 27"/>
              <p:cNvSpPr txBox="1"/>
              <p:nvPr/>
            </p:nvSpPr>
            <p:spPr>
              <a:xfrm>
                <a:off x="4698755" y="4141438"/>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D</a:t>
                </a:r>
              </a:p>
            </p:txBody>
          </p:sp>
        </p:grpSp>
        <p:sp>
          <p:nvSpPr>
            <p:cNvPr id="29" name="TextBox 29"/>
            <p:cNvSpPr txBox="1"/>
            <p:nvPr/>
          </p:nvSpPr>
          <p:spPr>
            <a:xfrm>
              <a:off x="527685" y="4832350"/>
              <a:ext cx="270300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A</a:t>
              </a:r>
              <a:r>
                <a:rPr lang="ko-KR" sz="1120" dirty="0">
                  <a:solidFill>
                    <a:srgbClr val="111827"/>
                  </a:solidFill>
                  <a:latin typeface="+mn-lt"/>
                  <a:ea typeface="+mn-ea"/>
                  <a:cs typeface="+mn-cs"/>
                </a:rPr>
                <a:t xml:space="preserve"> 분석 장비 랙 (엣지 컴퓨터·GPR 제어)</a:t>
              </a:r>
            </a:p>
          </p:txBody>
        </p:sp>
        <p:sp>
          <p:nvSpPr>
            <p:cNvPr id="30" name="TextBox 30"/>
            <p:cNvSpPr txBox="1"/>
            <p:nvPr/>
          </p:nvSpPr>
          <p:spPr>
            <a:xfrm>
              <a:off x="3804285" y="4832350"/>
              <a:ext cx="1523839"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B</a:t>
              </a:r>
              <a:r>
                <a:rPr lang="ko-KR" sz="1120" dirty="0">
                  <a:solidFill>
                    <a:srgbClr val="111827"/>
                  </a:solidFill>
                  <a:latin typeface="+mn-lt"/>
                  <a:ea typeface="+mn-ea"/>
                  <a:cs typeface="+mn-cs"/>
                </a:rPr>
                <a:t xml:space="preserve"> 수동 GPR·AR 글래스</a:t>
              </a:r>
            </a:p>
          </p:txBody>
        </p:sp>
        <p:sp>
          <p:nvSpPr>
            <p:cNvPr id="31" name="TextBox 31"/>
            <p:cNvSpPr txBox="1"/>
            <p:nvPr/>
          </p:nvSpPr>
          <p:spPr>
            <a:xfrm>
              <a:off x="527685" y="5060950"/>
              <a:ext cx="1287010"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C</a:t>
              </a:r>
              <a:r>
                <a:rPr lang="ko-KR" sz="1120" dirty="0">
                  <a:solidFill>
                    <a:srgbClr val="111827"/>
                  </a:solidFill>
                  <a:latin typeface="+mn-lt"/>
                  <a:ea typeface="+mn-ea"/>
                  <a:cs typeface="+mn-cs"/>
                </a:rPr>
                <a:t xml:space="preserve"> 내시경·안전장비</a:t>
              </a:r>
            </a:p>
          </p:txBody>
        </p:sp>
        <p:sp>
          <p:nvSpPr>
            <p:cNvPr id="32" name="TextBox 32"/>
            <p:cNvSpPr txBox="1"/>
            <p:nvPr/>
          </p:nvSpPr>
          <p:spPr>
            <a:xfrm>
              <a:off x="3804285" y="5060950"/>
              <a:ext cx="2102756" cy="220028"/>
            </a:xfrm>
            <a:prstGeom prst="rect">
              <a:avLst/>
            </a:prstGeom>
            <a:noFill/>
            <a:ln>
              <a:noFill/>
            </a:ln>
          </p:spPr>
          <p:txBody>
            <a:bodyPr wrap="none" lIns="0" tIns="0" rIns="0" bIns="0" anchor="t" anchorCtr="0">
              <a:spAutoFit/>
            </a:bodyPr>
            <a:lstStyle/>
            <a:p>
              <a:pPr algn="l"/>
              <a:r>
                <a:rPr lang="en-US" sz="1120" b="1" dirty="0">
                  <a:solidFill>
                    <a:srgbClr val="0B1E3C"/>
                  </a:solidFill>
                  <a:latin typeface="+mn-lt"/>
                  <a:ea typeface="+mn-ea"/>
                  <a:cs typeface="+mn-cs"/>
                </a:rPr>
                <a:t>D</a:t>
              </a:r>
              <a:r>
                <a:rPr lang="ko-KR" sz="1120" dirty="0">
                  <a:solidFill>
                    <a:srgbClr val="111827"/>
                  </a:solidFill>
                  <a:latin typeface="+mn-lt"/>
                  <a:ea typeface="+mn-ea"/>
                  <a:cs typeface="+mn-cs"/>
                </a:rPr>
                <a:t xml:space="preserve"> 바닥 아래 차량형 다채널 GPR</a:t>
              </a:r>
            </a:p>
          </p:txBody>
        </p:sp>
        <p:sp>
          <p:nvSpPr>
            <p:cNvPr id="33" name="TextBox 33"/>
            <p:cNvSpPr txBox="1"/>
            <p:nvPr/>
          </p:nvSpPr>
          <p:spPr>
            <a:xfrm>
              <a:off x="528447" y="5334000"/>
              <a:ext cx="366106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콘셉트 이미지 · GPR 장착 위치는 배터리 팩 간섭 시험 후 확정</a:t>
              </a:r>
            </a:p>
          </p:txBody>
        </p:sp>
      </p:grpSp>
      <p:grpSp>
        <p:nvGrpSpPr>
          <p:cNvPr id="58" name="spec"/>
          <p:cNvGrpSpPr/>
          <p:nvPr/>
        </p:nvGrpSpPr>
        <p:grpSpPr>
          <a:xfrm>
            <a:off x="6622923" y="1466850"/>
            <a:ext cx="5035677" cy="3776028"/>
            <a:chOff x="6622923" y="1466850"/>
            <a:chExt cx="5035677" cy="3776028"/>
          </a:xfrm>
        </p:grpSpPr>
        <p:grpSp>
          <p:nvGrpSpPr>
            <p:cNvPr id="37" name="Group 37"/>
            <p:cNvGrpSpPr/>
            <p:nvPr/>
          </p:nvGrpSpPr>
          <p:grpSpPr>
            <a:xfrm>
              <a:off x="6624447" y="1466850"/>
              <a:ext cx="2877266" cy="191643"/>
              <a:chOff x="6624447" y="1466850"/>
              <a:chExt cx="2877266" cy="191643"/>
            </a:xfrm>
          </p:grpSpPr>
          <p:sp>
            <p:nvSpPr>
              <p:cNvPr id="35" name="TextBox 35"/>
              <p:cNvSpPr txBox="1"/>
              <p:nvPr/>
            </p:nvSpPr>
            <p:spPr>
              <a:xfrm>
                <a:off x="6624447" y="1466850"/>
                <a:ext cx="1148441"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탐사실에 필요한 것</a:t>
                </a:r>
              </a:p>
            </p:txBody>
          </p:sp>
          <p:sp>
            <p:nvSpPr>
              <p:cNvPr id="36" name="TextBox 36"/>
              <p:cNvSpPr txBox="1"/>
              <p:nvPr/>
            </p:nvSpPr>
            <p:spPr>
              <a:xfrm>
                <a:off x="8243697" y="1466850"/>
                <a:ext cx="1258016" cy="191643"/>
              </a:xfrm>
              <a:prstGeom prst="rect">
                <a:avLst/>
              </a:prstGeom>
              <a:noFill/>
              <a:ln>
                <a:noFill/>
              </a:ln>
            </p:spPr>
            <p:txBody>
              <a:bodyPr wrap="none" lIns="0" tIns="0" rIns="0" bIns="0" anchor="t" anchorCtr="0">
                <a:spAutoFit/>
              </a:bodyPr>
              <a:lstStyle/>
              <a:p>
                <a:pPr algn="l"/>
                <a:r>
                  <a:rPr lang="ko-KR" sz="980" b="1" dirty="0">
                    <a:solidFill>
                      <a:srgbClr val="4B5563"/>
                    </a:solidFill>
                    <a:latin typeface="+mn-lt"/>
                    <a:ea typeface="+mn-ea"/>
                    <a:cs typeface="+mn-cs"/>
                  </a:rPr>
                  <a:t>PV5에서 확인된 사양</a:t>
                </a:r>
              </a:p>
            </p:txBody>
          </p:sp>
        </p:grpSp>
        <p:sp>
          <p:nvSpPr>
            <p:cNvPr id="38" name="Line 38"/>
            <p:cNvSpPr/>
            <p:nvPr/>
          </p:nvSpPr>
          <p:spPr>
            <a:xfrm>
              <a:off x="6629400" y="1695450"/>
              <a:ext cx="5029200" cy="9525"/>
            </a:xfrm>
            <a:custGeom>
              <a:avLst/>
              <a:gdLst/>
              <a:ahLst/>
              <a:cxnLst/>
              <a:rect l="l" t="t" r="r" b="b"/>
              <a:pathLst>
                <a:path w="5029200" h="9525">
                  <a:moveTo>
                    <a:pt x="0" y="0"/>
                  </a:moveTo>
                  <a:lnTo>
                    <a:pt x="5029200" y="0"/>
                  </a:lnTo>
                </a:path>
              </a:pathLst>
            </a:custGeom>
            <a:noFill/>
            <a:ln w="14288">
              <a:solidFill>
                <a:srgbClr val="0B1E3C"/>
              </a:solidFill>
            </a:ln>
          </p:spPr>
        </p:sp>
        <p:sp>
          <p:nvSpPr>
            <p:cNvPr id="39" name="TextBox 39"/>
            <p:cNvSpPr txBox="1"/>
            <p:nvPr/>
          </p:nvSpPr>
          <p:spPr>
            <a:xfrm>
              <a:off x="6622923" y="18859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적재</a:t>
              </a:r>
            </a:p>
          </p:txBody>
        </p:sp>
        <p:sp>
          <p:nvSpPr>
            <p:cNvPr id="40" name="TextBox 40"/>
            <p:cNvSpPr txBox="1"/>
            <p:nvPr/>
          </p:nvSpPr>
          <p:spPr>
            <a:xfrm>
              <a:off x="8242554" y="1885950"/>
              <a:ext cx="249494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카고룸 4,420L · 최대 적재 550kg</a:t>
              </a:r>
            </a:p>
          </p:txBody>
        </p:sp>
        <p:sp>
          <p:nvSpPr>
            <p:cNvPr id="41" name="TextBox 41"/>
            <p:cNvSpPr txBox="1"/>
            <p:nvPr/>
          </p:nvSpPr>
          <p:spPr>
            <a:xfrm>
              <a:off x="8242935" y="2127250"/>
              <a:ext cx="3298312"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순정 액세서리 장착 기준 · 장비 약 300kg [가설]</a:t>
              </a:r>
            </a:p>
          </p:txBody>
        </p:sp>
        <p:sp>
          <p:nvSpPr>
            <p:cNvPr id="42" name="Line 42"/>
            <p:cNvSpPr/>
            <p:nvPr/>
          </p:nvSpPr>
          <p:spPr>
            <a:xfrm>
              <a:off x="6629400" y="24574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3" name="TextBox 43"/>
            <p:cNvSpPr txBox="1"/>
            <p:nvPr/>
          </p:nvSpPr>
          <p:spPr>
            <a:xfrm>
              <a:off x="6622923" y="2609850"/>
              <a:ext cx="756487"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장비 전원</a:t>
              </a:r>
            </a:p>
          </p:txBody>
        </p:sp>
        <p:sp>
          <p:nvSpPr>
            <p:cNvPr id="44" name="TextBox 44"/>
            <p:cNvSpPr txBox="1"/>
            <p:nvPr/>
          </p:nvSpPr>
          <p:spPr>
            <a:xfrm>
              <a:off x="8242554" y="2609850"/>
              <a:ext cx="30127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실내·실외 V2L (최대 3.6kW, 해외 제원)</a:t>
              </a:r>
            </a:p>
          </p:txBody>
        </p:sp>
        <p:sp>
          <p:nvSpPr>
            <p:cNvPr id="45" name="TextBox 45"/>
            <p:cNvSpPr txBox="1"/>
            <p:nvPr/>
          </p:nvSpPr>
          <p:spPr>
            <a:xfrm>
              <a:off x="8242935" y="2851150"/>
              <a:ext cx="341253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장비 1.5kW · 하루 10kWh = 배터리의 14% [가설]</a:t>
              </a:r>
            </a:p>
          </p:txBody>
        </p:sp>
        <p:sp>
          <p:nvSpPr>
            <p:cNvPr id="46" name="Line 46"/>
            <p:cNvSpPr/>
            <p:nvPr/>
          </p:nvSpPr>
          <p:spPr>
            <a:xfrm>
              <a:off x="6629400" y="31813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47" name="TextBox 47"/>
            <p:cNvSpPr txBox="1"/>
            <p:nvPr/>
          </p:nvSpPr>
          <p:spPr>
            <a:xfrm>
              <a:off x="6622923" y="3333750"/>
              <a:ext cx="1155393"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같은 위치 고정</a:t>
              </a:r>
            </a:p>
          </p:txBody>
        </p:sp>
        <p:sp>
          <p:nvSpPr>
            <p:cNvPr id="48" name="TextBox 48"/>
            <p:cNvSpPr txBox="1"/>
            <p:nvPr/>
          </p:nvSpPr>
          <p:spPr>
            <a:xfrm>
              <a:off x="8242554" y="3333750"/>
              <a:ext cx="2674925"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L-Track·몰리 패널 (순정 액세서리)</a:t>
              </a:r>
            </a:p>
          </p:txBody>
        </p:sp>
        <p:sp>
          <p:nvSpPr>
            <p:cNvPr id="49" name="TextBox 49"/>
            <p:cNvSpPr txBox="1"/>
            <p:nvPr/>
          </p:nvSpPr>
          <p:spPr>
            <a:xfrm>
              <a:off x="8242935" y="3575050"/>
              <a:ext cx="180564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회차마다 같은 자리에 장착</a:t>
              </a:r>
            </a:p>
          </p:txBody>
        </p:sp>
        <p:sp>
          <p:nvSpPr>
            <p:cNvPr id="50" name="Line 50"/>
            <p:cNvSpPr/>
            <p:nvPr/>
          </p:nvSpPr>
          <p:spPr>
            <a:xfrm>
              <a:off x="6629400" y="39052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1" name="TextBox 51"/>
            <p:cNvSpPr txBox="1"/>
            <p:nvPr/>
          </p:nvSpPr>
          <p:spPr>
            <a:xfrm>
              <a:off x="6622923" y="4057650"/>
              <a:ext cx="928801"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차량과 연동</a:t>
              </a:r>
            </a:p>
          </p:txBody>
        </p:sp>
        <p:sp>
          <p:nvSpPr>
            <p:cNvPr id="52" name="TextBox 52"/>
            <p:cNvSpPr txBox="1"/>
            <p:nvPr/>
          </p:nvSpPr>
          <p:spPr>
            <a:xfrm>
              <a:off x="8242554" y="4057650"/>
              <a:ext cx="2890647"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Pleos Connect SDK · Navihelper · PIM</a:t>
              </a:r>
            </a:p>
          </p:txBody>
        </p:sp>
        <p:sp>
          <p:nvSpPr>
            <p:cNvPr id="53" name="TextBox 53"/>
            <p:cNvSpPr txBox="1"/>
            <p:nvPr/>
          </p:nvSpPr>
          <p:spPr>
            <a:xfrm>
              <a:off x="8242935" y="4298950"/>
              <a:ext cx="25821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재확인 지점 안내, 화면에서 장비 제어</a:t>
              </a:r>
            </a:p>
          </p:txBody>
        </p:sp>
        <p:sp>
          <p:nvSpPr>
            <p:cNvPr id="54" name="Line 54"/>
            <p:cNvSpPr/>
            <p:nvPr/>
          </p:nvSpPr>
          <p:spPr>
            <a:xfrm>
              <a:off x="6629400" y="4629150"/>
              <a:ext cx="5029200" cy="9525"/>
            </a:xfrm>
            <a:custGeom>
              <a:avLst/>
              <a:gdLst/>
              <a:ahLst/>
              <a:cxnLst/>
              <a:rect l="l" t="t" r="r" b="b"/>
              <a:pathLst>
                <a:path w="5029200" h="9525">
                  <a:moveTo>
                    <a:pt x="0" y="0"/>
                  </a:moveTo>
                  <a:lnTo>
                    <a:pt x="5029200" y="0"/>
                  </a:lnTo>
                </a:path>
              </a:pathLst>
            </a:custGeom>
            <a:noFill/>
            <a:ln w="9525">
              <a:solidFill>
                <a:srgbClr val="E2E6EC"/>
              </a:solidFill>
            </a:ln>
          </p:spPr>
        </p:sp>
        <p:sp>
          <p:nvSpPr>
            <p:cNvPr id="55" name="TextBox 55"/>
            <p:cNvSpPr txBox="1"/>
            <p:nvPr/>
          </p:nvSpPr>
          <p:spPr>
            <a:xfrm>
              <a:off x="6622923" y="4781550"/>
              <a:ext cx="983080"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여러 대 운영</a:t>
              </a:r>
            </a:p>
          </p:txBody>
        </p:sp>
        <p:sp>
          <p:nvSpPr>
            <p:cNvPr id="56" name="TextBox 56"/>
            <p:cNvSpPr txBox="1"/>
            <p:nvPr/>
          </p:nvSpPr>
          <p:spPr>
            <a:xfrm>
              <a:off x="8242554" y="4781550"/>
              <a:ext cx="22942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컨버전 포털 · Pleos Fleet 관제</a:t>
              </a:r>
            </a:p>
          </p:txBody>
        </p:sp>
        <p:sp>
          <p:nvSpPr>
            <p:cNvPr id="57" name="TextBox 57"/>
            <p:cNvSpPr txBox="1"/>
            <p:nvPr/>
          </p:nvSpPr>
          <p:spPr>
            <a:xfrm>
              <a:off x="8242935" y="5022850"/>
              <a:ext cx="292891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같은 탐사실을 복제, 단말기 없이 플릿 관제</a:t>
              </a:r>
            </a:p>
          </p:txBody>
        </p:sp>
      </p:grpSp>
      <p:grpSp>
        <p:nvGrpSpPr>
          <p:cNvPr id="61" name="conclusion"/>
          <p:cNvGrpSpPr/>
          <p:nvPr/>
        </p:nvGrpSpPr>
        <p:grpSpPr>
          <a:xfrm>
            <a:off x="533400" y="5695950"/>
            <a:ext cx="6764768" cy="419100"/>
            <a:chOff x="533400" y="5695950"/>
            <a:chExt cx="6764768" cy="419100"/>
          </a:xfrm>
        </p:grpSpPr>
        <p:sp>
          <p:nvSpPr>
            <p:cNvPr id="59" name="Rectangle 59"/>
            <p:cNvSpPr/>
            <p:nvPr/>
          </p:nvSpPr>
          <p:spPr>
            <a:xfrm>
              <a:off x="533400" y="5695950"/>
              <a:ext cx="38100" cy="419100"/>
            </a:xfrm>
            <a:prstGeom prst="rect">
              <a:avLst/>
            </a:prstGeom>
            <a:solidFill>
              <a:srgbClr val="F5B700"/>
            </a:solidFill>
            <a:ln>
              <a:noFill/>
            </a:ln>
          </p:spPr>
        </p:sp>
        <p:sp>
          <p:nvSpPr>
            <p:cNvPr id="60" name="TextBox 60"/>
            <p:cNvSpPr txBox="1"/>
            <p:nvPr/>
          </p:nvSpPr>
          <p:spPr>
            <a:xfrm>
              <a:off x="715899" y="5791200"/>
              <a:ext cx="6582269"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장비를 싣는 것을 넘어, PV5에서는 차가 탐사 업무의 일부가 됩니다.</a:t>
              </a:r>
            </a:p>
          </p:txBody>
        </p:sp>
      </p:grpSp>
      <p:grpSp>
        <p:nvGrpSpPr>
          <p:cNvPr id="63" name="source"/>
          <p:cNvGrpSpPr/>
          <p:nvPr/>
        </p:nvGrpSpPr>
        <p:grpSpPr>
          <a:xfrm>
            <a:off x="528447" y="6381750"/>
            <a:ext cx="10195055" cy="191643"/>
            <a:chOff x="528447" y="6381750"/>
            <a:chExt cx="10195055" cy="191643"/>
          </a:xfrm>
        </p:grpSpPr>
        <p:sp>
          <p:nvSpPr>
            <p:cNvPr id="62" name="TextBox 62"/>
            <p:cNvSpPr txBox="1"/>
            <p:nvPr/>
          </p:nvSpPr>
          <p:spPr>
            <a:xfrm>
              <a:off x="528447" y="6381750"/>
              <a:ext cx="10195055"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기아 PV5 카고 카탈로그(2026.9)·공식 제원표 · 공모전 솔루션 부문 안내(Pleos Connect SDK) · 오토뷰(2026.1.28, PIM) · V2L 3.6kW 해외 제원 · 배치는 콘셉트</a:t>
              </a:r>
            </a:p>
          </p:txBody>
        </p:sp>
      </p:grpSp>
      <p:grpSp>
        <p:nvGrpSpPr>
          <p:cNvPr id="66" name="footer"/>
          <p:cNvGrpSpPr/>
          <p:nvPr/>
        </p:nvGrpSpPr>
        <p:grpSpPr>
          <a:xfrm>
            <a:off x="528638" y="6610350"/>
            <a:ext cx="11134724" cy="176212"/>
            <a:chOff x="528638" y="6610350"/>
            <a:chExt cx="11134724" cy="176212"/>
          </a:xfrm>
        </p:grpSpPr>
        <p:sp>
          <p:nvSpPr>
            <p:cNvPr id="64" name="TextBox 6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5" name="TextBox 6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15</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6740804" cy="586740"/>
            <a:chOff x="518160" y="774700"/>
            <a:chExt cx="6740804" cy="586740"/>
          </a:xfrm>
        </p:grpSpPr>
        <p:sp>
          <p:nvSpPr>
            <p:cNvPr id="17" name="TextBox 17"/>
            <p:cNvSpPr txBox="1"/>
            <p:nvPr/>
          </p:nvSpPr>
          <p:spPr>
            <a:xfrm>
              <a:off x="518160" y="774700"/>
              <a:ext cx="674080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10338264" cy="264033"/>
            <a:chOff x="526542" y="1339850"/>
            <a:chExt cx="10338264" cy="264033"/>
          </a:xfrm>
        </p:grpSpPr>
        <p:sp>
          <p:nvSpPr>
            <p:cNvPr id="19" name="TextBox 19"/>
            <p:cNvSpPr txBox="1"/>
            <p:nvPr/>
          </p:nvSpPr>
          <p:spPr>
            <a:xfrm>
              <a:off x="526542" y="1339850"/>
              <a:ext cx="10338264"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차값 차이는 최대 1,354만 원, 차량형 GPR은 대당 2억~8억 원(서울시 약 5억 원)입니다. 그래서 전원·고정 구조로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085" y="2108200"/>
              <a:ext cx="7928508" cy="220028"/>
              <a:chOff x="2204085" y="2108200"/>
              <a:chExt cx="7928508" cy="220028"/>
            </a:xfrm>
          </p:grpSpPr>
          <p:sp>
            <p:nvSpPr>
              <p:cNvPr id="28" name="TextBox 28"/>
              <p:cNvSpPr txBox="1"/>
              <p:nvPr/>
            </p:nvSpPr>
            <p:spPr>
              <a:xfrm>
                <a:off x="2204085" y="2108200"/>
                <a:ext cx="938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롱 · 롱레인지</a:t>
                </a:r>
              </a:p>
            </p:txBody>
          </p:sp>
          <p:sp>
            <p:nvSpPr>
              <p:cNvPr id="29" name="TextBox 29"/>
              <p:cNvSpPr txBox="1"/>
              <p:nvPr/>
            </p:nvSpPr>
            <p:spPr>
              <a:xfrm>
                <a:off x="4604385" y="2108200"/>
                <a:ext cx="395905"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3인승</a:t>
                </a:r>
              </a:p>
            </p:txBody>
          </p:sp>
          <p:sp>
            <p:nvSpPr>
              <p:cNvPr id="30" name="TextBox 30"/>
              <p:cNvSpPr txBox="1"/>
              <p:nvPr/>
            </p:nvSpPr>
            <p:spPr>
              <a:xfrm>
                <a:off x="7004685" y="2108200"/>
                <a:ext cx="8105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카고 스타일</a:t>
                </a:r>
              </a:p>
            </p:txBody>
          </p:sp>
          <p:sp>
            <p:nvSpPr>
              <p:cNvPr id="31" name="TextBox 31"/>
              <p:cNvSpPr txBox="1"/>
              <p:nvPr/>
            </p:nvSpPr>
            <p:spPr>
              <a:xfrm>
                <a:off x="9404985" y="2108200"/>
                <a:ext cx="72760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08250"/>
              <a:ext cx="662022" cy="1477328"/>
              <a:chOff x="527685" y="2508250"/>
              <a:chExt cx="662022" cy="1477328"/>
            </a:xfrm>
          </p:grpSpPr>
          <p:sp>
            <p:nvSpPr>
              <p:cNvPr id="34" name="TextBox 34"/>
              <p:cNvSpPr txBox="1"/>
              <p:nvPr/>
            </p:nvSpPr>
            <p:spPr>
              <a:xfrm>
                <a:off x="527685" y="2508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66291"/>
              <a:chOff x="533400" y="2495550"/>
              <a:chExt cx="11125200" cy="1566291"/>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1799" y="3257550"/>
                <a:ext cx="1090135" cy="308991"/>
              </a:xfrm>
              <a:prstGeom prst="rect">
                <a:avLst/>
              </a:prstGeom>
              <a:noFill/>
              <a:ln>
                <a:noFill/>
              </a:ln>
            </p:spPr>
            <p:txBody>
              <a:bodyPr wrap="none" lIns="0" tIns="0" rIns="0" bIns="0" anchor="t" anchorCtr="0">
                <a:spAutoFit/>
              </a:bodyPr>
              <a:lstStyle/>
              <a:p>
                <a:pPr algn="l"/>
                <a:r>
                  <a:rPr lang="ko-KR" sz="1580"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1799" y="3752850"/>
                <a:ext cx="643466" cy="308991"/>
              </a:xfrm>
              <a:prstGeom prst="rect">
                <a:avLst/>
              </a:prstGeom>
              <a:noFill/>
              <a:ln>
                <a:noFill/>
              </a:ln>
            </p:spPr>
            <p:txBody>
              <a:bodyPr wrap="none" lIns="0" tIns="0" rIns="0" bIns="0" anchor="t" anchorCtr="0">
                <a:spAutoFit/>
              </a:bodyPr>
              <a:lstStyle/>
              <a:p>
                <a:pPr algn="l"/>
                <a:r>
                  <a:rPr lang="en-US" sz="1580"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8" name="kit"/>
          <p:cNvGrpSpPr/>
          <p:nvPr/>
        </p:nvGrpSpPr>
        <p:grpSpPr>
          <a:xfrm>
            <a:off x="527685" y="4248150"/>
            <a:ext cx="11130915" cy="1353693"/>
            <a:chOff x="527685" y="4248150"/>
            <a:chExt cx="11130915" cy="1353693"/>
          </a:xfrm>
        </p:grpSpPr>
        <p:pic>
          <p:nvPicPr>
            <p:cNvPr id="54" name="Image 54"/>
            <p:cNvPicPr>
              <a:picLocks noChangeAspect="1"/>
            </p:cNvPicPr>
            <p:nvPr/>
          </p:nvPicPr>
          <p:blipFill>
            <a:blip r:embed="rId2"/>
            <a:srcRect l="0" t="28446" r="0" b="28445"/>
            <a:stretch>
              <a:fillRect/>
            </a:stretch>
          </p:blipFill>
          <p:spPr>
            <a:xfrm>
              <a:off x="533400" y="4248150"/>
              <a:ext cx="2609850" cy="876300"/>
            </a:xfrm>
            <a:prstGeom prst="rect">
              <a:avLst/>
            </a:prstGeom>
          </p:spPr>
        </p:pic>
        <p:sp>
          <p:nvSpPr>
            <p:cNvPr id="55" name="TextBox 55"/>
            <p:cNvSpPr txBox="1"/>
            <p:nvPr/>
          </p:nvSpPr>
          <p:spPr>
            <a:xfrm>
              <a:off x="527685" y="5194300"/>
              <a:ext cx="1641486"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실내 V2L 콘센트</a:t>
              </a:r>
            </a:p>
          </p:txBody>
        </p:sp>
        <p:sp>
          <p:nvSpPr>
            <p:cNvPr id="56" name="TextBox 56"/>
            <p:cNvSpPr txBox="1"/>
            <p:nvPr/>
          </p:nvSpPr>
          <p:spPr>
            <a:xfrm>
              <a:off x="528447" y="5410200"/>
              <a:ext cx="1624899"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시동 없이 GPR·컴퓨터 전원</a:t>
              </a:r>
            </a:p>
          </p:txBody>
        </p:sp>
        <p:pic>
          <p:nvPicPr>
            <p:cNvPr id="57" name="Image 57"/>
            <p:cNvPicPr>
              <a:picLocks noChangeAspect="1"/>
            </p:cNvPicPr>
            <p:nvPr/>
          </p:nvPicPr>
          <p:blipFill>
            <a:blip r:embed="rId3"/>
            <a:srcRect l="0" t="24858" r="0" b="24858"/>
            <a:stretch>
              <a:fillRect/>
            </a:stretch>
          </p:blipFill>
          <p:spPr>
            <a:xfrm>
              <a:off x="3371850" y="4248150"/>
              <a:ext cx="2609850" cy="876300"/>
            </a:xfrm>
            <a:prstGeom prst="rect">
              <a:avLst/>
            </a:prstGeom>
          </p:spPr>
        </p:pic>
        <p:sp>
          <p:nvSpPr>
            <p:cNvPr id="58" name="TextBox 58"/>
            <p:cNvSpPr txBox="1"/>
            <p:nvPr/>
          </p:nvSpPr>
          <p:spPr>
            <a:xfrm>
              <a:off x="3366135" y="5194300"/>
              <a:ext cx="1482192"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L-Track 러기지 트림</a:t>
              </a:r>
            </a:p>
          </p:txBody>
        </p:sp>
        <p:sp>
          <p:nvSpPr>
            <p:cNvPr id="59" name="TextBox 59"/>
            <p:cNvSpPr txBox="1"/>
            <p:nvPr/>
          </p:nvSpPr>
          <p:spPr>
            <a:xfrm>
              <a:off x="3366897" y="5410200"/>
              <a:ext cx="188327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회차마다 같은 자리에 장비 고정</a:t>
              </a:r>
            </a:p>
          </p:txBody>
        </p:sp>
        <p:pic>
          <p:nvPicPr>
            <p:cNvPr id="60" name="Image 60"/>
            <p:cNvPicPr>
              <a:picLocks noChangeAspect="1"/>
            </p:cNvPicPr>
            <p:nvPr/>
          </p:nvPicPr>
          <p:blipFill>
            <a:blip r:embed="rId4"/>
            <a:srcRect l="0" t="25152" r="0" b="25152"/>
            <a:stretch>
              <a:fillRect/>
            </a:stretch>
          </p:blipFill>
          <p:spPr>
            <a:xfrm>
              <a:off x="6210300" y="4248150"/>
              <a:ext cx="2609850" cy="876300"/>
            </a:xfrm>
            <a:prstGeom prst="rect">
              <a:avLst/>
            </a:prstGeom>
          </p:spPr>
        </p:pic>
        <p:sp>
          <p:nvSpPr>
            <p:cNvPr id="61" name="TextBox 61"/>
            <p:cNvSpPr txBox="1"/>
            <p:nvPr/>
          </p:nvSpPr>
          <p:spPr>
            <a:xfrm>
              <a:off x="6204585" y="5194300"/>
              <a:ext cx="2228944" cy="220028"/>
            </a:xfrm>
            <a:prstGeom prst="rect">
              <a:avLst/>
            </a:prstGeom>
            <a:noFill/>
            <a:ln>
              <a:noFill/>
            </a:ln>
          </p:spPr>
          <p:txBody>
            <a:bodyPr wrap="none" lIns="0" tIns="0" rIns="0" bIns="0" anchor="t" anchorCtr="0">
              <a:spAutoFit/>
            </a:bodyPr>
            <a:lstStyle/>
            <a:p>
              <a:pPr algn="l"/>
              <a:r>
                <a:rPr lang="ko-KR" sz="1120" b="1" dirty="0">
                  <a:solidFill>
                    <a:srgbClr val="111827"/>
                  </a:solidFill>
                  <a:latin typeface="+mn-lt"/>
                  <a:ea typeface="+mn-ea"/>
                  <a:cs typeface="+mn-cs"/>
                </a:rPr>
                <a:t>카고룸 2,255×1,565×1,520mm</a:t>
              </a:r>
            </a:p>
          </p:txBody>
        </p:sp>
        <p:sp>
          <p:nvSpPr>
            <p:cNvPr id="62" name="TextBox 62"/>
            <p:cNvSpPr txBox="1"/>
            <p:nvPr/>
          </p:nvSpPr>
          <p:spPr>
            <a:xfrm>
              <a:off x="6205347" y="5410200"/>
              <a:ext cx="1794538" cy="191643"/>
            </a:xfrm>
            <a:prstGeom prst="rect">
              <a:avLst/>
            </a:prstGeom>
            <a:noFill/>
            <a:ln>
              <a:noFill/>
            </a:ln>
          </p:spPr>
          <p:txBody>
            <a:bodyPr wrap="none" lIns="0" tIns="0" rIns="0" bIns="0" anchor="t" anchorCtr="0">
              <a:spAutoFit/>
            </a:bodyPr>
            <a:lstStyle/>
            <a:p>
              <a:pPr algn="l"/>
              <a:r>
                <a:rPr lang="ko-KR" sz="980" dirty="0">
                  <a:solidFill>
                    <a:srgbClr val="374151"/>
                  </a:solidFill>
                  <a:latin typeface="+mn-lt"/>
                  <a:ea typeface="+mn-ea"/>
                  <a:cs typeface="+mn-cs"/>
                </a:rPr>
                <a:t>랙·수동 GPR 카트를 함께 적재</a:t>
              </a:r>
            </a:p>
          </p:txBody>
        </p:sp>
        <p:sp>
          <p:nvSpPr>
            <p:cNvPr id="63" name="Rectangle 63"/>
            <p:cNvSpPr/>
            <p:nvPr/>
          </p:nvSpPr>
          <p:spPr>
            <a:xfrm>
              <a:off x="9048750" y="4248150"/>
              <a:ext cx="2609850" cy="28575"/>
            </a:xfrm>
            <a:prstGeom prst="rect">
              <a:avLst/>
            </a:prstGeom>
            <a:solidFill>
              <a:srgbClr val="C62828"/>
            </a:solidFill>
            <a:ln>
              <a:noFill/>
            </a:ln>
          </p:spPr>
        </p:sp>
        <p:sp>
          <p:nvSpPr>
            <p:cNvPr id="64" name="TextBox 64"/>
            <p:cNvSpPr txBox="1"/>
            <p:nvPr/>
          </p:nvSpPr>
          <p:spPr>
            <a:xfrm>
              <a:off x="904303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65" name="TextBox 65"/>
            <p:cNvSpPr txBox="1"/>
            <p:nvPr/>
          </p:nvSpPr>
          <p:spPr>
            <a:xfrm>
              <a:off x="9042654" y="4648200"/>
              <a:ext cx="236265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주행거리 377km는 스타리아보다</a:t>
              </a:r>
            </a:p>
          </p:txBody>
        </p:sp>
        <p:sp>
          <p:nvSpPr>
            <p:cNvPr id="66" name="TextBox 66"/>
            <p:cNvSpPr txBox="1"/>
            <p:nvPr/>
          </p:nvSpPr>
          <p:spPr>
            <a:xfrm>
              <a:off x="9042654" y="487680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10km 짧습니다. 하루 순찰 약</a:t>
              </a:r>
            </a:p>
          </p:txBody>
        </p:sp>
        <p:sp>
          <p:nvSpPr>
            <p:cNvPr id="67" name="TextBox 67"/>
            <p:cNvSpPr txBox="1"/>
            <p:nvPr/>
          </p:nvSpPr>
          <p:spPr>
            <a:xfrm>
              <a:off x="9042654" y="5105400"/>
              <a:ext cx="2217268" cy="234696"/>
            </a:xfrm>
            <a:prstGeom prst="rect">
              <a:avLst/>
            </a:prstGeom>
            <a:noFill/>
            <a:ln>
              <a:noFill/>
            </a:ln>
          </p:spPr>
          <p:txBody>
            <a:bodyPr wrap="none" lIns="0" tIns="0" rIns="0" bIns="0" anchor="t" anchorCtr="0">
              <a:spAutoFit/>
            </a:bodyPr>
            <a:lstStyle/>
            <a:p>
              <a:pPr algn="l"/>
              <a:r>
                <a:rPr lang="en-US" sz="1200" dirty="0">
                  <a:solidFill>
                    <a:srgbClr val="111827"/>
                  </a:solidFill>
                  <a:latin typeface="+mn-lt"/>
                  <a:ea typeface="+mn-ea"/>
                  <a:cs typeface="+mn-cs"/>
                </a:rPr>
                <a:t xml:space="preserve">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 충분합니다.</a:t>
              </a:r>
            </a:p>
          </p:txBody>
        </p:sp>
      </p:grpSp>
      <p:grpSp>
        <p:nvGrpSpPr>
          <p:cNvPr id="71" name="conclusion"/>
          <p:cNvGrpSpPr/>
          <p:nvPr/>
        </p:nvGrpSpPr>
        <p:grpSpPr>
          <a:xfrm>
            <a:off x="533400" y="5657850"/>
            <a:ext cx="8992086" cy="495300"/>
            <a:chOff x="533400" y="5657850"/>
            <a:chExt cx="8992086" cy="495300"/>
          </a:xfrm>
        </p:grpSpPr>
        <p:sp>
          <p:nvSpPr>
            <p:cNvPr id="69" name="Rectangle 69"/>
            <p:cNvSpPr/>
            <p:nvPr/>
          </p:nvSpPr>
          <p:spPr>
            <a:xfrm>
              <a:off x="533400" y="5657850"/>
              <a:ext cx="38100" cy="495300"/>
            </a:xfrm>
            <a:prstGeom prst="rect">
              <a:avLst/>
            </a:prstGeom>
            <a:solidFill>
              <a:srgbClr val="F5B700"/>
            </a:solidFill>
            <a:ln>
              <a:noFill/>
            </a:ln>
          </p:spPr>
        </p:sp>
        <p:sp>
          <p:nvSpPr>
            <p:cNvPr id="70" name="TextBox 70"/>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73" name="source"/>
          <p:cNvGrpSpPr/>
          <p:nvPr/>
        </p:nvGrpSpPr>
        <p:grpSpPr>
          <a:xfrm>
            <a:off x="528447" y="6248400"/>
            <a:ext cx="9107932" cy="344043"/>
            <a:chOff x="528447" y="6248400"/>
            <a:chExt cx="9107932" cy="344043"/>
          </a:xfrm>
        </p:grpSpPr>
        <p:sp>
          <p:nvSpPr>
            <p:cNvPr id="72" name="TextBox 72"/>
            <p:cNvSpPr txBox="1"/>
            <p:nvPr/>
          </p:nvSpPr>
          <p:spPr>
            <a:xfrm>
              <a:off x="528447" y="6248400"/>
              <a:ext cx="9107932" cy="344043"/>
            </a:xfrm>
            <a:prstGeom prst="rect">
              <a:avLst/>
            </a:prstGeom>
            <a:noFill/>
            <a:ln>
              <a:noFill/>
            </a:ln>
          </p:spPr>
          <p:txBody>
            <a:bodyPr wrap="none" lIns="0" tIns="0" rIns="0" bIns="0" anchor="t" anchorCtr="0">
              <a:spAutoFit/>
            </a:bodyPr>
            <a:lstStyle/>
            <a:p>
              <a:pPr algn="l">
                <a:lnSpc>
                  <a:spcPts val="1200"/>
                </a:lnSpc>
              </a:pPr>
              <a:r>
                <a:rPr lang="ko-KR" sz="980" dirty="0">
                  <a:solidFill>
                    <a:srgbClr val="4B5563"/>
                  </a:solidFill>
                  <a:latin typeface="+mn-lt"/>
                  <a:ea typeface="+mn-ea"/>
                  <a:cs typeface="+mn-cs"/>
                </a:rPr>
                <a:t>출처: 기아 PV5 카고 가격표(2026.10.1)·제원 · 오토뷰(2026.1.28, PV5 컨버전 포털) · 스타리아 일렉트릭 출시(2026.4.23) · ST1(2025.7.16, 317km)</a:t>
              </a:r>
              <a:br>
                <a:rPr lang="ko-KR" sz="980" dirty="0">
                  <a:solidFill>
                    <a:srgbClr val="4B5563"/>
                  </a:solidFill>
                  <a:latin typeface="+mn-lt"/>
                  <a:ea typeface="+mn-ea"/>
                  <a:cs typeface="+mn-cs"/>
                </a:rPr>
              </a:br>
              <a:r>
                <a:rPr lang="ko-KR" sz="980" dirty="0">
                  <a:solidFill>
                    <a:srgbClr val="4B5563"/>
                  </a:solidFill>
                  <a:latin typeface="+mn-lt"/>
                  <a:ea typeface="+mn-ea"/>
                  <a:cs typeface="+mn-cs"/>
                </a:rPr>
                <a:t>포터II·봉고III EV(2025년형, 217km) · 시사저널(2025.4.25, 경기도청 인용 GPR 대당 2억~8억 원) · 가격은 보조금 제외 · 사진: 기아 PV5 카고 카탈로그(2026.9)</a:t>
              </a:r>
            </a:p>
          </p:txBody>
        </p:sp>
      </p:grpSp>
      <p:grpSp>
        <p:nvGrpSpPr>
          <p:cNvPr id="76" name="footer"/>
          <p:cNvGrpSpPr/>
          <p:nvPr/>
        </p:nvGrpSpPr>
        <p:grpSpPr>
          <a:xfrm>
            <a:off x="528638" y="6610350"/>
            <a:ext cx="11134724" cy="176212"/>
            <a:chOff x="528638" y="6610350"/>
            <a:chExt cx="11134724" cy="176212"/>
          </a:xfrm>
        </p:grpSpPr>
        <p:sp>
          <p:nvSpPr>
            <p:cNvPr id="74" name="TextBox 74"/>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5" name="TextBox 75"/>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15</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9481805" cy="278702"/>
            <a:chOff x="526161" y="1346200"/>
            <a:chExt cx="9481805" cy="278702"/>
          </a:xfrm>
        </p:grpSpPr>
        <p:sp>
          <p:nvSpPr>
            <p:cNvPr id="19" name="TextBox 19"/>
            <p:cNvSpPr txBox="1"/>
            <p:nvPr/>
          </p:nvSpPr>
          <p:spPr>
            <a:xfrm>
              <a:off x="526161" y="1346200"/>
              <a:ext cx="9481805"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공동이 단기간에 자랄 수 있다는 것은 연구로 확인됐습니다(5장).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22450"/>
            <a:ext cx="11130915" cy="2069402"/>
            <a:chOff x="527685" y="1822450"/>
            <a:chExt cx="11130915" cy="2069402"/>
          </a:xfrm>
        </p:grpSpPr>
        <p:grpSp>
          <p:nvGrpSpPr>
            <p:cNvPr id="24" name="Group 24"/>
            <p:cNvGrpSpPr/>
            <p:nvPr/>
          </p:nvGrpSpPr>
          <p:grpSpPr>
            <a:xfrm>
              <a:off x="527685" y="1822450"/>
              <a:ext cx="8391445" cy="220028"/>
              <a:chOff x="527685" y="1822450"/>
              <a:chExt cx="8391445" cy="220028"/>
            </a:xfrm>
          </p:grpSpPr>
          <p:sp>
            <p:nvSpPr>
              <p:cNvPr id="21" name="TextBox 21"/>
              <p:cNvSpPr txBox="1"/>
              <p:nvPr/>
            </p:nvSpPr>
            <p:spPr>
              <a:xfrm>
                <a:off x="527685" y="1822450"/>
                <a:ext cx="812796"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확인할 질문</a:t>
                </a:r>
              </a:p>
            </p:txBody>
          </p:sp>
          <p:sp>
            <p:nvSpPr>
              <p:cNvPr id="22" name="TextBox 22"/>
              <p:cNvSpPr txBox="1"/>
              <p:nvPr/>
            </p:nvSpPr>
            <p:spPr>
              <a:xfrm>
                <a:off x="4947285" y="1822450"/>
                <a:ext cx="511247"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안 되면</a:t>
                </a:r>
              </a:p>
            </p:txBody>
          </p:sp>
          <p:sp>
            <p:nvSpPr>
              <p:cNvPr id="23" name="TextBox 23"/>
              <p:cNvSpPr txBox="1"/>
              <p:nvPr/>
            </p:nvSpPr>
            <p:spPr>
              <a:xfrm>
                <a:off x="7804785" y="1822450"/>
                <a:ext cx="1114345"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362780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8cm 어긋남이 최대 오탐(7장) → RTK·IMU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323521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시뮬레이션 통과(7장) → 공동 모사체 실측</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70"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Rectangle 48"/>
            <p:cNvSpPr/>
            <p:nvPr/>
          </p:nvSpPr>
          <p:spPr>
            <a:xfrm>
              <a:off x="533400" y="4572000"/>
              <a:ext cx="2647950" cy="38100"/>
            </a:xfrm>
            <a:prstGeom prst="rect">
              <a:avLst/>
            </a:prstGeom>
            <a:solidFill>
              <a:srgbClr val="0B1E3C"/>
            </a:solidFill>
            <a:ln>
              <a:noFill/>
            </a:ln>
          </p:spPr>
        </p:sp>
        <p:sp>
          <p:nvSpPr>
            <p:cNvPr id="49" name="TextBox 49"/>
            <p:cNvSpPr txBox="1"/>
            <p:nvPr/>
          </p:nvSpPr>
          <p:spPr>
            <a:xfrm>
              <a:off x="699135" y="4699000"/>
              <a:ext cx="101822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1단계 · 질문 1</a:t>
              </a:r>
            </a:p>
          </p:txBody>
        </p:sp>
        <p:sp>
          <p:nvSpPr>
            <p:cNvPr id="50" name="TextBox 50"/>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1" name="TextBox 51"/>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2" name="TextBox 52"/>
            <p:cNvSpPr txBox="1"/>
            <p:nvPr/>
          </p:nvSpPr>
          <p:spPr>
            <a:xfrm>
              <a:off x="325069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3" name="Rectangle 53"/>
            <p:cNvSpPr/>
            <p:nvPr/>
          </p:nvSpPr>
          <p:spPr>
            <a:xfrm>
              <a:off x="3362325" y="4572000"/>
              <a:ext cx="2647950" cy="895350"/>
            </a:xfrm>
            <a:prstGeom prst="rect">
              <a:avLst/>
            </a:prstGeom>
            <a:solidFill>
              <a:srgbClr val="F3F5F8"/>
            </a:solidFill>
            <a:ln>
              <a:noFill/>
            </a:ln>
          </p:spPr>
        </p:sp>
        <p:sp>
          <p:nvSpPr>
            <p:cNvPr id="54" name="Rectangle 54"/>
            <p:cNvSpPr/>
            <p:nvPr/>
          </p:nvSpPr>
          <p:spPr>
            <a:xfrm>
              <a:off x="3362325" y="4572000"/>
              <a:ext cx="2647950" cy="38100"/>
            </a:xfrm>
            <a:prstGeom prst="rect">
              <a:avLst/>
            </a:prstGeom>
            <a:solidFill>
              <a:srgbClr val="0B1E3C"/>
            </a:solidFill>
            <a:ln>
              <a:noFill/>
            </a:ln>
          </p:spPr>
        </p:sp>
        <p:sp>
          <p:nvSpPr>
            <p:cNvPr id="55" name="TextBox 55"/>
            <p:cNvSpPr txBox="1"/>
            <p:nvPr/>
          </p:nvSpPr>
          <p:spPr>
            <a:xfrm>
              <a:off x="3528060"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2단계 · 질문 2·3</a:t>
              </a:r>
            </a:p>
          </p:txBody>
        </p:sp>
        <p:sp>
          <p:nvSpPr>
            <p:cNvPr id="56" name="TextBox 56"/>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7" name="TextBox 57"/>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8" name="TextBox 58"/>
            <p:cNvSpPr txBox="1"/>
            <p:nvPr/>
          </p:nvSpPr>
          <p:spPr>
            <a:xfrm>
              <a:off x="6079617"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9" name="Rectangle 59"/>
            <p:cNvSpPr/>
            <p:nvPr/>
          </p:nvSpPr>
          <p:spPr>
            <a:xfrm>
              <a:off x="6191250" y="4572000"/>
              <a:ext cx="2647950" cy="895350"/>
            </a:xfrm>
            <a:prstGeom prst="rect">
              <a:avLst/>
            </a:prstGeom>
            <a:solidFill>
              <a:srgbClr val="F3F5F8"/>
            </a:solidFill>
            <a:ln>
              <a:noFill/>
            </a:ln>
          </p:spPr>
        </p:sp>
        <p:sp>
          <p:nvSpPr>
            <p:cNvPr id="60" name="Rectangle 60"/>
            <p:cNvSpPr/>
            <p:nvPr/>
          </p:nvSpPr>
          <p:spPr>
            <a:xfrm>
              <a:off x="6191250" y="4572000"/>
              <a:ext cx="2647950" cy="38100"/>
            </a:xfrm>
            <a:prstGeom prst="rect">
              <a:avLst/>
            </a:prstGeom>
            <a:solidFill>
              <a:srgbClr val="0B1E3C"/>
            </a:solidFill>
            <a:ln>
              <a:noFill/>
            </a:ln>
          </p:spPr>
        </p:sp>
        <p:sp>
          <p:nvSpPr>
            <p:cNvPr id="61" name="TextBox 61"/>
            <p:cNvSpPr txBox="1"/>
            <p:nvPr/>
          </p:nvSpPr>
          <p:spPr>
            <a:xfrm>
              <a:off x="6356985" y="4699000"/>
              <a:ext cx="1192370"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3단계 · 질문 3·4</a:t>
              </a:r>
            </a:p>
          </p:txBody>
        </p:sp>
        <p:sp>
          <p:nvSpPr>
            <p:cNvPr id="62" name="TextBox 62"/>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3" name="TextBox 63"/>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4" name="TextBox 64"/>
            <p:cNvSpPr txBox="1"/>
            <p:nvPr/>
          </p:nvSpPr>
          <p:spPr>
            <a:xfrm>
              <a:off x="8908542" y="494030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5" name="Rectangle 65"/>
            <p:cNvSpPr/>
            <p:nvPr/>
          </p:nvSpPr>
          <p:spPr>
            <a:xfrm>
              <a:off x="9020175" y="4572000"/>
              <a:ext cx="2647950" cy="895350"/>
            </a:xfrm>
            <a:prstGeom prst="rect">
              <a:avLst/>
            </a:prstGeom>
            <a:solidFill>
              <a:srgbClr val="F3F5F8"/>
            </a:solidFill>
            <a:ln>
              <a:noFill/>
            </a:ln>
          </p:spPr>
        </p:sp>
        <p:sp>
          <p:nvSpPr>
            <p:cNvPr id="66" name="Rectangle 66"/>
            <p:cNvSpPr/>
            <p:nvPr/>
          </p:nvSpPr>
          <p:spPr>
            <a:xfrm>
              <a:off x="9020175" y="4572000"/>
              <a:ext cx="2647950" cy="38100"/>
            </a:xfrm>
            <a:prstGeom prst="rect">
              <a:avLst/>
            </a:prstGeom>
            <a:solidFill>
              <a:srgbClr val="F5B700"/>
            </a:solidFill>
            <a:ln>
              <a:noFill/>
            </a:ln>
          </p:spPr>
        </p:sp>
        <p:sp>
          <p:nvSpPr>
            <p:cNvPr id="67" name="TextBox 67"/>
            <p:cNvSpPr txBox="1"/>
            <p:nvPr/>
          </p:nvSpPr>
          <p:spPr>
            <a:xfrm>
              <a:off x="9185910" y="4699000"/>
              <a:ext cx="1724604"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4단계 · 소요시간·재방문</a:t>
              </a:r>
            </a:p>
          </p:txBody>
        </p:sp>
        <p:sp>
          <p:nvSpPr>
            <p:cNvPr id="68" name="TextBox 68"/>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운영</a:t>
              </a:r>
            </a:p>
          </p:txBody>
        </p:sp>
        <p:sp>
          <p:nvSpPr>
            <p:cNvPr id="69" name="TextBox 69"/>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연간 관제 계약</a:t>
              </a:r>
            </a:p>
          </p:txBody>
        </p:sp>
      </p:grpSp>
      <p:grpSp>
        <p:nvGrpSpPr>
          <p:cNvPr id="73" name="conclusion"/>
          <p:cNvGrpSpPr/>
          <p:nvPr/>
        </p:nvGrpSpPr>
        <p:grpSpPr>
          <a:xfrm>
            <a:off x="533400" y="5715000"/>
            <a:ext cx="6510362" cy="419100"/>
            <a:chOff x="533400" y="5715000"/>
            <a:chExt cx="6510362" cy="419100"/>
          </a:xfrm>
        </p:grpSpPr>
        <p:sp>
          <p:nvSpPr>
            <p:cNvPr id="71" name="Rectangle 71"/>
            <p:cNvSpPr/>
            <p:nvPr/>
          </p:nvSpPr>
          <p:spPr>
            <a:xfrm>
              <a:off x="533400" y="5715000"/>
              <a:ext cx="38100" cy="419100"/>
            </a:xfrm>
            <a:prstGeom prst="rect">
              <a:avLst/>
            </a:prstGeom>
            <a:solidFill>
              <a:srgbClr val="F5B700"/>
            </a:solidFill>
            <a:ln>
              <a:noFill/>
            </a:ln>
          </p:spPr>
        </p:sp>
        <p:sp>
          <p:nvSpPr>
            <p:cNvPr id="72" name="TextBox 72"/>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5" name="source"/>
          <p:cNvGrpSpPr/>
          <p:nvPr/>
        </p:nvGrpSpPr>
        <p:grpSpPr>
          <a:xfrm>
            <a:off x="528447" y="6381750"/>
            <a:ext cx="9894644" cy="191643"/>
            <a:chOff x="528447" y="6381750"/>
            <a:chExt cx="9894644" cy="191643"/>
          </a:xfrm>
        </p:grpSpPr>
        <p:sp>
          <p:nvSpPr>
            <p:cNvPr id="74" name="TextBox 74"/>
            <p:cNvSpPr txBox="1"/>
            <p:nvPr/>
          </p:nvSpPr>
          <p:spPr>
            <a:xfrm>
              <a:off x="528447" y="6381750"/>
              <a:ext cx="9894644"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8" name="footer"/>
          <p:cNvGrpSpPr/>
          <p:nvPr/>
        </p:nvGrpSpPr>
        <p:grpSpPr>
          <a:xfrm>
            <a:off x="528638" y="6610350"/>
            <a:ext cx="11134724" cy="176212"/>
            <a:chOff x="528638" y="6610350"/>
            <a:chExt cx="11134724" cy="176212"/>
          </a:xfrm>
        </p:grpSpPr>
        <p:sp>
          <p:nvSpPr>
            <p:cNvPr id="76" name="TextBox 76"/>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77" name="TextBox 7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15</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단가와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156630" cy="586740"/>
            <a:chOff x="518160" y="774700"/>
            <a:chExt cx="9156630" cy="586740"/>
          </a:xfrm>
        </p:grpSpPr>
        <p:sp>
          <p:nvSpPr>
            <p:cNvPr id="17" name="TextBox 17"/>
            <p:cNvSpPr txBox="1"/>
            <p:nvPr/>
          </p:nvSpPr>
          <p:spPr>
            <a:xfrm>
              <a:off x="518160" y="774700"/>
              <a:ext cx="9156630"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반복 탐사는 km당 약 4.7만 원이면 원가가 맞습니다</a:t>
              </a:r>
            </a:p>
          </p:txBody>
        </p:sp>
      </p:grpSp>
      <p:grpSp>
        <p:nvGrpSpPr>
          <p:cNvPr id="24" name="now"/>
          <p:cNvGrpSpPr/>
          <p:nvPr/>
        </p:nvGrpSpPr>
        <p:grpSpPr>
          <a:xfrm>
            <a:off x="519684" y="1409700"/>
            <a:ext cx="11138916" cy="940816"/>
            <a:chOff x="519684" y="1409700"/>
            <a:chExt cx="11138916" cy="940816"/>
          </a:xfrm>
        </p:grpSpPr>
        <p:sp>
          <p:nvSpPr>
            <p:cNvPr id="19" name="Rectangle 19"/>
            <p:cNvSpPr/>
            <p:nvPr/>
          </p:nvSpPr>
          <p:spPr>
            <a:xfrm>
              <a:off x="533400" y="1409700"/>
              <a:ext cx="11125200" cy="28575"/>
            </a:xfrm>
            <a:prstGeom prst="rect">
              <a:avLst/>
            </a:prstGeom>
            <a:solidFill>
              <a:srgbClr val="0B1E3C"/>
            </a:solidFill>
            <a:ln>
              <a:noFill/>
            </a:ln>
          </p:spPr>
        </p:sp>
        <p:sp>
          <p:nvSpPr>
            <p:cNvPr id="20" name="TextBox 20"/>
            <p:cNvSpPr txBox="1"/>
            <p:nvPr/>
          </p:nvSpPr>
          <p:spPr>
            <a:xfrm>
              <a:off x="527685" y="1593850"/>
              <a:ext cx="4445328"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지금의 실제 단가 · 서울시 2024 지반침하 특별점검 공동조사용역</a:t>
              </a:r>
            </a:p>
          </p:txBody>
        </p:sp>
        <p:sp>
          <p:nvSpPr>
            <p:cNvPr id="21" name="TextBox 21"/>
            <p:cNvSpPr txBox="1"/>
            <p:nvPr/>
          </p:nvSpPr>
          <p:spPr>
            <a:xfrm>
              <a:off x="519684" y="1822450"/>
              <a:ext cx="7265108" cy="528066"/>
            </a:xfrm>
            <a:prstGeom prst="rect">
              <a:avLst/>
            </a:prstGeom>
            <a:noFill/>
            <a:ln>
              <a:noFill/>
            </a:ln>
          </p:spPr>
          <p:txBody>
            <a:bodyPr wrap="none" lIns="0" tIns="0" rIns="0" bIns="0" anchor="t" anchorCtr="0">
              <a:spAutoFit/>
            </a:bodyPr>
            <a:lstStyle/>
            <a:p>
              <a:pPr algn="l"/>
              <a:r>
                <a:rPr lang="ko-KR" sz="2700" b="1" dirty="0">
                  <a:solidFill>
                    <a:srgbClr val="0B1E3C"/>
                  </a:solidFill>
                  <a:latin typeface="+mn-lt"/>
                  <a:ea typeface="+mn-ea"/>
                  <a:cs typeface="+mn-cs"/>
                </a:rPr>
                <a:t>17.8억 원 ÷ 1,930.6km = km당 약 92만 원</a:t>
              </a:r>
            </a:p>
          </p:txBody>
        </p:sp>
        <p:sp>
          <p:nvSpPr>
            <p:cNvPr id="22" name="TextBox 22"/>
            <p:cNvSpPr txBox="1"/>
            <p:nvPr/>
          </p:nvSpPr>
          <p:spPr>
            <a:xfrm>
              <a:off x="8566785" y="1898650"/>
              <a:ext cx="171518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1·2차 탐사, 천공 499곳,</a:t>
              </a:r>
            </a:p>
          </p:txBody>
        </p:sp>
        <p:sp>
          <p:nvSpPr>
            <p:cNvPr id="23" name="TextBox 23"/>
            <p:cNvSpPr txBox="1"/>
            <p:nvPr/>
          </p:nvSpPr>
          <p:spPr>
            <a:xfrm>
              <a:off x="8566785" y="2108200"/>
              <a:ext cx="185841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공동 복구 285곳 포함 · 1회</a:t>
              </a:r>
            </a:p>
          </p:txBody>
        </p:sp>
      </p:grpSp>
      <p:grpSp>
        <p:nvGrpSpPr>
          <p:cNvPr id="45" name="cost"/>
          <p:cNvGrpSpPr/>
          <p:nvPr/>
        </p:nvGrpSpPr>
        <p:grpSpPr>
          <a:xfrm>
            <a:off x="526542" y="2571750"/>
            <a:ext cx="5349240" cy="2671128"/>
            <a:chOff x="526542" y="2571750"/>
            <a:chExt cx="5349240" cy="2671128"/>
          </a:xfrm>
        </p:grpSpPr>
        <p:sp>
          <p:nvSpPr>
            <p:cNvPr id="25" name="TextBox 25"/>
            <p:cNvSpPr txBox="1"/>
            <p:nvPr/>
          </p:nvSpPr>
          <p:spPr>
            <a:xfrm>
              <a:off x="527304" y="2571750"/>
              <a:ext cx="3063077"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 xml:space="preserve">GroundWatch 차량 1대 연간 원가 </a:t>
              </a:r>
              <a:r>
                <a:rPr lang="ko-KR" sz="1200" dirty="0">
                  <a:solidFill>
                    <a:srgbClr val="4B5563"/>
                  </a:solidFill>
                  <a:latin typeface="+mn-lt"/>
                  <a:ea typeface="+mn-ea"/>
                  <a:cs typeface="+mn-cs"/>
                </a:rPr>
                <a:t>[가설]</a:t>
              </a:r>
            </a:p>
          </p:txBody>
        </p:sp>
        <p:sp>
          <p:nvSpPr>
            <p:cNvPr id="26" name="Line 26"/>
            <p:cNvSpPr/>
            <p:nvPr/>
          </p:nvSpPr>
          <p:spPr>
            <a:xfrm>
              <a:off x="5334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27" name="TextBox 27"/>
            <p:cNvSpPr txBox="1"/>
            <p:nvPr/>
          </p:nvSpPr>
          <p:spPr>
            <a:xfrm>
              <a:off x="527304" y="2952750"/>
              <a:ext cx="196855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PV5 카고 4,520만 원 · 5년</a:t>
              </a:r>
            </a:p>
          </p:txBody>
        </p:sp>
        <p:sp>
          <p:nvSpPr>
            <p:cNvPr id="28" name="TextBox 28"/>
            <p:cNvSpPr txBox="1"/>
            <p:nvPr/>
          </p:nvSpPr>
          <p:spPr>
            <a:xfrm>
              <a:off x="5114163" y="29527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0.09억 원</a:t>
              </a:r>
            </a:p>
          </p:txBody>
        </p:sp>
        <p:sp>
          <p:nvSpPr>
            <p:cNvPr id="29" name="Line 29"/>
            <p:cNvSpPr/>
            <p:nvPr/>
          </p:nvSpPr>
          <p:spPr>
            <a:xfrm>
              <a:off x="533400" y="32194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0" name="TextBox 30"/>
            <p:cNvSpPr txBox="1"/>
            <p:nvPr/>
          </p:nvSpPr>
          <p:spPr>
            <a:xfrm>
              <a:off x="527304" y="3295650"/>
              <a:ext cx="29778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차량형 GPR 5억 원(서울시 구매가) · 5년</a:t>
              </a:r>
            </a:p>
          </p:txBody>
        </p:sp>
        <p:sp>
          <p:nvSpPr>
            <p:cNvPr id="31" name="TextBox 31"/>
            <p:cNvSpPr txBox="1"/>
            <p:nvPr/>
          </p:nvSpPr>
          <p:spPr>
            <a:xfrm>
              <a:off x="5114163" y="32956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1.00억 원</a:t>
              </a:r>
            </a:p>
          </p:txBody>
        </p:sp>
        <p:sp>
          <p:nvSpPr>
            <p:cNvPr id="32" name="Line 32"/>
            <p:cNvSpPr/>
            <p:nvPr/>
          </p:nvSpPr>
          <p:spPr>
            <a:xfrm>
              <a:off x="533400" y="35623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3" name="TextBox 33"/>
            <p:cNvSpPr txBox="1"/>
            <p:nvPr/>
          </p:nvSpPr>
          <p:spPr>
            <a:xfrm>
              <a:off x="527304" y="3638550"/>
              <a:ext cx="2104187"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현장 2인 (운전·안전 / 탐사)</a:t>
              </a:r>
            </a:p>
          </p:txBody>
        </p:sp>
        <p:sp>
          <p:nvSpPr>
            <p:cNvPr id="34" name="TextBox 34"/>
            <p:cNvSpPr txBox="1"/>
            <p:nvPr/>
          </p:nvSpPr>
          <p:spPr>
            <a:xfrm>
              <a:off x="5114163" y="36385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1.20억 원</a:t>
              </a:r>
            </a:p>
          </p:txBody>
        </p:sp>
        <p:sp>
          <p:nvSpPr>
            <p:cNvPr id="35" name="Line 35"/>
            <p:cNvSpPr/>
            <p:nvPr/>
          </p:nvSpPr>
          <p:spPr>
            <a:xfrm>
              <a:off x="533400" y="39052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6" name="TextBox 36"/>
            <p:cNvSpPr txBox="1"/>
            <p:nvPr/>
          </p:nvSpPr>
          <p:spPr>
            <a:xfrm>
              <a:off x="527304" y="3981450"/>
              <a:ext cx="134493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판독 전문가 0.5인</a:t>
              </a:r>
            </a:p>
          </p:txBody>
        </p:sp>
        <p:sp>
          <p:nvSpPr>
            <p:cNvPr id="37" name="TextBox 37"/>
            <p:cNvSpPr txBox="1"/>
            <p:nvPr/>
          </p:nvSpPr>
          <p:spPr>
            <a:xfrm>
              <a:off x="5114163" y="39814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38" name="Line 38"/>
            <p:cNvSpPr/>
            <p:nvPr/>
          </p:nvSpPr>
          <p:spPr>
            <a:xfrm>
              <a:off x="533400" y="42481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39" name="TextBox 39"/>
            <p:cNvSpPr txBox="1"/>
            <p:nvPr/>
          </p:nvSpPr>
          <p:spPr>
            <a:xfrm>
              <a:off x="527304" y="4324350"/>
              <a:ext cx="251368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수동 GPR·AR·클라우드·보험·유지</a:t>
              </a:r>
            </a:p>
          </p:txBody>
        </p:sp>
        <p:sp>
          <p:nvSpPr>
            <p:cNvPr id="40" name="TextBox 40"/>
            <p:cNvSpPr txBox="1"/>
            <p:nvPr/>
          </p:nvSpPr>
          <p:spPr>
            <a:xfrm>
              <a:off x="5114163" y="4324350"/>
              <a:ext cx="759333" cy="234696"/>
            </a:xfrm>
            <a:prstGeom prst="rect">
              <a:avLst/>
            </a:prstGeom>
            <a:noFill/>
            <a:ln>
              <a:noFill/>
            </a:ln>
          </p:spPr>
          <p:txBody>
            <a:bodyPr wrap="none" lIns="0" tIns="0" rIns="0" bIns="0" anchor="t" anchorCtr="0">
              <a:spAutoFit/>
            </a:bodyPr>
            <a:lstStyle/>
            <a:p>
              <a:pPr algn="r"/>
              <a:r>
                <a:rPr lang="ko-KR" sz="1200" b="1" dirty="0">
                  <a:solidFill>
                    <a:srgbClr val="111827"/>
                  </a:solidFill>
                  <a:latin typeface="+mn-lt"/>
                  <a:ea typeface="+mn-ea"/>
                  <a:cs typeface="+mn-cs"/>
                </a:rPr>
                <a:t>0.40억 원</a:t>
              </a:r>
            </a:p>
          </p:txBody>
        </p:sp>
        <p:sp>
          <p:nvSpPr>
            <p:cNvPr id="41" name="Line 41"/>
            <p:cNvSpPr/>
            <p:nvPr/>
          </p:nvSpPr>
          <p:spPr>
            <a:xfrm>
              <a:off x="533400" y="4591050"/>
              <a:ext cx="5334000" cy="9525"/>
            </a:xfrm>
            <a:custGeom>
              <a:avLst/>
              <a:gdLst/>
              <a:ahLst/>
              <a:cxnLst/>
              <a:rect l="l" t="t" r="r" b="b"/>
              <a:pathLst>
                <a:path w="5334000" h="9525">
                  <a:moveTo>
                    <a:pt x="0" y="0"/>
                  </a:moveTo>
                  <a:lnTo>
                    <a:pt x="5334000" y="0"/>
                  </a:lnTo>
                </a:path>
              </a:pathLst>
            </a:custGeom>
            <a:noFill/>
            <a:ln w="9525">
              <a:solidFill>
                <a:srgbClr val="E2E6EC"/>
              </a:solidFill>
            </a:ln>
          </p:spPr>
        </p:sp>
        <p:sp>
          <p:nvSpPr>
            <p:cNvPr id="42" name="TextBox 42"/>
            <p:cNvSpPr txBox="1"/>
            <p:nvPr/>
          </p:nvSpPr>
          <p:spPr>
            <a:xfrm>
              <a:off x="526542" y="4749800"/>
              <a:ext cx="250623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합계 3.09억 원 ÷ 연 6,600km</a:t>
              </a:r>
            </a:p>
          </p:txBody>
        </p:sp>
        <p:sp>
          <p:nvSpPr>
            <p:cNvPr id="43" name="TextBox 43"/>
            <p:cNvSpPr txBox="1"/>
            <p:nvPr/>
          </p:nvSpPr>
          <p:spPr>
            <a:xfrm>
              <a:off x="4072594" y="4711700"/>
              <a:ext cx="1803188" cy="322707"/>
            </a:xfrm>
            <a:prstGeom prst="rect">
              <a:avLst/>
            </a:prstGeom>
            <a:noFill/>
            <a:ln>
              <a:noFill/>
            </a:ln>
          </p:spPr>
          <p:txBody>
            <a:bodyPr wrap="none" lIns="0" tIns="0" rIns="0" bIns="0" anchor="t" anchorCtr="0">
              <a:spAutoFit/>
            </a:bodyPr>
            <a:lstStyle/>
            <a:p>
              <a:pPr algn="r"/>
              <a:r>
                <a:rPr lang="ko-KR" sz="1650" b="1" dirty="0">
                  <a:solidFill>
                    <a:srgbClr val="0B1E3C"/>
                  </a:solidFill>
                  <a:latin typeface="+mn-lt"/>
                  <a:ea typeface="+mn-ea"/>
                  <a:cs typeface="+mn-cs"/>
                </a:rPr>
                <a:t>km당 약 4.7만 원</a:t>
              </a:r>
            </a:p>
          </p:txBody>
        </p:sp>
        <p:sp>
          <p:nvSpPr>
            <p:cNvPr id="44" name="TextBox 44"/>
            <p:cNvSpPr txBox="1"/>
            <p:nvPr/>
          </p:nvSpPr>
          <p:spPr>
            <a:xfrm>
              <a:off x="527685" y="5022850"/>
              <a:ext cx="478344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6,600km = 하루 30km × 220일 (실제 장비 탐사 속도는 시속 20~30km)</a:t>
              </a:r>
            </a:p>
          </p:txBody>
        </p:sp>
      </p:grpSp>
      <p:grpSp>
        <p:nvGrpSpPr>
          <p:cNvPr id="56" name="compare"/>
          <p:cNvGrpSpPr/>
          <p:nvPr/>
        </p:nvGrpSpPr>
        <p:grpSpPr>
          <a:xfrm>
            <a:off x="6318504" y="2571750"/>
            <a:ext cx="5340096" cy="2406396"/>
            <a:chOff x="6318504" y="2571750"/>
            <a:chExt cx="5340096" cy="2406396"/>
          </a:xfrm>
        </p:grpSpPr>
        <p:sp>
          <p:nvSpPr>
            <p:cNvPr id="46" name="TextBox 46"/>
            <p:cNvSpPr txBox="1"/>
            <p:nvPr/>
          </p:nvSpPr>
          <p:spPr>
            <a:xfrm>
              <a:off x="6318504" y="2571750"/>
              <a:ext cx="1915180"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같은 도로 1km를 1년 동안</a:t>
              </a:r>
            </a:p>
          </p:txBody>
        </p:sp>
        <p:sp>
          <p:nvSpPr>
            <p:cNvPr id="47" name="Line 47"/>
            <p:cNvSpPr/>
            <p:nvPr/>
          </p:nvSpPr>
          <p:spPr>
            <a:xfrm>
              <a:off x="6324600" y="2838450"/>
              <a:ext cx="5334000" cy="9525"/>
            </a:xfrm>
            <a:custGeom>
              <a:avLst/>
              <a:gdLst/>
              <a:ahLst/>
              <a:cxnLst/>
              <a:rect l="l" t="t" r="r" b="b"/>
              <a:pathLst>
                <a:path w="5334000" h="9525">
                  <a:moveTo>
                    <a:pt x="0" y="0"/>
                  </a:moveTo>
                  <a:lnTo>
                    <a:pt x="5334000" y="0"/>
                  </a:lnTo>
                </a:path>
              </a:pathLst>
            </a:custGeom>
            <a:noFill/>
            <a:ln w="14288">
              <a:solidFill>
                <a:srgbClr val="0B1E3C"/>
              </a:solidFill>
            </a:ln>
          </p:spPr>
        </p:sp>
        <p:sp>
          <p:nvSpPr>
            <p:cNvPr id="48" name="TextBox 48"/>
            <p:cNvSpPr txBox="1"/>
            <p:nvPr/>
          </p:nvSpPr>
          <p:spPr>
            <a:xfrm>
              <a:off x="6318504" y="3028950"/>
              <a:ext cx="1377239"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현행 전체 공정 1회</a:t>
              </a:r>
            </a:p>
          </p:txBody>
        </p:sp>
        <p:sp>
          <p:nvSpPr>
            <p:cNvPr id="49" name="Rectangle 49"/>
            <p:cNvSpPr/>
            <p:nvPr/>
          </p:nvSpPr>
          <p:spPr>
            <a:xfrm>
              <a:off x="6324600" y="3276600"/>
              <a:ext cx="4381500" cy="323850"/>
            </a:xfrm>
            <a:prstGeom prst="rect">
              <a:avLst/>
            </a:prstGeom>
            <a:solidFill>
              <a:srgbClr val="9AA3AF"/>
            </a:solidFill>
            <a:ln>
              <a:noFill/>
            </a:ln>
          </p:spPr>
        </p:sp>
        <p:sp>
          <p:nvSpPr>
            <p:cNvPr id="50" name="TextBox 50"/>
            <p:cNvSpPr txBox="1"/>
            <p:nvPr/>
          </p:nvSpPr>
          <p:spPr>
            <a:xfrm>
              <a:off x="10794492" y="3340100"/>
              <a:ext cx="64434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92만 원</a:t>
              </a:r>
            </a:p>
          </p:txBody>
        </p:sp>
        <p:sp>
          <p:nvSpPr>
            <p:cNvPr id="51" name="TextBox 51"/>
            <p:cNvSpPr txBox="1"/>
            <p:nvPr/>
          </p:nvSpPr>
          <p:spPr>
            <a:xfrm>
              <a:off x="6318504" y="3771900"/>
              <a:ext cx="324588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GroundWatch 반복 탐사 6회 (약 2개월마다)</a:t>
              </a:r>
            </a:p>
          </p:txBody>
        </p:sp>
        <p:sp>
          <p:nvSpPr>
            <p:cNvPr id="52" name="Rectangle 52"/>
            <p:cNvSpPr/>
            <p:nvPr/>
          </p:nvSpPr>
          <p:spPr>
            <a:xfrm>
              <a:off x="6324600" y="4019550"/>
              <a:ext cx="1343025" cy="323850"/>
            </a:xfrm>
            <a:prstGeom prst="rect">
              <a:avLst/>
            </a:prstGeom>
            <a:solidFill>
              <a:srgbClr val="0B1E3C"/>
            </a:solidFill>
            <a:ln>
              <a:noFill/>
            </a:ln>
          </p:spPr>
        </p:sp>
        <p:sp>
          <p:nvSpPr>
            <p:cNvPr id="53" name="TextBox 53"/>
            <p:cNvSpPr txBox="1"/>
            <p:nvPr/>
          </p:nvSpPr>
          <p:spPr>
            <a:xfrm>
              <a:off x="7756017" y="4083050"/>
              <a:ext cx="1870092"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 xml:space="preserve">28만 원 </a:t>
              </a:r>
              <a:r>
                <a:rPr lang="ko-KR" sz="1120" dirty="0">
                  <a:solidFill>
                    <a:srgbClr val="4B5563"/>
                  </a:solidFill>
                  <a:latin typeface="+mn-lt"/>
                  <a:ea typeface="+mn-ea"/>
                  <a:cs typeface="+mn-cs"/>
                </a:rPr>
                <a:t>(4.7만 원 × 6회)</a:t>
              </a:r>
            </a:p>
          </p:txBody>
        </p:sp>
        <p:sp>
          <p:nvSpPr>
            <p:cNvPr id="54" name="TextBox 54"/>
            <p:cNvSpPr txBox="1"/>
            <p:nvPr/>
          </p:nvSpPr>
          <p:spPr>
            <a:xfrm>
              <a:off x="6318504" y="4514850"/>
              <a:ext cx="1950720"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천공·복구 같은 2차 조사는</a:t>
              </a:r>
            </a:p>
          </p:txBody>
        </p:sp>
        <p:sp>
          <p:nvSpPr>
            <p:cNvPr id="55" name="TextBox 55"/>
            <p:cNvSpPr txBox="1"/>
            <p:nvPr/>
          </p:nvSpPr>
          <p:spPr>
            <a:xfrm>
              <a:off x="6318504" y="4743450"/>
              <a:ext cx="2570645"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변화가 나온 곳에만, 지금 단가대로</a:t>
              </a:r>
            </a:p>
          </p:txBody>
        </p:sp>
      </p:grpSp>
      <p:grpSp>
        <p:nvGrpSpPr>
          <p:cNvPr id="59" name="conclusion"/>
          <p:cNvGrpSpPr/>
          <p:nvPr/>
        </p:nvGrpSpPr>
        <p:grpSpPr>
          <a:xfrm>
            <a:off x="533400" y="5676900"/>
            <a:ext cx="6687434" cy="419100"/>
            <a:chOff x="533400" y="5676900"/>
            <a:chExt cx="6687434" cy="419100"/>
          </a:xfrm>
        </p:grpSpPr>
        <p:sp>
          <p:nvSpPr>
            <p:cNvPr id="57" name="Rectangle 57"/>
            <p:cNvSpPr/>
            <p:nvPr/>
          </p:nvSpPr>
          <p:spPr>
            <a:xfrm>
              <a:off x="533400" y="5676900"/>
              <a:ext cx="38100" cy="419100"/>
            </a:xfrm>
            <a:prstGeom prst="rect">
              <a:avLst/>
            </a:prstGeom>
            <a:solidFill>
              <a:srgbClr val="F5B700"/>
            </a:solidFill>
            <a:ln>
              <a:noFill/>
            </a:ln>
          </p:spPr>
        </p:sp>
        <p:sp>
          <p:nvSpPr>
            <p:cNvPr id="58" name="TextBox 58"/>
            <p:cNvSpPr txBox="1"/>
            <p:nvPr/>
          </p:nvSpPr>
          <p:spPr>
            <a:xfrm>
              <a:off x="715899" y="5772150"/>
              <a:ext cx="6504935"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현행 1회 전체 탐사비의 약 3분의 1로, 같은 길을 1년에 6번 봅니다.</a:t>
              </a:r>
            </a:p>
          </p:txBody>
        </p:sp>
      </p:grpSp>
      <p:grpSp>
        <p:nvGrpSpPr>
          <p:cNvPr id="61" name="source"/>
          <p:cNvGrpSpPr/>
          <p:nvPr/>
        </p:nvGrpSpPr>
        <p:grpSpPr>
          <a:xfrm>
            <a:off x="528447" y="6381750"/>
            <a:ext cx="10796107" cy="191643"/>
            <a:chOff x="528447" y="6381750"/>
            <a:chExt cx="10796107" cy="191643"/>
          </a:xfrm>
        </p:grpSpPr>
        <p:sp>
          <p:nvSpPr>
            <p:cNvPr id="60" name="TextBox 60"/>
            <p:cNvSpPr txBox="1"/>
            <p:nvPr/>
          </p:nvSpPr>
          <p:spPr>
            <a:xfrm>
              <a:off x="528447" y="6381750"/>
              <a:ext cx="10796107"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서울시 「지반침하 특별점검 공동조사용역 최종보고서」(2024.10, 사업비 17억 8,090만 원·수행 1,930.6km) · 이투데이(2025.4.23, 차량형 GPR 3대 15억 원) · 원가는 가설</a:t>
              </a:r>
            </a:p>
          </p:txBody>
        </p:sp>
      </p:grpSp>
      <p:grpSp>
        <p:nvGrpSpPr>
          <p:cNvPr id="64" name="footer"/>
          <p:cNvGrpSpPr/>
          <p:nvPr/>
        </p:nvGrpSpPr>
        <p:grpSpPr>
          <a:xfrm>
            <a:off x="528638" y="6610350"/>
            <a:ext cx="11134724" cy="176212"/>
            <a:chOff x="528638" y="6610350"/>
            <a:chExt cx="11134724" cy="176212"/>
          </a:xfrm>
        </p:grpSpPr>
        <p:sp>
          <p:nvSpPr>
            <p:cNvPr id="62" name="TextBox 62"/>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3" name="TextBox 6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12 / 15</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26869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누가 사고 누가 쓰나</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179939" cy="586740"/>
            <a:chOff x="518160" y="774700"/>
            <a:chExt cx="10179939" cy="586740"/>
          </a:xfrm>
        </p:grpSpPr>
        <p:sp>
          <p:nvSpPr>
            <p:cNvPr id="17" name="TextBox 17"/>
            <p:cNvSpPr txBox="1"/>
            <p:nvPr/>
          </p:nvSpPr>
          <p:spPr>
            <a:xfrm>
              <a:off x="518160" y="774700"/>
              <a:ext cx="10179939"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지자체가 사고, 현장팀이 쓰고, 기아는 PV5를 공급합니다</a:t>
              </a:r>
            </a:p>
          </p:txBody>
        </p:sp>
      </p:grpSp>
      <p:grpSp>
        <p:nvGrpSpPr>
          <p:cNvPr id="25" name="who0"/>
          <p:cNvGrpSpPr/>
          <p:nvPr/>
        </p:nvGrpSpPr>
        <p:grpSpPr>
          <a:xfrm>
            <a:off x="524637" y="1600200"/>
            <a:ext cx="2618613" cy="1717167"/>
            <a:chOff x="524637" y="1600200"/>
            <a:chExt cx="2618613" cy="1717167"/>
          </a:xfrm>
        </p:grpSpPr>
        <p:sp>
          <p:nvSpPr>
            <p:cNvPr id="19" name="Rectangle 19"/>
            <p:cNvSpPr/>
            <p:nvPr/>
          </p:nvSpPr>
          <p:spPr>
            <a:xfrm>
              <a:off x="533400" y="1600200"/>
              <a:ext cx="2609850" cy="28575"/>
            </a:xfrm>
            <a:prstGeom prst="rect">
              <a:avLst/>
            </a:prstGeom>
            <a:solidFill>
              <a:srgbClr val="0B1E3C"/>
            </a:solidFill>
            <a:ln>
              <a:noFill/>
            </a:ln>
          </p:spPr>
        </p:sp>
        <p:sp>
          <p:nvSpPr>
            <p:cNvPr id="20" name="TextBox 20"/>
            <p:cNvSpPr txBox="1"/>
            <p:nvPr/>
          </p:nvSpPr>
          <p:spPr>
            <a:xfrm>
              <a:off x="5276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구매자</a:t>
              </a:r>
            </a:p>
          </p:txBody>
        </p:sp>
        <p:sp>
          <p:nvSpPr>
            <p:cNvPr id="21" name="TextBox 21"/>
            <p:cNvSpPr txBox="1"/>
            <p:nvPr/>
          </p:nvSpPr>
          <p:spPr>
            <a:xfrm>
              <a:off x="524637" y="2070100"/>
              <a:ext cx="1772069"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지자체·발주기관</a:t>
              </a:r>
            </a:p>
          </p:txBody>
        </p:sp>
        <p:sp>
          <p:nvSpPr>
            <p:cNvPr id="22" name="TextBox 22"/>
            <p:cNvSpPr txBox="1"/>
            <p:nvPr/>
          </p:nvSpPr>
          <p:spPr>
            <a:xfrm>
              <a:off x="526923" y="2533650"/>
              <a:ext cx="18825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서울시·자치구 도로관리</a:t>
              </a:r>
            </a:p>
          </p:txBody>
        </p:sp>
        <p:sp>
          <p:nvSpPr>
            <p:cNvPr id="23" name="TextBox 23"/>
            <p:cNvSpPr txBox="1"/>
            <p:nvPr/>
          </p:nvSpPr>
          <p:spPr>
            <a:xfrm>
              <a:off x="526923" y="2800350"/>
              <a:ext cx="1839478"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도시철도 공사 발주기관</a:t>
              </a:r>
            </a:p>
          </p:txBody>
        </p:sp>
        <p:sp>
          <p:nvSpPr>
            <p:cNvPr id="24" name="TextBox 24"/>
            <p:cNvSpPr txBox="1"/>
            <p:nvPr/>
          </p:nvSpPr>
          <p:spPr>
            <a:xfrm>
              <a:off x="526923" y="3067050"/>
              <a:ext cx="144315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상하수도 관리기관</a:t>
              </a:r>
            </a:p>
          </p:txBody>
        </p:sp>
      </p:grpSp>
      <p:grpSp>
        <p:nvGrpSpPr>
          <p:cNvPr id="32" name="who1"/>
          <p:cNvGrpSpPr/>
          <p:nvPr/>
        </p:nvGrpSpPr>
        <p:grpSpPr>
          <a:xfrm>
            <a:off x="3363087" y="1600200"/>
            <a:ext cx="2618613" cy="1717167"/>
            <a:chOff x="3363087" y="1600200"/>
            <a:chExt cx="2618613" cy="1717167"/>
          </a:xfrm>
        </p:grpSpPr>
        <p:sp>
          <p:nvSpPr>
            <p:cNvPr id="26" name="Rectangle 26"/>
            <p:cNvSpPr/>
            <p:nvPr/>
          </p:nvSpPr>
          <p:spPr>
            <a:xfrm>
              <a:off x="3371850" y="1600200"/>
              <a:ext cx="2609850" cy="28575"/>
            </a:xfrm>
            <a:prstGeom prst="rect">
              <a:avLst/>
            </a:prstGeom>
            <a:solidFill>
              <a:srgbClr val="0B1E3C"/>
            </a:solidFill>
            <a:ln>
              <a:noFill/>
            </a:ln>
          </p:spPr>
        </p:sp>
        <p:sp>
          <p:nvSpPr>
            <p:cNvPr id="27" name="TextBox 27"/>
            <p:cNvSpPr txBox="1"/>
            <p:nvPr/>
          </p:nvSpPr>
          <p:spPr>
            <a:xfrm>
              <a:off x="3366135" y="1784350"/>
              <a:ext cx="81279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실제 사용자</a:t>
              </a:r>
            </a:p>
          </p:txBody>
        </p:sp>
        <p:sp>
          <p:nvSpPr>
            <p:cNvPr id="28" name="TextBox 28"/>
            <p:cNvSpPr txBox="1"/>
            <p:nvPr/>
          </p:nvSpPr>
          <p:spPr>
            <a:xfrm>
              <a:off x="3363087" y="2070100"/>
              <a:ext cx="1248195"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현장 조사팀</a:t>
              </a:r>
            </a:p>
          </p:txBody>
        </p:sp>
        <p:sp>
          <p:nvSpPr>
            <p:cNvPr id="29" name="TextBox 29"/>
            <p:cNvSpPr txBox="1"/>
            <p:nvPr/>
          </p:nvSpPr>
          <p:spPr>
            <a:xfrm>
              <a:off x="3365373" y="2533650"/>
              <a:ext cx="205487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지하안전·도로관리 담당자</a:t>
              </a:r>
            </a:p>
          </p:txBody>
        </p:sp>
        <p:sp>
          <p:nvSpPr>
            <p:cNvPr id="30" name="TextBox 30"/>
            <p:cNvSpPr txBox="1"/>
            <p:nvPr/>
          </p:nvSpPr>
          <p:spPr>
            <a:xfrm>
              <a:off x="3365373" y="2800350"/>
              <a:ext cx="128124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GPR 판독 전문가</a:t>
              </a:r>
            </a:p>
          </p:txBody>
        </p:sp>
        <p:sp>
          <p:nvSpPr>
            <p:cNvPr id="31" name="TextBox 31"/>
            <p:cNvSpPr txBox="1"/>
            <p:nvPr/>
          </p:nvSpPr>
          <p:spPr>
            <a:xfrm>
              <a:off x="3365373" y="3067050"/>
              <a:ext cx="175332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현장 조사원 (2인 1조)</a:t>
              </a:r>
            </a:p>
          </p:txBody>
        </p:sp>
      </p:grpSp>
      <p:grpSp>
        <p:nvGrpSpPr>
          <p:cNvPr id="39" name="who2"/>
          <p:cNvGrpSpPr/>
          <p:nvPr/>
        </p:nvGrpSpPr>
        <p:grpSpPr>
          <a:xfrm>
            <a:off x="6201537" y="1600200"/>
            <a:ext cx="2618613" cy="1717167"/>
            <a:chOff x="6201537" y="1600200"/>
            <a:chExt cx="2618613" cy="1717167"/>
          </a:xfrm>
        </p:grpSpPr>
        <p:sp>
          <p:nvSpPr>
            <p:cNvPr id="33" name="Rectangle 33"/>
            <p:cNvSpPr/>
            <p:nvPr/>
          </p:nvSpPr>
          <p:spPr>
            <a:xfrm>
              <a:off x="6210300" y="1600200"/>
              <a:ext cx="2609850" cy="28575"/>
            </a:xfrm>
            <a:prstGeom prst="rect">
              <a:avLst/>
            </a:prstGeom>
            <a:solidFill>
              <a:srgbClr val="0B1E3C"/>
            </a:solidFill>
            <a:ln>
              <a:noFill/>
            </a:ln>
          </p:spPr>
        </p:sp>
        <p:sp>
          <p:nvSpPr>
            <p:cNvPr id="34" name="TextBox 34"/>
            <p:cNvSpPr txBox="1"/>
            <p:nvPr/>
          </p:nvSpPr>
          <p:spPr>
            <a:xfrm>
              <a:off x="6204585" y="17843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협력사</a:t>
              </a:r>
            </a:p>
          </p:txBody>
        </p:sp>
        <p:sp>
          <p:nvSpPr>
            <p:cNvPr id="35" name="TextBox 35"/>
            <p:cNvSpPr txBox="1"/>
            <p:nvPr/>
          </p:nvSpPr>
          <p:spPr>
            <a:xfrm>
              <a:off x="6201537" y="2070100"/>
              <a:ext cx="1845006"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장비·조사 파트너</a:t>
              </a:r>
            </a:p>
          </p:txBody>
        </p:sp>
        <p:sp>
          <p:nvSpPr>
            <p:cNvPr id="36" name="TextBox 36"/>
            <p:cNvSpPr txBox="1"/>
            <p:nvPr/>
          </p:nvSpPr>
          <p:spPr>
            <a:xfrm>
              <a:off x="6203823" y="2533650"/>
              <a:ext cx="1456487"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기존 GPR 조사기관</a:t>
              </a:r>
            </a:p>
          </p:txBody>
        </p:sp>
        <p:sp>
          <p:nvSpPr>
            <p:cNvPr id="37" name="TextBox 37"/>
            <p:cNvSpPr txBox="1"/>
            <p:nvPr/>
          </p:nvSpPr>
          <p:spPr>
            <a:xfrm>
              <a:off x="6203823" y="2800350"/>
              <a:ext cx="181541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 특장(컨버전) 업체</a:t>
              </a:r>
            </a:p>
          </p:txBody>
        </p:sp>
        <p:sp>
          <p:nvSpPr>
            <p:cNvPr id="38" name="TextBox 38"/>
            <p:cNvSpPr txBox="1"/>
            <p:nvPr/>
          </p:nvSpPr>
          <p:spPr>
            <a:xfrm>
              <a:off x="6203823" y="3067050"/>
              <a:ext cx="1139820"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GIS·AR 장비사</a:t>
              </a:r>
            </a:p>
          </p:txBody>
        </p:sp>
      </p:grpSp>
      <p:grpSp>
        <p:nvGrpSpPr>
          <p:cNvPr id="46" name="who3"/>
          <p:cNvGrpSpPr/>
          <p:nvPr/>
        </p:nvGrpSpPr>
        <p:grpSpPr>
          <a:xfrm>
            <a:off x="9039987" y="1600200"/>
            <a:ext cx="2618613" cy="1717167"/>
            <a:chOff x="9039987" y="1600200"/>
            <a:chExt cx="2618613" cy="1717167"/>
          </a:xfrm>
        </p:grpSpPr>
        <p:sp>
          <p:nvSpPr>
            <p:cNvPr id="40" name="Rectangle 40"/>
            <p:cNvSpPr/>
            <p:nvPr/>
          </p:nvSpPr>
          <p:spPr>
            <a:xfrm>
              <a:off x="9048750" y="1600200"/>
              <a:ext cx="2609850" cy="28575"/>
            </a:xfrm>
            <a:prstGeom prst="rect">
              <a:avLst/>
            </a:prstGeom>
            <a:solidFill>
              <a:srgbClr val="F5B700"/>
            </a:solidFill>
            <a:ln>
              <a:noFill/>
            </a:ln>
          </p:spPr>
        </p:sp>
        <p:sp>
          <p:nvSpPr>
            <p:cNvPr id="41" name="TextBox 41"/>
            <p:cNvSpPr txBox="1"/>
            <p:nvPr/>
          </p:nvSpPr>
          <p:spPr>
            <a:xfrm>
              <a:off x="9043035" y="1784350"/>
              <a:ext cx="1011064"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얻는 것</a:t>
              </a:r>
            </a:p>
          </p:txBody>
        </p:sp>
        <p:sp>
          <p:nvSpPr>
            <p:cNvPr id="42" name="TextBox 42"/>
            <p:cNvSpPr txBox="1"/>
            <p:nvPr/>
          </p:nvSpPr>
          <p:spPr>
            <a:xfrm>
              <a:off x="9039987" y="2070100"/>
              <a:ext cx="174912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공공 업무용 PV5</a:t>
              </a:r>
            </a:p>
          </p:txBody>
        </p:sp>
        <p:sp>
          <p:nvSpPr>
            <p:cNvPr id="43" name="TextBox 43"/>
            <p:cNvSpPr txBox="1"/>
            <p:nvPr/>
          </p:nvSpPr>
          <p:spPr>
            <a:xfrm>
              <a:off x="9042273" y="2533650"/>
              <a:ext cx="189117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탐사형 컨버전 플릿 판매</a:t>
              </a:r>
            </a:p>
          </p:txBody>
        </p:sp>
        <p:sp>
          <p:nvSpPr>
            <p:cNvPr id="44" name="TextBox 44"/>
            <p:cNvSpPr txBox="1"/>
            <p:nvPr/>
          </p:nvSpPr>
          <p:spPr>
            <a:xfrm>
              <a:off x="9042273" y="2800350"/>
              <a:ext cx="234256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Pleos 앱·Fleet 공공 레퍼런스</a:t>
              </a:r>
            </a:p>
          </p:txBody>
        </p:sp>
        <p:sp>
          <p:nvSpPr>
            <p:cNvPr id="45" name="TextBox 45"/>
            <p:cNvSpPr txBox="1"/>
            <p:nvPr/>
          </p:nvSpPr>
          <p:spPr>
            <a:xfrm>
              <a:off x="9042273" y="306705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같은 키트로 지자체마다 복제</a:t>
              </a:r>
            </a:p>
          </p:txBody>
        </p:sp>
      </p:grpSp>
      <p:grpSp>
        <p:nvGrpSpPr>
          <p:cNvPr id="55" name="data"/>
          <p:cNvGrpSpPr/>
          <p:nvPr/>
        </p:nvGrpSpPr>
        <p:grpSpPr>
          <a:xfrm>
            <a:off x="526542" y="3886200"/>
            <a:ext cx="11132058" cy="1051433"/>
            <a:chOff x="526542" y="3886200"/>
            <a:chExt cx="11132058" cy="1051433"/>
          </a:xfrm>
        </p:grpSpPr>
        <p:sp>
          <p:nvSpPr>
            <p:cNvPr id="47" name="Rectangle 47"/>
            <p:cNvSpPr/>
            <p:nvPr/>
          </p:nvSpPr>
          <p:spPr>
            <a:xfrm>
              <a:off x="533400" y="3886200"/>
              <a:ext cx="5334000" cy="28575"/>
            </a:xfrm>
            <a:prstGeom prst="rect">
              <a:avLst/>
            </a:prstGeom>
            <a:solidFill>
              <a:srgbClr val="0B1E3C"/>
            </a:solidFill>
            <a:ln>
              <a:noFill/>
            </a:ln>
          </p:spPr>
        </p:sp>
        <p:sp>
          <p:nvSpPr>
            <p:cNvPr id="48" name="TextBox 48"/>
            <p:cNvSpPr txBox="1"/>
            <p:nvPr/>
          </p:nvSpPr>
          <p:spPr>
            <a:xfrm>
              <a:off x="527685" y="4070350"/>
              <a:ext cx="1510881"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기아가 이미 가는 방향</a:t>
              </a:r>
            </a:p>
          </p:txBody>
        </p:sp>
        <p:sp>
          <p:nvSpPr>
            <p:cNvPr id="49" name="TextBox 49"/>
            <p:cNvSpPr txBox="1"/>
            <p:nvPr/>
          </p:nvSpPr>
          <p:spPr>
            <a:xfrm>
              <a:off x="526542" y="4406900"/>
              <a:ext cx="3684803"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공모전 예시 ‘스마트 순찰 및 재난 대응 차량’</a:t>
              </a:r>
            </a:p>
          </p:txBody>
        </p:sp>
        <p:sp>
          <p:nvSpPr>
            <p:cNvPr id="50" name="TextBox 50"/>
            <p:cNvSpPr txBox="1"/>
            <p:nvPr/>
          </p:nvSpPr>
          <p:spPr>
            <a:xfrm>
              <a:off x="526542" y="4673600"/>
              <a:ext cx="3043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2026.6 </a:t>
              </a:r>
              <a:r>
                <a:rPr lang="ko-KR" sz="1350" b="1" dirty="0">
                  <a:solidFill>
                    <a:srgbClr val="0B1E3C"/>
                  </a:solidFill>
                  <a:latin typeface="+mn-lt"/>
                  <a:ea typeface="+mn-ea"/>
                  <a:cs typeface="+mn-cs"/>
                </a:rPr>
                <a:t>경찰청과 PV5 AI 순찰차</a:t>
              </a:r>
              <a:r>
                <a:rPr lang="ko-KR" sz="1350" dirty="0">
                  <a:solidFill>
                    <a:srgbClr val="111827"/>
                  </a:solidFill>
                  <a:latin typeface="+mn-lt"/>
                  <a:ea typeface="+mn-ea"/>
                  <a:cs typeface="+mn-cs"/>
                </a:rPr>
                <a:t xml:space="preserve"> 공개</a:t>
              </a:r>
            </a:p>
          </p:txBody>
        </p:sp>
        <p:sp>
          <p:nvSpPr>
            <p:cNvPr id="51" name="Rectangle 51"/>
            <p:cNvSpPr/>
            <p:nvPr/>
          </p:nvSpPr>
          <p:spPr>
            <a:xfrm>
              <a:off x="6324600" y="3886200"/>
              <a:ext cx="5334000" cy="28575"/>
            </a:xfrm>
            <a:prstGeom prst="rect">
              <a:avLst/>
            </a:prstGeom>
            <a:solidFill>
              <a:srgbClr val="C62828"/>
            </a:solidFill>
            <a:ln>
              <a:noFill/>
            </a:ln>
          </p:spPr>
        </p:sp>
        <p:sp>
          <p:nvSpPr>
            <p:cNvPr id="52" name="TextBox 52"/>
            <p:cNvSpPr txBox="1"/>
            <p:nvPr/>
          </p:nvSpPr>
          <p:spPr>
            <a:xfrm>
              <a:off x="6318885" y="4070350"/>
              <a:ext cx="812796"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데이터 원칙</a:t>
              </a:r>
            </a:p>
          </p:txBody>
        </p:sp>
        <p:sp>
          <p:nvSpPr>
            <p:cNvPr id="53" name="TextBox 53"/>
            <p:cNvSpPr txBox="1"/>
            <p:nvPr/>
          </p:nvSpPr>
          <p:spPr>
            <a:xfrm>
              <a:off x="6317742" y="4406900"/>
              <a:ext cx="2834729"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지하 데이터는 판매하지 않습니다.</a:t>
              </a:r>
            </a:p>
          </p:txBody>
        </p:sp>
        <p:sp>
          <p:nvSpPr>
            <p:cNvPr id="54" name="TextBox 54"/>
            <p:cNvSpPr txBox="1"/>
            <p:nvPr/>
          </p:nvSpPr>
          <p:spPr>
            <a:xfrm>
              <a:off x="6317742" y="4673600"/>
              <a:ext cx="3421285"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계약기관 안에서 접근 권한대로만 씁니다.</a:t>
              </a:r>
            </a:p>
          </p:txBody>
        </p:sp>
      </p:grpSp>
      <p:grpSp>
        <p:nvGrpSpPr>
          <p:cNvPr id="58" name="conclusion"/>
          <p:cNvGrpSpPr/>
          <p:nvPr/>
        </p:nvGrpSpPr>
        <p:grpSpPr>
          <a:xfrm>
            <a:off x="533400" y="5676900"/>
            <a:ext cx="8319467" cy="419100"/>
            <a:chOff x="533400" y="5676900"/>
            <a:chExt cx="8319467" cy="419100"/>
          </a:xfrm>
        </p:grpSpPr>
        <p:sp>
          <p:nvSpPr>
            <p:cNvPr id="56" name="Rectangle 56"/>
            <p:cNvSpPr/>
            <p:nvPr/>
          </p:nvSpPr>
          <p:spPr>
            <a:xfrm>
              <a:off x="533400" y="5676900"/>
              <a:ext cx="38100" cy="419100"/>
            </a:xfrm>
            <a:prstGeom prst="rect">
              <a:avLst/>
            </a:prstGeom>
            <a:solidFill>
              <a:srgbClr val="F5B700"/>
            </a:solidFill>
            <a:ln>
              <a:noFill/>
            </a:ln>
          </p:spPr>
        </p:sp>
        <p:sp>
          <p:nvSpPr>
            <p:cNvPr id="57" name="TextBox 57"/>
            <p:cNvSpPr txBox="1"/>
            <p:nvPr/>
          </p:nvSpPr>
          <p:spPr>
            <a:xfrm>
              <a:off x="715899" y="5772150"/>
              <a:ext cx="8136968"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기아가 지상 순찰차를 만들었다면, GroundWatch는 지하를 보는 PV5 순찰차입니다.</a:t>
              </a:r>
            </a:p>
          </p:txBody>
        </p:sp>
      </p:grpSp>
      <p:grpSp>
        <p:nvGrpSpPr>
          <p:cNvPr id="60" name="source"/>
          <p:cNvGrpSpPr/>
          <p:nvPr/>
        </p:nvGrpSpPr>
        <p:grpSpPr>
          <a:xfrm>
            <a:off x="528447" y="6381750"/>
            <a:ext cx="8081510" cy="191643"/>
            <a:chOff x="528447" y="6381750"/>
            <a:chExt cx="8081510" cy="191643"/>
          </a:xfrm>
        </p:grpSpPr>
        <p:sp>
          <p:nvSpPr>
            <p:cNvPr id="59" name="TextBox 59"/>
            <p:cNvSpPr txBox="1"/>
            <p:nvPr/>
          </p:nvSpPr>
          <p:spPr>
            <a:xfrm>
              <a:off x="528447" y="6381750"/>
              <a:ext cx="8081510"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공모전 컨버전 부문 안내(공공서비스 특화) · 머니투데이(2026.6.26, 경찰청 AI 순찰차) · 구매·협력 구조와 데이터 원칙은 제안 [가설]</a:t>
              </a:r>
            </a:p>
          </p:txBody>
        </p:sp>
      </p:grpSp>
      <p:grpSp>
        <p:nvGrpSpPr>
          <p:cNvPr id="63" name="footer"/>
          <p:cNvGrpSpPr/>
          <p:nvPr/>
        </p:nvGrpSpPr>
        <p:grpSpPr>
          <a:xfrm>
            <a:off x="528638" y="6610350"/>
            <a:ext cx="11134724" cy="176212"/>
            <a:chOff x="528638" y="6610350"/>
            <a:chExt cx="11134724" cy="176212"/>
          </a:xfrm>
        </p:grpSpPr>
        <p:sp>
          <p:nvSpPr>
            <p:cNvPr id="61" name="TextBox 61"/>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2" name="TextBox 6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13 / 15</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45244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기아와 할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10594372" cy="586740"/>
            <a:chOff x="518160" y="774700"/>
            <a:chExt cx="10594372" cy="586740"/>
          </a:xfrm>
        </p:grpSpPr>
        <p:sp>
          <p:nvSpPr>
            <p:cNvPr id="17" name="TextBox 17"/>
            <p:cNvSpPr txBox="1"/>
            <p:nvPr/>
          </p:nvSpPr>
          <p:spPr>
            <a:xfrm>
              <a:off x="518160" y="774700"/>
              <a:ext cx="10594372"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지자체 예산에서 시작해, 6개월 안에 1단계 실증을 마칩니다</a:t>
              </a:r>
            </a:p>
          </p:txBody>
        </p:sp>
      </p:grpSp>
      <p:grpSp>
        <p:nvGrpSpPr>
          <p:cNvPr id="31" name="facts"/>
          <p:cNvGrpSpPr/>
          <p:nvPr/>
        </p:nvGrpSpPr>
        <p:grpSpPr>
          <a:xfrm>
            <a:off x="521970" y="1409700"/>
            <a:ext cx="11136630" cy="994728"/>
            <a:chOff x="521970" y="1409700"/>
            <a:chExt cx="11136630" cy="994728"/>
          </a:xfrm>
        </p:grpSpPr>
        <p:sp>
          <p:nvSpPr>
            <p:cNvPr id="19" name="Rectangle 19"/>
            <p:cNvSpPr/>
            <p:nvPr/>
          </p:nvSpPr>
          <p:spPr>
            <a:xfrm>
              <a:off x="533400" y="1409700"/>
              <a:ext cx="3581400" cy="28575"/>
            </a:xfrm>
            <a:prstGeom prst="rect">
              <a:avLst/>
            </a:prstGeom>
            <a:solidFill>
              <a:srgbClr val="0B1E3C"/>
            </a:solidFill>
            <a:ln>
              <a:noFill/>
            </a:ln>
          </p:spPr>
        </p:sp>
        <p:sp>
          <p:nvSpPr>
            <p:cNvPr id="20" name="TextBox 20"/>
            <p:cNvSpPr txBox="1"/>
            <p:nvPr/>
          </p:nvSpPr>
          <p:spPr>
            <a:xfrm>
              <a:off x="521970" y="1587500"/>
              <a:ext cx="2601254"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0.85억~1.90억 원</a:t>
              </a:r>
            </a:p>
          </p:txBody>
        </p:sp>
        <p:sp>
          <p:nvSpPr>
            <p:cNvPr id="21" name="TextBox 21"/>
            <p:cNvSpPr txBox="1"/>
            <p:nvPr/>
          </p:nvSpPr>
          <p:spPr>
            <a:xfrm>
              <a:off x="527304" y="1962150"/>
              <a:ext cx="2182734"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 지자체 GPR 용역 낙찰액</a:t>
              </a:r>
            </a:p>
          </p:txBody>
        </p:sp>
        <p:sp>
          <p:nvSpPr>
            <p:cNvPr id="22" name="TextBox 22"/>
            <p:cNvSpPr txBox="1"/>
            <p:nvPr/>
          </p:nvSpPr>
          <p:spPr>
            <a:xfrm>
              <a:off x="527685" y="2184400"/>
              <a:ext cx="2205198"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안양·강동구·용인, 이미 집행 중</a:t>
              </a:r>
            </a:p>
          </p:txBody>
        </p:sp>
        <p:sp>
          <p:nvSpPr>
            <p:cNvPr id="23" name="Rectangle 23"/>
            <p:cNvSpPr/>
            <p:nvPr/>
          </p:nvSpPr>
          <p:spPr>
            <a:xfrm>
              <a:off x="4305300" y="1409700"/>
              <a:ext cx="3581400" cy="28575"/>
            </a:xfrm>
            <a:prstGeom prst="rect">
              <a:avLst/>
            </a:prstGeom>
            <a:solidFill>
              <a:srgbClr val="0B1E3C"/>
            </a:solidFill>
            <a:ln>
              <a:noFill/>
            </a:ln>
          </p:spPr>
        </p:sp>
        <p:sp>
          <p:nvSpPr>
            <p:cNvPr id="24" name="TextBox 24"/>
            <p:cNvSpPr txBox="1"/>
            <p:nvPr/>
          </p:nvSpPr>
          <p:spPr>
            <a:xfrm>
              <a:off x="4293870" y="1587500"/>
              <a:ext cx="1423749"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21.6억 원</a:t>
              </a:r>
            </a:p>
          </p:txBody>
        </p:sp>
        <p:sp>
          <p:nvSpPr>
            <p:cNvPr id="25" name="TextBox 25"/>
            <p:cNvSpPr txBox="1"/>
            <p:nvPr/>
          </p:nvSpPr>
          <p:spPr>
            <a:xfrm>
              <a:off x="4299204" y="1962150"/>
              <a:ext cx="21110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탐사 지원</a:t>
              </a:r>
            </a:p>
          </p:txBody>
        </p:sp>
        <p:sp>
          <p:nvSpPr>
            <p:cNvPr id="26" name="TextBox 26"/>
            <p:cNvSpPr txBox="1"/>
            <p:nvPr/>
          </p:nvSpPr>
          <p:spPr>
            <a:xfrm>
              <a:off x="4299585" y="2184400"/>
              <a:ext cx="2325817"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1,080km 지반탐사 지원 (2025.9)</a:t>
              </a:r>
            </a:p>
          </p:txBody>
        </p:sp>
        <p:sp>
          <p:nvSpPr>
            <p:cNvPr id="27" name="Rectangle 27"/>
            <p:cNvSpPr/>
            <p:nvPr/>
          </p:nvSpPr>
          <p:spPr>
            <a:xfrm>
              <a:off x="8077200" y="1409700"/>
              <a:ext cx="3581400" cy="28575"/>
            </a:xfrm>
            <a:prstGeom prst="rect">
              <a:avLst/>
            </a:prstGeom>
            <a:solidFill>
              <a:srgbClr val="0B1E3C"/>
            </a:solidFill>
            <a:ln>
              <a:noFill/>
            </a:ln>
          </p:spPr>
        </p:sp>
        <p:sp>
          <p:nvSpPr>
            <p:cNvPr id="28" name="TextBox 28"/>
            <p:cNvSpPr txBox="1"/>
            <p:nvPr/>
          </p:nvSpPr>
          <p:spPr>
            <a:xfrm>
              <a:off x="8065770" y="1587500"/>
              <a:ext cx="1775108" cy="440055"/>
            </a:xfrm>
            <a:prstGeom prst="rect">
              <a:avLst/>
            </a:prstGeom>
            <a:noFill/>
            <a:ln>
              <a:noFill/>
            </a:ln>
          </p:spPr>
          <p:txBody>
            <a:bodyPr wrap="none" lIns="0" tIns="0" rIns="0" bIns="0" anchor="t" anchorCtr="0">
              <a:spAutoFit/>
            </a:bodyPr>
            <a:lstStyle/>
            <a:p>
              <a:pPr algn="l"/>
              <a:r>
                <a:rPr lang="ko-KR" sz="2250" b="1" dirty="0">
                  <a:solidFill>
                    <a:srgbClr val="B45309"/>
                  </a:solidFill>
                  <a:latin typeface="+mn-lt"/>
                  <a:ea typeface="+mn-ea"/>
                  <a:cs typeface="+mn-cs"/>
                </a:rPr>
                <a:t>최대 약 97대</a:t>
              </a:r>
            </a:p>
          </p:txBody>
        </p:sp>
        <p:sp>
          <p:nvSpPr>
            <p:cNvPr id="29" name="TextBox 29"/>
            <p:cNvSpPr txBox="1"/>
            <p:nvPr/>
          </p:nvSpPr>
          <p:spPr>
            <a:xfrm>
              <a:off x="8071104" y="1962150"/>
              <a:ext cx="162217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기아 PV5 수요 (계산)</a:t>
              </a:r>
            </a:p>
          </p:txBody>
        </p:sp>
        <p:sp>
          <p:nvSpPr>
            <p:cNvPr id="30" name="TextBox 30"/>
            <p:cNvSpPr txBox="1"/>
            <p:nvPr/>
          </p:nvSpPr>
          <p:spPr>
            <a:xfrm>
              <a:off x="8071485" y="2184400"/>
              <a:ext cx="2861066"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매출 최대 약 44억 원 · 서울만 약 8대</a:t>
              </a:r>
            </a:p>
          </p:txBody>
        </p:sp>
      </p:grpSp>
      <p:grpSp>
        <p:nvGrpSpPr>
          <p:cNvPr id="49" name="ask"/>
          <p:cNvGrpSpPr/>
          <p:nvPr/>
        </p:nvGrpSpPr>
        <p:grpSpPr>
          <a:xfrm>
            <a:off x="527685" y="2660650"/>
            <a:ext cx="6101715" cy="2278952"/>
            <a:chOff x="527685" y="2660650"/>
            <a:chExt cx="6101715" cy="2278952"/>
          </a:xfrm>
        </p:grpSpPr>
        <p:sp>
          <p:nvSpPr>
            <p:cNvPr id="32" name="TextBox 32"/>
            <p:cNvSpPr txBox="1"/>
            <p:nvPr/>
          </p:nvSpPr>
          <p:spPr>
            <a:xfrm>
              <a:off x="527685" y="2660650"/>
              <a:ext cx="293042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수상 후 첫 6개월 · 기아가 안내한 혜택으로</a:t>
              </a:r>
            </a:p>
          </p:txBody>
        </p:sp>
        <p:sp>
          <p:nvSpPr>
            <p:cNvPr id="33" name="Rectangle 33"/>
            <p:cNvSpPr/>
            <p:nvPr/>
          </p:nvSpPr>
          <p:spPr>
            <a:xfrm>
              <a:off x="533400" y="2895600"/>
              <a:ext cx="6096000" cy="28575"/>
            </a:xfrm>
            <a:prstGeom prst="rect">
              <a:avLst/>
            </a:prstGeom>
            <a:solidFill>
              <a:srgbClr val="0B1E3C"/>
            </a:solidFill>
            <a:ln>
              <a:noFill/>
            </a:ln>
          </p:spPr>
        </p:sp>
        <p:sp>
          <p:nvSpPr>
            <p:cNvPr id="34" name="TextBox 34"/>
            <p:cNvSpPr txBox="1"/>
            <p:nvPr/>
          </p:nvSpPr>
          <p:spPr>
            <a:xfrm>
              <a:off x="527685" y="30988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5" name="TextBox 35"/>
            <p:cNvSpPr txBox="1"/>
            <p:nvPr/>
          </p:nvSpPr>
          <p:spPr>
            <a:xfrm>
              <a:off x="754761" y="3060700"/>
              <a:ext cx="16954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PV5 실물 대여 검토</a:t>
              </a:r>
            </a:p>
          </p:txBody>
        </p:sp>
        <p:sp>
          <p:nvSpPr>
            <p:cNvPr id="36" name="TextBox 36"/>
            <p:cNvSpPr txBox="1"/>
            <p:nvPr/>
          </p:nvSpPr>
          <p:spPr>
            <a:xfrm>
              <a:off x="3613023" y="30861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1단계 폐쇄 시험장 실증</a:t>
              </a:r>
            </a:p>
          </p:txBody>
        </p:sp>
        <p:sp>
          <p:nvSpPr>
            <p:cNvPr id="37" name="Line 37"/>
            <p:cNvSpPr/>
            <p:nvPr/>
          </p:nvSpPr>
          <p:spPr>
            <a:xfrm>
              <a:off x="533400" y="34480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38" name="TextBox 38"/>
            <p:cNvSpPr txBox="1"/>
            <p:nvPr/>
          </p:nvSpPr>
          <p:spPr>
            <a:xfrm>
              <a:off x="527685" y="3632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9" name="TextBox 39"/>
            <p:cNvSpPr txBox="1"/>
            <p:nvPr/>
          </p:nvSpPr>
          <p:spPr>
            <a:xfrm>
              <a:off x="754761" y="3594100"/>
              <a:ext cx="215690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전문가 멘토링·기술 지원</a:t>
              </a:r>
            </a:p>
          </p:txBody>
        </p:sp>
        <p:sp>
          <p:nvSpPr>
            <p:cNvPr id="40" name="TextBox 40"/>
            <p:cNvSpPr txBox="1"/>
            <p:nvPr/>
          </p:nvSpPr>
          <p:spPr>
            <a:xfrm>
              <a:off x="3613023" y="3619500"/>
              <a:ext cx="209941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GPR 장착·전원 간섭 검토</a:t>
              </a:r>
            </a:p>
          </p:txBody>
        </p:sp>
        <p:sp>
          <p:nvSpPr>
            <p:cNvPr id="41" name="Line 41"/>
            <p:cNvSpPr/>
            <p:nvPr/>
          </p:nvSpPr>
          <p:spPr>
            <a:xfrm>
              <a:off x="533400" y="39814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2" name="TextBox 42"/>
            <p:cNvSpPr txBox="1"/>
            <p:nvPr/>
          </p:nvSpPr>
          <p:spPr>
            <a:xfrm>
              <a:off x="527685" y="4165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3" name="TextBox 43"/>
            <p:cNvSpPr txBox="1"/>
            <p:nvPr/>
          </p:nvSpPr>
          <p:spPr>
            <a:xfrm>
              <a:off x="754761" y="4127500"/>
              <a:ext cx="148873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PoC·사업화 연계</a:t>
              </a:r>
            </a:p>
          </p:txBody>
        </p:sp>
        <p:sp>
          <p:nvSpPr>
            <p:cNvPr id="44" name="TextBox 44"/>
            <p:cNvSpPr txBox="1"/>
            <p:nvPr/>
          </p:nvSpPr>
          <p:spPr>
            <a:xfrm>
              <a:off x="3613023" y="4152900"/>
              <a:ext cx="196009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지자체 1곳 파일럿 연결</a:t>
              </a:r>
            </a:p>
          </p:txBody>
        </p:sp>
        <p:sp>
          <p:nvSpPr>
            <p:cNvPr id="45" name="Line 45"/>
            <p:cNvSpPr/>
            <p:nvPr/>
          </p:nvSpPr>
          <p:spPr>
            <a:xfrm>
              <a:off x="533400" y="4514850"/>
              <a:ext cx="6096000" cy="9525"/>
            </a:xfrm>
            <a:custGeom>
              <a:avLst/>
              <a:gdLst/>
              <a:ahLst/>
              <a:cxnLst/>
              <a:rect l="l" t="t" r="r" b="b"/>
              <a:pathLst>
                <a:path w="6096000" h="9525">
                  <a:moveTo>
                    <a:pt x="0" y="0"/>
                  </a:moveTo>
                  <a:lnTo>
                    <a:pt x="6096000" y="0"/>
                  </a:lnTo>
                </a:path>
              </a:pathLst>
            </a:custGeom>
            <a:noFill/>
            <a:ln w="9525">
              <a:solidFill>
                <a:srgbClr val="E2E6EC"/>
              </a:solidFill>
            </a:ln>
          </p:spPr>
        </p:sp>
        <p:sp>
          <p:nvSpPr>
            <p:cNvPr id="46" name="TextBox 46"/>
            <p:cNvSpPr txBox="1"/>
            <p:nvPr/>
          </p:nvSpPr>
          <p:spPr>
            <a:xfrm>
              <a:off x="527685" y="46990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7" name="TextBox 47"/>
            <p:cNvSpPr txBox="1"/>
            <p:nvPr/>
          </p:nvSpPr>
          <p:spPr>
            <a:xfrm>
              <a:off x="754761" y="4660900"/>
              <a:ext cx="1664192"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기아 네트워크 협력</a:t>
              </a:r>
            </a:p>
          </p:txBody>
        </p:sp>
        <p:sp>
          <p:nvSpPr>
            <p:cNvPr id="48" name="TextBox 48"/>
            <p:cNvSpPr txBox="1"/>
            <p:nvPr/>
          </p:nvSpPr>
          <p:spPr>
            <a:xfrm>
              <a:off x="3613023" y="4686300"/>
              <a:ext cx="2554580"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 컨버전 파트너와 탐사실 키트화</a:t>
              </a:r>
            </a:p>
          </p:txBody>
        </p:sp>
      </p:grpSp>
      <p:grpSp>
        <p:nvGrpSpPr>
          <p:cNvPr id="57" name="next"/>
          <p:cNvGrpSpPr/>
          <p:nvPr/>
        </p:nvGrpSpPr>
        <p:grpSpPr>
          <a:xfrm>
            <a:off x="7003161" y="2660650"/>
            <a:ext cx="4655439" cy="2467928"/>
            <a:chOff x="7003161" y="2660650"/>
            <a:chExt cx="4655439" cy="2467928"/>
          </a:xfrm>
        </p:grpSpPr>
        <p:sp>
          <p:nvSpPr>
            <p:cNvPr id="50" name="TextBox 50"/>
            <p:cNvSpPr txBox="1"/>
            <p:nvPr/>
          </p:nvSpPr>
          <p:spPr>
            <a:xfrm>
              <a:off x="7004685" y="2660650"/>
              <a:ext cx="463753"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그다음</a:t>
              </a:r>
            </a:p>
          </p:txBody>
        </p:sp>
        <p:sp>
          <p:nvSpPr>
            <p:cNvPr id="51" name="Rectangle 51"/>
            <p:cNvSpPr/>
            <p:nvPr/>
          </p:nvSpPr>
          <p:spPr>
            <a:xfrm>
              <a:off x="7010400" y="2895600"/>
              <a:ext cx="4648200" cy="28575"/>
            </a:xfrm>
            <a:prstGeom prst="rect">
              <a:avLst/>
            </a:prstGeom>
            <a:solidFill>
              <a:srgbClr val="0B1E3C"/>
            </a:solidFill>
            <a:ln>
              <a:noFill/>
            </a:ln>
          </p:spPr>
        </p:sp>
        <p:sp>
          <p:nvSpPr>
            <p:cNvPr id="52" name="TextBox 52"/>
            <p:cNvSpPr txBox="1"/>
            <p:nvPr/>
          </p:nvSpPr>
          <p:spPr>
            <a:xfrm>
              <a:off x="7003161" y="3060700"/>
              <a:ext cx="3416655"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1~2년 </a:t>
              </a:r>
              <a:r>
                <a:rPr lang="ko-KR" sz="1420" dirty="0">
                  <a:solidFill>
                    <a:srgbClr val="111827"/>
                  </a:solidFill>
                  <a:latin typeface="+mn-lt"/>
                  <a:ea typeface="+mn-ea"/>
                  <a:cs typeface="+mn-cs"/>
                </a:rPr>
                <a:t>조사기관과 시·군 용역 공동 수주</a:t>
              </a:r>
            </a:p>
          </p:txBody>
        </p:sp>
        <p:sp>
          <p:nvSpPr>
            <p:cNvPr id="53" name="TextBox 53"/>
            <p:cNvSpPr txBox="1"/>
            <p:nvPr/>
          </p:nvSpPr>
          <p:spPr>
            <a:xfrm>
              <a:off x="7003161" y="3594100"/>
              <a:ext cx="3282843"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2~3년 </a:t>
              </a:r>
              <a:r>
                <a:rPr lang="ko-KR" sz="1420" dirty="0">
                  <a:solidFill>
                    <a:srgbClr val="111827"/>
                  </a:solidFill>
                  <a:latin typeface="+mn-lt"/>
                  <a:ea typeface="+mn-ea"/>
                  <a:cs typeface="+mn-cs"/>
                </a:rPr>
                <a:t>혁신제품 지정 → 연간 관제 계약</a:t>
              </a:r>
            </a:p>
          </p:txBody>
        </p:sp>
        <p:sp>
          <p:nvSpPr>
            <p:cNvPr id="54" name="TextBox 54"/>
            <p:cNvSpPr txBox="1"/>
            <p:nvPr/>
          </p:nvSpPr>
          <p:spPr>
            <a:xfrm>
              <a:off x="7003161" y="4127500"/>
              <a:ext cx="3321048"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 xml:space="preserve">3년~ </a:t>
              </a:r>
              <a:r>
                <a:rPr lang="ko-KR" sz="1420" dirty="0">
                  <a:solidFill>
                    <a:srgbClr val="111827"/>
                  </a:solidFill>
                  <a:latin typeface="+mn-lt"/>
                  <a:ea typeface="+mn-ea"/>
                  <a:cs typeface="+mn-cs"/>
                </a:rPr>
                <a:t>권역별 PV5 플릿 · 상하수도 기관</a:t>
              </a:r>
            </a:p>
          </p:txBody>
        </p:sp>
        <p:sp>
          <p:nvSpPr>
            <p:cNvPr id="55" name="TextBox 55"/>
            <p:cNvSpPr txBox="1"/>
            <p:nvPr/>
          </p:nvSpPr>
          <p:spPr>
            <a:xfrm>
              <a:off x="7004685" y="4699000"/>
              <a:ext cx="301184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조달청 혁신제품: 지정 시 최대 6년 수의계약</a:t>
              </a:r>
            </a:p>
          </p:txBody>
        </p:sp>
        <p:sp>
          <p:nvSpPr>
            <p:cNvPr id="56" name="TextBox 56"/>
            <p:cNvSpPr txBox="1"/>
            <p:nvPr/>
          </p:nvSpPr>
          <p:spPr>
            <a:xfrm>
              <a:off x="7004685" y="4908550"/>
              <a:ext cx="281583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테스트베드서울: 과제당 최대 2억 원 실증</a:t>
              </a:r>
            </a:p>
          </p:txBody>
        </p:sp>
      </p:grpSp>
      <p:grpSp>
        <p:nvGrpSpPr>
          <p:cNvPr id="60" name="conclusion"/>
          <p:cNvGrpSpPr/>
          <p:nvPr/>
        </p:nvGrpSpPr>
        <p:grpSpPr>
          <a:xfrm>
            <a:off x="533400" y="5676900"/>
            <a:ext cx="8479960" cy="419100"/>
            <a:chOff x="533400" y="5676900"/>
            <a:chExt cx="8479960" cy="419100"/>
          </a:xfrm>
        </p:grpSpPr>
        <p:sp>
          <p:nvSpPr>
            <p:cNvPr id="58" name="Rectangle 58"/>
            <p:cNvSpPr/>
            <p:nvPr/>
          </p:nvSpPr>
          <p:spPr>
            <a:xfrm>
              <a:off x="533400" y="5676900"/>
              <a:ext cx="38100" cy="419100"/>
            </a:xfrm>
            <a:prstGeom prst="rect">
              <a:avLst/>
            </a:prstGeom>
            <a:solidFill>
              <a:srgbClr val="F5B700"/>
            </a:solidFill>
            <a:ln>
              <a:noFill/>
            </a:ln>
          </p:spPr>
        </p:sp>
        <p:sp>
          <p:nvSpPr>
            <p:cNvPr id="59" name="TextBox 59"/>
            <p:cNvSpPr txBox="1"/>
            <p:nvPr/>
          </p:nvSpPr>
          <p:spPr>
            <a:xfrm>
              <a:off x="715899" y="5772150"/>
              <a:ext cx="829746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새 예산이 아니라 지자체가 이미 쓰는 탐사 예산에서, 기아와 함께 첫 실증을 만듭니다.</a:t>
              </a:r>
            </a:p>
          </p:txBody>
        </p:sp>
      </p:grpSp>
      <p:grpSp>
        <p:nvGrpSpPr>
          <p:cNvPr id="62" name="source"/>
          <p:cNvGrpSpPr/>
          <p:nvPr/>
        </p:nvGrpSpPr>
        <p:grpSpPr>
          <a:xfrm>
            <a:off x="528447" y="6381750"/>
            <a:ext cx="10506489" cy="191643"/>
            <a:chOff x="528447" y="6381750"/>
            <a:chExt cx="10506489" cy="191643"/>
          </a:xfrm>
        </p:grpSpPr>
        <p:sp>
          <p:nvSpPr>
            <p:cNvPr id="61" name="TextBox 61"/>
            <p:cNvSpPr txBox="1"/>
            <p:nvPr/>
          </p:nvSpPr>
          <p:spPr>
            <a:xfrm>
              <a:off x="528447" y="6381750"/>
              <a:ext cx="10506489" cy="191643"/>
            </a:xfrm>
            <a:prstGeom prst="rect">
              <a:avLst/>
            </a:prstGeom>
            <a:noFill/>
            <a:ln>
              <a:noFill/>
            </a:ln>
          </p:spPr>
          <p:txBody>
            <a:bodyPr wrap="none" lIns="0" tIns="0" rIns="0" bIns="0" anchor="t" anchorCtr="0">
              <a:spAutoFit/>
            </a:bodyPr>
            <a:lstStyle/>
            <a:p>
              <a:pPr algn="l"/>
              <a:r>
                <a:rPr lang="ko-KR" sz="980" dirty="0">
                  <a:solidFill>
                    <a:srgbClr val="4B5563"/>
                  </a:solidFill>
                  <a:latin typeface="+mn-lt"/>
                  <a:ea typeface="+mn-ea"/>
                  <a:cs typeface="+mn-cs"/>
                </a:rPr>
                <a:t>출처: 나라장터 2026(R26BK01572949 · R26BK01599467 · R26BK01517362) · 헤럴드경제(2025.9.7) · 조달청 · 테스트베드서울 · 공모전 일반 부문 혜택 안내 · 일정은 목표</a:t>
              </a:r>
            </a:p>
          </p:txBody>
        </p:sp>
      </p:grpSp>
      <p:grpSp>
        <p:nvGrpSpPr>
          <p:cNvPr id="65" name="footer"/>
          <p:cNvGrpSpPr/>
          <p:nvPr/>
        </p:nvGrpSpPr>
        <p:grpSpPr>
          <a:xfrm>
            <a:off x="528638" y="6610350"/>
            <a:ext cx="11134724" cy="176212"/>
            <a:chOff x="528638" y="6610350"/>
            <a:chExt cx="11134724" cy="176212"/>
          </a:xfrm>
        </p:grpSpPr>
        <p:sp>
          <p:nvSpPr>
            <p:cNvPr id="63" name="TextBox 63"/>
            <p:cNvSpPr txBox="1"/>
            <p:nvPr/>
          </p:nvSpPr>
          <p:spPr>
            <a:xfrm>
              <a:off x="528638" y="6610350"/>
              <a:ext cx="1020324" cy="176212"/>
            </a:xfrm>
            <a:prstGeom prst="rect">
              <a:avLst/>
            </a:prstGeom>
            <a:noFill/>
            <a:ln>
              <a:noFill/>
            </a:ln>
          </p:spPr>
          <p:txBody>
            <a:bodyPr wrap="none" lIns="0" tIns="0" rIns="0" bIns="0" anchor="t" anchorCtr="0">
              <a:spAutoFit/>
            </a:bodyPr>
            <a:lstStyle/>
            <a:p>
              <a:pPr algn="l"/>
              <a:r>
                <a:rPr lang="en-US" sz="900" dirty="0">
                  <a:solidFill>
                    <a:srgbClr val="4B5563"/>
                  </a:solidFill>
                  <a:latin typeface="+mn-lt"/>
                  <a:ea typeface="+mn-ea"/>
                  <a:cs typeface="+mn-cs"/>
                </a:rPr>
                <a:t>PV5 GroundWatch</a:t>
              </a:r>
            </a:p>
          </p:txBody>
        </p:sp>
        <p:sp>
          <p:nvSpPr>
            <p:cNvPr id="64" name="TextBox 64"/>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14 / 15</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tretch>
            <a:fillRect/>
          </a:stretch>
        </p:blipFill>
        <p:spPr>
          <a:xfrm>
            <a:off x="2095500" y="247650"/>
            <a:ext cx="8001000" cy="5334000"/>
          </a:xfrm>
          <a:prstGeom prst="rect">
            <a:avLst/>
          </a:prstGeom>
        </p:spPr>
      </p:pic>
      <p:grpSp>
        <p:nvGrpSpPr>
          <p:cNvPr id="6" name="closing"/>
          <p:cNvGrpSpPr/>
          <p:nvPr/>
        </p:nvGrpSpPr>
        <p:grpSpPr>
          <a:xfrm>
            <a:off x="2259254" y="5784850"/>
            <a:ext cx="7673492" cy="717042"/>
            <a:chOff x="2259254" y="5784850"/>
            <a:chExt cx="7673492" cy="717042"/>
          </a:xfrm>
        </p:grpSpPr>
        <p:sp>
          <p:nvSpPr>
            <p:cNvPr id="4" name="TextBox 4"/>
            <p:cNvSpPr txBox="1"/>
            <p:nvPr/>
          </p:nvSpPr>
          <p:spPr>
            <a:xfrm>
              <a:off x="4785824" y="5784850"/>
              <a:ext cx="2620353" cy="220028"/>
            </a:xfrm>
            <a:prstGeom prst="rect">
              <a:avLst/>
            </a:prstGeom>
            <a:noFill/>
            <a:ln>
              <a:noFill/>
            </a:ln>
          </p:spPr>
          <p:txBody>
            <a:bodyPr wrap="none" lIns="0" tIns="0" rIns="0" bIns="0" anchor="t" anchorCtr="0">
              <a:spAutoFit/>
            </a:bodyPr>
            <a:lstStyle/>
            <a:p>
              <a:pPr algn="ctr"/>
              <a:r>
                <a:rPr lang="ko-KR" sz="1120" b="1" dirty="0">
                  <a:solidFill>
                    <a:srgbClr val="F5B700"/>
                  </a:solidFill>
                  <a:latin typeface="+mn-lt"/>
                  <a:ea typeface="+mn-ea"/>
                  <a:cs typeface="+mn-cs"/>
                </a:rPr>
                <a:t>PV5 GroundWatch · 지하안전 순찰차</a:t>
              </a:r>
            </a:p>
          </p:txBody>
        </p:sp>
        <p:sp>
          <p:nvSpPr>
            <p:cNvPr id="5" name="TextBox 5"/>
            <p:cNvSpPr txBox="1"/>
            <p:nvPr/>
          </p:nvSpPr>
          <p:spPr>
            <a:xfrm>
              <a:off x="2259254" y="6032500"/>
              <a:ext cx="7673492" cy="469392"/>
            </a:xfrm>
            <a:prstGeom prst="rect">
              <a:avLst/>
            </a:prstGeom>
            <a:noFill/>
            <a:ln>
              <a:noFill/>
            </a:ln>
          </p:spPr>
          <p:txBody>
            <a:bodyPr wrap="none" lIns="0" tIns="0" rIns="0" bIns="0" anchor="t" anchorCtr="0">
              <a:spAutoFit/>
            </a:bodyPr>
            <a:lstStyle/>
            <a:p>
              <a:pPr algn="ctr"/>
              <a:r>
                <a:rPr lang="ko-KR" sz="2400" b="1" dirty="0">
                  <a:solidFill>
                    <a:srgbClr val="FFFFFF"/>
                  </a:solidFill>
                  <a:latin typeface="+mn-lt"/>
                  <a:ea typeface="+mn-ea"/>
                  <a:cs typeface="+mn-cs"/>
                </a:rPr>
                <a:t>한 번의 조기 발견이, 한 사람의 무사 귀가가 되도록.</a:t>
              </a:r>
            </a:p>
          </p:txBody>
        </p:sp>
      </p:grpSp>
      <p:grpSp>
        <p:nvGrpSpPr>
          <p:cNvPr id="10" name="footer"/>
          <p:cNvGrpSpPr/>
          <p:nvPr/>
        </p:nvGrpSpPr>
        <p:grpSpPr>
          <a:xfrm>
            <a:off x="604266" y="6597650"/>
            <a:ext cx="11135487" cy="205359"/>
            <a:chOff x="604266" y="6597650"/>
            <a:chExt cx="11135487" cy="205359"/>
          </a:xfrm>
        </p:grpSpPr>
        <p:sp>
          <p:nvSpPr>
            <p:cNvPr id="7" name="TextBox 7"/>
            <p:cNvSpPr txBox="1"/>
            <p:nvPr/>
          </p:nvSpPr>
          <p:spPr>
            <a:xfrm>
              <a:off x="604266" y="659765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8" name="TextBox 8"/>
            <p:cNvSpPr txBox="1"/>
            <p:nvPr/>
          </p:nvSpPr>
          <p:spPr>
            <a:xfrm>
              <a:off x="7865926" y="6623050"/>
              <a:ext cx="2235337" cy="161925"/>
            </a:xfrm>
            <a:prstGeom prst="rect">
              <a:avLst/>
            </a:prstGeom>
            <a:noFill/>
            <a:ln>
              <a:noFill/>
            </a:ln>
          </p:spPr>
          <p:txBody>
            <a:bodyPr wrap="none" lIns="0" tIns="0" rIns="0" bIns="0" anchor="t" anchorCtr="0">
              <a:spAutoFit/>
            </a:bodyPr>
            <a:lstStyle/>
            <a:p>
              <a:pPr algn="r"/>
              <a:r>
                <a:rPr lang="ko-KR" sz="820" dirty="0">
                  <a:solidFill>
                    <a:srgbClr val="9FB0C8"/>
                  </a:solidFill>
                  <a:latin typeface="+mn-lt"/>
                  <a:ea typeface="+mn-ea"/>
                  <a:cs typeface="+mn-cs"/>
                </a:rPr>
                <a:t>사진: Alexander Migl, CC BY-SA 4.0(편집)</a:t>
              </a:r>
            </a:p>
          </p:txBody>
        </p:sp>
        <p:sp>
          <p:nvSpPr>
            <p:cNvPr id="9" name="TextBox 9"/>
            <p:cNvSpPr txBox="1"/>
            <p:nvPr/>
          </p:nvSpPr>
          <p:spPr>
            <a:xfrm>
              <a:off x="11265792" y="661035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15 / 15</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15</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2026-10-23T07:43:55Z</dcterms:created>
  <dcterms:modified xsi:type="dcterms:W3CDTF">2026-10-23T07:43:55Z</dcterms:modified>
  <cp:category/>
  <cp:contentStatus/>
</cp:coreProperties>
</file>