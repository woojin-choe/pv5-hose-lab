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 GroundWatch는 기아 공모전이 공공서비스 특화 예시로 든 '첨단 장비 탑재 스마트 순찰 및 재난 대응 차량'(컨버전 부문 예시, kiapbvidea.com)을 땅 아래로 넓힌 제안입니다.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실측 근거도 있습니다. 후지사와시·도쿄대·지오서치 공동연구는 같은 노선을 차량 GPR로 반년마다 다시 탐사했는데, 남부지구에서 1년 사이 신규 공동이 23곳(첫 조사 83곳의 28%) 나왔고, 1년 안에 '요긴급대응' 공동 3곳이 새로 생겨 바로 굴착 보수했으며, 7곳은 공동 폭이 0.1~0.3m 넓어졌습니다(지반공학연구발표회 2018, https://www.city.fujisawa.kanagawa.jp/documents/34128/20250822174442.pdf). 이 가운데 긴급 공동 하나는 지하 1.64m 하수관 이음부에서 흙이 빠져나가 생긴 것으로, 국토교통성 연구가 '종래 생각보다 단기간에 공동이 성장할 수 있다'고 결론 낸 사례입니다.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도쿄대·지오서치와 함께 연구 노선 25.8km를 차량 GPR로 반년마다 다시 탐사했고, 회차마다 따로 판독해 새로 생기거나 커진 공동을 추적했으며, 대표 지점만 별도 2차 조사(천공 스코프)를 했습니다(https://www.city.fujisawa.kanagawa.jp/documents/34128/20250822174442.pdf).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넓히고, 회차마다 따로 판독하는 대신 지난 회차와 위치를 맞춰 뺀 차이만 자동으로 골라 판독하며, 같은 차에서 바로 재탐사하는 상시 업무로 만듭니다. 약 2개월 간격은 이 연구들의 3개월·6개월 주기보다 촘촘하고, 후지사와에서 1년 안에 긴급 대응 공동 3곳이 새로 생긴 점,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표지와 마지막 장 그림도 같은 후방 하부 배열입니다. 정확한 위치는 컨버전 포털 3D 데이터와 간섭 시험으로 확정합니다.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반복 탐사 6회의 원가가 현행 전체 공정 1회 비용의 약 3분의 1입니다. 비교 대상인 92만 원에는 천공·복구가 포함돼 있으므로, 탐사만의 단가 비교는 파일럿에서 발주기관 내역서로 확정하겠습니다.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구매자는 이미 GPR 탐사 예산을 쓰는 서울시·자치구 도로관리 부서, 도시철도 공사 발주기관, 상하수도 관리기관입니다. 실제 사용자는 지하안전·도로관리 담당자, GPR 판독 전문가, 2인 1조 현장 조사원입니다. 첫 계약은 기존 GPR 조사기관과 함께 수행하고, PV5 특장(컨버전) 업체와 GIS·AR 장비사가 협력합니다. 기아는 탐사형 PV5 컨버전 플릿을 판매하고, Pleos 차량 앱의 공공 업무 레퍼런스를 얻으며, 같은 키트로 지자체마다 탐사실을 복제할 수 있습니다. 회차 데이터가 쌓이면 하수관 노후도, 굴착공사, 강우 이력과 겹쳐 다음 순찰의 우선순위를 정합니다. 지하 데이터는 제3자에게 판매하지 않고, 계약기관 내부에서 접근 권한에 따라서만 씁니다. 구매·협력 구조와 데이터 원칙은 제안 단계의 가설입니다. 이 방향은 기아가 이미 가고 있는 길입니다. 기아 공모전 컨버전 부문은 공공서비스 특화 예시로 '첨단 장비 탑재 스마트 순찰 및 재난 대응 차량'과 '이동형 환경 데이터 수집/분석 스테이션'을 제시했고(kiapbvidea.com), 일반 부문도 '지역 사회 기여: 재해 대응/안전 서비스'를 예시로 듭니다. 기아는 2026년 6월 부산모빌리티쇼에서 경찰청과 협업한 PV5 기반 AI 순찰차(4K AI 카메라 3개·드론 스테이션)를 공개했습니다(머니투데이 2026.6.26 https://www.mt.co.kr/industry/2026/06/26/2026062517564330792). 기아가 지상을 보는 순찰차를 만들었다면, GroundWatch는 지하를 보는 PV5 순찰차입니다. 판정과 책임 구조는 지금과 같습니다. GroundWatch는 볼 곳을 좁히는 도구이고, 공동 판정과 결과 서명은 지금처럼 등록된 조사기관과 전문가가 맡습니다.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멘토링)과 공개 개발자 환경입니다.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한 번의 조기 발견이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7c61102523c82ce.png"/>
  <Relationship Id="rId3" Type="http://schemas.openxmlformats.org/officeDocument/2006/relationships/image" Target="../media/image_520a869e500b72a0.png"/>
  <Relationship Id="rId4" Type="http://schemas.openxmlformats.org/officeDocument/2006/relationships/image" Target="../media/image_808608ffd9ac7105.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3428"/>
            <a:chOff x="524637" y="1600200"/>
            <a:chExt cx="2618613" cy="2023428"/>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257327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1년(발표).</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새로 생기고 자라는</a:t>
              </a:r>
              <a:br>
                <a:rPr lang="ko-KR" sz="1280" dirty="0">
                  <a:solidFill>
                    <a:srgbClr val="374151"/>
                  </a:solidFill>
                  <a:latin typeface="+mn-lt"/>
                  <a:ea typeface="+mn-ea"/>
                  <a:cs typeface="+mn-cs"/>
                </a:rPr>
              </a:br>
              <a:r>
                <a:rPr lang="ko-KR" sz="1280" dirty="0">
                  <a:solidFill>
                    <a:srgbClr val="374151"/>
                  </a:solidFill>
                  <a:latin typeface="+mn-lt"/>
                  <a:ea typeface="+mn-ea"/>
                  <a:cs typeface="+mn-cs"/>
                </a:rPr>
                <a:t>공동은 다음 점검까지 안 보입니다.</a:t>
              </a:r>
            </a:p>
          </p:txBody>
        </p:sp>
        <p:sp>
          <p:nvSpPr>
            <p:cNvPr id="22" name="TextBox 22"/>
            <p:cNvSpPr txBox="1"/>
            <p:nvPr/>
          </p:nvSpPr>
          <p:spPr>
            <a:xfrm>
              <a:off x="52768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3~6장</a:t>
              </a:r>
            </a:p>
          </p:txBody>
        </p:sp>
      </p:grpSp>
      <p:grpSp>
        <p:nvGrpSpPr>
          <p:cNvPr id="29" name="col1"/>
          <p:cNvGrpSpPr/>
          <p:nvPr/>
        </p:nvGrpSpPr>
        <p:grpSpPr>
          <a:xfrm>
            <a:off x="3363087" y="1600200"/>
            <a:ext cx="2618613" cy="2023428"/>
            <a:chOff x="3363087" y="1600200"/>
            <a:chExt cx="2618613" cy="2023428"/>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13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7~8장</a:t>
              </a:r>
            </a:p>
          </p:txBody>
        </p:sp>
      </p:grpSp>
      <p:grpSp>
        <p:nvGrpSpPr>
          <p:cNvPr id="35" name="col2"/>
          <p:cNvGrpSpPr/>
          <p:nvPr/>
        </p:nvGrpSpPr>
        <p:grpSpPr>
          <a:xfrm>
            <a:off x="6201537" y="1600200"/>
            <a:ext cx="2618613" cy="2023428"/>
            <a:chOff x="6201537" y="1600200"/>
            <a:chExt cx="2618613" cy="2023428"/>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585" y="3403600"/>
              <a:ext cx="111962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9~10장</a:t>
              </a:r>
            </a:p>
          </p:txBody>
        </p:sp>
      </p:grpSp>
      <p:grpSp>
        <p:nvGrpSpPr>
          <p:cNvPr id="41" name="col3"/>
          <p:cNvGrpSpPr/>
          <p:nvPr/>
        </p:nvGrpSpPr>
        <p:grpSpPr>
          <a:xfrm>
            <a:off x="9039987" y="1600200"/>
            <a:ext cx="2618613" cy="2023428"/>
            <a:chOff x="9039987" y="1600200"/>
            <a:chExt cx="2618613" cy="2023428"/>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574377"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km당 4.7만 원으로 반복</a:t>
              </a:r>
            </a:p>
          </p:txBody>
        </p:sp>
        <p:sp>
          <p:nvSpPr>
            <p:cNvPr id="39" name="TextBox 39"/>
            <p:cNvSpPr txBox="1"/>
            <p:nvPr/>
          </p:nvSpPr>
          <p:spPr>
            <a:xfrm>
              <a:off x="9042273" y="2520950"/>
              <a:ext cx="223189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전체 공정 km당 92만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(천공·복구 포함). 2차 조사는</a:t>
              </a:r>
              <a:br>
                <a:rPr lang="ko-KR" sz="1280" dirty="0">
                  <a:solidFill>
                    <a:srgbClr val="374151"/>
                  </a:solidFill>
                  <a:latin typeface="+mn-lt"/>
                  <a:ea typeface="+mn-ea"/>
                  <a:cs typeface="+mn-cs"/>
                </a:rPr>
              </a:br>
              <a:r>
                <a:rPr lang="ko-KR" sz="1280" dirty="0">
                  <a:solidFill>
                    <a:srgbClr val="374151"/>
                  </a:solidFill>
                  <a:latin typeface="+mn-lt"/>
                  <a:ea typeface="+mn-ea"/>
                  <a:cs typeface="+mn-cs"/>
                </a:rPr>
                <a:t>변화가 나온 곳에만.</a:t>
              </a:r>
            </a:p>
          </p:txBody>
        </p:sp>
        <p:sp>
          <p:nvSpPr>
            <p:cNvPr id="40" name="TextBox 40"/>
            <p:cNvSpPr txBox="1"/>
            <p:nvPr/>
          </p:nvSpPr>
          <p:spPr>
            <a:xfrm>
              <a:off x="9043035" y="3403600"/>
              <a:ext cx="1202548"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11~14장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35395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전체 공정 1회 vs 반복 탐사 6회</a:t>
              </a:r>
            </a:p>
          </p:txBody>
        </p:sp>
      </p:grpSp>
      <p:grpSp>
        <p:nvGrpSpPr>
          <p:cNvPr id="55" name="conclusion"/>
          <p:cNvGrpSpPr/>
          <p:nvPr/>
        </p:nvGrpSpPr>
        <p:grpSpPr>
          <a:xfrm>
            <a:off x="533400" y="5619750"/>
            <a:ext cx="7382430" cy="419100"/>
            <a:chOff x="533400" y="5619750"/>
            <a:chExt cx="7382430"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71999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예시로 든 ‘스마트 순찰 및 재난 대응 차량’을, 땅 아래로 넓힙니다.</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1609639"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370297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민원·노후 관로·공사구간으로 조사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5" name="evidence"/>
          <p:cNvGrpSpPr/>
          <p:nvPr/>
        </p:nvGrpSpPr>
        <p:grpSpPr>
          <a:xfrm>
            <a:off x="7454646" y="1600200"/>
            <a:ext cx="4203954" cy="3644646"/>
            <a:chOff x="7454646" y="1600200"/>
            <a:chExt cx="4203954"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219275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같은 길을 다시 보면 · 일본 실측</a:t>
              </a:r>
            </a:p>
          </p:txBody>
        </p:sp>
        <p:sp>
          <p:nvSpPr>
            <p:cNvPr id="33" name="TextBox 33"/>
            <p:cNvSpPr txBox="1"/>
            <p:nvPr/>
          </p:nvSpPr>
          <p:spPr>
            <a:xfrm>
              <a:off x="7454646" y="2101850"/>
              <a:ext cx="3456143"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1년 새 신규 공동 23곳</a:t>
              </a:r>
            </a:p>
          </p:txBody>
        </p:sp>
        <p:sp>
          <p:nvSpPr>
            <p:cNvPr id="34" name="TextBox 34"/>
            <p:cNvSpPr txBox="1"/>
            <p:nvPr/>
          </p:nvSpPr>
          <p:spPr>
            <a:xfrm>
              <a:off x="7461504" y="2552700"/>
              <a:ext cx="33739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후지사와시 남부, 차량 GPR로 반년마다 재탐사</a:t>
              </a:r>
            </a:p>
          </p:txBody>
        </p:sp>
        <p:sp>
          <p:nvSpPr>
            <p:cNvPr id="35" name="TextBox 35"/>
            <p:cNvSpPr txBox="1"/>
            <p:nvPr/>
          </p:nvSpPr>
          <p:spPr>
            <a:xfrm>
              <a:off x="7461504" y="2762250"/>
              <a:ext cx="323499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(첫 조사 83곳 대비 28% · 도쿄대·지오서치)</a:t>
              </a:r>
            </a:p>
          </p:txBody>
        </p:sp>
        <p:sp>
          <p:nvSpPr>
            <p:cNvPr id="36" name="Line 36"/>
            <p:cNvSpPr/>
            <p:nvPr/>
          </p:nvSpPr>
          <p:spPr>
            <a:xfrm>
              <a:off x="7467600" y="31432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7" name="TextBox 37"/>
            <p:cNvSpPr txBox="1"/>
            <p:nvPr/>
          </p:nvSpPr>
          <p:spPr>
            <a:xfrm>
              <a:off x="7461123" y="3295650"/>
              <a:ext cx="3360576"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‘긴급 대응’ 공동 3곳</a:t>
              </a:r>
              <a:r>
                <a:rPr lang="ko-KR" sz="1280" dirty="0">
                  <a:solidFill>
                    <a:srgbClr val="111827"/>
                  </a:solidFill>
                  <a:latin typeface="+mn-lt"/>
                  <a:ea typeface="+mn-ea"/>
                  <a:cs typeface="+mn-cs"/>
                </a:rPr>
                <a:t>이 1년 안에 새로 생김</a:t>
              </a:r>
            </a:p>
          </p:txBody>
        </p:sp>
        <p:sp>
          <p:nvSpPr>
            <p:cNvPr id="38" name="TextBox 38"/>
            <p:cNvSpPr txBox="1"/>
            <p:nvPr/>
          </p:nvSpPr>
          <p:spPr>
            <a:xfrm>
              <a:off x="7461123" y="3543300"/>
              <a:ext cx="265796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7곳은 공동 폭이 0.1~0.3m 넓어짐</a:t>
              </a:r>
            </a:p>
          </p:txBody>
        </p:sp>
        <p:sp>
          <p:nvSpPr>
            <p:cNvPr id="39" name="Line 39"/>
            <p:cNvSpPr/>
            <p:nvPr/>
          </p:nvSpPr>
          <p:spPr>
            <a:xfrm>
              <a:off x="7467600" y="39433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0" name="TextBox 40"/>
            <p:cNvSpPr txBox="1"/>
            <p:nvPr/>
          </p:nvSpPr>
          <p:spPr>
            <a:xfrm>
              <a:off x="7461504" y="4076700"/>
              <a:ext cx="28069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국토교통성 연구 결론: “종래 생각보다</a:t>
              </a:r>
            </a:p>
          </p:txBody>
        </p:sp>
        <p:sp>
          <p:nvSpPr>
            <p:cNvPr id="41" name="TextBox 41"/>
            <p:cNvSpPr txBox="1"/>
            <p:nvPr/>
          </p:nvSpPr>
          <p:spPr>
            <a:xfrm>
              <a:off x="7461504" y="4286250"/>
              <a:ext cx="239496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단기간에 공동이 성장할 수 있다”</a:t>
              </a:r>
            </a:p>
          </p:txBody>
        </p:sp>
        <p:sp>
          <p:nvSpPr>
            <p:cNvPr id="42" name="Line 42"/>
            <p:cNvSpPr/>
            <p:nvPr/>
          </p:nvSpPr>
          <p:spPr>
            <a:xfrm>
              <a:off x="7467600" y="46672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3" name="TextBox 43"/>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4" name="TextBox 44"/>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8" name="conclusion"/>
          <p:cNvGrpSpPr/>
          <p:nvPr/>
        </p:nvGrpSpPr>
        <p:grpSpPr>
          <a:xfrm>
            <a:off x="533400" y="5391150"/>
            <a:ext cx="7169730" cy="419100"/>
            <a:chOff x="533400" y="5391150"/>
            <a:chExt cx="7169730" cy="419100"/>
          </a:xfrm>
        </p:grpSpPr>
        <p:sp>
          <p:nvSpPr>
            <p:cNvPr id="46" name="Rectangle 46"/>
            <p:cNvSpPr/>
            <p:nvPr/>
          </p:nvSpPr>
          <p:spPr>
            <a:xfrm>
              <a:off x="533400" y="5391150"/>
              <a:ext cx="38100" cy="419100"/>
            </a:xfrm>
            <a:prstGeom prst="rect">
              <a:avLst/>
            </a:prstGeom>
            <a:solidFill>
              <a:srgbClr val="F5B700"/>
            </a:solidFill>
            <a:ln>
              <a:noFill/>
            </a:ln>
          </p:spPr>
        </p:sp>
        <p:sp>
          <p:nvSpPr>
            <p:cNvPr id="47" name="TextBox 47"/>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50" name="source"/>
          <p:cNvGrpSpPr/>
          <p:nvPr/>
        </p:nvGrpSpPr>
        <p:grpSpPr>
          <a:xfrm>
            <a:off x="528447" y="6381750"/>
            <a:ext cx="10095771" cy="191643"/>
            <a:chOff x="528447" y="6381750"/>
            <a:chExt cx="10095771" cy="191643"/>
          </a:xfrm>
        </p:grpSpPr>
        <p:sp>
          <p:nvSpPr>
            <p:cNvPr id="49" name="TextBox 49"/>
            <p:cNvSpPr txBox="1"/>
            <p:nvPr/>
          </p:nvSpPr>
          <p:spPr>
            <a:xfrm>
              <a:off x="528447" y="6381750"/>
              <a:ext cx="10095771"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지하안전법(공동조사 5년 1회 이상) · 이투데이(2025.4.23) · 뉴시스(2024.8.30) · 지오서치·후지사와시·도쿄대 모니터링(2018) · 국토교통성 연구 30-5(2021)</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49"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9" name="TextBox 39"/>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0" name="TextBox 40"/>
            <p:cNvSpPr txBox="1"/>
            <p:nvPr/>
          </p:nvSpPr>
          <p:spPr>
            <a:xfrm>
              <a:off x="1860804" y="4362450"/>
              <a:ext cx="145801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연구 노선 25.8km →</a:t>
              </a:r>
            </a:p>
          </p:txBody>
        </p:sp>
        <p:sp>
          <p:nvSpPr>
            <p:cNvPr id="41" name="TextBox 41"/>
            <p:cNvSpPr txBox="1"/>
            <p:nvPr/>
          </p:nvSpPr>
          <p:spPr>
            <a:xfrm>
              <a:off x="3765423" y="43624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전체</a:t>
              </a:r>
            </a:p>
          </p:txBody>
        </p:sp>
        <p:sp>
          <p:nvSpPr>
            <p:cNvPr id="42" name="TextBox 42"/>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3" name="TextBox 43"/>
            <p:cNvSpPr txBox="1"/>
            <p:nvPr/>
          </p:nvSpPr>
          <p:spPr>
            <a:xfrm>
              <a:off x="1860804" y="4686300"/>
              <a:ext cx="153878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따로 판독 →</a:t>
              </a:r>
            </a:p>
          </p:txBody>
        </p:sp>
        <p:sp>
          <p:nvSpPr>
            <p:cNvPr id="44" name="TextBox 44"/>
            <p:cNvSpPr txBox="1"/>
            <p:nvPr/>
          </p:nvSpPr>
          <p:spPr>
            <a:xfrm>
              <a:off x="37654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5" name="TextBox 45"/>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6" name="TextBox 46"/>
            <p:cNvSpPr txBox="1"/>
            <p:nvPr/>
          </p:nvSpPr>
          <p:spPr>
            <a:xfrm>
              <a:off x="1860804" y="5010150"/>
              <a:ext cx="114300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2차 조사 →</a:t>
              </a:r>
            </a:p>
          </p:txBody>
        </p:sp>
        <p:sp>
          <p:nvSpPr>
            <p:cNvPr id="47" name="TextBox 47"/>
            <p:cNvSpPr txBox="1"/>
            <p:nvPr/>
          </p:nvSpPr>
          <p:spPr>
            <a:xfrm>
              <a:off x="37654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8" name="TextBox 48"/>
            <p:cNvSpPr txBox="1"/>
            <p:nvPr/>
          </p:nvSpPr>
          <p:spPr>
            <a:xfrm>
              <a:off x="528447" y="5324475"/>
              <a:ext cx="4238186"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 반년 주기·국토교통성 연구 3개월 주기 모니터링</a:t>
              </a:r>
            </a:p>
          </p:txBody>
        </p:sp>
      </p:grpSp>
      <p:grpSp>
        <p:nvGrpSpPr>
          <p:cNvPr id="71" name="proof"/>
          <p:cNvGrpSpPr/>
          <p:nvPr/>
        </p:nvGrpSpPr>
        <p:grpSpPr>
          <a:xfrm>
            <a:off x="6318885" y="3924300"/>
            <a:ext cx="5339715" cy="1600200"/>
            <a:chOff x="6318885" y="3924300"/>
            <a:chExt cx="5339715" cy="1600200"/>
          </a:xfrm>
        </p:grpSpPr>
        <p:sp>
          <p:nvSpPr>
            <p:cNvPr id="50" name="Rectangle 50"/>
            <p:cNvSpPr/>
            <p:nvPr/>
          </p:nvSpPr>
          <p:spPr>
            <a:xfrm>
              <a:off x="6324600" y="3924300"/>
              <a:ext cx="5334000" cy="28575"/>
            </a:xfrm>
            <a:prstGeom prst="rect">
              <a:avLst/>
            </a:prstGeom>
            <a:solidFill>
              <a:srgbClr val="0B1E3C"/>
            </a:solidFill>
            <a:ln>
              <a:noFill/>
            </a:ln>
          </p:spPr>
        </p:sp>
        <p:sp>
          <p:nvSpPr>
            <p:cNvPr id="51" name="TextBox 51"/>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2" name="TextBox 52"/>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3" name="Rectangle 53"/>
            <p:cNvSpPr/>
            <p:nvPr/>
          </p:nvSpPr>
          <p:spPr>
            <a:xfrm>
              <a:off x="7696200" y="4324350"/>
              <a:ext cx="3267075" cy="142875"/>
            </a:xfrm>
            <a:prstGeom prst="rect">
              <a:avLst/>
            </a:prstGeom>
            <a:solidFill>
              <a:srgbClr val="0B1E3C"/>
            </a:solidFill>
            <a:ln>
              <a:noFill/>
            </a:ln>
          </p:spPr>
        </p:sp>
        <p:sp>
          <p:nvSpPr>
            <p:cNvPr id="54" name="TextBox 54"/>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55" name="TextBox 55"/>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56" name="Rectangle 56"/>
            <p:cNvSpPr/>
            <p:nvPr/>
          </p:nvSpPr>
          <p:spPr>
            <a:xfrm>
              <a:off x="7696200" y="4524375"/>
              <a:ext cx="2790825" cy="142875"/>
            </a:xfrm>
            <a:prstGeom prst="rect">
              <a:avLst/>
            </a:prstGeom>
            <a:solidFill>
              <a:srgbClr val="0B1E3C"/>
            </a:solidFill>
            <a:ln>
              <a:noFill/>
            </a:ln>
          </p:spPr>
        </p:sp>
        <p:sp>
          <p:nvSpPr>
            <p:cNvPr id="57" name="TextBox 57"/>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58" name="TextBox 58"/>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59" name="Rectangle 59"/>
            <p:cNvSpPr/>
            <p:nvPr/>
          </p:nvSpPr>
          <p:spPr>
            <a:xfrm>
              <a:off x="7696200" y="4724400"/>
              <a:ext cx="1552575" cy="142875"/>
            </a:xfrm>
            <a:prstGeom prst="rect">
              <a:avLst/>
            </a:prstGeom>
            <a:solidFill>
              <a:srgbClr val="B45309"/>
            </a:solidFill>
            <a:ln>
              <a:noFill/>
            </a:ln>
          </p:spPr>
        </p:sp>
        <p:sp>
          <p:nvSpPr>
            <p:cNvPr id="60" name="TextBox 60"/>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1" name="TextBox 61"/>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2" name="Rectangle 62"/>
            <p:cNvSpPr/>
            <p:nvPr/>
          </p:nvSpPr>
          <p:spPr>
            <a:xfrm>
              <a:off x="7696200" y="4924425"/>
              <a:ext cx="1143000" cy="142875"/>
            </a:xfrm>
            <a:prstGeom prst="rect">
              <a:avLst/>
            </a:prstGeom>
            <a:solidFill>
              <a:srgbClr val="C62828"/>
            </a:solidFill>
            <a:ln>
              <a:noFill/>
            </a:ln>
          </p:spPr>
        </p:sp>
        <p:sp>
          <p:nvSpPr>
            <p:cNvPr id="63" name="TextBox 63"/>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4" name="TextBox 64"/>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65" name="Rectangle 65"/>
            <p:cNvSpPr/>
            <p:nvPr/>
          </p:nvSpPr>
          <p:spPr>
            <a:xfrm>
              <a:off x="7696200" y="5124450"/>
              <a:ext cx="923925" cy="142875"/>
            </a:xfrm>
            <a:prstGeom prst="rect">
              <a:avLst/>
            </a:prstGeom>
            <a:solidFill>
              <a:srgbClr val="4B5563"/>
            </a:solidFill>
            <a:ln>
              <a:noFill/>
            </a:ln>
          </p:spPr>
        </p:sp>
        <p:sp>
          <p:nvSpPr>
            <p:cNvPr id="66" name="TextBox 66"/>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67" name="TextBox 67"/>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68" name="Rectangle 68"/>
            <p:cNvSpPr/>
            <p:nvPr/>
          </p:nvSpPr>
          <p:spPr>
            <a:xfrm>
              <a:off x="7696200" y="5324475"/>
              <a:ext cx="381000" cy="142875"/>
            </a:xfrm>
            <a:prstGeom prst="rect">
              <a:avLst/>
            </a:prstGeom>
            <a:solidFill>
              <a:srgbClr val="4B5563"/>
            </a:solidFill>
            <a:ln>
              <a:noFill/>
            </a:ln>
          </p:spPr>
        </p:sp>
        <p:sp>
          <p:nvSpPr>
            <p:cNvPr id="69" name="TextBox 69"/>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0" name="Line 70"/>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4" name="conclusion"/>
          <p:cNvGrpSpPr/>
          <p:nvPr/>
        </p:nvGrpSpPr>
        <p:grpSpPr>
          <a:xfrm>
            <a:off x="533400" y="5676900"/>
            <a:ext cx="9170702" cy="419100"/>
            <a:chOff x="533400" y="5676900"/>
            <a:chExt cx="9170702" cy="419100"/>
          </a:xfrm>
        </p:grpSpPr>
        <p:sp>
          <p:nvSpPr>
            <p:cNvPr id="72" name="Rectangle 72"/>
            <p:cNvSpPr/>
            <p:nvPr/>
          </p:nvSpPr>
          <p:spPr>
            <a:xfrm>
              <a:off x="533400" y="5676900"/>
              <a:ext cx="38100" cy="419100"/>
            </a:xfrm>
            <a:prstGeom prst="rect">
              <a:avLst/>
            </a:prstGeom>
            <a:solidFill>
              <a:srgbClr val="F5B700"/>
            </a:solidFill>
            <a:ln>
              <a:noFill/>
            </a:ln>
          </p:spPr>
        </p:sp>
        <p:sp>
          <p:nvSpPr>
            <p:cNvPr id="73" name="TextBox 73"/>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6" name="source"/>
          <p:cNvGrpSpPr/>
          <p:nvPr/>
        </p:nvGrpSpPr>
        <p:grpSpPr>
          <a:xfrm>
            <a:off x="528447" y="6381750"/>
            <a:ext cx="10106309" cy="191643"/>
            <a:chOff x="528447" y="6381750"/>
            <a:chExt cx="10106309" cy="191643"/>
          </a:xfrm>
        </p:grpSpPr>
        <p:sp>
          <p:nvSpPr>
            <p:cNvPr id="75" name="TextBox 75"/>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9" name="footer"/>
          <p:cNvGrpSpPr/>
          <p:nvPr/>
        </p:nvGrpSpPr>
        <p:grpSpPr>
          <a:xfrm>
            <a:off x="528638" y="6610350"/>
            <a:ext cx="11134724" cy="176212"/>
            <a:chOff x="528638" y="6610350"/>
            <a:chExt cx="11134724" cy="176212"/>
          </a:xfrm>
        </p:grpSpPr>
        <p:sp>
          <p:nvSpPr>
            <p:cNvPr id="77" name="TextBox 7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8" name="TextBox 7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46445" y="1727200"/>
                <a:ext cx="167891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268833" y="1727200"/>
                <a:ext cx="1044235"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25105" y="1727200"/>
                <a:ext cx="154179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05542" y="1727200"/>
                <a:ext cx="1391016"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784431" y="1727200"/>
                <a:ext cx="1843339"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58" name="spec"/>
          <p:cNvGrpSpPr/>
          <p:nvPr/>
        </p:nvGrpSpPr>
        <p:grpSpPr>
          <a:xfrm>
            <a:off x="6622923" y="1466850"/>
            <a:ext cx="5035677" cy="3776028"/>
            <a:chOff x="6622923" y="1466850"/>
            <a:chExt cx="5035677"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550kg</a:t>
              </a:r>
            </a:p>
          </p:txBody>
        </p:sp>
        <p:sp>
          <p:nvSpPr>
            <p:cNvPr id="41" name="TextBox 41"/>
            <p:cNvSpPr txBox="1"/>
            <p:nvPr/>
          </p:nvSpPr>
          <p:spPr>
            <a:xfrm>
              <a:off x="8242935" y="2127250"/>
              <a:ext cx="329831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순정 액세서리 장착 기준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6740804" cy="586740"/>
            <a:chOff x="518160" y="774700"/>
            <a:chExt cx="6740804" cy="586740"/>
          </a:xfrm>
        </p:grpSpPr>
        <p:sp>
          <p:nvSpPr>
            <p:cNvPr id="17" name="TextBox 17"/>
            <p:cNvSpPr txBox="1"/>
            <p:nvPr/>
          </p:nvSpPr>
          <p:spPr>
            <a:xfrm>
              <a:off x="518160" y="774700"/>
              <a:ext cx="674080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10338264" cy="264033"/>
            <a:chOff x="526542" y="1339850"/>
            <a:chExt cx="10338264" cy="264033"/>
          </a:xfrm>
        </p:grpSpPr>
        <p:sp>
          <p:nvSpPr>
            <p:cNvPr id="19" name="TextBox 19"/>
            <p:cNvSpPr txBox="1"/>
            <p:nvPr/>
          </p:nvSpPr>
          <p:spPr>
            <a:xfrm>
              <a:off x="526542" y="1339850"/>
              <a:ext cx="1033826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차값 차이는 최대 1,354만 원, 차량형 GPR은 대당 2억~8억 원(서울시 약 5억 원)입니다. 그래서 전원·고정 구조로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085" y="2108200"/>
              <a:ext cx="7928508" cy="220028"/>
              <a:chOff x="2204085" y="2108200"/>
              <a:chExt cx="7928508" cy="220028"/>
            </a:xfrm>
          </p:grpSpPr>
          <p:sp>
            <p:nvSpPr>
              <p:cNvPr id="28" name="TextBox 28"/>
              <p:cNvSpPr txBox="1"/>
              <p:nvPr/>
            </p:nvSpPr>
            <p:spPr>
              <a:xfrm>
                <a:off x="2204085" y="2108200"/>
                <a:ext cx="938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롱 · 롱레인지</a:t>
                </a:r>
              </a:p>
            </p:txBody>
          </p:sp>
          <p:sp>
            <p:nvSpPr>
              <p:cNvPr id="29" name="TextBox 29"/>
              <p:cNvSpPr txBox="1"/>
              <p:nvPr/>
            </p:nvSpPr>
            <p:spPr>
              <a:xfrm>
                <a:off x="4604385" y="2108200"/>
                <a:ext cx="39590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3인승</a:t>
                </a:r>
              </a:p>
            </p:txBody>
          </p:sp>
          <p:sp>
            <p:nvSpPr>
              <p:cNvPr id="30" name="TextBox 30"/>
              <p:cNvSpPr txBox="1"/>
              <p:nvPr/>
            </p:nvSpPr>
            <p:spPr>
              <a:xfrm>
                <a:off x="7004685" y="210820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카고 스타일</a:t>
                </a:r>
              </a:p>
            </p:txBody>
          </p:sp>
          <p:sp>
            <p:nvSpPr>
              <p:cNvPr id="31" name="TextBox 31"/>
              <p:cNvSpPr txBox="1"/>
              <p:nvPr/>
            </p:nvSpPr>
            <p:spPr>
              <a:xfrm>
                <a:off x="9404985" y="2108200"/>
                <a:ext cx="7276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8" name="kit"/>
          <p:cNvGrpSpPr/>
          <p:nvPr/>
        </p:nvGrpSpPr>
        <p:grpSpPr>
          <a:xfrm>
            <a:off x="527685" y="4248150"/>
            <a:ext cx="11130915" cy="1353693"/>
            <a:chOff x="527685" y="4248150"/>
            <a:chExt cx="11130915" cy="1353693"/>
          </a:xfrm>
        </p:grpSpPr>
        <p:pic>
          <p:nvPicPr>
            <p:cNvPr id="54" name="Image 54"/>
            <p:cNvPicPr>
              <a:picLocks noChangeAspect="1"/>
            </p:cNvPicPr>
            <p:nvPr/>
          </p:nvPicPr>
          <p:blipFill>
            <a:blip r:embed="rId2"/>
            <a:srcRect l="0" t="28446" r="0" b="28445"/>
            <a:stretch>
              <a:fillRect/>
            </a:stretch>
          </p:blipFill>
          <p:spPr>
            <a:xfrm>
              <a:off x="533400" y="4248150"/>
              <a:ext cx="2609850" cy="876300"/>
            </a:xfrm>
            <a:prstGeom prst="rect">
              <a:avLst/>
            </a:prstGeom>
          </p:spPr>
        </p:pic>
        <p:sp>
          <p:nvSpPr>
            <p:cNvPr id="55" name="TextBox 55"/>
            <p:cNvSpPr txBox="1"/>
            <p:nvPr/>
          </p:nvSpPr>
          <p:spPr>
            <a:xfrm>
              <a:off x="527685" y="5194300"/>
              <a:ext cx="1641486"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실내 V2L 콘센트</a:t>
              </a:r>
            </a:p>
          </p:txBody>
        </p:sp>
        <p:sp>
          <p:nvSpPr>
            <p:cNvPr id="56" name="TextBox 56"/>
            <p:cNvSpPr txBox="1"/>
            <p:nvPr/>
          </p:nvSpPr>
          <p:spPr>
            <a:xfrm>
              <a:off x="528447" y="5410200"/>
              <a:ext cx="1624899"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시동 없이 GPR·컴퓨터 전원</a:t>
              </a:r>
            </a:p>
          </p:txBody>
        </p:sp>
        <p:pic>
          <p:nvPicPr>
            <p:cNvPr id="57" name="Image 57"/>
            <p:cNvPicPr>
              <a:picLocks noChangeAspect="1"/>
            </p:cNvPicPr>
            <p:nvPr/>
          </p:nvPicPr>
          <p:blipFill>
            <a:blip r:embed="rId3"/>
            <a:srcRect l="0" t="24858" r="0" b="24858"/>
            <a:stretch>
              <a:fillRect/>
            </a:stretch>
          </p:blipFill>
          <p:spPr>
            <a:xfrm>
              <a:off x="3371850" y="4248150"/>
              <a:ext cx="2609850" cy="876300"/>
            </a:xfrm>
            <a:prstGeom prst="rect">
              <a:avLst/>
            </a:prstGeom>
          </p:spPr>
        </p:pic>
        <p:sp>
          <p:nvSpPr>
            <p:cNvPr id="58" name="TextBox 58"/>
            <p:cNvSpPr txBox="1"/>
            <p:nvPr/>
          </p:nvSpPr>
          <p:spPr>
            <a:xfrm>
              <a:off x="3366135" y="5194300"/>
              <a:ext cx="1482192"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L-Track 러기지 트림</a:t>
              </a:r>
            </a:p>
          </p:txBody>
        </p:sp>
        <p:sp>
          <p:nvSpPr>
            <p:cNvPr id="59" name="TextBox 59"/>
            <p:cNvSpPr txBox="1"/>
            <p:nvPr/>
          </p:nvSpPr>
          <p:spPr>
            <a:xfrm>
              <a:off x="3366897" y="5410200"/>
              <a:ext cx="188327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회차마다 같은 자리에 장비 고정</a:t>
              </a:r>
            </a:p>
          </p:txBody>
        </p:sp>
        <p:pic>
          <p:nvPicPr>
            <p:cNvPr id="60" name="Image 60"/>
            <p:cNvPicPr>
              <a:picLocks noChangeAspect="1"/>
            </p:cNvPicPr>
            <p:nvPr/>
          </p:nvPicPr>
          <p:blipFill>
            <a:blip r:embed="rId4"/>
            <a:srcRect l="0" t="25152" r="0" b="25152"/>
            <a:stretch>
              <a:fillRect/>
            </a:stretch>
          </p:blipFill>
          <p:spPr>
            <a:xfrm>
              <a:off x="6210300" y="4248150"/>
              <a:ext cx="2609850" cy="876300"/>
            </a:xfrm>
            <a:prstGeom prst="rect">
              <a:avLst/>
            </a:prstGeom>
          </p:spPr>
        </p:pic>
        <p:sp>
          <p:nvSpPr>
            <p:cNvPr id="61" name="TextBox 61"/>
            <p:cNvSpPr txBox="1"/>
            <p:nvPr/>
          </p:nvSpPr>
          <p:spPr>
            <a:xfrm>
              <a:off x="6204585" y="5194300"/>
              <a:ext cx="2228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2,255×1,565×1,520mm</a:t>
              </a:r>
            </a:p>
          </p:txBody>
        </p:sp>
        <p:sp>
          <p:nvSpPr>
            <p:cNvPr id="62" name="TextBox 62"/>
            <p:cNvSpPr txBox="1"/>
            <p:nvPr/>
          </p:nvSpPr>
          <p:spPr>
            <a:xfrm>
              <a:off x="6205347" y="5410200"/>
              <a:ext cx="179453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랙·수동 GPR 카트를 함께 적재</a:t>
              </a:r>
            </a:p>
          </p:txBody>
        </p:sp>
        <p:sp>
          <p:nvSpPr>
            <p:cNvPr id="63" name="Rectangle 63"/>
            <p:cNvSpPr/>
            <p:nvPr/>
          </p:nvSpPr>
          <p:spPr>
            <a:xfrm>
              <a:off x="9048750" y="4248150"/>
              <a:ext cx="2609850" cy="28575"/>
            </a:xfrm>
            <a:prstGeom prst="rect">
              <a:avLst/>
            </a:prstGeom>
            <a:solidFill>
              <a:srgbClr val="C62828"/>
            </a:solidFill>
            <a:ln>
              <a:noFill/>
            </a:ln>
          </p:spPr>
        </p:sp>
        <p:sp>
          <p:nvSpPr>
            <p:cNvPr id="64" name="TextBox 64"/>
            <p:cNvSpPr txBox="1"/>
            <p:nvPr/>
          </p:nvSpPr>
          <p:spPr>
            <a:xfrm>
              <a:off x="904303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65" name="TextBox 65"/>
            <p:cNvSpPr txBox="1"/>
            <p:nvPr/>
          </p:nvSpPr>
          <p:spPr>
            <a:xfrm>
              <a:off x="9042654" y="4648200"/>
              <a:ext cx="236265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 377km는 스타리아보다</a:t>
              </a:r>
            </a:p>
          </p:txBody>
        </p:sp>
        <p:sp>
          <p:nvSpPr>
            <p:cNvPr id="66" name="TextBox 66"/>
            <p:cNvSpPr txBox="1"/>
            <p:nvPr/>
          </p:nvSpPr>
          <p:spPr>
            <a:xfrm>
              <a:off x="9042654" y="487680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10km 짧습니다. 하루 순찰 약</a:t>
              </a:r>
            </a:p>
          </p:txBody>
        </p:sp>
        <p:sp>
          <p:nvSpPr>
            <p:cNvPr id="67" name="TextBox 67"/>
            <p:cNvSpPr txBox="1"/>
            <p:nvPr/>
          </p:nvSpPr>
          <p:spPr>
            <a:xfrm>
              <a:off x="9042654" y="5105400"/>
              <a:ext cx="2217268"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 xml:space="preserve">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 충분합니다.</a:t>
              </a:r>
            </a:p>
          </p:txBody>
        </p:sp>
      </p:grpSp>
      <p:grpSp>
        <p:nvGrpSpPr>
          <p:cNvPr id="71" name="conclusion"/>
          <p:cNvGrpSpPr/>
          <p:nvPr/>
        </p:nvGrpSpPr>
        <p:grpSpPr>
          <a:xfrm>
            <a:off x="533400" y="5657850"/>
            <a:ext cx="8992086" cy="495300"/>
            <a:chOff x="533400" y="5657850"/>
            <a:chExt cx="8992086" cy="495300"/>
          </a:xfrm>
        </p:grpSpPr>
        <p:sp>
          <p:nvSpPr>
            <p:cNvPr id="69" name="Rectangle 69"/>
            <p:cNvSpPr/>
            <p:nvPr/>
          </p:nvSpPr>
          <p:spPr>
            <a:xfrm>
              <a:off x="533400" y="5657850"/>
              <a:ext cx="38100" cy="495300"/>
            </a:xfrm>
            <a:prstGeom prst="rect">
              <a:avLst/>
            </a:prstGeom>
            <a:solidFill>
              <a:srgbClr val="F5B700"/>
            </a:solidFill>
            <a:ln>
              <a:noFill/>
            </a:ln>
          </p:spPr>
        </p:sp>
        <p:sp>
          <p:nvSpPr>
            <p:cNvPr id="70" name="TextBox 70"/>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73" name="source"/>
          <p:cNvGrpSpPr/>
          <p:nvPr/>
        </p:nvGrpSpPr>
        <p:grpSpPr>
          <a:xfrm>
            <a:off x="528447" y="6248400"/>
            <a:ext cx="9107932" cy="344043"/>
            <a:chOff x="528447" y="6248400"/>
            <a:chExt cx="9107932" cy="344043"/>
          </a:xfrm>
        </p:grpSpPr>
        <p:sp>
          <p:nvSpPr>
            <p:cNvPr id="72" name="TextBox 72"/>
            <p:cNvSpPr txBox="1"/>
            <p:nvPr/>
          </p:nvSpPr>
          <p:spPr>
            <a:xfrm>
              <a:off x="528447" y="6248400"/>
              <a:ext cx="9107932"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ST1(2025.7.16, 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EV(2025년형, 217km) · 시사저널(2025.4.25, 경기도청 인용 GPR 대당 2억~8억 원) · 가격은 보조금 제외 · 사진: 기아 PV5 카고 카탈로그(2026.9)</a:t>
              </a:r>
            </a:p>
          </p:txBody>
        </p:sp>
      </p:grpSp>
      <p:grpSp>
        <p:nvGrpSpPr>
          <p:cNvPr id="76" name="footer"/>
          <p:cNvGrpSpPr/>
          <p:nvPr/>
        </p:nvGrpSpPr>
        <p:grpSpPr>
          <a:xfrm>
            <a:off x="528638" y="6610350"/>
            <a:ext cx="11134724" cy="176212"/>
            <a:chOff x="528638" y="6610350"/>
            <a:chExt cx="11134724" cy="176212"/>
          </a:xfrm>
        </p:grpSpPr>
        <p:sp>
          <p:nvSpPr>
            <p:cNvPr id="74" name="TextBox 7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5" name="TextBox 7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410297" cy="2671128"/>
            <a:chOff x="526542" y="2571750"/>
            <a:chExt cx="5410297"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40915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87009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12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54466" cy="419100"/>
            <a:chOff x="533400" y="5676900"/>
            <a:chExt cx="6654466"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471967"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반복 탐사 6회 원가가 현행 전체 공정 1회 비용의 약 3분의 1입니다.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179939" cy="586740"/>
            <a:chOff x="518160" y="774700"/>
            <a:chExt cx="10179939" cy="586740"/>
          </a:xfrm>
        </p:grpSpPr>
        <p:sp>
          <p:nvSpPr>
            <p:cNvPr id="17" name="TextBox 17"/>
            <p:cNvSpPr txBox="1"/>
            <p:nvPr/>
          </p:nvSpPr>
          <p:spPr>
            <a:xfrm>
              <a:off x="518160" y="774700"/>
              <a:ext cx="1017993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쓰고, 기아는 PV5를 공급합니다</a:t>
              </a:r>
            </a:p>
          </p:txBody>
        </p:sp>
      </p:grpSp>
      <p:grpSp>
        <p:nvGrpSpPr>
          <p:cNvPr id="25" name="who0"/>
          <p:cNvGrpSpPr/>
          <p:nvPr/>
        </p:nvGrpSpPr>
        <p:grpSpPr>
          <a:xfrm>
            <a:off x="524637" y="1600200"/>
            <a:ext cx="2618613" cy="1717167"/>
            <a:chOff x="524637" y="1600200"/>
            <a:chExt cx="2618613" cy="1717167"/>
          </a:xfrm>
        </p:grpSpPr>
        <p:sp>
          <p:nvSpPr>
            <p:cNvPr id="19" name="Rectangle 19"/>
            <p:cNvSpPr/>
            <p:nvPr/>
          </p:nvSpPr>
          <p:spPr>
            <a:xfrm>
              <a:off x="533400" y="1600200"/>
              <a:ext cx="2609850" cy="28575"/>
            </a:xfrm>
            <a:prstGeom prst="rect">
              <a:avLst/>
            </a:prstGeom>
            <a:solidFill>
              <a:srgbClr val="0B1E3C"/>
            </a:solidFill>
            <a:ln>
              <a:noFill/>
            </a:ln>
          </p:spPr>
        </p:sp>
        <p:sp>
          <p:nvSpPr>
            <p:cNvPr id="20" name="TextBox 20"/>
            <p:cNvSpPr txBox="1"/>
            <p:nvPr/>
          </p:nvSpPr>
          <p:spPr>
            <a:xfrm>
              <a:off x="5276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701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6923" y="2533650"/>
              <a:ext cx="18825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서울시·자치구 도로관리</a:t>
              </a:r>
            </a:p>
          </p:txBody>
        </p:sp>
        <p:sp>
          <p:nvSpPr>
            <p:cNvPr id="23" name="TextBox 23"/>
            <p:cNvSpPr txBox="1"/>
            <p:nvPr/>
          </p:nvSpPr>
          <p:spPr>
            <a:xfrm>
              <a:off x="526923" y="2800350"/>
              <a:ext cx="1839478"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도시철도 공사 발주기관</a:t>
              </a:r>
            </a:p>
          </p:txBody>
        </p:sp>
        <p:sp>
          <p:nvSpPr>
            <p:cNvPr id="24" name="TextBox 24"/>
            <p:cNvSpPr txBox="1"/>
            <p:nvPr/>
          </p:nvSpPr>
          <p:spPr>
            <a:xfrm>
              <a:off x="526923" y="3067050"/>
              <a:ext cx="14431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상하수도 관리기관</a:t>
              </a:r>
            </a:p>
          </p:txBody>
        </p:sp>
      </p:grpSp>
      <p:grpSp>
        <p:nvGrpSpPr>
          <p:cNvPr id="32" name="who1"/>
          <p:cNvGrpSpPr/>
          <p:nvPr/>
        </p:nvGrpSpPr>
        <p:grpSpPr>
          <a:xfrm>
            <a:off x="3363087" y="1600200"/>
            <a:ext cx="2618613" cy="1717167"/>
            <a:chOff x="3363087" y="1600200"/>
            <a:chExt cx="2618613" cy="1717167"/>
          </a:xfrm>
        </p:grpSpPr>
        <p:sp>
          <p:nvSpPr>
            <p:cNvPr id="26" name="Rectangle 26"/>
            <p:cNvSpPr/>
            <p:nvPr/>
          </p:nvSpPr>
          <p:spPr>
            <a:xfrm>
              <a:off x="3371850" y="1600200"/>
              <a:ext cx="2609850" cy="28575"/>
            </a:xfrm>
            <a:prstGeom prst="rect">
              <a:avLst/>
            </a:prstGeom>
            <a:solidFill>
              <a:srgbClr val="0B1E3C"/>
            </a:solidFill>
            <a:ln>
              <a:noFill/>
            </a:ln>
          </p:spPr>
        </p:sp>
        <p:sp>
          <p:nvSpPr>
            <p:cNvPr id="27" name="TextBox 27"/>
            <p:cNvSpPr txBox="1"/>
            <p:nvPr/>
          </p:nvSpPr>
          <p:spPr>
            <a:xfrm>
              <a:off x="3366135" y="178435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8" name="TextBox 28"/>
            <p:cNvSpPr txBox="1"/>
            <p:nvPr/>
          </p:nvSpPr>
          <p:spPr>
            <a:xfrm>
              <a:off x="3363087" y="207010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a:t>
              </a:r>
            </a:p>
          </p:txBody>
        </p:sp>
        <p:sp>
          <p:nvSpPr>
            <p:cNvPr id="29" name="TextBox 29"/>
            <p:cNvSpPr txBox="1"/>
            <p:nvPr/>
          </p:nvSpPr>
          <p:spPr>
            <a:xfrm>
              <a:off x="3365373" y="2533650"/>
              <a:ext cx="205487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지하안전·도로관리 담당자</a:t>
              </a:r>
            </a:p>
          </p:txBody>
        </p:sp>
        <p:sp>
          <p:nvSpPr>
            <p:cNvPr id="30" name="TextBox 30"/>
            <p:cNvSpPr txBox="1"/>
            <p:nvPr/>
          </p:nvSpPr>
          <p:spPr>
            <a:xfrm>
              <a:off x="3365373" y="2800350"/>
              <a:ext cx="128124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GPR 판독 전문가</a:t>
              </a:r>
            </a:p>
          </p:txBody>
        </p:sp>
        <p:sp>
          <p:nvSpPr>
            <p:cNvPr id="31" name="TextBox 31"/>
            <p:cNvSpPr txBox="1"/>
            <p:nvPr/>
          </p:nvSpPr>
          <p:spPr>
            <a:xfrm>
              <a:off x="3365373" y="3067050"/>
              <a:ext cx="175332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현장 조사원 (2인 1조)</a:t>
              </a:r>
            </a:p>
          </p:txBody>
        </p:sp>
      </p:grpSp>
      <p:grpSp>
        <p:nvGrpSpPr>
          <p:cNvPr id="39" name="who2"/>
          <p:cNvGrpSpPr/>
          <p:nvPr/>
        </p:nvGrpSpPr>
        <p:grpSpPr>
          <a:xfrm>
            <a:off x="6201537" y="1600200"/>
            <a:ext cx="2618613" cy="1717167"/>
            <a:chOff x="6201537" y="1600200"/>
            <a:chExt cx="2618613" cy="1717167"/>
          </a:xfrm>
        </p:grpSpPr>
        <p:sp>
          <p:nvSpPr>
            <p:cNvPr id="33" name="Rectangle 33"/>
            <p:cNvSpPr/>
            <p:nvPr/>
          </p:nvSpPr>
          <p:spPr>
            <a:xfrm>
              <a:off x="6210300" y="1600200"/>
              <a:ext cx="2609850" cy="28575"/>
            </a:xfrm>
            <a:prstGeom prst="rect">
              <a:avLst/>
            </a:prstGeom>
            <a:solidFill>
              <a:srgbClr val="0B1E3C"/>
            </a:solidFill>
            <a:ln>
              <a:noFill/>
            </a:ln>
          </p:spPr>
        </p:sp>
        <p:sp>
          <p:nvSpPr>
            <p:cNvPr id="34" name="TextBox 34"/>
            <p:cNvSpPr txBox="1"/>
            <p:nvPr/>
          </p:nvSpPr>
          <p:spPr>
            <a:xfrm>
              <a:off x="62045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5" name="TextBox 35"/>
            <p:cNvSpPr txBox="1"/>
            <p:nvPr/>
          </p:nvSpPr>
          <p:spPr>
            <a:xfrm>
              <a:off x="6201537" y="20701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6" name="TextBox 36"/>
            <p:cNvSpPr txBox="1"/>
            <p:nvPr/>
          </p:nvSpPr>
          <p:spPr>
            <a:xfrm>
              <a:off x="6203823" y="2533650"/>
              <a:ext cx="2123796"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기존 조사기관 (판정·책임)</a:t>
              </a:r>
            </a:p>
          </p:txBody>
        </p:sp>
        <p:sp>
          <p:nvSpPr>
            <p:cNvPr id="37" name="TextBox 37"/>
            <p:cNvSpPr txBox="1"/>
            <p:nvPr/>
          </p:nvSpPr>
          <p:spPr>
            <a:xfrm>
              <a:off x="6203823" y="2800350"/>
              <a:ext cx="18154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 특장(컨버전) 업체</a:t>
              </a:r>
            </a:p>
          </p:txBody>
        </p:sp>
        <p:sp>
          <p:nvSpPr>
            <p:cNvPr id="38" name="TextBox 38"/>
            <p:cNvSpPr txBox="1"/>
            <p:nvPr/>
          </p:nvSpPr>
          <p:spPr>
            <a:xfrm>
              <a:off x="6203823" y="3067050"/>
              <a:ext cx="113982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GIS·AR 장비사</a:t>
              </a:r>
            </a:p>
          </p:txBody>
        </p:sp>
      </p:grpSp>
      <p:grpSp>
        <p:nvGrpSpPr>
          <p:cNvPr id="46" name="who3"/>
          <p:cNvGrpSpPr/>
          <p:nvPr/>
        </p:nvGrpSpPr>
        <p:grpSpPr>
          <a:xfrm>
            <a:off x="9039987" y="1600200"/>
            <a:ext cx="2618613" cy="1717167"/>
            <a:chOff x="9039987" y="1600200"/>
            <a:chExt cx="2618613" cy="1717167"/>
          </a:xfrm>
        </p:grpSpPr>
        <p:sp>
          <p:nvSpPr>
            <p:cNvPr id="40" name="Rectangle 40"/>
            <p:cNvSpPr/>
            <p:nvPr/>
          </p:nvSpPr>
          <p:spPr>
            <a:xfrm>
              <a:off x="9048750" y="1600200"/>
              <a:ext cx="2609850" cy="28575"/>
            </a:xfrm>
            <a:prstGeom prst="rect">
              <a:avLst/>
            </a:prstGeom>
            <a:solidFill>
              <a:srgbClr val="F5B700"/>
            </a:solidFill>
            <a:ln>
              <a:noFill/>
            </a:ln>
          </p:spPr>
        </p:sp>
        <p:sp>
          <p:nvSpPr>
            <p:cNvPr id="41" name="TextBox 41"/>
            <p:cNvSpPr txBox="1"/>
            <p:nvPr/>
          </p:nvSpPr>
          <p:spPr>
            <a:xfrm>
              <a:off x="9043035" y="1784350"/>
              <a:ext cx="101106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얻는 것</a:t>
              </a:r>
            </a:p>
          </p:txBody>
        </p:sp>
        <p:sp>
          <p:nvSpPr>
            <p:cNvPr id="42" name="TextBox 42"/>
            <p:cNvSpPr txBox="1"/>
            <p:nvPr/>
          </p:nvSpPr>
          <p:spPr>
            <a:xfrm>
              <a:off x="9039987" y="2070100"/>
              <a:ext cx="174912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공공 업무용 PV5</a:t>
              </a:r>
            </a:p>
          </p:txBody>
        </p:sp>
        <p:sp>
          <p:nvSpPr>
            <p:cNvPr id="43" name="TextBox 43"/>
            <p:cNvSpPr txBox="1"/>
            <p:nvPr/>
          </p:nvSpPr>
          <p:spPr>
            <a:xfrm>
              <a:off x="9042273" y="2533650"/>
              <a:ext cx="250760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탐사형 PV5 최대 약 88대 (계산)</a:t>
              </a:r>
            </a:p>
          </p:txBody>
        </p:sp>
        <p:sp>
          <p:nvSpPr>
            <p:cNvPr id="44" name="TextBox 44"/>
            <p:cNvSpPr txBox="1"/>
            <p:nvPr/>
          </p:nvSpPr>
          <p:spPr>
            <a:xfrm>
              <a:off x="9042273" y="2800350"/>
              <a:ext cx="23425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Pleos 앱·Fleet 공공 레퍼런스</a:t>
              </a:r>
            </a:p>
          </p:txBody>
        </p:sp>
        <p:sp>
          <p:nvSpPr>
            <p:cNvPr id="45" name="TextBox 45"/>
            <p:cNvSpPr txBox="1"/>
            <p:nvPr/>
          </p:nvSpPr>
          <p:spPr>
            <a:xfrm>
              <a:off x="9042273" y="306705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같은 키트로 지자체마다 복제</a:t>
              </a:r>
            </a:p>
          </p:txBody>
        </p:sp>
      </p:grpSp>
      <p:grpSp>
        <p:nvGrpSpPr>
          <p:cNvPr id="55" name="data"/>
          <p:cNvGrpSpPr/>
          <p:nvPr/>
        </p:nvGrpSpPr>
        <p:grpSpPr>
          <a:xfrm>
            <a:off x="526542" y="3886200"/>
            <a:ext cx="11132058" cy="1051433"/>
            <a:chOff x="526542" y="3886200"/>
            <a:chExt cx="11132058" cy="1051433"/>
          </a:xfrm>
        </p:grpSpPr>
        <p:sp>
          <p:nvSpPr>
            <p:cNvPr id="47" name="Rectangle 47"/>
            <p:cNvSpPr/>
            <p:nvPr/>
          </p:nvSpPr>
          <p:spPr>
            <a:xfrm>
              <a:off x="533400" y="3886200"/>
              <a:ext cx="5334000" cy="28575"/>
            </a:xfrm>
            <a:prstGeom prst="rect">
              <a:avLst/>
            </a:prstGeom>
            <a:solidFill>
              <a:srgbClr val="0B1E3C"/>
            </a:solidFill>
            <a:ln>
              <a:noFill/>
            </a:ln>
          </p:spPr>
        </p:sp>
        <p:sp>
          <p:nvSpPr>
            <p:cNvPr id="48" name="TextBox 48"/>
            <p:cNvSpPr txBox="1"/>
            <p:nvPr/>
          </p:nvSpPr>
          <p:spPr>
            <a:xfrm>
              <a:off x="527685" y="4070350"/>
              <a:ext cx="151088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이미 가는 방향</a:t>
              </a:r>
            </a:p>
          </p:txBody>
        </p:sp>
        <p:sp>
          <p:nvSpPr>
            <p:cNvPr id="49" name="TextBox 49"/>
            <p:cNvSpPr txBox="1"/>
            <p:nvPr/>
          </p:nvSpPr>
          <p:spPr>
            <a:xfrm>
              <a:off x="526542" y="4406900"/>
              <a:ext cx="368480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공모전 예시 ‘스마트 순찰 및 재난 대응 차량’</a:t>
              </a:r>
            </a:p>
          </p:txBody>
        </p:sp>
        <p:sp>
          <p:nvSpPr>
            <p:cNvPr id="50" name="TextBox 50"/>
            <p:cNvSpPr txBox="1"/>
            <p:nvPr/>
          </p:nvSpPr>
          <p:spPr>
            <a:xfrm>
              <a:off x="526542" y="4673600"/>
              <a:ext cx="3043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2026.6 </a:t>
              </a:r>
              <a:r>
                <a:rPr lang="ko-KR" sz="1350" b="1" dirty="0">
                  <a:solidFill>
                    <a:srgbClr val="0B1E3C"/>
                  </a:solidFill>
                  <a:latin typeface="+mn-lt"/>
                  <a:ea typeface="+mn-ea"/>
                  <a:cs typeface="+mn-cs"/>
                </a:rPr>
                <a:t>경찰청과 PV5 AI 순찰차</a:t>
              </a:r>
              <a:r>
                <a:rPr lang="ko-KR" sz="1350" dirty="0">
                  <a:solidFill>
                    <a:srgbClr val="111827"/>
                  </a:solidFill>
                  <a:latin typeface="+mn-lt"/>
                  <a:ea typeface="+mn-ea"/>
                  <a:cs typeface="+mn-cs"/>
                </a:rPr>
                <a:t xml:space="preserve"> 공개</a:t>
              </a:r>
            </a:p>
          </p:txBody>
        </p:sp>
        <p:sp>
          <p:nvSpPr>
            <p:cNvPr id="51" name="Rectangle 51"/>
            <p:cNvSpPr/>
            <p:nvPr/>
          </p:nvSpPr>
          <p:spPr>
            <a:xfrm>
              <a:off x="6324600" y="3886200"/>
              <a:ext cx="5334000" cy="28575"/>
            </a:xfrm>
            <a:prstGeom prst="rect">
              <a:avLst/>
            </a:prstGeom>
            <a:solidFill>
              <a:srgbClr val="C62828"/>
            </a:solidFill>
            <a:ln>
              <a:noFill/>
            </a:ln>
          </p:spPr>
        </p:sp>
        <p:sp>
          <p:nvSpPr>
            <p:cNvPr id="52" name="TextBox 52"/>
            <p:cNvSpPr txBox="1"/>
            <p:nvPr/>
          </p:nvSpPr>
          <p:spPr>
            <a:xfrm>
              <a:off x="6318885" y="4070350"/>
              <a:ext cx="812796"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데이터 원칙</a:t>
              </a:r>
            </a:p>
          </p:txBody>
        </p:sp>
        <p:sp>
          <p:nvSpPr>
            <p:cNvPr id="53" name="TextBox 53"/>
            <p:cNvSpPr txBox="1"/>
            <p:nvPr/>
          </p:nvSpPr>
          <p:spPr>
            <a:xfrm>
              <a:off x="6317742" y="4406900"/>
              <a:ext cx="283472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지하 데이터는 판매하지 않습니다.</a:t>
              </a:r>
            </a:p>
          </p:txBody>
        </p:sp>
        <p:sp>
          <p:nvSpPr>
            <p:cNvPr id="54" name="TextBox 54"/>
            <p:cNvSpPr txBox="1"/>
            <p:nvPr/>
          </p:nvSpPr>
          <p:spPr>
            <a:xfrm>
              <a:off x="6317742" y="4673600"/>
              <a:ext cx="34212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계약기관 안에서 접근 권한대로만 씁니다.</a:t>
              </a:r>
            </a:p>
          </p:txBody>
        </p:sp>
      </p:grpSp>
      <p:grpSp>
        <p:nvGrpSpPr>
          <p:cNvPr id="58" name="conclusion"/>
          <p:cNvGrpSpPr/>
          <p:nvPr/>
        </p:nvGrpSpPr>
        <p:grpSpPr>
          <a:xfrm>
            <a:off x="533400" y="5676900"/>
            <a:ext cx="8319467" cy="419100"/>
            <a:chOff x="533400" y="5676900"/>
            <a:chExt cx="8319467" cy="419100"/>
          </a:xfrm>
        </p:grpSpPr>
        <p:sp>
          <p:nvSpPr>
            <p:cNvPr id="56" name="Rectangle 56"/>
            <p:cNvSpPr/>
            <p:nvPr/>
          </p:nvSpPr>
          <p:spPr>
            <a:xfrm>
              <a:off x="533400" y="5676900"/>
              <a:ext cx="38100" cy="419100"/>
            </a:xfrm>
            <a:prstGeom prst="rect">
              <a:avLst/>
            </a:prstGeom>
            <a:solidFill>
              <a:srgbClr val="F5B700"/>
            </a:solidFill>
            <a:ln>
              <a:noFill/>
            </a:ln>
          </p:spPr>
        </p:sp>
        <p:sp>
          <p:nvSpPr>
            <p:cNvPr id="57" name="TextBox 57"/>
            <p:cNvSpPr txBox="1"/>
            <p:nvPr/>
          </p:nvSpPr>
          <p:spPr>
            <a:xfrm>
              <a:off x="715899" y="5772150"/>
              <a:ext cx="81369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지상 순찰차를 만들었다면, GroundWatch는 지하를 보는 PV5 순찰차입니다.</a:t>
              </a:r>
            </a:p>
          </p:txBody>
        </p:sp>
      </p:grpSp>
      <p:grpSp>
        <p:nvGrpSpPr>
          <p:cNvPr id="60" name="source"/>
          <p:cNvGrpSpPr/>
          <p:nvPr/>
        </p:nvGrpSpPr>
        <p:grpSpPr>
          <a:xfrm>
            <a:off x="528447" y="6381750"/>
            <a:ext cx="8081510" cy="191643"/>
            <a:chOff x="528447" y="6381750"/>
            <a:chExt cx="8081510" cy="191643"/>
          </a:xfrm>
        </p:grpSpPr>
        <p:sp>
          <p:nvSpPr>
            <p:cNvPr id="59" name="TextBox 59"/>
            <p:cNvSpPr txBox="1"/>
            <p:nvPr/>
          </p:nvSpPr>
          <p:spPr>
            <a:xfrm>
              <a:off x="528447" y="6381750"/>
              <a:ext cx="80815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컨버전 부문 안내(공공서비스 특화) · 머니투데이(2026.6.26, 경찰청 AI 순찰차) · 구매·협력 구조와 데이터 원칙은 제안 [가설]</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88대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485" y="2184400"/>
              <a:ext cx="286106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매출 최대 약 40억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10506489" cy="191643"/>
            <a:chOff x="528447" y="6381750"/>
            <a:chExt cx="10506489" cy="191643"/>
          </a:xfrm>
        </p:grpSpPr>
        <p:sp>
          <p:nvSpPr>
            <p:cNvPr id="61" name="TextBox 6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100989"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번의 조기 발견이,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2026-10-23T08:11:50Z</dcterms:created>
  <dcterms:modified xsi:type="dcterms:W3CDTF">2026-10-23T08:11:50Z</dcterms:modified>
  <cp:category/>
  <cp:contentStatus/>
</cp:coreProperties>
</file>