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차량 내비·화면과 탐사 장비를 연동하고, V2L·L-Track으로 싣고 고정하며, 공식 컨버전 체계로 같은 탐사실을 복제합니다. 사업은 현행 단가(서울시 2024년 공동조사 km당 약 92만 원)와 비교해, 반복 탐사 원가 km당 약 4.7만 원으로 같은 길을 1년에 6번 보는 구조입니다. GroundWatch는 기아 공모전이 공공서비스 특화 예시로 든 '첨단 장비 탑재 스마트 순찰 및 재난 대응 차량'(컨버전 부문 예시, kiapbvidea.com)을 땅 아래로 넓힌 제안입니다.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대규모로 GPR 탐사를 하고 있습니다. 2014년부터 2025년 9월까지 차량 GPR로 누적 33,129km를 탐사해 공동 7,760개를 찾았고, 약 4.3km마다 공동 하나가 나온 셈입니다(메트로신문 2025.10.19 https://www.metroseoul.co.kr/article/20251019500165). 2026년에는 탐사 범위를 16,423km로 늘리고 GPR 인력을 9명에서 19명으로 늘립니다(머니투데이 2026.3.23 https://www.mt.co.kr/estate/2026/03/23/2026032311394354905). 차량탑재형 GPR은 한 번에 폭 3m 이내를 탐지합니다(서울시 https://news.seoul.go.kr/safe/archives/41339). 지금의 흐름은 조사 대상 선정, 차량형 GPR 스캔, 판독, 수동 GPR 재조사, 천공·내시경 확인, 복구 순서입니다. GPR 기술은 이미 검증돼 있습니다. GroundWatch가 바꾸는 것은 한 번 스캔하고 끝나는 방식이며, 같은 길은 다음 정기점검 때가 돼야 다시 봅니다. 사진은 수동형 GPR 장비 예시이며 The Charles Machine Works, CC BY-SA 2.0입니다.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줄이겠다고 발표했습니다(이투데이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고르고(이 장의 시뮬레이션으로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일본 후지사와시는 지오서치와 함께 이미 발견한 공동 중 위험도가 낮은 것을 경과관찰하며 모니터링합니다(지오서치·후지사와시 보고, 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이미 발견된 공동이 아니라 '이상 없음' 구간까지 넓혀, 지난 회차와 위치를 맞춰 뺀 차이만 판독하고, 같은 차에서 바로 재탐사하는 상시 업무로 만듭니다.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기본 600kg, 기아 순정 액세서리 장착 시 550kg입니다(기아 공식 제원표)(기아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순정 액세서리 장착 기준 최대 적재 550kg의 약 55%,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바닥 아래 차량형 다채널 GPR을 보여줍니다. PV5는 바닥 아래에 구동 배터리가 있으므로 GPR 장착 위치는 배터리 팩·지상고 간섭 시험 후 확정하며, 구조변경은 기아 컨버전 파트너를 거칩니다. 차량 연동은 기아 공모전 안내의 Pleos Connect SDK(Vehicle API, Navihelper)로 재확인 지점을 내비에 안내하고, 여러 대는 단말기 설치 없이 위치·차량 상태를 관제하는 Pleos Fleet(기아 PV5 카고 카탈로그 2026.9)으로 운영합니다.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차량 3D 데이터와 인증자료를 주는 PBV 컨버전 포털, 12V 조인트 블록과 PIM 제어기를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신속복구 285곳이 모두 포함된 금액입니다(서울시 최종보고서 2024.10, 계약 2024.4.29~10.15). GroundWatch 차량 1대의 연간 원가는 가설로 3.09억 원입니다. PV5 4,520만 원과 차량형 GPR 5억 원(서울시가 3대를 15억 원에 도입, 이투데이 2025.4.23)을 5년 감가하고, 현장 2인 1.2억 원, 판독 전문가 0.5인 0.4억 원, 수동 GPR·AR·클라우드·보험·유지 0.4억 원을 더했습니다. 하루 30km, 220일이면 연 6,600km이므로 반복 탐사 원가는 km당 약 4.7만 원입니다. 보고서의 실제 장비 탐사 속도는 시속 20~30km라 처리량은 보수적으로 잡았습니다. 같은 도로 1km를 1년 동안 보면, 현행 전체 공정 1회는 약 92만 원이고 GroundWatch 반복 탐사 6회는 약 28만 원입니다. 천공과 복구 같은 2차 조사는 변화가 나온 곳에만 지금 단가대로 붙습니다. 즉 현행 1회 비용의 약 3분의 1로 같은 길을 1년에 6번 봅니다. 원가는 파일럿에서 확정할 가설입니다.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GroundWatch의 구매자는 이미 GPR 탐사 예산을 쓰는 서울시·자치구 도로관리 부서, 도시철도 공사 발주기관, 상하수도 관리기관입니다. 실제 사용자는 지하안전·도로관리 담당자, GPR 판독 전문가, 2인 1조 현장 조사원입니다. 첫 계약은 기존 GPR 조사기관과 함께 수행하고, PV5 특장(컨버전) 업체와 GIS·AR 장비사가 협력합니다. 기아는 탐사형 PV5 컨버전 플릿을 판매하고, Pleos 차량 앱의 공공 업무 레퍼런스를 얻으며, 같은 키트로 지자체마다 탐사실을 복제할 수 있습니다. 회차 데이터가 쌓이면 하수관 노후도, 굴착공사, 강우 이력과 겹쳐 다음 순찰의 우선순위를 정합니다. 지하 데이터는 제3자에게 판매하지 않고, 계약기관 내부에서 접근 권한에 따라서만 씁니다. 구매·협력 구조와 데이터 원칙은 제안 단계의 가설입니다. 이 방향은 기아가 이미 가고 있는 길입니다. 기아 공모전 컨버전 부문은 공공서비스 특화 예시로 '첨단 장비 탑재 스마트 순찰 및 재난 대응 차량'과 '이동형 환경 데이터 수집/분석 스테이션'을 제시했고(kiapbvidea.com), 일반 부문도 '지역 사회 기여: 재해 대응/안전 서비스'를 예시로 듭니다. 기아는 2026년 6월 부산모빌리티쇼에서 경찰청과 협업한 PV5 기반 AI 순찰차(4K AI 카메라 3개·드론 스테이션)를 공개했습니다(머니투데이 2026.6.26 https://www.mt.co.kr/industry/2026/06/26/2026062517564330792). 기아가 지상을 보는 순찰차를 만들었다면, GroundWatch는 지하를 보는 PV5 순찰차입니다.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1,000km를 맡는다는 가설에서 최대 약 97대가 필요합니다(전 구간을 2개월마다 볼 때의 최대치). 기아의 차량 매출로는 최대 약 44억 원(97대 × 4,520만 원)이며, GPR 장비 매출은 파트너 몫입니다. 서울 도로 8,342km만 맡으면 약 8대입니다(지자체 관리 도로 96,712km는 2025년 말 기준 국가지표체계, 서울 8,342km는 2024년 서울시 도로현황). 대수는 많지 않지만 PV5와 업무 앱을 묶은 공공 레퍼런스의 첫 사례가 됩니다. 수상 후 첫 6개월에 기아에 요청하는 것은 공모전이 이미 안내한 혜택(PV5 대여 검토, PoC·사업화 연계, 멘토링)과 공개 개발자 환경입니다. 일반 부문 공식 혜택에 맞춰, PV5 실물 대여 검토로 1단계 폐쇄 시험장 실증을, 전문가 멘토링·기술 지원으로 GPR 장착 위치·전원 간섭 검토를, PoC·사업화 연계로 지자체 1곳 파일럿을, 기아 네트워크 협력으로 컨버전 파트너와 탐사실 키트화를 진행하고자 합니다. 일정은 목표입니다.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97대)를 만듭니다. 한 번의 조기 발견이 한 사람의 무사 귀가가 되도록, PV5 GroundWatch를 제안합니다. 감사합니다. 마지막 장면은 표지의 밤 순찰이 끝난 새벽입니다. 땅 위는 평온한 아침이고, 그 아래를 GroundWatch가 보고 있습니다. 사진은 표지와 같은 PV5 기반 콘셉트 이미지입니다.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fc9c445fbc8c70d4.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dd896b72e7ad59.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7c61102523c82ce.png"/>
  <Relationship Id="rId3" Type="http://schemas.openxmlformats.org/officeDocument/2006/relationships/image" Target="../media/image_520a869e500b72a0.png"/>
  <Relationship Id="rId4" Type="http://schemas.openxmlformats.org/officeDocument/2006/relationships/image" Target="../media/image_808608ffd9ac7105.png"/>
  <Relationship Id="rId5"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670f6cf3601c6ad.jpg"/>
  <Relationship Id="rId3" Type="http://schemas.openxmlformats.org/officeDocument/2006/relationships/image" Target="../media/image_c5dc5a620e45351d.png"/>
  <Relationship Id="rId4"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84850"/>
            <a:ext cx="2739992" cy="583057"/>
            <a:chOff x="601218" y="5784850"/>
            <a:chExt cx="2739992" cy="583057"/>
          </a:xfrm>
        </p:grpSpPr>
        <p:sp>
          <p:nvSpPr>
            <p:cNvPr id="15" name="TextBox 15"/>
            <p:cNvSpPr txBox="1"/>
            <p:nvPr/>
          </p:nvSpPr>
          <p:spPr>
            <a:xfrm>
              <a:off x="603885" y="5784850"/>
              <a:ext cx="412888" cy="220028"/>
            </a:xfrm>
            <a:prstGeom prst="rect">
              <a:avLst/>
            </a:prstGeom>
            <a:noFill/>
            <a:ln>
              <a:noFill/>
            </a:ln>
          </p:spPr>
          <p:txBody>
            <a:bodyPr wrap="none" lIns="0" tIns="0" rIns="0" bIns="0" anchor="t" anchorCtr="0">
              <a:spAutoFit/>
            </a:bodyPr>
            <a:lstStyle/>
            <a:p>
              <a:pPr algn="l"/>
              <a:r>
                <a:rPr lang="en-US" sz="112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221926" y="6477000"/>
              <a:ext cx="517827"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3428"/>
            <a:chOff x="524637" y="1600200"/>
            <a:chExt cx="2618613" cy="2023428"/>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199618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자라는 얕은 공동을</a:t>
              </a:r>
              <a:br>
                <a:rPr lang="ko-KR" sz="1280" dirty="0">
                  <a:solidFill>
                    <a:srgbClr val="374151"/>
                  </a:solidFill>
                  <a:latin typeface="+mn-lt"/>
                  <a:ea typeface="+mn-ea"/>
                  <a:cs typeface="+mn-cs"/>
                </a:rPr>
              </a:br>
              <a:r>
                <a:rPr lang="ko-KR" sz="1280" dirty="0">
                  <a:solidFill>
                    <a:srgbClr val="374151"/>
                  </a:solidFill>
                  <a:latin typeface="+mn-lt"/>
                  <a:ea typeface="+mn-ea"/>
                  <a:cs typeface="+mn-cs"/>
                </a:rPr>
                <a:t>아무도 보지 못합니다.</a:t>
              </a:r>
            </a:p>
          </p:txBody>
        </p:sp>
        <p:sp>
          <p:nvSpPr>
            <p:cNvPr id="22" name="TextBox 22"/>
            <p:cNvSpPr txBox="1"/>
            <p:nvPr/>
          </p:nvSpPr>
          <p:spPr>
            <a:xfrm>
              <a:off x="527685" y="3403600"/>
              <a:ext cx="1036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3~6장</a:t>
              </a:r>
            </a:p>
          </p:txBody>
        </p:sp>
      </p:grpSp>
      <p:grpSp>
        <p:nvGrpSpPr>
          <p:cNvPr id="29" name="col1"/>
          <p:cNvGrpSpPr/>
          <p:nvPr/>
        </p:nvGrpSpPr>
        <p:grpSpPr>
          <a:xfrm>
            <a:off x="3363087" y="1600200"/>
            <a:ext cx="2618613" cy="2023428"/>
            <a:chOff x="3363087" y="1600200"/>
            <a:chExt cx="2618613" cy="2023428"/>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135" y="3403600"/>
              <a:ext cx="1036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7~8장</a:t>
              </a:r>
            </a:p>
          </p:txBody>
        </p:sp>
      </p:grpSp>
      <p:grpSp>
        <p:nvGrpSpPr>
          <p:cNvPr id="35" name="col2"/>
          <p:cNvGrpSpPr/>
          <p:nvPr/>
        </p:nvGrpSpPr>
        <p:grpSpPr>
          <a:xfrm>
            <a:off x="6201537" y="1600200"/>
            <a:ext cx="2618613" cy="2023428"/>
            <a:chOff x="6201537" y="1600200"/>
            <a:chExt cx="2618613" cy="2023428"/>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5874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차량 내비·화면과 연동하고,</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585" y="3403600"/>
              <a:ext cx="1119622"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9~10장</a:t>
              </a:r>
            </a:p>
          </p:txBody>
        </p:sp>
      </p:grpSp>
      <p:grpSp>
        <p:nvGrpSpPr>
          <p:cNvPr id="41" name="col3"/>
          <p:cNvGrpSpPr/>
          <p:nvPr/>
        </p:nvGrpSpPr>
        <p:grpSpPr>
          <a:xfrm>
            <a:off x="9039987" y="1600200"/>
            <a:ext cx="2618613" cy="2023428"/>
            <a:chOff x="9039987" y="1600200"/>
            <a:chExt cx="2618613" cy="2023428"/>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6번 보고 비용 3분의 1</a:t>
              </a:r>
            </a:p>
          </p:txBody>
        </p:sp>
        <p:sp>
          <p:nvSpPr>
            <p:cNvPr id="39" name="TextBox 39"/>
            <p:cNvSpPr txBox="1"/>
            <p:nvPr/>
          </p:nvSpPr>
          <p:spPr>
            <a:xfrm>
              <a:off x="9042273" y="2520950"/>
              <a:ext cx="186613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km당 92만 원 vs</a:t>
              </a:r>
              <a:br>
                <a:rPr lang="ko-KR" sz="1280" dirty="0">
                  <a:solidFill>
                    <a:srgbClr val="374151"/>
                  </a:solidFill>
                  <a:latin typeface="+mn-lt"/>
                  <a:ea typeface="+mn-ea"/>
                  <a:cs typeface="+mn-cs"/>
                </a:rPr>
              </a:br>
              <a:r>
                <a:rPr lang="ko-KR" sz="1280" dirty="0">
                  <a:solidFill>
                    <a:srgbClr val="374151"/>
                  </a:solidFill>
                  <a:latin typeface="+mn-lt"/>
                  <a:ea typeface="+mn-ea"/>
                  <a:cs typeface="+mn-cs"/>
                </a:rPr>
                <a:t>반복 탐사 원가 4.7만 원.</a:t>
              </a:r>
              <a:br>
                <a:rPr lang="ko-KR" sz="1280" dirty="0">
                  <a:solidFill>
                    <a:srgbClr val="374151"/>
                  </a:solidFill>
                  <a:latin typeface="+mn-lt"/>
                  <a:ea typeface="+mn-ea"/>
                  <a:cs typeface="+mn-cs"/>
                </a:rPr>
              </a:br>
              <a:r>
                <a:rPr lang="ko-KR" sz="1280" dirty="0">
                  <a:solidFill>
                    <a:srgbClr val="374151"/>
                  </a:solidFill>
                  <a:latin typeface="+mn-lt"/>
                  <a:ea typeface="+mn-ea"/>
                  <a:cs typeface="+mn-cs"/>
                </a:rPr>
                <a:t>실증은 4단계로.</a:t>
              </a:r>
            </a:p>
          </p:txBody>
        </p:sp>
        <p:sp>
          <p:nvSpPr>
            <p:cNvPr id="40" name="TextBox 40"/>
            <p:cNvSpPr txBox="1"/>
            <p:nvPr/>
          </p:nvSpPr>
          <p:spPr>
            <a:xfrm>
              <a:off x="9043035" y="3403600"/>
              <a:ext cx="1202548"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11~14장</a:t>
              </a:r>
            </a:p>
          </p:txBody>
        </p:sp>
      </p:grpSp>
      <p:grpSp>
        <p:nvGrpSpPr>
          <p:cNvPr id="52" name="keynum"/>
          <p:cNvGrpSpPr/>
          <p:nvPr/>
        </p:nvGrpSpPr>
        <p:grpSpPr>
          <a:xfrm>
            <a:off x="521208" y="4260850"/>
            <a:ext cx="11137392" cy="1058228"/>
            <a:chOff x="521208" y="4260850"/>
            <a:chExt cx="11137392" cy="1058228"/>
          </a:xfrm>
        </p:grpSpPr>
        <p:sp>
          <p:nvSpPr>
            <p:cNvPr id="42" name="TextBox 42"/>
            <p:cNvSpPr txBox="1"/>
            <p:nvPr/>
          </p:nvSpPr>
          <p:spPr>
            <a:xfrm>
              <a:off x="527685" y="4260850"/>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 셋으로 보면</a:t>
              </a:r>
            </a:p>
          </p:txBody>
        </p:sp>
        <p:sp>
          <p:nvSpPr>
            <p:cNvPr id="43" name="Rectangle 43"/>
            <p:cNvSpPr/>
            <p:nvPr/>
          </p:nvSpPr>
          <p:spPr>
            <a:xfrm>
              <a:off x="533400" y="4533900"/>
              <a:ext cx="3581400" cy="28575"/>
            </a:xfrm>
            <a:prstGeom prst="rect">
              <a:avLst/>
            </a:prstGeom>
            <a:solidFill>
              <a:srgbClr val="0B1E3C"/>
            </a:solidFill>
            <a:ln>
              <a:noFill/>
            </a:ln>
          </p:spPr>
        </p:sp>
        <p:sp>
          <p:nvSpPr>
            <p:cNvPr id="44" name="TextBox 44"/>
            <p:cNvSpPr txBox="1"/>
            <p:nvPr/>
          </p:nvSpPr>
          <p:spPr>
            <a:xfrm>
              <a:off x="521208" y="467995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5" name="TextBox 45"/>
            <p:cNvSpPr txBox="1"/>
            <p:nvPr/>
          </p:nvSpPr>
          <p:spPr>
            <a:xfrm>
              <a:off x="527685" y="5099050"/>
              <a:ext cx="27856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탐사에서 함몰까지 (연희동)</a:t>
              </a:r>
            </a:p>
          </p:txBody>
        </p:sp>
        <p:sp>
          <p:nvSpPr>
            <p:cNvPr id="46" name="Rectangle 46"/>
            <p:cNvSpPr/>
            <p:nvPr/>
          </p:nvSpPr>
          <p:spPr>
            <a:xfrm>
              <a:off x="4305300" y="4533900"/>
              <a:ext cx="3581400" cy="28575"/>
            </a:xfrm>
            <a:prstGeom prst="rect">
              <a:avLst/>
            </a:prstGeom>
            <a:solidFill>
              <a:srgbClr val="0B1E3C"/>
            </a:solidFill>
            <a:ln>
              <a:noFill/>
            </a:ln>
          </p:spPr>
        </p:sp>
        <p:sp>
          <p:nvSpPr>
            <p:cNvPr id="47" name="TextBox 47"/>
            <p:cNvSpPr txBox="1"/>
            <p:nvPr/>
          </p:nvSpPr>
          <p:spPr>
            <a:xfrm>
              <a:off x="4293108" y="467995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8" name="TextBox 48"/>
            <p:cNvSpPr txBox="1"/>
            <p:nvPr/>
          </p:nvSpPr>
          <p:spPr>
            <a:xfrm>
              <a:off x="4299585" y="5099050"/>
              <a:ext cx="34792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 vs 가장 큰 오탐 요인 (시뮬레이션)</a:t>
              </a:r>
            </a:p>
          </p:txBody>
        </p:sp>
        <p:sp>
          <p:nvSpPr>
            <p:cNvPr id="49" name="Rectangle 49"/>
            <p:cNvSpPr/>
            <p:nvPr/>
          </p:nvSpPr>
          <p:spPr>
            <a:xfrm>
              <a:off x="8077200" y="4533900"/>
              <a:ext cx="3581400" cy="28575"/>
            </a:xfrm>
            <a:prstGeom prst="rect">
              <a:avLst/>
            </a:prstGeom>
            <a:solidFill>
              <a:srgbClr val="0B1E3C"/>
            </a:solidFill>
            <a:ln>
              <a:noFill/>
            </a:ln>
          </p:spPr>
        </p:sp>
        <p:sp>
          <p:nvSpPr>
            <p:cNvPr id="50" name="TextBox 50"/>
            <p:cNvSpPr txBox="1"/>
            <p:nvPr/>
          </p:nvSpPr>
          <p:spPr>
            <a:xfrm>
              <a:off x="8065008" y="4679950"/>
              <a:ext cx="265674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92만 원 → 28만 원</a:t>
              </a:r>
            </a:p>
          </p:txBody>
        </p:sp>
        <p:sp>
          <p:nvSpPr>
            <p:cNvPr id="51" name="TextBox 51"/>
            <p:cNvSpPr txBox="1"/>
            <p:nvPr/>
          </p:nvSpPr>
          <p:spPr>
            <a:xfrm>
              <a:off x="8071485" y="5099050"/>
              <a:ext cx="24992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도로 1km·1년: 현행 1회 vs 반복 6회</a:t>
              </a:r>
            </a:p>
          </p:txBody>
        </p:sp>
      </p:grpSp>
      <p:grpSp>
        <p:nvGrpSpPr>
          <p:cNvPr id="55" name="conclusion"/>
          <p:cNvGrpSpPr/>
          <p:nvPr/>
        </p:nvGrpSpPr>
        <p:grpSpPr>
          <a:xfrm>
            <a:off x="533400" y="5619750"/>
            <a:ext cx="7382430" cy="419100"/>
            <a:chOff x="533400" y="5619750"/>
            <a:chExt cx="7382430" cy="419100"/>
          </a:xfrm>
        </p:grpSpPr>
        <p:sp>
          <p:nvSpPr>
            <p:cNvPr id="53" name="Rectangle 53"/>
            <p:cNvSpPr/>
            <p:nvPr/>
          </p:nvSpPr>
          <p:spPr>
            <a:xfrm>
              <a:off x="533400" y="5619750"/>
              <a:ext cx="38100" cy="419100"/>
            </a:xfrm>
            <a:prstGeom prst="rect">
              <a:avLst/>
            </a:prstGeom>
            <a:solidFill>
              <a:srgbClr val="F5B700"/>
            </a:solidFill>
            <a:ln>
              <a:noFill/>
            </a:ln>
          </p:spPr>
        </p:sp>
        <p:sp>
          <p:nvSpPr>
            <p:cNvPr id="54" name="TextBox 54"/>
            <p:cNvSpPr txBox="1"/>
            <p:nvPr/>
          </p:nvSpPr>
          <p:spPr>
            <a:xfrm>
              <a:off x="715899" y="5715000"/>
              <a:ext cx="71999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예시로 든 ‘스마트 순찰 및 재난 대응 차량’을, 땅 아래로 넓힙니다.</a:t>
              </a:r>
            </a:p>
          </p:txBody>
        </p:sp>
      </p:grpSp>
      <p:grpSp>
        <p:nvGrpSpPr>
          <p:cNvPr id="57" name="source"/>
          <p:cNvGrpSpPr/>
          <p:nvPr/>
        </p:nvGrpSpPr>
        <p:grpSpPr>
          <a:xfrm>
            <a:off x="528447" y="6381750"/>
            <a:ext cx="6115167" cy="191643"/>
            <a:chOff x="528447" y="6381750"/>
            <a:chExt cx="6115167" cy="191643"/>
          </a:xfrm>
        </p:grpSpPr>
        <p:sp>
          <p:nvSpPr>
            <p:cNvPr id="56" name="TextBox 56"/>
            <p:cNvSpPr txBox="1"/>
            <p:nvPr/>
          </p:nvSpPr>
          <p:spPr>
            <a:xfrm>
              <a:off x="528447" y="6381750"/>
              <a:ext cx="611516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7장 GPR 전자기 시뮬레이션 · 12장 서울시 2024 공동조사용역 최종보고서</a:t>
              </a:r>
            </a:p>
          </p:txBody>
        </p:sp>
      </p:grpSp>
      <p:grpSp>
        <p:nvGrpSpPr>
          <p:cNvPr id="60" name="footer"/>
          <p:cNvGrpSpPr/>
          <p:nvPr/>
        </p:nvGrpSpPr>
        <p:grpSpPr>
          <a:xfrm>
            <a:off x="528638" y="6610350"/>
            <a:ext cx="11134724" cy="176212"/>
            <a:chOff x="528638" y="6610350"/>
            <a:chExt cx="11134724" cy="176212"/>
          </a:xfrm>
        </p:grpSpPr>
        <p:sp>
          <p:nvSpPr>
            <p:cNvPr id="58" name="TextBox 5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9" name="TextBox 5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15000" cy="6858000"/>
            <a:chOff x="6477000" y="0"/>
            <a:chExt cx="571500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135" y="1717675"/>
              <a:ext cx="1609639"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서대문구 연희동 성산로</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29" name="timeline"/>
          <p:cNvGrpSpPr/>
          <p:nvPr/>
        </p:nvGrpSpPr>
        <p:grpSpPr>
          <a:xfrm>
            <a:off x="717804" y="3257550"/>
            <a:ext cx="5346192" cy="1053846"/>
            <a:chOff x="717804" y="3257550"/>
            <a:chExt cx="5346192" cy="1053846"/>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767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37" name="facts"/>
          <p:cNvGrpSpPr/>
          <p:nvPr/>
        </p:nvGrpSpPr>
        <p:grpSpPr>
          <a:xfrm>
            <a:off x="518160" y="4686300"/>
            <a:ext cx="5539740" cy="880428"/>
            <a:chOff x="518160" y="4686300"/>
            <a:chExt cx="5539740" cy="880428"/>
          </a:xfrm>
        </p:grpSpPr>
        <p:sp>
          <p:nvSpPr>
            <p:cNvPr id="30" name="Line 3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1" name="TextBox 3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2" name="TextBox 3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3" name="TextBox 3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4" name="TextBox 3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5" name="TextBox 3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6" name="TextBox 3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39" name="source"/>
          <p:cNvGrpSpPr/>
          <p:nvPr/>
        </p:nvGrpSpPr>
        <p:grpSpPr>
          <a:xfrm>
            <a:off x="528638" y="6096000"/>
            <a:ext cx="3444354" cy="176212"/>
            <a:chOff x="528638" y="6096000"/>
            <a:chExt cx="3444354" cy="176212"/>
          </a:xfrm>
        </p:grpSpPr>
        <p:sp>
          <p:nvSpPr>
            <p:cNvPr id="38" name="TextBox 3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2" name="footer"/>
          <p:cNvGrpSpPr/>
          <p:nvPr/>
        </p:nvGrpSpPr>
        <p:grpSpPr>
          <a:xfrm>
            <a:off x="528638" y="6610350"/>
            <a:ext cx="5534024" cy="176212"/>
            <a:chOff x="528638" y="6610350"/>
            <a:chExt cx="55340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1" name="TextBox 4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15</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지금의 탐사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219792" cy="586740"/>
            <a:chOff x="518160" y="774700"/>
            <a:chExt cx="10219792" cy="586740"/>
          </a:xfrm>
        </p:grpSpPr>
        <p:sp>
          <p:nvSpPr>
            <p:cNvPr id="17" name="TextBox 17"/>
            <p:cNvSpPr txBox="1"/>
            <p:nvPr/>
          </p:nvSpPr>
          <p:spPr>
            <a:xfrm>
              <a:off x="518160" y="774700"/>
              <a:ext cx="1021979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서울은 이미 3만 km를 탐사해 공동 7,760개를 찾았습니다</a:t>
              </a:r>
            </a:p>
          </p:txBody>
        </p:sp>
      </p:grpSp>
      <p:grpSp>
        <p:nvGrpSpPr>
          <p:cNvPr id="21" name="photo"/>
          <p:cNvGrpSpPr/>
          <p:nvPr/>
        </p:nvGrpSpPr>
        <p:grpSpPr>
          <a:xfrm>
            <a:off x="528638" y="1428750"/>
            <a:ext cx="4957762" cy="2843212"/>
            <a:chOff x="528638" y="1428750"/>
            <a:chExt cx="4957762" cy="2843212"/>
          </a:xfrm>
        </p:grpSpPr>
        <p:pic>
          <p:nvPicPr>
            <p:cNvPr id="19" name="Image 19"/>
            <p:cNvPicPr>
              <a:picLocks noChangeAspect="1"/>
            </p:cNvPicPr>
            <p:nvPr/>
          </p:nvPicPr>
          <p:blipFill>
            <a:blip r:embed="rId2"/>
            <a:srcRect l="0" t="15128" r="0" b="15128"/>
            <a:stretch>
              <a:fillRect/>
            </a:stretch>
          </p:blipFill>
          <p:spPr>
            <a:xfrm>
              <a:off x="533400" y="1428750"/>
              <a:ext cx="4953000" cy="2590800"/>
            </a:xfrm>
            <a:prstGeom prst="rect">
              <a:avLst/>
            </a:prstGeom>
          </p:spPr>
        </p:pic>
        <p:sp>
          <p:nvSpPr>
            <p:cNvPr id="20" name="TextBox 20"/>
            <p:cNvSpPr txBox="1"/>
            <p:nvPr/>
          </p:nvSpPr>
          <p:spPr>
            <a:xfrm>
              <a:off x="528638" y="4095750"/>
              <a:ext cx="412233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수동형 GPR 탐사 장비 · 사진: The Charles Machine Works, CC BY-SA 2.0</a:t>
              </a:r>
            </a:p>
          </p:txBody>
        </p:sp>
      </p:grpSp>
      <p:grpSp>
        <p:nvGrpSpPr>
          <p:cNvPr id="34" name="stats"/>
          <p:cNvGrpSpPr/>
          <p:nvPr/>
        </p:nvGrpSpPr>
        <p:grpSpPr>
          <a:xfrm>
            <a:off x="522732" y="4438650"/>
            <a:ext cx="4963668" cy="899478"/>
            <a:chOff x="522732" y="4438650"/>
            <a:chExt cx="4963668" cy="899478"/>
          </a:xfrm>
        </p:grpSpPr>
        <p:sp>
          <p:nvSpPr>
            <p:cNvPr id="22" name="Rectangle 22"/>
            <p:cNvSpPr/>
            <p:nvPr/>
          </p:nvSpPr>
          <p:spPr>
            <a:xfrm>
              <a:off x="533400" y="4438650"/>
              <a:ext cx="1524000" cy="28575"/>
            </a:xfrm>
            <a:prstGeom prst="rect">
              <a:avLst/>
            </a:prstGeom>
            <a:solidFill>
              <a:srgbClr val="0B1E3C"/>
            </a:solidFill>
            <a:ln>
              <a:noFill/>
            </a:ln>
          </p:spPr>
        </p:sp>
        <p:sp>
          <p:nvSpPr>
            <p:cNvPr id="23" name="TextBox 23"/>
            <p:cNvSpPr txBox="1"/>
            <p:nvPr/>
          </p:nvSpPr>
          <p:spPr>
            <a:xfrm>
              <a:off x="522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33,129km</a:t>
              </a:r>
            </a:p>
          </p:txBody>
        </p:sp>
        <p:sp>
          <p:nvSpPr>
            <p:cNvPr id="24" name="TextBox 24"/>
            <p:cNvSpPr txBox="1"/>
            <p:nvPr/>
          </p:nvSpPr>
          <p:spPr>
            <a:xfrm>
              <a:off x="527685" y="4908550"/>
              <a:ext cx="133993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누적 차량 GPR 탐사</a:t>
              </a:r>
            </a:p>
          </p:txBody>
        </p:sp>
        <p:sp>
          <p:nvSpPr>
            <p:cNvPr id="25" name="TextBox 25"/>
            <p:cNvSpPr txBox="1"/>
            <p:nvPr/>
          </p:nvSpPr>
          <p:spPr>
            <a:xfrm>
              <a:off x="527685" y="5118100"/>
              <a:ext cx="923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2014~2025.9</a:t>
              </a:r>
            </a:p>
          </p:txBody>
        </p:sp>
        <p:sp>
          <p:nvSpPr>
            <p:cNvPr id="26" name="Rectangle 26"/>
            <p:cNvSpPr/>
            <p:nvPr/>
          </p:nvSpPr>
          <p:spPr>
            <a:xfrm>
              <a:off x="2247900" y="4438650"/>
              <a:ext cx="1524000" cy="28575"/>
            </a:xfrm>
            <a:prstGeom prst="rect">
              <a:avLst/>
            </a:prstGeom>
            <a:solidFill>
              <a:srgbClr val="0B1E3C"/>
            </a:solidFill>
            <a:ln>
              <a:noFill/>
            </a:ln>
          </p:spPr>
        </p:sp>
        <p:sp>
          <p:nvSpPr>
            <p:cNvPr id="27" name="TextBox 27"/>
            <p:cNvSpPr txBox="1"/>
            <p:nvPr/>
          </p:nvSpPr>
          <p:spPr>
            <a:xfrm>
              <a:off x="2237232" y="4546600"/>
              <a:ext cx="1120340" cy="410718"/>
            </a:xfrm>
            <a:prstGeom prst="rect">
              <a:avLst/>
            </a:prstGeom>
            <a:noFill/>
            <a:ln>
              <a:noFill/>
            </a:ln>
          </p:spPr>
          <p:txBody>
            <a:bodyPr wrap="none" lIns="0" tIns="0" rIns="0" bIns="0" anchor="t" anchorCtr="0">
              <a:spAutoFit/>
            </a:bodyPr>
            <a:lstStyle/>
            <a:p>
              <a:pPr algn="l"/>
              <a:r>
                <a:rPr lang="ko-KR" sz="2100" b="1" dirty="0">
                  <a:solidFill>
                    <a:srgbClr val="0B1E3C"/>
                  </a:solidFill>
                  <a:latin typeface="+mn-lt"/>
                  <a:ea typeface="+mn-ea"/>
                  <a:cs typeface="+mn-cs"/>
                </a:rPr>
                <a:t>7,760개</a:t>
              </a:r>
            </a:p>
          </p:txBody>
        </p:sp>
        <p:sp>
          <p:nvSpPr>
            <p:cNvPr id="28" name="TextBox 28"/>
            <p:cNvSpPr txBox="1"/>
            <p:nvPr/>
          </p:nvSpPr>
          <p:spPr>
            <a:xfrm>
              <a:off x="2242185" y="4908550"/>
              <a:ext cx="136010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같은 기간 찾은 공동</a:t>
              </a:r>
            </a:p>
          </p:txBody>
        </p:sp>
        <p:sp>
          <p:nvSpPr>
            <p:cNvPr id="29" name="TextBox 29"/>
            <p:cNvSpPr txBox="1"/>
            <p:nvPr/>
          </p:nvSpPr>
          <p:spPr>
            <a:xfrm>
              <a:off x="2242185" y="5118100"/>
              <a:ext cx="123270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약 4.3km마다 1개</a:t>
              </a:r>
            </a:p>
          </p:txBody>
        </p:sp>
        <p:sp>
          <p:nvSpPr>
            <p:cNvPr id="30" name="Rectangle 30"/>
            <p:cNvSpPr/>
            <p:nvPr/>
          </p:nvSpPr>
          <p:spPr>
            <a:xfrm>
              <a:off x="3962400" y="4438650"/>
              <a:ext cx="1524000" cy="28575"/>
            </a:xfrm>
            <a:prstGeom prst="rect">
              <a:avLst/>
            </a:prstGeom>
            <a:solidFill>
              <a:srgbClr val="0B1E3C"/>
            </a:solidFill>
            <a:ln>
              <a:noFill/>
            </a:ln>
          </p:spPr>
        </p:sp>
        <p:sp>
          <p:nvSpPr>
            <p:cNvPr id="31" name="TextBox 31"/>
            <p:cNvSpPr txBox="1"/>
            <p:nvPr/>
          </p:nvSpPr>
          <p:spPr>
            <a:xfrm>
              <a:off x="3951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16,423km</a:t>
              </a:r>
            </a:p>
          </p:txBody>
        </p:sp>
        <p:sp>
          <p:nvSpPr>
            <p:cNvPr id="32" name="TextBox 32"/>
            <p:cNvSpPr txBox="1"/>
            <p:nvPr/>
          </p:nvSpPr>
          <p:spPr>
            <a:xfrm>
              <a:off x="3956685" y="4908550"/>
              <a:ext cx="1208579"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2026년 탐사 계획</a:t>
              </a:r>
            </a:p>
          </p:txBody>
        </p:sp>
        <p:sp>
          <p:nvSpPr>
            <p:cNvPr id="33" name="TextBox 33"/>
            <p:cNvSpPr txBox="1"/>
            <p:nvPr/>
          </p:nvSpPr>
          <p:spPr>
            <a:xfrm>
              <a:off x="3956685" y="5118100"/>
              <a:ext cx="108192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인력 9명 → 19명</a:t>
              </a:r>
            </a:p>
          </p:txBody>
        </p:sp>
      </p:grpSp>
      <p:grpSp>
        <p:nvGrpSpPr>
          <p:cNvPr id="57" name="flow"/>
          <p:cNvGrpSpPr/>
          <p:nvPr/>
        </p:nvGrpSpPr>
        <p:grpSpPr>
          <a:xfrm>
            <a:off x="5937123" y="1428750"/>
            <a:ext cx="5721477" cy="3888867"/>
            <a:chOff x="5937123" y="1428750"/>
            <a:chExt cx="5721477" cy="3888867"/>
          </a:xfrm>
        </p:grpSpPr>
        <p:sp>
          <p:nvSpPr>
            <p:cNvPr id="35" name="Rectangle 35"/>
            <p:cNvSpPr/>
            <p:nvPr/>
          </p:nvSpPr>
          <p:spPr>
            <a:xfrm>
              <a:off x="5943600" y="1428750"/>
              <a:ext cx="5715000" cy="28575"/>
            </a:xfrm>
            <a:prstGeom prst="rect">
              <a:avLst/>
            </a:prstGeom>
            <a:solidFill>
              <a:srgbClr val="0B1E3C"/>
            </a:solidFill>
            <a:ln>
              <a:noFill/>
            </a:ln>
          </p:spPr>
        </p:sp>
        <p:sp>
          <p:nvSpPr>
            <p:cNvPr id="36" name="TextBox 36"/>
            <p:cNvSpPr txBox="1"/>
            <p:nvPr/>
          </p:nvSpPr>
          <p:spPr>
            <a:xfrm>
              <a:off x="5937885" y="1612900"/>
              <a:ext cx="17962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업무 흐름 · 서울시</a:t>
              </a:r>
            </a:p>
          </p:txBody>
        </p:sp>
        <p:sp>
          <p:nvSpPr>
            <p:cNvPr id="37" name="Ellipse 37"/>
            <p:cNvSpPr/>
            <p:nvPr/>
          </p:nvSpPr>
          <p:spPr>
            <a:xfrm>
              <a:off x="5943600" y="1971675"/>
              <a:ext cx="247650" cy="247650"/>
            </a:xfrm>
            <a:prstGeom prst="ellipse">
              <a:avLst/>
            </a:prstGeom>
            <a:solidFill>
              <a:srgbClr val="0B1E3C"/>
            </a:solidFill>
            <a:ln>
              <a:noFill/>
            </a:ln>
          </p:spPr>
        </p:sp>
        <p:sp>
          <p:nvSpPr>
            <p:cNvPr id="38" name="TextBox 38"/>
            <p:cNvSpPr txBox="1"/>
            <p:nvPr/>
          </p:nvSpPr>
          <p:spPr>
            <a:xfrm>
              <a:off x="6018174" y="2003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a:t>
              </a:r>
            </a:p>
          </p:txBody>
        </p:sp>
        <p:sp>
          <p:nvSpPr>
            <p:cNvPr id="39" name="TextBox 39"/>
            <p:cNvSpPr txBox="1"/>
            <p:nvPr/>
          </p:nvSpPr>
          <p:spPr>
            <a:xfrm>
              <a:off x="6317742" y="1987550"/>
              <a:ext cx="3702977"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민원·노후 관로·공사구간으로 조사 대상 선정</a:t>
              </a:r>
            </a:p>
          </p:txBody>
        </p:sp>
        <p:sp>
          <p:nvSpPr>
            <p:cNvPr id="40" name="Ellipse 40"/>
            <p:cNvSpPr/>
            <p:nvPr/>
          </p:nvSpPr>
          <p:spPr>
            <a:xfrm>
              <a:off x="5943600" y="2447925"/>
              <a:ext cx="247650" cy="247650"/>
            </a:xfrm>
            <a:prstGeom prst="ellipse">
              <a:avLst/>
            </a:prstGeom>
            <a:solidFill>
              <a:srgbClr val="0B1E3C"/>
            </a:solidFill>
            <a:ln>
              <a:noFill/>
            </a:ln>
          </p:spPr>
        </p:sp>
        <p:sp>
          <p:nvSpPr>
            <p:cNvPr id="41" name="TextBox 41"/>
            <p:cNvSpPr txBox="1"/>
            <p:nvPr/>
          </p:nvSpPr>
          <p:spPr>
            <a:xfrm>
              <a:off x="6018174" y="2479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a:t>
              </a:r>
            </a:p>
          </p:txBody>
        </p:sp>
        <p:sp>
          <p:nvSpPr>
            <p:cNvPr id="42" name="TextBox 42"/>
            <p:cNvSpPr txBox="1"/>
            <p:nvPr/>
          </p:nvSpPr>
          <p:spPr>
            <a:xfrm>
              <a:off x="6317742" y="2463800"/>
              <a:ext cx="375302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차량형 GPR이 도로를 </a:t>
              </a:r>
              <a:r>
                <a:rPr lang="ko-KR" sz="1350" b="1" dirty="0">
                  <a:solidFill>
                    <a:srgbClr val="C62828"/>
                  </a:solidFill>
                  <a:latin typeface="+mn-lt"/>
                  <a:ea typeface="+mn-ea"/>
                  <a:cs typeface="+mn-cs"/>
                </a:rPr>
                <a:t>한 번</a:t>
              </a:r>
              <a:r>
                <a:rPr lang="ko-KR" sz="1350" dirty="0">
                  <a:solidFill>
                    <a:srgbClr val="111827"/>
                  </a:solidFill>
                  <a:latin typeface="+mn-lt"/>
                  <a:ea typeface="+mn-ea"/>
                  <a:cs typeface="+mn-cs"/>
                </a:rPr>
                <a:t xml:space="preserve"> 스캔 (폭 3m 이내)</a:t>
              </a:r>
            </a:p>
          </p:txBody>
        </p:sp>
        <p:sp>
          <p:nvSpPr>
            <p:cNvPr id="43" name="Ellipse 43"/>
            <p:cNvSpPr/>
            <p:nvPr/>
          </p:nvSpPr>
          <p:spPr>
            <a:xfrm>
              <a:off x="5943600" y="2924175"/>
              <a:ext cx="247650" cy="247650"/>
            </a:xfrm>
            <a:prstGeom prst="ellipse">
              <a:avLst/>
            </a:prstGeom>
            <a:solidFill>
              <a:srgbClr val="0B1E3C"/>
            </a:solidFill>
            <a:ln>
              <a:noFill/>
            </a:ln>
          </p:spPr>
        </p:sp>
        <p:sp>
          <p:nvSpPr>
            <p:cNvPr id="44" name="TextBox 44"/>
            <p:cNvSpPr txBox="1"/>
            <p:nvPr/>
          </p:nvSpPr>
          <p:spPr>
            <a:xfrm>
              <a:off x="6018174" y="29559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a:t>
              </a:r>
            </a:p>
          </p:txBody>
        </p:sp>
        <p:sp>
          <p:nvSpPr>
            <p:cNvPr id="45" name="TextBox 45"/>
            <p:cNvSpPr txBox="1"/>
            <p:nvPr/>
          </p:nvSpPr>
          <p:spPr>
            <a:xfrm>
              <a:off x="6317742" y="2940050"/>
              <a:ext cx="3012376"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분석자가 판독해 공동 의심 지점 선별</a:t>
              </a:r>
            </a:p>
          </p:txBody>
        </p:sp>
        <p:sp>
          <p:nvSpPr>
            <p:cNvPr id="46" name="Ellipse 46"/>
            <p:cNvSpPr/>
            <p:nvPr/>
          </p:nvSpPr>
          <p:spPr>
            <a:xfrm>
              <a:off x="5943600" y="3400425"/>
              <a:ext cx="247650" cy="247650"/>
            </a:xfrm>
            <a:prstGeom prst="ellipse">
              <a:avLst/>
            </a:prstGeom>
            <a:solidFill>
              <a:srgbClr val="0B1E3C"/>
            </a:solidFill>
            <a:ln>
              <a:noFill/>
            </a:ln>
          </p:spPr>
        </p:sp>
        <p:sp>
          <p:nvSpPr>
            <p:cNvPr id="47" name="TextBox 47"/>
            <p:cNvSpPr txBox="1"/>
            <p:nvPr/>
          </p:nvSpPr>
          <p:spPr>
            <a:xfrm>
              <a:off x="6018174" y="34321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4</a:t>
              </a:r>
            </a:p>
          </p:txBody>
        </p:sp>
        <p:sp>
          <p:nvSpPr>
            <p:cNvPr id="48" name="TextBox 48"/>
            <p:cNvSpPr txBox="1"/>
            <p:nvPr/>
          </p:nvSpPr>
          <p:spPr>
            <a:xfrm>
              <a:off x="6317742" y="3416300"/>
              <a:ext cx="255083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작업자가 수동 GPR로 다시 조사</a:t>
              </a:r>
            </a:p>
          </p:txBody>
        </p:sp>
        <p:sp>
          <p:nvSpPr>
            <p:cNvPr id="49" name="Ellipse 49"/>
            <p:cNvSpPr/>
            <p:nvPr/>
          </p:nvSpPr>
          <p:spPr>
            <a:xfrm>
              <a:off x="5943600" y="3876675"/>
              <a:ext cx="247650" cy="247650"/>
            </a:xfrm>
            <a:prstGeom prst="ellipse">
              <a:avLst/>
            </a:prstGeom>
            <a:solidFill>
              <a:srgbClr val="0B1E3C"/>
            </a:solidFill>
            <a:ln>
              <a:noFill/>
            </a:ln>
          </p:spPr>
        </p:sp>
        <p:sp>
          <p:nvSpPr>
            <p:cNvPr id="50" name="TextBox 50"/>
            <p:cNvSpPr txBox="1"/>
            <p:nvPr/>
          </p:nvSpPr>
          <p:spPr>
            <a:xfrm>
              <a:off x="6018174" y="3908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5</a:t>
              </a:r>
            </a:p>
          </p:txBody>
        </p:sp>
        <p:sp>
          <p:nvSpPr>
            <p:cNvPr id="51" name="TextBox 51"/>
            <p:cNvSpPr txBox="1"/>
            <p:nvPr/>
          </p:nvSpPr>
          <p:spPr>
            <a:xfrm>
              <a:off x="6317742" y="3892550"/>
              <a:ext cx="282155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교통통제 후 천공·내시경으로 확인</a:t>
              </a:r>
            </a:p>
          </p:txBody>
        </p:sp>
        <p:sp>
          <p:nvSpPr>
            <p:cNvPr id="52" name="Ellipse 52"/>
            <p:cNvSpPr/>
            <p:nvPr/>
          </p:nvSpPr>
          <p:spPr>
            <a:xfrm>
              <a:off x="5943600" y="4352925"/>
              <a:ext cx="247650" cy="247650"/>
            </a:xfrm>
            <a:prstGeom prst="ellipse">
              <a:avLst/>
            </a:prstGeom>
            <a:solidFill>
              <a:srgbClr val="0B1E3C"/>
            </a:solidFill>
            <a:ln>
              <a:noFill/>
            </a:ln>
          </p:spPr>
        </p:sp>
        <p:sp>
          <p:nvSpPr>
            <p:cNvPr id="53" name="TextBox 53"/>
            <p:cNvSpPr txBox="1"/>
            <p:nvPr/>
          </p:nvSpPr>
          <p:spPr>
            <a:xfrm>
              <a:off x="6018174" y="4384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6</a:t>
              </a:r>
            </a:p>
          </p:txBody>
        </p:sp>
        <p:sp>
          <p:nvSpPr>
            <p:cNvPr id="54" name="TextBox 54"/>
            <p:cNvSpPr txBox="1"/>
            <p:nvPr/>
          </p:nvSpPr>
          <p:spPr>
            <a:xfrm>
              <a:off x="6317742" y="4368800"/>
              <a:ext cx="1758391"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공동이 확인되면 복구</a:t>
              </a:r>
            </a:p>
          </p:txBody>
        </p:sp>
        <p:sp>
          <p:nvSpPr>
            <p:cNvPr id="55" name="Line 55"/>
            <p:cNvSpPr/>
            <p:nvPr/>
          </p:nvSpPr>
          <p:spPr>
            <a:xfrm>
              <a:off x="5943600" y="4876800"/>
              <a:ext cx="5715000" cy="9525"/>
            </a:xfrm>
            <a:custGeom>
              <a:avLst/>
              <a:gdLst/>
              <a:ahLst/>
              <a:cxnLst/>
              <a:rect l="l" t="t" r="r" b="b"/>
              <a:pathLst>
                <a:path w="5715000" h="9525">
                  <a:moveTo>
                    <a:pt x="0" y="0"/>
                  </a:moveTo>
                  <a:lnTo>
                    <a:pt x="5715000" y="0"/>
                  </a:lnTo>
                </a:path>
              </a:pathLst>
            </a:custGeom>
            <a:noFill/>
            <a:ln w="9525">
              <a:solidFill>
                <a:srgbClr val="E2E6EC"/>
              </a:solidFill>
            </a:ln>
          </p:spPr>
        </p:sp>
        <p:sp>
          <p:nvSpPr>
            <p:cNvPr id="56" name="TextBox 56"/>
            <p:cNvSpPr txBox="1"/>
            <p:nvPr/>
          </p:nvSpPr>
          <p:spPr>
            <a:xfrm>
              <a:off x="5937123" y="5067300"/>
              <a:ext cx="503761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한 번 스캔으로 끝나고, </a:t>
              </a:r>
              <a:r>
                <a:rPr lang="ko-KR" sz="1280" b="1" dirty="0">
                  <a:solidFill>
                    <a:srgbClr val="C62828"/>
                  </a:solidFill>
                  <a:latin typeface="+mn-lt"/>
                  <a:ea typeface="+mn-ea"/>
                  <a:cs typeface="+mn-cs"/>
                </a:rPr>
                <a:t>같은 길은 다음 정기점검 때</a:t>
              </a:r>
              <a:r>
                <a:rPr lang="ko-KR" sz="1280" dirty="0">
                  <a:solidFill>
                    <a:srgbClr val="111827"/>
                  </a:solidFill>
                  <a:latin typeface="+mn-lt"/>
                  <a:ea typeface="+mn-ea"/>
                  <a:cs typeface="+mn-cs"/>
                </a:rPr>
                <a:t xml:space="preserve"> 다시 봅니다.</a:t>
              </a:r>
            </a:p>
          </p:txBody>
        </p:sp>
      </p:grpSp>
      <p:grpSp>
        <p:nvGrpSpPr>
          <p:cNvPr id="60" name="conclusion"/>
          <p:cNvGrpSpPr/>
          <p:nvPr/>
        </p:nvGrpSpPr>
        <p:grpSpPr>
          <a:xfrm>
            <a:off x="533400" y="5676900"/>
            <a:ext cx="7246423" cy="419100"/>
            <a:chOff x="533400" y="5676900"/>
            <a:chExt cx="7246423"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7063924"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GPR은 이미 검증된 기술입니다. 바꿀 것은 한 번 보고 끝나는 방식입니다.</a:t>
              </a:r>
            </a:p>
          </p:txBody>
        </p:sp>
      </p:grpSp>
      <p:grpSp>
        <p:nvGrpSpPr>
          <p:cNvPr id="62" name="source"/>
          <p:cNvGrpSpPr/>
          <p:nvPr/>
        </p:nvGrpSpPr>
        <p:grpSpPr>
          <a:xfrm>
            <a:off x="528447" y="6381750"/>
            <a:ext cx="8463478" cy="191643"/>
            <a:chOff x="528447" y="6381750"/>
            <a:chExt cx="8463478" cy="191643"/>
          </a:xfrm>
        </p:grpSpPr>
        <p:sp>
          <p:nvSpPr>
            <p:cNvPr id="61" name="TextBox 61"/>
            <p:cNvSpPr txBox="1"/>
            <p:nvPr/>
          </p:nvSpPr>
          <p:spPr>
            <a:xfrm>
              <a:off x="528447" y="6381750"/>
              <a:ext cx="846347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메트로신문(2025.10.19, 누적 탐사·공동) · 머니투데이(2026.3.23, 2026 계획·인력) · 서울시 안전정보(차량탑재형 GPR 폭 3m 이내)</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600200"/>
            <a:ext cx="6483858" cy="3264281"/>
            <a:chOff x="526542" y="1600200"/>
            <a:chExt cx="6483858" cy="3264281"/>
          </a:xfrm>
        </p:grpSpPr>
        <p:sp>
          <p:nvSpPr>
            <p:cNvPr id="19" name="Rectangle 19"/>
            <p:cNvSpPr/>
            <p:nvPr/>
          </p:nvSpPr>
          <p:spPr>
            <a:xfrm>
              <a:off x="533400" y="1600200"/>
              <a:ext cx="6477000" cy="28575"/>
            </a:xfrm>
            <a:prstGeom prst="rect">
              <a:avLst/>
            </a:prstGeom>
            <a:solidFill>
              <a:srgbClr val="0B1E3C"/>
            </a:solidFill>
            <a:ln>
              <a:noFill/>
            </a:ln>
          </p:spPr>
        </p:sp>
        <p:sp>
          <p:nvSpPr>
            <p:cNvPr id="20" name="TextBox 20"/>
            <p:cNvSpPr txBox="1"/>
            <p:nvPr/>
          </p:nvSpPr>
          <p:spPr>
            <a:xfrm>
              <a:off x="527685" y="1803400"/>
              <a:ext cx="235974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한 번 탐사한 도로를 다시 보기까지</a:t>
              </a:r>
            </a:p>
          </p:txBody>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402256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줄이기로 한 정기점검 주기 </a:t>
              </a:r>
              <a:r>
                <a:rPr lang="ko-KR" sz="1120" dirty="0">
                  <a:solidFill>
                    <a:srgbClr val="374151"/>
                  </a:solidFill>
                  <a:latin typeface="+mn-lt"/>
                  <a:ea typeface="+mn-ea"/>
                  <a:cs typeface="+mn-cs"/>
                </a:rPr>
                <a:t>(2025.4 발표)</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4" name="evidence"/>
          <p:cNvGrpSpPr/>
          <p:nvPr/>
        </p:nvGrpSpPr>
        <p:grpSpPr>
          <a:xfrm>
            <a:off x="7457694" y="1600200"/>
            <a:ext cx="4200906" cy="3644646"/>
            <a:chOff x="7457694" y="1600200"/>
            <a:chExt cx="4200906" cy="3644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961882"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“종래 생각보다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322691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 · 원문 번역)</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sp>
          <p:nvSpPr>
            <p:cNvPr id="41" name="Line 41"/>
            <p:cNvSpPr/>
            <p:nvPr/>
          </p:nvSpPr>
          <p:spPr>
            <a:xfrm>
              <a:off x="7467600" y="46291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2" name="TextBox 42"/>
            <p:cNvSpPr txBox="1"/>
            <p:nvPr/>
          </p:nvSpPr>
          <p:spPr>
            <a:xfrm>
              <a:off x="7461504" y="4781550"/>
              <a:ext cx="30896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연희동 공동을 놓쳤는지, 그 뒤 생겼는지는</a:t>
              </a:r>
            </a:p>
          </p:txBody>
        </p:sp>
        <p:sp>
          <p:nvSpPr>
            <p:cNvPr id="43" name="TextBox 43"/>
            <p:cNvSpPr txBox="1"/>
            <p:nvPr/>
          </p:nvSpPr>
          <p:spPr>
            <a:xfrm>
              <a:off x="7461504" y="5010150"/>
              <a:ext cx="278307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한 번의 탐사로는 구분할 수 없습니다.</a:t>
              </a:r>
            </a:p>
          </p:txBody>
        </p:sp>
      </p:grpSp>
      <p:grpSp>
        <p:nvGrpSpPr>
          <p:cNvPr id="47" name="conclusion"/>
          <p:cNvGrpSpPr/>
          <p:nvPr/>
        </p:nvGrpSpPr>
        <p:grpSpPr>
          <a:xfrm>
            <a:off x="533400" y="5391150"/>
            <a:ext cx="7169730" cy="419100"/>
            <a:chOff x="533400" y="5391150"/>
            <a:chExt cx="7169730" cy="419100"/>
          </a:xfrm>
        </p:grpSpPr>
        <p:sp>
          <p:nvSpPr>
            <p:cNvPr id="45" name="Rectangle 45"/>
            <p:cNvSpPr/>
            <p:nvPr/>
          </p:nvSpPr>
          <p:spPr>
            <a:xfrm>
              <a:off x="533400" y="5391150"/>
              <a:ext cx="38100" cy="419100"/>
            </a:xfrm>
            <a:prstGeom prst="rect">
              <a:avLst/>
            </a:prstGeom>
            <a:solidFill>
              <a:srgbClr val="F5B700"/>
            </a:solidFill>
            <a:ln>
              <a:noFill/>
            </a:ln>
          </p:spPr>
        </p:sp>
        <p:sp>
          <p:nvSpPr>
            <p:cNvPr id="46" name="TextBox 46"/>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9" name="source"/>
          <p:cNvGrpSpPr/>
          <p:nvPr/>
        </p:nvGrpSpPr>
        <p:grpSpPr>
          <a:xfrm>
            <a:off x="528447" y="6381750"/>
            <a:ext cx="9178874" cy="191643"/>
            <a:chOff x="528447" y="6381750"/>
            <a:chExt cx="9178874" cy="191643"/>
          </a:xfrm>
        </p:grpSpPr>
        <p:sp>
          <p:nvSpPr>
            <p:cNvPr id="48" name="TextBox 48"/>
            <p:cNvSpPr txBox="1"/>
            <p:nvPr/>
          </p:nvSpPr>
          <p:spPr>
            <a:xfrm>
              <a:off x="528447" y="6381750"/>
              <a:ext cx="917887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52" name="footer"/>
          <p:cNvGrpSpPr/>
          <p:nvPr/>
        </p:nvGrpSpPr>
        <p:grpSpPr>
          <a:xfrm>
            <a:off x="528638" y="6610350"/>
            <a:ext cx="11134724" cy="176212"/>
            <a:chOff x="528638" y="6610350"/>
            <a:chExt cx="11134724" cy="176212"/>
          </a:xfrm>
        </p:grpSpPr>
        <p:sp>
          <p:nvSpPr>
            <p:cNvPr id="50" name="TextBox 5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1" name="TextBox 5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294622" cy="191643"/>
            <a:chOff x="528447" y="6381750"/>
            <a:chExt cx="9294622" cy="191643"/>
          </a:xfrm>
        </p:grpSpPr>
        <p:sp>
          <p:nvSpPr>
            <p:cNvPr id="44" name="TextBox 44"/>
            <p:cNvSpPr txBox="1"/>
            <p:nvPr/>
          </p:nvSpPr>
          <p:spPr>
            <a:xfrm>
              <a:off x="528447" y="6381750"/>
              <a:ext cx="9294622"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15</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6" name="scans"/>
          <p:cNvGrpSpPr/>
          <p:nvPr/>
        </p:nvGrpSpPr>
        <p:grpSpPr>
          <a:xfrm>
            <a:off x="527304" y="1485900"/>
            <a:ext cx="11131296" cy="2309178"/>
            <a:chOff x="527304" y="1485900"/>
            <a:chExt cx="11131296" cy="2309178"/>
          </a:xfrm>
        </p:grpSpPr>
        <p:pic>
          <p:nvPicPr>
            <p:cNvPr id="19" name="Image 19"/>
            <p:cNvPicPr>
              <a:picLocks noChangeAspect="1"/>
            </p:cNvPicPr>
            <p:nvPr/>
          </p:nvPicPr>
          <p:blipFill>
            <a:blip r:embed="rId2"/>
            <a:stretch>
              <a:fillRect/>
            </a:stretch>
          </p:blipFill>
          <p:spPr>
            <a:xfrm>
              <a:off x="533400" y="1485900"/>
              <a:ext cx="3429000" cy="1771650"/>
            </a:xfrm>
            <a:prstGeom prst="rect">
              <a:avLst/>
            </a:prstGeom>
          </p:spPr>
        </p:pic>
        <p:sp>
          <p:nvSpPr>
            <p:cNvPr id="20" name="TextBox 20"/>
            <p:cNvSpPr txBox="1"/>
            <p:nvPr/>
          </p:nvSpPr>
          <p:spPr>
            <a:xfrm>
              <a:off x="527304" y="3352800"/>
              <a:ext cx="23408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새벽, 같은 경로를 약 2개월마다</a:t>
              </a:r>
            </a:p>
          </p:txBody>
        </p:sp>
        <p:sp>
          <p:nvSpPr>
            <p:cNvPr id="21" name="TextBox 21"/>
            <p:cNvSpPr txBox="1"/>
            <p:nvPr/>
          </p:nvSpPr>
          <p:spPr>
            <a:xfrm>
              <a:off x="527685" y="35750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반경 18cm</a:t>
              </a:r>
            </a:p>
          </p:txBody>
        </p:sp>
        <p:sp>
          <p:nvSpPr>
            <p:cNvPr id="22" name="Rectangle 22"/>
            <p:cNvSpPr/>
            <p:nvPr/>
          </p:nvSpPr>
          <p:spPr>
            <a:xfrm>
              <a:off x="609600" y="1562100"/>
              <a:ext cx="904875" cy="247650"/>
            </a:xfrm>
            <a:prstGeom prst="roundRect">
              <a:avLst>
                <a:gd name="adj" fmla="val 11538"/>
              </a:avLst>
            </a:prstGeom>
            <a:solidFill>
              <a:srgbClr val="0B1E3C">
                <a:alpha val="90000"/>
              </a:srgbClr>
            </a:solidFill>
            <a:ln>
              <a:noFill/>
            </a:ln>
          </p:spPr>
        </p:sp>
        <p:sp>
          <p:nvSpPr>
            <p:cNvPr id="23" name="TextBox 23"/>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4" name="TextBox 24"/>
            <p:cNvSpPr txBox="1"/>
            <p:nvPr/>
          </p:nvSpPr>
          <p:spPr>
            <a:xfrm>
              <a:off x="40884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5" name="Image 25"/>
            <p:cNvPicPr>
              <a:picLocks noChangeAspect="1"/>
            </p:cNvPicPr>
            <p:nvPr/>
          </p:nvPicPr>
          <p:blipFill>
            <a:blip r:embed="rId3"/>
            <a:stretch>
              <a:fillRect/>
            </a:stretch>
          </p:blipFill>
          <p:spPr>
            <a:xfrm>
              <a:off x="4381500" y="1485900"/>
              <a:ext cx="3429000" cy="1771650"/>
            </a:xfrm>
            <a:prstGeom prst="rect">
              <a:avLst/>
            </a:prstGeom>
          </p:spPr>
        </p:pic>
        <p:sp>
          <p:nvSpPr>
            <p:cNvPr id="26" name="TextBox 26"/>
            <p:cNvSpPr txBox="1"/>
            <p:nvPr/>
          </p:nvSpPr>
          <p:spPr>
            <a:xfrm>
              <a:off x="4375404" y="3352800"/>
              <a:ext cx="161874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길을 다시 찍으면</a:t>
              </a:r>
            </a:p>
          </p:txBody>
        </p:sp>
        <p:sp>
          <p:nvSpPr>
            <p:cNvPr id="27" name="TextBox 27"/>
            <p:cNvSpPr txBox="1"/>
            <p:nvPr/>
          </p:nvSpPr>
          <p:spPr>
            <a:xfrm>
              <a:off x="4375785" y="3575050"/>
              <a:ext cx="156440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공동이 20cm 자라 있음</a:t>
              </a:r>
            </a:p>
          </p:txBody>
        </p:sp>
        <p:sp>
          <p:nvSpPr>
            <p:cNvPr id="28" name="Rectangle 28"/>
            <p:cNvSpPr/>
            <p:nvPr/>
          </p:nvSpPr>
          <p:spPr>
            <a:xfrm>
              <a:off x="4457700" y="1562100"/>
              <a:ext cx="904875" cy="247650"/>
            </a:xfrm>
            <a:prstGeom prst="roundRect">
              <a:avLst>
                <a:gd name="adj" fmla="val 11538"/>
              </a:avLst>
            </a:prstGeom>
            <a:solidFill>
              <a:srgbClr val="0B1E3C">
                <a:alpha val="90000"/>
              </a:srgbClr>
            </a:solidFill>
            <a:ln>
              <a:noFill/>
            </a:ln>
          </p:spPr>
        </p:sp>
        <p:sp>
          <p:nvSpPr>
            <p:cNvPr id="29" name="TextBox 29"/>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30" name="TextBox 30"/>
            <p:cNvSpPr txBox="1"/>
            <p:nvPr/>
          </p:nvSpPr>
          <p:spPr>
            <a:xfrm>
              <a:off x="79365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1" name="Image 31"/>
            <p:cNvPicPr>
              <a:picLocks noChangeAspect="1"/>
            </p:cNvPicPr>
            <p:nvPr/>
          </p:nvPicPr>
          <p:blipFill>
            <a:blip r:embed="rId4"/>
            <a:stretch>
              <a:fillRect/>
            </a:stretch>
          </p:blipFill>
          <p:spPr>
            <a:xfrm>
              <a:off x="8229600" y="1485900"/>
              <a:ext cx="3429000" cy="1771650"/>
            </a:xfrm>
            <a:prstGeom prst="rect">
              <a:avLst/>
            </a:prstGeom>
          </p:spPr>
        </p:pic>
        <p:sp>
          <p:nvSpPr>
            <p:cNvPr id="32" name="TextBox 32"/>
            <p:cNvSpPr txBox="1"/>
            <p:nvPr/>
          </p:nvSpPr>
          <p:spPr>
            <a:xfrm>
              <a:off x="8223504" y="3352800"/>
              <a:ext cx="215426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위치를 맞춰 빼면 변화만 남음</a:t>
              </a:r>
            </a:p>
          </p:txBody>
        </p:sp>
        <p:sp>
          <p:nvSpPr>
            <p:cNvPr id="33" name="TextBox 33"/>
            <p:cNvSpPr txBox="1"/>
            <p:nvPr/>
          </p:nvSpPr>
          <p:spPr>
            <a:xfrm>
              <a:off x="8223885" y="3575050"/>
              <a:ext cx="259123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전문가 승인 → 수동 GPR로 현장 재확인</a:t>
              </a:r>
            </a:p>
          </p:txBody>
        </p:sp>
        <p:sp>
          <p:nvSpPr>
            <p:cNvPr id="34" name="Rectangle 34"/>
            <p:cNvSpPr/>
            <p:nvPr/>
          </p:nvSpPr>
          <p:spPr>
            <a:xfrm>
              <a:off x="8305800" y="1562100"/>
              <a:ext cx="1476375" cy="247650"/>
            </a:xfrm>
            <a:prstGeom prst="roundRect">
              <a:avLst>
                <a:gd name="adj" fmla="val 11538"/>
              </a:avLst>
            </a:prstGeom>
            <a:solidFill>
              <a:srgbClr val="0B1E3C">
                <a:alpha val="90000"/>
              </a:srgbClr>
            </a:solidFill>
            <a:ln>
              <a:noFill/>
            </a:ln>
          </p:spPr>
        </p:sp>
        <p:sp>
          <p:nvSpPr>
            <p:cNvPr id="35" name="TextBox 35"/>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grpSp>
      <p:grpSp>
        <p:nvGrpSpPr>
          <p:cNvPr id="49" name="diff"/>
          <p:cNvGrpSpPr/>
          <p:nvPr/>
        </p:nvGrpSpPr>
        <p:grpSpPr>
          <a:xfrm>
            <a:off x="527304" y="3924300"/>
            <a:ext cx="5340096" cy="1591818"/>
            <a:chOff x="527304" y="3924300"/>
            <a:chExt cx="5340096" cy="1591818"/>
          </a:xfrm>
        </p:grpSpPr>
        <p:sp>
          <p:nvSpPr>
            <p:cNvPr id="37" name="Rectangle 37"/>
            <p:cNvSpPr/>
            <p:nvPr/>
          </p:nvSpPr>
          <p:spPr>
            <a:xfrm>
              <a:off x="533400" y="3924300"/>
              <a:ext cx="5334000" cy="28575"/>
            </a:xfrm>
            <a:prstGeom prst="rect">
              <a:avLst/>
            </a:prstGeom>
            <a:solidFill>
              <a:srgbClr val="0B1E3C"/>
            </a:solidFill>
            <a:ln>
              <a:noFill/>
            </a:ln>
          </p:spPr>
        </p:sp>
        <p:sp>
          <p:nvSpPr>
            <p:cNvPr id="38" name="TextBox 38"/>
            <p:cNvSpPr txBox="1"/>
            <p:nvPr/>
          </p:nvSpPr>
          <p:spPr>
            <a:xfrm>
              <a:off x="527685" y="4070350"/>
              <a:ext cx="259060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무엇이 새로운가 </a:t>
              </a:r>
              <a:r>
                <a:rPr lang="ko-KR" sz="1120" dirty="0">
                  <a:solidFill>
                    <a:srgbClr val="4B5563"/>
                  </a:solidFill>
                  <a:latin typeface="+mn-lt"/>
                  <a:ea typeface="+mn-ea"/>
                  <a:cs typeface="+mn-cs"/>
                </a:rPr>
                <a:t>기존 → GroundWatch</a:t>
              </a:r>
            </a:p>
          </p:txBody>
        </p:sp>
        <p:sp>
          <p:nvSpPr>
            <p:cNvPr id="39" name="TextBox 39"/>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40" name="TextBox 40"/>
            <p:cNvSpPr txBox="1"/>
            <p:nvPr/>
          </p:nvSpPr>
          <p:spPr>
            <a:xfrm>
              <a:off x="1860804" y="436245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발견한 공동만 →</a:t>
              </a:r>
            </a:p>
          </p:txBody>
        </p:sp>
        <p:sp>
          <p:nvSpPr>
            <p:cNvPr id="41" name="TextBox 41"/>
            <p:cNvSpPr txBox="1"/>
            <p:nvPr/>
          </p:nvSpPr>
          <p:spPr>
            <a:xfrm>
              <a:off x="3232023" y="4362450"/>
              <a:ext cx="169904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‘이상 없음’ 구간까지</a:t>
              </a:r>
            </a:p>
          </p:txBody>
        </p:sp>
        <p:sp>
          <p:nvSpPr>
            <p:cNvPr id="42" name="TextBox 42"/>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43" name="TextBox 43"/>
            <p:cNvSpPr txBox="1"/>
            <p:nvPr/>
          </p:nvSpPr>
          <p:spPr>
            <a:xfrm>
              <a:off x="1860804" y="468630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판독 →</a:t>
              </a:r>
            </a:p>
          </p:txBody>
        </p:sp>
        <p:sp>
          <p:nvSpPr>
            <p:cNvPr id="44" name="TextBox 44"/>
            <p:cNvSpPr txBox="1"/>
            <p:nvPr/>
          </p:nvSpPr>
          <p:spPr>
            <a:xfrm>
              <a:off x="32320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5" name="TextBox 45"/>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46" name="TextBox 46"/>
            <p:cNvSpPr txBox="1"/>
            <p:nvPr/>
          </p:nvSpPr>
          <p:spPr>
            <a:xfrm>
              <a:off x="1860804" y="5010150"/>
              <a:ext cx="84414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발주 →</a:t>
              </a:r>
            </a:p>
          </p:txBody>
        </p:sp>
        <p:sp>
          <p:nvSpPr>
            <p:cNvPr id="47" name="TextBox 47"/>
            <p:cNvSpPr txBox="1"/>
            <p:nvPr/>
          </p:nvSpPr>
          <p:spPr>
            <a:xfrm>
              <a:off x="32320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48" name="TextBox 48"/>
            <p:cNvSpPr txBox="1"/>
            <p:nvPr/>
          </p:nvSpPr>
          <p:spPr>
            <a:xfrm>
              <a:off x="528447" y="5324475"/>
              <a:ext cx="43767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일본 후지사와시·지오서치 경과관찰, 국토교통성 연구(3개월 주기)</a:t>
              </a:r>
            </a:p>
          </p:txBody>
        </p:sp>
      </p:grpSp>
      <p:grpSp>
        <p:nvGrpSpPr>
          <p:cNvPr id="71" name="proof"/>
          <p:cNvGrpSpPr/>
          <p:nvPr/>
        </p:nvGrpSpPr>
        <p:grpSpPr>
          <a:xfrm>
            <a:off x="6318885" y="3924300"/>
            <a:ext cx="5339715" cy="1600200"/>
            <a:chOff x="6318885" y="3924300"/>
            <a:chExt cx="5339715" cy="1600200"/>
          </a:xfrm>
        </p:grpSpPr>
        <p:sp>
          <p:nvSpPr>
            <p:cNvPr id="50" name="Rectangle 50"/>
            <p:cNvSpPr/>
            <p:nvPr/>
          </p:nvSpPr>
          <p:spPr>
            <a:xfrm>
              <a:off x="6324600" y="3924300"/>
              <a:ext cx="5334000" cy="28575"/>
            </a:xfrm>
            <a:prstGeom prst="rect">
              <a:avLst/>
            </a:prstGeom>
            <a:solidFill>
              <a:srgbClr val="0B1E3C"/>
            </a:solidFill>
            <a:ln>
              <a:noFill/>
            </a:ln>
          </p:spPr>
        </p:sp>
        <p:sp>
          <p:nvSpPr>
            <p:cNvPr id="51" name="TextBox 51"/>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52" name="TextBox 52"/>
            <p:cNvSpPr txBox="1"/>
            <p:nvPr/>
          </p:nvSpPr>
          <p:spPr>
            <a:xfrm>
              <a:off x="6318885" y="42989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20cm 성장</a:t>
              </a:r>
            </a:p>
          </p:txBody>
        </p:sp>
        <p:sp>
          <p:nvSpPr>
            <p:cNvPr id="53" name="Rectangle 53"/>
            <p:cNvSpPr/>
            <p:nvPr/>
          </p:nvSpPr>
          <p:spPr>
            <a:xfrm>
              <a:off x="7696200" y="4324350"/>
              <a:ext cx="3267075" cy="142875"/>
            </a:xfrm>
            <a:prstGeom prst="rect">
              <a:avLst/>
            </a:prstGeom>
            <a:solidFill>
              <a:srgbClr val="0B1E3C"/>
            </a:solidFill>
            <a:ln>
              <a:noFill/>
            </a:ln>
          </p:spPr>
        </p:sp>
        <p:sp>
          <p:nvSpPr>
            <p:cNvPr id="54" name="TextBox 54"/>
            <p:cNvSpPr txBox="1"/>
            <p:nvPr/>
          </p:nvSpPr>
          <p:spPr>
            <a:xfrm>
              <a:off x="11033760" y="42989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2.9</a:t>
              </a:r>
            </a:p>
          </p:txBody>
        </p:sp>
        <p:sp>
          <p:nvSpPr>
            <p:cNvPr id="55" name="TextBox 55"/>
            <p:cNvSpPr txBox="1"/>
            <p:nvPr/>
          </p:nvSpPr>
          <p:spPr>
            <a:xfrm>
              <a:off x="6318885" y="4498975"/>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10cm 성장</a:t>
              </a:r>
            </a:p>
          </p:txBody>
        </p:sp>
        <p:sp>
          <p:nvSpPr>
            <p:cNvPr id="56" name="Rectangle 56"/>
            <p:cNvSpPr/>
            <p:nvPr/>
          </p:nvSpPr>
          <p:spPr>
            <a:xfrm>
              <a:off x="7696200" y="4524375"/>
              <a:ext cx="2790825" cy="142875"/>
            </a:xfrm>
            <a:prstGeom prst="rect">
              <a:avLst/>
            </a:prstGeom>
            <a:solidFill>
              <a:srgbClr val="0B1E3C"/>
            </a:solidFill>
            <a:ln>
              <a:noFill/>
            </a:ln>
          </p:spPr>
        </p:sp>
        <p:sp>
          <p:nvSpPr>
            <p:cNvPr id="57" name="TextBox 57"/>
            <p:cNvSpPr txBox="1"/>
            <p:nvPr/>
          </p:nvSpPr>
          <p:spPr>
            <a:xfrm>
              <a:off x="10557510" y="44989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2.4</a:t>
              </a:r>
            </a:p>
          </p:txBody>
        </p:sp>
        <p:sp>
          <p:nvSpPr>
            <p:cNvPr id="58" name="TextBox 58"/>
            <p:cNvSpPr txBox="1"/>
            <p:nvPr/>
          </p:nvSpPr>
          <p:spPr>
            <a:xfrm>
              <a:off x="6318885" y="4699000"/>
              <a:ext cx="98392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5cm 성장</a:t>
              </a:r>
            </a:p>
          </p:txBody>
        </p:sp>
        <p:sp>
          <p:nvSpPr>
            <p:cNvPr id="59" name="Rectangle 59"/>
            <p:cNvSpPr/>
            <p:nvPr/>
          </p:nvSpPr>
          <p:spPr>
            <a:xfrm>
              <a:off x="7696200" y="4724400"/>
              <a:ext cx="1552575" cy="142875"/>
            </a:xfrm>
            <a:prstGeom prst="rect">
              <a:avLst/>
            </a:prstGeom>
            <a:solidFill>
              <a:srgbClr val="B45309"/>
            </a:solidFill>
            <a:ln>
              <a:noFill/>
            </a:ln>
          </p:spPr>
        </p:sp>
        <p:sp>
          <p:nvSpPr>
            <p:cNvPr id="60" name="TextBox 60"/>
            <p:cNvSpPr txBox="1"/>
            <p:nvPr/>
          </p:nvSpPr>
          <p:spPr>
            <a:xfrm>
              <a:off x="9319260" y="469900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1.4</a:t>
              </a:r>
            </a:p>
          </p:txBody>
        </p:sp>
        <p:sp>
          <p:nvSpPr>
            <p:cNvPr id="61" name="TextBox 61"/>
            <p:cNvSpPr txBox="1"/>
            <p:nvPr/>
          </p:nvSpPr>
          <p:spPr>
            <a:xfrm>
              <a:off x="6318885" y="4899025"/>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주행선 8cm 어긋남</a:t>
              </a:r>
            </a:p>
          </p:txBody>
        </p:sp>
        <p:sp>
          <p:nvSpPr>
            <p:cNvPr id="62" name="Rectangle 62"/>
            <p:cNvSpPr/>
            <p:nvPr/>
          </p:nvSpPr>
          <p:spPr>
            <a:xfrm>
              <a:off x="7696200" y="4924425"/>
              <a:ext cx="1143000" cy="142875"/>
            </a:xfrm>
            <a:prstGeom prst="rect">
              <a:avLst/>
            </a:prstGeom>
            <a:solidFill>
              <a:srgbClr val="C62828"/>
            </a:solidFill>
            <a:ln>
              <a:noFill/>
            </a:ln>
          </p:spPr>
        </p:sp>
        <p:sp>
          <p:nvSpPr>
            <p:cNvPr id="63" name="TextBox 63"/>
            <p:cNvSpPr txBox="1"/>
            <p:nvPr/>
          </p:nvSpPr>
          <p:spPr>
            <a:xfrm>
              <a:off x="8909685" y="489902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1.0</a:t>
              </a:r>
            </a:p>
          </p:txBody>
        </p:sp>
        <p:sp>
          <p:nvSpPr>
            <p:cNvPr id="64" name="TextBox 64"/>
            <p:cNvSpPr txBox="1"/>
            <p:nvPr/>
          </p:nvSpPr>
          <p:spPr>
            <a:xfrm>
              <a:off x="6318885" y="509905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함수비 변화</a:t>
              </a:r>
            </a:p>
          </p:txBody>
        </p:sp>
        <p:sp>
          <p:nvSpPr>
            <p:cNvPr id="65" name="Rectangle 65"/>
            <p:cNvSpPr/>
            <p:nvPr/>
          </p:nvSpPr>
          <p:spPr>
            <a:xfrm>
              <a:off x="7696200" y="5124450"/>
              <a:ext cx="923925" cy="142875"/>
            </a:xfrm>
            <a:prstGeom prst="rect">
              <a:avLst/>
            </a:prstGeom>
            <a:solidFill>
              <a:srgbClr val="4B5563"/>
            </a:solidFill>
            <a:ln>
              <a:noFill/>
            </a:ln>
          </p:spPr>
        </p:sp>
        <p:sp>
          <p:nvSpPr>
            <p:cNvPr id="66" name="TextBox 66"/>
            <p:cNvSpPr txBox="1"/>
            <p:nvPr/>
          </p:nvSpPr>
          <p:spPr>
            <a:xfrm>
              <a:off x="8909685" y="50990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0.8</a:t>
              </a:r>
            </a:p>
          </p:txBody>
        </p:sp>
        <p:sp>
          <p:nvSpPr>
            <p:cNvPr id="67" name="TextBox 67"/>
            <p:cNvSpPr txBox="1"/>
            <p:nvPr/>
          </p:nvSpPr>
          <p:spPr>
            <a:xfrm>
              <a:off x="6318885" y="5299075"/>
              <a:ext cx="46375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재포장</a:t>
              </a:r>
            </a:p>
          </p:txBody>
        </p:sp>
        <p:sp>
          <p:nvSpPr>
            <p:cNvPr id="68" name="Rectangle 68"/>
            <p:cNvSpPr/>
            <p:nvPr/>
          </p:nvSpPr>
          <p:spPr>
            <a:xfrm>
              <a:off x="7696200" y="5324475"/>
              <a:ext cx="381000" cy="142875"/>
            </a:xfrm>
            <a:prstGeom prst="rect">
              <a:avLst/>
            </a:prstGeom>
            <a:solidFill>
              <a:srgbClr val="4B5563"/>
            </a:solidFill>
            <a:ln>
              <a:noFill/>
            </a:ln>
          </p:spPr>
        </p:sp>
        <p:sp>
          <p:nvSpPr>
            <p:cNvPr id="69" name="TextBox 69"/>
            <p:cNvSpPr txBox="1"/>
            <p:nvPr/>
          </p:nvSpPr>
          <p:spPr>
            <a:xfrm>
              <a:off x="8909685" y="52990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0.3</a:t>
              </a:r>
            </a:p>
          </p:txBody>
        </p:sp>
        <p:sp>
          <p:nvSpPr>
            <p:cNvPr id="70" name="Line 70"/>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74" name="conclusion"/>
          <p:cNvGrpSpPr/>
          <p:nvPr/>
        </p:nvGrpSpPr>
        <p:grpSpPr>
          <a:xfrm>
            <a:off x="533400" y="5676900"/>
            <a:ext cx="9170702" cy="419100"/>
            <a:chOff x="533400" y="5676900"/>
            <a:chExt cx="9170702" cy="419100"/>
          </a:xfrm>
        </p:grpSpPr>
        <p:sp>
          <p:nvSpPr>
            <p:cNvPr id="72" name="Rectangle 72"/>
            <p:cNvSpPr/>
            <p:nvPr/>
          </p:nvSpPr>
          <p:spPr>
            <a:xfrm>
              <a:off x="533400" y="5676900"/>
              <a:ext cx="38100" cy="419100"/>
            </a:xfrm>
            <a:prstGeom prst="rect">
              <a:avLst/>
            </a:prstGeom>
            <a:solidFill>
              <a:srgbClr val="F5B700"/>
            </a:solidFill>
            <a:ln>
              <a:noFill/>
            </a:ln>
          </p:spPr>
        </p:sp>
        <p:sp>
          <p:nvSpPr>
            <p:cNvPr id="73" name="TextBox 73"/>
            <p:cNvSpPr txBox="1"/>
            <p:nvPr/>
          </p:nvSpPr>
          <p:spPr>
            <a:xfrm>
              <a:off x="715899" y="5772150"/>
              <a:ext cx="898820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이상 자란 공동은 오탐 요인의 2배 넘는 신호, 5cm는 경계 — 주행선 정합이 관건입니다.</a:t>
              </a:r>
            </a:p>
          </p:txBody>
        </p:sp>
      </p:grpSp>
      <p:grpSp>
        <p:nvGrpSpPr>
          <p:cNvPr id="76" name="source"/>
          <p:cNvGrpSpPr/>
          <p:nvPr/>
        </p:nvGrpSpPr>
        <p:grpSpPr>
          <a:xfrm>
            <a:off x="528447" y="6381750"/>
            <a:ext cx="10106309" cy="191643"/>
            <a:chOff x="528447" y="6381750"/>
            <a:chExt cx="10106309" cy="191643"/>
          </a:xfrm>
        </p:grpSpPr>
        <p:sp>
          <p:nvSpPr>
            <p:cNvPr id="75" name="TextBox 75"/>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79" name="footer"/>
          <p:cNvGrpSpPr/>
          <p:nvPr/>
        </p:nvGrpSpPr>
        <p:grpSpPr>
          <a:xfrm>
            <a:off x="528638" y="6610350"/>
            <a:ext cx="11134724" cy="176212"/>
            <a:chOff x="528638" y="6610350"/>
            <a:chExt cx="11134724" cy="176212"/>
          </a:xfrm>
        </p:grpSpPr>
        <p:sp>
          <p:nvSpPr>
            <p:cNvPr id="77" name="TextBox 77"/>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8" name="TextBox 7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15</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636081" cy="586740"/>
            <a:chOff x="518160" y="774700"/>
            <a:chExt cx="9636081" cy="586740"/>
          </a:xfrm>
        </p:grpSpPr>
        <p:sp>
          <p:nvSpPr>
            <p:cNvPr id="17" name="TextBox 17"/>
            <p:cNvSpPr txBox="1"/>
            <p:nvPr/>
          </p:nvSpPr>
          <p:spPr>
            <a:xfrm>
              <a:off x="518160" y="774700"/>
              <a:ext cx="963608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FFFFFF"/>
              </a:solidFill>
              <a:ln w="19050">
                <a:solidFill>
                  <a:srgbClr val="0B1E3C"/>
                </a:solid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GroundWatch Cloud</a:t>
                </a:r>
              </a:p>
            </p:txBody>
          </p:sp>
          <p:sp>
            <p:nvSpPr>
              <p:cNvPr id="21" name="TextBox 21"/>
              <p:cNvSpPr txBox="1"/>
              <p:nvPr/>
            </p:nvSpPr>
            <p:spPr>
              <a:xfrm>
                <a:off x="646445" y="1727200"/>
                <a:ext cx="1678910"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FFFFFF"/>
              </a:solidFill>
              <a:ln w="19050">
                <a:solidFill>
                  <a:srgbClr val="0B1E3C"/>
                </a:solid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Patrol 차량 앱</a:t>
                </a:r>
              </a:p>
            </p:txBody>
          </p:sp>
          <p:sp>
            <p:nvSpPr>
              <p:cNvPr id="24" name="TextBox 24"/>
              <p:cNvSpPr txBox="1"/>
              <p:nvPr/>
            </p:nvSpPr>
            <p:spPr>
              <a:xfrm>
                <a:off x="3268833" y="1727200"/>
                <a:ext cx="1044235"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FFFFFF"/>
              </a:solidFill>
              <a:ln w="19050">
                <a:solidFill>
                  <a:srgbClr val="0B1E3C"/>
                </a:solid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Edge Gateway</a:t>
                </a:r>
              </a:p>
            </p:txBody>
          </p:sp>
          <p:sp>
            <p:nvSpPr>
              <p:cNvPr id="27" name="TextBox 27"/>
              <p:cNvSpPr txBox="1"/>
              <p:nvPr/>
            </p:nvSpPr>
            <p:spPr>
              <a:xfrm>
                <a:off x="5325105" y="1727200"/>
                <a:ext cx="1541790"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05542" y="1727200"/>
                <a:ext cx="1391016"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784431" y="1727200"/>
                <a:ext cx="1843339"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447" y="6343650"/>
            <a:ext cx="8746670" cy="191643"/>
            <a:chOff x="528447" y="6343650"/>
            <a:chExt cx="8746670" cy="191643"/>
          </a:xfrm>
        </p:grpSpPr>
        <p:sp>
          <p:nvSpPr>
            <p:cNvPr id="68" name="TextBox 68"/>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15</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4"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876550" y="2428875"/>
              <a:ext cx="2724150" cy="1969738"/>
              <a:chOff x="2876550" y="2428875"/>
              <a:chExt cx="2724150" cy="1969738"/>
            </a:xfrm>
          </p:grpSpPr>
          <p:sp>
            <p:nvSpPr>
              <p:cNvPr id="20" name="Ellipse 20"/>
              <p:cNvSpPr/>
              <p:nvPr/>
            </p:nvSpPr>
            <p:spPr>
              <a:xfrm>
                <a:off x="2876550" y="2676525"/>
                <a:ext cx="323850" cy="323850"/>
              </a:xfrm>
              <a:prstGeom prst="ellipse">
                <a:avLst/>
              </a:prstGeom>
              <a:solidFill>
                <a:srgbClr val="F5B700"/>
              </a:solidFill>
              <a:ln w="19050">
                <a:solidFill>
                  <a:srgbClr val="0B1E3C"/>
                </a:solidFill>
              </a:ln>
            </p:spPr>
          </p:sp>
          <p:sp>
            <p:nvSpPr>
              <p:cNvPr id="21" name="TextBox 21"/>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4592212" y="4074763"/>
                <a:ext cx="323850" cy="323850"/>
              </a:xfrm>
              <a:prstGeom prst="ellipse">
                <a:avLst/>
              </a:prstGeom>
              <a:solidFill>
                <a:srgbClr val="F5B700"/>
              </a:solidFill>
              <a:ln w="19050">
                <a:solidFill>
                  <a:srgbClr val="0B1E3C"/>
                </a:solidFill>
              </a:ln>
            </p:spPr>
          </p:sp>
          <p:sp>
            <p:nvSpPr>
              <p:cNvPr id="27" name="TextBox 27"/>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a:t>
              </a:r>
            </a:p>
          </p:txBody>
        </p:sp>
        <p:sp>
          <p:nvSpPr>
            <p:cNvPr id="30" name="TextBox 30"/>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1" name="TextBox 31"/>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a:t>
              </a:r>
            </a:p>
          </p:txBody>
        </p:sp>
        <p:sp>
          <p:nvSpPr>
            <p:cNvPr id="32" name="TextBox 32"/>
            <p:cNvSpPr txBox="1"/>
            <p:nvPr/>
          </p:nvSpPr>
          <p:spPr>
            <a:xfrm>
              <a:off x="3804285" y="5060950"/>
              <a:ext cx="2102756"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바닥 아래 차량형 다채널 GPR</a:t>
              </a:r>
            </a:p>
          </p:txBody>
        </p:sp>
        <p:sp>
          <p:nvSpPr>
            <p:cNvPr id="33" name="TextBox 33"/>
            <p:cNvSpPr txBox="1"/>
            <p:nvPr/>
          </p:nvSpPr>
          <p:spPr>
            <a:xfrm>
              <a:off x="528447" y="5334000"/>
              <a:ext cx="366106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 장착 위치는 배터리 팩 간섭 시험 후 확정</a:t>
              </a:r>
            </a:p>
          </p:txBody>
        </p:sp>
      </p:grpSp>
      <p:grpSp>
        <p:nvGrpSpPr>
          <p:cNvPr id="58" name="spec"/>
          <p:cNvGrpSpPr/>
          <p:nvPr/>
        </p:nvGrpSpPr>
        <p:grpSpPr>
          <a:xfrm>
            <a:off x="6622923" y="1466850"/>
            <a:ext cx="5035677" cy="3776028"/>
            <a:chOff x="6622923" y="1466850"/>
            <a:chExt cx="5035677" cy="3776028"/>
          </a:xfrm>
        </p:grpSpPr>
        <p:grpSp>
          <p:nvGrpSpPr>
            <p:cNvPr id="37" name="Group 37"/>
            <p:cNvGrpSpPr/>
            <p:nvPr/>
          </p:nvGrpSpPr>
          <p:grpSpPr>
            <a:xfrm>
              <a:off x="6624447" y="1466850"/>
              <a:ext cx="2877266" cy="191643"/>
              <a:chOff x="6624447" y="1466850"/>
              <a:chExt cx="2877266" cy="191643"/>
            </a:xfrm>
          </p:grpSpPr>
          <p:sp>
            <p:nvSpPr>
              <p:cNvPr id="35" name="TextBox 35"/>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6" name="TextBox 36"/>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8" name="Line 38"/>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9" name="TextBox 39"/>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40" name="TextBox 40"/>
            <p:cNvSpPr txBox="1"/>
            <p:nvPr/>
          </p:nvSpPr>
          <p:spPr>
            <a:xfrm>
              <a:off x="8242554" y="1885950"/>
              <a:ext cx="24949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최대 적재 550kg</a:t>
              </a:r>
            </a:p>
          </p:txBody>
        </p:sp>
        <p:sp>
          <p:nvSpPr>
            <p:cNvPr id="41" name="TextBox 41"/>
            <p:cNvSpPr txBox="1"/>
            <p:nvPr/>
          </p:nvSpPr>
          <p:spPr>
            <a:xfrm>
              <a:off x="8242935" y="2127250"/>
              <a:ext cx="3298312"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순정 액세서리 장착 기준 · 장비 약 300kg [가설]</a:t>
              </a:r>
            </a:p>
          </p:txBody>
        </p:sp>
        <p:sp>
          <p:nvSpPr>
            <p:cNvPr id="42" name="Line 42"/>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3" name="TextBox 43"/>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4" name="TextBox 44"/>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5" name="TextBox 45"/>
            <p:cNvSpPr txBox="1"/>
            <p:nvPr/>
          </p:nvSpPr>
          <p:spPr>
            <a:xfrm>
              <a:off x="8242935" y="2851150"/>
              <a:ext cx="341253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장비 1.5kW · 하루 10kWh = 배터리의 14% [가설]</a:t>
              </a:r>
            </a:p>
          </p:txBody>
        </p:sp>
        <p:sp>
          <p:nvSpPr>
            <p:cNvPr id="46" name="Line 46"/>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7" name="TextBox 47"/>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8" name="TextBox 48"/>
            <p:cNvSpPr txBox="1"/>
            <p:nvPr/>
          </p:nvSpPr>
          <p:spPr>
            <a:xfrm>
              <a:off x="8242554" y="3333750"/>
              <a:ext cx="267492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L-Track·몰리 패널 (순정 액세서리)</a:t>
              </a:r>
            </a:p>
          </p:txBody>
        </p:sp>
        <p:sp>
          <p:nvSpPr>
            <p:cNvPr id="49" name="TextBox 49"/>
            <p:cNvSpPr txBox="1"/>
            <p:nvPr/>
          </p:nvSpPr>
          <p:spPr>
            <a:xfrm>
              <a:off x="8242935" y="357505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회차마다 같은 자리에 장착</a:t>
              </a:r>
            </a:p>
          </p:txBody>
        </p:sp>
        <p:sp>
          <p:nvSpPr>
            <p:cNvPr id="50" name="Line 50"/>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1" name="TextBox 51"/>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2" name="TextBox 52"/>
            <p:cNvSpPr txBox="1"/>
            <p:nvPr/>
          </p:nvSpPr>
          <p:spPr>
            <a:xfrm>
              <a:off x="8242554" y="4057650"/>
              <a:ext cx="2890647"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Pleos Connect SDK · Navihelper · PIM</a:t>
              </a:r>
            </a:p>
          </p:txBody>
        </p:sp>
        <p:sp>
          <p:nvSpPr>
            <p:cNvPr id="53" name="TextBox 53"/>
            <p:cNvSpPr txBox="1"/>
            <p:nvPr/>
          </p:nvSpPr>
          <p:spPr>
            <a:xfrm>
              <a:off x="8242935" y="4298950"/>
              <a:ext cx="25821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재확인 지점 안내, 화면에서 장비 제어</a:t>
              </a:r>
            </a:p>
          </p:txBody>
        </p:sp>
        <p:sp>
          <p:nvSpPr>
            <p:cNvPr id="54" name="Line 54"/>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5" name="TextBox 55"/>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운영</a:t>
              </a:r>
            </a:p>
          </p:txBody>
        </p:sp>
        <p:sp>
          <p:nvSpPr>
            <p:cNvPr id="56" name="TextBox 56"/>
            <p:cNvSpPr txBox="1"/>
            <p:nvPr/>
          </p:nvSpPr>
          <p:spPr>
            <a:xfrm>
              <a:off x="8242554" y="4781550"/>
              <a:ext cx="22942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 Pleos Fleet 관제</a:t>
              </a:r>
            </a:p>
          </p:txBody>
        </p:sp>
        <p:sp>
          <p:nvSpPr>
            <p:cNvPr id="57" name="TextBox 57"/>
            <p:cNvSpPr txBox="1"/>
            <p:nvPr/>
          </p:nvSpPr>
          <p:spPr>
            <a:xfrm>
              <a:off x="8242935" y="5022850"/>
              <a:ext cx="29289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같은 탐사실을 복제, 단말기 없이 플릿 관제</a:t>
              </a:r>
            </a:p>
          </p:txBody>
        </p:sp>
      </p:grpSp>
      <p:grpSp>
        <p:nvGrpSpPr>
          <p:cNvPr id="61" name="conclusion"/>
          <p:cNvGrpSpPr/>
          <p:nvPr/>
        </p:nvGrpSpPr>
        <p:grpSpPr>
          <a:xfrm>
            <a:off x="533400" y="5695950"/>
            <a:ext cx="6764768" cy="419100"/>
            <a:chOff x="533400" y="5695950"/>
            <a:chExt cx="6764768" cy="419100"/>
          </a:xfrm>
        </p:grpSpPr>
        <p:sp>
          <p:nvSpPr>
            <p:cNvPr id="59" name="Rectangle 59"/>
            <p:cNvSpPr/>
            <p:nvPr/>
          </p:nvSpPr>
          <p:spPr>
            <a:xfrm>
              <a:off x="533400" y="5695950"/>
              <a:ext cx="38100" cy="419100"/>
            </a:xfrm>
            <a:prstGeom prst="rect">
              <a:avLst/>
            </a:prstGeom>
            <a:solidFill>
              <a:srgbClr val="F5B700"/>
            </a:solidFill>
            <a:ln>
              <a:noFill/>
            </a:ln>
          </p:spPr>
        </p:sp>
        <p:sp>
          <p:nvSpPr>
            <p:cNvPr id="60" name="TextBox 60"/>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3" name="source"/>
          <p:cNvGrpSpPr/>
          <p:nvPr/>
        </p:nvGrpSpPr>
        <p:grpSpPr>
          <a:xfrm>
            <a:off x="528447" y="6381750"/>
            <a:ext cx="10195055" cy="191643"/>
            <a:chOff x="528447" y="6381750"/>
            <a:chExt cx="10195055" cy="191643"/>
          </a:xfrm>
        </p:grpSpPr>
        <p:sp>
          <p:nvSpPr>
            <p:cNvPr id="62" name="TextBox 62"/>
            <p:cNvSpPr txBox="1"/>
            <p:nvPr/>
          </p:nvSpPr>
          <p:spPr>
            <a:xfrm>
              <a:off x="528447" y="6381750"/>
              <a:ext cx="1019505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카탈로그(2026.9)·공식 제원표 · 공모전 솔루션 부문 안내(Pleos Connect SDK) · 오토뷰(2026.1.28, PIM) · V2L 3.6kW 해외 제원 · 배치는 콘셉트</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15</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6740804" cy="586740"/>
            <a:chOff x="518160" y="774700"/>
            <a:chExt cx="6740804" cy="586740"/>
          </a:xfrm>
        </p:grpSpPr>
        <p:sp>
          <p:nvSpPr>
            <p:cNvPr id="17" name="TextBox 17"/>
            <p:cNvSpPr txBox="1"/>
            <p:nvPr/>
          </p:nvSpPr>
          <p:spPr>
            <a:xfrm>
              <a:off x="518160" y="774700"/>
              <a:ext cx="6740804"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10338264" cy="264033"/>
            <a:chOff x="526542" y="1339850"/>
            <a:chExt cx="10338264" cy="264033"/>
          </a:xfrm>
        </p:grpSpPr>
        <p:sp>
          <p:nvSpPr>
            <p:cNvPr id="19" name="TextBox 19"/>
            <p:cNvSpPr txBox="1"/>
            <p:nvPr/>
          </p:nvSpPr>
          <p:spPr>
            <a:xfrm>
              <a:off x="526542" y="1339850"/>
              <a:ext cx="10338264"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차값 차이는 최대 1,354만 원, 차량형 GPR은 대당 2억~8억 원(서울시 약 5억 원)입니다. 그래서 전원·고정 구조로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085" y="2108200"/>
              <a:ext cx="7928508" cy="220028"/>
              <a:chOff x="2204085" y="2108200"/>
              <a:chExt cx="7928508" cy="220028"/>
            </a:xfrm>
          </p:grpSpPr>
          <p:sp>
            <p:nvSpPr>
              <p:cNvPr id="28" name="TextBox 28"/>
              <p:cNvSpPr txBox="1"/>
              <p:nvPr/>
            </p:nvSpPr>
            <p:spPr>
              <a:xfrm>
                <a:off x="2204085" y="2108200"/>
                <a:ext cx="938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롱 · 롱레인지</a:t>
                </a:r>
              </a:p>
            </p:txBody>
          </p:sp>
          <p:sp>
            <p:nvSpPr>
              <p:cNvPr id="29" name="TextBox 29"/>
              <p:cNvSpPr txBox="1"/>
              <p:nvPr/>
            </p:nvSpPr>
            <p:spPr>
              <a:xfrm>
                <a:off x="4604385" y="2108200"/>
                <a:ext cx="39590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3인승</a:t>
                </a:r>
              </a:p>
            </p:txBody>
          </p:sp>
          <p:sp>
            <p:nvSpPr>
              <p:cNvPr id="30" name="TextBox 30"/>
              <p:cNvSpPr txBox="1"/>
              <p:nvPr/>
            </p:nvSpPr>
            <p:spPr>
              <a:xfrm>
                <a:off x="7004685" y="210820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카고 스타일</a:t>
                </a:r>
              </a:p>
            </p:txBody>
          </p:sp>
          <p:sp>
            <p:nvSpPr>
              <p:cNvPr id="31" name="TextBox 31"/>
              <p:cNvSpPr txBox="1"/>
              <p:nvPr/>
            </p:nvSpPr>
            <p:spPr>
              <a:xfrm>
                <a:off x="9404985" y="2108200"/>
                <a:ext cx="7276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08250"/>
              <a:ext cx="662022" cy="1477328"/>
              <a:chOff x="527685" y="2508250"/>
              <a:chExt cx="662022" cy="1477328"/>
            </a:xfrm>
          </p:grpSpPr>
          <p:sp>
            <p:nvSpPr>
              <p:cNvPr id="34" name="TextBox 34"/>
              <p:cNvSpPr txBox="1"/>
              <p:nvPr/>
            </p:nvSpPr>
            <p:spPr>
              <a:xfrm>
                <a:off x="527685" y="2508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66291"/>
              <a:chOff x="533400" y="2495550"/>
              <a:chExt cx="11125200" cy="1566291"/>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1799" y="3257550"/>
                <a:ext cx="1090135" cy="308991"/>
              </a:xfrm>
              <a:prstGeom prst="rect">
                <a:avLst/>
              </a:prstGeom>
              <a:noFill/>
              <a:ln>
                <a:noFill/>
              </a:ln>
            </p:spPr>
            <p:txBody>
              <a:bodyPr wrap="none" lIns="0" tIns="0" rIns="0" bIns="0" anchor="t" anchorCtr="0">
                <a:spAutoFit/>
              </a:bodyPr>
              <a:lstStyle/>
              <a:p>
                <a:pPr algn="l"/>
                <a:r>
                  <a:rPr lang="ko-KR" sz="1580"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1799" y="3752850"/>
                <a:ext cx="643466" cy="308991"/>
              </a:xfrm>
              <a:prstGeom prst="rect">
                <a:avLst/>
              </a:prstGeom>
              <a:noFill/>
              <a:ln>
                <a:noFill/>
              </a:ln>
            </p:spPr>
            <p:txBody>
              <a:bodyPr wrap="none" lIns="0" tIns="0" rIns="0" bIns="0" anchor="t" anchorCtr="0">
                <a:spAutoFit/>
              </a:bodyPr>
              <a:lstStyle/>
              <a:p>
                <a:pPr algn="l"/>
                <a:r>
                  <a:rPr lang="en-US" sz="1580"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8" name="kit"/>
          <p:cNvGrpSpPr/>
          <p:nvPr/>
        </p:nvGrpSpPr>
        <p:grpSpPr>
          <a:xfrm>
            <a:off x="527685" y="4248150"/>
            <a:ext cx="11130915" cy="1353693"/>
            <a:chOff x="527685" y="4248150"/>
            <a:chExt cx="11130915" cy="1353693"/>
          </a:xfrm>
        </p:grpSpPr>
        <p:pic>
          <p:nvPicPr>
            <p:cNvPr id="54" name="Image 54"/>
            <p:cNvPicPr>
              <a:picLocks noChangeAspect="1"/>
            </p:cNvPicPr>
            <p:nvPr/>
          </p:nvPicPr>
          <p:blipFill>
            <a:blip r:embed="rId2"/>
            <a:srcRect l="0" t="28446" r="0" b="28445"/>
            <a:stretch>
              <a:fillRect/>
            </a:stretch>
          </p:blipFill>
          <p:spPr>
            <a:xfrm>
              <a:off x="533400" y="4248150"/>
              <a:ext cx="2609850" cy="876300"/>
            </a:xfrm>
            <a:prstGeom prst="rect">
              <a:avLst/>
            </a:prstGeom>
          </p:spPr>
        </p:pic>
        <p:sp>
          <p:nvSpPr>
            <p:cNvPr id="55" name="TextBox 55"/>
            <p:cNvSpPr txBox="1"/>
            <p:nvPr/>
          </p:nvSpPr>
          <p:spPr>
            <a:xfrm>
              <a:off x="527685" y="5194300"/>
              <a:ext cx="1641486"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카고룸 실내 V2L 콘센트</a:t>
              </a:r>
            </a:p>
          </p:txBody>
        </p:sp>
        <p:sp>
          <p:nvSpPr>
            <p:cNvPr id="56" name="TextBox 56"/>
            <p:cNvSpPr txBox="1"/>
            <p:nvPr/>
          </p:nvSpPr>
          <p:spPr>
            <a:xfrm>
              <a:off x="528447" y="5410200"/>
              <a:ext cx="1624899"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시동 없이 GPR·컴퓨터 전원</a:t>
              </a:r>
            </a:p>
          </p:txBody>
        </p:sp>
        <p:pic>
          <p:nvPicPr>
            <p:cNvPr id="57" name="Image 57"/>
            <p:cNvPicPr>
              <a:picLocks noChangeAspect="1"/>
            </p:cNvPicPr>
            <p:nvPr/>
          </p:nvPicPr>
          <p:blipFill>
            <a:blip r:embed="rId3"/>
            <a:srcRect l="0" t="24858" r="0" b="24858"/>
            <a:stretch>
              <a:fillRect/>
            </a:stretch>
          </p:blipFill>
          <p:spPr>
            <a:xfrm>
              <a:off x="3371850" y="4248150"/>
              <a:ext cx="2609850" cy="876300"/>
            </a:xfrm>
            <a:prstGeom prst="rect">
              <a:avLst/>
            </a:prstGeom>
          </p:spPr>
        </p:pic>
        <p:sp>
          <p:nvSpPr>
            <p:cNvPr id="58" name="TextBox 58"/>
            <p:cNvSpPr txBox="1"/>
            <p:nvPr/>
          </p:nvSpPr>
          <p:spPr>
            <a:xfrm>
              <a:off x="3366135" y="5194300"/>
              <a:ext cx="1482192"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L-Track 러기지 트림</a:t>
              </a:r>
            </a:p>
          </p:txBody>
        </p:sp>
        <p:sp>
          <p:nvSpPr>
            <p:cNvPr id="59" name="TextBox 59"/>
            <p:cNvSpPr txBox="1"/>
            <p:nvPr/>
          </p:nvSpPr>
          <p:spPr>
            <a:xfrm>
              <a:off x="3366897" y="5410200"/>
              <a:ext cx="1883278"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회차마다 같은 자리에 장비 고정</a:t>
              </a:r>
            </a:p>
          </p:txBody>
        </p:sp>
        <p:pic>
          <p:nvPicPr>
            <p:cNvPr id="60" name="Image 60"/>
            <p:cNvPicPr>
              <a:picLocks noChangeAspect="1"/>
            </p:cNvPicPr>
            <p:nvPr/>
          </p:nvPicPr>
          <p:blipFill>
            <a:blip r:embed="rId4"/>
            <a:srcRect l="0" t="25152" r="0" b="25152"/>
            <a:stretch>
              <a:fillRect/>
            </a:stretch>
          </p:blipFill>
          <p:spPr>
            <a:xfrm>
              <a:off x="6210300" y="4248150"/>
              <a:ext cx="2609850" cy="876300"/>
            </a:xfrm>
            <a:prstGeom prst="rect">
              <a:avLst/>
            </a:prstGeom>
          </p:spPr>
        </p:pic>
        <p:sp>
          <p:nvSpPr>
            <p:cNvPr id="61" name="TextBox 61"/>
            <p:cNvSpPr txBox="1"/>
            <p:nvPr/>
          </p:nvSpPr>
          <p:spPr>
            <a:xfrm>
              <a:off x="6204585" y="5194300"/>
              <a:ext cx="2228944"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카고룸 2,255×1,565×1,520mm</a:t>
              </a:r>
            </a:p>
          </p:txBody>
        </p:sp>
        <p:sp>
          <p:nvSpPr>
            <p:cNvPr id="62" name="TextBox 62"/>
            <p:cNvSpPr txBox="1"/>
            <p:nvPr/>
          </p:nvSpPr>
          <p:spPr>
            <a:xfrm>
              <a:off x="6205347" y="5410200"/>
              <a:ext cx="1794538"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랙·수동 GPR 카트를 함께 적재</a:t>
              </a:r>
            </a:p>
          </p:txBody>
        </p:sp>
        <p:sp>
          <p:nvSpPr>
            <p:cNvPr id="63" name="Rectangle 63"/>
            <p:cNvSpPr/>
            <p:nvPr/>
          </p:nvSpPr>
          <p:spPr>
            <a:xfrm>
              <a:off x="9048750" y="4248150"/>
              <a:ext cx="2609850" cy="28575"/>
            </a:xfrm>
            <a:prstGeom prst="rect">
              <a:avLst/>
            </a:prstGeom>
            <a:solidFill>
              <a:srgbClr val="C62828"/>
            </a:solidFill>
            <a:ln>
              <a:noFill/>
            </a:ln>
          </p:spPr>
        </p:sp>
        <p:sp>
          <p:nvSpPr>
            <p:cNvPr id="64" name="TextBox 64"/>
            <p:cNvSpPr txBox="1"/>
            <p:nvPr/>
          </p:nvSpPr>
          <p:spPr>
            <a:xfrm>
              <a:off x="904303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65" name="TextBox 65"/>
            <p:cNvSpPr txBox="1"/>
            <p:nvPr/>
          </p:nvSpPr>
          <p:spPr>
            <a:xfrm>
              <a:off x="9042654" y="4648200"/>
              <a:ext cx="236265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주행거리 377km는 스타리아보다</a:t>
              </a:r>
            </a:p>
          </p:txBody>
        </p:sp>
        <p:sp>
          <p:nvSpPr>
            <p:cNvPr id="66" name="TextBox 66"/>
            <p:cNvSpPr txBox="1"/>
            <p:nvPr/>
          </p:nvSpPr>
          <p:spPr>
            <a:xfrm>
              <a:off x="9042654" y="487680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10km 짧습니다. 하루 순찰 약</a:t>
              </a:r>
            </a:p>
          </p:txBody>
        </p:sp>
        <p:sp>
          <p:nvSpPr>
            <p:cNvPr id="67" name="TextBox 67"/>
            <p:cNvSpPr txBox="1"/>
            <p:nvPr/>
          </p:nvSpPr>
          <p:spPr>
            <a:xfrm>
              <a:off x="9042654" y="5105400"/>
              <a:ext cx="2217268"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 xml:space="preserve">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 충분합니다.</a:t>
              </a:r>
            </a:p>
          </p:txBody>
        </p:sp>
      </p:grpSp>
      <p:grpSp>
        <p:nvGrpSpPr>
          <p:cNvPr id="71" name="conclusion"/>
          <p:cNvGrpSpPr/>
          <p:nvPr/>
        </p:nvGrpSpPr>
        <p:grpSpPr>
          <a:xfrm>
            <a:off x="533400" y="5657850"/>
            <a:ext cx="8992086" cy="495300"/>
            <a:chOff x="533400" y="5657850"/>
            <a:chExt cx="8992086" cy="495300"/>
          </a:xfrm>
        </p:grpSpPr>
        <p:sp>
          <p:nvSpPr>
            <p:cNvPr id="69" name="Rectangle 69"/>
            <p:cNvSpPr/>
            <p:nvPr/>
          </p:nvSpPr>
          <p:spPr>
            <a:xfrm>
              <a:off x="533400" y="5657850"/>
              <a:ext cx="38100" cy="495300"/>
            </a:xfrm>
            <a:prstGeom prst="rect">
              <a:avLst/>
            </a:prstGeom>
            <a:solidFill>
              <a:srgbClr val="F5B700"/>
            </a:solidFill>
            <a:ln>
              <a:noFill/>
            </a:ln>
          </p:spPr>
        </p:sp>
        <p:sp>
          <p:nvSpPr>
            <p:cNvPr id="70" name="TextBox 70"/>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73" name="source"/>
          <p:cNvGrpSpPr/>
          <p:nvPr/>
        </p:nvGrpSpPr>
        <p:grpSpPr>
          <a:xfrm>
            <a:off x="528447" y="6248400"/>
            <a:ext cx="9107932" cy="344043"/>
            <a:chOff x="528447" y="6248400"/>
            <a:chExt cx="9107932" cy="344043"/>
          </a:xfrm>
        </p:grpSpPr>
        <p:sp>
          <p:nvSpPr>
            <p:cNvPr id="72" name="TextBox 72"/>
            <p:cNvSpPr txBox="1"/>
            <p:nvPr/>
          </p:nvSpPr>
          <p:spPr>
            <a:xfrm>
              <a:off x="528447" y="6248400"/>
              <a:ext cx="9107932"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기아 PV5 카고 가격표(2026.10.1)·제원 · 오토뷰(2026.1.28, PV5 컨버전 포털) · 스타리아 일렉트릭 출시(2026.4.23) · ST1(2025.7.16, 317km)</a:t>
              </a:r>
              <a:br>
                <a:rPr lang="ko-KR" sz="980" dirty="0">
                  <a:solidFill>
                    <a:srgbClr val="4B5563"/>
                  </a:solidFill>
                  <a:latin typeface="+mn-lt"/>
                  <a:ea typeface="+mn-ea"/>
                  <a:cs typeface="+mn-cs"/>
                </a:rPr>
              </a:br>
              <a:r>
                <a:rPr lang="ko-KR" sz="980" dirty="0">
                  <a:solidFill>
                    <a:srgbClr val="4B5563"/>
                  </a:solidFill>
                  <a:latin typeface="+mn-lt"/>
                  <a:ea typeface="+mn-ea"/>
                  <a:cs typeface="+mn-cs"/>
                </a:rPr>
                <a:t>포터II·봉고III EV(2025년형, 217km) · 시사저널(2025.4.25, 경기도청 인용 GPR 대당 2억~8억 원) · 가격은 보조금 제외 · 사진: 기아 PV5 카고 카탈로그(2026.9)</a:t>
              </a:r>
            </a:p>
          </p:txBody>
        </p:sp>
      </p:grpSp>
      <p:grpSp>
        <p:nvGrpSpPr>
          <p:cNvPr id="76" name="footer"/>
          <p:cNvGrpSpPr/>
          <p:nvPr/>
        </p:nvGrpSpPr>
        <p:grpSpPr>
          <a:xfrm>
            <a:off x="528638" y="6610350"/>
            <a:ext cx="11134724" cy="176212"/>
            <a:chOff x="528638" y="6610350"/>
            <a:chExt cx="11134724" cy="176212"/>
          </a:xfrm>
        </p:grpSpPr>
        <p:sp>
          <p:nvSpPr>
            <p:cNvPr id="74" name="TextBox 7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5" name="TextBox 7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15</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확인됐습니다(5장).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22450"/>
            <a:ext cx="11130915" cy="2069402"/>
            <a:chOff x="527685" y="1822450"/>
            <a:chExt cx="11130915" cy="2069402"/>
          </a:xfrm>
        </p:grpSpPr>
        <p:grpSp>
          <p:nvGrpSpPr>
            <p:cNvPr id="24" name="Group 24"/>
            <p:cNvGrpSpPr/>
            <p:nvPr/>
          </p:nvGrpSpPr>
          <p:grpSpPr>
            <a:xfrm>
              <a:off x="527685" y="1822450"/>
              <a:ext cx="8391445" cy="220028"/>
              <a:chOff x="527685" y="1822450"/>
              <a:chExt cx="8391445" cy="220028"/>
            </a:xfrm>
          </p:grpSpPr>
          <p:sp>
            <p:nvSpPr>
              <p:cNvPr id="21" name="TextBox 21"/>
              <p:cNvSpPr txBox="1"/>
              <p:nvPr/>
            </p:nvSpPr>
            <p:spPr>
              <a:xfrm>
                <a:off x="527685" y="182245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질문</a:t>
                </a:r>
              </a:p>
            </p:txBody>
          </p:sp>
          <p:sp>
            <p:nvSpPr>
              <p:cNvPr id="22" name="TextBox 22"/>
              <p:cNvSpPr txBox="1"/>
              <p:nvPr/>
            </p:nvSpPr>
            <p:spPr>
              <a:xfrm>
                <a:off x="4947285" y="1822450"/>
                <a:ext cx="511247"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안 되면</a:t>
                </a:r>
              </a:p>
            </p:txBody>
          </p:sp>
          <p:sp>
            <p:nvSpPr>
              <p:cNvPr id="23" name="TextBox 23"/>
              <p:cNvSpPr txBox="1"/>
              <p:nvPr/>
            </p:nvSpPr>
            <p:spPr>
              <a:xfrm>
                <a:off x="7804785" y="1822450"/>
                <a:ext cx="1114345"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오탐(7장)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통과(7장)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135" y="4699000"/>
              <a:ext cx="101822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060"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6985"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5910" y="4699000"/>
              <a:ext cx="1724604"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4단계 · 소요시간·재방문</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9894644" cy="191643"/>
            <a:chOff x="528447" y="6381750"/>
            <a:chExt cx="9894644" cy="191643"/>
          </a:xfrm>
        </p:grpSpPr>
        <p:sp>
          <p:nvSpPr>
            <p:cNvPr id="74" name="TextBox 74"/>
            <p:cNvSpPr txBox="1"/>
            <p:nvPr/>
          </p:nvSpPr>
          <p:spPr>
            <a:xfrm>
              <a:off x="528447" y="6381750"/>
              <a:ext cx="989464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15</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56630" cy="586740"/>
            <a:chOff x="518160" y="774700"/>
            <a:chExt cx="9156630" cy="586740"/>
          </a:xfrm>
        </p:grpSpPr>
        <p:sp>
          <p:nvSpPr>
            <p:cNvPr id="17" name="TextBox 17"/>
            <p:cNvSpPr txBox="1"/>
            <p:nvPr/>
          </p:nvSpPr>
          <p:spPr>
            <a:xfrm>
              <a:off x="518160" y="774700"/>
              <a:ext cx="915663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4.7만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복구 285곳 포함 · 1회</a:t>
              </a:r>
            </a:p>
          </p:txBody>
        </p:sp>
      </p:grpSp>
      <p:grpSp>
        <p:nvGrpSpPr>
          <p:cNvPr id="45" name="cost"/>
          <p:cNvGrpSpPr/>
          <p:nvPr/>
        </p:nvGrpSpPr>
        <p:grpSpPr>
          <a:xfrm>
            <a:off x="526542" y="2571750"/>
            <a:ext cx="5349240" cy="2671128"/>
            <a:chOff x="526542" y="2571750"/>
            <a:chExt cx="5349240" cy="2671128"/>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114163" y="29527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 원</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29778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5억 원(서울시 구매가) · 5년</a:t>
              </a:r>
            </a:p>
          </p:txBody>
        </p:sp>
        <p:sp>
          <p:nvSpPr>
            <p:cNvPr id="31" name="TextBox 31"/>
            <p:cNvSpPr txBox="1"/>
            <p:nvPr/>
          </p:nvSpPr>
          <p:spPr>
            <a:xfrm>
              <a:off x="5114163" y="32956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 원</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114163" y="36385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 원</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114163" y="39814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114163" y="43243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50623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3.09억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7685" y="5022850"/>
              <a:ext cx="4783440"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6,600km = 하루 30km × 220일 (실제 장비 탐사 속도는 시속 20~30km)</a:t>
              </a:r>
            </a:p>
          </p:txBody>
        </p:sp>
      </p:grpSp>
      <p:grpSp>
        <p:nvGrpSpPr>
          <p:cNvPr id="56" name="compare"/>
          <p:cNvGrpSpPr/>
          <p:nvPr/>
        </p:nvGrpSpPr>
        <p:grpSpPr>
          <a:xfrm>
            <a:off x="6318504" y="2571750"/>
            <a:ext cx="5340096" cy="2406396"/>
            <a:chOff x="6318504" y="2571750"/>
            <a:chExt cx="5340096" cy="2406396"/>
          </a:xfrm>
        </p:grpSpPr>
        <p:sp>
          <p:nvSpPr>
            <p:cNvPr id="46" name="TextBox 46"/>
            <p:cNvSpPr txBox="1"/>
            <p:nvPr/>
          </p:nvSpPr>
          <p:spPr>
            <a:xfrm>
              <a:off x="6318504" y="2571750"/>
              <a:ext cx="191518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도로 1km를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13772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현행 전체 공정 1회</a:t>
              </a:r>
            </a:p>
          </p:txBody>
        </p:sp>
        <p:sp>
          <p:nvSpPr>
            <p:cNvPr id="49" name="Rectangle 49"/>
            <p:cNvSpPr/>
            <p:nvPr/>
          </p:nvSpPr>
          <p:spPr>
            <a:xfrm>
              <a:off x="6324600" y="3276600"/>
              <a:ext cx="4381500" cy="323850"/>
            </a:xfrm>
            <a:prstGeom prst="rect">
              <a:avLst/>
            </a:prstGeom>
            <a:solidFill>
              <a:srgbClr val="9AA3AF"/>
            </a:solidFill>
            <a:ln>
              <a:noFill/>
            </a:ln>
          </p:spPr>
        </p:sp>
        <p:sp>
          <p:nvSpPr>
            <p:cNvPr id="50" name="TextBox 50"/>
            <p:cNvSpPr txBox="1"/>
            <p:nvPr/>
          </p:nvSpPr>
          <p:spPr>
            <a:xfrm>
              <a:off x="10794492" y="3340100"/>
              <a:ext cx="64434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 원</a:t>
              </a:r>
            </a:p>
          </p:txBody>
        </p:sp>
        <p:sp>
          <p:nvSpPr>
            <p:cNvPr id="51" name="TextBox 51"/>
            <p:cNvSpPr txBox="1"/>
            <p:nvPr/>
          </p:nvSpPr>
          <p:spPr>
            <a:xfrm>
              <a:off x="6318504" y="3771900"/>
              <a:ext cx="324588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 반복 탐사 6회 (약 2개월마다)</a:t>
              </a:r>
            </a:p>
          </p:txBody>
        </p:sp>
        <p:sp>
          <p:nvSpPr>
            <p:cNvPr id="52" name="Rectangle 52"/>
            <p:cNvSpPr/>
            <p:nvPr/>
          </p:nvSpPr>
          <p:spPr>
            <a:xfrm>
              <a:off x="6324600" y="4019550"/>
              <a:ext cx="1343025" cy="323850"/>
            </a:xfrm>
            <a:prstGeom prst="rect">
              <a:avLst/>
            </a:prstGeom>
            <a:solidFill>
              <a:srgbClr val="0B1E3C"/>
            </a:solidFill>
            <a:ln>
              <a:noFill/>
            </a:ln>
          </p:spPr>
        </p:sp>
        <p:sp>
          <p:nvSpPr>
            <p:cNvPr id="53" name="TextBox 53"/>
            <p:cNvSpPr txBox="1"/>
            <p:nvPr/>
          </p:nvSpPr>
          <p:spPr>
            <a:xfrm>
              <a:off x="7756017" y="4083050"/>
              <a:ext cx="1870092"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xml:space="preserve">28만 원 </a:t>
              </a:r>
              <a:r>
                <a:rPr lang="ko-KR" sz="1120" dirty="0">
                  <a:solidFill>
                    <a:srgbClr val="4B5563"/>
                  </a:solidFill>
                  <a:latin typeface="+mn-lt"/>
                  <a:ea typeface="+mn-ea"/>
                  <a:cs typeface="+mn-cs"/>
                </a:rPr>
                <a:t>(4.7만 원 × 6회)</a:t>
              </a:r>
            </a:p>
          </p:txBody>
        </p:sp>
        <p:sp>
          <p:nvSpPr>
            <p:cNvPr id="54" name="TextBox 54"/>
            <p:cNvSpPr txBox="1"/>
            <p:nvPr/>
          </p:nvSpPr>
          <p:spPr>
            <a:xfrm>
              <a:off x="6318504" y="4514850"/>
              <a:ext cx="19507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천공·복구 같은 2차 조사는</a:t>
              </a:r>
            </a:p>
          </p:txBody>
        </p:sp>
        <p:sp>
          <p:nvSpPr>
            <p:cNvPr id="55" name="TextBox 55"/>
            <p:cNvSpPr txBox="1"/>
            <p:nvPr/>
          </p:nvSpPr>
          <p:spPr>
            <a:xfrm>
              <a:off x="6318504" y="4743450"/>
              <a:ext cx="257064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변화가 나온 곳에만, 지금 단가대로</a:t>
              </a:r>
            </a:p>
          </p:txBody>
        </p:sp>
      </p:grpSp>
      <p:grpSp>
        <p:nvGrpSpPr>
          <p:cNvPr id="59" name="conclusion"/>
          <p:cNvGrpSpPr/>
          <p:nvPr/>
        </p:nvGrpSpPr>
        <p:grpSpPr>
          <a:xfrm>
            <a:off x="533400" y="5676900"/>
            <a:ext cx="6687434" cy="419100"/>
            <a:chOff x="533400" y="5676900"/>
            <a:chExt cx="6687434" cy="419100"/>
          </a:xfrm>
        </p:grpSpPr>
        <p:sp>
          <p:nvSpPr>
            <p:cNvPr id="57" name="Rectangle 57"/>
            <p:cNvSpPr/>
            <p:nvPr/>
          </p:nvSpPr>
          <p:spPr>
            <a:xfrm>
              <a:off x="533400" y="5676900"/>
              <a:ext cx="38100" cy="419100"/>
            </a:xfrm>
            <a:prstGeom prst="rect">
              <a:avLst/>
            </a:prstGeom>
            <a:solidFill>
              <a:srgbClr val="F5B700"/>
            </a:solidFill>
            <a:ln>
              <a:noFill/>
            </a:ln>
          </p:spPr>
        </p:sp>
        <p:sp>
          <p:nvSpPr>
            <p:cNvPr id="58" name="TextBox 58"/>
            <p:cNvSpPr txBox="1"/>
            <p:nvPr/>
          </p:nvSpPr>
          <p:spPr>
            <a:xfrm>
              <a:off x="715899" y="5772150"/>
              <a:ext cx="650493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1회 전체 탐사비의 약 3분의 1로, 같은 길을 1년에 6번 봅니다.</a:t>
              </a:r>
            </a:p>
          </p:txBody>
        </p:sp>
      </p:grpSp>
      <p:grpSp>
        <p:nvGrpSpPr>
          <p:cNvPr id="61" name="source"/>
          <p:cNvGrpSpPr/>
          <p:nvPr/>
        </p:nvGrpSpPr>
        <p:grpSpPr>
          <a:xfrm>
            <a:off x="528447" y="6381750"/>
            <a:ext cx="10796107" cy="191643"/>
            <a:chOff x="528447" y="6381750"/>
            <a:chExt cx="10796107" cy="191643"/>
          </a:xfrm>
        </p:grpSpPr>
        <p:sp>
          <p:nvSpPr>
            <p:cNvPr id="60" name="TextBox 60"/>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15</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26869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누가 사고 누가 쓰나</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179939" cy="586740"/>
            <a:chOff x="518160" y="774700"/>
            <a:chExt cx="10179939" cy="586740"/>
          </a:xfrm>
        </p:grpSpPr>
        <p:sp>
          <p:nvSpPr>
            <p:cNvPr id="17" name="TextBox 17"/>
            <p:cNvSpPr txBox="1"/>
            <p:nvPr/>
          </p:nvSpPr>
          <p:spPr>
            <a:xfrm>
              <a:off x="518160" y="774700"/>
              <a:ext cx="10179939"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지자체가 사고, 현장팀이 쓰고, 기아는 PV5를 공급합니다</a:t>
              </a:r>
            </a:p>
          </p:txBody>
        </p:sp>
      </p:grpSp>
      <p:grpSp>
        <p:nvGrpSpPr>
          <p:cNvPr id="25" name="who0"/>
          <p:cNvGrpSpPr/>
          <p:nvPr/>
        </p:nvGrpSpPr>
        <p:grpSpPr>
          <a:xfrm>
            <a:off x="524637" y="1600200"/>
            <a:ext cx="2618613" cy="1717167"/>
            <a:chOff x="524637" y="1600200"/>
            <a:chExt cx="2618613" cy="1717167"/>
          </a:xfrm>
        </p:grpSpPr>
        <p:sp>
          <p:nvSpPr>
            <p:cNvPr id="19" name="Rectangle 19"/>
            <p:cNvSpPr/>
            <p:nvPr/>
          </p:nvSpPr>
          <p:spPr>
            <a:xfrm>
              <a:off x="533400" y="1600200"/>
              <a:ext cx="2609850" cy="28575"/>
            </a:xfrm>
            <a:prstGeom prst="rect">
              <a:avLst/>
            </a:prstGeom>
            <a:solidFill>
              <a:srgbClr val="0B1E3C"/>
            </a:solidFill>
            <a:ln>
              <a:noFill/>
            </a:ln>
          </p:spPr>
        </p:sp>
        <p:sp>
          <p:nvSpPr>
            <p:cNvPr id="20" name="TextBox 20"/>
            <p:cNvSpPr txBox="1"/>
            <p:nvPr/>
          </p:nvSpPr>
          <p:spPr>
            <a:xfrm>
              <a:off x="527685" y="17843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구매자</a:t>
              </a:r>
            </a:p>
          </p:txBody>
        </p:sp>
        <p:sp>
          <p:nvSpPr>
            <p:cNvPr id="21" name="TextBox 21"/>
            <p:cNvSpPr txBox="1"/>
            <p:nvPr/>
          </p:nvSpPr>
          <p:spPr>
            <a:xfrm>
              <a:off x="524637" y="2070100"/>
              <a:ext cx="1772069"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지자체·발주기관</a:t>
              </a:r>
            </a:p>
          </p:txBody>
        </p:sp>
        <p:sp>
          <p:nvSpPr>
            <p:cNvPr id="22" name="TextBox 22"/>
            <p:cNvSpPr txBox="1"/>
            <p:nvPr/>
          </p:nvSpPr>
          <p:spPr>
            <a:xfrm>
              <a:off x="526923" y="2533650"/>
              <a:ext cx="188255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서울시·자치구 도로관리</a:t>
              </a:r>
            </a:p>
          </p:txBody>
        </p:sp>
        <p:sp>
          <p:nvSpPr>
            <p:cNvPr id="23" name="TextBox 23"/>
            <p:cNvSpPr txBox="1"/>
            <p:nvPr/>
          </p:nvSpPr>
          <p:spPr>
            <a:xfrm>
              <a:off x="526923" y="2800350"/>
              <a:ext cx="1839478"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도시철도 공사 발주기관</a:t>
              </a:r>
            </a:p>
          </p:txBody>
        </p:sp>
        <p:sp>
          <p:nvSpPr>
            <p:cNvPr id="24" name="TextBox 24"/>
            <p:cNvSpPr txBox="1"/>
            <p:nvPr/>
          </p:nvSpPr>
          <p:spPr>
            <a:xfrm>
              <a:off x="526923" y="3067050"/>
              <a:ext cx="144315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상하수도 관리기관</a:t>
              </a:r>
            </a:p>
          </p:txBody>
        </p:sp>
      </p:grpSp>
      <p:grpSp>
        <p:nvGrpSpPr>
          <p:cNvPr id="32" name="who1"/>
          <p:cNvGrpSpPr/>
          <p:nvPr/>
        </p:nvGrpSpPr>
        <p:grpSpPr>
          <a:xfrm>
            <a:off x="3363087" y="1600200"/>
            <a:ext cx="2618613" cy="1717167"/>
            <a:chOff x="3363087" y="1600200"/>
            <a:chExt cx="2618613" cy="1717167"/>
          </a:xfrm>
        </p:grpSpPr>
        <p:sp>
          <p:nvSpPr>
            <p:cNvPr id="26" name="Rectangle 26"/>
            <p:cNvSpPr/>
            <p:nvPr/>
          </p:nvSpPr>
          <p:spPr>
            <a:xfrm>
              <a:off x="3371850" y="1600200"/>
              <a:ext cx="2609850" cy="28575"/>
            </a:xfrm>
            <a:prstGeom prst="rect">
              <a:avLst/>
            </a:prstGeom>
            <a:solidFill>
              <a:srgbClr val="0B1E3C"/>
            </a:solidFill>
            <a:ln>
              <a:noFill/>
            </a:ln>
          </p:spPr>
        </p:sp>
        <p:sp>
          <p:nvSpPr>
            <p:cNvPr id="27" name="TextBox 27"/>
            <p:cNvSpPr txBox="1"/>
            <p:nvPr/>
          </p:nvSpPr>
          <p:spPr>
            <a:xfrm>
              <a:off x="3366135" y="1784350"/>
              <a:ext cx="81279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실제 사용자</a:t>
              </a:r>
            </a:p>
          </p:txBody>
        </p:sp>
        <p:sp>
          <p:nvSpPr>
            <p:cNvPr id="28" name="TextBox 28"/>
            <p:cNvSpPr txBox="1"/>
            <p:nvPr/>
          </p:nvSpPr>
          <p:spPr>
            <a:xfrm>
              <a:off x="3363087" y="2070100"/>
              <a:ext cx="124819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현장 조사팀</a:t>
              </a:r>
            </a:p>
          </p:txBody>
        </p:sp>
        <p:sp>
          <p:nvSpPr>
            <p:cNvPr id="29" name="TextBox 29"/>
            <p:cNvSpPr txBox="1"/>
            <p:nvPr/>
          </p:nvSpPr>
          <p:spPr>
            <a:xfrm>
              <a:off x="3365373" y="2533650"/>
              <a:ext cx="205487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지하안전·도로관리 담당자</a:t>
              </a:r>
            </a:p>
          </p:txBody>
        </p:sp>
        <p:sp>
          <p:nvSpPr>
            <p:cNvPr id="30" name="TextBox 30"/>
            <p:cNvSpPr txBox="1"/>
            <p:nvPr/>
          </p:nvSpPr>
          <p:spPr>
            <a:xfrm>
              <a:off x="3365373" y="2800350"/>
              <a:ext cx="128124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GPR 판독 전문가</a:t>
              </a:r>
            </a:p>
          </p:txBody>
        </p:sp>
        <p:sp>
          <p:nvSpPr>
            <p:cNvPr id="31" name="TextBox 31"/>
            <p:cNvSpPr txBox="1"/>
            <p:nvPr/>
          </p:nvSpPr>
          <p:spPr>
            <a:xfrm>
              <a:off x="3365373" y="3067050"/>
              <a:ext cx="175332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현장 조사원 (2인 1조)</a:t>
              </a:r>
            </a:p>
          </p:txBody>
        </p:sp>
      </p:grpSp>
      <p:grpSp>
        <p:nvGrpSpPr>
          <p:cNvPr id="39" name="who2"/>
          <p:cNvGrpSpPr/>
          <p:nvPr/>
        </p:nvGrpSpPr>
        <p:grpSpPr>
          <a:xfrm>
            <a:off x="6201537" y="1600200"/>
            <a:ext cx="2618613" cy="1717167"/>
            <a:chOff x="6201537" y="1600200"/>
            <a:chExt cx="2618613" cy="1717167"/>
          </a:xfrm>
        </p:grpSpPr>
        <p:sp>
          <p:nvSpPr>
            <p:cNvPr id="33" name="Rectangle 33"/>
            <p:cNvSpPr/>
            <p:nvPr/>
          </p:nvSpPr>
          <p:spPr>
            <a:xfrm>
              <a:off x="6210300" y="1600200"/>
              <a:ext cx="2609850" cy="28575"/>
            </a:xfrm>
            <a:prstGeom prst="rect">
              <a:avLst/>
            </a:prstGeom>
            <a:solidFill>
              <a:srgbClr val="0B1E3C"/>
            </a:solidFill>
            <a:ln>
              <a:noFill/>
            </a:ln>
          </p:spPr>
        </p:sp>
        <p:sp>
          <p:nvSpPr>
            <p:cNvPr id="34" name="TextBox 34"/>
            <p:cNvSpPr txBox="1"/>
            <p:nvPr/>
          </p:nvSpPr>
          <p:spPr>
            <a:xfrm>
              <a:off x="6204585" y="17843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협력사</a:t>
              </a:r>
            </a:p>
          </p:txBody>
        </p:sp>
        <p:sp>
          <p:nvSpPr>
            <p:cNvPr id="35" name="TextBox 35"/>
            <p:cNvSpPr txBox="1"/>
            <p:nvPr/>
          </p:nvSpPr>
          <p:spPr>
            <a:xfrm>
              <a:off x="6201537" y="2070100"/>
              <a:ext cx="1845006"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장비·조사 파트너</a:t>
              </a:r>
            </a:p>
          </p:txBody>
        </p:sp>
        <p:sp>
          <p:nvSpPr>
            <p:cNvPr id="36" name="TextBox 36"/>
            <p:cNvSpPr txBox="1"/>
            <p:nvPr/>
          </p:nvSpPr>
          <p:spPr>
            <a:xfrm>
              <a:off x="6203823" y="2533650"/>
              <a:ext cx="145648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기존 GPR 조사기관</a:t>
              </a:r>
            </a:p>
          </p:txBody>
        </p:sp>
        <p:sp>
          <p:nvSpPr>
            <p:cNvPr id="37" name="TextBox 37"/>
            <p:cNvSpPr txBox="1"/>
            <p:nvPr/>
          </p:nvSpPr>
          <p:spPr>
            <a:xfrm>
              <a:off x="6203823" y="2800350"/>
              <a:ext cx="181541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PV5 특장(컨버전) 업체</a:t>
              </a:r>
            </a:p>
          </p:txBody>
        </p:sp>
        <p:sp>
          <p:nvSpPr>
            <p:cNvPr id="38" name="TextBox 38"/>
            <p:cNvSpPr txBox="1"/>
            <p:nvPr/>
          </p:nvSpPr>
          <p:spPr>
            <a:xfrm>
              <a:off x="6203823" y="3067050"/>
              <a:ext cx="113982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GIS·AR 장비사</a:t>
              </a:r>
            </a:p>
          </p:txBody>
        </p:sp>
      </p:grpSp>
      <p:grpSp>
        <p:nvGrpSpPr>
          <p:cNvPr id="46" name="who3"/>
          <p:cNvGrpSpPr/>
          <p:nvPr/>
        </p:nvGrpSpPr>
        <p:grpSpPr>
          <a:xfrm>
            <a:off x="9039987" y="1600200"/>
            <a:ext cx="2618613" cy="1717167"/>
            <a:chOff x="9039987" y="1600200"/>
            <a:chExt cx="2618613" cy="1717167"/>
          </a:xfrm>
        </p:grpSpPr>
        <p:sp>
          <p:nvSpPr>
            <p:cNvPr id="40" name="Rectangle 40"/>
            <p:cNvSpPr/>
            <p:nvPr/>
          </p:nvSpPr>
          <p:spPr>
            <a:xfrm>
              <a:off x="9048750" y="1600200"/>
              <a:ext cx="2609850" cy="28575"/>
            </a:xfrm>
            <a:prstGeom prst="rect">
              <a:avLst/>
            </a:prstGeom>
            <a:solidFill>
              <a:srgbClr val="F5B700"/>
            </a:solidFill>
            <a:ln>
              <a:noFill/>
            </a:ln>
          </p:spPr>
        </p:sp>
        <p:sp>
          <p:nvSpPr>
            <p:cNvPr id="41" name="TextBox 41"/>
            <p:cNvSpPr txBox="1"/>
            <p:nvPr/>
          </p:nvSpPr>
          <p:spPr>
            <a:xfrm>
              <a:off x="9043035" y="1784350"/>
              <a:ext cx="1011064"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기아가 얻는 것</a:t>
              </a:r>
            </a:p>
          </p:txBody>
        </p:sp>
        <p:sp>
          <p:nvSpPr>
            <p:cNvPr id="42" name="TextBox 42"/>
            <p:cNvSpPr txBox="1"/>
            <p:nvPr/>
          </p:nvSpPr>
          <p:spPr>
            <a:xfrm>
              <a:off x="9039987" y="2070100"/>
              <a:ext cx="174912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공공 업무용 PV5</a:t>
              </a:r>
            </a:p>
          </p:txBody>
        </p:sp>
        <p:sp>
          <p:nvSpPr>
            <p:cNvPr id="43" name="TextBox 43"/>
            <p:cNvSpPr txBox="1"/>
            <p:nvPr/>
          </p:nvSpPr>
          <p:spPr>
            <a:xfrm>
              <a:off x="9042273" y="2533650"/>
              <a:ext cx="1891172"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탐사형 컨버전 플릿 판매</a:t>
              </a:r>
            </a:p>
          </p:txBody>
        </p:sp>
        <p:sp>
          <p:nvSpPr>
            <p:cNvPr id="44" name="TextBox 44"/>
            <p:cNvSpPr txBox="1"/>
            <p:nvPr/>
          </p:nvSpPr>
          <p:spPr>
            <a:xfrm>
              <a:off x="9042273" y="2800350"/>
              <a:ext cx="234256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Pleos 앱·Fleet 공공 레퍼런스</a:t>
              </a:r>
            </a:p>
          </p:txBody>
        </p:sp>
        <p:sp>
          <p:nvSpPr>
            <p:cNvPr id="45" name="TextBox 45"/>
            <p:cNvSpPr txBox="1"/>
            <p:nvPr/>
          </p:nvSpPr>
          <p:spPr>
            <a:xfrm>
              <a:off x="9042273" y="3067050"/>
              <a:ext cx="223579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같은 키트로 지자체마다 복제</a:t>
              </a:r>
            </a:p>
          </p:txBody>
        </p:sp>
      </p:grpSp>
      <p:grpSp>
        <p:nvGrpSpPr>
          <p:cNvPr id="55" name="data"/>
          <p:cNvGrpSpPr/>
          <p:nvPr/>
        </p:nvGrpSpPr>
        <p:grpSpPr>
          <a:xfrm>
            <a:off x="526542" y="3886200"/>
            <a:ext cx="11132058" cy="1051433"/>
            <a:chOff x="526542" y="3886200"/>
            <a:chExt cx="11132058" cy="1051433"/>
          </a:xfrm>
        </p:grpSpPr>
        <p:sp>
          <p:nvSpPr>
            <p:cNvPr id="47" name="Rectangle 47"/>
            <p:cNvSpPr/>
            <p:nvPr/>
          </p:nvSpPr>
          <p:spPr>
            <a:xfrm>
              <a:off x="533400" y="3886200"/>
              <a:ext cx="5334000" cy="28575"/>
            </a:xfrm>
            <a:prstGeom prst="rect">
              <a:avLst/>
            </a:prstGeom>
            <a:solidFill>
              <a:srgbClr val="0B1E3C"/>
            </a:solidFill>
            <a:ln>
              <a:noFill/>
            </a:ln>
          </p:spPr>
        </p:sp>
        <p:sp>
          <p:nvSpPr>
            <p:cNvPr id="48" name="TextBox 48"/>
            <p:cNvSpPr txBox="1"/>
            <p:nvPr/>
          </p:nvSpPr>
          <p:spPr>
            <a:xfrm>
              <a:off x="527685" y="4070350"/>
              <a:ext cx="151088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기아가 이미 가는 방향</a:t>
              </a:r>
            </a:p>
          </p:txBody>
        </p:sp>
        <p:sp>
          <p:nvSpPr>
            <p:cNvPr id="49" name="TextBox 49"/>
            <p:cNvSpPr txBox="1"/>
            <p:nvPr/>
          </p:nvSpPr>
          <p:spPr>
            <a:xfrm>
              <a:off x="526542" y="4406900"/>
              <a:ext cx="368480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공모전 예시 ‘스마트 순찰 및 재난 대응 차량’</a:t>
              </a:r>
            </a:p>
          </p:txBody>
        </p:sp>
        <p:sp>
          <p:nvSpPr>
            <p:cNvPr id="50" name="TextBox 50"/>
            <p:cNvSpPr txBox="1"/>
            <p:nvPr/>
          </p:nvSpPr>
          <p:spPr>
            <a:xfrm>
              <a:off x="526542" y="4673600"/>
              <a:ext cx="3043649"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2026.6 </a:t>
              </a:r>
              <a:r>
                <a:rPr lang="ko-KR" sz="1350" b="1" dirty="0">
                  <a:solidFill>
                    <a:srgbClr val="0B1E3C"/>
                  </a:solidFill>
                  <a:latin typeface="+mn-lt"/>
                  <a:ea typeface="+mn-ea"/>
                  <a:cs typeface="+mn-cs"/>
                </a:rPr>
                <a:t>경찰청과 PV5 AI 순찰차</a:t>
              </a:r>
              <a:r>
                <a:rPr lang="ko-KR" sz="1350" dirty="0">
                  <a:solidFill>
                    <a:srgbClr val="111827"/>
                  </a:solidFill>
                  <a:latin typeface="+mn-lt"/>
                  <a:ea typeface="+mn-ea"/>
                  <a:cs typeface="+mn-cs"/>
                </a:rPr>
                <a:t xml:space="preserve"> 공개</a:t>
              </a:r>
            </a:p>
          </p:txBody>
        </p:sp>
        <p:sp>
          <p:nvSpPr>
            <p:cNvPr id="51" name="Rectangle 51"/>
            <p:cNvSpPr/>
            <p:nvPr/>
          </p:nvSpPr>
          <p:spPr>
            <a:xfrm>
              <a:off x="6324600" y="3886200"/>
              <a:ext cx="5334000" cy="28575"/>
            </a:xfrm>
            <a:prstGeom prst="rect">
              <a:avLst/>
            </a:prstGeom>
            <a:solidFill>
              <a:srgbClr val="C62828"/>
            </a:solidFill>
            <a:ln>
              <a:noFill/>
            </a:ln>
          </p:spPr>
        </p:sp>
        <p:sp>
          <p:nvSpPr>
            <p:cNvPr id="52" name="TextBox 52"/>
            <p:cNvSpPr txBox="1"/>
            <p:nvPr/>
          </p:nvSpPr>
          <p:spPr>
            <a:xfrm>
              <a:off x="6318885" y="4070350"/>
              <a:ext cx="812796"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데이터 원칙</a:t>
              </a:r>
            </a:p>
          </p:txBody>
        </p:sp>
        <p:sp>
          <p:nvSpPr>
            <p:cNvPr id="53" name="TextBox 53"/>
            <p:cNvSpPr txBox="1"/>
            <p:nvPr/>
          </p:nvSpPr>
          <p:spPr>
            <a:xfrm>
              <a:off x="6317742" y="4406900"/>
              <a:ext cx="283472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지하 데이터는 판매하지 않습니다.</a:t>
              </a:r>
            </a:p>
          </p:txBody>
        </p:sp>
        <p:sp>
          <p:nvSpPr>
            <p:cNvPr id="54" name="TextBox 54"/>
            <p:cNvSpPr txBox="1"/>
            <p:nvPr/>
          </p:nvSpPr>
          <p:spPr>
            <a:xfrm>
              <a:off x="6317742" y="4673600"/>
              <a:ext cx="342128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계약기관 안에서 접근 권한대로만 씁니다.</a:t>
              </a:r>
            </a:p>
          </p:txBody>
        </p:sp>
      </p:grpSp>
      <p:grpSp>
        <p:nvGrpSpPr>
          <p:cNvPr id="58" name="conclusion"/>
          <p:cNvGrpSpPr/>
          <p:nvPr/>
        </p:nvGrpSpPr>
        <p:grpSpPr>
          <a:xfrm>
            <a:off x="533400" y="5676900"/>
            <a:ext cx="8319467" cy="419100"/>
            <a:chOff x="533400" y="5676900"/>
            <a:chExt cx="8319467" cy="419100"/>
          </a:xfrm>
        </p:grpSpPr>
        <p:sp>
          <p:nvSpPr>
            <p:cNvPr id="56" name="Rectangle 56"/>
            <p:cNvSpPr/>
            <p:nvPr/>
          </p:nvSpPr>
          <p:spPr>
            <a:xfrm>
              <a:off x="533400" y="5676900"/>
              <a:ext cx="38100" cy="419100"/>
            </a:xfrm>
            <a:prstGeom prst="rect">
              <a:avLst/>
            </a:prstGeom>
            <a:solidFill>
              <a:srgbClr val="F5B700"/>
            </a:solidFill>
            <a:ln>
              <a:noFill/>
            </a:ln>
          </p:spPr>
        </p:sp>
        <p:sp>
          <p:nvSpPr>
            <p:cNvPr id="57" name="TextBox 57"/>
            <p:cNvSpPr txBox="1"/>
            <p:nvPr/>
          </p:nvSpPr>
          <p:spPr>
            <a:xfrm>
              <a:off x="715899" y="5772150"/>
              <a:ext cx="8136968"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지상 순찰차를 만들었다면, GroundWatch는 지하를 보는 PV5 순찰차입니다.</a:t>
              </a:r>
            </a:p>
          </p:txBody>
        </p:sp>
      </p:grpSp>
      <p:grpSp>
        <p:nvGrpSpPr>
          <p:cNvPr id="60" name="source"/>
          <p:cNvGrpSpPr/>
          <p:nvPr/>
        </p:nvGrpSpPr>
        <p:grpSpPr>
          <a:xfrm>
            <a:off x="528447" y="6381750"/>
            <a:ext cx="8081510" cy="191643"/>
            <a:chOff x="528447" y="6381750"/>
            <a:chExt cx="8081510" cy="191643"/>
          </a:xfrm>
        </p:grpSpPr>
        <p:sp>
          <p:nvSpPr>
            <p:cNvPr id="59" name="TextBox 59"/>
            <p:cNvSpPr txBox="1"/>
            <p:nvPr/>
          </p:nvSpPr>
          <p:spPr>
            <a:xfrm>
              <a:off x="528447" y="6381750"/>
              <a:ext cx="80815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공모전 컨버전 부문 안내(공공서비스 특화) · 머니투데이(2026.6.26, 경찰청 AI 순찰차) · 구매·협력 구조와 데이터 원칙은 제안 [가설]</a:t>
              </a:r>
            </a:p>
          </p:txBody>
        </p:sp>
      </p:grpSp>
      <p:grpSp>
        <p:nvGrpSpPr>
          <p:cNvPr id="63" name="footer"/>
          <p:cNvGrpSpPr/>
          <p:nvPr/>
        </p:nvGrpSpPr>
        <p:grpSpPr>
          <a:xfrm>
            <a:off x="528638" y="6610350"/>
            <a:ext cx="11134724" cy="176212"/>
            <a:chOff x="528638" y="6610350"/>
            <a:chExt cx="11134724" cy="176212"/>
          </a:xfrm>
        </p:grpSpPr>
        <p:sp>
          <p:nvSpPr>
            <p:cNvPr id="61" name="TextBox 6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2" name="TextBox 6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15</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4728"/>
            <a:chOff x="521970" y="1409700"/>
            <a:chExt cx="11136630" cy="994728"/>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601254"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0.85억~1.90억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7685" y="2184400"/>
              <a:ext cx="220519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585" y="2184400"/>
              <a:ext cx="232581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1,080km 지반탐사 지원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775108"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약 97대</a:t>
              </a:r>
            </a:p>
          </p:txBody>
        </p:sp>
        <p:sp>
          <p:nvSpPr>
            <p:cNvPr id="29" name="TextBox 29"/>
            <p:cNvSpPr txBox="1"/>
            <p:nvPr/>
          </p:nvSpPr>
          <p:spPr>
            <a:xfrm>
              <a:off x="8071104" y="1962150"/>
              <a:ext cx="162217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 PV5 수요 (계산)</a:t>
              </a:r>
            </a:p>
          </p:txBody>
        </p:sp>
        <p:sp>
          <p:nvSpPr>
            <p:cNvPr id="30" name="TextBox 30"/>
            <p:cNvSpPr txBox="1"/>
            <p:nvPr/>
          </p:nvSpPr>
          <p:spPr>
            <a:xfrm>
              <a:off x="8071485" y="2184400"/>
              <a:ext cx="286106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매출 최대 약 44억 원 · 서울만 약 8대</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6954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 검토</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5690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전문가 멘토링·기술 지원</a:t>
              </a:r>
            </a:p>
          </p:txBody>
        </p:sp>
        <p:sp>
          <p:nvSpPr>
            <p:cNvPr id="40" name="TextBox 40"/>
            <p:cNvSpPr txBox="1"/>
            <p:nvPr/>
          </p:nvSpPr>
          <p:spPr>
            <a:xfrm>
              <a:off x="3613023" y="36195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148873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a:t>
              </a:r>
            </a:p>
          </p:txBody>
        </p:sp>
        <p:sp>
          <p:nvSpPr>
            <p:cNvPr id="44" name="TextBox 44"/>
            <p:cNvSpPr txBox="1"/>
            <p:nvPr/>
          </p:nvSpPr>
          <p:spPr>
            <a:xfrm>
              <a:off x="3613023" y="41529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1664192"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기아 네트워크 협력</a:t>
              </a:r>
            </a:p>
          </p:txBody>
        </p:sp>
        <p:sp>
          <p:nvSpPr>
            <p:cNvPr id="48" name="TextBox 48"/>
            <p:cNvSpPr txBox="1"/>
            <p:nvPr/>
          </p:nvSpPr>
          <p:spPr>
            <a:xfrm>
              <a:off x="3613023" y="4686300"/>
              <a:ext cx="25545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컨버전 파트너와 탐사실 키트화</a:t>
              </a:r>
            </a:p>
          </p:txBody>
        </p:sp>
      </p:grpSp>
      <p:grpSp>
        <p:nvGrpSpPr>
          <p:cNvPr id="57" name="next"/>
          <p:cNvGrpSpPr/>
          <p:nvPr/>
        </p:nvGrpSpPr>
        <p:grpSpPr>
          <a:xfrm>
            <a:off x="7003161" y="2660650"/>
            <a:ext cx="4655439" cy="2467928"/>
            <a:chOff x="7003161" y="2660650"/>
            <a:chExt cx="4655439" cy="2467928"/>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6070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3161" y="359410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4" name="TextBox 54"/>
            <p:cNvSpPr txBox="1"/>
            <p:nvPr/>
          </p:nvSpPr>
          <p:spPr>
            <a:xfrm>
              <a:off x="7003161" y="412750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5" name="TextBox 55"/>
            <p:cNvSpPr txBox="1"/>
            <p:nvPr/>
          </p:nvSpPr>
          <p:spPr>
            <a:xfrm>
              <a:off x="7004685" y="4699000"/>
              <a:ext cx="30118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조달청 혁신제품: 지정 시 최대 6년 수의계약</a:t>
              </a:r>
            </a:p>
          </p:txBody>
        </p:sp>
        <p:sp>
          <p:nvSpPr>
            <p:cNvPr id="56" name="TextBox 56"/>
            <p:cNvSpPr txBox="1"/>
            <p:nvPr/>
          </p:nvSpPr>
          <p:spPr>
            <a:xfrm>
              <a:off x="7004685" y="4908550"/>
              <a:ext cx="28158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테스트베드서울: 과제당 최대 2억 원 실증</a:t>
              </a:r>
            </a:p>
          </p:txBody>
        </p:sp>
      </p:grpSp>
      <p:grpSp>
        <p:nvGrpSpPr>
          <p:cNvPr id="60" name="conclusion"/>
          <p:cNvGrpSpPr/>
          <p:nvPr/>
        </p:nvGrpSpPr>
        <p:grpSpPr>
          <a:xfrm>
            <a:off x="533400" y="5676900"/>
            <a:ext cx="8479960" cy="419100"/>
            <a:chOff x="533400" y="5676900"/>
            <a:chExt cx="8479960"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2" name="source"/>
          <p:cNvGrpSpPr/>
          <p:nvPr/>
        </p:nvGrpSpPr>
        <p:grpSpPr>
          <a:xfrm>
            <a:off x="528447" y="6381750"/>
            <a:ext cx="10506489" cy="191643"/>
            <a:chOff x="528447" y="6381750"/>
            <a:chExt cx="10506489" cy="191643"/>
          </a:xfrm>
        </p:grpSpPr>
        <p:sp>
          <p:nvSpPr>
            <p:cNvPr id="61" name="TextBox 61"/>
            <p:cNvSpPr txBox="1"/>
            <p:nvPr/>
          </p:nvSpPr>
          <p:spPr>
            <a:xfrm>
              <a:off x="528447" y="6381750"/>
              <a:ext cx="105064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일반 부문 혜택 안내 · 일정은 목표</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15</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pic>
        <p:nvPicPr>
          <p:cNvPr id="3" name="Image 3"/>
          <p:cNvPicPr>
            <a:picLocks noChangeAspect="1"/>
          </p:cNvPicPr>
          <p:nvPr/>
        </p:nvPicPr>
        <p:blipFill>
          <a:blip r:embed="rId3"/>
          <a:stretch>
            <a:fillRect/>
          </a:stretch>
        </p:blipFill>
        <p:spPr>
          <a:xfrm>
            <a:off x="0" y="0"/>
            <a:ext cx="12192000" cy="6858000"/>
          </a:xfrm>
          <a:prstGeom prst="rect">
            <a:avLst/>
          </a:prstGeom>
        </p:spPr>
      </p:pic>
      <p:grpSp>
        <p:nvGrpSpPr>
          <p:cNvPr id="7" name="closing"/>
          <p:cNvGrpSpPr/>
          <p:nvPr/>
        </p:nvGrpSpPr>
        <p:grpSpPr>
          <a:xfrm>
            <a:off x="597408" y="5308600"/>
            <a:ext cx="4495114" cy="1136142"/>
            <a:chOff x="597408" y="5308600"/>
            <a:chExt cx="4495114" cy="1136142"/>
          </a:xfrm>
        </p:grpSpPr>
        <p:sp>
          <p:nvSpPr>
            <p:cNvPr id="4" name="TextBox 4"/>
            <p:cNvSpPr txBox="1"/>
            <p:nvPr/>
          </p:nvSpPr>
          <p:spPr>
            <a:xfrm>
              <a:off x="603885" y="5308600"/>
              <a:ext cx="262035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PV5 GroundWatch · 지하안전 순찰차</a:t>
              </a:r>
            </a:p>
          </p:txBody>
        </p:sp>
        <p:sp>
          <p:nvSpPr>
            <p:cNvPr id="5" name="TextBox 5"/>
            <p:cNvSpPr txBox="1"/>
            <p:nvPr/>
          </p:nvSpPr>
          <p:spPr>
            <a:xfrm>
              <a:off x="597408" y="5556250"/>
              <a:ext cx="3100989"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한 번의 조기 발견이,</a:t>
              </a:r>
            </a:p>
          </p:txBody>
        </p:sp>
        <p:sp>
          <p:nvSpPr>
            <p:cNvPr id="6" name="TextBox 6"/>
            <p:cNvSpPr txBox="1"/>
            <p:nvPr/>
          </p:nvSpPr>
          <p:spPr>
            <a:xfrm>
              <a:off x="597408" y="5975350"/>
              <a:ext cx="4495114"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한 사람의 무사 귀가가 되도록.</a:t>
              </a:r>
            </a:p>
          </p:txBody>
        </p:sp>
      </p:grpSp>
      <p:grpSp>
        <p:nvGrpSpPr>
          <p:cNvPr id="11" name="footer"/>
          <p:cNvGrpSpPr/>
          <p:nvPr/>
        </p:nvGrpSpPr>
        <p:grpSpPr>
          <a:xfrm>
            <a:off x="604266" y="6578600"/>
            <a:ext cx="11135487" cy="205359"/>
            <a:chOff x="604266" y="6578600"/>
            <a:chExt cx="11135487" cy="205359"/>
          </a:xfrm>
        </p:grpSpPr>
        <p:sp>
          <p:nvSpPr>
            <p:cNvPr id="8" name="TextBox 8"/>
            <p:cNvSpPr txBox="1"/>
            <p:nvPr/>
          </p:nvSpPr>
          <p:spPr>
            <a:xfrm>
              <a:off x="604266" y="65786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9" name="TextBox 9"/>
            <p:cNvSpPr txBox="1"/>
            <p:nvPr/>
          </p:nvSpPr>
          <p:spPr>
            <a:xfrm>
              <a:off x="9295956" y="66040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0" name="TextBox 10"/>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15 / 15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2026-10-23T07:55:26Z</dcterms:created>
  <dcterms:modified xsi:type="dcterms:W3CDTF">2026-10-23T07:55:26Z</dcterms:modified>
  <cp:category/>
  <cp:contentStatus/>
</cp:coreProperties>
</file>