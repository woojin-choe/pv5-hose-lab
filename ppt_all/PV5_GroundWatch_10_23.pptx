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 GroundWatch는 기아 공모전이 공공서비스 특화 예시로 든 '첨단 장비 탑재 스마트 순찰 차량'을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예시이며 The Charles Machine Works, CC BY-SA 2.0입니다.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9c445fbc8c70d4.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7c61102523c82ce.png"/>
  <Relationship Id="rId3" Type="http://schemas.openxmlformats.org/officeDocument/2006/relationships/image" Target="../media/image_520a869e500b72a0.png"/>
  <Relationship Id="rId4" Type="http://schemas.openxmlformats.org/officeDocument/2006/relationships/image" Target="../media/image_808608ffd9ac7105.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768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3~6장</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13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7~8장</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585" y="3403600"/>
              <a:ext cx="111962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9~10장</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035" y="3403600"/>
              <a:ext cx="1202548"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11~14장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7077437" cy="419100"/>
            <a:chOff x="533400" y="5619750"/>
            <a:chExt cx="7077437"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689493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찾는 ‘첨단 장비 탑재 스마트 순찰 PV5’를,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60963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1223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70297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민원·노후 관로·공사구간으로 조사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029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차량형 GPR이 도로를 한 번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0" name="TextBox 50"/>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3" name="TextBox 53"/>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56" name="TextBox 56"/>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59" name="TextBox 59"/>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2" name="TextBox 62"/>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2102756"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3" name="TextBox 33"/>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a:t>
              </a:r>
            </a:p>
          </p:txBody>
        </p:sp>
        <p:sp>
          <p:nvSpPr>
            <p:cNvPr id="41" name="TextBox 41"/>
            <p:cNvSpPr txBox="1"/>
            <p:nvPr/>
          </p:nvSpPr>
          <p:spPr>
            <a:xfrm>
              <a:off x="8242935" y="2127250"/>
              <a:ext cx="32983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장착 기준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674080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10338264" cy="264033"/>
            <a:chOff x="526542" y="1339850"/>
            <a:chExt cx="10338264" cy="264033"/>
          </a:xfrm>
        </p:grpSpPr>
        <p:sp>
          <p:nvSpPr>
            <p:cNvPr id="19" name="TextBox 19"/>
            <p:cNvSpPr txBox="1"/>
            <p:nvPr/>
          </p:nvSpPr>
          <p:spPr>
            <a:xfrm>
              <a:off x="526542" y="1339850"/>
              <a:ext cx="1033826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차값 차이는 최대 1,354만 원, 차량형 GPR은 대당 2억~8억 원(서울시 약 5억 원)입니다. 그래서 전원·고정 구조로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085" y="2108200"/>
              <a:ext cx="7928508" cy="220028"/>
              <a:chOff x="2204085" y="2108200"/>
              <a:chExt cx="7928508" cy="220028"/>
            </a:xfrm>
          </p:grpSpPr>
          <p:sp>
            <p:nvSpPr>
              <p:cNvPr id="28" name="TextBox 28"/>
              <p:cNvSpPr txBox="1"/>
              <p:nvPr/>
            </p:nvSpPr>
            <p:spPr>
              <a:xfrm>
                <a:off x="2204085" y="2108200"/>
                <a:ext cx="938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롱 · 롱레인지</a:t>
                </a:r>
              </a:p>
            </p:txBody>
          </p:sp>
          <p:sp>
            <p:nvSpPr>
              <p:cNvPr id="29" name="TextBox 29"/>
              <p:cNvSpPr txBox="1"/>
              <p:nvPr/>
            </p:nvSpPr>
            <p:spPr>
              <a:xfrm>
                <a:off x="4604385" y="2108200"/>
                <a:ext cx="39590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3인승</a:t>
                </a:r>
              </a:p>
            </p:txBody>
          </p:sp>
          <p:sp>
            <p:nvSpPr>
              <p:cNvPr id="30" name="TextBox 30"/>
              <p:cNvSpPr txBox="1"/>
              <p:nvPr/>
            </p:nvSpPr>
            <p:spPr>
              <a:xfrm>
                <a:off x="7004685" y="210820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카고 스타일</a:t>
                </a:r>
              </a:p>
            </p:txBody>
          </p:sp>
          <p:sp>
            <p:nvSpPr>
              <p:cNvPr id="31" name="TextBox 31"/>
              <p:cNvSpPr txBox="1"/>
              <p:nvPr/>
            </p:nvSpPr>
            <p:spPr>
              <a:xfrm>
                <a:off x="9404985" y="2108200"/>
                <a:ext cx="7276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8" name="kit"/>
          <p:cNvGrpSpPr/>
          <p:nvPr/>
        </p:nvGrpSpPr>
        <p:grpSpPr>
          <a:xfrm>
            <a:off x="527685" y="4248150"/>
            <a:ext cx="11130915" cy="1353693"/>
            <a:chOff x="527685" y="4248150"/>
            <a:chExt cx="11130915" cy="1353693"/>
          </a:xfrm>
        </p:grpSpPr>
        <p:pic>
          <p:nvPicPr>
            <p:cNvPr id="54" name="Image 54"/>
            <p:cNvPicPr>
              <a:picLocks noChangeAspect="1"/>
            </p:cNvPicPr>
            <p:nvPr/>
          </p:nvPicPr>
          <p:blipFill>
            <a:blip r:embed="rId2"/>
            <a:srcRect l="0" t="28446" r="0" b="28445"/>
            <a:stretch>
              <a:fillRect/>
            </a:stretch>
          </p:blipFill>
          <p:spPr>
            <a:xfrm>
              <a:off x="533400" y="4248150"/>
              <a:ext cx="2609850" cy="876300"/>
            </a:xfrm>
            <a:prstGeom prst="rect">
              <a:avLst/>
            </a:prstGeom>
          </p:spPr>
        </p:pic>
        <p:sp>
          <p:nvSpPr>
            <p:cNvPr id="55" name="TextBox 55"/>
            <p:cNvSpPr txBox="1"/>
            <p:nvPr/>
          </p:nvSpPr>
          <p:spPr>
            <a:xfrm>
              <a:off x="527685" y="5194300"/>
              <a:ext cx="1641486"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실내 V2L 콘센트</a:t>
              </a:r>
            </a:p>
          </p:txBody>
        </p:sp>
        <p:sp>
          <p:nvSpPr>
            <p:cNvPr id="56" name="TextBox 56"/>
            <p:cNvSpPr txBox="1"/>
            <p:nvPr/>
          </p:nvSpPr>
          <p:spPr>
            <a:xfrm>
              <a:off x="528447" y="5410200"/>
              <a:ext cx="1624899"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시동 없이 GPR·컴퓨터 전원</a:t>
              </a:r>
            </a:p>
          </p:txBody>
        </p:sp>
        <p:pic>
          <p:nvPicPr>
            <p:cNvPr id="57" name="Image 57"/>
            <p:cNvPicPr>
              <a:picLocks noChangeAspect="1"/>
            </p:cNvPicPr>
            <p:nvPr/>
          </p:nvPicPr>
          <p:blipFill>
            <a:blip r:embed="rId3"/>
            <a:srcRect l="0" t="24858" r="0" b="24858"/>
            <a:stretch>
              <a:fillRect/>
            </a:stretch>
          </p:blipFill>
          <p:spPr>
            <a:xfrm>
              <a:off x="3371850" y="4248150"/>
              <a:ext cx="2609850" cy="876300"/>
            </a:xfrm>
            <a:prstGeom prst="rect">
              <a:avLst/>
            </a:prstGeom>
          </p:spPr>
        </p:pic>
        <p:sp>
          <p:nvSpPr>
            <p:cNvPr id="58" name="TextBox 58"/>
            <p:cNvSpPr txBox="1"/>
            <p:nvPr/>
          </p:nvSpPr>
          <p:spPr>
            <a:xfrm>
              <a:off x="3366135" y="5194300"/>
              <a:ext cx="1482192"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L-Track 러기지 트림</a:t>
              </a:r>
            </a:p>
          </p:txBody>
        </p:sp>
        <p:sp>
          <p:nvSpPr>
            <p:cNvPr id="59" name="TextBox 59"/>
            <p:cNvSpPr txBox="1"/>
            <p:nvPr/>
          </p:nvSpPr>
          <p:spPr>
            <a:xfrm>
              <a:off x="3366897" y="5410200"/>
              <a:ext cx="188327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회차마다 같은 자리에 장비 고정</a:t>
              </a:r>
            </a:p>
          </p:txBody>
        </p:sp>
        <p:pic>
          <p:nvPicPr>
            <p:cNvPr id="60" name="Image 60"/>
            <p:cNvPicPr>
              <a:picLocks noChangeAspect="1"/>
            </p:cNvPicPr>
            <p:nvPr/>
          </p:nvPicPr>
          <p:blipFill>
            <a:blip r:embed="rId4"/>
            <a:srcRect l="0" t="25152" r="0" b="25152"/>
            <a:stretch>
              <a:fillRect/>
            </a:stretch>
          </p:blipFill>
          <p:spPr>
            <a:xfrm>
              <a:off x="6210300" y="4248150"/>
              <a:ext cx="2609850" cy="876300"/>
            </a:xfrm>
            <a:prstGeom prst="rect">
              <a:avLst/>
            </a:prstGeom>
          </p:spPr>
        </p:pic>
        <p:sp>
          <p:nvSpPr>
            <p:cNvPr id="61" name="TextBox 61"/>
            <p:cNvSpPr txBox="1"/>
            <p:nvPr/>
          </p:nvSpPr>
          <p:spPr>
            <a:xfrm>
              <a:off x="6204585" y="5194300"/>
              <a:ext cx="2228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2,255×1,565×1,520mm</a:t>
              </a:r>
            </a:p>
          </p:txBody>
        </p:sp>
        <p:sp>
          <p:nvSpPr>
            <p:cNvPr id="62" name="TextBox 62"/>
            <p:cNvSpPr txBox="1"/>
            <p:nvPr/>
          </p:nvSpPr>
          <p:spPr>
            <a:xfrm>
              <a:off x="6205347" y="5410200"/>
              <a:ext cx="179453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랙·수동 GPR 카트를 함께 적재</a:t>
              </a:r>
            </a:p>
          </p:txBody>
        </p:sp>
        <p:sp>
          <p:nvSpPr>
            <p:cNvPr id="63" name="Rectangle 63"/>
            <p:cNvSpPr/>
            <p:nvPr/>
          </p:nvSpPr>
          <p:spPr>
            <a:xfrm>
              <a:off x="9048750" y="4248150"/>
              <a:ext cx="2609850" cy="28575"/>
            </a:xfrm>
            <a:prstGeom prst="rect">
              <a:avLst/>
            </a:prstGeom>
            <a:solidFill>
              <a:srgbClr val="C62828"/>
            </a:solidFill>
            <a:ln>
              <a:noFill/>
            </a:ln>
          </p:spPr>
        </p:sp>
        <p:sp>
          <p:nvSpPr>
            <p:cNvPr id="64" name="TextBox 64"/>
            <p:cNvSpPr txBox="1"/>
            <p:nvPr/>
          </p:nvSpPr>
          <p:spPr>
            <a:xfrm>
              <a:off x="904303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65" name="TextBox 65"/>
            <p:cNvSpPr txBox="1"/>
            <p:nvPr/>
          </p:nvSpPr>
          <p:spPr>
            <a:xfrm>
              <a:off x="9042654" y="4648200"/>
              <a:ext cx="236265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 377km는 스타리아보다</a:t>
              </a:r>
            </a:p>
          </p:txBody>
        </p:sp>
        <p:sp>
          <p:nvSpPr>
            <p:cNvPr id="66" name="TextBox 66"/>
            <p:cNvSpPr txBox="1"/>
            <p:nvPr/>
          </p:nvSpPr>
          <p:spPr>
            <a:xfrm>
              <a:off x="9042654" y="487680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10km 짧습니다. 하루 순찰 약</a:t>
              </a:r>
            </a:p>
          </p:txBody>
        </p:sp>
        <p:sp>
          <p:nvSpPr>
            <p:cNvPr id="67" name="TextBox 67"/>
            <p:cNvSpPr txBox="1"/>
            <p:nvPr/>
          </p:nvSpPr>
          <p:spPr>
            <a:xfrm>
              <a:off x="9042654" y="5105400"/>
              <a:ext cx="2217268"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 xml:space="preserve">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 충분합니다.</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73" name="source"/>
          <p:cNvGrpSpPr/>
          <p:nvPr/>
        </p:nvGrpSpPr>
        <p:grpSpPr>
          <a:xfrm>
            <a:off x="528447" y="6248400"/>
            <a:ext cx="9107932" cy="344043"/>
            <a:chOff x="528447" y="6248400"/>
            <a:chExt cx="9107932" cy="344043"/>
          </a:xfrm>
        </p:grpSpPr>
        <p:sp>
          <p:nvSpPr>
            <p:cNvPr id="72" name="TextBox 72"/>
            <p:cNvSpPr txBox="1"/>
            <p:nvPr/>
          </p:nvSpPr>
          <p:spPr>
            <a:xfrm>
              <a:off x="528447" y="6248400"/>
              <a:ext cx="9107932"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ST1(2025.7.16, 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EV(2025년형, 217km) · 시사저널(2025.4.25, 경기도청 인용 GPR 대당 2억~8억 원) · 가격은 보조금 제외 · 사진: 기아 PV5 카고 카탈로그(2026.9)</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72460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71128"/>
            <a:chOff x="526542" y="2571750"/>
            <a:chExt cx="5349240"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478344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(실제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87009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12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145648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GPR 조사기관</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18911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컨버전 플릿 판매</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86654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‘첨단 장비 탑재 스마트 순찰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6725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11135487" cy="408559"/>
            <a:chOff x="604266" y="6337300"/>
            <a:chExt cx="111354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112657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2026-10-23T07:35:48Z</dcterms:created>
  <dcterms:modified xsi:type="dcterms:W3CDTF">2026-10-23T07:35:48Z</dcterms:modified>
  <cp:category/>
  <cp:contentStatus/>
</cp:coreProperties>
</file>