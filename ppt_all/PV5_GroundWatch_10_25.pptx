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  <Relationship Id="rId25"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가족과 여행을 가는 평범한 길에서, 지금 도로가 꺼진다면이라는 질문으로 시작합니다. 제5회 기아 PBV 아이디어 공모전 일반 부문에 PV5 GroundWatch, PV5 지하안전 순찰차를 제안합니다. 배경은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사고 지점은 연희동 413-128 일대이고, 지도는 OpenStreetMap에 성산로 연희동 구간으로 표시했습니다(뉴시스 2024.8.30). 다음 날(8월 30일) 서울시는 사고 지점에서 약 30m 떨어진 연희동 413-5에서도 도로 침하를 발견해 바로 교통을 통제하고 복구했고, 임시복구 지점 주변에서 공동 의심 지점 1곳을 더 찾았습니다. 413-5 침하는 하수박스 연결부 불량이 원인으로 추정되고 사고 지점처럼 급격한 침하가 우려되는 곳은 아니었지만, 같은 도로 바로 옆에서도 눈에 보이지 않던 변화가 진행되고 있었다는 뜻입니다(뉴시스 2024.8.30 https://www.newsis.com/view/NISX20240830_0002869815).</a:t>
            </a:r>
          </a:p>
          <a:p>
            <a:pPr/>
            <a:r>
              <a:rPr lang="ko-KR" dirty="0"/>
              <a:t>사고 원인은 서울시가 지형(경사지·매립층), 기상(집중호우), 지하매설물, 주변 공사장이 겹친 복합 요인(2024.9.4)으로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조사 대상은 노후 하수관·지하철·충적층 같은 중점구간(서울시 2015), 굴착공사장 주변, 자치구가 고른 우선 점검지역(이투데이 2025.4.23)에서 정합니다.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 국내 실측 근거도 있습니다. 인천대 연구진(박정준·김인대, 한국재난정보학회논문집 16권 1호, 2020)은 서울 11개 자치구에서 이미 발견된 공동 30곳을 2016년 10월부터 2017년 8월까지 차량형 멀티채널 GPR로 다시 탐사했습니다. 처음 발견하고 209~989일이 지난 시점에, 그사이 복구된 9곳을 뺀 21곳 모두 크기가 달라졌고, 13곳은 크기와 함께 관리 등급도 바뀌었습니다. 발견 뒤 1년이 안 된(211~270일) 공동 가운데에는 관찰 등급에서 우선복구 등급으로 올라간 곳도 있었고, 공동 위 흙 두께(토피)는 최대 20cm 얇아졌습니다. 연구진은 시간이 지날수록 공동이 계속 자라며, 지하수와 국지성 호우가 주된 외부 요인이라고 보았습니다(https://doi.org/10.15683/kosdi.2020.3.31.060). 서울시는 2025년부터 대형 굴착공사장은 주 1회, 지하안전평가 대상 공사장은 월 1회 이상 탐사하지만(서울시 2026.3.23), 공사장 주변이고 회차마다 따로 판독합니다. 사고 뒤 서울시가 정한 성산로 월 1회 탐사도 입찰·계약 절차 때문에 이듬해 3월까지 시행되지 못했습니다(경향신문 2025.3.28 https://www.khan.co.kr/article/202503280810001). 찾은 공동도 바로 메워지지 않습니다. 2022년부터 2026년 6월까지 전국에서 찾은 공동 1,111곳 중 385곳(34.7%)이 아직 복구 전이고(국토안전관리원 자료, 경북매일 2026.9.2 https://kbmaeil.com/article/20260902500577), 복구를 기다리는 동안에도 공동은 자랄 수 있어 회차마다 다시 봐야 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서울시도 지하 10m 이상 굴착·터널 공사장은 GPR 정기점검과 따로 특별점검합니다(이투데이 2025.4.23).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 연희동의 함몰 깊이는 2.5m였지만, 하수관에서 시작된 공동은 위로 자라 올라오므로 GPR이 잡는 것은 지표에서 약 2m 안에 들어온 공동의 윗부분입니다.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그렇다면 더 자주 검사하면 되지 않을까요. 지금의 1회 공정은 서울시 2024년 지반침하 특별점검 공동조사용역 기준으로 사업비 17억 8,090만 원을 조사연장 1,930.6km로 나눈 km당 약 92만 원입니다. 이 금액에는 1차 차량형 탐사, 2차 핸디형 확인, 천공 499곳, 공동 채움재 주입 285곳(복구 완료 247곳)이 함께 들어 있습니다(서울시 최종보고서 2024.10). 이 공정을 그대로 여러 번 돌리면 예산과 인력이 그만큼 늘어나므로, 횟수만 늘리는 것은 답이 아닙니다. 사진은 서울 야간 도로(Immanuelle, CC BY 4.0)입니다.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그래서 질문을 바꿉니다. 매번 전체 공정을 반복하지 않고, 달라진 곳부터 찾아볼 수 있다면 어떨까요. 같은 길을 반복해서 재고, 지난 기록과 달라진 곳만 골라, 전문가가 검토한 지점만 현장에서 다시 확인하는 방식입니다. 천공과 복구 같은 비싼 2차 조사는 변화가 나온 곳에만 붙습니다. 사진은 서울 종로 야경(서울연구원, CC BY 4.0)입니다.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그래서, 같은 길을 다시 달립니다. 제5회 기아 PBV 아이디어 공모전 일반 부문에 PV5 GroundWatch, PV5 지하안전 순찰차를 제안합니다. 지표투과레이더(GPR)로 같은 길을 반복해서 보고, 구멍이 되기 전의 변화를 찾습니다. 이 장은 새벽 한강변 도로를 순찰하는 PV5와 도로 아래 GPR 탐사를 표현한 PV5 기반 콘셉트 이미지입니다.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PV5를 고른 이유는 가격이나 적재공간이 아니라, 공식 컨버전 체계로 모든 차에 GPR을 같은 위치에 달고, PIM으로 차가 장비를 제어하며, Pleos Fleet으로 여러 도시를 같은 기준으로 운영할 수 있기 때문입니다(13장). 사업은 현행 전체 공정(서울시 2024년 공동조사, 천공·복구 포함 km당 약 92만 원)에 반복 탐사 원가(km당 4.7만 원 × 6회 = 약 28만 원)를 더하는 구조입니다. 92만 원은 용역 가격이고 28만 원은 원가라서 빼지 않고 더해서 봅니다. 현행 비용의 약 30%를 더하면 1년에 한 번 보던 길을 6번 보고, 첫 회차가 현행 1차 탐사를 대신하면 실제 추가분은 그보다 작습니다. 숫자 세 개만 기억해 주십시오. '이상 없음'에서 함몰까지 100여 일(연희동), 10cm 자란 공동이 가장 큰 오탐 요인보다 2.4배 뚜렷하다는 시뮬레이션(10장), 전국 지자체가 쓸 탐사형 PV5 최대 약 88대(16장)입니다. 기아는 2026년 6월 경찰청과 PV5 AI 순찰차를 공개했습니다(머니투데이 2026.6.26). 그 차가 도로 위를 본다면, GroundWatch는 도로 아래를 봅니다.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국내에서도 같은 곳을 다시 보는 탐사는 이미 있습니다. 서울시는 2025년부터 대형 굴착공사장 주변은 주 1회, 지하안전평가 대상 공사장은 월 1회 이상 GPR로 탐사하지만(서울시 2026.3.23), 공사장 주변에 한정되고 회차마다 따로 판독하며, 의심 지점은 별도 2차 조사(핸디형 GPR·천공·내시경)로 확인합니다. 인천대 연구(박정준·김인대, 2020)도 이미 찾은 공동 30곳을 다시 탐사할 때 공동조사서와 로드뷰, 노면 표식으로 위치를 하나하나 찾아야 했습니다(https://doi.org/10.15683/kosdi.2020.3.31.060). GroundWatch는 이를 공사장 주변이 아니라 업무 노선 전체로 넓히고, 회차마다 따로 판독하는 대신 지난 회차와 위치를 맞춰 뺀 차이만 자동으로 골라 판독하며, 같은 차에서 바로 재탐사하는 상시 업무로 만듭니다. 약 2개월 간격은 공사장 주변의 주·월 1회와 일반도로의 연 1회 사이로, 인천대 연구에서 발견 뒤 1년이 안 된 공동이 관찰 등급에서 우선복구 등급으로 올라간 점과 연희동이 '이상 없음'에서 100여 일 만에 무너진 점을 함께 고려한 가설입니다.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 AI로 GPR을 판독하는 것 자체는 새롭지 않습니다. 서울시는 2020년부터 세종대와 개발한 AI 공동 자동분석 프로그램을 현장에 쓰고 있습니다. GroundWatch가 새로운 점은 한 회차 안의 판독이 아니라, 같은 경로의 지난 회차와 위치를 맞춰 비교하는 것입니다.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재확인은 다섯 단계입니다. 차량 GPR이 지난 회차와 달라진 곳을 고르고, 판독자가 클라우드에서 재확인 지점을 승인하면, PV5 화면이 안전한 정차 위치를 안내하고, 작업자는 AR 글래스로 재탐사 범위를 보며 수동 GPR로 다른 주파수에서 교차 확인합니다. 차 안에서는 Edge Gateway가 센서 동기화와 로컬 통신을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 수치는 예시이고,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4,420L(VDA 기준, 기아 호주·유럽 제원)이고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해외(핀란드 등 유럽) 기아 공개 제원이며 국내 공식 kW 수치는 확인 중입니다. L-Track은 기아 순정 신차옵션, 몰리 패널은 기아 샵 전용 용품으로(카탈로그 2026.9),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화물실 전방에는 Edge Gateway와 엣지 AI 컴퓨터, GPR 제어장치를, 측면에는 수동 GPR과 AR 글래스, RTK 이동국을, 후방에는 내시경과 안전 장비를 둡니다. 롱 카고룸은 2,255×1,565×1,520mm, 적재고는 419mm라 정차하자마자 수동 GPR 카트를 내려 같은 차에서 바로 재탐사할 수 있습니다. 차량형 다채널 GPR은 두 가지 장착안을 검토합니다. 배치도처럼 차체 후방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차체 후방 하부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 차량형 GPR은 바닥 아래 배터리 팩을 피해 차체 후방 하부에 다는 안을 가설로 둡니다. 정확한 위치는 컨버전 포털 3D 데이터와 간섭 시험으로 확정합니다.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왜 꼭 PV5인가는 GroundWatch의 핵심과 이어집니다. 회차 비교는 몇 cm 차이도 오탐이 됩니다(10장). 오차는 두 가지입니다. 회차마다 주행선이 달라지는 오차는 RTK·IMU 정합으로 맞추고(14장), 차마다 GPR 장착 높이·위치가 다른 오차는 PV5 표준 컨버전으로 맞춥니다. 같은 설계로 달아도 서스펜션·타이어·적재량에 따라 안테나 높이가 조금씩 다르므로, 차를 바꾸거나 새로 투입할 때는 기준 구간을 한 번 주행해 보정합니다. 보통은 차 1대가 자기 노선(약 1,100km)을 6번 돌아 같은 차끼리 비교하지만, 정비나 교체로 예비차가 들어갈 때, 노선을 다시 나눌 때, 여러 도시가 같은 판독 기준과 AI 학습 데이터를 공유할 때는 차가 바뀝니다. 이때도 회차 비교가 이어지려면 모든 차가 같은 위치·같은 조건으로 재야 하고, 그 조건을 차 단위로 표준화하는 기능이 PV5에 있습니다. 첫째, PBV 컨버전 포털은 컨버전 업체에 차량 3D 데이터와 인증자료를 제공하고, PBV 컨버전 센터가 국내 업체와 특화 모델을 개발·생산합니다(오토뷰 2026.1.28 https://www.autoview.co.kr/ko-kr/articles/98843). GPR 장착 높이와 위치를 모든 PV5에 똑같이 설계·인증할 수 있다는 뜻입니다. 둘째, PIM(PBV Interface Module)은 인포테인먼트(IVI)로 차량 데이터를 주고받고 외부 전장 제품을 제어하며, 조인트 블록은 추가 장비에 12V 전력을 잇습니다(같은 기사). GPR은 일정한 거리 간격으로 기록해야 회차끼리 겹쳐지므로, 차속 신호로 기록 간격을 맞추고 문 열림·배터리 하한에 맞춰 장비 전원을 제어하는 것이 저희 제안입니다. PIM이 차속 신호를 넘겨주는지는 기아 PBV 파트너 확인이 필요합니다. 셋째, Pleos Fleet은 단말기 설치 없이 위치와 차량 상태를 관제하고(기아 PV5 카고 카탈로그 2026.9), Pleos Connect SDK와 앱 마켓은 심사를 거친 앱을 지원 차종·지역에 배포합니다(공모전 솔루션 부문 안내 https://kiapbvidea.com/page3). 회차별 경로와 차량 이력을 한 곳에서 관리하고, 같은 앱을 다른 지자체 PV5에 배포할 수 있습니다. 넷째, 적재고가 419mm로 낮아 수동 GPR 카트(GSSI UtilityScan Pro 브로셔 기준 약 27~34kg)를 바로 내려, 전문가가 승인한 지점을 다음 순찰 때 같은 차에서 바로 재탐사할 수 있습니다. 현대 ST1 카고의 적재고는 495mm입니다(현대차그룹 뉴스룸 2024.4). 공식 3D 데이터와 인증 체계가 없으면 차마다 장착을 따로 설계·인증해야 하고, 측정 조건도 차마다 달라집니다. 반대로 V2L, L-Track, 넓은 적재공간은 다른 전기 밴에도 있어 선택 이유로 삼지 않았습니다. 기본 조건으로, 전기차라 새벽 주택가에서도 조용하고 시동 없이 장비를 돌리며, 공공기관은 무공해차 의무구매 대상이라 2025년 의무구매 대상 공공 신차의 94.6%가 전기·수소차였습니다(공공부문 무공해차 구매 실적 2026.6.30). 불리한 점도 밝힙니다. 주행거리 377km는 스타리아 일렉트릭 카고(387km)보다 10km 짧지만, 하루 약 30km 순찰이라는 가설에서는 충분합니다. 가격은 PV5 카고 롱 4,520만 원으로 스타리아 일렉트릭 카고 3인승 5,792만 원, ST1 카고 스타일 5,874만 원(아시아경제 2025.7.16)보다 낮지만(각 사 공시 판매가 기준), 차값 차이(최대 1,354만 원)는 GPR 탐사장비 대당 2억~8억 원(시사저널 2025.4.25, 경기도청 인용)에 비해 작아 선택 기준에서 뺐습니다. 차량 연동 기능의 실제 제공 범위와 권한은 기아 PBV 파트너 승인 후 확정합니다. 예상 질문 'ST1에도 실을 수 있지 않나'에는 이렇게 답합니다: ST1에도 장비는 실을 수 있습니다. 다만 공개 자료로 확인한 범위에서, 차량 3D 데이터와 인증자료를 컨버전 업체에 공개하는 체계는 PV5에 있어서, 탐사실을 표준 키트로 만들어 어느 PV5에나 똑같이 장착할 수 있습니다. 적재고도 419mm로 ST1(495mm)보다 낮습니다.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국내 실측입니다. 인천대 연구진(박정준·김인대, 한국재난정보학회논문집 16권 1호, 2020)이 서울 11개 자치구의 공동 30곳을 차량형 GPR로 다시 탐사한 결과 그사이 복구된 9곳을 뺀 21곳 모두 크기가 달라졌고, 13곳은 관리 등급까지 바뀌었으며, 공동 위 흙 두께는 최대 20cm 얇아졌습니다(https://doi.org/10.15683/kosdi.2020.3.31.060). 연구진은 지하수와 국지성 호우를 주된 외부 요인으로 보았고, 같은 공동을 다시 찾으려면 공동조사서·로드뷰·노면 표식을 일일이 대조해야 했습니다. 회차 간 위치 정합의 자동화가 GroundWatch의 1순위 실증 과제인 이유입니다.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채움재 주입 285곳(복구 완료 247곳)이 모두 포함된 금액입니다(서울시 최종보고서 2024.10, 계약 2024.4.29~10.15). GroundWatch 차량 1대의 연간 원가는 가설로 3.09억 원입니다. PV5 4,520만 원과 차량형 GPR 약 5억 원(서울시가 15억 원으로 차량형 GPR을 4대에서 7대로 늘린 것을 1대로 나눈 값, 이투데이 2025.4.23)을 5년 감가하고, 현장 2인 1.2억 원, 판독 전문가 0.5인 0.4억 원, 수동 GPR·AR·클라우드·보험·유지 0.4억 원을 더했습니다. 하루 30km, 220일이면 연 6,600km이므로 반복 탐사 원가는 km당 약 4.7만 원입니다. 보고서의 장비별 적정 탐사 속도는 시속 15~30km라 처리량은 보수적으로 잡았습니다. 같은 길 1km(차량이 한 번 주행하며 탐사한 연장 기준, 실제 도로연장은 285.6km)를 1년 동안 보면, 지금은 1·2차 탐사·천공·복구를 모두 포함한 현행 전체 공정 1회가 약 92만 원입니다. GroundWatch는 여기에 반복 탐사 6회 원가 약 28만 원(4.7만 원 × 6회)을 더합니다. 92만 원은 용역 가격이고 28만 원은 원가라서, 둘을 빼서 비교하지 않고 더해서 봅니다. 현행 비용의 약 30%를 더하면 1년에 한 번 보던 길을 6번 봅니다. 첫 회차가 현행 1차 탐사를 대신하면 실제 추가분은 그보다 작고, 변화로 잘못 고른 지점을 확인하는 비용은 실증에서 확인합니다. 천공과 복구 같은 2차 조사는 변화가 나온 곳에만 지금 단가대로 붙습니다. km는 차량이 한 번 주행하며 탐사한 연장 기준입니다. 탐사만의 단가 비교는 파일럿에서 발주기관 내역서로 확정하겠습니다. 원가는 파일럿에서 확정할 가설입니다.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누가 사고, 누가 쓰고, 기아는 무엇을 얻는지입니다. 구매자는 이미 GPR 탐사 예산을 쓰는 서울시·자치구 도로관리 부서와 도시철도·상하수도 발주기관입니다. 실제 사용자는 지하안전·도로관리 담당자, GPR 판독 전문가, 2인 1조 현장 조사원입니다. 판정과 책임은 지금처럼 등록된 조사기관과 전문가가 맡고, 장착은 기아 PV5 컨버전 업체가 맡습니다. GroundWatch는 볼 곳을 좁히는 도구입니다. 기아가 얻는 것은 세 가지입니다. 첫째, PV5 판매입니다. 지자체가 관리하는 도로 96,712km(2025년 말, 국가지표체계)를 약 2개월마다 보려면, 차 1대가 연 6,600km로 약 1,100km를 6번 본다는 가설에서 최대 약 88대가 필요하고, 차량 매출로는 최대 약 40억 원(88대 × 4,520만 원)입니다. 서울 8,342km(2024년 서울시 도로현황)만 맡으면 약 8대입니다. 전 구간을 2개월마다 볼 때의 최대치이고, GPR 장비 매출은 파트너 몫입니다. 둘째, 생태계 레퍼런스입니다. 컨버전 포털의 표준 장착으로 같은 탐사실 키트를 도시마다 복제하고, Pleos Fleet의 공공 관제 사례가 됩니다. 셋째, 공공안전 라인업입니다. 기아는 2026년 6월 부산모빌리티쇼에서 경찰청과 협업한 PV5 기반 AI 순찰차(4K AI 카메라 3개·드론 스테이션)를 공개했습니다(머니투데이 2026.6.26 https://www.mt.co.kr/industry/2026/06/26/2026062517564330792). 그 차가 도로 위를 본다면 GroundWatch는 도로 아래를 맡습니다. 공모전 일반 부문도 '지역 사회 기여: 재해 대응/안전 서비스'를 예시 분야로 듭니다. 데이터 원칙은 분명히 합니다. 지하 데이터는 제3자에게 판매하지 않고, 계약기관 안에서 접근 권한대로만 씁니다. 구매·협력 구조와 데이터 원칙은 제안 단계의 가설입니다.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지원했습니다(헤럴드경제 2025.9.7 https://www.heraldk.com/article/2025090714512710835). 2025년 4월 기준 경기도와 31개 시·군은 GPR을 한 대도 보유하지 않았습니다(시사저널 2025.4.25). 0~1년차에는 테스트베드서울 2.0(서울 소재 중소기업 대상, 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수의계약 길(지정 후 3년, 연장 시 최대 6년)을 열고 자치구 연간 반복관제 계약으로 전환하며, 3년차 이후 GPR이 없는 시·군의 운영 대행과 도시철도·상하수도 기관, 광역지자체 PV5 플릿 구매로 넓힙니다. 단계별 기간은 목표이며 가설입니다. 단계마다 통과 조건을 둡니다. 1~2년은 실증확인서와 용역 실적, 2~3년은 자치구 2곳 연간 계약(목표), 3년 이후는 광역지자체 PV5 플릿 구매가 목표입니다.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1,100km를 6번 본다는 가설에서 최대 약 88대가 필요합니다(전 구간을 2개월마다 볼 때의 최대치). 기아의 차량 매출로는 최대 약 40억 원(88대 × 4,520만 원)이며, GPR 장비 매출은 파트너 몫입니다. 서울 도로 8,342km만 맡으면 약 8대입니다(8,342 ÷ 1,100)(지자체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가족과 떠난 길, 무사히 돌아올 수 있도록. 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88대)를 만듭니다. 같은 길을 다시 보는 일이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 배경은 첫 장과 같은 연출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7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7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025ec0ede9cc11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f784f2687eacaf9.jp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417dc9318c2afe5c.jp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f5555f054c48c63.png"/>
  <Relationship Id="rId3" Type="http://schemas.openxmlformats.org/officeDocument/2006/relationships/image" Target="../media/image_8f5555f054c48c63.png"/>
  <Relationship Id="rId4" Type="http://schemas.openxmlformats.org/officeDocument/2006/relationships/image" Target="../media/image_8f5555f054c48c63.png"/>
  <Relationship Id="rId5"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025ec0ede9cc110.jpg"/>
  <Relationship Id="rId3" Type="http://schemas.openxmlformats.org/officeDocument/2006/relationships/notesSlide" Target="../notesSlides/notesSlide18.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2" name="story-text"/>
          <p:cNvGrpSpPr/>
          <p:nvPr/>
        </p:nvGrpSpPr>
        <p:grpSpPr>
          <a:xfrm>
            <a:off x="590550" y="2578100"/>
            <a:ext cx="5799900" cy="2342007"/>
            <a:chOff x="590550" y="2578100"/>
            <a:chExt cx="5799900" cy="2342007"/>
          </a:xfrm>
        </p:grpSpPr>
        <p:sp>
          <p:nvSpPr>
            <p:cNvPr id="8" name="TextBox 8"/>
            <p:cNvSpPr txBox="1"/>
            <p:nvPr/>
          </p:nvSpPr>
          <p:spPr>
            <a:xfrm>
              <a:off x="598170" y="2578100"/>
              <a:ext cx="3188113" cy="440055"/>
            </a:xfrm>
            <a:prstGeom prst="rect">
              <a:avLst/>
            </a:prstGeom>
            <a:noFill/>
            <a:ln>
              <a:noFill/>
            </a:ln>
          </p:spPr>
          <p:txBody>
            <a:bodyPr wrap="none" lIns="0" tIns="0" rIns="0" bIns="0" anchor="t" anchorCtr="0">
              <a:spAutoFit/>
            </a:bodyPr>
            <a:lstStyle/>
            <a:p>
              <a:pPr algn="l"/>
              <a:r>
                <a:rPr lang="ko-KR" sz="2250" dirty="0">
                  <a:solidFill>
                    <a:srgbClr val="D6DDE8"/>
                  </a:solidFill>
                  <a:latin typeface="+mn-lt"/>
                  <a:ea typeface="+mn-ea"/>
                  <a:cs typeface="+mn-cs"/>
                </a:rPr>
                <a:t>가족과 여행을 가는 길,</a:t>
              </a:r>
            </a:p>
          </p:txBody>
        </p:sp>
        <p:sp>
          <p:nvSpPr>
            <p:cNvPr id="9" name="TextBox 9"/>
            <p:cNvSpPr txBox="1"/>
            <p:nvPr/>
          </p:nvSpPr>
          <p:spPr>
            <a:xfrm>
              <a:off x="590550" y="3048000"/>
              <a:ext cx="5799900" cy="790575"/>
            </a:xfrm>
            <a:prstGeom prst="rect">
              <a:avLst/>
            </a:prstGeom>
            <a:noFill/>
            <a:ln>
              <a:noFill/>
            </a:ln>
          </p:spPr>
          <p:txBody>
            <a:bodyPr wrap="none" lIns="0" tIns="0" rIns="0" bIns="0" anchor="t" anchorCtr="0">
              <a:spAutoFit/>
            </a:bodyPr>
            <a:lstStyle/>
            <a:p>
              <a:pPr algn="l"/>
              <a:r>
                <a:rPr lang="ko-KR" sz="4050" b="1" spc="-75" dirty="0">
                  <a:solidFill>
                    <a:srgbClr val="FFFFFF"/>
                  </a:solidFill>
                  <a:latin typeface="+mn-lt"/>
                  <a:ea typeface="+mn-ea"/>
                  <a:cs typeface="+mn-cs"/>
                </a:rPr>
                <a:t>지금, 도로가 꺼진다면.</a:t>
              </a:r>
            </a:p>
          </p:txBody>
        </p:sp>
        <p:sp>
          <p:nvSpPr>
            <p:cNvPr id="10" name="TextBox 10"/>
            <p:cNvSpPr txBox="1"/>
            <p:nvPr/>
          </p:nvSpPr>
          <p:spPr>
            <a:xfrm>
              <a:off x="603123" y="43243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sp>
          <p:nvSpPr>
            <p:cNvPr id="11" name="TextBox 11"/>
            <p:cNvSpPr txBox="1"/>
            <p:nvPr/>
          </p:nvSpPr>
          <p:spPr>
            <a:xfrm>
              <a:off x="601218" y="4597400"/>
              <a:ext cx="4336755"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PV5 GroundWatch · PV5 지하안전 순찰차</a:t>
              </a:r>
            </a:p>
          </p:txBody>
        </p:sp>
      </p:grpSp>
      <p:grpSp>
        <p:nvGrpSpPr>
          <p:cNvPr id="15" name="footer"/>
          <p:cNvGrpSpPr/>
          <p:nvPr/>
        </p:nvGrpSpPr>
        <p:grpSpPr>
          <a:xfrm>
            <a:off x="604266" y="6502400"/>
            <a:ext cx="11059287" cy="205359"/>
            <a:chOff x="604266" y="6502400"/>
            <a:chExt cx="11059287" cy="205359"/>
          </a:xfrm>
        </p:grpSpPr>
        <p:sp>
          <p:nvSpPr>
            <p:cNvPr id="13" name="TextBox 13"/>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4" name="TextBox 14"/>
            <p:cNvSpPr txBox="1"/>
            <p:nvPr/>
          </p:nvSpPr>
          <p:spPr>
            <a:xfrm>
              <a:off x="10360757" y="6515100"/>
              <a:ext cx="130279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연출 이미지 · 01 / 18</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51020" cy="6858000"/>
            <a:chOff x="6477000" y="0"/>
            <a:chExt cx="575102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2084578"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413-128 일대</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5450982"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사고 지점(413-128 일대, 뉴시스)을 성산로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15746"/>
            <a:chOff x="717804" y="3257550"/>
            <a:chExt cx="5346192" cy="10157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386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18</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011469" cy="586740"/>
            <a:chOff x="518160" y="774700"/>
            <a:chExt cx="9011469" cy="586740"/>
          </a:xfrm>
        </p:grpSpPr>
        <p:sp>
          <p:nvSpPr>
            <p:cNvPr id="17" name="TextBox 17"/>
            <p:cNvSpPr txBox="1"/>
            <p:nvPr/>
          </p:nvSpPr>
          <p:spPr>
            <a:xfrm>
              <a:off x="518160" y="774700"/>
              <a:ext cx="901146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GPR 탐사는 이미 합니다. 한 번 보고 끝날 뿐입니다</a:t>
              </a:r>
            </a:p>
          </p:txBody>
        </p:sp>
      </p:grpSp>
      <p:grpSp>
        <p:nvGrpSpPr>
          <p:cNvPr id="21" name="photo"/>
          <p:cNvGrpSpPr/>
          <p:nvPr/>
        </p:nvGrpSpPr>
        <p:grpSpPr>
          <a:xfrm>
            <a:off x="528447" y="1524000"/>
            <a:ext cx="5719953" cy="4115943"/>
            <a:chOff x="528447" y="1524000"/>
            <a:chExt cx="5719953" cy="4115943"/>
          </a:xfrm>
        </p:grpSpPr>
        <p:pic>
          <p:nvPicPr>
            <p:cNvPr id="19" name="Image 19"/>
            <p:cNvPicPr>
              <a:picLocks noChangeAspect="1"/>
            </p:cNvPicPr>
            <p:nvPr/>
          </p:nvPicPr>
          <p:blipFill>
            <a:blip r:embed="rId2"/>
            <a:srcRect l="0" t="5556" r="0" b="5555"/>
            <a:stretch>
              <a:fillRect/>
            </a:stretch>
          </p:blipFill>
          <p:spPr>
            <a:xfrm>
              <a:off x="533400" y="1524000"/>
              <a:ext cx="5715000" cy="3810000"/>
            </a:xfrm>
            <a:prstGeom prst="rect">
              <a:avLst/>
            </a:prstGeom>
          </p:spPr>
        </p:pic>
        <p:sp>
          <p:nvSpPr>
            <p:cNvPr id="20" name="TextBox 20"/>
            <p:cNvSpPr txBox="1"/>
            <p:nvPr/>
          </p:nvSpPr>
          <p:spPr>
            <a:xfrm>
              <a:off x="528447" y="5448300"/>
              <a:ext cx="5202173"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수동형 GPR 탐사 장비 · 사진: The Charles Machine Works, CC BY-SA 2.0(배경 편집)</a:t>
              </a:r>
            </a:p>
          </p:txBody>
        </p:sp>
      </p:grpSp>
      <p:grpSp>
        <p:nvGrpSpPr>
          <p:cNvPr id="30" name="stats"/>
          <p:cNvGrpSpPr/>
          <p:nvPr/>
        </p:nvGrpSpPr>
        <p:grpSpPr>
          <a:xfrm>
            <a:off x="6762750" y="1663700"/>
            <a:ext cx="4895850" cy="3751707"/>
            <a:chOff x="6762750" y="1663700"/>
            <a:chExt cx="4895850" cy="3751707"/>
          </a:xfrm>
        </p:grpSpPr>
        <p:sp>
          <p:nvSpPr>
            <p:cNvPr id="22" name="TextBox 22"/>
            <p:cNvSpPr txBox="1"/>
            <p:nvPr/>
          </p:nvSpPr>
          <p:spPr>
            <a:xfrm>
              <a:off x="6762750" y="1663700"/>
              <a:ext cx="3017779" cy="933450"/>
            </a:xfrm>
            <a:prstGeom prst="rect">
              <a:avLst/>
            </a:prstGeom>
            <a:noFill/>
            <a:ln>
              <a:noFill/>
            </a:ln>
          </p:spPr>
          <p:txBody>
            <a:bodyPr wrap="none" lIns="0" tIns="0" rIns="0" bIns="0" anchor="t" anchorCtr="0">
              <a:spAutoFit/>
            </a:bodyPr>
            <a:lstStyle/>
            <a:p>
              <a:pPr algn="l"/>
              <a:r>
                <a:rPr lang="en-US" sz="4800" b="1" spc="-150" dirty="0">
                  <a:solidFill>
                    <a:srgbClr val="0B1E3C"/>
                  </a:solidFill>
                  <a:latin typeface="+mn-lt"/>
                  <a:ea typeface="+mn-ea"/>
                  <a:cs typeface="+mn-cs"/>
                </a:rPr>
                <a:t>33,129km</a:t>
              </a:r>
            </a:p>
          </p:txBody>
        </p:sp>
        <p:sp>
          <p:nvSpPr>
            <p:cNvPr id="23" name="TextBox 23"/>
            <p:cNvSpPr txBox="1"/>
            <p:nvPr/>
          </p:nvSpPr>
          <p:spPr>
            <a:xfrm>
              <a:off x="6774561" y="2393950"/>
              <a:ext cx="1698836" cy="278702"/>
            </a:xfrm>
            <a:prstGeom prst="rect">
              <a:avLst/>
            </a:prstGeom>
            <a:noFill/>
            <a:ln>
              <a:noFill/>
            </a:ln>
          </p:spPr>
          <p:txBody>
            <a:bodyPr wrap="none" lIns="0" tIns="0" rIns="0" bIns="0" anchor="t" anchorCtr="0">
              <a:spAutoFit/>
            </a:bodyPr>
            <a:lstStyle/>
            <a:p>
              <a:pPr algn="l"/>
              <a:r>
                <a:rPr lang="ko-KR" sz="1420" b="1" dirty="0">
                  <a:solidFill>
                    <a:srgbClr val="111827"/>
                  </a:solidFill>
                  <a:latin typeface="+mn-lt"/>
                  <a:ea typeface="+mn-ea"/>
                  <a:cs typeface="+mn-cs"/>
                </a:rPr>
                <a:t>서울 누적 GPR 탐사</a:t>
              </a:r>
            </a:p>
          </p:txBody>
        </p:sp>
        <p:sp>
          <p:nvSpPr>
            <p:cNvPr id="24" name="TextBox 24"/>
            <p:cNvSpPr txBox="1"/>
            <p:nvPr/>
          </p:nvSpPr>
          <p:spPr>
            <a:xfrm>
              <a:off x="6775704" y="2667000"/>
              <a:ext cx="989533"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2014~2025.9</a:t>
              </a:r>
            </a:p>
          </p:txBody>
        </p:sp>
        <p:sp>
          <p:nvSpPr>
            <p:cNvPr id="25" name="TextBox 25"/>
            <p:cNvSpPr txBox="1"/>
            <p:nvPr/>
          </p:nvSpPr>
          <p:spPr>
            <a:xfrm>
              <a:off x="6762750" y="3187700"/>
              <a:ext cx="2450287" cy="933450"/>
            </a:xfrm>
            <a:prstGeom prst="rect">
              <a:avLst/>
            </a:prstGeom>
            <a:noFill/>
            <a:ln>
              <a:noFill/>
            </a:ln>
          </p:spPr>
          <p:txBody>
            <a:bodyPr wrap="none" lIns="0" tIns="0" rIns="0" bIns="0" anchor="t" anchorCtr="0">
              <a:spAutoFit/>
            </a:bodyPr>
            <a:lstStyle/>
            <a:p>
              <a:pPr algn="l"/>
              <a:r>
                <a:rPr lang="ko-KR" sz="4800" b="1" spc="-150" dirty="0">
                  <a:solidFill>
                    <a:srgbClr val="0B1E3C"/>
                  </a:solidFill>
                  <a:latin typeface="+mn-lt"/>
                  <a:ea typeface="+mn-ea"/>
                  <a:cs typeface="+mn-cs"/>
                </a:rPr>
                <a:t>7,760개</a:t>
              </a:r>
            </a:p>
          </p:txBody>
        </p:sp>
        <p:sp>
          <p:nvSpPr>
            <p:cNvPr id="26" name="TextBox 26"/>
            <p:cNvSpPr txBox="1"/>
            <p:nvPr/>
          </p:nvSpPr>
          <p:spPr>
            <a:xfrm>
              <a:off x="6774561" y="3917950"/>
              <a:ext cx="1724408" cy="278702"/>
            </a:xfrm>
            <a:prstGeom prst="rect">
              <a:avLst/>
            </a:prstGeom>
            <a:noFill/>
            <a:ln>
              <a:noFill/>
            </a:ln>
          </p:spPr>
          <p:txBody>
            <a:bodyPr wrap="none" lIns="0" tIns="0" rIns="0" bIns="0" anchor="t" anchorCtr="0">
              <a:spAutoFit/>
            </a:bodyPr>
            <a:lstStyle/>
            <a:p>
              <a:pPr algn="l"/>
              <a:r>
                <a:rPr lang="ko-KR" sz="1420" b="1" dirty="0">
                  <a:solidFill>
                    <a:srgbClr val="111827"/>
                  </a:solidFill>
                  <a:latin typeface="+mn-lt"/>
                  <a:ea typeface="+mn-ea"/>
                  <a:cs typeface="+mn-cs"/>
                </a:rPr>
                <a:t>같은 기간 찾은 공동</a:t>
              </a:r>
            </a:p>
          </p:txBody>
        </p:sp>
        <p:sp>
          <p:nvSpPr>
            <p:cNvPr id="27" name="Line 27"/>
            <p:cNvSpPr/>
            <p:nvPr/>
          </p:nvSpPr>
          <p:spPr>
            <a:xfrm>
              <a:off x="6781800" y="4552950"/>
              <a:ext cx="4876800" cy="9525"/>
            </a:xfrm>
            <a:custGeom>
              <a:avLst/>
              <a:gdLst/>
              <a:ahLst/>
              <a:cxnLst/>
              <a:rect l="l" t="t" r="r" b="b"/>
              <a:pathLst>
                <a:path w="4876800" h="9525">
                  <a:moveTo>
                    <a:pt x="0" y="0"/>
                  </a:moveTo>
                  <a:lnTo>
                    <a:pt x="4876800" y="0"/>
                  </a:lnTo>
                </a:path>
              </a:pathLst>
            </a:custGeom>
            <a:noFill/>
            <a:ln w="9525">
              <a:solidFill>
                <a:srgbClr val="E2E6EC"/>
              </a:solidFill>
            </a:ln>
          </p:spPr>
        </p:sp>
        <p:sp>
          <p:nvSpPr>
            <p:cNvPr id="28" name="TextBox 28"/>
            <p:cNvSpPr txBox="1"/>
            <p:nvPr/>
          </p:nvSpPr>
          <p:spPr>
            <a:xfrm>
              <a:off x="6773418" y="4768850"/>
              <a:ext cx="1711562" cy="322707"/>
            </a:xfrm>
            <a:prstGeom prst="rect">
              <a:avLst/>
            </a:prstGeom>
            <a:noFill/>
            <a:ln>
              <a:noFill/>
            </a:ln>
          </p:spPr>
          <p:txBody>
            <a:bodyPr wrap="none" lIns="0" tIns="0" rIns="0" bIns="0" anchor="t" anchorCtr="0">
              <a:spAutoFit/>
            </a:bodyPr>
            <a:lstStyle/>
            <a:p>
              <a:pPr algn="l"/>
              <a:r>
                <a:rPr lang="ko-KR" sz="1650" b="1" dirty="0">
                  <a:solidFill>
                    <a:srgbClr val="111827"/>
                  </a:solidFill>
                  <a:latin typeface="+mn-lt"/>
                  <a:ea typeface="+mn-ea"/>
                  <a:cs typeface="+mn-cs"/>
                </a:rPr>
                <a:t>그런데 같은 길은</a:t>
              </a:r>
            </a:p>
          </p:txBody>
        </p:sp>
        <p:sp>
          <p:nvSpPr>
            <p:cNvPr id="29" name="TextBox 29"/>
            <p:cNvSpPr txBox="1"/>
            <p:nvPr/>
          </p:nvSpPr>
          <p:spPr>
            <a:xfrm>
              <a:off x="6773418" y="5092700"/>
              <a:ext cx="3090391" cy="322707"/>
            </a:xfrm>
            <a:prstGeom prst="rect">
              <a:avLst/>
            </a:prstGeom>
            <a:noFill/>
            <a:ln>
              <a:noFill/>
            </a:ln>
          </p:spPr>
          <p:txBody>
            <a:bodyPr wrap="none" lIns="0" tIns="0" rIns="0" bIns="0" anchor="t" anchorCtr="0">
              <a:spAutoFit/>
            </a:bodyPr>
            <a:lstStyle/>
            <a:p>
              <a:pPr algn="l"/>
              <a:r>
                <a:rPr lang="ko-KR" sz="1650" b="1" dirty="0">
                  <a:solidFill>
                    <a:srgbClr val="C62828"/>
                  </a:solidFill>
                  <a:latin typeface="+mn-lt"/>
                  <a:ea typeface="+mn-ea"/>
                  <a:cs typeface="+mn-cs"/>
                </a:rPr>
                <a:t>다음 정기점검 때</a:t>
              </a:r>
              <a:r>
                <a:rPr lang="ko-KR" sz="1650" b="1" dirty="0">
                  <a:solidFill>
                    <a:srgbClr val="111827"/>
                  </a:solidFill>
                  <a:latin typeface="+mn-lt"/>
                  <a:ea typeface="+mn-ea"/>
                  <a:cs typeface="+mn-cs"/>
                </a:rPr>
                <a:t xml:space="preserve"> 다시 봅니다.</a:t>
              </a:r>
            </a:p>
          </p:txBody>
        </p:sp>
      </p:grpSp>
      <p:grpSp>
        <p:nvGrpSpPr>
          <p:cNvPr id="32" name="source"/>
          <p:cNvGrpSpPr/>
          <p:nvPr/>
        </p:nvGrpSpPr>
        <p:grpSpPr>
          <a:xfrm>
            <a:off x="528447" y="6381750"/>
            <a:ext cx="8463478" cy="191643"/>
            <a:chOff x="528447" y="6381750"/>
            <a:chExt cx="8463478" cy="191643"/>
          </a:xfrm>
        </p:grpSpPr>
        <p:sp>
          <p:nvSpPr>
            <p:cNvPr id="31" name="TextBox 3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35" name="footer"/>
          <p:cNvGrpSpPr/>
          <p:nvPr/>
        </p:nvGrpSpPr>
        <p:grpSpPr>
          <a:xfrm>
            <a:off x="528638" y="6610350"/>
            <a:ext cx="11134724" cy="176212"/>
            <a:chOff x="528638" y="6610350"/>
            <a:chExt cx="11134724" cy="176212"/>
          </a:xfrm>
        </p:grpSpPr>
        <p:sp>
          <p:nvSpPr>
            <p:cNvPr id="33" name="TextBox 3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34" name="TextBox 3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18</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28" name="gap-chart"/>
          <p:cNvGrpSpPr/>
          <p:nvPr/>
        </p:nvGrpSpPr>
        <p:grpSpPr>
          <a:xfrm>
            <a:off x="526161" y="1765300"/>
            <a:ext cx="6396502" cy="3041142"/>
            <a:chOff x="526161" y="1765300"/>
            <a:chExt cx="6396502" cy="3041142"/>
          </a:xfrm>
        </p:grpSpPr>
        <p:sp>
          <p:nvSpPr>
            <p:cNvPr id="19" name="TextBox 19"/>
            <p:cNvSpPr txBox="1"/>
            <p:nvPr/>
          </p:nvSpPr>
          <p:spPr>
            <a:xfrm>
              <a:off x="526161" y="1765300"/>
              <a:ext cx="1658457"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법정 공동조사 주기</a:t>
              </a:r>
            </a:p>
          </p:txBody>
        </p:sp>
        <p:sp>
          <p:nvSpPr>
            <p:cNvPr id="20" name="Rectangle 20"/>
            <p:cNvSpPr/>
            <p:nvPr/>
          </p:nvSpPr>
          <p:spPr>
            <a:xfrm>
              <a:off x="533400" y="2076450"/>
              <a:ext cx="5715000" cy="419100"/>
            </a:xfrm>
            <a:prstGeom prst="rect">
              <a:avLst/>
            </a:prstGeom>
            <a:solidFill>
              <a:srgbClr val="9AA3AF"/>
            </a:solidFill>
            <a:ln>
              <a:noFill/>
            </a:ln>
          </p:spPr>
        </p:sp>
        <p:sp>
          <p:nvSpPr>
            <p:cNvPr id="21" name="TextBox 21"/>
            <p:cNvSpPr txBox="1"/>
            <p:nvPr/>
          </p:nvSpPr>
          <p:spPr>
            <a:xfrm>
              <a:off x="6388608" y="2089150"/>
              <a:ext cx="534055" cy="469392"/>
            </a:xfrm>
            <a:prstGeom prst="rect">
              <a:avLst/>
            </a:prstGeom>
            <a:noFill/>
            <a:ln>
              <a:noFill/>
            </a:ln>
          </p:spPr>
          <p:txBody>
            <a:bodyPr wrap="none" lIns="0" tIns="0" rIns="0" bIns="0" anchor="t" anchorCtr="0">
              <a:spAutoFit/>
            </a:bodyPr>
            <a:lstStyle/>
            <a:p>
              <a:pPr algn="l"/>
              <a:r>
                <a:rPr lang="ko-KR" sz="2400" b="1" dirty="0">
                  <a:solidFill>
                    <a:srgbClr val="111827"/>
                  </a:solidFill>
                  <a:latin typeface="+mn-lt"/>
                  <a:ea typeface="+mn-ea"/>
                  <a:cs typeface="+mn-cs"/>
                </a:rPr>
                <a:t>5년</a:t>
              </a:r>
            </a:p>
          </p:txBody>
        </p:sp>
        <p:sp>
          <p:nvSpPr>
            <p:cNvPr id="22" name="TextBox 22"/>
            <p:cNvSpPr txBox="1"/>
            <p:nvPr/>
          </p:nvSpPr>
          <p:spPr>
            <a:xfrm>
              <a:off x="526161" y="2889250"/>
              <a:ext cx="3356823"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 xml:space="preserve">서울시가 줄이기로 한 주기 </a:t>
              </a:r>
              <a:r>
                <a:rPr lang="ko-KR" sz="1120" dirty="0">
                  <a:solidFill>
                    <a:srgbClr val="4B5563"/>
                  </a:solidFill>
                  <a:latin typeface="+mn-lt"/>
                  <a:ea typeface="+mn-ea"/>
                  <a:cs typeface="+mn-cs"/>
                </a:rPr>
                <a:t>(2025.4 발표)</a:t>
              </a:r>
            </a:p>
          </p:txBody>
        </p:sp>
        <p:sp>
          <p:nvSpPr>
            <p:cNvPr id="23" name="Rectangle 23"/>
            <p:cNvSpPr/>
            <p:nvPr/>
          </p:nvSpPr>
          <p:spPr>
            <a:xfrm>
              <a:off x="533400" y="3200400"/>
              <a:ext cx="1143000" cy="419100"/>
            </a:xfrm>
            <a:prstGeom prst="rect">
              <a:avLst/>
            </a:prstGeom>
            <a:solidFill>
              <a:srgbClr val="0B1E3C"/>
            </a:solidFill>
            <a:ln>
              <a:noFill/>
            </a:ln>
          </p:spPr>
        </p:sp>
        <p:sp>
          <p:nvSpPr>
            <p:cNvPr id="24" name="TextBox 24"/>
            <p:cNvSpPr txBox="1"/>
            <p:nvPr/>
          </p:nvSpPr>
          <p:spPr>
            <a:xfrm>
              <a:off x="1816608" y="3213100"/>
              <a:ext cx="534055"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1년</a:t>
              </a:r>
            </a:p>
          </p:txBody>
        </p:sp>
        <p:sp>
          <p:nvSpPr>
            <p:cNvPr id="25" name="TextBox 25"/>
            <p:cNvSpPr txBox="1"/>
            <p:nvPr/>
          </p:nvSpPr>
          <p:spPr>
            <a:xfrm>
              <a:off x="526161" y="4013200"/>
              <a:ext cx="3011395" cy="278702"/>
            </a:xfrm>
            <a:prstGeom prst="rect">
              <a:avLst/>
            </a:prstGeom>
            <a:noFill/>
            <a:ln>
              <a:noFill/>
            </a:ln>
          </p:spPr>
          <p:txBody>
            <a:bodyPr wrap="none" lIns="0" tIns="0" rIns="0" bIns="0" anchor="t" anchorCtr="0">
              <a:spAutoFit/>
            </a:bodyPr>
            <a:lstStyle/>
            <a:p>
              <a:pPr algn="l"/>
              <a:r>
                <a:rPr lang="ko-KR" sz="1420" b="1" dirty="0">
                  <a:solidFill>
                    <a:srgbClr val="C62828"/>
                  </a:solidFill>
                  <a:latin typeface="+mn-lt"/>
                  <a:ea typeface="+mn-ea"/>
                  <a:cs typeface="+mn-cs"/>
                </a:rPr>
                <a:t>연희동: ‘이상 없음’에서 함몰까지</a:t>
              </a:r>
            </a:p>
          </p:txBody>
        </p:sp>
        <p:sp>
          <p:nvSpPr>
            <p:cNvPr id="26" name="Rectangle 26"/>
            <p:cNvSpPr/>
            <p:nvPr/>
          </p:nvSpPr>
          <p:spPr>
            <a:xfrm>
              <a:off x="533400" y="4324350"/>
              <a:ext cx="333375" cy="419100"/>
            </a:xfrm>
            <a:prstGeom prst="rect">
              <a:avLst/>
            </a:prstGeom>
            <a:solidFill>
              <a:srgbClr val="C62828"/>
            </a:solidFill>
            <a:ln>
              <a:noFill/>
            </a:ln>
          </p:spPr>
        </p:sp>
        <p:sp>
          <p:nvSpPr>
            <p:cNvPr id="27" name="TextBox 27"/>
            <p:cNvSpPr txBox="1"/>
            <p:nvPr/>
          </p:nvSpPr>
          <p:spPr>
            <a:xfrm>
              <a:off x="1006983" y="4337050"/>
              <a:ext cx="1332083" cy="469392"/>
            </a:xfrm>
            <a:prstGeom prst="rect">
              <a:avLst/>
            </a:prstGeom>
            <a:noFill/>
            <a:ln>
              <a:noFill/>
            </a:ln>
          </p:spPr>
          <p:txBody>
            <a:bodyPr wrap="none" lIns="0" tIns="0" rIns="0" bIns="0" anchor="t" anchorCtr="0">
              <a:spAutoFit/>
            </a:bodyPr>
            <a:lstStyle/>
            <a:p>
              <a:pPr algn="l"/>
              <a:r>
                <a:rPr lang="ko-KR" sz="2400" b="1" dirty="0">
                  <a:solidFill>
                    <a:srgbClr val="C62828"/>
                  </a:solidFill>
                  <a:latin typeface="+mn-lt"/>
                  <a:ea typeface="+mn-ea"/>
                  <a:cs typeface="+mn-cs"/>
                </a:rPr>
                <a:t>100여 일</a:t>
              </a:r>
            </a:p>
          </p:txBody>
        </p:sp>
      </p:grpSp>
      <p:grpSp>
        <p:nvGrpSpPr>
          <p:cNvPr id="35" name="evidence"/>
          <p:cNvGrpSpPr/>
          <p:nvPr/>
        </p:nvGrpSpPr>
        <p:grpSpPr>
          <a:xfrm>
            <a:off x="7524750" y="1600200"/>
            <a:ext cx="4133850" cy="2425446"/>
            <a:chOff x="7524750" y="1600200"/>
            <a:chExt cx="4133850" cy="2425446"/>
          </a:xfrm>
        </p:grpSpPr>
        <p:sp>
          <p:nvSpPr>
            <p:cNvPr id="29" name="Rectangle 29"/>
            <p:cNvSpPr/>
            <p:nvPr/>
          </p:nvSpPr>
          <p:spPr>
            <a:xfrm>
              <a:off x="7543800" y="1600200"/>
              <a:ext cx="4114800" cy="28575"/>
            </a:xfrm>
            <a:prstGeom prst="rect">
              <a:avLst/>
            </a:prstGeom>
            <a:solidFill>
              <a:srgbClr val="0B1E3C"/>
            </a:solidFill>
            <a:ln>
              <a:noFill/>
            </a:ln>
          </p:spPr>
        </p:sp>
        <p:sp>
          <p:nvSpPr>
            <p:cNvPr id="30" name="TextBox 30"/>
            <p:cNvSpPr txBox="1"/>
            <p:nvPr/>
          </p:nvSpPr>
          <p:spPr>
            <a:xfrm>
              <a:off x="7537323" y="1847850"/>
              <a:ext cx="1953205"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같은 공동을 다시 재 보니</a:t>
              </a:r>
            </a:p>
          </p:txBody>
        </p:sp>
        <p:sp>
          <p:nvSpPr>
            <p:cNvPr id="31" name="TextBox 31"/>
            <p:cNvSpPr txBox="1"/>
            <p:nvPr/>
          </p:nvSpPr>
          <p:spPr>
            <a:xfrm>
              <a:off x="7524750" y="2159000"/>
              <a:ext cx="3321779" cy="1104900"/>
            </a:xfrm>
            <a:prstGeom prst="rect">
              <a:avLst/>
            </a:prstGeom>
            <a:noFill/>
            <a:ln>
              <a:noFill/>
            </a:ln>
          </p:spPr>
          <p:txBody>
            <a:bodyPr wrap="none" lIns="0" tIns="0" rIns="0" bIns="0" anchor="t" anchorCtr="0">
              <a:spAutoFit/>
            </a:bodyPr>
            <a:lstStyle/>
            <a:p>
              <a:pPr algn="l"/>
              <a:r>
                <a:rPr lang="ko-KR" sz="5700" b="1" spc="-225" dirty="0">
                  <a:solidFill>
                    <a:srgbClr val="0B1E3C"/>
                  </a:solidFill>
                  <a:latin typeface="+mn-lt"/>
                  <a:ea typeface="+mn-ea"/>
                  <a:cs typeface="+mn-cs"/>
                </a:rPr>
                <a:t>21곳 모두</a:t>
              </a:r>
            </a:p>
          </p:txBody>
        </p:sp>
        <p:sp>
          <p:nvSpPr>
            <p:cNvPr id="32" name="TextBox 32"/>
            <p:cNvSpPr txBox="1"/>
            <p:nvPr/>
          </p:nvSpPr>
          <p:spPr>
            <a:xfrm>
              <a:off x="7534656" y="3079750"/>
              <a:ext cx="2594107" cy="352044"/>
            </a:xfrm>
            <a:prstGeom prst="rect">
              <a:avLst/>
            </a:prstGeom>
            <a:noFill/>
            <a:ln>
              <a:noFill/>
            </a:ln>
          </p:spPr>
          <p:txBody>
            <a:bodyPr wrap="none" lIns="0" tIns="0" rIns="0" bIns="0" anchor="t" anchorCtr="0">
              <a:spAutoFit/>
            </a:bodyPr>
            <a:lstStyle/>
            <a:p>
              <a:pPr algn="l"/>
              <a:r>
                <a:rPr lang="ko-KR" sz="1800" b="1" dirty="0">
                  <a:solidFill>
                    <a:srgbClr val="111827"/>
                  </a:solidFill>
                  <a:latin typeface="+mn-lt"/>
                  <a:ea typeface="+mn-ea"/>
                  <a:cs typeface="+mn-cs"/>
                </a:rPr>
                <a:t>크기가 변해 있었습니다</a:t>
              </a:r>
            </a:p>
          </p:txBody>
        </p:sp>
        <p:sp>
          <p:nvSpPr>
            <p:cNvPr id="33" name="TextBox 33"/>
            <p:cNvSpPr txBox="1"/>
            <p:nvPr/>
          </p:nvSpPr>
          <p:spPr>
            <a:xfrm>
              <a:off x="7537704" y="3562350"/>
              <a:ext cx="291998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서울 공동 30곳을 209~989일 뒤 재탐사,</a:t>
              </a:r>
            </a:p>
          </p:txBody>
        </p:sp>
        <p:sp>
          <p:nvSpPr>
            <p:cNvPr id="34" name="TextBox 34"/>
            <p:cNvSpPr txBox="1"/>
            <p:nvPr/>
          </p:nvSpPr>
          <p:spPr>
            <a:xfrm>
              <a:off x="7537704" y="3790950"/>
              <a:ext cx="327538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그사이 복구된 9곳 제외 · 인천대 연구(2020)</a:t>
              </a:r>
            </a:p>
          </p:txBody>
        </p:sp>
      </p:grpSp>
      <p:grpSp>
        <p:nvGrpSpPr>
          <p:cNvPr id="38" name="conclusion"/>
          <p:cNvGrpSpPr/>
          <p:nvPr/>
        </p:nvGrpSpPr>
        <p:grpSpPr>
          <a:xfrm>
            <a:off x="533400" y="5334000"/>
            <a:ext cx="7169730" cy="419100"/>
            <a:chOff x="533400" y="5334000"/>
            <a:chExt cx="7169730" cy="419100"/>
          </a:xfrm>
        </p:grpSpPr>
        <p:sp>
          <p:nvSpPr>
            <p:cNvPr id="36" name="Rectangle 36"/>
            <p:cNvSpPr/>
            <p:nvPr/>
          </p:nvSpPr>
          <p:spPr>
            <a:xfrm>
              <a:off x="533400" y="5334000"/>
              <a:ext cx="38100" cy="419100"/>
            </a:xfrm>
            <a:prstGeom prst="rect">
              <a:avLst/>
            </a:prstGeom>
            <a:solidFill>
              <a:srgbClr val="F5B700"/>
            </a:solidFill>
            <a:ln>
              <a:noFill/>
            </a:ln>
          </p:spPr>
        </p:sp>
        <p:sp>
          <p:nvSpPr>
            <p:cNvPr id="37" name="TextBox 37"/>
            <p:cNvSpPr txBox="1"/>
            <p:nvPr/>
          </p:nvSpPr>
          <p:spPr>
            <a:xfrm>
              <a:off x="715899" y="542925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0" name="source"/>
          <p:cNvGrpSpPr/>
          <p:nvPr/>
        </p:nvGrpSpPr>
        <p:grpSpPr>
          <a:xfrm>
            <a:off x="528447" y="6248400"/>
            <a:ext cx="9431528" cy="344043"/>
            <a:chOff x="528447" y="6248400"/>
            <a:chExt cx="9431528" cy="344043"/>
          </a:xfrm>
        </p:grpSpPr>
        <p:sp>
          <p:nvSpPr>
            <p:cNvPr id="39" name="TextBox 39"/>
            <p:cNvSpPr txBox="1"/>
            <p:nvPr/>
          </p:nvSpPr>
          <p:spPr>
            <a:xfrm>
              <a:off x="528447" y="6248400"/>
              <a:ext cx="9431528"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지하안전법 시행규칙 별표 3(공동조사 5년마다 1회 이상) · 이투데이(2025.4.23) · 뉴시스(2024.8.30) · 박정준·김인대, 한국재난정보학회논문집 16(1)(2020)</a:t>
              </a:r>
              <a:br>
                <a:rPr lang="ko-KR" sz="980" dirty="0">
                  <a:solidFill>
                    <a:srgbClr val="4B5563"/>
                  </a:solidFill>
                  <a:latin typeface="+mn-lt"/>
                  <a:ea typeface="+mn-ea"/>
                  <a:cs typeface="+mn-cs"/>
                </a:rPr>
              </a:br>
              <a:r>
                <a:rPr lang="ko-KR" sz="980" dirty="0">
                  <a:solidFill>
                    <a:srgbClr val="4B5563"/>
                  </a:solidFill>
                  <a:latin typeface="+mn-lt"/>
                  <a:ea typeface="+mn-ea"/>
                  <a:cs typeface="+mn-cs"/>
                </a:rPr>
                <a:t>메트로신문(2025.10.19, 공사장 주변 탐사) · 경향신문(2025.3.28, 성산로 월 1회 탐사) · 경북매일(2026.9.2, 국토안전관리원 미복구 공동 자료)</a:t>
              </a:r>
            </a:p>
          </p:txBody>
        </p:sp>
      </p:grpSp>
      <p:grpSp>
        <p:nvGrpSpPr>
          <p:cNvPr id="43" name="footer"/>
          <p:cNvGrpSpPr/>
          <p:nvPr/>
        </p:nvGrpSpPr>
        <p:grpSpPr>
          <a:xfrm>
            <a:off x="528638" y="6610350"/>
            <a:ext cx="11134724" cy="176212"/>
            <a:chOff x="528638" y="6610350"/>
            <a:chExt cx="11134724" cy="176212"/>
          </a:xfrm>
        </p:grpSpPr>
        <p:sp>
          <p:nvSpPr>
            <p:cNvPr id="41" name="TextBox 4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2" name="TextBox 4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18</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38" name="scope"/>
          <p:cNvGrpSpPr/>
          <p:nvPr/>
        </p:nvGrpSpPr>
        <p:grpSpPr>
          <a:xfrm>
            <a:off x="7077456" y="3352800"/>
            <a:ext cx="4581144" cy="1259967"/>
            <a:chOff x="7077456" y="3352800"/>
            <a:chExt cx="4581144" cy="1259967"/>
          </a:xfrm>
        </p:grpSpPr>
        <p:sp>
          <p:nvSpPr>
            <p:cNvPr id="34" name="Rectangle 34"/>
            <p:cNvSpPr/>
            <p:nvPr/>
          </p:nvSpPr>
          <p:spPr>
            <a:xfrm>
              <a:off x="7086600" y="3352800"/>
              <a:ext cx="4572000" cy="28575"/>
            </a:xfrm>
            <a:prstGeom prst="rect">
              <a:avLst/>
            </a:prstGeom>
            <a:solidFill>
              <a:srgbClr val="F5B700"/>
            </a:solidFill>
            <a:ln>
              <a:noFill/>
            </a:ln>
          </p:spPr>
        </p:sp>
        <p:sp>
          <p:nvSpPr>
            <p:cNvPr id="35" name="TextBox 35"/>
            <p:cNvSpPr txBox="1"/>
            <p:nvPr/>
          </p:nvSpPr>
          <p:spPr>
            <a:xfrm>
              <a:off x="7077456" y="3556000"/>
              <a:ext cx="2186600"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GroundWatch 대상</a:t>
              </a:r>
            </a:p>
          </p:txBody>
        </p:sp>
        <p:sp>
          <p:nvSpPr>
            <p:cNvPr id="36" name="TextBox 36"/>
            <p:cNvSpPr txBox="1"/>
            <p:nvPr/>
          </p:nvSpPr>
          <p:spPr>
            <a:xfrm>
              <a:off x="7077456" y="3937000"/>
              <a:ext cx="2592896"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약 2m 이내의 얕은 공동</a:t>
              </a:r>
            </a:p>
          </p:txBody>
        </p:sp>
        <p:sp>
          <p:nvSpPr>
            <p:cNvPr id="37" name="TextBox 37"/>
            <p:cNvSpPr txBox="1"/>
            <p:nvPr/>
          </p:nvSpPr>
          <p:spPr>
            <a:xfrm>
              <a:off x="7080123" y="4362450"/>
              <a:ext cx="3243834"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깊은 굴착·터널 공사장은 계측이 맡습니다</a:t>
              </a:r>
            </a:p>
          </p:txBody>
        </p:sp>
      </p:grpSp>
      <p:grpSp>
        <p:nvGrpSpPr>
          <p:cNvPr id="41" name="conclusion"/>
          <p:cNvGrpSpPr/>
          <p:nvPr/>
        </p:nvGrpSpPr>
        <p:grpSpPr>
          <a:xfrm>
            <a:off x="533400" y="5715000"/>
            <a:ext cx="6376020" cy="419100"/>
            <a:chOff x="533400" y="5715000"/>
            <a:chExt cx="6376020" cy="419100"/>
          </a:xfrm>
        </p:grpSpPr>
        <p:sp>
          <p:nvSpPr>
            <p:cNvPr id="39" name="Rectangle 39"/>
            <p:cNvSpPr/>
            <p:nvPr/>
          </p:nvSpPr>
          <p:spPr>
            <a:xfrm>
              <a:off x="533400" y="5715000"/>
              <a:ext cx="38100" cy="419100"/>
            </a:xfrm>
            <a:prstGeom prst="rect">
              <a:avLst/>
            </a:prstGeom>
            <a:solidFill>
              <a:srgbClr val="F5B700"/>
            </a:solidFill>
            <a:ln>
              <a:noFill/>
            </a:ln>
          </p:spPr>
        </p:sp>
        <p:sp>
          <p:nvSpPr>
            <p:cNvPr id="40" name="TextBox 40"/>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3" name="source"/>
          <p:cNvGrpSpPr/>
          <p:nvPr/>
        </p:nvGrpSpPr>
        <p:grpSpPr>
          <a:xfrm>
            <a:off x="528447" y="6381750"/>
            <a:ext cx="9128717" cy="191643"/>
            <a:chOff x="528447" y="6381750"/>
            <a:chExt cx="9128717" cy="191643"/>
          </a:xfrm>
        </p:grpSpPr>
        <p:sp>
          <p:nvSpPr>
            <p:cNvPr id="42" name="TextBox 42"/>
            <p:cNvSpPr txBox="1"/>
            <p:nvPr/>
          </p:nvSpPr>
          <p:spPr>
            <a:xfrm>
              <a:off x="528447" y="6381750"/>
              <a:ext cx="912871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통계(2020~2024)·명일동 사고조사(2025.12.3) · 이투데이(2025.4.23, GPR 탐지 깊이 약 2m) · 단면도는 원리 설명용</a:t>
              </a:r>
            </a:p>
          </p:txBody>
        </p:sp>
      </p:grpSp>
      <p:grpSp>
        <p:nvGrpSpPr>
          <p:cNvPr id="46" name="footer"/>
          <p:cNvGrpSpPr/>
          <p:nvPr/>
        </p:nvGrpSpPr>
        <p:grpSpPr>
          <a:xfrm>
            <a:off x="528638" y="6610350"/>
            <a:ext cx="11134724" cy="176212"/>
            <a:chOff x="528638" y="6610350"/>
            <a:chExt cx="11134724" cy="176212"/>
          </a:xfrm>
        </p:grpSpPr>
        <p:sp>
          <p:nvSpPr>
            <p:cNvPr id="44" name="TextBox 4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5" name="TextBox 4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18</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12500" r="0" b="12500"/>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5" name="story-text"/>
          <p:cNvGrpSpPr/>
          <p:nvPr/>
        </p:nvGrpSpPr>
        <p:grpSpPr>
          <a:xfrm>
            <a:off x="590550" y="1689100"/>
            <a:ext cx="6910624" cy="3950843"/>
            <a:chOff x="590550" y="1689100"/>
            <a:chExt cx="6910624" cy="3950843"/>
          </a:xfrm>
        </p:grpSpPr>
        <p:sp>
          <p:nvSpPr>
            <p:cNvPr id="8" name="TextBox 8"/>
            <p:cNvSpPr txBox="1"/>
            <p:nvPr/>
          </p:nvSpPr>
          <p:spPr>
            <a:xfrm>
              <a:off x="592836" y="1689100"/>
              <a:ext cx="2027250" cy="645414"/>
            </a:xfrm>
            <a:prstGeom prst="rect">
              <a:avLst/>
            </a:prstGeom>
            <a:noFill/>
            <a:ln>
              <a:noFill/>
            </a:ln>
          </p:spPr>
          <p:txBody>
            <a:bodyPr wrap="none" lIns="0" tIns="0" rIns="0" bIns="0" anchor="t" anchorCtr="0">
              <a:spAutoFit/>
            </a:bodyPr>
            <a:lstStyle/>
            <a:p>
              <a:pPr algn="l"/>
              <a:r>
                <a:rPr lang="ko-KR" sz="3300" b="1" spc="-75" dirty="0">
                  <a:solidFill>
                    <a:srgbClr val="FFFFFF"/>
                  </a:solidFill>
                  <a:latin typeface="+mn-lt"/>
                  <a:ea typeface="+mn-ea"/>
                  <a:cs typeface="+mn-cs"/>
                </a:rPr>
                <a:t>그렇다면,</a:t>
              </a:r>
            </a:p>
          </p:txBody>
        </p:sp>
        <p:sp>
          <p:nvSpPr>
            <p:cNvPr id="9" name="TextBox 9"/>
            <p:cNvSpPr txBox="1"/>
            <p:nvPr/>
          </p:nvSpPr>
          <p:spPr>
            <a:xfrm>
              <a:off x="592836" y="2260600"/>
              <a:ext cx="6458531" cy="645414"/>
            </a:xfrm>
            <a:prstGeom prst="rect">
              <a:avLst/>
            </a:prstGeom>
            <a:noFill/>
            <a:ln>
              <a:noFill/>
            </a:ln>
          </p:spPr>
          <p:txBody>
            <a:bodyPr wrap="none" lIns="0" tIns="0" rIns="0" bIns="0" anchor="t" anchorCtr="0">
              <a:spAutoFit/>
            </a:bodyPr>
            <a:lstStyle/>
            <a:p>
              <a:pPr algn="l"/>
              <a:r>
                <a:rPr lang="ko-KR" sz="3300" b="1" spc="-75" dirty="0">
                  <a:solidFill>
                    <a:srgbClr val="FFFFFF"/>
                  </a:solidFill>
                  <a:latin typeface="+mn-lt"/>
                  <a:ea typeface="+mn-ea"/>
                  <a:cs typeface="+mn-cs"/>
                </a:rPr>
                <a:t>더 자주 검사하면 되지 않을까요?</a:t>
              </a:r>
            </a:p>
          </p:txBody>
        </p:sp>
        <p:sp>
          <p:nvSpPr>
            <p:cNvPr id="10" name="TextBox 10"/>
            <p:cNvSpPr txBox="1"/>
            <p:nvPr/>
          </p:nvSpPr>
          <p:spPr>
            <a:xfrm>
              <a:off x="602742" y="3378200"/>
              <a:ext cx="3666630" cy="264033"/>
            </a:xfrm>
            <a:prstGeom prst="rect">
              <a:avLst/>
            </a:prstGeom>
            <a:noFill/>
            <a:ln>
              <a:noFill/>
            </a:ln>
          </p:spPr>
          <p:txBody>
            <a:bodyPr wrap="none" lIns="0" tIns="0" rIns="0" bIns="0" anchor="t" anchorCtr="0">
              <a:spAutoFit/>
            </a:bodyPr>
            <a:lstStyle/>
            <a:p>
              <a:pPr algn="l"/>
              <a:r>
                <a:rPr lang="ko-KR" sz="1350" dirty="0">
                  <a:solidFill>
                    <a:srgbClr val="D6DDE8"/>
                  </a:solidFill>
                  <a:latin typeface="+mn-lt"/>
                  <a:ea typeface="+mn-ea"/>
                  <a:cs typeface="+mn-cs"/>
                </a:rPr>
                <a:t>지금의 1회 공정 · 서울시 2024 공동조사용역</a:t>
              </a:r>
            </a:p>
          </p:txBody>
        </p:sp>
        <p:sp>
          <p:nvSpPr>
            <p:cNvPr id="11" name="TextBox 11"/>
            <p:cNvSpPr txBox="1"/>
            <p:nvPr/>
          </p:nvSpPr>
          <p:spPr>
            <a:xfrm>
              <a:off x="590550" y="3587750"/>
              <a:ext cx="5367802" cy="1047750"/>
            </a:xfrm>
            <a:prstGeom prst="rect">
              <a:avLst/>
            </a:prstGeom>
            <a:noFill/>
            <a:ln>
              <a:noFill/>
            </a:ln>
          </p:spPr>
          <p:txBody>
            <a:bodyPr wrap="none" lIns="0" tIns="0" rIns="0" bIns="0" anchor="t" anchorCtr="0">
              <a:spAutoFit/>
            </a:bodyPr>
            <a:lstStyle/>
            <a:p>
              <a:pPr algn="l"/>
              <a:r>
                <a:rPr lang="ko-KR" sz="5400" b="1" spc="-75" dirty="0">
                  <a:solidFill>
                    <a:srgbClr val="FFFFFF"/>
                  </a:solidFill>
                  <a:latin typeface="+mn-lt"/>
                  <a:ea typeface="+mn-ea"/>
                  <a:cs typeface="+mn-cs"/>
                </a:rPr>
                <a:t>km당 약 92만 원</a:t>
              </a:r>
            </a:p>
          </p:txBody>
        </p:sp>
        <p:sp>
          <p:nvSpPr>
            <p:cNvPr id="12" name="TextBox 12"/>
            <p:cNvSpPr txBox="1"/>
            <p:nvPr/>
          </p:nvSpPr>
          <p:spPr>
            <a:xfrm>
              <a:off x="601980" y="4489450"/>
              <a:ext cx="5871210"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1·2차 탐사, 천공 499곳, 공동 채움 285곳까지 묶인 가격입니다.</a:t>
              </a:r>
            </a:p>
          </p:txBody>
        </p:sp>
        <p:sp>
          <p:nvSpPr>
            <p:cNvPr id="13" name="TextBox 13"/>
            <p:cNvSpPr txBox="1"/>
            <p:nvPr/>
          </p:nvSpPr>
          <p:spPr>
            <a:xfrm>
              <a:off x="601980" y="4794250"/>
              <a:ext cx="6273051"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이 공정을 그대로 여러 번 돌리면, 예산과 인력이 그만큼 늘어납니다.</a:t>
              </a:r>
            </a:p>
          </p:txBody>
        </p:sp>
        <p:sp>
          <p:nvSpPr>
            <p:cNvPr id="14" name="TextBox 14"/>
            <p:cNvSpPr txBox="1"/>
            <p:nvPr/>
          </p:nvSpPr>
          <p:spPr>
            <a:xfrm>
              <a:off x="604647" y="5448300"/>
              <a:ext cx="6896527" cy="191643"/>
            </a:xfrm>
            <a:prstGeom prst="rect">
              <a:avLst/>
            </a:prstGeom>
            <a:noFill/>
            <a:ln>
              <a:noFill/>
            </a:ln>
          </p:spPr>
          <p:txBody>
            <a:bodyPr wrap="none" lIns="0" tIns="0" rIns="0" bIns="0" anchor="t" anchorCtr="0">
              <a:spAutoFit/>
            </a:bodyPr>
            <a:lstStyle/>
            <a:p>
              <a:pPr algn="l"/>
              <a:r>
                <a:rPr lang="ko-KR" sz="980" dirty="0">
                  <a:solidFill>
                    <a:srgbClr val="D6DDE8"/>
                  </a:solidFill>
                  <a:latin typeface="+mn-lt"/>
                  <a:ea typeface="+mn-ea"/>
                  <a:cs typeface="+mn-cs"/>
                </a:rPr>
                <a:t>출처: 서울시 「지반침하 특별점검 공동조사용역 최종보고서」(2024.10) · 17억 8,090만 원 ÷ 조사연장 1,930.6km</a:t>
              </a:r>
            </a:p>
          </p:txBody>
        </p:sp>
      </p:grpSp>
      <p:sp>
        <p:nvSpPr>
          <p:cNvPr id="16" name="TextBox 16"/>
          <p:cNvSpPr txBox="1"/>
          <p:nvPr/>
        </p:nvSpPr>
        <p:spPr>
          <a:xfrm>
            <a:off x="9263197" y="6515100"/>
            <a:ext cx="240035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사진: Immanuelle, CC BY 4.0 · 06 / 18</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7812" r="0" b="7813"/>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3" name="story-text"/>
          <p:cNvGrpSpPr/>
          <p:nvPr/>
        </p:nvGrpSpPr>
        <p:grpSpPr>
          <a:xfrm>
            <a:off x="590550" y="2127250"/>
            <a:ext cx="5064824" cy="2731770"/>
            <a:chOff x="590550" y="2127250"/>
            <a:chExt cx="5064824" cy="2731770"/>
          </a:xfrm>
        </p:grpSpPr>
        <p:sp>
          <p:nvSpPr>
            <p:cNvPr id="8" name="TextBox 8"/>
            <p:cNvSpPr txBox="1"/>
            <p:nvPr/>
          </p:nvSpPr>
          <p:spPr>
            <a:xfrm>
              <a:off x="598932" y="2127250"/>
              <a:ext cx="4191191" cy="410718"/>
            </a:xfrm>
            <a:prstGeom prst="rect">
              <a:avLst/>
            </a:prstGeom>
            <a:noFill/>
            <a:ln>
              <a:noFill/>
            </a:ln>
          </p:spPr>
          <p:txBody>
            <a:bodyPr wrap="none" lIns="0" tIns="0" rIns="0" bIns="0" anchor="t" anchorCtr="0">
              <a:spAutoFit/>
            </a:bodyPr>
            <a:lstStyle/>
            <a:p>
              <a:pPr algn="l"/>
              <a:r>
                <a:rPr lang="ko-KR" sz="2100" dirty="0">
                  <a:solidFill>
                    <a:srgbClr val="D6DDE8"/>
                  </a:solidFill>
                  <a:latin typeface="+mn-lt"/>
                  <a:ea typeface="+mn-ea"/>
                  <a:cs typeface="+mn-cs"/>
                </a:rPr>
                <a:t>매번 전체 공정을 반복하지 않고,</a:t>
              </a:r>
            </a:p>
          </p:txBody>
        </p:sp>
        <p:sp>
          <p:nvSpPr>
            <p:cNvPr id="9" name="TextBox 9"/>
            <p:cNvSpPr txBox="1"/>
            <p:nvPr/>
          </p:nvSpPr>
          <p:spPr>
            <a:xfrm>
              <a:off x="590550" y="2609850"/>
              <a:ext cx="3166634" cy="733425"/>
            </a:xfrm>
            <a:prstGeom prst="rect">
              <a:avLst/>
            </a:prstGeom>
            <a:noFill/>
            <a:ln>
              <a:noFill/>
            </a:ln>
          </p:spPr>
          <p:txBody>
            <a:bodyPr wrap="none" lIns="0" tIns="0" rIns="0" bIns="0" anchor="t" anchorCtr="0">
              <a:spAutoFit/>
            </a:bodyPr>
            <a:lstStyle/>
            <a:p>
              <a:pPr algn="l"/>
              <a:r>
                <a:rPr lang="ko-KR" sz="3750" b="1" spc="-75" dirty="0">
                  <a:solidFill>
                    <a:srgbClr val="FFFFFF"/>
                  </a:solidFill>
                  <a:latin typeface="+mn-lt"/>
                  <a:ea typeface="+mn-ea"/>
                  <a:cs typeface="+mn-cs"/>
                </a:rPr>
                <a:t>달라진 곳부터</a:t>
              </a:r>
            </a:p>
          </p:txBody>
        </p:sp>
        <p:sp>
          <p:nvSpPr>
            <p:cNvPr id="10" name="TextBox 10"/>
            <p:cNvSpPr txBox="1"/>
            <p:nvPr/>
          </p:nvSpPr>
          <p:spPr>
            <a:xfrm>
              <a:off x="590550" y="3219450"/>
              <a:ext cx="4588169" cy="733425"/>
            </a:xfrm>
            <a:prstGeom prst="rect">
              <a:avLst/>
            </a:prstGeom>
            <a:noFill/>
            <a:ln>
              <a:noFill/>
            </a:ln>
          </p:spPr>
          <p:txBody>
            <a:bodyPr wrap="none" lIns="0" tIns="0" rIns="0" bIns="0" anchor="t" anchorCtr="0">
              <a:spAutoFit/>
            </a:bodyPr>
            <a:lstStyle/>
            <a:p>
              <a:pPr algn="l"/>
              <a:r>
                <a:rPr lang="ko-KR" sz="3750" b="1" spc="-75" dirty="0">
                  <a:solidFill>
                    <a:srgbClr val="FFFFFF"/>
                  </a:solidFill>
                  <a:latin typeface="+mn-lt"/>
                  <a:ea typeface="+mn-ea"/>
                  <a:cs typeface="+mn-cs"/>
                </a:rPr>
                <a:t>찾아볼 수 있다면요?</a:t>
              </a:r>
            </a:p>
          </p:txBody>
        </p:sp>
        <p:sp>
          <p:nvSpPr>
            <p:cNvPr id="11" name="TextBox 11"/>
            <p:cNvSpPr txBox="1"/>
            <p:nvPr/>
          </p:nvSpPr>
          <p:spPr>
            <a:xfrm>
              <a:off x="601980" y="4260850"/>
              <a:ext cx="5053394"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같은 길을 반복해서 재고, 지난 기록과 달라진 곳만 골라</a:t>
              </a:r>
            </a:p>
          </p:txBody>
        </p:sp>
        <p:sp>
          <p:nvSpPr>
            <p:cNvPr id="12" name="TextBox 12"/>
            <p:cNvSpPr txBox="1"/>
            <p:nvPr/>
          </p:nvSpPr>
          <p:spPr>
            <a:xfrm>
              <a:off x="601980" y="4565650"/>
              <a:ext cx="4669727"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전문가가 검토한 지점만 현장에서 다시 확인합니다.</a:t>
              </a:r>
            </a:p>
          </p:txBody>
        </p:sp>
      </p:grpSp>
      <p:sp>
        <p:nvSpPr>
          <p:cNvPr id="14" name="TextBox 14"/>
          <p:cNvSpPr txBox="1"/>
          <p:nvPr/>
        </p:nvSpPr>
        <p:spPr>
          <a:xfrm>
            <a:off x="9251942" y="6515100"/>
            <a:ext cx="2411611"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사진: 서울연구원, CC BY 4.0 · 07 / 18</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4000"/>
                </a:srgbClr>
              </a:gs>
              <a:gs pos="45000">
                <a:srgbClr val="0B1E3C">
                  <a:alpha val="66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4" name="story-text"/>
          <p:cNvGrpSpPr/>
          <p:nvPr/>
        </p:nvGrpSpPr>
        <p:grpSpPr>
          <a:xfrm>
            <a:off x="590550" y="1797050"/>
            <a:ext cx="4220268" cy="3503041"/>
            <a:chOff x="590550" y="1797050"/>
            <a:chExt cx="4220268" cy="3503041"/>
          </a:xfrm>
        </p:grpSpPr>
        <p:sp>
          <p:nvSpPr>
            <p:cNvPr id="8" name="TextBox 8"/>
            <p:cNvSpPr txBox="1"/>
            <p:nvPr/>
          </p:nvSpPr>
          <p:spPr>
            <a:xfrm>
              <a:off x="599694" y="1797050"/>
              <a:ext cx="4036200" cy="381381"/>
            </a:xfrm>
            <a:prstGeom prst="rect">
              <a:avLst/>
            </a:prstGeom>
            <a:noFill/>
            <a:ln>
              <a:noFill/>
            </a:ln>
          </p:spPr>
          <p:txBody>
            <a:bodyPr wrap="none" lIns="0" tIns="0" rIns="0" bIns="0" anchor="t" anchorCtr="0">
              <a:spAutoFit/>
            </a:bodyPr>
            <a:lstStyle/>
            <a:p>
              <a:pPr algn="l"/>
              <a:r>
                <a:rPr lang="ko-KR" sz="1950" dirty="0">
                  <a:solidFill>
                    <a:srgbClr val="D6DDE8"/>
                  </a:solidFill>
                  <a:latin typeface="+mn-lt"/>
                  <a:ea typeface="+mn-ea"/>
                  <a:cs typeface="+mn-cs"/>
                </a:rPr>
                <a:t>그래서, 같은 길을 다시 달립니다.</a:t>
              </a:r>
            </a:p>
          </p:txBody>
        </p:sp>
        <p:sp>
          <p:nvSpPr>
            <p:cNvPr id="9" name="TextBox 9"/>
            <p:cNvSpPr txBox="1"/>
            <p:nvPr/>
          </p:nvSpPr>
          <p:spPr>
            <a:xfrm>
              <a:off x="590550" y="2311400"/>
              <a:ext cx="1421420" cy="1104900"/>
            </a:xfrm>
            <a:prstGeom prst="rect">
              <a:avLst/>
            </a:prstGeom>
            <a:noFill/>
            <a:ln>
              <a:noFill/>
            </a:ln>
          </p:spPr>
          <p:txBody>
            <a:bodyPr wrap="none" lIns="0" tIns="0" rIns="0" bIns="0" anchor="t" anchorCtr="0">
              <a:spAutoFit/>
            </a:bodyPr>
            <a:lstStyle/>
            <a:p>
              <a:pPr algn="l"/>
              <a:r>
                <a:rPr lang="en-US" sz="5700" b="1" spc="-75" dirty="0">
                  <a:solidFill>
                    <a:srgbClr val="FFFFFF"/>
                  </a:solidFill>
                  <a:latin typeface="+mn-lt"/>
                  <a:ea typeface="+mn-ea"/>
                  <a:cs typeface="+mn-cs"/>
                </a:rPr>
                <a:t>PV5</a:t>
              </a:r>
            </a:p>
          </p:txBody>
        </p:sp>
        <p:sp>
          <p:nvSpPr>
            <p:cNvPr id="10" name="TextBox 10"/>
            <p:cNvSpPr txBox="1"/>
            <p:nvPr/>
          </p:nvSpPr>
          <p:spPr>
            <a:xfrm>
              <a:off x="590550" y="3187700"/>
              <a:ext cx="4220268" cy="933450"/>
            </a:xfrm>
            <a:prstGeom prst="rect">
              <a:avLst/>
            </a:prstGeom>
            <a:noFill/>
            <a:ln>
              <a:noFill/>
            </a:ln>
          </p:spPr>
          <p:txBody>
            <a:bodyPr wrap="none" lIns="0" tIns="0" rIns="0" bIns="0" anchor="t" anchorCtr="0">
              <a:spAutoFit/>
            </a:bodyPr>
            <a:lstStyle/>
            <a:p>
              <a:pPr algn="l"/>
              <a:r>
                <a:rPr lang="en-US" sz="4800" b="1" spc="-75" dirty="0">
                  <a:solidFill>
                    <a:srgbClr val="FFFFFF"/>
                  </a:solidFill>
                  <a:latin typeface="+mn-lt"/>
                  <a:ea typeface="+mn-ea"/>
                  <a:cs typeface="+mn-cs"/>
                </a:rPr>
                <a:t>GroundWatch</a:t>
              </a:r>
            </a:p>
          </p:txBody>
        </p:sp>
        <p:sp>
          <p:nvSpPr>
            <p:cNvPr id="11" name="TextBox 11"/>
            <p:cNvSpPr txBox="1"/>
            <p:nvPr/>
          </p:nvSpPr>
          <p:spPr>
            <a:xfrm>
              <a:off x="598170" y="40259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sp>
          <p:nvSpPr>
            <p:cNvPr id="12" name="TextBox 12"/>
            <p:cNvSpPr txBox="1"/>
            <p:nvPr/>
          </p:nvSpPr>
          <p:spPr>
            <a:xfrm>
              <a:off x="601599" y="4686300"/>
              <a:ext cx="3546815" cy="308991"/>
            </a:xfrm>
            <a:prstGeom prst="rect">
              <a:avLst/>
            </a:prstGeom>
            <a:noFill/>
            <a:ln>
              <a:noFill/>
            </a:ln>
          </p:spPr>
          <p:txBody>
            <a:bodyPr wrap="none" lIns="0" tIns="0" rIns="0" bIns="0" anchor="t" anchorCtr="0">
              <a:spAutoFit/>
            </a:bodyPr>
            <a:lstStyle/>
            <a:p>
              <a:pPr algn="l"/>
              <a:r>
                <a:rPr lang="ko-KR" sz="1580" dirty="0">
                  <a:solidFill>
                    <a:srgbClr val="D6DDE8"/>
                  </a:solidFill>
                  <a:latin typeface="+mn-lt"/>
                  <a:ea typeface="+mn-ea"/>
                  <a:cs typeface="+mn-cs"/>
                </a:rPr>
                <a:t>약 2개월마다 도로 아래를 다시 재고,</a:t>
              </a:r>
            </a:p>
          </p:txBody>
        </p:sp>
        <p:sp>
          <p:nvSpPr>
            <p:cNvPr id="13" name="TextBox 13"/>
            <p:cNvSpPr txBox="1"/>
            <p:nvPr/>
          </p:nvSpPr>
          <p:spPr>
            <a:xfrm>
              <a:off x="601599" y="4991100"/>
              <a:ext cx="3366021" cy="308991"/>
            </a:xfrm>
            <a:prstGeom prst="rect">
              <a:avLst/>
            </a:prstGeom>
            <a:noFill/>
            <a:ln>
              <a:noFill/>
            </a:ln>
          </p:spPr>
          <p:txBody>
            <a:bodyPr wrap="none" lIns="0" tIns="0" rIns="0" bIns="0" anchor="t" anchorCtr="0">
              <a:spAutoFit/>
            </a:bodyPr>
            <a:lstStyle/>
            <a:p>
              <a:pPr algn="l"/>
              <a:r>
                <a:rPr lang="ko-KR" sz="1580" dirty="0">
                  <a:solidFill>
                    <a:srgbClr val="D6DDE8"/>
                  </a:solidFill>
                  <a:latin typeface="+mn-lt"/>
                  <a:ea typeface="+mn-ea"/>
                  <a:cs typeface="+mn-cs"/>
                </a:rPr>
                <a:t>지난 기록과 달라진 곳을 찾습니다.</a:t>
              </a:r>
            </a:p>
          </p:txBody>
        </p:sp>
      </p:grpSp>
      <p:grpSp>
        <p:nvGrpSpPr>
          <p:cNvPr id="17" name="footer"/>
          <p:cNvGrpSpPr/>
          <p:nvPr/>
        </p:nvGrpSpPr>
        <p:grpSpPr>
          <a:xfrm>
            <a:off x="604266" y="6502400"/>
            <a:ext cx="11059287" cy="205359"/>
            <a:chOff x="604266" y="6502400"/>
            <a:chExt cx="11059287" cy="205359"/>
          </a:xfrm>
        </p:grpSpPr>
        <p:sp>
          <p:nvSpPr>
            <p:cNvPr id="15" name="TextBox 15"/>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6" name="TextBox 16"/>
            <p:cNvSpPr txBox="1"/>
            <p:nvPr/>
          </p:nvSpPr>
          <p:spPr>
            <a:xfrm>
              <a:off x="9653575" y="6515100"/>
              <a:ext cx="2009978"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PV5 기반 콘셉트 이미지 · 08 / 18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1" name="col0"/>
          <p:cNvGrpSpPr/>
          <p:nvPr/>
        </p:nvGrpSpPr>
        <p:grpSpPr>
          <a:xfrm>
            <a:off x="524256" y="1600200"/>
            <a:ext cx="2618994" cy="821944"/>
            <a:chOff x="524256" y="1600200"/>
            <a:chExt cx="2618994" cy="821944"/>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256" y="2070100"/>
              <a:ext cx="2439631"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탐사 100여 일 뒤 함몰</a:t>
              </a:r>
            </a:p>
          </p:txBody>
        </p:sp>
      </p:grpSp>
      <p:grpSp>
        <p:nvGrpSpPr>
          <p:cNvPr id="25" name="col1"/>
          <p:cNvGrpSpPr/>
          <p:nvPr/>
        </p:nvGrpSpPr>
        <p:grpSpPr>
          <a:xfrm>
            <a:off x="3362706" y="1600200"/>
            <a:ext cx="2618994" cy="821944"/>
            <a:chOff x="3362706" y="1600200"/>
            <a:chExt cx="2618994" cy="821944"/>
          </a:xfrm>
        </p:grpSpPr>
        <p:sp>
          <p:nvSpPr>
            <p:cNvPr id="22" name="Rectangle 22"/>
            <p:cNvSpPr/>
            <p:nvPr/>
          </p:nvSpPr>
          <p:spPr>
            <a:xfrm>
              <a:off x="3371850" y="1600200"/>
              <a:ext cx="2609850" cy="28575"/>
            </a:xfrm>
            <a:prstGeom prst="rect">
              <a:avLst/>
            </a:prstGeom>
            <a:solidFill>
              <a:srgbClr val="0B1E3C"/>
            </a:solidFill>
            <a:ln>
              <a:noFill/>
            </a:ln>
          </p:spPr>
        </p:sp>
        <p:sp>
          <p:nvSpPr>
            <p:cNvPr id="23" name="TextBox 23"/>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4" name="TextBox 24"/>
            <p:cNvSpPr txBox="1"/>
            <p:nvPr/>
          </p:nvSpPr>
          <p:spPr>
            <a:xfrm>
              <a:off x="3362706" y="2070100"/>
              <a:ext cx="2568058"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같은 길을 약 2개월마다</a:t>
              </a:r>
            </a:p>
          </p:txBody>
        </p:sp>
      </p:grpSp>
      <p:grpSp>
        <p:nvGrpSpPr>
          <p:cNvPr id="29" name="col2"/>
          <p:cNvGrpSpPr/>
          <p:nvPr/>
        </p:nvGrpSpPr>
        <p:grpSpPr>
          <a:xfrm>
            <a:off x="6201156" y="1600200"/>
            <a:ext cx="2618994" cy="821944"/>
            <a:chOff x="6201156" y="1600200"/>
            <a:chExt cx="2618994" cy="821944"/>
          </a:xfrm>
        </p:grpSpPr>
        <p:sp>
          <p:nvSpPr>
            <p:cNvPr id="26" name="Rectangle 26"/>
            <p:cNvSpPr/>
            <p:nvPr/>
          </p:nvSpPr>
          <p:spPr>
            <a:xfrm>
              <a:off x="6210300" y="1600200"/>
              <a:ext cx="2609850" cy="28575"/>
            </a:xfrm>
            <a:prstGeom prst="rect">
              <a:avLst/>
            </a:prstGeom>
            <a:solidFill>
              <a:srgbClr val="0B1E3C"/>
            </a:solidFill>
            <a:ln>
              <a:noFill/>
            </a:ln>
          </p:spPr>
        </p:sp>
        <p:sp>
          <p:nvSpPr>
            <p:cNvPr id="27" name="TextBox 27"/>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28" name="TextBox 28"/>
            <p:cNvSpPr txBox="1"/>
            <p:nvPr/>
          </p:nvSpPr>
          <p:spPr>
            <a:xfrm>
              <a:off x="6201156" y="2070100"/>
              <a:ext cx="2428121"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모든 차가 똑같이 잰다</a:t>
              </a:r>
            </a:p>
          </p:txBody>
        </p:sp>
      </p:grpSp>
      <p:grpSp>
        <p:nvGrpSpPr>
          <p:cNvPr id="33" name="col3"/>
          <p:cNvGrpSpPr/>
          <p:nvPr/>
        </p:nvGrpSpPr>
        <p:grpSpPr>
          <a:xfrm>
            <a:off x="9039606" y="1600200"/>
            <a:ext cx="2618994" cy="821944"/>
            <a:chOff x="9039606" y="1600200"/>
            <a:chExt cx="2618994" cy="821944"/>
          </a:xfrm>
        </p:grpSpPr>
        <p:sp>
          <p:nvSpPr>
            <p:cNvPr id="30" name="Rectangle 30"/>
            <p:cNvSpPr/>
            <p:nvPr/>
          </p:nvSpPr>
          <p:spPr>
            <a:xfrm>
              <a:off x="9048750" y="1600200"/>
              <a:ext cx="2609850" cy="28575"/>
            </a:xfrm>
            <a:prstGeom prst="rect">
              <a:avLst/>
            </a:prstGeom>
            <a:solidFill>
              <a:srgbClr val="0B1E3C"/>
            </a:solidFill>
            <a:ln>
              <a:noFill/>
            </a:ln>
          </p:spPr>
        </p:sp>
        <p:sp>
          <p:nvSpPr>
            <p:cNvPr id="31" name="TextBox 31"/>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2" name="TextBox 32"/>
            <p:cNvSpPr txBox="1"/>
            <p:nvPr/>
          </p:nvSpPr>
          <p:spPr>
            <a:xfrm>
              <a:off x="9039606" y="2070100"/>
              <a:ext cx="2528076"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약 30% 더해 1년에 6번</a:t>
              </a:r>
            </a:p>
          </p:txBody>
        </p:sp>
      </p:grpSp>
      <p:grpSp>
        <p:nvGrpSpPr>
          <p:cNvPr id="44" name="keynum"/>
          <p:cNvGrpSpPr/>
          <p:nvPr/>
        </p:nvGrpSpPr>
        <p:grpSpPr>
          <a:xfrm>
            <a:off x="514350" y="2889250"/>
            <a:ext cx="11597371" cy="1363028"/>
            <a:chOff x="514350" y="2889250"/>
            <a:chExt cx="11597371" cy="1363028"/>
          </a:xfrm>
        </p:grpSpPr>
        <p:sp>
          <p:nvSpPr>
            <p:cNvPr id="34" name="TextBox 34"/>
            <p:cNvSpPr txBox="1"/>
            <p:nvPr/>
          </p:nvSpPr>
          <p:spPr>
            <a:xfrm>
              <a:off x="527685" y="28892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숫자로 보면</a:t>
              </a:r>
            </a:p>
          </p:txBody>
        </p:sp>
        <p:sp>
          <p:nvSpPr>
            <p:cNvPr id="35" name="Rectangle 35"/>
            <p:cNvSpPr/>
            <p:nvPr/>
          </p:nvSpPr>
          <p:spPr>
            <a:xfrm>
              <a:off x="533400" y="3162300"/>
              <a:ext cx="3581400" cy="28575"/>
            </a:xfrm>
            <a:prstGeom prst="rect">
              <a:avLst/>
            </a:prstGeom>
            <a:solidFill>
              <a:srgbClr val="0B1E3C"/>
            </a:solidFill>
            <a:ln>
              <a:noFill/>
            </a:ln>
          </p:spPr>
        </p:sp>
        <p:sp>
          <p:nvSpPr>
            <p:cNvPr id="36" name="TextBox 36"/>
            <p:cNvSpPr txBox="1"/>
            <p:nvPr/>
          </p:nvSpPr>
          <p:spPr>
            <a:xfrm>
              <a:off x="514350" y="3327400"/>
              <a:ext cx="2163110" cy="762000"/>
            </a:xfrm>
            <a:prstGeom prst="rect">
              <a:avLst/>
            </a:prstGeom>
            <a:noFill/>
            <a:ln>
              <a:noFill/>
            </a:ln>
          </p:spPr>
          <p:txBody>
            <a:bodyPr wrap="none" lIns="0" tIns="0" rIns="0" bIns="0" anchor="t" anchorCtr="0">
              <a:spAutoFit/>
            </a:bodyPr>
            <a:lstStyle/>
            <a:p>
              <a:pPr algn="l"/>
              <a:r>
                <a:rPr lang="ko-KR" sz="3900" b="1" dirty="0">
                  <a:solidFill>
                    <a:srgbClr val="0B1E3C"/>
                  </a:solidFill>
                  <a:latin typeface="+mn-lt"/>
                  <a:ea typeface="+mn-ea"/>
                  <a:cs typeface="+mn-cs"/>
                </a:rPr>
                <a:t>100여 일</a:t>
              </a:r>
            </a:p>
          </p:txBody>
        </p:sp>
        <p:sp>
          <p:nvSpPr>
            <p:cNvPr id="37" name="TextBox 37"/>
            <p:cNvSpPr txBox="1"/>
            <p:nvPr/>
          </p:nvSpPr>
          <p:spPr>
            <a:xfrm>
              <a:off x="527685" y="4032250"/>
              <a:ext cx="3162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판정에서 함몰까지 (2024 연희동)</a:t>
              </a:r>
            </a:p>
          </p:txBody>
        </p:sp>
        <p:sp>
          <p:nvSpPr>
            <p:cNvPr id="38" name="Rectangle 38"/>
            <p:cNvSpPr/>
            <p:nvPr/>
          </p:nvSpPr>
          <p:spPr>
            <a:xfrm>
              <a:off x="4305300" y="3162300"/>
              <a:ext cx="3581400" cy="28575"/>
            </a:xfrm>
            <a:prstGeom prst="rect">
              <a:avLst/>
            </a:prstGeom>
            <a:solidFill>
              <a:srgbClr val="0B1E3C"/>
            </a:solidFill>
            <a:ln>
              <a:noFill/>
            </a:ln>
          </p:spPr>
        </p:sp>
        <p:sp>
          <p:nvSpPr>
            <p:cNvPr id="39" name="TextBox 39"/>
            <p:cNvSpPr txBox="1"/>
            <p:nvPr/>
          </p:nvSpPr>
          <p:spPr>
            <a:xfrm>
              <a:off x="4286250" y="3327400"/>
              <a:ext cx="1472712" cy="762000"/>
            </a:xfrm>
            <a:prstGeom prst="rect">
              <a:avLst/>
            </a:prstGeom>
            <a:noFill/>
            <a:ln>
              <a:noFill/>
            </a:ln>
          </p:spPr>
          <p:txBody>
            <a:bodyPr wrap="none" lIns="0" tIns="0" rIns="0" bIns="0" anchor="t" anchorCtr="0">
              <a:spAutoFit/>
            </a:bodyPr>
            <a:lstStyle/>
            <a:p>
              <a:pPr algn="l"/>
              <a:r>
                <a:rPr lang="ko-KR" sz="3900" b="1" dirty="0">
                  <a:solidFill>
                    <a:srgbClr val="0B1E3C"/>
                  </a:solidFill>
                  <a:latin typeface="+mn-lt"/>
                  <a:ea typeface="+mn-ea"/>
                  <a:cs typeface="+mn-cs"/>
                </a:rPr>
                <a:t>2.4배</a:t>
              </a:r>
            </a:p>
          </p:txBody>
        </p:sp>
        <p:sp>
          <p:nvSpPr>
            <p:cNvPr id="40" name="TextBox 40"/>
            <p:cNvSpPr txBox="1"/>
            <p:nvPr/>
          </p:nvSpPr>
          <p:spPr>
            <a:xfrm>
              <a:off x="4299585" y="4032250"/>
              <a:ext cx="425572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공동의 신호 ÷ 가장 큰 오탐 요인 (10장 시뮬레이션)</a:t>
              </a:r>
            </a:p>
          </p:txBody>
        </p:sp>
        <p:sp>
          <p:nvSpPr>
            <p:cNvPr id="41" name="Rectangle 41"/>
            <p:cNvSpPr/>
            <p:nvPr/>
          </p:nvSpPr>
          <p:spPr>
            <a:xfrm>
              <a:off x="8077200" y="3162300"/>
              <a:ext cx="3581400" cy="28575"/>
            </a:xfrm>
            <a:prstGeom prst="rect">
              <a:avLst/>
            </a:prstGeom>
            <a:solidFill>
              <a:srgbClr val="0B1E3C"/>
            </a:solidFill>
            <a:ln>
              <a:noFill/>
            </a:ln>
          </p:spPr>
        </p:sp>
        <p:sp>
          <p:nvSpPr>
            <p:cNvPr id="42" name="TextBox 42"/>
            <p:cNvSpPr txBox="1"/>
            <p:nvPr/>
          </p:nvSpPr>
          <p:spPr>
            <a:xfrm>
              <a:off x="8058150" y="3327400"/>
              <a:ext cx="2384930" cy="762000"/>
            </a:xfrm>
            <a:prstGeom prst="rect">
              <a:avLst/>
            </a:prstGeom>
            <a:noFill/>
            <a:ln>
              <a:noFill/>
            </a:ln>
          </p:spPr>
          <p:txBody>
            <a:bodyPr wrap="none" lIns="0" tIns="0" rIns="0" bIns="0" anchor="t" anchorCtr="0">
              <a:spAutoFit/>
            </a:bodyPr>
            <a:lstStyle/>
            <a:p>
              <a:pPr algn="l"/>
              <a:r>
                <a:rPr lang="ko-KR" sz="3900" b="1" dirty="0">
                  <a:solidFill>
                    <a:srgbClr val="0B1E3C"/>
                  </a:solidFill>
                  <a:latin typeface="+mn-lt"/>
                  <a:ea typeface="+mn-ea"/>
                  <a:cs typeface="+mn-cs"/>
                </a:rPr>
                <a:t>최대 88대</a:t>
              </a:r>
            </a:p>
          </p:txBody>
        </p:sp>
        <p:sp>
          <p:nvSpPr>
            <p:cNvPr id="43" name="TextBox 43"/>
            <p:cNvSpPr txBox="1"/>
            <p:nvPr/>
          </p:nvSpPr>
          <p:spPr>
            <a:xfrm>
              <a:off x="8071485" y="4032250"/>
              <a:ext cx="404023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전국 지자체가 쓸 탐사형 PV5 (16장 계산, 차량 약 40억 원)</a:t>
              </a:r>
            </a:p>
          </p:txBody>
        </p:sp>
      </p:grpSp>
      <p:grpSp>
        <p:nvGrpSpPr>
          <p:cNvPr id="47" name="conclusion"/>
          <p:cNvGrpSpPr/>
          <p:nvPr/>
        </p:nvGrpSpPr>
        <p:grpSpPr>
          <a:xfrm>
            <a:off x="533400" y="4953000"/>
            <a:ext cx="7807042" cy="419100"/>
            <a:chOff x="533400" y="4953000"/>
            <a:chExt cx="7807042" cy="419100"/>
          </a:xfrm>
        </p:grpSpPr>
        <p:sp>
          <p:nvSpPr>
            <p:cNvPr id="45" name="Rectangle 45"/>
            <p:cNvSpPr/>
            <p:nvPr/>
          </p:nvSpPr>
          <p:spPr>
            <a:xfrm>
              <a:off x="533400" y="4953000"/>
              <a:ext cx="38100" cy="419100"/>
            </a:xfrm>
            <a:prstGeom prst="rect">
              <a:avLst/>
            </a:prstGeom>
            <a:solidFill>
              <a:srgbClr val="F5B700"/>
            </a:solidFill>
            <a:ln>
              <a:noFill/>
            </a:ln>
          </p:spPr>
        </p:sp>
        <p:sp>
          <p:nvSpPr>
            <p:cNvPr id="46" name="TextBox 46"/>
            <p:cNvSpPr txBox="1"/>
            <p:nvPr/>
          </p:nvSpPr>
          <p:spPr>
            <a:xfrm>
              <a:off x="715899" y="5048250"/>
              <a:ext cx="762454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 PV5 AI 순찰차가 도로 위를 본다면, GroundWatch는 도로 아래를 봅니다.</a:t>
              </a:r>
            </a:p>
          </p:txBody>
        </p:sp>
      </p:grpSp>
      <p:grpSp>
        <p:nvGrpSpPr>
          <p:cNvPr id="49" name="source"/>
          <p:cNvGrpSpPr/>
          <p:nvPr/>
        </p:nvGrpSpPr>
        <p:grpSpPr>
          <a:xfrm>
            <a:off x="528447" y="6381750"/>
            <a:ext cx="9491518" cy="191643"/>
            <a:chOff x="528447" y="6381750"/>
            <a:chExt cx="9491518" cy="191643"/>
          </a:xfrm>
        </p:grpSpPr>
        <p:sp>
          <p:nvSpPr>
            <p:cNvPr id="48" name="TextBox 48"/>
            <p:cNvSpPr txBox="1"/>
            <p:nvPr/>
          </p:nvSpPr>
          <p:spPr>
            <a:xfrm>
              <a:off x="528447" y="6381750"/>
              <a:ext cx="949151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2장 뉴시스·세계일보 · 10장 GPR 전자기 시뮬레이션 · 15장 서울시 2024 공동조사용역 최종보고서 · 16장 머니투데이(2026.6.26, 경찰청 PV5 AI 순찰차)</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18</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6" name="scans"/>
          <p:cNvGrpSpPr/>
          <p:nvPr/>
        </p:nvGrpSpPr>
        <p:grpSpPr>
          <a:xfrm>
            <a:off x="527304" y="1485900"/>
            <a:ext cx="11131296" cy="2309178"/>
            <a:chOff x="527304" y="1485900"/>
            <a:chExt cx="11131296" cy="2309178"/>
          </a:xfrm>
        </p:grpSpPr>
        <p:pic>
          <p:nvPicPr>
            <p:cNvPr id="19" name="Image 19"/>
            <p:cNvPicPr>
              <a:picLocks noChangeAspect="1"/>
            </p:cNvPicPr>
            <p:nvPr/>
          </p:nvPicPr>
          <p:blipFill>
            <a:blip r:embed="rId2"/>
            <a:stretch>
              <a:fillRect/>
            </a:stretch>
          </p:blipFill>
          <p:spPr>
            <a:xfrm>
              <a:off x="533400" y="1485900"/>
              <a:ext cx="3429000" cy="1771650"/>
            </a:xfrm>
            <a:prstGeom prst="rect">
              <a:avLst/>
            </a:prstGeom>
          </p:spPr>
        </p:pic>
        <p:sp>
          <p:nvSpPr>
            <p:cNvPr id="20" name="TextBox 2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새벽, 같은 경로를 약 2개월마다</a:t>
              </a:r>
            </a:p>
          </p:txBody>
        </p:sp>
        <p:sp>
          <p:nvSpPr>
            <p:cNvPr id="21" name="TextBox 2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반경 18cm</a:t>
              </a:r>
            </a:p>
          </p:txBody>
        </p:sp>
        <p:sp>
          <p:nvSpPr>
            <p:cNvPr id="22" name="Rectangle 22"/>
            <p:cNvSpPr/>
            <p:nvPr/>
          </p:nvSpPr>
          <p:spPr>
            <a:xfrm>
              <a:off x="609600" y="1562100"/>
              <a:ext cx="904875" cy="247650"/>
            </a:xfrm>
            <a:prstGeom prst="roundRect">
              <a:avLst>
                <a:gd name="adj" fmla="val 11538"/>
              </a:avLst>
            </a:prstGeom>
            <a:solidFill>
              <a:srgbClr val="0B1E3C">
                <a:alpha val="90000"/>
              </a:srgbClr>
            </a:solidFill>
            <a:ln>
              <a:noFill/>
            </a:ln>
          </p:spPr>
        </p:sp>
        <p:sp>
          <p:nvSpPr>
            <p:cNvPr id="23" name="TextBox 2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4" name="TextBox 2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5" name="Image 25"/>
            <p:cNvPicPr>
              <a:picLocks noChangeAspect="1"/>
            </p:cNvPicPr>
            <p:nvPr/>
          </p:nvPicPr>
          <p:blipFill>
            <a:blip r:embed="rId3"/>
            <a:stretch>
              <a:fillRect/>
            </a:stretch>
          </p:blipFill>
          <p:spPr>
            <a:xfrm>
              <a:off x="4381500" y="1485900"/>
              <a:ext cx="3429000" cy="1771650"/>
            </a:xfrm>
            <a:prstGeom prst="rect">
              <a:avLst/>
            </a:prstGeom>
          </p:spPr>
        </p:pic>
        <p:sp>
          <p:nvSpPr>
            <p:cNvPr id="26" name="TextBox 2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길을 다시 찍으면</a:t>
              </a:r>
            </a:p>
          </p:txBody>
        </p:sp>
        <p:sp>
          <p:nvSpPr>
            <p:cNvPr id="27" name="TextBox 2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공동이 20cm 자라 있음</a:t>
              </a:r>
            </a:p>
          </p:txBody>
        </p:sp>
        <p:sp>
          <p:nvSpPr>
            <p:cNvPr id="28" name="Rectangle 28"/>
            <p:cNvSpPr/>
            <p:nvPr/>
          </p:nvSpPr>
          <p:spPr>
            <a:xfrm>
              <a:off x="4457700" y="1562100"/>
              <a:ext cx="904875" cy="247650"/>
            </a:xfrm>
            <a:prstGeom prst="roundRect">
              <a:avLst>
                <a:gd name="adj" fmla="val 11538"/>
              </a:avLst>
            </a:prstGeom>
            <a:solidFill>
              <a:srgbClr val="0B1E3C">
                <a:alpha val="90000"/>
              </a:srgbClr>
            </a:solidFill>
            <a:ln>
              <a:noFill/>
            </a:ln>
          </p:spPr>
        </p:sp>
        <p:sp>
          <p:nvSpPr>
            <p:cNvPr id="29" name="TextBox 2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30" name="TextBox 3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1" name="Image 31"/>
            <p:cNvPicPr>
              <a:picLocks noChangeAspect="1"/>
            </p:cNvPicPr>
            <p:nvPr/>
          </p:nvPicPr>
          <p:blipFill>
            <a:blip r:embed="rId4"/>
            <a:stretch>
              <a:fillRect/>
            </a:stretch>
          </p:blipFill>
          <p:spPr>
            <a:xfrm>
              <a:off x="8229600" y="1485900"/>
              <a:ext cx="3429000" cy="1771650"/>
            </a:xfrm>
            <a:prstGeom prst="rect">
              <a:avLst/>
            </a:prstGeom>
          </p:spPr>
        </p:pic>
        <p:sp>
          <p:nvSpPr>
            <p:cNvPr id="32" name="TextBox 3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위치를 맞춰 빼면 변화만 남음</a:t>
              </a:r>
            </a:p>
          </p:txBody>
        </p:sp>
        <p:sp>
          <p:nvSpPr>
            <p:cNvPr id="33" name="TextBox 3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전문가 승인 → 수동 GPR로 현장 재확인</a:t>
              </a:r>
            </a:p>
          </p:txBody>
        </p:sp>
        <p:sp>
          <p:nvSpPr>
            <p:cNvPr id="34" name="Rectangle 34"/>
            <p:cNvSpPr/>
            <p:nvPr/>
          </p:nvSpPr>
          <p:spPr>
            <a:xfrm>
              <a:off x="8305800" y="1562100"/>
              <a:ext cx="1476375" cy="247650"/>
            </a:xfrm>
            <a:prstGeom prst="roundRect">
              <a:avLst>
                <a:gd name="adj" fmla="val 11538"/>
              </a:avLst>
            </a:prstGeom>
            <a:solidFill>
              <a:srgbClr val="0B1E3C">
                <a:alpha val="90000"/>
              </a:srgbClr>
            </a:solidFill>
            <a:ln>
              <a:noFill/>
            </a:ln>
          </p:spPr>
        </p:sp>
        <p:sp>
          <p:nvSpPr>
            <p:cNvPr id="35" name="TextBox 3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42" name="hero"/>
          <p:cNvGrpSpPr/>
          <p:nvPr/>
        </p:nvGrpSpPr>
        <p:grpSpPr>
          <a:xfrm>
            <a:off x="514350" y="4000500"/>
            <a:ext cx="11144250" cy="1473200"/>
            <a:chOff x="514350" y="4000500"/>
            <a:chExt cx="11144250" cy="1473200"/>
          </a:xfrm>
        </p:grpSpPr>
        <p:sp>
          <p:nvSpPr>
            <p:cNvPr id="37" name="Rectangle 37"/>
            <p:cNvSpPr/>
            <p:nvPr/>
          </p:nvSpPr>
          <p:spPr>
            <a:xfrm>
              <a:off x="533400" y="4000500"/>
              <a:ext cx="11125200" cy="28575"/>
            </a:xfrm>
            <a:prstGeom prst="rect">
              <a:avLst/>
            </a:prstGeom>
            <a:solidFill>
              <a:srgbClr val="0B1E3C"/>
            </a:solidFill>
            <a:ln>
              <a:noFill/>
            </a:ln>
          </p:spPr>
        </p:sp>
        <p:sp>
          <p:nvSpPr>
            <p:cNvPr id="38" name="TextBox 38"/>
            <p:cNvSpPr txBox="1"/>
            <p:nvPr/>
          </p:nvSpPr>
          <p:spPr>
            <a:xfrm>
              <a:off x="514350" y="4197350"/>
              <a:ext cx="2376750"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2.4배</a:t>
              </a:r>
            </a:p>
          </p:txBody>
        </p:sp>
        <p:sp>
          <p:nvSpPr>
            <p:cNvPr id="39" name="TextBox 39"/>
            <p:cNvSpPr txBox="1"/>
            <p:nvPr/>
          </p:nvSpPr>
          <p:spPr>
            <a:xfrm>
              <a:off x="3191256" y="4413250"/>
              <a:ext cx="3357402" cy="352044"/>
            </a:xfrm>
            <a:prstGeom prst="rect">
              <a:avLst/>
            </a:prstGeom>
            <a:noFill/>
            <a:ln>
              <a:noFill/>
            </a:ln>
          </p:spPr>
          <p:txBody>
            <a:bodyPr wrap="none" lIns="0" tIns="0" rIns="0" bIns="0" anchor="t" anchorCtr="0">
              <a:spAutoFit/>
            </a:bodyPr>
            <a:lstStyle/>
            <a:p>
              <a:pPr algn="l"/>
              <a:r>
                <a:rPr lang="ko-KR" sz="1800" b="1" dirty="0">
                  <a:solidFill>
                    <a:srgbClr val="111827"/>
                  </a:solidFill>
                  <a:latin typeface="+mn-lt"/>
                  <a:ea typeface="+mn-ea"/>
                  <a:cs typeface="+mn-cs"/>
                </a:rPr>
                <a:t>10cm 자란 공동의 변화 신호가</a:t>
              </a:r>
            </a:p>
          </p:txBody>
        </p:sp>
        <p:sp>
          <p:nvSpPr>
            <p:cNvPr id="40" name="TextBox 40"/>
            <p:cNvSpPr txBox="1"/>
            <p:nvPr/>
          </p:nvSpPr>
          <p:spPr>
            <a:xfrm>
              <a:off x="3191256" y="4756150"/>
              <a:ext cx="4454488" cy="352044"/>
            </a:xfrm>
            <a:prstGeom prst="rect">
              <a:avLst/>
            </a:prstGeom>
            <a:noFill/>
            <a:ln>
              <a:noFill/>
            </a:ln>
          </p:spPr>
          <p:txBody>
            <a:bodyPr wrap="none" lIns="0" tIns="0" rIns="0" bIns="0" anchor="t" anchorCtr="0">
              <a:spAutoFit/>
            </a:bodyPr>
            <a:lstStyle/>
            <a:p>
              <a:pPr algn="l"/>
              <a:r>
                <a:rPr lang="ko-KR" sz="1800" b="1" dirty="0">
                  <a:solidFill>
                    <a:srgbClr val="111827"/>
                  </a:solidFill>
                  <a:latin typeface="+mn-lt"/>
                  <a:ea typeface="+mn-ea"/>
                  <a:cs typeface="+mn-cs"/>
                </a:rPr>
                <a:t>가장 큰 오탐 요인보다 2.4배 뚜렷합니다</a:t>
              </a:r>
            </a:p>
          </p:txBody>
        </p:sp>
        <p:sp>
          <p:nvSpPr>
            <p:cNvPr id="41" name="TextBox 41"/>
            <p:cNvSpPr txBox="1"/>
            <p:nvPr/>
          </p:nvSpPr>
          <p:spPr>
            <a:xfrm>
              <a:off x="3194304" y="5162550"/>
              <a:ext cx="600547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전자기 시뮬레이션 결과이며 현장 정확도가 아닙니다 · 판정은 전문가, 확정은 천공</a:t>
              </a:r>
            </a:p>
          </p:txBody>
        </p:sp>
      </p:grpSp>
      <p:grpSp>
        <p:nvGrpSpPr>
          <p:cNvPr id="44" name="source"/>
          <p:cNvGrpSpPr/>
          <p:nvPr/>
        </p:nvGrpSpPr>
        <p:grpSpPr>
          <a:xfrm>
            <a:off x="528447" y="6381750"/>
            <a:ext cx="10106309" cy="191643"/>
            <a:chOff x="528447" y="6381750"/>
            <a:chExt cx="10106309" cy="191643"/>
          </a:xfrm>
        </p:grpSpPr>
        <p:sp>
          <p:nvSpPr>
            <p:cNvPr id="43" name="TextBox 43"/>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47" name="footer"/>
          <p:cNvGrpSpPr/>
          <p:nvPr/>
        </p:nvGrpSpPr>
        <p:grpSpPr>
          <a:xfrm>
            <a:off x="528638" y="6610350"/>
            <a:ext cx="11134724" cy="176212"/>
            <a:chOff x="528638" y="6610350"/>
            <a:chExt cx="11134724" cy="176212"/>
          </a:xfrm>
        </p:grpSpPr>
        <p:sp>
          <p:nvSpPr>
            <p:cNvPr id="45" name="TextBox 45"/>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6" name="TextBox 4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18</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20" name="lead"/>
          <p:cNvGrpSpPr/>
          <p:nvPr/>
        </p:nvGrpSpPr>
        <p:grpSpPr>
          <a:xfrm>
            <a:off x="524256" y="1651000"/>
            <a:ext cx="7457389" cy="352044"/>
            <a:chOff x="524256" y="1651000"/>
            <a:chExt cx="7457389" cy="352044"/>
          </a:xfrm>
        </p:grpSpPr>
        <p:sp>
          <p:nvSpPr>
            <p:cNvPr id="19" name="TextBox 19"/>
            <p:cNvSpPr txBox="1"/>
            <p:nvPr/>
          </p:nvSpPr>
          <p:spPr>
            <a:xfrm>
              <a:off x="524256" y="1651000"/>
              <a:ext cx="7457389" cy="352044"/>
            </a:xfrm>
            <a:prstGeom prst="rect">
              <a:avLst/>
            </a:prstGeom>
            <a:noFill/>
            <a:ln>
              <a:noFill/>
            </a:ln>
          </p:spPr>
          <p:txBody>
            <a:bodyPr wrap="none" lIns="0" tIns="0" rIns="0" bIns="0" anchor="t" anchorCtr="0">
              <a:spAutoFit/>
            </a:bodyPr>
            <a:lstStyle/>
            <a:p>
              <a:pPr algn="l"/>
              <a:r>
                <a:rPr lang="ko-KR" sz="1800" dirty="0">
                  <a:solidFill>
                    <a:srgbClr val="374151"/>
                  </a:solidFill>
                  <a:latin typeface="+mn-lt"/>
                  <a:ea typeface="+mn-ea"/>
                  <a:cs typeface="+mn-cs"/>
                </a:rPr>
                <a:t xml:space="preserve">판독자가 승인한 지점만, </a:t>
              </a:r>
              <a:r>
                <a:rPr lang="ko-KR" sz="1800" b="1" dirty="0">
                  <a:solidFill>
                    <a:srgbClr val="0B1E3C"/>
                  </a:solidFill>
                  <a:latin typeface="+mn-lt"/>
                  <a:ea typeface="+mn-ea"/>
                  <a:cs typeface="+mn-cs"/>
                </a:rPr>
                <a:t>2인 1조가 현장에서 바로</a:t>
              </a:r>
              <a:r>
                <a:rPr lang="ko-KR" sz="1800" dirty="0">
                  <a:solidFill>
                    <a:srgbClr val="374151"/>
                  </a:solidFill>
                  <a:latin typeface="+mn-lt"/>
                  <a:ea typeface="+mn-ea"/>
                  <a:cs typeface="+mn-cs"/>
                </a:rPr>
                <a:t xml:space="preserve"> 다시 확인합니다.</a:t>
              </a:r>
            </a:p>
          </p:txBody>
        </p:sp>
      </p:grpSp>
      <p:grpSp>
        <p:nvGrpSpPr>
          <p:cNvPr id="25" name="cabin-panel"/>
          <p:cNvGrpSpPr/>
          <p:nvPr/>
        </p:nvGrpSpPr>
        <p:grpSpPr>
          <a:xfrm>
            <a:off x="526542" y="2381250"/>
            <a:ext cx="5302758" cy="3508883"/>
            <a:chOff x="526542" y="2381250"/>
            <a:chExt cx="5302758" cy="3508883"/>
          </a:xfrm>
        </p:grpSpPr>
        <p:pic>
          <p:nvPicPr>
            <p:cNvPr id="21" name="Image 2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22" name="Rectangle 22"/>
            <p:cNvSpPr/>
            <p:nvPr/>
          </p:nvSpPr>
          <p:spPr>
            <a:xfrm>
              <a:off x="628650" y="2476500"/>
              <a:ext cx="1314450" cy="228600"/>
            </a:xfrm>
            <a:prstGeom prst="roundRect">
              <a:avLst>
                <a:gd name="adj" fmla="val 12500"/>
              </a:avLst>
            </a:prstGeom>
            <a:solidFill>
              <a:srgbClr val="0B1E3C"/>
            </a:solidFill>
            <a:ln>
              <a:noFill/>
            </a:ln>
          </p:spPr>
        </p:sp>
        <p:sp>
          <p:nvSpPr>
            <p:cNvPr id="23" name="TextBox 2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24" name="TextBox 2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grpSp>
      <p:grpSp>
        <p:nvGrpSpPr>
          <p:cNvPr id="45" name="ar-panel"/>
          <p:cNvGrpSpPr/>
          <p:nvPr/>
        </p:nvGrpSpPr>
        <p:grpSpPr>
          <a:xfrm>
            <a:off x="6089142" y="2381250"/>
            <a:ext cx="5569458" cy="3508883"/>
            <a:chOff x="6089142" y="2381250"/>
            <a:chExt cx="5569458" cy="3508883"/>
          </a:xfrm>
        </p:grpSpPr>
        <p:pic>
          <p:nvPicPr>
            <p:cNvPr id="26" name="Image 26"/>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27" name="Polygon 27"/>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31" name="Group 31"/>
            <p:cNvGrpSpPr/>
            <p:nvPr/>
          </p:nvGrpSpPr>
          <p:grpSpPr>
            <a:xfrm>
              <a:off x="8229600" y="4343400"/>
              <a:ext cx="1628775" cy="352425"/>
              <a:chOff x="8229600" y="4343400"/>
              <a:chExt cx="1628775" cy="352425"/>
            </a:xfrm>
          </p:grpSpPr>
          <p:sp>
            <p:nvSpPr>
              <p:cNvPr id="28" name="Line 28"/>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29" name="Line 29"/>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30" name="Line 30"/>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32" name="Ellipse 32"/>
            <p:cNvSpPr/>
            <p:nvPr/>
          </p:nvSpPr>
          <p:spPr>
            <a:xfrm>
              <a:off x="7943850" y="4933950"/>
              <a:ext cx="1866900" cy="628650"/>
            </a:xfrm>
            <a:prstGeom prst="ellipse">
              <a:avLst/>
            </a:prstGeom>
            <a:noFill/>
            <a:ln w="23812">
              <a:solidFill>
                <a:srgbClr val="FFFFFF"/>
              </a:solidFill>
            </a:ln>
          </p:spPr>
        </p:sp>
        <p:sp>
          <p:nvSpPr>
            <p:cNvPr id="33" name="Rectangle 33"/>
            <p:cNvSpPr/>
            <p:nvPr/>
          </p:nvSpPr>
          <p:spPr>
            <a:xfrm>
              <a:off x="9906000" y="5086350"/>
              <a:ext cx="1066800" cy="209550"/>
            </a:xfrm>
            <a:prstGeom prst="roundRect">
              <a:avLst>
                <a:gd name="adj" fmla="val 13636"/>
              </a:avLst>
            </a:prstGeom>
            <a:solidFill>
              <a:srgbClr val="0B1E3C">
                <a:alpha val="85000"/>
              </a:srgbClr>
            </a:solidFill>
            <a:ln>
              <a:noFill/>
            </a:ln>
          </p:spPr>
        </p:sp>
        <p:sp>
          <p:nvSpPr>
            <p:cNvPr id="34" name="TextBox 34"/>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35" name="Ellipse 35"/>
            <p:cNvSpPr/>
            <p:nvPr/>
          </p:nvSpPr>
          <p:spPr>
            <a:xfrm>
              <a:off x="7267575" y="4705350"/>
              <a:ext cx="133350" cy="133350"/>
            </a:xfrm>
            <a:prstGeom prst="ellipse">
              <a:avLst/>
            </a:prstGeom>
            <a:noFill/>
            <a:ln w="23812">
              <a:solidFill>
                <a:srgbClr val="FFFFFF"/>
              </a:solidFill>
            </a:ln>
          </p:spPr>
        </p:sp>
        <p:sp>
          <p:nvSpPr>
            <p:cNvPr id="36" name="Rectangle 36"/>
            <p:cNvSpPr/>
            <p:nvPr/>
          </p:nvSpPr>
          <p:spPr>
            <a:xfrm>
              <a:off x="6286500" y="4362450"/>
              <a:ext cx="1181100" cy="209550"/>
            </a:xfrm>
            <a:prstGeom prst="roundRect">
              <a:avLst>
                <a:gd name="adj" fmla="val 13636"/>
              </a:avLst>
            </a:prstGeom>
            <a:solidFill>
              <a:srgbClr val="0B1E3C">
                <a:alpha val="85000"/>
              </a:srgbClr>
            </a:solidFill>
            <a:ln>
              <a:noFill/>
            </a:ln>
          </p:spPr>
        </p:sp>
        <p:sp>
          <p:nvSpPr>
            <p:cNvPr id="37" name="TextBox 37"/>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38" name="Rectangle 38"/>
            <p:cNvSpPr/>
            <p:nvPr/>
          </p:nvSpPr>
          <p:spPr>
            <a:xfrm>
              <a:off x="6096000" y="2381250"/>
              <a:ext cx="5562600" cy="228600"/>
            </a:xfrm>
            <a:prstGeom prst="rect">
              <a:avLst/>
            </a:prstGeom>
            <a:solidFill>
              <a:srgbClr val="C62828">
                <a:alpha val="92000"/>
              </a:srgbClr>
            </a:solidFill>
            <a:ln>
              <a:noFill/>
            </a:ln>
          </p:spPr>
        </p:sp>
        <p:sp>
          <p:nvSpPr>
            <p:cNvPr id="39" name="TextBox 39"/>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40" name="Rectangle 40"/>
            <p:cNvSpPr/>
            <p:nvPr/>
          </p:nvSpPr>
          <p:spPr>
            <a:xfrm>
              <a:off x="6248400" y="2724150"/>
              <a:ext cx="2571750" cy="685800"/>
            </a:xfrm>
            <a:prstGeom prst="roundRect">
              <a:avLst>
                <a:gd name="adj" fmla="val 8333"/>
              </a:avLst>
            </a:prstGeom>
            <a:solidFill>
              <a:srgbClr val="0B1E3C">
                <a:alpha val="85000"/>
              </a:srgbClr>
            </a:solidFill>
            <a:ln>
              <a:noFill/>
            </a:ln>
          </p:spPr>
        </p:sp>
        <p:sp>
          <p:nvSpPr>
            <p:cNvPr id="41" name="TextBox 41"/>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42" name="TextBox 42"/>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43" name="TextBox 43"/>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44" name="TextBox 44"/>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grpSp>
      <p:grpSp>
        <p:nvGrpSpPr>
          <p:cNvPr id="47" name="source"/>
          <p:cNvGrpSpPr/>
          <p:nvPr/>
        </p:nvGrpSpPr>
        <p:grpSpPr>
          <a:xfrm>
            <a:off x="528447" y="6343650"/>
            <a:ext cx="8746670" cy="191643"/>
            <a:chOff x="528447" y="6343650"/>
            <a:chExt cx="8746670" cy="191643"/>
          </a:xfrm>
        </p:grpSpPr>
        <p:sp>
          <p:nvSpPr>
            <p:cNvPr id="46" name="TextBox 46"/>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50" name="footer"/>
          <p:cNvGrpSpPr/>
          <p:nvPr/>
        </p:nvGrpSpPr>
        <p:grpSpPr>
          <a:xfrm>
            <a:off x="528638" y="6610350"/>
            <a:ext cx="11134724" cy="176212"/>
            <a:chOff x="528638" y="6610350"/>
            <a:chExt cx="11134724" cy="176212"/>
          </a:xfrm>
        </p:grpSpPr>
        <p:sp>
          <p:nvSpPr>
            <p:cNvPr id="48" name="TextBox 4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9" name="TextBox 4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18</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1951982"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차체 후방 하부 다채널 GPR</a:t>
              </a:r>
            </a:p>
          </p:txBody>
        </p:sp>
        <p:sp>
          <p:nvSpPr>
            <p:cNvPr id="33" name="TextBox 33"/>
            <p:cNvSpPr txBox="1"/>
            <p:nvPr/>
          </p:nvSpPr>
          <p:spPr>
            <a:xfrm>
              <a:off x="528447" y="5334000"/>
              <a:ext cx="46350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GPR은 바닥 배터리 팩을 피해 후방 하부에 장착하는 안 [가설]</a:t>
              </a:r>
            </a:p>
          </p:txBody>
        </p:sp>
      </p:grpSp>
      <p:grpSp>
        <p:nvGrpSpPr>
          <p:cNvPr id="47" name="spec"/>
          <p:cNvGrpSpPr/>
          <p:nvPr/>
        </p:nvGrpSpPr>
        <p:grpSpPr>
          <a:xfrm>
            <a:off x="6845046" y="1524000"/>
            <a:ext cx="4813554" cy="3777996"/>
            <a:chOff x="6845046" y="1524000"/>
            <a:chExt cx="4813554" cy="3777996"/>
          </a:xfrm>
        </p:grpSpPr>
        <p:sp>
          <p:nvSpPr>
            <p:cNvPr id="35" name="Rectangle 35"/>
            <p:cNvSpPr/>
            <p:nvPr/>
          </p:nvSpPr>
          <p:spPr>
            <a:xfrm>
              <a:off x="6858000" y="1524000"/>
              <a:ext cx="4800600" cy="28575"/>
            </a:xfrm>
            <a:prstGeom prst="rect">
              <a:avLst/>
            </a:prstGeom>
            <a:solidFill>
              <a:srgbClr val="0B1E3C"/>
            </a:solidFill>
            <a:ln>
              <a:noFill/>
            </a:ln>
          </p:spPr>
        </p:sp>
        <p:sp>
          <p:nvSpPr>
            <p:cNvPr id="36" name="TextBox 36"/>
            <p:cNvSpPr txBox="1"/>
            <p:nvPr/>
          </p:nvSpPr>
          <p:spPr>
            <a:xfrm>
              <a:off x="6851142" y="1739900"/>
              <a:ext cx="558927"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싣는다</a:t>
              </a:r>
            </a:p>
          </p:txBody>
        </p:sp>
        <p:sp>
          <p:nvSpPr>
            <p:cNvPr id="37" name="TextBox 37"/>
            <p:cNvSpPr txBox="1"/>
            <p:nvPr/>
          </p:nvSpPr>
          <p:spPr>
            <a:xfrm>
              <a:off x="6845046" y="2038350"/>
              <a:ext cx="2536347" cy="498729"/>
            </a:xfrm>
            <a:prstGeom prst="rect">
              <a:avLst/>
            </a:prstGeom>
            <a:noFill/>
            <a:ln>
              <a:noFill/>
            </a:ln>
          </p:spPr>
          <p:txBody>
            <a:bodyPr wrap="none" lIns="0" tIns="0" rIns="0" bIns="0" anchor="t" anchorCtr="0">
              <a:spAutoFit/>
            </a:bodyPr>
            <a:lstStyle/>
            <a:p>
              <a:pPr algn="l"/>
              <a:r>
                <a:rPr lang="en-US" sz="2550" b="1" spc="-75" dirty="0">
                  <a:solidFill>
                    <a:srgbClr val="0B1E3C"/>
                  </a:solidFill>
                  <a:latin typeface="+mn-lt"/>
                  <a:ea typeface="+mn-ea"/>
                  <a:cs typeface="+mn-cs"/>
                </a:rPr>
                <a:t>4,420L · 550kg</a:t>
              </a:r>
            </a:p>
          </p:txBody>
        </p:sp>
        <p:sp>
          <p:nvSpPr>
            <p:cNvPr id="38" name="TextBox 38"/>
            <p:cNvSpPr txBox="1"/>
            <p:nvPr/>
          </p:nvSpPr>
          <p:spPr>
            <a:xfrm>
              <a:off x="6851904" y="2476500"/>
              <a:ext cx="1587246"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장비 약 300kg [가설]</a:t>
              </a:r>
            </a:p>
          </p:txBody>
        </p:sp>
        <p:sp>
          <p:nvSpPr>
            <p:cNvPr id="39" name="Rectangle 39"/>
            <p:cNvSpPr/>
            <p:nvPr/>
          </p:nvSpPr>
          <p:spPr>
            <a:xfrm>
              <a:off x="6858000" y="2819400"/>
              <a:ext cx="4800600" cy="28575"/>
            </a:xfrm>
            <a:prstGeom prst="rect">
              <a:avLst/>
            </a:prstGeom>
            <a:solidFill>
              <a:srgbClr val="0B1E3C"/>
            </a:solidFill>
            <a:ln>
              <a:noFill/>
            </a:ln>
          </p:spPr>
        </p:sp>
        <p:sp>
          <p:nvSpPr>
            <p:cNvPr id="40" name="TextBox 40"/>
            <p:cNvSpPr txBox="1"/>
            <p:nvPr/>
          </p:nvSpPr>
          <p:spPr>
            <a:xfrm>
              <a:off x="6851142" y="3035300"/>
              <a:ext cx="377190"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켠다</a:t>
              </a:r>
            </a:p>
          </p:txBody>
        </p:sp>
        <p:sp>
          <p:nvSpPr>
            <p:cNvPr id="41" name="TextBox 41"/>
            <p:cNvSpPr txBox="1"/>
            <p:nvPr/>
          </p:nvSpPr>
          <p:spPr>
            <a:xfrm>
              <a:off x="6845046" y="3321050"/>
              <a:ext cx="2546662" cy="498729"/>
            </a:xfrm>
            <a:prstGeom prst="rect">
              <a:avLst/>
            </a:prstGeom>
            <a:noFill/>
            <a:ln>
              <a:noFill/>
            </a:ln>
          </p:spPr>
          <p:txBody>
            <a:bodyPr wrap="none" lIns="0" tIns="0" rIns="0" bIns="0" anchor="t" anchorCtr="0">
              <a:spAutoFit/>
            </a:bodyPr>
            <a:lstStyle/>
            <a:p>
              <a:pPr algn="l"/>
              <a:r>
                <a:rPr lang="ko-KR" sz="2550" b="1" spc="-75" dirty="0">
                  <a:solidFill>
                    <a:srgbClr val="0B1E3C"/>
                  </a:solidFill>
                  <a:latin typeface="+mn-lt"/>
                  <a:ea typeface="+mn-ea"/>
                  <a:cs typeface="+mn-cs"/>
                </a:rPr>
                <a:t>V2L 최대 3.6kW</a:t>
              </a:r>
            </a:p>
          </p:txBody>
        </p:sp>
        <p:sp>
          <p:nvSpPr>
            <p:cNvPr id="42" name="TextBox 42"/>
            <p:cNvSpPr txBox="1"/>
            <p:nvPr/>
          </p:nvSpPr>
          <p:spPr>
            <a:xfrm>
              <a:off x="6851904" y="3771900"/>
              <a:ext cx="2859329"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장비 1.5kW · 배터리의 14%/일 [가설]</a:t>
              </a:r>
            </a:p>
          </p:txBody>
        </p:sp>
        <p:sp>
          <p:nvSpPr>
            <p:cNvPr id="43" name="Rectangle 43"/>
            <p:cNvSpPr/>
            <p:nvPr/>
          </p:nvSpPr>
          <p:spPr>
            <a:xfrm>
              <a:off x="6858000" y="4114800"/>
              <a:ext cx="4800600" cy="28575"/>
            </a:xfrm>
            <a:prstGeom prst="rect">
              <a:avLst/>
            </a:prstGeom>
            <a:solidFill>
              <a:srgbClr val="0B1E3C"/>
            </a:solidFill>
            <a:ln>
              <a:noFill/>
            </a:ln>
          </p:spPr>
        </p:sp>
        <p:sp>
          <p:nvSpPr>
            <p:cNvPr id="44" name="TextBox 44"/>
            <p:cNvSpPr txBox="1"/>
            <p:nvPr/>
          </p:nvSpPr>
          <p:spPr>
            <a:xfrm>
              <a:off x="6851142" y="4330700"/>
              <a:ext cx="740664"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연결한다</a:t>
              </a:r>
            </a:p>
          </p:txBody>
        </p:sp>
        <p:sp>
          <p:nvSpPr>
            <p:cNvPr id="45" name="TextBox 45"/>
            <p:cNvSpPr txBox="1"/>
            <p:nvPr/>
          </p:nvSpPr>
          <p:spPr>
            <a:xfrm>
              <a:off x="6845046" y="4629150"/>
              <a:ext cx="1867979" cy="498729"/>
            </a:xfrm>
            <a:prstGeom prst="rect">
              <a:avLst/>
            </a:prstGeom>
            <a:noFill/>
            <a:ln>
              <a:noFill/>
            </a:ln>
          </p:spPr>
          <p:txBody>
            <a:bodyPr wrap="none" lIns="0" tIns="0" rIns="0" bIns="0" anchor="t" anchorCtr="0">
              <a:spAutoFit/>
            </a:bodyPr>
            <a:lstStyle/>
            <a:p>
              <a:pPr algn="l"/>
              <a:r>
                <a:rPr lang="en-US" sz="2550" b="1" spc="-75" dirty="0">
                  <a:solidFill>
                    <a:srgbClr val="0B1E3C"/>
                  </a:solidFill>
                  <a:latin typeface="+mn-lt"/>
                  <a:ea typeface="+mn-ea"/>
                  <a:cs typeface="+mn-cs"/>
                </a:rPr>
                <a:t>PIM · Pleos</a:t>
              </a:r>
            </a:p>
          </p:txBody>
        </p:sp>
        <p:sp>
          <p:nvSpPr>
            <p:cNvPr id="46" name="TextBox 46"/>
            <p:cNvSpPr txBox="1"/>
            <p:nvPr/>
          </p:nvSpPr>
          <p:spPr>
            <a:xfrm>
              <a:off x="6851904" y="5067300"/>
              <a:ext cx="3210763"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재확인 지점 안내 · 장비 제어 · 여러 대 관제</a:t>
              </a:r>
            </a:p>
          </p:txBody>
        </p:sp>
      </p:grpSp>
      <p:grpSp>
        <p:nvGrpSpPr>
          <p:cNvPr id="50" name="conclusion"/>
          <p:cNvGrpSpPr/>
          <p:nvPr/>
        </p:nvGrpSpPr>
        <p:grpSpPr>
          <a:xfrm>
            <a:off x="533400" y="5695950"/>
            <a:ext cx="6764768" cy="419100"/>
            <a:chOff x="533400" y="5695950"/>
            <a:chExt cx="6764768" cy="419100"/>
          </a:xfrm>
        </p:grpSpPr>
        <p:sp>
          <p:nvSpPr>
            <p:cNvPr id="48" name="Rectangle 48"/>
            <p:cNvSpPr/>
            <p:nvPr/>
          </p:nvSpPr>
          <p:spPr>
            <a:xfrm>
              <a:off x="533400" y="5695950"/>
              <a:ext cx="38100" cy="419100"/>
            </a:xfrm>
            <a:prstGeom prst="rect">
              <a:avLst/>
            </a:prstGeom>
            <a:solidFill>
              <a:srgbClr val="F5B700"/>
            </a:solidFill>
            <a:ln>
              <a:noFill/>
            </a:ln>
          </p:spPr>
        </p:sp>
        <p:sp>
          <p:nvSpPr>
            <p:cNvPr id="49" name="TextBox 49"/>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52" name="source"/>
          <p:cNvGrpSpPr/>
          <p:nvPr/>
        </p:nvGrpSpPr>
        <p:grpSpPr>
          <a:xfrm>
            <a:off x="528447" y="6381750"/>
            <a:ext cx="11687179" cy="191643"/>
            <a:chOff x="528447" y="6381750"/>
            <a:chExt cx="11687179" cy="191643"/>
          </a:xfrm>
        </p:grpSpPr>
        <p:sp>
          <p:nvSpPr>
            <p:cNvPr id="51" name="TextBox 51"/>
            <p:cNvSpPr txBox="1"/>
            <p:nvPr/>
          </p:nvSpPr>
          <p:spPr>
            <a:xfrm>
              <a:off x="528447" y="6381750"/>
              <a:ext cx="1168717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카고룸 4,420L(VDA)·V2L 3.6kW는 해외 제원 · 배치는 콘셉트</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18</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957949" cy="586740"/>
            <a:chOff x="518160" y="774700"/>
            <a:chExt cx="9957949" cy="586740"/>
          </a:xfrm>
        </p:grpSpPr>
        <p:sp>
          <p:nvSpPr>
            <p:cNvPr id="17" name="TextBox 17"/>
            <p:cNvSpPr txBox="1"/>
            <p:nvPr/>
          </p:nvSpPr>
          <p:spPr>
            <a:xfrm>
              <a:off x="518160" y="774700"/>
              <a:ext cx="995794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장비 연동·컨버전 체계 때문에 PV5입니다</a:t>
              </a:r>
            </a:p>
          </p:txBody>
        </p:sp>
      </p:grpSp>
      <p:grpSp>
        <p:nvGrpSpPr>
          <p:cNvPr id="20" name="lead"/>
          <p:cNvGrpSpPr/>
          <p:nvPr/>
        </p:nvGrpSpPr>
        <p:grpSpPr>
          <a:xfrm>
            <a:off x="526542" y="1339850"/>
            <a:ext cx="10281857" cy="264033"/>
            <a:chOff x="526542" y="1339850"/>
            <a:chExt cx="10281857" cy="264033"/>
          </a:xfrm>
        </p:grpSpPr>
        <p:sp>
          <p:nvSpPr>
            <p:cNvPr id="19" name="TextBox 19"/>
            <p:cNvSpPr txBox="1"/>
            <p:nvPr/>
          </p:nvSpPr>
          <p:spPr>
            <a:xfrm>
              <a:off x="526542" y="1339850"/>
              <a:ext cx="10281857"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차가 바뀌어도 회차 비교가 이어지려면, 모든 차가 같은 위치·같은 조건으로 재야 합니다. 몇 cm 차이도 오탐이 됩니다(10장).</a:t>
              </a:r>
            </a:p>
          </p:txBody>
        </p:sp>
      </p:grpSp>
      <p:grpSp>
        <p:nvGrpSpPr>
          <p:cNvPr id="35" name="premise"/>
          <p:cNvGrpSpPr/>
          <p:nvPr/>
        </p:nvGrpSpPr>
        <p:grpSpPr>
          <a:xfrm>
            <a:off x="526923" y="1677352"/>
            <a:ext cx="11136630" cy="2078165"/>
            <a:chOff x="526923" y="1677352"/>
            <a:chExt cx="11136630" cy="2078165"/>
          </a:xfrm>
        </p:grpSpPr>
        <p:sp>
          <p:nvSpPr>
            <p:cNvPr id="21" name="Line 21"/>
            <p:cNvSpPr/>
            <p:nvPr/>
          </p:nvSpPr>
          <p:spPr>
            <a:xfrm>
              <a:off x="533400" y="2791778"/>
              <a:ext cx="11125200" cy="9525"/>
            </a:xfrm>
            <a:custGeom>
              <a:avLst/>
              <a:gdLst/>
              <a:ahLst/>
              <a:cxnLst/>
              <a:rect l="l" t="t" r="r" b="b"/>
              <a:pathLst>
                <a:path w="11125200" h="9525">
                  <a:moveTo>
                    <a:pt x="0" y="0"/>
                  </a:moveTo>
                  <a:lnTo>
                    <a:pt x="11125200" y="0"/>
                  </a:lnTo>
                </a:path>
              </a:pathLst>
            </a:custGeom>
            <a:noFill/>
            <a:ln w="19050">
              <a:solidFill>
                <a:srgbClr val="F5B700"/>
              </a:solidFill>
              <a:custDash>
                <a:ds d="300000" sp="250000"/>
              </a:custDash>
            </a:ln>
          </p:spPr>
        </p:sp>
        <p:pic>
          <p:nvPicPr>
            <p:cNvPr id="22" name="Image 22"/>
            <p:cNvPicPr>
              <a:picLocks noChangeAspect="1"/>
            </p:cNvPicPr>
            <p:nvPr/>
          </p:nvPicPr>
          <p:blipFill>
            <a:blip r:embed="rId2"/>
            <a:stretch>
              <a:fillRect/>
            </a:stretch>
          </p:blipFill>
          <p:spPr>
            <a:xfrm>
              <a:off x="666750" y="1677352"/>
              <a:ext cx="2857500" cy="1225868"/>
            </a:xfrm>
            <a:prstGeom prst="rect">
              <a:avLst/>
            </a:prstGeom>
          </p:spPr>
        </p:pic>
        <p:sp>
          <p:nvSpPr>
            <p:cNvPr id="23" name="TextBox 23"/>
            <p:cNvSpPr txBox="1"/>
            <p:nvPr/>
          </p:nvSpPr>
          <p:spPr>
            <a:xfrm>
              <a:off x="1881214" y="2952750"/>
              <a:ext cx="428572"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1호차</a:t>
              </a:r>
            </a:p>
          </p:txBody>
        </p:sp>
        <p:sp>
          <p:nvSpPr>
            <p:cNvPr id="24" name="TextBox 24"/>
            <p:cNvSpPr txBox="1"/>
            <p:nvPr/>
          </p:nvSpPr>
          <p:spPr>
            <a:xfrm>
              <a:off x="1550767" y="3155950"/>
              <a:ext cx="1089467"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노선을 6회</a:t>
              </a:r>
            </a:p>
          </p:txBody>
        </p:sp>
        <p:sp>
          <p:nvSpPr>
            <p:cNvPr id="25" name="TextBox 25"/>
            <p:cNvSpPr txBox="1"/>
            <p:nvPr/>
          </p:nvSpPr>
          <p:spPr>
            <a:xfrm>
              <a:off x="388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6" name="Image 26"/>
            <p:cNvPicPr>
              <a:picLocks noChangeAspect="1"/>
            </p:cNvPicPr>
            <p:nvPr/>
          </p:nvPicPr>
          <p:blipFill>
            <a:blip r:embed="rId3"/>
            <a:stretch>
              <a:fillRect/>
            </a:stretch>
          </p:blipFill>
          <p:spPr>
            <a:xfrm>
              <a:off x="4476750" y="1677352"/>
              <a:ext cx="2857500" cy="1225868"/>
            </a:xfrm>
            <a:prstGeom prst="rect">
              <a:avLst/>
            </a:prstGeom>
          </p:spPr>
        </p:pic>
        <p:sp>
          <p:nvSpPr>
            <p:cNvPr id="27" name="TextBox 27"/>
            <p:cNvSpPr txBox="1"/>
            <p:nvPr/>
          </p:nvSpPr>
          <p:spPr>
            <a:xfrm>
              <a:off x="5261911" y="2952750"/>
              <a:ext cx="128717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예비차·재배치 차</a:t>
              </a:r>
            </a:p>
          </p:txBody>
        </p:sp>
        <p:sp>
          <p:nvSpPr>
            <p:cNvPr id="28" name="TextBox 28"/>
            <p:cNvSpPr txBox="1"/>
            <p:nvPr/>
          </p:nvSpPr>
          <p:spPr>
            <a:xfrm>
              <a:off x="5017755" y="3155950"/>
              <a:ext cx="177549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정비·교체·노선 재배치 때</a:t>
              </a:r>
            </a:p>
          </p:txBody>
        </p:sp>
        <p:sp>
          <p:nvSpPr>
            <p:cNvPr id="29" name="TextBox 29"/>
            <p:cNvSpPr txBox="1"/>
            <p:nvPr/>
          </p:nvSpPr>
          <p:spPr>
            <a:xfrm>
              <a:off x="769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0" name="Image 30"/>
            <p:cNvPicPr>
              <a:picLocks noChangeAspect="1"/>
            </p:cNvPicPr>
            <p:nvPr/>
          </p:nvPicPr>
          <p:blipFill>
            <a:blip r:embed="rId4"/>
            <a:stretch>
              <a:fillRect/>
            </a:stretch>
          </p:blipFill>
          <p:spPr>
            <a:xfrm>
              <a:off x="8286750" y="1677352"/>
              <a:ext cx="2857500" cy="1225868"/>
            </a:xfrm>
            <a:prstGeom prst="rect">
              <a:avLst/>
            </a:prstGeom>
          </p:spPr>
        </p:pic>
        <p:sp>
          <p:nvSpPr>
            <p:cNvPr id="31" name="TextBox 31"/>
            <p:cNvSpPr txBox="1"/>
            <p:nvPr/>
          </p:nvSpPr>
          <p:spPr>
            <a:xfrm>
              <a:off x="9186131" y="2952750"/>
              <a:ext cx="105873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다른 도시 PV5</a:t>
              </a:r>
            </a:p>
          </p:txBody>
        </p:sp>
        <p:sp>
          <p:nvSpPr>
            <p:cNvPr id="32" name="TextBox 32"/>
            <p:cNvSpPr txBox="1"/>
            <p:nvPr/>
          </p:nvSpPr>
          <p:spPr>
            <a:xfrm>
              <a:off x="8677265" y="3155950"/>
              <a:ext cx="207647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판독 기준·AI 학습 데이터</a:t>
              </a:r>
            </a:p>
          </p:txBody>
        </p:sp>
        <p:sp>
          <p:nvSpPr>
            <p:cNvPr id="33" name="TextBox 33"/>
            <p:cNvSpPr txBox="1"/>
            <p:nvPr/>
          </p:nvSpPr>
          <p:spPr>
            <a:xfrm>
              <a:off x="10458924" y="2925128"/>
              <a:ext cx="1204629" cy="191643"/>
            </a:xfrm>
            <a:prstGeom prst="rect">
              <a:avLst/>
            </a:prstGeom>
            <a:noFill/>
            <a:ln>
              <a:noFill/>
            </a:ln>
          </p:spPr>
          <p:txBody>
            <a:bodyPr wrap="none" lIns="0" tIns="0" rIns="0" bIns="0" anchor="t" anchorCtr="0">
              <a:spAutoFit/>
            </a:bodyPr>
            <a:lstStyle/>
            <a:p>
              <a:pPr algn="r"/>
              <a:r>
                <a:rPr lang="ko-KR" sz="980" b="1" dirty="0">
                  <a:solidFill>
                    <a:srgbClr val="B45309"/>
                  </a:solidFill>
                  <a:latin typeface="+mn-lt"/>
                  <a:ea typeface="+mn-ea"/>
                  <a:cs typeface="+mn-cs"/>
                </a:rPr>
                <a:t>GPR 높이·위치 동일</a:t>
              </a:r>
            </a:p>
          </p:txBody>
        </p:sp>
        <p:sp>
          <p:nvSpPr>
            <p:cNvPr id="34" name="TextBox 34"/>
            <p:cNvSpPr txBox="1"/>
            <p:nvPr/>
          </p:nvSpPr>
          <p:spPr>
            <a:xfrm>
              <a:off x="526923" y="3505200"/>
              <a:ext cx="776914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주행선 차이는 RTK·IMU로 맞추고(14장), 차마다 다른 장착 조건은 </a:t>
              </a:r>
              <a:r>
                <a:rPr lang="ko-KR" sz="1280" b="1" dirty="0">
                  <a:solidFill>
                    <a:srgbClr val="B45309"/>
                  </a:solidFill>
                  <a:latin typeface="+mn-lt"/>
                  <a:ea typeface="+mn-ea"/>
                  <a:cs typeface="+mn-cs"/>
                </a:rPr>
                <a:t>PV5 표준 컨버전으로 맞춥니다.</a:t>
              </a:r>
            </a:p>
          </p:txBody>
        </p:sp>
      </p:grpSp>
      <p:grpSp>
        <p:nvGrpSpPr>
          <p:cNvPr id="48" name="compare"/>
          <p:cNvGrpSpPr/>
          <p:nvPr/>
        </p:nvGrpSpPr>
        <p:grpSpPr>
          <a:xfrm>
            <a:off x="525399" y="3943350"/>
            <a:ext cx="11133201" cy="765683"/>
            <a:chOff x="525399" y="3943350"/>
            <a:chExt cx="11133201" cy="765683"/>
          </a:xfrm>
        </p:grpSpPr>
        <p:sp>
          <p:nvSpPr>
            <p:cNvPr id="36" name="Rectangle 36"/>
            <p:cNvSpPr/>
            <p:nvPr/>
          </p:nvSpPr>
          <p:spPr>
            <a:xfrm>
              <a:off x="533400" y="3943350"/>
              <a:ext cx="2609850" cy="28575"/>
            </a:xfrm>
            <a:prstGeom prst="rect">
              <a:avLst/>
            </a:prstGeom>
            <a:solidFill>
              <a:srgbClr val="0B1E3C"/>
            </a:solidFill>
            <a:ln>
              <a:noFill/>
            </a:ln>
          </p:spPr>
        </p:sp>
        <p:sp>
          <p:nvSpPr>
            <p:cNvPr id="37" name="TextBox 37"/>
            <p:cNvSpPr txBox="1"/>
            <p:nvPr/>
          </p:nvSpPr>
          <p:spPr>
            <a:xfrm>
              <a:off x="525399" y="4114800"/>
              <a:ext cx="160665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PBV 컨버전 포털</a:t>
              </a:r>
            </a:p>
          </p:txBody>
        </p:sp>
        <p:sp>
          <p:nvSpPr>
            <p:cNvPr id="38" name="TextBox 38"/>
            <p:cNvSpPr txBox="1"/>
            <p:nvPr/>
          </p:nvSpPr>
          <p:spPr>
            <a:xfrm>
              <a:off x="526542" y="4445000"/>
              <a:ext cx="2049170"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모든 차에 같은 위치 장착</a:t>
              </a:r>
            </a:p>
          </p:txBody>
        </p:sp>
        <p:sp>
          <p:nvSpPr>
            <p:cNvPr id="39" name="Rectangle 39"/>
            <p:cNvSpPr/>
            <p:nvPr/>
          </p:nvSpPr>
          <p:spPr>
            <a:xfrm>
              <a:off x="3371850" y="3943350"/>
              <a:ext cx="2609850" cy="28575"/>
            </a:xfrm>
            <a:prstGeom prst="rect">
              <a:avLst/>
            </a:prstGeom>
            <a:solidFill>
              <a:srgbClr val="0B1E3C"/>
            </a:solidFill>
            <a:ln>
              <a:noFill/>
            </a:ln>
          </p:spPr>
        </p:sp>
        <p:sp>
          <p:nvSpPr>
            <p:cNvPr id="40" name="TextBox 40"/>
            <p:cNvSpPr txBox="1"/>
            <p:nvPr/>
          </p:nvSpPr>
          <p:spPr>
            <a:xfrm>
              <a:off x="3363849" y="4114800"/>
              <a:ext cx="17954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PIM · 조인트 블록</a:t>
              </a:r>
            </a:p>
          </p:txBody>
        </p:sp>
        <p:sp>
          <p:nvSpPr>
            <p:cNvPr id="41" name="TextBox 41"/>
            <p:cNvSpPr txBox="1"/>
            <p:nvPr/>
          </p:nvSpPr>
          <p:spPr>
            <a:xfrm>
              <a:off x="3364992" y="4445000"/>
              <a:ext cx="227634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차가 장비 전원·기록을 제어</a:t>
              </a:r>
            </a:p>
          </p:txBody>
        </p:sp>
        <p:sp>
          <p:nvSpPr>
            <p:cNvPr id="42" name="Rectangle 42"/>
            <p:cNvSpPr/>
            <p:nvPr/>
          </p:nvSpPr>
          <p:spPr>
            <a:xfrm>
              <a:off x="6210300" y="3943350"/>
              <a:ext cx="2609850" cy="28575"/>
            </a:xfrm>
            <a:prstGeom prst="rect">
              <a:avLst/>
            </a:prstGeom>
            <a:solidFill>
              <a:srgbClr val="0B1E3C"/>
            </a:solidFill>
            <a:ln>
              <a:noFill/>
            </a:ln>
          </p:spPr>
        </p:sp>
        <p:sp>
          <p:nvSpPr>
            <p:cNvPr id="43" name="TextBox 43"/>
            <p:cNvSpPr txBox="1"/>
            <p:nvPr/>
          </p:nvSpPr>
          <p:spPr>
            <a:xfrm>
              <a:off x="6202299" y="4114800"/>
              <a:ext cx="1213075" cy="308991"/>
            </a:xfrm>
            <a:prstGeom prst="rect">
              <a:avLst/>
            </a:prstGeom>
            <a:noFill/>
            <a:ln>
              <a:noFill/>
            </a:ln>
          </p:spPr>
          <p:txBody>
            <a:bodyPr wrap="none" lIns="0" tIns="0" rIns="0" bIns="0" anchor="t" anchorCtr="0">
              <a:spAutoFit/>
            </a:bodyPr>
            <a:lstStyle/>
            <a:p>
              <a:pPr algn="l"/>
              <a:r>
                <a:rPr lang="en-US" sz="1580" b="1" dirty="0">
                  <a:solidFill>
                    <a:srgbClr val="0B1E3C"/>
                  </a:solidFill>
                  <a:latin typeface="+mn-lt"/>
                  <a:ea typeface="+mn-ea"/>
                  <a:cs typeface="+mn-cs"/>
                </a:rPr>
                <a:t>Pleos Fleet</a:t>
              </a:r>
            </a:p>
          </p:txBody>
        </p:sp>
        <p:sp>
          <p:nvSpPr>
            <p:cNvPr id="44" name="TextBox 44"/>
            <p:cNvSpPr txBox="1"/>
            <p:nvPr/>
          </p:nvSpPr>
          <p:spPr>
            <a:xfrm>
              <a:off x="6203442" y="4445000"/>
              <a:ext cx="2230907"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단말기 없이 여러 도시 관제</a:t>
              </a:r>
            </a:p>
          </p:txBody>
        </p:sp>
        <p:sp>
          <p:nvSpPr>
            <p:cNvPr id="45" name="Rectangle 45"/>
            <p:cNvSpPr/>
            <p:nvPr/>
          </p:nvSpPr>
          <p:spPr>
            <a:xfrm>
              <a:off x="9048750" y="3943350"/>
              <a:ext cx="2609850" cy="28575"/>
            </a:xfrm>
            <a:prstGeom prst="rect">
              <a:avLst/>
            </a:prstGeom>
            <a:solidFill>
              <a:srgbClr val="0B1E3C"/>
            </a:solidFill>
            <a:ln>
              <a:noFill/>
            </a:ln>
          </p:spPr>
        </p:sp>
        <p:sp>
          <p:nvSpPr>
            <p:cNvPr id="46" name="TextBox 46"/>
            <p:cNvSpPr txBox="1"/>
            <p:nvPr/>
          </p:nvSpPr>
          <p:spPr>
            <a:xfrm>
              <a:off x="9040749" y="4114800"/>
              <a:ext cx="142460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적재고 419mm</a:t>
              </a:r>
            </a:p>
          </p:txBody>
        </p:sp>
        <p:sp>
          <p:nvSpPr>
            <p:cNvPr id="47" name="TextBox 47"/>
            <p:cNvSpPr txBox="1"/>
            <p:nvPr/>
          </p:nvSpPr>
          <p:spPr>
            <a:xfrm>
              <a:off x="9041892" y="4445000"/>
              <a:ext cx="2412644"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카트를 바로 내려 현장 재확인</a:t>
              </a:r>
            </a:p>
          </p:txBody>
        </p:sp>
      </p:grpSp>
      <p:grpSp>
        <p:nvGrpSpPr>
          <p:cNvPr id="51" name="conclusion"/>
          <p:cNvGrpSpPr/>
          <p:nvPr/>
        </p:nvGrpSpPr>
        <p:grpSpPr>
          <a:xfrm>
            <a:off x="533400" y="5657850"/>
            <a:ext cx="5528481" cy="495300"/>
            <a:chOff x="533400" y="5657850"/>
            <a:chExt cx="5528481" cy="495300"/>
          </a:xfrm>
        </p:grpSpPr>
        <p:sp>
          <p:nvSpPr>
            <p:cNvPr id="49" name="Rectangle 49"/>
            <p:cNvSpPr/>
            <p:nvPr/>
          </p:nvSpPr>
          <p:spPr>
            <a:xfrm>
              <a:off x="533400" y="5657850"/>
              <a:ext cx="38100" cy="495300"/>
            </a:xfrm>
            <a:prstGeom prst="rect">
              <a:avLst/>
            </a:prstGeom>
            <a:solidFill>
              <a:srgbClr val="F5B700"/>
            </a:solidFill>
            <a:ln>
              <a:noFill/>
            </a:ln>
          </p:spPr>
        </p:sp>
        <p:sp>
          <p:nvSpPr>
            <p:cNvPr id="50" name="TextBox 50"/>
            <p:cNvSpPr txBox="1"/>
            <p:nvPr/>
          </p:nvSpPr>
          <p:spPr>
            <a:xfrm>
              <a:off x="754380" y="5794375"/>
              <a:ext cx="530750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어느 도시의 어느 PV5가 재도, </a:t>
              </a:r>
              <a:r>
                <a:rPr lang="ko-KR" sz="1500" b="1" dirty="0">
                  <a:solidFill>
                    <a:srgbClr val="B45309"/>
                  </a:solidFill>
                  <a:latin typeface="+mn-lt"/>
                  <a:ea typeface="+mn-ea"/>
                  <a:cs typeface="+mn-cs"/>
                </a:rPr>
                <a:t>같은 기준으로 비교</a:t>
              </a:r>
              <a:r>
                <a:rPr lang="ko-KR" sz="1500" b="1" dirty="0">
                  <a:solidFill>
                    <a:srgbClr val="0B1E3C"/>
                  </a:solidFill>
                  <a:latin typeface="+mn-lt"/>
                  <a:ea typeface="+mn-ea"/>
                  <a:cs typeface="+mn-cs"/>
                </a:rPr>
                <a:t>됩니다.</a:t>
              </a:r>
            </a:p>
          </p:txBody>
        </p:sp>
      </p:grpSp>
      <p:grpSp>
        <p:nvGrpSpPr>
          <p:cNvPr id="53" name="source"/>
          <p:cNvGrpSpPr/>
          <p:nvPr/>
        </p:nvGrpSpPr>
        <p:grpSpPr>
          <a:xfrm>
            <a:off x="528447" y="6248400"/>
            <a:ext cx="9406636" cy="344043"/>
            <a:chOff x="528447" y="6248400"/>
            <a:chExt cx="9406636" cy="344043"/>
          </a:xfrm>
        </p:grpSpPr>
        <p:sp>
          <p:nvSpPr>
            <p:cNvPr id="52" name="TextBox 52"/>
            <p:cNvSpPr txBox="1"/>
            <p:nvPr/>
          </p:nvSpPr>
          <p:spPr>
            <a:xfrm>
              <a:off x="528447" y="6248400"/>
              <a:ext cx="9406636"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오토뷰(2026.1.28, 컨버전 포털·PIM·조인트 블록) · 공모전 솔루션 부문 안내(Pleos SDK·앱 마켓) · 기아 PV5 카고 카탈로그(2026.9)</a:t>
              </a:r>
              <a:br>
                <a:rPr lang="ko-KR" sz="980" dirty="0">
                  <a:solidFill>
                    <a:srgbClr val="4B5563"/>
                  </a:solidFill>
                  <a:latin typeface="+mn-lt"/>
                  <a:ea typeface="+mn-ea"/>
                  <a:cs typeface="+mn-cs"/>
                </a:rPr>
              </a:br>
              <a:r>
                <a:rPr lang="ko-KR" sz="980" dirty="0">
                  <a:solidFill>
                    <a:srgbClr val="4B5563"/>
                  </a:solidFill>
                  <a:latin typeface="+mn-lt"/>
                  <a:ea typeface="+mn-ea"/>
                  <a:cs typeface="+mn-cs"/>
                </a:rPr>
                <a:t>현대차그룹 뉴스룸(2024.4, ST1 495mm) · 스타리아 일렉트릭 출시(2026.4.23) · 시사저널(2025.4.25, GPR 대당 2억~8억 원) · 공공부문 무공해차 실적(2026.6.30)</a:t>
              </a:r>
            </a:p>
          </p:txBody>
        </p:sp>
      </p:grpSp>
      <p:grpSp>
        <p:nvGrpSpPr>
          <p:cNvPr id="56" name="footer"/>
          <p:cNvGrpSpPr/>
          <p:nvPr/>
        </p:nvGrpSpPr>
        <p:grpSpPr>
          <a:xfrm>
            <a:off x="528638" y="6610350"/>
            <a:ext cx="11134724" cy="176212"/>
            <a:chOff x="528638" y="6610350"/>
            <a:chExt cx="11134724" cy="176212"/>
          </a:xfrm>
        </p:grpSpPr>
        <p:sp>
          <p:nvSpPr>
            <p:cNvPr id="54" name="TextBox 5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5" name="TextBox 5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18</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5737422" cy="586740"/>
            <a:chOff x="518160" y="774700"/>
            <a:chExt cx="5737422" cy="586740"/>
          </a:xfrm>
        </p:grpSpPr>
        <p:sp>
          <p:nvSpPr>
            <p:cNvPr id="17" name="TextBox 17"/>
            <p:cNvSpPr txBox="1"/>
            <p:nvPr/>
          </p:nvSpPr>
          <p:spPr>
            <a:xfrm>
              <a:off x="518160" y="774700"/>
              <a:ext cx="573742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4단계로 확인합니다</a:t>
              </a:r>
            </a:p>
          </p:txBody>
        </p:sp>
      </p:grpSp>
      <p:grpSp>
        <p:nvGrpSpPr>
          <p:cNvPr id="51" name="stages"/>
          <p:cNvGrpSpPr/>
          <p:nvPr/>
        </p:nvGrpSpPr>
        <p:grpSpPr>
          <a:xfrm>
            <a:off x="533400" y="1676400"/>
            <a:ext cx="11125200" cy="2857500"/>
            <a:chOff x="533400" y="1676400"/>
            <a:chExt cx="11125200" cy="2857500"/>
          </a:xfrm>
        </p:grpSpPr>
        <p:sp>
          <p:nvSpPr>
            <p:cNvPr id="19" name="Rectangle 19"/>
            <p:cNvSpPr/>
            <p:nvPr/>
          </p:nvSpPr>
          <p:spPr>
            <a:xfrm>
              <a:off x="533400" y="1676400"/>
              <a:ext cx="2609850" cy="2857500"/>
            </a:xfrm>
            <a:prstGeom prst="rect">
              <a:avLst/>
            </a:prstGeom>
            <a:solidFill>
              <a:srgbClr val="F3F5F8"/>
            </a:solidFill>
            <a:ln>
              <a:noFill/>
            </a:ln>
          </p:spPr>
        </p:sp>
        <p:sp>
          <p:nvSpPr>
            <p:cNvPr id="20" name="Rectangle 20"/>
            <p:cNvSpPr/>
            <p:nvPr/>
          </p:nvSpPr>
          <p:spPr>
            <a:xfrm>
              <a:off x="533400" y="1676400"/>
              <a:ext cx="2609850" cy="47625"/>
            </a:xfrm>
            <a:prstGeom prst="rect">
              <a:avLst/>
            </a:prstGeom>
            <a:solidFill>
              <a:srgbClr val="0B1E3C"/>
            </a:solidFill>
            <a:ln>
              <a:noFill/>
            </a:ln>
          </p:spPr>
        </p:sp>
        <p:sp>
          <p:nvSpPr>
            <p:cNvPr id="21" name="TextBox 21"/>
            <p:cNvSpPr txBox="1"/>
            <p:nvPr/>
          </p:nvSpPr>
          <p:spPr>
            <a:xfrm>
              <a:off x="736092" y="1987550"/>
              <a:ext cx="482143"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1단계</a:t>
              </a:r>
            </a:p>
          </p:txBody>
        </p:sp>
        <p:sp>
          <p:nvSpPr>
            <p:cNvPr id="22" name="TextBox 22"/>
            <p:cNvSpPr txBox="1"/>
            <p:nvPr/>
          </p:nvSpPr>
          <p:spPr>
            <a:xfrm>
              <a:off x="733044" y="2330450"/>
              <a:ext cx="1415047"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폐쇄 시험장</a:t>
              </a:r>
            </a:p>
          </p:txBody>
        </p:sp>
        <p:sp>
          <p:nvSpPr>
            <p:cNvPr id="23" name="TextBox 23"/>
            <p:cNvSpPr txBox="1"/>
            <p:nvPr/>
          </p:nvSpPr>
          <p:spPr>
            <a:xfrm>
              <a:off x="737235" y="309880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것</a:t>
              </a:r>
            </a:p>
          </p:txBody>
        </p:sp>
        <p:sp>
          <p:nvSpPr>
            <p:cNvPr id="24" name="TextBox 24"/>
            <p:cNvSpPr txBox="1"/>
            <p:nvPr/>
          </p:nvSpPr>
          <p:spPr>
            <a:xfrm>
              <a:off x="736092" y="3340100"/>
              <a:ext cx="1801940"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EV와 GPR 전자파 간섭</a:t>
              </a:r>
            </a:p>
          </p:txBody>
        </p:sp>
        <p:sp>
          <p:nvSpPr>
            <p:cNvPr id="25" name="TextBox 25"/>
            <p:cNvSpPr txBox="1"/>
            <p:nvPr/>
          </p:nvSpPr>
          <p:spPr>
            <a:xfrm>
              <a:off x="737235" y="3860800"/>
              <a:ext cx="614528"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통과하면</a:t>
              </a:r>
            </a:p>
          </p:txBody>
        </p:sp>
        <p:sp>
          <p:nvSpPr>
            <p:cNvPr id="26" name="TextBox 26"/>
            <p:cNvSpPr txBox="1"/>
            <p:nvPr/>
          </p:nvSpPr>
          <p:spPr>
            <a:xfrm>
              <a:off x="736092" y="4102100"/>
              <a:ext cx="1744307"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차량에서 측정 가능</a:t>
              </a:r>
            </a:p>
          </p:txBody>
        </p:sp>
        <p:sp>
          <p:nvSpPr>
            <p:cNvPr id="27" name="Rectangle 27"/>
            <p:cNvSpPr/>
            <p:nvPr/>
          </p:nvSpPr>
          <p:spPr>
            <a:xfrm>
              <a:off x="3371850" y="1676400"/>
              <a:ext cx="2609850" cy="2857500"/>
            </a:xfrm>
            <a:prstGeom prst="rect">
              <a:avLst/>
            </a:prstGeom>
            <a:solidFill>
              <a:srgbClr val="F3F5F8"/>
            </a:solidFill>
            <a:ln>
              <a:noFill/>
            </a:ln>
          </p:spPr>
        </p:sp>
        <p:sp>
          <p:nvSpPr>
            <p:cNvPr id="28" name="Rectangle 28"/>
            <p:cNvSpPr/>
            <p:nvPr/>
          </p:nvSpPr>
          <p:spPr>
            <a:xfrm>
              <a:off x="3371850" y="1676400"/>
              <a:ext cx="2609850" cy="47625"/>
            </a:xfrm>
            <a:prstGeom prst="rect">
              <a:avLst/>
            </a:prstGeom>
            <a:solidFill>
              <a:srgbClr val="0B1E3C"/>
            </a:solidFill>
            <a:ln>
              <a:noFill/>
            </a:ln>
          </p:spPr>
        </p:sp>
        <p:sp>
          <p:nvSpPr>
            <p:cNvPr id="29" name="TextBox 29"/>
            <p:cNvSpPr txBox="1"/>
            <p:nvPr/>
          </p:nvSpPr>
          <p:spPr>
            <a:xfrm>
              <a:off x="3574542" y="1987550"/>
              <a:ext cx="482143"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2단계</a:t>
              </a:r>
            </a:p>
          </p:txBody>
        </p:sp>
        <p:sp>
          <p:nvSpPr>
            <p:cNvPr id="30" name="TextBox 30"/>
            <p:cNvSpPr txBox="1"/>
            <p:nvPr/>
          </p:nvSpPr>
          <p:spPr>
            <a:xfrm>
              <a:off x="3571494" y="2330450"/>
              <a:ext cx="2022756"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통제된 시험 구간</a:t>
              </a:r>
            </a:p>
          </p:txBody>
        </p:sp>
        <p:sp>
          <p:nvSpPr>
            <p:cNvPr id="31" name="TextBox 31"/>
            <p:cNvSpPr txBox="1"/>
            <p:nvPr/>
          </p:nvSpPr>
          <p:spPr>
            <a:xfrm>
              <a:off x="3575685" y="309880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것</a:t>
              </a:r>
            </a:p>
          </p:txBody>
        </p:sp>
        <p:sp>
          <p:nvSpPr>
            <p:cNvPr id="32" name="TextBox 32"/>
            <p:cNvSpPr txBox="1"/>
            <p:nvPr/>
          </p:nvSpPr>
          <p:spPr>
            <a:xfrm>
              <a:off x="3574542" y="3340100"/>
              <a:ext cx="235812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회차마다 같은 자리를 찍는가</a:t>
              </a:r>
            </a:p>
          </p:txBody>
        </p:sp>
        <p:sp>
          <p:nvSpPr>
            <p:cNvPr id="33" name="TextBox 33"/>
            <p:cNvSpPr txBox="1"/>
            <p:nvPr/>
          </p:nvSpPr>
          <p:spPr>
            <a:xfrm>
              <a:off x="3575685" y="3860800"/>
              <a:ext cx="614528"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통과하면</a:t>
              </a:r>
            </a:p>
          </p:txBody>
        </p:sp>
        <p:sp>
          <p:nvSpPr>
            <p:cNvPr id="34" name="TextBox 34"/>
            <p:cNvSpPr txBox="1"/>
            <p:nvPr/>
          </p:nvSpPr>
          <p:spPr>
            <a:xfrm>
              <a:off x="3574542" y="4102100"/>
              <a:ext cx="1380833"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회차 비교 가능</a:t>
              </a:r>
            </a:p>
          </p:txBody>
        </p:sp>
        <p:sp>
          <p:nvSpPr>
            <p:cNvPr id="35" name="Rectangle 35"/>
            <p:cNvSpPr/>
            <p:nvPr/>
          </p:nvSpPr>
          <p:spPr>
            <a:xfrm>
              <a:off x="6210300" y="1676400"/>
              <a:ext cx="2609850" cy="2857500"/>
            </a:xfrm>
            <a:prstGeom prst="rect">
              <a:avLst/>
            </a:prstGeom>
            <a:solidFill>
              <a:srgbClr val="F3F5F8"/>
            </a:solidFill>
            <a:ln>
              <a:noFill/>
            </a:ln>
          </p:spPr>
        </p:sp>
        <p:sp>
          <p:nvSpPr>
            <p:cNvPr id="36" name="Rectangle 36"/>
            <p:cNvSpPr/>
            <p:nvPr/>
          </p:nvSpPr>
          <p:spPr>
            <a:xfrm>
              <a:off x="6210300" y="1676400"/>
              <a:ext cx="2609850" cy="47625"/>
            </a:xfrm>
            <a:prstGeom prst="rect">
              <a:avLst/>
            </a:prstGeom>
            <a:solidFill>
              <a:srgbClr val="0B1E3C"/>
            </a:solidFill>
            <a:ln>
              <a:noFill/>
            </a:ln>
          </p:spPr>
        </p:sp>
        <p:sp>
          <p:nvSpPr>
            <p:cNvPr id="37" name="TextBox 37"/>
            <p:cNvSpPr txBox="1"/>
            <p:nvPr/>
          </p:nvSpPr>
          <p:spPr>
            <a:xfrm>
              <a:off x="6412992" y="1987550"/>
              <a:ext cx="482143"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3단계</a:t>
              </a:r>
            </a:p>
          </p:txBody>
        </p:sp>
        <p:sp>
          <p:nvSpPr>
            <p:cNvPr id="38" name="TextBox 38"/>
            <p:cNvSpPr txBox="1"/>
            <p:nvPr/>
          </p:nvSpPr>
          <p:spPr>
            <a:xfrm>
              <a:off x="6409944" y="2330450"/>
              <a:ext cx="2285265"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실제 도로 위험구간</a:t>
              </a:r>
            </a:p>
          </p:txBody>
        </p:sp>
        <p:sp>
          <p:nvSpPr>
            <p:cNvPr id="39" name="TextBox 39"/>
            <p:cNvSpPr txBox="1"/>
            <p:nvPr/>
          </p:nvSpPr>
          <p:spPr>
            <a:xfrm>
              <a:off x="6414135" y="309880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것</a:t>
              </a:r>
            </a:p>
          </p:txBody>
        </p:sp>
        <p:sp>
          <p:nvSpPr>
            <p:cNvPr id="40" name="TextBox 40"/>
            <p:cNvSpPr txBox="1"/>
            <p:nvPr/>
          </p:nvSpPr>
          <p:spPr>
            <a:xfrm>
              <a:off x="6412992" y="3340100"/>
              <a:ext cx="204214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AI 선별 · 야간 AR 정확도</a:t>
              </a:r>
            </a:p>
          </p:txBody>
        </p:sp>
        <p:sp>
          <p:nvSpPr>
            <p:cNvPr id="41" name="TextBox 41"/>
            <p:cNvSpPr txBox="1"/>
            <p:nvPr/>
          </p:nvSpPr>
          <p:spPr>
            <a:xfrm>
              <a:off x="6414135" y="3860800"/>
              <a:ext cx="614528"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통과하면</a:t>
              </a:r>
            </a:p>
          </p:txBody>
        </p:sp>
        <p:sp>
          <p:nvSpPr>
            <p:cNvPr id="42" name="TextBox 42"/>
            <p:cNvSpPr txBox="1"/>
            <p:nvPr/>
          </p:nvSpPr>
          <p:spPr>
            <a:xfrm>
              <a:off x="6412992" y="4102100"/>
              <a:ext cx="1084601"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실증확인서</a:t>
              </a:r>
            </a:p>
          </p:txBody>
        </p:sp>
        <p:sp>
          <p:nvSpPr>
            <p:cNvPr id="43" name="Rectangle 43"/>
            <p:cNvSpPr/>
            <p:nvPr/>
          </p:nvSpPr>
          <p:spPr>
            <a:xfrm>
              <a:off x="9048750" y="1676400"/>
              <a:ext cx="2609850" cy="2857500"/>
            </a:xfrm>
            <a:prstGeom prst="rect">
              <a:avLst/>
            </a:prstGeom>
            <a:solidFill>
              <a:srgbClr val="F3F5F8"/>
            </a:solidFill>
            <a:ln>
              <a:noFill/>
            </a:ln>
          </p:spPr>
        </p:sp>
        <p:sp>
          <p:nvSpPr>
            <p:cNvPr id="44" name="Rectangle 44"/>
            <p:cNvSpPr/>
            <p:nvPr/>
          </p:nvSpPr>
          <p:spPr>
            <a:xfrm>
              <a:off x="9048750" y="1676400"/>
              <a:ext cx="2609850" cy="47625"/>
            </a:xfrm>
            <a:prstGeom prst="rect">
              <a:avLst/>
            </a:prstGeom>
            <a:solidFill>
              <a:srgbClr val="F5B700"/>
            </a:solidFill>
            <a:ln>
              <a:noFill/>
            </a:ln>
          </p:spPr>
        </p:sp>
        <p:sp>
          <p:nvSpPr>
            <p:cNvPr id="45" name="TextBox 45"/>
            <p:cNvSpPr txBox="1"/>
            <p:nvPr/>
          </p:nvSpPr>
          <p:spPr>
            <a:xfrm>
              <a:off x="9251442" y="1987550"/>
              <a:ext cx="482143"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4단계</a:t>
              </a:r>
            </a:p>
          </p:txBody>
        </p:sp>
        <p:sp>
          <p:nvSpPr>
            <p:cNvPr id="46" name="TextBox 46"/>
            <p:cNvSpPr txBox="1"/>
            <p:nvPr/>
          </p:nvSpPr>
          <p:spPr>
            <a:xfrm>
              <a:off x="9248394" y="2330450"/>
              <a:ext cx="1152538"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실제 운영</a:t>
              </a:r>
            </a:p>
          </p:txBody>
        </p:sp>
        <p:sp>
          <p:nvSpPr>
            <p:cNvPr id="47" name="TextBox 47"/>
            <p:cNvSpPr txBox="1"/>
            <p:nvPr/>
          </p:nvSpPr>
          <p:spPr>
            <a:xfrm>
              <a:off x="9252585" y="309880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것</a:t>
              </a:r>
            </a:p>
          </p:txBody>
        </p:sp>
        <p:sp>
          <p:nvSpPr>
            <p:cNvPr id="48" name="TextBox 48"/>
            <p:cNvSpPr txBox="1"/>
            <p:nvPr/>
          </p:nvSpPr>
          <p:spPr>
            <a:xfrm>
              <a:off x="9251442" y="3340100"/>
              <a:ext cx="79518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운영 지표</a:t>
              </a:r>
            </a:p>
          </p:txBody>
        </p:sp>
        <p:sp>
          <p:nvSpPr>
            <p:cNvPr id="49" name="TextBox 49"/>
            <p:cNvSpPr txBox="1"/>
            <p:nvPr/>
          </p:nvSpPr>
          <p:spPr>
            <a:xfrm>
              <a:off x="9252585" y="3860800"/>
              <a:ext cx="614528"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통과하면</a:t>
              </a:r>
            </a:p>
          </p:txBody>
        </p:sp>
        <p:sp>
          <p:nvSpPr>
            <p:cNvPr id="50" name="TextBox 50"/>
            <p:cNvSpPr txBox="1"/>
            <p:nvPr/>
          </p:nvSpPr>
          <p:spPr>
            <a:xfrm>
              <a:off x="9251442" y="4102100"/>
              <a:ext cx="1380833"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연간 관제 계약</a:t>
              </a:r>
            </a:p>
          </p:txBody>
        </p:sp>
      </p:grpSp>
      <p:grpSp>
        <p:nvGrpSpPr>
          <p:cNvPr id="54" name="conclusion"/>
          <p:cNvGrpSpPr/>
          <p:nvPr/>
        </p:nvGrpSpPr>
        <p:grpSpPr>
          <a:xfrm>
            <a:off x="533400" y="5048250"/>
            <a:ext cx="6510362" cy="419100"/>
            <a:chOff x="533400" y="5048250"/>
            <a:chExt cx="6510362" cy="419100"/>
          </a:xfrm>
        </p:grpSpPr>
        <p:sp>
          <p:nvSpPr>
            <p:cNvPr id="52" name="Rectangle 52"/>
            <p:cNvSpPr/>
            <p:nvPr/>
          </p:nvSpPr>
          <p:spPr>
            <a:xfrm>
              <a:off x="533400" y="5048250"/>
              <a:ext cx="38100" cy="419100"/>
            </a:xfrm>
            <a:prstGeom prst="rect">
              <a:avLst/>
            </a:prstGeom>
            <a:solidFill>
              <a:srgbClr val="F5B700"/>
            </a:solidFill>
            <a:ln>
              <a:noFill/>
            </a:ln>
          </p:spPr>
        </p:sp>
        <p:sp>
          <p:nvSpPr>
            <p:cNvPr id="53" name="TextBox 53"/>
            <p:cNvSpPr txBox="1"/>
            <p:nvPr/>
          </p:nvSpPr>
          <p:spPr>
            <a:xfrm>
              <a:off x="715899" y="514350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56" name="source"/>
          <p:cNvGrpSpPr/>
          <p:nvPr/>
        </p:nvGrpSpPr>
        <p:grpSpPr>
          <a:xfrm>
            <a:off x="528447" y="6381750"/>
            <a:ext cx="10066150" cy="191643"/>
            <a:chOff x="528447" y="6381750"/>
            <a:chExt cx="10066150" cy="191643"/>
          </a:xfrm>
        </p:grpSpPr>
        <p:sp>
          <p:nvSpPr>
            <p:cNvPr id="55" name="TextBox 55"/>
            <p:cNvSpPr txBox="1"/>
            <p:nvPr/>
          </p:nvSpPr>
          <p:spPr>
            <a:xfrm>
              <a:off x="528447" y="6381750"/>
              <a:ext cx="1006615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인천대 공동 재탐사 연구(2020)</a:t>
              </a:r>
            </a:p>
          </p:txBody>
        </p:sp>
      </p:grpSp>
      <p:grpSp>
        <p:nvGrpSpPr>
          <p:cNvPr id="59" name="footer"/>
          <p:cNvGrpSpPr/>
          <p:nvPr/>
        </p:nvGrpSpPr>
        <p:grpSpPr>
          <a:xfrm>
            <a:off x="528638" y="6610350"/>
            <a:ext cx="11134724" cy="176212"/>
            <a:chOff x="528638" y="6610350"/>
            <a:chExt cx="11134724" cy="176212"/>
          </a:xfrm>
        </p:grpSpPr>
        <p:sp>
          <p:nvSpPr>
            <p:cNvPr id="57" name="TextBox 5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8" name="TextBox 5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18</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3" name="hero"/>
          <p:cNvGrpSpPr/>
          <p:nvPr/>
        </p:nvGrpSpPr>
        <p:grpSpPr>
          <a:xfrm>
            <a:off x="514350" y="1752600"/>
            <a:ext cx="4023360" cy="1949196"/>
            <a:chOff x="514350" y="1752600"/>
            <a:chExt cx="4023360" cy="1949196"/>
          </a:xfrm>
        </p:grpSpPr>
        <p:sp>
          <p:nvSpPr>
            <p:cNvPr id="19" name="TextBox 19"/>
            <p:cNvSpPr txBox="1"/>
            <p:nvPr/>
          </p:nvSpPr>
          <p:spPr>
            <a:xfrm>
              <a:off x="526923" y="1752600"/>
              <a:ext cx="2079425"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반복 탐사 1회 원가 [가설]</a:t>
              </a:r>
            </a:p>
          </p:txBody>
        </p:sp>
        <p:sp>
          <p:nvSpPr>
            <p:cNvPr id="20" name="TextBox 20"/>
            <p:cNvSpPr txBox="1"/>
            <p:nvPr/>
          </p:nvSpPr>
          <p:spPr>
            <a:xfrm>
              <a:off x="514350" y="1981200"/>
              <a:ext cx="3766124" cy="1390650"/>
            </a:xfrm>
            <a:prstGeom prst="rect">
              <a:avLst/>
            </a:prstGeom>
            <a:noFill/>
            <a:ln>
              <a:noFill/>
            </a:ln>
          </p:spPr>
          <p:txBody>
            <a:bodyPr wrap="none" lIns="0" tIns="0" rIns="0" bIns="0" anchor="t" anchorCtr="0">
              <a:spAutoFit/>
            </a:bodyPr>
            <a:lstStyle/>
            <a:p>
              <a:pPr algn="l"/>
              <a:r>
                <a:rPr lang="ko-KR" sz="7200" b="1" spc="-300" dirty="0">
                  <a:solidFill>
                    <a:srgbClr val="0B1E3C"/>
                  </a:solidFill>
                  <a:latin typeface="+mn-lt"/>
                  <a:ea typeface="+mn-ea"/>
                  <a:cs typeface="+mn-cs"/>
                </a:rPr>
                <a:t>4.7만 원</a:t>
              </a:r>
            </a:p>
          </p:txBody>
        </p:sp>
        <p:sp>
          <p:nvSpPr>
            <p:cNvPr id="21" name="TextBox 21"/>
            <p:cNvSpPr txBox="1"/>
            <p:nvPr/>
          </p:nvSpPr>
          <p:spPr>
            <a:xfrm>
              <a:off x="525018" y="3073400"/>
              <a:ext cx="1698790" cy="322707"/>
            </a:xfrm>
            <a:prstGeom prst="rect">
              <a:avLst/>
            </a:prstGeom>
            <a:noFill/>
            <a:ln>
              <a:noFill/>
            </a:ln>
          </p:spPr>
          <p:txBody>
            <a:bodyPr wrap="none" lIns="0" tIns="0" rIns="0" bIns="0" anchor="t" anchorCtr="0">
              <a:spAutoFit/>
            </a:bodyPr>
            <a:lstStyle/>
            <a:p>
              <a:pPr algn="l"/>
              <a:r>
                <a:rPr lang="ko-KR" sz="1650" b="1" dirty="0">
                  <a:solidFill>
                    <a:srgbClr val="111827"/>
                  </a:solidFill>
                  <a:latin typeface="+mn-lt"/>
                  <a:ea typeface="+mn-ea"/>
                  <a:cs typeface="+mn-cs"/>
                </a:rPr>
                <a:t>탐사 연장 1km당</a:t>
              </a:r>
            </a:p>
          </p:txBody>
        </p:sp>
        <p:sp>
          <p:nvSpPr>
            <p:cNvPr id="22" name="TextBox 22"/>
            <p:cNvSpPr txBox="1"/>
            <p:nvPr/>
          </p:nvSpPr>
          <p:spPr>
            <a:xfrm>
              <a:off x="527304" y="3467100"/>
              <a:ext cx="4010406"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차량 1대 연 3.09억 원 ÷ 6,600km(하루 30km × 220일)</a:t>
              </a:r>
            </a:p>
          </p:txBody>
        </p:sp>
      </p:grpSp>
      <p:grpSp>
        <p:nvGrpSpPr>
          <p:cNvPr id="32" name="bars"/>
          <p:cNvGrpSpPr/>
          <p:nvPr/>
        </p:nvGrpSpPr>
        <p:grpSpPr>
          <a:xfrm>
            <a:off x="6089142" y="1752600"/>
            <a:ext cx="5325120" cy="2235581"/>
            <a:chOff x="6089142" y="1752600"/>
            <a:chExt cx="5325120" cy="2235581"/>
          </a:xfrm>
        </p:grpSpPr>
        <p:sp>
          <p:nvSpPr>
            <p:cNvPr id="24" name="TextBox 24"/>
            <p:cNvSpPr txBox="1"/>
            <p:nvPr/>
          </p:nvSpPr>
          <p:spPr>
            <a:xfrm>
              <a:off x="6089523" y="1752600"/>
              <a:ext cx="1870495"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같은 길 1km를 1년 동안</a:t>
              </a:r>
            </a:p>
          </p:txBody>
        </p:sp>
        <p:sp>
          <p:nvSpPr>
            <p:cNvPr id="25" name="TextBox 25"/>
            <p:cNvSpPr txBox="1"/>
            <p:nvPr/>
          </p:nvSpPr>
          <p:spPr>
            <a:xfrm>
              <a:off x="6089142" y="2216150"/>
              <a:ext cx="1703870"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지금 · 전체 공정 1회</a:t>
              </a:r>
            </a:p>
          </p:txBody>
        </p:sp>
        <p:sp>
          <p:nvSpPr>
            <p:cNvPr id="26" name="Rectangle 26"/>
            <p:cNvSpPr/>
            <p:nvPr/>
          </p:nvSpPr>
          <p:spPr>
            <a:xfrm>
              <a:off x="6096000" y="2495550"/>
              <a:ext cx="3429000" cy="419100"/>
            </a:xfrm>
            <a:prstGeom prst="rect">
              <a:avLst/>
            </a:prstGeom>
            <a:solidFill>
              <a:srgbClr val="9AA3AF"/>
            </a:solidFill>
            <a:ln>
              <a:noFill/>
            </a:ln>
          </p:spPr>
        </p:sp>
        <p:sp>
          <p:nvSpPr>
            <p:cNvPr id="27" name="TextBox 27"/>
            <p:cNvSpPr txBox="1"/>
            <p:nvPr/>
          </p:nvSpPr>
          <p:spPr>
            <a:xfrm>
              <a:off x="9667494" y="2559050"/>
              <a:ext cx="930718"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92만 원</a:t>
              </a:r>
            </a:p>
          </p:txBody>
        </p:sp>
        <p:sp>
          <p:nvSpPr>
            <p:cNvPr id="28" name="TextBox 28"/>
            <p:cNvSpPr txBox="1"/>
            <p:nvPr/>
          </p:nvSpPr>
          <p:spPr>
            <a:xfrm>
              <a:off x="6089142" y="3263900"/>
              <a:ext cx="2671830"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GroundWatch · 여기에 반복 6회</a:t>
              </a:r>
            </a:p>
          </p:txBody>
        </p:sp>
        <p:sp>
          <p:nvSpPr>
            <p:cNvPr id="29" name="Rectangle 29"/>
            <p:cNvSpPr/>
            <p:nvPr/>
          </p:nvSpPr>
          <p:spPr>
            <a:xfrm>
              <a:off x="6096000" y="3543300"/>
              <a:ext cx="3429000" cy="419100"/>
            </a:xfrm>
            <a:prstGeom prst="rect">
              <a:avLst/>
            </a:prstGeom>
            <a:solidFill>
              <a:srgbClr val="9AA3AF"/>
            </a:solidFill>
            <a:ln>
              <a:noFill/>
            </a:ln>
          </p:spPr>
        </p:sp>
        <p:sp>
          <p:nvSpPr>
            <p:cNvPr id="30" name="Rectangle 30"/>
            <p:cNvSpPr/>
            <p:nvPr/>
          </p:nvSpPr>
          <p:spPr>
            <a:xfrm>
              <a:off x="9525000" y="3543300"/>
              <a:ext cx="1047750" cy="419100"/>
            </a:xfrm>
            <a:prstGeom prst="rect">
              <a:avLst/>
            </a:prstGeom>
            <a:solidFill>
              <a:srgbClr val="0B1E3C"/>
            </a:solidFill>
            <a:ln>
              <a:noFill/>
            </a:ln>
          </p:spPr>
        </p:sp>
        <p:sp>
          <p:nvSpPr>
            <p:cNvPr id="31" name="TextBox 31"/>
            <p:cNvSpPr txBox="1"/>
            <p:nvPr/>
          </p:nvSpPr>
          <p:spPr>
            <a:xfrm>
              <a:off x="10677144" y="3606800"/>
              <a:ext cx="737118"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+28만</a:t>
              </a:r>
            </a:p>
          </p:txBody>
        </p:sp>
      </p:grpSp>
      <p:grpSp>
        <p:nvGrpSpPr>
          <p:cNvPr id="35" name="conclusion"/>
          <p:cNvGrpSpPr/>
          <p:nvPr/>
        </p:nvGrpSpPr>
        <p:grpSpPr>
          <a:xfrm>
            <a:off x="533400" y="4762500"/>
            <a:ext cx="6519401" cy="419100"/>
            <a:chOff x="533400" y="4762500"/>
            <a:chExt cx="6519401" cy="419100"/>
          </a:xfrm>
        </p:grpSpPr>
        <p:sp>
          <p:nvSpPr>
            <p:cNvPr id="33" name="Rectangle 33"/>
            <p:cNvSpPr/>
            <p:nvPr/>
          </p:nvSpPr>
          <p:spPr>
            <a:xfrm>
              <a:off x="533400" y="4762500"/>
              <a:ext cx="38100" cy="419100"/>
            </a:xfrm>
            <a:prstGeom prst="rect">
              <a:avLst/>
            </a:prstGeom>
            <a:solidFill>
              <a:srgbClr val="F5B700"/>
            </a:solidFill>
            <a:ln>
              <a:noFill/>
            </a:ln>
          </p:spPr>
        </p:sp>
        <p:sp>
          <p:nvSpPr>
            <p:cNvPr id="34" name="TextBox 34"/>
            <p:cNvSpPr txBox="1"/>
            <p:nvPr/>
          </p:nvSpPr>
          <p:spPr>
            <a:xfrm>
              <a:off x="715899" y="4857750"/>
              <a:ext cx="633690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비용에 약 30%를 더하면, 1년에 한 번 보던 길을 6번 봅니다.</a:t>
              </a:r>
            </a:p>
          </p:txBody>
        </p:sp>
      </p:grpSp>
      <p:grpSp>
        <p:nvGrpSpPr>
          <p:cNvPr id="37" name="source"/>
          <p:cNvGrpSpPr/>
          <p:nvPr/>
        </p:nvGrpSpPr>
        <p:grpSpPr>
          <a:xfrm>
            <a:off x="528447" y="6381750"/>
            <a:ext cx="10796107" cy="191643"/>
            <a:chOff x="528447" y="6381750"/>
            <a:chExt cx="10796107" cy="191643"/>
          </a:xfrm>
        </p:grpSpPr>
        <p:sp>
          <p:nvSpPr>
            <p:cNvPr id="36" name="TextBox 36"/>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40" name="footer"/>
          <p:cNvGrpSpPr/>
          <p:nvPr/>
        </p:nvGrpSpPr>
        <p:grpSpPr>
          <a:xfrm>
            <a:off x="528638" y="6610350"/>
            <a:ext cx="11134724" cy="176212"/>
            <a:chOff x="528638" y="6610350"/>
            <a:chExt cx="11134724" cy="176212"/>
          </a:xfrm>
        </p:grpSpPr>
        <p:sp>
          <p:nvSpPr>
            <p:cNvPr id="38" name="TextBox 3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39" name="TextBox 3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15 / 18</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986345" cy="586740"/>
            <a:chOff x="518160" y="774700"/>
            <a:chExt cx="10986345" cy="586740"/>
          </a:xfrm>
        </p:grpSpPr>
        <p:sp>
          <p:nvSpPr>
            <p:cNvPr id="17" name="TextBox 17"/>
            <p:cNvSpPr txBox="1"/>
            <p:nvPr/>
          </p:nvSpPr>
          <p:spPr>
            <a:xfrm>
              <a:off x="518160" y="774700"/>
              <a:ext cx="1098634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쓰며, 기아는 공공 PV5 시장을 엽니다</a:t>
              </a:r>
            </a:p>
          </p:txBody>
        </p:sp>
      </p:grpSp>
      <p:grpSp>
        <p:nvGrpSpPr>
          <p:cNvPr id="22" name="who0"/>
          <p:cNvGrpSpPr/>
          <p:nvPr/>
        </p:nvGrpSpPr>
        <p:grpSpPr>
          <a:xfrm>
            <a:off x="524637" y="1600200"/>
            <a:ext cx="3513963" cy="769176"/>
            <a:chOff x="524637" y="1600200"/>
            <a:chExt cx="3513963" cy="769176"/>
          </a:xfrm>
        </p:grpSpPr>
        <p:sp>
          <p:nvSpPr>
            <p:cNvPr id="19" name="Rectangle 19"/>
            <p:cNvSpPr/>
            <p:nvPr/>
          </p:nvSpPr>
          <p:spPr>
            <a:xfrm>
              <a:off x="533400" y="1600200"/>
              <a:ext cx="3505200" cy="28575"/>
            </a:xfrm>
            <a:prstGeom prst="rect">
              <a:avLst/>
            </a:prstGeom>
            <a:solidFill>
              <a:srgbClr val="0B1E3C"/>
            </a:solidFill>
            <a:ln>
              <a:noFill/>
            </a:ln>
          </p:spPr>
        </p:sp>
        <p:sp>
          <p:nvSpPr>
            <p:cNvPr id="20" name="TextBox 20"/>
            <p:cNvSpPr txBox="1"/>
            <p:nvPr/>
          </p:nvSpPr>
          <p:spPr>
            <a:xfrm>
              <a:off x="52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320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grpSp>
      <p:grpSp>
        <p:nvGrpSpPr>
          <p:cNvPr id="26" name="who1"/>
          <p:cNvGrpSpPr/>
          <p:nvPr/>
        </p:nvGrpSpPr>
        <p:grpSpPr>
          <a:xfrm>
            <a:off x="4334637" y="1600200"/>
            <a:ext cx="3513963" cy="769176"/>
            <a:chOff x="4334637" y="1600200"/>
            <a:chExt cx="3513963" cy="769176"/>
          </a:xfrm>
        </p:grpSpPr>
        <p:sp>
          <p:nvSpPr>
            <p:cNvPr id="23" name="Rectangle 23"/>
            <p:cNvSpPr/>
            <p:nvPr/>
          </p:nvSpPr>
          <p:spPr>
            <a:xfrm>
              <a:off x="4343400" y="1600200"/>
              <a:ext cx="3505200" cy="28575"/>
            </a:xfrm>
            <a:prstGeom prst="rect">
              <a:avLst/>
            </a:prstGeom>
            <a:solidFill>
              <a:srgbClr val="0B1E3C"/>
            </a:solidFill>
            <a:ln>
              <a:noFill/>
            </a:ln>
          </p:spPr>
        </p:sp>
        <p:sp>
          <p:nvSpPr>
            <p:cNvPr id="24" name="TextBox 24"/>
            <p:cNvSpPr txBox="1"/>
            <p:nvPr/>
          </p:nvSpPr>
          <p:spPr>
            <a:xfrm>
              <a:off x="4337685" y="176530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5" name="TextBox 25"/>
            <p:cNvSpPr txBox="1"/>
            <p:nvPr/>
          </p:nvSpPr>
          <p:spPr>
            <a:xfrm>
              <a:off x="4334637" y="2032000"/>
              <a:ext cx="2392034"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 (2인 1조)</a:t>
              </a:r>
            </a:p>
          </p:txBody>
        </p:sp>
      </p:grpSp>
      <p:grpSp>
        <p:nvGrpSpPr>
          <p:cNvPr id="30" name="who2"/>
          <p:cNvGrpSpPr/>
          <p:nvPr/>
        </p:nvGrpSpPr>
        <p:grpSpPr>
          <a:xfrm>
            <a:off x="8144637" y="1600200"/>
            <a:ext cx="3513963" cy="769176"/>
            <a:chOff x="8144637" y="1600200"/>
            <a:chExt cx="3513963" cy="769176"/>
          </a:xfrm>
        </p:grpSpPr>
        <p:sp>
          <p:nvSpPr>
            <p:cNvPr id="27" name="Rectangle 27"/>
            <p:cNvSpPr/>
            <p:nvPr/>
          </p:nvSpPr>
          <p:spPr>
            <a:xfrm>
              <a:off x="8153400" y="1600200"/>
              <a:ext cx="3505200" cy="28575"/>
            </a:xfrm>
            <a:prstGeom prst="rect">
              <a:avLst/>
            </a:prstGeom>
            <a:solidFill>
              <a:srgbClr val="0B1E3C"/>
            </a:solidFill>
            <a:ln>
              <a:noFill/>
            </a:ln>
          </p:spPr>
        </p:sp>
        <p:sp>
          <p:nvSpPr>
            <p:cNvPr id="28" name="TextBox 28"/>
            <p:cNvSpPr txBox="1"/>
            <p:nvPr/>
          </p:nvSpPr>
          <p:spPr>
            <a:xfrm>
              <a:off x="814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29" name="TextBox 29"/>
            <p:cNvSpPr txBox="1"/>
            <p:nvPr/>
          </p:nvSpPr>
          <p:spPr>
            <a:xfrm>
              <a:off x="8144637" y="20320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grpSp>
      <p:grpSp>
        <p:nvGrpSpPr>
          <p:cNvPr id="47" name="kia"/>
          <p:cNvGrpSpPr/>
          <p:nvPr/>
        </p:nvGrpSpPr>
        <p:grpSpPr>
          <a:xfrm>
            <a:off x="533400" y="3143250"/>
            <a:ext cx="11125200" cy="2247900"/>
            <a:chOff x="533400" y="3143250"/>
            <a:chExt cx="11125200" cy="2247900"/>
          </a:xfrm>
        </p:grpSpPr>
        <p:sp>
          <p:nvSpPr>
            <p:cNvPr id="31" name="Rectangle 31"/>
            <p:cNvSpPr/>
            <p:nvPr/>
          </p:nvSpPr>
          <p:spPr>
            <a:xfrm>
              <a:off x="533400" y="3143250"/>
              <a:ext cx="11125200" cy="2247900"/>
            </a:xfrm>
            <a:prstGeom prst="rect">
              <a:avLst/>
            </a:prstGeom>
            <a:solidFill>
              <a:srgbClr val="0B1E3C"/>
            </a:solidFill>
            <a:ln>
              <a:noFill/>
            </a:ln>
          </p:spPr>
        </p:sp>
        <p:sp>
          <p:nvSpPr>
            <p:cNvPr id="32" name="TextBox 32"/>
            <p:cNvSpPr txBox="1"/>
            <p:nvPr/>
          </p:nvSpPr>
          <p:spPr>
            <a:xfrm>
              <a:off x="832104" y="3371850"/>
              <a:ext cx="1083229"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기아가 얻는 것</a:t>
              </a:r>
            </a:p>
          </p:txBody>
        </p:sp>
        <p:sp>
          <p:nvSpPr>
            <p:cNvPr id="33" name="TextBox 33"/>
            <p:cNvSpPr txBox="1"/>
            <p:nvPr/>
          </p:nvSpPr>
          <p:spPr>
            <a:xfrm>
              <a:off x="832485" y="3803650"/>
              <a:ext cx="623631"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PV5 판매</a:t>
              </a:r>
            </a:p>
          </p:txBody>
        </p:sp>
        <p:sp>
          <p:nvSpPr>
            <p:cNvPr id="34" name="TextBox 34"/>
            <p:cNvSpPr txBox="1"/>
            <p:nvPr/>
          </p:nvSpPr>
          <p:spPr>
            <a:xfrm>
              <a:off x="825246" y="4083050"/>
              <a:ext cx="2011789"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최대 약 88대</a:t>
              </a:r>
            </a:p>
          </p:txBody>
        </p:sp>
        <p:sp>
          <p:nvSpPr>
            <p:cNvPr id="35" name="TextBox 35"/>
            <p:cNvSpPr txBox="1"/>
            <p:nvPr/>
          </p:nvSpPr>
          <p:spPr>
            <a:xfrm>
              <a:off x="832104" y="4610100"/>
              <a:ext cx="2604973"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지자체 도로를 2개월마다 볼 때 최대</a:t>
              </a:r>
            </a:p>
          </p:txBody>
        </p:sp>
        <p:sp>
          <p:nvSpPr>
            <p:cNvPr id="36" name="TextBox 36"/>
            <p:cNvSpPr txBox="1"/>
            <p:nvPr/>
          </p:nvSpPr>
          <p:spPr>
            <a:xfrm>
              <a:off x="832104" y="4857750"/>
              <a:ext cx="2693822"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차량 매출 약 40억 원 · 서울만 약 8대</a:t>
              </a:r>
            </a:p>
          </p:txBody>
        </p:sp>
        <p:sp>
          <p:nvSpPr>
            <p:cNvPr id="37" name="Line 37"/>
            <p:cNvSpPr/>
            <p:nvPr/>
          </p:nvSpPr>
          <p:spPr>
            <a:xfrm>
              <a:off x="42291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38" name="TextBox 38"/>
            <p:cNvSpPr txBox="1"/>
            <p:nvPr/>
          </p:nvSpPr>
          <p:spPr>
            <a:xfrm>
              <a:off x="44138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생태계 레퍼런스</a:t>
              </a:r>
            </a:p>
          </p:txBody>
        </p:sp>
        <p:sp>
          <p:nvSpPr>
            <p:cNvPr id="39" name="TextBox 39"/>
            <p:cNvSpPr txBox="1"/>
            <p:nvPr/>
          </p:nvSpPr>
          <p:spPr>
            <a:xfrm>
              <a:off x="4406646" y="4083050"/>
              <a:ext cx="3294801"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같은 키트, 모든 도시</a:t>
              </a:r>
            </a:p>
          </p:txBody>
        </p:sp>
        <p:sp>
          <p:nvSpPr>
            <p:cNvPr id="40" name="TextBox 40"/>
            <p:cNvSpPr txBox="1"/>
            <p:nvPr/>
          </p:nvSpPr>
          <p:spPr>
            <a:xfrm>
              <a:off x="4413504" y="4610100"/>
              <a:ext cx="2306117"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컨버전 포털 표준 장착으로 복제</a:t>
              </a:r>
            </a:p>
          </p:txBody>
        </p:sp>
        <p:sp>
          <p:nvSpPr>
            <p:cNvPr id="41" name="TextBox 41"/>
            <p:cNvSpPr txBox="1"/>
            <p:nvPr/>
          </p:nvSpPr>
          <p:spPr>
            <a:xfrm>
              <a:off x="4413504" y="4857750"/>
              <a:ext cx="199327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Pleos Fleet 공공 관제 사례</a:t>
              </a:r>
            </a:p>
          </p:txBody>
        </p:sp>
        <p:sp>
          <p:nvSpPr>
            <p:cNvPr id="42" name="Line 42"/>
            <p:cNvSpPr/>
            <p:nvPr/>
          </p:nvSpPr>
          <p:spPr>
            <a:xfrm>
              <a:off x="78105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43" name="TextBox 43"/>
            <p:cNvSpPr txBox="1"/>
            <p:nvPr/>
          </p:nvSpPr>
          <p:spPr>
            <a:xfrm>
              <a:off x="79952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공공안전 라인업</a:t>
              </a:r>
            </a:p>
          </p:txBody>
        </p:sp>
        <p:sp>
          <p:nvSpPr>
            <p:cNvPr id="44" name="TextBox 44"/>
            <p:cNvSpPr txBox="1"/>
            <p:nvPr/>
          </p:nvSpPr>
          <p:spPr>
            <a:xfrm>
              <a:off x="7988046" y="4083050"/>
              <a:ext cx="1813544"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지상 + 지하</a:t>
              </a:r>
            </a:p>
          </p:txBody>
        </p:sp>
        <p:sp>
          <p:nvSpPr>
            <p:cNvPr id="45" name="TextBox 45"/>
            <p:cNvSpPr txBox="1"/>
            <p:nvPr/>
          </p:nvSpPr>
          <p:spPr>
            <a:xfrm>
              <a:off x="7994904" y="4610100"/>
              <a:ext cx="264414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2026.6 경찰청 PV5 AI 순찰차(지상)</a:t>
              </a:r>
            </a:p>
          </p:txBody>
        </p:sp>
        <p:sp>
          <p:nvSpPr>
            <p:cNvPr id="46" name="TextBox 46"/>
            <p:cNvSpPr txBox="1"/>
            <p:nvPr/>
          </p:nvSpPr>
          <p:spPr>
            <a:xfrm>
              <a:off x="7994904" y="4857750"/>
              <a:ext cx="2469975"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GroundWatch가 도로 아래를 맡음</a:t>
              </a:r>
            </a:p>
          </p:txBody>
        </p:sp>
      </p:grpSp>
      <p:grpSp>
        <p:nvGrpSpPr>
          <p:cNvPr id="50" name="conclusion"/>
          <p:cNvGrpSpPr/>
          <p:nvPr/>
        </p:nvGrpSpPr>
        <p:grpSpPr>
          <a:xfrm>
            <a:off x="533400" y="5676900"/>
            <a:ext cx="7081460" cy="419100"/>
            <a:chOff x="533400" y="5676900"/>
            <a:chExt cx="7081460" cy="419100"/>
          </a:xfrm>
        </p:grpSpPr>
        <p:sp>
          <p:nvSpPr>
            <p:cNvPr id="48" name="Rectangle 48"/>
            <p:cNvSpPr/>
            <p:nvPr/>
          </p:nvSpPr>
          <p:spPr>
            <a:xfrm>
              <a:off x="533400" y="5676900"/>
              <a:ext cx="38100" cy="419100"/>
            </a:xfrm>
            <a:prstGeom prst="rect">
              <a:avLst/>
            </a:prstGeom>
            <a:solidFill>
              <a:srgbClr val="F5B700"/>
            </a:solidFill>
            <a:ln>
              <a:noFill/>
            </a:ln>
          </p:spPr>
        </p:sp>
        <p:sp>
          <p:nvSpPr>
            <p:cNvPr id="49" name="TextBox 49"/>
            <p:cNvSpPr txBox="1"/>
            <p:nvPr/>
          </p:nvSpPr>
          <p:spPr>
            <a:xfrm>
              <a:off x="715899" y="5772150"/>
              <a:ext cx="68989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지하 데이터는 판매하지 않습니다. 계약기관 안에서 권한대로만 씁니다.</a:t>
              </a:r>
            </a:p>
          </p:txBody>
        </p:sp>
      </p:grpSp>
      <p:grpSp>
        <p:nvGrpSpPr>
          <p:cNvPr id="52" name="source"/>
          <p:cNvGrpSpPr/>
          <p:nvPr/>
        </p:nvGrpSpPr>
        <p:grpSpPr>
          <a:xfrm>
            <a:off x="528447" y="6381750"/>
            <a:ext cx="10906130" cy="191643"/>
            <a:chOff x="528447" y="6381750"/>
            <a:chExt cx="10906130" cy="191643"/>
          </a:xfrm>
        </p:grpSpPr>
        <p:sp>
          <p:nvSpPr>
            <p:cNvPr id="51" name="TextBox 51"/>
            <p:cNvSpPr txBox="1"/>
            <p:nvPr/>
          </p:nvSpPr>
          <p:spPr>
            <a:xfrm>
              <a:off x="528447" y="6381750"/>
              <a:ext cx="109061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88대 = 지자체 관리 도로 96,712km ÷ 1대 1,100km(연 6,600km를 6회) [가설] · 40억 원 = 88대 × 4,520만 원 · 국가지표체계(2025) · 머니투데이(2026.6.26, 경찰청 PV5 AI 순찰차)</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16 / 18</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1,080km 지반탐사 지원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20187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6년</a:t>
              </a:r>
            </a:p>
          </p:txBody>
        </p:sp>
        <p:sp>
          <p:nvSpPr>
            <p:cNvPr id="29" name="TextBox 29"/>
            <p:cNvSpPr txBox="1"/>
            <p:nvPr/>
          </p:nvSpPr>
          <p:spPr>
            <a:xfrm>
              <a:off x="8071104" y="1962150"/>
              <a:ext cx="18909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조달청 혁신제품 수의계약</a:t>
              </a:r>
            </a:p>
          </p:txBody>
        </p:sp>
        <p:sp>
          <p:nvSpPr>
            <p:cNvPr id="30" name="TextBox 30"/>
            <p:cNvSpPr txBox="1"/>
            <p:nvPr/>
          </p:nvSpPr>
          <p:spPr>
            <a:xfrm>
              <a:off x="8071485" y="2184400"/>
              <a:ext cx="214488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지정 후 3년, 연장하면 최대 6년</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58" name="next"/>
          <p:cNvGrpSpPr/>
          <p:nvPr/>
        </p:nvGrpSpPr>
        <p:grpSpPr>
          <a:xfrm>
            <a:off x="7002018" y="2660650"/>
            <a:ext cx="4656582" cy="2011807"/>
            <a:chOff x="7002018" y="2660650"/>
            <a:chExt cx="4656582" cy="2011807"/>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2018" y="3130550"/>
              <a:ext cx="623715"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1~2년</a:t>
              </a:r>
            </a:p>
          </p:txBody>
        </p:sp>
        <p:sp>
          <p:nvSpPr>
            <p:cNvPr id="53" name="TextBox 53"/>
            <p:cNvSpPr txBox="1"/>
            <p:nvPr/>
          </p:nvSpPr>
          <p:spPr>
            <a:xfrm>
              <a:off x="7955661" y="3155950"/>
              <a:ext cx="2834094"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조사기관과 시·군 용역 공동 수주</a:t>
              </a:r>
            </a:p>
          </p:txBody>
        </p:sp>
        <p:sp>
          <p:nvSpPr>
            <p:cNvPr id="54" name="TextBox 54"/>
            <p:cNvSpPr txBox="1"/>
            <p:nvPr/>
          </p:nvSpPr>
          <p:spPr>
            <a:xfrm>
              <a:off x="7002018" y="3740150"/>
              <a:ext cx="623715"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2~3년</a:t>
              </a:r>
            </a:p>
          </p:txBody>
        </p:sp>
        <p:sp>
          <p:nvSpPr>
            <p:cNvPr id="55" name="TextBox 55"/>
            <p:cNvSpPr txBox="1"/>
            <p:nvPr/>
          </p:nvSpPr>
          <p:spPr>
            <a:xfrm>
              <a:off x="7955661" y="3765550"/>
              <a:ext cx="2700282"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혁신제품 지정 → 연간 관제 계약</a:t>
              </a:r>
            </a:p>
          </p:txBody>
        </p:sp>
        <p:sp>
          <p:nvSpPr>
            <p:cNvPr id="56" name="TextBox 56"/>
            <p:cNvSpPr txBox="1"/>
            <p:nvPr/>
          </p:nvSpPr>
          <p:spPr>
            <a:xfrm>
              <a:off x="7002018" y="4349750"/>
              <a:ext cx="495439"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3년~</a:t>
              </a:r>
            </a:p>
          </p:txBody>
        </p:sp>
        <p:sp>
          <p:nvSpPr>
            <p:cNvPr id="57" name="TextBox 57"/>
            <p:cNvSpPr txBox="1"/>
            <p:nvPr/>
          </p:nvSpPr>
          <p:spPr>
            <a:xfrm>
              <a:off x="7955661" y="4375150"/>
              <a:ext cx="2848882"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권역별 PV5 플릿 · 상하수도 기관</a:t>
              </a:r>
            </a:p>
          </p:txBody>
        </p:sp>
      </p:grpSp>
      <p:grpSp>
        <p:nvGrpSpPr>
          <p:cNvPr id="61" name="conclusion"/>
          <p:cNvGrpSpPr/>
          <p:nvPr/>
        </p:nvGrpSpPr>
        <p:grpSpPr>
          <a:xfrm>
            <a:off x="533400" y="5676900"/>
            <a:ext cx="8479960" cy="419100"/>
            <a:chOff x="533400" y="5676900"/>
            <a:chExt cx="8479960" cy="419100"/>
          </a:xfrm>
        </p:grpSpPr>
        <p:sp>
          <p:nvSpPr>
            <p:cNvPr id="59" name="Rectangle 59"/>
            <p:cNvSpPr/>
            <p:nvPr/>
          </p:nvSpPr>
          <p:spPr>
            <a:xfrm>
              <a:off x="533400" y="5676900"/>
              <a:ext cx="38100" cy="419100"/>
            </a:xfrm>
            <a:prstGeom prst="rect">
              <a:avLst/>
            </a:prstGeom>
            <a:solidFill>
              <a:srgbClr val="F5B700"/>
            </a:solidFill>
            <a:ln>
              <a:noFill/>
            </a:ln>
          </p:spPr>
        </p:sp>
        <p:sp>
          <p:nvSpPr>
            <p:cNvPr id="60" name="TextBox 60"/>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3" name="source"/>
          <p:cNvGrpSpPr/>
          <p:nvPr/>
        </p:nvGrpSpPr>
        <p:grpSpPr>
          <a:xfrm>
            <a:off x="528447" y="6381750"/>
            <a:ext cx="10506489" cy="191643"/>
            <a:chOff x="528447" y="6381750"/>
            <a:chExt cx="10506489" cy="191643"/>
          </a:xfrm>
        </p:grpSpPr>
        <p:sp>
          <p:nvSpPr>
            <p:cNvPr id="62" name="TextBox 62"/>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17 / 18</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2" name="story-text"/>
          <p:cNvGrpSpPr/>
          <p:nvPr/>
        </p:nvGrpSpPr>
        <p:grpSpPr>
          <a:xfrm>
            <a:off x="590550" y="2578100"/>
            <a:ext cx="6193040" cy="2357120"/>
            <a:chOff x="590550" y="2578100"/>
            <a:chExt cx="6193040" cy="2357120"/>
          </a:xfrm>
        </p:grpSpPr>
        <p:sp>
          <p:nvSpPr>
            <p:cNvPr id="8" name="TextBox 8"/>
            <p:cNvSpPr txBox="1"/>
            <p:nvPr/>
          </p:nvSpPr>
          <p:spPr>
            <a:xfrm>
              <a:off x="598170" y="2578100"/>
              <a:ext cx="2188559" cy="440055"/>
            </a:xfrm>
            <a:prstGeom prst="rect">
              <a:avLst/>
            </a:prstGeom>
            <a:noFill/>
            <a:ln>
              <a:noFill/>
            </a:ln>
          </p:spPr>
          <p:txBody>
            <a:bodyPr wrap="none" lIns="0" tIns="0" rIns="0" bIns="0" anchor="t" anchorCtr="0">
              <a:spAutoFit/>
            </a:bodyPr>
            <a:lstStyle/>
            <a:p>
              <a:pPr algn="l"/>
              <a:r>
                <a:rPr lang="ko-KR" sz="2250" dirty="0">
                  <a:solidFill>
                    <a:srgbClr val="D6DDE8"/>
                  </a:solidFill>
                  <a:latin typeface="+mn-lt"/>
                  <a:ea typeface="+mn-ea"/>
                  <a:cs typeface="+mn-cs"/>
                </a:rPr>
                <a:t>가족과 떠난 길,</a:t>
              </a:r>
            </a:p>
          </p:txBody>
        </p:sp>
        <p:sp>
          <p:nvSpPr>
            <p:cNvPr id="9" name="TextBox 9"/>
            <p:cNvSpPr txBox="1"/>
            <p:nvPr/>
          </p:nvSpPr>
          <p:spPr>
            <a:xfrm>
              <a:off x="590550" y="3048000"/>
              <a:ext cx="6193040" cy="790575"/>
            </a:xfrm>
            <a:prstGeom prst="rect">
              <a:avLst/>
            </a:prstGeom>
            <a:noFill/>
            <a:ln>
              <a:noFill/>
            </a:ln>
          </p:spPr>
          <p:txBody>
            <a:bodyPr wrap="none" lIns="0" tIns="0" rIns="0" bIns="0" anchor="t" anchorCtr="0">
              <a:spAutoFit/>
            </a:bodyPr>
            <a:lstStyle/>
            <a:p>
              <a:pPr algn="l"/>
              <a:r>
                <a:rPr lang="ko-KR" sz="4050" b="1" spc="-75" dirty="0">
                  <a:solidFill>
                    <a:srgbClr val="FFFFFF"/>
                  </a:solidFill>
                  <a:latin typeface="+mn-lt"/>
                  <a:ea typeface="+mn-ea"/>
                  <a:cs typeface="+mn-cs"/>
                </a:rPr>
                <a:t>무사히 돌아올 수 있도록.</a:t>
              </a:r>
            </a:p>
          </p:txBody>
        </p:sp>
        <p:sp>
          <p:nvSpPr>
            <p:cNvPr id="10" name="TextBox 10"/>
            <p:cNvSpPr txBox="1"/>
            <p:nvPr/>
          </p:nvSpPr>
          <p:spPr>
            <a:xfrm>
              <a:off x="601218" y="4273550"/>
              <a:ext cx="1962552"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n-lt"/>
                  <a:ea typeface="+mn-ea"/>
                  <a:cs typeface="+mn-cs"/>
                </a:rPr>
                <a:t>PV5 GroundWatch</a:t>
              </a:r>
            </a:p>
          </p:txBody>
        </p:sp>
        <p:sp>
          <p:nvSpPr>
            <p:cNvPr id="11" name="TextBox 11"/>
            <p:cNvSpPr txBox="1"/>
            <p:nvPr/>
          </p:nvSpPr>
          <p:spPr>
            <a:xfrm>
              <a:off x="601980" y="4641850"/>
              <a:ext cx="5225034"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같은 길을 다시 보는 일이, 한 사람의 무사 귀가가 되도록.</a:t>
              </a:r>
            </a:p>
          </p:txBody>
        </p:sp>
      </p:grpSp>
      <p:grpSp>
        <p:nvGrpSpPr>
          <p:cNvPr id="15" name="footer"/>
          <p:cNvGrpSpPr/>
          <p:nvPr/>
        </p:nvGrpSpPr>
        <p:grpSpPr>
          <a:xfrm>
            <a:off x="604266" y="6502400"/>
            <a:ext cx="11059287" cy="205359"/>
            <a:chOff x="604266" y="6502400"/>
            <a:chExt cx="11059287" cy="205359"/>
          </a:xfrm>
        </p:grpSpPr>
        <p:sp>
          <p:nvSpPr>
            <p:cNvPr id="13" name="TextBox 13"/>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4" name="TextBox 14"/>
            <p:cNvSpPr txBox="1"/>
            <p:nvPr/>
          </p:nvSpPr>
          <p:spPr>
            <a:xfrm>
              <a:off x="10360757" y="6515100"/>
              <a:ext cx="130279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연출 이미지 · 18 / 18</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7">
  <a:themeElements>
    <a:clrScheme name="deck_v7">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7">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7">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7">
  <a:themeElements>
    <a:clrScheme name="deck_v7">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7">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7">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18</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
  <dc:creator>한 명이라도 살릴 수 있다면</dc:creator>
  <cp:keywords/>
  <dc:description/>
  <dc:language>ko-KR</dc:language>
  <cp:lastModifiedBy>한 명이라도 살릴 수 있다면</cp:lastModifiedBy>
  <cp:revision>1</cp:revision>
  <dcterms:created xsi:type="dcterms:W3CDTF">2026-10-24T08:26:46Z</dcterms:created>
  <dcterms:modified xsi:type="dcterms:W3CDTF">2026-10-24T08:26:46Z</dcterms:modified>
  <cp:category/>
  <cp:contentStatus/>
</cp:coreProperties>
</file>