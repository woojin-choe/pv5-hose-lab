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  <Relationship Id="rId2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여행을 가는 평범한 길에서, 지금 도로가 꺼진다면이라는 질문으로 시작합니다. 제5회 기아 PBV 아이디어 공모전 일반 부문에 PV5 GroundWatch, PV5 지하안전 순찰차를 제안합니다. 배경은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다음 날(8월 30일)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지형(경사지·매립층), 기상(집중호우), 지하매설물, 주변 공사장이 겹친 복합 요인(2024.9.4)으로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그사이 복구된 9곳을 뺀 21곳 모두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2025년부터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이듬해 3월까지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그렇다면 더 자주 검사하면 되지 않을까요. 지금의 1회 공정은 서울시 2024년 지반침하 특별점검 공동조사용역 기준으로 사업비 17억 8,090만 원을 조사연장 1,930.6km로 나눈 km당 약 92만 원입니다. 이 금액에는 1차 차량형 탐사, 2차 핸디형 확인, 천공 499곳, 공동 채움재 주입 285곳(복구 완료 247곳)이 함께 들어 있습니다(서울시 최종보고서 2024.10). 이 공정을 그대로 여러 번 돌리면 예산과 인력이 그만큼 늘어나므로, 횟수만 늘리는 것은 답이 아닙니다. 사진은 서울 야간 도로(Immanuelle, CC BY 4.0)입니다.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질문을 바꿉니다. 매번 전체 공정을 반복하지 않고, 달라진 곳부터 찾아볼 수 있다면 어떨까요. 같은 길을 반복해서 재고, 지난 기록과 달라진 곳만 골라, 전문가가 검토한 지점만 현장에서 다시 확인하는 방식입니다. 천공과 복구 같은 비싼 2차 조사는 변화가 나온 곳에만 붙습니다. 사진은 서울 종로 야경(서울연구원, CC BY 4.0)입니다.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같은 길을 다시 달립니다. 제5회 기아 PBV 아이디어 공모전 일반 부문에 PV5 GroundWatch, PV5 지하안전 순찰차를 제안합니다. 지표투과레이더(GPR)로 같은 길을 반복해서 보고, 구멍이 되기 전의 변화를 찾습니다. 이 장은 새벽 한강변 도로를 순찰하는 PV5와 도로 아래 GPR 탐사를 표현한 PV5 기반 콘셉트 이미지입니다.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때문입니다(13장).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시뮬레이션(10장), 전국 지자체가 쓸 탐사형 PV5 최대 약 88대(16장)입니다.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2025년부터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노면 표식으로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4,420L(VDA 기준, 기아 호주·유럽 제원)이고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해외(핀란드 등 유럽) 기아 공개 제원이며 국내 공식 kW 수치는 확인 중입니다. L-Track은 기아 순정 신차옵션, 몰리 패널은 기아 샵 전용 용품으로(카탈로그 2026.9),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두 가지 장착안을 검토합니다. 배치도처럼 차체 후방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정확한 위치는 컨버전 포털 3D 데이터와 간섭 시험으로 확정합니다.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됩니다(10장). 오차는 두 가지입니다. 회차마다 주행선이 달라지는 오차는 RTK·IMU 정합으로 맞추고(14장),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의무구매 대상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원(아시아경제 2025.7.16)보다 낮지만(각 사 공시 판매가 기준), 차값 차이(최대 1,354만 원)는 GPR 탐사장비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그사이 복구된 9곳을 뺀 21곳 모두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공동조사서·로드뷰·노면 표식을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채움재 주입 285곳(복구 완료 247곳)이 모두 포함된 금액입니다(서울시 최종보고서 2024.10, 계약 2024.4.29~10.15). GroundWatch 차량 1대의 연간 원가는 가설로 3.09억 원입니다. PV5 4,520만 원과 차량형 GPR 약 5억 원(서울시가 15억 원으로 차량형 GPR을 4대에서 7대로 늘린 것을 1대로 나눈 값, 이투데이 2025.4.23)을 5년 감가하고, 현장 2인 1.2억 원, 판독 전문가 0.5인 0.4억 원, 수동 GPR·AR·클라우드·보험·유지 0.4억 원을 더했습니다. 하루 30km, 220일이면 연 6,600km이므로 반복 탐사 원가는 km당 약 4.7만 원입니다. 보고서의 장비별 적정 탐사 속도는 시속 15~30km라 처리량은 보수적으로 잡았습니다. 같은 길 1km(차량이 한 번 주행하며 탐사한 연장 기준, 실제 도로연장은 285.6km)를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2.0(서울 소재 중소기업 대상, 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수의계약 길(지정 후 3년, 연장 시 최대 6년)을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떠난 길, 무사히 돌아올 수 있도록. 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같은 길을 다시 보는 일이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 배경은 첫 장과 같은 연출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7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7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f784f2687eacaf9.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17dc9318c2afe5c.jp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f5555f054c48c63.png"/>
  <Relationship Id="rId3" Type="http://schemas.openxmlformats.org/officeDocument/2006/relationships/image" Target="../media/image_8f5555f054c48c63.png"/>
  <Relationship Id="rId4" Type="http://schemas.openxmlformats.org/officeDocument/2006/relationships/image" Target="../media/image_8f5555f054c48c63.png"/>
  <Relationship Id="rId5"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5799900" cy="2342007"/>
            <a:chOff x="590550" y="2578100"/>
            <a:chExt cx="5799900" cy="2342007"/>
          </a:xfrm>
        </p:grpSpPr>
        <p:sp>
          <p:nvSpPr>
            <p:cNvPr id="8" name="TextBox 8"/>
            <p:cNvSpPr txBox="1"/>
            <p:nvPr/>
          </p:nvSpPr>
          <p:spPr>
            <a:xfrm>
              <a:off x="598170" y="2578100"/>
              <a:ext cx="3188113"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여행을 가는 길,</a:t>
              </a:r>
            </a:p>
          </p:txBody>
        </p:sp>
        <p:sp>
          <p:nvSpPr>
            <p:cNvPr id="9" name="TextBox 9"/>
            <p:cNvSpPr txBox="1"/>
            <p:nvPr/>
          </p:nvSpPr>
          <p:spPr>
            <a:xfrm>
              <a:off x="590550" y="3048000"/>
              <a:ext cx="579990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지금, 도로가 꺼진다면.</a:t>
              </a:r>
            </a:p>
          </p:txBody>
        </p:sp>
        <p:sp>
          <p:nvSpPr>
            <p:cNvPr id="10" name="TextBox 10"/>
            <p:cNvSpPr txBox="1"/>
            <p:nvPr/>
          </p:nvSpPr>
          <p:spPr>
            <a:xfrm>
              <a:off x="603123" y="43243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sp>
          <p:nvSpPr>
            <p:cNvPr id="11" name="TextBox 11"/>
            <p:cNvSpPr txBox="1"/>
            <p:nvPr/>
          </p:nvSpPr>
          <p:spPr>
            <a:xfrm>
              <a:off x="601218" y="4597400"/>
              <a:ext cx="433675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PV5 GroundWatch · PV5 지하안전 순찰차</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01 / 18</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51020" cy="6858000"/>
            <a:chOff x="6477000" y="0"/>
            <a:chExt cx="575102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15746"/>
            <a:chOff x="717804" y="3257550"/>
            <a:chExt cx="5346192" cy="10157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18</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8901083" cy="645414"/>
            <a:chOff x="516636" y="812800"/>
            <a:chExt cx="8901083" cy="645414"/>
          </a:xfrm>
        </p:grpSpPr>
        <p:sp>
          <p:nvSpPr>
            <p:cNvPr id="17" name="TextBox 17"/>
            <p:cNvSpPr txBox="1"/>
            <p:nvPr/>
          </p:nvSpPr>
          <p:spPr>
            <a:xfrm>
              <a:off x="516636" y="812800"/>
              <a:ext cx="8901083"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탐사는 이미 합니다. 한 번 보고 끝날 뿐입니다</a:t>
              </a:r>
            </a:p>
          </p:txBody>
        </p:sp>
      </p:grpSp>
      <p:grpSp>
        <p:nvGrpSpPr>
          <p:cNvPr id="21" name="photo"/>
          <p:cNvGrpSpPr/>
          <p:nvPr/>
        </p:nvGrpSpPr>
        <p:grpSpPr>
          <a:xfrm>
            <a:off x="528447" y="1524000"/>
            <a:ext cx="5719953" cy="4115943"/>
            <a:chOff x="528447" y="1524000"/>
            <a:chExt cx="5719953" cy="4115943"/>
          </a:xfrm>
        </p:grpSpPr>
        <p:pic>
          <p:nvPicPr>
            <p:cNvPr id="19" name="Image 19"/>
            <p:cNvPicPr>
              <a:picLocks noChangeAspect="1"/>
            </p:cNvPicPr>
            <p:nvPr/>
          </p:nvPicPr>
          <p:blipFill>
            <a:blip r:embed="rId2"/>
            <a:srcRect l="0" t="5556" r="0" b="5555"/>
            <a:stretch>
              <a:fillRect/>
            </a:stretch>
          </p:blipFill>
          <p:spPr>
            <a:xfrm>
              <a:off x="533400" y="1524000"/>
              <a:ext cx="5715000" cy="3810000"/>
            </a:xfrm>
            <a:prstGeom prst="rect">
              <a:avLst/>
            </a:prstGeom>
          </p:spPr>
        </p:pic>
        <p:sp>
          <p:nvSpPr>
            <p:cNvPr id="20" name="TextBox 20"/>
            <p:cNvSpPr txBox="1"/>
            <p:nvPr/>
          </p:nvSpPr>
          <p:spPr>
            <a:xfrm>
              <a:off x="528447" y="5448300"/>
              <a:ext cx="5202173"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수동형 GPR 탐사 장비 · 사진: The Charles Machine Works, CC BY-SA 2.0(배경 편집)</a:t>
              </a:r>
            </a:p>
          </p:txBody>
        </p:sp>
      </p:grpSp>
      <p:grpSp>
        <p:nvGrpSpPr>
          <p:cNvPr id="30" name="stats"/>
          <p:cNvGrpSpPr/>
          <p:nvPr/>
        </p:nvGrpSpPr>
        <p:grpSpPr>
          <a:xfrm>
            <a:off x="6762750" y="1663700"/>
            <a:ext cx="4895850" cy="3751707"/>
            <a:chOff x="6762750" y="1663700"/>
            <a:chExt cx="4895850" cy="3751707"/>
          </a:xfrm>
        </p:grpSpPr>
        <p:sp>
          <p:nvSpPr>
            <p:cNvPr id="22" name="TextBox 22"/>
            <p:cNvSpPr txBox="1"/>
            <p:nvPr/>
          </p:nvSpPr>
          <p:spPr>
            <a:xfrm>
              <a:off x="6762750" y="1663700"/>
              <a:ext cx="3017779" cy="933450"/>
            </a:xfrm>
            <a:prstGeom prst="rect">
              <a:avLst/>
            </a:prstGeom>
            <a:noFill/>
            <a:ln>
              <a:noFill/>
            </a:ln>
          </p:spPr>
          <p:txBody>
            <a:bodyPr wrap="none" lIns="0" tIns="0" rIns="0" bIns="0" anchor="t" anchorCtr="0">
              <a:spAutoFit/>
            </a:bodyPr>
            <a:lstStyle/>
            <a:p>
              <a:pPr algn="l"/>
              <a:r>
                <a:rPr lang="en-US" sz="4800" b="1" spc="-150" dirty="0">
                  <a:solidFill>
                    <a:srgbClr val="0B1E3C"/>
                  </a:solidFill>
                  <a:latin typeface="+mn-lt"/>
                  <a:ea typeface="+mn-ea"/>
                  <a:cs typeface="+mn-cs"/>
                </a:rPr>
                <a:t>33,129km</a:t>
              </a:r>
            </a:p>
          </p:txBody>
        </p:sp>
        <p:sp>
          <p:nvSpPr>
            <p:cNvPr id="23" name="TextBox 23"/>
            <p:cNvSpPr txBox="1"/>
            <p:nvPr/>
          </p:nvSpPr>
          <p:spPr>
            <a:xfrm>
              <a:off x="6774561" y="2393950"/>
              <a:ext cx="1698836"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서울 누적 GPR 탐사</a:t>
              </a:r>
            </a:p>
          </p:txBody>
        </p:sp>
        <p:sp>
          <p:nvSpPr>
            <p:cNvPr id="24" name="TextBox 24"/>
            <p:cNvSpPr txBox="1"/>
            <p:nvPr/>
          </p:nvSpPr>
          <p:spPr>
            <a:xfrm>
              <a:off x="6775704" y="2667000"/>
              <a:ext cx="98953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2014~2025.9</a:t>
              </a:r>
            </a:p>
          </p:txBody>
        </p:sp>
        <p:sp>
          <p:nvSpPr>
            <p:cNvPr id="25" name="TextBox 25"/>
            <p:cNvSpPr txBox="1"/>
            <p:nvPr/>
          </p:nvSpPr>
          <p:spPr>
            <a:xfrm>
              <a:off x="6762750" y="3187700"/>
              <a:ext cx="2450287" cy="933450"/>
            </a:xfrm>
            <a:prstGeom prst="rect">
              <a:avLst/>
            </a:prstGeom>
            <a:noFill/>
            <a:ln>
              <a:noFill/>
            </a:ln>
          </p:spPr>
          <p:txBody>
            <a:bodyPr wrap="none" lIns="0" tIns="0" rIns="0" bIns="0" anchor="t" anchorCtr="0">
              <a:spAutoFit/>
            </a:bodyPr>
            <a:lstStyle/>
            <a:p>
              <a:pPr algn="l"/>
              <a:r>
                <a:rPr lang="ko-KR" sz="4800" b="1" spc="-150" dirty="0">
                  <a:solidFill>
                    <a:srgbClr val="0B1E3C"/>
                  </a:solidFill>
                  <a:latin typeface="+mn-lt"/>
                  <a:ea typeface="+mn-ea"/>
                  <a:cs typeface="+mn-cs"/>
                </a:rPr>
                <a:t>7,760개</a:t>
              </a:r>
            </a:p>
          </p:txBody>
        </p:sp>
        <p:sp>
          <p:nvSpPr>
            <p:cNvPr id="26" name="TextBox 26"/>
            <p:cNvSpPr txBox="1"/>
            <p:nvPr/>
          </p:nvSpPr>
          <p:spPr>
            <a:xfrm>
              <a:off x="6774561" y="3917950"/>
              <a:ext cx="1724408"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같은 기간 찾은 공동</a:t>
              </a:r>
            </a:p>
          </p:txBody>
        </p:sp>
        <p:sp>
          <p:nvSpPr>
            <p:cNvPr id="27" name="Line 27"/>
            <p:cNvSpPr/>
            <p:nvPr/>
          </p:nvSpPr>
          <p:spPr>
            <a:xfrm>
              <a:off x="6781800" y="4552950"/>
              <a:ext cx="4876800" cy="9525"/>
            </a:xfrm>
            <a:custGeom>
              <a:avLst/>
              <a:gdLst/>
              <a:ahLst/>
              <a:cxnLst/>
              <a:rect l="l" t="t" r="r" b="b"/>
              <a:pathLst>
                <a:path w="4876800" h="9525">
                  <a:moveTo>
                    <a:pt x="0" y="0"/>
                  </a:moveTo>
                  <a:lnTo>
                    <a:pt x="4876800" y="0"/>
                  </a:lnTo>
                </a:path>
              </a:pathLst>
            </a:custGeom>
            <a:noFill/>
            <a:ln w="9525">
              <a:solidFill>
                <a:srgbClr val="E2E6EC"/>
              </a:solidFill>
            </a:ln>
          </p:spPr>
        </p:sp>
        <p:sp>
          <p:nvSpPr>
            <p:cNvPr id="28" name="TextBox 28"/>
            <p:cNvSpPr txBox="1"/>
            <p:nvPr/>
          </p:nvSpPr>
          <p:spPr>
            <a:xfrm>
              <a:off x="6773418" y="4768850"/>
              <a:ext cx="1711562" cy="322707"/>
            </a:xfrm>
            <a:prstGeom prst="rect">
              <a:avLst/>
            </a:prstGeom>
            <a:noFill/>
            <a:ln>
              <a:noFill/>
            </a:ln>
          </p:spPr>
          <p:txBody>
            <a:bodyPr wrap="none" lIns="0" tIns="0" rIns="0" bIns="0" anchor="t" anchorCtr="0">
              <a:spAutoFit/>
            </a:bodyPr>
            <a:lstStyle/>
            <a:p>
              <a:pPr algn="l"/>
              <a:r>
                <a:rPr lang="ko-KR" sz="1650" b="1" dirty="0">
                  <a:solidFill>
                    <a:srgbClr val="111827"/>
                  </a:solidFill>
                  <a:latin typeface="+mn-lt"/>
                  <a:ea typeface="+mn-ea"/>
                  <a:cs typeface="+mn-cs"/>
                </a:rPr>
                <a:t>그런데 같은 길은</a:t>
              </a:r>
            </a:p>
          </p:txBody>
        </p:sp>
        <p:sp>
          <p:nvSpPr>
            <p:cNvPr id="29" name="TextBox 29"/>
            <p:cNvSpPr txBox="1"/>
            <p:nvPr/>
          </p:nvSpPr>
          <p:spPr>
            <a:xfrm>
              <a:off x="6773418" y="5092700"/>
              <a:ext cx="3090391" cy="322707"/>
            </a:xfrm>
            <a:prstGeom prst="rect">
              <a:avLst/>
            </a:prstGeom>
            <a:noFill/>
            <a:ln>
              <a:noFill/>
            </a:ln>
          </p:spPr>
          <p:txBody>
            <a:bodyPr wrap="none" lIns="0" tIns="0" rIns="0" bIns="0" anchor="t" anchorCtr="0">
              <a:spAutoFit/>
            </a:bodyPr>
            <a:lstStyle/>
            <a:p>
              <a:pPr algn="l"/>
              <a:r>
                <a:rPr lang="ko-KR" sz="1650" b="1" dirty="0">
                  <a:solidFill>
                    <a:srgbClr val="C62828"/>
                  </a:solidFill>
                  <a:latin typeface="+mn-lt"/>
                  <a:ea typeface="+mn-ea"/>
                  <a:cs typeface="+mn-cs"/>
                </a:rPr>
                <a:t>다음 정기점검 때</a:t>
              </a:r>
              <a:r>
                <a:rPr lang="ko-KR" sz="1650" b="1" dirty="0">
                  <a:solidFill>
                    <a:srgbClr val="111827"/>
                  </a:solidFill>
                  <a:latin typeface="+mn-lt"/>
                  <a:ea typeface="+mn-ea"/>
                  <a:cs typeface="+mn-cs"/>
                </a:rPr>
                <a:t xml:space="preserve"> 다시 봅니다.</a:t>
              </a:r>
            </a:p>
          </p:txBody>
        </p:sp>
      </p:grpSp>
      <p:grpSp>
        <p:nvGrpSpPr>
          <p:cNvPr id="32" name="source"/>
          <p:cNvGrpSpPr/>
          <p:nvPr/>
        </p:nvGrpSpPr>
        <p:grpSpPr>
          <a:xfrm>
            <a:off x="528447" y="6381750"/>
            <a:ext cx="8463478" cy="191643"/>
            <a:chOff x="528447" y="6381750"/>
            <a:chExt cx="8463478" cy="191643"/>
          </a:xfrm>
        </p:grpSpPr>
        <p:sp>
          <p:nvSpPr>
            <p:cNvPr id="31" name="TextBox 3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35" name="footer"/>
          <p:cNvGrpSpPr/>
          <p:nvPr/>
        </p:nvGrpSpPr>
        <p:grpSpPr>
          <a:xfrm>
            <a:off x="528638" y="6610350"/>
            <a:ext cx="11134724" cy="176212"/>
            <a:chOff x="528638" y="6610350"/>
            <a:chExt cx="11134724" cy="176212"/>
          </a:xfrm>
        </p:grpSpPr>
        <p:sp>
          <p:nvSpPr>
            <p:cNvPr id="33" name="TextBox 3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34" name="TextBox 3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18</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6492154" cy="645414"/>
            <a:chOff x="516636" y="812800"/>
            <a:chExt cx="6492154" cy="645414"/>
          </a:xfrm>
        </p:grpSpPr>
        <p:sp>
          <p:nvSpPr>
            <p:cNvPr id="17" name="TextBox 17"/>
            <p:cNvSpPr txBox="1"/>
            <p:nvPr/>
          </p:nvSpPr>
          <p:spPr>
            <a:xfrm>
              <a:off x="516636" y="812800"/>
              <a:ext cx="6492154"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문제는 탐사와 탐사 ‘사이’입니다</a:t>
              </a:r>
            </a:p>
          </p:txBody>
        </p:sp>
      </p:grpSp>
      <p:grpSp>
        <p:nvGrpSpPr>
          <p:cNvPr id="28" name="gap-chart"/>
          <p:cNvGrpSpPr/>
          <p:nvPr/>
        </p:nvGrpSpPr>
        <p:grpSpPr>
          <a:xfrm>
            <a:off x="526161" y="1765300"/>
            <a:ext cx="6396502" cy="3041142"/>
            <a:chOff x="526161" y="1765300"/>
            <a:chExt cx="6396502" cy="3041142"/>
          </a:xfrm>
        </p:grpSpPr>
        <p:sp>
          <p:nvSpPr>
            <p:cNvPr id="19" name="TextBox 19"/>
            <p:cNvSpPr txBox="1"/>
            <p:nvPr/>
          </p:nvSpPr>
          <p:spPr>
            <a:xfrm>
              <a:off x="526161" y="1765300"/>
              <a:ext cx="1658457"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법정 공동조사 주기</a:t>
              </a:r>
            </a:p>
          </p:txBody>
        </p:sp>
        <p:sp>
          <p:nvSpPr>
            <p:cNvPr id="20" name="Rectangle 20"/>
            <p:cNvSpPr/>
            <p:nvPr/>
          </p:nvSpPr>
          <p:spPr>
            <a:xfrm>
              <a:off x="533400" y="2076450"/>
              <a:ext cx="5715000" cy="419100"/>
            </a:xfrm>
            <a:prstGeom prst="rect">
              <a:avLst/>
            </a:prstGeom>
            <a:solidFill>
              <a:srgbClr val="9AA3AF"/>
            </a:solidFill>
            <a:ln>
              <a:noFill/>
            </a:ln>
          </p:spPr>
        </p:sp>
        <p:sp>
          <p:nvSpPr>
            <p:cNvPr id="21" name="TextBox 21"/>
            <p:cNvSpPr txBox="1"/>
            <p:nvPr/>
          </p:nvSpPr>
          <p:spPr>
            <a:xfrm>
              <a:off x="6388608" y="2089150"/>
              <a:ext cx="534055" cy="469392"/>
            </a:xfrm>
            <a:prstGeom prst="rect">
              <a:avLst/>
            </a:prstGeom>
            <a:noFill/>
            <a:ln>
              <a:noFill/>
            </a:ln>
          </p:spPr>
          <p:txBody>
            <a:bodyPr wrap="none" lIns="0" tIns="0" rIns="0" bIns="0" anchor="t" anchorCtr="0">
              <a:spAutoFit/>
            </a:bodyPr>
            <a:lstStyle/>
            <a:p>
              <a:pPr algn="l"/>
              <a:r>
                <a:rPr lang="ko-KR" sz="2400" b="1" dirty="0">
                  <a:solidFill>
                    <a:srgbClr val="111827"/>
                  </a:solidFill>
                  <a:latin typeface="+mn-lt"/>
                  <a:ea typeface="+mn-ea"/>
                  <a:cs typeface="+mn-cs"/>
                </a:rPr>
                <a:t>5년</a:t>
              </a:r>
            </a:p>
          </p:txBody>
        </p:sp>
        <p:sp>
          <p:nvSpPr>
            <p:cNvPr id="22" name="TextBox 22"/>
            <p:cNvSpPr txBox="1"/>
            <p:nvPr/>
          </p:nvSpPr>
          <p:spPr>
            <a:xfrm>
              <a:off x="526161" y="2889250"/>
              <a:ext cx="3356823"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 xml:space="preserve">서울시가 줄이기로 한 주기 </a:t>
              </a:r>
              <a:r>
                <a:rPr lang="ko-KR" sz="1120" dirty="0">
                  <a:solidFill>
                    <a:srgbClr val="4B5563"/>
                  </a:solidFill>
                  <a:latin typeface="+mn-lt"/>
                  <a:ea typeface="+mn-ea"/>
                  <a:cs typeface="+mn-cs"/>
                </a:rPr>
                <a:t>(2025.4 발표)</a:t>
              </a:r>
            </a:p>
          </p:txBody>
        </p:sp>
        <p:sp>
          <p:nvSpPr>
            <p:cNvPr id="23" name="Rectangle 23"/>
            <p:cNvSpPr/>
            <p:nvPr/>
          </p:nvSpPr>
          <p:spPr>
            <a:xfrm>
              <a:off x="533400" y="3200400"/>
              <a:ext cx="1143000" cy="419100"/>
            </a:xfrm>
            <a:prstGeom prst="rect">
              <a:avLst/>
            </a:prstGeom>
            <a:solidFill>
              <a:srgbClr val="0B1E3C"/>
            </a:solidFill>
            <a:ln>
              <a:noFill/>
            </a:ln>
          </p:spPr>
        </p:sp>
        <p:sp>
          <p:nvSpPr>
            <p:cNvPr id="24" name="TextBox 24"/>
            <p:cNvSpPr txBox="1"/>
            <p:nvPr/>
          </p:nvSpPr>
          <p:spPr>
            <a:xfrm>
              <a:off x="1816608" y="3213100"/>
              <a:ext cx="534055"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1년</a:t>
              </a:r>
            </a:p>
          </p:txBody>
        </p:sp>
        <p:sp>
          <p:nvSpPr>
            <p:cNvPr id="25" name="TextBox 25"/>
            <p:cNvSpPr txBox="1"/>
            <p:nvPr/>
          </p:nvSpPr>
          <p:spPr>
            <a:xfrm>
              <a:off x="526161" y="4013200"/>
              <a:ext cx="3011395" cy="278702"/>
            </a:xfrm>
            <a:prstGeom prst="rect">
              <a:avLst/>
            </a:prstGeom>
            <a:noFill/>
            <a:ln>
              <a:noFill/>
            </a:ln>
          </p:spPr>
          <p:txBody>
            <a:bodyPr wrap="none" lIns="0" tIns="0" rIns="0" bIns="0" anchor="t" anchorCtr="0">
              <a:spAutoFit/>
            </a:bodyPr>
            <a:lstStyle/>
            <a:p>
              <a:pPr algn="l"/>
              <a:r>
                <a:rPr lang="ko-KR" sz="1420" b="1" dirty="0">
                  <a:solidFill>
                    <a:srgbClr val="C62828"/>
                  </a:solidFill>
                  <a:latin typeface="+mn-lt"/>
                  <a:ea typeface="+mn-ea"/>
                  <a:cs typeface="+mn-cs"/>
                </a:rPr>
                <a:t>연희동: ‘이상 없음’에서 함몰까지</a:t>
              </a:r>
            </a:p>
          </p:txBody>
        </p:sp>
        <p:sp>
          <p:nvSpPr>
            <p:cNvPr id="26" name="Rectangle 26"/>
            <p:cNvSpPr/>
            <p:nvPr/>
          </p:nvSpPr>
          <p:spPr>
            <a:xfrm>
              <a:off x="533400" y="4324350"/>
              <a:ext cx="333375" cy="419100"/>
            </a:xfrm>
            <a:prstGeom prst="rect">
              <a:avLst/>
            </a:prstGeom>
            <a:solidFill>
              <a:srgbClr val="C62828"/>
            </a:solidFill>
            <a:ln>
              <a:noFill/>
            </a:ln>
          </p:spPr>
        </p:sp>
        <p:sp>
          <p:nvSpPr>
            <p:cNvPr id="27" name="TextBox 27"/>
            <p:cNvSpPr txBox="1"/>
            <p:nvPr/>
          </p:nvSpPr>
          <p:spPr>
            <a:xfrm>
              <a:off x="1006983" y="4337050"/>
              <a:ext cx="1332083" cy="469392"/>
            </a:xfrm>
            <a:prstGeom prst="rect">
              <a:avLst/>
            </a:prstGeom>
            <a:noFill/>
            <a:ln>
              <a:noFill/>
            </a:ln>
          </p:spPr>
          <p:txBody>
            <a:bodyPr wrap="none" lIns="0" tIns="0" rIns="0" bIns="0" anchor="t" anchorCtr="0">
              <a:spAutoFit/>
            </a:bodyPr>
            <a:lstStyle/>
            <a:p>
              <a:pPr algn="l"/>
              <a:r>
                <a:rPr lang="ko-KR" sz="2400" b="1" dirty="0">
                  <a:solidFill>
                    <a:srgbClr val="C62828"/>
                  </a:solidFill>
                  <a:latin typeface="+mn-lt"/>
                  <a:ea typeface="+mn-ea"/>
                  <a:cs typeface="+mn-cs"/>
                </a:rPr>
                <a:t>100여 일</a:t>
              </a:r>
            </a:p>
          </p:txBody>
        </p:sp>
      </p:grpSp>
      <p:grpSp>
        <p:nvGrpSpPr>
          <p:cNvPr id="35" name="evidence"/>
          <p:cNvGrpSpPr/>
          <p:nvPr/>
        </p:nvGrpSpPr>
        <p:grpSpPr>
          <a:xfrm>
            <a:off x="7524750" y="1600200"/>
            <a:ext cx="4133850" cy="2425446"/>
            <a:chOff x="7524750" y="1600200"/>
            <a:chExt cx="4133850" cy="2425446"/>
          </a:xfrm>
        </p:grpSpPr>
        <p:sp>
          <p:nvSpPr>
            <p:cNvPr id="29" name="Rectangle 29"/>
            <p:cNvSpPr/>
            <p:nvPr/>
          </p:nvSpPr>
          <p:spPr>
            <a:xfrm>
              <a:off x="7543800" y="1600200"/>
              <a:ext cx="4114800" cy="28575"/>
            </a:xfrm>
            <a:prstGeom prst="rect">
              <a:avLst/>
            </a:prstGeom>
            <a:solidFill>
              <a:srgbClr val="0B1E3C"/>
            </a:solidFill>
            <a:ln>
              <a:noFill/>
            </a:ln>
          </p:spPr>
        </p:sp>
        <p:sp>
          <p:nvSpPr>
            <p:cNvPr id="30" name="TextBox 30"/>
            <p:cNvSpPr txBox="1"/>
            <p:nvPr/>
          </p:nvSpPr>
          <p:spPr>
            <a:xfrm>
              <a:off x="7537323" y="1847850"/>
              <a:ext cx="1953205"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같은 공동을 다시 재 보니</a:t>
              </a:r>
            </a:p>
          </p:txBody>
        </p:sp>
        <p:sp>
          <p:nvSpPr>
            <p:cNvPr id="31" name="TextBox 31"/>
            <p:cNvSpPr txBox="1"/>
            <p:nvPr/>
          </p:nvSpPr>
          <p:spPr>
            <a:xfrm>
              <a:off x="7524750" y="2159000"/>
              <a:ext cx="3321779" cy="1104900"/>
            </a:xfrm>
            <a:prstGeom prst="rect">
              <a:avLst/>
            </a:prstGeom>
            <a:noFill/>
            <a:ln>
              <a:noFill/>
            </a:ln>
          </p:spPr>
          <p:txBody>
            <a:bodyPr wrap="none" lIns="0" tIns="0" rIns="0" bIns="0" anchor="t" anchorCtr="0">
              <a:spAutoFit/>
            </a:bodyPr>
            <a:lstStyle/>
            <a:p>
              <a:pPr algn="l"/>
              <a:r>
                <a:rPr lang="ko-KR" sz="5700" b="1" spc="-225" dirty="0">
                  <a:solidFill>
                    <a:srgbClr val="0B1E3C"/>
                  </a:solidFill>
                  <a:latin typeface="+mn-lt"/>
                  <a:ea typeface="+mn-ea"/>
                  <a:cs typeface="+mn-cs"/>
                </a:rPr>
                <a:t>21곳 모두</a:t>
              </a:r>
            </a:p>
          </p:txBody>
        </p:sp>
        <p:sp>
          <p:nvSpPr>
            <p:cNvPr id="32" name="TextBox 32"/>
            <p:cNvSpPr txBox="1"/>
            <p:nvPr/>
          </p:nvSpPr>
          <p:spPr>
            <a:xfrm>
              <a:off x="7534656" y="3079750"/>
              <a:ext cx="2594107"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크기가 변해 있었습니다</a:t>
              </a:r>
            </a:p>
          </p:txBody>
        </p:sp>
        <p:sp>
          <p:nvSpPr>
            <p:cNvPr id="33" name="TextBox 33"/>
            <p:cNvSpPr txBox="1"/>
            <p:nvPr/>
          </p:nvSpPr>
          <p:spPr>
            <a:xfrm>
              <a:off x="7537704" y="3562350"/>
              <a:ext cx="291998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서울 공동 30곳을 209~989일 뒤 재탐사,</a:t>
              </a:r>
            </a:p>
          </p:txBody>
        </p:sp>
        <p:sp>
          <p:nvSpPr>
            <p:cNvPr id="34" name="TextBox 34"/>
            <p:cNvSpPr txBox="1"/>
            <p:nvPr/>
          </p:nvSpPr>
          <p:spPr>
            <a:xfrm>
              <a:off x="7537704" y="3790950"/>
              <a:ext cx="327538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그사이 복구된 9곳 제외 · 인천대 연구(2020)</a:t>
              </a:r>
            </a:p>
          </p:txBody>
        </p:sp>
      </p:grpSp>
      <p:grpSp>
        <p:nvGrpSpPr>
          <p:cNvPr id="38" name="conclusion"/>
          <p:cNvGrpSpPr/>
          <p:nvPr/>
        </p:nvGrpSpPr>
        <p:grpSpPr>
          <a:xfrm>
            <a:off x="533400" y="5334000"/>
            <a:ext cx="7169730" cy="419100"/>
            <a:chOff x="533400" y="5334000"/>
            <a:chExt cx="7169730" cy="419100"/>
          </a:xfrm>
        </p:grpSpPr>
        <p:sp>
          <p:nvSpPr>
            <p:cNvPr id="36" name="Rectangle 36"/>
            <p:cNvSpPr/>
            <p:nvPr/>
          </p:nvSpPr>
          <p:spPr>
            <a:xfrm>
              <a:off x="533400" y="5334000"/>
              <a:ext cx="38100" cy="419100"/>
            </a:xfrm>
            <a:prstGeom prst="rect">
              <a:avLst/>
            </a:prstGeom>
            <a:solidFill>
              <a:srgbClr val="F5B700"/>
            </a:solidFill>
            <a:ln>
              <a:noFill/>
            </a:ln>
          </p:spPr>
        </p:sp>
        <p:sp>
          <p:nvSpPr>
            <p:cNvPr id="37" name="TextBox 37"/>
            <p:cNvSpPr txBox="1"/>
            <p:nvPr/>
          </p:nvSpPr>
          <p:spPr>
            <a:xfrm>
              <a:off x="715899" y="542925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0" name="source"/>
          <p:cNvGrpSpPr/>
          <p:nvPr/>
        </p:nvGrpSpPr>
        <p:grpSpPr>
          <a:xfrm>
            <a:off x="528447" y="6248400"/>
            <a:ext cx="9431528" cy="344043"/>
            <a:chOff x="528447" y="6248400"/>
            <a:chExt cx="9431528" cy="344043"/>
          </a:xfrm>
        </p:grpSpPr>
        <p:sp>
          <p:nvSpPr>
            <p:cNvPr id="39" name="TextBox 39"/>
            <p:cNvSpPr txBox="1"/>
            <p:nvPr/>
          </p:nvSpPr>
          <p:spPr>
            <a:xfrm>
              <a:off x="528447" y="6248400"/>
              <a:ext cx="9431528"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지하안전법 시행규칙 별표 3(공동조사 5년마다 1회 이상) · 이투데이(2025.4.23) · 뉴시스(2024.8.30) · 박정준·김인대, 한국재난정보학회논문집 16(1)(2020)</a:t>
              </a:r>
              <a:br>
                <a:rPr lang="ko-KR" sz="980" dirty="0">
                  <a:solidFill>
                    <a:srgbClr val="4B5563"/>
                  </a:solidFill>
                  <a:latin typeface="+mn-lt"/>
                  <a:ea typeface="+mn-ea"/>
                  <a:cs typeface="+mn-cs"/>
                </a:rPr>
              </a:br>
              <a:r>
                <a:rPr lang="ko-KR" sz="980" dirty="0">
                  <a:solidFill>
                    <a:srgbClr val="4B5563"/>
                  </a:solidFill>
                  <a:latin typeface="+mn-lt"/>
                  <a:ea typeface="+mn-ea"/>
                  <a:cs typeface="+mn-cs"/>
                </a:rPr>
                <a:t>메트로신문(2025.10.19, 공사장 주변 탐사) · 경향신문(2025.3.28, 성산로 월 1회 탐사) · 경북매일(2026.9.2, 국토안전관리원 미복구 공동 자료)</a:t>
              </a:r>
            </a:p>
          </p:txBody>
        </p:sp>
      </p:grpSp>
      <p:grpSp>
        <p:nvGrpSpPr>
          <p:cNvPr id="43" name="footer"/>
          <p:cNvGrpSpPr/>
          <p:nvPr/>
        </p:nvGrpSpPr>
        <p:grpSpPr>
          <a:xfrm>
            <a:off x="528638" y="6610350"/>
            <a:ext cx="11134724" cy="176212"/>
            <a:chOff x="528638" y="6610350"/>
            <a:chExt cx="11134724" cy="176212"/>
          </a:xfrm>
        </p:grpSpPr>
        <p:sp>
          <p:nvSpPr>
            <p:cNvPr id="41" name="TextBox 4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2" name="TextBox 4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18</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8858754" cy="645414"/>
            <a:chOff x="516636" y="812800"/>
            <a:chExt cx="8858754" cy="645414"/>
          </a:xfrm>
        </p:grpSpPr>
        <p:sp>
          <p:nvSpPr>
            <p:cNvPr id="17" name="TextBox 17"/>
            <p:cNvSpPr txBox="1"/>
            <p:nvPr/>
          </p:nvSpPr>
          <p:spPr>
            <a:xfrm>
              <a:off x="516636" y="812800"/>
              <a:ext cx="8858754"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원인 1위 하수관 손상, 땅속 2m 안에 있습니다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38" name="scope"/>
          <p:cNvGrpSpPr/>
          <p:nvPr/>
        </p:nvGrpSpPr>
        <p:grpSpPr>
          <a:xfrm>
            <a:off x="7077456" y="3352800"/>
            <a:ext cx="4581144" cy="1259967"/>
            <a:chOff x="7077456" y="3352800"/>
            <a:chExt cx="4581144" cy="1259967"/>
          </a:xfrm>
        </p:grpSpPr>
        <p:sp>
          <p:nvSpPr>
            <p:cNvPr id="34" name="Rectangle 34"/>
            <p:cNvSpPr/>
            <p:nvPr/>
          </p:nvSpPr>
          <p:spPr>
            <a:xfrm>
              <a:off x="7086600" y="3352800"/>
              <a:ext cx="4572000" cy="28575"/>
            </a:xfrm>
            <a:prstGeom prst="rect">
              <a:avLst/>
            </a:prstGeom>
            <a:solidFill>
              <a:srgbClr val="F5B700"/>
            </a:solidFill>
            <a:ln>
              <a:noFill/>
            </a:ln>
          </p:spPr>
        </p:sp>
        <p:sp>
          <p:nvSpPr>
            <p:cNvPr id="35" name="TextBox 35"/>
            <p:cNvSpPr txBox="1"/>
            <p:nvPr/>
          </p:nvSpPr>
          <p:spPr>
            <a:xfrm>
              <a:off x="7077456" y="3556000"/>
              <a:ext cx="2186600"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GroundWatch 대상</a:t>
              </a:r>
            </a:p>
          </p:txBody>
        </p:sp>
        <p:sp>
          <p:nvSpPr>
            <p:cNvPr id="36" name="TextBox 36"/>
            <p:cNvSpPr txBox="1"/>
            <p:nvPr/>
          </p:nvSpPr>
          <p:spPr>
            <a:xfrm>
              <a:off x="7077456" y="3937000"/>
              <a:ext cx="2592896"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약 2m 이내의 얕은 공동</a:t>
              </a:r>
            </a:p>
          </p:txBody>
        </p:sp>
        <p:sp>
          <p:nvSpPr>
            <p:cNvPr id="37" name="TextBox 37"/>
            <p:cNvSpPr txBox="1"/>
            <p:nvPr/>
          </p:nvSpPr>
          <p:spPr>
            <a:xfrm>
              <a:off x="7080123" y="4362450"/>
              <a:ext cx="3243834"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깊은 굴착·터널 공사장은 계측이 맡습니다</a:t>
              </a:r>
            </a:p>
          </p:txBody>
        </p:sp>
      </p:grpSp>
      <p:grpSp>
        <p:nvGrpSpPr>
          <p:cNvPr id="41" name="conclusion"/>
          <p:cNvGrpSpPr/>
          <p:nvPr/>
        </p:nvGrpSpPr>
        <p:grpSpPr>
          <a:xfrm>
            <a:off x="533400" y="5715000"/>
            <a:ext cx="6376020" cy="419100"/>
            <a:chOff x="533400" y="5715000"/>
            <a:chExt cx="6376020" cy="419100"/>
          </a:xfrm>
        </p:grpSpPr>
        <p:sp>
          <p:nvSpPr>
            <p:cNvPr id="39" name="Rectangle 39"/>
            <p:cNvSpPr/>
            <p:nvPr/>
          </p:nvSpPr>
          <p:spPr>
            <a:xfrm>
              <a:off x="533400" y="5715000"/>
              <a:ext cx="38100" cy="419100"/>
            </a:xfrm>
            <a:prstGeom prst="rect">
              <a:avLst/>
            </a:prstGeom>
            <a:solidFill>
              <a:srgbClr val="F5B700"/>
            </a:solidFill>
            <a:ln>
              <a:noFill/>
            </a:ln>
          </p:spPr>
        </p:sp>
        <p:sp>
          <p:nvSpPr>
            <p:cNvPr id="40" name="TextBox 40"/>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3" name="source"/>
          <p:cNvGrpSpPr/>
          <p:nvPr/>
        </p:nvGrpSpPr>
        <p:grpSpPr>
          <a:xfrm>
            <a:off x="528447" y="6381750"/>
            <a:ext cx="9128717" cy="191643"/>
            <a:chOff x="528447" y="6381750"/>
            <a:chExt cx="9128717" cy="191643"/>
          </a:xfrm>
        </p:grpSpPr>
        <p:sp>
          <p:nvSpPr>
            <p:cNvPr id="42" name="TextBox 42"/>
            <p:cNvSpPr txBox="1"/>
            <p:nvPr/>
          </p:nvSpPr>
          <p:spPr>
            <a:xfrm>
              <a:off x="528447" y="6381750"/>
              <a:ext cx="912871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통계(2020~2024)·명일동 사고조사(2025.12.3) · 이투데이(2025.4.23, GPR 탐지 깊이 약 2m) · 단면도는 원리 설명용</a:t>
              </a:r>
            </a:p>
          </p:txBody>
        </p:sp>
      </p:grpSp>
      <p:grpSp>
        <p:nvGrpSpPr>
          <p:cNvPr id="46" name="footer"/>
          <p:cNvGrpSpPr/>
          <p:nvPr/>
        </p:nvGrpSpPr>
        <p:grpSpPr>
          <a:xfrm>
            <a:off x="528638" y="6610350"/>
            <a:ext cx="11134724" cy="176212"/>
            <a:chOff x="528638" y="6610350"/>
            <a:chExt cx="11134724" cy="176212"/>
          </a:xfrm>
        </p:grpSpPr>
        <p:sp>
          <p:nvSpPr>
            <p:cNvPr id="44" name="TextBox 4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5" name="TextBox 4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18</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12500" r="0" b="12500"/>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5" name="story-text"/>
          <p:cNvGrpSpPr/>
          <p:nvPr/>
        </p:nvGrpSpPr>
        <p:grpSpPr>
          <a:xfrm>
            <a:off x="590550" y="1689100"/>
            <a:ext cx="6910624" cy="3950843"/>
            <a:chOff x="590550" y="1689100"/>
            <a:chExt cx="6910624" cy="3950843"/>
          </a:xfrm>
        </p:grpSpPr>
        <p:sp>
          <p:nvSpPr>
            <p:cNvPr id="8" name="TextBox 8"/>
            <p:cNvSpPr txBox="1"/>
            <p:nvPr/>
          </p:nvSpPr>
          <p:spPr>
            <a:xfrm>
              <a:off x="592836" y="1689100"/>
              <a:ext cx="2027250"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그렇다면,</a:t>
              </a:r>
            </a:p>
          </p:txBody>
        </p:sp>
        <p:sp>
          <p:nvSpPr>
            <p:cNvPr id="9" name="TextBox 9"/>
            <p:cNvSpPr txBox="1"/>
            <p:nvPr/>
          </p:nvSpPr>
          <p:spPr>
            <a:xfrm>
              <a:off x="592836" y="2260600"/>
              <a:ext cx="6458531"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더 자주 검사하면 되지 않을까요?</a:t>
              </a:r>
            </a:p>
          </p:txBody>
        </p:sp>
        <p:sp>
          <p:nvSpPr>
            <p:cNvPr id="10" name="TextBox 10"/>
            <p:cNvSpPr txBox="1"/>
            <p:nvPr/>
          </p:nvSpPr>
          <p:spPr>
            <a:xfrm>
              <a:off x="602742" y="3378200"/>
              <a:ext cx="3666630" cy="264033"/>
            </a:xfrm>
            <a:prstGeom prst="rect">
              <a:avLst/>
            </a:prstGeom>
            <a:noFill/>
            <a:ln>
              <a:noFill/>
            </a:ln>
          </p:spPr>
          <p:txBody>
            <a:bodyPr wrap="none" lIns="0" tIns="0" rIns="0" bIns="0" anchor="t" anchorCtr="0">
              <a:spAutoFit/>
            </a:bodyPr>
            <a:lstStyle/>
            <a:p>
              <a:pPr algn="l"/>
              <a:r>
                <a:rPr lang="ko-KR" sz="1350" dirty="0">
                  <a:solidFill>
                    <a:srgbClr val="D6DDE8"/>
                  </a:solidFill>
                  <a:latin typeface="+mn-lt"/>
                  <a:ea typeface="+mn-ea"/>
                  <a:cs typeface="+mn-cs"/>
                </a:rPr>
                <a:t>지금의 1회 공정 · 서울시 2024 공동조사용역</a:t>
              </a:r>
            </a:p>
          </p:txBody>
        </p:sp>
        <p:sp>
          <p:nvSpPr>
            <p:cNvPr id="11" name="TextBox 11"/>
            <p:cNvSpPr txBox="1"/>
            <p:nvPr/>
          </p:nvSpPr>
          <p:spPr>
            <a:xfrm>
              <a:off x="590550" y="3587750"/>
              <a:ext cx="5367802" cy="1047750"/>
            </a:xfrm>
            <a:prstGeom prst="rect">
              <a:avLst/>
            </a:prstGeom>
            <a:noFill/>
            <a:ln>
              <a:noFill/>
            </a:ln>
          </p:spPr>
          <p:txBody>
            <a:bodyPr wrap="none" lIns="0" tIns="0" rIns="0" bIns="0" anchor="t" anchorCtr="0">
              <a:spAutoFit/>
            </a:bodyPr>
            <a:lstStyle/>
            <a:p>
              <a:pPr algn="l"/>
              <a:r>
                <a:rPr lang="ko-KR" sz="5400" b="1" spc="-75" dirty="0">
                  <a:solidFill>
                    <a:srgbClr val="FFFFFF"/>
                  </a:solidFill>
                  <a:latin typeface="+mn-lt"/>
                  <a:ea typeface="+mn-ea"/>
                  <a:cs typeface="+mn-cs"/>
                </a:rPr>
                <a:t>km당 약 92만 원</a:t>
              </a:r>
            </a:p>
          </p:txBody>
        </p:sp>
        <p:sp>
          <p:nvSpPr>
            <p:cNvPr id="12" name="TextBox 12"/>
            <p:cNvSpPr txBox="1"/>
            <p:nvPr/>
          </p:nvSpPr>
          <p:spPr>
            <a:xfrm>
              <a:off x="601980" y="4489450"/>
              <a:ext cx="5871210"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1·2차 탐사, 천공 499곳, 공동 채움 285곳까지 묶인 가격입니다.</a:t>
              </a:r>
            </a:p>
          </p:txBody>
        </p:sp>
        <p:sp>
          <p:nvSpPr>
            <p:cNvPr id="13" name="TextBox 13"/>
            <p:cNvSpPr txBox="1"/>
            <p:nvPr/>
          </p:nvSpPr>
          <p:spPr>
            <a:xfrm>
              <a:off x="601980" y="4794250"/>
              <a:ext cx="627305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이 공정을 그대로 여러 번 돌리면, 예산과 인력이 그만큼 늘어납니다.</a:t>
              </a:r>
            </a:p>
          </p:txBody>
        </p:sp>
        <p:sp>
          <p:nvSpPr>
            <p:cNvPr id="14" name="TextBox 14"/>
            <p:cNvSpPr txBox="1"/>
            <p:nvPr/>
          </p:nvSpPr>
          <p:spPr>
            <a:xfrm>
              <a:off x="604647" y="5448300"/>
              <a:ext cx="6896527" cy="191643"/>
            </a:xfrm>
            <a:prstGeom prst="rect">
              <a:avLst/>
            </a:prstGeom>
            <a:noFill/>
            <a:ln>
              <a:noFill/>
            </a:ln>
          </p:spPr>
          <p:txBody>
            <a:bodyPr wrap="none" lIns="0" tIns="0" rIns="0" bIns="0" anchor="t" anchorCtr="0">
              <a:spAutoFit/>
            </a:bodyPr>
            <a:lstStyle/>
            <a:p>
              <a:pPr algn="l"/>
              <a:r>
                <a:rPr lang="ko-KR" sz="980" dirty="0">
                  <a:solidFill>
                    <a:srgbClr val="D6DDE8"/>
                  </a:solidFill>
                  <a:latin typeface="+mn-lt"/>
                  <a:ea typeface="+mn-ea"/>
                  <a:cs typeface="+mn-cs"/>
                </a:rPr>
                <a:t>출처: 서울시 「지반침하 특별점검 공동조사용역 최종보고서」(2024.10) · 17억 8,090만 원 ÷ 조사연장 1,930.6km</a:t>
              </a:r>
            </a:p>
          </p:txBody>
        </p:sp>
      </p:grpSp>
      <p:sp>
        <p:nvSpPr>
          <p:cNvPr id="16" name="TextBox 16"/>
          <p:cNvSpPr txBox="1"/>
          <p:nvPr/>
        </p:nvSpPr>
        <p:spPr>
          <a:xfrm>
            <a:off x="9263197" y="6515100"/>
            <a:ext cx="240035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Immanuelle, CC BY 4.0 · 06 / 18</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7812" r="0" b="7813"/>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3" name="story-text"/>
          <p:cNvGrpSpPr/>
          <p:nvPr/>
        </p:nvGrpSpPr>
        <p:grpSpPr>
          <a:xfrm>
            <a:off x="590550" y="2127250"/>
            <a:ext cx="5064824" cy="2731770"/>
            <a:chOff x="590550" y="2127250"/>
            <a:chExt cx="5064824" cy="2731770"/>
          </a:xfrm>
        </p:grpSpPr>
        <p:sp>
          <p:nvSpPr>
            <p:cNvPr id="8" name="TextBox 8"/>
            <p:cNvSpPr txBox="1"/>
            <p:nvPr/>
          </p:nvSpPr>
          <p:spPr>
            <a:xfrm>
              <a:off x="598932" y="2127250"/>
              <a:ext cx="4191191" cy="410718"/>
            </a:xfrm>
            <a:prstGeom prst="rect">
              <a:avLst/>
            </a:prstGeom>
            <a:noFill/>
            <a:ln>
              <a:noFill/>
            </a:ln>
          </p:spPr>
          <p:txBody>
            <a:bodyPr wrap="none" lIns="0" tIns="0" rIns="0" bIns="0" anchor="t" anchorCtr="0">
              <a:spAutoFit/>
            </a:bodyPr>
            <a:lstStyle/>
            <a:p>
              <a:pPr algn="l"/>
              <a:r>
                <a:rPr lang="ko-KR" sz="2100" dirty="0">
                  <a:solidFill>
                    <a:srgbClr val="D6DDE8"/>
                  </a:solidFill>
                  <a:latin typeface="+mn-lt"/>
                  <a:ea typeface="+mn-ea"/>
                  <a:cs typeface="+mn-cs"/>
                </a:rPr>
                <a:t>매번 전체 공정을 반복하지 않고,</a:t>
              </a:r>
            </a:p>
          </p:txBody>
        </p:sp>
        <p:sp>
          <p:nvSpPr>
            <p:cNvPr id="9" name="TextBox 9"/>
            <p:cNvSpPr txBox="1"/>
            <p:nvPr/>
          </p:nvSpPr>
          <p:spPr>
            <a:xfrm>
              <a:off x="590550" y="2609850"/>
              <a:ext cx="3166634"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달라진 곳부터</a:t>
              </a:r>
            </a:p>
          </p:txBody>
        </p:sp>
        <p:sp>
          <p:nvSpPr>
            <p:cNvPr id="10" name="TextBox 10"/>
            <p:cNvSpPr txBox="1"/>
            <p:nvPr/>
          </p:nvSpPr>
          <p:spPr>
            <a:xfrm>
              <a:off x="590550" y="3219450"/>
              <a:ext cx="4588169"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찾아볼 수 있다면요?</a:t>
              </a:r>
            </a:p>
          </p:txBody>
        </p:sp>
        <p:sp>
          <p:nvSpPr>
            <p:cNvPr id="11" name="TextBox 11"/>
            <p:cNvSpPr txBox="1"/>
            <p:nvPr/>
          </p:nvSpPr>
          <p:spPr>
            <a:xfrm>
              <a:off x="601980" y="4260850"/>
              <a:ext cx="505339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반복해서 재고, 지난 기록과 달라진 곳만 골라</a:t>
              </a:r>
            </a:p>
          </p:txBody>
        </p:sp>
        <p:sp>
          <p:nvSpPr>
            <p:cNvPr id="12" name="TextBox 12"/>
            <p:cNvSpPr txBox="1"/>
            <p:nvPr/>
          </p:nvSpPr>
          <p:spPr>
            <a:xfrm>
              <a:off x="601980" y="4565650"/>
              <a:ext cx="4669727"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전문가가 검토한 지점만 현장에서 다시 확인합니다.</a:t>
              </a:r>
            </a:p>
          </p:txBody>
        </p:sp>
      </p:grpSp>
      <p:sp>
        <p:nvSpPr>
          <p:cNvPr id="14" name="TextBox 14"/>
          <p:cNvSpPr txBox="1"/>
          <p:nvPr/>
        </p:nvSpPr>
        <p:spPr>
          <a:xfrm>
            <a:off x="9251942" y="6515100"/>
            <a:ext cx="2411611"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서울연구원, CC BY 4.0 · 07 / 18</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4000"/>
                </a:srgbClr>
              </a:gs>
              <a:gs pos="45000">
                <a:srgbClr val="0B1E3C">
                  <a:alpha val="66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4" name="story-text"/>
          <p:cNvGrpSpPr/>
          <p:nvPr/>
        </p:nvGrpSpPr>
        <p:grpSpPr>
          <a:xfrm>
            <a:off x="590550" y="1797050"/>
            <a:ext cx="4220268" cy="3503041"/>
            <a:chOff x="590550" y="1797050"/>
            <a:chExt cx="4220268" cy="3503041"/>
          </a:xfrm>
        </p:grpSpPr>
        <p:sp>
          <p:nvSpPr>
            <p:cNvPr id="8" name="TextBox 8"/>
            <p:cNvSpPr txBox="1"/>
            <p:nvPr/>
          </p:nvSpPr>
          <p:spPr>
            <a:xfrm>
              <a:off x="599694" y="1797050"/>
              <a:ext cx="4036200" cy="381381"/>
            </a:xfrm>
            <a:prstGeom prst="rect">
              <a:avLst/>
            </a:prstGeom>
            <a:noFill/>
            <a:ln>
              <a:noFill/>
            </a:ln>
          </p:spPr>
          <p:txBody>
            <a:bodyPr wrap="none" lIns="0" tIns="0" rIns="0" bIns="0" anchor="t" anchorCtr="0">
              <a:spAutoFit/>
            </a:bodyPr>
            <a:lstStyle/>
            <a:p>
              <a:pPr algn="l"/>
              <a:r>
                <a:rPr lang="ko-KR" sz="1950" dirty="0">
                  <a:solidFill>
                    <a:srgbClr val="D6DDE8"/>
                  </a:solidFill>
                  <a:latin typeface="+mn-lt"/>
                  <a:ea typeface="+mn-ea"/>
                  <a:cs typeface="+mn-cs"/>
                </a:rPr>
                <a:t>그래서, 같은 길을 다시 달립니다.</a:t>
              </a:r>
            </a:p>
          </p:txBody>
        </p:sp>
        <p:sp>
          <p:nvSpPr>
            <p:cNvPr id="9" name="TextBox 9"/>
            <p:cNvSpPr txBox="1"/>
            <p:nvPr/>
          </p:nvSpPr>
          <p:spPr>
            <a:xfrm>
              <a:off x="590550" y="2311400"/>
              <a:ext cx="1421420" cy="1104900"/>
            </a:xfrm>
            <a:prstGeom prst="rect">
              <a:avLst/>
            </a:prstGeom>
            <a:noFill/>
            <a:ln>
              <a:noFill/>
            </a:ln>
          </p:spPr>
          <p:txBody>
            <a:bodyPr wrap="none" lIns="0" tIns="0" rIns="0" bIns="0" anchor="t" anchorCtr="0">
              <a:spAutoFit/>
            </a:bodyPr>
            <a:lstStyle/>
            <a:p>
              <a:pPr algn="l"/>
              <a:r>
                <a:rPr lang="en-US" sz="5700" b="1" spc="-75" dirty="0">
                  <a:solidFill>
                    <a:srgbClr val="FFFFFF"/>
                  </a:solidFill>
                  <a:latin typeface="+mn-lt"/>
                  <a:ea typeface="+mn-ea"/>
                  <a:cs typeface="+mn-cs"/>
                </a:rPr>
                <a:t>PV5</a:t>
              </a:r>
            </a:p>
          </p:txBody>
        </p:sp>
        <p:sp>
          <p:nvSpPr>
            <p:cNvPr id="10" name="TextBox 10"/>
            <p:cNvSpPr txBox="1"/>
            <p:nvPr/>
          </p:nvSpPr>
          <p:spPr>
            <a:xfrm>
              <a:off x="590550" y="3187700"/>
              <a:ext cx="4220268" cy="933450"/>
            </a:xfrm>
            <a:prstGeom prst="rect">
              <a:avLst/>
            </a:prstGeom>
            <a:noFill/>
            <a:ln>
              <a:noFill/>
            </a:ln>
          </p:spPr>
          <p:txBody>
            <a:bodyPr wrap="none" lIns="0" tIns="0" rIns="0" bIns="0" anchor="t" anchorCtr="0">
              <a:spAutoFit/>
            </a:bodyPr>
            <a:lstStyle/>
            <a:p>
              <a:pPr algn="l"/>
              <a:r>
                <a:rPr lang="en-US" sz="4800" b="1" spc="-75" dirty="0">
                  <a:solidFill>
                    <a:srgbClr val="FFFFFF"/>
                  </a:solidFill>
                  <a:latin typeface="+mn-lt"/>
                  <a:ea typeface="+mn-ea"/>
                  <a:cs typeface="+mn-cs"/>
                </a:rPr>
                <a:t>GroundWatch</a:t>
              </a:r>
            </a:p>
          </p:txBody>
        </p:sp>
        <p:sp>
          <p:nvSpPr>
            <p:cNvPr id="11" name="TextBox 11"/>
            <p:cNvSpPr txBox="1"/>
            <p:nvPr/>
          </p:nvSpPr>
          <p:spPr>
            <a:xfrm>
              <a:off x="598170" y="40259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sp>
          <p:nvSpPr>
            <p:cNvPr id="12" name="TextBox 12"/>
            <p:cNvSpPr txBox="1"/>
            <p:nvPr/>
          </p:nvSpPr>
          <p:spPr>
            <a:xfrm>
              <a:off x="601599" y="4686300"/>
              <a:ext cx="3546815"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약 2개월마다 도로 아래를 다시 재고,</a:t>
              </a:r>
            </a:p>
          </p:txBody>
        </p:sp>
        <p:sp>
          <p:nvSpPr>
            <p:cNvPr id="13" name="TextBox 13"/>
            <p:cNvSpPr txBox="1"/>
            <p:nvPr/>
          </p:nvSpPr>
          <p:spPr>
            <a:xfrm>
              <a:off x="601599" y="4991100"/>
              <a:ext cx="3366021"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지난 기록과 달라진 곳을 찾습니다.</a:t>
              </a:r>
            </a:p>
          </p:txBody>
        </p:sp>
      </p:grpSp>
      <p:grpSp>
        <p:nvGrpSpPr>
          <p:cNvPr id="17" name="footer"/>
          <p:cNvGrpSpPr/>
          <p:nvPr/>
        </p:nvGrpSpPr>
        <p:grpSpPr>
          <a:xfrm>
            <a:off x="604266" y="6502400"/>
            <a:ext cx="11059287" cy="205359"/>
            <a:chOff x="604266" y="6502400"/>
            <a:chExt cx="11059287" cy="205359"/>
          </a:xfrm>
        </p:grpSpPr>
        <p:sp>
          <p:nvSpPr>
            <p:cNvPr id="15" name="TextBox 15"/>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6" name="TextBox 16"/>
            <p:cNvSpPr txBox="1"/>
            <p:nvPr/>
          </p:nvSpPr>
          <p:spPr>
            <a:xfrm>
              <a:off x="9653575" y="6515100"/>
              <a:ext cx="2009978"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PV5 기반 콘셉트 이미지 · 08 / 18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6636" y="812800"/>
            <a:ext cx="6337449" cy="645414"/>
            <a:chOff x="516636" y="812800"/>
            <a:chExt cx="6337449" cy="645414"/>
          </a:xfrm>
        </p:grpSpPr>
        <p:sp>
          <p:nvSpPr>
            <p:cNvPr id="16" name="TextBox 16"/>
            <p:cNvSpPr txBox="1"/>
            <p:nvPr/>
          </p:nvSpPr>
          <p:spPr>
            <a:xfrm>
              <a:off x="516636" y="812800"/>
              <a:ext cx="6337449"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숫자 세 개로 보는 GroundWatch</a:t>
              </a:r>
            </a:p>
          </p:txBody>
        </p:sp>
      </p:grpSp>
      <p:grpSp>
        <p:nvGrpSpPr>
          <p:cNvPr id="30" name="keynum"/>
          <p:cNvGrpSpPr/>
          <p:nvPr/>
        </p:nvGrpSpPr>
        <p:grpSpPr>
          <a:xfrm>
            <a:off x="514350" y="1905000"/>
            <a:ext cx="11144250" cy="1965833"/>
            <a:chOff x="514350" y="1905000"/>
            <a:chExt cx="11144250" cy="1965833"/>
          </a:xfrm>
        </p:grpSpPr>
        <p:sp>
          <p:nvSpPr>
            <p:cNvPr id="18" name="Rectangle 18"/>
            <p:cNvSpPr/>
            <p:nvPr/>
          </p:nvSpPr>
          <p:spPr>
            <a:xfrm>
              <a:off x="533400" y="1905000"/>
              <a:ext cx="3505200" cy="38100"/>
            </a:xfrm>
            <a:prstGeom prst="rect">
              <a:avLst/>
            </a:prstGeom>
            <a:solidFill>
              <a:srgbClr val="C62828"/>
            </a:solidFill>
            <a:ln>
              <a:noFill/>
            </a:ln>
          </p:spPr>
        </p:sp>
        <p:sp>
          <p:nvSpPr>
            <p:cNvPr id="19" name="TextBox 19"/>
            <p:cNvSpPr txBox="1"/>
            <p:nvPr/>
          </p:nvSpPr>
          <p:spPr>
            <a:xfrm>
              <a:off x="514350" y="2216150"/>
              <a:ext cx="3161043" cy="1162050"/>
            </a:xfrm>
            <a:prstGeom prst="rect">
              <a:avLst/>
            </a:prstGeom>
            <a:noFill/>
            <a:ln>
              <a:noFill/>
            </a:ln>
          </p:spPr>
          <p:txBody>
            <a:bodyPr wrap="none" lIns="0" tIns="0" rIns="0" bIns="0" anchor="t" anchorCtr="0">
              <a:spAutoFit/>
            </a:bodyPr>
            <a:lstStyle/>
            <a:p>
              <a:pPr algn="l"/>
              <a:r>
                <a:rPr lang="ko-KR" sz="6000" b="1" spc="-225" dirty="0">
                  <a:solidFill>
                    <a:srgbClr val="C62828"/>
                  </a:solidFill>
                  <a:latin typeface="+mn-lt"/>
                  <a:ea typeface="+mn-ea"/>
                  <a:cs typeface="+mn-cs"/>
                </a:rPr>
                <a:t>100여 일</a:t>
              </a:r>
            </a:p>
          </p:txBody>
        </p:sp>
        <p:sp>
          <p:nvSpPr>
            <p:cNvPr id="20" name="TextBox 20"/>
            <p:cNvSpPr txBox="1"/>
            <p:nvPr/>
          </p:nvSpPr>
          <p:spPr>
            <a:xfrm>
              <a:off x="524256" y="3232150"/>
              <a:ext cx="2873982"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‘이상 없음’에서 함몰까지</a:t>
              </a:r>
            </a:p>
          </p:txBody>
        </p:sp>
        <p:sp>
          <p:nvSpPr>
            <p:cNvPr id="21" name="TextBox 21"/>
            <p:cNvSpPr txBox="1"/>
            <p:nvPr/>
          </p:nvSpPr>
          <p:spPr>
            <a:xfrm>
              <a:off x="526542" y="3606800"/>
              <a:ext cx="1013270"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2024 연희동</a:t>
              </a:r>
            </a:p>
          </p:txBody>
        </p:sp>
        <p:sp>
          <p:nvSpPr>
            <p:cNvPr id="22" name="Rectangle 22"/>
            <p:cNvSpPr/>
            <p:nvPr/>
          </p:nvSpPr>
          <p:spPr>
            <a:xfrm>
              <a:off x="4343400" y="1905000"/>
              <a:ext cx="3505200" cy="38100"/>
            </a:xfrm>
            <a:prstGeom prst="rect">
              <a:avLst/>
            </a:prstGeom>
            <a:solidFill>
              <a:srgbClr val="0B1E3C"/>
            </a:solidFill>
            <a:ln>
              <a:noFill/>
            </a:ln>
          </p:spPr>
        </p:sp>
        <p:sp>
          <p:nvSpPr>
            <p:cNvPr id="23" name="TextBox 23"/>
            <p:cNvSpPr txBox="1"/>
            <p:nvPr/>
          </p:nvSpPr>
          <p:spPr>
            <a:xfrm>
              <a:off x="4324350" y="2216150"/>
              <a:ext cx="2156041" cy="1162050"/>
            </a:xfrm>
            <a:prstGeom prst="rect">
              <a:avLst/>
            </a:prstGeom>
            <a:noFill/>
            <a:ln>
              <a:noFill/>
            </a:ln>
          </p:spPr>
          <p:txBody>
            <a:bodyPr wrap="none" lIns="0" tIns="0" rIns="0" bIns="0" anchor="t" anchorCtr="0">
              <a:spAutoFit/>
            </a:bodyPr>
            <a:lstStyle/>
            <a:p>
              <a:pPr algn="l"/>
              <a:r>
                <a:rPr lang="ko-KR" sz="6000" b="1" spc="-225" dirty="0">
                  <a:solidFill>
                    <a:srgbClr val="0B1E3C"/>
                  </a:solidFill>
                  <a:latin typeface="+mn-lt"/>
                  <a:ea typeface="+mn-ea"/>
                  <a:cs typeface="+mn-cs"/>
                </a:rPr>
                <a:t>2.4배</a:t>
              </a:r>
            </a:p>
          </p:txBody>
        </p:sp>
        <p:sp>
          <p:nvSpPr>
            <p:cNvPr id="24" name="TextBox 24"/>
            <p:cNvSpPr txBox="1"/>
            <p:nvPr/>
          </p:nvSpPr>
          <p:spPr>
            <a:xfrm>
              <a:off x="4334256" y="3232150"/>
              <a:ext cx="2912753"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자란 공동이 오탐보다 뚜렷</a:t>
              </a:r>
            </a:p>
          </p:txBody>
        </p:sp>
        <p:sp>
          <p:nvSpPr>
            <p:cNvPr id="25" name="TextBox 25"/>
            <p:cNvSpPr txBox="1"/>
            <p:nvPr/>
          </p:nvSpPr>
          <p:spPr>
            <a:xfrm>
              <a:off x="4336542" y="3606800"/>
              <a:ext cx="1522133"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전자기 시뮬레이션</a:t>
              </a:r>
            </a:p>
          </p:txBody>
        </p:sp>
        <p:sp>
          <p:nvSpPr>
            <p:cNvPr id="26" name="Rectangle 26"/>
            <p:cNvSpPr/>
            <p:nvPr/>
          </p:nvSpPr>
          <p:spPr>
            <a:xfrm>
              <a:off x="8153400" y="1905000"/>
              <a:ext cx="3505200" cy="38100"/>
            </a:xfrm>
            <a:prstGeom prst="rect">
              <a:avLst/>
            </a:prstGeom>
            <a:solidFill>
              <a:srgbClr val="0B1E3C"/>
            </a:solidFill>
            <a:ln>
              <a:noFill/>
            </a:ln>
          </p:spPr>
        </p:sp>
        <p:sp>
          <p:nvSpPr>
            <p:cNvPr id="27" name="TextBox 27"/>
            <p:cNvSpPr txBox="1"/>
            <p:nvPr/>
          </p:nvSpPr>
          <p:spPr>
            <a:xfrm>
              <a:off x="8134350" y="2216150"/>
              <a:ext cx="3500590" cy="1162050"/>
            </a:xfrm>
            <a:prstGeom prst="rect">
              <a:avLst/>
            </a:prstGeom>
            <a:noFill/>
            <a:ln>
              <a:noFill/>
            </a:ln>
          </p:spPr>
          <p:txBody>
            <a:bodyPr wrap="none" lIns="0" tIns="0" rIns="0" bIns="0" anchor="t" anchorCtr="0">
              <a:spAutoFit/>
            </a:bodyPr>
            <a:lstStyle/>
            <a:p>
              <a:pPr algn="l"/>
              <a:r>
                <a:rPr lang="ko-KR" sz="6000" b="1" spc="-225" dirty="0">
                  <a:solidFill>
                    <a:srgbClr val="0B1E3C"/>
                  </a:solidFill>
                  <a:latin typeface="+mn-lt"/>
                  <a:ea typeface="+mn-ea"/>
                  <a:cs typeface="+mn-cs"/>
                </a:rPr>
                <a:t>최대 88대</a:t>
              </a:r>
            </a:p>
          </p:txBody>
        </p:sp>
        <p:sp>
          <p:nvSpPr>
            <p:cNvPr id="28" name="TextBox 28"/>
            <p:cNvSpPr txBox="1"/>
            <p:nvPr/>
          </p:nvSpPr>
          <p:spPr>
            <a:xfrm>
              <a:off x="8144256" y="3232150"/>
              <a:ext cx="2633701"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전국 지자체 탐사형 PV5</a:t>
              </a:r>
            </a:p>
          </p:txBody>
        </p:sp>
        <p:sp>
          <p:nvSpPr>
            <p:cNvPr id="29" name="TextBox 29"/>
            <p:cNvSpPr txBox="1"/>
            <p:nvPr/>
          </p:nvSpPr>
          <p:spPr>
            <a:xfrm>
              <a:off x="8146542" y="3606800"/>
              <a:ext cx="1703870"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차량 매출 약 40억 원</a:t>
              </a:r>
            </a:p>
          </p:txBody>
        </p:sp>
      </p:grpSp>
      <p:grpSp>
        <p:nvGrpSpPr>
          <p:cNvPr id="33" name="conclusion"/>
          <p:cNvGrpSpPr/>
          <p:nvPr/>
        </p:nvGrpSpPr>
        <p:grpSpPr>
          <a:xfrm>
            <a:off x="533400" y="4762500"/>
            <a:ext cx="7807042" cy="419100"/>
            <a:chOff x="533400" y="4762500"/>
            <a:chExt cx="7807042" cy="419100"/>
          </a:xfrm>
        </p:grpSpPr>
        <p:sp>
          <p:nvSpPr>
            <p:cNvPr id="31" name="Rectangle 31"/>
            <p:cNvSpPr/>
            <p:nvPr/>
          </p:nvSpPr>
          <p:spPr>
            <a:xfrm>
              <a:off x="533400" y="4762500"/>
              <a:ext cx="38100" cy="419100"/>
            </a:xfrm>
            <a:prstGeom prst="rect">
              <a:avLst/>
            </a:prstGeom>
            <a:solidFill>
              <a:srgbClr val="F5B700"/>
            </a:solidFill>
            <a:ln>
              <a:noFill/>
            </a:ln>
          </p:spPr>
        </p:sp>
        <p:sp>
          <p:nvSpPr>
            <p:cNvPr id="32" name="TextBox 32"/>
            <p:cNvSpPr txBox="1"/>
            <p:nvPr/>
          </p:nvSpPr>
          <p:spPr>
            <a:xfrm>
              <a:off x="715899" y="4857750"/>
              <a:ext cx="76245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 PV5 AI 순찰차가 도로 위를 본다면, GroundWatch는 도로 아래를 봅니다.</a:t>
              </a:r>
            </a:p>
          </p:txBody>
        </p:sp>
      </p:grpSp>
      <p:grpSp>
        <p:nvGrpSpPr>
          <p:cNvPr id="35" name="source"/>
          <p:cNvGrpSpPr/>
          <p:nvPr/>
        </p:nvGrpSpPr>
        <p:grpSpPr>
          <a:xfrm>
            <a:off x="528447" y="6381750"/>
            <a:ext cx="9491518" cy="191643"/>
            <a:chOff x="528447" y="6381750"/>
            <a:chExt cx="9491518" cy="191643"/>
          </a:xfrm>
        </p:grpSpPr>
        <p:sp>
          <p:nvSpPr>
            <p:cNvPr id="34" name="TextBox 34"/>
            <p:cNvSpPr txBox="1"/>
            <p:nvPr/>
          </p:nvSpPr>
          <p:spPr>
            <a:xfrm>
              <a:off x="528447" y="6381750"/>
              <a:ext cx="949151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2장 뉴시스·세계일보 · 10장 GPR 전자기 시뮬레이션 · 15장 서울시 2024 공동조사용역 최종보고서 · 16장 머니투데이(2026.6.26, 경찰청 PV5 AI 순찰차)</a:t>
              </a:r>
            </a:p>
          </p:txBody>
        </p:sp>
      </p:grpSp>
      <p:grpSp>
        <p:nvGrpSpPr>
          <p:cNvPr id="38" name="footer"/>
          <p:cNvGrpSpPr/>
          <p:nvPr/>
        </p:nvGrpSpPr>
        <p:grpSpPr>
          <a:xfrm>
            <a:off x="528638" y="6610350"/>
            <a:ext cx="11134724" cy="176212"/>
            <a:chOff x="528638" y="6610350"/>
            <a:chExt cx="11134724" cy="176212"/>
          </a:xfrm>
        </p:grpSpPr>
        <p:sp>
          <p:nvSpPr>
            <p:cNvPr id="36" name="TextBox 3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37" name="TextBox 3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18</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7916179" cy="645414"/>
            <a:chOff x="516636" y="812800"/>
            <a:chExt cx="7916179" cy="645414"/>
          </a:xfrm>
        </p:grpSpPr>
        <p:sp>
          <p:nvSpPr>
            <p:cNvPr id="17" name="TextBox 17"/>
            <p:cNvSpPr txBox="1"/>
            <p:nvPr/>
          </p:nvSpPr>
          <p:spPr>
            <a:xfrm>
              <a:off x="516636" y="812800"/>
              <a:ext cx="7916179"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같은 길을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42" name="hero"/>
          <p:cNvGrpSpPr/>
          <p:nvPr/>
        </p:nvGrpSpPr>
        <p:grpSpPr>
          <a:xfrm>
            <a:off x="514350" y="4000500"/>
            <a:ext cx="11144250" cy="1473200"/>
            <a:chOff x="514350" y="4000500"/>
            <a:chExt cx="11144250" cy="1473200"/>
          </a:xfrm>
        </p:grpSpPr>
        <p:sp>
          <p:nvSpPr>
            <p:cNvPr id="37" name="Rectangle 37"/>
            <p:cNvSpPr/>
            <p:nvPr/>
          </p:nvSpPr>
          <p:spPr>
            <a:xfrm>
              <a:off x="533400" y="4000500"/>
              <a:ext cx="11125200" cy="28575"/>
            </a:xfrm>
            <a:prstGeom prst="rect">
              <a:avLst/>
            </a:prstGeom>
            <a:solidFill>
              <a:srgbClr val="0B1E3C"/>
            </a:solidFill>
            <a:ln>
              <a:noFill/>
            </a:ln>
          </p:spPr>
        </p:sp>
        <p:sp>
          <p:nvSpPr>
            <p:cNvPr id="38" name="TextBox 38"/>
            <p:cNvSpPr txBox="1"/>
            <p:nvPr/>
          </p:nvSpPr>
          <p:spPr>
            <a:xfrm>
              <a:off x="514350" y="4197350"/>
              <a:ext cx="2376750"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2.4배</a:t>
              </a:r>
            </a:p>
          </p:txBody>
        </p:sp>
        <p:sp>
          <p:nvSpPr>
            <p:cNvPr id="39" name="TextBox 39"/>
            <p:cNvSpPr txBox="1"/>
            <p:nvPr/>
          </p:nvSpPr>
          <p:spPr>
            <a:xfrm>
              <a:off x="3191256" y="4413250"/>
              <a:ext cx="3357402"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10cm 자란 공동의 변화 신호가</a:t>
              </a:r>
            </a:p>
          </p:txBody>
        </p:sp>
        <p:sp>
          <p:nvSpPr>
            <p:cNvPr id="40" name="TextBox 40"/>
            <p:cNvSpPr txBox="1"/>
            <p:nvPr/>
          </p:nvSpPr>
          <p:spPr>
            <a:xfrm>
              <a:off x="3191256" y="4756150"/>
              <a:ext cx="4454488" cy="352044"/>
            </a:xfrm>
            <a:prstGeom prst="rect">
              <a:avLst/>
            </a:prstGeom>
            <a:noFill/>
            <a:ln>
              <a:noFill/>
            </a:ln>
          </p:spPr>
          <p:txBody>
            <a:bodyPr wrap="none" lIns="0" tIns="0" rIns="0" bIns="0" anchor="t" anchorCtr="0">
              <a:spAutoFit/>
            </a:bodyPr>
            <a:lstStyle/>
            <a:p>
              <a:pPr algn="l"/>
              <a:r>
                <a:rPr lang="ko-KR" sz="1800" b="1" dirty="0">
                  <a:solidFill>
                    <a:srgbClr val="111827"/>
                  </a:solidFill>
                  <a:latin typeface="+mn-lt"/>
                  <a:ea typeface="+mn-ea"/>
                  <a:cs typeface="+mn-cs"/>
                </a:rPr>
                <a:t>가장 큰 오탐 요인보다 2.4배 뚜렷합니다</a:t>
              </a:r>
            </a:p>
          </p:txBody>
        </p:sp>
        <p:sp>
          <p:nvSpPr>
            <p:cNvPr id="41" name="TextBox 41"/>
            <p:cNvSpPr txBox="1"/>
            <p:nvPr/>
          </p:nvSpPr>
          <p:spPr>
            <a:xfrm>
              <a:off x="3194304" y="5162550"/>
              <a:ext cx="600547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전자기 시뮬레이션 결과이며 현장 정확도가 아닙니다 · 판정은 전문가, 확정은 천공</a:t>
              </a:r>
            </a:p>
          </p:txBody>
        </p:sp>
      </p:grpSp>
      <p:grpSp>
        <p:nvGrpSpPr>
          <p:cNvPr id="44" name="source"/>
          <p:cNvGrpSpPr/>
          <p:nvPr/>
        </p:nvGrpSpPr>
        <p:grpSpPr>
          <a:xfrm>
            <a:off x="528447" y="6381750"/>
            <a:ext cx="10106309" cy="191643"/>
            <a:chOff x="528447" y="6381750"/>
            <a:chExt cx="10106309" cy="191643"/>
          </a:xfrm>
        </p:grpSpPr>
        <p:sp>
          <p:nvSpPr>
            <p:cNvPr id="43" name="TextBox 43"/>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18</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7421570" cy="645414"/>
            <a:chOff x="516636" y="812800"/>
            <a:chExt cx="7421570" cy="645414"/>
          </a:xfrm>
        </p:grpSpPr>
        <p:sp>
          <p:nvSpPr>
            <p:cNvPr id="17" name="TextBox 17"/>
            <p:cNvSpPr txBox="1"/>
            <p:nvPr/>
          </p:nvSpPr>
          <p:spPr>
            <a:xfrm>
              <a:off x="516636" y="812800"/>
              <a:ext cx="7421570"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찾은 지점은 현장에서 바로 확인합니다</a:t>
              </a:r>
            </a:p>
          </p:txBody>
        </p:sp>
      </p:grpSp>
      <p:grpSp>
        <p:nvGrpSpPr>
          <p:cNvPr id="20" name="lead"/>
          <p:cNvGrpSpPr/>
          <p:nvPr/>
        </p:nvGrpSpPr>
        <p:grpSpPr>
          <a:xfrm>
            <a:off x="524256" y="1651000"/>
            <a:ext cx="7457389" cy="352044"/>
            <a:chOff x="524256" y="1651000"/>
            <a:chExt cx="7457389" cy="352044"/>
          </a:xfrm>
        </p:grpSpPr>
        <p:sp>
          <p:nvSpPr>
            <p:cNvPr id="19" name="TextBox 19"/>
            <p:cNvSpPr txBox="1"/>
            <p:nvPr/>
          </p:nvSpPr>
          <p:spPr>
            <a:xfrm>
              <a:off x="524256" y="1651000"/>
              <a:ext cx="7457389" cy="352044"/>
            </a:xfrm>
            <a:prstGeom prst="rect">
              <a:avLst/>
            </a:prstGeom>
            <a:noFill/>
            <a:ln>
              <a:noFill/>
            </a:ln>
          </p:spPr>
          <p:txBody>
            <a:bodyPr wrap="none" lIns="0" tIns="0" rIns="0" bIns="0" anchor="t" anchorCtr="0">
              <a:spAutoFit/>
            </a:bodyPr>
            <a:lstStyle/>
            <a:p>
              <a:pPr algn="l"/>
              <a:r>
                <a:rPr lang="ko-KR" sz="1800" dirty="0">
                  <a:solidFill>
                    <a:srgbClr val="374151"/>
                  </a:solidFill>
                  <a:latin typeface="+mn-lt"/>
                  <a:ea typeface="+mn-ea"/>
                  <a:cs typeface="+mn-cs"/>
                </a:rPr>
                <a:t xml:space="preserve">판독자가 승인한 지점만, </a:t>
              </a:r>
              <a:r>
                <a:rPr lang="ko-KR" sz="1800" b="1" dirty="0">
                  <a:solidFill>
                    <a:srgbClr val="0B1E3C"/>
                  </a:solidFill>
                  <a:latin typeface="+mn-lt"/>
                  <a:ea typeface="+mn-ea"/>
                  <a:cs typeface="+mn-cs"/>
                </a:rPr>
                <a:t>2인 1조가 현장에서 바로</a:t>
              </a:r>
              <a:r>
                <a:rPr lang="ko-KR" sz="1800" dirty="0">
                  <a:solidFill>
                    <a:srgbClr val="374151"/>
                  </a:solidFill>
                  <a:latin typeface="+mn-lt"/>
                  <a:ea typeface="+mn-ea"/>
                  <a:cs typeface="+mn-cs"/>
                </a:rPr>
                <a:t xml:space="preserve"> 다시 확인합니다.</a:t>
              </a:r>
            </a:p>
          </p:txBody>
        </p:sp>
      </p:grpSp>
      <p:grpSp>
        <p:nvGrpSpPr>
          <p:cNvPr id="25" name="cabin-panel"/>
          <p:cNvGrpSpPr/>
          <p:nvPr/>
        </p:nvGrpSpPr>
        <p:grpSpPr>
          <a:xfrm>
            <a:off x="526542" y="2381250"/>
            <a:ext cx="5302758" cy="3508883"/>
            <a:chOff x="526542" y="2381250"/>
            <a:chExt cx="5302758" cy="3508883"/>
          </a:xfrm>
        </p:grpSpPr>
        <p:pic>
          <p:nvPicPr>
            <p:cNvPr id="21" name="Image 2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22" name="Rectangle 22"/>
            <p:cNvSpPr/>
            <p:nvPr/>
          </p:nvSpPr>
          <p:spPr>
            <a:xfrm>
              <a:off x="628650" y="2476500"/>
              <a:ext cx="1314450" cy="228600"/>
            </a:xfrm>
            <a:prstGeom prst="roundRect">
              <a:avLst>
                <a:gd name="adj" fmla="val 12500"/>
              </a:avLst>
            </a:prstGeom>
            <a:solidFill>
              <a:srgbClr val="0B1E3C"/>
            </a:solidFill>
            <a:ln>
              <a:noFill/>
            </a:ln>
          </p:spPr>
        </p:sp>
        <p:sp>
          <p:nvSpPr>
            <p:cNvPr id="23" name="TextBox 2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24" name="TextBox 2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grpSp>
      <p:grpSp>
        <p:nvGrpSpPr>
          <p:cNvPr id="45" name="ar-panel"/>
          <p:cNvGrpSpPr/>
          <p:nvPr/>
        </p:nvGrpSpPr>
        <p:grpSpPr>
          <a:xfrm>
            <a:off x="6089142" y="2381250"/>
            <a:ext cx="5569458" cy="3508883"/>
            <a:chOff x="6089142" y="2381250"/>
            <a:chExt cx="5569458" cy="3508883"/>
          </a:xfrm>
        </p:grpSpPr>
        <p:pic>
          <p:nvPicPr>
            <p:cNvPr id="26" name="Image 26"/>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27" name="Polygon 27"/>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31" name="Group 31"/>
            <p:cNvGrpSpPr/>
            <p:nvPr/>
          </p:nvGrpSpPr>
          <p:grpSpPr>
            <a:xfrm>
              <a:off x="8229600" y="4343400"/>
              <a:ext cx="1628775" cy="352425"/>
              <a:chOff x="8229600" y="4343400"/>
              <a:chExt cx="1628775" cy="352425"/>
            </a:xfrm>
          </p:grpSpPr>
          <p:sp>
            <p:nvSpPr>
              <p:cNvPr id="28" name="Line 28"/>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29" name="Line 29"/>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30" name="Line 30"/>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32" name="Ellipse 32"/>
            <p:cNvSpPr/>
            <p:nvPr/>
          </p:nvSpPr>
          <p:spPr>
            <a:xfrm>
              <a:off x="7943850" y="4933950"/>
              <a:ext cx="1866900" cy="628650"/>
            </a:xfrm>
            <a:prstGeom prst="ellipse">
              <a:avLst/>
            </a:prstGeom>
            <a:noFill/>
            <a:ln w="23812">
              <a:solidFill>
                <a:srgbClr val="FFFFFF"/>
              </a:solidFill>
            </a:ln>
          </p:spPr>
        </p:sp>
        <p:sp>
          <p:nvSpPr>
            <p:cNvPr id="33" name="Rectangle 33"/>
            <p:cNvSpPr/>
            <p:nvPr/>
          </p:nvSpPr>
          <p:spPr>
            <a:xfrm>
              <a:off x="9906000" y="5086350"/>
              <a:ext cx="1066800" cy="209550"/>
            </a:xfrm>
            <a:prstGeom prst="roundRect">
              <a:avLst>
                <a:gd name="adj" fmla="val 13636"/>
              </a:avLst>
            </a:prstGeom>
            <a:solidFill>
              <a:srgbClr val="0B1E3C">
                <a:alpha val="85000"/>
              </a:srgbClr>
            </a:solidFill>
            <a:ln>
              <a:noFill/>
            </a:ln>
          </p:spPr>
        </p:sp>
        <p:sp>
          <p:nvSpPr>
            <p:cNvPr id="34" name="TextBox 34"/>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35" name="Ellipse 35"/>
            <p:cNvSpPr/>
            <p:nvPr/>
          </p:nvSpPr>
          <p:spPr>
            <a:xfrm>
              <a:off x="7267575" y="4705350"/>
              <a:ext cx="133350" cy="133350"/>
            </a:xfrm>
            <a:prstGeom prst="ellipse">
              <a:avLst/>
            </a:prstGeom>
            <a:noFill/>
            <a:ln w="23812">
              <a:solidFill>
                <a:srgbClr val="FFFFFF"/>
              </a:solidFill>
            </a:ln>
          </p:spPr>
        </p:sp>
        <p:sp>
          <p:nvSpPr>
            <p:cNvPr id="36" name="Rectangle 36"/>
            <p:cNvSpPr/>
            <p:nvPr/>
          </p:nvSpPr>
          <p:spPr>
            <a:xfrm>
              <a:off x="6286500" y="4362450"/>
              <a:ext cx="1181100" cy="209550"/>
            </a:xfrm>
            <a:prstGeom prst="roundRect">
              <a:avLst>
                <a:gd name="adj" fmla="val 13636"/>
              </a:avLst>
            </a:prstGeom>
            <a:solidFill>
              <a:srgbClr val="0B1E3C">
                <a:alpha val="85000"/>
              </a:srgbClr>
            </a:solidFill>
            <a:ln>
              <a:noFill/>
            </a:ln>
          </p:spPr>
        </p:sp>
        <p:sp>
          <p:nvSpPr>
            <p:cNvPr id="37" name="TextBox 37"/>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38" name="Rectangle 38"/>
            <p:cNvSpPr/>
            <p:nvPr/>
          </p:nvSpPr>
          <p:spPr>
            <a:xfrm>
              <a:off x="6096000" y="2381250"/>
              <a:ext cx="5562600" cy="228600"/>
            </a:xfrm>
            <a:prstGeom prst="rect">
              <a:avLst/>
            </a:prstGeom>
            <a:solidFill>
              <a:srgbClr val="C62828">
                <a:alpha val="92000"/>
              </a:srgbClr>
            </a:solidFill>
            <a:ln>
              <a:noFill/>
            </a:ln>
          </p:spPr>
        </p:sp>
        <p:sp>
          <p:nvSpPr>
            <p:cNvPr id="39" name="TextBox 39"/>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40" name="Rectangle 40"/>
            <p:cNvSpPr/>
            <p:nvPr/>
          </p:nvSpPr>
          <p:spPr>
            <a:xfrm>
              <a:off x="6248400" y="2724150"/>
              <a:ext cx="2571750" cy="685800"/>
            </a:xfrm>
            <a:prstGeom prst="roundRect">
              <a:avLst>
                <a:gd name="adj" fmla="val 8333"/>
              </a:avLst>
            </a:prstGeom>
            <a:solidFill>
              <a:srgbClr val="0B1E3C">
                <a:alpha val="85000"/>
              </a:srgbClr>
            </a:solidFill>
            <a:ln>
              <a:noFill/>
            </a:ln>
          </p:spPr>
        </p:sp>
        <p:sp>
          <p:nvSpPr>
            <p:cNvPr id="41" name="TextBox 41"/>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42" name="TextBox 42"/>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43" name="TextBox 43"/>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44" name="TextBox 44"/>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grpSp>
      <p:grpSp>
        <p:nvGrpSpPr>
          <p:cNvPr id="47" name="source"/>
          <p:cNvGrpSpPr/>
          <p:nvPr/>
        </p:nvGrpSpPr>
        <p:grpSpPr>
          <a:xfrm>
            <a:off x="528447" y="6343650"/>
            <a:ext cx="8746670" cy="191643"/>
            <a:chOff x="528447" y="6343650"/>
            <a:chExt cx="8746670" cy="191643"/>
          </a:xfrm>
        </p:grpSpPr>
        <p:sp>
          <p:nvSpPr>
            <p:cNvPr id="46" name="TextBox 46"/>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50" name="footer"/>
          <p:cNvGrpSpPr/>
          <p:nvPr/>
        </p:nvGrpSpPr>
        <p:grpSpPr>
          <a:xfrm>
            <a:off x="528638" y="6610350"/>
            <a:ext cx="11134724" cy="176212"/>
            <a:chOff x="528638" y="6610350"/>
            <a:chExt cx="11134724" cy="176212"/>
          </a:xfrm>
        </p:grpSpPr>
        <p:sp>
          <p:nvSpPr>
            <p:cNvPr id="48" name="TextBox 4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9" name="TextBox 4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18</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7033128" cy="645414"/>
            <a:chOff x="516636" y="812800"/>
            <a:chExt cx="7033128" cy="645414"/>
          </a:xfrm>
        </p:grpSpPr>
        <p:sp>
          <p:nvSpPr>
            <p:cNvPr id="17" name="TextBox 17"/>
            <p:cNvSpPr txBox="1"/>
            <p:nvPr/>
          </p:nvSpPr>
          <p:spPr>
            <a:xfrm>
              <a:off x="516636" y="812800"/>
              <a:ext cx="7033128"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PV5 한 대가 이동형 탐사실이 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47" name="spec"/>
          <p:cNvGrpSpPr/>
          <p:nvPr/>
        </p:nvGrpSpPr>
        <p:grpSpPr>
          <a:xfrm>
            <a:off x="6845046" y="1524000"/>
            <a:ext cx="4813554" cy="3777996"/>
            <a:chOff x="6845046" y="1524000"/>
            <a:chExt cx="4813554" cy="3777996"/>
          </a:xfrm>
        </p:grpSpPr>
        <p:sp>
          <p:nvSpPr>
            <p:cNvPr id="35" name="Rectangle 35"/>
            <p:cNvSpPr/>
            <p:nvPr/>
          </p:nvSpPr>
          <p:spPr>
            <a:xfrm>
              <a:off x="6858000" y="1524000"/>
              <a:ext cx="4800600" cy="28575"/>
            </a:xfrm>
            <a:prstGeom prst="rect">
              <a:avLst/>
            </a:prstGeom>
            <a:solidFill>
              <a:srgbClr val="0B1E3C"/>
            </a:solidFill>
            <a:ln>
              <a:noFill/>
            </a:ln>
          </p:spPr>
        </p:sp>
        <p:sp>
          <p:nvSpPr>
            <p:cNvPr id="36" name="TextBox 36"/>
            <p:cNvSpPr txBox="1"/>
            <p:nvPr/>
          </p:nvSpPr>
          <p:spPr>
            <a:xfrm>
              <a:off x="6851142" y="1739900"/>
              <a:ext cx="558927"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싣는다</a:t>
              </a:r>
            </a:p>
          </p:txBody>
        </p:sp>
        <p:sp>
          <p:nvSpPr>
            <p:cNvPr id="37" name="TextBox 37"/>
            <p:cNvSpPr txBox="1"/>
            <p:nvPr/>
          </p:nvSpPr>
          <p:spPr>
            <a:xfrm>
              <a:off x="6845046" y="2038350"/>
              <a:ext cx="2536347" cy="498729"/>
            </a:xfrm>
            <a:prstGeom prst="rect">
              <a:avLst/>
            </a:prstGeom>
            <a:noFill/>
            <a:ln>
              <a:noFill/>
            </a:ln>
          </p:spPr>
          <p:txBody>
            <a:bodyPr wrap="none" lIns="0" tIns="0" rIns="0" bIns="0" anchor="t" anchorCtr="0">
              <a:spAutoFit/>
            </a:bodyPr>
            <a:lstStyle/>
            <a:p>
              <a:pPr algn="l"/>
              <a:r>
                <a:rPr lang="en-US" sz="2550" b="1" spc="-75" dirty="0">
                  <a:solidFill>
                    <a:srgbClr val="0B1E3C"/>
                  </a:solidFill>
                  <a:latin typeface="+mn-lt"/>
                  <a:ea typeface="+mn-ea"/>
                  <a:cs typeface="+mn-cs"/>
                </a:rPr>
                <a:t>4,420L · 550kg</a:t>
              </a:r>
            </a:p>
          </p:txBody>
        </p:sp>
        <p:sp>
          <p:nvSpPr>
            <p:cNvPr id="38" name="TextBox 38"/>
            <p:cNvSpPr txBox="1"/>
            <p:nvPr/>
          </p:nvSpPr>
          <p:spPr>
            <a:xfrm>
              <a:off x="6851904" y="2476500"/>
              <a:ext cx="158724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장비 약 300kg [가설]</a:t>
              </a:r>
            </a:p>
          </p:txBody>
        </p:sp>
        <p:sp>
          <p:nvSpPr>
            <p:cNvPr id="39" name="Rectangle 39"/>
            <p:cNvSpPr/>
            <p:nvPr/>
          </p:nvSpPr>
          <p:spPr>
            <a:xfrm>
              <a:off x="6858000" y="2819400"/>
              <a:ext cx="4800600" cy="28575"/>
            </a:xfrm>
            <a:prstGeom prst="rect">
              <a:avLst/>
            </a:prstGeom>
            <a:solidFill>
              <a:srgbClr val="0B1E3C"/>
            </a:solidFill>
            <a:ln>
              <a:noFill/>
            </a:ln>
          </p:spPr>
        </p:sp>
        <p:sp>
          <p:nvSpPr>
            <p:cNvPr id="40" name="TextBox 40"/>
            <p:cNvSpPr txBox="1"/>
            <p:nvPr/>
          </p:nvSpPr>
          <p:spPr>
            <a:xfrm>
              <a:off x="6851142" y="3035300"/>
              <a:ext cx="377190"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켠다</a:t>
              </a:r>
            </a:p>
          </p:txBody>
        </p:sp>
        <p:sp>
          <p:nvSpPr>
            <p:cNvPr id="41" name="TextBox 41"/>
            <p:cNvSpPr txBox="1"/>
            <p:nvPr/>
          </p:nvSpPr>
          <p:spPr>
            <a:xfrm>
              <a:off x="6845046" y="3321050"/>
              <a:ext cx="2546662" cy="498729"/>
            </a:xfrm>
            <a:prstGeom prst="rect">
              <a:avLst/>
            </a:prstGeom>
            <a:noFill/>
            <a:ln>
              <a:noFill/>
            </a:ln>
          </p:spPr>
          <p:txBody>
            <a:bodyPr wrap="none" lIns="0" tIns="0" rIns="0" bIns="0" anchor="t" anchorCtr="0">
              <a:spAutoFit/>
            </a:bodyPr>
            <a:lstStyle/>
            <a:p>
              <a:pPr algn="l"/>
              <a:r>
                <a:rPr lang="ko-KR" sz="2550" b="1" spc="-75" dirty="0">
                  <a:solidFill>
                    <a:srgbClr val="0B1E3C"/>
                  </a:solidFill>
                  <a:latin typeface="+mn-lt"/>
                  <a:ea typeface="+mn-ea"/>
                  <a:cs typeface="+mn-cs"/>
                </a:rPr>
                <a:t>V2L 최대 3.6kW</a:t>
              </a:r>
            </a:p>
          </p:txBody>
        </p:sp>
        <p:sp>
          <p:nvSpPr>
            <p:cNvPr id="42" name="TextBox 42"/>
            <p:cNvSpPr txBox="1"/>
            <p:nvPr/>
          </p:nvSpPr>
          <p:spPr>
            <a:xfrm>
              <a:off x="6851904" y="3771900"/>
              <a:ext cx="2859329"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장비 1.5kW · 배터리의 14%/일 [가설]</a:t>
              </a:r>
            </a:p>
          </p:txBody>
        </p:sp>
        <p:sp>
          <p:nvSpPr>
            <p:cNvPr id="43" name="Rectangle 43"/>
            <p:cNvSpPr/>
            <p:nvPr/>
          </p:nvSpPr>
          <p:spPr>
            <a:xfrm>
              <a:off x="6858000" y="4114800"/>
              <a:ext cx="4800600" cy="28575"/>
            </a:xfrm>
            <a:prstGeom prst="rect">
              <a:avLst/>
            </a:prstGeom>
            <a:solidFill>
              <a:srgbClr val="0B1E3C"/>
            </a:solidFill>
            <a:ln>
              <a:noFill/>
            </a:ln>
          </p:spPr>
        </p:sp>
        <p:sp>
          <p:nvSpPr>
            <p:cNvPr id="44" name="TextBox 44"/>
            <p:cNvSpPr txBox="1"/>
            <p:nvPr/>
          </p:nvSpPr>
          <p:spPr>
            <a:xfrm>
              <a:off x="6851142" y="4330700"/>
              <a:ext cx="740664"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연결한다</a:t>
              </a:r>
            </a:p>
          </p:txBody>
        </p:sp>
        <p:sp>
          <p:nvSpPr>
            <p:cNvPr id="45" name="TextBox 45"/>
            <p:cNvSpPr txBox="1"/>
            <p:nvPr/>
          </p:nvSpPr>
          <p:spPr>
            <a:xfrm>
              <a:off x="6845046" y="4629150"/>
              <a:ext cx="1867979" cy="498729"/>
            </a:xfrm>
            <a:prstGeom prst="rect">
              <a:avLst/>
            </a:prstGeom>
            <a:noFill/>
            <a:ln>
              <a:noFill/>
            </a:ln>
          </p:spPr>
          <p:txBody>
            <a:bodyPr wrap="none" lIns="0" tIns="0" rIns="0" bIns="0" anchor="t" anchorCtr="0">
              <a:spAutoFit/>
            </a:bodyPr>
            <a:lstStyle/>
            <a:p>
              <a:pPr algn="l"/>
              <a:r>
                <a:rPr lang="en-US" sz="2550" b="1" spc="-75" dirty="0">
                  <a:solidFill>
                    <a:srgbClr val="0B1E3C"/>
                  </a:solidFill>
                  <a:latin typeface="+mn-lt"/>
                  <a:ea typeface="+mn-ea"/>
                  <a:cs typeface="+mn-cs"/>
                </a:rPr>
                <a:t>PIM · Pleos</a:t>
              </a:r>
            </a:p>
          </p:txBody>
        </p:sp>
        <p:sp>
          <p:nvSpPr>
            <p:cNvPr id="46" name="TextBox 46"/>
            <p:cNvSpPr txBox="1"/>
            <p:nvPr/>
          </p:nvSpPr>
          <p:spPr>
            <a:xfrm>
              <a:off x="6851904" y="5067300"/>
              <a:ext cx="321076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재확인 지점 안내 · 장비 제어 · 여러 대 관제</a:t>
              </a:r>
            </a:p>
          </p:txBody>
        </p:sp>
      </p:grpSp>
      <p:grpSp>
        <p:nvGrpSpPr>
          <p:cNvPr id="50" name="conclusion"/>
          <p:cNvGrpSpPr/>
          <p:nvPr/>
        </p:nvGrpSpPr>
        <p:grpSpPr>
          <a:xfrm>
            <a:off x="533400" y="5695950"/>
            <a:ext cx="6764768" cy="419100"/>
            <a:chOff x="533400" y="5695950"/>
            <a:chExt cx="6764768" cy="419100"/>
          </a:xfrm>
        </p:grpSpPr>
        <p:sp>
          <p:nvSpPr>
            <p:cNvPr id="48" name="Rectangle 48"/>
            <p:cNvSpPr/>
            <p:nvPr/>
          </p:nvSpPr>
          <p:spPr>
            <a:xfrm>
              <a:off x="533400" y="5695950"/>
              <a:ext cx="38100" cy="419100"/>
            </a:xfrm>
            <a:prstGeom prst="rect">
              <a:avLst/>
            </a:prstGeom>
            <a:solidFill>
              <a:srgbClr val="F5B700"/>
            </a:solidFill>
            <a:ln>
              <a:noFill/>
            </a:ln>
          </p:spPr>
        </p:sp>
        <p:sp>
          <p:nvSpPr>
            <p:cNvPr id="49" name="TextBox 49"/>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52" name="source"/>
          <p:cNvGrpSpPr/>
          <p:nvPr/>
        </p:nvGrpSpPr>
        <p:grpSpPr>
          <a:xfrm>
            <a:off x="528447" y="6381750"/>
            <a:ext cx="11687179" cy="191643"/>
            <a:chOff x="528447" y="6381750"/>
            <a:chExt cx="11687179" cy="191643"/>
          </a:xfrm>
        </p:grpSpPr>
        <p:sp>
          <p:nvSpPr>
            <p:cNvPr id="51" name="TextBox 51"/>
            <p:cNvSpPr txBox="1"/>
            <p:nvPr/>
          </p:nvSpPr>
          <p:spPr>
            <a:xfrm>
              <a:off x="528447" y="6381750"/>
              <a:ext cx="1168717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카고룸 4,420L(VDA)·V2L 3.6kW는 해외 제원 · 배치는 콘셉트</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18</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7704625" cy="645414"/>
            <a:chOff x="516636" y="812800"/>
            <a:chExt cx="7704625" cy="645414"/>
          </a:xfrm>
        </p:grpSpPr>
        <p:sp>
          <p:nvSpPr>
            <p:cNvPr id="17" name="TextBox 17"/>
            <p:cNvSpPr txBox="1"/>
            <p:nvPr/>
          </p:nvSpPr>
          <p:spPr>
            <a:xfrm>
              <a:off x="516636" y="812800"/>
              <a:ext cx="7704625"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어느 PV5가 재도, 같은 기준으로 잽니다</a:t>
              </a:r>
            </a:p>
          </p:txBody>
        </p:sp>
      </p:grpSp>
      <p:grpSp>
        <p:nvGrpSpPr>
          <p:cNvPr id="32" name="premise"/>
          <p:cNvGrpSpPr/>
          <p:nvPr/>
        </p:nvGrpSpPr>
        <p:grpSpPr>
          <a:xfrm>
            <a:off x="533400" y="1677352"/>
            <a:ext cx="11130153" cy="1698626"/>
            <a:chOff x="533400" y="1677352"/>
            <a:chExt cx="11130153" cy="1698626"/>
          </a:xfrm>
        </p:grpSpPr>
        <p:sp>
          <p:nvSpPr>
            <p:cNvPr id="19" name="Line 19"/>
            <p:cNvSpPr/>
            <p:nvPr/>
          </p:nvSpPr>
          <p:spPr>
            <a:xfrm>
              <a:off x="533400" y="279177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20" name="Image 20"/>
            <p:cNvPicPr>
              <a:picLocks noChangeAspect="1"/>
            </p:cNvPicPr>
            <p:nvPr/>
          </p:nvPicPr>
          <p:blipFill>
            <a:blip r:embed="rId2"/>
            <a:stretch>
              <a:fillRect/>
            </a:stretch>
          </p:blipFill>
          <p:spPr>
            <a:xfrm>
              <a:off x="666750" y="1677352"/>
              <a:ext cx="2857500" cy="1225868"/>
            </a:xfrm>
            <a:prstGeom prst="rect">
              <a:avLst/>
            </a:prstGeom>
          </p:spPr>
        </p:pic>
        <p:sp>
          <p:nvSpPr>
            <p:cNvPr id="21" name="TextBox 21"/>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1호차</a:t>
              </a:r>
            </a:p>
          </p:txBody>
        </p:sp>
        <p:sp>
          <p:nvSpPr>
            <p:cNvPr id="22" name="TextBox 22"/>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노선을 6회</a:t>
              </a:r>
            </a:p>
          </p:txBody>
        </p:sp>
        <p:sp>
          <p:nvSpPr>
            <p:cNvPr id="23" name="TextBox 23"/>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4" name="Image 24"/>
            <p:cNvPicPr>
              <a:picLocks noChangeAspect="1"/>
            </p:cNvPicPr>
            <p:nvPr/>
          </p:nvPicPr>
          <p:blipFill>
            <a:blip r:embed="rId3"/>
            <a:stretch>
              <a:fillRect/>
            </a:stretch>
          </p:blipFill>
          <p:spPr>
            <a:xfrm>
              <a:off x="4476750" y="1677352"/>
              <a:ext cx="2857500" cy="1225868"/>
            </a:xfrm>
            <a:prstGeom prst="rect">
              <a:avLst/>
            </a:prstGeom>
          </p:spPr>
        </p:pic>
        <p:sp>
          <p:nvSpPr>
            <p:cNvPr id="25" name="TextBox 25"/>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예비차·재배치 차</a:t>
              </a:r>
            </a:p>
          </p:txBody>
        </p:sp>
        <p:sp>
          <p:nvSpPr>
            <p:cNvPr id="26" name="TextBox 26"/>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정비·교체·노선 재배치 때</a:t>
              </a:r>
            </a:p>
          </p:txBody>
        </p:sp>
        <p:sp>
          <p:nvSpPr>
            <p:cNvPr id="27" name="TextBox 27"/>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8" name="Image 28"/>
            <p:cNvPicPr>
              <a:picLocks noChangeAspect="1"/>
            </p:cNvPicPr>
            <p:nvPr/>
          </p:nvPicPr>
          <p:blipFill>
            <a:blip r:embed="rId4"/>
            <a:stretch>
              <a:fillRect/>
            </a:stretch>
          </p:blipFill>
          <p:spPr>
            <a:xfrm>
              <a:off x="8286750" y="1677352"/>
              <a:ext cx="2857500" cy="1225868"/>
            </a:xfrm>
            <a:prstGeom prst="rect">
              <a:avLst/>
            </a:prstGeom>
          </p:spPr>
        </p:pic>
        <p:sp>
          <p:nvSpPr>
            <p:cNvPr id="29" name="TextBox 29"/>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다른 도시 PV5</a:t>
              </a:r>
            </a:p>
          </p:txBody>
        </p:sp>
        <p:sp>
          <p:nvSpPr>
            <p:cNvPr id="30" name="TextBox 30"/>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판독 기준·AI 학습 데이터</a:t>
              </a:r>
            </a:p>
          </p:txBody>
        </p:sp>
        <p:sp>
          <p:nvSpPr>
            <p:cNvPr id="31" name="TextBox 31"/>
            <p:cNvSpPr txBox="1"/>
            <p:nvPr/>
          </p:nvSpPr>
          <p:spPr>
            <a:xfrm>
              <a:off x="10458924" y="2925128"/>
              <a:ext cx="1204629" cy="191643"/>
            </a:xfrm>
            <a:prstGeom prst="rect">
              <a:avLst/>
            </a:prstGeom>
            <a:noFill/>
            <a:ln>
              <a:noFill/>
            </a:ln>
          </p:spPr>
          <p:txBody>
            <a:bodyPr wrap="none" lIns="0" tIns="0" rIns="0" bIns="0" anchor="t" anchorCtr="0">
              <a:spAutoFit/>
            </a:bodyPr>
            <a:lstStyle/>
            <a:p>
              <a:pPr algn="r"/>
              <a:r>
                <a:rPr lang="ko-KR" sz="980" b="1" dirty="0">
                  <a:solidFill>
                    <a:srgbClr val="B45309"/>
                  </a:solidFill>
                  <a:latin typeface="+mn-lt"/>
                  <a:ea typeface="+mn-ea"/>
                  <a:cs typeface="+mn-cs"/>
                </a:rPr>
                <a:t>GPR 높이·위치 동일</a:t>
              </a:r>
            </a:p>
          </p:txBody>
        </p:sp>
      </p:grpSp>
      <p:grpSp>
        <p:nvGrpSpPr>
          <p:cNvPr id="45" name="compare"/>
          <p:cNvGrpSpPr/>
          <p:nvPr/>
        </p:nvGrpSpPr>
        <p:grpSpPr>
          <a:xfrm>
            <a:off x="524256" y="3943350"/>
            <a:ext cx="11134344" cy="767652"/>
            <a:chOff x="524256" y="3943350"/>
            <a:chExt cx="11134344" cy="767652"/>
          </a:xfrm>
        </p:grpSpPr>
        <p:sp>
          <p:nvSpPr>
            <p:cNvPr id="33" name="Rectangle 33"/>
            <p:cNvSpPr/>
            <p:nvPr/>
          </p:nvSpPr>
          <p:spPr>
            <a:xfrm>
              <a:off x="533400" y="3943350"/>
              <a:ext cx="2609850" cy="28575"/>
            </a:xfrm>
            <a:prstGeom prst="rect">
              <a:avLst/>
            </a:prstGeom>
            <a:solidFill>
              <a:srgbClr val="0B1E3C"/>
            </a:solidFill>
            <a:ln>
              <a:noFill/>
            </a:ln>
          </p:spPr>
        </p:sp>
        <p:sp>
          <p:nvSpPr>
            <p:cNvPr id="34" name="TextBox 34"/>
            <p:cNvSpPr txBox="1"/>
            <p:nvPr/>
          </p:nvSpPr>
          <p:spPr>
            <a:xfrm>
              <a:off x="524256" y="4089400"/>
              <a:ext cx="1830423"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PBV 컨버전 포털</a:t>
              </a:r>
            </a:p>
          </p:txBody>
        </p:sp>
        <p:sp>
          <p:nvSpPr>
            <p:cNvPr id="35" name="TextBox 35"/>
            <p:cNvSpPr txBox="1"/>
            <p:nvPr/>
          </p:nvSpPr>
          <p:spPr>
            <a:xfrm>
              <a:off x="526161" y="4432300"/>
              <a:ext cx="2155474"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모든 차에 같은 위치 장착</a:t>
              </a:r>
            </a:p>
          </p:txBody>
        </p:sp>
        <p:sp>
          <p:nvSpPr>
            <p:cNvPr id="36" name="Rectangle 36"/>
            <p:cNvSpPr/>
            <p:nvPr/>
          </p:nvSpPr>
          <p:spPr>
            <a:xfrm>
              <a:off x="3371850" y="3943350"/>
              <a:ext cx="2609850" cy="28575"/>
            </a:xfrm>
            <a:prstGeom prst="rect">
              <a:avLst/>
            </a:prstGeom>
            <a:solidFill>
              <a:srgbClr val="0B1E3C"/>
            </a:solidFill>
            <a:ln>
              <a:noFill/>
            </a:ln>
          </p:spPr>
        </p:sp>
        <p:sp>
          <p:nvSpPr>
            <p:cNvPr id="37" name="TextBox 37"/>
            <p:cNvSpPr txBox="1"/>
            <p:nvPr/>
          </p:nvSpPr>
          <p:spPr>
            <a:xfrm>
              <a:off x="3362706" y="4089400"/>
              <a:ext cx="2045490"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PIM · 조인트 블록</a:t>
              </a:r>
            </a:p>
          </p:txBody>
        </p:sp>
        <p:sp>
          <p:nvSpPr>
            <p:cNvPr id="38" name="TextBox 38"/>
            <p:cNvSpPr txBox="1"/>
            <p:nvPr/>
          </p:nvSpPr>
          <p:spPr>
            <a:xfrm>
              <a:off x="3364611" y="4432300"/>
              <a:ext cx="239442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차가 장비 전원·기록을 제어</a:t>
              </a:r>
            </a:p>
          </p:txBody>
        </p:sp>
        <p:sp>
          <p:nvSpPr>
            <p:cNvPr id="39" name="Rectangle 39"/>
            <p:cNvSpPr/>
            <p:nvPr/>
          </p:nvSpPr>
          <p:spPr>
            <a:xfrm>
              <a:off x="6210300" y="3943350"/>
              <a:ext cx="2609850" cy="28575"/>
            </a:xfrm>
            <a:prstGeom prst="rect">
              <a:avLst/>
            </a:prstGeom>
            <a:solidFill>
              <a:srgbClr val="0B1E3C"/>
            </a:solidFill>
            <a:ln>
              <a:noFill/>
            </a:ln>
          </p:spPr>
        </p:sp>
        <p:sp>
          <p:nvSpPr>
            <p:cNvPr id="40" name="TextBox 40"/>
            <p:cNvSpPr txBox="1"/>
            <p:nvPr/>
          </p:nvSpPr>
          <p:spPr>
            <a:xfrm>
              <a:off x="6201156" y="4089400"/>
              <a:ext cx="138204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Pleos Fleet</a:t>
              </a:r>
            </a:p>
          </p:txBody>
        </p:sp>
        <p:sp>
          <p:nvSpPr>
            <p:cNvPr id="41" name="TextBox 41"/>
            <p:cNvSpPr txBox="1"/>
            <p:nvPr/>
          </p:nvSpPr>
          <p:spPr>
            <a:xfrm>
              <a:off x="6203061" y="4432300"/>
              <a:ext cx="234663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단말기 없이 여러 도시 관제</a:t>
              </a:r>
            </a:p>
          </p:txBody>
        </p:sp>
        <p:sp>
          <p:nvSpPr>
            <p:cNvPr id="42" name="Rectangle 42"/>
            <p:cNvSpPr/>
            <p:nvPr/>
          </p:nvSpPr>
          <p:spPr>
            <a:xfrm>
              <a:off x="9048750" y="3943350"/>
              <a:ext cx="2609850" cy="28575"/>
            </a:xfrm>
            <a:prstGeom prst="rect">
              <a:avLst/>
            </a:prstGeom>
            <a:solidFill>
              <a:srgbClr val="0B1E3C"/>
            </a:solidFill>
            <a:ln>
              <a:noFill/>
            </a:ln>
          </p:spPr>
        </p:sp>
        <p:sp>
          <p:nvSpPr>
            <p:cNvPr id="43" name="TextBox 43"/>
            <p:cNvSpPr txBox="1"/>
            <p:nvPr/>
          </p:nvSpPr>
          <p:spPr>
            <a:xfrm>
              <a:off x="9039606" y="4089400"/>
              <a:ext cx="1623026"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적재고 419mm</a:t>
              </a:r>
            </a:p>
          </p:txBody>
        </p:sp>
        <p:sp>
          <p:nvSpPr>
            <p:cNvPr id="44" name="TextBox 44"/>
            <p:cNvSpPr txBox="1"/>
            <p:nvPr/>
          </p:nvSpPr>
          <p:spPr>
            <a:xfrm>
              <a:off x="9041511" y="4432300"/>
              <a:ext cx="253779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카트를 바로 내려 현장 재확인</a:t>
              </a:r>
            </a:p>
          </p:txBody>
        </p:sp>
      </p:grpSp>
      <p:grpSp>
        <p:nvGrpSpPr>
          <p:cNvPr id="48" name="conclusion"/>
          <p:cNvGrpSpPr/>
          <p:nvPr/>
        </p:nvGrpSpPr>
        <p:grpSpPr>
          <a:xfrm>
            <a:off x="533400" y="5657850"/>
            <a:ext cx="5528481" cy="495300"/>
            <a:chOff x="533400" y="5657850"/>
            <a:chExt cx="5528481" cy="495300"/>
          </a:xfrm>
        </p:grpSpPr>
        <p:sp>
          <p:nvSpPr>
            <p:cNvPr id="46" name="Rectangle 46"/>
            <p:cNvSpPr/>
            <p:nvPr/>
          </p:nvSpPr>
          <p:spPr>
            <a:xfrm>
              <a:off x="533400" y="5657850"/>
              <a:ext cx="38100" cy="495300"/>
            </a:xfrm>
            <a:prstGeom prst="rect">
              <a:avLst/>
            </a:prstGeom>
            <a:solidFill>
              <a:srgbClr val="F5B700"/>
            </a:solidFill>
            <a:ln>
              <a:noFill/>
            </a:ln>
          </p:spPr>
        </p:sp>
        <p:sp>
          <p:nvSpPr>
            <p:cNvPr id="47" name="TextBox 47"/>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어느 도시의 어느 PV5가 재도, </a:t>
              </a:r>
              <a:r>
                <a:rPr lang="ko-KR" sz="1500" b="1" dirty="0">
                  <a:solidFill>
                    <a:srgbClr val="B45309"/>
                  </a:solidFill>
                  <a:latin typeface="+mn-lt"/>
                  <a:ea typeface="+mn-ea"/>
                  <a:cs typeface="+mn-cs"/>
                </a:rPr>
                <a:t>같은 기준으로 비교</a:t>
              </a:r>
              <a:r>
                <a:rPr lang="ko-KR" sz="1500" b="1" dirty="0">
                  <a:solidFill>
                    <a:srgbClr val="0B1E3C"/>
                  </a:solidFill>
                  <a:latin typeface="+mn-lt"/>
                  <a:ea typeface="+mn-ea"/>
                  <a:cs typeface="+mn-cs"/>
                </a:rPr>
                <a:t>됩니다.</a:t>
              </a:r>
            </a:p>
          </p:txBody>
        </p:sp>
      </p:grpSp>
      <p:grpSp>
        <p:nvGrpSpPr>
          <p:cNvPr id="50" name="source"/>
          <p:cNvGrpSpPr/>
          <p:nvPr/>
        </p:nvGrpSpPr>
        <p:grpSpPr>
          <a:xfrm>
            <a:off x="528447" y="6248400"/>
            <a:ext cx="9406636" cy="344043"/>
            <a:chOff x="528447" y="6248400"/>
            <a:chExt cx="9406636" cy="344043"/>
          </a:xfrm>
        </p:grpSpPr>
        <p:sp>
          <p:nvSpPr>
            <p:cNvPr id="49" name="TextBox 49"/>
            <p:cNvSpPr txBox="1"/>
            <p:nvPr/>
          </p:nvSpPr>
          <p:spPr>
            <a:xfrm>
              <a:off x="528447" y="6248400"/>
              <a:ext cx="9406636"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오토뷰(2026.1.28, 컨버전 포털·PIM·조인트 블록) · 공모전 솔루션 부문 안내(Pleos SDK·앱 마켓) · 기아 PV5 카고 카탈로그(2026.9)</a:t>
              </a:r>
              <a:br>
                <a:rPr lang="ko-KR" sz="980" dirty="0">
                  <a:solidFill>
                    <a:srgbClr val="4B5563"/>
                  </a:solidFill>
                  <a:latin typeface="+mn-lt"/>
                  <a:ea typeface="+mn-ea"/>
                  <a:cs typeface="+mn-cs"/>
                </a:rPr>
              </a:br>
              <a:r>
                <a:rPr lang="ko-KR" sz="980" dirty="0">
                  <a:solidFill>
                    <a:srgbClr val="4B5563"/>
                  </a:solidFill>
                  <a:latin typeface="+mn-lt"/>
                  <a:ea typeface="+mn-ea"/>
                  <a:cs typeface="+mn-cs"/>
                </a:rPr>
                <a:t>현대차그룹 뉴스룸(2024.4, ST1 495mm) · 스타리아 일렉트릭 출시(2026.4.23) · 시사저널(2025.4.25, GPR 대당 2억~8억 원) · 공공부문 무공해차 실적(2026.6.30)</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18</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6248972" cy="645414"/>
            <a:chOff x="516636" y="812800"/>
            <a:chExt cx="6248972" cy="645414"/>
          </a:xfrm>
        </p:grpSpPr>
        <p:sp>
          <p:nvSpPr>
            <p:cNvPr id="17" name="TextBox 17"/>
            <p:cNvSpPr txBox="1"/>
            <p:nvPr/>
          </p:nvSpPr>
          <p:spPr>
            <a:xfrm>
              <a:off x="516636" y="812800"/>
              <a:ext cx="6248972"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남은 질문은 4단계로 검증합니다</a:t>
              </a:r>
            </a:p>
          </p:txBody>
        </p:sp>
      </p:grpSp>
      <p:grpSp>
        <p:nvGrpSpPr>
          <p:cNvPr id="51" name="stages"/>
          <p:cNvGrpSpPr/>
          <p:nvPr/>
        </p:nvGrpSpPr>
        <p:grpSpPr>
          <a:xfrm>
            <a:off x="533400" y="1676400"/>
            <a:ext cx="11125200" cy="2857500"/>
            <a:chOff x="533400" y="1676400"/>
            <a:chExt cx="11125200" cy="2857500"/>
          </a:xfrm>
        </p:grpSpPr>
        <p:sp>
          <p:nvSpPr>
            <p:cNvPr id="19" name="Rectangle 19"/>
            <p:cNvSpPr/>
            <p:nvPr/>
          </p:nvSpPr>
          <p:spPr>
            <a:xfrm>
              <a:off x="533400" y="1676400"/>
              <a:ext cx="2609850" cy="2857500"/>
            </a:xfrm>
            <a:prstGeom prst="rect">
              <a:avLst/>
            </a:prstGeom>
            <a:solidFill>
              <a:srgbClr val="F3F5F8"/>
            </a:solidFill>
            <a:ln>
              <a:noFill/>
            </a:ln>
          </p:spPr>
        </p:sp>
        <p:sp>
          <p:nvSpPr>
            <p:cNvPr id="20" name="Rectangle 20"/>
            <p:cNvSpPr/>
            <p:nvPr/>
          </p:nvSpPr>
          <p:spPr>
            <a:xfrm>
              <a:off x="533400" y="1676400"/>
              <a:ext cx="2609850" cy="47625"/>
            </a:xfrm>
            <a:prstGeom prst="rect">
              <a:avLst/>
            </a:prstGeom>
            <a:solidFill>
              <a:srgbClr val="0B1E3C"/>
            </a:solidFill>
            <a:ln>
              <a:noFill/>
            </a:ln>
          </p:spPr>
        </p:sp>
        <p:sp>
          <p:nvSpPr>
            <p:cNvPr id="21" name="TextBox 21"/>
            <p:cNvSpPr txBox="1"/>
            <p:nvPr/>
          </p:nvSpPr>
          <p:spPr>
            <a:xfrm>
              <a:off x="73609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1단계</a:t>
              </a:r>
            </a:p>
          </p:txBody>
        </p:sp>
        <p:sp>
          <p:nvSpPr>
            <p:cNvPr id="22" name="TextBox 22"/>
            <p:cNvSpPr txBox="1"/>
            <p:nvPr/>
          </p:nvSpPr>
          <p:spPr>
            <a:xfrm>
              <a:off x="732282" y="2317750"/>
              <a:ext cx="1523897"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폐쇄 시험장</a:t>
              </a:r>
            </a:p>
          </p:txBody>
        </p:sp>
        <p:sp>
          <p:nvSpPr>
            <p:cNvPr id="23" name="TextBox 23"/>
            <p:cNvSpPr txBox="1"/>
            <p:nvPr/>
          </p:nvSpPr>
          <p:spPr>
            <a:xfrm>
              <a:off x="73723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24" name="TextBox 24"/>
            <p:cNvSpPr txBox="1"/>
            <p:nvPr/>
          </p:nvSpPr>
          <p:spPr>
            <a:xfrm>
              <a:off x="735330" y="3327400"/>
              <a:ext cx="2002155"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EV와 GPR 전자파 간섭</a:t>
              </a:r>
            </a:p>
          </p:txBody>
        </p:sp>
        <p:sp>
          <p:nvSpPr>
            <p:cNvPr id="25" name="TextBox 25"/>
            <p:cNvSpPr txBox="1"/>
            <p:nvPr/>
          </p:nvSpPr>
          <p:spPr>
            <a:xfrm>
              <a:off x="73723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26" name="TextBox 26"/>
            <p:cNvSpPr txBox="1"/>
            <p:nvPr/>
          </p:nvSpPr>
          <p:spPr>
            <a:xfrm>
              <a:off x="735330" y="4089400"/>
              <a:ext cx="193811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차량에서 측정 가능</a:t>
              </a:r>
            </a:p>
          </p:txBody>
        </p:sp>
        <p:sp>
          <p:nvSpPr>
            <p:cNvPr id="27" name="Rectangle 27"/>
            <p:cNvSpPr/>
            <p:nvPr/>
          </p:nvSpPr>
          <p:spPr>
            <a:xfrm>
              <a:off x="3371850" y="1676400"/>
              <a:ext cx="2609850" cy="2857500"/>
            </a:xfrm>
            <a:prstGeom prst="rect">
              <a:avLst/>
            </a:prstGeom>
            <a:solidFill>
              <a:srgbClr val="F3F5F8"/>
            </a:solidFill>
            <a:ln>
              <a:noFill/>
            </a:ln>
          </p:spPr>
        </p:sp>
        <p:sp>
          <p:nvSpPr>
            <p:cNvPr id="28" name="Rectangle 28"/>
            <p:cNvSpPr/>
            <p:nvPr/>
          </p:nvSpPr>
          <p:spPr>
            <a:xfrm>
              <a:off x="3371850" y="1676400"/>
              <a:ext cx="2609850" cy="47625"/>
            </a:xfrm>
            <a:prstGeom prst="rect">
              <a:avLst/>
            </a:prstGeom>
            <a:solidFill>
              <a:srgbClr val="0B1E3C"/>
            </a:solidFill>
            <a:ln>
              <a:noFill/>
            </a:ln>
          </p:spPr>
        </p:sp>
        <p:sp>
          <p:nvSpPr>
            <p:cNvPr id="29" name="TextBox 29"/>
            <p:cNvSpPr txBox="1"/>
            <p:nvPr/>
          </p:nvSpPr>
          <p:spPr>
            <a:xfrm>
              <a:off x="357454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2단계</a:t>
              </a:r>
            </a:p>
          </p:txBody>
        </p:sp>
        <p:sp>
          <p:nvSpPr>
            <p:cNvPr id="30" name="TextBox 30"/>
            <p:cNvSpPr txBox="1"/>
            <p:nvPr/>
          </p:nvSpPr>
          <p:spPr>
            <a:xfrm>
              <a:off x="3570732" y="2317750"/>
              <a:ext cx="2178352"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통제된 시험 구간</a:t>
              </a:r>
            </a:p>
          </p:txBody>
        </p:sp>
        <p:sp>
          <p:nvSpPr>
            <p:cNvPr id="31" name="TextBox 31"/>
            <p:cNvSpPr txBox="1"/>
            <p:nvPr/>
          </p:nvSpPr>
          <p:spPr>
            <a:xfrm>
              <a:off x="357568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32" name="TextBox 32"/>
            <p:cNvSpPr txBox="1"/>
            <p:nvPr/>
          </p:nvSpPr>
          <p:spPr>
            <a:xfrm>
              <a:off x="3573780" y="3327400"/>
              <a:ext cx="2620137"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회차마다 같은 자리를 찍는가</a:t>
              </a:r>
            </a:p>
          </p:txBody>
        </p:sp>
        <p:sp>
          <p:nvSpPr>
            <p:cNvPr id="33" name="TextBox 33"/>
            <p:cNvSpPr txBox="1"/>
            <p:nvPr/>
          </p:nvSpPr>
          <p:spPr>
            <a:xfrm>
              <a:off x="357568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34" name="TextBox 34"/>
            <p:cNvSpPr txBox="1"/>
            <p:nvPr/>
          </p:nvSpPr>
          <p:spPr>
            <a:xfrm>
              <a:off x="3573780" y="4089400"/>
              <a:ext cx="153425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회차 비교 가능</a:t>
              </a:r>
            </a:p>
          </p:txBody>
        </p:sp>
        <p:sp>
          <p:nvSpPr>
            <p:cNvPr id="35" name="Rectangle 35"/>
            <p:cNvSpPr/>
            <p:nvPr/>
          </p:nvSpPr>
          <p:spPr>
            <a:xfrm>
              <a:off x="6210300" y="1676400"/>
              <a:ext cx="2609850" cy="2857500"/>
            </a:xfrm>
            <a:prstGeom prst="rect">
              <a:avLst/>
            </a:prstGeom>
            <a:solidFill>
              <a:srgbClr val="F3F5F8"/>
            </a:solidFill>
            <a:ln>
              <a:noFill/>
            </a:ln>
          </p:spPr>
        </p:sp>
        <p:sp>
          <p:nvSpPr>
            <p:cNvPr id="36" name="Rectangle 36"/>
            <p:cNvSpPr/>
            <p:nvPr/>
          </p:nvSpPr>
          <p:spPr>
            <a:xfrm>
              <a:off x="6210300" y="1676400"/>
              <a:ext cx="2609850" cy="47625"/>
            </a:xfrm>
            <a:prstGeom prst="rect">
              <a:avLst/>
            </a:prstGeom>
            <a:solidFill>
              <a:srgbClr val="0B1E3C"/>
            </a:solidFill>
            <a:ln>
              <a:noFill/>
            </a:ln>
          </p:spPr>
        </p:sp>
        <p:sp>
          <p:nvSpPr>
            <p:cNvPr id="37" name="TextBox 37"/>
            <p:cNvSpPr txBox="1"/>
            <p:nvPr/>
          </p:nvSpPr>
          <p:spPr>
            <a:xfrm>
              <a:off x="641299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3단계</a:t>
              </a:r>
            </a:p>
          </p:txBody>
        </p:sp>
        <p:sp>
          <p:nvSpPr>
            <p:cNvPr id="38" name="TextBox 38"/>
            <p:cNvSpPr txBox="1"/>
            <p:nvPr/>
          </p:nvSpPr>
          <p:spPr>
            <a:xfrm>
              <a:off x="6409182" y="2317750"/>
              <a:ext cx="2461054"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실제 도로 위험구간</a:t>
              </a:r>
            </a:p>
          </p:txBody>
        </p:sp>
        <p:sp>
          <p:nvSpPr>
            <p:cNvPr id="39" name="TextBox 39"/>
            <p:cNvSpPr txBox="1"/>
            <p:nvPr/>
          </p:nvSpPr>
          <p:spPr>
            <a:xfrm>
              <a:off x="641413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40" name="TextBox 40"/>
            <p:cNvSpPr txBox="1"/>
            <p:nvPr/>
          </p:nvSpPr>
          <p:spPr>
            <a:xfrm>
              <a:off x="6412230" y="3327400"/>
              <a:ext cx="2269046"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AI 선별 · 야간 AR 정확도</a:t>
              </a:r>
            </a:p>
          </p:txBody>
        </p:sp>
        <p:sp>
          <p:nvSpPr>
            <p:cNvPr id="41" name="TextBox 41"/>
            <p:cNvSpPr txBox="1"/>
            <p:nvPr/>
          </p:nvSpPr>
          <p:spPr>
            <a:xfrm>
              <a:off x="641413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42" name="TextBox 42"/>
            <p:cNvSpPr txBox="1"/>
            <p:nvPr/>
          </p:nvSpPr>
          <p:spPr>
            <a:xfrm>
              <a:off x="6412230" y="4089400"/>
              <a:ext cx="1205113"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실증확인서</a:t>
              </a:r>
            </a:p>
          </p:txBody>
        </p:sp>
        <p:sp>
          <p:nvSpPr>
            <p:cNvPr id="43" name="Rectangle 43"/>
            <p:cNvSpPr/>
            <p:nvPr/>
          </p:nvSpPr>
          <p:spPr>
            <a:xfrm>
              <a:off x="9048750" y="1676400"/>
              <a:ext cx="2609850" cy="2857500"/>
            </a:xfrm>
            <a:prstGeom prst="rect">
              <a:avLst/>
            </a:prstGeom>
            <a:solidFill>
              <a:srgbClr val="F3F5F8"/>
            </a:solidFill>
            <a:ln>
              <a:noFill/>
            </a:ln>
          </p:spPr>
        </p:sp>
        <p:sp>
          <p:nvSpPr>
            <p:cNvPr id="44" name="Rectangle 44"/>
            <p:cNvSpPr/>
            <p:nvPr/>
          </p:nvSpPr>
          <p:spPr>
            <a:xfrm>
              <a:off x="9048750" y="1676400"/>
              <a:ext cx="2609850" cy="47625"/>
            </a:xfrm>
            <a:prstGeom prst="rect">
              <a:avLst/>
            </a:prstGeom>
            <a:solidFill>
              <a:srgbClr val="F5B700"/>
            </a:solidFill>
            <a:ln>
              <a:noFill/>
            </a:ln>
          </p:spPr>
        </p:sp>
        <p:sp>
          <p:nvSpPr>
            <p:cNvPr id="45" name="TextBox 45"/>
            <p:cNvSpPr txBox="1"/>
            <p:nvPr/>
          </p:nvSpPr>
          <p:spPr>
            <a:xfrm>
              <a:off x="9251442" y="1987550"/>
              <a:ext cx="482143"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4단계</a:t>
              </a:r>
            </a:p>
          </p:txBody>
        </p:sp>
        <p:sp>
          <p:nvSpPr>
            <p:cNvPr id="46" name="TextBox 46"/>
            <p:cNvSpPr txBox="1"/>
            <p:nvPr/>
          </p:nvSpPr>
          <p:spPr>
            <a:xfrm>
              <a:off x="9247632" y="2317750"/>
              <a:ext cx="1241195"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실제 운영</a:t>
              </a:r>
            </a:p>
          </p:txBody>
        </p:sp>
        <p:sp>
          <p:nvSpPr>
            <p:cNvPr id="47" name="TextBox 47"/>
            <p:cNvSpPr txBox="1"/>
            <p:nvPr/>
          </p:nvSpPr>
          <p:spPr>
            <a:xfrm>
              <a:off x="9252585" y="309880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것</a:t>
              </a:r>
            </a:p>
          </p:txBody>
        </p:sp>
        <p:sp>
          <p:nvSpPr>
            <p:cNvPr id="48" name="TextBox 48"/>
            <p:cNvSpPr txBox="1"/>
            <p:nvPr/>
          </p:nvSpPr>
          <p:spPr>
            <a:xfrm>
              <a:off x="9250680" y="3327400"/>
              <a:ext cx="883539"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운영 지표</a:t>
              </a:r>
            </a:p>
          </p:txBody>
        </p:sp>
        <p:sp>
          <p:nvSpPr>
            <p:cNvPr id="49" name="TextBox 49"/>
            <p:cNvSpPr txBox="1"/>
            <p:nvPr/>
          </p:nvSpPr>
          <p:spPr>
            <a:xfrm>
              <a:off x="9252585" y="3860800"/>
              <a:ext cx="614528"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통과하면</a:t>
              </a:r>
            </a:p>
          </p:txBody>
        </p:sp>
        <p:sp>
          <p:nvSpPr>
            <p:cNvPr id="50" name="TextBox 50"/>
            <p:cNvSpPr txBox="1"/>
            <p:nvPr/>
          </p:nvSpPr>
          <p:spPr>
            <a:xfrm>
              <a:off x="9250680" y="4089400"/>
              <a:ext cx="153425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연간 관제 계약</a:t>
              </a:r>
            </a:p>
          </p:txBody>
        </p:sp>
      </p:grpSp>
      <p:grpSp>
        <p:nvGrpSpPr>
          <p:cNvPr id="54" name="conclusion"/>
          <p:cNvGrpSpPr/>
          <p:nvPr/>
        </p:nvGrpSpPr>
        <p:grpSpPr>
          <a:xfrm>
            <a:off x="533400" y="5048250"/>
            <a:ext cx="6510362" cy="419100"/>
            <a:chOff x="533400" y="5048250"/>
            <a:chExt cx="6510362" cy="419100"/>
          </a:xfrm>
        </p:grpSpPr>
        <p:sp>
          <p:nvSpPr>
            <p:cNvPr id="52" name="Rectangle 52"/>
            <p:cNvSpPr/>
            <p:nvPr/>
          </p:nvSpPr>
          <p:spPr>
            <a:xfrm>
              <a:off x="533400" y="5048250"/>
              <a:ext cx="38100" cy="419100"/>
            </a:xfrm>
            <a:prstGeom prst="rect">
              <a:avLst/>
            </a:prstGeom>
            <a:solidFill>
              <a:srgbClr val="F5B700"/>
            </a:solidFill>
            <a:ln>
              <a:noFill/>
            </a:ln>
          </p:spPr>
        </p:sp>
        <p:sp>
          <p:nvSpPr>
            <p:cNvPr id="53" name="TextBox 53"/>
            <p:cNvSpPr txBox="1"/>
            <p:nvPr/>
          </p:nvSpPr>
          <p:spPr>
            <a:xfrm>
              <a:off x="715899" y="514350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56" name="source"/>
          <p:cNvGrpSpPr/>
          <p:nvPr/>
        </p:nvGrpSpPr>
        <p:grpSpPr>
          <a:xfrm>
            <a:off x="528447" y="6381750"/>
            <a:ext cx="10066150" cy="191643"/>
            <a:chOff x="528447" y="6381750"/>
            <a:chExt cx="10066150" cy="191643"/>
          </a:xfrm>
        </p:grpSpPr>
        <p:sp>
          <p:nvSpPr>
            <p:cNvPr id="55" name="TextBox 55"/>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59" name="footer"/>
          <p:cNvGrpSpPr/>
          <p:nvPr/>
        </p:nvGrpSpPr>
        <p:grpSpPr>
          <a:xfrm>
            <a:off x="528638" y="6610350"/>
            <a:ext cx="11134724" cy="176212"/>
            <a:chOff x="528638" y="6610350"/>
            <a:chExt cx="11134724" cy="176212"/>
          </a:xfrm>
        </p:grpSpPr>
        <p:sp>
          <p:nvSpPr>
            <p:cNvPr id="57" name="TextBox 5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8" name="TextBox 5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18</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5163173" cy="645414"/>
            <a:chOff x="516636" y="812800"/>
            <a:chExt cx="5163173" cy="645414"/>
          </a:xfrm>
        </p:grpSpPr>
        <p:sp>
          <p:nvSpPr>
            <p:cNvPr id="17" name="TextBox 17"/>
            <p:cNvSpPr txBox="1"/>
            <p:nvPr/>
          </p:nvSpPr>
          <p:spPr>
            <a:xfrm>
              <a:off x="516636" y="812800"/>
              <a:ext cx="5163173"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km당 4.7만 원이면 됩니다</a:t>
              </a:r>
            </a:p>
          </p:txBody>
        </p:sp>
      </p:grpSp>
      <p:grpSp>
        <p:nvGrpSpPr>
          <p:cNvPr id="23" name="hero"/>
          <p:cNvGrpSpPr/>
          <p:nvPr/>
        </p:nvGrpSpPr>
        <p:grpSpPr>
          <a:xfrm>
            <a:off x="514350" y="1752600"/>
            <a:ext cx="4023360" cy="1949196"/>
            <a:chOff x="514350" y="1752600"/>
            <a:chExt cx="4023360" cy="1949196"/>
          </a:xfrm>
        </p:grpSpPr>
        <p:sp>
          <p:nvSpPr>
            <p:cNvPr id="19" name="TextBox 19"/>
            <p:cNvSpPr txBox="1"/>
            <p:nvPr/>
          </p:nvSpPr>
          <p:spPr>
            <a:xfrm>
              <a:off x="526923" y="1752600"/>
              <a:ext cx="2079425"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반복 탐사 1회 원가 [가설]</a:t>
              </a:r>
            </a:p>
          </p:txBody>
        </p:sp>
        <p:sp>
          <p:nvSpPr>
            <p:cNvPr id="20" name="TextBox 20"/>
            <p:cNvSpPr txBox="1"/>
            <p:nvPr/>
          </p:nvSpPr>
          <p:spPr>
            <a:xfrm>
              <a:off x="514350" y="1981200"/>
              <a:ext cx="3766124" cy="1390650"/>
            </a:xfrm>
            <a:prstGeom prst="rect">
              <a:avLst/>
            </a:prstGeom>
            <a:noFill/>
            <a:ln>
              <a:noFill/>
            </a:ln>
          </p:spPr>
          <p:txBody>
            <a:bodyPr wrap="none" lIns="0" tIns="0" rIns="0" bIns="0" anchor="t" anchorCtr="0">
              <a:spAutoFit/>
            </a:bodyPr>
            <a:lstStyle/>
            <a:p>
              <a:pPr algn="l"/>
              <a:r>
                <a:rPr lang="ko-KR" sz="7200" b="1" spc="-300" dirty="0">
                  <a:solidFill>
                    <a:srgbClr val="0B1E3C"/>
                  </a:solidFill>
                  <a:latin typeface="+mn-lt"/>
                  <a:ea typeface="+mn-ea"/>
                  <a:cs typeface="+mn-cs"/>
                </a:rPr>
                <a:t>4.7만 원</a:t>
              </a:r>
            </a:p>
          </p:txBody>
        </p:sp>
        <p:sp>
          <p:nvSpPr>
            <p:cNvPr id="21" name="TextBox 21"/>
            <p:cNvSpPr txBox="1"/>
            <p:nvPr/>
          </p:nvSpPr>
          <p:spPr>
            <a:xfrm>
              <a:off x="525018" y="3073400"/>
              <a:ext cx="1698790" cy="322707"/>
            </a:xfrm>
            <a:prstGeom prst="rect">
              <a:avLst/>
            </a:prstGeom>
            <a:noFill/>
            <a:ln>
              <a:noFill/>
            </a:ln>
          </p:spPr>
          <p:txBody>
            <a:bodyPr wrap="none" lIns="0" tIns="0" rIns="0" bIns="0" anchor="t" anchorCtr="0">
              <a:spAutoFit/>
            </a:bodyPr>
            <a:lstStyle/>
            <a:p>
              <a:pPr algn="l"/>
              <a:r>
                <a:rPr lang="ko-KR" sz="1650" b="1" dirty="0">
                  <a:solidFill>
                    <a:srgbClr val="111827"/>
                  </a:solidFill>
                  <a:latin typeface="+mn-lt"/>
                  <a:ea typeface="+mn-ea"/>
                  <a:cs typeface="+mn-cs"/>
                </a:rPr>
                <a:t>탐사 연장 1km당</a:t>
              </a:r>
            </a:p>
          </p:txBody>
        </p:sp>
        <p:sp>
          <p:nvSpPr>
            <p:cNvPr id="22" name="TextBox 22"/>
            <p:cNvSpPr txBox="1"/>
            <p:nvPr/>
          </p:nvSpPr>
          <p:spPr>
            <a:xfrm>
              <a:off x="527304" y="3467100"/>
              <a:ext cx="401040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차량 1대 연 3.09억 원 ÷ 6,600km(하루 30km × 220일)</a:t>
              </a:r>
            </a:p>
          </p:txBody>
        </p:sp>
      </p:grpSp>
      <p:grpSp>
        <p:nvGrpSpPr>
          <p:cNvPr id="32" name="bars"/>
          <p:cNvGrpSpPr/>
          <p:nvPr/>
        </p:nvGrpSpPr>
        <p:grpSpPr>
          <a:xfrm>
            <a:off x="6089142" y="1752600"/>
            <a:ext cx="5325120" cy="2235581"/>
            <a:chOff x="6089142" y="1752600"/>
            <a:chExt cx="5325120" cy="2235581"/>
          </a:xfrm>
        </p:grpSpPr>
        <p:sp>
          <p:nvSpPr>
            <p:cNvPr id="24" name="TextBox 24"/>
            <p:cNvSpPr txBox="1"/>
            <p:nvPr/>
          </p:nvSpPr>
          <p:spPr>
            <a:xfrm>
              <a:off x="6089523" y="1752600"/>
              <a:ext cx="1870495"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같은 길 1km를 1년 동안</a:t>
              </a:r>
            </a:p>
          </p:txBody>
        </p:sp>
        <p:sp>
          <p:nvSpPr>
            <p:cNvPr id="25" name="TextBox 25"/>
            <p:cNvSpPr txBox="1"/>
            <p:nvPr/>
          </p:nvSpPr>
          <p:spPr>
            <a:xfrm>
              <a:off x="6089142" y="2216150"/>
              <a:ext cx="1703870"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지금 · 전체 공정 1회</a:t>
              </a:r>
            </a:p>
          </p:txBody>
        </p:sp>
        <p:sp>
          <p:nvSpPr>
            <p:cNvPr id="26" name="Rectangle 26"/>
            <p:cNvSpPr/>
            <p:nvPr/>
          </p:nvSpPr>
          <p:spPr>
            <a:xfrm>
              <a:off x="6096000" y="2495550"/>
              <a:ext cx="3429000" cy="419100"/>
            </a:xfrm>
            <a:prstGeom prst="rect">
              <a:avLst/>
            </a:prstGeom>
            <a:solidFill>
              <a:srgbClr val="9AA3AF"/>
            </a:solidFill>
            <a:ln>
              <a:noFill/>
            </a:ln>
          </p:spPr>
        </p:sp>
        <p:sp>
          <p:nvSpPr>
            <p:cNvPr id="27" name="TextBox 27"/>
            <p:cNvSpPr txBox="1"/>
            <p:nvPr/>
          </p:nvSpPr>
          <p:spPr>
            <a:xfrm>
              <a:off x="9667494" y="2559050"/>
              <a:ext cx="930718"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92만 원</a:t>
              </a:r>
            </a:p>
          </p:txBody>
        </p:sp>
        <p:sp>
          <p:nvSpPr>
            <p:cNvPr id="28" name="TextBox 28"/>
            <p:cNvSpPr txBox="1"/>
            <p:nvPr/>
          </p:nvSpPr>
          <p:spPr>
            <a:xfrm>
              <a:off x="6089142" y="3263900"/>
              <a:ext cx="2671830"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GroundWatch · 여기에 반복 6회</a:t>
              </a:r>
            </a:p>
          </p:txBody>
        </p:sp>
        <p:sp>
          <p:nvSpPr>
            <p:cNvPr id="29" name="Rectangle 29"/>
            <p:cNvSpPr/>
            <p:nvPr/>
          </p:nvSpPr>
          <p:spPr>
            <a:xfrm>
              <a:off x="6096000" y="3543300"/>
              <a:ext cx="3429000" cy="419100"/>
            </a:xfrm>
            <a:prstGeom prst="rect">
              <a:avLst/>
            </a:prstGeom>
            <a:solidFill>
              <a:srgbClr val="9AA3AF"/>
            </a:solidFill>
            <a:ln>
              <a:noFill/>
            </a:ln>
          </p:spPr>
        </p:sp>
        <p:sp>
          <p:nvSpPr>
            <p:cNvPr id="30" name="Rectangle 30"/>
            <p:cNvSpPr/>
            <p:nvPr/>
          </p:nvSpPr>
          <p:spPr>
            <a:xfrm>
              <a:off x="9525000" y="3543300"/>
              <a:ext cx="1047750" cy="419100"/>
            </a:xfrm>
            <a:prstGeom prst="rect">
              <a:avLst/>
            </a:prstGeom>
            <a:solidFill>
              <a:srgbClr val="0B1E3C"/>
            </a:solidFill>
            <a:ln>
              <a:noFill/>
            </a:ln>
          </p:spPr>
        </p:sp>
        <p:sp>
          <p:nvSpPr>
            <p:cNvPr id="31" name="TextBox 31"/>
            <p:cNvSpPr txBox="1"/>
            <p:nvPr/>
          </p:nvSpPr>
          <p:spPr>
            <a:xfrm>
              <a:off x="10677144" y="3606800"/>
              <a:ext cx="737118"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+28만</a:t>
              </a:r>
            </a:p>
          </p:txBody>
        </p:sp>
      </p:grpSp>
      <p:grpSp>
        <p:nvGrpSpPr>
          <p:cNvPr id="35" name="conclusion"/>
          <p:cNvGrpSpPr/>
          <p:nvPr/>
        </p:nvGrpSpPr>
        <p:grpSpPr>
          <a:xfrm>
            <a:off x="533400" y="4762500"/>
            <a:ext cx="6519401" cy="419100"/>
            <a:chOff x="533400" y="4762500"/>
            <a:chExt cx="6519401" cy="419100"/>
          </a:xfrm>
        </p:grpSpPr>
        <p:sp>
          <p:nvSpPr>
            <p:cNvPr id="33" name="Rectangle 33"/>
            <p:cNvSpPr/>
            <p:nvPr/>
          </p:nvSpPr>
          <p:spPr>
            <a:xfrm>
              <a:off x="533400" y="4762500"/>
              <a:ext cx="38100" cy="419100"/>
            </a:xfrm>
            <a:prstGeom prst="rect">
              <a:avLst/>
            </a:prstGeom>
            <a:solidFill>
              <a:srgbClr val="F5B700"/>
            </a:solidFill>
            <a:ln>
              <a:noFill/>
            </a:ln>
          </p:spPr>
        </p:sp>
        <p:sp>
          <p:nvSpPr>
            <p:cNvPr id="34" name="TextBox 34"/>
            <p:cNvSpPr txBox="1"/>
            <p:nvPr/>
          </p:nvSpPr>
          <p:spPr>
            <a:xfrm>
              <a:off x="715899" y="4857750"/>
              <a:ext cx="633690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비용에 약 30%를 더하면, 1년에 한 번 보던 길을 6번 봅니다.</a:t>
              </a:r>
            </a:p>
          </p:txBody>
        </p:sp>
      </p:grpSp>
      <p:grpSp>
        <p:nvGrpSpPr>
          <p:cNvPr id="37" name="source"/>
          <p:cNvGrpSpPr/>
          <p:nvPr/>
        </p:nvGrpSpPr>
        <p:grpSpPr>
          <a:xfrm>
            <a:off x="528447" y="6381750"/>
            <a:ext cx="10796107" cy="191643"/>
            <a:chOff x="528447" y="6381750"/>
            <a:chExt cx="10796107" cy="191643"/>
          </a:xfrm>
        </p:grpSpPr>
        <p:sp>
          <p:nvSpPr>
            <p:cNvPr id="36" name="TextBox 36"/>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40" name="footer"/>
          <p:cNvGrpSpPr/>
          <p:nvPr/>
        </p:nvGrpSpPr>
        <p:grpSpPr>
          <a:xfrm>
            <a:off x="528638" y="6610350"/>
            <a:ext cx="11134724" cy="176212"/>
            <a:chOff x="528638" y="6610350"/>
            <a:chExt cx="11134724" cy="176212"/>
          </a:xfrm>
        </p:grpSpPr>
        <p:sp>
          <p:nvSpPr>
            <p:cNvPr id="38" name="TextBox 3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39" name="TextBox 3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15 / 18</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6054438" cy="645414"/>
            <a:chOff x="516636" y="812800"/>
            <a:chExt cx="6054438" cy="645414"/>
          </a:xfrm>
        </p:grpSpPr>
        <p:sp>
          <p:nvSpPr>
            <p:cNvPr id="17" name="TextBox 17"/>
            <p:cNvSpPr txBox="1"/>
            <p:nvPr/>
          </p:nvSpPr>
          <p:spPr>
            <a:xfrm>
              <a:off x="516636" y="812800"/>
              <a:ext cx="6054438"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기아는 공공 PV5 시장을 엽니다</a:t>
              </a:r>
            </a:p>
          </p:txBody>
        </p:sp>
      </p:grpSp>
      <p:grpSp>
        <p:nvGrpSpPr>
          <p:cNvPr id="22" name="who0"/>
          <p:cNvGrpSpPr/>
          <p:nvPr/>
        </p:nvGrpSpPr>
        <p:grpSpPr>
          <a:xfrm>
            <a:off x="524637" y="1600200"/>
            <a:ext cx="3513963" cy="769176"/>
            <a:chOff x="524637" y="1600200"/>
            <a:chExt cx="3513963" cy="769176"/>
          </a:xfrm>
        </p:grpSpPr>
        <p:sp>
          <p:nvSpPr>
            <p:cNvPr id="19" name="Rectangle 19"/>
            <p:cNvSpPr/>
            <p:nvPr/>
          </p:nvSpPr>
          <p:spPr>
            <a:xfrm>
              <a:off x="533400" y="1600200"/>
              <a:ext cx="3505200" cy="28575"/>
            </a:xfrm>
            <a:prstGeom prst="rect">
              <a:avLst/>
            </a:prstGeom>
            <a:solidFill>
              <a:srgbClr val="0B1E3C"/>
            </a:solidFill>
            <a:ln>
              <a:noFill/>
            </a:ln>
          </p:spPr>
        </p:sp>
        <p:sp>
          <p:nvSpPr>
            <p:cNvPr id="20" name="TextBox 20"/>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grpSp>
      <p:grpSp>
        <p:nvGrpSpPr>
          <p:cNvPr id="26" name="who1"/>
          <p:cNvGrpSpPr/>
          <p:nvPr/>
        </p:nvGrpSpPr>
        <p:grpSpPr>
          <a:xfrm>
            <a:off x="4334637" y="1600200"/>
            <a:ext cx="3513963" cy="769176"/>
            <a:chOff x="4334637" y="1600200"/>
            <a:chExt cx="3513963" cy="769176"/>
          </a:xfrm>
        </p:grpSpPr>
        <p:sp>
          <p:nvSpPr>
            <p:cNvPr id="23" name="Rectangle 23"/>
            <p:cNvSpPr/>
            <p:nvPr/>
          </p:nvSpPr>
          <p:spPr>
            <a:xfrm>
              <a:off x="4343400" y="1600200"/>
              <a:ext cx="3505200" cy="28575"/>
            </a:xfrm>
            <a:prstGeom prst="rect">
              <a:avLst/>
            </a:prstGeom>
            <a:solidFill>
              <a:srgbClr val="0B1E3C"/>
            </a:solidFill>
            <a:ln>
              <a:noFill/>
            </a:ln>
          </p:spPr>
        </p:sp>
        <p:sp>
          <p:nvSpPr>
            <p:cNvPr id="24" name="TextBox 24"/>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5" name="TextBox 25"/>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 (2인 1조)</a:t>
              </a:r>
            </a:p>
          </p:txBody>
        </p:sp>
      </p:grpSp>
      <p:grpSp>
        <p:nvGrpSpPr>
          <p:cNvPr id="30" name="who2"/>
          <p:cNvGrpSpPr/>
          <p:nvPr/>
        </p:nvGrpSpPr>
        <p:grpSpPr>
          <a:xfrm>
            <a:off x="8144637" y="1600200"/>
            <a:ext cx="3513963" cy="769176"/>
            <a:chOff x="8144637" y="1600200"/>
            <a:chExt cx="3513963" cy="769176"/>
          </a:xfrm>
        </p:grpSpPr>
        <p:sp>
          <p:nvSpPr>
            <p:cNvPr id="27" name="Rectangle 27"/>
            <p:cNvSpPr/>
            <p:nvPr/>
          </p:nvSpPr>
          <p:spPr>
            <a:xfrm>
              <a:off x="8153400" y="1600200"/>
              <a:ext cx="3505200" cy="28575"/>
            </a:xfrm>
            <a:prstGeom prst="rect">
              <a:avLst/>
            </a:prstGeom>
            <a:solidFill>
              <a:srgbClr val="0B1E3C"/>
            </a:solidFill>
            <a:ln>
              <a:noFill/>
            </a:ln>
          </p:spPr>
        </p:sp>
        <p:sp>
          <p:nvSpPr>
            <p:cNvPr id="28" name="TextBox 28"/>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29" name="TextBox 29"/>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grpSp>
      <p:grpSp>
        <p:nvGrpSpPr>
          <p:cNvPr id="47" name="kia"/>
          <p:cNvGrpSpPr/>
          <p:nvPr/>
        </p:nvGrpSpPr>
        <p:grpSpPr>
          <a:xfrm>
            <a:off x="533400" y="3143250"/>
            <a:ext cx="11125200" cy="2247900"/>
            <a:chOff x="533400" y="3143250"/>
            <a:chExt cx="11125200" cy="2247900"/>
          </a:xfrm>
        </p:grpSpPr>
        <p:sp>
          <p:nvSpPr>
            <p:cNvPr id="31" name="Rectangle 31"/>
            <p:cNvSpPr/>
            <p:nvPr/>
          </p:nvSpPr>
          <p:spPr>
            <a:xfrm>
              <a:off x="533400" y="3143250"/>
              <a:ext cx="11125200" cy="2247900"/>
            </a:xfrm>
            <a:prstGeom prst="rect">
              <a:avLst/>
            </a:prstGeom>
            <a:solidFill>
              <a:srgbClr val="0B1E3C"/>
            </a:solidFill>
            <a:ln>
              <a:noFill/>
            </a:ln>
          </p:spPr>
        </p:sp>
        <p:sp>
          <p:nvSpPr>
            <p:cNvPr id="32" name="TextBox 32"/>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33" name="TextBox 33"/>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34" name="TextBox 34"/>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35" name="TextBox 35"/>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36" name="TextBox 36"/>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37" name="Line 37"/>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38" name="TextBox 38"/>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39" name="TextBox 39"/>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40" name="TextBox 40"/>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41" name="TextBox 41"/>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42" name="Line 42"/>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3" name="TextBox 43"/>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44" name="TextBox 44"/>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45" name="TextBox 45"/>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46" name="TextBox 46"/>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50" name="conclusion"/>
          <p:cNvGrpSpPr/>
          <p:nvPr/>
        </p:nvGrpSpPr>
        <p:grpSpPr>
          <a:xfrm>
            <a:off x="533400" y="5676900"/>
            <a:ext cx="7081460" cy="419100"/>
            <a:chOff x="533400" y="5676900"/>
            <a:chExt cx="7081460" cy="419100"/>
          </a:xfrm>
        </p:grpSpPr>
        <p:sp>
          <p:nvSpPr>
            <p:cNvPr id="48" name="Rectangle 48"/>
            <p:cNvSpPr/>
            <p:nvPr/>
          </p:nvSpPr>
          <p:spPr>
            <a:xfrm>
              <a:off x="533400" y="5676900"/>
              <a:ext cx="38100" cy="419100"/>
            </a:xfrm>
            <a:prstGeom prst="rect">
              <a:avLst/>
            </a:prstGeom>
            <a:solidFill>
              <a:srgbClr val="F5B700"/>
            </a:solidFill>
            <a:ln>
              <a:noFill/>
            </a:ln>
          </p:spPr>
        </p:sp>
        <p:sp>
          <p:nvSpPr>
            <p:cNvPr id="49" name="TextBox 49"/>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지하 데이터는 판매하지 않습니다. 계약기관 안에서 권한대로만 씁니다.</a:t>
              </a:r>
            </a:p>
          </p:txBody>
        </p:sp>
      </p:grpSp>
      <p:grpSp>
        <p:nvGrpSpPr>
          <p:cNvPr id="52" name="source"/>
          <p:cNvGrpSpPr/>
          <p:nvPr/>
        </p:nvGrpSpPr>
        <p:grpSpPr>
          <a:xfrm>
            <a:off x="528447" y="6381750"/>
            <a:ext cx="10906130" cy="191643"/>
            <a:chOff x="528447" y="6381750"/>
            <a:chExt cx="10906130" cy="191643"/>
          </a:xfrm>
        </p:grpSpPr>
        <p:sp>
          <p:nvSpPr>
            <p:cNvPr id="51" name="TextBox 51"/>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16 / 18</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6636" y="812800"/>
            <a:ext cx="6436666" cy="645414"/>
            <a:chOff x="516636" y="812800"/>
            <a:chExt cx="6436666" cy="645414"/>
          </a:xfrm>
        </p:grpSpPr>
        <p:sp>
          <p:nvSpPr>
            <p:cNvPr id="17" name="TextBox 17"/>
            <p:cNvSpPr txBox="1"/>
            <p:nvPr/>
          </p:nvSpPr>
          <p:spPr>
            <a:xfrm>
              <a:off x="516636" y="812800"/>
              <a:ext cx="6436666"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지자체 예산에서 바로 시작합니다</a:t>
              </a:r>
            </a:p>
          </p:txBody>
        </p:sp>
      </p:grpSp>
      <p:grpSp>
        <p:nvGrpSpPr>
          <p:cNvPr id="23" name="hero"/>
          <p:cNvGrpSpPr/>
          <p:nvPr/>
        </p:nvGrpSpPr>
        <p:grpSpPr>
          <a:xfrm>
            <a:off x="514350" y="1911350"/>
            <a:ext cx="4442127" cy="1997583"/>
            <a:chOff x="514350" y="1911350"/>
            <a:chExt cx="4442127" cy="1997583"/>
          </a:xfrm>
        </p:grpSpPr>
        <p:sp>
          <p:nvSpPr>
            <p:cNvPr id="19" name="TextBox 19"/>
            <p:cNvSpPr txBox="1"/>
            <p:nvPr/>
          </p:nvSpPr>
          <p:spPr>
            <a:xfrm>
              <a:off x="526542" y="1911350"/>
              <a:ext cx="3879939" cy="264033"/>
            </a:xfrm>
            <a:prstGeom prst="rect">
              <a:avLst/>
            </a:prstGeom>
            <a:noFill/>
            <a:ln>
              <a:noFill/>
            </a:ln>
          </p:spPr>
          <p:txBody>
            <a:bodyPr wrap="none" lIns="0" tIns="0" rIns="0" bIns="0" anchor="t" anchorCtr="0">
              <a:spAutoFit/>
            </a:bodyPr>
            <a:lstStyle/>
            <a:p>
              <a:pPr algn="l"/>
              <a:r>
                <a:rPr lang="ko-KR" sz="1350" b="1" dirty="0">
                  <a:solidFill>
                    <a:srgbClr val="B45309"/>
                  </a:solidFill>
                  <a:latin typeface="+mn-lt"/>
                  <a:ea typeface="+mn-ea"/>
                  <a:cs typeface="+mn-cs"/>
                </a:rPr>
                <a:t>지자체가 이미 쓰는 GPR 용역 예산 · 2026 낙찰</a:t>
              </a:r>
            </a:p>
          </p:txBody>
        </p:sp>
        <p:sp>
          <p:nvSpPr>
            <p:cNvPr id="20" name="TextBox 20"/>
            <p:cNvSpPr txBox="1"/>
            <p:nvPr/>
          </p:nvSpPr>
          <p:spPr>
            <a:xfrm>
              <a:off x="514350" y="2349500"/>
              <a:ext cx="2997580" cy="1104900"/>
            </a:xfrm>
            <a:prstGeom prst="rect">
              <a:avLst/>
            </a:prstGeom>
            <a:noFill/>
            <a:ln>
              <a:noFill/>
            </a:ln>
          </p:spPr>
          <p:txBody>
            <a:bodyPr wrap="none" lIns="0" tIns="0" rIns="0" bIns="0" anchor="t" anchorCtr="0">
              <a:spAutoFit/>
            </a:bodyPr>
            <a:lstStyle/>
            <a:p>
              <a:pPr algn="l"/>
              <a:r>
                <a:rPr lang="ko-KR" sz="5700" b="1" spc="-225" dirty="0">
                  <a:solidFill>
                    <a:srgbClr val="0B1E3C"/>
                  </a:solidFill>
                  <a:latin typeface="+mn-lt"/>
                  <a:ea typeface="+mn-ea"/>
                  <a:cs typeface="+mn-cs"/>
                </a:rPr>
                <a:t>1~2억 원</a:t>
              </a:r>
            </a:p>
          </p:txBody>
        </p:sp>
        <p:sp>
          <p:nvSpPr>
            <p:cNvPr id="21" name="TextBox 21"/>
            <p:cNvSpPr txBox="1"/>
            <p:nvPr/>
          </p:nvSpPr>
          <p:spPr>
            <a:xfrm>
              <a:off x="525018" y="3282950"/>
              <a:ext cx="4431459" cy="322707"/>
            </a:xfrm>
            <a:prstGeom prst="rect">
              <a:avLst/>
            </a:prstGeom>
            <a:noFill/>
            <a:ln>
              <a:noFill/>
            </a:ln>
          </p:spPr>
          <p:txBody>
            <a:bodyPr wrap="none" lIns="0" tIns="0" rIns="0" bIns="0" anchor="t" anchorCtr="0">
              <a:spAutoFit/>
            </a:bodyPr>
            <a:lstStyle/>
            <a:p>
              <a:pPr algn="l"/>
              <a:r>
                <a:rPr lang="ko-KR" sz="1650" b="1" dirty="0">
                  <a:solidFill>
                    <a:srgbClr val="111827"/>
                  </a:solidFill>
                  <a:latin typeface="+mn-lt"/>
                  <a:ea typeface="+mn-ea"/>
                  <a:cs typeface="+mn-cs"/>
                </a:rPr>
                <a:t>안양·강동구·용인, 건당 0.85억~1.90억 원</a:t>
              </a:r>
            </a:p>
          </p:txBody>
        </p:sp>
        <p:sp>
          <p:nvSpPr>
            <p:cNvPr id="22" name="TextBox 22"/>
            <p:cNvSpPr txBox="1"/>
            <p:nvPr/>
          </p:nvSpPr>
          <p:spPr>
            <a:xfrm>
              <a:off x="526542" y="3644900"/>
              <a:ext cx="438449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경기도는 16개 시·군 탐사에 21.6억 원 지원(2025.9)</a:t>
              </a:r>
            </a:p>
          </p:txBody>
        </p:sp>
      </p:grpSp>
      <p:grpSp>
        <p:nvGrpSpPr>
          <p:cNvPr id="37" name="road"/>
          <p:cNvGrpSpPr/>
          <p:nvPr/>
        </p:nvGrpSpPr>
        <p:grpSpPr>
          <a:xfrm>
            <a:off x="6134100" y="1797050"/>
            <a:ext cx="3229219" cy="2837752"/>
            <a:chOff x="6134100" y="1797050"/>
            <a:chExt cx="3229219" cy="2837752"/>
          </a:xfrm>
        </p:grpSpPr>
        <p:sp>
          <p:nvSpPr>
            <p:cNvPr id="24" name="Line 24"/>
            <p:cNvSpPr/>
            <p:nvPr/>
          </p:nvSpPr>
          <p:spPr>
            <a:xfrm>
              <a:off x="6210300" y="2000250"/>
              <a:ext cx="9525" cy="2162175"/>
            </a:xfrm>
            <a:custGeom>
              <a:avLst/>
              <a:gdLst/>
              <a:ahLst/>
              <a:cxnLst/>
              <a:rect l="l" t="t" r="r" b="b"/>
              <a:pathLst>
                <a:path w="9525" h="2162175">
                  <a:moveTo>
                    <a:pt x="0" y="0"/>
                  </a:moveTo>
                  <a:lnTo>
                    <a:pt x="0" y="2162175"/>
                  </a:lnTo>
                </a:path>
              </a:pathLst>
            </a:custGeom>
            <a:noFill/>
            <a:ln w="19050">
              <a:solidFill>
                <a:srgbClr val="E2E6EC"/>
              </a:solidFill>
            </a:ln>
          </p:spPr>
        </p:sp>
        <p:sp>
          <p:nvSpPr>
            <p:cNvPr id="25" name="Ellipse 25"/>
            <p:cNvSpPr/>
            <p:nvPr/>
          </p:nvSpPr>
          <p:spPr>
            <a:xfrm>
              <a:off x="6134100" y="1857375"/>
              <a:ext cx="152400" cy="152400"/>
            </a:xfrm>
            <a:prstGeom prst="ellipse">
              <a:avLst/>
            </a:prstGeom>
            <a:solidFill>
              <a:srgbClr val="F5B700"/>
            </a:solidFill>
            <a:ln>
              <a:noFill/>
            </a:ln>
          </p:spPr>
        </p:sp>
        <p:sp>
          <p:nvSpPr>
            <p:cNvPr id="26" name="TextBox 26"/>
            <p:cNvSpPr txBox="1"/>
            <p:nvPr/>
          </p:nvSpPr>
          <p:spPr>
            <a:xfrm>
              <a:off x="6430518" y="1797050"/>
              <a:ext cx="1395593"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수상 후 6개월</a:t>
              </a:r>
            </a:p>
          </p:txBody>
        </p:sp>
        <p:sp>
          <p:nvSpPr>
            <p:cNvPr id="27" name="TextBox 27"/>
            <p:cNvSpPr txBox="1"/>
            <p:nvPr/>
          </p:nvSpPr>
          <p:spPr>
            <a:xfrm>
              <a:off x="6431661" y="2127250"/>
              <a:ext cx="2931658"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PV5 실물 대여로 폐쇄 시험장 실증</a:t>
              </a:r>
            </a:p>
          </p:txBody>
        </p:sp>
        <p:sp>
          <p:nvSpPr>
            <p:cNvPr id="28" name="Ellipse 28"/>
            <p:cNvSpPr/>
            <p:nvPr/>
          </p:nvSpPr>
          <p:spPr>
            <a:xfrm>
              <a:off x="6134100" y="2600325"/>
              <a:ext cx="152400" cy="152400"/>
            </a:xfrm>
            <a:prstGeom prst="ellipse">
              <a:avLst/>
            </a:prstGeom>
            <a:solidFill>
              <a:srgbClr val="0B1E3C"/>
            </a:solidFill>
            <a:ln>
              <a:noFill/>
            </a:ln>
          </p:spPr>
        </p:sp>
        <p:sp>
          <p:nvSpPr>
            <p:cNvPr id="29" name="TextBox 29"/>
            <p:cNvSpPr txBox="1"/>
            <p:nvPr/>
          </p:nvSpPr>
          <p:spPr>
            <a:xfrm>
              <a:off x="6430518" y="2540000"/>
              <a:ext cx="62371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1~2년</a:t>
              </a:r>
            </a:p>
          </p:txBody>
        </p:sp>
        <p:sp>
          <p:nvSpPr>
            <p:cNvPr id="30" name="TextBox 30"/>
            <p:cNvSpPr txBox="1"/>
            <p:nvPr/>
          </p:nvSpPr>
          <p:spPr>
            <a:xfrm>
              <a:off x="6431661" y="2870200"/>
              <a:ext cx="2834094"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조사기관과 시·군 용역 공동 수주</a:t>
              </a:r>
            </a:p>
          </p:txBody>
        </p:sp>
        <p:sp>
          <p:nvSpPr>
            <p:cNvPr id="31" name="Ellipse 31"/>
            <p:cNvSpPr/>
            <p:nvPr/>
          </p:nvSpPr>
          <p:spPr>
            <a:xfrm>
              <a:off x="6134100" y="3343275"/>
              <a:ext cx="152400" cy="152400"/>
            </a:xfrm>
            <a:prstGeom prst="ellipse">
              <a:avLst/>
            </a:prstGeom>
            <a:solidFill>
              <a:srgbClr val="0B1E3C"/>
            </a:solidFill>
            <a:ln>
              <a:noFill/>
            </a:ln>
          </p:spPr>
        </p:sp>
        <p:sp>
          <p:nvSpPr>
            <p:cNvPr id="32" name="TextBox 32"/>
            <p:cNvSpPr txBox="1"/>
            <p:nvPr/>
          </p:nvSpPr>
          <p:spPr>
            <a:xfrm>
              <a:off x="6430518" y="3282950"/>
              <a:ext cx="62371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2~3년</a:t>
              </a:r>
            </a:p>
          </p:txBody>
        </p:sp>
        <p:sp>
          <p:nvSpPr>
            <p:cNvPr id="33" name="TextBox 33"/>
            <p:cNvSpPr txBox="1"/>
            <p:nvPr/>
          </p:nvSpPr>
          <p:spPr>
            <a:xfrm>
              <a:off x="6431661" y="3613150"/>
              <a:ext cx="2700282"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혁신제품 지정 → 연간 관제 계약</a:t>
              </a:r>
            </a:p>
          </p:txBody>
        </p:sp>
        <p:sp>
          <p:nvSpPr>
            <p:cNvPr id="34" name="Ellipse 34"/>
            <p:cNvSpPr/>
            <p:nvPr/>
          </p:nvSpPr>
          <p:spPr>
            <a:xfrm>
              <a:off x="6134100" y="4086225"/>
              <a:ext cx="152400" cy="152400"/>
            </a:xfrm>
            <a:prstGeom prst="ellipse">
              <a:avLst/>
            </a:prstGeom>
            <a:solidFill>
              <a:srgbClr val="0B1E3C"/>
            </a:solidFill>
            <a:ln>
              <a:noFill/>
            </a:ln>
          </p:spPr>
        </p:sp>
        <p:sp>
          <p:nvSpPr>
            <p:cNvPr id="35" name="TextBox 35"/>
            <p:cNvSpPr txBox="1"/>
            <p:nvPr/>
          </p:nvSpPr>
          <p:spPr>
            <a:xfrm>
              <a:off x="6430518" y="4025900"/>
              <a:ext cx="495439"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3년~</a:t>
              </a:r>
            </a:p>
          </p:txBody>
        </p:sp>
        <p:sp>
          <p:nvSpPr>
            <p:cNvPr id="36" name="TextBox 36"/>
            <p:cNvSpPr txBox="1"/>
            <p:nvPr/>
          </p:nvSpPr>
          <p:spPr>
            <a:xfrm>
              <a:off x="6431661" y="4356100"/>
              <a:ext cx="1864406"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권역별 PV5 플릿 구매</a:t>
              </a:r>
            </a:p>
          </p:txBody>
        </p:sp>
      </p:grpSp>
      <p:grpSp>
        <p:nvGrpSpPr>
          <p:cNvPr id="40" name="conclusion"/>
          <p:cNvGrpSpPr/>
          <p:nvPr/>
        </p:nvGrpSpPr>
        <p:grpSpPr>
          <a:xfrm>
            <a:off x="533400" y="5143500"/>
            <a:ext cx="7562161" cy="419100"/>
            <a:chOff x="533400" y="5143500"/>
            <a:chExt cx="7562161" cy="419100"/>
          </a:xfrm>
        </p:grpSpPr>
        <p:sp>
          <p:nvSpPr>
            <p:cNvPr id="38" name="Rectangle 38"/>
            <p:cNvSpPr/>
            <p:nvPr/>
          </p:nvSpPr>
          <p:spPr>
            <a:xfrm>
              <a:off x="533400" y="5143500"/>
              <a:ext cx="38100" cy="419100"/>
            </a:xfrm>
            <a:prstGeom prst="rect">
              <a:avLst/>
            </a:prstGeom>
            <a:solidFill>
              <a:srgbClr val="F5B700"/>
            </a:solidFill>
            <a:ln>
              <a:noFill/>
            </a:ln>
          </p:spPr>
        </p:sp>
        <p:sp>
          <p:nvSpPr>
            <p:cNvPr id="39" name="TextBox 39"/>
            <p:cNvSpPr txBox="1"/>
            <p:nvPr/>
          </p:nvSpPr>
          <p:spPr>
            <a:xfrm>
              <a:off x="715899" y="5238750"/>
              <a:ext cx="737966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이미 쓰는 탐사 예산에서, 기아와 함께 첫 실증을 만듭니다.</a:t>
              </a:r>
            </a:p>
          </p:txBody>
        </p:sp>
      </p:grpSp>
      <p:grpSp>
        <p:nvGrpSpPr>
          <p:cNvPr id="42" name="source"/>
          <p:cNvGrpSpPr/>
          <p:nvPr/>
        </p:nvGrpSpPr>
        <p:grpSpPr>
          <a:xfrm>
            <a:off x="528447" y="6381750"/>
            <a:ext cx="10506489" cy="191643"/>
            <a:chOff x="528447" y="6381750"/>
            <a:chExt cx="10506489" cy="191643"/>
          </a:xfrm>
        </p:grpSpPr>
        <p:sp>
          <p:nvSpPr>
            <p:cNvPr id="41" name="TextBox 4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45" name="footer"/>
          <p:cNvGrpSpPr/>
          <p:nvPr/>
        </p:nvGrpSpPr>
        <p:grpSpPr>
          <a:xfrm>
            <a:off x="528638" y="6610350"/>
            <a:ext cx="11134724" cy="176212"/>
            <a:chOff x="528638" y="6610350"/>
            <a:chExt cx="11134724" cy="176212"/>
          </a:xfrm>
        </p:grpSpPr>
        <p:sp>
          <p:nvSpPr>
            <p:cNvPr id="43" name="TextBox 4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4" name="TextBox 4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17 / 18</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6193040" cy="2357120"/>
            <a:chOff x="590550" y="2578100"/>
            <a:chExt cx="6193040" cy="2357120"/>
          </a:xfrm>
        </p:grpSpPr>
        <p:sp>
          <p:nvSpPr>
            <p:cNvPr id="8" name="TextBox 8"/>
            <p:cNvSpPr txBox="1"/>
            <p:nvPr/>
          </p:nvSpPr>
          <p:spPr>
            <a:xfrm>
              <a:off x="598170" y="2578100"/>
              <a:ext cx="2188559"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떠난 길,</a:t>
              </a:r>
            </a:p>
          </p:txBody>
        </p:sp>
        <p:sp>
          <p:nvSpPr>
            <p:cNvPr id="9" name="TextBox 9"/>
            <p:cNvSpPr txBox="1"/>
            <p:nvPr/>
          </p:nvSpPr>
          <p:spPr>
            <a:xfrm>
              <a:off x="590550" y="3048000"/>
              <a:ext cx="619304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무사히 돌아올 수 있도록.</a:t>
              </a:r>
            </a:p>
          </p:txBody>
        </p:sp>
        <p:sp>
          <p:nvSpPr>
            <p:cNvPr id="10" name="TextBox 10"/>
            <p:cNvSpPr txBox="1"/>
            <p:nvPr/>
          </p:nvSpPr>
          <p:spPr>
            <a:xfrm>
              <a:off x="601218" y="4273550"/>
              <a:ext cx="1962552"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PV5 GroundWatch</a:t>
              </a:r>
            </a:p>
          </p:txBody>
        </p:sp>
        <p:sp>
          <p:nvSpPr>
            <p:cNvPr id="11" name="TextBox 11"/>
            <p:cNvSpPr txBox="1"/>
            <p:nvPr/>
          </p:nvSpPr>
          <p:spPr>
            <a:xfrm>
              <a:off x="601980" y="4641850"/>
              <a:ext cx="522503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다시 보는 일이, 한 사람의 무사 귀가가 되도록.</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18 / 18</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7">
  <a:themeElements>
    <a:clrScheme name="deck_v7">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7">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7">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7">
  <a:themeElements>
    <a:clrScheme name="deck_v7">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7">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7">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18</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2026-10-24T08:29:29Z</dcterms:created>
  <dcterms:modified xsi:type="dcterms:W3CDTF">2026-10-24T08:29:29Z</dcterms:modified>
  <cp:category/>
  <cp:contentStatus/>
</cp:coreProperties>
</file>