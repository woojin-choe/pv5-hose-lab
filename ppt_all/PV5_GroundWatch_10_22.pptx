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  <Relationship Id="rId20"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지표투과레이더(GPR)로 같은 길을 반복해서 보고, 구멍이 되기 전의 변화를 찾습니다. 표지는 새벽 한강변 도로를 순찰하는 PV5와 도로 아래 GPR 탐사를 표현한 PV5 기반 콘셉트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PV5는 차량 내비·화면과 탐사 장비를 연동하고, V2L·L-Track으로 싣고 고정하며, 공식 컨버전 체계로 같은 탐사실을 복제합니다. 사업은 현행 단가(서울시 2024년 공동조사 km당 약 92만 원)와 비교해, 반복 탐사 원가 km당 약 4.7만 원으로 같은 길을 1년에 6번 보는 구조입니다.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a:p>
            <a:pPr/>
            <a:r>
              <a:rPr lang="ko-KR" dirty="0"/>
              <a:t>사고 원인은 서울시가 경사지 매립층, 지하수위 변화, 지하매설물, 주변 공사가 겹친 복합 요인으로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줄였습니다(이투데이 2025.4.23). 그래도 연희동은 탐사에서 함몰까지 100여 일이었습니다.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고르고(7장에서 시뮬레이션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일본 후지사와시는 지오서치와 함께 이미 발견한 공동 중 위험도가 낮은 것을 경과관찰하며 모니터링합니다(지오서치·후지사와시 보고, https://www.city.fujisawa.kanagawa.jp/documents/34128/20250822174442.pdf). 일본 국토교통성 연구(30-5)는 후쿠오카시와 후지사와시에 노선을 정해 3개월마다 공동 모니터링을 했고 공동 성장 속도의 실측값을 얻었습니다(https://www.mlit.go.jp/road/tech/hyouka/h30/30-5_houkoku.pdf). GroundWatch는 이를 연구 노선이 아니라 업무 노선 전체로, 이미 발견된 공동이 아니라 '이상 없음' 구간까지 넓혀, 지난 회차와 위치를 맞춰 뺀 차이만 판독하고, 같은 차에서 바로 재탐사하는 상시 업무로 만듭니다.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600kg입니다(기아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최대 적재 600kg의 절반,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바닥 아래 차량형 다채널 GPR을 보여줍니다. PV5는 바닥 아래에 구동 배터리가 있으므로 GPR 장착 위치는 배터리 팩·지상고 간섭 시험 후 확정하며, 구조변경은 기아 컨버전 파트너를 거칩니다.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차량 3D 데이터와 인증자료를 주는 PBV 컨버전 포털, 12V 조인트 블록과 PIM 제어기를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신속복구 285곳이 모두 포함된 금액입니다(서울시 최종보고서 2024.10, 계약 2024.4.29~10.15). GroundWatch 차량 1대의 연간 원가는 가설로 약 3.1억 원입니다. PV5 4,520만 원과 차량형 GPR 5억 원(서울시가 3대를 15억 원에 도입, 이투데이 2025.4.23)을 5년 감가하고, 현장 2인 1.2억 원, 판독 전문가 0.5인 0.4억 원, 수동 GPR·AR·클라우드·보험·유지 0.4억 원을 더했습니다. 하루 30km, 220일이면 연 6,600km이므로 반복 탐사 원가는 km당 약 4.7만 원입니다. 보고서의 실제 장비 탐사 속도는 시속 20~30km라 처리량은 보수적으로 잡았습니다. 같은 도로 1km를 1년 동안 보면, 현행 전체 공정 1회는 약 92만 원이고 GroundWatch 반복 탐사 6회는 약 28만 원입니다. 천공과 복구 같은 2차 조사는 변화가 나온 곳에만 지금 단가대로 붙습니다. 즉 현행 1회 비용의 약 3분의 1로 같은 길을 1년에 6번 봅니다. 원가는 파일럿에서 확정할 가설입니다.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1,000km를 맡는다는 가설에서 최대 약 97대가 필요합니다(전 구간을 2개월마다 볼 때의 최대치). 기아의 차량 매출로는 최대 약 44억 원(97대 × 4,520만 원)이며, GPR 장비 매출은 파트너 몫입니다. 서울 도로 8,342km만 맡으면 약 8대입니다. 대수는 많지 않지만 PV5와 업무 앱을 묶은 공공 레퍼런스의 첫 사례가 됩니다. 수상 후 첫 6개월에 기아에 요청하는 것은 공모전이 이미 안내한 혜택(PV5 대여 검토, PoC·사업화 연계, 멘토링)과 공개 개발자 환경입니다. PV5 실물 1대 대여로 1단계 폐쇄 시험장 실증을, Pleos Playground와 SDK로 Navihelper·Vehicle API 연동 시제품을, 컨버전 포털과 PIM 기술 지원으로 GPR 장착 위치·전원 간섭 검토를, PoC·사업화 연계로 지자체 파일럿을 연결받고자 합니다. 일정은 목표입니다.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97대)를 만듭니다. 한 번의 조기 발견이 한 사람의 무사 귀가가 되도록, PV5 GroundWatch를 제안합니다. 감사합니다. 마지막 사진도 실제 PV5 카고 사진(Alexander Migl, CC BY-SA 4.0)을 편집했습니다.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6f1f6ff08af56b.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90eb28e89366fa0.jpg"/>
  <Relationship Id="rId3"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4530852" cy="785241"/>
            <a:chOff x="601599" y="4381500"/>
            <a:chExt cx="4530852"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4530852"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지표투과레이더(GPR)로 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97550"/>
            <a:ext cx="2739992" cy="570357"/>
            <a:chOff x="601218" y="5797550"/>
            <a:chExt cx="2739992" cy="570357"/>
          </a:xfrm>
        </p:grpSpPr>
        <p:sp>
          <p:nvSpPr>
            <p:cNvPr id="15" name="TextBox 15"/>
            <p:cNvSpPr txBox="1"/>
            <p:nvPr/>
          </p:nvSpPr>
          <p:spPr>
            <a:xfrm>
              <a:off x="604266" y="5797550"/>
              <a:ext cx="387035" cy="205359"/>
            </a:xfrm>
            <a:prstGeom prst="rect">
              <a:avLst/>
            </a:prstGeom>
            <a:noFill/>
            <a:ln>
              <a:noFill/>
            </a:ln>
          </p:spPr>
          <p:txBody>
            <a:bodyPr wrap="none" lIns="0" tIns="0" rIns="0" bIns="0" anchor="t" anchorCtr="0">
              <a:spAutoFit/>
            </a:bodyPr>
            <a:lstStyle/>
            <a:p>
              <a:pPr algn="l"/>
              <a:r>
                <a:rPr lang="en-US" sz="105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10553256" y="6299200"/>
            <a:ext cx="1186497" cy="369443"/>
            <a:chOff x="10553256" y="6299200"/>
            <a:chExt cx="1186497" cy="369443"/>
          </a:xfrm>
        </p:grpSpPr>
        <p:sp>
          <p:nvSpPr>
            <p:cNvPr id="18" name="TextBox 18"/>
            <p:cNvSpPr txBox="1"/>
            <p:nvPr/>
          </p:nvSpPr>
          <p:spPr>
            <a:xfrm>
              <a:off x="10553256" y="62992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9" name="TextBox 19"/>
            <p:cNvSpPr txBox="1"/>
            <p:nvPr/>
          </p:nvSpPr>
          <p:spPr>
            <a:xfrm>
              <a:off x="11182347" y="6477000"/>
              <a:ext cx="557406"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2026. 10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3" name="col0"/>
          <p:cNvGrpSpPr/>
          <p:nvPr/>
        </p:nvGrpSpPr>
        <p:grpSpPr>
          <a:xfrm>
            <a:off x="524637" y="1600200"/>
            <a:ext cx="2618613" cy="2021459"/>
            <a:chOff x="524637" y="1600200"/>
            <a:chExt cx="2618613" cy="2021459"/>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199618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자라는 얕은 공동을</a:t>
              </a:r>
              <a:br>
                <a:rPr lang="ko-KR" sz="1280" dirty="0">
                  <a:solidFill>
                    <a:srgbClr val="374151"/>
                  </a:solidFill>
                  <a:latin typeface="+mn-lt"/>
                  <a:ea typeface="+mn-ea"/>
                  <a:cs typeface="+mn-cs"/>
                </a:rPr>
              </a:br>
              <a:r>
                <a:rPr lang="ko-KR" sz="1280" dirty="0">
                  <a:solidFill>
                    <a:srgbClr val="374151"/>
                  </a:solidFill>
                  <a:latin typeface="+mn-lt"/>
                  <a:ea typeface="+mn-ea"/>
                  <a:cs typeface="+mn-cs"/>
                </a:rPr>
                <a:t>아무도 보지 못합니다.</a:t>
              </a:r>
            </a:p>
          </p:txBody>
        </p:sp>
        <p:sp>
          <p:nvSpPr>
            <p:cNvPr id="22" name="TextBox 22"/>
            <p:cNvSpPr txBox="1"/>
            <p:nvPr/>
          </p:nvSpPr>
          <p:spPr>
            <a:xfrm>
              <a:off x="52806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3~5장</a:t>
              </a:r>
            </a:p>
          </p:txBody>
        </p:sp>
      </p:grpSp>
      <p:grpSp>
        <p:nvGrpSpPr>
          <p:cNvPr id="29" name="col1"/>
          <p:cNvGrpSpPr/>
          <p:nvPr/>
        </p:nvGrpSpPr>
        <p:grpSpPr>
          <a:xfrm>
            <a:off x="3363087" y="1600200"/>
            <a:ext cx="2618613" cy="2021459"/>
            <a:chOff x="3363087" y="1600200"/>
            <a:chExt cx="2618613" cy="2021459"/>
          </a:xfrm>
        </p:grpSpPr>
        <p:sp>
          <p:nvSpPr>
            <p:cNvPr id="24" name="Rectangle 24"/>
            <p:cNvSpPr/>
            <p:nvPr/>
          </p:nvSpPr>
          <p:spPr>
            <a:xfrm>
              <a:off x="3371850" y="1600200"/>
              <a:ext cx="2609850" cy="28575"/>
            </a:xfrm>
            <a:prstGeom prst="rect">
              <a:avLst/>
            </a:prstGeom>
            <a:solidFill>
              <a:srgbClr val="0B1E3C"/>
            </a:solidFill>
            <a:ln>
              <a:noFill/>
            </a:ln>
          </p:spPr>
        </p:sp>
        <p:sp>
          <p:nvSpPr>
            <p:cNvPr id="25" name="TextBox 25"/>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6" name="TextBox 26"/>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7" name="TextBox 27"/>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sp>
          <p:nvSpPr>
            <p:cNvPr id="28" name="TextBox 28"/>
            <p:cNvSpPr txBox="1"/>
            <p:nvPr/>
          </p:nvSpPr>
          <p:spPr>
            <a:xfrm>
              <a:off x="336651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6~7장</a:t>
              </a:r>
            </a:p>
          </p:txBody>
        </p:sp>
      </p:grpSp>
      <p:grpSp>
        <p:nvGrpSpPr>
          <p:cNvPr id="35" name="col2"/>
          <p:cNvGrpSpPr/>
          <p:nvPr/>
        </p:nvGrpSpPr>
        <p:grpSpPr>
          <a:xfrm>
            <a:off x="6201537" y="1600200"/>
            <a:ext cx="2618613" cy="2021459"/>
            <a:chOff x="6201537" y="1600200"/>
            <a:chExt cx="2618613" cy="2021459"/>
          </a:xfrm>
        </p:grpSpPr>
        <p:sp>
          <p:nvSpPr>
            <p:cNvPr id="30" name="Rectangle 30"/>
            <p:cNvSpPr/>
            <p:nvPr/>
          </p:nvSpPr>
          <p:spPr>
            <a:xfrm>
              <a:off x="6210300" y="1600200"/>
              <a:ext cx="2609850" cy="28575"/>
            </a:xfrm>
            <a:prstGeom prst="rect">
              <a:avLst/>
            </a:prstGeom>
            <a:solidFill>
              <a:srgbClr val="0B1E3C"/>
            </a:solidFill>
            <a:ln>
              <a:noFill/>
            </a:ln>
          </p:spPr>
        </p:sp>
        <p:sp>
          <p:nvSpPr>
            <p:cNvPr id="31" name="TextBox 31"/>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2" name="TextBox 32"/>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차가 업무의 일부가 됨</a:t>
              </a:r>
            </a:p>
          </p:txBody>
        </p:sp>
        <p:sp>
          <p:nvSpPr>
            <p:cNvPr id="33" name="TextBox 33"/>
            <p:cNvSpPr txBox="1"/>
            <p:nvPr/>
          </p:nvSpPr>
          <p:spPr>
            <a:xfrm>
              <a:off x="6203823" y="2520950"/>
              <a:ext cx="215874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차량 내비·화면과 연동하고,</a:t>
              </a:r>
              <a:br>
                <a:rPr lang="ko-KR" sz="1280" dirty="0">
                  <a:solidFill>
                    <a:srgbClr val="374151"/>
                  </a:solidFill>
                  <a:latin typeface="+mn-lt"/>
                  <a:ea typeface="+mn-ea"/>
                  <a:cs typeface="+mn-cs"/>
                </a:rPr>
              </a:br>
              <a:r>
                <a:rPr lang="ko-KR" sz="1280" dirty="0">
                  <a:solidFill>
                    <a:srgbClr val="374151"/>
                  </a:solidFill>
                  <a:latin typeface="+mn-lt"/>
                  <a:ea typeface="+mn-ea"/>
                  <a:cs typeface="+mn-cs"/>
                </a:rPr>
                <a:t>V2L·L-Track으로 싣고 고정,</a:t>
              </a:r>
              <a:br>
                <a:rPr lang="ko-KR" sz="1280" dirty="0">
                  <a:solidFill>
                    <a:srgbClr val="374151"/>
                  </a:solidFill>
                  <a:latin typeface="+mn-lt"/>
                  <a:ea typeface="+mn-ea"/>
                  <a:cs typeface="+mn-cs"/>
                </a:rPr>
              </a:br>
              <a:r>
                <a:rPr lang="ko-KR" sz="1280" dirty="0">
                  <a:solidFill>
                    <a:srgbClr val="374151"/>
                  </a:solidFill>
                  <a:latin typeface="+mn-lt"/>
                  <a:ea typeface="+mn-ea"/>
                  <a:cs typeface="+mn-cs"/>
                </a:rPr>
                <a:t>공식 컨버전으로 복제.</a:t>
              </a:r>
            </a:p>
          </p:txBody>
        </p:sp>
        <p:sp>
          <p:nvSpPr>
            <p:cNvPr id="34" name="TextBox 34"/>
            <p:cNvSpPr txBox="1"/>
            <p:nvPr/>
          </p:nvSpPr>
          <p:spPr>
            <a:xfrm>
              <a:off x="620496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8~9장</a:t>
              </a:r>
            </a:p>
          </p:txBody>
        </p:sp>
      </p:grpSp>
      <p:grpSp>
        <p:nvGrpSpPr>
          <p:cNvPr id="41" name="col3"/>
          <p:cNvGrpSpPr/>
          <p:nvPr/>
        </p:nvGrpSpPr>
        <p:grpSpPr>
          <a:xfrm>
            <a:off x="9039987" y="1600200"/>
            <a:ext cx="2732408" cy="2021459"/>
            <a:chOff x="9039987" y="1600200"/>
            <a:chExt cx="2732408" cy="2021459"/>
          </a:xfrm>
        </p:grpSpPr>
        <p:sp>
          <p:nvSpPr>
            <p:cNvPr id="36" name="Rectangle 36"/>
            <p:cNvSpPr/>
            <p:nvPr/>
          </p:nvSpPr>
          <p:spPr>
            <a:xfrm>
              <a:off x="9048750" y="1600200"/>
              <a:ext cx="2609850" cy="28575"/>
            </a:xfrm>
            <a:prstGeom prst="rect">
              <a:avLst/>
            </a:prstGeom>
            <a:solidFill>
              <a:srgbClr val="0B1E3C"/>
            </a:solidFill>
            <a:ln>
              <a:noFill/>
            </a:ln>
          </p:spPr>
        </p:sp>
        <p:sp>
          <p:nvSpPr>
            <p:cNvPr id="37" name="TextBox 37"/>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8" name="TextBox 38"/>
            <p:cNvSpPr txBox="1"/>
            <p:nvPr/>
          </p:nvSpPr>
          <p:spPr>
            <a:xfrm>
              <a:off x="9039987" y="2070100"/>
              <a:ext cx="2732408"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6번, 1회의 1/3</a:t>
              </a:r>
            </a:p>
          </p:txBody>
        </p:sp>
        <p:sp>
          <p:nvSpPr>
            <p:cNvPr id="39" name="TextBox 39"/>
            <p:cNvSpPr txBox="1"/>
            <p:nvPr/>
          </p:nvSpPr>
          <p:spPr>
            <a:xfrm>
              <a:off x="9042273" y="2520950"/>
              <a:ext cx="1866138"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현행 km당 92만 원 vs</a:t>
              </a:r>
              <a:br>
                <a:rPr lang="ko-KR" sz="1280" dirty="0">
                  <a:solidFill>
                    <a:srgbClr val="374151"/>
                  </a:solidFill>
                  <a:latin typeface="+mn-lt"/>
                  <a:ea typeface="+mn-ea"/>
                  <a:cs typeface="+mn-cs"/>
                </a:rPr>
              </a:br>
              <a:r>
                <a:rPr lang="ko-KR" sz="1280" dirty="0">
                  <a:solidFill>
                    <a:srgbClr val="374151"/>
                  </a:solidFill>
                  <a:latin typeface="+mn-lt"/>
                  <a:ea typeface="+mn-ea"/>
                  <a:cs typeface="+mn-cs"/>
                </a:rPr>
                <a:t>반복 탐사 원가 4.7만 원.</a:t>
              </a:r>
              <a:br>
                <a:rPr lang="ko-KR" sz="1280" dirty="0">
                  <a:solidFill>
                    <a:srgbClr val="374151"/>
                  </a:solidFill>
                  <a:latin typeface="+mn-lt"/>
                  <a:ea typeface="+mn-ea"/>
                  <a:cs typeface="+mn-cs"/>
                </a:rPr>
              </a:br>
              <a:r>
                <a:rPr lang="ko-KR" sz="1280" dirty="0">
                  <a:solidFill>
                    <a:srgbClr val="374151"/>
                  </a:solidFill>
                  <a:latin typeface="+mn-lt"/>
                  <a:ea typeface="+mn-ea"/>
                  <a:cs typeface="+mn-cs"/>
                </a:rPr>
                <a:t>실증은 4단계로.</a:t>
              </a:r>
            </a:p>
          </p:txBody>
        </p:sp>
        <p:sp>
          <p:nvSpPr>
            <p:cNvPr id="40" name="TextBox 40"/>
            <p:cNvSpPr txBox="1"/>
            <p:nvPr/>
          </p:nvSpPr>
          <p:spPr>
            <a:xfrm>
              <a:off x="9043416" y="3416300"/>
              <a:ext cx="1127341"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10~12장</a:t>
              </a:r>
            </a:p>
          </p:txBody>
        </p:sp>
      </p:grpSp>
      <p:grpSp>
        <p:nvGrpSpPr>
          <p:cNvPr id="52" name="keynum"/>
          <p:cNvGrpSpPr/>
          <p:nvPr/>
        </p:nvGrpSpPr>
        <p:grpSpPr>
          <a:xfrm>
            <a:off x="521208" y="4260850"/>
            <a:ext cx="11137392" cy="1058228"/>
            <a:chOff x="521208" y="4260850"/>
            <a:chExt cx="11137392" cy="1058228"/>
          </a:xfrm>
        </p:grpSpPr>
        <p:sp>
          <p:nvSpPr>
            <p:cNvPr id="42" name="TextBox 42"/>
            <p:cNvSpPr txBox="1"/>
            <p:nvPr/>
          </p:nvSpPr>
          <p:spPr>
            <a:xfrm>
              <a:off x="527685" y="4260850"/>
              <a:ext cx="1161839"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 셋으로 보면</a:t>
              </a:r>
            </a:p>
          </p:txBody>
        </p:sp>
        <p:sp>
          <p:nvSpPr>
            <p:cNvPr id="43" name="Rectangle 43"/>
            <p:cNvSpPr/>
            <p:nvPr/>
          </p:nvSpPr>
          <p:spPr>
            <a:xfrm>
              <a:off x="533400" y="4533900"/>
              <a:ext cx="3581400" cy="28575"/>
            </a:xfrm>
            <a:prstGeom prst="rect">
              <a:avLst/>
            </a:prstGeom>
            <a:solidFill>
              <a:srgbClr val="0B1E3C"/>
            </a:solidFill>
            <a:ln>
              <a:noFill/>
            </a:ln>
          </p:spPr>
        </p:sp>
        <p:sp>
          <p:nvSpPr>
            <p:cNvPr id="44" name="TextBox 44"/>
            <p:cNvSpPr txBox="1"/>
            <p:nvPr/>
          </p:nvSpPr>
          <p:spPr>
            <a:xfrm>
              <a:off x="521208" y="4679950"/>
              <a:ext cx="13320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100여 일</a:t>
              </a:r>
            </a:p>
          </p:txBody>
        </p:sp>
        <p:sp>
          <p:nvSpPr>
            <p:cNvPr id="45" name="TextBox 45"/>
            <p:cNvSpPr txBox="1"/>
            <p:nvPr/>
          </p:nvSpPr>
          <p:spPr>
            <a:xfrm>
              <a:off x="527685" y="5099050"/>
              <a:ext cx="278567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탐사에서 함몰까지 (연희동)</a:t>
              </a:r>
            </a:p>
          </p:txBody>
        </p:sp>
        <p:sp>
          <p:nvSpPr>
            <p:cNvPr id="46" name="Rectangle 46"/>
            <p:cNvSpPr/>
            <p:nvPr/>
          </p:nvSpPr>
          <p:spPr>
            <a:xfrm>
              <a:off x="4305300" y="4533900"/>
              <a:ext cx="3581400" cy="28575"/>
            </a:xfrm>
            <a:prstGeom prst="rect">
              <a:avLst/>
            </a:prstGeom>
            <a:solidFill>
              <a:srgbClr val="0B1E3C"/>
            </a:solidFill>
            <a:ln>
              <a:noFill/>
            </a:ln>
          </p:spPr>
        </p:sp>
        <p:sp>
          <p:nvSpPr>
            <p:cNvPr id="47" name="TextBox 47"/>
            <p:cNvSpPr txBox="1"/>
            <p:nvPr/>
          </p:nvSpPr>
          <p:spPr>
            <a:xfrm>
              <a:off x="4293108" y="4679950"/>
              <a:ext cx="907222"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2.4배</a:t>
              </a:r>
            </a:p>
          </p:txBody>
        </p:sp>
        <p:sp>
          <p:nvSpPr>
            <p:cNvPr id="48" name="TextBox 48"/>
            <p:cNvSpPr txBox="1"/>
            <p:nvPr/>
          </p:nvSpPr>
          <p:spPr>
            <a:xfrm>
              <a:off x="4299585" y="5099050"/>
              <a:ext cx="34792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 vs 가장 큰 오탐 요인 (시뮬레이션)</a:t>
              </a:r>
            </a:p>
          </p:txBody>
        </p:sp>
        <p:sp>
          <p:nvSpPr>
            <p:cNvPr id="49" name="Rectangle 49"/>
            <p:cNvSpPr/>
            <p:nvPr/>
          </p:nvSpPr>
          <p:spPr>
            <a:xfrm>
              <a:off x="8077200" y="4533900"/>
              <a:ext cx="3581400" cy="28575"/>
            </a:xfrm>
            <a:prstGeom prst="rect">
              <a:avLst/>
            </a:prstGeom>
            <a:solidFill>
              <a:srgbClr val="0B1E3C"/>
            </a:solidFill>
            <a:ln>
              <a:noFill/>
            </a:ln>
          </p:spPr>
        </p:sp>
        <p:sp>
          <p:nvSpPr>
            <p:cNvPr id="50" name="TextBox 50"/>
            <p:cNvSpPr txBox="1"/>
            <p:nvPr/>
          </p:nvSpPr>
          <p:spPr>
            <a:xfrm>
              <a:off x="8065008" y="4679950"/>
              <a:ext cx="22318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92만 → 28만 원</a:t>
              </a:r>
            </a:p>
          </p:txBody>
        </p:sp>
        <p:sp>
          <p:nvSpPr>
            <p:cNvPr id="51" name="TextBox 51"/>
            <p:cNvSpPr txBox="1"/>
            <p:nvPr/>
          </p:nvSpPr>
          <p:spPr>
            <a:xfrm>
              <a:off x="8071485" y="5099050"/>
              <a:ext cx="249920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도로 1km·1년: 현행 1회 vs 반복 6회</a:t>
              </a:r>
            </a:p>
          </p:txBody>
        </p:sp>
      </p:grpSp>
      <p:grpSp>
        <p:nvGrpSpPr>
          <p:cNvPr id="55" name="conclusion"/>
          <p:cNvGrpSpPr/>
          <p:nvPr/>
        </p:nvGrpSpPr>
        <p:grpSpPr>
          <a:xfrm>
            <a:off x="533400" y="5619750"/>
            <a:ext cx="5234164" cy="419100"/>
            <a:chOff x="533400" y="5619750"/>
            <a:chExt cx="5234164" cy="419100"/>
          </a:xfrm>
        </p:grpSpPr>
        <p:sp>
          <p:nvSpPr>
            <p:cNvPr id="53" name="Rectangle 53"/>
            <p:cNvSpPr/>
            <p:nvPr/>
          </p:nvSpPr>
          <p:spPr>
            <a:xfrm>
              <a:off x="533400" y="5619750"/>
              <a:ext cx="38100" cy="419100"/>
            </a:xfrm>
            <a:prstGeom prst="rect">
              <a:avLst/>
            </a:prstGeom>
            <a:solidFill>
              <a:srgbClr val="F5B700"/>
            </a:solidFill>
            <a:ln>
              <a:noFill/>
            </a:ln>
          </p:spPr>
        </p:sp>
        <p:sp>
          <p:nvSpPr>
            <p:cNvPr id="54" name="TextBox 54"/>
            <p:cNvSpPr txBox="1"/>
            <p:nvPr/>
          </p:nvSpPr>
          <p:spPr>
            <a:xfrm>
              <a:off x="715899" y="5715000"/>
              <a:ext cx="505166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조기 발견이, 한 사람의 무사 귀가가 되도록.</a:t>
              </a:r>
            </a:p>
          </p:txBody>
        </p:sp>
      </p:grpSp>
      <p:grpSp>
        <p:nvGrpSpPr>
          <p:cNvPr id="57" name="source"/>
          <p:cNvGrpSpPr/>
          <p:nvPr/>
        </p:nvGrpSpPr>
        <p:grpSpPr>
          <a:xfrm>
            <a:off x="528447" y="6381750"/>
            <a:ext cx="6115167" cy="191643"/>
            <a:chOff x="528447" y="6381750"/>
            <a:chExt cx="6115167" cy="191643"/>
          </a:xfrm>
        </p:grpSpPr>
        <p:sp>
          <p:nvSpPr>
            <p:cNvPr id="56" name="TextBox 56"/>
            <p:cNvSpPr txBox="1"/>
            <p:nvPr/>
          </p:nvSpPr>
          <p:spPr>
            <a:xfrm>
              <a:off x="528447" y="6381750"/>
              <a:ext cx="611516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3장 뉴시스·세계일보 · 6장 GPR 전자기 시뮬레이션 · 11장 서울시 2024 공동조사용역 최종보고서</a:t>
              </a:r>
            </a:p>
          </p:txBody>
        </p:sp>
      </p:grpSp>
      <p:grpSp>
        <p:nvGrpSpPr>
          <p:cNvPr id="60" name="footer"/>
          <p:cNvGrpSpPr/>
          <p:nvPr/>
        </p:nvGrpSpPr>
        <p:grpSpPr>
          <a:xfrm>
            <a:off x="528638" y="6610350"/>
            <a:ext cx="11134724" cy="176212"/>
            <a:chOff x="528638" y="6610350"/>
            <a:chExt cx="11134724" cy="176212"/>
          </a:xfrm>
        </p:grpSpPr>
        <p:sp>
          <p:nvSpPr>
            <p:cNvPr id="58" name="TextBox 5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9" name="TextBox 5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13</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15000" cy="6858000"/>
            <a:chOff x="6477000" y="0"/>
            <a:chExt cx="571500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701538"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 8. 29 사고 구간</a:t>
              </a:r>
            </a:p>
          </p:txBody>
        </p:sp>
        <p:sp>
          <p:nvSpPr>
            <p:cNvPr id="11" name="TextBox 11"/>
            <p:cNvSpPr txBox="1"/>
            <p:nvPr/>
          </p:nvSpPr>
          <p:spPr>
            <a:xfrm>
              <a:off x="6795516" y="1730375"/>
              <a:ext cx="1508989"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서대문구 연희동 성산로</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16" name="kicker"/>
          <p:cNvGrpSpPr/>
          <p:nvPr/>
        </p:nvGrpSpPr>
        <p:grpSpPr>
          <a:xfrm>
            <a:off x="526542" y="1301750"/>
            <a:ext cx="3042363" cy="264033"/>
            <a:chOff x="526542" y="1301750"/>
            <a:chExt cx="3042363" cy="264033"/>
          </a:xfrm>
        </p:grpSpPr>
        <p:sp>
          <p:nvSpPr>
            <p:cNvPr id="15" name="TextBox 15"/>
            <p:cNvSpPr txBox="1"/>
            <p:nvPr/>
          </p:nvSpPr>
          <p:spPr>
            <a:xfrm>
              <a:off x="526542" y="1301750"/>
              <a:ext cx="3042363"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 8. 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29" name="timeline"/>
          <p:cNvGrpSpPr/>
          <p:nvPr/>
        </p:nvGrpSpPr>
        <p:grpSpPr>
          <a:xfrm>
            <a:off x="717804" y="3314700"/>
            <a:ext cx="5346192" cy="996696"/>
            <a:chOff x="717804" y="3314700"/>
            <a:chExt cx="5346192" cy="996696"/>
          </a:xfrm>
        </p:grpSpPr>
        <p:sp>
          <p:nvSpPr>
            <p:cNvPr id="20" name="Line 20"/>
            <p:cNvSpPr/>
            <p:nvPr/>
          </p:nvSpPr>
          <p:spPr>
            <a:xfrm>
              <a:off x="723900" y="3848100"/>
              <a:ext cx="5334000" cy="9525"/>
            </a:xfrm>
            <a:custGeom>
              <a:avLst/>
              <a:gdLst/>
              <a:ahLst/>
              <a:cxnLst/>
              <a:rect l="l" t="t" r="r" b="b"/>
              <a:pathLst>
                <a:path w="5334000" h="9525">
                  <a:moveTo>
                    <a:pt x="0" y="0"/>
                  </a:moveTo>
                  <a:lnTo>
                    <a:pt x="5334000" y="0"/>
                  </a:lnTo>
                </a:path>
              </a:pathLst>
            </a:custGeom>
            <a:noFill/>
            <a:ln w="28575">
              <a:solidFill>
                <a:srgbClr val="C3CCD9"/>
              </a:solidFill>
            </a:ln>
          </p:spPr>
        </p:sp>
        <p:sp>
          <p:nvSpPr>
            <p:cNvPr id="21" name="Rectangle 21"/>
            <p:cNvSpPr/>
            <p:nvPr/>
          </p:nvSpPr>
          <p:spPr>
            <a:xfrm>
              <a:off x="723900" y="3790950"/>
              <a:ext cx="5334000" cy="114300"/>
            </a:xfrm>
            <a:prstGeom prst="rect">
              <a:avLst/>
            </a:prstGeom>
            <a:solidFill>
              <a:srgbClr val="F5B700">
                <a:alpha val="25000"/>
              </a:srgbClr>
            </a:solidFill>
            <a:ln>
              <a:noFill/>
            </a:ln>
          </p:spPr>
        </p:sp>
        <p:sp>
          <p:nvSpPr>
            <p:cNvPr id="22" name="Ellipse 22"/>
            <p:cNvSpPr/>
            <p:nvPr/>
          </p:nvSpPr>
          <p:spPr>
            <a:xfrm>
              <a:off x="809625" y="3743325"/>
              <a:ext cx="209550" cy="209550"/>
            </a:xfrm>
            <a:prstGeom prst="ellipse">
              <a:avLst/>
            </a:prstGeom>
            <a:solidFill>
              <a:srgbClr val="0B1E3C"/>
            </a:solidFill>
            <a:ln>
              <a:noFill/>
            </a:ln>
          </p:spPr>
        </p:sp>
        <p:sp>
          <p:nvSpPr>
            <p:cNvPr id="23" name="TextBox 23"/>
            <p:cNvSpPr txBox="1"/>
            <p:nvPr/>
          </p:nvSpPr>
          <p:spPr>
            <a:xfrm>
              <a:off x="717804" y="3314700"/>
              <a:ext cx="1140173"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 5. 7~16</a:t>
              </a:r>
            </a:p>
          </p:txBody>
        </p:sp>
        <p:sp>
          <p:nvSpPr>
            <p:cNvPr id="24" name="TextBox 24"/>
            <p:cNvSpPr txBox="1"/>
            <p:nvPr/>
          </p:nvSpPr>
          <p:spPr>
            <a:xfrm>
              <a:off x="718185" y="353695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5" name="Ellipse 25"/>
            <p:cNvSpPr/>
            <p:nvPr/>
          </p:nvSpPr>
          <p:spPr>
            <a:xfrm>
              <a:off x="5715000" y="3695700"/>
              <a:ext cx="304800" cy="304800"/>
            </a:xfrm>
            <a:prstGeom prst="ellipse">
              <a:avLst/>
            </a:prstGeom>
            <a:solidFill>
              <a:srgbClr val="C62828"/>
            </a:solidFill>
            <a:ln>
              <a:noFill/>
            </a:ln>
          </p:spPr>
        </p:sp>
        <p:sp>
          <p:nvSpPr>
            <p:cNvPr id="26" name="TextBox 26"/>
            <p:cNvSpPr txBox="1"/>
            <p:nvPr/>
          </p:nvSpPr>
          <p:spPr>
            <a:xfrm>
              <a:off x="5110406" y="3314700"/>
              <a:ext cx="953590"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2024. 8. 29</a:t>
              </a:r>
            </a:p>
          </p:txBody>
        </p:sp>
        <p:sp>
          <p:nvSpPr>
            <p:cNvPr id="27" name="TextBox 27"/>
            <p:cNvSpPr txBox="1"/>
            <p:nvPr/>
          </p:nvSpPr>
          <p:spPr>
            <a:xfrm>
              <a:off x="5403855" y="353695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767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grpSp>
      <p:grpSp>
        <p:nvGrpSpPr>
          <p:cNvPr id="37" name="facts"/>
          <p:cNvGrpSpPr/>
          <p:nvPr/>
        </p:nvGrpSpPr>
        <p:grpSpPr>
          <a:xfrm>
            <a:off x="518160" y="4686300"/>
            <a:ext cx="5539740" cy="880428"/>
            <a:chOff x="518160" y="4686300"/>
            <a:chExt cx="5539740" cy="880428"/>
          </a:xfrm>
        </p:grpSpPr>
        <p:sp>
          <p:nvSpPr>
            <p:cNvPr id="30" name="Line 3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1" name="TextBox 3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2" name="TextBox 3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3" name="TextBox 3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4" name="TextBox 34"/>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5" name="TextBox 3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6" name="TextBox 3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39" name="source"/>
          <p:cNvGrpSpPr/>
          <p:nvPr/>
        </p:nvGrpSpPr>
        <p:grpSpPr>
          <a:xfrm>
            <a:off x="528638" y="6096000"/>
            <a:ext cx="3444354" cy="176212"/>
            <a:chOff x="528638" y="6096000"/>
            <a:chExt cx="3444354" cy="176212"/>
          </a:xfrm>
        </p:grpSpPr>
        <p:sp>
          <p:nvSpPr>
            <p:cNvPr id="38" name="TextBox 3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2" name="footer"/>
          <p:cNvGrpSpPr/>
          <p:nvPr/>
        </p:nvGrpSpPr>
        <p:grpSpPr>
          <a:xfrm>
            <a:off x="528638" y="6610350"/>
            <a:ext cx="5534024" cy="176212"/>
            <a:chOff x="528638" y="6610350"/>
            <a:chExt cx="5534024" cy="176212"/>
          </a:xfrm>
        </p:grpSpPr>
        <p:sp>
          <p:nvSpPr>
            <p:cNvPr id="40" name="TextBox 4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1" name="TextBox 4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701800"/>
            <a:ext cx="6483858" cy="3162681"/>
            <a:chOff x="526542" y="1701800"/>
            <a:chExt cx="6483858" cy="3162681"/>
          </a:xfrm>
        </p:grpSpPr>
        <p:sp>
          <p:nvSpPr>
            <p:cNvPr id="19" name="TextBox 19"/>
            <p:cNvSpPr txBox="1"/>
            <p:nvPr/>
          </p:nvSpPr>
          <p:spPr>
            <a:xfrm>
              <a:off x="526542" y="1701800"/>
              <a:ext cx="2844270"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한 번 탐사한 도로를 다시 보기까지</a:t>
              </a:r>
            </a:p>
          </p:txBody>
        </p:sp>
        <p:sp>
          <p:nvSpPr>
            <p:cNvPr id="20" name="Line 20"/>
            <p:cNvSpPr/>
            <p:nvPr/>
          </p:nvSpPr>
          <p:spPr>
            <a:xfrm>
              <a:off x="533400" y="2000250"/>
              <a:ext cx="6477000" cy="9525"/>
            </a:xfrm>
            <a:custGeom>
              <a:avLst/>
              <a:gdLst/>
              <a:ahLst/>
              <a:cxnLst/>
              <a:rect l="l" t="t" r="r" b="b"/>
              <a:pathLst>
                <a:path w="6477000" h="9525">
                  <a:moveTo>
                    <a:pt x="0" y="0"/>
                  </a:moveTo>
                  <a:lnTo>
                    <a:pt x="6477000" y="0"/>
                  </a:lnTo>
                </a:path>
              </a:pathLst>
            </a:custGeom>
            <a:noFill/>
            <a:ln w="14288">
              <a:solidFill>
                <a:srgbClr val="0B1E3C"/>
              </a:solidFill>
            </a:ln>
          </p:spPr>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3076052"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줄인 정기점검 주기 </a:t>
              </a:r>
              <a:r>
                <a:rPr lang="ko-KR" sz="1120" dirty="0">
                  <a:solidFill>
                    <a:srgbClr val="374151"/>
                  </a:solidFill>
                  <a:latin typeface="+mn-lt"/>
                  <a:ea typeface="+mn-ea"/>
                  <a:cs typeface="+mn-cs"/>
                </a:rPr>
                <a:t>(2025.4)</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grpSp>
      <p:grpSp>
        <p:nvGrpSpPr>
          <p:cNvPr id="44" name="evidence"/>
          <p:cNvGrpSpPr/>
          <p:nvPr/>
        </p:nvGrpSpPr>
        <p:grpSpPr>
          <a:xfrm>
            <a:off x="7457694" y="1600200"/>
            <a:ext cx="4200906" cy="3644646"/>
            <a:chOff x="7457694" y="1600200"/>
            <a:chExt cx="4200906" cy="3644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166165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 사이 공동은 자랍니다</a:t>
              </a:r>
            </a:p>
          </p:txBody>
        </p:sp>
        <p:sp>
          <p:nvSpPr>
            <p:cNvPr id="33" name="TextBox 33"/>
            <p:cNvSpPr txBox="1"/>
            <p:nvPr/>
          </p:nvSpPr>
          <p:spPr>
            <a:xfrm>
              <a:off x="7457694" y="2139950"/>
              <a:ext cx="235417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“예상보다 단기간에</a:t>
              </a:r>
            </a:p>
          </p:txBody>
        </p:sp>
        <p:sp>
          <p:nvSpPr>
            <p:cNvPr id="34" name="TextBox 34"/>
            <p:cNvSpPr txBox="1"/>
            <p:nvPr/>
          </p:nvSpPr>
          <p:spPr>
            <a:xfrm>
              <a:off x="7457694" y="2482850"/>
              <a:ext cx="278206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공동이 성장할 수 있다”</a:t>
              </a:r>
            </a:p>
          </p:txBody>
        </p:sp>
        <p:sp>
          <p:nvSpPr>
            <p:cNvPr id="35" name="TextBox 35"/>
            <p:cNvSpPr txBox="1"/>
            <p:nvPr/>
          </p:nvSpPr>
          <p:spPr>
            <a:xfrm>
              <a:off x="7461504" y="2990850"/>
              <a:ext cx="188610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일본 국토교통성 위탁연구</a:t>
              </a:r>
            </a:p>
          </p:txBody>
        </p:sp>
        <p:sp>
          <p:nvSpPr>
            <p:cNvPr id="36" name="TextBox 36"/>
            <p:cNvSpPr txBox="1"/>
            <p:nvPr/>
          </p:nvSpPr>
          <p:spPr>
            <a:xfrm>
              <a:off x="7461504" y="3200400"/>
              <a:ext cx="322691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(도쿄대·지오서치, 2018~2020 · 원문 번역)</a:t>
              </a:r>
            </a:p>
          </p:txBody>
        </p:sp>
        <p:sp>
          <p:nvSpPr>
            <p:cNvPr id="37" name="Line 37"/>
            <p:cNvSpPr/>
            <p:nvPr/>
          </p:nvSpPr>
          <p:spPr>
            <a:xfrm>
              <a:off x="7467600" y="36195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8" name="TextBox 38"/>
            <p:cNvSpPr txBox="1"/>
            <p:nvPr/>
          </p:nvSpPr>
          <p:spPr>
            <a:xfrm>
              <a:off x="7461504" y="3790950"/>
              <a:ext cx="225765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도로를 반복 모니터링하자</a:t>
              </a:r>
            </a:p>
          </p:txBody>
        </p:sp>
        <p:sp>
          <p:nvSpPr>
            <p:cNvPr id="39" name="TextBox 39"/>
            <p:cNvSpPr txBox="1"/>
            <p:nvPr/>
          </p:nvSpPr>
          <p:spPr>
            <a:xfrm>
              <a:off x="7461504" y="401955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지하 1.64m 하수관 위 공동이</a:t>
              </a:r>
            </a:p>
          </p:txBody>
        </p:sp>
        <p:sp>
          <p:nvSpPr>
            <p:cNvPr id="40" name="TextBox 40"/>
            <p:cNvSpPr txBox="1"/>
            <p:nvPr/>
          </p:nvSpPr>
          <p:spPr>
            <a:xfrm>
              <a:off x="7461504" y="4248150"/>
              <a:ext cx="234650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급격히 자란 것이 확인됐습니다.</a:t>
              </a:r>
            </a:p>
          </p:txBody>
        </p:sp>
        <p:sp>
          <p:nvSpPr>
            <p:cNvPr id="41" name="Line 41"/>
            <p:cNvSpPr/>
            <p:nvPr/>
          </p:nvSpPr>
          <p:spPr>
            <a:xfrm>
              <a:off x="7467600" y="46291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2" name="TextBox 42"/>
            <p:cNvSpPr txBox="1"/>
            <p:nvPr/>
          </p:nvSpPr>
          <p:spPr>
            <a:xfrm>
              <a:off x="7461504" y="4781550"/>
              <a:ext cx="30896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연희동 공동을 놓쳤는지, 그 뒤 생겼는지는</a:t>
              </a:r>
            </a:p>
          </p:txBody>
        </p:sp>
        <p:sp>
          <p:nvSpPr>
            <p:cNvPr id="43" name="TextBox 43"/>
            <p:cNvSpPr txBox="1"/>
            <p:nvPr/>
          </p:nvSpPr>
          <p:spPr>
            <a:xfrm>
              <a:off x="7461504" y="5010150"/>
              <a:ext cx="278307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한 번의 탐사로는 구분할 수 없습니다.</a:t>
              </a:r>
            </a:p>
          </p:txBody>
        </p:sp>
      </p:grpSp>
      <p:grpSp>
        <p:nvGrpSpPr>
          <p:cNvPr id="47" name="conclusion"/>
          <p:cNvGrpSpPr/>
          <p:nvPr/>
        </p:nvGrpSpPr>
        <p:grpSpPr>
          <a:xfrm>
            <a:off x="533400" y="5391150"/>
            <a:ext cx="7169730" cy="419100"/>
            <a:chOff x="533400" y="5391150"/>
            <a:chExt cx="7169730" cy="419100"/>
          </a:xfrm>
        </p:grpSpPr>
        <p:sp>
          <p:nvSpPr>
            <p:cNvPr id="45" name="Rectangle 45"/>
            <p:cNvSpPr/>
            <p:nvPr/>
          </p:nvSpPr>
          <p:spPr>
            <a:xfrm>
              <a:off x="533400" y="5391150"/>
              <a:ext cx="38100" cy="419100"/>
            </a:xfrm>
            <a:prstGeom prst="rect">
              <a:avLst/>
            </a:prstGeom>
            <a:solidFill>
              <a:srgbClr val="F5B700"/>
            </a:solidFill>
            <a:ln>
              <a:noFill/>
            </a:ln>
          </p:spPr>
        </p:sp>
        <p:sp>
          <p:nvSpPr>
            <p:cNvPr id="46" name="TextBox 46"/>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9" name="source"/>
          <p:cNvGrpSpPr/>
          <p:nvPr/>
        </p:nvGrpSpPr>
        <p:grpSpPr>
          <a:xfrm>
            <a:off x="528447" y="6381750"/>
            <a:ext cx="9178874" cy="191643"/>
            <a:chOff x="528447" y="6381750"/>
            <a:chExt cx="9178874" cy="191643"/>
          </a:xfrm>
        </p:grpSpPr>
        <p:sp>
          <p:nvSpPr>
            <p:cNvPr id="48" name="TextBox 48"/>
            <p:cNvSpPr txBox="1"/>
            <p:nvPr/>
          </p:nvSpPr>
          <p:spPr>
            <a:xfrm>
              <a:off x="528447" y="6381750"/>
              <a:ext cx="917887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지하안전법(지하시설물관리자 공동조사 5년 1회 이상) · 이투데이(2025.4.23) · 뉴시스(2024.8.30) · 일본 국토교통성 도로정책 연구 30-5(2021)</a:t>
              </a:r>
            </a:p>
          </p:txBody>
        </p:sp>
      </p:grpSp>
      <p:grpSp>
        <p:nvGrpSpPr>
          <p:cNvPr id="52" name="footer"/>
          <p:cNvGrpSpPr/>
          <p:nvPr/>
        </p:nvGrpSpPr>
        <p:grpSpPr>
          <a:xfrm>
            <a:off x="528638" y="6610350"/>
            <a:ext cx="11134724" cy="176212"/>
            <a:chOff x="528638" y="6610350"/>
            <a:chExt cx="11134724" cy="176212"/>
          </a:xfrm>
        </p:grpSpPr>
        <p:sp>
          <p:nvSpPr>
            <p:cNvPr id="50" name="TextBox 5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1" name="TextBox 5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13</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39" name="TextBox 39"/>
            <p:cNvSpPr txBox="1"/>
            <p:nvPr/>
          </p:nvSpPr>
          <p:spPr>
            <a:xfrm>
              <a:off x="7080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447" y="6381750"/>
            <a:ext cx="9294622" cy="191643"/>
            <a:chOff x="528447" y="6381750"/>
            <a:chExt cx="9294622" cy="191643"/>
          </a:xfrm>
        </p:grpSpPr>
        <p:sp>
          <p:nvSpPr>
            <p:cNvPr id="44" name="TextBox 44"/>
            <p:cNvSpPr txBox="1"/>
            <p:nvPr/>
          </p:nvSpPr>
          <p:spPr>
            <a:xfrm>
              <a:off x="528447" y="6381750"/>
              <a:ext cx="9294622"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13</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31" name="scans"/>
          <p:cNvGrpSpPr/>
          <p:nvPr/>
        </p:nvGrpSpPr>
        <p:grpSpPr>
          <a:xfrm>
            <a:off x="527304" y="1485900"/>
            <a:ext cx="11131296" cy="2234946"/>
            <a:chOff x="527304" y="1485900"/>
            <a:chExt cx="11131296" cy="2234946"/>
          </a:xfrm>
        </p:grpSpPr>
        <p:pic>
          <p:nvPicPr>
            <p:cNvPr id="19" name="Image 19"/>
            <p:cNvPicPr>
              <a:picLocks noChangeAspect="1"/>
            </p:cNvPicPr>
            <p:nvPr/>
          </p:nvPicPr>
          <p:blipFill>
            <a:blip r:embed="rId2"/>
            <a:stretch>
              <a:fillRect/>
            </a:stretch>
          </p:blipFill>
          <p:spPr>
            <a:xfrm>
              <a:off x="533400" y="1485900"/>
              <a:ext cx="3429000" cy="1905000"/>
            </a:xfrm>
            <a:prstGeom prst="rect">
              <a:avLst/>
            </a:prstGeom>
          </p:spPr>
        </p:pic>
        <p:sp>
          <p:nvSpPr>
            <p:cNvPr id="20" name="Rectangle 20"/>
            <p:cNvSpPr/>
            <p:nvPr/>
          </p:nvSpPr>
          <p:spPr>
            <a:xfrm>
              <a:off x="609600" y="1562100"/>
              <a:ext cx="904875" cy="247650"/>
            </a:xfrm>
            <a:prstGeom prst="roundRect">
              <a:avLst>
                <a:gd name="adj" fmla="val 11538"/>
              </a:avLst>
            </a:prstGeom>
            <a:solidFill>
              <a:srgbClr val="0B1E3C">
                <a:alpha val="90000"/>
              </a:srgbClr>
            </a:solidFill>
            <a:ln>
              <a:noFill/>
            </a:ln>
          </p:spPr>
        </p:sp>
        <p:sp>
          <p:nvSpPr>
            <p:cNvPr id="21" name="TextBox 21"/>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2" name="TextBox 22"/>
            <p:cNvSpPr txBox="1"/>
            <p:nvPr/>
          </p:nvSpPr>
          <p:spPr>
            <a:xfrm>
              <a:off x="4088449" y="224790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3" name="Image 23"/>
            <p:cNvPicPr>
              <a:picLocks noChangeAspect="1"/>
            </p:cNvPicPr>
            <p:nvPr/>
          </p:nvPicPr>
          <p:blipFill>
            <a:blip r:embed="rId3"/>
            <a:stretch>
              <a:fillRect/>
            </a:stretch>
          </p:blipFill>
          <p:spPr>
            <a:xfrm>
              <a:off x="4381500" y="1485900"/>
              <a:ext cx="3429000" cy="1905000"/>
            </a:xfrm>
            <a:prstGeom prst="rect">
              <a:avLst/>
            </a:prstGeom>
          </p:spPr>
        </p:pic>
        <p:sp>
          <p:nvSpPr>
            <p:cNvPr id="24" name="Rectangle 24"/>
            <p:cNvSpPr/>
            <p:nvPr/>
          </p:nvSpPr>
          <p:spPr>
            <a:xfrm>
              <a:off x="4457700" y="1562100"/>
              <a:ext cx="904875" cy="247650"/>
            </a:xfrm>
            <a:prstGeom prst="roundRect">
              <a:avLst>
                <a:gd name="adj" fmla="val 11538"/>
              </a:avLst>
            </a:prstGeom>
            <a:solidFill>
              <a:srgbClr val="0B1E3C">
                <a:alpha val="90000"/>
              </a:srgbClr>
            </a:solidFill>
            <a:ln>
              <a:noFill/>
            </a:ln>
          </p:spPr>
        </p:sp>
        <p:sp>
          <p:nvSpPr>
            <p:cNvPr id="25" name="TextBox 25"/>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26" name="TextBox 26"/>
            <p:cNvSpPr txBox="1"/>
            <p:nvPr/>
          </p:nvSpPr>
          <p:spPr>
            <a:xfrm>
              <a:off x="7936549" y="224790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7" name="Image 27"/>
            <p:cNvPicPr>
              <a:picLocks noChangeAspect="1"/>
            </p:cNvPicPr>
            <p:nvPr/>
          </p:nvPicPr>
          <p:blipFill>
            <a:blip r:embed="rId4"/>
            <a:stretch>
              <a:fillRect/>
            </a:stretch>
          </p:blipFill>
          <p:spPr>
            <a:xfrm>
              <a:off x="8229600" y="1485900"/>
              <a:ext cx="3429000" cy="1905000"/>
            </a:xfrm>
            <a:prstGeom prst="rect">
              <a:avLst/>
            </a:prstGeom>
          </p:spPr>
        </p:pic>
        <p:sp>
          <p:nvSpPr>
            <p:cNvPr id="28" name="Rectangle 28"/>
            <p:cNvSpPr/>
            <p:nvPr/>
          </p:nvSpPr>
          <p:spPr>
            <a:xfrm>
              <a:off x="8305800" y="1562100"/>
              <a:ext cx="1476375" cy="247650"/>
            </a:xfrm>
            <a:prstGeom prst="roundRect">
              <a:avLst>
                <a:gd name="adj" fmla="val 11538"/>
              </a:avLst>
            </a:prstGeom>
            <a:solidFill>
              <a:srgbClr val="0B1E3C">
                <a:alpha val="90000"/>
              </a:srgbClr>
            </a:solidFill>
            <a:ln>
              <a:noFill/>
            </a:ln>
          </p:spPr>
        </p:sp>
        <p:sp>
          <p:nvSpPr>
            <p:cNvPr id="29" name="TextBox 29"/>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sp>
          <p:nvSpPr>
            <p:cNvPr id="30" name="TextBox 30"/>
            <p:cNvSpPr txBox="1"/>
            <p:nvPr/>
          </p:nvSpPr>
          <p:spPr>
            <a:xfrm>
              <a:off x="527304" y="3486150"/>
              <a:ext cx="983876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1 반복 측정</a:t>
              </a:r>
              <a:r>
                <a:rPr lang="ko-KR" sz="1200" dirty="0">
                  <a:solidFill>
                    <a:srgbClr val="374151"/>
                  </a:solidFill>
                  <a:latin typeface="+mn-lt"/>
                  <a:ea typeface="+mn-ea"/>
                  <a:cs typeface="+mn-cs"/>
                </a:rPr>
                <a:t xml:space="preserve"> 새벽에 같은 경로를 약 2개월마다 </a:t>
              </a:r>
              <a:r>
                <a:rPr lang="ko-KR" sz="1200" b="1" dirty="0">
                  <a:solidFill>
                    <a:srgbClr val="0B1E3C"/>
                  </a:solidFill>
                  <a:latin typeface="+mn-lt"/>
                  <a:ea typeface="+mn-ea"/>
                  <a:cs typeface="+mn-cs"/>
                </a:rPr>
                <a:t>2 변화만 선별</a:t>
              </a:r>
              <a:r>
                <a:rPr lang="ko-KR" sz="1200" dirty="0">
                  <a:solidFill>
                    <a:srgbClr val="374151"/>
                  </a:solidFill>
                  <a:latin typeface="+mn-lt"/>
                  <a:ea typeface="+mn-ea"/>
                  <a:cs typeface="+mn-cs"/>
                </a:rPr>
                <a:t xml:space="preserve"> 위치를 맞춰 빼고, AI가 신호 유형 분류 </a:t>
              </a:r>
              <a:r>
                <a:rPr lang="ko-KR" sz="1200" b="1" dirty="0">
                  <a:solidFill>
                    <a:srgbClr val="0B1E3C"/>
                  </a:solidFill>
                  <a:latin typeface="+mn-lt"/>
                  <a:ea typeface="+mn-ea"/>
                  <a:cs typeface="+mn-cs"/>
                </a:rPr>
                <a:t>3 현장 재확인</a:t>
              </a:r>
              <a:r>
                <a:rPr lang="ko-KR" sz="1200" dirty="0">
                  <a:solidFill>
                    <a:srgbClr val="374151"/>
                  </a:solidFill>
                  <a:latin typeface="+mn-lt"/>
                  <a:ea typeface="+mn-ea"/>
                  <a:cs typeface="+mn-cs"/>
                </a:rPr>
                <a:t xml:space="preserve"> 승인된 곳만 수동 GPR</a:t>
              </a:r>
            </a:p>
          </p:txBody>
        </p:sp>
      </p:grpSp>
      <p:grpSp>
        <p:nvGrpSpPr>
          <p:cNvPr id="44" name="diff"/>
          <p:cNvGrpSpPr/>
          <p:nvPr/>
        </p:nvGrpSpPr>
        <p:grpSpPr>
          <a:xfrm>
            <a:off x="527304" y="3924300"/>
            <a:ext cx="5340096" cy="1582293"/>
            <a:chOff x="527304" y="3924300"/>
            <a:chExt cx="5340096" cy="1582293"/>
          </a:xfrm>
        </p:grpSpPr>
        <p:sp>
          <p:nvSpPr>
            <p:cNvPr id="32" name="Rectangle 32"/>
            <p:cNvSpPr/>
            <p:nvPr/>
          </p:nvSpPr>
          <p:spPr>
            <a:xfrm>
              <a:off x="533400" y="3924300"/>
              <a:ext cx="5334000" cy="28575"/>
            </a:xfrm>
            <a:prstGeom prst="rect">
              <a:avLst/>
            </a:prstGeom>
            <a:solidFill>
              <a:srgbClr val="0B1E3C"/>
            </a:solidFill>
            <a:ln>
              <a:noFill/>
            </a:ln>
          </p:spPr>
        </p:sp>
        <p:sp>
          <p:nvSpPr>
            <p:cNvPr id="33" name="TextBox 33"/>
            <p:cNvSpPr txBox="1"/>
            <p:nvPr/>
          </p:nvSpPr>
          <p:spPr>
            <a:xfrm>
              <a:off x="527685" y="4070350"/>
              <a:ext cx="259060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무엇이 새로운가 </a:t>
              </a:r>
              <a:r>
                <a:rPr lang="ko-KR" sz="1120" dirty="0">
                  <a:solidFill>
                    <a:srgbClr val="4B5563"/>
                  </a:solidFill>
                  <a:latin typeface="+mn-lt"/>
                  <a:ea typeface="+mn-ea"/>
                  <a:cs typeface="+mn-cs"/>
                </a:rPr>
                <a:t>기존 → GroundWatch</a:t>
              </a:r>
            </a:p>
          </p:txBody>
        </p:sp>
        <p:sp>
          <p:nvSpPr>
            <p:cNvPr id="34" name="TextBox 34"/>
            <p:cNvSpPr txBox="1"/>
            <p:nvPr/>
          </p:nvSpPr>
          <p:spPr>
            <a:xfrm>
              <a:off x="527304" y="4362450"/>
              <a:ext cx="91683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다시 보는 곳</a:t>
              </a:r>
            </a:p>
          </p:txBody>
        </p:sp>
        <p:sp>
          <p:nvSpPr>
            <p:cNvPr id="35" name="TextBox 35"/>
            <p:cNvSpPr txBox="1"/>
            <p:nvPr/>
          </p:nvSpPr>
          <p:spPr>
            <a:xfrm>
              <a:off x="1860804" y="436245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발견한 공동만 →</a:t>
              </a:r>
            </a:p>
          </p:txBody>
        </p:sp>
        <p:sp>
          <p:nvSpPr>
            <p:cNvPr id="36" name="TextBox 36"/>
            <p:cNvSpPr txBox="1"/>
            <p:nvPr/>
          </p:nvSpPr>
          <p:spPr>
            <a:xfrm>
              <a:off x="3232023" y="4362450"/>
              <a:ext cx="169904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‘이상 없음’ 구간까지</a:t>
              </a:r>
            </a:p>
          </p:txBody>
        </p:sp>
        <p:sp>
          <p:nvSpPr>
            <p:cNvPr id="37" name="TextBox 37"/>
            <p:cNvSpPr txBox="1"/>
            <p:nvPr/>
          </p:nvSpPr>
          <p:spPr>
            <a:xfrm>
              <a:off x="527304" y="46863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 방식</a:t>
              </a:r>
            </a:p>
          </p:txBody>
        </p:sp>
        <p:sp>
          <p:nvSpPr>
            <p:cNvPr id="38" name="TextBox 38"/>
            <p:cNvSpPr txBox="1"/>
            <p:nvPr/>
          </p:nvSpPr>
          <p:spPr>
            <a:xfrm>
              <a:off x="1860804" y="468630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회차마다 판독 →</a:t>
              </a:r>
            </a:p>
          </p:txBody>
        </p:sp>
        <p:sp>
          <p:nvSpPr>
            <p:cNvPr id="39" name="TextBox 39"/>
            <p:cNvSpPr txBox="1"/>
            <p:nvPr/>
          </p:nvSpPr>
          <p:spPr>
            <a:xfrm>
              <a:off x="3232023" y="4686300"/>
              <a:ext cx="167233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회차와의 차이만</a:t>
              </a:r>
            </a:p>
          </p:txBody>
        </p:sp>
        <p:sp>
          <p:nvSpPr>
            <p:cNvPr id="40" name="TextBox 40"/>
            <p:cNvSpPr txBox="1"/>
            <p:nvPr/>
          </p:nvSpPr>
          <p:spPr>
            <a:xfrm>
              <a:off x="527304" y="501015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확인</a:t>
              </a:r>
            </a:p>
          </p:txBody>
        </p:sp>
        <p:sp>
          <p:nvSpPr>
            <p:cNvPr id="41" name="TextBox 41"/>
            <p:cNvSpPr txBox="1"/>
            <p:nvPr/>
          </p:nvSpPr>
          <p:spPr>
            <a:xfrm>
              <a:off x="1860804" y="5010150"/>
              <a:ext cx="844144"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별도 발주 →</a:t>
              </a:r>
            </a:p>
          </p:txBody>
        </p:sp>
        <p:sp>
          <p:nvSpPr>
            <p:cNvPr id="42" name="TextBox 42"/>
            <p:cNvSpPr txBox="1"/>
            <p:nvPr/>
          </p:nvSpPr>
          <p:spPr>
            <a:xfrm>
              <a:off x="3232023" y="5010150"/>
              <a:ext cx="132770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a:t>
              </a:r>
            </a:p>
          </p:txBody>
        </p:sp>
        <p:sp>
          <p:nvSpPr>
            <p:cNvPr id="43" name="TextBox 43"/>
            <p:cNvSpPr txBox="1"/>
            <p:nvPr/>
          </p:nvSpPr>
          <p:spPr>
            <a:xfrm>
              <a:off x="528447" y="5314950"/>
              <a:ext cx="437671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기존: 일본 후지사와시·지오서치 경과관찰, 국토교통성 연구(3개월 주기)</a:t>
              </a:r>
            </a:p>
          </p:txBody>
        </p:sp>
      </p:grpSp>
      <p:grpSp>
        <p:nvGrpSpPr>
          <p:cNvPr id="66" name="proof"/>
          <p:cNvGrpSpPr/>
          <p:nvPr/>
        </p:nvGrpSpPr>
        <p:grpSpPr>
          <a:xfrm>
            <a:off x="6318885" y="3924300"/>
            <a:ext cx="5339715" cy="1600200"/>
            <a:chOff x="6318885" y="3924300"/>
            <a:chExt cx="5339715" cy="1600200"/>
          </a:xfrm>
        </p:grpSpPr>
        <p:sp>
          <p:nvSpPr>
            <p:cNvPr id="45" name="Rectangle 45"/>
            <p:cNvSpPr/>
            <p:nvPr/>
          </p:nvSpPr>
          <p:spPr>
            <a:xfrm>
              <a:off x="6324600" y="3924300"/>
              <a:ext cx="5334000" cy="28575"/>
            </a:xfrm>
            <a:prstGeom prst="rect">
              <a:avLst/>
            </a:prstGeom>
            <a:solidFill>
              <a:srgbClr val="0B1E3C"/>
            </a:solidFill>
            <a:ln>
              <a:noFill/>
            </a:ln>
          </p:spPr>
        </p:sp>
        <p:sp>
          <p:nvSpPr>
            <p:cNvPr id="46" name="TextBox 46"/>
            <p:cNvSpPr txBox="1"/>
            <p:nvPr/>
          </p:nvSpPr>
          <p:spPr>
            <a:xfrm>
              <a:off x="6318885" y="4032250"/>
              <a:ext cx="366356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검증 · 전자기 시뮬레이션 (실측 아님) </a:t>
              </a:r>
              <a:r>
                <a:rPr lang="ko-KR" sz="1120" dirty="0">
                  <a:solidFill>
                    <a:srgbClr val="4B5563"/>
                  </a:solidFill>
                  <a:latin typeface="+mn-lt"/>
                  <a:ea typeface="+mn-ea"/>
                  <a:cs typeface="+mn-cs"/>
                </a:rPr>
                <a:t>변화 신호 세기</a:t>
              </a:r>
            </a:p>
          </p:txBody>
        </p:sp>
        <p:sp>
          <p:nvSpPr>
            <p:cNvPr id="47" name="TextBox 47"/>
            <p:cNvSpPr txBox="1"/>
            <p:nvPr/>
          </p:nvSpPr>
          <p:spPr>
            <a:xfrm>
              <a:off x="6319266" y="4311650"/>
              <a:ext cx="10001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20cm 성장</a:t>
              </a:r>
            </a:p>
          </p:txBody>
        </p:sp>
        <p:sp>
          <p:nvSpPr>
            <p:cNvPr id="48" name="Rectangle 48"/>
            <p:cNvSpPr/>
            <p:nvPr/>
          </p:nvSpPr>
          <p:spPr>
            <a:xfrm>
              <a:off x="7696200" y="4324350"/>
              <a:ext cx="3267075" cy="142875"/>
            </a:xfrm>
            <a:prstGeom prst="rect">
              <a:avLst/>
            </a:prstGeom>
            <a:solidFill>
              <a:srgbClr val="0B1E3C"/>
            </a:solidFill>
            <a:ln>
              <a:noFill/>
            </a:ln>
          </p:spPr>
        </p:sp>
        <p:sp>
          <p:nvSpPr>
            <p:cNvPr id="49" name="TextBox 49"/>
            <p:cNvSpPr txBox="1"/>
            <p:nvPr/>
          </p:nvSpPr>
          <p:spPr>
            <a:xfrm>
              <a:off x="11034141" y="431165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2.9</a:t>
              </a:r>
            </a:p>
          </p:txBody>
        </p:sp>
        <p:sp>
          <p:nvSpPr>
            <p:cNvPr id="50" name="TextBox 50"/>
            <p:cNvSpPr txBox="1"/>
            <p:nvPr/>
          </p:nvSpPr>
          <p:spPr>
            <a:xfrm>
              <a:off x="6319266" y="4511675"/>
              <a:ext cx="10001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10cm 성장</a:t>
              </a:r>
            </a:p>
          </p:txBody>
        </p:sp>
        <p:sp>
          <p:nvSpPr>
            <p:cNvPr id="51" name="Rectangle 51"/>
            <p:cNvSpPr/>
            <p:nvPr/>
          </p:nvSpPr>
          <p:spPr>
            <a:xfrm>
              <a:off x="7696200" y="4524375"/>
              <a:ext cx="2790825" cy="142875"/>
            </a:xfrm>
            <a:prstGeom prst="rect">
              <a:avLst/>
            </a:prstGeom>
            <a:solidFill>
              <a:srgbClr val="0B1E3C"/>
            </a:solidFill>
            <a:ln>
              <a:noFill/>
            </a:ln>
          </p:spPr>
        </p:sp>
        <p:sp>
          <p:nvSpPr>
            <p:cNvPr id="52" name="TextBox 52"/>
            <p:cNvSpPr txBox="1"/>
            <p:nvPr/>
          </p:nvSpPr>
          <p:spPr>
            <a:xfrm>
              <a:off x="10557891" y="451167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2.4</a:t>
              </a:r>
            </a:p>
          </p:txBody>
        </p:sp>
        <p:sp>
          <p:nvSpPr>
            <p:cNvPr id="53" name="TextBox 53"/>
            <p:cNvSpPr txBox="1"/>
            <p:nvPr/>
          </p:nvSpPr>
          <p:spPr>
            <a:xfrm>
              <a:off x="6319266" y="4711700"/>
              <a:ext cx="92238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5cm 성장</a:t>
              </a:r>
            </a:p>
          </p:txBody>
        </p:sp>
        <p:sp>
          <p:nvSpPr>
            <p:cNvPr id="54" name="Rectangle 54"/>
            <p:cNvSpPr/>
            <p:nvPr/>
          </p:nvSpPr>
          <p:spPr>
            <a:xfrm>
              <a:off x="7696200" y="4724400"/>
              <a:ext cx="1552575" cy="142875"/>
            </a:xfrm>
            <a:prstGeom prst="rect">
              <a:avLst/>
            </a:prstGeom>
            <a:solidFill>
              <a:srgbClr val="B45309"/>
            </a:solidFill>
            <a:ln>
              <a:noFill/>
            </a:ln>
          </p:spPr>
        </p:sp>
        <p:sp>
          <p:nvSpPr>
            <p:cNvPr id="55" name="TextBox 55"/>
            <p:cNvSpPr txBox="1"/>
            <p:nvPr/>
          </p:nvSpPr>
          <p:spPr>
            <a:xfrm>
              <a:off x="9319641" y="471170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1.4</a:t>
              </a:r>
            </a:p>
          </p:txBody>
        </p:sp>
        <p:sp>
          <p:nvSpPr>
            <p:cNvPr id="56" name="TextBox 56"/>
            <p:cNvSpPr txBox="1"/>
            <p:nvPr/>
          </p:nvSpPr>
          <p:spPr>
            <a:xfrm>
              <a:off x="6319266" y="4911725"/>
              <a:ext cx="1205084"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주행선 8cm 어긋남</a:t>
              </a:r>
            </a:p>
          </p:txBody>
        </p:sp>
        <p:sp>
          <p:nvSpPr>
            <p:cNvPr id="57" name="Rectangle 57"/>
            <p:cNvSpPr/>
            <p:nvPr/>
          </p:nvSpPr>
          <p:spPr>
            <a:xfrm>
              <a:off x="7696200" y="4924425"/>
              <a:ext cx="1143000" cy="142875"/>
            </a:xfrm>
            <a:prstGeom prst="rect">
              <a:avLst/>
            </a:prstGeom>
            <a:solidFill>
              <a:srgbClr val="C62828"/>
            </a:solidFill>
            <a:ln>
              <a:noFill/>
            </a:ln>
          </p:spPr>
        </p:sp>
        <p:sp>
          <p:nvSpPr>
            <p:cNvPr id="58" name="TextBox 58"/>
            <p:cNvSpPr txBox="1"/>
            <p:nvPr/>
          </p:nvSpPr>
          <p:spPr>
            <a:xfrm>
              <a:off x="8910066" y="491172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1.0</a:t>
              </a:r>
            </a:p>
          </p:txBody>
        </p:sp>
        <p:sp>
          <p:nvSpPr>
            <p:cNvPr id="59" name="TextBox 59"/>
            <p:cNvSpPr txBox="1"/>
            <p:nvPr/>
          </p:nvSpPr>
          <p:spPr>
            <a:xfrm>
              <a:off x="6319266" y="511175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함수비 변화</a:t>
              </a:r>
            </a:p>
          </p:txBody>
        </p:sp>
        <p:sp>
          <p:nvSpPr>
            <p:cNvPr id="60" name="Rectangle 60"/>
            <p:cNvSpPr/>
            <p:nvPr/>
          </p:nvSpPr>
          <p:spPr>
            <a:xfrm>
              <a:off x="7696200" y="5124450"/>
              <a:ext cx="923925" cy="142875"/>
            </a:xfrm>
            <a:prstGeom prst="rect">
              <a:avLst/>
            </a:prstGeom>
            <a:solidFill>
              <a:srgbClr val="4B5563"/>
            </a:solidFill>
            <a:ln>
              <a:noFill/>
            </a:ln>
          </p:spPr>
        </p:sp>
        <p:sp>
          <p:nvSpPr>
            <p:cNvPr id="61" name="TextBox 61"/>
            <p:cNvSpPr txBox="1"/>
            <p:nvPr/>
          </p:nvSpPr>
          <p:spPr>
            <a:xfrm>
              <a:off x="8910066" y="511175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0.8</a:t>
              </a:r>
            </a:p>
          </p:txBody>
        </p:sp>
        <p:sp>
          <p:nvSpPr>
            <p:cNvPr id="62" name="TextBox 62"/>
            <p:cNvSpPr txBox="1"/>
            <p:nvPr/>
          </p:nvSpPr>
          <p:spPr>
            <a:xfrm>
              <a:off x="6319266" y="5311775"/>
              <a:ext cx="43472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재포장</a:t>
              </a:r>
            </a:p>
          </p:txBody>
        </p:sp>
        <p:sp>
          <p:nvSpPr>
            <p:cNvPr id="63" name="Rectangle 63"/>
            <p:cNvSpPr/>
            <p:nvPr/>
          </p:nvSpPr>
          <p:spPr>
            <a:xfrm>
              <a:off x="7696200" y="5324475"/>
              <a:ext cx="381000" cy="142875"/>
            </a:xfrm>
            <a:prstGeom prst="rect">
              <a:avLst/>
            </a:prstGeom>
            <a:solidFill>
              <a:srgbClr val="4B5563"/>
            </a:solidFill>
            <a:ln>
              <a:noFill/>
            </a:ln>
          </p:spPr>
        </p:sp>
        <p:sp>
          <p:nvSpPr>
            <p:cNvPr id="64" name="TextBox 64"/>
            <p:cNvSpPr txBox="1"/>
            <p:nvPr/>
          </p:nvSpPr>
          <p:spPr>
            <a:xfrm>
              <a:off x="8910066" y="531177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0.3</a:t>
              </a:r>
            </a:p>
          </p:txBody>
        </p:sp>
        <p:sp>
          <p:nvSpPr>
            <p:cNvPr id="65" name="Line 65"/>
            <p:cNvSpPr/>
            <p:nvPr/>
          </p:nvSpPr>
          <p:spPr>
            <a:xfrm>
              <a:off x="8839200" y="4286250"/>
              <a:ext cx="9525" cy="1238250"/>
            </a:xfrm>
            <a:custGeom>
              <a:avLst/>
              <a:gdLst/>
              <a:ahLst/>
              <a:cxnLst/>
              <a:rect l="l" t="t" r="r" b="b"/>
              <a:pathLst>
                <a:path w="9525" h="1238250">
                  <a:moveTo>
                    <a:pt x="0" y="0"/>
                  </a:moveTo>
                  <a:lnTo>
                    <a:pt x="0" y="1238250"/>
                  </a:lnTo>
                </a:path>
              </a:pathLst>
            </a:custGeom>
            <a:noFill/>
            <a:ln w="14288">
              <a:solidFill>
                <a:srgbClr val="C62828"/>
              </a:solidFill>
              <a:custDash>
                <a:ds d="266667" sp="200000"/>
              </a:custDash>
            </a:ln>
          </p:spPr>
        </p:sp>
      </p:grpSp>
      <p:grpSp>
        <p:nvGrpSpPr>
          <p:cNvPr id="69" name="conclusion"/>
          <p:cNvGrpSpPr/>
          <p:nvPr/>
        </p:nvGrpSpPr>
        <p:grpSpPr>
          <a:xfrm>
            <a:off x="533400" y="5676900"/>
            <a:ext cx="9170702" cy="419100"/>
            <a:chOff x="533400" y="5676900"/>
            <a:chExt cx="9170702" cy="419100"/>
          </a:xfrm>
        </p:grpSpPr>
        <p:sp>
          <p:nvSpPr>
            <p:cNvPr id="67" name="Rectangle 67"/>
            <p:cNvSpPr/>
            <p:nvPr/>
          </p:nvSpPr>
          <p:spPr>
            <a:xfrm>
              <a:off x="533400" y="5676900"/>
              <a:ext cx="38100" cy="419100"/>
            </a:xfrm>
            <a:prstGeom prst="rect">
              <a:avLst/>
            </a:prstGeom>
            <a:solidFill>
              <a:srgbClr val="F5B700"/>
            </a:solidFill>
            <a:ln>
              <a:noFill/>
            </a:ln>
          </p:spPr>
        </p:sp>
        <p:sp>
          <p:nvSpPr>
            <p:cNvPr id="68" name="TextBox 68"/>
            <p:cNvSpPr txBox="1"/>
            <p:nvPr/>
          </p:nvSpPr>
          <p:spPr>
            <a:xfrm>
              <a:off x="715899" y="5772150"/>
              <a:ext cx="898820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10cm 이상 자란 공동은 오탐 요인의 2배 넘는 신호, 5cm는 경계 — 주행선 정합이 관건입니다.</a:t>
              </a:r>
            </a:p>
          </p:txBody>
        </p:sp>
      </p:grpSp>
      <p:grpSp>
        <p:nvGrpSpPr>
          <p:cNvPr id="71" name="source"/>
          <p:cNvGrpSpPr/>
          <p:nvPr/>
        </p:nvGrpSpPr>
        <p:grpSpPr>
          <a:xfrm>
            <a:off x="528447" y="6381750"/>
            <a:ext cx="10106309" cy="191643"/>
            <a:chOff x="528447" y="6381750"/>
            <a:chExt cx="10106309" cy="191643"/>
          </a:xfrm>
        </p:grpSpPr>
        <p:sp>
          <p:nvSpPr>
            <p:cNvPr id="70" name="TextBox 70"/>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74" name="footer"/>
          <p:cNvGrpSpPr/>
          <p:nvPr/>
        </p:nvGrpSpPr>
        <p:grpSpPr>
          <a:xfrm>
            <a:off x="528638" y="6610350"/>
            <a:ext cx="11134724" cy="176212"/>
            <a:chOff x="528638" y="6610350"/>
            <a:chExt cx="11134724" cy="176212"/>
          </a:xfrm>
        </p:grpSpPr>
        <p:sp>
          <p:nvSpPr>
            <p:cNvPr id="72" name="TextBox 7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3" name="TextBox 7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13</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800100"/>
            <a:ext cx="9140484" cy="557403"/>
            <a:chOff x="518922" y="800100"/>
            <a:chExt cx="9140484" cy="557403"/>
          </a:xfrm>
        </p:grpSpPr>
        <p:sp>
          <p:nvSpPr>
            <p:cNvPr id="17" name="TextBox 17"/>
            <p:cNvSpPr txBox="1"/>
            <p:nvPr/>
          </p:nvSpPr>
          <p:spPr>
            <a:xfrm>
              <a:off x="518922" y="800100"/>
              <a:ext cx="914048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차가 찾은 지점을, 작업자가 현장에서 바로 확인합니다</a:t>
              </a:r>
            </a:p>
          </p:txBody>
        </p:sp>
      </p:grpSp>
      <p:grpSp>
        <p:nvGrpSpPr>
          <p:cNvPr id="40" name="system-chain"/>
          <p:cNvGrpSpPr/>
          <p:nvPr/>
        </p:nvGrpSpPr>
        <p:grpSpPr>
          <a:xfrm>
            <a:off x="533400" y="1428750"/>
            <a:ext cx="11125200" cy="552450"/>
            <a:chOff x="533400" y="1428750"/>
            <a:chExt cx="11125200" cy="552450"/>
          </a:xfrm>
        </p:grpSpPr>
        <p:grpSp>
          <p:nvGrpSpPr>
            <p:cNvPr id="34" name="Group 34"/>
            <p:cNvGrpSpPr/>
            <p:nvPr/>
          </p:nvGrpSpPr>
          <p:grpSpPr>
            <a:xfrm>
              <a:off x="533400" y="1428750"/>
              <a:ext cx="11125200" cy="552450"/>
              <a:chOff x="533400" y="1428750"/>
              <a:chExt cx="11125200" cy="552450"/>
            </a:xfrm>
          </p:grpSpPr>
          <p:sp>
            <p:nvSpPr>
              <p:cNvPr id="19" name="Rectangle 19"/>
              <p:cNvSpPr/>
              <p:nvPr/>
            </p:nvSpPr>
            <p:spPr>
              <a:xfrm>
                <a:off x="533400" y="1428750"/>
                <a:ext cx="1905000" cy="552450"/>
              </a:xfrm>
              <a:prstGeom prst="roundRect">
                <a:avLst>
                  <a:gd name="adj" fmla="val 13793"/>
                </a:avLst>
              </a:prstGeom>
              <a:solidFill>
                <a:srgbClr val="FFFFFF"/>
              </a:solidFill>
              <a:ln w="19050">
                <a:solidFill>
                  <a:srgbClr val="0B1E3C"/>
                </a:solid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GroundWatch Cloud</a:t>
                </a:r>
              </a:p>
            </p:txBody>
          </p:sp>
          <p:sp>
            <p:nvSpPr>
              <p:cNvPr id="21" name="TextBox 21"/>
              <p:cNvSpPr txBox="1"/>
              <p:nvPr/>
            </p:nvSpPr>
            <p:spPr>
              <a:xfrm>
                <a:off x="698935" y="1739900"/>
                <a:ext cx="15739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FFFFFF"/>
              </a:solidFill>
              <a:ln w="19050">
                <a:solidFill>
                  <a:srgbClr val="0B1E3C"/>
                </a:solid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Patrol 차량 앱</a:t>
                </a:r>
              </a:p>
            </p:txBody>
          </p:sp>
          <p:sp>
            <p:nvSpPr>
              <p:cNvPr id="24" name="TextBox 24"/>
              <p:cNvSpPr txBox="1"/>
              <p:nvPr/>
            </p:nvSpPr>
            <p:spPr>
              <a:xfrm>
                <a:off x="3301489" y="1739900"/>
                <a:ext cx="978922"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FFFFFF"/>
              </a:solidFill>
              <a:ln w="19050">
                <a:solidFill>
                  <a:srgbClr val="0B1E3C"/>
                </a:solid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Edge Gateway</a:t>
                </a:r>
              </a:p>
            </p:txBody>
          </p:sp>
          <p:sp>
            <p:nvSpPr>
              <p:cNvPr id="27" name="TextBox 27"/>
              <p:cNvSpPr txBox="1"/>
              <p:nvPr/>
            </p:nvSpPr>
            <p:spPr>
              <a:xfrm>
                <a:off x="5373310" y="1739900"/>
                <a:ext cx="1445381"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49035" y="1739900"/>
                <a:ext cx="13040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842059" y="1739900"/>
                <a:ext cx="1728083"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다른 주파수·방향 교차검증</a:t>
                </a:r>
              </a:p>
            </p:txBody>
          </p:sp>
        </p:grpSp>
        <p:grpSp>
          <p:nvGrpSpPr>
            <p:cNvPr id="39" name="Group 39"/>
            <p:cNvGrpSpPr/>
            <p:nvPr/>
          </p:nvGrpSpPr>
          <p:grpSpPr>
            <a:xfrm>
              <a:off x="2466975" y="1704975"/>
              <a:ext cx="7258050" cy="1"/>
              <a:chOff x="2466975" y="1704975"/>
              <a:chExt cx="7258050" cy="1"/>
            </a:xfrm>
          </p:grpSpPr>
          <p:sp>
            <p:nvSpPr>
              <p:cNvPr id="35" name="Line 35"/>
              <p:cNvSpPr/>
              <p:nvPr/>
            </p:nvSpPr>
            <p:spPr>
              <a:xfrm>
                <a:off x="2466975" y="1704975"/>
                <a:ext cx="342900" cy="1"/>
              </a:xfrm>
              <a:prstGeom prst="line">
                <a:avLst/>
              </a:prstGeom>
              <a:noFill/>
              <a:ln w="19050">
                <a:solidFill>
                  <a:srgbClr val="0B1E3C"/>
                </a:solidFill>
                <a:headEnd type="triangle" w="lg" len="lg"/>
                <a:tailEnd type="triangle" w="lg" len="lg"/>
              </a:ln>
            </p:spPr>
          </p:sp>
          <p:sp>
            <p:nvSpPr>
              <p:cNvPr id="36" name="Line 36"/>
              <p:cNvSpPr/>
              <p:nvPr/>
            </p:nvSpPr>
            <p:spPr>
              <a:xfrm>
                <a:off x="4772025" y="1704975"/>
                <a:ext cx="342900" cy="1"/>
              </a:xfrm>
              <a:prstGeom prst="line">
                <a:avLst/>
              </a:prstGeom>
              <a:noFill/>
              <a:ln w="19050">
                <a:solidFill>
                  <a:srgbClr val="0B1E3C"/>
                </a:solidFill>
                <a:headEnd type="triangle" w="lg" len="lg"/>
                <a:tailEnd type="triangle" w="lg" len="lg"/>
              </a:ln>
            </p:spPr>
          </p:sp>
          <p:sp>
            <p:nvSpPr>
              <p:cNvPr id="37" name="Line 37"/>
              <p:cNvSpPr/>
              <p:nvPr/>
            </p:nvSpPr>
            <p:spPr>
              <a:xfrm>
                <a:off x="7077075" y="1704975"/>
                <a:ext cx="342900" cy="1"/>
              </a:xfrm>
              <a:prstGeom prst="line">
                <a:avLst/>
              </a:prstGeom>
              <a:noFill/>
              <a:ln w="19050">
                <a:solidFill>
                  <a:srgbClr val="0B1E3C"/>
                </a:solidFill>
                <a:headEnd type="triangle" w="lg" len="lg"/>
                <a:tailEnd type="triangle" w="lg" len="lg"/>
              </a:ln>
            </p:spPr>
          </p:sp>
          <p:sp>
            <p:nvSpPr>
              <p:cNvPr id="38" name="Line 38"/>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6" name="cabin-panel"/>
          <p:cNvGrpSpPr/>
          <p:nvPr/>
        </p:nvGrpSpPr>
        <p:grpSpPr>
          <a:xfrm>
            <a:off x="526542" y="2381250"/>
            <a:ext cx="5302758" cy="3739896"/>
            <a:chOff x="526542" y="2381250"/>
            <a:chExt cx="5302758" cy="3739896"/>
          </a:xfrm>
        </p:grpSpPr>
        <p:pic>
          <p:nvPicPr>
            <p:cNvPr id="41" name="Image 4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2" name="Rectangle 42"/>
            <p:cNvSpPr/>
            <p:nvPr/>
          </p:nvSpPr>
          <p:spPr>
            <a:xfrm>
              <a:off x="628650" y="2476500"/>
              <a:ext cx="1314450" cy="228600"/>
            </a:xfrm>
            <a:prstGeom prst="roundRect">
              <a:avLst>
                <a:gd name="adj" fmla="val 12500"/>
              </a:avLst>
            </a:prstGeom>
            <a:solidFill>
              <a:srgbClr val="0B1E3C"/>
            </a:solidFill>
            <a:ln>
              <a:noFill/>
            </a:ln>
          </p:spPr>
        </p:sp>
        <p:sp>
          <p:nvSpPr>
            <p:cNvPr id="43" name="TextBox 4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4" name="TextBox 4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5" name="TextBox 45"/>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7" name="ar-panel"/>
          <p:cNvGrpSpPr/>
          <p:nvPr/>
        </p:nvGrpSpPr>
        <p:grpSpPr>
          <a:xfrm>
            <a:off x="6089142" y="2381250"/>
            <a:ext cx="5569458" cy="3739896"/>
            <a:chOff x="6089142" y="2381250"/>
            <a:chExt cx="5569458" cy="3739896"/>
          </a:xfrm>
        </p:grpSpPr>
        <p:pic>
          <p:nvPicPr>
            <p:cNvPr id="47" name="Image 47"/>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8" name="Polygon 48"/>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2" name="Group 52"/>
            <p:cNvGrpSpPr/>
            <p:nvPr/>
          </p:nvGrpSpPr>
          <p:grpSpPr>
            <a:xfrm>
              <a:off x="8229600" y="4343400"/>
              <a:ext cx="1628775" cy="352425"/>
              <a:chOff x="8229600" y="4343400"/>
              <a:chExt cx="1628775" cy="352425"/>
            </a:xfrm>
          </p:grpSpPr>
          <p:sp>
            <p:nvSpPr>
              <p:cNvPr id="49" name="Line 49"/>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0" name="Line 50"/>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1" name="Line 51"/>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3" name="Ellipse 53"/>
            <p:cNvSpPr/>
            <p:nvPr/>
          </p:nvSpPr>
          <p:spPr>
            <a:xfrm>
              <a:off x="7943850" y="4933950"/>
              <a:ext cx="1866900" cy="628650"/>
            </a:xfrm>
            <a:prstGeom prst="ellipse">
              <a:avLst/>
            </a:prstGeom>
            <a:noFill/>
            <a:ln w="23812">
              <a:solidFill>
                <a:srgbClr val="FFFFFF"/>
              </a:solidFill>
            </a:ln>
          </p:spPr>
        </p:sp>
        <p:sp>
          <p:nvSpPr>
            <p:cNvPr id="54" name="Rectangle 54"/>
            <p:cNvSpPr/>
            <p:nvPr/>
          </p:nvSpPr>
          <p:spPr>
            <a:xfrm>
              <a:off x="9906000" y="5086350"/>
              <a:ext cx="1066800" cy="209550"/>
            </a:xfrm>
            <a:prstGeom prst="roundRect">
              <a:avLst>
                <a:gd name="adj" fmla="val 13636"/>
              </a:avLst>
            </a:prstGeom>
            <a:solidFill>
              <a:srgbClr val="0B1E3C">
                <a:alpha val="85000"/>
              </a:srgbClr>
            </a:solidFill>
            <a:ln>
              <a:noFill/>
            </a:ln>
          </p:spPr>
        </p:sp>
        <p:sp>
          <p:nvSpPr>
            <p:cNvPr id="55" name="TextBox 55"/>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6" name="Ellipse 56"/>
            <p:cNvSpPr/>
            <p:nvPr/>
          </p:nvSpPr>
          <p:spPr>
            <a:xfrm>
              <a:off x="7267575" y="4705350"/>
              <a:ext cx="133350" cy="133350"/>
            </a:xfrm>
            <a:prstGeom prst="ellipse">
              <a:avLst/>
            </a:prstGeom>
            <a:noFill/>
            <a:ln w="23812">
              <a:solidFill>
                <a:srgbClr val="FFFFFF"/>
              </a:solidFill>
            </a:ln>
          </p:spPr>
        </p:sp>
        <p:sp>
          <p:nvSpPr>
            <p:cNvPr id="57" name="Rectangle 57"/>
            <p:cNvSpPr/>
            <p:nvPr/>
          </p:nvSpPr>
          <p:spPr>
            <a:xfrm>
              <a:off x="6286500" y="4362450"/>
              <a:ext cx="1181100" cy="209550"/>
            </a:xfrm>
            <a:prstGeom prst="roundRect">
              <a:avLst>
                <a:gd name="adj" fmla="val 13636"/>
              </a:avLst>
            </a:prstGeom>
            <a:solidFill>
              <a:srgbClr val="0B1E3C">
                <a:alpha val="85000"/>
              </a:srgbClr>
            </a:solidFill>
            <a:ln>
              <a:noFill/>
            </a:ln>
          </p:spPr>
        </p:sp>
        <p:sp>
          <p:nvSpPr>
            <p:cNvPr id="58" name="TextBox 58"/>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9" name="Rectangle 59"/>
            <p:cNvSpPr/>
            <p:nvPr/>
          </p:nvSpPr>
          <p:spPr>
            <a:xfrm>
              <a:off x="6096000" y="2381250"/>
              <a:ext cx="5562600" cy="228600"/>
            </a:xfrm>
            <a:prstGeom prst="rect">
              <a:avLst/>
            </a:prstGeom>
            <a:solidFill>
              <a:srgbClr val="C62828">
                <a:alpha val="92000"/>
              </a:srgbClr>
            </a:solidFill>
            <a:ln>
              <a:noFill/>
            </a:ln>
          </p:spPr>
        </p:sp>
        <p:sp>
          <p:nvSpPr>
            <p:cNvPr id="60" name="TextBox 60"/>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1" name="Rectangle 61"/>
            <p:cNvSpPr/>
            <p:nvPr/>
          </p:nvSpPr>
          <p:spPr>
            <a:xfrm>
              <a:off x="6248400" y="2724150"/>
              <a:ext cx="2571750" cy="685800"/>
            </a:xfrm>
            <a:prstGeom prst="roundRect">
              <a:avLst>
                <a:gd name="adj" fmla="val 8333"/>
              </a:avLst>
            </a:prstGeom>
            <a:solidFill>
              <a:srgbClr val="0B1E3C">
                <a:alpha val="85000"/>
              </a:srgbClr>
            </a:solidFill>
            <a:ln>
              <a:noFill/>
            </a:ln>
          </p:spPr>
        </p:sp>
        <p:sp>
          <p:nvSpPr>
            <p:cNvPr id="62" name="TextBox 62"/>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3" name="TextBox 63"/>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64" name="TextBox 64"/>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5" name="TextBox 65"/>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6" name="TextBox 66"/>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9" name="source"/>
          <p:cNvGrpSpPr/>
          <p:nvPr/>
        </p:nvGrpSpPr>
        <p:grpSpPr>
          <a:xfrm>
            <a:off x="528447" y="6343650"/>
            <a:ext cx="8746670" cy="191643"/>
            <a:chOff x="528447" y="6343650"/>
            <a:chExt cx="8746670" cy="191643"/>
          </a:xfrm>
        </p:grpSpPr>
        <p:sp>
          <p:nvSpPr>
            <p:cNvPr id="68" name="TextBox 68"/>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2" name="footer"/>
          <p:cNvGrpSpPr/>
          <p:nvPr/>
        </p:nvGrpSpPr>
        <p:grpSpPr>
          <a:xfrm>
            <a:off x="528638" y="6610350"/>
            <a:ext cx="11134724" cy="195262"/>
            <a:chOff x="528638" y="6610350"/>
            <a:chExt cx="11134724" cy="195262"/>
          </a:xfrm>
        </p:grpSpPr>
        <p:sp>
          <p:nvSpPr>
            <p:cNvPr id="70" name="TextBox 7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1" name="TextBox 71"/>
            <p:cNvSpPr txBox="1"/>
            <p:nvPr/>
          </p:nvSpPr>
          <p:spPr>
            <a:xfrm>
              <a:off x="11247958" y="662940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13</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68708" cy="586740"/>
            <a:chOff x="518160" y="774700"/>
            <a:chExt cx="9168708" cy="586740"/>
          </a:xfrm>
        </p:grpSpPr>
        <p:sp>
          <p:nvSpPr>
            <p:cNvPr id="17" name="TextBox 17"/>
            <p:cNvSpPr txBox="1"/>
            <p:nvPr/>
          </p:nvSpPr>
          <p:spPr>
            <a:xfrm>
              <a:off x="518160" y="774700"/>
              <a:ext cx="916870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대에 탐사실이 들어가고, 차량과 연결됩니다</a:t>
              </a:r>
            </a:p>
          </p:txBody>
        </p:sp>
      </p:grpSp>
      <p:grpSp>
        <p:nvGrpSpPr>
          <p:cNvPr id="32" name="cutaway"/>
          <p:cNvGrpSpPr/>
          <p:nvPr/>
        </p:nvGrpSpPr>
        <p:grpSpPr>
          <a:xfrm>
            <a:off x="527685" y="1428750"/>
            <a:ext cx="5911215" cy="4096893"/>
            <a:chOff x="527685" y="1428750"/>
            <a:chExt cx="5911215" cy="4096893"/>
          </a:xfrm>
        </p:grpSpPr>
        <p:pic>
          <p:nvPicPr>
            <p:cNvPr id="19" name="Image 19"/>
            <p:cNvPicPr>
              <a:picLocks noChangeAspect="1"/>
            </p:cNvPicPr>
            <p:nvPr/>
          </p:nvPicPr>
          <p:blipFill>
            <a:blip r:embed="rId2"/>
            <a:stretch>
              <a:fillRect/>
            </a:stretch>
          </p:blipFill>
          <p:spPr>
            <a:xfrm>
              <a:off x="533400" y="1428750"/>
              <a:ext cx="5905500" cy="3324225"/>
            </a:xfrm>
            <a:prstGeom prst="rect">
              <a:avLst/>
            </a:prstGeom>
          </p:spPr>
        </p:pic>
        <p:grpSp>
          <p:nvGrpSpPr>
            <p:cNvPr id="28" name="Group 28"/>
            <p:cNvGrpSpPr/>
            <p:nvPr/>
          </p:nvGrpSpPr>
          <p:grpSpPr>
            <a:xfrm>
              <a:off x="2295525" y="2428875"/>
              <a:ext cx="3305175" cy="1969738"/>
              <a:chOff x="2295525" y="2428875"/>
              <a:chExt cx="3305175" cy="1969738"/>
            </a:xfrm>
          </p:grpSpPr>
          <p:sp>
            <p:nvSpPr>
              <p:cNvPr id="20" name="Ellipse 20"/>
              <p:cNvSpPr/>
              <p:nvPr/>
            </p:nvSpPr>
            <p:spPr>
              <a:xfrm>
                <a:off x="2295525" y="2743200"/>
                <a:ext cx="323850" cy="323850"/>
              </a:xfrm>
              <a:prstGeom prst="ellipse">
                <a:avLst/>
              </a:prstGeom>
              <a:solidFill>
                <a:srgbClr val="F5B700"/>
              </a:solidFill>
              <a:ln w="19050">
                <a:solidFill>
                  <a:srgbClr val="0B1E3C"/>
                </a:solidFill>
              </a:ln>
            </p:spPr>
          </p:sp>
          <p:sp>
            <p:nvSpPr>
              <p:cNvPr id="21" name="TextBox 21"/>
              <p:cNvSpPr txBox="1"/>
              <p:nvPr/>
            </p:nvSpPr>
            <p:spPr>
              <a:xfrm>
                <a:off x="2402068" y="2809875"/>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14800" y="2428875"/>
                <a:ext cx="323850" cy="323850"/>
              </a:xfrm>
              <a:prstGeom prst="ellipse">
                <a:avLst/>
              </a:prstGeom>
              <a:solidFill>
                <a:srgbClr val="F5B700"/>
              </a:solidFill>
              <a:ln w="19050">
                <a:solidFill>
                  <a:srgbClr val="0B1E3C"/>
                </a:solidFill>
              </a:ln>
            </p:spPr>
          </p:sp>
          <p:sp>
            <p:nvSpPr>
              <p:cNvPr id="23" name="TextBox 23"/>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76850" y="2428875"/>
                <a:ext cx="323850" cy="323850"/>
              </a:xfrm>
              <a:prstGeom prst="ellipse">
                <a:avLst/>
              </a:prstGeom>
              <a:solidFill>
                <a:srgbClr val="F5B700"/>
              </a:solidFill>
              <a:ln w="19050">
                <a:solidFill>
                  <a:srgbClr val="0B1E3C"/>
                </a:solidFill>
              </a:ln>
            </p:spPr>
          </p:sp>
          <p:sp>
            <p:nvSpPr>
              <p:cNvPr id="25" name="TextBox 25"/>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26" name="Ellipse 26"/>
              <p:cNvSpPr/>
              <p:nvPr/>
            </p:nvSpPr>
            <p:spPr>
              <a:xfrm>
                <a:off x="4592212" y="4074763"/>
                <a:ext cx="323850" cy="323850"/>
              </a:xfrm>
              <a:prstGeom prst="ellipse">
                <a:avLst/>
              </a:prstGeom>
              <a:solidFill>
                <a:srgbClr val="F5B700"/>
              </a:solidFill>
              <a:ln w="19050">
                <a:solidFill>
                  <a:srgbClr val="0B1E3C"/>
                </a:solidFill>
              </a:ln>
            </p:spPr>
          </p:sp>
          <p:sp>
            <p:nvSpPr>
              <p:cNvPr id="27" name="TextBox 27"/>
              <p:cNvSpPr txBox="1"/>
              <p:nvPr/>
            </p:nvSpPr>
            <p:spPr>
              <a:xfrm>
                <a:off x="4698755" y="41414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29" name="TextBox 29"/>
            <p:cNvSpPr txBox="1"/>
            <p:nvPr/>
          </p:nvSpPr>
          <p:spPr>
            <a:xfrm>
              <a:off x="527685" y="4832350"/>
              <a:ext cx="4260651"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A</a:t>
              </a:r>
              <a:r>
                <a:rPr lang="ko-KR" sz="1120" dirty="0">
                  <a:solidFill>
                    <a:srgbClr val="111827"/>
                  </a:solidFill>
                  <a:latin typeface="+mn-lt"/>
                  <a:ea typeface="+mn-ea"/>
                  <a:cs typeface="+mn-cs"/>
                </a:rPr>
                <a:t xml:space="preserve"> 분석 장비 랙 (엣지 컴퓨터·GPR 제어) </a:t>
              </a:r>
              <a:r>
                <a:rPr lang="en-US" sz="1120" b="1" dirty="0">
                  <a:solidFill>
                    <a:srgbClr val="0B1E3C"/>
                  </a:solidFill>
                  <a:latin typeface="+mn-lt"/>
                  <a:ea typeface="+mn-ea"/>
                  <a:cs typeface="+mn-cs"/>
                </a:rPr>
                <a:t>B</a:t>
              </a:r>
              <a:r>
                <a:rPr lang="ko-KR" sz="1120" dirty="0">
                  <a:solidFill>
                    <a:srgbClr val="111827"/>
                  </a:solidFill>
                  <a:latin typeface="+mn-lt"/>
                  <a:ea typeface="+mn-ea"/>
                  <a:cs typeface="+mn-cs"/>
                </a:rPr>
                <a:t xml:space="preserve"> 수동 GPR·AR 글래스</a:t>
              </a:r>
            </a:p>
          </p:txBody>
        </p:sp>
        <p:sp>
          <p:nvSpPr>
            <p:cNvPr id="30" name="TextBox 30"/>
            <p:cNvSpPr txBox="1"/>
            <p:nvPr/>
          </p:nvSpPr>
          <p:spPr>
            <a:xfrm>
              <a:off x="527685" y="5060950"/>
              <a:ext cx="3423568"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C</a:t>
              </a:r>
              <a:r>
                <a:rPr lang="ko-KR" sz="1120" dirty="0">
                  <a:solidFill>
                    <a:srgbClr val="111827"/>
                  </a:solidFill>
                  <a:latin typeface="+mn-lt"/>
                  <a:ea typeface="+mn-ea"/>
                  <a:cs typeface="+mn-cs"/>
                </a:rPr>
                <a:t xml:space="preserve"> 내시경·안전장비 </a:t>
              </a:r>
              <a:r>
                <a:rPr lang="en-US" sz="1120" b="1" dirty="0">
                  <a:solidFill>
                    <a:srgbClr val="0B1E3C"/>
                  </a:solidFill>
                  <a:latin typeface="+mn-lt"/>
                  <a:ea typeface="+mn-ea"/>
                  <a:cs typeface="+mn-cs"/>
                </a:rPr>
                <a:t>D</a:t>
              </a:r>
              <a:r>
                <a:rPr lang="ko-KR" sz="1120" dirty="0">
                  <a:solidFill>
                    <a:srgbClr val="111827"/>
                  </a:solidFill>
                  <a:latin typeface="+mn-lt"/>
                  <a:ea typeface="+mn-ea"/>
                  <a:cs typeface="+mn-cs"/>
                </a:rPr>
                <a:t xml:space="preserve"> 바닥 아래 차량형 다채널 GPR</a:t>
              </a:r>
            </a:p>
          </p:txBody>
        </p:sp>
        <p:sp>
          <p:nvSpPr>
            <p:cNvPr id="31" name="TextBox 31"/>
            <p:cNvSpPr txBox="1"/>
            <p:nvPr/>
          </p:nvSpPr>
          <p:spPr>
            <a:xfrm>
              <a:off x="528447" y="5334000"/>
              <a:ext cx="3661065"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콘셉트 이미지 · GPR 장착 위치는 배터리 팩 간섭 시험 후 확정</a:t>
              </a:r>
            </a:p>
          </p:txBody>
        </p:sp>
      </p:grpSp>
      <p:grpSp>
        <p:nvGrpSpPr>
          <p:cNvPr id="56" name="spec"/>
          <p:cNvGrpSpPr/>
          <p:nvPr/>
        </p:nvGrpSpPr>
        <p:grpSpPr>
          <a:xfrm>
            <a:off x="6622923" y="1466850"/>
            <a:ext cx="5035677" cy="3774059"/>
            <a:chOff x="6622923" y="1466850"/>
            <a:chExt cx="5035677" cy="3774059"/>
          </a:xfrm>
        </p:grpSpPr>
        <p:grpSp>
          <p:nvGrpSpPr>
            <p:cNvPr id="35" name="Group 35"/>
            <p:cNvGrpSpPr/>
            <p:nvPr/>
          </p:nvGrpSpPr>
          <p:grpSpPr>
            <a:xfrm>
              <a:off x="6624447" y="1466850"/>
              <a:ext cx="2877266" cy="191643"/>
              <a:chOff x="6624447" y="1466850"/>
              <a:chExt cx="2877266" cy="191643"/>
            </a:xfrm>
          </p:grpSpPr>
          <p:sp>
            <p:nvSpPr>
              <p:cNvPr id="33" name="TextBox 33"/>
              <p:cNvSpPr txBox="1"/>
              <p:nvPr/>
            </p:nvSpPr>
            <p:spPr>
              <a:xfrm>
                <a:off x="6624447" y="1466850"/>
                <a:ext cx="114844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탐사실에 필요한 것</a:t>
                </a:r>
              </a:p>
            </p:txBody>
          </p:sp>
          <p:sp>
            <p:nvSpPr>
              <p:cNvPr id="34" name="TextBox 34"/>
              <p:cNvSpPr txBox="1"/>
              <p:nvPr/>
            </p:nvSpPr>
            <p:spPr>
              <a:xfrm>
                <a:off x="8243697" y="1466850"/>
                <a:ext cx="1258016"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PV5에서 확인된 사양</a:t>
                </a:r>
              </a:p>
            </p:txBody>
          </p:sp>
        </p:grpSp>
        <p:sp>
          <p:nvSpPr>
            <p:cNvPr id="36" name="Line 36"/>
            <p:cNvSpPr/>
            <p:nvPr/>
          </p:nvSpPr>
          <p:spPr>
            <a:xfrm>
              <a:off x="6629400" y="1695450"/>
              <a:ext cx="5029200" cy="9525"/>
            </a:xfrm>
            <a:custGeom>
              <a:avLst/>
              <a:gdLst/>
              <a:ahLst/>
              <a:cxnLst/>
              <a:rect l="l" t="t" r="r" b="b"/>
              <a:pathLst>
                <a:path w="5029200" h="9525">
                  <a:moveTo>
                    <a:pt x="0" y="0"/>
                  </a:moveTo>
                  <a:lnTo>
                    <a:pt x="5029200" y="0"/>
                  </a:lnTo>
                </a:path>
              </a:pathLst>
            </a:custGeom>
            <a:noFill/>
            <a:ln w="14288">
              <a:solidFill>
                <a:srgbClr val="0B1E3C"/>
              </a:solidFill>
            </a:ln>
          </p:spPr>
        </p:sp>
        <p:sp>
          <p:nvSpPr>
            <p:cNvPr id="37" name="TextBox 37"/>
            <p:cNvSpPr txBox="1"/>
            <p:nvPr/>
          </p:nvSpPr>
          <p:spPr>
            <a:xfrm>
              <a:off x="6622923" y="18859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적재</a:t>
              </a:r>
            </a:p>
          </p:txBody>
        </p:sp>
        <p:sp>
          <p:nvSpPr>
            <p:cNvPr id="38" name="TextBox 38"/>
            <p:cNvSpPr txBox="1"/>
            <p:nvPr/>
          </p:nvSpPr>
          <p:spPr>
            <a:xfrm>
              <a:off x="8242554" y="1885950"/>
              <a:ext cx="249494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카고룸 4,420L · 최대 적재 600kg</a:t>
              </a:r>
            </a:p>
          </p:txBody>
        </p:sp>
        <p:sp>
          <p:nvSpPr>
            <p:cNvPr id="39" name="TextBox 39"/>
            <p:cNvSpPr txBox="1"/>
            <p:nvPr/>
          </p:nvSpPr>
          <p:spPr>
            <a:xfrm>
              <a:off x="8243316" y="2139950"/>
              <a:ext cx="238536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약 300kg + 2인 약 150kg [가설]</a:t>
              </a:r>
            </a:p>
          </p:txBody>
        </p:sp>
        <p:sp>
          <p:nvSpPr>
            <p:cNvPr id="40" name="Line 40"/>
            <p:cNvSpPr/>
            <p:nvPr/>
          </p:nvSpPr>
          <p:spPr>
            <a:xfrm>
              <a:off x="6629400" y="24574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1" name="TextBox 41"/>
            <p:cNvSpPr txBox="1"/>
            <p:nvPr/>
          </p:nvSpPr>
          <p:spPr>
            <a:xfrm>
              <a:off x="6622923" y="26098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전원</a:t>
              </a:r>
            </a:p>
          </p:txBody>
        </p:sp>
        <p:sp>
          <p:nvSpPr>
            <p:cNvPr id="42" name="TextBox 42"/>
            <p:cNvSpPr txBox="1"/>
            <p:nvPr/>
          </p:nvSpPr>
          <p:spPr>
            <a:xfrm>
              <a:off x="8242554" y="2609850"/>
              <a:ext cx="30127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실내·실외 V2L (최대 3.6kW, 해외 제원)</a:t>
              </a:r>
            </a:p>
          </p:txBody>
        </p:sp>
        <p:sp>
          <p:nvSpPr>
            <p:cNvPr id="43" name="TextBox 43"/>
            <p:cNvSpPr txBox="1"/>
            <p:nvPr/>
          </p:nvSpPr>
          <p:spPr>
            <a:xfrm>
              <a:off x="8243316" y="2863850"/>
              <a:ext cx="174101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시동 없이 GPR·컴퓨터 운용</a:t>
              </a:r>
            </a:p>
          </p:txBody>
        </p:sp>
        <p:sp>
          <p:nvSpPr>
            <p:cNvPr id="44" name="Line 44"/>
            <p:cNvSpPr/>
            <p:nvPr/>
          </p:nvSpPr>
          <p:spPr>
            <a:xfrm>
              <a:off x="6629400" y="31813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5" name="TextBox 45"/>
            <p:cNvSpPr txBox="1"/>
            <p:nvPr/>
          </p:nvSpPr>
          <p:spPr>
            <a:xfrm>
              <a:off x="6622923" y="33337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위치 고정</a:t>
              </a:r>
            </a:p>
          </p:txBody>
        </p:sp>
        <p:sp>
          <p:nvSpPr>
            <p:cNvPr id="46" name="TextBox 46"/>
            <p:cNvSpPr txBox="1"/>
            <p:nvPr/>
          </p:nvSpPr>
          <p:spPr>
            <a:xfrm>
              <a:off x="8242554" y="3333750"/>
              <a:ext cx="267492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L-Track·몰리 패널 (순정 액세서리)</a:t>
              </a:r>
            </a:p>
          </p:txBody>
        </p:sp>
        <p:sp>
          <p:nvSpPr>
            <p:cNvPr id="47" name="TextBox 47"/>
            <p:cNvSpPr txBox="1"/>
            <p:nvPr/>
          </p:nvSpPr>
          <p:spPr>
            <a:xfrm>
              <a:off x="8243316" y="3587750"/>
              <a:ext cx="169274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회차마다 같은 자리에 장착</a:t>
              </a:r>
            </a:p>
          </p:txBody>
        </p:sp>
        <p:sp>
          <p:nvSpPr>
            <p:cNvPr id="48" name="Line 48"/>
            <p:cNvSpPr/>
            <p:nvPr/>
          </p:nvSpPr>
          <p:spPr>
            <a:xfrm>
              <a:off x="6629400" y="39052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9" name="TextBox 49"/>
            <p:cNvSpPr txBox="1"/>
            <p:nvPr/>
          </p:nvSpPr>
          <p:spPr>
            <a:xfrm>
              <a:off x="6622923" y="4057650"/>
              <a:ext cx="92880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차량과 연동</a:t>
              </a:r>
            </a:p>
          </p:txBody>
        </p:sp>
        <p:sp>
          <p:nvSpPr>
            <p:cNvPr id="50" name="TextBox 50"/>
            <p:cNvSpPr txBox="1"/>
            <p:nvPr/>
          </p:nvSpPr>
          <p:spPr>
            <a:xfrm>
              <a:off x="8242554" y="4057650"/>
              <a:ext cx="275524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PIM 제어기 · Pleos Connect 내비 API</a:t>
              </a:r>
            </a:p>
          </p:txBody>
        </p:sp>
        <p:sp>
          <p:nvSpPr>
            <p:cNvPr id="51" name="TextBox 51"/>
            <p:cNvSpPr txBox="1"/>
            <p:nvPr/>
          </p:nvSpPr>
          <p:spPr>
            <a:xfrm>
              <a:off x="8243316" y="4311650"/>
              <a:ext cx="242070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재확인 지점 안내, 화면에서 장비 제어</a:t>
              </a:r>
            </a:p>
          </p:txBody>
        </p:sp>
        <p:sp>
          <p:nvSpPr>
            <p:cNvPr id="52" name="Line 52"/>
            <p:cNvSpPr/>
            <p:nvPr/>
          </p:nvSpPr>
          <p:spPr>
            <a:xfrm>
              <a:off x="6629400" y="46291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3" name="TextBox 53"/>
            <p:cNvSpPr txBox="1"/>
            <p:nvPr/>
          </p:nvSpPr>
          <p:spPr>
            <a:xfrm>
              <a:off x="6622923" y="4781550"/>
              <a:ext cx="98308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여러 대 복제</a:t>
              </a:r>
            </a:p>
          </p:txBody>
        </p:sp>
        <p:sp>
          <p:nvSpPr>
            <p:cNvPr id="54" name="TextBox 54"/>
            <p:cNvSpPr txBox="1"/>
            <p:nvPr/>
          </p:nvSpPr>
          <p:spPr>
            <a:xfrm>
              <a:off x="8242554" y="4781550"/>
              <a:ext cx="292745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컨버전 포털 (차량 3D 데이터·인증자료)</a:t>
              </a:r>
            </a:p>
          </p:txBody>
        </p:sp>
        <p:sp>
          <p:nvSpPr>
            <p:cNvPr id="55" name="TextBox 55"/>
            <p:cNvSpPr txBox="1"/>
            <p:nvPr/>
          </p:nvSpPr>
          <p:spPr>
            <a:xfrm>
              <a:off x="8243316" y="5035550"/>
              <a:ext cx="211679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같은 사양의 탐사실을 지자체별로</a:t>
              </a:r>
            </a:p>
          </p:txBody>
        </p:sp>
      </p:grpSp>
      <p:grpSp>
        <p:nvGrpSpPr>
          <p:cNvPr id="59" name="conclusion"/>
          <p:cNvGrpSpPr/>
          <p:nvPr/>
        </p:nvGrpSpPr>
        <p:grpSpPr>
          <a:xfrm>
            <a:off x="533400" y="5695950"/>
            <a:ext cx="6764768" cy="419100"/>
            <a:chOff x="533400" y="5695950"/>
            <a:chExt cx="6764768" cy="419100"/>
          </a:xfrm>
        </p:grpSpPr>
        <p:sp>
          <p:nvSpPr>
            <p:cNvPr id="57" name="Rectangle 57"/>
            <p:cNvSpPr/>
            <p:nvPr/>
          </p:nvSpPr>
          <p:spPr>
            <a:xfrm>
              <a:off x="533400" y="5695950"/>
              <a:ext cx="38100" cy="419100"/>
            </a:xfrm>
            <a:prstGeom prst="rect">
              <a:avLst/>
            </a:prstGeom>
            <a:solidFill>
              <a:srgbClr val="F5B700"/>
            </a:solidFill>
            <a:ln>
              <a:noFill/>
            </a:ln>
          </p:spPr>
        </p:sp>
        <p:sp>
          <p:nvSpPr>
            <p:cNvPr id="58" name="TextBox 58"/>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61" name="source"/>
          <p:cNvGrpSpPr/>
          <p:nvPr/>
        </p:nvGrpSpPr>
        <p:grpSpPr>
          <a:xfrm>
            <a:off x="528447" y="6381750"/>
            <a:ext cx="8860630" cy="191643"/>
            <a:chOff x="528447" y="6381750"/>
            <a:chExt cx="8860630" cy="191643"/>
          </a:xfrm>
        </p:grpSpPr>
        <p:sp>
          <p:nvSpPr>
            <p:cNvPr id="60" name="TextBox 60"/>
            <p:cNvSpPr txBox="1"/>
            <p:nvPr/>
          </p:nvSpPr>
          <p:spPr>
            <a:xfrm>
              <a:off x="528447" y="6381750"/>
              <a:ext cx="886063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제원·액세서리 · 공모전 솔루션 부문 안내(Pleos Connect) · 오토뷰(2026.1.28) · V2L 3.6kW 해외 제원 · 내부 배치는 콘셉트</a:t>
              </a:r>
            </a:p>
          </p:txBody>
        </p:sp>
      </p:grpSp>
      <p:grpSp>
        <p:nvGrpSpPr>
          <p:cNvPr id="64" name="footer"/>
          <p:cNvGrpSpPr/>
          <p:nvPr/>
        </p:nvGrpSpPr>
        <p:grpSpPr>
          <a:xfrm>
            <a:off x="528638" y="6610350"/>
            <a:ext cx="11134724" cy="176212"/>
            <a:chOff x="528638" y="6610350"/>
            <a:chExt cx="11134724" cy="176212"/>
          </a:xfrm>
        </p:grpSpPr>
        <p:sp>
          <p:nvSpPr>
            <p:cNvPr id="62" name="TextBox 6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3" name="TextBox 6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13</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6393811" cy="557403"/>
            <a:chOff x="518922" y="781050"/>
            <a:chExt cx="6393811" cy="557403"/>
          </a:xfrm>
        </p:grpSpPr>
        <p:sp>
          <p:nvSpPr>
            <p:cNvPr id="17" name="TextBox 17"/>
            <p:cNvSpPr txBox="1"/>
            <p:nvPr/>
          </p:nvSpPr>
          <p:spPr>
            <a:xfrm>
              <a:off x="518922" y="781050"/>
              <a:ext cx="639381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9427693" cy="264033"/>
            <a:chOff x="526542" y="1339850"/>
            <a:chExt cx="9427693" cy="264033"/>
          </a:xfrm>
        </p:grpSpPr>
        <p:sp>
          <p:nvSpPr>
            <p:cNvPr id="19" name="TextBox 19"/>
            <p:cNvSpPr txBox="1"/>
            <p:nvPr/>
          </p:nvSpPr>
          <p:spPr>
            <a:xfrm>
              <a:off x="526542" y="1339850"/>
              <a:ext cx="9427693"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그룹 전기 상용차는 용도가 나뉘어 있습니다. 탐사·판독·재검증을 한 차에서 하려면 무엇이 필요한지로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466" y="2120900"/>
              <a:ext cx="7882985" cy="205359"/>
              <a:chOff x="2204466" y="2120900"/>
              <a:chExt cx="7882985" cy="205359"/>
            </a:xfrm>
          </p:grpSpPr>
          <p:sp>
            <p:nvSpPr>
              <p:cNvPr id="28" name="TextBox 28"/>
              <p:cNvSpPr txBox="1"/>
              <p:nvPr/>
            </p:nvSpPr>
            <p:spPr>
              <a:xfrm>
                <a:off x="2204466" y="2120900"/>
                <a:ext cx="87997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롱 · 롱레인지</a:t>
                </a:r>
              </a:p>
            </p:txBody>
          </p:sp>
          <p:sp>
            <p:nvSpPr>
              <p:cNvPr id="29" name="TextBox 29"/>
              <p:cNvSpPr txBox="1"/>
              <p:nvPr/>
            </p:nvSpPr>
            <p:spPr>
              <a:xfrm>
                <a:off x="4604766" y="2120900"/>
                <a:ext cx="3711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3인승</a:t>
                </a:r>
              </a:p>
            </p:txBody>
          </p:sp>
          <p:sp>
            <p:nvSpPr>
              <p:cNvPr id="30" name="TextBox 30"/>
              <p:cNvSpPr txBox="1"/>
              <p:nvPr/>
            </p:nvSpPr>
            <p:spPr>
              <a:xfrm>
                <a:off x="7005066" y="212090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카고 스타일</a:t>
                </a:r>
              </a:p>
            </p:txBody>
          </p:sp>
          <p:sp>
            <p:nvSpPr>
              <p:cNvPr id="31" name="TextBox 31"/>
              <p:cNvSpPr txBox="1"/>
              <p:nvPr/>
            </p:nvSpPr>
            <p:spPr>
              <a:xfrm>
                <a:off x="9405366" y="2120900"/>
                <a:ext cx="6820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27300"/>
              <a:ext cx="662022" cy="1458278"/>
              <a:chOff x="527685" y="2527300"/>
              <a:chExt cx="662022" cy="1458278"/>
            </a:xfrm>
          </p:grpSpPr>
          <p:sp>
            <p:nvSpPr>
              <p:cNvPr id="34" name="TextBox 34"/>
              <p:cNvSpPr txBox="1"/>
              <p:nvPr/>
            </p:nvSpPr>
            <p:spPr>
              <a:xfrm>
                <a:off x="527685" y="252730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66291"/>
              <a:chOff x="533400" y="2495550"/>
              <a:chExt cx="11125200" cy="1566291"/>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1799" y="3257550"/>
                <a:ext cx="1090135" cy="308991"/>
              </a:xfrm>
              <a:prstGeom prst="rect">
                <a:avLst/>
              </a:prstGeom>
              <a:noFill/>
              <a:ln>
                <a:noFill/>
              </a:ln>
            </p:spPr>
            <p:txBody>
              <a:bodyPr wrap="none" lIns="0" tIns="0" rIns="0" bIns="0" anchor="t" anchorCtr="0">
                <a:spAutoFit/>
              </a:bodyPr>
              <a:lstStyle/>
              <a:p>
                <a:pPr algn="l"/>
                <a:r>
                  <a:rPr lang="ko-KR" sz="1580"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1799" y="3752850"/>
                <a:ext cx="643466" cy="308991"/>
              </a:xfrm>
              <a:prstGeom prst="rect">
                <a:avLst/>
              </a:prstGeom>
              <a:noFill/>
              <a:ln>
                <a:noFill/>
              </a:ln>
            </p:spPr>
            <p:txBody>
              <a:bodyPr wrap="none" lIns="0" tIns="0" rIns="0" bIns="0" anchor="t" anchorCtr="0">
                <a:spAutoFit/>
              </a:bodyPr>
              <a:lstStyle/>
              <a:p>
                <a:pPr algn="l"/>
                <a:r>
                  <a:rPr lang="en-US" sz="1580"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0" name="honest"/>
          <p:cNvGrpSpPr/>
          <p:nvPr/>
        </p:nvGrpSpPr>
        <p:grpSpPr>
          <a:xfrm>
            <a:off x="533400" y="4248150"/>
            <a:ext cx="11125200" cy="1276350"/>
            <a:chOff x="533400" y="4248150"/>
            <a:chExt cx="11125200" cy="1276350"/>
          </a:xfrm>
        </p:grpSpPr>
        <p:sp>
          <p:nvSpPr>
            <p:cNvPr id="54" name="Rectangle 54"/>
            <p:cNvSpPr/>
            <p:nvPr/>
          </p:nvSpPr>
          <p:spPr>
            <a:xfrm>
              <a:off x="533400" y="4248150"/>
              <a:ext cx="5448300" cy="1276350"/>
            </a:xfrm>
            <a:prstGeom prst="rect">
              <a:avLst/>
            </a:prstGeom>
            <a:solidFill>
              <a:srgbClr val="F3F5F8"/>
            </a:solidFill>
            <a:ln>
              <a:noFill/>
            </a:ln>
          </p:spPr>
        </p:sp>
        <p:sp>
          <p:nvSpPr>
            <p:cNvPr id="55" name="TextBox 55"/>
            <p:cNvSpPr txBox="1"/>
            <p:nvPr/>
          </p:nvSpPr>
          <p:spPr>
            <a:xfrm>
              <a:off x="718185" y="4375150"/>
              <a:ext cx="1764936" cy="220028"/>
            </a:xfrm>
            <a:prstGeom prst="rect">
              <a:avLst/>
            </a:prstGeom>
            <a:noFill/>
            <a:ln>
              <a:noFill/>
            </a:ln>
          </p:spPr>
          <p:txBody>
            <a:bodyPr wrap="none" lIns="0" tIns="0" rIns="0" bIns="0" anchor="t" anchorCtr="0">
              <a:spAutoFit/>
            </a:bodyPr>
            <a:lstStyle/>
            <a:p>
              <a:pPr algn="l"/>
              <a:r>
                <a:rPr lang="ko-KR" sz="1120" b="1" dirty="0">
                  <a:solidFill>
                    <a:srgbClr val="8A5A00"/>
                  </a:solidFill>
                  <a:latin typeface="+mn-lt"/>
                  <a:ea typeface="+mn-ea"/>
                  <a:cs typeface="+mn-cs"/>
                </a:rPr>
                <a:t>가격으로 고르지 않습니다</a:t>
              </a:r>
            </a:p>
          </p:txBody>
        </p:sp>
        <p:sp>
          <p:nvSpPr>
            <p:cNvPr id="56" name="TextBox 56"/>
            <p:cNvSpPr txBox="1"/>
            <p:nvPr/>
          </p:nvSpPr>
          <p:spPr>
            <a:xfrm>
              <a:off x="717804" y="4584700"/>
              <a:ext cx="380695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차값 차이는 최대 1,354만 원인데, 차량형 GPR은</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대당 </a:t>
              </a:r>
              <a:r>
                <a:rPr lang="ko-KR" sz="1200" b="1" dirty="0">
                  <a:solidFill>
                    <a:srgbClr val="111827"/>
                  </a:solidFill>
                  <a:latin typeface="+mn-lt"/>
                  <a:ea typeface="+mn-ea"/>
                  <a:cs typeface="+mn-cs"/>
                </a:rPr>
                <a:t>2억~8억 원</a:t>
              </a:r>
              <a:r>
                <a:rPr lang="ko-KR" sz="1200" dirty="0">
                  <a:solidFill>
                    <a:srgbClr val="111827"/>
                  </a:solidFill>
                  <a:latin typeface="+mn-lt"/>
                  <a:ea typeface="+mn-ea"/>
                  <a:cs typeface="+mn-cs"/>
                </a:rPr>
                <a:t>(서울시 약 5억)입니다.</a:t>
              </a:r>
              <a:br>
                <a:rPr lang="ko-KR" sz="1200" dirty="0">
                  <a:solidFill>
                    <a:srgbClr val="111827"/>
                  </a:solidFill>
                  <a:latin typeface="+mn-lt"/>
                  <a:ea typeface="+mn-ea"/>
                  <a:cs typeface="+mn-cs"/>
                </a:rPr>
              </a:br>
              <a:r>
                <a:rPr lang="ko-KR" sz="1200" dirty="0">
                  <a:solidFill>
                    <a:srgbClr val="111827"/>
                  </a:solidFill>
                  <a:latin typeface="+mn-lt"/>
                  <a:ea typeface="+mn-ea"/>
                  <a:cs typeface="+mn-cs"/>
                </a:rPr>
                <a:t>차이를 가르는 건 전원·고정 구조와 컨버전 체계입니다.</a:t>
              </a:r>
            </a:p>
          </p:txBody>
        </p:sp>
        <p:sp>
          <p:nvSpPr>
            <p:cNvPr id="57" name="Rectangle 57"/>
            <p:cNvSpPr/>
            <p:nvPr/>
          </p:nvSpPr>
          <p:spPr>
            <a:xfrm>
              <a:off x="6210300" y="4248150"/>
              <a:ext cx="5448300" cy="1276350"/>
            </a:xfrm>
            <a:prstGeom prst="rect">
              <a:avLst/>
            </a:prstGeom>
            <a:solidFill>
              <a:srgbClr val="F3F5F8"/>
            </a:solidFill>
            <a:ln>
              <a:noFill/>
            </a:ln>
          </p:spPr>
        </p:sp>
        <p:sp>
          <p:nvSpPr>
            <p:cNvPr id="58" name="TextBox 58"/>
            <p:cNvSpPr txBox="1"/>
            <p:nvPr/>
          </p:nvSpPr>
          <p:spPr>
            <a:xfrm>
              <a:off x="639508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59" name="TextBox 59"/>
            <p:cNvSpPr txBox="1"/>
            <p:nvPr/>
          </p:nvSpPr>
          <p:spPr>
            <a:xfrm>
              <a:off x="6394704" y="4584700"/>
              <a:ext cx="41269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주행거리는 스타리아보다 10km 짧고, 전폭은 포터·봉고보다</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155mm 넓습니다. 하루 순찰 약 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a:t>
              </a:r>
              <a:br>
                <a:rPr lang="ko-KR" sz="1200" dirty="0">
                  <a:solidFill>
                    <a:srgbClr val="111827"/>
                  </a:solidFill>
                  <a:latin typeface="+mn-lt"/>
                  <a:ea typeface="+mn-ea"/>
                  <a:cs typeface="+mn-cs"/>
                </a:rPr>
              </a:br>
              <a:r>
                <a:rPr lang="ko-KR" sz="1200" dirty="0">
                  <a:solidFill>
                    <a:srgbClr val="111827"/>
                  </a:solidFill>
                  <a:latin typeface="+mn-lt"/>
                  <a:ea typeface="+mn-ea"/>
                  <a:cs typeface="+mn-cs"/>
                </a:rPr>
                <a:t>377km로 충분합니다.</a:t>
              </a:r>
            </a:p>
          </p:txBody>
        </p:sp>
      </p:grpSp>
      <p:grpSp>
        <p:nvGrpSpPr>
          <p:cNvPr id="63" name="conclusion"/>
          <p:cNvGrpSpPr/>
          <p:nvPr/>
        </p:nvGrpSpPr>
        <p:grpSpPr>
          <a:xfrm>
            <a:off x="533400" y="5657850"/>
            <a:ext cx="8992086" cy="495300"/>
            <a:chOff x="533400" y="5657850"/>
            <a:chExt cx="8992086" cy="495300"/>
          </a:xfrm>
        </p:grpSpPr>
        <p:sp>
          <p:nvSpPr>
            <p:cNvPr id="61" name="Rectangle 61"/>
            <p:cNvSpPr/>
            <p:nvPr/>
          </p:nvSpPr>
          <p:spPr>
            <a:xfrm>
              <a:off x="533400" y="5657850"/>
              <a:ext cx="38100" cy="495300"/>
            </a:xfrm>
            <a:prstGeom prst="rect">
              <a:avLst/>
            </a:prstGeom>
            <a:solidFill>
              <a:srgbClr val="F5B700"/>
            </a:solidFill>
            <a:ln>
              <a:noFill/>
            </a:ln>
          </p:spPr>
        </p:sp>
        <p:sp>
          <p:nvSpPr>
            <p:cNvPr id="62" name="TextBox 62"/>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65" name="source"/>
          <p:cNvGrpSpPr/>
          <p:nvPr/>
        </p:nvGrpSpPr>
        <p:grpSpPr>
          <a:xfrm>
            <a:off x="528447" y="6248400"/>
            <a:ext cx="10420985" cy="344043"/>
            <a:chOff x="528447" y="6248400"/>
            <a:chExt cx="10420985" cy="344043"/>
          </a:xfrm>
        </p:grpSpPr>
        <p:sp>
          <p:nvSpPr>
            <p:cNvPr id="64" name="TextBox 64"/>
            <p:cNvSpPr txBox="1"/>
            <p:nvPr/>
          </p:nvSpPr>
          <p:spPr>
            <a:xfrm>
              <a:off x="528447" y="6248400"/>
              <a:ext cx="10420985"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기아 PV5 카고 가격표(2026.10.1)·제원 · 오토뷰(2026.1.28, PV5 컨버전 포털) · 스타리아 일렉트릭 출시(2026.4.23) · 2026 ST1 출시(2025.7.16)·현대차그룹 뉴스룸(317km)</a:t>
              </a:r>
              <a:br>
                <a:rPr lang="ko-KR" sz="980" dirty="0">
                  <a:solidFill>
                    <a:srgbClr val="4B5563"/>
                  </a:solidFill>
                  <a:latin typeface="+mn-lt"/>
                  <a:ea typeface="+mn-ea"/>
                  <a:cs typeface="+mn-cs"/>
                </a:rPr>
              </a:br>
              <a:r>
                <a:rPr lang="ko-KR" sz="980" dirty="0">
                  <a:solidFill>
                    <a:srgbClr val="4B5563"/>
                  </a:solidFill>
                  <a:latin typeface="+mn-lt"/>
                  <a:ea typeface="+mn-ea"/>
                  <a:cs typeface="+mn-cs"/>
                </a:rPr>
                <a:t>포터II·봉고III EV 2025년형 발표(217km) · 시사저널(2025.4.25, 경기도청 인용 GPR 대당 2억~8억 원) · 가격은 표기한 트림 기준, 보조금 제외</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13</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9481805" cy="278702"/>
            <a:chOff x="526161" y="1346200"/>
            <a:chExt cx="9481805" cy="278702"/>
          </a:xfrm>
        </p:grpSpPr>
        <p:sp>
          <p:nvSpPr>
            <p:cNvPr id="19" name="TextBox 19"/>
            <p:cNvSpPr txBox="1"/>
            <p:nvPr/>
          </p:nvSpPr>
          <p:spPr>
            <a:xfrm>
              <a:off x="526161" y="1346200"/>
              <a:ext cx="9481805"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공동이 단기간에 자랄 수 있다는 것은 연구로 확인됐습니다(4장).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35150"/>
            <a:ext cx="11130915" cy="2056702"/>
            <a:chOff x="527685" y="1835150"/>
            <a:chExt cx="11130915" cy="2056702"/>
          </a:xfrm>
        </p:grpSpPr>
        <p:grpSp>
          <p:nvGrpSpPr>
            <p:cNvPr id="24" name="Group 24"/>
            <p:cNvGrpSpPr/>
            <p:nvPr/>
          </p:nvGrpSpPr>
          <p:grpSpPr>
            <a:xfrm>
              <a:off x="528066" y="1835150"/>
              <a:ext cx="8321751" cy="205359"/>
              <a:chOff x="528066" y="1835150"/>
              <a:chExt cx="8321751" cy="205359"/>
            </a:xfrm>
          </p:grpSpPr>
          <p:sp>
            <p:nvSpPr>
              <p:cNvPr id="21" name="TextBox 21"/>
              <p:cNvSpPr txBox="1"/>
              <p:nvPr/>
            </p:nvSpPr>
            <p:spPr>
              <a:xfrm>
                <a:off x="528066" y="1835150"/>
                <a:ext cx="76194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확인할 질문</a:t>
                </a:r>
              </a:p>
            </p:txBody>
          </p:sp>
          <p:sp>
            <p:nvSpPr>
              <p:cNvPr id="22" name="TextBox 22"/>
              <p:cNvSpPr txBox="1"/>
              <p:nvPr/>
            </p:nvSpPr>
            <p:spPr>
              <a:xfrm>
                <a:off x="4947666" y="1835150"/>
                <a:ext cx="479247"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안 되면</a:t>
                </a:r>
              </a:p>
            </p:txBody>
          </p:sp>
          <p:sp>
            <p:nvSpPr>
              <p:cNvPr id="23" name="TextBox 23"/>
              <p:cNvSpPr txBox="1"/>
              <p:nvPr/>
            </p:nvSpPr>
            <p:spPr>
              <a:xfrm>
                <a:off x="7805166" y="1835150"/>
                <a:ext cx="1044651"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362780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8cm 어긋남이 최대 오탐(6장) → RTK·IMU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통과(6장)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516" y="4711700"/>
              <a:ext cx="95453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441"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7366"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6291" y="4711700"/>
              <a:ext cx="161676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4단계 · 소요시간·재방문</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447" y="6381750"/>
            <a:ext cx="9894644" cy="191643"/>
            <a:chOff x="528447" y="6381750"/>
            <a:chExt cx="9894644" cy="191643"/>
          </a:xfrm>
        </p:grpSpPr>
        <p:sp>
          <p:nvSpPr>
            <p:cNvPr id="74" name="TextBox 74"/>
            <p:cNvSpPr txBox="1"/>
            <p:nvPr/>
          </p:nvSpPr>
          <p:spPr>
            <a:xfrm>
              <a:off x="528447" y="6381750"/>
              <a:ext cx="989464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일본 국토교통성 연구(2021)</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13</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10365" cy="586740"/>
            <a:chOff x="518160" y="774700"/>
            <a:chExt cx="8710365" cy="586740"/>
          </a:xfrm>
        </p:grpSpPr>
        <p:sp>
          <p:nvSpPr>
            <p:cNvPr id="17" name="TextBox 17"/>
            <p:cNvSpPr txBox="1"/>
            <p:nvPr/>
          </p:nvSpPr>
          <p:spPr>
            <a:xfrm>
              <a:off x="518160" y="774700"/>
              <a:ext cx="871036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5만 원이면 원가가 맞습니다</a:t>
              </a:r>
            </a:p>
          </p:txBody>
        </p:sp>
      </p:grpSp>
      <p:grpSp>
        <p:nvGrpSpPr>
          <p:cNvPr id="24" name="now"/>
          <p:cNvGrpSpPr/>
          <p:nvPr/>
        </p:nvGrpSpPr>
        <p:grpSpPr>
          <a:xfrm>
            <a:off x="519684" y="1409700"/>
            <a:ext cx="11138916" cy="940816"/>
            <a:chOff x="519684" y="1409700"/>
            <a:chExt cx="11138916" cy="940816"/>
          </a:xfrm>
        </p:grpSpPr>
        <p:sp>
          <p:nvSpPr>
            <p:cNvPr id="19" name="Rectangle 19"/>
            <p:cNvSpPr/>
            <p:nvPr/>
          </p:nvSpPr>
          <p:spPr>
            <a:xfrm>
              <a:off x="533400" y="1409700"/>
              <a:ext cx="11125200" cy="28575"/>
            </a:xfrm>
            <a:prstGeom prst="rect">
              <a:avLst/>
            </a:prstGeom>
            <a:solidFill>
              <a:srgbClr val="0B1E3C"/>
            </a:solidFill>
            <a:ln>
              <a:noFill/>
            </a:ln>
          </p:spPr>
        </p:sp>
        <p:sp>
          <p:nvSpPr>
            <p:cNvPr id="20" name="TextBox 20"/>
            <p:cNvSpPr txBox="1"/>
            <p:nvPr/>
          </p:nvSpPr>
          <p:spPr>
            <a:xfrm>
              <a:off x="527685" y="1593850"/>
              <a:ext cx="444532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실제 단가 · 서울시 2024 지반침하 특별점검 공동조사용역</a:t>
              </a:r>
            </a:p>
          </p:txBody>
        </p:sp>
        <p:sp>
          <p:nvSpPr>
            <p:cNvPr id="21" name="TextBox 21"/>
            <p:cNvSpPr txBox="1"/>
            <p:nvPr/>
          </p:nvSpPr>
          <p:spPr>
            <a:xfrm>
              <a:off x="519684" y="1822450"/>
              <a:ext cx="7265108"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17.8억 원 ÷ 1,930.6km = km당 약 92만 원</a:t>
              </a:r>
            </a:p>
          </p:txBody>
        </p:sp>
        <p:sp>
          <p:nvSpPr>
            <p:cNvPr id="22" name="TextBox 22"/>
            <p:cNvSpPr txBox="1"/>
            <p:nvPr/>
          </p:nvSpPr>
          <p:spPr>
            <a:xfrm>
              <a:off x="8566785" y="1898650"/>
              <a:ext cx="171518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1·2차 탐사, 천공 499곳,</a:t>
              </a:r>
            </a:p>
          </p:txBody>
        </p:sp>
        <p:sp>
          <p:nvSpPr>
            <p:cNvPr id="23" name="TextBox 23"/>
            <p:cNvSpPr txBox="1"/>
            <p:nvPr/>
          </p:nvSpPr>
          <p:spPr>
            <a:xfrm>
              <a:off x="8566785" y="2108200"/>
              <a:ext cx="185841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복구 285곳 포함 · 1회</a:t>
              </a:r>
            </a:p>
          </p:txBody>
        </p:sp>
      </p:grpSp>
      <p:grpSp>
        <p:nvGrpSpPr>
          <p:cNvPr id="45" name="cost"/>
          <p:cNvGrpSpPr/>
          <p:nvPr/>
        </p:nvGrpSpPr>
        <p:grpSpPr>
          <a:xfrm>
            <a:off x="526542" y="2571750"/>
            <a:ext cx="5349240" cy="2669159"/>
            <a:chOff x="526542" y="2571750"/>
            <a:chExt cx="5349240" cy="2669159"/>
          </a:xfrm>
        </p:grpSpPr>
        <p:sp>
          <p:nvSpPr>
            <p:cNvPr id="25" name="TextBox 25"/>
            <p:cNvSpPr txBox="1"/>
            <p:nvPr/>
          </p:nvSpPr>
          <p:spPr>
            <a:xfrm>
              <a:off x="527304" y="2571750"/>
              <a:ext cx="306307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GroundWatch 차량 1대 연간 원가 </a:t>
              </a:r>
              <a:r>
                <a:rPr lang="ko-KR" sz="1200" dirty="0">
                  <a:solidFill>
                    <a:srgbClr val="4B5563"/>
                  </a:solidFill>
                  <a:latin typeface="+mn-lt"/>
                  <a:ea typeface="+mn-ea"/>
                  <a:cs typeface="+mn-cs"/>
                </a:rPr>
                <a:t>[가설]</a:t>
              </a:r>
            </a:p>
          </p:txBody>
        </p:sp>
        <p:sp>
          <p:nvSpPr>
            <p:cNvPr id="26" name="Line 26"/>
            <p:cNvSpPr/>
            <p:nvPr/>
          </p:nvSpPr>
          <p:spPr>
            <a:xfrm>
              <a:off x="5334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7" name="TextBox 27"/>
            <p:cNvSpPr txBox="1"/>
            <p:nvPr/>
          </p:nvSpPr>
          <p:spPr>
            <a:xfrm>
              <a:off x="527304" y="2952750"/>
              <a:ext cx="196855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a:t>
              </a:r>
            </a:p>
          </p:txBody>
        </p:sp>
        <p:sp>
          <p:nvSpPr>
            <p:cNvPr id="28" name="TextBox 28"/>
            <p:cNvSpPr txBox="1"/>
            <p:nvPr/>
          </p:nvSpPr>
          <p:spPr>
            <a:xfrm>
              <a:off x="5326593" y="29527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a:t>
              </a:r>
            </a:p>
          </p:txBody>
        </p:sp>
        <p:sp>
          <p:nvSpPr>
            <p:cNvPr id="29" name="Line 29"/>
            <p:cNvSpPr/>
            <p:nvPr/>
          </p:nvSpPr>
          <p:spPr>
            <a:xfrm>
              <a:off x="533400" y="3219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7304" y="3295650"/>
              <a:ext cx="29778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5억 원(서울시 구매가) · 5년</a:t>
              </a:r>
            </a:p>
          </p:txBody>
        </p:sp>
        <p:sp>
          <p:nvSpPr>
            <p:cNvPr id="31" name="TextBox 31"/>
            <p:cNvSpPr txBox="1"/>
            <p:nvPr/>
          </p:nvSpPr>
          <p:spPr>
            <a:xfrm>
              <a:off x="5326593" y="32956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a:t>
              </a:r>
            </a:p>
          </p:txBody>
        </p:sp>
        <p:sp>
          <p:nvSpPr>
            <p:cNvPr id="32" name="Line 32"/>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3" name="TextBox 33"/>
            <p:cNvSpPr txBox="1"/>
            <p:nvPr/>
          </p:nvSpPr>
          <p:spPr>
            <a:xfrm>
              <a:off x="527304" y="3638550"/>
              <a:ext cx="210418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현장 2인 (운전·안전 / 탐사)</a:t>
              </a:r>
            </a:p>
          </p:txBody>
        </p:sp>
        <p:sp>
          <p:nvSpPr>
            <p:cNvPr id="34" name="TextBox 34"/>
            <p:cNvSpPr txBox="1"/>
            <p:nvPr/>
          </p:nvSpPr>
          <p:spPr>
            <a:xfrm>
              <a:off x="5326593" y="36385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1.20억</a:t>
              </a:r>
            </a:p>
          </p:txBody>
        </p:sp>
        <p:sp>
          <p:nvSpPr>
            <p:cNvPr id="35" name="Line 35"/>
            <p:cNvSpPr/>
            <p:nvPr/>
          </p:nvSpPr>
          <p:spPr>
            <a:xfrm>
              <a:off x="533400" y="3905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6" name="TextBox 36"/>
            <p:cNvSpPr txBox="1"/>
            <p:nvPr/>
          </p:nvSpPr>
          <p:spPr>
            <a:xfrm>
              <a:off x="527304" y="3981450"/>
              <a:ext cx="13449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판독 전문가 0.5인</a:t>
              </a:r>
            </a:p>
          </p:txBody>
        </p:sp>
        <p:sp>
          <p:nvSpPr>
            <p:cNvPr id="37" name="TextBox 37"/>
            <p:cNvSpPr txBox="1"/>
            <p:nvPr/>
          </p:nvSpPr>
          <p:spPr>
            <a:xfrm>
              <a:off x="5326593" y="39814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a:t>
              </a:r>
            </a:p>
          </p:txBody>
        </p:sp>
        <p:sp>
          <p:nvSpPr>
            <p:cNvPr id="38" name="Line 38"/>
            <p:cNvSpPr/>
            <p:nvPr/>
          </p:nvSpPr>
          <p:spPr>
            <a:xfrm>
              <a:off x="533400" y="42481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9" name="TextBox 39"/>
            <p:cNvSpPr txBox="1"/>
            <p:nvPr/>
          </p:nvSpPr>
          <p:spPr>
            <a:xfrm>
              <a:off x="527304" y="4324350"/>
              <a:ext cx="2513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GPR·AR·클라우드·보험·유지</a:t>
              </a:r>
            </a:p>
          </p:txBody>
        </p:sp>
        <p:sp>
          <p:nvSpPr>
            <p:cNvPr id="40" name="TextBox 40"/>
            <p:cNvSpPr txBox="1"/>
            <p:nvPr/>
          </p:nvSpPr>
          <p:spPr>
            <a:xfrm>
              <a:off x="5326593" y="43243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a:t>
              </a:r>
            </a:p>
          </p:txBody>
        </p:sp>
        <p:sp>
          <p:nvSpPr>
            <p:cNvPr id="41" name="Line 41"/>
            <p:cNvSpPr/>
            <p:nvPr/>
          </p:nvSpPr>
          <p:spPr>
            <a:xfrm>
              <a:off x="533400" y="4591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2" name="TextBox 42"/>
            <p:cNvSpPr txBox="1"/>
            <p:nvPr/>
          </p:nvSpPr>
          <p:spPr>
            <a:xfrm>
              <a:off x="526542" y="4749800"/>
              <a:ext cx="2640270"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합계 약 3.1억 원 ÷ 연 6,600km</a:t>
              </a:r>
            </a:p>
          </p:txBody>
        </p:sp>
        <p:sp>
          <p:nvSpPr>
            <p:cNvPr id="43" name="TextBox 43"/>
            <p:cNvSpPr txBox="1"/>
            <p:nvPr/>
          </p:nvSpPr>
          <p:spPr>
            <a:xfrm>
              <a:off x="4072594" y="4711700"/>
              <a:ext cx="1803188"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km당 약 4.7만 원</a:t>
              </a:r>
            </a:p>
          </p:txBody>
        </p:sp>
        <p:sp>
          <p:nvSpPr>
            <p:cNvPr id="44" name="TextBox 44"/>
            <p:cNvSpPr txBox="1"/>
            <p:nvPr/>
          </p:nvSpPr>
          <p:spPr>
            <a:xfrm>
              <a:off x="528066" y="5035550"/>
              <a:ext cx="4314806"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6,600km = 하루 30km × 220일 (실제 장비 탐사 속도는 20~30km/h)</a:t>
              </a:r>
            </a:p>
          </p:txBody>
        </p:sp>
      </p:grpSp>
      <p:grpSp>
        <p:nvGrpSpPr>
          <p:cNvPr id="56" name="compare"/>
          <p:cNvGrpSpPr/>
          <p:nvPr/>
        </p:nvGrpSpPr>
        <p:grpSpPr>
          <a:xfrm>
            <a:off x="6318504" y="2571750"/>
            <a:ext cx="5340096" cy="2406396"/>
            <a:chOff x="6318504" y="2571750"/>
            <a:chExt cx="5340096" cy="2406396"/>
          </a:xfrm>
        </p:grpSpPr>
        <p:sp>
          <p:nvSpPr>
            <p:cNvPr id="46" name="TextBox 46"/>
            <p:cNvSpPr txBox="1"/>
            <p:nvPr/>
          </p:nvSpPr>
          <p:spPr>
            <a:xfrm>
              <a:off x="6318504" y="2571750"/>
              <a:ext cx="191518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도로 1km를 1년 동안</a:t>
              </a:r>
            </a:p>
          </p:txBody>
        </p:sp>
        <p:sp>
          <p:nvSpPr>
            <p:cNvPr id="47" name="Line 47"/>
            <p:cNvSpPr/>
            <p:nvPr/>
          </p:nvSpPr>
          <p:spPr>
            <a:xfrm>
              <a:off x="63246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48" name="TextBox 48"/>
            <p:cNvSpPr txBox="1"/>
            <p:nvPr/>
          </p:nvSpPr>
          <p:spPr>
            <a:xfrm>
              <a:off x="6318504" y="3028950"/>
              <a:ext cx="137723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현행 전체 공정 1회</a:t>
              </a:r>
            </a:p>
          </p:txBody>
        </p:sp>
        <p:sp>
          <p:nvSpPr>
            <p:cNvPr id="49" name="Rectangle 49"/>
            <p:cNvSpPr/>
            <p:nvPr/>
          </p:nvSpPr>
          <p:spPr>
            <a:xfrm>
              <a:off x="6324600" y="3276600"/>
              <a:ext cx="4381500" cy="323850"/>
            </a:xfrm>
            <a:prstGeom prst="rect">
              <a:avLst/>
            </a:prstGeom>
            <a:solidFill>
              <a:srgbClr val="9AA3AF"/>
            </a:solidFill>
            <a:ln>
              <a:noFill/>
            </a:ln>
          </p:spPr>
        </p:sp>
        <p:sp>
          <p:nvSpPr>
            <p:cNvPr id="50" name="TextBox 50"/>
            <p:cNvSpPr txBox="1"/>
            <p:nvPr/>
          </p:nvSpPr>
          <p:spPr>
            <a:xfrm>
              <a:off x="10794492" y="3340100"/>
              <a:ext cx="405359"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92만</a:t>
              </a:r>
            </a:p>
          </p:txBody>
        </p:sp>
        <p:sp>
          <p:nvSpPr>
            <p:cNvPr id="51" name="TextBox 51"/>
            <p:cNvSpPr txBox="1"/>
            <p:nvPr/>
          </p:nvSpPr>
          <p:spPr>
            <a:xfrm>
              <a:off x="6318504" y="3771900"/>
              <a:ext cx="324588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GroundWatch 반복 탐사 6회 (약 2개월마다)</a:t>
              </a:r>
            </a:p>
          </p:txBody>
        </p:sp>
        <p:sp>
          <p:nvSpPr>
            <p:cNvPr id="52" name="Rectangle 52"/>
            <p:cNvSpPr/>
            <p:nvPr/>
          </p:nvSpPr>
          <p:spPr>
            <a:xfrm>
              <a:off x="6324600" y="4019550"/>
              <a:ext cx="1343025" cy="323850"/>
            </a:xfrm>
            <a:prstGeom prst="rect">
              <a:avLst/>
            </a:prstGeom>
            <a:solidFill>
              <a:srgbClr val="0B1E3C"/>
            </a:solidFill>
            <a:ln>
              <a:noFill/>
            </a:ln>
          </p:spPr>
        </p:sp>
        <p:sp>
          <p:nvSpPr>
            <p:cNvPr id="53" name="TextBox 53"/>
            <p:cNvSpPr txBox="1"/>
            <p:nvPr/>
          </p:nvSpPr>
          <p:spPr>
            <a:xfrm>
              <a:off x="7756017" y="4083050"/>
              <a:ext cx="123296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 xml:space="preserve">28만 </a:t>
              </a:r>
              <a:r>
                <a:rPr lang="ko-KR" sz="1050" dirty="0">
                  <a:solidFill>
                    <a:srgbClr val="4B5563"/>
                  </a:solidFill>
                  <a:latin typeface="+mn-lt"/>
                  <a:ea typeface="+mn-ea"/>
                  <a:cs typeface="+mn-cs"/>
                </a:rPr>
                <a:t>(4.7만 × 6)</a:t>
              </a:r>
            </a:p>
          </p:txBody>
        </p:sp>
        <p:sp>
          <p:nvSpPr>
            <p:cNvPr id="54" name="TextBox 54"/>
            <p:cNvSpPr txBox="1"/>
            <p:nvPr/>
          </p:nvSpPr>
          <p:spPr>
            <a:xfrm>
              <a:off x="6318504" y="4514850"/>
              <a:ext cx="19507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천공·복구 같은 2차 조사는</a:t>
              </a:r>
            </a:p>
          </p:txBody>
        </p:sp>
        <p:sp>
          <p:nvSpPr>
            <p:cNvPr id="55" name="TextBox 55"/>
            <p:cNvSpPr txBox="1"/>
            <p:nvPr/>
          </p:nvSpPr>
          <p:spPr>
            <a:xfrm>
              <a:off x="6318504" y="4743450"/>
              <a:ext cx="257064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변화가 나온 곳에만, 지금 단가대로</a:t>
              </a:r>
            </a:p>
          </p:txBody>
        </p:sp>
      </p:grpSp>
      <p:grpSp>
        <p:nvGrpSpPr>
          <p:cNvPr id="59" name="conclusion"/>
          <p:cNvGrpSpPr/>
          <p:nvPr/>
        </p:nvGrpSpPr>
        <p:grpSpPr>
          <a:xfrm>
            <a:off x="533400" y="5676900"/>
            <a:ext cx="6687434" cy="419100"/>
            <a:chOff x="533400" y="5676900"/>
            <a:chExt cx="6687434" cy="419100"/>
          </a:xfrm>
        </p:grpSpPr>
        <p:sp>
          <p:nvSpPr>
            <p:cNvPr id="57" name="Rectangle 57"/>
            <p:cNvSpPr/>
            <p:nvPr/>
          </p:nvSpPr>
          <p:spPr>
            <a:xfrm>
              <a:off x="533400" y="5676900"/>
              <a:ext cx="38100" cy="419100"/>
            </a:xfrm>
            <a:prstGeom prst="rect">
              <a:avLst/>
            </a:prstGeom>
            <a:solidFill>
              <a:srgbClr val="F5B700"/>
            </a:solidFill>
            <a:ln>
              <a:noFill/>
            </a:ln>
          </p:spPr>
        </p:sp>
        <p:sp>
          <p:nvSpPr>
            <p:cNvPr id="58" name="TextBox 58"/>
            <p:cNvSpPr txBox="1"/>
            <p:nvPr/>
          </p:nvSpPr>
          <p:spPr>
            <a:xfrm>
              <a:off x="715899" y="5772150"/>
              <a:ext cx="650493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현행 1회 전체 탐사비의 약 3분의 1로, 같은 길을 1년에 6번 봅니다.</a:t>
              </a:r>
            </a:p>
          </p:txBody>
        </p:sp>
      </p:grpSp>
      <p:grpSp>
        <p:nvGrpSpPr>
          <p:cNvPr id="61" name="source"/>
          <p:cNvGrpSpPr/>
          <p:nvPr/>
        </p:nvGrpSpPr>
        <p:grpSpPr>
          <a:xfrm>
            <a:off x="528447" y="6381750"/>
            <a:ext cx="10888457" cy="191643"/>
            <a:chOff x="528447" y="6381750"/>
            <a:chExt cx="10888457" cy="191643"/>
          </a:xfrm>
        </p:grpSpPr>
        <p:sp>
          <p:nvSpPr>
            <p:cNvPr id="60" name="TextBox 60"/>
            <p:cNvSpPr txBox="1"/>
            <p:nvPr/>
          </p:nvSpPr>
          <p:spPr>
            <a:xfrm>
              <a:off x="528447" y="6381750"/>
              <a:ext cx="1088845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1,780,900,000원·수행 1,930.6km) · 이투데이(2025.4.23, 차량형 GPR 3대 15억 원) · 원가는 가설</a:t>
              </a:r>
            </a:p>
          </p:txBody>
        </p:sp>
      </p:grpSp>
      <p:grpSp>
        <p:nvGrpSpPr>
          <p:cNvPr id="64" name="footer"/>
          <p:cNvGrpSpPr/>
          <p:nvPr/>
        </p:nvGrpSpPr>
        <p:grpSpPr>
          <a:xfrm>
            <a:off x="528638" y="6610350"/>
            <a:ext cx="11134724" cy="176212"/>
            <a:chOff x="528638" y="6610350"/>
            <a:chExt cx="11134724" cy="176212"/>
          </a:xfrm>
        </p:grpSpPr>
        <p:sp>
          <p:nvSpPr>
            <p:cNvPr id="62" name="TextBox 6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3" name="TextBox 6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13</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2759"/>
            <a:chOff x="521970" y="1409700"/>
            <a:chExt cx="11136630" cy="992759"/>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29835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8066" y="2197100"/>
              <a:ext cx="20673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966" y="2197100"/>
              <a:ext cx="25055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대신 용역으로 1,080km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775108"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약 97대</a:t>
              </a:r>
            </a:p>
          </p:txBody>
        </p:sp>
        <p:sp>
          <p:nvSpPr>
            <p:cNvPr id="29" name="TextBox 29"/>
            <p:cNvSpPr txBox="1"/>
            <p:nvPr/>
          </p:nvSpPr>
          <p:spPr>
            <a:xfrm>
              <a:off x="8071104" y="1962150"/>
              <a:ext cx="162217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기아 PV5 수요 (계산)</a:t>
              </a:r>
            </a:p>
          </p:txBody>
        </p:sp>
        <p:sp>
          <p:nvSpPr>
            <p:cNvPr id="30" name="TextBox 30"/>
            <p:cNvSpPr txBox="1"/>
            <p:nvPr/>
          </p:nvSpPr>
          <p:spPr>
            <a:xfrm>
              <a:off x="8071866" y="2197100"/>
              <a:ext cx="268220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차량 매출 최대 약 44억 원 · 서울만 약 8대</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25289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04190"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Pleos Playground·SDK</a:t>
              </a:r>
            </a:p>
          </p:txBody>
        </p:sp>
        <p:sp>
          <p:nvSpPr>
            <p:cNvPr id="40" name="TextBox 40"/>
            <p:cNvSpPr txBox="1"/>
            <p:nvPr/>
          </p:nvSpPr>
          <p:spPr>
            <a:xfrm>
              <a:off x="3613023" y="3619500"/>
              <a:ext cx="1908404"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내비·차량 연동 시제품</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23749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컨버전 포털·PIM 기술 지원</a:t>
              </a:r>
            </a:p>
          </p:txBody>
        </p:sp>
        <p:sp>
          <p:nvSpPr>
            <p:cNvPr id="44" name="TextBox 44"/>
            <p:cNvSpPr txBox="1"/>
            <p:nvPr/>
          </p:nvSpPr>
          <p:spPr>
            <a:xfrm>
              <a:off x="3613023" y="41529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223283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 멘토링</a:t>
              </a:r>
            </a:p>
          </p:txBody>
        </p:sp>
        <p:sp>
          <p:nvSpPr>
            <p:cNvPr id="48" name="TextBox 48"/>
            <p:cNvSpPr txBox="1"/>
            <p:nvPr/>
          </p:nvSpPr>
          <p:spPr>
            <a:xfrm>
              <a:off x="3613023" y="46863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grpSp>
      <p:grpSp>
        <p:nvGrpSpPr>
          <p:cNvPr id="57" name="next"/>
          <p:cNvGrpSpPr/>
          <p:nvPr/>
        </p:nvGrpSpPr>
        <p:grpSpPr>
          <a:xfrm>
            <a:off x="7003161" y="2660650"/>
            <a:ext cx="4655439" cy="2467928"/>
            <a:chOff x="7003161" y="2660650"/>
            <a:chExt cx="4655439" cy="2467928"/>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3161" y="3060700"/>
              <a:ext cx="341665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1~2년 </a:t>
              </a:r>
              <a:r>
                <a:rPr lang="ko-KR" sz="1420" dirty="0">
                  <a:solidFill>
                    <a:srgbClr val="111827"/>
                  </a:solidFill>
                  <a:latin typeface="+mn-lt"/>
                  <a:ea typeface="+mn-ea"/>
                  <a:cs typeface="+mn-cs"/>
                </a:rPr>
                <a:t>조사기관과 시·군 용역 공동 수주</a:t>
              </a:r>
            </a:p>
          </p:txBody>
        </p:sp>
        <p:sp>
          <p:nvSpPr>
            <p:cNvPr id="53" name="TextBox 53"/>
            <p:cNvSpPr txBox="1"/>
            <p:nvPr/>
          </p:nvSpPr>
          <p:spPr>
            <a:xfrm>
              <a:off x="7003161" y="3594100"/>
              <a:ext cx="3282843"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2~3년 </a:t>
              </a:r>
              <a:r>
                <a:rPr lang="ko-KR" sz="1420" dirty="0">
                  <a:solidFill>
                    <a:srgbClr val="111827"/>
                  </a:solidFill>
                  <a:latin typeface="+mn-lt"/>
                  <a:ea typeface="+mn-ea"/>
                  <a:cs typeface="+mn-cs"/>
                </a:rPr>
                <a:t>혁신제품 지정 → 연간 관제 계약</a:t>
              </a:r>
            </a:p>
          </p:txBody>
        </p:sp>
        <p:sp>
          <p:nvSpPr>
            <p:cNvPr id="54" name="TextBox 54"/>
            <p:cNvSpPr txBox="1"/>
            <p:nvPr/>
          </p:nvSpPr>
          <p:spPr>
            <a:xfrm>
              <a:off x="7003161" y="4127500"/>
              <a:ext cx="33210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3년~ </a:t>
              </a:r>
              <a:r>
                <a:rPr lang="ko-KR" sz="1420" dirty="0">
                  <a:solidFill>
                    <a:srgbClr val="111827"/>
                  </a:solidFill>
                  <a:latin typeface="+mn-lt"/>
                  <a:ea typeface="+mn-ea"/>
                  <a:cs typeface="+mn-cs"/>
                </a:rPr>
                <a:t>권역별 PV5 플릿 · 상하수도 기관</a:t>
              </a:r>
            </a:p>
          </p:txBody>
        </p:sp>
        <p:sp>
          <p:nvSpPr>
            <p:cNvPr id="55" name="TextBox 55"/>
            <p:cNvSpPr txBox="1"/>
            <p:nvPr/>
          </p:nvSpPr>
          <p:spPr>
            <a:xfrm>
              <a:off x="7004685" y="4699000"/>
              <a:ext cx="30118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조달청 혁신제품: 지정 시 최대 6년 수의계약</a:t>
              </a:r>
            </a:p>
          </p:txBody>
        </p:sp>
        <p:sp>
          <p:nvSpPr>
            <p:cNvPr id="56" name="TextBox 56"/>
            <p:cNvSpPr txBox="1"/>
            <p:nvPr/>
          </p:nvSpPr>
          <p:spPr>
            <a:xfrm>
              <a:off x="7004685" y="4908550"/>
              <a:ext cx="28158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테스트베드서울: 과제당 최대 2억 원 실증</a:t>
              </a:r>
            </a:p>
          </p:txBody>
        </p:sp>
      </p:grpSp>
      <p:grpSp>
        <p:nvGrpSpPr>
          <p:cNvPr id="60" name="conclusion"/>
          <p:cNvGrpSpPr/>
          <p:nvPr/>
        </p:nvGrpSpPr>
        <p:grpSpPr>
          <a:xfrm>
            <a:off x="533400" y="5676900"/>
            <a:ext cx="8479960" cy="419100"/>
            <a:chOff x="533400" y="5676900"/>
            <a:chExt cx="8479960"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2" name="source"/>
          <p:cNvGrpSpPr/>
          <p:nvPr/>
        </p:nvGrpSpPr>
        <p:grpSpPr>
          <a:xfrm>
            <a:off x="528447" y="6381750"/>
            <a:ext cx="9596189" cy="191643"/>
            <a:chOff x="528447" y="6381750"/>
            <a:chExt cx="9596189" cy="191643"/>
          </a:xfrm>
        </p:grpSpPr>
        <p:sp>
          <p:nvSpPr>
            <p:cNvPr id="61" name="TextBox 61"/>
            <p:cNvSpPr txBox="1"/>
            <p:nvPr/>
          </p:nvSpPr>
          <p:spPr>
            <a:xfrm>
              <a:off x="528447" y="6381750"/>
              <a:ext cx="95961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안내 · 일정은 목표</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13</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B1E3C"/>
          </a:solidFill>
          <a:ln>
            <a:noFill/>
          </a:ln>
        </p:spPr>
      </p:sp>
      <p:pic>
        <p:nvPicPr>
          <p:cNvPr id="3" name="Image 3"/>
          <p:cNvPicPr>
            <a:picLocks noChangeAspect="1"/>
          </p:cNvPicPr>
          <p:nvPr/>
        </p:nvPicPr>
        <p:blipFill>
          <a:blip r:embed="rId2"/>
          <a:srcRect l="16666" t="0" r="16667" b="0"/>
          <a:stretch>
            <a:fillRect/>
          </a:stretch>
        </p:blipFill>
        <p:spPr>
          <a:xfrm>
            <a:off x="5334000" y="0"/>
            <a:ext cx="6858000" cy="6858000"/>
          </a:xfrm>
          <a:prstGeom prst="rect">
            <a:avLst/>
          </a:prstGeom>
        </p:spPr>
      </p:pic>
      <p:sp>
        <p:nvSpPr>
          <p:cNvPr id="4" name="Rectangle 4"/>
          <p:cNvSpPr/>
          <p:nvPr/>
        </p:nvSpPr>
        <p:spPr>
          <a:xfrm>
            <a:off x="5334000" y="0"/>
            <a:ext cx="4000500" cy="6858000"/>
          </a:xfrm>
          <a:prstGeom prst="rect">
            <a:avLst/>
          </a:prstGeom>
          <a:gradFill>
            <a:gsLst>
              <a:gs pos="0">
                <a:srgbClr val="0B1E3C"/>
              </a:gs>
              <a:gs pos="55000">
                <a:srgbClr val="0B1E3C">
                  <a:alpha val="85000"/>
                </a:srgbClr>
              </a:gs>
              <a:gs pos="100000">
                <a:srgbClr val="0B1E3C">
                  <a:alpha val="0"/>
                </a:srgbClr>
              </a:gs>
            </a:gsLst>
            <a:lin ang="0" scaled="1"/>
          </a:gradFill>
          <a:ln>
            <a:noFill/>
          </a:ln>
        </p:spPr>
      </p:sp>
      <p:grpSp>
        <p:nvGrpSpPr>
          <p:cNvPr id="14" name="recap"/>
          <p:cNvGrpSpPr/>
          <p:nvPr/>
        </p:nvGrpSpPr>
        <p:grpSpPr>
          <a:xfrm>
            <a:off x="600075" y="838200"/>
            <a:ext cx="4564145" cy="3263265"/>
            <a:chOff x="600075" y="838200"/>
            <a:chExt cx="4564145" cy="3263265"/>
          </a:xfrm>
        </p:grpSpPr>
        <p:sp>
          <p:nvSpPr>
            <p:cNvPr id="5" name="TextBox 5"/>
            <p:cNvSpPr txBox="1"/>
            <p:nvPr/>
          </p:nvSpPr>
          <p:spPr>
            <a:xfrm>
              <a:off x="603504" y="838200"/>
              <a:ext cx="199272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GroundWatch가 바꾸는 것</a:t>
              </a:r>
            </a:p>
          </p:txBody>
        </p:sp>
        <p:sp>
          <p:nvSpPr>
            <p:cNvPr id="6" name="TextBox 6"/>
            <p:cNvSpPr txBox="1"/>
            <p:nvPr/>
          </p:nvSpPr>
          <p:spPr>
            <a:xfrm>
              <a:off x="601980" y="1250950"/>
              <a:ext cx="2216277"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회차마다 따로 보는 탐사</a:t>
              </a:r>
            </a:p>
          </p:txBody>
        </p:sp>
        <p:sp>
          <p:nvSpPr>
            <p:cNvPr id="7" name="TextBox 7"/>
            <p:cNvSpPr txBox="1"/>
            <p:nvPr/>
          </p:nvSpPr>
          <p:spPr>
            <a:xfrm>
              <a:off x="600075" y="1504950"/>
              <a:ext cx="3640072"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길의 ‘변화’를 보는 탐사</a:t>
              </a:r>
            </a:p>
          </p:txBody>
        </p:sp>
        <p:sp>
          <p:nvSpPr>
            <p:cNvPr id="8" name="TextBox 8"/>
            <p:cNvSpPr txBox="1"/>
            <p:nvPr/>
          </p:nvSpPr>
          <p:spPr>
            <a:xfrm>
              <a:off x="601980" y="1993900"/>
              <a:ext cx="2680716"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다시 찾아가야 하는 의심 지점</a:t>
              </a:r>
            </a:p>
          </p:txBody>
        </p:sp>
        <p:sp>
          <p:nvSpPr>
            <p:cNvPr id="9" name="TextBox 9"/>
            <p:cNvSpPr txBox="1"/>
            <p:nvPr/>
          </p:nvSpPr>
          <p:spPr>
            <a:xfrm>
              <a:off x="600075" y="2247900"/>
              <a:ext cx="3014951"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차에서 바로 재탐사</a:t>
              </a:r>
            </a:p>
          </p:txBody>
        </p:sp>
        <p:sp>
          <p:nvSpPr>
            <p:cNvPr id="10" name="TextBox 10"/>
            <p:cNvSpPr txBox="1"/>
            <p:nvPr/>
          </p:nvSpPr>
          <p:spPr>
            <a:xfrm>
              <a:off x="601980" y="2736850"/>
              <a:ext cx="1347978"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장비를 실은 차</a:t>
              </a:r>
            </a:p>
          </p:txBody>
        </p:sp>
        <p:sp>
          <p:nvSpPr>
            <p:cNvPr id="11" name="TextBox 11"/>
            <p:cNvSpPr txBox="1"/>
            <p:nvPr/>
          </p:nvSpPr>
          <p:spPr>
            <a:xfrm>
              <a:off x="600075" y="2990850"/>
              <a:ext cx="3234180"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업무에 연동된 PV5 탐사실</a:t>
              </a:r>
            </a:p>
          </p:txBody>
        </p:sp>
        <p:sp>
          <p:nvSpPr>
            <p:cNvPr id="12" name="TextBox 12"/>
            <p:cNvSpPr txBox="1"/>
            <p:nvPr/>
          </p:nvSpPr>
          <p:spPr>
            <a:xfrm>
              <a:off x="601980" y="3467100"/>
              <a:ext cx="822960"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기아에게</a:t>
              </a:r>
            </a:p>
          </p:txBody>
        </p:sp>
        <p:sp>
          <p:nvSpPr>
            <p:cNvPr id="13" name="TextBox 13"/>
            <p:cNvSpPr txBox="1"/>
            <p:nvPr/>
          </p:nvSpPr>
          <p:spPr>
            <a:xfrm>
              <a:off x="600075" y="3733800"/>
              <a:ext cx="4564145"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공공 탐사용 PV5 플릿 (최대 약 97대)</a:t>
              </a:r>
            </a:p>
          </p:txBody>
        </p:sp>
      </p:grpSp>
      <p:grpSp>
        <p:nvGrpSpPr>
          <p:cNvPr id="17" name="closing"/>
          <p:cNvGrpSpPr/>
          <p:nvPr/>
        </p:nvGrpSpPr>
        <p:grpSpPr>
          <a:xfrm>
            <a:off x="595122" y="4572000"/>
            <a:ext cx="5037439" cy="1255903"/>
            <a:chOff x="595122" y="4572000"/>
            <a:chExt cx="5037439" cy="1255903"/>
          </a:xfrm>
        </p:grpSpPr>
        <p:sp>
          <p:nvSpPr>
            <p:cNvPr id="15" name="Rectangle 15"/>
            <p:cNvSpPr/>
            <p:nvPr/>
          </p:nvSpPr>
          <p:spPr>
            <a:xfrm>
              <a:off x="609600" y="4572000"/>
              <a:ext cx="457200" cy="28575"/>
            </a:xfrm>
            <a:prstGeom prst="rect">
              <a:avLst/>
            </a:prstGeom>
            <a:solidFill>
              <a:srgbClr val="F5B700"/>
            </a:solidFill>
            <a:ln>
              <a:noFill/>
            </a:ln>
          </p:spPr>
        </p:sp>
        <p:sp>
          <p:nvSpPr>
            <p:cNvPr id="16" name="TextBox 16"/>
            <p:cNvSpPr txBox="1"/>
            <p:nvPr/>
          </p:nvSpPr>
          <p:spPr>
            <a:xfrm>
              <a:off x="595122" y="4775200"/>
              <a:ext cx="5037439" cy="1052703"/>
            </a:xfrm>
            <a:prstGeom prst="rect">
              <a:avLst/>
            </a:prstGeom>
            <a:noFill/>
            <a:ln>
              <a:noFill/>
            </a:ln>
          </p:spPr>
          <p:txBody>
            <a:bodyPr wrap="none" lIns="0" tIns="0" rIns="0" bIns="0" anchor="t" anchorCtr="0">
              <a:spAutoFit/>
            </a:bodyPr>
            <a:lstStyle/>
            <a:p>
              <a:pPr algn="l">
                <a:lnSpc>
                  <a:spcPts val="3900"/>
                </a:lnSpc>
              </a:pPr>
              <a:r>
                <a:rPr lang="ko-KR" sz="2850" b="1" dirty="0">
                  <a:solidFill>
                    <a:srgbClr val="FFFFFF"/>
                  </a:solidFill>
                  <a:latin typeface="+mn-lt"/>
                  <a:ea typeface="+mn-ea"/>
                  <a:cs typeface="+mn-cs"/>
                </a:rPr>
                <a:t>한 번의 조기 발견이,</a:t>
              </a:r>
              <a:br>
                <a:rPr lang="ko-KR" sz="2850" b="1" dirty="0">
                  <a:solidFill>
                    <a:srgbClr val="FFFFFF"/>
                  </a:solidFill>
                  <a:latin typeface="+mn-lt"/>
                  <a:ea typeface="+mn-ea"/>
                  <a:cs typeface="+mn-cs"/>
                </a:rPr>
              </a:br>
              <a:r>
                <a:rPr lang="ko-KR" sz="2850" b="1" dirty="0">
                  <a:solidFill>
                    <a:srgbClr val="FFFFFF"/>
                  </a:solidFill>
                  <a:latin typeface="+mn-lt"/>
                  <a:ea typeface="+mn-ea"/>
                  <a:cs typeface="+mn-cs"/>
                </a:rPr>
                <a:t>한 사람의 무사 귀가가 되도록.</a:t>
              </a:r>
            </a:p>
          </p:txBody>
        </p:sp>
      </p:grpSp>
      <p:grpSp>
        <p:nvGrpSpPr>
          <p:cNvPr id="21" name="footer"/>
          <p:cNvGrpSpPr/>
          <p:nvPr/>
        </p:nvGrpSpPr>
        <p:grpSpPr>
          <a:xfrm>
            <a:off x="604266" y="6337300"/>
            <a:ext cx="3972687" cy="408559"/>
            <a:chOff x="604266" y="6337300"/>
            <a:chExt cx="3972687" cy="408559"/>
          </a:xfrm>
        </p:grpSpPr>
        <p:sp>
          <p:nvSpPr>
            <p:cNvPr id="18" name="TextBox 18"/>
            <p:cNvSpPr txBox="1"/>
            <p:nvPr/>
          </p:nvSpPr>
          <p:spPr>
            <a:xfrm>
              <a:off x="604266" y="65405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9" name="TextBox 19"/>
            <p:cNvSpPr txBox="1"/>
            <p:nvPr/>
          </p:nvSpPr>
          <p:spPr>
            <a:xfrm>
              <a:off x="604838" y="6337300"/>
              <a:ext cx="2235337" cy="161925"/>
            </a:xfrm>
            <a:prstGeom prst="rect">
              <a:avLst/>
            </a:prstGeom>
            <a:noFill/>
            <a:ln>
              <a:noFill/>
            </a:ln>
          </p:spPr>
          <p:txBody>
            <a:bodyPr wrap="none" lIns="0" tIns="0" rIns="0" bIns="0" anchor="t" anchorCtr="0">
              <a:spAutoFit/>
            </a:bodyPr>
            <a:lstStyle/>
            <a:p>
              <a:pPr algn="l"/>
              <a:r>
                <a:rPr lang="ko-KR" sz="820" dirty="0">
                  <a:solidFill>
                    <a:srgbClr val="9FB0C8"/>
                  </a:solidFill>
                  <a:latin typeface="+mn-lt"/>
                  <a:ea typeface="+mn-ea"/>
                  <a:cs typeface="+mn-cs"/>
                </a:rPr>
                <a:t>사진: Alexander Migl, CC BY-SA 4.0(편집)</a:t>
              </a:r>
            </a:p>
          </p:txBody>
        </p:sp>
        <p:sp>
          <p:nvSpPr>
            <p:cNvPr id="20" name="TextBox 20"/>
            <p:cNvSpPr txBox="1"/>
            <p:nvPr/>
          </p:nvSpPr>
          <p:spPr>
            <a:xfrm>
              <a:off x="4102992" y="65532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13 / 13</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13</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2026-10-22T16:59:07Z</dcterms:created>
  <dcterms:modified xsi:type="dcterms:W3CDTF">2026-10-22T16:59:07Z</dcterms:modified>
  <cp:category/>
  <cp:contentStatus/>
</cp:coreProperties>
</file>