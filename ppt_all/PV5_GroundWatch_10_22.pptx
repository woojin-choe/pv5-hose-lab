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 대수는 많지 않지만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90eb28e89366fa0.jpg"/>
  <Relationship Id="rId3"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6~7장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8~9장</a:t>
              </a:r>
            </a:p>
          </p:txBody>
        </p:sp>
      </p:grpSp>
      <p:grpSp>
        <p:nvGrpSpPr>
          <p:cNvPr id="41" name="col3"/>
          <p:cNvGrpSpPr/>
          <p:nvPr/>
        </p:nvGrpSpPr>
        <p:grpSpPr>
          <a:xfrm>
            <a:off x="9039987" y="1600200"/>
            <a:ext cx="2618613" cy="2021459"/>
            <a:chOff x="9039987" y="1600200"/>
            <a:chExt cx="2618613"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6번 보고 비용 3분의 1</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10~12장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5234164" cy="419100"/>
            <a:chOff x="533400" y="5619750"/>
            <a:chExt cx="5234164"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6장 GPR 전자기 시뮬레이션 · 11장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13</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1" name="scans"/>
          <p:cNvGrpSpPr/>
          <p:nvPr/>
        </p:nvGrpSpPr>
        <p:grpSpPr>
          <a:xfrm>
            <a:off x="527304" y="1485900"/>
            <a:ext cx="11131296" cy="2234946"/>
            <a:chOff x="527304" y="1485900"/>
            <a:chExt cx="11131296" cy="2234946"/>
          </a:xfrm>
        </p:grpSpPr>
        <p:pic>
          <p:nvPicPr>
            <p:cNvPr id="19" name="Image 19"/>
            <p:cNvPicPr>
              <a:picLocks noChangeAspect="1"/>
            </p:cNvPicPr>
            <p:nvPr/>
          </p:nvPicPr>
          <p:blipFill>
            <a:blip r:embed="rId2"/>
            <a:stretch>
              <a:fillRect/>
            </a:stretch>
          </p:blipFill>
          <p:spPr>
            <a:xfrm>
              <a:off x="533400" y="1485900"/>
              <a:ext cx="3429000" cy="1905000"/>
            </a:xfrm>
            <a:prstGeom prst="rect">
              <a:avLst/>
            </a:prstGeom>
          </p:spPr>
        </p:pic>
        <p:sp>
          <p:nvSpPr>
            <p:cNvPr id="20" name="Rectangle 20"/>
            <p:cNvSpPr/>
            <p:nvPr/>
          </p:nvSpPr>
          <p:spPr>
            <a:xfrm>
              <a:off x="609600" y="1562100"/>
              <a:ext cx="904875" cy="247650"/>
            </a:xfrm>
            <a:prstGeom prst="roundRect">
              <a:avLst>
                <a:gd name="adj" fmla="val 11538"/>
              </a:avLst>
            </a:prstGeom>
            <a:solidFill>
              <a:srgbClr val="0B1E3C">
                <a:alpha val="90000"/>
              </a:srgbClr>
            </a:solidFill>
            <a:ln>
              <a:noFill/>
            </a:ln>
          </p:spPr>
        </p:sp>
        <p:sp>
          <p:nvSpPr>
            <p:cNvPr id="21" name="TextBox 21"/>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2" name="TextBox 22"/>
            <p:cNvSpPr txBox="1"/>
            <p:nvPr/>
          </p:nvSpPr>
          <p:spPr>
            <a:xfrm>
              <a:off x="40884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3" name="Image 23"/>
            <p:cNvPicPr>
              <a:picLocks noChangeAspect="1"/>
            </p:cNvPicPr>
            <p:nvPr/>
          </p:nvPicPr>
          <p:blipFill>
            <a:blip r:embed="rId3"/>
            <a:stretch>
              <a:fillRect/>
            </a:stretch>
          </p:blipFill>
          <p:spPr>
            <a:xfrm>
              <a:off x="4381500" y="1485900"/>
              <a:ext cx="3429000" cy="1905000"/>
            </a:xfrm>
            <a:prstGeom prst="rect">
              <a:avLst/>
            </a:prstGeom>
          </p:spPr>
        </p:pic>
        <p:sp>
          <p:nvSpPr>
            <p:cNvPr id="24" name="Rectangle 24"/>
            <p:cNvSpPr/>
            <p:nvPr/>
          </p:nvSpPr>
          <p:spPr>
            <a:xfrm>
              <a:off x="4457700" y="1562100"/>
              <a:ext cx="904875" cy="247650"/>
            </a:xfrm>
            <a:prstGeom prst="roundRect">
              <a:avLst>
                <a:gd name="adj" fmla="val 11538"/>
              </a:avLst>
            </a:prstGeom>
            <a:solidFill>
              <a:srgbClr val="0B1E3C">
                <a:alpha val="90000"/>
              </a:srgbClr>
            </a:solidFill>
            <a:ln>
              <a:noFill/>
            </a:ln>
          </p:spPr>
        </p:sp>
        <p:sp>
          <p:nvSpPr>
            <p:cNvPr id="25" name="TextBox 25"/>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6" name="TextBox 26"/>
            <p:cNvSpPr txBox="1"/>
            <p:nvPr/>
          </p:nvSpPr>
          <p:spPr>
            <a:xfrm>
              <a:off x="79365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7" name="Image 27"/>
            <p:cNvPicPr>
              <a:picLocks noChangeAspect="1"/>
            </p:cNvPicPr>
            <p:nvPr/>
          </p:nvPicPr>
          <p:blipFill>
            <a:blip r:embed="rId4"/>
            <a:stretch>
              <a:fillRect/>
            </a:stretch>
          </p:blipFill>
          <p:spPr>
            <a:xfrm>
              <a:off x="8229600" y="1485900"/>
              <a:ext cx="3429000" cy="1905000"/>
            </a:xfrm>
            <a:prstGeom prst="rect">
              <a:avLst/>
            </a:prstGeom>
          </p:spPr>
        </p:pic>
        <p:sp>
          <p:nvSpPr>
            <p:cNvPr id="28" name="Rectangle 28"/>
            <p:cNvSpPr/>
            <p:nvPr/>
          </p:nvSpPr>
          <p:spPr>
            <a:xfrm>
              <a:off x="8305800" y="1562100"/>
              <a:ext cx="1476375" cy="247650"/>
            </a:xfrm>
            <a:prstGeom prst="roundRect">
              <a:avLst>
                <a:gd name="adj" fmla="val 11538"/>
              </a:avLst>
            </a:prstGeom>
            <a:solidFill>
              <a:srgbClr val="0B1E3C">
                <a:alpha val="90000"/>
              </a:srgbClr>
            </a:solidFill>
            <a:ln>
              <a:noFill/>
            </a:ln>
          </p:spPr>
        </p:sp>
        <p:sp>
          <p:nvSpPr>
            <p:cNvPr id="29" name="TextBox 29"/>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30" name="TextBox 30"/>
            <p:cNvSpPr txBox="1"/>
            <p:nvPr/>
          </p:nvSpPr>
          <p:spPr>
            <a:xfrm>
              <a:off x="527304" y="34861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44" name="diff"/>
          <p:cNvGrpSpPr/>
          <p:nvPr/>
        </p:nvGrpSpPr>
        <p:grpSpPr>
          <a:xfrm>
            <a:off x="527304" y="3924300"/>
            <a:ext cx="5340096" cy="1582293"/>
            <a:chOff x="527304" y="3924300"/>
            <a:chExt cx="5340096" cy="1582293"/>
          </a:xfrm>
        </p:grpSpPr>
        <p:sp>
          <p:nvSpPr>
            <p:cNvPr id="32" name="Rectangle 32"/>
            <p:cNvSpPr/>
            <p:nvPr/>
          </p:nvSpPr>
          <p:spPr>
            <a:xfrm>
              <a:off x="533400" y="3924300"/>
              <a:ext cx="5334000" cy="28575"/>
            </a:xfrm>
            <a:prstGeom prst="rect">
              <a:avLst/>
            </a:prstGeom>
            <a:solidFill>
              <a:srgbClr val="0B1E3C"/>
            </a:solidFill>
            <a:ln>
              <a:noFill/>
            </a:ln>
          </p:spPr>
        </p:sp>
        <p:sp>
          <p:nvSpPr>
            <p:cNvPr id="33" name="TextBox 33"/>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4" name="TextBox 34"/>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35" name="TextBox 35"/>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36" name="TextBox 36"/>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37" name="TextBox 37"/>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38" name="TextBox 38"/>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39" name="TextBox 39"/>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0" name="TextBox 40"/>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1" name="TextBox 41"/>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2" name="TextBox 42"/>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3" name="TextBox 43"/>
            <p:cNvSpPr txBox="1"/>
            <p:nvPr/>
          </p:nvSpPr>
          <p:spPr>
            <a:xfrm>
              <a:off x="528447" y="5314950"/>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66" name="proof"/>
          <p:cNvGrpSpPr/>
          <p:nvPr/>
        </p:nvGrpSpPr>
        <p:grpSpPr>
          <a:xfrm>
            <a:off x="6318885" y="3924300"/>
            <a:ext cx="5339715" cy="1600200"/>
            <a:chOff x="6318885" y="3924300"/>
            <a:chExt cx="5339715" cy="1600200"/>
          </a:xfrm>
        </p:grpSpPr>
        <p:sp>
          <p:nvSpPr>
            <p:cNvPr id="45" name="Rectangle 45"/>
            <p:cNvSpPr/>
            <p:nvPr/>
          </p:nvSpPr>
          <p:spPr>
            <a:xfrm>
              <a:off x="6324600" y="3924300"/>
              <a:ext cx="5334000" cy="28575"/>
            </a:xfrm>
            <a:prstGeom prst="rect">
              <a:avLst/>
            </a:prstGeom>
            <a:solidFill>
              <a:srgbClr val="0B1E3C"/>
            </a:solidFill>
            <a:ln>
              <a:noFill/>
            </a:ln>
          </p:spPr>
        </p:sp>
        <p:sp>
          <p:nvSpPr>
            <p:cNvPr id="46" name="TextBox 4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47" name="TextBox 47"/>
            <p:cNvSpPr txBox="1"/>
            <p:nvPr/>
          </p:nvSpPr>
          <p:spPr>
            <a:xfrm>
              <a:off x="6319266" y="4311650"/>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20cm 성장</a:t>
              </a:r>
            </a:p>
          </p:txBody>
        </p:sp>
        <p:sp>
          <p:nvSpPr>
            <p:cNvPr id="48" name="Rectangle 48"/>
            <p:cNvSpPr/>
            <p:nvPr/>
          </p:nvSpPr>
          <p:spPr>
            <a:xfrm>
              <a:off x="7696200" y="4324350"/>
              <a:ext cx="3267075" cy="142875"/>
            </a:xfrm>
            <a:prstGeom prst="rect">
              <a:avLst/>
            </a:prstGeom>
            <a:solidFill>
              <a:srgbClr val="0B1E3C"/>
            </a:solidFill>
            <a:ln>
              <a:noFill/>
            </a:ln>
          </p:spPr>
        </p:sp>
        <p:sp>
          <p:nvSpPr>
            <p:cNvPr id="49" name="TextBox 49"/>
            <p:cNvSpPr txBox="1"/>
            <p:nvPr/>
          </p:nvSpPr>
          <p:spPr>
            <a:xfrm>
              <a:off x="11034141" y="43116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2.9</a:t>
              </a:r>
            </a:p>
          </p:txBody>
        </p:sp>
        <p:sp>
          <p:nvSpPr>
            <p:cNvPr id="50" name="TextBox 50"/>
            <p:cNvSpPr txBox="1"/>
            <p:nvPr/>
          </p:nvSpPr>
          <p:spPr>
            <a:xfrm>
              <a:off x="6319266" y="4511675"/>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10cm 성장</a:t>
              </a:r>
            </a:p>
          </p:txBody>
        </p:sp>
        <p:sp>
          <p:nvSpPr>
            <p:cNvPr id="51" name="Rectangle 51"/>
            <p:cNvSpPr/>
            <p:nvPr/>
          </p:nvSpPr>
          <p:spPr>
            <a:xfrm>
              <a:off x="7696200" y="4524375"/>
              <a:ext cx="2790825" cy="142875"/>
            </a:xfrm>
            <a:prstGeom prst="rect">
              <a:avLst/>
            </a:prstGeom>
            <a:solidFill>
              <a:srgbClr val="0B1E3C"/>
            </a:solidFill>
            <a:ln>
              <a:noFill/>
            </a:ln>
          </p:spPr>
        </p:sp>
        <p:sp>
          <p:nvSpPr>
            <p:cNvPr id="52" name="TextBox 52"/>
            <p:cNvSpPr txBox="1"/>
            <p:nvPr/>
          </p:nvSpPr>
          <p:spPr>
            <a:xfrm>
              <a:off x="10557891" y="45116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2.4</a:t>
              </a:r>
            </a:p>
          </p:txBody>
        </p:sp>
        <p:sp>
          <p:nvSpPr>
            <p:cNvPr id="53" name="TextBox 53"/>
            <p:cNvSpPr txBox="1"/>
            <p:nvPr/>
          </p:nvSpPr>
          <p:spPr>
            <a:xfrm>
              <a:off x="6319266" y="4711700"/>
              <a:ext cx="92238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5cm 성장</a:t>
              </a:r>
            </a:p>
          </p:txBody>
        </p:sp>
        <p:sp>
          <p:nvSpPr>
            <p:cNvPr id="54" name="Rectangle 54"/>
            <p:cNvSpPr/>
            <p:nvPr/>
          </p:nvSpPr>
          <p:spPr>
            <a:xfrm>
              <a:off x="7696200" y="4724400"/>
              <a:ext cx="1552575" cy="142875"/>
            </a:xfrm>
            <a:prstGeom prst="rect">
              <a:avLst/>
            </a:prstGeom>
            <a:solidFill>
              <a:srgbClr val="B45309"/>
            </a:solidFill>
            <a:ln>
              <a:noFill/>
            </a:ln>
          </p:spPr>
        </p:sp>
        <p:sp>
          <p:nvSpPr>
            <p:cNvPr id="55" name="TextBox 55"/>
            <p:cNvSpPr txBox="1"/>
            <p:nvPr/>
          </p:nvSpPr>
          <p:spPr>
            <a:xfrm>
              <a:off x="9319641" y="471170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1.4</a:t>
              </a:r>
            </a:p>
          </p:txBody>
        </p:sp>
        <p:sp>
          <p:nvSpPr>
            <p:cNvPr id="56" name="TextBox 56"/>
            <p:cNvSpPr txBox="1"/>
            <p:nvPr/>
          </p:nvSpPr>
          <p:spPr>
            <a:xfrm>
              <a:off x="6319266" y="4911725"/>
              <a:ext cx="1205084"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주행선 8cm 어긋남</a:t>
              </a:r>
            </a:p>
          </p:txBody>
        </p:sp>
        <p:sp>
          <p:nvSpPr>
            <p:cNvPr id="57" name="Rectangle 57"/>
            <p:cNvSpPr/>
            <p:nvPr/>
          </p:nvSpPr>
          <p:spPr>
            <a:xfrm>
              <a:off x="7696200" y="4924425"/>
              <a:ext cx="1143000" cy="142875"/>
            </a:xfrm>
            <a:prstGeom prst="rect">
              <a:avLst/>
            </a:prstGeom>
            <a:solidFill>
              <a:srgbClr val="C62828"/>
            </a:solidFill>
            <a:ln>
              <a:noFill/>
            </a:ln>
          </p:spPr>
        </p:sp>
        <p:sp>
          <p:nvSpPr>
            <p:cNvPr id="58" name="TextBox 58"/>
            <p:cNvSpPr txBox="1"/>
            <p:nvPr/>
          </p:nvSpPr>
          <p:spPr>
            <a:xfrm>
              <a:off x="8910066" y="491172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1.0</a:t>
              </a:r>
            </a:p>
          </p:txBody>
        </p:sp>
        <p:sp>
          <p:nvSpPr>
            <p:cNvPr id="59" name="TextBox 59"/>
            <p:cNvSpPr txBox="1"/>
            <p:nvPr/>
          </p:nvSpPr>
          <p:spPr>
            <a:xfrm>
              <a:off x="6319266" y="511175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함수비 변화</a:t>
              </a:r>
            </a:p>
          </p:txBody>
        </p:sp>
        <p:sp>
          <p:nvSpPr>
            <p:cNvPr id="60" name="Rectangle 60"/>
            <p:cNvSpPr/>
            <p:nvPr/>
          </p:nvSpPr>
          <p:spPr>
            <a:xfrm>
              <a:off x="7696200" y="5124450"/>
              <a:ext cx="923925" cy="142875"/>
            </a:xfrm>
            <a:prstGeom prst="rect">
              <a:avLst/>
            </a:prstGeom>
            <a:solidFill>
              <a:srgbClr val="4B5563"/>
            </a:solidFill>
            <a:ln>
              <a:noFill/>
            </a:ln>
          </p:spPr>
        </p:sp>
        <p:sp>
          <p:nvSpPr>
            <p:cNvPr id="61" name="TextBox 61"/>
            <p:cNvSpPr txBox="1"/>
            <p:nvPr/>
          </p:nvSpPr>
          <p:spPr>
            <a:xfrm>
              <a:off x="8910066" y="51117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0.8</a:t>
              </a:r>
            </a:p>
          </p:txBody>
        </p:sp>
        <p:sp>
          <p:nvSpPr>
            <p:cNvPr id="62" name="TextBox 62"/>
            <p:cNvSpPr txBox="1"/>
            <p:nvPr/>
          </p:nvSpPr>
          <p:spPr>
            <a:xfrm>
              <a:off x="6319266" y="5311775"/>
              <a:ext cx="43472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재포장</a:t>
              </a:r>
            </a:p>
          </p:txBody>
        </p:sp>
        <p:sp>
          <p:nvSpPr>
            <p:cNvPr id="63" name="Rectangle 63"/>
            <p:cNvSpPr/>
            <p:nvPr/>
          </p:nvSpPr>
          <p:spPr>
            <a:xfrm>
              <a:off x="7696200" y="5324475"/>
              <a:ext cx="381000" cy="142875"/>
            </a:xfrm>
            <a:prstGeom prst="rect">
              <a:avLst/>
            </a:prstGeom>
            <a:solidFill>
              <a:srgbClr val="4B5563"/>
            </a:solidFill>
            <a:ln>
              <a:noFill/>
            </a:ln>
          </p:spPr>
        </p:sp>
        <p:sp>
          <p:nvSpPr>
            <p:cNvPr id="64" name="TextBox 64"/>
            <p:cNvSpPr txBox="1"/>
            <p:nvPr/>
          </p:nvSpPr>
          <p:spPr>
            <a:xfrm>
              <a:off x="8910066" y="53117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0.3</a:t>
              </a:r>
            </a:p>
          </p:txBody>
        </p:sp>
        <p:sp>
          <p:nvSpPr>
            <p:cNvPr id="65" name="Line 6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69" name="conclusion"/>
          <p:cNvGrpSpPr/>
          <p:nvPr/>
        </p:nvGrpSpPr>
        <p:grpSpPr>
          <a:xfrm>
            <a:off x="533400" y="5676900"/>
            <a:ext cx="9170702" cy="419100"/>
            <a:chOff x="533400" y="5676900"/>
            <a:chExt cx="9170702" cy="419100"/>
          </a:xfrm>
        </p:grpSpPr>
        <p:sp>
          <p:nvSpPr>
            <p:cNvPr id="67" name="Rectangle 67"/>
            <p:cNvSpPr/>
            <p:nvPr/>
          </p:nvSpPr>
          <p:spPr>
            <a:xfrm>
              <a:off x="533400" y="5676900"/>
              <a:ext cx="38100" cy="419100"/>
            </a:xfrm>
            <a:prstGeom prst="rect">
              <a:avLst/>
            </a:prstGeom>
            <a:solidFill>
              <a:srgbClr val="F5B700"/>
            </a:solidFill>
            <a:ln>
              <a:noFill/>
            </a:ln>
          </p:spPr>
        </p:sp>
        <p:sp>
          <p:nvSpPr>
            <p:cNvPr id="68" name="TextBox 68"/>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1" name="source"/>
          <p:cNvGrpSpPr/>
          <p:nvPr/>
        </p:nvGrpSpPr>
        <p:grpSpPr>
          <a:xfrm>
            <a:off x="528447" y="6381750"/>
            <a:ext cx="10106309" cy="191643"/>
            <a:chOff x="528447" y="6381750"/>
            <a:chExt cx="10106309" cy="191643"/>
          </a:xfrm>
        </p:grpSpPr>
        <p:sp>
          <p:nvSpPr>
            <p:cNvPr id="70" name="TextBox 7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2"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4260651"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 </a:t>
              </a:r>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0" name="TextBox 30"/>
            <p:cNvSpPr txBox="1"/>
            <p:nvPr/>
          </p:nvSpPr>
          <p:spPr>
            <a:xfrm>
              <a:off x="527685" y="5060950"/>
              <a:ext cx="3423568"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 </a:t>
              </a:r>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1" name="TextBox 31"/>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6" name="spec"/>
          <p:cNvGrpSpPr/>
          <p:nvPr/>
        </p:nvGrpSpPr>
        <p:grpSpPr>
          <a:xfrm>
            <a:off x="6622923" y="1466850"/>
            <a:ext cx="5035677" cy="3774059"/>
            <a:chOff x="6622923" y="1466850"/>
            <a:chExt cx="5035677" cy="3774059"/>
          </a:xfrm>
        </p:grpSpPr>
        <p:grpSp>
          <p:nvGrpSpPr>
            <p:cNvPr id="35" name="Group 35"/>
            <p:cNvGrpSpPr/>
            <p:nvPr/>
          </p:nvGrpSpPr>
          <p:grpSpPr>
            <a:xfrm>
              <a:off x="6624447" y="1466850"/>
              <a:ext cx="2877266" cy="191643"/>
              <a:chOff x="6624447" y="1466850"/>
              <a:chExt cx="2877266" cy="191643"/>
            </a:xfrm>
          </p:grpSpPr>
          <p:sp>
            <p:nvSpPr>
              <p:cNvPr id="33" name="TextBox 33"/>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4" name="TextBox 34"/>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6" name="Line 36"/>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7" name="TextBox 37"/>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38" name="TextBox 38"/>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600kg</a:t>
              </a:r>
            </a:p>
          </p:txBody>
        </p:sp>
        <p:sp>
          <p:nvSpPr>
            <p:cNvPr id="39" name="TextBox 39"/>
            <p:cNvSpPr txBox="1"/>
            <p:nvPr/>
          </p:nvSpPr>
          <p:spPr>
            <a:xfrm>
              <a:off x="8243316" y="2139950"/>
              <a:ext cx="238536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약 300kg + 2인 약 150kg [가설]</a:t>
              </a:r>
            </a:p>
          </p:txBody>
        </p:sp>
        <p:sp>
          <p:nvSpPr>
            <p:cNvPr id="40" name="Line 40"/>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1" name="TextBox 41"/>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2" name="TextBox 42"/>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3" name="TextBox 43"/>
            <p:cNvSpPr txBox="1"/>
            <p:nvPr/>
          </p:nvSpPr>
          <p:spPr>
            <a:xfrm>
              <a:off x="8243316" y="2863850"/>
              <a:ext cx="174101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시동 없이 GPR·컴퓨터 운용</a:t>
              </a:r>
            </a:p>
          </p:txBody>
        </p:sp>
        <p:sp>
          <p:nvSpPr>
            <p:cNvPr id="44" name="Line 44"/>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5" name="TextBox 45"/>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6" name="TextBox 46"/>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7" name="TextBox 47"/>
            <p:cNvSpPr txBox="1"/>
            <p:nvPr/>
          </p:nvSpPr>
          <p:spPr>
            <a:xfrm>
              <a:off x="8243316" y="3587750"/>
              <a:ext cx="169274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회차마다 같은 자리에 장착</a:t>
              </a:r>
            </a:p>
          </p:txBody>
        </p:sp>
        <p:sp>
          <p:nvSpPr>
            <p:cNvPr id="48" name="Line 48"/>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9" name="TextBox 49"/>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0" name="TextBox 50"/>
            <p:cNvSpPr txBox="1"/>
            <p:nvPr/>
          </p:nvSpPr>
          <p:spPr>
            <a:xfrm>
              <a:off x="8242554" y="4057650"/>
              <a:ext cx="27552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PIM 제어기 · Pleos Connect 내비 API</a:t>
              </a:r>
            </a:p>
          </p:txBody>
        </p:sp>
        <p:sp>
          <p:nvSpPr>
            <p:cNvPr id="51" name="TextBox 51"/>
            <p:cNvSpPr txBox="1"/>
            <p:nvPr/>
          </p:nvSpPr>
          <p:spPr>
            <a:xfrm>
              <a:off x="8243316" y="4311650"/>
              <a:ext cx="242070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재확인 지점 안내, 화면에서 장비 제어</a:t>
              </a:r>
            </a:p>
          </p:txBody>
        </p:sp>
        <p:sp>
          <p:nvSpPr>
            <p:cNvPr id="52" name="Line 52"/>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3" name="TextBox 53"/>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복제</a:t>
              </a:r>
            </a:p>
          </p:txBody>
        </p:sp>
        <p:sp>
          <p:nvSpPr>
            <p:cNvPr id="54" name="TextBox 54"/>
            <p:cNvSpPr txBox="1"/>
            <p:nvPr/>
          </p:nvSpPr>
          <p:spPr>
            <a:xfrm>
              <a:off x="8242554" y="4781550"/>
              <a:ext cx="292745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(차량 3D 데이터·인증자료)</a:t>
              </a:r>
            </a:p>
          </p:txBody>
        </p:sp>
        <p:sp>
          <p:nvSpPr>
            <p:cNvPr id="55" name="TextBox 55"/>
            <p:cNvSpPr txBox="1"/>
            <p:nvPr/>
          </p:nvSpPr>
          <p:spPr>
            <a:xfrm>
              <a:off x="8243316" y="5035550"/>
              <a:ext cx="211679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같은 사양의 탐사실을 지자체별로</a:t>
              </a:r>
            </a:p>
          </p:txBody>
        </p:sp>
      </p:grpSp>
      <p:grpSp>
        <p:nvGrpSpPr>
          <p:cNvPr id="59" name="conclusion"/>
          <p:cNvGrpSpPr/>
          <p:nvPr/>
        </p:nvGrpSpPr>
        <p:grpSpPr>
          <a:xfrm>
            <a:off x="533400" y="5695950"/>
            <a:ext cx="6764768" cy="419100"/>
            <a:chOff x="533400" y="5695950"/>
            <a:chExt cx="6764768" cy="419100"/>
          </a:xfrm>
        </p:grpSpPr>
        <p:sp>
          <p:nvSpPr>
            <p:cNvPr id="57" name="Rectangle 57"/>
            <p:cNvSpPr/>
            <p:nvPr/>
          </p:nvSpPr>
          <p:spPr>
            <a:xfrm>
              <a:off x="533400" y="5695950"/>
              <a:ext cx="38100" cy="419100"/>
            </a:xfrm>
            <a:prstGeom prst="rect">
              <a:avLst/>
            </a:prstGeom>
            <a:solidFill>
              <a:srgbClr val="F5B700"/>
            </a:solidFill>
            <a:ln>
              <a:noFill/>
            </a:ln>
          </p:spPr>
        </p:sp>
        <p:sp>
          <p:nvSpPr>
            <p:cNvPr id="58" name="TextBox 58"/>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1" name="source"/>
          <p:cNvGrpSpPr/>
          <p:nvPr/>
        </p:nvGrpSpPr>
        <p:grpSpPr>
          <a:xfrm>
            <a:off x="528447" y="6381750"/>
            <a:ext cx="8860630" cy="191643"/>
            <a:chOff x="528447" y="6381750"/>
            <a:chExt cx="8860630" cy="191643"/>
          </a:xfrm>
        </p:grpSpPr>
        <p:sp>
          <p:nvSpPr>
            <p:cNvPr id="60" name="TextBox 60"/>
            <p:cNvSpPr txBox="1"/>
            <p:nvPr/>
          </p:nvSpPr>
          <p:spPr>
            <a:xfrm>
              <a:off x="528447" y="6381750"/>
              <a:ext cx="88606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제원·액세서리 · 공모전 솔루션 부문 안내(Pleos Connect) · 오토뷰(2026.1.28) · V2L 3.6kW 해외 제원 · 내부 배치는 콘셉트</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8069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(서울시 약 5억 원)입니다.</a:t>
              </a:r>
              <a:br>
                <a:rPr lang="ko-KR" sz="1200" dirty="0">
                  <a:solidFill>
                    <a:srgbClr val="111827"/>
                  </a:solidFill>
                  <a:latin typeface="+mn-lt"/>
                  <a:ea typeface="+mn-ea"/>
                  <a:cs typeface="+mn-cs"/>
                </a:rPr>
              </a:br>
              <a:r>
                <a:rPr lang="ko-KR" sz="1200" dirty="0">
                  <a:solidFill>
                    <a:srgbClr val="111827"/>
                  </a:solidFill>
                  <a:latin typeface="+mn-lt"/>
                  <a:ea typeface="+mn-ea"/>
                  <a:cs typeface="+mn-cs"/>
                </a:rPr>
                <a:t>차이를 가르는 건 전원·고정 구조와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447" y="6248400"/>
            <a:ext cx="10420985" cy="344043"/>
            <a:chOff x="528447" y="6248400"/>
            <a:chExt cx="10420985" cy="344043"/>
          </a:xfrm>
        </p:grpSpPr>
        <p:sp>
          <p:nvSpPr>
            <p:cNvPr id="64" name="TextBox 64"/>
            <p:cNvSpPr txBox="1"/>
            <p:nvPr/>
          </p:nvSpPr>
          <p:spPr>
            <a:xfrm>
              <a:off x="528447" y="6248400"/>
              <a:ext cx="10420985"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오탐(6장)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통과(6장)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69159"/>
            <a:chOff x="526542" y="2571750"/>
            <a:chExt cx="5349240" cy="2669159"/>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8066" y="5035550"/>
              <a:ext cx="4484427"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6,600km = 하루 30km × 220일 (실제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797061"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05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2759"/>
            <a:chOff x="521970" y="1409700"/>
            <a:chExt cx="11136630" cy="992759"/>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8066" y="2197100"/>
              <a:ext cx="20673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966" y="2197100"/>
              <a:ext cx="25055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대신 용역으로 1,080km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866" y="2197100"/>
              <a:ext cx="268220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25289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0419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Pleos Playground·SDK</a:t>
              </a:r>
            </a:p>
          </p:txBody>
        </p:sp>
        <p:sp>
          <p:nvSpPr>
            <p:cNvPr id="40" name="TextBox 40"/>
            <p:cNvSpPr txBox="1"/>
            <p:nvPr/>
          </p:nvSpPr>
          <p:spPr>
            <a:xfrm>
              <a:off x="3613023" y="3619500"/>
              <a:ext cx="1908404"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내비·차량 연동 시제품</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23749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컨버전 포털·PIM 기술 지원</a:t>
              </a:r>
            </a:p>
          </p:txBody>
        </p:sp>
        <p:sp>
          <p:nvSpPr>
            <p:cNvPr id="44" name="TextBox 44"/>
            <p:cNvSpPr txBox="1"/>
            <p:nvPr/>
          </p:nvSpPr>
          <p:spPr>
            <a:xfrm>
              <a:off x="3613023" y="41529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223283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 멘토링</a:t>
              </a:r>
            </a:p>
          </p:txBody>
        </p:sp>
        <p:sp>
          <p:nvSpPr>
            <p:cNvPr id="48" name="TextBox 48"/>
            <p:cNvSpPr txBox="1"/>
            <p:nvPr/>
          </p:nvSpPr>
          <p:spPr>
            <a:xfrm>
              <a:off x="3613023" y="46863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9596189" cy="191643"/>
            <a:chOff x="528447" y="6381750"/>
            <a:chExt cx="9596189" cy="191643"/>
          </a:xfrm>
        </p:grpSpPr>
        <p:sp>
          <p:nvSpPr>
            <p:cNvPr id="61" name="TextBox 61"/>
            <p:cNvSpPr txBox="1"/>
            <p:nvPr/>
          </p:nvSpPr>
          <p:spPr>
            <a:xfrm>
              <a:off x="528447" y="6381750"/>
              <a:ext cx="95961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564145" cy="3263265"/>
            <a:chOff x="600075" y="838200"/>
            <a:chExt cx="4564145"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564145"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공공 탐사용 PV5 플릿 (최대 약 97대)</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337300"/>
            <a:ext cx="11135487" cy="408559"/>
            <a:chOff x="604266" y="6337300"/>
            <a:chExt cx="11135487" cy="408559"/>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604838" y="6337300"/>
              <a:ext cx="2235337" cy="161925"/>
            </a:xfrm>
            <a:prstGeom prst="rect">
              <a:avLst/>
            </a:prstGeom>
            <a:noFill/>
            <a:ln>
              <a:noFill/>
            </a:ln>
          </p:spPr>
          <p:txBody>
            <a:bodyPr wrap="none" lIns="0" tIns="0" rIns="0" bIns="0" anchor="t" anchorCtr="0">
              <a:spAutoFit/>
            </a:bodyPr>
            <a:lstStyle/>
            <a:p>
              <a:pPr algn="l"/>
              <a:r>
                <a:rPr lang="ko-KR" sz="820" dirty="0">
                  <a:solidFill>
                    <a:srgbClr val="9FB0C8"/>
                  </a:solidFill>
                  <a:latin typeface="+mn-lt"/>
                  <a:ea typeface="+mn-ea"/>
                  <a:cs typeface="+mn-cs"/>
                </a:rPr>
                <a:t>사진: Alexander Migl, CC BY-SA 4.0(편집)</a:t>
              </a:r>
            </a:p>
          </p:txBody>
        </p:sp>
        <p:sp>
          <p:nvSpPr>
            <p:cNvPr id="20" name="TextBox 20"/>
            <p:cNvSpPr txBox="1"/>
            <p:nvPr/>
          </p:nvSpPr>
          <p:spPr>
            <a:xfrm>
              <a:off x="11265792" y="65532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2026-10-22T17:08:26Z</dcterms:created>
  <dcterms:modified xsi:type="dcterms:W3CDTF">2026-10-22T17:08:26Z</dcterms:modified>
  <cp:category/>
  <cp:contentStatus/>
</cp:coreProperties>
</file>