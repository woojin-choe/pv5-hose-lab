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고르고(7장에서 시뮬레이션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약 3.1억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 대수는 많지 않지만 PV5와 업무 앱을 묶은 공공 레퍼런스의 첫 사례가 됩니다. 수상 후 첫 6개월에 기아에 요청하는 것은 공모전이 이미 안내한 혜택(PV5 대여 검토, PoC·사업화 연계, 멘토링)과 공개 개발자 환경입니다. PV5 실물 1대 대여로 1단계 폐쇄 시험장 실증을, Pleos Playground와 SDK로 Navihelper·Vehicle API 연동 시제품을, 컨버전 포털과 PIM 기술 지원으로 GPR 장착 위치·전원 간섭 검토를, PoC·사업화 연계로 지자체 파일럿을 연결받고자 합니다. 일정은 목표입니다.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6f1f6ff08af56b.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90eb28e89366fa0.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97550"/>
            <a:ext cx="2739992" cy="570357"/>
            <a:chOff x="601218" y="5797550"/>
            <a:chExt cx="2739992" cy="570357"/>
          </a:xfrm>
        </p:grpSpPr>
        <p:sp>
          <p:nvSpPr>
            <p:cNvPr id="15" name="TextBox 15"/>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732408" cy="2021459"/>
            <a:chOff x="9039987" y="1600200"/>
            <a:chExt cx="2732408"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73240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6번, 1회의 1/3</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2318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5234164" cy="419100"/>
            <a:chOff x="533400" y="5619750"/>
            <a:chExt cx="5234164"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6장 GPR 전자기 시뮬레이션 · 11장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11" name="TextBox 1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3042363" cy="264033"/>
            <a:chOff x="526542" y="1301750"/>
            <a:chExt cx="3042363" cy="264033"/>
          </a:xfrm>
        </p:grpSpPr>
        <p:sp>
          <p:nvSpPr>
            <p:cNvPr id="15" name="TextBox 1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110406" y="325755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82293"/>
            <a:chOff x="527304" y="3924300"/>
            <a:chExt cx="5340096" cy="1582293"/>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14950"/>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9266" y="4311650"/>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4141" y="43116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2.9</a:t>
              </a:r>
            </a:p>
          </p:txBody>
        </p:sp>
        <p:sp>
          <p:nvSpPr>
            <p:cNvPr id="50" name="TextBox 50"/>
            <p:cNvSpPr txBox="1"/>
            <p:nvPr/>
          </p:nvSpPr>
          <p:spPr>
            <a:xfrm>
              <a:off x="6319266" y="4511675"/>
              <a:ext cx="10001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891" y="45116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2.4</a:t>
              </a:r>
            </a:p>
          </p:txBody>
        </p:sp>
        <p:sp>
          <p:nvSpPr>
            <p:cNvPr id="53" name="TextBox 53"/>
            <p:cNvSpPr txBox="1"/>
            <p:nvPr/>
          </p:nvSpPr>
          <p:spPr>
            <a:xfrm>
              <a:off x="6319266" y="4711700"/>
              <a:ext cx="92238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641" y="471170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1.4</a:t>
              </a:r>
            </a:p>
          </p:txBody>
        </p:sp>
        <p:sp>
          <p:nvSpPr>
            <p:cNvPr id="56" name="TextBox 56"/>
            <p:cNvSpPr txBox="1"/>
            <p:nvPr/>
          </p:nvSpPr>
          <p:spPr>
            <a:xfrm>
              <a:off x="6319266" y="4911725"/>
              <a:ext cx="1205084"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10066" y="491172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1.0</a:t>
              </a:r>
            </a:p>
          </p:txBody>
        </p:sp>
        <p:sp>
          <p:nvSpPr>
            <p:cNvPr id="59" name="TextBox 59"/>
            <p:cNvSpPr txBox="1"/>
            <p:nvPr/>
          </p:nvSpPr>
          <p:spPr>
            <a:xfrm>
              <a:off x="6319266" y="511175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10066" y="5111750"/>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0.8</a:t>
              </a:r>
            </a:p>
          </p:txBody>
        </p:sp>
        <p:sp>
          <p:nvSpPr>
            <p:cNvPr id="62" name="TextBox 62"/>
            <p:cNvSpPr txBox="1"/>
            <p:nvPr/>
          </p:nvSpPr>
          <p:spPr>
            <a:xfrm>
              <a:off x="6319266" y="5311775"/>
              <a:ext cx="43472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10066" y="5311775"/>
              <a:ext cx="255559" cy="205359"/>
            </a:xfrm>
            <a:prstGeom prst="rect">
              <a:avLst/>
            </a:prstGeom>
            <a:noFill/>
            <a:ln>
              <a:noFill/>
            </a:ln>
          </p:spPr>
          <p:txBody>
            <a:bodyPr wrap="none" lIns="0" tIns="0" rIns="0" bIns="0" anchor="t" anchorCtr="0">
              <a:spAutoFit/>
            </a:bodyPr>
            <a:lstStyle/>
            <a:p>
              <a:pPr algn="l"/>
              <a:r>
                <a:rPr lang="ko-KR" sz="105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2"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295525" y="2428875"/>
              <a:ext cx="3305175" cy="1969738"/>
              <a:chOff x="2295525" y="2428875"/>
              <a:chExt cx="3305175" cy="1969738"/>
            </a:xfrm>
          </p:grpSpPr>
          <p:sp>
            <p:nvSpPr>
              <p:cNvPr id="20" name="Ellipse 20"/>
              <p:cNvSpPr/>
              <p:nvPr/>
            </p:nvSpPr>
            <p:spPr>
              <a:xfrm>
                <a:off x="2295525" y="2743200"/>
                <a:ext cx="323850" cy="323850"/>
              </a:xfrm>
              <a:prstGeom prst="ellipse">
                <a:avLst/>
              </a:prstGeom>
              <a:solidFill>
                <a:srgbClr val="F5B700"/>
              </a:solidFill>
              <a:ln w="19050">
                <a:solidFill>
                  <a:srgbClr val="0B1E3C"/>
                </a:solidFill>
              </a:ln>
            </p:spPr>
          </p:sp>
          <p:sp>
            <p:nvSpPr>
              <p:cNvPr id="21" name="TextBox 21"/>
              <p:cNvSpPr txBox="1"/>
              <p:nvPr/>
            </p:nvSpPr>
            <p:spPr>
              <a:xfrm>
                <a:off x="2402068" y="280987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4260651"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 </a:t>
              </a:r>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0" name="TextBox 30"/>
            <p:cNvSpPr txBox="1"/>
            <p:nvPr/>
          </p:nvSpPr>
          <p:spPr>
            <a:xfrm>
              <a:off x="527685" y="5060950"/>
              <a:ext cx="3423568"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 </a:t>
              </a:r>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1" name="TextBox 31"/>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6" name="spec"/>
          <p:cNvGrpSpPr/>
          <p:nvPr/>
        </p:nvGrpSpPr>
        <p:grpSpPr>
          <a:xfrm>
            <a:off x="6622923" y="1466850"/>
            <a:ext cx="5035677" cy="3774059"/>
            <a:chOff x="6622923" y="1466850"/>
            <a:chExt cx="5035677" cy="3774059"/>
          </a:xfrm>
        </p:grpSpPr>
        <p:grpSp>
          <p:nvGrpSpPr>
            <p:cNvPr id="35" name="Group 35"/>
            <p:cNvGrpSpPr/>
            <p:nvPr/>
          </p:nvGrpSpPr>
          <p:grpSpPr>
            <a:xfrm>
              <a:off x="6624447" y="1466850"/>
              <a:ext cx="2877266" cy="191643"/>
              <a:chOff x="6624447" y="1466850"/>
              <a:chExt cx="2877266" cy="191643"/>
            </a:xfrm>
          </p:grpSpPr>
          <p:sp>
            <p:nvSpPr>
              <p:cNvPr id="33" name="TextBox 33"/>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4" name="TextBox 34"/>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6" name="Line 36"/>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7" name="TextBox 37"/>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38" name="TextBox 38"/>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600kg</a:t>
              </a:r>
            </a:p>
          </p:txBody>
        </p:sp>
        <p:sp>
          <p:nvSpPr>
            <p:cNvPr id="39" name="TextBox 39"/>
            <p:cNvSpPr txBox="1"/>
            <p:nvPr/>
          </p:nvSpPr>
          <p:spPr>
            <a:xfrm>
              <a:off x="8243316" y="2139950"/>
              <a:ext cx="238536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약 300kg + 2인 약 150kg [가설]</a:t>
              </a:r>
            </a:p>
          </p:txBody>
        </p:sp>
        <p:sp>
          <p:nvSpPr>
            <p:cNvPr id="40" name="Line 40"/>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1" name="TextBox 41"/>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2" name="TextBox 42"/>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3" name="TextBox 43"/>
            <p:cNvSpPr txBox="1"/>
            <p:nvPr/>
          </p:nvSpPr>
          <p:spPr>
            <a:xfrm>
              <a:off x="8243316" y="2863850"/>
              <a:ext cx="174101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시동 없이 GPR·컴퓨터 운용</a:t>
              </a:r>
            </a:p>
          </p:txBody>
        </p:sp>
        <p:sp>
          <p:nvSpPr>
            <p:cNvPr id="44" name="Line 44"/>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5" name="TextBox 45"/>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6" name="TextBox 46"/>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7" name="TextBox 47"/>
            <p:cNvSpPr txBox="1"/>
            <p:nvPr/>
          </p:nvSpPr>
          <p:spPr>
            <a:xfrm>
              <a:off x="8243316" y="3587750"/>
              <a:ext cx="169274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회차마다 같은 자리에 장착</a:t>
              </a:r>
            </a:p>
          </p:txBody>
        </p:sp>
        <p:sp>
          <p:nvSpPr>
            <p:cNvPr id="48" name="Line 48"/>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9" name="TextBox 49"/>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0" name="TextBox 50"/>
            <p:cNvSpPr txBox="1"/>
            <p:nvPr/>
          </p:nvSpPr>
          <p:spPr>
            <a:xfrm>
              <a:off x="8242554" y="4057650"/>
              <a:ext cx="27552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PIM 제어기 · Pleos Connect 내비 API</a:t>
              </a:r>
            </a:p>
          </p:txBody>
        </p:sp>
        <p:sp>
          <p:nvSpPr>
            <p:cNvPr id="51" name="TextBox 51"/>
            <p:cNvSpPr txBox="1"/>
            <p:nvPr/>
          </p:nvSpPr>
          <p:spPr>
            <a:xfrm>
              <a:off x="8243316" y="4311650"/>
              <a:ext cx="242070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재확인 지점 안내, 화면에서 장비 제어</a:t>
              </a:r>
            </a:p>
          </p:txBody>
        </p:sp>
        <p:sp>
          <p:nvSpPr>
            <p:cNvPr id="52" name="Line 52"/>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3" name="TextBox 53"/>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복제</a:t>
              </a:r>
            </a:p>
          </p:txBody>
        </p:sp>
        <p:sp>
          <p:nvSpPr>
            <p:cNvPr id="54" name="TextBox 54"/>
            <p:cNvSpPr txBox="1"/>
            <p:nvPr/>
          </p:nvSpPr>
          <p:spPr>
            <a:xfrm>
              <a:off x="8242554" y="4781550"/>
              <a:ext cx="292745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(차량 3D 데이터·인증자료)</a:t>
              </a:r>
            </a:p>
          </p:txBody>
        </p:sp>
        <p:sp>
          <p:nvSpPr>
            <p:cNvPr id="55" name="TextBox 55"/>
            <p:cNvSpPr txBox="1"/>
            <p:nvPr/>
          </p:nvSpPr>
          <p:spPr>
            <a:xfrm>
              <a:off x="8243316" y="5035550"/>
              <a:ext cx="211679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같은 사양의 탐사실을 지자체별로</a:t>
              </a:r>
            </a:p>
          </p:txBody>
        </p:sp>
      </p:grpSp>
      <p:grpSp>
        <p:nvGrpSpPr>
          <p:cNvPr id="59" name="conclusion"/>
          <p:cNvGrpSpPr/>
          <p:nvPr/>
        </p:nvGrpSpPr>
        <p:grpSpPr>
          <a:xfrm>
            <a:off x="533400" y="5695950"/>
            <a:ext cx="6764768" cy="419100"/>
            <a:chOff x="533400" y="5695950"/>
            <a:chExt cx="6764768" cy="419100"/>
          </a:xfrm>
        </p:grpSpPr>
        <p:sp>
          <p:nvSpPr>
            <p:cNvPr id="57" name="Rectangle 57"/>
            <p:cNvSpPr/>
            <p:nvPr/>
          </p:nvSpPr>
          <p:spPr>
            <a:xfrm>
              <a:off x="533400" y="5695950"/>
              <a:ext cx="38100" cy="419100"/>
            </a:xfrm>
            <a:prstGeom prst="rect">
              <a:avLst/>
            </a:prstGeom>
            <a:solidFill>
              <a:srgbClr val="F5B700"/>
            </a:solidFill>
            <a:ln>
              <a:noFill/>
            </a:ln>
          </p:spPr>
        </p:sp>
        <p:sp>
          <p:nvSpPr>
            <p:cNvPr id="58" name="TextBox 5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1" name="source"/>
          <p:cNvGrpSpPr/>
          <p:nvPr/>
        </p:nvGrpSpPr>
        <p:grpSpPr>
          <a:xfrm>
            <a:off x="528447" y="6381750"/>
            <a:ext cx="8860630" cy="191643"/>
            <a:chOff x="528447" y="6381750"/>
            <a:chExt cx="8860630" cy="191643"/>
          </a:xfrm>
        </p:grpSpPr>
        <p:sp>
          <p:nvSpPr>
            <p:cNvPr id="60" name="TextBox 60"/>
            <p:cNvSpPr txBox="1"/>
            <p:nvPr/>
          </p:nvSpPr>
          <p:spPr>
            <a:xfrm>
              <a:off x="528447" y="6381750"/>
              <a:ext cx="88606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제원·액세서리 · 공모전 솔루션 부문 안내(Pleos Connect) · 오토뷰(2026.1.28) · V2L 3.6kW 해외 제원 · 내부 배치는 콘셉트</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8069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(서울시 약 5억)입니다.</a:t>
              </a:r>
              <a:br>
                <a:rPr lang="ko-KR" sz="1200" dirty="0">
                  <a:solidFill>
                    <a:srgbClr val="111827"/>
                  </a:solidFill>
                  <a:latin typeface="+mn-lt"/>
                  <a:ea typeface="+mn-ea"/>
                  <a:cs typeface="+mn-cs"/>
                </a:rPr>
              </a:br>
              <a:r>
                <a:rPr lang="ko-KR" sz="1200" dirty="0">
                  <a:solidFill>
                    <a:srgbClr val="111827"/>
                  </a:solidFill>
                  <a:latin typeface="+mn-lt"/>
                  <a:ea typeface="+mn-ea"/>
                  <a:cs typeface="+mn-cs"/>
                </a:rPr>
                <a:t>차이를 가르는 건 전원·고정 구조와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447" y="6248400"/>
            <a:ext cx="10420985" cy="344043"/>
            <a:chOff x="528447" y="6248400"/>
            <a:chExt cx="10420985" cy="344043"/>
          </a:xfrm>
        </p:grpSpPr>
        <p:sp>
          <p:nvSpPr>
            <p:cNvPr id="64" name="TextBox 64"/>
            <p:cNvSpPr txBox="1"/>
            <p:nvPr/>
          </p:nvSpPr>
          <p:spPr>
            <a:xfrm>
              <a:off x="528447" y="6248400"/>
              <a:ext cx="10420985"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2026 ST1 출시(2025.7.16)·현대차그룹 뉴스룸(317km)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오탐(6장)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통과(6장)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10365" cy="586740"/>
            <a:chOff x="518160" y="774700"/>
            <a:chExt cx="8710365" cy="586740"/>
          </a:xfrm>
        </p:grpSpPr>
        <p:sp>
          <p:nvSpPr>
            <p:cNvPr id="17" name="TextBox 17"/>
            <p:cNvSpPr txBox="1"/>
            <p:nvPr/>
          </p:nvSpPr>
          <p:spPr>
            <a:xfrm>
              <a:off x="518160" y="774700"/>
              <a:ext cx="871036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5만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69159"/>
            <a:chOff x="526542" y="2571750"/>
            <a:chExt cx="5349240" cy="2669159"/>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326593" y="32956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326593" y="36385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326593" y="39814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326593" y="43243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640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약 3.1억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8066" y="5035550"/>
              <a:ext cx="431480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6,600km = 하루 30km × 220일 (실제 장비 탐사 속도는 20~30km/h)</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4053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23296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a:t>
              </a:r>
              <a:r>
                <a:rPr lang="ko-KR" sz="1050" dirty="0">
                  <a:solidFill>
                    <a:srgbClr val="4B5563"/>
                  </a:solidFill>
                  <a:latin typeface="+mn-lt"/>
                  <a:ea typeface="+mn-ea"/>
                  <a:cs typeface="+mn-cs"/>
                </a:rPr>
                <a:t>(4.7만 × 6)</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888457" cy="191643"/>
            <a:chOff x="528447" y="6381750"/>
            <a:chExt cx="10888457" cy="191643"/>
          </a:xfrm>
        </p:grpSpPr>
        <p:sp>
          <p:nvSpPr>
            <p:cNvPr id="60" name="TextBox 60"/>
            <p:cNvSpPr txBox="1"/>
            <p:nvPr/>
          </p:nvSpPr>
          <p:spPr>
            <a:xfrm>
              <a:off x="528447" y="6381750"/>
              <a:ext cx="108884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1,780,900,000원·수행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2759"/>
            <a:chOff x="521970" y="1409700"/>
            <a:chExt cx="11136630" cy="992759"/>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29835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8066" y="2197100"/>
              <a:ext cx="206732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966" y="2197100"/>
              <a:ext cx="25055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대신 용역으로 1,080km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866" y="2197100"/>
              <a:ext cx="268220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25289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0419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Pleos Playground·SDK</a:t>
              </a:r>
            </a:p>
          </p:txBody>
        </p:sp>
        <p:sp>
          <p:nvSpPr>
            <p:cNvPr id="40" name="TextBox 40"/>
            <p:cNvSpPr txBox="1"/>
            <p:nvPr/>
          </p:nvSpPr>
          <p:spPr>
            <a:xfrm>
              <a:off x="3613023" y="3619500"/>
              <a:ext cx="1908404"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내비·차량 연동 시제품</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23749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컨버전 포털·PIM 기술 지원</a:t>
              </a:r>
            </a:p>
          </p:txBody>
        </p:sp>
        <p:sp>
          <p:nvSpPr>
            <p:cNvPr id="44" name="TextBox 44"/>
            <p:cNvSpPr txBox="1"/>
            <p:nvPr/>
          </p:nvSpPr>
          <p:spPr>
            <a:xfrm>
              <a:off x="3613023" y="41529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223283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 멘토링</a:t>
              </a:r>
            </a:p>
          </p:txBody>
        </p:sp>
        <p:sp>
          <p:nvSpPr>
            <p:cNvPr id="48" name="TextBox 48"/>
            <p:cNvSpPr txBox="1"/>
            <p:nvPr/>
          </p:nvSpPr>
          <p:spPr>
            <a:xfrm>
              <a:off x="3613023" y="46863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9596189" cy="191643"/>
            <a:chOff x="528447" y="6381750"/>
            <a:chExt cx="9596189" cy="191643"/>
          </a:xfrm>
        </p:grpSpPr>
        <p:sp>
          <p:nvSpPr>
            <p:cNvPr id="61" name="TextBox 61"/>
            <p:cNvSpPr txBox="1"/>
            <p:nvPr/>
          </p:nvSpPr>
          <p:spPr>
            <a:xfrm>
              <a:off x="528447" y="6381750"/>
              <a:ext cx="95961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4" name="recap"/>
          <p:cNvGrpSpPr/>
          <p:nvPr/>
        </p:nvGrpSpPr>
        <p:grpSpPr>
          <a:xfrm>
            <a:off x="600075" y="838200"/>
            <a:ext cx="4564145" cy="3263265"/>
            <a:chOff x="600075" y="838200"/>
            <a:chExt cx="4564145" cy="3263265"/>
          </a:xfrm>
        </p:grpSpPr>
        <p:sp>
          <p:nvSpPr>
            <p:cNvPr id="5" name="TextBox 5"/>
            <p:cNvSpPr txBox="1"/>
            <p:nvPr/>
          </p:nvSpPr>
          <p:spPr>
            <a:xfrm>
              <a:off x="603504" y="8382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980" y="1250950"/>
              <a:ext cx="2216277"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회차마다 따로 보는 탐사</a:t>
              </a:r>
            </a:p>
          </p:txBody>
        </p:sp>
        <p:sp>
          <p:nvSpPr>
            <p:cNvPr id="7" name="TextBox 7"/>
            <p:cNvSpPr txBox="1"/>
            <p:nvPr/>
          </p:nvSpPr>
          <p:spPr>
            <a:xfrm>
              <a:off x="600075" y="1504950"/>
              <a:ext cx="3640072"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길의 ‘변화’를 보는 탐사</a:t>
              </a:r>
            </a:p>
          </p:txBody>
        </p:sp>
        <p:sp>
          <p:nvSpPr>
            <p:cNvPr id="8" name="TextBox 8"/>
            <p:cNvSpPr txBox="1"/>
            <p:nvPr/>
          </p:nvSpPr>
          <p:spPr>
            <a:xfrm>
              <a:off x="601980" y="1993900"/>
              <a:ext cx="2680716"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다시 찾아가야 하는 의심 지점</a:t>
              </a:r>
            </a:p>
          </p:txBody>
        </p:sp>
        <p:sp>
          <p:nvSpPr>
            <p:cNvPr id="9" name="TextBox 9"/>
            <p:cNvSpPr txBox="1"/>
            <p:nvPr/>
          </p:nvSpPr>
          <p:spPr>
            <a:xfrm>
              <a:off x="600075" y="2247900"/>
              <a:ext cx="3014951"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같은 차에서 바로 재탐사</a:t>
              </a:r>
            </a:p>
          </p:txBody>
        </p:sp>
        <p:sp>
          <p:nvSpPr>
            <p:cNvPr id="10" name="TextBox 10"/>
            <p:cNvSpPr txBox="1"/>
            <p:nvPr/>
          </p:nvSpPr>
          <p:spPr>
            <a:xfrm>
              <a:off x="601980" y="2736850"/>
              <a:ext cx="1347978"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장비를 실은 차</a:t>
              </a:r>
            </a:p>
          </p:txBody>
        </p:sp>
        <p:sp>
          <p:nvSpPr>
            <p:cNvPr id="11" name="TextBox 11"/>
            <p:cNvSpPr txBox="1"/>
            <p:nvPr/>
          </p:nvSpPr>
          <p:spPr>
            <a:xfrm>
              <a:off x="600075" y="2990850"/>
              <a:ext cx="3234180"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업무에 연동된 PV5 탐사실</a:t>
              </a:r>
            </a:p>
          </p:txBody>
        </p:sp>
        <p:sp>
          <p:nvSpPr>
            <p:cNvPr id="12" name="TextBox 12"/>
            <p:cNvSpPr txBox="1"/>
            <p:nvPr/>
          </p:nvSpPr>
          <p:spPr>
            <a:xfrm>
              <a:off x="601980" y="3467100"/>
              <a:ext cx="822960" cy="293370"/>
            </a:xfrm>
            <a:prstGeom prst="rect">
              <a:avLst/>
            </a:prstGeom>
            <a:noFill/>
            <a:ln>
              <a:noFill/>
            </a:ln>
          </p:spPr>
          <p:txBody>
            <a:bodyPr wrap="none" lIns="0" tIns="0" rIns="0" bIns="0" anchor="t" anchorCtr="0">
              <a:spAutoFit/>
            </a:bodyPr>
            <a:lstStyle/>
            <a:p>
              <a:pPr algn="l"/>
              <a:r>
                <a:rPr lang="ko-KR" sz="1500" dirty="0">
                  <a:solidFill>
                    <a:srgbClr val="9FB0C8"/>
                  </a:solidFill>
                  <a:latin typeface="+mn-lt"/>
                  <a:ea typeface="+mn-ea"/>
                  <a:cs typeface="+mn-cs"/>
                </a:rPr>
                <a:t>기아에게</a:t>
              </a:r>
            </a:p>
          </p:txBody>
        </p:sp>
        <p:sp>
          <p:nvSpPr>
            <p:cNvPr id="13" name="TextBox 13"/>
            <p:cNvSpPr txBox="1"/>
            <p:nvPr/>
          </p:nvSpPr>
          <p:spPr>
            <a:xfrm>
              <a:off x="600075" y="3733800"/>
              <a:ext cx="4564145" cy="367665"/>
            </a:xfrm>
            <a:prstGeom prst="rect">
              <a:avLst/>
            </a:prstGeom>
            <a:noFill/>
            <a:ln>
              <a:noFill/>
            </a:ln>
          </p:spPr>
          <p:txBody>
            <a:bodyPr wrap="none" lIns="0" tIns="0" rIns="0" bIns="0" anchor="t" anchorCtr="0">
              <a:spAutoFit/>
            </a:bodyPr>
            <a:lstStyle/>
            <a:p>
              <a:pPr algn="l"/>
              <a:r>
                <a:rPr lang="ko-KR" sz="1880" b="1" dirty="0">
                  <a:solidFill>
                    <a:srgbClr val="FFFFFF"/>
                  </a:solidFill>
                  <a:latin typeface="+mn-lt"/>
                  <a:ea typeface="+mn-ea"/>
                  <a:cs typeface="+mn-cs"/>
                </a:rPr>
                <a:t>→ 공공 탐사용 PV5 플릿 (최대 약 97대)</a:t>
              </a:r>
            </a:p>
          </p:txBody>
        </p:sp>
      </p:grpSp>
      <p:grpSp>
        <p:nvGrpSpPr>
          <p:cNvPr id="17" name="closing"/>
          <p:cNvGrpSpPr/>
          <p:nvPr/>
        </p:nvGrpSpPr>
        <p:grpSpPr>
          <a:xfrm>
            <a:off x="595122" y="4572000"/>
            <a:ext cx="5037439" cy="1255903"/>
            <a:chOff x="595122" y="4572000"/>
            <a:chExt cx="5037439" cy="1255903"/>
          </a:xfrm>
        </p:grpSpPr>
        <p:sp>
          <p:nvSpPr>
            <p:cNvPr id="15" name="Rectangle 15"/>
            <p:cNvSpPr/>
            <p:nvPr/>
          </p:nvSpPr>
          <p:spPr>
            <a:xfrm>
              <a:off x="609600" y="4572000"/>
              <a:ext cx="457200" cy="28575"/>
            </a:xfrm>
            <a:prstGeom prst="rect">
              <a:avLst/>
            </a:prstGeom>
            <a:solidFill>
              <a:srgbClr val="F5B700"/>
            </a:solidFill>
            <a:ln>
              <a:noFill/>
            </a:ln>
          </p:spPr>
        </p:sp>
        <p:sp>
          <p:nvSpPr>
            <p:cNvPr id="16" name="TextBox 16"/>
            <p:cNvSpPr txBox="1"/>
            <p:nvPr/>
          </p:nvSpPr>
          <p:spPr>
            <a:xfrm>
              <a:off x="595122" y="477520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21" name="footer"/>
          <p:cNvGrpSpPr/>
          <p:nvPr/>
        </p:nvGrpSpPr>
        <p:grpSpPr>
          <a:xfrm>
            <a:off x="604266" y="6337300"/>
            <a:ext cx="11135487" cy="408559"/>
            <a:chOff x="604266" y="6337300"/>
            <a:chExt cx="11135487" cy="408559"/>
          </a:xfrm>
        </p:grpSpPr>
        <p:sp>
          <p:nvSpPr>
            <p:cNvPr id="18" name="TextBox 18"/>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9" name="TextBox 19"/>
            <p:cNvSpPr txBox="1"/>
            <p:nvPr/>
          </p:nvSpPr>
          <p:spPr>
            <a:xfrm>
              <a:off x="604838" y="6337300"/>
              <a:ext cx="2235337" cy="161925"/>
            </a:xfrm>
            <a:prstGeom prst="rect">
              <a:avLst/>
            </a:prstGeom>
            <a:noFill/>
            <a:ln>
              <a:noFill/>
            </a:ln>
          </p:spPr>
          <p:txBody>
            <a:bodyPr wrap="none" lIns="0" tIns="0" rIns="0" bIns="0" anchor="t" anchorCtr="0">
              <a:spAutoFit/>
            </a:bodyPr>
            <a:lstStyle/>
            <a:p>
              <a:pPr algn="l"/>
              <a:r>
                <a:rPr lang="ko-KR" sz="820" dirty="0">
                  <a:solidFill>
                    <a:srgbClr val="9FB0C8"/>
                  </a:solidFill>
                  <a:latin typeface="+mn-lt"/>
                  <a:ea typeface="+mn-ea"/>
                  <a:cs typeface="+mn-cs"/>
                </a:rPr>
                <a:t>사진: Alexander Migl, CC BY-SA 4.0(편집)</a:t>
              </a:r>
            </a:p>
          </p:txBody>
        </p:sp>
        <p:sp>
          <p:nvSpPr>
            <p:cNvPr id="20" name="TextBox 20"/>
            <p:cNvSpPr txBox="1"/>
            <p:nvPr/>
          </p:nvSpPr>
          <p:spPr>
            <a:xfrm>
              <a:off x="11265792" y="65532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2026-10-22T17:02:40Z</dcterms:created>
  <dcterms:modified xsi:type="dcterms:W3CDTF">2026-10-22T17:02:40Z</dcterms:modified>
  <cp:category/>
  <cp:contentStatus/>
</cp:coreProperties>
</file>