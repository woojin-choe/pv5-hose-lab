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1"/>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  <Relationship Id="rId21"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관 중심 1.6m, 지름 0.8m 하수관 위로 공동이 솟는 모습을 비례에 맞춰 그린 원리 설명용 도식입니다.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고르고(7장에서 시뮬레이션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컷은 이해를 돕는 단면 도식이며, 실제 판정은 회차별 GPR 단면(B-scan)을 위치를 맞춰 빼는 방식입니다.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두 화면은 이해를 돕기 위해 그린 화면 예시이며 수치는 예시입니다.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현장 실무자를 위한 장착 상세입니다. 치수는 기아 PV5 카고 롱 공식 제원(전장 4,695mm, 휠베이스 2,995mm, 전고 1,905mm, 타이어 215/65R16)으로 그렸고, 실루엣은 비율 근사입니다. PV5는 E-GMP.S 플랫폼으로 구동 배터리가 바닥 아래에 있으므로(Autocar), 차량형 다채널 GPR은 배터리 팩을 피해 뒤 차축 뒤에 장착하고, 구조변경은 기아 컨버전 파트너를 거쳐 진행합니다. 장비 기준은 서울시 2024년 지반침하 특별점검 공동조사용역에 쓰인 차량형 GPR(중심 주파수 400MHz, 탐사 깊이 약 2m, 탐사 폭 2m, 적정 탐사 속도 시속 20~30km)이며, 폭은 차폭 1,895mm 안으로 설계합니다. 회차 비교의 핵심은 위치 정합입니다. 측량용 RTK 수신기의 제조사 사양은 수평 8mm+1ppm 수준이며, RTK 안테나를 GPR 바로 위에 두고 IMU와 휠 인코더로 보정합니다. 6장 시뮬레이션에서 주행선 8cm 어긋남이 가장 큰 오탐 요인이었으므로, 회차 간 주행선 어긋남 8cm 이내를 정합 목표로 둡니다.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약 3.1억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 대수는 많지 않지만 PV5와 업무 앱을 묶은 공공 레퍼런스의 첫 사례가 됩니다. 수상 후 첫 6개월에 기아에 요청하는 것은 공모전이 이미 안내한 혜택(PV5 대여 검토, PoC·사업화 연계, 멘토링)과 공개 개발자 환경입니다. PV5 실물 1대 대여로 1단계 폐쇄 시험장 실증을, Pleos Playground와 SDK로 Navihelper·Vehicle API 연동 시제품을, 컨버전 포털과 PIM 기술 지원으로 GPR 장착 위치·전원 간섭 검토를, PoC·사업화 연계로 지자체 파일럿을 연결받고자 합니다. 일정은 목표입니다.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ac6ce8190d7021d.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6f899c71ca506952.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90eb28e89366fa0.jpg"/>
  <Relationship Id="rId3"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97550"/>
            <a:ext cx="2739992" cy="570357"/>
            <a:chOff x="601218" y="5797550"/>
            <a:chExt cx="2739992" cy="570357"/>
          </a:xfrm>
        </p:grpSpPr>
        <p:sp>
          <p:nvSpPr>
            <p:cNvPr id="15" name="TextBox 15"/>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6~7장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104959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8~10장</a:t>
              </a:r>
            </a:p>
          </p:txBody>
        </p:sp>
      </p:grpSp>
      <p:grpSp>
        <p:nvGrpSpPr>
          <p:cNvPr id="41" name="col3"/>
          <p:cNvGrpSpPr/>
          <p:nvPr/>
        </p:nvGrpSpPr>
        <p:grpSpPr>
          <a:xfrm>
            <a:off x="9039987" y="1600200"/>
            <a:ext cx="2732408" cy="2021459"/>
            <a:chOff x="9039987" y="1600200"/>
            <a:chExt cx="2732408"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732408"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6번, 1회의 1/3</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11~13장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2318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5234164" cy="419100"/>
            <a:chOff x="533400" y="5619750"/>
            <a:chExt cx="5234164"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6장 GPR 전자기 시뮬레이션 · 12장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14</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11" name="TextBox 1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3042363" cy="264033"/>
            <a:chOff x="526542" y="1301750"/>
            <a:chExt cx="3042363" cy="264033"/>
          </a:xfrm>
        </p:grpSpPr>
        <p:sp>
          <p:nvSpPr>
            <p:cNvPr id="15" name="TextBox 1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314700"/>
            <a:ext cx="5346192" cy="996696"/>
            <a:chOff x="717804" y="3314700"/>
            <a:chExt cx="5346192" cy="996696"/>
          </a:xfrm>
        </p:grpSpPr>
        <p:sp>
          <p:nvSpPr>
            <p:cNvPr id="20" name="Line 20"/>
            <p:cNvSpPr/>
            <p:nvPr/>
          </p:nvSpPr>
          <p:spPr>
            <a:xfrm>
              <a:off x="723900" y="3848100"/>
              <a:ext cx="5334000" cy="9525"/>
            </a:xfrm>
            <a:custGeom>
              <a:avLst/>
              <a:gdLst/>
              <a:ahLst/>
              <a:cxnLst/>
              <a:rect l="l" t="t" r="r" b="b"/>
              <a:pathLst>
                <a:path w="5334000" h="9525">
                  <a:moveTo>
                    <a:pt x="0" y="0"/>
                  </a:moveTo>
                  <a:lnTo>
                    <a:pt x="5334000" y="0"/>
                  </a:lnTo>
                </a:path>
              </a:pathLst>
            </a:custGeom>
            <a:noFill/>
            <a:ln w="28575">
              <a:solidFill>
                <a:srgbClr val="C3CCD9"/>
              </a:solidFill>
            </a:ln>
          </p:spPr>
        </p:sp>
        <p:sp>
          <p:nvSpPr>
            <p:cNvPr id="21" name="Rectangle 21"/>
            <p:cNvSpPr/>
            <p:nvPr/>
          </p:nvSpPr>
          <p:spPr>
            <a:xfrm>
              <a:off x="723900" y="3790950"/>
              <a:ext cx="5334000" cy="114300"/>
            </a:xfrm>
            <a:prstGeom prst="rect">
              <a:avLst/>
            </a:prstGeom>
            <a:solidFill>
              <a:srgbClr val="F5B700">
                <a:alpha val="25000"/>
              </a:srgbClr>
            </a:solidFill>
            <a:ln>
              <a:noFill/>
            </a:ln>
          </p:spPr>
        </p:sp>
        <p:sp>
          <p:nvSpPr>
            <p:cNvPr id="22" name="Ellipse 22"/>
            <p:cNvSpPr/>
            <p:nvPr/>
          </p:nvSpPr>
          <p:spPr>
            <a:xfrm>
              <a:off x="809625" y="3743325"/>
              <a:ext cx="209550" cy="209550"/>
            </a:xfrm>
            <a:prstGeom prst="ellipse">
              <a:avLst/>
            </a:prstGeom>
            <a:solidFill>
              <a:srgbClr val="0B1E3C"/>
            </a:solidFill>
            <a:ln>
              <a:noFill/>
            </a:ln>
          </p:spPr>
        </p:sp>
        <p:sp>
          <p:nvSpPr>
            <p:cNvPr id="23" name="TextBox 23"/>
            <p:cNvSpPr txBox="1"/>
            <p:nvPr/>
          </p:nvSpPr>
          <p:spPr>
            <a:xfrm>
              <a:off x="717804" y="331470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24" name="TextBox 24"/>
            <p:cNvSpPr txBox="1"/>
            <p:nvPr/>
          </p:nvSpPr>
          <p:spPr>
            <a:xfrm>
              <a:off x="718185" y="353695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5" name="Ellipse 25"/>
            <p:cNvSpPr/>
            <p:nvPr/>
          </p:nvSpPr>
          <p:spPr>
            <a:xfrm>
              <a:off x="5715000" y="3695700"/>
              <a:ext cx="304800" cy="304800"/>
            </a:xfrm>
            <a:prstGeom prst="ellipse">
              <a:avLst/>
            </a:prstGeom>
            <a:solidFill>
              <a:srgbClr val="C62828"/>
            </a:solidFill>
            <a:ln>
              <a:noFill/>
            </a:ln>
          </p:spPr>
        </p:sp>
        <p:sp>
          <p:nvSpPr>
            <p:cNvPr id="26" name="TextBox 26"/>
            <p:cNvSpPr txBox="1"/>
            <p:nvPr/>
          </p:nvSpPr>
          <p:spPr>
            <a:xfrm>
              <a:off x="5110406" y="331470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27" name="TextBox 27"/>
            <p:cNvSpPr txBox="1"/>
            <p:nvPr/>
          </p:nvSpPr>
          <p:spPr>
            <a:xfrm>
              <a:off x="5403855" y="353695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14</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49" name="section"/>
          <p:cNvGrpSpPr/>
          <p:nvPr/>
        </p:nvGrpSpPr>
        <p:grpSpPr>
          <a:xfrm>
            <a:off x="706260" y="1520825"/>
            <a:ext cx="6004651" cy="3855403"/>
            <a:chOff x="706260" y="1520825"/>
            <a:chExt cx="6004651" cy="3855403"/>
          </a:xfrm>
        </p:grpSpPr>
        <p:grpSp>
          <p:nvGrpSpPr>
            <p:cNvPr id="26" name="Group 26"/>
            <p:cNvGrpSpPr/>
            <p:nvPr/>
          </p:nvGrpSpPr>
          <p:grpSpPr>
            <a:xfrm>
              <a:off x="1047750" y="1600200"/>
              <a:ext cx="4000500" cy="3429000"/>
              <a:chOff x="1047750" y="1600200"/>
              <a:chExt cx="4000500" cy="3429000"/>
            </a:xfrm>
          </p:grpSpPr>
          <p:sp>
            <p:nvSpPr>
              <p:cNvPr id="19" name="Rectangle 19"/>
              <p:cNvSpPr/>
              <p:nvPr/>
            </p:nvSpPr>
            <p:spPr>
              <a:xfrm>
                <a:off x="1047750" y="1600200"/>
                <a:ext cx="4000500" cy="3429000"/>
              </a:xfrm>
              <a:prstGeom prst="rect">
                <a:avLst/>
              </a:prstGeom>
              <a:solidFill>
                <a:srgbClr val="CDBB9F"/>
              </a:solidFill>
              <a:ln>
                <a:noFill/>
              </a:ln>
            </p:spPr>
          </p:sp>
          <p:sp>
            <p:nvSpPr>
              <p:cNvPr id="20" name="Rectangle 20"/>
              <p:cNvSpPr/>
              <p:nvPr/>
            </p:nvSpPr>
            <p:spPr>
              <a:xfrm>
                <a:off x="1047750" y="4416742"/>
                <a:ext cx="4000500" cy="612458"/>
              </a:xfrm>
              <a:prstGeom prst="rect">
                <a:avLst/>
              </a:prstGeom>
              <a:solidFill>
                <a:srgbClr val="A8957A"/>
              </a:solidFill>
              <a:ln>
                <a:noFill/>
              </a:ln>
            </p:spPr>
          </p:sp>
          <p:sp>
            <p:nvSpPr>
              <p:cNvPr id="21" name="Rectangle 21"/>
              <p:cNvSpPr/>
              <p:nvPr/>
            </p:nvSpPr>
            <p:spPr>
              <a:xfrm>
                <a:off x="1047750" y="1746885"/>
                <a:ext cx="4000500" cy="305752"/>
              </a:xfrm>
              <a:prstGeom prst="rect">
                <a:avLst/>
              </a:prstGeom>
              <a:solidFill>
                <a:srgbClr val="8B9099"/>
              </a:solidFill>
              <a:ln>
                <a:noFill/>
              </a:ln>
            </p:spPr>
          </p:sp>
          <p:sp>
            <p:nvSpPr>
              <p:cNvPr id="22" name="Rectangle 22"/>
              <p:cNvSpPr/>
              <p:nvPr/>
            </p:nvSpPr>
            <p:spPr>
              <a:xfrm>
                <a:off x="1047750" y="1600200"/>
                <a:ext cx="4000500" cy="146685"/>
              </a:xfrm>
              <a:prstGeom prst="rect">
                <a:avLst/>
              </a:prstGeom>
              <a:solidFill>
                <a:srgbClr val="2B3036"/>
              </a:solidFill>
              <a:ln>
                <a:noFill/>
              </a:ln>
            </p:spPr>
          </p:sp>
          <p:sp>
            <p:nvSpPr>
              <p:cNvPr id="23" name="Freeform 23"/>
              <p:cNvSpPr/>
              <p:nvPr/>
            </p:nvSpPr>
            <p:spPr>
              <a:xfrm>
                <a:off x="2159318" y="2727008"/>
                <a:ext cx="1777365" cy="661035"/>
              </a:xfrm>
              <a:custGeom>
                <a:avLst/>
                <a:gdLst/>
                <a:ahLst/>
                <a:cxnLst/>
                <a:rect l="l" t="t" r="r" b="b"/>
                <a:pathLst>
                  <a:path w="1777365" h="661035">
                    <a:moveTo>
                      <a:pt x="0" y="661035"/>
                    </a:moveTo>
                    <a:cubicBezTo>
                      <a:pt x="0" y="68580"/>
                      <a:pt x="488633" y="0"/>
                      <a:pt x="888683" y="0"/>
                    </a:cubicBezTo>
                    <a:cubicBezTo>
                      <a:pt x="1333500" y="0"/>
                      <a:pt x="1777365" y="85725"/>
                      <a:pt x="1777365" y="661035"/>
                    </a:cubicBezTo>
                    <a:close/>
                  </a:path>
                </a:pathLst>
              </a:custGeom>
              <a:solidFill>
                <a:srgbClr val="24282F"/>
              </a:solidFill>
              <a:ln>
                <a:noFill/>
              </a:ln>
            </p:spPr>
          </p:sp>
          <p:sp>
            <p:nvSpPr>
              <p:cNvPr id="24" name="Ellipse 24"/>
              <p:cNvSpPr/>
              <p:nvPr/>
            </p:nvSpPr>
            <p:spPr>
              <a:xfrm>
                <a:off x="2558415" y="3069908"/>
                <a:ext cx="979170" cy="979170"/>
              </a:xfrm>
              <a:prstGeom prst="ellipse">
                <a:avLst/>
              </a:prstGeom>
              <a:solidFill>
                <a:srgbClr val="E5E7EB"/>
              </a:solidFill>
              <a:ln w="28575">
                <a:solidFill>
                  <a:srgbClr val="6B7280"/>
                </a:solidFill>
              </a:ln>
            </p:spPr>
          </p:sp>
          <p:sp>
            <p:nvSpPr>
              <p:cNvPr id="25" name="Ellipse 25"/>
              <p:cNvSpPr/>
              <p:nvPr/>
            </p:nvSpPr>
            <p:spPr>
              <a:xfrm>
                <a:off x="2666048" y="3177540"/>
                <a:ext cx="763905" cy="763905"/>
              </a:xfrm>
              <a:prstGeom prst="ellipse">
                <a:avLst/>
              </a:prstGeom>
              <a:solidFill>
                <a:srgbClr val="4B5563"/>
              </a:solidFill>
              <a:ln>
                <a:noFill/>
              </a:ln>
            </p:spPr>
          </p:sp>
        </p:grpSp>
        <p:sp>
          <p:nvSpPr>
            <p:cNvPr id="27" name="Rectangle 27"/>
            <p:cNvSpPr/>
            <p:nvPr/>
          </p:nvSpPr>
          <p:spPr>
            <a:xfrm>
              <a:off x="1047750" y="1600200"/>
              <a:ext cx="4000500" cy="3429000"/>
            </a:xfrm>
            <a:prstGeom prst="rect">
              <a:avLst/>
            </a:prstGeom>
            <a:noFill/>
            <a:ln w="9525">
              <a:solidFill>
                <a:srgbClr val="0B1E3C"/>
              </a:solidFill>
            </a:ln>
          </p:spPr>
        </p:sp>
        <p:sp>
          <p:nvSpPr>
            <p:cNvPr id="28" name="Rectangle 28"/>
            <p:cNvSpPr/>
            <p:nvPr/>
          </p:nvSpPr>
          <p:spPr>
            <a:xfrm>
              <a:off x="1047750" y="1600200"/>
              <a:ext cx="4000500" cy="2448878"/>
            </a:xfrm>
            <a:prstGeom prst="rect">
              <a:avLst/>
            </a:prstGeom>
            <a:solidFill>
              <a:srgbClr val="F5B700">
                <a:alpha val="18000"/>
              </a:srgbClr>
            </a:solidFill>
            <a:ln>
              <a:noFill/>
            </a:ln>
          </p:spPr>
        </p:sp>
        <p:sp>
          <p:nvSpPr>
            <p:cNvPr id="29" name="Line 29"/>
            <p:cNvSpPr/>
            <p:nvPr/>
          </p:nvSpPr>
          <p:spPr>
            <a:xfrm>
              <a:off x="1047750" y="4049078"/>
              <a:ext cx="4000500" cy="9525"/>
            </a:xfrm>
            <a:custGeom>
              <a:avLst/>
              <a:gdLst/>
              <a:ahLst/>
              <a:cxnLst/>
              <a:rect l="l" t="t" r="r" b="b"/>
              <a:pathLst>
                <a:path w="4000500" h="9525">
                  <a:moveTo>
                    <a:pt x="0" y="0"/>
                  </a:moveTo>
                  <a:lnTo>
                    <a:pt x="4000500" y="0"/>
                  </a:lnTo>
                </a:path>
              </a:pathLst>
            </a:custGeom>
            <a:noFill/>
            <a:ln w="28575">
              <a:solidFill>
                <a:srgbClr val="F5B700"/>
              </a:solidFill>
            </a:ln>
          </p:spPr>
        </p:sp>
        <p:sp>
          <p:nvSpPr>
            <p:cNvPr id="30" name="Line 30"/>
            <p:cNvSpPr/>
            <p:nvPr/>
          </p:nvSpPr>
          <p:spPr>
            <a:xfrm>
              <a:off x="952500" y="1600200"/>
              <a:ext cx="95250" cy="9525"/>
            </a:xfrm>
            <a:custGeom>
              <a:avLst/>
              <a:gdLst/>
              <a:ahLst/>
              <a:cxnLst/>
              <a:rect l="l" t="t" r="r" b="b"/>
              <a:pathLst>
                <a:path w="95250" h="9525">
                  <a:moveTo>
                    <a:pt x="0" y="0"/>
                  </a:moveTo>
                  <a:lnTo>
                    <a:pt x="95250" y="0"/>
                  </a:lnTo>
                </a:path>
              </a:pathLst>
            </a:custGeom>
            <a:noFill/>
            <a:ln w="14288">
              <a:solidFill>
                <a:srgbClr val="0B1E3C"/>
              </a:solidFill>
            </a:ln>
          </p:spPr>
        </p:sp>
        <p:sp>
          <p:nvSpPr>
            <p:cNvPr id="31" name="TextBox 31"/>
            <p:cNvSpPr txBox="1"/>
            <p:nvPr/>
          </p:nvSpPr>
          <p:spPr>
            <a:xfrm>
              <a:off x="706260" y="1520825"/>
              <a:ext cx="194424" cy="205359"/>
            </a:xfrm>
            <a:prstGeom prst="rect">
              <a:avLst/>
            </a:prstGeom>
            <a:noFill/>
            <a:ln>
              <a:noFill/>
            </a:ln>
          </p:spPr>
          <p:txBody>
            <a:bodyPr wrap="none" lIns="0" tIns="0" rIns="0" bIns="0" anchor="t" anchorCtr="0">
              <a:spAutoFit/>
            </a:bodyPr>
            <a:lstStyle/>
            <a:p>
              <a:pPr algn="r"/>
              <a:r>
                <a:rPr lang="en-US" sz="1050" dirty="0">
                  <a:solidFill>
                    <a:srgbClr val="374151"/>
                  </a:solidFill>
                  <a:latin typeface="+mn-lt"/>
                  <a:ea typeface="+mn-ea"/>
                  <a:cs typeface="+mn-cs"/>
                </a:rPr>
                <a:t>0m</a:t>
              </a:r>
            </a:p>
          </p:txBody>
        </p:sp>
        <p:sp>
          <p:nvSpPr>
            <p:cNvPr id="32" name="Line 32"/>
            <p:cNvSpPr/>
            <p:nvPr/>
          </p:nvSpPr>
          <p:spPr>
            <a:xfrm>
              <a:off x="952500" y="2825115"/>
              <a:ext cx="95250" cy="9525"/>
            </a:xfrm>
            <a:custGeom>
              <a:avLst/>
              <a:gdLst/>
              <a:ahLst/>
              <a:cxnLst/>
              <a:rect l="l" t="t" r="r" b="b"/>
              <a:pathLst>
                <a:path w="95250" h="9525">
                  <a:moveTo>
                    <a:pt x="0" y="0"/>
                  </a:moveTo>
                  <a:lnTo>
                    <a:pt x="95250" y="0"/>
                  </a:lnTo>
                </a:path>
              </a:pathLst>
            </a:custGeom>
            <a:noFill/>
            <a:ln w="14288">
              <a:solidFill>
                <a:srgbClr val="0B1E3C"/>
              </a:solidFill>
            </a:ln>
          </p:spPr>
        </p:sp>
        <p:sp>
          <p:nvSpPr>
            <p:cNvPr id="33" name="TextBox 33"/>
            <p:cNvSpPr txBox="1"/>
            <p:nvPr/>
          </p:nvSpPr>
          <p:spPr>
            <a:xfrm>
              <a:off x="706260" y="2745740"/>
              <a:ext cx="194424" cy="205359"/>
            </a:xfrm>
            <a:prstGeom prst="rect">
              <a:avLst/>
            </a:prstGeom>
            <a:noFill/>
            <a:ln>
              <a:noFill/>
            </a:ln>
          </p:spPr>
          <p:txBody>
            <a:bodyPr wrap="none" lIns="0" tIns="0" rIns="0" bIns="0" anchor="t" anchorCtr="0">
              <a:spAutoFit/>
            </a:bodyPr>
            <a:lstStyle/>
            <a:p>
              <a:pPr algn="r"/>
              <a:r>
                <a:rPr lang="en-US" sz="1050" dirty="0">
                  <a:solidFill>
                    <a:srgbClr val="374151"/>
                  </a:solidFill>
                  <a:latin typeface="+mn-lt"/>
                  <a:ea typeface="+mn-ea"/>
                  <a:cs typeface="+mn-cs"/>
                </a:rPr>
                <a:t>1m</a:t>
              </a:r>
            </a:p>
          </p:txBody>
        </p:sp>
        <p:sp>
          <p:nvSpPr>
            <p:cNvPr id="34" name="Line 34"/>
            <p:cNvSpPr/>
            <p:nvPr/>
          </p:nvSpPr>
          <p:spPr>
            <a:xfrm>
              <a:off x="952500" y="4049078"/>
              <a:ext cx="95250" cy="9525"/>
            </a:xfrm>
            <a:custGeom>
              <a:avLst/>
              <a:gdLst/>
              <a:ahLst/>
              <a:cxnLst/>
              <a:rect l="l" t="t" r="r" b="b"/>
              <a:pathLst>
                <a:path w="95250" h="9525">
                  <a:moveTo>
                    <a:pt x="0" y="0"/>
                  </a:moveTo>
                  <a:lnTo>
                    <a:pt x="95250" y="0"/>
                  </a:lnTo>
                </a:path>
              </a:pathLst>
            </a:custGeom>
            <a:noFill/>
            <a:ln w="14288">
              <a:solidFill>
                <a:srgbClr val="0B1E3C"/>
              </a:solidFill>
            </a:ln>
          </p:spPr>
        </p:sp>
        <p:sp>
          <p:nvSpPr>
            <p:cNvPr id="35" name="TextBox 35"/>
            <p:cNvSpPr txBox="1"/>
            <p:nvPr/>
          </p:nvSpPr>
          <p:spPr>
            <a:xfrm>
              <a:off x="706260" y="3969703"/>
              <a:ext cx="194424" cy="205359"/>
            </a:xfrm>
            <a:prstGeom prst="rect">
              <a:avLst/>
            </a:prstGeom>
            <a:noFill/>
            <a:ln>
              <a:noFill/>
            </a:ln>
          </p:spPr>
          <p:txBody>
            <a:bodyPr wrap="none" lIns="0" tIns="0" rIns="0" bIns="0" anchor="t" anchorCtr="0">
              <a:spAutoFit/>
            </a:bodyPr>
            <a:lstStyle/>
            <a:p>
              <a:pPr algn="r"/>
              <a:r>
                <a:rPr lang="en-US" sz="1050" dirty="0">
                  <a:solidFill>
                    <a:srgbClr val="374151"/>
                  </a:solidFill>
                  <a:latin typeface="+mn-lt"/>
                  <a:ea typeface="+mn-ea"/>
                  <a:cs typeface="+mn-cs"/>
                </a:rPr>
                <a:t>2m</a:t>
              </a:r>
            </a:p>
          </p:txBody>
        </p:sp>
        <p:sp>
          <p:nvSpPr>
            <p:cNvPr id="36" name="Line 36"/>
            <p:cNvSpPr/>
            <p:nvPr/>
          </p:nvSpPr>
          <p:spPr>
            <a:xfrm>
              <a:off x="3429000" y="1673542"/>
              <a:ext cx="1790700" cy="9525"/>
            </a:xfrm>
            <a:custGeom>
              <a:avLst/>
              <a:gdLst/>
              <a:ahLst/>
              <a:cxnLst/>
              <a:rect l="l" t="t" r="r" b="b"/>
              <a:pathLst>
                <a:path w="1790700" h="9525">
                  <a:moveTo>
                    <a:pt x="0" y="0"/>
                  </a:moveTo>
                  <a:lnTo>
                    <a:pt x="1790700" y="0"/>
                  </a:lnTo>
                </a:path>
              </a:pathLst>
            </a:custGeom>
            <a:noFill/>
            <a:ln w="11430">
              <a:solidFill>
                <a:srgbClr val="0B1E3C"/>
              </a:solidFill>
            </a:ln>
          </p:spPr>
        </p:sp>
        <p:sp>
          <p:nvSpPr>
            <p:cNvPr id="37" name="Ellipse 37"/>
            <p:cNvSpPr/>
            <p:nvPr/>
          </p:nvSpPr>
          <p:spPr>
            <a:xfrm>
              <a:off x="3395662" y="1640205"/>
              <a:ext cx="66675" cy="66675"/>
            </a:xfrm>
            <a:prstGeom prst="ellipse">
              <a:avLst/>
            </a:prstGeom>
            <a:solidFill>
              <a:srgbClr val="0B1E3C"/>
            </a:solidFill>
            <a:ln>
              <a:noFill/>
            </a:ln>
          </p:spPr>
        </p:sp>
        <p:sp>
          <p:nvSpPr>
            <p:cNvPr id="38" name="TextBox 38"/>
            <p:cNvSpPr txBox="1"/>
            <p:nvPr/>
          </p:nvSpPr>
          <p:spPr>
            <a:xfrm>
              <a:off x="5271135" y="1581468"/>
              <a:ext cx="662022"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노면 침하</a:t>
              </a:r>
            </a:p>
          </p:txBody>
        </p:sp>
        <p:sp>
          <p:nvSpPr>
            <p:cNvPr id="39" name="Line 39"/>
            <p:cNvSpPr/>
            <p:nvPr/>
          </p:nvSpPr>
          <p:spPr>
            <a:xfrm>
              <a:off x="3476625" y="2848928"/>
              <a:ext cx="1743075" cy="9525"/>
            </a:xfrm>
            <a:custGeom>
              <a:avLst/>
              <a:gdLst/>
              <a:ahLst/>
              <a:cxnLst/>
              <a:rect l="l" t="t" r="r" b="b"/>
              <a:pathLst>
                <a:path w="1743075" h="9525">
                  <a:moveTo>
                    <a:pt x="0" y="0"/>
                  </a:moveTo>
                  <a:lnTo>
                    <a:pt x="1743075" y="0"/>
                  </a:lnTo>
                </a:path>
              </a:pathLst>
            </a:custGeom>
            <a:noFill/>
            <a:ln w="11430">
              <a:solidFill>
                <a:srgbClr val="0B1E3C"/>
              </a:solidFill>
            </a:ln>
          </p:spPr>
        </p:sp>
        <p:sp>
          <p:nvSpPr>
            <p:cNvPr id="40" name="Ellipse 40"/>
            <p:cNvSpPr/>
            <p:nvPr/>
          </p:nvSpPr>
          <p:spPr>
            <a:xfrm>
              <a:off x="3443288" y="2815590"/>
              <a:ext cx="66675" cy="66675"/>
            </a:xfrm>
            <a:prstGeom prst="ellipse">
              <a:avLst/>
            </a:prstGeom>
            <a:solidFill>
              <a:srgbClr val="0B1E3C"/>
            </a:solidFill>
            <a:ln>
              <a:noFill/>
            </a:ln>
          </p:spPr>
        </p:sp>
        <p:sp>
          <p:nvSpPr>
            <p:cNvPr id="41" name="TextBox 41"/>
            <p:cNvSpPr txBox="1"/>
            <p:nvPr/>
          </p:nvSpPr>
          <p:spPr>
            <a:xfrm>
              <a:off x="5271135" y="2756852"/>
              <a:ext cx="1360107"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흙이 쓸려 생긴 공동</a:t>
              </a:r>
            </a:p>
          </p:txBody>
        </p:sp>
        <p:sp>
          <p:nvSpPr>
            <p:cNvPr id="42" name="Line 42"/>
            <p:cNvSpPr/>
            <p:nvPr/>
          </p:nvSpPr>
          <p:spPr>
            <a:xfrm>
              <a:off x="3537585" y="3559492"/>
              <a:ext cx="1682115" cy="9525"/>
            </a:xfrm>
            <a:custGeom>
              <a:avLst/>
              <a:gdLst/>
              <a:ahLst/>
              <a:cxnLst/>
              <a:rect l="l" t="t" r="r" b="b"/>
              <a:pathLst>
                <a:path w="1682115" h="9525">
                  <a:moveTo>
                    <a:pt x="0" y="0"/>
                  </a:moveTo>
                  <a:lnTo>
                    <a:pt x="1682115" y="0"/>
                  </a:lnTo>
                </a:path>
              </a:pathLst>
            </a:custGeom>
            <a:noFill/>
            <a:ln w="11430">
              <a:solidFill>
                <a:srgbClr val="0B1E3C"/>
              </a:solidFill>
            </a:ln>
          </p:spPr>
        </p:sp>
        <p:sp>
          <p:nvSpPr>
            <p:cNvPr id="43" name="Ellipse 43"/>
            <p:cNvSpPr/>
            <p:nvPr/>
          </p:nvSpPr>
          <p:spPr>
            <a:xfrm>
              <a:off x="3504248" y="3526155"/>
              <a:ext cx="66675" cy="66675"/>
            </a:xfrm>
            <a:prstGeom prst="ellipse">
              <a:avLst/>
            </a:prstGeom>
            <a:solidFill>
              <a:srgbClr val="0B1E3C"/>
            </a:solidFill>
            <a:ln>
              <a:noFill/>
            </a:ln>
          </p:spPr>
        </p:sp>
        <p:sp>
          <p:nvSpPr>
            <p:cNvPr id="44" name="TextBox 44"/>
            <p:cNvSpPr txBox="1"/>
            <p:nvPr/>
          </p:nvSpPr>
          <p:spPr>
            <a:xfrm>
              <a:off x="5271135" y="3467417"/>
              <a:ext cx="812796"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하수관 누수</a:t>
              </a:r>
            </a:p>
          </p:txBody>
        </p:sp>
        <p:sp>
          <p:nvSpPr>
            <p:cNvPr id="45" name="Line 45"/>
            <p:cNvSpPr/>
            <p:nvPr/>
          </p:nvSpPr>
          <p:spPr>
            <a:xfrm>
              <a:off x="5048250" y="4049078"/>
              <a:ext cx="171450" cy="9525"/>
            </a:xfrm>
            <a:custGeom>
              <a:avLst/>
              <a:gdLst/>
              <a:ahLst/>
              <a:cxnLst/>
              <a:rect l="l" t="t" r="r" b="b"/>
              <a:pathLst>
                <a:path w="171450" h="9525">
                  <a:moveTo>
                    <a:pt x="0" y="0"/>
                  </a:moveTo>
                  <a:lnTo>
                    <a:pt x="171450" y="0"/>
                  </a:lnTo>
                </a:path>
              </a:pathLst>
            </a:custGeom>
            <a:noFill/>
            <a:ln w="11430">
              <a:solidFill>
                <a:srgbClr val="B45309"/>
              </a:solidFill>
            </a:ln>
          </p:spPr>
        </p:sp>
        <p:sp>
          <p:nvSpPr>
            <p:cNvPr id="46" name="Ellipse 46"/>
            <p:cNvSpPr/>
            <p:nvPr/>
          </p:nvSpPr>
          <p:spPr>
            <a:xfrm>
              <a:off x="5014912" y="4015740"/>
              <a:ext cx="66675" cy="66675"/>
            </a:xfrm>
            <a:prstGeom prst="ellipse">
              <a:avLst/>
            </a:prstGeom>
            <a:solidFill>
              <a:srgbClr val="B45309"/>
            </a:solidFill>
            <a:ln>
              <a:noFill/>
            </a:ln>
          </p:spPr>
        </p:sp>
        <p:sp>
          <p:nvSpPr>
            <p:cNvPr id="47" name="TextBox 47"/>
            <p:cNvSpPr txBox="1"/>
            <p:nvPr/>
          </p:nvSpPr>
          <p:spPr>
            <a:xfrm>
              <a:off x="5271135" y="3957002"/>
              <a:ext cx="143977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GPR 탐사 깊이 약 2m</a:t>
              </a:r>
            </a:p>
          </p:txBody>
        </p:sp>
        <p:sp>
          <p:nvSpPr>
            <p:cNvPr id="48" name="TextBox 48"/>
            <p:cNvSpPr txBox="1"/>
            <p:nvPr/>
          </p:nvSpPr>
          <p:spPr>
            <a:xfrm>
              <a:off x="1042035" y="5156200"/>
              <a:ext cx="4436659"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 16m · 명일동 같은 심부 붕괴는 이 깊이 밖(공사장 계측의 영역)</a:t>
              </a:r>
            </a:p>
          </p:txBody>
        </p:sp>
      </p:grpSp>
      <p:grpSp>
        <p:nvGrpSpPr>
          <p:cNvPr id="53" name="stat"/>
          <p:cNvGrpSpPr/>
          <p:nvPr/>
        </p:nvGrpSpPr>
        <p:grpSpPr>
          <a:xfrm>
            <a:off x="7448550" y="1644650"/>
            <a:ext cx="3001099" cy="1409446"/>
            <a:chOff x="7448550" y="1644650"/>
            <a:chExt cx="3001099" cy="1409446"/>
          </a:xfrm>
        </p:grpSpPr>
        <p:sp>
          <p:nvSpPr>
            <p:cNvPr id="50" name="TextBox 50"/>
            <p:cNvSpPr txBox="1"/>
            <p:nvPr/>
          </p:nvSpPr>
          <p:spPr>
            <a:xfrm>
              <a:off x="7448550" y="1644650"/>
              <a:ext cx="2418855" cy="1162050"/>
            </a:xfrm>
            <a:prstGeom prst="rect">
              <a:avLst/>
            </a:prstGeom>
            <a:noFill/>
            <a:ln>
              <a:noFill/>
            </a:ln>
          </p:spPr>
          <p:txBody>
            <a:bodyPr wrap="none" lIns="0" tIns="0" rIns="0" bIns="0" anchor="t" anchorCtr="0">
              <a:spAutoFit/>
            </a:bodyPr>
            <a:lstStyle/>
            <a:p>
              <a:pPr algn="l"/>
              <a:r>
                <a:rPr lang="ko-KR" sz="6000" b="1" spc="-225" dirty="0">
                  <a:solidFill>
                    <a:srgbClr val="0B1E3C"/>
                  </a:solidFill>
                  <a:latin typeface="+mn-lt"/>
                  <a:ea typeface="+mn-ea"/>
                  <a:cs typeface="+mn-cs"/>
                </a:rPr>
                <a:t>45.4%</a:t>
              </a:r>
            </a:p>
          </p:txBody>
        </p:sp>
        <p:sp>
          <p:nvSpPr>
            <p:cNvPr id="51" name="TextBox 51"/>
            <p:cNvSpPr txBox="1"/>
            <p:nvPr/>
          </p:nvSpPr>
          <p:spPr>
            <a:xfrm>
              <a:off x="7459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52" name="TextBox 52"/>
            <p:cNvSpPr txBox="1"/>
            <p:nvPr/>
          </p:nvSpPr>
          <p:spPr>
            <a:xfrm>
              <a:off x="7461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60" name="scope"/>
          <p:cNvGrpSpPr/>
          <p:nvPr/>
        </p:nvGrpSpPr>
        <p:grpSpPr>
          <a:xfrm>
            <a:off x="7460361" y="3238500"/>
            <a:ext cx="4198239" cy="1644396"/>
            <a:chOff x="7460361" y="3238500"/>
            <a:chExt cx="4198239" cy="1644396"/>
          </a:xfrm>
        </p:grpSpPr>
        <p:sp>
          <p:nvSpPr>
            <p:cNvPr id="54" name="Rectangle 54"/>
            <p:cNvSpPr/>
            <p:nvPr/>
          </p:nvSpPr>
          <p:spPr>
            <a:xfrm>
              <a:off x="7467600" y="3238500"/>
              <a:ext cx="4191000" cy="28575"/>
            </a:xfrm>
            <a:prstGeom prst="rect">
              <a:avLst/>
            </a:prstGeom>
            <a:solidFill>
              <a:srgbClr val="F5B700"/>
            </a:solidFill>
            <a:ln>
              <a:noFill/>
            </a:ln>
          </p:spPr>
        </p:sp>
        <p:sp>
          <p:nvSpPr>
            <p:cNvPr id="55" name="TextBox 55"/>
            <p:cNvSpPr txBox="1"/>
            <p:nvPr/>
          </p:nvSpPr>
          <p:spPr>
            <a:xfrm>
              <a:off x="7460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56" name="TextBox 56"/>
            <p:cNvSpPr txBox="1"/>
            <p:nvPr/>
          </p:nvSpPr>
          <p:spPr>
            <a:xfrm>
              <a:off x="7461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57" name="Rectangle 57"/>
            <p:cNvSpPr/>
            <p:nvPr/>
          </p:nvSpPr>
          <p:spPr>
            <a:xfrm>
              <a:off x="7467600" y="4191000"/>
              <a:ext cx="4191000" cy="28575"/>
            </a:xfrm>
            <a:prstGeom prst="rect">
              <a:avLst/>
            </a:prstGeom>
            <a:solidFill>
              <a:srgbClr val="C3CCD9"/>
            </a:solidFill>
            <a:ln>
              <a:noFill/>
            </a:ln>
          </p:spPr>
        </p:sp>
        <p:sp>
          <p:nvSpPr>
            <p:cNvPr id="58" name="TextBox 58"/>
            <p:cNvSpPr txBox="1"/>
            <p:nvPr/>
          </p:nvSpPr>
          <p:spPr>
            <a:xfrm>
              <a:off x="7460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59" name="TextBox 59"/>
            <p:cNvSpPr txBox="1"/>
            <p:nvPr/>
          </p:nvSpPr>
          <p:spPr>
            <a:xfrm>
              <a:off x="7461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63" name="conclusion"/>
          <p:cNvGrpSpPr/>
          <p:nvPr/>
        </p:nvGrpSpPr>
        <p:grpSpPr>
          <a:xfrm>
            <a:off x="533400" y="5715000"/>
            <a:ext cx="6376020" cy="419100"/>
            <a:chOff x="533400" y="5715000"/>
            <a:chExt cx="6376020" cy="419100"/>
          </a:xfrm>
        </p:grpSpPr>
        <p:sp>
          <p:nvSpPr>
            <p:cNvPr id="61" name="Rectangle 61"/>
            <p:cNvSpPr/>
            <p:nvPr/>
          </p:nvSpPr>
          <p:spPr>
            <a:xfrm>
              <a:off x="533400" y="5715000"/>
              <a:ext cx="38100" cy="419100"/>
            </a:xfrm>
            <a:prstGeom prst="rect">
              <a:avLst/>
            </a:prstGeom>
            <a:solidFill>
              <a:srgbClr val="F5B700"/>
            </a:solidFill>
            <a:ln>
              <a:noFill/>
            </a:ln>
          </p:spPr>
        </p:sp>
        <p:sp>
          <p:nvSpPr>
            <p:cNvPr id="62" name="TextBox 6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65" name="source"/>
          <p:cNvGrpSpPr/>
          <p:nvPr/>
        </p:nvGrpSpPr>
        <p:grpSpPr>
          <a:xfrm>
            <a:off x="528447" y="6381750"/>
            <a:ext cx="9294622" cy="191643"/>
            <a:chOff x="528447" y="6381750"/>
            <a:chExt cx="9294622" cy="191643"/>
          </a:xfrm>
        </p:grpSpPr>
        <p:sp>
          <p:nvSpPr>
            <p:cNvPr id="64" name="TextBox 6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14</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59" name="scans"/>
          <p:cNvGrpSpPr/>
          <p:nvPr/>
        </p:nvGrpSpPr>
        <p:grpSpPr>
          <a:xfrm>
            <a:off x="527304" y="1447800"/>
            <a:ext cx="11131296" cy="2349246"/>
            <a:chOff x="527304" y="1447800"/>
            <a:chExt cx="11131296" cy="2349246"/>
          </a:xfrm>
        </p:grpSpPr>
        <p:grpSp>
          <p:nvGrpSpPr>
            <p:cNvPr id="26" name="Group 26"/>
            <p:cNvGrpSpPr/>
            <p:nvPr/>
          </p:nvGrpSpPr>
          <p:grpSpPr>
            <a:xfrm>
              <a:off x="533400" y="1447800"/>
              <a:ext cx="3238500" cy="2000250"/>
              <a:chOff x="533400" y="1447800"/>
              <a:chExt cx="3238500" cy="2000250"/>
            </a:xfrm>
          </p:grpSpPr>
          <p:sp>
            <p:nvSpPr>
              <p:cNvPr id="19" name="Rectangle 19"/>
              <p:cNvSpPr/>
              <p:nvPr/>
            </p:nvSpPr>
            <p:spPr>
              <a:xfrm>
                <a:off x="533400" y="1447800"/>
                <a:ext cx="3238500" cy="2000250"/>
              </a:xfrm>
              <a:prstGeom prst="rect">
                <a:avLst/>
              </a:prstGeom>
              <a:solidFill>
                <a:srgbClr val="CDBB9F"/>
              </a:solidFill>
              <a:ln>
                <a:noFill/>
              </a:ln>
            </p:spPr>
          </p:sp>
          <p:sp>
            <p:nvSpPr>
              <p:cNvPr id="20" name="Rectangle 20"/>
              <p:cNvSpPr/>
              <p:nvPr/>
            </p:nvSpPr>
            <p:spPr>
              <a:xfrm>
                <a:off x="533400" y="3090862"/>
                <a:ext cx="3238500" cy="357188"/>
              </a:xfrm>
              <a:prstGeom prst="rect">
                <a:avLst/>
              </a:prstGeom>
              <a:solidFill>
                <a:srgbClr val="A8957A"/>
              </a:solidFill>
              <a:ln>
                <a:noFill/>
              </a:ln>
            </p:spPr>
          </p:sp>
          <p:sp>
            <p:nvSpPr>
              <p:cNvPr id="21" name="Rectangle 21"/>
              <p:cNvSpPr/>
              <p:nvPr/>
            </p:nvSpPr>
            <p:spPr>
              <a:xfrm>
                <a:off x="533400" y="1533525"/>
                <a:ext cx="3238500" cy="179070"/>
              </a:xfrm>
              <a:prstGeom prst="rect">
                <a:avLst/>
              </a:prstGeom>
              <a:solidFill>
                <a:srgbClr val="8B9099"/>
              </a:solidFill>
              <a:ln>
                <a:noFill/>
              </a:ln>
            </p:spPr>
          </p:sp>
          <p:sp>
            <p:nvSpPr>
              <p:cNvPr id="22" name="Rectangle 22"/>
              <p:cNvSpPr/>
              <p:nvPr/>
            </p:nvSpPr>
            <p:spPr>
              <a:xfrm>
                <a:off x="533400" y="1447800"/>
                <a:ext cx="3238500" cy="85725"/>
              </a:xfrm>
              <a:prstGeom prst="rect">
                <a:avLst/>
              </a:prstGeom>
              <a:solidFill>
                <a:srgbClr val="2B3036"/>
              </a:solidFill>
              <a:ln>
                <a:noFill/>
              </a:ln>
            </p:spPr>
          </p:sp>
          <p:sp>
            <p:nvSpPr>
              <p:cNvPr id="23" name="Freeform 23"/>
              <p:cNvSpPr/>
              <p:nvPr/>
            </p:nvSpPr>
            <p:spPr>
              <a:xfrm>
                <a:off x="1779270" y="2190750"/>
                <a:ext cx="745808" cy="300038"/>
              </a:xfrm>
              <a:custGeom>
                <a:avLst/>
                <a:gdLst/>
                <a:ahLst/>
                <a:cxnLst/>
                <a:rect l="l" t="t" r="r" b="b"/>
                <a:pathLst>
                  <a:path w="745808" h="300038">
                    <a:moveTo>
                      <a:pt x="0" y="300038"/>
                    </a:moveTo>
                    <a:cubicBezTo>
                      <a:pt x="0" y="22860"/>
                      <a:pt x="205740" y="0"/>
                      <a:pt x="373380" y="0"/>
                    </a:cubicBezTo>
                    <a:cubicBezTo>
                      <a:pt x="560070" y="0"/>
                      <a:pt x="745808" y="28575"/>
                      <a:pt x="745808" y="300038"/>
                    </a:cubicBezTo>
                    <a:close/>
                  </a:path>
                </a:pathLst>
              </a:custGeom>
              <a:solidFill>
                <a:srgbClr val="24282F"/>
              </a:solidFill>
              <a:ln>
                <a:noFill/>
              </a:ln>
            </p:spPr>
          </p:sp>
          <p:sp>
            <p:nvSpPr>
              <p:cNvPr id="24" name="Ellipse 24"/>
              <p:cNvSpPr/>
              <p:nvPr/>
            </p:nvSpPr>
            <p:spPr>
              <a:xfrm>
                <a:off x="1866900" y="2305050"/>
                <a:ext cx="571500" cy="571500"/>
              </a:xfrm>
              <a:prstGeom prst="ellipse">
                <a:avLst/>
              </a:prstGeom>
              <a:solidFill>
                <a:srgbClr val="E5E7EB"/>
              </a:solidFill>
              <a:ln w="28575">
                <a:solidFill>
                  <a:srgbClr val="6B7280"/>
                </a:solidFill>
              </a:ln>
            </p:spPr>
          </p:sp>
          <p:sp>
            <p:nvSpPr>
              <p:cNvPr id="25" name="Ellipse 25"/>
              <p:cNvSpPr/>
              <p:nvPr/>
            </p:nvSpPr>
            <p:spPr>
              <a:xfrm>
                <a:off x="1929765" y="2367915"/>
                <a:ext cx="445770" cy="445770"/>
              </a:xfrm>
              <a:prstGeom prst="ellipse">
                <a:avLst/>
              </a:prstGeom>
              <a:solidFill>
                <a:srgbClr val="4B5563"/>
              </a:solidFill>
              <a:ln>
                <a:noFill/>
              </a:ln>
            </p:spPr>
          </p:sp>
        </p:grpSp>
        <p:sp>
          <p:nvSpPr>
            <p:cNvPr id="27" name="Rectangle 27"/>
            <p:cNvSpPr/>
            <p:nvPr/>
          </p:nvSpPr>
          <p:spPr>
            <a:xfrm>
              <a:off x="533400" y="1447800"/>
              <a:ext cx="3238500" cy="2000250"/>
            </a:xfrm>
            <a:prstGeom prst="rect">
              <a:avLst/>
            </a:prstGeom>
            <a:noFill/>
            <a:ln w="9525">
              <a:solidFill>
                <a:srgbClr val="0B1E3C"/>
              </a:solidFill>
            </a:ln>
          </p:spPr>
        </p:sp>
        <p:sp>
          <p:nvSpPr>
            <p:cNvPr id="28" name="Rectangle 28"/>
            <p:cNvSpPr/>
            <p:nvPr/>
          </p:nvSpPr>
          <p:spPr>
            <a:xfrm>
              <a:off x="609600" y="1524000"/>
              <a:ext cx="923925" cy="247650"/>
            </a:xfrm>
            <a:prstGeom prst="roundRect">
              <a:avLst>
                <a:gd name="adj" fmla="val 11538"/>
              </a:avLst>
            </a:prstGeom>
            <a:solidFill>
              <a:srgbClr val="0B1E3C">
                <a:alpha val="92000"/>
              </a:srgbClr>
            </a:solidFill>
            <a:ln>
              <a:noFill/>
            </a:ln>
          </p:spPr>
        </p:sp>
        <p:sp>
          <p:nvSpPr>
            <p:cNvPr id="29" name="TextBox 29"/>
            <p:cNvSpPr txBox="1"/>
            <p:nvPr/>
          </p:nvSpPr>
          <p:spPr>
            <a:xfrm>
              <a:off x="708660" y="15557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30" name="TextBox 30"/>
            <p:cNvSpPr txBox="1"/>
            <p:nvPr/>
          </p:nvSpPr>
          <p:spPr>
            <a:xfrm>
              <a:off x="4012249" y="22574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grpSp>
          <p:nvGrpSpPr>
            <p:cNvPr id="38" name="Group 38"/>
            <p:cNvGrpSpPr/>
            <p:nvPr/>
          </p:nvGrpSpPr>
          <p:grpSpPr>
            <a:xfrm>
              <a:off x="4476750" y="1447800"/>
              <a:ext cx="3238500" cy="2000250"/>
              <a:chOff x="4476750" y="1447800"/>
              <a:chExt cx="3238500" cy="2000250"/>
            </a:xfrm>
          </p:grpSpPr>
          <p:sp>
            <p:nvSpPr>
              <p:cNvPr id="31" name="Rectangle 31"/>
              <p:cNvSpPr/>
              <p:nvPr/>
            </p:nvSpPr>
            <p:spPr>
              <a:xfrm>
                <a:off x="4476750" y="1447800"/>
                <a:ext cx="3238500" cy="2000250"/>
              </a:xfrm>
              <a:prstGeom prst="rect">
                <a:avLst/>
              </a:prstGeom>
              <a:solidFill>
                <a:srgbClr val="CDBB9F"/>
              </a:solidFill>
              <a:ln>
                <a:noFill/>
              </a:ln>
            </p:spPr>
          </p:sp>
          <p:sp>
            <p:nvSpPr>
              <p:cNvPr id="32" name="Rectangle 32"/>
              <p:cNvSpPr/>
              <p:nvPr/>
            </p:nvSpPr>
            <p:spPr>
              <a:xfrm>
                <a:off x="4476750" y="3090862"/>
                <a:ext cx="3238500" cy="357188"/>
              </a:xfrm>
              <a:prstGeom prst="rect">
                <a:avLst/>
              </a:prstGeom>
              <a:solidFill>
                <a:srgbClr val="A8957A"/>
              </a:solidFill>
              <a:ln>
                <a:noFill/>
              </a:ln>
            </p:spPr>
          </p:sp>
          <p:sp>
            <p:nvSpPr>
              <p:cNvPr id="33" name="Rectangle 33"/>
              <p:cNvSpPr/>
              <p:nvPr/>
            </p:nvSpPr>
            <p:spPr>
              <a:xfrm>
                <a:off x="4476750" y="1533525"/>
                <a:ext cx="3238500" cy="179070"/>
              </a:xfrm>
              <a:prstGeom prst="rect">
                <a:avLst/>
              </a:prstGeom>
              <a:solidFill>
                <a:srgbClr val="8B9099"/>
              </a:solidFill>
              <a:ln>
                <a:noFill/>
              </a:ln>
            </p:spPr>
          </p:sp>
          <p:sp>
            <p:nvSpPr>
              <p:cNvPr id="34" name="Rectangle 34"/>
              <p:cNvSpPr/>
              <p:nvPr/>
            </p:nvSpPr>
            <p:spPr>
              <a:xfrm>
                <a:off x="4476750" y="1447800"/>
                <a:ext cx="3238500" cy="85725"/>
              </a:xfrm>
              <a:prstGeom prst="rect">
                <a:avLst/>
              </a:prstGeom>
              <a:solidFill>
                <a:srgbClr val="2B3036"/>
              </a:solidFill>
              <a:ln>
                <a:noFill/>
              </a:ln>
            </p:spPr>
          </p:sp>
          <p:sp>
            <p:nvSpPr>
              <p:cNvPr id="35" name="Freeform 35"/>
              <p:cNvSpPr/>
              <p:nvPr/>
            </p:nvSpPr>
            <p:spPr>
              <a:xfrm>
                <a:off x="5553075" y="2090738"/>
                <a:ext cx="1085850" cy="400050"/>
              </a:xfrm>
              <a:custGeom>
                <a:avLst/>
                <a:gdLst/>
                <a:ahLst/>
                <a:cxnLst/>
                <a:rect l="l" t="t" r="r" b="b"/>
                <a:pathLst>
                  <a:path w="1085850" h="400050">
                    <a:moveTo>
                      <a:pt x="0" y="400050"/>
                    </a:moveTo>
                    <a:cubicBezTo>
                      <a:pt x="0" y="42862"/>
                      <a:pt x="299085" y="0"/>
                      <a:pt x="542925" y="0"/>
                    </a:cubicBezTo>
                    <a:cubicBezTo>
                      <a:pt x="814388" y="0"/>
                      <a:pt x="1085850" y="53340"/>
                      <a:pt x="1085850" y="400050"/>
                    </a:cubicBezTo>
                    <a:close/>
                  </a:path>
                </a:pathLst>
              </a:custGeom>
              <a:solidFill>
                <a:srgbClr val="24282F"/>
              </a:solidFill>
              <a:ln>
                <a:noFill/>
              </a:ln>
            </p:spPr>
          </p:sp>
          <p:sp>
            <p:nvSpPr>
              <p:cNvPr id="36" name="Ellipse 36"/>
              <p:cNvSpPr/>
              <p:nvPr/>
            </p:nvSpPr>
            <p:spPr>
              <a:xfrm>
                <a:off x="5810250" y="2305050"/>
                <a:ext cx="571500" cy="571500"/>
              </a:xfrm>
              <a:prstGeom prst="ellipse">
                <a:avLst/>
              </a:prstGeom>
              <a:solidFill>
                <a:srgbClr val="E5E7EB"/>
              </a:solidFill>
              <a:ln w="28575">
                <a:solidFill>
                  <a:srgbClr val="6B7280"/>
                </a:solidFill>
              </a:ln>
            </p:spPr>
          </p:sp>
          <p:sp>
            <p:nvSpPr>
              <p:cNvPr id="37" name="Ellipse 37"/>
              <p:cNvSpPr/>
              <p:nvPr/>
            </p:nvSpPr>
            <p:spPr>
              <a:xfrm>
                <a:off x="5873115" y="2367915"/>
                <a:ext cx="445770" cy="445770"/>
              </a:xfrm>
              <a:prstGeom prst="ellipse">
                <a:avLst/>
              </a:prstGeom>
              <a:solidFill>
                <a:srgbClr val="4B5563"/>
              </a:solidFill>
              <a:ln>
                <a:noFill/>
              </a:ln>
            </p:spPr>
          </p:sp>
        </p:grpSp>
        <p:sp>
          <p:nvSpPr>
            <p:cNvPr id="39" name="Rectangle 39"/>
            <p:cNvSpPr/>
            <p:nvPr/>
          </p:nvSpPr>
          <p:spPr>
            <a:xfrm>
              <a:off x="4476750" y="1447800"/>
              <a:ext cx="3238500" cy="2000250"/>
            </a:xfrm>
            <a:prstGeom prst="rect">
              <a:avLst/>
            </a:prstGeom>
            <a:noFill/>
            <a:ln w="9525">
              <a:solidFill>
                <a:srgbClr val="0B1E3C"/>
              </a:solidFill>
            </a:ln>
          </p:spPr>
        </p:sp>
        <p:sp>
          <p:nvSpPr>
            <p:cNvPr id="40" name="Rectangle 40"/>
            <p:cNvSpPr/>
            <p:nvPr/>
          </p:nvSpPr>
          <p:spPr>
            <a:xfrm>
              <a:off x="4552950" y="1524000"/>
              <a:ext cx="1209675" cy="247650"/>
            </a:xfrm>
            <a:prstGeom prst="roundRect">
              <a:avLst>
                <a:gd name="adj" fmla="val 11538"/>
              </a:avLst>
            </a:prstGeom>
            <a:solidFill>
              <a:srgbClr val="0B1E3C">
                <a:alpha val="92000"/>
              </a:srgbClr>
            </a:solidFill>
            <a:ln>
              <a:noFill/>
            </a:ln>
          </p:spPr>
        </p:sp>
        <p:sp>
          <p:nvSpPr>
            <p:cNvPr id="41" name="TextBox 41"/>
            <p:cNvSpPr txBox="1"/>
            <p:nvPr/>
          </p:nvSpPr>
          <p:spPr>
            <a:xfrm>
              <a:off x="4652010" y="1555750"/>
              <a:ext cx="796588"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약 2개월 뒤</a:t>
              </a:r>
            </a:p>
          </p:txBody>
        </p:sp>
        <p:sp>
          <p:nvSpPr>
            <p:cNvPr id="42" name="TextBox 42"/>
            <p:cNvSpPr txBox="1"/>
            <p:nvPr/>
          </p:nvSpPr>
          <p:spPr>
            <a:xfrm>
              <a:off x="7955599" y="22574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grpSp>
          <p:nvGrpSpPr>
            <p:cNvPr id="49" name="Group 49"/>
            <p:cNvGrpSpPr/>
            <p:nvPr/>
          </p:nvGrpSpPr>
          <p:grpSpPr>
            <a:xfrm>
              <a:off x="8420100" y="1447800"/>
              <a:ext cx="3238500" cy="2000250"/>
              <a:chOff x="8420100" y="1447800"/>
              <a:chExt cx="3238500" cy="2000250"/>
            </a:xfrm>
          </p:grpSpPr>
          <p:sp>
            <p:nvSpPr>
              <p:cNvPr id="43" name="Rectangle 43"/>
              <p:cNvSpPr/>
              <p:nvPr/>
            </p:nvSpPr>
            <p:spPr>
              <a:xfrm>
                <a:off x="8420100" y="1447800"/>
                <a:ext cx="3238500" cy="2000250"/>
              </a:xfrm>
              <a:prstGeom prst="rect">
                <a:avLst/>
              </a:prstGeom>
              <a:solidFill>
                <a:srgbClr val="CDBB9F"/>
              </a:solidFill>
              <a:ln>
                <a:noFill/>
              </a:ln>
            </p:spPr>
          </p:sp>
          <p:sp>
            <p:nvSpPr>
              <p:cNvPr id="44" name="Rectangle 44"/>
              <p:cNvSpPr/>
              <p:nvPr/>
            </p:nvSpPr>
            <p:spPr>
              <a:xfrm>
                <a:off x="8420100" y="3090862"/>
                <a:ext cx="3238500" cy="357188"/>
              </a:xfrm>
              <a:prstGeom prst="rect">
                <a:avLst/>
              </a:prstGeom>
              <a:solidFill>
                <a:srgbClr val="A8957A"/>
              </a:solidFill>
              <a:ln>
                <a:noFill/>
              </a:ln>
            </p:spPr>
          </p:sp>
          <p:sp>
            <p:nvSpPr>
              <p:cNvPr id="45" name="Rectangle 45"/>
              <p:cNvSpPr/>
              <p:nvPr/>
            </p:nvSpPr>
            <p:spPr>
              <a:xfrm>
                <a:off x="8420100" y="1533525"/>
                <a:ext cx="3238500" cy="179070"/>
              </a:xfrm>
              <a:prstGeom prst="rect">
                <a:avLst/>
              </a:prstGeom>
              <a:solidFill>
                <a:srgbClr val="8B9099"/>
              </a:solidFill>
              <a:ln>
                <a:noFill/>
              </a:ln>
            </p:spPr>
          </p:sp>
          <p:sp>
            <p:nvSpPr>
              <p:cNvPr id="46" name="Rectangle 46"/>
              <p:cNvSpPr/>
              <p:nvPr/>
            </p:nvSpPr>
            <p:spPr>
              <a:xfrm>
                <a:off x="8420100" y="1447800"/>
                <a:ext cx="3238500" cy="85725"/>
              </a:xfrm>
              <a:prstGeom prst="rect">
                <a:avLst/>
              </a:prstGeom>
              <a:solidFill>
                <a:srgbClr val="2B3036"/>
              </a:solidFill>
              <a:ln>
                <a:noFill/>
              </a:ln>
            </p:spPr>
          </p:sp>
          <p:sp>
            <p:nvSpPr>
              <p:cNvPr id="47" name="Ellipse 47"/>
              <p:cNvSpPr/>
              <p:nvPr/>
            </p:nvSpPr>
            <p:spPr>
              <a:xfrm>
                <a:off x="9753600" y="2305050"/>
                <a:ext cx="571500" cy="571500"/>
              </a:xfrm>
              <a:prstGeom prst="ellipse">
                <a:avLst/>
              </a:prstGeom>
              <a:solidFill>
                <a:srgbClr val="E5E7EB"/>
              </a:solidFill>
              <a:ln w="28575">
                <a:solidFill>
                  <a:srgbClr val="6B7280"/>
                </a:solidFill>
              </a:ln>
            </p:spPr>
          </p:sp>
          <p:sp>
            <p:nvSpPr>
              <p:cNvPr id="48" name="Ellipse 48"/>
              <p:cNvSpPr/>
              <p:nvPr/>
            </p:nvSpPr>
            <p:spPr>
              <a:xfrm>
                <a:off x="9816465" y="2367915"/>
                <a:ext cx="445770" cy="445770"/>
              </a:xfrm>
              <a:prstGeom prst="ellipse">
                <a:avLst/>
              </a:prstGeom>
              <a:solidFill>
                <a:srgbClr val="4B5563"/>
              </a:solidFill>
              <a:ln>
                <a:noFill/>
              </a:ln>
            </p:spPr>
          </p:sp>
        </p:grpSp>
        <p:sp>
          <p:nvSpPr>
            <p:cNvPr id="50" name="Rectangle 50"/>
            <p:cNvSpPr/>
            <p:nvPr/>
          </p:nvSpPr>
          <p:spPr>
            <a:xfrm>
              <a:off x="8420100" y="1447800"/>
              <a:ext cx="3238500" cy="2000250"/>
            </a:xfrm>
            <a:prstGeom prst="rect">
              <a:avLst/>
            </a:prstGeom>
            <a:noFill/>
            <a:ln w="9525">
              <a:solidFill>
                <a:srgbClr val="0B1E3C"/>
              </a:solidFill>
            </a:ln>
          </p:spPr>
        </p:sp>
        <p:sp>
          <p:nvSpPr>
            <p:cNvPr id="51" name="Rectangle 51"/>
            <p:cNvSpPr/>
            <p:nvPr/>
          </p:nvSpPr>
          <p:spPr>
            <a:xfrm>
              <a:off x="8420100" y="1447800"/>
              <a:ext cx="3238500" cy="2000250"/>
            </a:xfrm>
            <a:prstGeom prst="rect">
              <a:avLst/>
            </a:prstGeom>
            <a:solidFill>
              <a:srgbClr val="0B1E3C">
                <a:alpha val="75000"/>
              </a:srgbClr>
            </a:solidFill>
            <a:ln>
              <a:noFill/>
            </a:ln>
          </p:spPr>
        </p:sp>
        <p:sp>
          <p:nvSpPr>
            <p:cNvPr id="52" name="Freeform 52"/>
            <p:cNvSpPr/>
            <p:nvPr/>
          </p:nvSpPr>
          <p:spPr>
            <a:xfrm>
              <a:off x="9496425" y="2090738"/>
              <a:ext cx="1085850" cy="400050"/>
            </a:xfrm>
            <a:custGeom>
              <a:avLst/>
              <a:gdLst/>
              <a:ahLst/>
              <a:cxnLst/>
              <a:rect l="l" t="t" r="r" b="b"/>
              <a:pathLst>
                <a:path w="1085850" h="400050">
                  <a:moveTo>
                    <a:pt x="0" y="400050"/>
                  </a:moveTo>
                  <a:cubicBezTo>
                    <a:pt x="0" y="42862"/>
                    <a:pt x="298132" y="0"/>
                    <a:pt x="542925" y="0"/>
                  </a:cubicBezTo>
                  <a:cubicBezTo>
                    <a:pt x="814388" y="0"/>
                    <a:pt x="1085850" y="53340"/>
                    <a:pt x="1085850" y="400050"/>
                  </a:cubicBezTo>
                  <a:close/>
                </a:path>
              </a:pathLst>
            </a:custGeom>
            <a:solidFill>
              <a:srgbClr val="F5B700"/>
            </a:solidFill>
            <a:ln>
              <a:noFill/>
            </a:ln>
          </p:spPr>
        </p:sp>
        <p:sp>
          <p:nvSpPr>
            <p:cNvPr id="53" name="Freeform 53"/>
            <p:cNvSpPr/>
            <p:nvPr/>
          </p:nvSpPr>
          <p:spPr>
            <a:xfrm>
              <a:off x="9666922" y="2190750"/>
              <a:ext cx="745808" cy="300038"/>
            </a:xfrm>
            <a:custGeom>
              <a:avLst/>
              <a:gdLst/>
              <a:ahLst/>
              <a:cxnLst/>
              <a:rect l="l" t="t" r="r" b="b"/>
              <a:pathLst>
                <a:path w="745808" h="300038">
                  <a:moveTo>
                    <a:pt x="0" y="300038"/>
                  </a:moveTo>
                  <a:cubicBezTo>
                    <a:pt x="0" y="22860"/>
                    <a:pt x="204788" y="0"/>
                    <a:pt x="372428" y="0"/>
                  </a:cubicBezTo>
                  <a:cubicBezTo>
                    <a:pt x="559117" y="0"/>
                    <a:pt x="745808" y="28575"/>
                    <a:pt x="745808" y="300038"/>
                  </a:cubicBezTo>
                  <a:close/>
                </a:path>
              </a:pathLst>
            </a:custGeom>
            <a:solidFill>
              <a:srgbClr val="0B1E3C"/>
            </a:solidFill>
            <a:ln>
              <a:noFill/>
            </a:ln>
          </p:spPr>
        </p:sp>
        <p:sp>
          <p:nvSpPr>
            <p:cNvPr id="54" name="Ellipse 54"/>
            <p:cNvSpPr/>
            <p:nvPr/>
          </p:nvSpPr>
          <p:spPr>
            <a:xfrm>
              <a:off x="9753600" y="2305050"/>
              <a:ext cx="571500" cy="571500"/>
            </a:xfrm>
            <a:prstGeom prst="ellipse">
              <a:avLst/>
            </a:prstGeom>
            <a:noFill/>
            <a:ln w="19050">
              <a:solidFill>
                <a:srgbClr val="9AA3AF"/>
              </a:solidFill>
            </a:ln>
          </p:spPr>
        </p:sp>
        <p:sp>
          <p:nvSpPr>
            <p:cNvPr id="55" name="TextBox 55"/>
            <p:cNvSpPr txBox="1"/>
            <p:nvPr/>
          </p:nvSpPr>
          <p:spPr>
            <a:xfrm>
              <a:off x="10369126" y="3155950"/>
              <a:ext cx="1161839" cy="220028"/>
            </a:xfrm>
            <a:prstGeom prst="rect">
              <a:avLst/>
            </a:prstGeom>
            <a:noFill/>
            <a:ln>
              <a:noFill/>
            </a:ln>
          </p:spPr>
          <p:txBody>
            <a:bodyPr wrap="none" lIns="0" tIns="0" rIns="0" bIns="0" anchor="t" anchorCtr="0">
              <a:spAutoFit/>
            </a:bodyPr>
            <a:lstStyle/>
            <a:p>
              <a:pPr algn="r"/>
              <a:r>
                <a:rPr lang="ko-KR" sz="1120" b="1" dirty="0">
                  <a:solidFill>
                    <a:srgbClr val="FFFFFF"/>
                  </a:solidFill>
                  <a:latin typeface="+mn-lt"/>
                  <a:ea typeface="+mn-ea"/>
                  <a:cs typeface="+mn-cs"/>
                </a:rPr>
                <a:t>커진 부분만 남음</a:t>
              </a:r>
            </a:p>
          </p:txBody>
        </p:sp>
        <p:sp>
          <p:nvSpPr>
            <p:cNvPr id="56" name="Rectangle 56"/>
            <p:cNvSpPr/>
            <p:nvPr/>
          </p:nvSpPr>
          <p:spPr>
            <a:xfrm>
              <a:off x="8496300" y="1524000"/>
              <a:ext cx="1495425" cy="247650"/>
            </a:xfrm>
            <a:prstGeom prst="roundRect">
              <a:avLst>
                <a:gd name="adj" fmla="val 11538"/>
              </a:avLst>
            </a:prstGeom>
            <a:solidFill>
              <a:srgbClr val="0B1E3C">
                <a:alpha val="92000"/>
              </a:srgbClr>
            </a:solidFill>
            <a:ln>
              <a:noFill/>
            </a:ln>
          </p:spPr>
        </p:sp>
        <p:sp>
          <p:nvSpPr>
            <p:cNvPr id="57" name="TextBox 57"/>
            <p:cNvSpPr txBox="1"/>
            <p:nvPr/>
          </p:nvSpPr>
          <p:spPr>
            <a:xfrm>
              <a:off x="8595360" y="15557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sp>
          <p:nvSpPr>
            <p:cNvPr id="58" name="TextBox 58"/>
            <p:cNvSpPr txBox="1"/>
            <p:nvPr/>
          </p:nvSpPr>
          <p:spPr>
            <a:xfrm>
              <a:off x="527304" y="3562350"/>
              <a:ext cx="983876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1 반복 측정</a:t>
              </a:r>
              <a:r>
                <a:rPr lang="ko-KR" sz="1200" dirty="0">
                  <a:solidFill>
                    <a:srgbClr val="374151"/>
                  </a:solidFill>
                  <a:latin typeface="+mn-lt"/>
                  <a:ea typeface="+mn-ea"/>
                  <a:cs typeface="+mn-cs"/>
                </a:rPr>
                <a:t xml:space="preserve"> 새벽에 같은 경로를 약 2개월마다 </a:t>
              </a:r>
              <a:r>
                <a:rPr lang="ko-KR" sz="1200" b="1" dirty="0">
                  <a:solidFill>
                    <a:srgbClr val="0B1E3C"/>
                  </a:solidFill>
                  <a:latin typeface="+mn-lt"/>
                  <a:ea typeface="+mn-ea"/>
                  <a:cs typeface="+mn-cs"/>
                </a:rPr>
                <a:t>2 변화만 선별</a:t>
              </a:r>
              <a:r>
                <a:rPr lang="ko-KR" sz="1200" dirty="0">
                  <a:solidFill>
                    <a:srgbClr val="374151"/>
                  </a:solidFill>
                  <a:latin typeface="+mn-lt"/>
                  <a:ea typeface="+mn-ea"/>
                  <a:cs typeface="+mn-cs"/>
                </a:rPr>
                <a:t xml:space="preserve"> 위치를 맞춰 빼고, AI가 신호 유형 분류 </a:t>
              </a:r>
              <a:r>
                <a:rPr lang="ko-KR" sz="1200" b="1" dirty="0">
                  <a:solidFill>
                    <a:srgbClr val="0B1E3C"/>
                  </a:solidFill>
                  <a:latin typeface="+mn-lt"/>
                  <a:ea typeface="+mn-ea"/>
                  <a:cs typeface="+mn-cs"/>
                </a:rPr>
                <a:t>3 현장 재확인</a:t>
              </a:r>
              <a:r>
                <a:rPr lang="ko-KR" sz="1200" dirty="0">
                  <a:solidFill>
                    <a:srgbClr val="374151"/>
                  </a:solidFill>
                  <a:latin typeface="+mn-lt"/>
                  <a:ea typeface="+mn-ea"/>
                  <a:cs typeface="+mn-cs"/>
                </a:rPr>
                <a:t xml:space="preserve"> 승인된 곳만 수동 GPR</a:t>
              </a:r>
            </a:p>
          </p:txBody>
        </p:sp>
      </p:grpSp>
      <p:grpSp>
        <p:nvGrpSpPr>
          <p:cNvPr id="72" name="diff"/>
          <p:cNvGrpSpPr/>
          <p:nvPr/>
        </p:nvGrpSpPr>
        <p:grpSpPr>
          <a:xfrm>
            <a:off x="527304" y="3924300"/>
            <a:ext cx="5340096" cy="1582293"/>
            <a:chOff x="527304" y="3924300"/>
            <a:chExt cx="5340096" cy="1582293"/>
          </a:xfrm>
        </p:grpSpPr>
        <p:sp>
          <p:nvSpPr>
            <p:cNvPr id="60" name="Rectangle 60"/>
            <p:cNvSpPr/>
            <p:nvPr/>
          </p:nvSpPr>
          <p:spPr>
            <a:xfrm>
              <a:off x="533400" y="3924300"/>
              <a:ext cx="5334000" cy="28575"/>
            </a:xfrm>
            <a:prstGeom prst="rect">
              <a:avLst/>
            </a:prstGeom>
            <a:solidFill>
              <a:srgbClr val="0B1E3C"/>
            </a:solidFill>
            <a:ln>
              <a:noFill/>
            </a:ln>
          </p:spPr>
        </p:sp>
        <p:sp>
          <p:nvSpPr>
            <p:cNvPr id="61" name="TextBox 61"/>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62" name="TextBox 62"/>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63" name="TextBox 63"/>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64" name="TextBox 64"/>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65" name="TextBox 65"/>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66" name="TextBox 66"/>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67" name="TextBox 67"/>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68" name="TextBox 68"/>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69" name="TextBox 69"/>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70" name="TextBox 70"/>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71" name="TextBox 71"/>
            <p:cNvSpPr txBox="1"/>
            <p:nvPr/>
          </p:nvSpPr>
          <p:spPr>
            <a:xfrm>
              <a:off x="528447" y="5314950"/>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94" name="proof"/>
          <p:cNvGrpSpPr/>
          <p:nvPr/>
        </p:nvGrpSpPr>
        <p:grpSpPr>
          <a:xfrm>
            <a:off x="6318885" y="3924300"/>
            <a:ext cx="5339715" cy="1600200"/>
            <a:chOff x="6318885" y="3924300"/>
            <a:chExt cx="5339715" cy="1600200"/>
          </a:xfrm>
        </p:grpSpPr>
        <p:sp>
          <p:nvSpPr>
            <p:cNvPr id="73" name="Rectangle 73"/>
            <p:cNvSpPr/>
            <p:nvPr/>
          </p:nvSpPr>
          <p:spPr>
            <a:xfrm>
              <a:off x="6324600" y="3924300"/>
              <a:ext cx="5334000" cy="28575"/>
            </a:xfrm>
            <a:prstGeom prst="rect">
              <a:avLst/>
            </a:prstGeom>
            <a:solidFill>
              <a:srgbClr val="0B1E3C"/>
            </a:solidFill>
            <a:ln>
              <a:noFill/>
            </a:ln>
          </p:spPr>
        </p:sp>
        <p:sp>
          <p:nvSpPr>
            <p:cNvPr id="74" name="TextBox 74"/>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75" name="TextBox 75"/>
            <p:cNvSpPr txBox="1"/>
            <p:nvPr/>
          </p:nvSpPr>
          <p:spPr>
            <a:xfrm>
              <a:off x="6319266" y="4311650"/>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20cm 성장</a:t>
              </a:r>
            </a:p>
          </p:txBody>
        </p:sp>
        <p:sp>
          <p:nvSpPr>
            <p:cNvPr id="76" name="Rectangle 76"/>
            <p:cNvSpPr/>
            <p:nvPr/>
          </p:nvSpPr>
          <p:spPr>
            <a:xfrm>
              <a:off x="7696200" y="4324350"/>
              <a:ext cx="3267075" cy="142875"/>
            </a:xfrm>
            <a:prstGeom prst="rect">
              <a:avLst/>
            </a:prstGeom>
            <a:solidFill>
              <a:srgbClr val="0B1E3C"/>
            </a:solidFill>
            <a:ln>
              <a:noFill/>
            </a:ln>
          </p:spPr>
        </p:sp>
        <p:sp>
          <p:nvSpPr>
            <p:cNvPr id="77" name="TextBox 77"/>
            <p:cNvSpPr txBox="1"/>
            <p:nvPr/>
          </p:nvSpPr>
          <p:spPr>
            <a:xfrm>
              <a:off x="11034141" y="43116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2.9</a:t>
              </a:r>
            </a:p>
          </p:txBody>
        </p:sp>
        <p:sp>
          <p:nvSpPr>
            <p:cNvPr id="78" name="TextBox 78"/>
            <p:cNvSpPr txBox="1"/>
            <p:nvPr/>
          </p:nvSpPr>
          <p:spPr>
            <a:xfrm>
              <a:off x="6319266" y="4511675"/>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10cm 성장</a:t>
              </a:r>
            </a:p>
          </p:txBody>
        </p:sp>
        <p:sp>
          <p:nvSpPr>
            <p:cNvPr id="79" name="Rectangle 79"/>
            <p:cNvSpPr/>
            <p:nvPr/>
          </p:nvSpPr>
          <p:spPr>
            <a:xfrm>
              <a:off x="7696200" y="4524375"/>
              <a:ext cx="2790825" cy="142875"/>
            </a:xfrm>
            <a:prstGeom prst="rect">
              <a:avLst/>
            </a:prstGeom>
            <a:solidFill>
              <a:srgbClr val="0B1E3C"/>
            </a:solidFill>
            <a:ln>
              <a:noFill/>
            </a:ln>
          </p:spPr>
        </p:sp>
        <p:sp>
          <p:nvSpPr>
            <p:cNvPr id="80" name="TextBox 80"/>
            <p:cNvSpPr txBox="1"/>
            <p:nvPr/>
          </p:nvSpPr>
          <p:spPr>
            <a:xfrm>
              <a:off x="10557891" y="45116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2.4</a:t>
              </a:r>
            </a:p>
          </p:txBody>
        </p:sp>
        <p:sp>
          <p:nvSpPr>
            <p:cNvPr id="81" name="TextBox 81"/>
            <p:cNvSpPr txBox="1"/>
            <p:nvPr/>
          </p:nvSpPr>
          <p:spPr>
            <a:xfrm>
              <a:off x="6319266" y="4711700"/>
              <a:ext cx="92238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5cm 성장</a:t>
              </a:r>
            </a:p>
          </p:txBody>
        </p:sp>
        <p:sp>
          <p:nvSpPr>
            <p:cNvPr id="82" name="Rectangle 82"/>
            <p:cNvSpPr/>
            <p:nvPr/>
          </p:nvSpPr>
          <p:spPr>
            <a:xfrm>
              <a:off x="7696200" y="4724400"/>
              <a:ext cx="1552575" cy="142875"/>
            </a:xfrm>
            <a:prstGeom prst="rect">
              <a:avLst/>
            </a:prstGeom>
            <a:solidFill>
              <a:srgbClr val="B45309"/>
            </a:solidFill>
            <a:ln>
              <a:noFill/>
            </a:ln>
          </p:spPr>
        </p:sp>
        <p:sp>
          <p:nvSpPr>
            <p:cNvPr id="83" name="TextBox 83"/>
            <p:cNvSpPr txBox="1"/>
            <p:nvPr/>
          </p:nvSpPr>
          <p:spPr>
            <a:xfrm>
              <a:off x="9319641" y="471170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1.4</a:t>
              </a:r>
            </a:p>
          </p:txBody>
        </p:sp>
        <p:sp>
          <p:nvSpPr>
            <p:cNvPr id="84" name="TextBox 84"/>
            <p:cNvSpPr txBox="1"/>
            <p:nvPr/>
          </p:nvSpPr>
          <p:spPr>
            <a:xfrm>
              <a:off x="6319266" y="4911725"/>
              <a:ext cx="1205084"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주행선 8cm 어긋남</a:t>
              </a:r>
            </a:p>
          </p:txBody>
        </p:sp>
        <p:sp>
          <p:nvSpPr>
            <p:cNvPr id="85" name="Rectangle 85"/>
            <p:cNvSpPr/>
            <p:nvPr/>
          </p:nvSpPr>
          <p:spPr>
            <a:xfrm>
              <a:off x="7696200" y="4924425"/>
              <a:ext cx="1143000" cy="142875"/>
            </a:xfrm>
            <a:prstGeom prst="rect">
              <a:avLst/>
            </a:prstGeom>
            <a:solidFill>
              <a:srgbClr val="C62828"/>
            </a:solidFill>
            <a:ln>
              <a:noFill/>
            </a:ln>
          </p:spPr>
        </p:sp>
        <p:sp>
          <p:nvSpPr>
            <p:cNvPr id="86" name="TextBox 86"/>
            <p:cNvSpPr txBox="1"/>
            <p:nvPr/>
          </p:nvSpPr>
          <p:spPr>
            <a:xfrm>
              <a:off x="8910066" y="491172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1.0</a:t>
              </a:r>
            </a:p>
          </p:txBody>
        </p:sp>
        <p:sp>
          <p:nvSpPr>
            <p:cNvPr id="87" name="TextBox 87"/>
            <p:cNvSpPr txBox="1"/>
            <p:nvPr/>
          </p:nvSpPr>
          <p:spPr>
            <a:xfrm>
              <a:off x="6319266" y="511175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함수비 변화</a:t>
              </a:r>
            </a:p>
          </p:txBody>
        </p:sp>
        <p:sp>
          <p:nvSpPr>
            <p:cNvPr id="88" name="Rectangle 88"/>
            <p:cNvSpPr/>
            <p:nvPr/>
          </p:nvSpPr>
          <p:spPr>
            <a:xfrm>
              <a:off x="7696200" y="5124450"/>
              <a:ext cx="923925" cy="142875"/>
            </a:xfrm>
            <a:prstGeom prst="rect">
              <a:avLst/>
            </a:prstGeom>
            <a:solidFill>
              <a:srgbClr val="4B5563"/>
            </a:solidFill>
            <a:ln>
              <a:noFill/>
            </a:ln>
          </p:spPr>
        </p:sp>
        <p:sp>
          <p:nvSpPr>
            <p:cNvPr id="89" name="TextBox 89"/>
            <p:cNvSpPr txBox="1"/>
            <p:nvPr/>
          </p:nvSpPr>
          <p:spPr>
            <a:xfrm>
              <a:off x="8910066" y="51117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0.8</a:t>
              </a:r>
            </a:p>
          </p:txBody>
        </p:sp>
        <p:sp>
          <p:nvSpPr>
            <p:cNvPr id="90" name="TextBox 90"/>
            <p:cNvSpPr txBox="1"/>
            <p:nvPr/>
          </p:nvSpPr>
          <p:spPr>
            <a:xfrm>
              <a:off x="6319266" y="5311775"/>
              <a:ext cx="43472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재포장</a:t>
              </a:r>
            </a:p>
          </p:txBody>
        </p:sp>
        <p:sp>
          <p:nvSpPr>
            <p:cNvPr id="91" name="Rectangle 91"/>
            <p:cNvSpPr/>
            <p:nvPr/>
          </p:nvSpPr>
          <p:spPr>
            <a:xfrm>
              <a:off x="7696200" y="5324475"/>
              <a:ext cx="381000" cy="142875"/>
            </a:xfrm>
            <a:prstGeom prst="rect">
              <a:avLst/>
            </a:prstGeom>
            <a:solidFill>
              <a:srgbClr val="4B5563"/>
            </a:solidFill>
            <a:ln>
              <a:noFill/>
            </a:ln>
          </p:spPr>
        </p:sp>
        <p:sp>
          <p:nvSpPr>
            <p:cNvPr id="92" name="TextBox 92"/>
            <p:cNvSpPr txBox="1"/>
            <p:nvPr/>
          </p:nvSpPr>
          <p:spPr>
            <a:xfrm>
              <a:off x="8910066" y="53117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0.3</a:t>
              </a:r>
            </a:p>
          </p:txBody>
        </p:sp>
        <p:sp>
          <p:nvSpPr>
            <p:cNvPr id="93" name="Line 93"/>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97" name="conclusion"/>
          <p:cNvGrpSpPr/>
          <p:nvPr/>
        </p:nvGrpSpPr>
        <p:grpSpPr>
          <a:xfrm>
            <a:off x="533400" y="5676900"/>
            <a:ext cx="9170702" cy="419100"/>
            <a:chOff x="533400" y="5676900"/>
            <a:chExt cx="9170702" cy="419100"/>
          </a:xfrm>
        </p:grpSpPr>
        <p:sp>
          <p:nvSpPr>
            <p:cNvPr id="95" name="Rectangle 95"/>
            <p:cNvSpPr/>
            <p:nvPr/>
          </p:nvSpPr>
          <p:spPr>
            <a:xfrm>
              <a:off x="533400" y="5676900"/>
              <a:ext cx="38100" cy="419100"/>
            </a:xfrm>
            <a:prstGeom prst="rect">
              <a:avLst/>
            </a:prstGeom>
            <a:solidFill>
              <a:srgbClr val="F5B700"/>
            </a:solidFill>
            <a:ln>
              <a:noFill/>
            </a:ln>
          </p:spPr>
        </p:sp>
        <p:sp>
          <p:nvSpPr>
            <p:cNvPr id="96" name="TextBox 96"/>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99" name="source"/>
          <p:cNvGrpSpPr/>
          <p:nvPr/>
        </p:nvGrpSpPr>
        <p:grpSpPr>
          <a:xfrm>
            <a:off x="528447" y="6381750"/>
            <a:ext cx="10106309" cy="191643"/>
            <a:chOff x="528447" y="6381750"/>
            <a:chExt cx="10106309" cy="191643"/>
          </a:xfrm>
        </p:grpSpPr>
        <p:sp>
          <p:nvSpPr>
            <p:cNvPr id="98" name="TextBox 98"/>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102" name="footer"/>
          <p:cNvGrpSpPr/>
          <p:nvPr/>
        </p:nvGrpSpPr>
        <p:grpSpPr>
          <a:xfrm>
            <a:off x="528638" y="6610350"/>
            <a:ext cx="11134724" cy="176212"/>
            <a:chOff x="528638" y="6610350"/>
            <a:chExt cx="11134724" cy="176212"/>
          </a:xfrm>
        </p:grpSpPr>
        <p:sp>
          <p:nvSpPr>
            <p:cNvPr id="100" name="TextBox 10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101" name="TextBox 10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14</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33" name="chain"/>
          <p:cNvGrpSpPr/>
          <p:nvPr/>
        </p:nvGrpSpPr>
        <p:grpSpPr>
          <a:xfrm>
            <a:off x="533400" y="1428750"/>
            <a:ext cx="11125200" cy="419100"/>
            <a:chOff x="533400" y="1428750"/>
            <a:chExt cx="11125200" cy="419100"/>
          </a:xfrm>
        </p:grpSpPr>
        <p:sp>
          <p:nvSpPr>
            <p:cNvPr id="19" name="Rectangle 19"/>
            <p:cNvSpPr/>
            <p:nvPr/>
          </p:nvSpPr>
          <p:spPr>
            <a:xfrm>
              <a:off x="533400" y="1428750"/>
              <a:ext cx="1943100" cy="419100"/>
            </a:xfrm>
            <a:prstGeom prst="roundRect">
              <a:avLst>
                <a:gd name="adj" fmla="val 13636"/>
              </a:avLst>
            </a:prstGeom>
            <a:solidFill>
              <a:srgbClr val="FFFFFF"/>
            </a:solidFill>
            <a:ln w="14288">
              <a:solidFill>
                <a:srgbClr val="0B1E3C"/>
              </a:solidFill>
            </a:ln>
          </p:spPr>
        </p:sp>
        <p:sp>
          <p:nvSpPr>
            <p:cNvPr id="20" name="TextBox 20"/>
            <p:cNvSpPr txBox="1"/>
            <p:nvPr/>
          </p:nvSpPr>
          <p:spPr>
            <a:xfrm>
              <a:off x="785713" y="1543050"/>
              <a:ext cx="1438473"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클라우드 · 4D 지도</a:t>
              </a:r>
            </a:p>
          </p:txBody>
        </p:sp>
        <p:sp>
          <p:nvSpPr>
            <p:cNvPr id="21" name="TextBox 21"/>
            <p:cNvSpPr txBox="1"/>
            <p:nvPr/>
          </p:nvSpPr>
          <p:spPr>
            <a:xfrm>
              <a:off x="2553014" y="1549400"/>
              <a:ext cx="113671" cy="264033"/>
            </a:xfrm>
            <a:prstGeom prst="rect">
              <a:avLst/>
            </a:prstGeom>
            <a:noFill/>
            <a:ln>
              <a:noFill/>
            </a:ln>
          </p:spPr>
          <p:txBody>
            <a:bodyPr wrap="none" lIns="0" tIns="0" rIns="0" bIns="0" anchor="t" anchorCtr="0">
              <a:spAutoFit/>
            </a:bodyPr>
            <a:lstStyle/>
            <a:p>
              <a:pPr algn="ctr"/>
              <a:r>
                <a:rPr lang="ko-KR" sz="1350" dirty="0">
                  <a:solidFill>
                    <a:srgbClr val="0B1E3C"/>
                  </a:solidFill>
                  <a:latin typeface="+mn-lt"/>
                  <a:ea typeface="+mn-ea"/>
                  <a:cs typeface="+mn-cs"/>
                </a:rPr>
                <a:t>→</a:t>
              </a:r>
            </a:p>
          </p:txBody>
        </p:sp>
        <p:sp>
          <p:nvSpPr>
            <p:cNvPr id="22" name="Rectangle 22"/>
            <p:cNvSpPr/>
            <p:nvPr/>
          </p:nvSpPr>
          <p:spPr>
            <a:xfrm>
              <a:off x="2828925" y="1428750"/>
              <a:ext cx="1943100" cy="419100"/>
            </a:xfrm>
            <a:prstGeom prst="roundRect">
              <a:avLst>
                <a:gd name="adj" fmla="val 13636"/>
              </a:avLst>
            </a:prstGeom>
            <a:solidFill>
              <a:srgbClr val="FFFFFF"/>
            </a:solidFill>
            <a:ln w="14288">
              <a:solidFill>
                <a:srgbClr val="0B1E3C"/>
              </a:solidFill>
            </a:ln>
          </p:spPr>
        </p:sp>
        <p:sp>
          <p:nvSpPr>
            <p:cNvPr id="23" name="TextBox 23"/>
            <p:cNvSpPr txBox="1"/>
            <p:nvPr/>
          </p:nvSpPr>
          <p:spPr>
            <a:xfrm>
              <a:off x="3351878" y="1543050"/>
              <a:ext cx="89719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PV5 차량 앱</a:t>
              </a:r>
            </a:p>
          </p:txBody>
        </p:sp>
        <p:sp>
          <p:nvSpPr>
            <p:cNvPr id="24" name="TextBox 24"/>
            <p:cNvSpPr txBox="1"/>
            <p:nvPr/>
          </p:nvSpPr>
          <p:spPr>
            <a:xfrm>
              <a:off x="4848539" y="1549400"/>
              <a:ext cx="113671" cy="264033"/>
            </a:xfrm>
            <a:prstGeom prst="rect">
              <a:avLst/>
            </a:prstGeom>
            <a:noFill/>
            <a:ln>
              <a:noFill/>
            </a:ln>
          </p:spPr>
          <p:txBody>
            <a:bodyPr wrap="none" lIns="0" tIns="0" rIns="0" bIns="0" anchor="t" anchorCtr="0">
              <a:spAutoFit/>
            </a:bodyPr>
            <a:lstStyle/>
            <a:p>
              <a:pPr algn="ctr"/>
              <a:r>
                <a:rPr lang="ko-KR" sz="1350" dirty="0">
                  <a:solidFill>
                    <a:srgbClr val="0B1E3C"/>
                  </a:solidFill>
                  <a:latin typeface="+mn-lt"/>
                  <a:ea typeface="+mn-ea"/>
                  <a:cs typeface="+mn-cs"/>
                </a:rPr>
                <a:t>→</a:t>
              </a:r>
            </a:p>
          </p:txBody>
        </p:sp>
        <p:sp>
          <p:nvSpPr>
            <p:cNvPr id="25" name="Rectangle 25"/>
            <p:cNvSpPr/>
            <p:nvPr/>
          </p:nvSpPr>
          <p:spPr>
            <a:xfrm>
              <a:off x="5124450" y="1428750"/>
              <a:ext cx="1943100" cy="419100"/>
            </a:xfrm>
            <a:prstGeom prst="roundRect">
              <a:avLst>
                <a:gd name="adj" fmla="val 13636"/>
              </a:avLst>
            </a:prstGeom>
            <a:solidFill>
              <a:srgbClr val="FFFFFF"/>
            </a:solidFill>
            <a:ln w="14288">
              <a:solidFill>
                <a:srgbClr val="0B1E3C"/>
              </a:solidFill>
            </a:ln>
          </p:spPr>
        </p:sp>
        <p:sp>
          <p:nvSpPr>
            <p:cNvPr id="26" name="TextBox 26"/>
            <p:cNvSpPr txBox="1"/>
            <p:nvPr/>
          </p:nvSpPr>
          <p:spPr>
            <a:xfrm>
              <a:off x="5499057" y="1543050"/>
              <a:ext cx="1193886"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엣지 게이트웨이</a:t>
              </a:r>
            </a:p>
          </p:txBody>
        </p:sp>
        <p:sp>
          <p:nvSpPr>
            <p:cNvPr id="27" name="TextBox 27"/>
            <p:cNvSpPr txBox="1"/>
            <p:nvPr/>
          </p:nvSpPr>
          <p:spPr>
            <a:xfrm>
              <a:off x="7144064" y="1549400"/>
              <a:ext cx="113671" cy="264033"/>
            </a:xfrm>
            <a:prstGeom prst="rect">
              <a:avLst/>
            </a:prstGeom>
            <a:noFill/>
            <a:ln>
              <a:noFill/>
            </a:ln>
          </p:spPr>
          <p:txBody>
            <a:bodyPr wrap="none" lIns="0" tIns="0" rIns="0" bIns="0" anchor="t" anchorCtr="0">
              <a:spAutoFit/>
            </a:bodyPr>
            <a:lstStyle/>
            <a:p>
              <a:pPr algn="ctr"/>
              <a:r>
                <a:rPr lang="ko-KR" sz="1350" dirty="0">
                  <a:solidFill>
                    <a:srgbClr val="0B1E3C"/>
                  </a:solidFill>
                  <a:latin typeface="+mn-lt"/>
                  <a:ea typeface="+mn-ea"/>
                  <a:cs typeface="+mn-cs"/>
                </a:rPr>
                <a:t>→</a:t>
              </a:r>
            </a:p>
          </p:txBody>
        </p:sp>
        <p:sp>
          <p:nvSpPr>
            <p:cNvPr id="28" name="Rectangle 28"/>
            <p:cNvSpPr/>
            <p:nvPr/>
          </p:nvSpPr>
          <p:spPr>
            <a:xfrm>
              <a:off x="7419975" y="1428750"/>
              <a:ext cx="1943100" cy="419100"/>
            </a:xfrm>
            <a:prstGeom prst="roundRect">
              <a:avLst>
                <a:gd name="adj" fmla="val 13636"/>
              </a:avLst>
            </a:prstGeom>
            <a:solidFill>
              <a:srgbClr val="FFFFFF"/>
            </a:solidFill>
            <a:ln w="14288">
              <a:solidFill>
                <a:srgbClr val="0B1E3C"/>
              </a:solidFill>
            </a:ln>
          </p:spPr>
        </p:sp>
        <p:sp>
          <p:nvSpPr>
            <p:cNvPr id="29" name="TextBox 29"/>
            <p:cNvSpPr txBox="1"/>
            <p:nvPr/>
          </p:nvSpPr>
          <p:spPr>
            <a:xfrm>
              <a:off x="8017657" y="15430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9439589" y="1549400"/>
              <a:ext cx="113671" cy="264033"/>
            </a:xfrm>
            <a:prstGeom prst="rect">
              <a:avLst/>
            </a:prstGeom>
            <a:noFill/>
            <a:ln>
              <a:noFill/>
            </a:ln>
          </p:spPr>
          <p:txBody>
            <a:bodyPr wrap="none" lIns="0" tIns="0" rIns="0" bIns="0" anchor="t" anchorCtr="0">
              <a:spAutoFit/>
            </a:bodyPr>
            <a:lstStyle/>
            <a:p>
              <a:pPr algn="ctr"/>
              <a:r>
                <a:rPr lang="ko-KR" sz="1350" dirty="0">
                  <a:solidFill>
                    <a:srgbClr val="0B1E3C"/>
                  </a:solidFill>
                  <a:latin typeface="+mn-lt"/>
                  <a:ea typeface="+mn-ea"/>
                  <a:cs typeface="+mn-cs"/>
                </a:rPr>
                <a:t>→</a:t>
              </a:r>
            </a:p>
          </p:txBody>
        </p:sp>
        <p:sp>
          <p:nvSpPr>
            <p:cNvPr id="31" name="Rectangle 31"/>
            <p:cNvSpPr/>
            <p:nvPr/>
          </p:nvSpPr>
          <p:spPr>
            <a:xfrm>
              <a:off x="9715500" y="1428750"/>
              <a:ext cx="1943100" cy="419100"/>
            </a:xfrm>
            <a:prstGeom prst="roundRect">
              <a:avLst>
                <a:gd name="adj" fmla="val 13636"/>
              </a:avLst>
            </a:prstGeom>
            <a:solidFill>
              <a:srgbClr val="FFFFFF"/>
            </a:solidFill>
            <a:ln w="14288">
              <a:solidFill>
                <a:srgbClr val="0B1E3C"/>
              </a:solidFill>
            </a:ln>
          </p:spPr>
        </p:sp>
        <p:sp>
          <p:nvSpPr>
            <p:cNvPr id="32" name="TextBox 32"/>
            <p:cNvSpPr txBox="1"/>
            <p:nvPr/>
          </p:nvSpPr>
          <p:spPr>
            <a:xfrm>
              <a:off x="10344668" y="15430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grpSp>
      <p:grpSp>
        <p:nvGrpSpPr>
          <p:cNvPr id="100" name="screens"/>
          <p:cNvGrpSpPr/>
          <p:nvPr/>
        </p:nvGrpSpPr>
        <p:grpSpPr>
          <a:xfrm>
            <a:off x="526542" y="2114550"/>
            <a:ext cx="11132058" cy="3471228"/>
            <a:chOff x="526542" y="2114550"/>
            <a:chExt cx="11132058" cy="3471228"/>
          </a:xfrm>
        </p:grpSpPr>
        <p:sp>
          <p:nvSpPr>
            <p:cNvPr id="34" name="Rectangle 34"/>
            <p:cNvSpPr/>
            <p:nvPr/>
          </p:nvSpPr>
          <p:spPr>
            <a:xfrm>
              <a:off x="533400" y="2114550"/>
              <a:ext cx="5334000" cy="2857500"/>
            </a:xfrm>
            <a:prstGeom prst="roundRect">
              <a:avLst>
                <a:gd name="adj" fmla="val 4667"/>
              </a:avLst>
            </a:prstGeom>
            <a:solidFill>
              <a:srgbClr val="0F1A2B"/>
            </a:solidFill>
            <a:ln>
              <a:noFill/>
            </a:ln>
          </p:spPr>
        </p:sp>
        <p:sp>
          <p:nvSpPr>
            <p:cNvPr id="35" name="TextBox 35"/>
            <p:cNvSpPr txBox="1"/>
            <p:nvPr/>
          </p:nvSpPr>
          <p:spPr>
            <a:xfrm>
              <a:off x="699135" y="2241550"/>
              <a:ext cx="1546417"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GroundWatch Patrol</a:t>
              </a:r>
            </a:p>
          </p:txBody>
        </p:sp>
        <p:sp>
          <p:nvSpPr>
            <p:cNvPr id="36" name="TextBox 36"/>
            <p:cNvSpPr txBox="1"/>
            <p:nvPr/>
          </p:nvSpPr>
          <p:spPr>
            <a:xfrm>
              <a:off x="4497052" y="2266950"/>
              <a:ext cx="1203851" cy="191643"/>
            </a:xfrm>
            <a:prstGeom prst="rect">
              <a:avLst/>
            </a:prstGeom>
            <a:noFill/>
            <a:ln>
              <a:noFill/>
            </a:ln>
          </p:spPr>
          <p:txBody>
            <a:bodyPr wrap="none" lIns="0" tIns="0" rIns="0" bIns="0" anchor="t" anchorCtr="0">
              <a:spAutoFit/>
            </a:bodyPr>
            <a:lstStyle/>
            <a:p>
              <a:pPr algn="r"/>
              <a:r>
                <a:rPr lang="ko-KR" sz="980" dirty="0">
                  <a:solidFill>
                    <a:srgbClr val="9FB0C8"/>
                  </a:solidFill>
                  <a:latin typeface="+mn-lt"/>
                  <a:ea typeface="+mn-ea"/>
                  <a:cs typeface="+mn-cs"/>
                </a:rPr>
                <a:t>04:42 · 배터리 86%</a:t>
              </a:r>
            </a:p>
          </p:txBody>
        </p:sp>
        <p:sp>
          <p:nvSpPr>
            <p:cNvPr id="37" name="Rectangle 37"/>
            <p:cNvSpPr/>
            <p:nvPr/>
          </p:nvSpPr>
          <p:spPr>
            <a:xfrm>
              <a:off x="685800" y="2533650"/>
              <a:ext cx="3048000" cy="2286000"/>
            </a:xfrm>
            <a:prstGeom prst="roundRect">
              <a:avLst>
                <a:gd name="adj" fmla="val 3333"/>
              </a:avLst>
            </a:prstGeom>
            <a:solidFill>
              <a:srgbClr val="1B2638"/>
            </a:solidFill>
            <a:ln>
              <a:noFill/>
            </a:ln>
          </p:spPr>
        </p:sp>
        <p:sp>
          <p:nvSpPr>
            <p:cNvPr id="38" name="Line 38"/>
            <p:cNvSpPr/>
            <p:nvPr/>
          </p:nvSpPr>
          <p:spPr>
            <a:xfrm>
              <a:off x="685800" y="2914650"/>
              <a:ext cx="3048000" cy="76200"/>
            </a:xfrm>
            <a:custGeom>
              <a:avLst/>
              <a:gdLst/>
              <a:ahLst/>
              <a:cxnLst/>
              <a:rect l="l" t="t" r="r" b="b"/>
              <a:pathLst>
                <a:path w="3048000" h="76200">
                  <a:moveTo>
                    <a:pt x="0" y="0"/>
                  </a:moveTo>
                  <a:lnTo>
                    <a:pt x="3048000" y="76200"/>
                  </a:lnTo>
                </a:path>
              </a:pathLst>
            </a:custGeom>
            <a:noFill/>
            <a:ln w="47625">
              <a:solidFill>
                <a:srgbClr val="2C3A52"/>
              </a:solidFill>
            </a:ln>
          </p:spPr>
        </p:sp>
        <p:sp>
          <p:nvSpPr>
            <p:cNvPr id="39" name="Line 39"/>
            <p:cNvSpPr/>
            <p:nvPr/>
          </p:nvSpPr>
          <p:spPr>
            <a:xfrm>
              <a:off x="1098232" y="2533650"/>
              <a:ext cx="95250" cy="2286000"/>
            </a:xfrm>
            <a:custGeom>
              <a:avLst/>
              <a:gdLst/>
              <a:ahLst/>
              <a:cxnLst/>
              <a:rect l="l" t="t" r="r" b="b"/>
              <a:pathLst>
                <a:path w="95250" h="2286000">
                  <a:moveTo>
                    <a:pt x="95250" y="0"/>
                  </a:moveTo>
                  <a:lnTo>
                    <a:pt x="0" y="2286000"/>
                  </a:lnTo>
                </a:path>
              </a:pathLst>
            </a:custGeom>
            <a:noFill/>
            <a:ln w="47625">
              <a:solidFill>
                <a:srgbClr val="2C3A52"/>
              </a:solidFill>
            </a:ln>
          </p:spPr>
        </p:sp>
        <p:sp>
          <p:nvSpPr>
            <p:cNvPr id="40" name="Line 40"/>
            <p:cNvSpPr/>
            <p:nvPr/>
          </p:nvSpPr>
          <p:spPr>
            <a:xfrm>
              <a:off x="685800" y="3295650"/>
              <a:ext cx="3048000" cy="76200"/>
            </a:xfrm>
            <a:custGeom>
              <a:avLst/>
              <a:gdLst/>
              <a:ahLst/>
              <a:cxnLst/>
              <a:rect l="l" t="t" r="r" b="b"/>
              <a:pathLst>
                <a:path w="3048000" h="76200">
                  <a:moveTo>
                    <a:pt x="0" y="0"/>
                  </a:moveTo>
                  <a:lnTo>
                    <a:pt x="3048000" y="76200"/>
                  </a:lnTo>
                </a:path>
              </a:pathLst>
            </a:custGeom>
            <a:noFill/>
            <a:ln w="47625">
              <a:solidFill>
                <a:srgbClr val="2C3A52"/>
              </a:solidFill>
            </a:ln>
          </p:spPr>
        </p:sp>
        <p:sp>
          <p:nvSpPr>
            <p:cNvPr id="41" name="Line 41"/>
            <p:cNvSpPr/>
            <p:nvPr/>
          </p:nvSpPr>
          <p:spPr>
            <a:xfrm>
              <a:off x="1606868" y="2533650"/>
              <a:ext cx="95250" cy="2286000"/>
            </a:xfrm>
            <a:custGeom>
              <a:avLst/>
              <a:gdLst/>
              <a:ahLst/>
              <a:cxnLst/>
              <a:rect l="l" t="t" r="r" b="b"/>
              <a:pathLst>
                <a:path w="95250" h="2286000">
                  <a:moveTo>
                    <a:pt x="95250" y="0"/>
                  </a:moveTo>
                  <a:lnTo>
                    <a:pt x="0" y="2286000"/>
                  </a:lnTo>
                </a:path>
              </a:pathLst>
            </a:custGeom>
            <a:noFill/>
            <a:ln w="47625">
              <a:solidFill>
                <a:srgbClr val="2C3A52"/>
              </a:solidFill>
            </a:ln>
          </p:spPr>
        </p:sp>
        <p:sp>
          <p:nvSpPr>
            <p:cNvPr id="42" name="Line 42"/>
            <p:cNvSpPr/>
            <p:nvPr/>
          </p:nvSpPr>
          <p:spPr>
            <a:xfrm>
              <a:off x="685800" y="3676650"/>
              <a:ext cx="3048000" cy="76200"/>
            </a:xfrm>
            <a:custGeom>
              <a:avLst/>
              <a:gdLst/>
              <a:ahLst/>
              <a:cxnLst/>
              <a:rect l="l" t="t" r="r" b="b"/>
              <a:pathLst>
                <a:path w="3048000" h="76200">
                  <a:moveTo>
                    <a:pt x="0" y="0"/>
                  </a:moveTo>
                  <a:lnTo>
                    <a:pt x="3048000" y="76200"/>
                  </a:lnTo>
                </a:path>
              </a:pathLst>
            </a:custGeom>
            <a:noFill/>
            <a:ln w="47625">
              <a:solidFill>
                <a:srgbClr val="2C3A52"/>
              </a:solidFill>
            </a:ln>
          </p:spPr>
        </p:sp>
        <p:sp>
          <p:nvSpPr>
            <p:cNvPr id="43" name="Line 43"/>
            <p:cNvSpPr/>
            <p:nvPr/>
          </p:nvSpPr>
          <p:spPr>
            <a:xfrm>
              <a:off x="2114550" y="2533650"/>
              <a:ext cx="95250" cy="2286000"/>
            </a:xfrm>
            <a:custGeom>
              <a:avLst/>
              <a:gdLst/>
              <a:ahLst/>
              <a:cxnLst/>
              <a:rect l="l" t="t" r="r" b="b"/>
              <a:pathLst>
                <a:path w="95250" h="2286000">
                  <a:moveTo>
                    <a:pt x="95250" y="0"/>
                  </a:moveTo>
                  <a:lnTo>
                    <a:pt x="0" y="2286000"/>
                  </a:lnTo>
                </a:path>
              </a:pathLst>
            </a:custGeom>
            <a:noFill/>
            <a:ln w="47625">
              <a:solidFill>
                <a:srgbClr val="2C3A52"/>
              </a:solidFill>
            </a:ln>
          </p:spPr>
        </p:sp>
        <p:sp>
          <p:nvSpPr>
            <p:cNvPr id="44" name="Line 44"/>
            <p:cNvSpPr/>
            <p:nvPr/>
          </p:nvSpPr>
          <p:spPr>
            <a:xfrm>
              <a:off x="685800" y="4057650"/>
              <a:ext cx="3048000" cy="76200"/>
            </a:xfrm>
            <a:custGeom>
              <a:avLst/>
              <a:gdLst/>
              <a:ahLst/>
              <a:cxnLst/>
              <a:rect l="l" t="t" r="r" b="b"/>
              <a:pathLst>
                <a:path w="3048000" h="76200">
                  <a:moveTo>
                    <a:pt x="0" y="0"/>
                  </a:moveTo>
                  <a:lnTo>
                    <a:pt x="3048000" y="76200"/>
                  </a:lnTo>
                </a:path>
              </a:pathLst>
            </a:custGeom>
            <a:noFill/>
            <a:ln w="47625">
              <a:solidFill>
                <a:srgbClr val="2C3A52"/>
              </a:solidFill>
            </a:ln>
          </p:spPr>
        </p:sp>
        <p:sp>
          <p:nvSpPr>
            <p:cNvPr id="45" name="Line 45"/>
            <p:cNvSpPr/>
            <p:nvPr/>
          </p:nvSpPr>
          <p:spPr>
            <a:xfrm>
              <a:off x="2622232" y="2533650"/>
              <a:ext cx="95250" cy="2286000"/>
            </a:xfrm>
            <a:custGeom>
              <a:avLst/>
              <a:gdLst/>
              <a:ahLst/>
              <a:cxnLst/>
              <a:rect l="l" t="t" r="r" b="b"/>
              <a:pathLst>
                <a:path w="95250" h="2286000">
                  <a:moveTo>
                    <a:pt x="95250" y="0"/>
                  </a:moveTo>
                  <a:lnTo>
                    <a:pt x="0" y="2286000"/>
                  </a:lnTo>
                </a:path>
              </a:pathLst>
            </a:custGeom>
            <a:noFill/>
            <a:ln w="47625">
              <a:solidFill>
                <a:srgbClr val="2C3A52"/>
              </a:solidFill>
            </a:ln>
          </p:spPr>
        </p:sp>
        <p:sp>
          <p:nvSpPr>
            <p:cNvPr id="46" name="Line 46"/>
            <p:cNvSpPr/>
            <p:nvPr/>
          </p:nvSpPr>
          <p:spPr>
            <a:xfrm>
              <a:off x="685800" y="4438650"/>
              <a:ext cx="3048000" cy="76200"/>
            </a:xfrm>
            <a:custGeom>
              <a:avLst/>
              <a:gdLst/>
              <a:ahLst/>
              <a:cxnLst/>
              <a:rect l="l" t="t" r="r" b="b"/>
              <a:pathLst>
                <a:path w="3048000" h="76200">
                  <a:moveTo>
                    <a:pt x="0" y="0"/>
                  </a:moveTo>
                  <a:lnTo>
                    <a:pt x="3048000" y="76200"/>
                  </a:lnTo>
                </a:path>
              </a:pathLst>
            </a:custGeom>
            <a:noFill/>
            <a:ln w="47625">
              <a:solidFill>
                <a:srgbClr val="2C3A52"/>
              </a:solidFill>
            </a:ln>
          </p:spPr>
        </p:sp>
        <p:sp>
          <p:nvSpPr>
            <p:cNvPr id="47" name="Line 47"/>
            <p:cNvSpPr/>
            <p:nvPr/>
          </p:nvSpPr>
          <p:spPr>
            <a:xfrm>
              <a:off x="3130868" y="2533650"/>
              <a:ext cx="95250" cy="2286000"/>
            </a:xfrm>
            <a:custGeom>
              <a:avLst/>
              <a:gdLst/>
              <a:ahLst/>
              <a:cxnLst/>
              <a:rect l="l" t="t" r="r" b="b"/>
              <a:pathLst>
                <a:path w="95250" h="2286000">
                  <a:moveTo>
                    <a:pt x="95250" y="0"/>
                  </a:moveTo>
                  <a:lnTo>
                    <a:pt x="0" y="2286000"/>
                  </a:lnTo>
                </a:path>
              </a:pathLst>
            </a:custGeom>
            <a:noFill/>
            <a:ln w="47625">
              <a:solidFill>
                <a:srgbClr val="2C3A52"/>
              </a:solidFill>
            </a:ln>
          </p:spPr>
        </p:sp>
        <p:sp>
          <p:nvSpPr>
            <p:cNvPr id="48" name="Polyline 48"/>
            <p:cNvSpPr/>
            <p:nvPr/>
          </p:nvSpPr>
          <p:spPr>
            <a:xfrm>
              <a:off x="971550" y="2914650"/>
              <a:ext cx="2476500" cy="1524000"/>
            </a:xfrm>
            <a:custGeom>
              <a:avLst/>
              <a:gdLst/>
              <a:ahLst/>
              <a:cxnLst/>
              <a:rect l="l" t="t" r="r" b="b"/>
              <a:pathLst>
                <a:path w="2476500" h="1524000">
                  <a:moveTo>
                    <a:pt x="0" y="1524000"/>
                  </a:moveTo>
                  <a:lnTo>
                    <a:pt x="762000" y="1219200"/>
                  </a:lnTo>
                  <a:lnTo>
                    <a:pt x="1524000" y="952500"/>
                  </a:lnTo>
                  <a:lnTo>
                    <a:pt x="1905000" y="381000"/>
                  </a:lnTo>
                  <a:lnTo>
                    <a:pt x="2476500" y="0"/>
                  </a:lnTo>
                </a:path>
              </a:pathLst>
            </a:custGeom>
            <a:noFill/>
            <a:ln w="57150">
              <a:solidFill>
                <a:srgbClr val="4E9BEA"/>
              </a:solidFill>
              <a:round/>
            </a:ln>
          </p:spPr>
        </p:sp>
        <p:sp>
          <p:nvSpPr>
            <p:cNvPr id="49" name="Polyline 49"/>
            <p:cNvSpPr/>
            <p:nvPr/>
          </p:nvSpPr>
          <p:spPr>
            <a:xfrm>
              <a:off x="971550" y="3867150"/>
              <a:ext cx="1524000" cy="571500"/>
            </a:xfrm>
            <a:custGeom>
              <a:avLst/>
              <a:gdLst/>
              <a:ahLst/>
              <a:cxnLst/>
              <a:rect l="l" t="t" r="r" b="b"/>
              <a:pathLst>
                <a:path w="1524000" h="571500">
                  <a:moveTo>
                    <a:pt x="0" y="571500"/>
                  </a:moveTo>
                  <a:lnTo>
                    <a:pt x="762000" y="266700"/>
                  </a:lnTo>
                  <a:lnTo>
                    <a:pt x="1524000" y="0"/>
                  </a:lnTo>
                </a:path>
              </a:pathLst>
            </a:custGeom>
            <a:noFill/>
            <a:ln w="57150">
              <a:solidFill>
                <a:srgbClr val="3BA55C"/>
              </a:solidFill>
              <a:round/>
            </a:ln>
          </p:spPr>
        </p:sp>
        <p:sp>
          <p:nvSpPr>
            <p:cNvPr id="50" name="Ellipse 50"/>
            <p:cNvSpPr/>
            <p:nvPr/>
          </p:nvSpPr>
          <p:spPr>
            <a:xfrm>
              <a:off x="1628775" y="4029075"/>
              <a:ext cx="209550" cy="209550"/>
            </a:xfrm>
            <a:prstGeom prst="ellipse">
              <a:avLst/>
            </a:prstGeom>
            <a:solidFill>
              <a:srgbClr val="F5B700"/>
            </a:solidFill>
            <a:ln w="19050">
              <a:solidFill>
                <a:srgbClr val="0F1A2B"/>
              </a:solidFill>
            </a:ln>
          </p:spPr>
        </p:sp>
        <p:sp>
          <p:nvSpPr>
            <p:cNvPr id="51" name="TextBox 51"/>
            <p:cNvSpPr txBox="1"/>
            <p:nvPr/>
          </p:nvSpPr>
          <p:spPr>
            <a:xfrm>
              <a:off x="1690503" y="4067175"/>
              <a:ext cx="86094" cy="191643"/>
            </a:xfrm>
            <a:prstGeom prst="rect">
              <a:avLst/>
            </a:prstGeom>
            <a:noFill/>
            <a:ln>
              <a:noFill/>
            </a:ln>
          </p:spPr>
          <p:txBody>
            <a:bodyPr wrap="none" lIns="0" tIns="0" rIns="0" bIns="0" anchor="t" anchorCtr="0">
              <a:spAutoFit/>
            </a:bodyPr>
            <a:lstStyle/>
            <a:p>
              <a:pPr algn="ctr"/>
              <a:r>
                <a:rPr lang="ko-KR" sz="980" b="1" dirty="0">
                  <a:solidFill>
                    <a:srgbClr val="0F1A2B"/>
                  </a:solidFill>
                  <a:latin typeface="+mn-lt"/>
                  <a:ea typeface="+mn-ea"/>
                  <a:cs typeface="+mn-cs"/>
                </a:rPr>
                <a:t>1</a:t>
              </a:r>
            </a:p>
          </p:txBody>
        </p:sp>
        <p:sp>
          <p:nvSpPr>
            <p:cNvPr id="52" name="Ellipse 52"/>
            <p:cNvSpPr/>
            <p:nvPr/>
          </p:nvSpPr>
          <p:spPr>
            <a:xfrm>
              <a:off x="2771775" y="3190875"/>
              <a:ext cx="209550" cy="209550"/>
            </a:xfrm>
            <a:prstGeom prst="ellipse">
              <a:avLst/>
            </a:prstGeom>
            <a:solidFill>
              <a:srgbClr val="F5B700"/>
            </a:solidFill>
            <a:ln w="19050">
              <a:solidFill>
                <a:srgbClr val="0F1A2B"/>
              </a:solidFill>
            </a:ln>
          </p:spPr>
        </p:sp>
        <p:sp>
          <p:nvSpPr>
            <p:cNvPr id="53" name="TextBox 53"/>
            <p:cNvSpPr txBox="1"/>
            <p:nvPr/>
          </p:nvSpPr>
          <p:spPr>
            <a:xfrm>
              <a:off x="2833503" y="3228975"/>
              <a:ext cx="86094" cy="191643"/>
            </a:xfrm>
            <a:prstGeom prst="rect">
              <a:avLst/>
            </a:prstGeom>
            <a:noFill/>
            <a:ln>
              <a:noFill/>
            </a:ln>
          </p:spPr>
          <p:txBody>
            <a:bodyPr wrap="none" lIns="0" tIns="0" rIns="0" bIns="0" anchor="t" anchorCtr="0">
              <a:spAutoFit/>
            </a:bodyPr>
            <a:lstStyle/>
            <a:p>
              <a:pPr algn="ctr"/>
              <a:r>
                <a:rPr lang="ko-KR" sz="980" b="1" dirty="0">
                  <a:solidFill>
                    <a:srgbClr val="0F1A2B"/>
                  </a:solidFill>
                  <a:latin typeface="+mn-lt"/>
                  <a:ea typeface="+mn-ea"/>
                  <a:cs typeface="+mn-cs"/>
                </a:rPr>
                <a:t>2</a:t>
              </a:r>
            </a:p>
          </p:txBody>
        </p:sp>
        <p:sp>
          <p:nvSpPr>
            <p:cNvPr id="54" name="Ellipse 54"/>
            <p:cNvSpPr/>
            <p:nvPr/>
          </p:nvSpPr>
          <p:spPr>
            <a:xfrm>
              <a:off x="3343275" y="2809875"/>
              <a:ext cx="209550" cy="209550"/>
            </a:xfrm>
            <a:prstGeom prst="ellipse">
              <a:avLst/>
            </a:prstGeom>
            <a:solidFill>
              <a:srgbClr val="C62828"/>
            </a:solidFill>
            <a:ln w="19050">
              <a:solidFill>
                <a:srgbClr val="0F1A2B"/>
              </a:solidFill>
            </a:ln>
          </p:spPr>
        </p:sp>
        <p:sp>
          <p:nvSpPr>
            <p:cNvPr id="55" name="TextBox 55"/>
            <p:cNvSpPr txBox="1"/>
            <p:nvPr/>
          </p:nvSpPr>
          <p:spPr>
            <a:xfrm>
              <a:off x="3405003" y="2847975"/>
              <a:ext cx="86094" cy="191643"/>
            </a:xfrm>
            <a:prstGeom prst="rect">
              <a:avLst/>
            </a:prstGeom>
            <a:noFill/>
            <a:ln>
              <a:noFill/>
            </a:ln>
          </p:spPr>
          <p:txBody>
            <a:bodyPr wrap="none" lIns="0" tIns="0" rIns="0" bIns="0" anchor="t" anchorCtr="0">
              <a:spAutoFit/>
            </a:bodyPr>
            <a:lstStyle/>
            <a:p>
              <a:pPr algn="ctr"/>
              <a:r>
                <a:rPr lang="ko-KR" sz="980" b="1" dirty="0">
                  <a:solidFill>
                    <a:srgbClr val="0F1A2B"/>
                  </a:solidFill>
                  <a:latin typeface="+mn-lt"/>
                  <a:ea typeface="+mn-ea"/>
                  <a:cs typeface="+mn-cs"/>
                </a:rPr>
                <a:t>3</a:t>
              </a:r>
            </a:p>
          </p:txBody>
        </p:sp>
        <p:sp>
          <p:nvSpPr>
            <p:cNvPr id="56" name="Rectangle 56"/>
            <p:cNvSpPr/>
            <p:nvPr/>
          </p:nvSpPr>
          <p:spPr>
            <a:xfrm>
              <a:off x="3867150" y="2533650"/>
              <a:ext cx="1847850" cy="381000"/>
            </a:xfrm>
            <a:prstGeom prst="roundRect">
              <a:avLst>
                <a:gd name="adj" fmla="val 15000"/>
              </a:avLst>
            </a:prstGeom>
            <a:solidFill>
              <a:srgbClr val="1B2638"/>
            </a:solidFill>
            <a:ln>
              <a:noFill/>
            </a:ln>
          </p:spPr>
        </p:sp>
        <p:sp>
          <p:nvSpPr>
            <p:cNvPr id="57" name="TextBox 57"/>
            <p:cNvSpPr txBox="1"/>
            <p:nvPr/>
          </p:nvSpPr>
          <p:spPr>
            <a:xfrm>
              <a:off x="3957447" y="2657475"/>
              <a:ext cx="577195" cy="191643"/>
            </a:xfrm>
            <a:prstGeom prst="rect">
              <a:avLst/>
            </a:prstGeom>
            <a:noFill/>
            <a:ln>
              <a:noFill/>
            </a:ln>
          </p:spPr>
          <p:txBody>
            <a:bodyPr wrap="none" lIns="0" tIns="0" rIns="0" bIns="0" anchor="t" anchorCtr="0">
              <a:spAutoFit/>
            </a:bodyPr>
            <a:lstStyle/>
            <a:p>
              <a:pPr algn="l"/>
              <a:r>
                <a:rPr lang="ko-KR" sz="980" dirty="0">
                  <a:solidFill>
                    <a:srgbClr val="9FB0C8"/>
                  </a:solidFill>
                  <a:latin typeface="+mn-lt"/>
                  <a:ea typeface="+mn-ea"/>
                  <a:cs typeface="+mn-cs"/>
                </a:rPr>
                <a:t>오늘 순찰</a:t>
              </a:r>
            </a:p>
          </p:txBody>
        </p:sp>
        <p:sp>
          <p:nvSpPr>
            <p:cNvPr id="58" name="TextBox 58"/>
            <p:cNvSpPr txBox="1"/>
            <p:nvPr/>
          </p:nvSpPr>
          <p:spPr>
            <a:xfrm>
              <a:off x="5094951" y="2644775"/>
              <a:ext cx="530133" cy="205359"/>
            </a:xfrm>
            <a:prstGeom prst="rect">
              <a:avLst/>
            </a:prstGeom>
            <a:noFill/>
            <a:ln>
              <a:noFill/>
            </a:ln>
          </p:spPr>
          <p:txBody>
            <a:bodyPr wrap="none" lIns="0" tIns="0" rIns="0" bIns="0" anchor="t" anchorCtr="0">
              <a:spAutoFit/>
            </a:bodyPr>
            <a:lstStyle/>
            <a:p>
              <a:pPr algn="r"/>
              <a:r>
                <a:rPr lang="en-US" sz="1050" b="1" dirty="0">
                  <a:solidFill>
                    <a:srgbClr val="FFFFFF"/>
                  </a:solidFill>
                  <a:latin typeface="+mn-lt"/>
                  <a:ea typeface="+mn-ea"/>
                  <a:cs typeface="+mn-cs"/>
                </a:rPr>
                <a:t>38.4km</a:t>
              </a:r>
            </a:p>
          </p:txBody>
        </p:sp>
        <p:sp>
          <p:nvSpPr>
            <p:cNvPr id="59" name="Rectangle 59"/>
            <p:cNvSpPr/>
            <p:nvPr/>
          </p:nvSpPr>
          <p:spPr>
            <a:xfrm>
              <a:off x="3867150" y="2990850"/>
              <a:ext cx="1847850" cy="381000"/>
            </a:xfrm>
            <a:prstGeom prst="roundRect">
              <a:avLst>
                <a:gd name="adj" fmla="val 15000"/>
              </a:avLst>
            </a:prstGeom>
            <a:solidFill>
              <a:srgbClr val="1B2638"/>
            </a:solidFill>
            <a:ln>
              <a:noFill/>
            </a:ln>
          </p:spPr>
        </p:sp>
        <p:sp>
          <p:nvSpPr>
            <p:cNvPr id="60" name="TextBox 60"/>
            <p:cNvSpPr txBox="1"/>
            <p:nvPr/>
          </p:nvSpPr>
          <p:spPr>
            <a:xfrm>
              <a:off x="3957447" y="3114675"/>
              <a:ext cx="709122" cy="191643"/>
            </a:xfrm>
            <a:prstGeom prst="rect">
              <a:avLst/>
            </a:prstGeom>
            <a:noFill/>
            <a:ln>
              <a:noFill/>
            </a:ln>
          </p:spPr>
          <p:txBody>
            <a:bodyPr wrap="none" lIns="0" tIns="0" rIns="0" bIns="0" anchor="t" anchorCtr="0">
              <a:spAutoFit/>
            </a:bodyPr>
            <a:lstStyle/>
            <a:p>
              <a:pPr algn="l"/>
              <a:r>
                <a:rPr lang="ko-KR" sz="980" dirty="0">
                  <a:solidFill>
                    <a:srgbClr val="9FB0C8"/>
                  </a:solidFill>
                  <a:latin typeface="+mn-lt"/>
                  <a:ea typeface="+mn-ea"/>
                  <a:cs typeface="+mn-cs"/>
                </a:rPr>
                <a:t>재확인 지점</a:t>
              </a:r>
            </a:p>
          </p:txBody>
        </p:sp>
        <p:sp>
          <p:nvSpPr>
            <p:cNvPr id="61" name="TextBox 61"/>
            <p:cNvSpPr txBox="1"/>
            <p:nvPr/>
          </p:nvSpPr>
          <p:spPr>
            <a:xfrm>
              <a:off x="5391435" y="3101975"/>
              <a:ext cx="233649" cy="205359"/>
            </a:xfrm>
            <a:prstGeom prst="rect">
              <a:avLst/>
            </a:prstGeom>
            <a:noFill/>
            <a:ln>
              <a:noFill/>
            </a:ln>
          </p:spPr>
          <p:txBody>
            <a:bodyPr wrap="none" lIns="0" tIns="0" rIns="0" bIns="0" anchor="t" anchorCtr="0">
              <a:spAutoFit/>
            </a:bodyPr>
            <a:lstStyle/>
            <a:p>
              <a:pPr algn="r"/>
              <a:r>
                <a:rPr lang="ko-KR" sz="1050" b="1" dirty="0">
                  <a:solidFill>
                    <a:srgbClr val="FFFFFF"/>
                  </a:solidFill>
                  <a:latin typeface="+mn-lt"/>
                  <a:ea typeface="+mn-ea"/>
                  <a:cs typeface="+mn-cs"/>
                </a:rPr>
                <a:t>3곳</a:t>
              </a:r>
            </a:p>
          </p:txBody>
        </p:sp>
        <p:sp>
          <p:nvSpPr>
            <p:cNvPr id="62" name="Rectangle 62"/>
            <p:cNvSpPr/>
            <p:nvPr/>
          </p:nvSpPr>
          <p:spPr>
            <a:xfrm>
              <a:off x="3867150" y="3448050"/>
              <a:ext cx="1847850" cy="381000"/>
            </a:xfrm>
            <a:prstGeom prst="roundRect">
              <a:avLst>
                <a:gd name="adj" fmla="val 15000"/>
              </a:avLst>
            </a:prstGeom>
            <a:solidFill>
              <a:srgbClr val="1B2638"/>
            </a:solidFill>
            <a:ln>
              <a:noFill/>
            </a:ln>
          </p:spPr>
        </p:sp>
        <p:sp>
          <p:nvSpPr>
            <p:cNvPr id="63" name="TextBox 63"/>
            <p:cNvSpPr txBox="1"/>
            <p:nvPr/>
          </p:nvSpPr>
          <p:spPr>
            <a:xfrm>
              <a:off x="3957447" y="3571875"/>
              <a:ext cx="976213" cy="191643"/>
            </a:xfrm>
            <a:prstGeom prst="rect">
              <a:avLst/>
            </a:prstGeom>
            <a:noFill/>
            <a:ln>
              <a:noFill/>
            </a:ln>
          </p:spPr>
          <p:txBody>
            <a:bodyPr wrap="none" lIns="0" tIns="0" rIns="0" bIns="0" anchor="t" anchorCtr="0">
              <a:spAutoFit/>
            </a:bodyPr>
            <a:lstStyle/>
            <a:p>
              <a:pPr algn="l"/>
              <a:r>
                <a:rPr lang="ko-KR" sz="980" dirty="0">
                  <a:solidFill>
                    <a:srgbClr val="9FB0C8"/>
                  </a:solidFill>
                  <a:latin typeface="+mn-lt"/>
                  <a:ea typeface="+mn-ea"/>
                  <a:cs typeface="+mn-cs"/>
                </a:rPr>
                <a:t>GPR·게이트웨이</a:t>
              </a:r>
            </a:p>
          </p:txBody>
        </p:sp>
        <p:sp>
          <p:nvSpPr>
            <p:cNvPr id="64" name="TextBox 64"/>
            <p:cNvSpPr txBox="1"/>
            <p:nvPr/>
          </p:nvSpPr>
          <p:spPr>
            <a:xfrm>
              <a:off x="5190363" y="3559175"/>
              <a:ext cx="434721" cy="205359"/>
            </a:xfrm>
            <a:prstGeom prst="rect">
              <a:avLst/>
            </a:prstGeom>
            <a:noFill/>
            <a:ln>
              <a:noFill/>
            </a:ln>
          </p:spPr>
          <p:txBody>
            <a:bodyPr wrap="none" lIns="0" tIns="0" rIns="0" bIns="0" anchor="t" anchorCtr="0">
              <a:spAutoFit/>
            </a:bodyPr>
            <a:lstStyle/>
            <a:p>
              <a:pPr algn="r"/>
              <a:r>
                <a:rPr lang="ko-KR" sz="1050" b="1" dirty="0">
                  <a:solidFill>
                    <a:srgbClr val="5AD27A"/>
                  </a:solidFill>
                  <a:latin typeface="+mn-lt"/>
                  <a:ea typeface="+mn-ea"/>
                  <a:cs typeface="+mn-cs"/>
                </a:rPr>
                <a:t>연결됨</a:t>
              </a:r>
            </a:p>
          </p:txBody>
        </p:sp>
        <p:sp>
          <p:nvSpPr>
            <p:cNvPr id="65" name="Rectangle 65"/>
            <p:cNvSpPr/>
            <p:nvPr/>
          </p:nvSpPr>
          <p:spPr>
            <a:xfrm>
              <a:off x="3867150" y="3962400"/>
              <a:ext cx="1847850" cy="857250"/>
            </a:xfrm>
            <a:prstGeom prst="roundRect">
              <a:avLst>
                <a:gd name="adj" fmla="val 8889"/>
              </a:avLst>
            </a:prstGeom>
            <a:solidFill>
              <a:srgbClr val="F5B700"/>
            </a:solidFill>
            <a:ln>
              <a:noFill/>
            </a:ln>
          </p:spPr>
        </p:sp>
        <p:sp>
          <p:nvSpPr>
            <p:cNvPr id="66" name="TextBox 66"/>
            <p:cNvSpPr txBox="1"/>
            <p:nvPr/>
          </p:nvSpPr>
          <p:spPr>
            <a:xfrm>
              <a:off x="4392119" y="4292600"/>
              <a:ext cx="797911" cy="264033"/>
            </a:xfrm>
            <a:prstGeom prst="rect">
              <a:avLst/>
            </a:prstGeom>
            <a:noFill/>
            <a:ln>
              <a:noFill/>
            </a:ln>
          </p:spPr>
          <p:txBody>
            <a:bodyPr wrap="none" lIns="0" tIns="0" rIns="0" bIns="0" anchor="t" anchorCtr="0">
              <a:spAutoFit/>
            </a:bodyPr>
            <a:lstStyle/>
            <a:p>
              <a:pPr algn="ctr"/>
              <a:r>
                <a:rPr lang="ko-KR" sz="1350" b="1" dirty="0">
                  <a:solidFill>
                    <a:srgbClr val="0F1A2B"/>
                  </a:solidFill>
                  <a:latin typeface="+mn-lt"/>
                  <a:ea typeface="+mn-ea"/>
                  <a:cs typeface="+mn-cs"/>
                </a:rPr>
                <a:t>순찰 시작</a:t>
              </a:r>
            </a:p>
          </p:txBody>
        </p:sp>
        <p:grpSp>
          <p:nvGrpSpPr>
            <p:cNvPr id="88" name="Group 88"/>
            <p:cNvGrpSpPr/>
            <p:nvPr/>
          </p:nvGrpSpPr>
          <p:grpSpPr>
            <a:xfrm>
              <a:off x="6324600" y="2114550"/>
              <a:ext cx="5334000" cy="2857500"/>
              <a:chOff x="6324600" y="2114550"/>
              <a:chExt cx="5334000" cy="2857500"/>
            </a:xfrm>
          </p:grpSpPr>
          <p:sp>
            <p:nvSpPr>
              <p:cNvPr id="67" name="Rectangle 67"/>
              <p:cNvSpPr/>
              <p:nvPr/>
            </p:nvSpPr>
            <p:spPr>
              <a:xfrm>
                <a:off x="6324600" y="2114550"/>
                <a:ext cx="5334000" cy="2857500"/>
              </a:xfrm>
              <a:prstGeom prst="rect">
                <a:avLst/>
              </a:prstGeom>
              <a:solidFill>
                <a:srgbClr val="1B2433"/>
              </a:solidFill>
              <a:ln>
                <a:noFill/>
              </a:ln>
            </p:spPr>
          </p:sp>
          <p:sp>
            <p:nvSpPr>
              <p:cNvPr id="68" name="Rectangle 68"/>
              <p:cNvSpPr/>
              <p:nvPr/>
            </p:nvSpPr>
            <p:spPr>
              <a:xfrm>
                <a:off x="6324600" y="2114550"/>
                <a:ext cx="5334000" cy="876300"/>
              </a:xfrm>
              <a:prstGeom prst="rect">
                <a:avLst/>
              </a:prstGeom>
              <a:solidFill>
                <a:srgbClr val="263247"/>
              </a:solidFill>
              <a:ln>
                <a:noFill/>
              </a:ln>
            </p:spPr>
          </p:sp>
          <p:sp>
            <p:nvSpPr>
              <p:cNvPr id="69" name="Rectangle 69"/>
              <p:cNvSpPr/>
              <p:nvPr/>
            </p:nvSpPr>
            <p:spPr>
              <a:xfrm>
                <a:off x="6457950" y="2705100"/>
                <a:ext cx="381000" cy="285750"/>
              </a:xfrm>
              <a:prstGeom prst="rect">
                <a:avLst/>
              </a:prstGeom>
              <a:solidFill>
                <a:srgbClr val="33405A"/>
              </a:solidFill>
              <a:ln>
                <a:noFill/>
              </a:ln>
            </p:spPr>
          </p:sp>
          <p:sp>
            <p:nvSpPr>
              <p:cNvPr id="70" name="Rectangle 70"/>
              <p:cNvSpPr/>
              <p:nvPr/>
            </p:nvSpPr>
            <p:spPr>
              <a:xfrm>
                <a:off x="11144250" y="2743200"/>
                <a:ext cx="361950" cy="247650"/>
              </a:xfrm>
              <a:prstGeom prst="rect">
                <a:avLst/>
              </a:prstGeom>
              <a:solidFill>
                <a:srgbClr val="33405A"/>
              </a:solidFill>
              <a:ln>
                <a:noFill/>
              </a:ln>
            </p:spPr>
          </p:sp>
          <p:sp>
            <p:nvSpPr>
              <p:cNvPr id="71" name="Rectangle 71"/>
              <p:cNvSpPr/>
              <p:nvPr/>
            </p:nvSpPr>
            <p:spPr>
              <a:xfrm>
                <a:off x="6934200" y="2571750"/>
                <a:ext cx="381000" cy="419100"/>
              </a:xfrm>
              <a:prstGeom prst="rect">
                <a:avLst/>
              </a:prstGeom>
              <a:solidFill>
                <a:srgbClr val="33405A"/>
              </a:solidFill>
              <a:ln>
                <a:noFill/>
              </a:ln>
            </p:spPr>
          </p:sp>
          <p:sp>
            <p:nvSpPr>
              <p:cNvPr id="72" name="Rectangle 72"/>
              <p:cNvSpPr/>
              <p:nvPr/>
            </p:nvSpPr>
            <p:spPr>
              <a:xfrm>
                <a:off x="10687050" y="2590800"/>
                <a:ext cx="361950" cy="400050"/>
              </a:xfrm>
              <a:prstGeom prst="rect">
                <a:avLst/>
              </a:prstGeom>
              <a:solidFill>
                <a:srgbClr val="33405A"/>
              </a:solidFill>
              <a:ln>
                <a:noFill/>
              </a:ln>
            </p:spPr>
          </p:sp>
          <p:sp>
            <p:nvSpPr>
              <p:cNvPr id="73" name="Rectangle 73"/>
              <p:cNvSpPr/>
              <p:nvPr/>
            </p:nvSpPr>
            <p:spPr>
              <a:xfrm>
                <a:off x="7410450" y="2438400"/>
                <a:ext cx="381000" cy="552450"/>
              </a:xfrm>
              <a:prstGeom prst="rect">
                <a:avLst/>
              </a:prstGeom>
              <a:solidFill>
                <a:srgbClr val="33405A"/>
              </a:solidFill>
              <a:ln>
                <a:noFill/>
              </a:ln>
            </p:spPr>
          </p:sp>
          <p:sp>
            <p:nvSpPr>
              <p:cNvPr id="74" name="Rectangle 74"/>
              <p:cNvSpPr/>
              <p:nvPr/>
            </p:nvSpPr>
            <p:spPr>
              <a:xfrm>
                <a:off x="10229850" y="2743200"/>
                <a:ext cx="361950" cy="247650"/>
              </a:xfrm>
              <a:prstGeom prst="rect">
                <a:avLst/>
              </a:prstGeom>
              <a:solidFill>
                <a:srgbClr val="33405A"/>
              </a:solidFill>
              <a:ln>
                <a:noFill/>
              </a:ln>
            </p:spPr>
          </p:sp>
          <p:sp>
            <p:nvSpPr>
              <p:cNvPr id="75" name="Rectangle 75"/>
              <p:cNvSpPr/>
              <p:nvPr/>
            </p:nvSpPr>
            <p:spPr>
              <a:xfrm>
                <a:off x="7886700" y="2705100"/>
                <a:ext cx="381000" cy="285750"/>
              </a:xfrm>
              <a:prstGeom prst="rect">
                <a:avLst/>
              </a:prstGeom>
              <a:solidFill>
                <a:srgbClr val="33405A"/>
              </a:solidFill>
              <a:ln>
                <a:noFill/>
              </a:ln>
            </p:spPr>
          </p:sp>
          <p:sp>
            <p:nvSpPr>
              <p:cNvPr id="76" name="Rectangle 76"/>
              <p:cNvSpPr/>
              <p:nvPr/>
            </p:nvSpPr>
            <p:spPr>
              <a:xfrm>
                <a:off x="9772650" y="2590800"/>
                <a:ext cx="361950" cy="400050"/>
              </a:xfrm>
              <a:prstGeom prst="rect">
                <a:avLst/>
              </a:prstGeom>
              <a:solidFill>
                <a:srgbClr val="33405A"/>
              </a:solidFill>
              <a:ln>
                <a:noFill/>
              </a:ln>
            </p:spPr>
          </p:sp>
          <p:sp>
            <p:nvSpPr>
              <p:cNvPr id="77" name="Rectangle 77"/>
              <p:cNvSpPr/>
              <p:nvPr/>
            </p:nvSpPr>
            <p:spPr>
              <a:xfrm>
                <a:off x="8362950" y="2571750"/>
                <a:ext cx="381000" cy="419100"/>
              </a:xfrm>
              <a:prstGeom prst="rect">
                <a:avLst/>
              </a:prstGeom>
              <a:solidFill>
                <a:srgbClr val="33405A"/>
              </a:solidFill>
              <a:ln>
                <a:noFill/>
              </a:ln>
            </p:spPr>
          </p:sp>
          <p:sp>
            <p:nvSpPr>
              <p:cNvPr id="78" name="Rectangle 78"/>
              <p:cNvSpPr/>
              <p:nvPr/>
            </p:nvSpPr>
            <p:spPr>
              <a:xfrm>
                <a:off x="9315450" y="2743200"/>
                <a:ext cx="361950" cy="247650"/>
              </a:xfrm>
              <a:prstGeom prst="rect">
                <a:avLst/>
              </a:prstGeom>
              <a:solidFill>
                <a:srgbClr val="33405A"/>
              </a:solidFill>
              <a:ln>
                <a:noFill/>
              </a:ln>
            </p:spPr>
          </p:sp>
          <p:sp>
            <p:nvSpPr>
              <p:cNvPr id="79" name="Rectangle 79"/>
              <p:cNvSpPr/>
              <p:nvPr/>
            </p:nvSpPr>
            <p:spPr>
              <a:xfrm>
                <a:off x="8839200" y="2438400"/>
                <a:ext cx="381000" cy="552450"/>
              </a:xfrm>
              <a:prstGeom prst="rect">
                <a:avLst/>
              </a:prstGeom>
              <a:solidFill>
                <a:srgbClr val="33405A"/>
              </a:solidFill>
              <a:ln>
                <a:noFill/>
              </a:ln>
            </p:spPr>
          </p:sp>
          <p:sp>
            <p:nvSpPr>
              <p:cNvPr id="80" name="Rectangle 80"/>
              <p:cNvSpPr/>
              <p:nvPr/>
            </p:nvSpPr>
            <p:spPr>
              <a:xfrm>
                <a:off x="8858250" y="2590800"/>
                <a:ext cx="361950" cy="400050"/>
              </a:xfrm>
              <a:prstGeom prst="rect">
                <a:avLst/>
              </a:prstGeom>
              <a:solidFill>
                <a:srgbClr val="33405A"/>
              </a:solidFill>
              <a:ln>
                <a:noFill/>
              </a:ln>
            </p:spPr>
          </p:sp>
          <p:sp>
            <p:nvSpPr>
              <p:cNvPr id="81" name="Freeform 81"/>
              <p:cNvSpPr/>
              <p:nvPr/>
            </p:nvSpPr>
            <p:spPr>
              <a:xfrm>
                <a:off x="6324600" y="2990850"/>
                <a:ext cx="5334000" cy="1981200"/>
              </a:xfrm>
              <a:custGeom>
                <a:avLst/>
                <a:gdLst/>
                <a:ahLst/>
                <a:cxnLst/>
                <a:rect l="l" t="t" r="r" b="b"/>
                <a:pathLst>
                  <a:path w="5334000" h="1981200">
                    <a:moveTo>
                      <a:pt x="2286000" y="0"/>
                    </a:moveTo>
                    <a:lnTo>
                      <a:pt x="3048000" y="0"/>
                    </a:lnTo>
                    <a:lnTo>
                      <a:pt x="5334000" y="1695450"/>
                    </a:lnTo>
                    <a:lnTo>
                      <a:pt x="5334000" y="1981200"/>
                    </a:lnTo>
                    <a:lnTo>
                      <a:pt x="0" y="1981200"/>
                    </a:lnTo>
                    <a:lnTo>
                      <a:pt x="0" y="1695450"/>
                    </a:lnTo>
                    <a:close/>
                  </a:path>
                </a:pathLst>
              </a:custGeom>
              <a:solidFill>
                <a:srgbClr val="3A3F47"/>
              </a:solidFill>
              <a:ln>
                <a:noFill/>
              </a:ln>
            </p:spPr>
          </p:sp>
          <p:sp>
            <p:nvSpPr>
              <p:cNvPr id="82" name="Freeform 82"/>
              <p:cNvSpPr/>
              <p:nvPr/>
            </p:nvSpPr>
            <p:spPr>
              <a:xfrm>
                <a:off x="8905875" y="2990850"/>
                <a:ext cx="171450" cy="1981200"/>
              </a:xfrm>
              <a:custGeom>
                <a:avLst/>
                <a:gdLst/>
                <a:ahLst/>
                <a:cxnLst/>
                <a:rect l="l" t="t" r="r" b="b"/>
                <a:pathLst>
                  <a:path w="171450" h="1981200">
                    <a:moveTo>
                      <a:pt x="57150" y="0"/>
                    </a:moveTo>
                    <a:lnTo>
                      <a:pt x="114300" y="0"/>
                    </a:lnTo>
                    <a:lnTo>
                      <a:pt x="171450" y="1981200"/>
                    </a:lnTo>
                    <a:lnTo>
                      <a:pt x="0" y="1981200"/>
                    </a:lnTo>
                    <a:close/>
                  </a:path>
                </a:pathLst>
              </a:custGeom>
              <a:solidFill>
                <a:srgbClr val="F5B700"/>
              </a:solidFill>
              <a:ln>
                <a:noFill/>
              </a:ln>
            </p:spPr>
          </p:sp>
          <p:sp>
            <p:nvSpPr>
              <p:cNvPr id="83" name="Line 83"/>
              <p:cNvSpPr/>
              <p:nvPr/>
            </p:nvSpPr>
            <p:spPr>
              <a:xfrm>
                <a:off x="6324600" y="2990850"/>
                <a:ext cx="2286000" cy="1695450"/>
              </a:xfrm>
              <a:custGeom>
                <a:avLst/>
                <a:gdLst/>
                <a:ahLst/>
                <a:cxnLst/>
                <a:rect l="l" t="t" r="r" b="b"/>
                <a:pathLst>
                  <a:path w="2286000" h="1695450">
                    <a:moveTo>
                      <a:pt x="2286000" y="0"/>
                    </a:moveTo>
                    <a:lnTo>
                      <a:pt x="0" y="1695450"/>
                    </a:lnTo>
                  </a:path>
                </a:pathLst>
              </a:custGeom>
              <a:noFill/>
              <a:ln w="28575">
                <a:solidFill>
                  <a:srgbClr val="D9DDE3"/>
                </a:solidFill>
              </a:ln>
            </p:spPr>
          </p:sp>
          <p:sp>
            <p:nvSpPr>
              <p:cNvPr id="84" name="Freeform 84"/>
              <p:cNvSpPr/>
              <p:nvPr/>
            </p:nvSpPr>
            <p:spPr>
              <a:xfrm>
                <a:off x="9182100" y="3733800"/>
                <a:ext cx="1428750" cy="666750"/>
              </a:xfrm>
              <a:custGeom>
                <a:avLst/>
                <a:gdLst/>
                <a:ahLst/>
                <a:cxnLst/>
                <a:rect l="l" t="t" r="r" b="b"/>
                <a:pathLst>
                  <a:path w="1428750" h="666750">
                    <a:moveTo>
                      <a:pt x="95250" y="0"/>
                    </a:moveTo>
                    <a:lnTo>
                      <a:pt x="952500" y="0"/>
                    </a:lnTo>
                    <a:lnTo>
                      <a:pt x="1428750" y="666750"/>
                    </a:lnTo>
                    <a:lnTo>
                      <a:pt x="0" y="666750"/>
                    </a:lnTo>
                    <a:close/>
                  </a:path>
                </a:pathLst>
              </a:custGeom>
              <a:solidFill>
                <a:srgbClr val="F5B700">
                  <a:alpha val="28000"/>
                </a:srgbClr>
              </a:solidFill>
              <a:ln w="23812">
                <a:solidFill>
                  <a:srgbClr val="F5B700"/>
                </a:solidFill>
              </a:ln>
            </p:spPr>
          </p:sp>
          <p:sp>
            <p:nvSpPr>
              <p:cNvPr id="85" name="Line 85"/>
              <p:cNvSpPr/>
              <p:nvPr/>
            </p:nvSpPr>
            <p:spPr>
              <a:xfrm>
                <a:off x="9248775" y="3952875"/>
                <a:ext cx="1038225" cy="9525"/>
              </a:xfrm>
              <a:custGeom>
                <a:avLst/>
                <a:gdLst/>
                <a:ahLst/>
                <a:cxnLst/>
                <a:rect l="l" t="t" r="r" b="b"/>
                <a:pathLst>
                  <a:path w="1038225" h="9525">
                    <a:moveTo>
                      <a:pt x="0" y="0"/>
                    </a:moveTo>
                    <a:lnTo>
                      <a:pt x="1038225" y="0"/>
                    </a:lnTo>
                  </a:path>
                </a:pathLst>
              </a:custGeom>
              <a:noFill/>
              <a:ln w="11430">
                <a:solidFill>
                  <a:srgbClr val="F5B700"/>
                </a:solidFill>
                <a:custDash>
                  <a:ds d="416667" sp="333333"/>
                </a:custDash>
              </a:ln>
            </p:spPr>
          </p:sp>
          <p:sp>
            <p:nvSpPr>
              <p:cNvPr id="86" name="Line 86"/>
              <p:cNvSpPr/>
              <p:nvPr/>
            </p:nvSpPr>
            <p:spPr>
              <a:xfrm>
                <a:off x="9210675" y="4171950"/>
                <a:ext cx="1238250" cy="9525"/>
              </a:xfrm>
              <a:custGeom>
                <a:avLst/>
                <a:gdLst/>
                <a:ahLst/>
                <a:cxnLst/>
                <a:rect l="l" t="t" r="r" b="b"/>
                <a:pathLst>
                  <a:path w="1238250" h="9525">
                    <a:moveTo>
                      <a:pt x="0" y="0"/>
                    </a:moveTo>
                    <a:lnTo>
                      <a:pt x="1238250" y="0"/>
                    </a:lnTo>
                  </a:path>
                </a:pathLst>
              </a:custGeom>
              <a:noFill/>
              <a:ln w="11430">
                <a:solidFill>
                  <a:srgbClr val="F5B700"/>
                </a:solidFill>
                <a:custDash>
                  <a:ds d="416667" sp="333333"/>
                </a:custDash>
              </a:ln>
            </p:spPr>
          </p:sp>
          <p:sp>
            <p:nvSpPr>
              <p:cNvPr id="87" name="Ellipse 87"/>
              <p:cNvSpPr/>
              <p:nvPr/>
            </p:nvSpPr>
            <p:spPr>
              <a:xfrm>
                <a:off x="7867650" y="4476750"/>
                <a:ext cx="914400" cy="266700"/>
              </a:xfrm>
              <a:prstGeom prst="ellipse">
                <a:avLst/>
              </a:prstGeom>
              <a:solidFill>
                <a:srgbClr val="4B5563"/>
              </a:solidFill>
              <a:ln w="23812">
                <a:solidFill>
                  <a:srgbClr val="FFFFFF"/>
                </a:solidFill>
              </a:ln>
            </p:spPr>
          </p:sp>
        </p:grpSp>
        <p:sp>
          <p:nvSpPr>
            <p:cNvPr id="89" name="Rectangle 89"/>
            <p:cNvSpPr/>
            <p:nvPr/>
          </p:nvSpPr>
          <p:spPr>
            <a:xfrm>
              <a:off x="6324600" y="2114550"/>
              <a:ext cx="5334000" cy="228600"/>
            </a:xfrm>
            <a:prstGeom prst="rect">
              <a:avLst/>
            </a:prstGeom>
            <a:solidFill>
              <a:srgbClr val="C62828">
                <a:alpha val="92000"/>
              </a:srgbClr>
            </a:solidFill>
            <a:ln>
              <a:noFill/>
            </a:ln>
          </p:spPr>
        </p:sp>
        <p:sp>
          <p:nvSpPr>
            <p:cNvPr id="90" name="TextBox 90"/>
            <p:cNvSpPr txBox="1"/>
            <p:nvPr/>
          </p:nvSpPr>
          <p:spPr>
            <a:xfrm>
              <a:off x="7452270" y="2162175"/>
              <a:ext cx="3078660"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GPR 기반 추정 위치 · 굴착 전 정밀조사와 승인 필요</a:t>
              </a:r>
            </a:p>
          </p:txBody>
        </p:sp>
        <p:sp>
          <p:nvSpPr>
            <p:cNvPr id="91" name="Rectangle 91"/>
            <p:cNvSpPr/>
            <p:nvPr/>
          </p:nvSpPr>
          <p:spPr>
            <a:xfrm>
              <a:off x="6457950" y="2457450"/>
              <a:ext cx="2247900" cy="495300"/>
            </a:xfrm>
            <a:prstGeom prst="roundRect">
              <a:avLst>
                <a:gd name="adj" fmla="val 11538"/>
              </a:avLst>
            </a:prstGeom>
            <a:solidFill>
              <a:srgbClr val="0B1E3C">
                <a:alpha val="90000"/>
              </a:srgbClr>
            </a:solidFill>
            <a:ln>
              <a:noFill/>
            </a:ln>
          </p:spPr>
        </p:sp>
        <p:sp>
          <p:nvSpPr>
            <p:cNvPr id="92" name="TextBox 92"/>
            <p:cNvSpPr txBox="1"/>
            <p:nvPr/>
          </p:nvSpPr>
          <p:spPr>
            <a:xfrm>
              <a:off x="6566916" y="2540000"/>
              <a:ext cx="2034434"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재확인 R-0427 · 재탐사 3/4회</a:t>
              </a:r>
            </a:p>
          </p:txBody>
        </p:sp>
        <p:sp>
          <p:nvSpPr>
            <p:cNvPr id="93" name="TextBox 93"/>
            <p:cNvSpPr txBox="1"/>
            <p:nvPr/>
          </p:nvSpPr>
          <p:spPr>
            <a:xfrm>
              <a:off x="6567297" y="2743200"/>
              <a:ext cx="1942645" cy="191643"/>
            </a:xfrm>
            <a:prstGeom prst="rect">
              <a:avLst/>
            </a:prstGeom>
            <a:noFill/>
            <a:ln>
              <a:noFill/>
            </a:ln>
          </p:spPr>
          <p:txBody>
            <a:bodyPr wrap="none" lIns="0" tIns="0" rIns="0" bIns="0" anchor="t" anchorCtr="0">
              <a:spAutoFit/>
            </a:bodyPr>
            <a:lstStyle/>
            <a:p>
              <a:pPr algn="l"/>
              <a:r>
                <a:rPr lang="ko-KR" sz="980" dirty="0">
                  <a:solidFill>
                    <a:srgbClr val="D6DDE8"/>
                  </a:solidFill>
                  <a:latin typeface="+mn-lt"/>
                  <a:ea typeface="+mn-ea"/>
                  <a:cs typeface="+mn-cs"/>
                </a:rPr>
                <a:t>추정 깊이 0.9~1.3m · 신규 변화</a:t>
              </a:r>
            </a:p>
          </p:txBody>
        </p:sp>
        <p:sp>
          <p:nvSpPr>
            <p:cNvPr id="94" name="TextBox 94"/>
            <p:cNvSpPr txBox="1"/>
            <p:nvPr/>
          </p:nvSpPr>
          <p:spPr>
            <a:xfrm>
              <a:off x="7910427" y="4781550"/>
              <a:ext cx="8288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기준점 · 맨홀</a:t>
              </a:r>
            </a:p>
          </p:txBody>
        </p:sp>
        <p:sp>
          <p:nvSpPr>
            <p:cNvPr id="95" name="TextBox 95"/>
            <p:cNvSpPr txBox="1"/>
            <p:nvPr/>
          </p:nvSpPr>
          <p:spPr>
            <a:xfrm>
              <a:off x="9505976" y="3511550"/>
              <a:ext cx="761949" cy="205359"/>
            </a:xfrm>
            <a:prstGeom prst="rect">
              <a:avLst/>
            </a:prstGeom>
            <a:noFill/>
            <a:ln>
              <a:noFill/>
            </a:ln>
          </p:spPr>
          <p:txBody>
            <a:bodyPr wrap="none" lIns="0" tIns="0" rIns="0" bIns="0" anchor="t" anchorCtr="0">
              <a:spAutoFit/>
            </a:bodyPr>
            <a:lstStyle/>
            <a:p>
              <a:pPr algn="ctr"/>
              <a:r>
                <a:rPr lang="ko-KR" sz="1050" b="1" dirty="0">
                  <a:solidFill>
                    <a:srgbClr val="F5B700"/>
                  </a:solidFill>
                  <a:latin typeface="+mn-lt"/>
                  <a:ea typeface="+mn-ea"/>
                  <a:cs typeface="+mn-cs"/>
                </a:rPr>
                <a:t>재탐사 범위</a:t>
              </a:r>
            </a:p>
          </p:txBody>
        </p:sp>
        <p:sp>
          <p:nvSpPr>
            <p:cNvPr id="96" name="TextBox 96"/>
            <p:cNvSpPr txBox="1"/>
            <p:nvPr/>
          </p:nvSpPr>
          <p:spPr>
            <a:xfrm>
              <a:off x="526542" y="5092700"/>
              <a:ext cx="3434534"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운전석 · PV5 화면의 Patrol 앱 </a:t>
              </a:r>
              <a:r>
                <a:rPr lang="ko-KR" sz="1050" dirty="0">
                  <a:solidFill>
                    <a:srgbClr val="4B5563"/>
                  </a:solidFill>
                  <a:latin typeface="+mn-lt"/>
                  <a:ea typeface="+mn-ea"/>
                  <a:cs typeface="+mn-cs"/>
                </a:rPr>
                <a:t>[화면 예시]</a:t>
              </a:r>
            </a:p>
          </p:txBody>
        </p:sp>
        <p:sp>
          <p:nvSpPr>
            <p:cNvPr id="97" name="TextBox 97"/>
            <p:cNvSpPr txBox="1"/>
            <p:nvPr/>
          </p:nvSpPr>
          <p:spPr>
            <a:xfrm>
              <a:off x="527685" y="5365750"/>
              <a:ext cx="327569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오늘의 순찰 경로와 재확인 지점, 장비 연결 상태</a:t>
              </a:r>
            </a:p>
          </p:txBody>
        </p:sp>
        <p:sp>
          <p:nvSpPr>
            <p:cNvPr id="98" name="TextBox 98"/>
            <p:cNvSpPr txBox="1"/>
            <p:nvPr/>
          </p:nvSpPr>
          <p:spPr>
            <a:xfrm>
              <a:off x="6317742" y="5092700"/>
              <a:ext cx="2907612"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차 밖 · 작업자 AR 글래스 </a:t>
              </a:r>
              <a:r>
                <a:rPr lang="ko-KR" sz="1050" dirty="0">
                  <a:solidFill>
                    <a:srgbClr val="4B5563"/>
                  </a:solidFill>
                  <a:latin typeface="+mn-lt"/>
                  <a:ea typeface="+mn-ea"/>
                  <a:cs typeface="+mn-cs"/>
                </a:rPr>
                <a:t>[화면 예시]</a:t>
              </a:r>
            </a:p>
          </p:txBody>
        </p:sp>
        <p:sp>
          <p:nvSpPr>
            <p:cNvPr id="99" name="TextBox 99"/>
            <p:cNvSpPr txBox="1"/>
            <p:nvPr/>
          </p:nvSpPr>
          <p:spPr>
            <a:xfrm>
              <a:off x="6318885" y="5365750"/>
              <a:ext cx="350342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두 손으로 수동 GPR을 미는 동안 재탐사 범위를 표시</a:t>
              </a:r>
            </a:p>
          </p:txBody>
        </p:sp>
      </p:grpSp>
      <p:grpSp>
        <p:nvGrpSpPr>
          <p:cNvPr id="103" name="conclusion"/>
          <p:cNvGrpSpPr/>
          <p:nvPr/>
        </p:nvGrpSpPr>
        <p:grpSpPr>
          <a:xfrm>
            <a:off x="533400" y="5715000"/>
            <a:ext cx="7130531" cy="419100"/>
            <a:chOff x="533400" y="5715000"/>
            <a:chExt cx="7130531" cy="419100"/>
          </a:xfrm>
        </p:grpSpPr>
        <p:sp>
          <p:nvSpPr>
            <p:cNvPr id="101" name="Rectangle 101"/>
            <p:cNvSpPr/>
            <p:nvPr/>
          </p:nvSpPr>
          <p:spPr>
            <a:xfrm>
              <a:off x="533400" y="5715000"/>
              <a:ext cx="38100" cy="419100"/>
            </a:xfrm>
            <a:prstGeom prst="rect">
              <a:avLst/>
            </a:prstGeom>
            <a:solidFill>
              <a:srgbClr val="F5B700"/>
            </a:solidFill>
            <a:ln>
              <a:noFill/>
            </a:ln>
          </p:spPr>
        </p:sp>
        <p:sp>
          <p:nvSpPr>
            <p:cNvPr id="102" name="TextBox 102"/>
            <p:cNvSpPr txBox="1"/>
            <p:nvPr/>
          </p:nvSpPr>
          <p:spPr>
            <a:xfrm>
              <a:off x="715899" y="5810250"/>
              <a:ext cx="694803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2인 1조로, 운전자는 주행 중 AR을 쓰지 않고, 정차 후 작업자만 씁니다.</a:t>
              </a:r>
            </a:p>
          </p:txBody>
        </p:sp>
      </p:grpSp>
      <p:grpSp>
        <p:nvGrpSpPr>
          <p:cNvPr id="105" name="source"/>
          <p:cNvGrpSpPr/>
          <p:nvPr/>
        </p:nvGrpSpPr>
        <p:grpSpPr>
          <a:xfrm>
            <a:off x="528447" y="6381750"/>
            <a:ext cx="7442657" cy="191643"/>
            <a:chOff x="528447" y="6381750"/>
            <a:chExt cx="7442657" cy="191643"/>
          </a:xfrm>
        </p:grpSpPr>
        <p:sp>
          <p:nvSpPr>
            <p:cNvPr id="104" name="TextBox 104"/>
            <p:cNvSpPr txBox="1"/>
            <p:nvPr/>
          </p:nvSpPr>
          <p:spPr>
            <a:xfrm>
              <a:off x="528447" y="6381750"/>
              <a:ext cx="744265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AR은 공동의 실제 모양이 아니라 재탐사 범위만 안내 · 앱 배포와 차량 데이터 접근은 기아 PBV 파트너 승인 필요 · 화면은 예시</a:t>
              </a:r>
            </a:p>
          </p:txBody>
        </p:sp>
      </p:grpSp>
      <p:grpSp>
        <p:nvGrpSpPr>
          <p:cNvPr id="108" name="footer"/>
          <p:cNvGrpSpPr/>
          <p:nvPr/>
        </p:nvGrpSpPr>
        <p:grpSpPr>
          <a:xfrm>
            <a:off x="528638" y="6610350"/>
            <a:ext cx="11134724" cy="176212"/>
            <a:chOff x="528638" y="6610350"/>
            <a:chExt cx="11134724" cy="176212"/>
          </a:xfrm>
        </p:grpSpPr>
        <p:sp>
          <p:nvSpPr>
            <p:cNvPr id="106" name="TextBox 10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107" name="TextBox 10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14</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349998" cy="586740"/>
            <a:chOff x="518160" y="774700"/>
            <a:chExt cx="10349998" cy="586740"/>
          </a:xfrm>
        </p:grpSpPr>
        <p:sp>
          <p:nvSpPr>
            <p:cNvPr id="17" name="TextBox 17"/>
            <p:cNvSpPr txBox="1"/>
            <p:nvPr/>
          </p:nvSpPr>
          <p:spPr>
            <a:xfrm>
              <a:off x="518160" y="774700"/>
              <a:ext cx="1034999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화물칸 하나에 탐사실이 들어가고, 차량과 연결됩니다</a:t>
              </a:r>
            </a:p>
          </p:txBody>
        </p:sp>
      </p:grpSp>
      <p:grpSp>
        <p:nvGrpSpPr>
          <p:cNvPr id="31" name="cutaway"/>
          <p:cNvGrpSpPr/>
          <p:nvPr/>
        </p:nvGrpSpPr>
        <p:grpSpPr>
          <a:xfrm>
            <a:off x="527304" y="1600200"/>
            <a:ext cx="5906409" cy="3869309"/>
            <a:chOff x="527304" y="1600200"/>
            <a:chExt cx="5906409" cy="3869309"/>
          </a:xfrm>
        </p:grpSpPr>
        <p:pic>
          <p:nvPicPr>
            <p:cNvPr id="19" name="Image 19"/>
            <p:cNvPicPr>
              <a:picLocks noChangeAspect="1"/>
            </p:cNvPicPr>
            <p:nvPr/>
          </p:nvPicPr>
          <p:blipFill>
            <a:blip r:embed="rId2"/>
            <a:stretch>
              <a:fillRect/>
            </a:stretch>
          </p:blipFill>
          <p:spPr>
            <a:xfrm>
              <a:off x="538587" y="1600200"/>
              <a:ext cx="5895126" cy="2686050"/>
            </a:xfrm>
            <a:prstGeom prst="rect">
              <a:avLst/>
            </a:prstGeom>
          </p:spPr>
        </p:pic>
        <p:grpSp>
          <p:nvGrpSpPr>
            <p:cNvPr id="26" name="Group 26"/>
            <p:cNvGrpSpPr/>
            <p:nvPr/>
          </p:nvGrpSpPr>
          <p:grpSpPr>
            <a:xfrm>
              <a:off x="2057400" y="2552700"/>
              <a:ext cx="3495675" cy="676275"/>
              <a:chOff x="2057400" y="2552700"/>
              <a:chExt cx="3495675" cy="676275"/>
            </a:xfrm>
          </p:grpSpPr>
          <p:sp>
            <p:nvSpPr>
              <p:cNvPr id="20" name="Ellipse 20"/>
              <p:cNvSpPr/>
              <p:nvPr/>
            </p:nvSpPr>
            <p:spPr>
              <a:xfrm>
                <a:off x="2057400" y="2905125"/>
                <a:ext cx="323850" cy="323850"/>
              </a:xfrm>
              <a:prstGeom prst="ellipse">
                <a:avLst/>
              </a:prstGeom>
              <a:solidFill>
                <a:srgbClr val="F5B700"/>
              </a:solidFill>
              <a:ln w="19050">
                <a:solidFill>
                  <a:srgbClr val="0B1E3C"/>
                </a:solidFill>
              </a:ln>
            </p:spPr>
          </p:sp>
          <p:sp>
            <p:nvSpPr>
              <p:cNvPr id="21" name="TextBox 21"/>
              <p:cNvSpPr txBox="1"/>
              <p:nvPr/>
            </p:nvSpPr>
            <p:spPr>
              <a:xfrm>
                <a:off x="2163943" y="29718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91000" y="2771775"/>
                <a:ext cx="323850" cy="323850"/>
              </a:xfrm>
              <a:prstGeom prst="ellipse">
                <a:avLst/>
              </a:prstGeom>
              <a:solidFill>
                <a:srgbClr val="F5B700"/>
              </a:solidFill>
              <a:ln w="19050">
                <a:solidFill>
                  <a:srgbClr val="0B1E3C"/>
                </a:solidFill>
              </a:ln>
            </p:spPr>
          </p:sp>
          <p:sp>
            <p:nvSpPr>
              <p:cNvPr id="23" name="TextBox 23"/>
              <p:cNvSpPr txBox="1"/>
              <p:nvPr/>
            </p:nvSpPr>
            <p:spPr>
              <a:xfrm>
                <a:off x="4297543" y="28384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29225" y="2552700"/>
                <a:ext cx="323850" cy="323850"/>
              </a:xfrm>
              <a:prstGeom prst="ellipse">
                <a:avLst/>
              </a:prstGeom>
              <a:solidFill>
                <a:srgbClr val="F5B700"/>
              </a:solidFill>
              <a:ln w="19050">
                <a:solidFill>
                  <a:srgbClr val="0B1E3C"/>
                </a:solidFill>
              </a:ln>
            </p:spPr>
          </p:sp>
          <p:sp>
            <p:nvSpPr>
              <p:cNvPr id="25" name="TextBox 25"/>
              <p:cNvSpPr txBox="1"/>
              <p:nvPr/>
            </p:nvSpPr>
            <p:spPr>
              <a:xfrm>
                <a:off x="5335768" y="2619375"/>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sp>
          <p:nvSpPr>
            <p:cNvPr id="27" name="TextBox 27"/>
            <p:cNvSpPr txBox="1"/>
            <p:nvPr/>
          </p:nvSpPr>
          <p:spPr>
            <a:xfrm>
              <a:off x="527304" y="4419600"/>
              <a:ext cx="3590666" cy="234696"/>
            </a:xfrm>
            <a:prstGeom prst="rect">
              <a:avLst/>
            </a:prstGeom>
            <a:noFill/>
            <a:ln>
              <a:noFill/>
            </a:ln>
          </p:spPr>
          <p:txBody>
            <a:bodyPr wrap="none" lIns="0" tIns="0" rIns="0" bIns="0" anchor="t" anchorCtr="0">
              <a:spAutoFit/>
            </a:bodyPr>
            <a:lstStyle/>
            <a:p>
              <a:pPr algn="l"/>
              <a:r>
                <a:rPr lang="en-US" sz="1200" b="1" dirty="0">
                  <a:solidFill>
                    <a:srgbClr val="0B1E3C"/>
                  </a:solidFill>
                  <a:latin typeface="+mn-lt"/>
                  <a:ea typeface="+mn-ea"/>
                  <a:cs typeface="+mn-cs"/>
                </a:rPr>
                <a:t>A</a:t>
              </a:r>
              <a:r>
                <a:rPr lang="ko-KR" sz="1200" dirty="0">
                  <a:solidFill>
                    <a:srgbClr val="111827"/>
                  </a:solidFill>
                  <a:latin typeface="+mn-lt"/>
                  <a:ea typeface="+mn-ea"/>
                  <a:cs typeface="+mn-cs"/>
                </a:rPr>
                <a:t xml:space="preserve"> 분석 장비 랙 — 엣지 컴퓨터·GPR 제어·저장장치</a:t>
              </a:r>
            </a:p>
          </p:txBody>
        </p:sp>
        <p:sp>
          <p:nvSpPr>
            <p:cNvPr id="28" name="TextBox 28"/>
            <p:cNvSpPr txBox="1"/>
            <p:nvPr/>
          </p:nvSpPr>
          <p:spPr>
            <a:xfrm>
              <a:off x="527304" y="4686300"/>
              <a:ext cx="3588685" cy="234696"/>
            </a:xfrm>
            <a:prstGeom prst="rect">
              <a:avLst/>
            </a:prstGeom>
            <a:noFill/>
            <a:ln>
              <a:noFill/>
            </a:ln>
          </p:spPr>
          <p:txBody>
            <a:bodyPr wrap="none" lIns="0" tIns="0" rIns="0" bIns="0" anchor="t" anchorCtr="0">
              <a:spAutoFit/>
            </a:bodyPr>
            <a:lstStyle/>
            <a:p>
              <a:pPr algn="l"/>
              <a:r>
                <a:rPr lang="en-US" sz="1200" b="1" dirty="0">
                  <a:solidFill>
                    <a:srgbClr val="0B1E3C"/>
                  </a:solidFill>
                  <a:latin typeface="+mn-lt"/>
                  <a:ea typeface="+mn-ea"/>
                  <a:cs typeface="+mn-cs"/>
                </a:rPr>
                <a:t>B</a:t>
              </a:r>
              <a:r>
                <a:rPr lang="ko-KR" sz="1200" dirty="0">
                  <a:solidFill>
                    <a:srgbClr val="111827"/>
                  </a:solidFill>
                  <a:latin typeface="+mn-lt"/>
                  <a:ea typeface="+mn-ea"/>
                  <a:cs typeface="+mn-cs"/>
                </a:rPr>
                <a:t xml:space="preserve"> 재검증 — 수동 GPR 카트·AR 글래스·RTK 이동국</a:t>
              </a:r>
            </a:p>
          </p:txBody>
        </p:sp>
        <p:sp>
          <p:nvSpPr>
            <p:cNvPr id="29" name="TextBox 29"/>
            <p:cNvSpPr txBox="1"/>
            <p:nvPr/>
          </p:nvSpPr>
          <p:spPr>
            <a:xfrm>
              <a:off x="527304" y="4953000"/>
              <a:ext cx="2873167" cy="234696"/>
            </a:xfrm>
            <a:prstGeom prst="rect">
              <a:avLst/>
            </a:prstGeom>
            <a:noFill/>
            <a:ln>
              <a:noFill/>
            </a:ln>
          </p:spPr>
          <p:txBody>
            <a:bodyPr wrap="none" lIns="0" tIns="0" rIns="0" bIns="0" anchor="t" anchorCtr="0">
              <a:spAutoFit/>
            </a:bodyPr>
            <a:lstStyle/>
            <a:p>
              <a:pPr algn="l"/>
              <a:r>
                <a:rPr lang="en-US" sz="1200" b="1" dirty="0">
                  <a:solidFill>
                    <a:srgbClr val="0B1E3C"/>
                  </a:solidFill>
                  <a:latin typeface="+mn-lt"/>
                  <a:ea typeface="+mn-ea"/>
                  <a:cs typeface="+mn-cs"/>
                </a:rPr>
                <a:t>C</a:t>
              </a:r>
              <a:r>
                <a:rPr lang="ko-KR" sz="1200" dirty="0">
                  <a:solidFill>
                    <a:srgbClr val="111827"/>
                  </a:solidFill>
                  <a:latin typeface="+mn-lt"/>
                  <a:ea typeface="+mn-ea"/>
                  <a:cs typeface="+mn-cs"/>
                </a:rPr>
                <a:t xml:space="preserve"> 안전 — 내시경·작업등·라바콘·보호구</a:t>
              </a:r>
            </a:p>
          </p:txBody>
        </p:sp>
        <p:sp>
          <p:nvSpPr>
            <p:cNvPr id="30" name="TextBox 30"/>
            <p:cNvSpPr txBox="1"/>
            <p:nvPr/>
          </p:nvSpPr>
          <p:spPr>
            <a:xfrm>
              <a:off x="528066" y="5264150"/>
              <a:ext cx="32585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차량형 GPR 장착 위치와 치수는 다음 장(현장 사양)</a:t>
              </a:r>
            </a:p>
          </p:txBody>
        </p:sp>
      </p:grpSp>
      <p:grpSp>
        <p:nvGrpSpPr>
          <p:cNvPr id="55" name="spec"/>
          <p:cNvGrpSpPr/>
          <p:nvPr/>
        </p:nvGrpSpPr>
        <p:grpSpPr>
          <a:xfrm>
            <a:off x="6622923" y="1466850"/>
            <a:ext cx="5035677" cy="3774059"/>
            <a:chOff x="6622923" y="1466850"/>
            <a:chExt cx="5035677" cy="3774059"/>
          </a:xfrm>
        </p:grpSpPr>
        <p:grpSp>
          <p:nvGrpSpPr>
            <p:cNvPr id="34" name="Group 34"/>
            <p:cNvGrpSpPr/>
            <p:nvPr/>
          </p:nvGrpSpPr>
          <p:grpSpPr>
            <a:xfrm>
              <a:off x="6624447" y="1466850"/>
              <a:ext cx="2877266" cy="191643"/>
              <a:chOff x="6624447" y="1466850"/>
              <a:chExt cx="2877266" cy="191643"/>
            </a:xfrm>
          </p:grpSpPr>
          <p:sp>
            <p:nvSpPr>
              <p:cNvPr id="32" name="TextBox 32"/>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3" name="TextBox 33"/>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5" name="Line 35"/>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6" name="TextBox 36"/>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37" name="TextBox 37"/>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600kg</a:t>
              </a:r>
            </a:p>
          </p:txBody>
        </p:sp>
        <p:sp>
          <p:nvSpPr>
            <p:cNvPr id="38" name="TextBox 38"/>
            <p:cNvSpPr txBox="1"/>
            <p:nvPr/>
          </p:nvSpPr>
          <p:spPr>
            <a:xfrm>
              <a:off x="8243316" y="2139950"/>
              <a:ext cx="238536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약 300kg + 2인 약 150kg [가설]</a:t>
              </a:r>
            </a:p>
          </p:txBody>
        </p:sp>
        <p:sp>
          <p:nvSpPr>
            <p:cNvPr id="39" name="Line 39"/>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0" name="TextBox 40"/>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1" name="TextBox 41"/>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2" name="TextBox 42"/>
            <p:cNvSpPr txBox="1"/>
            <p:nvPr/>
          </p:nvSpPr>
          <p:spPr>
            <a:xfrm>
              <a:off x="8243316" y="2863850"/>
              <a:ext cx="174101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시동 없이 GPR·컴퓨터 운용</a:t>
              </a:r>
            </a:p>
          </p:txBody>
        </p:sp>
        <p:sp>
          <p:nvSpPr>
            <p:cNvPr id="43" name="Line 43"/>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4" name="TextBox 44"/>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5" name="TextBox 45"/>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6" name="TextBox 46"/>
            <p:cNvSpPr txBox="1"/>
            <p:nvPr/>
          </p:nvSpPr>
          <p:spPr>
            <a:xfrm>
              <a:off x="8243316" y="3587750"/>
              <a:ext cx="169274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회차마다 같은 자리에 장착</a:t>
              </a:r>
            </a:p>
          </p:txBody>
        </p:sp>
        <p:sp>
          <p:nvSpPr>
            <p:cNvPr id="47" name="Line 47"/>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8" name="TextBox 48"/>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49" name="TextBox 49"/>
            <p:cNvSpPr txBox="1"/>
            <p:nvPr/>
          </p:nvSpPr>
          <p:spPr>
            <a:xfrm>
              <a:off x="8242554" y="4057650"/>
              <a:ext cx="27552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PIM 제어기 · Pleos Connect 내비 API</a:t>
              </a:r>
            </a:p>
          </p:txBody>
        </p:sp>
        <p:sp>
          <p:nvSpPr>
            <p:cNvPr id="50" name="TextBox 50"/>
            <p:cNvSpPr txBox="1"/>
            <p:nvPr/>
          </p:nvSpPr>
          <p:spPr>
            <a:xfrm>
              <a:off x="8243316" y="4311650"/>
              <a:ext cx="242070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재확인 지점 안내, 화면에서 장비 제어</a:t>
              </a:r>
            </a:p>
          </p:txBody>
        </p:sp>
        <p:sp>
          <p:nvSpPr>
            <p:cNvPr id="51" name="Line 51"/>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2" name="TextBox 52"/>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복제</a:t>
              </a:r>
            </a:p>
          </p:txBody>
        </p:sp>
        <p:sp>
          <p:nvSpPr>
            <p:cNvPr id="53" name="TextBox 53"/>
            <p:cNvSpPr txBox="1"/>
            <p:nvPr/>
          </p:nvSpPr>
          <p:spPr>
            <a:xfrm>
              <a:off x="8242554" y="4781550"/>
              <a:ext cx="292745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(차량 3D 데이터·인증자료)</a:t>
              </a:r>
            </a:p>
          </p:txBody>
        </p:sp>
        <p:sp>
          <p:nvSpPr>
            <p:cNvPr id="54" name="TextBox 54"/>
            <p:cNvSpPr txBox="1"/>
            <p:nvPr/>
          </p:nvSpPr>
          <p:spPr>
            <a:xfrm>
              <a:off x="8243316" y="5035550"/>
              <a:ext cx="211679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같은 사양의 탐사실을 지자체별로</a:t>
              </a:r>
            </a:p>
          </p:txBody>
        </p:sp>
      </p:grpSp>
      <p:grpSp>
        <p:nvGrpSpPr>
          <p:cNvPr id="58" name="conclusion"/>
          <p:cNvGrpSpPr/>
          <p:nvPr/>
        </p:nvGrpSpPr>
        <p:grpSpPr>
          <a:xfrm>
            <a:off x="533400" y="5695950"/>
            <a:ext cx="6764768" cy="419100"/>
            <a:chOff x="533400" y="5695950"/>
            <a:chExt cx="6764768" cy="419100"/>
          </a:xfrm>
        </p:grpSpPr>
        <p:sp>
          <p:nvSpPr>
            <p:cNvPr id="56" name="Rectangle 56"/>
            <p:cNvSpPr/>
            <p:nvPr/>
          </p:nvSpPr>
          <p:spPr>
            <a:xfrm>
              <a:off x="533400" y="5695950"/>
              <a:ext cx="38100" cy="419100"/>
            </a:xfrm>
            <a:prstGeom prst="rect">
              <a:avLst/>
            </a:prstGeom>
            <a:solidFill>
              <a:srgbClr val="F5B700"/>
            </a:solidFill>
            <a:ln>
              <a:noFill/>
            </a:ln>
          </p:spPr>
        </p:sp>
        <p:sp>
          <p:nvSpPr>
            <p:cNvPr id="57" name="TextBox 57"/>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0" name="source"/>
          <p:cNvGrpSpPr/>
          <p:nvPr/>
        </p:nvGrpSpPr>
        <p:grpSpPr>
          <a:xfrm>
            <a:off x="528447" y="6381750"/>
            <a:ext cx="8860630" cy="191643"/>
            <a:chOff x="528447" y="6381750"/>
            <a:chExt cx="8860630" cy="191643"/>
          </a:xfrm>
        </p:grpSpPr>
        <p:sp>
          <p:nvSpPr>
            <p:cNvPr id="59" name="TextBox 59"/>
            <p:cNvSpPr txBox="1"/>
            <p:nvPr/>
          </p:nvSpPr>
          <p:spPr>
            <a:xfrm>
              <a:off x="528447" y="6381750"/>
              <a:ext cx="88606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제원·액세서리 · 공모전 솔루션 부문 안내(Pleos Connect) · 오토뷰(2026.1.28) · V2L 3.6kW 해외 제원 · 내부 배치는 콘셉트</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14</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88840"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사양 · 장착 상세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873569" cy="586740"/>
            <a:chOff x="518160" y="774700"/>
            <a:chExt cx="10873569" cy="586740"/>
          </a:xfrm>
        </p:grpSpPr>
        <p:sp>
          <p:nvSpPr>
            <p:cNvPr id="17" name="TextBox 17"/>
            <p:cNvSpPr txBox="1"/>
            <p:nvPr/>
          </p:nvSpPr>
          <p:spPr>
            <a:xfrm>
              <a:off x="518160" y="774700"/>
              <a:ext cx="1087356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현장 사양: 배터리를 피해 뒤에 달고, GPR 위에 RTK를 둡니다</a:t>
              </a:r>
            </a:p>
          </p:txBody>
        </p:sp>
      </p:grpSp>
      <p:grpSp>
        <p:nvGrpSpPr>
          <p:cNvPr id="53" name="drawing"/>
          <p:cNvGrpSpPr/>
          <p:nvPr/>
        </p:nvGrpSpPr>
        <p:grpSpPr>
          <a:xfrm>
            <a:off x="209550" y="1377950"/>
            <a:ext cx="6934200" cy="4129659"/>
            <a:chOff x="209550" y="1377950"/>
            <a:chExt cx="6934200" cy="4129659"/>
          </a:xfrm>
        </p:grpSpPr>
        <p:pic>
          <p:nvPicPr>
            <p:cNvPr id="19" name="Image 19"/>
            <p:cNvPicPr>
              <a:picLocks noChangeAspect="1"/>
            </p:cNvPicPr>
            <p:nvPr/>
          </p:nvPicPr>
          <p:blipFill>
            <a:blip r:embed="rId2"/>
            <a:stretch>
              <a:fillRect/>
            </a:stretch>
          </p:blipFill>
          <p:spPr>
            <a:xfrm>
              <a:off x="666750" y="1390650"/>
              <a:ext cx="6370320" cy="3585210"/>
            </a:xfrm>
            <a:prstGeom prst="rect">
              <a:avLst/>
            </a:prstGeom>
          </p:spPr>
        </p:pic>
        <p:sp>
          <p:nvSpPr>
            <p:cNvPr id="20" name="Ellipse 20"/>
            <p:cNvSpPr/>
            <p:nvPr/>
          </p:nvSpPr>
          <p:spPr>
            <a:xfrm>
              <a:off x="840105" y="3379470"/>
              <a:ext cx="948690" cy="948690"/>
            </a:xfrm>
            <a:prstGeom prst="ellipse">
              <a:avLst/>
            </a:prstGeom>
            <a:solidFill>
              <a:srgbClr val="3A3F47"/>
            </a:solidFill>
            <a:ln>
              <a:noFill/>
            </a:ln>
          </p:spPr>
        </p:sp>
        <p:sp>
          <p:nvSpPr>
            <p:cNvPr id="21" name="Ellipse 21"/>
            <p:cNvSpPr/>
            <p:nvPr/>
          </p:nvSpPr>
          <p:spPr>
            <a:xfrm>
              <a:off x="862965" y="3402330"/>
              <a:ext cx="902970" cy="902970"/>
            </a:xfrm>
            <a:prstGeom prst="ellipse">
              <a:avLst/>
            </a:prstGeom>
            <a:solidFill>
              <a:srgbClr val="1F2329"/>
            </a:solidFill>
            <a:ln>
              <a:noFill/>
            </a:ln>
          </p:spPr>
        </p:sp>
        <p:sp>
          <p:nvSpPr>
            <p:cNvPr id="22" name="Ellipse 22"/>
            <p:cNvSpPr/>
            <p:nvPr/>
          </p:nvSpPr>
          <p:spPr>
            <a:xfrm>
              <a:off x="1052512" y="3591878"/>
              <a:ext cx="523875" cy="523875"/>
            </a:xfrm>
            <a:prstGeom prst="ellipse">
              <a:avLst/>
            </a:prstGeom>
            <a:solidFill>
              <a:srgbClr val="8B9099"/>
            </a:solidFill>
            <a:ln>
              <a:noFill/>
            </a:ln>
          </p:spPr>
        </p:sp>
        <p:sp>
          <p:nvSpPr>
            <p:cNvPr id="23" name="Ellipse 23"/>
            <p:cNvSpPr/>
            <p:nvPr/>
          </p:nvSpPr>
          <p:spPr>
            <a:xfrm>
              <a:off x="1246822" y="3786188"/>
              <a:ext cx="135255" cy="135255"/>
            </a:xfrm>
            <a:prstGeom prst="ellipse">
              <a:avLst/>
            </a:prstGeom>
            <a:solidFill>
              <a:srgbClr val="1F2329"/>
            </a:solidFill>
            <a:ln>
              <a:noFill/>
            </a:ln>
          </p:spPr>
        </p:sp>
        <p:sp>
          <p:nvSpPr>
            <p:cNvPr id="24" name="Ellipse 24"/>
            <p:cNvSpPr/>
            <p:nvPr/>
          </p:nvSpPr>
          <p:spPr>
            <a:xfrm>
              <a:off x="4782502" y="3379470"/>
              <a:ext cx="948690" cy="948690"/>
            </a:xfrm>
            <a:prstGeom prst="ellipse">
              <a:avLst/>
            </a:prstGeom>
            <a:solidFill>
              <a:srgbClr val="3A3F47"/>
            </a:solidFill>
            <a:ln>
              <a:noFill/>
            </a:ln>
          </p:spPr>
        </p:sp>
        <p:sp>
          <p:nvSpPr>
            <p:cNvPr id="25" name="Ellipse 25"/>
            <p:cNvSpPr/>
            <p:nvPr/>
          </p:nvSpPr>
          <p:spPr>
            <a:xfrm>
              <a:off x="4805362" y="3402330"/>
              <a:ext cx="902970" cy="902970"/>
            </a:xfrm>
            <a:prstGeom prst="ellipse">
              <a:avLst/>
            </a:prstGeom>
            <a:solidFill>
              <a:srgbClr val="1F2329"/>
            </a:solidFill>
            <a:ln>
              <a:noFill/>
            </a:ln>
          </p:spPr>
        </p:sp>
        <p:sp>
          <p:nvSpPr>
            <p:cNvPr id="26" name="Ellipse 26"/>
            <p:cNvSpPr/>
            <p:nvPr/>
          </p:nvSpPr>
          <p:spPr>
            <a:xfrm>
              <a:off x="4994910" y="3591878"/>
              <a:ext cx="523875" cy="523875"/>
            </a:xfrm>
            <a:prstGeom prst="ellipse">
              <a:avLst/>
            </a:prstGeom>
            <a:solidFill>
              <a:srgbClr val="8B9099"/>
            </a:solidFill>
            <a:ln>
              <a:noFill/>
            </a:ln>
          </p:spPr>
        </p:sp>
        <p:sp>
          <p:nvSpPr>
            <p:cNvPr id="27" name="Ellipse 27"/>
            <p:cNvSpPr/>
            <p:nvPr/>
          </p:nvSpPr>
          <p:spPr>
            <a:xfrm>
              <a:off x="5189220" y="3786188"/>
              <a:ext cx="135255" cy="135255"/>
            </a:xfrm>
            <a:prstGeom prst="ellipse">
              <a:avLst/>
            </a:prstGeom>
            <a:solidFill>
              <a:srgbClr val="1F2329"/>
            </a:solidFill>
            <a:ln>
              <a:noFill/>
            </a:ln>
          </p:spPr>
        </p:sp>
        <p:sp>
          <p:nvSpPr>
            <p:cNvPr id="28" name="Rectangle 28"/>
            <p:cNvSpPr/>
            <p:nvPr/>
          </p:nvSpPr>
          <p:spPr>
            <a:xfrm>
              <a:off x="1834515" y="3966210"/>
              <a:ext cx="2902268" cy="106680"/>
            </a:xfrm>
            <a:prstGeom prst="rect">
              <a:avLst/>
            </a:prstGeom>
            <a:solidFill>
              <a:srgbClr val="8B9099"/>
            </a:solidFill>
            <a:ln w="9525">
              <a:solidFill>
                <a:srgbClr val="0B1E3C"/>
              </a:solidFill>
            </a:ln>
          </p:spPr>
        </p:sp>
        <p:sp>
          <p:nvSpPr>
            <p:cNvPr id="29" name="Rectangle 29"/>
            <p:cNvSpPr/>
            <p:nvPr/>
          </p:nvSpPr>
          <p:spPr>
            <a:xfrm>
              <a:off x="5769292" y="4107180"/>
              <a:ext cx="1229678" cy="152400"/>
            </a:xfrm>
            <a:prstGeom prst="rect">
              <a:avLst/>
            </a:prstGeom>
            <a:solidFill>
              <a:srgbClr val="F5B700"/>
            </a:solidFill>
            <a:ln w="14288">
              <a:solidFill>
                <a:srgbClr val="0B1E3C"/>
              </a:solidFill>
            </a:ln>
          </p:spPr>
        </p:sp>
        <p:sp>
          <p:nvSpPr>
            <p:cNvPr id="30" name="Line 30"/>
            <p:cNvSpPr/>
            <p:nvPr/>
          </p:nvSpPr>
          <p:spPr>
            <a:xfrm>
              <a:off x="5864542" y="4057650"/>
              <a:ext cx="9525" cy="49530"/>
            </a:xfrm>
            <a:custGeom>
              <a:avLst/>
              <a:gdLst/>
              <a:ahLst/>
              <a:cxnLst/>
              <a:rect l="l" t="t" r="r" b="b"/>
              <a:pathLst>
                <a:path w="9525" h="49530">
                  <a:moveTo>
                    <a:pt x="0" y="49530"/>
                  </a:moveTo>
                  <a:lnTo>
                    <a:pt x="0" y="0"/>
                  </a:lnTo>
                </a:path>
              </a:pathLst>
            </a:custGeom>
            <a:noFill/>
            <a:ln w="23812">
              <a:solidFill>
                <a:srgbClr val="0B1E3C"/>
              </a:solidFill>
            </a:ln>
          </p:spPr>
        </p:sp>
        <p:sp>
          <p:nvSpPr>
            <p:cNvPr id="31" name="Line 31"/>
            <p:cNvSpPr/>
            <p:nvPr/>
          </p:nvSpPr>
          <p:spPr>
            <a:xfrm>
              <a:off x="6865620" y="4057650"/>
              <a:ext cx="9525" cy="49530"/>
            </a:xfrm>
            <a:custGeom>
              <a:avLst/>
              <a:gdLst/>
              <a:ahLst/>
              <a:cxnLst/>
              <a:rect l="l" t="t" r="r" b="b"/>
              <a:pathLst>
                <a:path w="9525" h="49530">
                  <a:moveTo>
                    <a:pt x="0" y="49530"/>
                  </a:moveTo>
                  <a:lnTo>
                    <a:pt x="0" y="0"/>
                  </a:lnTo>
                </a:path>
              </a:pathLst>
            </a:custGeom>
            <a:noFill/>
            <a:ln w="23812">
              <a:solidFill>
                <a:srgbClr val="0B1E3C"/>
              </a:solidFill>
            </a:ln>
          </p:spPr>
        </p:sp>
        <p:sp>
          <p:nvSpPr>
            <p:cNvPr id="32" name="Rectangle 32"/>
            <p:cNvSpPr/>
            <p:nvPr/>
          </p:nvSpPr>
          <p:spPr>
            <a:xfrm>
              <a:off x="6288405" y="1790700"/>
              <a:ext cx="190500" cy="95250"/>
            </a:xfrm>
            <a:prstGeom prst="roundRect">
              <a:avLst>
                <a:gd name="adj" fmla="val 50000"/>
              </a:avLst>
            </a:prstGeom>
            <a:solidFill>
              <a:srgbClr val="0B1E3C"/>
            </a:solidFill>
            <a:ln>
              <a:noFill/>
            </a:ln>
          </p:spPr>
        </p:sp>
        <p:sp>
          <p:nvSpPr>
            <p:cNvPr id="33" name="Line 33"/>
            <p:cNvSpPr/>
            <p:nvPr/>
          </p:nvSpPr>
          <p:spPr>
            <a:xfrm>
              <a:off x="6383655" y="1885950"/>
              <a:ext cx="9525" cy="95250"/>
            </a:xfrm>
            <a:custGeom>
              <a:avLst/>
              <a:gdLst/>
              <a:ahLst/>
              <a:cxnLst/>
              <a:rect l="l" t="t" r="r" b="b"/>
              <a:pathLst>
                <a:path w="9525" h="95250">
                  <a:moveTo>
                    <a:pt x="0" y="0"/>
                  </a:moveTo>
                  <a:lnTo>
                    <a:pt x="0" y="95250"/>
                  </a:lnTo>
                </a:path>
              </a:pathLst>
            </a:custGeom>
            <a:noFill/>
            <a:ln w="19050">
              <a:solidFill>
                <a:srgbClr val="0B1E3C"/>
              </a:solidFill>
            </a:ln>
          </p:spPr>
        </p:sp>
        <p:sp>
          <p:nvSpPr>
            <p:cNvPr id="34" name="Line 34"/>
            <p:cNvSpPr/>
            <p:nvPr/>
          </p:nvSpPr>
          <p:spPr>
            <a:xfrm>
              <a:off x="6383655" y="2000250"/>
              <a:ext cx="9525" cy="2068830"/>
            </a:xfrm>
            <a:custGeom>
              <a:avLst/>
              <a:gdLst/>
              <a:ahLst/>
              <a:cxnLst/>
              <a:rect l="l" t="t" r="r" b="b"/>
              <a:pathLst>
                <a:path w="9525" h="2068830">
                  <a:moveTo>
                    <a:pt x="0" y="0"/>
                  </a:moveTo>
                  <a:lnTo>
                    <a:pt x="0" y="2068830"/>
                  </a:lnTo>
                </a:path>
              </a:pathLst>
            </a:custGeom>
            <a:noFill/>
            <a:ln w="14288">
              <a:solidFill>
                <a:srgbClr val="B45309"/>
              </a:solidFill>
              <a:custDash>
                <a:ds d="333333" sp="266667"/>
              </a:custDash>
            </a:ln>
          </p:spPr>
        </p:sp>
        <p:sp>
          <p:nvSpPr>
            <p:cNvPr id="35" name="Ellipse 35"/>
            <p:cNvSpPr/>
            <p:nvPr/>
          </p:nvSpPr>
          <p:spPr>
            <a:xfrm>
              <a:off x="5199698" y="3796665"/>
              <a:ext cx="114300" cy="114300"/>
            </a:xfrm>
            <a:prstGeom prst="ellipse">
              <a:avLst/>
            </a:prstGeom>
            <a:solidFill>
              <a:srgbClr val="F5B700"/>
            </a:solidFill>
            <a:ln w="14288">
              <a:solidFill>
                <a:srgbClr val="0B1E3C"/>
              </a:solidFill>
            </a:ln>
          </p:spPr>
        </p:sp>
        <p:sp>
          <p:nvSpPr>
            <p:cNvPr id="36" name="Line 36"/>
            <p:cNvSpPr/>
            <p:nvPr/>
          </p:nvSpPr>
          <p:spPr>
            <a:xfrm>
              <a:off x="209550" y="4305300"/>
              <a:ext cx="6934200" cy="9525"/>
            </a:xfrm>
            <a:custGeom>
              <a:avLst/>
              <a:gdLst/>
              <a:ahLst/>
              <a:cxnLst/>
              <a:rect l="l" t="t" r="r" b="b"/>
              <a:pathLst>
                <a:path w="6934200" h="9525">
                  <a:moveTo>
                    <a:pt x="0" y="0"/>
                  </a:moveTo>
                  <a:lnTo>
                    <a:pt x="6934200" y="0"/>
                  </a:lnTo>
                </a:path>
              </a:pathLst>
            </a:custGeom>
            <a:noFill/>
            <a:ln w="19050">
              <a:solidFill>
                <a:srgbClr val="0B1E3C"/>
              </a:solidFill>
            </a:ln>
          </p:spPr>
        </p:sp>
        <p:sp>
          <p:nvSpPr>
            <p:cNvPr id="37" name="Line 37"/>
            <p:cNvSpPr/>
            <p:nvPr/>
          </p:nvSpPr>
          <p:spPr>
            <a:xfrm>
              <a:off x="1314450" y="4514850"/>
              <a:ext cx="3942398" cy="9525"/>
            </a:xfrm>
            <a:custGeom>
              <a:avLst/>
              <a:gdLst/>
              <a:ahLst/>
              <a:cxnLst/>
              <a:rect l="l" t="t" r="r" b="b"/>
              <a:pathLst>
                <a:path w="3942398" h="9525">
                  <a:moveTo>
                    <a:pt x="0" y="0"/>
                  </a:moveTo>
                  <a:lnTo>
                    <a:pt x="3942398" y="0"/>
                  </a:lnTo>
                </a:path>
              </a:pathLst>
            </a:custGeom>
            <a:noFill/>
            <a:ln w="9525">
              <a:solidFill>
                <a:srgbClr val="4B5563"/>
              </a:solidFill>
            </a:ln>
          </p:spPr>
        </p:sp>
        <p:sp>
          <p:nvSpPr>
            <p:cNvPr id="38" name="Line 38"/>
            <p:cNvSpPr/>
            <p:nvPr/>
          </p:nvSpPr>
          <p:spPr>
            <a:xfrm>
              <a:off x="1314450" y="4457700"/>
              <a:ext cx="9525" cy="114300"/>
            </a:xfrm>
            <a:custGeom>
              <a:avLst/>
              <a:gdLst/>
              <a:ahLst/>
              <a:cxnLst/>
              <a:rect l="l" t="t" r="r" b="b"/>
              <a:pathLst>
                <a:path w="9525" h="114300">
                  <a:moveTo>
                    <a:pt x="0" y="0"/>
                  </a:moveTo>
                  <a:lnTo>
                    <a:pt x="0" y="114300"/>
                  </a:lnTo>
                </a:path>
              </a:pathLst>
            </a:custGeom>
            <a:noFill/>
            <a:ln w="9525">
              <a:solidFill>
                <a:srgbClr val="4B5563"/>
              </a:solidFill>
            </a:ln>
          </p:spPr>
        </p:sp>
        <p:sp>
          <p:nvSpPr>
            <p:cNvPr id="39" name="Line 39"/>
            <p:cNvSpPr/>
            <p:nvPr/>
          </p:nvSpPr>
          <p:spPr>
            <a:xfrm>
              <a:off x="5256848" y="4457700"/>
              <a:ext cx="9525" cy="114300"/>
            </a:xfrm>
            <a:custGeom>
              <a:avLst/>
              <a:gdLst/>
              <a:ahLst/>
              <a:cxnLst/>
              <a:rect l="l" t="t" r="r" b="b"/>
              <a:pathLst>
                <a:path w="9525" h="114300">
                  <a:moveTo>
                    <a:pt x="0" y="0"/>
                  </a:moveTo>
                  <a:lnTo>
                    <a:pt x="0" y="114300"/>
                  </a:lnTo>
                </a:path>
              </a:pathLst>
            </a:custGeom>
            <a:noFill/>
            <a:ln w="9525">
              <a:solidFill>
                <a:srgbClr val="4B5563"/>
              </a:solidFill>
            </a:ln>
          </p:spPr>
        </p:sp>
        <p:sp>
          <p:nvSpPr>
            <p:cNvPr id="40" name="TextBox 40"/>
            <p:cNvSpPr txBox="1"/>
            <p:nvPr/>
          </p:nvSpPr>
          <p:spPr>
            <a:xfrm>
              <a:off x="1366647" y="4572000"/>
              <a:ext cx="1137887"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휠베이스 2,995mm</a:t>
              </a:r>
            </a:p>
          </p:txBody>
        </p:sp>
        <p:sp>
          <p:nvSpPr>
            <p:cNvPr id="41" name="Line 41"/>
            <p:cNvSpPr/>
            <p:nvPr/>
          </p:nvSpPr>
          <p:spPr>
            <a:xfrm>
              <a:off x="758190" y="4838700"/>
              <a:ext cx="6179820" cy="9525"/>
            </a:xfrm>
            <a:custGeom>
              <a:avLst/>
              <a:gdLst/>
              <a:ahLst/>
              <a:cxnLst/>
              <a:rect l="l" t="t" r="r" b="b"/>
              <a:pathLst>
                <a:path w="6179820" h="9525">
                  <a:moveTo>
                    <a:pt x="0" y="0"/>
                  </a:moveTo>
                  <a:lnTo>
                    <a:pt x="6179820" y="0"/>
                  </a:lnTo>
                </a:path>
              </a:pathLst>
            </a:custGeom>
            <a:noFill/>
            <a:ln w="9525">
              <a:solidFill>
                <a:srgbClr val="4B5563"/>
              </a:solidFill>
            </a:ln>
          </p:spPr>
        </p:sp>
        <p:sp>
          <p:nvSpPr>
            <p:cNvPr id="42" name="Line 42"/>
            <p:cNvSpPr/>
            <p:nvPr/>
          </p:nvSpPr>
          <p:spPr>
            <a:xfrm>
              <a:off x="758190" y="4781550"/>
              <a:ext cx="9525" cy="114300"/>
            </a:xfrm>
            <a:custGeom>
              <a:avLst/>
              <a:gdLst/>
              <a:ahLst/>
              <a:cxnLst/>
              <a:rect l="l" t="t" r="r" b="b"/>
              <a:pathLst>
                <a:path w="9525" h="114300">
                  <a:moveTo>
                    <a:pt x="0" y="0"/>
                  </a:moveTo>
                  <a:lnTo>
                    <a:pt x="0" y="114300"/>
                  </a:lnTo>
                </a:path>
              </a:pathLst>
            </a:custGeom>
            <a:noFill/>
            <a:ln w="9525">
              <a:solidFill>
                <a:srgbClr val="4B5563"/>
              </a:solidFill>
            </a:ln>
          </p:spPr>
        </p:sp>
        <p:sp>
          <p:nvSpPr>
            <p:cNvPr id="43" name="Line 43"/>
            <p:cNvSpPr/>
            <p:nvPr/>
          </p:nvSpPr>
          <p:spPr>
            <a:xfrm>
              <a:off x="6938010" y="4781550"/>
              <a:ext cx="9525" cy="114300"/>
            </a:xfrm>
            <a:custGeom>
              <a:avLst/>
              <a:gdLst/>
              <a:ahLst/>
              <a:cxnLst/>
              <a:rect l="l" t="t" r="r" b="b"/>
              <a:pathLst>
                <a:path w="9525" h="114300">
                  <a:moveTo>
                    <a:pt x="0" y="0"/>
                  </a:moveTo>
                  <a:lnTo>
                    <a:pt x="0" y="114300"/>
                  </a:lnTo>
                </a:path>
              </a:pathLst>
            </a:custGeom>
            <a:noFill/>
            <a:ln w="9525">
              <a:solidFill>
                <a:srgbClr val="4B5563"/>
              </a:solidFill>
            </a:ln>
          </p:spPr>
        </p:sp>
        <p:sp>
          <p:nvSpPr>
            <p:cNvPr id="44" name="TextBox 44"/>
            <p:cNvSpPr txBox="1"/>
            <p:nvPr/>
          </p:nvSpPr>
          <p:spPr>
            <a:xfrm>
              <a:off x="810387" y="4895850"/>
              <a:ext cx="874032"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전장 4,695mm</a:t>
              </a:r>
            </a:p>
          </p:txBody>
        </p:sp>
        <p:sp>
          <p:nvSpPr>
            <p:cNvPr id="45" name="Line 45"/>
            <p:cNvSpPr/>
            <p:nvPr/>
          </p:nvSpPr>
          <p:spPr>
            <a:xfrm>
              <a:off x="6096000" y="1543050"/>
              <a:ext cx="287655" cy="247650"/>
            </a:xfrm>
            <a:custGeom>
              <a:avLst/>
              <a:gdLst/>
              <a:ahLst/>
              <a:cxnLst/>
              <a:rect l="l" t="t" r="r" b="b"/>
              <a:pathLst>
                <a:path w="287655" h="247650">
                  <a:moveTo>
                    <a:pt x="287655" y="247650"/>
                  </a:moveTo>
                  <a:lnTo>
                    <a:pt x="0" y="0"/>
                  </a:lnTo>
                </a:path>
              </a:pathLst>
            </a:custGeom>
            <a:noFill/>
            <a:ln w="9525">
              <a:solidFill>
                <a:srgbClr val="0B1E3C"/>
              </a:solidFill>
            </a:ln>
          </p:spPr>
        </p:sp>
        <p:sp>
          <p:nvSpPr>
            <p:cNvPr id="46" name="TextBox 46"/>
            <p:cNvSpPr txBox="1"/>
            <p:nvPr/>
          </p:nvSpPr>
          <p:spPr>
            <a:xfrm>
              <a:off x="5725740" y="1377950"/>
              <a:ext cx="740519"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RTK 안테나</a:t>
              </a:r>
            </a:p>
          </p:txBody>
        </p:sp>
        <p:sp>
          <p:nvSpPr>
            <p:cNvPr id="47" name="Line 47"/>
            <p:cNvSpPr/>
            <p:nvPr/>
          </p:nvSpPr>
          <p:spPr>
            <a:xfrm>
              <a:off x="6383655" y="4259580"/>
              <a:ext cx="93345" cy="1017270"/>
            </a:xfrm>
            <a:custGeom>
              <a:avLst/>
              <a:gdLst/>
              <a:ahLst/>
              <a:cxnLst/>
              <a:rect l="l" t="t" r="r" b="b"/>
              <a:pathLst>
                <a:path w="93345" h="1017270">
                  <a:moveTo>
                    <a:pt x="0" y="0"/>
                  </a:moveTo>
                  <a:lnTo>
                    <a:pt x="93345" y="1017270"/>
                  </a:lnTo>
                </a:path>
              </a:pathLst>
            </a:custGeom>
            <a:noFill/>
            <a:ln w="9525">
              <a:solidFill>
                <a:srgbClr val="0B1E3C"/>
              </a:solidFill>
            </a:ln>
          </p:spPr>
        </p:sp>
        <p:sp>
          <p:nvSpPr>
            <p:cNvPr id="48" name="TextBox 48"/>
            <p:cNvSpPr txBox="1"/>
            <p:nvPr/>
          </p:nvSpPr>
          <p:spPr>
            <a:xfrm>
              <a:off x="5857926" y="5302250"/>
              <a:ext cx="1238148"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다채널 GPR (후방)</a:t>
              </a:r>
            </a:p>
          </p:txBody>
        </p:sp>
        <p:sp>
          <p:nvSpPr>
            <p:cNvPr id="49" name="Line 49"/>
            <p:cNvSpPr/>
            <p:nvPr/>
          </p:nvSpPr>
          <p:spPr>
            <a:xfrm>
              <a:off x="1905000" y="4072890"/>
              <a:ext cx="1380172" cy="1203960"/>
            </a:xfrm>
            <a:custGeom>
              <a:avLst/>
              <a:gdLst/>
              <a:ahLst/>
              <a:cxnLst/>
              <a:rect l="l" t="t" r="r" b="b"/>
              <a:pathLst>
                <a:path w="1380172" h="1203960">
                  <a:moveTo>
                    <a:pt x="1380172" y="0"/>
                  </a:moveTo>
                  <a:lnTo>
                    <a:pt x="0" y="1203960"/>
                  </a:lnTo>
                </a:path>
              </a:pathLst>
            </a:custGeom>
            <a:noFill/>
            <a:ln w="9525">
              <a:solidFill>
                <a:srgbClr val="0B1E3C"/>
              </a:solidFill>
            </a:ln>
          </p:spPr>
        </p:sp>
        <p:sp>
          <p:nvSpPr>
            <p:cNvPr id="50" name="TextBox 50"/>
            <p:cNvSpPr txBox="1"/>
            <p:nvPr/>
          </p:nvSpPr>
          <p:spPr>
            <a:xfrm>
              <a:off x="1185843" y="5302250"/>
              <a:ext cx="1438313"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배터리 팩 (바닥 아래)</a:t>
              </a:r>
            </a:p>
          </p:txBody>
        </p:sp>
        <p:sp>
          <p:nvSpPr>
            <p:cNvPr id="51" name="Line 51"/>
            <p:cNvSpPr/>
            <p:nvPr/>
          </p:nvSpPr>
          <p:spPr>
            <a:xfrm>
              <a:off x="4476750" y="3853815"/>
              <a:ext cx="780097" cy="1423035"/>
            </a:xfrm>
            <a:custGeom>
              <a:avLst/>
              <a:gdLst/>
              <a:ahLst/>
              <a:cxnLst/>
              <a:rect l="l" t="t" r="r" b="b"/>
              <a:pathLst>
                <a:path w="780097" h="1423035">
                  <a:moveTo>
                    <a:pt x="780097" y="0"/>
                  </a:moveTo>
                  <a:lnTo>
                    <a:pt x="0" y="1423035"/>
                  </a:lnTo>
                </a:path>
              </a:pathLst>
            </a:custGeom>
            <a:noFill/>
            <a:ln w="9525">
              <a:solidFill>
                <a:srgbClr val="0B1E3C"/>
              </a:solidFill>
            </a:ln>
          </p:spPr>
        </p:sp>
        <p:sp>
          <p:nvSpPr>
            <p:cNvPr id="52" name="TextBox 52"/>
            <p:cNvSpPr txBox="1"/>
            <p:nvPr/>
          </p:nvSpPr>
          <p:spPr>
            <a:xfrm>
              <a:off x="4166451" y="5302250"/>
              <a:ext cx="620598"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휠 인코더</a:t>
              </a:r>
            </a:p>
          </p:txBody>
        </p:sp>
      </p:grpSp>
      <p:grpSp>
        <p:nvGrpSpPr>
          <p:cNvPr id="74" name="spec"/>
          <p:cNvGrpSpPr/>
          <p:nvPr/>
        </p:nvGrpSpPr>
        <p:grpSpPr>
          <a:xfrm>
            <a:off x="7613523" y="1524000"/>
            <a:ext cx="4082720" cy="3793109"/>
            <a:chOff x="7613523" y="1524000"/>
            <a:chExt cx="4082720" cy="3793109"/>
          </a:xfrm>
        </p:grpSpPr>
        <p:sp>
          <p:nvSpPr>
            <p:cNvPr id="54" name="Line 54"/>
            <p:cNvSpPr/>
            <p:nvPr/>
          </p:nvSpPr>
          <p:spPr>
            <a:xfrm>
              <a:off x="7620000" y="1524000"/>
              <a:ext cx="4038600" cy="9525"/>
            </a:xfrm>
            <a:custGeom>
              <a:avLst/>
              <a:gdLst/>
              <a:ahLst/>
              <a:cxnLst/>
              <a:rect l="l" t="t" r="r" b="b"/>
              <a:pathLst>
                <a:path w="4038600" h="9525">
                  <a:moveTo>
                    <a:pt x="0" y="0"/>
                  </a:moveTo>
                  <a:lnTo>
                    <a:pt x="4038600" y="0"/>
                  </a:lnTo>
                </a:path>
              </a:pathLst>
            </a:custGeom>
            <a:noFill/>
            <a:ln w="14288">
              <a:solidFill>
                <a:srgbClr val="0B1E3C"/>
              </a:solidFill>
            </a:ln>
          </p:spPr>
        </p:sp>
        <p:sp>
          <p:nvSpPr>
            <p:cNvPr id="55" name="TextBox 55"/>
            <p:cNvSpPr txBox="1"/>
            <p:nvPr/>
          </p:nvSpPr>
          <p:spPr>
            <a:xfrm>
              <a:off x="7614666" y="1701800"/>
              <a:ext cx="599168"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GPR 장비</a:t>
              </a:r>
            </a:p>
          </p:txBody>
        </p:sp>
        <p:sp>
          <p:nvSpPr>
            <p:cNvPr id="56" name="TextBox 56"/>
            <p:cNvSpPr txBox="1"/>
            <p:nvPr/>
          </p:nvSpPr>
          <p:spPr>
            <a:xfrm>
              <a:off x="7613523" y="1905000"/>
              <a:ext cx="271890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다채널 400MHz · 탐사 깊이 약 2m</a:t>
              </a:r>
            </a:p>
          </p:txBody>
        </p:sp>
        <p:sp>
          <p:nvSpPr>
            <p:cNvPr id="57" name="TextBox 57"/>
            <p:cNvSpPr txBox="1"/>
            <p:nvPr/>
          </p:nvSpPr>
          <p:spPr>
            <a:xfrm>
              <a:off x="7614666" y="2139950"/>
              <a:ext cx="40815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서울시 2024 용역 장비 기준, 폭은 차폭 1,895mm 안으로 [설계]</a:t>
              </a:r>
            </a:p>
          </p:txBody>
        </p:sp>
        <p:sp>
          <p:nvSpPr>
            <p:cNvPr id="58" name="Line 58"/>
            <p:cNvSpPr/>
            <p:nvPr/>
          </p:nvSpPr>
          <p:spPr>
            <a:xfrm>
              <a:off x="7620000" y="2400300"/>
              <a:ext cx="4038600" cy="9525"/>
            </a:xfrm>
            <a:custGeom>
              <a:avLst/>
              <a:gdLst/>
              <a:ahLst/>
              <a:cxnLst/>
              <a:rect l="l" t="t" r="r" b="b"/>
              <a:pathLst>
                <a:path w="4038600" h="9525">
                  <a:moveTo>
                    <a:pt x="0" y="0"/>
                  </a:moveTo>
                  <a:lnTo>
                    <a:pt x="4038600" y="0"/>
                  </a:lnTo>
                </a:path>
              </a:pathLst>
            </a:custGeom>
            <a:noFill/>
            <a:ln w="9525">
              <a:solidFill>
                <a:srgbClr val="E2E6EC"/>
              </a:solidFill>
            </a:ln>
          </p:spPr>
        </p:sp>
        <p:sp>
          <p:nvSpPr>
            <p:cNvPr id="59" name="TextBox 59"/>
            <p:cNvSpPr txBox="1"/>
            <p:nvPr/>
          </p:nvSpPr>
          <p:spPr>
            <a:xfrm>
              <a:off x="7614666" y="2444750"/>
              <a:ext cx="620598"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장착 위치</a:t>
              </a:r>
            </a:p>
          </p:txBody>
        </p:sp>
        <p:sp>
          <p:nvSpPr>
            <p:cNvPr id="60" name="TextBox 60"/>
            <p:cNvSpPr txBox="1"/>
            <p:nvPr/>
          </p:nvSpPr>
          <p:spPr>
            <a:xfrm>
              <a:off x="7613523" y="2647950"/>
              <a:ext cx="2977609"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바닥 아래 배터리 팩을 피해 뒤 차축 뒤</a:t>
              </a:r>
            </a:p>
          </p:txBody>
        </p:sp>
        <p:sp>
          <p:nvSpPr>
            <p:cNvPr id="61" name="TextBox 61"/>
            <p:cNvSpPr txBox="1"/>
            <p:nvPr/>
          </p:nvSpPr>
          <p:spPr>
            <a:xfrm>
              <a:off x="7614666" y="2882900"/>
              <a:ext cx="276701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구조변경은 기아 컨버전 파트너를 거쳐 진행</a:t>
              </a:r>
            </a:p>
          </p:txBody>
        </p:sp>
        <p:sp>
          <p:nvSpPr>
            <p:cNvPr id="62" name="Line 62"/>
            <p:cNvSpPr/>
            <p:nvPr/>
          </p:nvSpPr>
          <p:spPr>
            <a:xfrm>
              <a:off x="7620000" y="3143250"/>
              <a:ext cx="4038600" cy="9525"/>
            </a:xfrm>
            <a:custGeom>
              <a:avLst/>
              <a:gdLst/>
              <a:ahLst/>
              <a:cxnLst/>
              <a:rect l="l" t="t" r="r" b="b"/>
              <a:pathLst>
                <a:path w="4038600" h="9525">
                  <a:moveTo>
                    <a:pt x="0" y="0"/>
                  </a:moveTo>
                  <a:lnTo>
                    <a:pt x="4038600" y="0"/>
                  </a:lnTo>
                </a:path>
              </a:pathLst>
            </a:custGeom>
            <a:noFill/>
            <a:ln w="9525">
              <a:solidFill>
                <a:srgbClr val="E2E6EC"/>
              </a:solidFill>
            </a:ln>
          </p:spPr>
        </p:sp>
        <p:sp>
          <p:nvSpPr>
            <p:cNvPr id="63" name="TextBox 63"/>
            <p:cNvSpPr txBox="1"/>
            <p:nvPr/>
          </p:nvSpPr>
          <p:spPr>
            <a:xfrm>
              <a:off x="7614666" y="3187700"/>
              <a:ext cx="620598"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탐사 속도</a:t>
              </a:r>
            </a:p>
          </p:txBody>
        </p:sp>
        <p:sp>
          <p:nvSpPr>
            <p:cNvPr id="64" name="TextBox 64"/>
            <p:cNvSpPr txBox="1"/>
            <p:nvPr/>
          </p:nvSpPr>
          <p:spPr>
            <a:xfrm>
              <a:off x="7613523" y="3390900"/>
              <a:ext cx="114462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시속 20~30km</a:t>
              </a:r>
            </a:p>
          </p:txBody>
        </p:sp>
        <p:sp>
          <p:nvSpPr>
            <p:cNvPr id="65" name="TextBox 65"/>
            <p:cNvSpPr txBox="1"/>
            <p:nvPr/>
          </p:nvSpPr>
          <p:spPr>
            <a:xfrm>
              <a:off x="7614666" y="3625850"/>
              <a:ext cx="255498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서울시 2024 용역 장비의 적정 탐사 속도</a:t>
              </a:r>
            </a:p>
          </p:txBody>
        </p:sp>
        <p:sp>
          <p:nvSpPr>
            <p:cNvPr id="66" name="Line 66"/>
            <p:cNvSpPr/>
            <p:nvPr/>
          </p:nvSpPr>
          <p:spPr>
            <a:xfrm>
              <a:off x="7620000" y="3886200"/>
              <a:ext cx="4038600" cy="9525"/>
            </a:xfrm>
            <a:custGeom>
              <a:avLst/>
              <a:gdLst/>
              <a:ahLst/>
              <a:cxnLst/>
              <a:rect l="l" t="t" r="r" b="b"/>
              <a:pathLst>
                <a:path w="4038600" h="9525">
                  <a:moveTo>
                    <a:pt x="0" y="0"/>
                  </a:moveTo>
                  <a:lnTo>
                    <a:pt x="4038600" y="0"/>
                  </a:lnTo>
                </a:path>
              </a:pathLst>
            </a:custGeom>
            <a:noFill/>
            <a:ln w="9525">
              <a:solidFill>
                <a:srgbClr val="E2E6EC"/>
              </a:solidFill>
            </a:ln>
          </p:spPr>
        </p:sp>
        <p:sp>
          <p:nvSpPr>
            <p:cNvPr id="67" name="TextBox 67"/>
            <p:cNvSpPr txBox="1"/>
            <p:nvPr/>
          </p:nvSpPr>
          <p:spPr>
            <a:xfrm>
              <a:off x="7614666" y="3930650"/>
              <a:ext cx="620598"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위치 정합</a:t>
              </a:r>
            </a:p>
          </p:txBody>
        </p:sp>
        <p:sp>
          <p:nvSpPr>
            <p:cNvPr id="68" name="TextBox 68"/>
            <p:cNvSpPr txBox="1"/>
            <p:nvPr/>
          </p:nvSpPr>
          <p:spPr>
            <a:xfrm>
              <a:off x="7613523" y="4133850"/>
              <a:ext cx="30629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RTK 수평 8mm+1ppm + IMU·휠 인코더</a:t>
              </a:r>
            </a:p>
          </p:txBody>
        </p:sp>
        <p:sp>
          <p:nvSpPr>
            <p:cNvPr id="69" name="TextBox 69"/>
            <p:cNvSpPr txBox="1"/>
            <p:nvPr/>
          </p:nvSpPr>
          <p:spPr>
            <a:xfrm>
              <a:off x="7614666" y="4368800"/>
              <a:ext cx="278408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RTK를 GPR 바로 위에 두어 위치 오차 최소화</a:t>
              </a:r>
            </a:p>
          </p:txBody>
        </p:sp>
        <p:sp>
          <p:nvSpPr>
            <p:cNvPr id="70" name="Line 70"/>
            <p:cNvSpPr/>
            <p:nvPr/>
          </p:nvSpPr>
          <p:spPr>
            <a:xfrm>
              <a:off x="7620000" y="4629150"/>
              <a:ext cx="4038600" cy="9525"/>
            </a:xfrm>
            <a:custGeom>
              <a:avLst/>
              <a:gdLst/>
              <a:ahLst/>
              <a:cxnLst/>
              <a:rect l="l" t="t" r="r" b="b"/>
              <a:pathLst>
                <a:path w="4038600" h="9525">
                  <a:moveTo>
                    <a:pt x="0" y="0"/>
                  </a:moveTo>
                  <a:lnTo>
                    <a:pt x="4038600" y="0"/>
                  </a:lnTo>
                </a:path>
              </a:pathLst>
            </a:custGeom>
            <a:noFill/>
            <a:ln w="9525">
              <a:solidFill>
                <a:srgbClr val="E2E6EC"/>
              </a:solidFill>
            </a:ln>
          </p:spPr>
        </p:sp>
        <p:sp>
          <p:nvSpPr>
            <p:cNvPr id="71" name="TextBox 71"/>
            <p:cNvSpPr txBox="1"/>
            <p:nvPr/>
          </p:nvSpPr>
          <p:spPr>
            <a:xfrm>
              <a:off x="7614666" y="4673600"/>
              <a:ext cx="620598"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정합 목표</a:t>
              </a:r>
            </a:p>
          </p:txBody>
        </p:sp>
        <p:sp>
          <p:nvSpPr>
            <p:cNvPr id="72" name="TextBox 72"/>
            <p:cNvSpPr txBox="1"/>
            <p:nvPr/>
          </p:nvSpPr>
          <p:spPr>
            <a:xfrm>
              <a:off x="7613523" y="4876800"/>
              <a:ext cx="25145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회차 간 주행선 어긋남 8cm 이내</a:t>
              </a:r>
            </a:p>
          </p:txBody>
        </p:sp>
        <p:sp>
          <p:nvSpPr>
            <p:cNvPr id="73" name="TextBox 73"/>
            <p:cNvSpPr txBox="1"/>
            <p:nvPr/>
          </p:nvSpPr>
          <p:spPr>
            <a:xfrm>
              <a:off x="7614666" y="5111750"/>
              <a:ext cx="237829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6장: 8cm 어긋남이 가장 큰 오탐 요인</a:t>
              </a:r>
            </a:p>
          </p:txBody>
        </p:sp>
      </p:grpSp>
      <p:grpSp>
        <p:nvGrpSpPr>
          <p:cNvPr id="77" name="conclusion"/>
          <p:cNvGrpSpPr/>
          <p:nvPr/>
        </p:nvGrpSpPr>
        <p:grpSpPr>
          <a:xfrm>
            <a:off x="533400" y="5695950"/>
            <a:ext cx="7076062" cy="419100"/>
            <a:chOff x="533400" y="5695950"/>
            <a:chExt cx="7076062" cy="419100"/>
          </a:xfrm>
        </p:grpSpPr>
        <p:sp>
          <p:nvSpPr>
            <p:cNvPr id="75" name="Rectangle 75"/>
            <p:cNvSpPr/>
            <p:nvPr/>
          </p:nvSpPr>
          <p:spPr>
            <a:xfrm>
              <a:off x="533400" y="5695950"/>
              <a:ext cx="38100" cy="419100"/>
            </a:xfrm>
            <a:prstGeom prst="rect">
              <a:avLst/>
            </a:prstGeom>
            <a:solidFill>
              <a:srgbClr val="F5B700"/>
            </a:solidFill>
            <a:ln>
              <a:noFill/>
            </a:ln>
          </p:spPr>
        </p:sp>
        <p:sp>
          <p:nvSpPr>
            <p:cNvPr id="76" name="TextBox 76"/>
            <p:cNvSpPr txBox="1"/>
            <p:nvPr/>
          </p:nvSpPr>
          <p:spPr>
            <a:xfrm>
              <a:off x="715899" y="5791200"/>
              <a:ext cx="68935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배터리 팩을 피해 뒤에 달고, 위치 기준인 RTK를 GPR 바로 위에 둡니다.</a:t>
              </a:r>
            </a:p>
          </p:txBody>
        </p:sp>
      </p:grpSp>
      <p:grpSp>
        <p:nvGrpSpPr>
          <p:cNvPr id="79" name="source"/>
          <p:cNvGrpSpPr/>
          <p:nvPr/>
        </p:nvGrpSpPr>
        <p:grpSpPr>
          <a:xfrm>
            <a:off x="528447" y="6381750"/>
            <a:ext cx="9017748" cy="191643"/>
            <a:chOff x="528447" y="6381750"/>
            <a:chExt cx="9017748" cy="191643"/>
          </a:xfrm>
        </p:grpSpPr>
        <p:sp>
          <p:nvSpPr>
            <p:cNvPr id="78" name="TextBox 78"/>
            <p:cNvSpPr txBox="1"/>
            <p:nvPr/>
          </p:nvSpPr>
          <p:spPr>
            <a:xfrm>
              <a:off x="528447" y="6381750"/>
              <a:ext cx="901774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치수: 기아 PV5 카고 롱 공식 제원 · 배터리 바닥 장착(Autocar) · GPR: 서울시 2024 용역 보고서 · RTK: 측량용 수신기 제조사 사양 · 실루엣 비율 근사</a:t>
              </a:r>
            </a:p>
          </p:txBody>
        </p:sp>
      </p:grpSp>
      <p:grpSp>
        <p:nvGrpSpPr>
          <p:cNvPr id="82" name="footer"/>
          <p:cNvGrpSpPr/>
          <p:nvPr/>
        </p:nvGrpSpPr>
        <p:grpSpPr>
          <a:xfrm>
            <a:off x="528638" y="6610350"/>
            <a:ext cx="11134724" cy="176212"/>
            <a:chOff x="528638" y="6610350"/>
            <a:chExt cx="11134724" cy="176212"/>
          </a:xfrm>
        </p:grpSpPr>
        <p:sp>
          <p:nvSpPr>
            <p:cNvPr id="80" name="TextBox 8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81" name="TextBox 8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14</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27300"/>
              <a:ext cx="662022" cy="1458278"/>
              <a:chOff x="527685" y="2527300"/>
              <a:chExt cx="662022" cy="1458278"/>
            </a:xfrm>
          </p:grpSpPr>
          <p:sp>
            <p:nvSpPr>
              <p:cNvPr id="34" name="TextBox 34"/>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8069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(서울시 약 5억)입니다.</a:t>
              </a:r>
              <a:br>
                <a:rPr lang="ko-KR" sz="1200" dirty="0">
                  <a:solidFill>
                    <a:srgbClr val="111827"/>
                  </a:solidFill>
                  <a:latin typeface="+mn-lt"/>
                  <a:ea typeface="+mn-ea"/>
                  <a:cs typeface="+mn-cs"/>
                </a:rPr>
              </a:br>
              <a:r>
                <a:rPr lang="ko-KR" sz="1200" dirty="0">
                  <a:solidFill>
                    <a:srgbClr val="111827"/>
                  </a:solidFill>
                  <a:latin typeface="+mn-lt"/>
                  <a:ea typeface="+mn-ea"/>
                  <a:cs typeface="+mn-cs"/>
                </a:rPr>
                <a:t>차이를 가르는 건 전원·고정 구조와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447" y="6248400"/>
            <a:ext cx="10420985" cy="344043"/>
            <a:chOff x="528447" y="6248400"/>
            <a:chExt cx="10420985" cy="344043"/>
          </a:xfrm>
        </p:grpSpPr>
        <p:sp>
          <p:nvSpPr>
            <p:cNvPr id="64" name="TextBox 64"/>
            <p:cNvSpPr txBox="1"/>
            <p:nvPr/>
          </p:nvSpPr>
          <p:spPr>
            <a:xfrm>
              <a:off x="528447" y="6248400"/>
              <a:ext cx="10420985"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2026 ST1 출시(2025.7.16)·현대차그룹 뉴스룸(317km)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14</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오탐(6장)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통과(6장)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14</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10365" cy="586740"/>
            <a:chOff x="518160" y="774700"/>
            <a:chExt cx="8710365" cy="586740"/>
          </a:xfrm>
        </p:grpSpPr>
        <p:sp>
          <p:nvSpPr>
            <p:cNvPr id="17" name="TextBox 17"/>
            <p:cNvSpPr txBox="1"/>
            <p:nvPr/>
          </p:nvSpPr>
          <p:spPr>
            <a:xfrm>
              <a:off x="518160" y="774700"/>
              <a:ext cx="871036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5만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69159"/>
            <a:chOff x="526542" y="2571750"/>
            <a:chExt cx="5349240" cy="2669159"/>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326593" y="29527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326593" y="32956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326593" y="36385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326593" y="39814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326593" y="43243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640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약 3.1억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8066" y="5035550"/>
              <a:ext cx="431480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6,600km = 하루 30km × 220일 (실제 장비 탐사 속도는 20~30km/h)</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4053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23296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a:t>
              </a:r>
              <a:r>
                <a:rPr lang="ko-KR" sz="1050" dirty="0">
                  <a:solidFill>
                    <a:srgbClr val="4B5563"/>
                  </a:solidFill>
                  <a:latin typeface="+mn-lt"/>
                  <a:ea typeface="+mn-ea"/>
                  <a:cs typeface="+mn-cs"/>
                </a:rPr>
                <a:t>(4.7만 × 6)</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888457" cy="191643"/>
            <a:chOff x="528447" y="6381750"/>
            <a:chExt cx="10888457" cy="191643"/>
          </a:xfrm>
        </p:grpSpPr>
        <p:sp>
          <p:nvSpPr>
            <p:cNvPr id="60" name="TextBox 60"/>
            <p:cNvSpPr txBox="1"/>
            <p:nvPr/>
          </p:nvSpPr>
          <p:spPr>
            <a:xfrm>
              <a:off x="528447" y="6381750"/>
              <a:ext cx="1088845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1,780,900,000원·수행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14</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2759"/>
            <a:chOff x="521970" y="1409700"/>
            <a:chExt cx="11136630" cy="992759"/>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29835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8066" y="2197100"/>
              <a:ext cx="20673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966" y="2197100"/>
              <a:ext cx="25055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대신 용역으로 1,080km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866" y="2197100"/>
              <a:ext cx="268220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25289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0419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Pleos Playground·SDK</a:t>
              </a:r>
            </a:p>
          </p:txBody>
        </p:sp>
        <p:sp>
          <p:nvSpPr>
            <p:cNvPr id="40" name="TextBox 40"/>
            <p:cNvSpPr txBox="1"/>
            <p:nvPr/>
          </p:nvSpPr>
          <p:spPr>
            <a:xfrm>
              <a:off x="3613023" y="3619500"/>
              <a:ext cx="1908404"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내비·차량 연동 시제품</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23749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컨버전 포털·PIM 기술 지원</a:t>
              </a:r>
            </a:p>
          </p:txBody>
        </p:sp>
        <p:sp>
          <p:nvSpPr>
            <p:cNvPr id="44" name="TextBox 44"/>
            <p:cNvSpPr txBox="1"/>
            <p:nvPr/>
          </p:nvSpPr>
          <p:spPr>
            <a:xfrm>
              <a:off x="3613023" y="41529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223283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 멘토링</a:t>
              </a:r>
            </a:p>
          </p:txBody>
        </p:sp>
        <p:sp>
          <p:nvSpPr>
            <p:cNvPr id="48" name="TextBox 48"/>
            <p:cNvSpPr txBox="1"/>
            <p:nvPr/>
          </p:nvSpPr>
          <p:spPr>
            <a:xfrm>
              <a:off x="3613023" y="46863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9596189" cy="191643"/>
            <a:chOff x="528447" y="6381750"/>
            <a:chExt cx="9596189" cy="191643"/>
          </a:xfrm>
        </p:grpSpPr>
        <p:sp>
          <p:nvSpPr>
            <p:cNvPr id="61" name="TextBox 61"/>
            <p:cNvSpPr txBox="1"/>
            <p:nvPr/>
          </p:nvSpPr>
          <p:spPr>
            <a:xfrm>
              <a:off x="528447" y="6381750"/>
              <a:ext cx="95961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14</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4564145" cy="3263265"/>
            <a:chOff x="600075" y="838200"/>
            <a:chExt cx="4564145"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4564145"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공공 탐사용 PV5 플릿 (최대 약 97대)</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337300"/>
            <a:ext cx="3972687" cy="408559"/>
            <a:chOff x="604266" y="6337300"/>
            <a:chExt cx="3972687" cy="408559"/>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604838" y="6337300"/>
              <a:ext cx="2235337" cy="161925"/>
            </a:xfrm>
            <a:prstGeom prst="rect">
              <a:avLst/>
            </a:prstGeom>
            <a:noFill/>
            <a:ln>
              <a:noFill/>
            </a:ln>
          </p:spPr>
          <p:txBody>
            <a:bodyPr wrap="none" lIns="0" tIns="0" rIns="0" bIns="0" anchor="t" anchorCtr="0">
              <a:spAutoFit/>
            </a:bodyPr>
            <a:lstStyle/>
            <a:p>
              <a:pPr algn="l"/>
              <a:r>
                <a:rPr lang="ko-KR" sz="820" dirty="0">
                  <a:solidFill>
                    <a:srgbClr val="9FB0C8"/>
                  </a:solidFill>
                  <a:latin typeface="+mn-lt"/>
                  <a:ea typeface="+mn-ea"/>
                  <a:cs typeface="+mn-cs"/>
                </a:rPr>
                <a:t>사진: Alexander Migl, CC BY-SA 4.0(편집)</a:t>
              </a:r>
            </a:p>
          </p:txBody>
        </p:sp>
        <p:sp>
          <p:nvSpPr>
            <p:cNvPr id="20" name="TextBox 20"/>
            <p:cNvSpPr txBox="1"/>
            <p:nvPr/>
          </p:nvSpPr>
          <p:spPr>
            <a:xfrm>
              <a:off x="4102992" y="65532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14 / 14</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14</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2026-10-22T16:52:58Z</dcterms:created>
  <dcterms:modified xsi:type="dcterms:W3CDTF">2026-10-22T16:52:58Z</dcterms:modified>
  <cp:category/>
  <cp:contentStatus/>
</cp:coreProperties>
</file>