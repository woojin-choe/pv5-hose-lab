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2025년 3월 24일 저녁, 서울 강동구 명일동의 평범한 도로가 약 1~2분 만에 길이 22m, 폭 18m, 깊이 16m로 무너졌습니다. 오토바이 운전자 한 분이 숨지고 차량 운전자 한 분이 다쳤습니다. 붕괴는 갑자기 보였지만 위험은 지하에서 먼저 시작됐습니다. 출처는 국토교통부 땅꺼짐 사고 조사결과 발표(2025.12.3, https://www.korea.kr/briefing/policyBriefingView.do?newsId=156732996)로, 발표 원문은 "약 1~2분 후 만에 길이 22m, 폭 18m, 깊이 16m 규모로 땅꺼짐이 급속하게 확대"입니다. 최종보고서는 https://www.molit.go.kr/USR/policyData/m_34681/dtl.jsp?id=4872 입니다. 오른쪽은 실제 명일동 일대 지도(© OpenStreetMap contributors)에 보도된 사고 지점인 동남로 대명초교 사거리 인근을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체계를 갖추고 있습니다. 차량형 GPR이 한 번 지나가며 폭 약 2.4~3m를 탐사하고, 2014년부터 2025년 9월까지 누적 33,129km를 탐사해 공동 7,760개를 찾았습니다(메트로신문 2025.10.19 https://www.metroseoul.co.kr/article/20251019500165). 2026년에는 16,423km를 탐사하고 GPR 인력을 9명에서 19명으로 늘리며, 장비는 차량형 6대·전동형 1대·핸드형 3대입니다(머니투데이 2026.3.23 https://www.mt.co.kr/estate/2026/03/23/2026032311394354905). 그런데 2024년 연희동 성산로는 5월 7일부터 16일까지 정기 GPR 탐사에서 공동이 발견되지 않았고, 8월 29일 도로가 함몰됐습니다(뉴시스 2024.8.30 https://www.newsis.com/view/NISX20240830_0002869815). 탐사의 실패가 아니라 한 시점의 결과는 그 시점만 말해 준다는 뜻입니다. GroundWatch는 기존 GPR을 대체하지 않고, 측정과 측정 사이의 시간과 현장 업무를 연결합니다. 서울시 차량탑재형 GPR 소개는 https://news.seoul.go.kr/safe/archives/41339 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Japan Mobility Show 2025 전시차 화면(RuinDig, CC BY 4.0)이고, 나머지는 PV5 기반 콘셉트 이미지입니다.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현장은 2인 1조로, 한 명은 운전과 주변 교통 확인·안전통제를, 한 명은 GPR·AR 글래스와 현장 판독을 맡습니다.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공공기관은 신규 구매·임차 차량을 100% 전기·수소차로 들여야 하고, 2025년부터 승합·화물도 예외가 아닙니다(산업통상부 2026.6.30 https://www.motir.go.kr/kor/article/ATCLe0854704d/171978/view). 서울시 공회전 제한장소는 2,772곳이고 기온 5~25℃에서 2분을 넘기면 과태료 5만 원입니다(https://news.seoul.go.kr/env/archives/509990). 이 두 조건은 전기 밴이면 모두 충족하므로 PV5만의 장점으로 내세우지 않습니다. 같은 조건의 전기 상용차끼리 공식 수치로 비교하면, PV5 카고 롱 베이직 롱레인지는 4,520만 원(기아 가격표 2026.10.1 기준)으로 스타리아 일렉트릭 카고 3인승 5,792만 원(2026.4.23 출시), ST1 카고 스타일 5,874만 원(2026 ST1, 2025.7.16)보다 낮습니다. 1회 충전 주행거리는 PV5 377km, 스타리아 일렉트릭 387km, ST1 카고 317km(현대차그룹 뉴스룸), 포터II·봉고III EV 217km(2025년형 발표)입니다. 포터와 봉고는 개방형 적재함이라 장비 보호와 실내 판독을 위해 탑 개조가 필요해 가격 비교에서 뺐습니다. PV5가 불리한 점도 밝힙니다. 주행거리는 스타리아보다 10km 짧고, 전폭 1,895mm는 포터·봉고(1,740mm)보다 155mm 넓습니다. 하루 순찰 약 30km, 장비 약 300kg이라는 가설이면 377km와 최대 적재 600kg 안에서 충분히 운용됩니다.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GPR 공동 탐사, RTK·IMU 위치 보정, 카메라 노면 기록, 엣지 처리, GIS 이력 관리, AAOS 앱 생태계, 산업용 AR은 모두 지금 쓸 수 있는 기술입니다. 먼저 실증할 네 가지는 EV 구동계와 GPR 사이의 전자파 간섭, 회차별 위치 정합, AI의 탐지율과 오탐률, 야간 AR 위치 오차입니다. 각각 실패하면 차량형 측정, 변화 비교, 재확인 효율, 수동 탐색 범위가 무너지기 때문입니다. 장비 고정 상태의 반복 측정 일관성, 적재와 축하중, V2L을 포함한 실제 소비전력, 앱 배포 절차도 함께 확인합니다. 핵심은 기술의 존재가 아니라 한 차량에서 반복 가능한 정확도로 연결되는가입니다. GPR 원리와 한계는 FHWA 자료(https://infotechnology.fhwa.dot.gov/gpr-ground-penetrating-radar-utility-general/)를 참고했습니다.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대의 순찰차로 지하철 공사구간과 노후 하수관 주변 파일럿을 시작해, 자치구 단위 정기 순찰, 여러 대의 PV5가 권역을 나누는 플릿 운영, 하수관·굴착공사·지하수·강우·보수 이력과의 데이터 결합, 계약기관이 쓰는 4D 도시 지하 변화지도로 넓힙니다. 위험도가 높은 구간일수록 순찰 주기를 짧게 잡으며, 지도의 주기는 예시로 발주기관과 합의해 정합니다. 서울시도 명일동 사고 이후 공사장 탐사를 월 1회, 대형 굴착 구간을 주 1회로 강화했습니다(머니투데이 2026.3.23). 지하 데이터는 판매하지 않고 계약기관 내부의 접근제어형 관제 서비스로만 제공합니다. 지도 데이터는 OpenStreetMap contributors이며 지하공간 데이터 표준 OGC MUDDI(https://www.ogc.org/standards/muddi/)를 참고합니다.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서울시가 2026년 GPR 탐사를 16,423km로, 전담 인력을 9명에서 19명으로 늘리는 것이 반복 탐사 수요의 근거입니다. 첫 계약은 기존 GPR 조사기관과 공동 수행하고, 가격은 일일 조사거리와 인력, 장비 감가, 분석시간을 확인한 뒤 산정합니다. 지하정보는 제3자에게 판매하지 않습니다.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보령 4,558만 원, 안양 8,522만 원, 용인 기흥구 1억 7,736만 원에 낙찰됐습니다(나라장터 개찰 결과, 2026.5~6). 경기도와 31개 시·군은 GPR을 한 대도 보유하지 않아 외부 용역에 의존합니다(시사저널 2025.4.25 https://www.sisajournal.com/news/articleView.html?idxno=331358).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조사 결과가 시점별 파일로 남고, 변화 구간을 사람이 다시 찾아야 하고, 현장에서 과거 위치를 찾기 어려웠던 문제를 같은 경로의 데이터 누적, AI 후보 선별과 전문가 승인, RTK와 기준점 기반 AR 검색 범위로 바꿉니다. 각 변화는 비교 가능한 도로 비율, 검토시간, 재확인 소요시간, 위치 오차 같은 지표로 확인합니다. GroundWatch의 가치는 지도를 만드는 데서 끝나지 않고, 한 번의 측정을 다음 판단과 현장 행동으로 연결하는 데 있습니다.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4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4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85bc060d85d3377.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9c445fbc8c70d4.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707f31730e47894.jpg"/>
  <Relationship Id="rId3" Type="http://schemas.openxmlformats.org/officeDocument/2006/relationships/image" Target="../media/image_2c16b89a98ad91c5.png"/>
  <Relationship Id="rId4" Type="http://schemas.openxmlformats.org/officeDocument/2006/relationships/image" Target="../media/image_0ba21e85bd198504.png"/>
  <Relationship Id="rId5" Type="http://schemas.openxmlformats.org/officeDocument/2006/relationships/image" Target="../media/image_dd06cf8563a8bfb2.jpg"/>
  <Relationship Id="rId6" Type="http://schemas.openxmlformats.org/officeDocument/2006/relationships/image" Target="../media/image_0c24997d7a0ba7b3.png"/>
  <Relationship Id="rId7"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f1b66213002338b.png"/>
  <Relationship Id="rId3" Type="http://schemas.openxmlformats.org/officeDocument/2006/relationships/image" Target="../media/image_508ad703854ebf2b.png"/>
  <Relationship Id="rId4" Type="http://schemas.openxmlformats.org/officeDocument/2006/relationships/image" Target="../media/image_69e9edb24e771e4b.png"/>
  <Relationship Id="rId5" Type="http://schemas.openxmlformats.org/officeDocument/2006/relationships/image" Target="../media/image_e1fdf89dd5cef5ff.png"/>
  <Relationship Id="rId6"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image" Target="../media/image_4c4db85e0554fd0e.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48058e15db1b41b.png"/>
  <Relationship Id="rId3" Type="http://schemas.openxmlformats.org/officeDocument/2006/relationships/image" Target="../media/image_6ada56d6fa89277a.png"/>
  <Relationship Id="rId4" Type="http://schemas.openxmlformats.org/officeDocument/2006/relationships/image" Target="../media/image_0da1bbdf037ab47a.png"/>
  <Relationship Id="rId5" Type="http://schemas.openxmlformats.org/officeDocument/2006/relationships/image" Target="../media/image_6ebca51ae135500c.jpg"/>
  <Relationship Id="rId6"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c24997d7a0ba7b3.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date"/>
          <p:cNvGrpSpPr/>
          <p:nvPr/>
        </p:nvGrpSpPr>
        <p:grpSpPr>
          <a:xfrm>
            <a:off x="11182347" y="6477000"/>
            <a:ext cx="557406" cy="191643"/>
            <a:chOff x="11182347" y="6477000"/>
            <a:chExt cx="557406" cy="191643"/>
          </a:xfrm>
        </p:grpSpPr>
        <p:sp>
          <p:nvSpPr>
            <p:cNvPr id="4" name="TextBox 4"/>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grpSp>
        <p:nvGrpSpPr>
          <p:cNvPr id="7" name="cover-kicker"/>
          <p:cNvGrpSpPr/>
          <p:nvPr/>
        </p:nvGrpSpPr>
        <p:grpSpPr>
          <a:xfrm>
            <a:off x="603123" y="1924050"/>
            <a:ext cx="3271616" cy="250317"/>
            <a:chOff x="603123" y="1924050"/>
            <a:chExt cx="3271616" cy="250317"/>
          </a:xfrm>
        </p:grpSpPr>
        <p:sp>
          <p:nvSpPr>
            <p:cNvPr id="6" name="TextBox 6"/>
            <p:cNvSpPr txBox="1"/>
            <p:nvPr/>
          </p:nvSpPr>
          <p:spPr>
            <a:xfrm>
              <a:off x="603123" y="1924050"/>
              <a:ext cx="3271616"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제안서</a:t>
              </a:r>
            </a:p>
          </p:txBody>
        </p:sp>
      </p:grpSp>
      <p:grpSp>
        <p:nvGrpSpPr>
          <p:cNvPr id="10" name="cover-title"/>
          <p:cNvGrpSpPr/>
          <p:nvPr/>
        </p:nvGrpSpPr>
        <p:grpSpPr>
          <a:xfrm>
            <a:off x="590550" y="2254250"/>
            <a:ext cx="3634424" cy="1600200"/>
            <a:chOff x="590550" y="2254250"/>
            <a:chExt cx="3634424" cy="1600200"/>
          </a:xfrm>
        </p:grpSpPr>
        <p:sp>
          <p:nvSpPr>
            <p:cNvPr id="8" name="TextBox 8"/>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9" name="TextBox 9"/>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2" name="cover-subtitle"/>
          <p:cNvGrpSpPr/>
          <p:nvPr/>
        </p:nvGrpSpPr>
        <p:grpSpPr>
          <a:xfrm>
            <a:off x="598170" y="3797300"/>
            <a:ext cx="2837548" cy="440055"/>
            <a:chOff x="598170" y="3797300"/>
            <a:chExt cx="2837548" cy="440055"/>
          </a:xfrm>
        </p:grpSpPr>
        <p:sp>
          <p:nvSpPr>
            <p:cNvPr id="11" name="TextBox 11"/>
            <p:cNvSpPr txBox="1"/>
            <p:nvPr/>
          </p:nvSpPr>
          <p:spPr>
            <a:xfrm>
              <a:off x="598170" y="3797300"/>
              <a:ext cx="2837548" cy="440055"/>
            </a:xfrm>
            <a:prstGeom prst="rect">
              <a:avLst/>
            </a:prstGeom>
            <a:noFill/>
            <a:ln>
              <a:noFill/>
            </a:ln>
          </p:spPr>
          <p:txBody>
            <a:bodyPr wrap="none" lIns="0" tIns="0" rIns="0" bIns="0" anchor="t" anchorCtr="0">
              <a:spAutoFit/>
            </a:bodyPr>
            <a:lstStyle/>
            <a:p>
              <a:pPr algn="l"/>
              <a:r>
                <a:rPr lang="ko-KR" sz="2250" b="1" spc="-38" dirty="0">
                  <a:solidFill>
                    <a:srgbClr val="D7DEE8"/>
                  </a:solidFill>
                  <a:latin typeface="+mn-lt"/>
                  <a:ea typeface="+mn-ea"/>
                  <a:cs typeface="+mn-cs"/>
                </a:rPr>
                <a:t>PV5 지하안전 순찰차</a:t>
              </a:r>
            </a:p>
          </p:txBody>
        </p:sp>
      </p:grpSp>
      <p:grpSp>
        <p:nvGrpSpPr>
          <p:cNvPr id="15" name="cover-tagline"/>
          <p:cNvGrpSpPr/>
          <p:nvPr/>
        </p:nvGrpSpPr>
        <p:grpSpPr>
          <a:xfrm>
            <a:off x="601599" y="4381500"/>
            <a:ext cx="3176397" cy="785241"/>
            <a:chOff x="601599" y="4381500"/>
            <a:chExt cx="3176397" cy="785241"/>
          </a:xfrm>
        </p:grpSpPr>
        <p:sp>
          <p:nvSpPr>
            <p:cNvPr id="13" name="Rectangle 13"/>
            <p:cNvSpPr/>
            <p:nvPr/>
          </p:nvSpPr>
          <p:spPr>
            <a:xfrm>
              <a:off x="609600" y="4381500"/>
              <a:ext cx="457200" cy="28575"/>
            </a:xfrm>
            <a:prstGeom prst="rect">
              <a:avLst/>
            </a:prstGeom>
            <a:solidFill>
              <a:srgbClr val="F5B700"/>
            </a:solidFill>
            <a:ln>
              <a:noFill/>
            </a:ln>
          </p:spPr>
        </p:sp>
        <p:sp>
          <p:nvSpPr>
            <p:cNvPr id="14" name="TextBox 14"/>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C3CCD9"/>
                  </a:solidFill>
                  <a:latin typeface="+mn-lt"/>
                  <a:ea typeface="+mn-ea"/>
                  <a:cs typeface="+mn-cs"/>
                </a:rPr>
                <a:t>같은 길을 반복해서 보고,</a:t>
              </a:r>
              <a:br>
                <a:rPr lang="ko-KR" sz="1580" dirty="0">
                  <a:solidFill>
                    <a:srgbClr val="C3CCD9"/>
                  </a:solidFill>
                  <a:latin typeface="+mn-lt"/>
                  <a:ea typeface="+mn-ea"/>
                  <a:cs typeface="+mn-cs"/>
                </a:rPr>
              </a:br>
              <a:r>
                <a:rPr lang="ko-KR" sz="1580" dirty="0">
                  <a:solidFill>
                    <a:srgbClr val="C3CCD9"/>
                  </a:solidFill>
                  <a:latin typeface="+mn-lt"/>
                  <a:ea typeface="+mn-ea"/>
                  <a:cs typeface="+mn-cs"/>
                </a:rPr>
                <a:t>구멍이 되기 전의 변화를 찾습니다.</a:t>
              </a:r>
            </a:p>
          </p:txBody>
        </p:sp>
      </p:grpSp>
      <p:grpSp>
        <p:nvGrpSpPr>
          <p:cNvPr id="18" name="cover-team"/>
          <p:cNvGrpSpPr/>
          <p:nvPr/>
        </p:nvGrpSpPr>
        <p:grpSpPr>
          <a:xfrm>
            <a:off x="601218" y="5797550"/>
            <a:ext cx="2739992" cy="570357"/>
            <a:chOff x="601218" y="5797550"/>
            <a:chExt cx="2739992" cy="570357"/>
          </a:xfrm>
        </p:grpSpPr>
        <p:sp>
          <p:nvSpPr>
            <p:cNvPr id="16" name="TextBox 16"/>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7" name="TextBox 17"/>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5181600" cy="333375"/>
            <a:chOff x="533400" y="266700"/>
            <a:chExt cx="51816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문제</a:t>
              </a:r>
            </a:p>
          </p:txBody>
        </p:sp>
        <p:sp>
          <p:nvSpPr>
            <p:cNvPr id="6" name="TextBox 6"/>
            <p:cNvSpPr txBox="1"/>
            <p:nvPr/>
          </p:nvSpPr>
          <p:spPr>
            <a:xfrm>
              <a:off x="2394966" y="301625"/>
              <a:ext cx="90117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현재 문제상황</a:t>
              </a:r>
            </a:p>
          </p:txBody>
        </p:sp>
        <p:sp>
          <p:nvSpPr>
            <p:cNvPr id="7" name="Line 7"/>
            <p:cNvSpPr/>
            <p:nvPr/>
          </p:nvSpPr>
          <p:spPr>
            <a:xfrm>
              <a:off x="533400" y="590550"/>
              <a:ext cx="5181600" cy="9525"/>
            </a:xfrm>
            <a:custGeom>
              <a:avLst/>
              <a:gdLst/>
              <a:ahLst/>
              <a:cxnLst/>
              <a:rect l="l" t="t" r="r" b="b"/>
              <a:pathLst>
                <a:path w="5181600" h="9525">
                  <a:moveTo>
                    <a:pt x="0" y="0"/>
                  </a:moveTo>
                  <a:lnTo>
                    <a:pt x="5181600" y="0"/>
                  </a:lnTo>
                </a:path>
              </a:pathLst>
            </a:custGeom>
            <a:noFill/>
            <a:ln w="9525">
              <a:solidFill>
                <a:srgbClr val="0B1E3C"/>
              </a:solidFill>
            </a:ln>
          </p:spPr>
        </p:sp>
      </p:grpSp>
      <p:grpSp>
        <p:nvGrpSpPr>
          <p:cNvPr id="20" name="incident-map"/>
          <p:cNvGrpSpPr/>
          <p:nvPr/>
        </p:nvGrpSpPr>
        <p:grpSpPr>
          <a:xfrm>
            <a:off x="6096000" y="0"/>
            <a:ext cx="6096000" cy="6858000"/>
            <a:chOff x="6096000" y="0"/>
            <a:chExt cx="6096000" cy="6858000"/>
          </a:xfrm>
        </p:grpSpPr>
        <p:pic>
          <p:nvPicPr>
            <p:cNvPr id="9" name="Image 9"/>
            <p:cNvPicPr>
              <a:picLocks noChangeAspect="1"/>
            </p:cNvPicPr>
            <p:nvPr/>
          </p:nvPicPr>
          <p:blipFill>
            <a:blip r:embed="rId2"/>
            <a:stretch>
              <a:fillRect/>
            </a:stretch>
          </p:blipFill>
          <p:spPr>
            <a:xfrm>
              <a:off x="6096000" y="0"/>
              <a:ext cx="6096000" cy="6858000"/>
            </a:xfrm>
            <a:prstGeom prst="rect">
              <a:avLst/>
            </a:prstGeom>
          </p:spPr>
        </p:pic>
        <p:sp>
          <p:nvSpPr>
            <p:cNvPr id="10" name="Rectangle 10"/>
            <p:cNvSpPr/>
            <p:nvPr/>
          </p:nvSpPr>
          <p:spPr>
            <a:xfrm>
              <a:off x="6096000" y="3619500"/>
              <a:ext cx="6096000" cy="3238500"/>
            </a:xfrm>
            <a:prstGeom prst="rect">
              <a:avLst/>
            </a:prstGeom>
            <a:gradFill>
              <a:gsLst>
                <a:gs pos="0">
                  <a:srgbClr val="05070B">
                    <a:alpha val="0"/>
                  </a:srgbClr>
                </a:gs>
                <a:gs pos="100000">
                  <a:srgbClr val="05070B">
                    <a:alpha val="85000"/>
                  </a:srgbClr>
                </a:gs>
              </a:gsLst>
              <a:lin ang="5400000" scaled="1"/>
            </a:gradFill>
            <a:ln>
              <a:noFill/>
            </a:ln>
          </p:spPr>
        </p:sp>
        <p:sp>
          <p:nvSpPr>
            <p:cNvPr id="11" name="Ellipse 11"/>
            <p:cNvSpPr/>
            <p:nvPr/>
          </p:nvSpPr>
          <p:spPr>
            <a:xfrm>
              <a:off x="9972675" y="3590925"/>
              <a:ext cx="1028700" cy="1028700"/>
            </a:xfrm>
            <a:prstGeom prst="ellipse">
              <a:avLst/>
            </a:prstGeom>
            <a:solidFill>
              <a:srgbClr val="E5484D">
                <a:alpha val="14000"/>
              </a:srgbClr>
            </a:solidFill>
            <a:ln>
              <a:noFill/>
            </a:ln>
          </p:spPr>
        </p:sp>
        <p:sp>
          <p:nvSpPr>
            <p:cNvPr id="12" name="Ellipse 12"/>
            <p:cNvSpPr/>
            <p:nvPr/>
          </p:nvSpPr>
          <p:spPr>
            <a:xfrm>
              <a:off x="10220325" y="3838575"/>
              <a:ext cx="533400" cy="533400"/>
            </a:xfrm>
            <a:prstGeom prst="ellipse">
              <a:avLst/>
            </a:prstGeom>
            <a:solidFill>
              <a:srgbClr val="E5484D">
                <a:alpha val="32000"/>
              </a:srgbClr>
            </a:solidFill>
            <a:ln>
              <a:noFill/>
            </a:ln>
          </p:spPr>
        </p:sp>
        <p:sp>
          <p:nvSpPr>
            <p:cNvPr id="13" name="Ellipse 13"/>
            <p:cNvSpPr/>
            <p:nvPr/>
          </p:nvSpPr>
          <p:spPr>
            <a:xfrm>
              <a:off x="10410825" y="4029075"/>
              <a:ext cx="152400" cy="152400"/>
            </a:xfrm>
            <a:prstGeom prst="ellipse">
              <a:avLst/>
            </a:prstGeom>
            <a:solidFill>
              <a:srgbClr val="FF5A5F"/>
            </a:solidFill>
            <a:ln w="19050">
              <a:solidFill>
                <a:srgbClr val="FFFFFF"/>
              </a:solidFill>
            </a:ln>
          </p:spPr>
        </p:sp>
        <p:sp>
          <p:nvSpPr>
            <p:cNvPr id="14" name="Rectangle 14"/>
            <p:cNvSpPr/>
            <p:nvPr/>
          </p:nvSpPr>
          <p:spPr>
            <a:xfrm>
              <a:off x="8058150" y="2971800"/>
              <a:ext cx="2152650" cy="552450"/>
            </a:xfrm>
            <a:prstGeom prst="roundRect">
              <a:avLst>
                <a:gd name="adj" fmla="val 6897"/>
              </a:avLst>
            </a:prstGeom>
            <a:solidFill>
              <a:srgbClr val="0B1E3C">
                <a:alpha val="92000"/>
              </a:srgbClr>
            </a:solidFill>
            <a:ln>
              <a:noFill/>
            </a:ln>
          </p:spPr>
        </p:sp>
        <p:sp>
          <p:nvSpPr>
            <p:cNvPr id="15" name="TextBox 15"/>
            <p:cNvSpPr txBox="1"/>
            <p:nvPr/>
          </p:nvSpPr>
          <p:spPr>
            <a:xfrm>
              <a:off x="8185404" y="304800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2025. 3. 24 사고 지점</a:t>
              </a:r>
            </a:p>
          </p:txBody>
        </p:sp>
        <p:sp>
          <p:nvSpPr>
            <p:cNvPr id="16" name="TextBox 16"/>
            <p:cNvSpPr txBox="1"/>
            <p:nvPr/>
          </p:nvSpPr>
          <p:spPr>
            <a:xfrm>
              <a:off x="8186166" y="3282950"/>
              <a:ext cx="1834096"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동남로 대명초교 사거리 인근</a:t>
              </a:r>
            </a:p>
          </p:txBody>
        </p:sp>
        <p:sp>
          <p:nvSpPr>
            <p:cNvPr id="17" name="Line 17"/>
            <p:cNvSpPr/>
            <p:nvPr/>
          </p:nvSpPr>
          <p:spPr>
            <a:xfrm>
              <a:off x="10153650" y="3429000"/>
              <a:ext cx="190500" cy="514350"/>
            </a:xfrm>
            <a:custGeom>
              <a:avLst/>
              <a:gdLst/>
              <a:ahLst/>
              <a:cxnLst/>
              <a:rect l="l" t="t" r="r" b="b"/>
              <a:pathLst>
                <a:path w="190500" h="514350">
                  <a:moveTo>
                    <a:pt x="0" y="0"/>
                  </a:moveTo>
                  <a:lnTo>
                    <a:pt x="190500" y="514350"/>
                  </a:lnTo>
                </a:path>
              </a:pathLst>
            </a:custGeom>
            <a:noFill/>
            <a:ln w="11430">
              <a:solidFill>
                <a:srgbClr val="FFFFFF"/>
              </a:solidFill>
            </a:ln>
          </p:spPr>
        </p:sp>
        <p:sp>
          <p:nvSpPr>
            <p:cNvPr id="18" name="TextBox 18"/>
            <p:cNvSpPr txBox="1"/>
            <p:nvPr/>
          </p:nvSpPr>
          <p:spPr>
            <a:xfrm>
              <a:off x="6465570" y="5092700"/>
              <a:ext cx="4548426" cy="859155"/>
            </a:xfrm>
            <a:prstGeom prst="rect">
              <a:avLst/>
            </a:prstGeom>
            <a:noFill/>
            <a:ln>
              <a:noFill/>
            </a:ln>
          </p:spPr>
          <p:txBody>
            <a:bodyPr wrap="none" lIns="0" tIns="0" rIns="0" bIns="0" anchor="t" anchorCtr="0">
              <a:spAutoFit/>
            </a:bodyPr>
            <a:lstStyle/>
            <a:p>
              <a:pPr algn="l">
                <a:lnSpc>
                  <a:spcPts val="3300"/>
                </a:lnSpc>
              </a:pPr>
              <a:r>
                <a:rPr lang="ko-KR" sz="2250" b="1" dirty="0">
                  <a:solidFill>
                    <a:srgbClr val="FFFFFF"/>
                  </a:solidFill>
                  <a:latin typeface="+mn-lt"/>
                  <a:ea typeface="+mn-ea"/>
                  <a:cs typeface="+mn-cs"/>
                </a:rPr>
                <a:t>평범한 도로가</a:t>
              </a:r>
              <a:br>
                <a:rPr lang="ko-KR" sz="2250" b="1" dirty="0">
                  <a:solidFill>
                    <a:srgbClr val="FFFFFF"/>
                  </a:solidFill>
                  <a:latin typeface="+mn-lt"/>
                  <a:ea typeface="+mn-ea"/>
                  <a:cs typeface="+mn-cs"/>
                </a:rPr>
              </a:br>
              <a:r>
                <a:rPr lang="ko-KR" sz="2250" b="1" dirty="0">
                  <a:solidFill>
                    <a:srgbClr val="FFFFFF"/>
                  </a:solidFill>
                  <a:latin typeface="+mn-lt"/>
                  <a:ea typeface="+mn-ea"/>
                  <a:cs typeface="+mn-cs"/>
                </a:rPr>
                <a:t>한 사람의 마지막 길이 되었습니다.</a:t>
              </a:r>
            </a:p>
          </p:txBody>
        </p:sp>
        <p:sp>
          <p:nvSpPr>
            <p:cNvPr id="19" name="TextBox 19"/>
            <p:cNvSpPr txBox="1"/>
            <p:nvPr/>
          </p:nvSpPr>
          <p:spPr>
            <a:xfrm>
              <a:off x="6472238" y="6400800"/>
              <a:ext cx="5602430"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서울 강동구 명일동 일대 · 지도 데이터 © OpenStreetMap contributors · 위치는 보도 기준 인근 표시</a:t>
              </a:r>
            </a:p>
          </p:txBody>
        </p:sp>
      </p:grpSp>
      <p:grpSp>
        <p:nvGrpSpPr>
          <p:cNvPr id="22" name="incident-date"/>
          <p:cNvGrpSpPr/>
          <p:nvPr/>
        </p:nvGrpSpPr>
        <p:grpSpPr>
          <a:xfrm>
            <a:off x="526542" y="1282700"/>
            <a:ext cx="2860626" cy="264033"/>
            <a:chOff x="526542" y="1282700"/>
            <a:chExt cx="2860626" cy="264033"/>
          </a:xfrm>
        </p:grpSpPr>
        <p:sp>
          <p:nvSpPr>
            <p:cNvPr id="21" name="TextBox 21"/>
            <p:cNvSpPr txBox="1"/>
            <p:nvPr/>
          </p:nvSpPr>
          <p:spPr>
            <a:xfrm>
              <a:off x="526542" y="1282700"/>
              <a:ext cx="2860626"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2025. 3. 24 · 서울 강동구 명일동</a:t>
              </a:r>
            </a:p>
          </p:txBody>
        </p:sp>
      </p:grpSp>
      <p:grpSp>
        <p:nvGrpSpPr>
          <p:cNvPr id="25" name="title"/>
          <p:cNvGrpSpPr/>
          <p:nvPr/>
        </p:nvGrpSpPr>
        <p:grpSpPr>
          <a:xfrm>
            <a:off x="476250" y="1593850"/>
            <a:ext cx="3744620" cy="1778000"/>
            <a:chOff x="476250" y="1593850"/>
            <a:chExt cx="3744620" cy="1778000"/>
          </a:xfrm>
        </p:grpSpPr>
        <p:sp>
          <p:nvSpPr>
            <p:cNvPr id="23" name="TextBox 23"/>
            <p:cNvSpPr txBox="1"/>
            <p:nvPr/>
          </p:nvSpPr>
          <p:spPr>
            <a:xfrm>
              <a:off x="518160" y="1593850"/>
              <a:ext cx="370271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도로가 무너지기까지</a:t>
              </a:r>
            </a:p>
          </p:txBody>
        </p:sp>
        <p:sp>
          <p:nvSpPr>
            <p:cNvPr id="24" name="TextBox 24"/>
            <p:cNvSpPr txBox="1"/>
            <p:nvPr/>
          </p:nvSpPr>
          <p:spPr>
            <a:xfrm>
              <a:off x="476250" y="1981200"/>
              <a:ext cx="2597460" cy="1390650"/>
            </a:xfrm>
            <a:prstGeom prst="rect">
              <a:avLst/>
            </a:prstGeom>
            <a:noFill/>
            <a:ln>
              <a:noFill/>
            </a:ln>
          </p:spPr>
          <p:txBody>
            <a:bodyPr wrap="none" lIns="0" tIns="0" rIns="0" bIns="0" anchor="t" anchorCtr="0">
              <a:spAutoFit/>
            </a:bodyPr>
            <a:lstStyle/>
            <a:p>
              <a:pPr algn="l"/>
              <a:r>
                <a:rPr lang="ko-KR" sz="7200" b="1" spc="-225" dirty="0">
                  <a:solidFill>
                    <a:srgbClr val="C62828"/>
                  </a:solidFill>
                  <a:latin typeface="+mn-lt"/>
                  <a:ea typeface="+mn-ea"/>
                  <a:cs typeface="+mn-cs"/>
                </a:rPr>
                <a:t>1~2분</a:t>
              </a:r>
            </a:p>
          </p:txBody>
        </p:sp>
      </p:grpSp>
      <p:grpSp>
        <p:nvGrpSpPr>
          <p:cNvPr id="29" name="fact-size"/>
          <p:cNvGrpSpPr/>
          <p:nvPr/>
        </p:nvGrpSpPr>
        <p:grpSpPr>
          <a:xfrm>
            <a:off x="519684" y="3295650"/>
            <a:ext cx="5201793" cy="616966"/>
            <a:chOff x="519684" y="3295650"/>
            <a:chExt cx="5201793" cy="616966"/>
          </a:xfrm>
        </p:grpSpPr>
        <p:sp>
          <p:nvSpPr>
            <p:cNvPr id="26" name="Line 26"/>
            <p:cNvSpPr/>
            <p:nvPr/>
          </p:nvSpPr>
          <p:spPr>
            <a:xfrm>
              <a:off x="533400" y="32956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27" name="TextBox 27"/>
            <p:cNvSpPr txBox="1"/>
            <p:nvPr/>
          </p:nvSpPr>
          <p:spPr>
            <a:xfrm>
              <a:off x="519684" y="3384550"/>
              <a:ext cx="1878423"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22m × 18m</a:t>
              </a:r>
            </a:p>
          </p:txBody>
        </p:sp>
        <p:sp>
          <p:nvSpPr>
            <p:cNvPr id="28" name="TextBox 28"/>
            <p:cNvSpPr txBox="1"/>
            <p:nvPr/>
          </p:nvSpPr>
          <p:spPr>
            <a:xfrm>
              <a:off x="4011234" y="3543300"/>
              <a:ext cx="1710243"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붕괴 규모 (길이 × 폭)</a:t>
              </a:r>
            </a:p>
          </p:txBody>
        </p:sp>
      </p:grpSp>
      <p:grpSp>
        <p:nvGrpSpPr>
          <p:cNvPr id="33" name="fact-depth"/>
          <p:cNvGrpSpPr/>
          <p:nvPr/>
        </p:nvGrpSpPr>
        <p:grpSpPr>
          <a:xfrm>
            <a:off x="519684" y="3962400"/>
            <a:ext cx="5201793" cy="616966"/>
            <a:chOff x="519684" y="3962400"/>
            <a:chExt cx="5201793" cy="616966"/>
          </a:xfrm>
        </p:grpSpPr>
        <p:sp>
          <p:nvSpPr>
            <p:cNvPr id="30" name="Line 30"/>
            <p:cNvSpPr/>
            <p:nvPr/>
          </p:nvSpPr>
          <p:spPr>
            <a:xfrm>
              <a:off x="533400" y="396240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1" name="TextBox 31"/>
            <p:cNvSpPr txBox="1"/>
            <p:nvPr/>
          </p:nvSpPr>
          <p:spPr>
            <a:xfrm>
              <a:off x="519684" y="4051300"/>
              <a:ext cx="733480"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16m</a:t>
              </a:r>
            </a:p>
          </p:txBody>
        </p:sp>
        <p:sp>
          <p:nvSpPr>
            <p:cNvPr id="32" name="TextBox 32"/>
            <p:cNvSpPr txBox="1"/>
            <p:nvPr/>
          </p:nvSpPr>
          <p:spPr>
            <a:xfrm>
              <a:off x="5363896" y="4197350"/>
              <a:ext cx="357581"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깊이</a:t>
              </a:r>
            </a:p>
          </p:txBody>
        </p:sp>
      </p:grpSp>
      <p:grpSp>
        <p:nvGrpSpPr>
          <p:cNvPr id="38" name="fact-casualty"/>
          <p:cNvGrpSpPr/>
          <p:nvPr/>
        </p:nvGrpSpPr>
        <p:grpSpPr>
          <a:xfrm>
            <a:off x="519684" y="4629150"/>
            <a:ext cx="5201793" cy="616966"/>
            <a:chOff x="519684" y="4629150"/>
            <a:chExt cx="5201793" cy="616966"/>
          </a:xfrm>
        </p:grpSpPr>
        <p:sp>
          <p:nvSpPr>
            <p:cNvPr id="34" name="Line 34"/>
            <p:cNvSpPr/>
            <p:nvPr/>
          </p:nvSpPr>
          <p:spPr>
            <a:xfrm>
              <a:off x="533400" y="46291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5" name="TextBox 35"/>
            <p:cNvSpPr txBox="1"/>
            <p:nvPr/>
          </p:nvSpPr>
          <p:spPr>
            <a:xfrm>
              <a:off x="519684" y="4718050"/>
              <a:ext cx="2569024" cy="528066"/>
            </a:xfrm>
            <a:prstGeom prst="rect">
              <a:avLst/>
            </a:prstGeom>
            <a:noFill/>
            <a:ln>
              <a:noFill/>
            </a:ln>
          </p:spPr>
          <p:txBody>
            <a:bodyPr wrap="none" lIns="0" tIns="0" rIns="0" bIns="0" anchor="t" anchorCtr="0">
              <a:spAutoFit/>
            </a:bodyPr>
            <a:lstStyle/>
            <a:p>
              <a:pPr algn="l"/>
              <a:r>
                <a:rPr lang="ko-KR" sz="2700" b="1" dirty="0">
                  <a:solidFill>
                    <a:srgbClr val="111827"/>
                  </a:solidFill>
                  <a:latin typeface="+mn-lt"/>
                  <a:ea typeface="+mn-ea"/>
                  <a:cs typeface="+mn-cs"/>
                </a:rPr>
                <a:t>사망 1 · 부상 1</a:t>
              </a:r>
            </a:p>
          </p:txBody>
        </p:sp>
        <p:sp>
          <p:nvSpPr>
            <p:cNvPr id="36" name="TextBox 36"/>
            <p:cNvSpPr txBox="1"/>
            <p:nvPr/>
          </p:nvSpPr>
          <p:spPr>
            <a:xfrm>
              <a:off x="4967575" y="4876800"/>
              <a:ext cx="753902"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인명 피해</a:t>
              </a:r>
            </a:p>
          </p:txBody>
        </p:sp>
        <p:sp>
          <p:nvSpPr>
            <p:cNvPr id="37" name="Line 37"/>
            <p:cNvSpPr/>
            <p:nvPr/>
          </p:nvSpPr>
          <p:spPr>
            <a:xfrm>
              <a:off x="533400" y="5200650"/>
              <a:ext cx="5181600" cy="9525"/>
            </a:xfrm>
            <a:custGeom>
              <a:avLst/>
              <a:gdLst/>
              <a:ahLst/>
              <a:cxnLst/>
              <a:rect l="l" t="t" r="r" b="b"/>
              <a:pathLst>
                <a:path w="5181600" h="9525">
                  <a:moveTo>
                    <a:pt x="0" y="0"/>
                  </a:moveTo>
                  <a:lnTo>
                    <a:pt x="5181600" y="0"/>
                  </a:lnTo>
                </a:path>
              </a:pathLst>
            </a:custGeom>
            <a:noFill/>
            <a:ln w="9525">
              <a:solidFill>
                <a:srgbClr val="D5DAE1"/>
              </a:solidFill>
            </a:ln>
          </p:spPr>
        </p:sp>
      </p:grpSp>
      <p:grpSp>
        <p:nvGrpSpPr>
          <p:cNvPr id="41" name="bridge-line"/>
          <p:cNvGrpSpPr/>
          <p:nvPr/>
        </p:nvGrpSpPr>
        <p:grpSpPr>
          <a:xfrm>
            <a:off x="533400" y="5441950"/>
            <a:ext cx="3345656" cy="579120"/>
            <a:chOff x="533400" y="5441950"/>
            <a:chExt cx="3345656" cy="579120"/>
          </a:xfrm>
        </p:grpSpPr>
        <p:sp>
          <p:nvSpPr>
            <p:cNvPr id="39" name="Rectangle 39"/>
            <p:cNvSpPr/>
            <p:nvPr/>
          </p:nvSpPr>
          <p:spPr>
            <a:xfrm>
              <a:off x="533400" y="5448300"/>
              <a:ext cx="38100" cy="552450"/>
            </a:xfrm>
            <a:prstGeom prst="rect">
              <a:avLst/>
            </a:prstGeom>
            <a:solidFill>
              <a:srgbClr val="F5B700"/>
            </a:solidFill>
            <a:ln>
              <a:noFill/>
            </a:ln>
          </p:spPr>
        </p:sp>
        <p:sp>
          <p:nvSpPr>
            <p:cNvPr id="40" name="TextBox 40"/>
            <p:cNvSpPr txBox="1"/>
            <p:nvPr/>
          </p:nvSpPr>
          <p:spPr>
            <a:xfrm>
              <a:off x="716280" y="5441950"/>
              <a:ext cx="3162776" cy="579120"/>
            </a:xfrm>
            <a:prstGeom prst="rect">
              <a:avLst/>
            </a:prstGeom>
            <a:noFill/>
            <a:ln>
              <a:noFill/>
            </a:ln>
          </p:spPr>
          <p:txBody>
            <a:bodyPr wrap="none" lIns="0" tIns="0" rIns="0" bIns="0" anchor="t" anchorCtr="0">
              <a:spAutoFit/>
            </a:bodyPr>
            <a:lstStyle/>
            <a:p>
              <a:pPr algn="l">
                <a:lnSpc>
                  <a:spcPts val="2250"/>
                </a:lnSpc>
              </a:pPr>
              <a:r>
                <a:rPr lang="ko-KR" sz="1500" b="1" dirty="0">
                  <a:solidFill>
                    <a:srgbClr val="0B1E3C"/>
                  </a:solidFill>
                  <a:latin typeface="+mn-lt"/>
                  <a:ea typeface="+mn-ea"/>
                  <a:cs typeface="+mn-cs"/>
                </a:rPr>
                <a:t>붕괴는 갑자기 보였지만,</a:t>
              </a:r>
              <a:br>
                <a:rPr lang="ko-KR" sz="1500" b="1" dirty="0">
                  <a:solidFill>
                    <a:srgbClr val="0B1E3C"/>
                  </a:solidFill>
                  <a:latin typeface="+mn-lt"/>
                  <a:ea typeface="+mn-ea"/>
                  <a:cs typeface="+mn-cs"/>
                </a:rPr>
              </a:br>
              <a:r>
                <a:rPr lang="ko-KR" sz="1500" b="1" dirty="0">
                  <a:solidFill>
                    <a:srgbClr val="0B1E3C"/>
                  </a:solidFill>
                  <a:latin typeface="+mn-lt"/>
                  <a:ea typeface="+mn-ea"/>
                  <a:cs typeface="+mn-cs"/>
                </a:rPr>
                <a:t>위험은 지하에서 먼저 시작됐습니다.</a:t>
              </a:r>
            </a:p>
          </p:txBody>
        </p:sp>
      </p:grpSp>
      <p:grpSp>
        <p:nvGrpSpPr>
          <p:cNvPr id="43" name="source"/>
          <p:cNvGrpSpPr/>
          <p:nvPr/>
        </p:nvGrpSpPr>
        <p:grpSpPr>
          <a:xfrm>
            <a:off x="528638" y="6305550"/>
            <a:ext cx="5043640" cy="176212"/>
            <a:chOff x="528638" y="6305550"/>
            <a:chExt cx="5043640" cy="176212"/>
          </a:xfrm>
        </p:grpSpPr>
        <p:sp>
          <p:nvSpPr>
            <p:cNvPr id="42" name="TextBox 42"/>
            <p:cNvSpPr txBox="1"/>
            <p:nvPr/>
          </p:nvSpPr>
          <p:spPr>
            <a:xfrm>
              <a:off x="528638" y="6305550"/>
              <a:ext cx="5043640"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「땅꺼짐 사고 조사결과 발표」(2025.12.3), 명일동 사고조사 최종보고서</a:t>
              </a:r>
            </a:p>
          </p:txBody>
        </p:sp>
      </p:grpSp>
      <p:grpSp>
        <p:nvGrpSpPr>
          <p:cNvPr id="46" name="footer"/>
          <p:cNvGrpSpPr/>
          <p:nvPr/>
        </p:nvGrpSpPr>
        <p:grpSpPr>
          <a:xfrm>
            <a:off x="528638" y="6610350"/>
            <a:ext cx="5191124" cy="176212"/>
            <a:chOff x="528638" y="6610350"/>
            <a:chExt cx="5191124" cy="176212"/>
          </a:xfrm>
        </p:grpSpPr>
        <p:sp>
          <p:nvSpPr>
            <p:cNvPr id="44" name="TextBox 4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5" name="TextBox 45"/>
            <p:cNvSpPr txBox="1"/>
            <p:nvPr/>
          </p:nvSpPr>
          <p:spPr>
            <a:xfrm>
              <a:off x="53043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문제</a:t>
              </a:r>
            </a:p>
          </p:txBody>
        </p:sp>
        <p:sp>
          <p:nvSpPr>
            <p:cNvPr id="6" name="TextBox 6"/>
            <p:cNvSpPr txBox="1"/>
            <p:nvPr/>
          </p:nvSpPr>
          <p:spPr>
            <a:xfrm>
              <a:off x="2394966" y="301625"/>
              <a:ext cx="230301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땅꺼짐 유형과 GroundWatch의 대상</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7322830" cy="557403"/>
            <a:chOff x="518922" y="781050"/>
            <a:chExt cx="7322830" cy="557403"/>
          </a:xfrm>
        </p:grpSpPr>
        <p:sp>
          <p:nvSpPr>
            <p:cNvPr id="9" name="TextBox 9"/>
            <p:cNvSpPr txBox="1"/>
            <p:nvPr/>
          </p:nvSpPr>
          <p:spPr>
            <a:xfrm>
              <a:off x="518922" y="781050"/>
              <a:ext cx="732283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땅꺼짐은 깊이에 따라 막는 방법이 다릅니다</a:t>
              </a:r>
            </a:p>
          </p:txBody>
        </p:sp>
      </p:grpSp>
      <p:grpSp>
        <p:nvGrpSpPr>
          <p:cNvPr id="20" name="depth-bands"/>
          <p:cNvGrpSpPr/>
          <p:nvPr/>
        </p:nvGrpSpPr>
        <p:grpSpPr>
          <a:xfrm>
            <a:off x="725767" y="1981200"/>
            <a:ext cx="1198283" cy="2705100"/>
            <a:chOff x="725767" y="1981200"/>
            <a:chExt cx="1198283" cy="2705100"/>
          </a:xfrm>
        </p:grpSpPr>
        <p:sp>
          <p:nvSpPr>
            <p:cNvPr id="11" name="Rectangle 11"/>
            <p:cNvSpPr/>
            <p:nvPr/>
          </p:nvSpPr>
          <p:spPr>
            <a:xfrm>
              <a:off x="1885950" y="1981200"/>
              <a:ext cx="38100" cy="1466850"/>
            </a:xfrm>
            <a:prstGeom prst="rect">
              <a:avLst/>
            </a:prstGeom>
            <a:solidFill>
              <a:srgbClr val="F5B700"/>
            </a:solidFill>
            <a:ln>
              <a:noFill/>
            </a:ln>
          </p:spPr>
        </p:sp>
        <p:sp>
          <p:nvSpPr>
            <p:cNvPr id="12" name="TextBox 12"/>
            <p:cNvSpPr txBox="1"/>
            <p:nvPr/>
          </p:nvSpPr>
          <p:spPr>
            <a:xfrm>
              <a:off x="1249086" y="2228850"/>
              <a:ext cx="547710" cy="234696"/>
            </a:xfrm>
            <a:prstGeom prst="rect">
              <a:avLst/>
            </a:prstGeom>
            <a:noFill/>
            <a:ln>
              <a:noFill/>
            </a:ln>
          </p:spPr>
          <p:txBody>
            <a:bodyPr wrap="none" lIns="0" tIns="0" rIns="0" bIns="0" anchor="t" anchorCtr="0">
              <a:spAutoFit/>
            </a:bodyPr>
            <a:lstStyle/>
            <a:p>
              <a:pPr algn="r"/>
              <a:r>
                <a:rPr lang="ko-KR" sz="1200" b="1" dirty="0">
                  <a:solidFill>
                    <a:srgbClr val="0B1E3C"/>
                  </a:solidFill>
                  <a:latin typeface="+mn-lt"/>
                  <a:ea typeface="+mn-ea"/>
                  <a:cs typeface="+mn-cs"/>
                </a:rPr>
                <a:t>얕은 층</a:t>
              </a:r>
            </a:p>
          </p:txBody>
        </p:sp>
        <p:sp>
          <p:nvSpPr>
            <p:cNvPr id="13" name="TextBox 13"/>
            <p:cNvSpPr txBox="1"/>
            <p:nvPr/>
          </p:nvSpPr>
          <p:spPr>
            <a:xfrm>
              <a:off x="1046190" y="2451100"/>
              <a:ext cx="750225" cy="220028"/>
            </a:xfrm>
            <a:prstGeom prst="rect">
              <a:avLst/>
            </a:prstGeom>
            <a:noFill/>
            <a:ln>
              <a:noFill/>
            </a:ln>
          </p:spPr>
          <p:txBody>
            <a:bodyPr wrap="none" lIns="0" tIns="0" rIns="0" bIns="0" anchor="t" anchorCtr="0">
              <a:spAutoFit/>
            </a:bodyPr>
            <a:lstStyle/>
            <a:p>
              <a:pPr algn="r"/>
              <a:r>
                <a:rPr lang="ko-KR" sz="1120" dirty="0">
                  <a:solidFill>
                    <a:srgbClr val="111827"/>
                  </a:solidFill>
                  <a:latin typeface="+mn-lt"/>
                  <a:ea typeface="+mn-ea"/>
                  <a:cs typeface="+mn-cs"/>
                </a:rPr>
                <a:t>약 2m 이내</a:t>
              </a:r>
            </a:p>
          </p:txBody>
        </p:sp>
        <p:sp>
          <p:nvSpPr>
            <p:cNvPr id="14" name="TextBox 14"/>
            <p:cNvSpPr txBox="1"/>
            <p:nvPr/>
          </p:nvSpPr>
          <p:spPr>
            <a:xfrm>
              <a:off x="725767" y="2768600"/>
              <a:ext cx="1070267" cy="205359"/>
            </a:xfrm>
            <a:prstGeom prst="rect">
              <a:avLst/>
            </a:prstGeom>
            <a:noFill/>
            <a:ln>
              <a:noFill/>
            </a:ln>
          </p:spPr>
          <p:txBody>
            <a:bodyPr wrap="none" lIns="0" tIns="0" rIns="0" bIns="0" anchor="t" anchorCtr="0">
              <a:spAutoFit/>
            </a:bodyPr>
            <a:lstStyle/>
            <a:p>
              <a:pPr algn="r"/>
              <a:r>
                <a:rPr lang="ko-KR" sz="1050" b="1" dirty="0">
                  <a:solidFill>
                    <a:srgbClr val="8A5A00"/>
                  </a:solidFill>
                  <a:latin typeface="+mn-lt"/>
                  <a:ea typeface="+mn-ea"/>
                  <a:cs typeface="+mn-cs"/>
                </a:rPr>
                <a:t>차량형 GPR 순찰</a:t>
              </a:r>
            </a:p>
          </p:txBody>
        </p:sp>
        <p:sp>
          <p:nvSpPr>
            <p:cNvPr id="15" name="TextBox 15"/>
            <p:cNvSpPr txBox="1"/>
            <p:nvPr/>
          </p:nvSpPr>
          <p:spPr>
            <a:xfrm>
              <a:off x="725767" y="2959100"/>
              <a:ext cx="1070267" cy="205359"/>
            </a:xfrm>
            <a:prstGeom prst="rect">
              <a:avLst/>
            </a:prstGeom>
            <a:noFill/>
            <a:ln>
              <a:noFill/>
            </a:ln>
          </p:spPr>
          <p:txBody>
            <a:bodyPr wrap="none" lIns="0" tIns="0" rIns="0" bIns="0" anchor="t" anchorCtr="0">
              <a:spAutoFit/>
            </a:bodyPr>
            <a:lstStyle/>
            <a:p>
              <a:pPr algn="r"/>
              <a:r>
                <a:rPr lang="ko-KR" sz="1050" b="1" dirty="0">
                  <a:solidFill>
                    <a:srgbClr val="8A5A00"/>
                  </a:solidFill>
                  <a:latin typeface="+mn-lt"/>
                  <a:ea typeface="+mn-ea"/>
                  <a:cs typeface="+mn-cs"/>
                </a:rPr>
                <a:t>수동 GPR 재확인</a:t>
              </a:r>
            </a:p>
          </p:txBody>
        </p:sp>
        <p:sp>
          <p:nvSpPr>
            <p:cNvPr id="16" name="Rectangle 16"/>
            <p:cNvSpPr/>
            <p:nvPr/>
          </p:nvSpPr>
          <p:spPr>
            <a:xfrm>
              <a:off x="1885950" y="3505200"/>
              <a:ext cx="38100" cy="1181100"/>
            </a:xfrm>
            <a:prstGeom prst="rect">
              <a:avLst/>
            </a:prstGeom>
            <a:solidFill>
              <a:srgbClr val="9AA3AF"/>
            </a:solidFill>
            <a:ln>
              <a:noFill/>
            </a:ln>
          </p:spPr>
        </p:sp>
        <p:sp>
          <p:nvSpPr>
            <p:cNvPr id="17" name="TextBox 17"/>
            <p:cNvSpPr txBox="1"/>
            <p:nvPr/>
          </p:nvSpPr>
          <p:spPr>
            <a:xfrm>
              <a:off x="1249086" y="3790950"/>
              <a:ext cx="547710" cy="234696"/>
            </a:xfrm>
            <a:prstGeom prst="rect">
              <a:avLst/>
            </a:prstGeom>
            <a:noFill/>
            <a:ln>
              <a:noFill/>
            </a:ln>
          </p:spPr>
          <p:txBody>
            <a:bodyPr wrap="none" lIns="0" tIns="0" rIns="0" bIns="0" anchor="t" anchorCtr="0">
              <a:spAutoFit/>
            </a:bodyPr>
            <a:lstStyle/>
            <a:p>
              <a:pPr algn="r"/>
              <a:r>
                <a:rPr lang="ko-KR" sz="1200" b="1" dirty="0">
                  <a:solidFill>
                    <a:srgbClr val="374151"/>
                  </a:solidFill>
                  <a:latin typeface="+mn-lt"/>
                  <a:ea typeface="+mn-ea"/>
                  <a:cs typeface="+mn-cs"/>
                </a:rPr>
                <a:t>깊은 층</a:t>
              </a:r>
            </a:p>
          </p:txBody>
        </p:sp>
        <p:sp>
          <p:nvSpPr>
            <p:cNvPr id="18" name="TextBox 18"/>
            <p:cNvSpPr txBox="1"/>
            <p:nvPr/>
          </p:nvSpPr>
          <p:spPr>
            <a:xfrm>
              <a:off x="1036206" y="4064000"/>
              <a:ext cx="759828" cy="205359"/>
            </a:xfrm>
            <a:prstGeom prst="rect">
              <a:avLst/>
            </a:prstGeom>
            <a:noFill/>
            <a:ln>
              <a:noFill/>
            </a:ln>
          </p:spPr>
          <p:txBody>
            <a:bodyPr wrap="none" lIns="0" tIns="0" rIns="0" bIns="0" anchor="t" anchorCtr="0">
              <a:spAutoFit/>
            </a:bodyPr>
            <a:lstStyle/>
            <a:p>
              <a:pPr algn="r"/>
              <a:r>
                <a:rPr lang="ko-KR" sz="1050" dirty="0">
                  <a:solidFill>
                    <a:srgbClr val="374151"/>
                  </a:solidFill>
                  <a:latin typeface="+mn-lt"/>
                  <a:ea typeface="+mn-ea"/>
                  <a:cs typeface="+mn-cs"/>
                </a:rPr>
                <a:t>공사장 계측</a:t>
              </a:r>
            </a:p>
          </p:txBody>
        </p:sp>
        <p:sp>
          <p:nvSpPr>
            <p:cNvPr id="19" name="TextBox 19"/>
            <p:cNvSpPr txBox="1"/>
            <p:nvPr/>
          </p:nvSpPr>
          <p:spPr>
            <a:xfrm>
              <a:off x="1219962" y="4254500"/>
              <a:ext cx="576072" cy="205359"/>
            </a:xfrm>
            <a:prstGeom prst="rect">
              <a:avLst/>
            </a:prstGeom>
            <a:noFill/>
            <a:ln>
              <a:noFill/>
            </a:ln>
          </p:spPr>
          <p:txBody>
            <a:bodyPr wrap="none" lIns="0" tIns="0" rIns="0" bIns="0" anchor="t" anchorCtr="0">
              <a:spAutoFit/>
            </a:bodyPr>
            <a:lstStyle/>
            <a:p>
              <a:pPr algn="r"/>
              <a:r>
                <a:rPr lang="ko-KR" sz="1050" dirty="0">
                  <a:solidFill>
                    <a:srgbClr val="374151"/>
                  </a:solidFill>
                  <a:latin typeface="+mn-lt"/>
                  <a:ea typeface="+mn-ea"/>
                  <a:cs typeface="+mn-cs"/>
                </a:rPr>
                <a:t>지반조사</a:t>
              </a:r>
            </a:p>
          </p:txBody>
        </p:sp>
      </p:grpSp>
      <p:grpSp>
        <p:nvGrpSpPr>
          <p:cNvPr id="37" name="section-figure"/>
          <p:cNvGrpSpPr/>
          <p:nvPr/>
        </p:nvGrpSpPr>
        <p:grpSpPr>
          <a:xfrm>
            <a:off x="2019300" y="1638300"/>
            <a:ext cx="4953000" cy="3152775"/>
            <a:chOff x="2019300" y="1638300"/>
            <a:chExt cx="4953000" cy="3152775"/>
          </a:xfrm>
        </p:grpSpPr>
        <p:pic>
          <p:nvPicPr>
            <p:cNvPr id="21" name="Image 21"/>
            <p:cNvPicPr>
              <a:picLocks noChangeAspect="1"/>
            </p:cNvPicPr>
            <p:nvPr/>
          </p:nvPicPr>
          <p:blipFill>
            <a:blip r:embed="rId2"/>
            <a:stretch>
              <a:fillRect/>
            </a:stretch>
          </p:blipFill>
          <p:spPr>
            <a:xfrm>
              <a:off x="2019300" y="1638300"/>
              <a:ext cx="4953000" cy="3152775"/>
            </a:xfrm>
            <a:prstGeom prst="rect">
              <a:avLst/>
            </a:prstGeom>
          </p:spPr>
        </p:pic>
        <p:grpSp>
          <p:nvGrpSpPr>
            <p:cNvPr id="36" name="Group 36"/>
            <p:cNvGrpSpPr/>
            <p:nvPr/>
          </p:nvGrpSpPr>
          <p:grpSpPr>
            <a:xfrm>
              <a:off x="2495550" y="2038350"/>
              <a:ext cx="3390900" cy="2040509"/>
              <a:chOff x="2495550" y="2038350"/>
              <a:chExt cx="3390900" cy="2040509"/>
            </a:xfrm>
          </p:grpSpPr>
          <p:sp>
            <p:nvSpPr>
              <p:cNvPr id="22" name="Rectangle 22"/>
              <p:cNvSpPr/>
              <p:nvPr/>
            </p:nvSpPr>
            <p:spPr>
              <a:xfrm>
                <a:off x="3848100" y="2038350"/>
                <a:ext cx="990600" cy="247650"/>
              </a:xfrm>
              <a:prstGeom prst="roundRect">
                <a:avLst>
                  <a:gd name="adj" fmla="val 50000"/>
                </a:avLst>
              </a:prstGeom>
              <a:solidFill>
                <a:srgbClr val="0B1E3C"/>
              </a:solidFill>
              <a:ln>
                <a:noFill/>
              </a:ln>
            </p:spPr>
          </p:sp>
          <p:sp>
            <p:nvSpPr>
              <p:cNvPr id="23" name="Ellipse 23"/>
              <p:cNvSpPr/>
              <p:nvPr/>
            </p:nvSpPr>
            <p:spPr>
              <a:xfrm>
                <a:off x="3886200" y="2066925"/>
                <a:ext cx="190500" cy="190500"/>
              </a:xfrm>
              <a:prstGeom prst="ellipse">
                <a:avLst/>
              </a:prstGeom>
              <a:solidFill>
                <a:srgbClr val="F5B700"/>
              </a:solidFill>
              <a:ln>
                <a:noFill/>
              </a:ln>
            </p:spPr>
          </p:sp>
          <p:sp>
            <p:nvSpPr>
              <p:cNvPr id="24" name="TextBox 24"/>
              <p:cNvSpPr txBox="1"/>
              <p:nvPr/>
            </p:nvSpPr>
            <p:spPr>
              <a:xfrm>
                <a:off x="3941703" y="209550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3</a:t>
                </a:r>
              </a:p>
            </p:txBody>
          </p:sp>
          <p:sp>
            <p:nvSpPr>
              <p:cNvPr id="25" name="TextBox 25"/>
              <p:cNvSpPr txBox="1"/>
              <p:nvPr/>
            </p:nvSpPr>
            <p:spPr>
              <a:xfrm>
                <a:off x="4128516" y="2082800"/>
                <a:ext cx="620598"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노면 침하</a:t>
                </a:r>
              </a:p>
            </p:txBody>
          </p:sp>
          <p:sp>
            <p:nvSpPr>
              <p:cNvPr id="26" name="Rectangle 26"/>
              <p:cNvSpPr/>
              <p:nvPr/>
            </p:nvSpPr>
            <p:spPr>
              <a:xfrm>
                <a:off x="2495550" y="2571750"/>
                <a:ext cx="990600" cy="247650"/>
              </a:xfrm>
              <a:prstGeom prst="roundRect">
                <a:avLst>
                  <a:gd name="adj" fmla="val 50000"/>
                </a:avLst>
              </a:prstGeom>
              <a:solidFill>
                <a:srgbClr val="0B1E3C"/>
              </a:solidFill>
              <a:ln>
                <a:noFill/>
              </a:ln>
            </p:spPr>
          </p:sp>
          <p:sp>
            <p:nvSpPr>
              <p:cNvPr id="27" name="Ellipse 27"/>
              <p:cNvSpPr/>
              <p:nvPr/>
            </p:nvSpPr>
            <p:spPr>
              <a:xfrm>
                <a:off x="2533650" y="2600325"/>
                <a:ext cx="190500" cy="190500"/>
              </a:xfrm>
              <a:prstGeom prst="ellipse">
                <a:avLst/>
              </a:prstGeom>
              <a:solidFill>
                <a:srgbClr val="F5B700"/>
              </a:solidFill>
              <a:ln>
                <a:noFill/>
              </a:ln>
            </p:spPr>
          </p:sp>
          <p:sp>
            <p:nvSpPr>
              <p:cNvPr id="28" name="TextBox 28"/>
              <p:cNvSpPr txBox="1"/>
              <p:nvPr/>
            </p:nvSpPr>
            <p:spPr>
              <a:xfrm>
                <a:off x="2589153" y="262890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2</a:t>
                </a:r>
              </a:p>
            </p:txBody>
          </p:sp>
          <p:sp>
            <p:nvSpPr>
              <p:cNvPr id="29" name="TextBox 29"/>
              <p:cNvSpPr txBox="1"/>
              <p:nvPr/>
            </p:nvSpPr>
            <p:spPr>
              <a:xfrm>
                <a:off x="2775966" y="2616200"/>
                <a:ext cx="620598"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공동 형성</a:t>
                </a:r>
              </a:p>
            </p:txBody>
          </p:sp>
          <p:sp>
            <p:nvSpPr>
              <p:cNvPr id="30" name="Rectangle 30"/>
              <p:cNvSpPr/>
              <p:nvPr/>
            </p:nvSpPr>
            <p:spPr>
              <a:xfrm>
                <a:off x="4762500" y="3048000"/>
                <a:ext cx="1123950" cy="247650"/>
              </a:xfrm>
              <a:prstGeom prst="roundRect">
                <a:avLst>
                  <a:gd name="adj" fmla="val 50000"/>
                </a:avLst>
              </a:prstGeom>
              <a:solidFill>
                <a:srgbClr val="0B1E3C"/>
              </a:solidFill>
              <a:ln>
                <a:noFill/>
              </a:ln>
            </p:spPr>
          </p:sp>
          <p:sp>
            <p:nvSpPr>
              <p:cNvPr id="31" name="Ellipse 31"/>
              <p:cNvSpPr/>
              <p:nvPr/>
            </p:nvSpPr>
            <p:spPr>
              <a:xfrm>
                <a:off x="4800600" y="3076575"/>
                <a:ext cx="190500" cy="190500"/>
              </a:xfrm>
              <a:prstGeom prst="ellipse">
                <a:avLst/>
              </a:prstGeom>
              <a:solidFill>
                <a:srgbClr val="F5B700"/>
              </a:solidFill>
              <a:ln>
                <a:noFill/>
              </a:ln>
            </p:spPr>
          </p:sp>
          <p:sp>
            <p:nvSpPr>
              <p:cNvPr id="32" name="TextBox 32"/>
              <p:cNvSpPr txBox="1"/>
              <p:nvPr/>
            </p:nvSpPr>
            <p:spPr>
              <a:xfrm>
                <a:off x="4856103" y="310515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1</a:t>
                </a:r>
              </a:p>
            </p:txBody>
          </p:sp>
          <p:sp>
            <p:nvSpPr>
              <p:cNvPr id="33" name="TextBox 33"/>
              <p:cNvSpPr txBox="1"/>
              <p:nvPr/>
            </p:nvSpPr>
            <p:spPr>
              <a:xfrm>
                <a:off x="5042916" y="3092450"/>
                <a:ext cx="761949"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하수관 누수</a:t>
                </a:r>
              </a:p>
            </p:txBody>
          </p:sp>
          <p:sp>
            <p:nvSpPr>
              <p:cNvPr id="34" name="Rectangle 34"/>
              <p:cNvSpPr/>
              <p:nvPr/>
            </p:nvSpPr>
            <p:spPr>
              <a:xfrm>
                <a:off x="3524250" y="3829050"/>
                <a:ext cx="1524000" cy="247650"/>
              </a:xfrm>
              <a:prstGeom prst="roundRect">
                <a:avLst>
                  <a:gd name="adj" fmla="val 50000"/>
                </a:avLst>
              </a:prstGeom>
              <a:solidFill>
                <a:srgbClr val="FFFFFF"/>
              </a:solidFill>
              <a:ln w="9525">
                <a:solidFill>
                  <a:srgbClr val="9AA3AF"/>
                </a:solidFill>
              </a:ln>
            </p:spPr>
          </p:sp>
          <p:sp>
            <p:nvSpPr>
              <p:cNvPr id="35" name="TextBox 35"/>
              <p:cNvSpPr txBox="1"/>
              <p:nvPr/>
            </p:nvSpPr>
            <p:spPr>
              <a:xfrm>
                <a:off x="3630171" y="3873500"/>
                <a:ext cx="1312157" cy="205359"/>
              </a:xfrm>
              <a:prstGeom prst="rect">
                <a:avLst/>
              </a:prstGeom>
              <a:noFill/>
              <a:ln>
                <a:noFill/>
              </a:ln>
            </p:spPr>
            <p:txBody>
              <a:bodyPr wrap="none" lIns="0" tIns="0" rIns="0" bIns="0" anchor="t" anchorCtr="0">
                <a:spAutoFit/>
              </a:bodyPr>
              <a:lstStyle/>
              <a:p>
                <a:pPr algn="ctr"/>
                <a:r>
                  <a:rPr lang="ko-KR" sz="1050" b="1" dirty="0">
                    <a:solidFill>
                      <a:srgbClr val="374151"/>
                    </a:solidFill>
                    <a:latin typeface="+mn-lt"/>
                    <a:ea typeface="+mn-ea"/>
                    <a:cs typeface="+mn-cs"/>
                  </a:rPr>
                  <a:t>터널·깊은 지층 결함</a:t>
                </a:r>
              </a:p>
            </p:txBody>
          </p:sp>
        </p:grpSp>
      </p:grpSp>
      <p:grpSp>
        <p:nvGrpSpPr>
          <p:cNvPr id="40" name="figure-caption"/>
          <p:cNvGrpSpPr/>
          <p:nvPr/>
        </p:nvGrpSpPr>
        <p:grpSpPr>
          <a:xfrm>
            <a:off x="527304" y="4991100"/>
            <a:ext cx="3622700" cy="482346"/>
            <a:chOff x="527304" y="4991100"/>
            <a:chExt cx="3622700" cy="482346"/>
          </a:xfrm>
        </p:grpSpPr>
        <p:sp>
          <p:nvSpPr>
            <p:cNvPr id="38" name="TextBox 38"/>
            <p:cNvSpPr txBox="1"/>
            <p:nvPr/>
          </p:nvSpPr>
          <p:spPr>
            <a:xfrm>
              <a:off x="527304" y="4991100"/>
              <a:ext cx="301166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하수관 누수 → 흙 유실 → 공동 → 노면 침하</a:t>
              </a:r>
            </a:p>
          </p:txBody>
        </p:sp>
        <p:sp>
          <p:nvSpPr>
            <p:cNvPr id="39" name="TextBox 39"/>
            <p:cNvSpPr txBox="1"/>
            <p:nvPr/>
          </p:nvSpPr>
          <p:spPr>
            <a:xfrm>
              <a:off x="527304" y="5238750"/>
              <a:ext cx="362270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자라는 동안 도로 표면은 멀쩡해 보입니다.</a:t>
              </a:r>
            </a:p>
          </p:txBody>
        </p:sp>
      </p:grpSp>
      <p:grpSp>
        <p:nvGrpSpPr>
          <p:cNvPr id="45" name="cause-stat"/>
          <p:cNvGrpSpPr/>
          <p:nvPr/>
        </p:nvGrpSpPr>
        <p:grpSpPr>
          <a:xfrm>
            <a:off x="7315200" y="1568450"/>
            <a:ext cx="4512644" cy="762000"/>
            <a:chOff x="7315200" y="1568450"/>
            <a:chExt cx="4512644" cy="762000"/>
          </a:xfrm>
        </p:grpSpPr>
        <p:sp>
          <p:nvSpPr>
            <p:cNvPr id="41" name="TextBox 41"/>
            <p:cNvSpPr txBox="1"/>
            <p:nvPr/>
          </p:nvSpPr>
          <p:spPr>
            <a:xfrm>
              <a:off x="7315200" y="1568450"/>
              <a:ext cx="1604033" cy="762000"/>
            </a:xfrm>
            <a:prstGeom prst="rect">
              <a:avLst/>
            </a:prstGeom>
            <a:noFill/>
            <a:ln>
              <a:noFill/>
            </a:ln>
          </p:spPr>
          <p:txBody>
            <a:bodyPr wrap="none" lIns="0" tIns="0" rIns="0" bIns="0" anchor="t" anchorCtr="0">
              <a:spAutoFit/>
            </a:bodyPr>
            <a:lstStyle/>
            <a:p>
              <a:pPr algn="l"/>
              <a:r>
                <a:rPr lang="ko-KR" sz="3900" b="1" spc="-112" dirty="0">
                  <a:solidFill>
                    <a:srgbClr val="0B1E3C"/>
                  </a:solidFill>
                  <a:latin typeface="+mn-lt"/>
                  <a:ea typeface="+mn-ea"/>
                  <a:cs typeface="+mn-cs"/>
                </a:rPr>
                <a:t>45.4%</a:t>
              </a:r>
            </a:p>
          </p:txBody>
        </p:sp>
        <p:sp>
          <p:nvSpPr>
            <p:cNvPr id="42" name="TextBox 42"/>
            <p:cNvSpPr txBox="1"/>
            <p:nvPr/>
          </p:nvSpPr>
          <p:spPr>
            <a:xfrm>
              <a:off x="9137142" y="1663700"/>
              <a:ext cx="269070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지반침하 원인 1위 · 하수관 손상</a:t>
              </a:r>
            </a:p>
          </p:txBody>
        </p:sp>
        <p:sp>
          <p:nvSpPr>
            <p:cNvPr id="43" name="TextBox 43"/>
            <p:cNvSpPr txBox="1"/>
            <p:nvPr/>
          </p:nvSpPr>
          <p:spPr>
            <a:xfrm>
              <a:off x="9138285" y="1917700"/>
              <a:ext cx="235597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867건 중 394건 (2020~2024)</a:t>
              </a:r>
            </a:p>
          </p:txBody>
        </p:sp>
        <p:sp>
          <p:nvSpPr>
            <p:cNvPr id="44" name="Line 44"/>
            <p:cNvSpPr/>
            <p:nvPr/>
          </p:nvSpPr>
          <p:spPr>
            <a:xfrm>
              <a:off x="7334250" y="2247900"/>
              <a:ext cx="4324350" cy="9525"/>
            </a:xfrm>
            <a:custGeom>
              <a:avLst/>
              <a:gdLst/>
              <a:ahLst/>
              <a:cxnLst/>
              <a:rect l="l" t="t" r="r" b="b"/>
              <a:pathLst>
                <a:path w="4324350" h="9525">
                  <a:moveTo>
                    <a:pt x="0" y="0"/>
                  </a:moveTo>
                  <a:lnTo>
                    <a:pt x="4324350" y="0"/>
                  </a:lnTo>
                </a:path>
              </a:pathLst>
            </a:custGeom>
            <a:noFill/>
            <a:ln w="9525">
              <a:solidFill>
                <a:srgbClr val="D5DAE1"/>
              </a:solidFill>
            </a:ln>
          </p:spPr>
        </p:sp>
      </p:grpSp>
      <p:grpSp>
        <p:nvGrpSpPr>
          <p:cNvPr id="67" name="type-table"/>
          <p:cNvGrpSpPr/>
          <p:nvPr/>
        </p:nvGrpSpPr>
        <p:grpSpPr>
          <a:xfrm>
            <a:off x="7328916" y="2400300"/>
            <a:ext cx="4329684" cy="2114550"/>
            <a:chOff x="7328916" y="2400300"/>
            <a:chExt cx="4329684" cy="2114550"/>
          </a:xfrm>
        </p:grpSpPr>
        <p:sp>
          <p:nvSpPr>
            <p:cNvPr id="46" name="Rectangle 46"/>
            <p:cNvSpPr/>
            <p:nvPr/>
          </p:nvSpPr>
          <p:spPr>
            <a:xfrm>
              <a:off x="7943850" y="2400300"/>
              <a:ext cx="1809750" cy="476250"/>
            </a:xfrm>
            <a:prstGeom prst="rect">
              <a:avLst/>
            </a:prstGeom>
            <a:solidFill>
              <a:srgbClr val="F5B700"/>
            </a:solidFill>
            <a:ln>
              <a:noFill/>
            </a:ln>
          </p:spPr>
        </p:sp>
        <p:sp>
          <p:nvSpPr>
            <p:cNvPr id="47" name="TextBox 47"/>
            <p:cNvSpPr txBox="1"/>
            <p:nvPr/>
          </p:nvSpPr>
          <p:spPr>
            <a:xfrm>
              <a:off x="8071104" y="2447925"/>
              <a:ext cx="87079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얕은 공동형</a:t>
              </a:r>
            </a:p>
          </p:txBody>
        </p:sp>
        <p:sp>
          <p:nvSpPr>
            <p:cNvPr id="48" name="TextBox 48"/>
            <p:cNvSpPr txBox="1"/>
            <p:nvPr/>
          </p:nvSpPr>
          <p:spPr>
            <a:xfrm>
              <a:off x="8072247" y="2676525"/>
              <a:ext cx="1190431" cy="191643"/>
            </a:xfrm>
            <a:prstGeom prst="rect">
              <a:avLst/>
            </a:prstGeom>
            <a:noFill/>
            <a:ln>
              <a:noFill/>
            </a:ln>
          </p:spPr>
          <p:txBody>
            <a:bodyPr wrap="none" lIns="0" tIns="0" rIns="0" bIns="0" anchor="t" anchorCtr="0">
              <a:spAutoFit/>
            </a:bodyPr>
            <a:lstStyle/>
            <a:p>
              <a:pPr algn="l"/>
              <a:r>
                <a:rPr lang="ko-KR" sz="980" b="1" dirty="0">
                  <a:solidFill>
                    <a:srgbClr val="0B1E3C"/>
                  </a:solidFill>
                  <a:latin typeface="+mn-lt"/>
                  <a:ea typeface="+mn-ea"/>
                  <a:cs typeface="+mn-cs"/>
                </a:rPr>
                <a:t>GroundWatch 대상</a:t>
              </a:r>
            </a:p>
          </p:txBody>
        </p:sp>
        <p:sp>
          <p:nvSpPr>
            <p:cNvPr id="49" name="Rectangle 49"/>
            <p:cNvSpPr/>
            <p:nvPr/>
          </p:nvSpPr>
          <p:spPr>
            <a:xfrm>
              <a:off x="9848850" y="2400300"/>
              <a:ext cx="1809750" cy="476250"/>
            </a:xfrm>
            <a:prstGeom prst="rect">
              <a:avLst/>
            </a:prstGeom>
            <a:solidFill>
              <a:srgbClr val="E5E7EB"/>
            </a:solidFill>
            <a:ln>
              <a:noFill/>
            </a:ln>
          </p:spPr>
        </p:sp>
        <p:sp>
          <p:nvSpPr>
            <p:cNvPr id="50" name="TextBox 50"/>
            <p:cNvSpPr txBox="1"/>
            <p:nvPr/>
          </p:nvSpPr>
          <p:spPr>
            <a:xfrm>
              <a:off x="9976104" y="2447925"/>
              <a:ext cx="870798" cy="234696"/>
            </a:xfrm>
            <a:prstGeom prst="rect">
              <a:avLst/>
            </a:prstGeom>
            <a:noFill/>
            <a:ln>
              <a:noFill/>
            </a:ln>
          </p:spPr>
          <p:txBody>
            <a:bodyPr wrap="none" lIns="0" tIns="0" rIns="0" bIns="0" anchor="t" anchorCtr="0">
              <a:spAutoFit/>
            </a:bodyPr>
            <a:lstStyle/>
            <a:p>
              <a:pPr algn="l"/>
              <a:r>
                <a:rPr lang="ko-KR" sz="1200" b="1" dirty="0">
                  <a:solidFill>
                    <a:srgbClr val="374151"/>
                  </a:solidFill>
                  <a:latin typeface="+mn-lt"/>
                  <a:ea typeface="+mn-ea"/>
                  <a:cs typeface="+mn-cs"/>
                </a:rPr>
                <a:t>심부 붕괴형</a:t>
              </a:r>
            </a:p>
          </p:txBody>
        </p:sp>
        <p:sp>
          <p:nvSpPr>
            <p:cNvPr id="51" name="TextBox 51"/>
            <p:cNvSpPr txBox="1"/>
            <p:nvPr/>
          </p:nvSpPr>
          <p:spPr>
            <a:xfrm>
              <a:off x="9977247" y="2676525"/>
              <a:ext cx="1269815"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예: 명일동 (2025.3)</a:t>
              </a:r>
            </a:p>
          </p:txBody>
        </p:sp>
        <p:sp>
          <p:nvSpPr>
            <p:cNvPr id="52" name="Rectangle 52"/>
            <p:cNvSpPr/>
            <p:nvPr/>
          </p:nvSpPr>
          <p:spPr>
            <a:xfrm>
              <a:off x="7943850" y="2876550"/>
              <a:ext cx="1809750" cy="1638300"/>
            </a:xfrm>
            <a:prstGeom prst="rect">
              <a:avLst/>
            </a:prstGeom>
            <a:solidFill>
              <a:srgbClr val="FFF6D6"/>
            </a:solidFill>
            <a:ln>
              <a:noFill/>
            </a:ln>
          </p:spPr>
        </p:sp>
        <p:grpSp>
          <p:nvGrpSpPr>
            <p:cNvPr id="56" name="Group 56"/>
            <p:cNvGrpSpPr/>
            <p:nvPr/>
          </p:nvGrpSpPr>
          <p:grpSpPr>
            <a:xfrm>
              <a:off x="7328916" y="3035300"/>
              <a:ext cx="293370" cy="1310259"/>
              <a:chOff x="7328916" y="3035300"/>
              <a:chExt cx="293370" cy="1310259"/>
            </a:xfrm>
          </p:grpSpPr>
          <p:sp>
            <p:nvSpPr>
              <p:cNvPr id="53" name="TextBox 53"/>
              <p:cNvSpPr txBox="1"/>
              <p:nvPr/>
            </p:nvSpPr>
            <p:spPr>
              <a:xfrm>
                <a:off x="7328916" y="303530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원인</a:t>
                </a:r>
              </a:p>
            </p:txBody>
          </p:sp>
          <p:sp>
            <p:nvSpPr>
              <p:cNvPr id="54" name="TextBox 54"/>
              <p:cNvSpPr txBox="1"/>
              <p:nvPr/>
            </p:nvSpPr>
            <p:spPr>
              <a:xfrm>
                <a:off x="7328916" y="358775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징후</a:t>
                </a:r>
              </a:p>
            </p:txBody>
          </p:sp>
          <p:sp>
            <p:nvSpPr>
              <p:cNvPr id="55" name="TextBox 55"/>
              <p:cNvSpPr txBox="1"/>
              <p:nvPr/>
            </p:nvSpPr>
            <p:spPr>
              <a:xfrm>
                <a:off x="7328916" y="414020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대응</a:t>
                </a:r>
              </a:p>
            </p:txBody>
          </p:sp>
        </p:grpSp>
        <p:sp>
          <p:nvSpPr>
            <p:cNvPr id="57" name="Line 57"/>
            <p:cNvSpPr/>
            <p:nvPr/>
          </p:nvSpPr>
          <p:spPr>
            <a:xfrm>
              <a:off x="7334250" y="3429000"/>
              <a:ext cx="4324350" cy="9525"/>
            </a:xfrm>
            <a:custGeom>
              <a:avLst/>
              <a:gdLst/>
              <a:ahLst/>
              <a:cxnLst/>
              <a:rect l="l" t="t" r="r" b="b"/>
              <a:pathLst>
                <a:path w="4324350" h="9525">
                  <a:moveTo>
                    <a:pt x="0" y="0"/>
                  </a:moveTo>
                  <a:lnTo>
                    <a:pt x="4324350" y="0"/>
                  </a:lnTo>
                </a:path>
              </a:pathLst>
            </a:custGeom>
            <a:noFill/>
            <a:ln w="9525">
              <a:solidFill>
                <a:srgbClr val="E5E7EB"/>
              </a:solidFill>
            </a:ln>
          </p:spPr>
        </p:sp>
        <p:sp>
          <p:nvSpPr>
            <p:cNvPr id="58" name="Line 58"/>
            <p:cNvSpPr/>
            <p:nvPr/>
          </p:nvSpPr>
          <p:spPr>
            <a:xfrm>
              <a:off x="7334250" y="3981450"/>
              <a:ext cx="4324350" cy="9525"/>
            </a:xfrm>
            <a:custGeom>
              <a:avLst/>
              <a:gdLst/>
              <a:ahLst/>
              <a:cxnLst/>
              <a:rect l="l" t="t" r="r" b="b"/>
              <a:pathLst>
                <a:path w="4324350" h="9525">
                  <a:moveTo>
                    <a:pt x="0" y="0"/>
                  </a:moveTo>
                  <a:lnTo>
                    <a:pt x="4324350" y="0"/>
                  </a:lnTo>
                </a:path>
              </a:pathLst>
            </a:custGeom>
            <a:noFill/>
            <a:ln w="9525">
              <a:solidFill>
                <a:srgbClr val="E5E7EB"/>
              </a:solidFill>
            </a:ln>
          </p:spPr>
        </p:sp>
        <p:grpSp>
          <p:nvGrpSpPr>
            <p:cNvPr id="62" name="Group 62"/>
            <p:cNvGrpSpPr/>
            <p:nvPr/>
          </p:nvGrpSpPr>
          <p:grpSpPr>
            <a:xfrm>
              <a:off x="8071485" y="2946400"/>
              <a:ext cx="1369822" cy="1515428"/>
              <a:chOff x="8071485" y="2946400"/>
              <a:chExt cx="1369822" cy="1515428"/>
            </a:xfrm>
          </p:grpSpPr>
          <p:sp>
            <p:nvSpPr>
              <p:cNvPr id="59" name="TextBox 59"/>
              <p:cNvSpPr txBox="1"/>
              <p:nvPr/>
            </p:nvSpPr>
            <p:spPr>
              <a:xfrm>
                <a:off x="8071485" y="2946400"/>
                <a:ext cx="104978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하수관 손상으로</a:t>
                </a:r>
                <a:br>
                  <a:rPr lang="ko-KR" sz="1120" dirty="0">
                    <a:solidFill>
                      <a:srgbClr val="111827"/>
                    </a:solidFill>
                    <a:latin typeface="+mn-lt"/>
                    <a:ea typeface="+mn-ea"/>
                    <a:cs typeface="+mn-cs"/>
                  </a:rPr>
                </a:br>
                <a:r>
                  <a:rPr lang="ko-KR" sz="1120" dirty="0">
                    <a:solidFill>
                      <a:srgbClr val="111827"/>
                    </a:solidFill>
                    <a:latin typeface="+mn-lt"/>
                    <a:ea typeface="+mn-ea"/>
                    <a:cs typeface="+mn-cs"/>
                  </a:rPr>
                  <a:t>흙이 쓸려 나감</a:t>
                </a:r>
              </a:p>
            </p:txBody>
          </p:sp>
          <p:sp>
            <p:nvSpPr>
              <p:cNvPr id="60" name="TextBox 60"/>
              <p:cNvSpPr txBox="1"/>
              <p:nvPr/>
            </p:nvSpPr>
            <p:spPr>
              <a:xfrm>
                <a:off x="8071485" y="3498850"/>
                <a:ext cx="1141527"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공동이 먼저 생김</a:t>
                </a:r>
                <a:br>
                  <a:rPr lang="ko-KR" sz="1120" dirty="0">
                    <a:solidFill>
                      <a:srgbClr val="111827"/>
                    </a:solidFill>
                    <a:latin typeface="+mn-lt"/>
                    <a:ea typeface="+mn-ea"/>
                    <a:cs typeface="+mn-cs"/>
                  </a:rPr>
                </a:br>
                <a:r>
                  <a:rPr lang="ko-KR" sz="1120" b="1" dirty="0">
                    <a:solidFill>
                      <a:srgbClr val="111827"/>
                    </a:solidFill>
                    <a:latin typeface="+mn-lt"/>
                    <a:ea typeface="+mn-ea"/>
                    <a:cs typeface="+mn-cs"/>
                  </a:rPr>
                  <a:t>함몰 전 탐지 가능</a:t>
                </a:r>
              </a:p>
            </p:txBody>
          </p:sp>
          <p:sp>
            <p:nvSpPr>
              <p:cNvPr id="61" name="TextBox 61"/>
              <p:cNvSpPr txBox="1"/>
              <p:nvPr/>
            </p:nvSpPr>
            <p:spPr>
              <a:xfrm>
                <a:off x="8071485" y="4051300"/>
                <a:ext cx="136982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차량형 GPR 반복 순찰</a:t>
                </a:r>
                <a:br>
                  <a:rPr lang="ko-KR" sz="1120" dirty="0">
                    <a:solidFill>
                      <a:srgbClr val="111827"/>
                    </a:solidFill>
                    <a:latin typeface="+mn-lt"/>
                    <a:ea typeface="+mn-ea"/>
                    <a:cs typeface="+mn-cs"/>
                  </a:rPr>
                </a:br>
                <a:r>
                  <a:rPr lang="ko-KR" sz="1120" dirty="0">
                    <a:solidFill>
                      <a:srgbClr val="111827"/>
                    </a:solidFill>
                    <a:latin typeface="+mn-lt"/>
                    <a:ea typeface="+mn-ea"/>
                    <a:cs typeface="+mn-cs"/>
                  </a:rPr>
                  <a:t>+ 수동 GPR 재확인</a:t>
                </a:r>
              </a:p>
            </p:txBody>
          </p:sp>
        </p:grpSp>
        <p:grpSp>
          <p:nvGrpSpPr>
            <p:cNvPr id="66" name="Group 66"/>
            <p:cNvGrpSpPr/>
            <p:nvPr/>
          </p:nvGrpSpPr>
          <p:grpSpPr>
            <a:xfrm>
              <a:off x="9976485" y="2946400"/>
              <a:ext cx="1597406" cy="1515428"/>
              <a:chOff x="9976485" y="2946400"/>
              <a:chExt cx="1597406" cy="1515428"/>
            </a:xfrm>
          </p:grpSpPr>
          <p:sp>
            <p:nvSpPr>
              <p:cNvPr id="63" name="TextBox 63"/>
              <p:cNvSpPr txBox="1"/>
              <p:nvPr/>
            </p:nvSpPr>
            <p:spPr>
              <a:xfrm>
                <a:off x="9976485" y="2946400"/>
                <a:ext cx="1597406"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깊은 지층 결함·지하수위</a:t>
                </a:r>
                <a:br>
                  <a:rPr lang="ko-KR" sz="1120" dirty="0">
                    <a:solidFill>
                      <a:srgbClr val="374151"/>
                    </a:solidFill>
                    <a:latin typeface="+mn-lt"/>
                    <a:ea typeface="+mn-ea"/>
                    <a:cs typeface="+mn-cs"/>
                  </a:rPr>
                </a:br>
                <a:r>
                  <a:rPr lang="ko-KR" sz="1120" dirty="0">
                    <a:solidFill>
                      <a:srgbClr val="374151"/>
                    </a:solidFill>
                    <a:latin typeface="+mn-lt"/>
                    <a:ea typeface="+mn-ea"/>
                    <a:cs typeface="+mn-cs"/>
                  </a:rPr>
                  <a:t>저하·터널 공사 영향</a:t>
                </a:r>
              </a:p>
            </p:txBody>
          </p:sp>
          <p:sp>
            <p:nvSpPr>
              <p:cNvPr id="64" name="TextBox 64"/>
              <p:cNvSpPr txBox="1"/>
              <p:nvPr/>
            </p:nvSpPr>
            <p:spPr>
              <a:xfrm>
                <a:off x="9976485" y="3498850"/>
                <a:ext cx="90754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지표 탐사로는</a:t>
                </a:r>
                <a:br>
                  <a:rPr lang="ko-KR" sz="1120" dirty="0">
                    <a:solidFill>
                      <a:srgbClr val="374151"/>
                    </a:solidFill>
                    <a:latin typeface="+mn-lt"/>
                    <a:ea typeface="+mn-ea"/>
                    <a:cs typeface="+mn-cs"/>
                  </a:rPr>
                </a:br>
                <a:r>
                  <a:rPr lang="ko-KR" sz="1120" dirty="0">
                    <a:solidFill>
                      <a:srgbClr val="374151"/>
                    </a:solidFill>
                    <a:latin typeface="+mn-lt"/>
                    <a:ea typeface="+mn-ea"/>
                    <a:cs typeface="+mn-cs"/>
                  </a:rPr>
                  <a:t>확인이 어려움</a:t>
                </a:r>
              </a:p>
            </p:txBody>
          </p:sp>
          <p:sp>
            <p:nvSpPr>
              <p:cNvPr id="65" name="TextBox 65"/>
              <p:cNvSpPr txBox="1"/>
              <p:nvPr/>
            </p:nvSpPr>
            <p:spPr>
              <a:xfrm>
                <a:off x="9976485" y="4051300"/>
                <a:ext cx="1568958"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공사장 계측·지반조사</a:t>
                </a:r>
                <a:br>
                  <a:rPr lang="ko-KR" sz="1120" dirty="0">
                    <a:solidFill>
                      <a:srgbClr val="374151"/>
                    </a:solidFill>
                    <a:latin typeface="+mn-lt"/>
                    <a:ea typeface="+mn-ea"/>
                    <a:cs typeface="+mn-cs"/>
                  </a:rPr>
                </a:br>
                <a:r>
                  <a:rPr lang="ko-KR" sz="1120" dirty="0">
                    <a:solidFill>
                      <a:srgbClr val="374151"/>
                    </a:solidFill>
                    <a:latin typeface="+mn-lt"/>
                    <a:ea typeface="+mn-ea"/>
                    <a:cs typeface="+mn-cs"/>
                  </a:rPr>
                  <a:t>(GroundWatch 범위 밖)</a:t>
                </a:r>
              </a:p>
            </p:txBody>
          </p:sp>
        </p:grpSp>
      </p:grpSp>
      <p:grpSp>
        <p:nvGrpSpPr>
          <p:cNvPr id="80" name="method"/>
          <p:cNvGrpSpPr/>
          <p:nvPr/>
        </p:nvGrpSpPr>
        <p:grpSpPr>
          <a:xfrm>
            <a:off x="7328535" y="4699000"/>
            <a:ext cx="4330065" cy="863600"/>
            <a:chOff x="7328535" y="4699000"/>
            <a:chExt cx="4330065" cy="863600"/>
          </a:xfrm>
        </p:grpSpPr>
        <p:sp>
          <p:nvSpPr>
            <p:cNvPr id="68" name="TextBox 68"/>
            <p:cNvSpPr txBox="1"/>
            <p:nvPr/>
          </p:nvSpPr>
          <p:spPr>
            <a:xfrm>
              <a:off x="7328535" y="4699000"/>
              <a:ext cx="270879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GroundWatch가 얕은 공동을 찾는 방법</a:t>
              </a:r>
            </a:p>
          </p:txBody>
        </p:sp>
        <p:sp>
          <p:nvSpPr>
            <p:cNvPr id="69" name="Rectangle 69"/>
            <p:cNvSpPr/>
            <p:nvPr/>
          </p:nvSpPr>
          <p:spPr>
            <a:xfrm>
              <a:off x="7334250" y="4953000"/>
              <a:ext cx="1257300" cy="609600"/>
            </a:xfrm>
            <a:prstGeom prst="rect">
              <a:avLst/>
            </a:prstGeom>
            <a:solidFill>
              <a:srgbClr val="F3F5F8"/>
            </a:solidFill>
            <a:ln>
              <a:noFill/>
            </a:ln>
          </p:spPr>
        </p:sp>
        <p:sp>
          <p:nvSpPr>
            <p:cNvPr id="70" name="TextBox 70"/>
            <p:cNvSpPr txBox="1"/>
            <p:nvPr/>
          </p:nvSpPr>
          <p:spPr>
            <a:xfrm>
              <a:off x="7442835" y="5060950"/>
              <a:ext cx="86029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같은 길 반복</a:t>
              </a:r>
            </a:p>
          </p:txBody>
        </p:sp>
        <p:sp>
          <p:nvSpPr>
            <p:cNvPr id="71" name="TextBox 71"/>
            <p:cNvSpPr txBox="1"/>
            <p:nvPr/>
          </p:nvSpPr>
          <p:spPr>
            <a:xfrm>
              <a:off x="7443597" y="5295900"/>
              <a:ext cx="983183"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차량형 GPR 순찰</a:t>
              </a:r>
            </a:p>
          </p:txBody>
        </p:sp>
        <p:sp>
          <p:nvSpPr>
            <p:cNvPr id="72" name="Line 72"/>
            <p:cNvSpPr/>
            <p:nvPr/>
          </p:nvSpPr>
          <p:spPr>
            <a:xfrm>
              <a:off x="8610600" y="5257800"/>
              <a:ext cx="228600" cy="1"/>
            </a:xfrm>
            <a:prstGeom prst="line">
              <a:avLst/>
            </a:prstGeom>
            <a:noFill/>
            <a:ln w="19050">
              <a:solidFill>
                <a:srgbClr val="0B1E3C"/>
              </a:solidFill>
              <a:tailEnd type="triangle" w="lg" len="lg"/>
            </a:ln>
          </p:spPr>
        </p:sp>
        <p:sp>
          <p:nvSpPr>
            <p:cNvPr id="73" name="Rectangle 73"/>
            <p:cNvSpPr/>
            <p:nvPr/>
          </p:nvSpPr>
          <p:spPr>
            <a:xfrm>
              <a:off x="8867775" y="4953000"/>
              <a:ext cx="1257300" cy="609600"/>
            </a:xfrm>
            <a:prstGeom prst="rect">
              <a:avLst/>
            </a:prstGeom>
            <a:solidFill>
              <a:srgbClr val="F3F5F8"/>
            </a:solidFill>
            <a:ln>
              <a:noFill/>
            </a:ln>
          </p:spPr>
        </p:sp>
        <p:sp>
          <p:nvSpPr>
            <p:cNvPr id="74" name="TextBox 74"/>
            <p:cNvSpPr txBox="1"/>
            <p:nvPr/>
          </p:nvSpPr>
          <p:spPr>
            <a:xfrm>
              <a:off x="8976360" y="5060950"/>
              <a:ext cx="66202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회차 비교</a:t>
              </a:r>
            </a:p>
          </p:txBody>
        </p:sp>
        <p:sp>
          <p:nvSpPr>
            <p:cNvPr id="75" name="TextBox 75"/>
            <p:cNvSpPr txBox="1"/>
            <p:nvPr/>
          </p:nvSpPr>
          <p:spPr>
            <a:xfrm>
              <a:off x="8977122" y="5295900"/>
              <a:ext cx="120584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AI 후보·전문가 승인</a:t>
              </a:r>
            </a:p>
          </p:txBody>
        </p:sp>
        <p:sp>
          <p:nvSpPr>
            <p:cNvPr id="76" name="Line 76"/>
            <p:cNvSpPr/>
            <p:nvPr/>
          </p:nvSpPr>
          <p:spPr>
            <a:xfrm>
              <a:off x="10144125" y="5257800"/>
              <a:ext cx="228600" cy="1"/>
            </a:xfrm>
            <a:prstGeom prst="line">
              <a:avLst/>
            </a:prstGeom>
            <a:noFill/>
            <a:ln w="19050">
              <a:solidFill>
                <a:srgbClr val="0B1E3C"/>
              </a:solidFill>
              <a:tailEnd type="triangle" w="lg" len="lg"/>
            </a:ln>
          </p:spPr>
        </p:sp>
        <p:sp>
          <p:nvSpPr>
            <p:cNvPr id="77" name="Rectangle 77"/>
            <p:cNvSpPr/>
            <p:nvPr/>
          </p:nvSpPr>
          <p:spPr>
            <a:xfrm>
              <a:off x="10401300" y="4953000"/>
              <a:ext cx="1257300" cy="609600"/>
            </a:xfrm>
            <a:prstGeom prst="rect">
              <a:avLst/>
            </a:prstGeom>
            <a:solidFill>
              <a:srgbClr val="0B1E3C"/>
            </a:solidFill>
            <a:ln>
              <a:noFill/>
            </a:ln>
          </p:spPr>
        </p:sp>
        <p:sp>
          <p:nvSpPr>
            <p:cNvPr id="78" name="TextBox 78"/>
            <p:cNvSpPr txBox="1"/>
            <p:nvPr/>
          </p:nvSpPr>
          <p:spPr>
            <a:xfrm>
              <a:off x="10509885" y="5060950"/>
              <a:ext cx="812796"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변한 지점만</a:t>
              </a:r>
            </a:p>
          </p:txBody>
        </p:sp>
        <p:sp>
          <p:nvSpPr>
            <p:cNvPr id="79" name="TextBox 79"/>
            <p:cNvSpPr txBox="1"/>
            <p:nvPr/>
          </p:nvSpPr>
          <p:spPr>
            <a:xfrm>
              <a:off x="10510647" y="5295900"/>
              <a:ext cx="983183" cy="191643"/>
            </a:xfrm>
            <a:prstGeom prst="rect">
              <a:avLst/>
            </a:prstGeom>
            <a:noFill/>
            <a:ln>
              <a:noFill/>
            </a:ln>
          </p:spPr>
          <p:txBody>
            <a:bodyPr wrap="none" lIns="0" tIns="0" rIns="0" bIns="0" anchor="t" anchorCtr="0">
              <a:spAutoFit/>
            </a:bodyPr>
            <a:lstStyle/>
            <a:p>
              <a:pPr algn="l"/>
              <a:r>
                <a:rPr lang="ko-KR" sz="980" dirty="0">
                  <a:solidFill>
                    <a:srgbClr val="F5B700"/>
                  </a:solidFill>
                  <a:latin typeface="+mn-lt"/>
                  <a:ea typeface="+mn-ea"/>
                  <a:cs typeface="+mn-cs"/>
                </a:rPr>
                <a:t>수동 GPR 재확인</a:t>
              </a:r>
            </a:p>
          </p:txBody>
        </p:sp>
      </p:grpSp>
      <p:grpSp>
        <p:nvGrpSpPr>
          <p:cNvPr id="83" name="conclusion"/>
          <p:cNvGrpSpPr/>
          <p:nvPr/>
        </p:nvGrpSpPr>
        <p:grpSpPr>
          <a:xfrm>
            <a:off x="533400" y="5753100"/>
            <a:ext cx="11125200" cy="476250"/>
            <a:chOff x="533400" y="5753100"/>
            <a:chExt cx="11125200" cy="476250"/>
          </a:xfrm>
        </p:grpSpPr>
        <p:sp>
          <p:nvSpPr>
            <p:cNvPr id="81" name="Rectangle 81"/>
            <p:cNvSpPr/>
            <p:nvPr/>
          </p:nvSpPr>
          <p:spPr>
            <a:xfrm>
              <a:off x="533400" y="5753100"/>
              <a:ext cx="11125200" cy="476250"/>
            </a:xfrm>
            <a:prstGeom prst="rect">
              <a:avLst/>
            </a:prstGeom>
            <a:solidFill>
              <a:srgbClr val="0B1E3C"/>
            </a:solidFill>
            <a:ln>
              <a:noFill/>
            </a:ln>
          </p:spPr>
        </p:sp>
        <p:sp>
          <p:nvSpPr>
            <p:cNvPr id="82" name="TextBox 82"/>
            <p:cNvSpPr txBox="1"/>
            <p:nvPr/>
          </p:nvSpPr>
          <p:spPr>
            <a:xfrm>
              <a:off x="754380" y="5880100"/>
              <a:ext cx="7006057"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한 번의 탐사가 아니라 </a:t>
              </a:r>
              <a:r>
                <a:rPr lang="ko-KR" sz="1500" b="1" dirty="0">
                  <a:solidFill>
                    <a:srgbClr val="F5B700"/>
                  </a:solidFill>
                  <a:latin typeface="+mn-lt"/>
                  <a:ea typeface="+mn-ea"/>
                  <a:cs typeface="+mn-cs"/>
                </a:rPr>
                <a:t>회차 사이의 변화</a:t>
              </a:r>
              <a:r>
                <a:rPr lang="ko-KR" sz="1500" b="1" dirty="0">
                  <a:solidFill>
                    <a:srgbClr val="FFFFFF"/>
                  </a:solidFill>
                  <a:latin typeface="+mn-lt"/>
                  <a:ea typeface="+mn-ea"/>
                  <a:cs typeface="+mn-cs"/>
                </a:rPr>
                <a:t>로, 얕은 공동을 함몰 전에 찾습니다.</a:t>
              </a:r>
            </a:p>
          </p:txBody>
        </p:sp>
      </p:grpSp>
      <p:grpSp>
        <p:nvGrpSpPr>
          <p:cNvPr id="85" name="source"/>
          <p:cNvGrpSpPr/>
          <p:nvPr/>
        </p:nvGrpSpPr>
        <p:grpSpPr>
          <a:xfrm>
            <a:off x="528638" y="6343650"/>
            <a:ext cx="10450601" cy="176212"/>
            <a:chOff x="528638" y="6343650"/>
            <a:chExt cx="10450601" cy="176212"/>
          </a:xfrm>
        </p:grpSpPr>
        <p:sp>
          <p:nvSpPr>
            <p:cNvPr id="84" name="TextBox 84"/>
            <p:cNvSpPr txBox="1"/>
            <p:nvPr/>
          </p:nvSpPr>
          <p:spPr>
            <a:xfrm>
              <a:off x="528638" y="6343650"/>
              <a:ext cx="1045060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867건) · 국토교통부 명일동 사고조사 결과(2025.12.3) · 서울시 차량형 GPR 탐사 깊이 약 2m · 단면도는 원리 설명용 도식(깊이 비례 아님)</a:t>
              </a:r>
            </a:p>
          </p:txBody>
        </p:sp>
      </p:grpSp>
      <p:grpSp>
        <p:nvGrpSpPr>
          <p:cNvPr id="88" name="footer"/>
          <p:cNvGrpSpPr/>
          <p:nvPr/>
        </p:nvGrpSpPr>
        <p:grpSpPr>
          <a:xfrm>
            <a:off x="528638" y="6610350"/>
            <a:ext cx="11134724" cy="176212"/>
            <a:chOff x="528638" y="6610350"/>
            <a:chExt cx="11134724" cy="176212"/>
          </a:xfrm>
        </p:grpSpPr>
        <p:sp>
          <p:nvSpPr>
            <p:cNvPr id="86" name="TextBox 8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7" name="TextBox 8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기존 방식</a:t>
              </a:r>
            </a:p>
          </p:txBody>
        </p:sp>
        <p:sp>
          <p:nvSpPr>
            <p:cNvPr id="6" name="TextBox 6"/>
            <p:cNvSpPr txBox="1"/>
            <p:nvPr/>
          </p:nvSpPr>
          <p:spPr>
            <a:xfrm>
              <a:off x="2680716" y="301625"/>
              <a:ext cx="94358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기존 조사 방식</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999527" cy="557403"/>
            <a:chOff x="518922" y="800100"/>
            <a:chExt cx="9999527" cy="557403"/>
          </a:xfrm>
        </p:grpSpPr>
        <p:sp>
          <p:nvSpPr>
            <p:cNvPr id="9" name="TextBox 9"/>
            <p:cNvSpPr txBox="1"/>
            <p:nvPr/>
          </p:nvSpPr>
          <p:spPr>
            <a:xfrm>
              <a:off x="518922" y="800100"/>
              <a:ext cx="9999527"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서울시는 이미 넓게 탐사하고, 의심 지점을 다시 확인합니다</a:t>
              </a:r>
            </a:p>
          </p:txBody>
        </p:sp>
      </p:grpSp>
      <p:grpSp>
        <p:nvGrpSpPr>
          <p:cNvPr id="13" name="gpr-photo"/>
          <p:cNvGrpSpPr/>
          <p:nvPr/>
        </p:nvGrpSpPr>
        <p:grpSpPr>
          <a:xfrm>
            <a:off x="528638" y="1447800"/>
            <a:ext cx="4957762" cy="3052762"/>
            <a:chOff x="528638" y="1447800"/>
            <a:chExt cx="4957762" cy="3052762"/>
          </a:xfrm>
        </p:grpSpPr>
        <p:pic>
          <p:nvPicPr>
            <p:cNvPr id="11" name="Image 11"/>
            <p:cNvPicPr>
              <a:picLocks noChangeAspect="1"/>
            </p:cNvPicPr>
            <p:nvPr/>
          </p:nvPicPr>
          <p:blipFill>
            <a:blip r:embed="rId2"/>
            <a:srcRect l="0" t="12052" r="0" b="12051"/>
            <a:stretch>
              <a:fillRect/>
            </a:stretch>
          </p:blipFill>
          <p:spPr>
            <a:xfrm>
              <a:off x="533400" y="1447800"/>
              <a:ext cx="4953000" cy="2819400"/>
            </a:xfrm>
            <a:prstGeom prst="rect">
              <a:avLst/>
            </a:prstGeom>
          </p:spPr>
        </p:pic>
        <p:sp>
          <p:nvSpPr>
            <p:cNvPr id="12" name="TextBox 12"/>
            <p:cNvSpPr txBox="1"/>
            <p:nvPr/>
          </p:nvSpPr>
          <p:spPr>
            <a:xfrm>
              <a:off x="528638" y="4324350"/>
              <a:ext cx="377776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The Charles Machine Works, CC BY-SA 2.0</a:t>
              </a:r>
            </a:p>
          </p:txBody>
        </p:sp>
      </p:grpSp>
      <p:grpSp>
        <p:nvGrpSpPr>
          <p:cNvPr id="21" name="seoul-kpis"/>
          <p:cNvGrpSpPr/>
          <p:nvPr/>
        </p:nvGrpSpPr>
        <p:grpSpPr>
          <a:xfrm>
            <a:off x="521970" y="4686300"/>
            <a:ext cx="4964430" cy="937578"/>
            <a:chOff x="521970" y="4686300"/>
            <a:chExt cx="4964430" cy="937578"/>
          </a:xfrm>
        </p:grpSpPr>
        <p:sp>
          <p:nvSpPr>
            <p:cNvPr id="14" name="Line 14"/>
            <p:cNvSpPr/>
            <p:nvPr/>
          </p:nvSpPr>
          <p:spPr>
            <a:xfrm>
              <a:off x="533400" y="4686300"/>
              <a:ext cx="4953000" cy="9525"/>
            </a:xfrm>
            <a:custGeom>
              <a:avLst/>
              <a:gdLst/>
              <a:ahLst/>
              <a:cxnLst/>
              <a:rect l="l" t="t" r="r" b="b"/>
              <a:pathLst>
                <a:path w="4953000" h="9525">
                  <a:moveTo>
                    <a:pt x="0" y="0"/>
                  </a:moveTo>
                  <a:lnTo>
                    <a:pt x="4953000" y="0"/>
                  </a:lnTo>
                </a:path>
              </a:pathLst>
            </a:custGeom>
            <a:noFill/>
            <a:ln w="19050">
              <a:solidFill>
                <a:srgbClr val="0B1E3C"/>
              </a:solidFill>
            </a:ln>
          </p:spPr>
        </p:sp>
        <p:sp>
          <p:nvSpPr>
            <p:cNvPr id="15" name="TextBox 15"/>
            <p:cNvSpPr txBox="1"/>
            <p:nvPr/>
          </p:nvSpPr>
          <p:spPr>
            <a:xfrm>
              <a:off x="521970" y="4826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33,129km</a:t>
              </a:r>
            </a:p>
          </p:txBody>
        </p:sp>
        <p:sp>
          <p:nvSpPr>
            <p:cNvPr id="16" name="TextBox 16"/>
            <p:cNvSpPr txBox="1"/>
            <p:nvPr/>
          </p:nvSpPr>
          <p:spPr>
            <a:xfrm>
              <a:off x="527685" y="5213350"/>
              <a:ext cx="122758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누적 차량 GPR 탐사</a:t>
              </a:r>
              <a:br>
                <a:rPr lang="ko-KR" sz="1120" dirty="0">
                  <a:solidFill>
                    <a:srgbClr val="4B5563"/>
                  </a:solidFill>
                  <a:latin typeface="+mn-lt"/>
                  <a:ea typeface="+mn-ea"/>
                  <a:cs typeface="+mn-cs"/>
                </a:rPr>
              </a:br>
              <a:r>
                <a:rPr lang="ko-KR" sz="1120" dirty="0">
                  <a:solidFill>
                    <a:srgbClr val="4B5563"/>
                  </a:solidFill>
                  <a:latin typeface="+mn-lt"/>
                  <a:ea typeface="+mn-ea"/>
                  <a:cs typeface="+mn-cs"/>
                </a:rPr>
                <a:t>2014~2025.9</a:t>
              </a:r>
            </a:p>
          </p:txBody>
        </p:sp>
        <p:sp>
          <p:nvSpPr>
            <p:cNvPr id="17" name="TextBox 17"/>
            <p:cNvSpPr txBox="1"/>
            <p:nvPr/>
          </p:nvSpPr>
          <p:spPr>
            <a:xfrm>
              <a:off x="2398395" y="4826000"/>
              <a:ext cx="1200364"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7,760개</a:t>
              </a:r>
            </a:p>
          </p:txBody>
        </p:sp>
        <p:sp>
          <p:nvSpPr>
            <p:cNvPr id="18" name="TextBox 18"/>
            <p:cNvSpPr txBox="1"/>
            <p:nvPr/>
          </p:nvSpPr>
          <p:spPr>
            <a:xfrm>
              <a:off x="2404110" y="5213350"/>
              <a:ext cx="76530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같은 기간</a:t>
              </a:r>
              <a:br>
                <a:rPr lang="ko-KR" sz="1120" dirty="0">
                  <a:solidFill>
                    <a:srgbClr val="4B5563"/>
                  </a:solidFill>
                  <a:latin typeface="+mn-lt"/>
                  <a:ea typeface="+mn-ea"/>
                  <a:cs typeface="+mn-cs"/>
                </a:rPr>
              </a:br>
              <a:r>
                <a:rPr lang="ko-KR" sz="1120" dirty="0">
                  <a:solidFill>
                    <a:srgbClr val="4B5563"/>
                  </a:solidFill>
                  <a:latin typeface="+mn-lt"/>
                  <a:ea typeface="+mn-ea"/>
                  <a:cs typeface="+mn-cs"/>
                </a:rPr>
                <a:t>발견한 공동</a:t>
              </a:r>
            </a:p>
          </p:txBody>
        </p:sp>
        <p:sp>
          <p:nvSpPr>
            <p:cNvPr id="19" name="TextBox 19"/>
            <p:cNvSpPr txBox="1"/>
            <p:nvPr/>
          </p:nvSpPr>
          <p:spPr>
            <a:xfrm>
              <a:off x="3960495" y="4826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16,423km</a:t>
              </a:r>
            </a:p>
          </p:txBody>
        </p:sp>
        <p:sp>
          <p:nvSpPr>
            <p:cNvPr id="20" name="TextBox 20"/>
            <p:cNvSpPr txBox="1"/>
            <p:nvPr/>
          </p:nvSpPr>
          <p:spPr>
            <a:xfrm>
              <a:off x="3966210" y="5213350"/>
              <a:ext cx="129870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2026년 탐사 계획</a:t>
              </a:r>
              <a:br>
                <a:rPr lang="ko-KR" sz="1120" dirty="0">
                  <a:solidFill>
                    <a:srgbClr val="4B5563"/>
                  </a:solidFill>
                  <a:latin typeface="+mn-lt"/>
                  <a:ea typeface="+mn-ea"/>
                  <a:cs typeface="+mn-cs"/>
                </a:rPr>
              </a:br>
              <a:r>
                <a:rPr lang="ko-KR" sz="1120" dirty="0">
                  <a:solidFill>
                    <a:srgbClr val="4B5563"/>
                  </a:solidFill>
                  <a:latin typeface="+mn-lt"/>
                  <a:ea typeface="+mn-ea"/>
                  <a:cs typeface="+mn-cs"/>
                </a:rPr>
                <a:t>GPR 인력 9명 → 19명</a:t>
              </a:r>
            </a:p>
          </p:txBody>
        </p:sp>
      </p:grpSp>
      <p:grpSp>
        <p:nvGrpSpPr>
          <p:cNvPr id="42" name="current-flow"/>
          <p:cNvGrpSpPr/>
          <p:nvPr/>
        </p:nvGrpSpPr>
        <p:grpSpPr>
          <a:xfrm>
            <a:off x="5937123" y="1485900"/>
            <a:ext cx="4812637" cy="2329752"/>
            <a:chOff x="5937123" y="1485900"/>
            <a:chExt cx="4812637" cy="2329752"/>
          </a:xfrm>
        </p:grpSpPr>
        <p:sp>
          <p:nvSpPr>
            <p:cNvPr id="22" name="TextBox 22"/>
            <p:cNvSpPr txBox="1"/>
            <p:nvPr/>
          </p:nvSpPr>
          <p:spPr>
            <a:xfrm>
              <a:off x="5937123" y="148590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현재 업무 흐름</a:t>
              </a:r>
            </a:p>
          </p:txBody>
        </p:sp>
        <p:grpSp>
          <p:nvGrpSpPr>
            <p:cNvPr id="41" name="Group 41"/>
            <p:cNvGrpSpPr/>
            <p:nvPr/>
          </p:nvGrpSpPr>
          <p:grpSpPr>
            <a:xfrm>
              <a:off x="5943600" y="1819275"/>
              <a:ext cx="4806160" cy="1996377"/>
              <a:chOff x="5943600" y="1819275"/>
              <a:chExt cx="4806160" cy="1996377"/>
            </a:xfrm>
          </p:grpSpPr>
          <p:sp>
            <p:nvSpPr>
              <p:cNvPr id="23" name="Ellipse 23"/>
              <p:cNvSpPr/>
              <p:nvPr/>
            </p:nvSpPr>
            <p:spPr>
              <a:xfrm>
                <a:off x="5943600" y="1819275"/>
                <a:ext cx="228600" cy="228600"/>
              </a:xfrm>
              <a:prstGeom prst="ellipse">
                <a:avLst/>
              </a:prstGeom>
              <a:solidFill>
                <a:srgbClr val="0B1E3C"/>
              </a:solidFill>
              <a:ln>
                <a:noFill/>
              </a:ln>
            </p:spPr>
          </p:sp>
          <p:sp>
            <p:nvSpPr>
              <p:cNvPr id="24" name="TextBox 24"/>
              <p:cNvSpPr txBox="1"/>
              <p:nvPr/>
            </p:nvSpPr>
            <p:spPr>
              <a:xfrm>
                <a:off x="6014853" y="18669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1</a:t>
                </a:r>
              </a:p>
            </p:txBody>
          </p:sp>
          <p:sp>
            <p:nvSpPr>
              <p:cNvPr id="25" name="TextBox 25"/>
              <p:cNvSpPr txBox="1"/>
              <p:nvPr/>
            </p:nvSpPr>
            <p:spPr>
              <a:xfrm>
                <a:off x="6279261" y="1822450"/>
                <a:ext cx="389503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민원·노후 관로·공사구간으로 조사 대상 선정</a:t>
                </a:r>
              </a:p>
            </p:txBody>
          </p:sp>
          <p:sp>
            <p:nvSpPr>
              <p:cNvPr id="26" name="Ellipse 26"/>
              <p:cNvSpPr/>
              <p:nvPr/>
            </p:nvSpPr>
            <p:spPr>
              <a:xfrm>
                <a:off x="5943600" y="2162175"/>
                <a:ext cx="228600" cy="228600"/>
              </a:xfrm>
              <a:prstGeom prst="ellipse">
                <a:avLst/>
              </a:prstGeom>
              <a:solidFill>
                <a:srgbClr val="0B1E3C"/>
              </a:solidFill>
              <a:ln>
                <a:noFill/>
              </a:ln>
            </p:spPr>
          </p:sp>
          <p:sp>
            <p:nvSpPr>
              <p:cNvPr id="27" name="TextBox 27"/>
              <p:cNvSpPr txBox="1"/>
              <p:nvPr/>
            </p:nvSpPr>
            <p:spPr>
              <a:xfrm>
                <a:off x="6014853" y="22098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2</a:t>
                </a:r>
              </a:p>
            </p:txBody>
          </p:sp>
          <p:sp>
            <p:nvSpPr>
              <p:cNvPr id="28" name="TextBox 28"/>
              <p:cNvSpPr txBox="1"/>
              <p:nvPr/>
            </p:nvSpPr>
            <p:spPr>
              <a:xfrm>
                <a:off x="6279261" y="2165350"/>
                <a:ext cx="447049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차량형 GPR이 도로를 넓게 스캔 (1회 폭 약 2.4~3m)</a:t>
                </a:r>
              </a:p>
            </p:txBody>
          </p:sp>
          <p:sp>
            <p:nvSpPr>
              <p:cNvPr id="29" name="Ellipse 29"/>
              <p:cNvSpPr/>
              <p:nvPr/>
            </p:nvSpPr>
            <p:spPr>
              <a:xfrm>
                <a:off x="5943600" y="2505075"/>
                <a:ext cx="228600" cy="228600"/>
              </a:xfrm>
              <a:prstGeom prst="ellipse">
                <a:avLst/>
              </a:prstGeom>
              <a:solidFill>
                <a:srgbClr val="0B1E3C"/>
              </a:solidFill>
              <a:ln>
                <a:noFill/>
              </a:ln>
            </p:spPr>
          </p:sp>
          <p:sp>
            <p:nvSpPr>
              <p:cNvPr id="30" name="TextBox 30"/>
              <p:cNvSpPr txBox="1"/>
              <p:nvPr/>
            </p:nvSpPr>
            <p:spPr>
              <a:xfrm>
                <a:off x="6014853" y="25527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3</a:t>
                </a:r>
              </a:p>
            </p:txBody>
          </p:sp>
          <p:sp>
            <p:nvSpPr>
              <p:cNvPr id="31" name="TextBox 31"/>
              <p:cNvSpPr txBox="1"/>
              <p:nvPr/>
            </p:nvSpPr>
            <p:spPr>
              <a:xfrm>
                <a:off x="6279261" y="2508250"/>
                <a:ext cx="316862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분석자가 판독해 공동 의심 지점 선별</a:t>
                </a:r>
              </a:p>
            </p:txBody>
          </p:sp>
          <p:sp>
            <p:nvSpPr>
              <p:cNvPr id="32" name="Ellipse 32"/>
              <p:cNvSpPr/>
              <p:nvPr/>
            </p:nvSpPr>
            <p:spPr>
              <a:xfrm>
                <a:off x="5943600" y="2847975"/>
                <a:ext cx="228600" cy="228600"/>
              </a:xfrm>
              <a:prstGeom prst="ellipse">
                <a:avLst/>
              </a:prstGeom>
              <a:solidFill>
                <a:srgbClr val="0B1E3C"/>
              </a:solidFill>
              <a:ln>
                <a:noFill/>
              </a:ln>
            </p:spPr>
          </p:sp>
          <p:sp>
            <p:nvSpPr>
              <p:cNvPr id="33" name="TextBox 33"/>
              <p:cNvSpPr txBox="1"/>
              <p:nvPr/>
            </p:nvSpPr>
            <p:spPr>
              <a:xfrm>
                <a:off x="6014853" y="28956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4</a:t>
                </a:r>
              </a:p>
            </p:txBody>
          </p:sp>
          <p:sp>
            <p:nvSpPr>
              <p:cNvPr id="34" name="TextBox 34"/>
              <p:cNvSpPr txBox="1"/>
              <p:nvPr/>
            </p:nvSpPr>
            <p:spPr>
              <a:xfrm>
                <a:off x="6279261" y="2851150"/>
                <a:ext cx="268314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작업자가 수동 GPR로 다시 조사</a:t>
                </a:r>
              </a:p>
            </p:txBody>
          </p:sp>
          <p:sp>
            <p:nvSpPr>
              <p:cNvPr id="35" name="Ellipse 35"/>
              <p:cNvSpPr/>
              <p:nvPr/>
            </p:nvSpPr>
            <p:spPr>
              <a:xfrm>
                <a:off x="5943600" y="3190875"/>
                <a:ext cx="228600" cy="228600"/>
              </a:xfrm>
              <a:prstGeom prst="ellipse">
                <a:avLst/>
              </a:prstGeom>
              <a:solidFill>
                <a:srgbClr val="0B1E3C"/>
              </a:solidFill>
              <a:ln>
                <a:noFill/>
              </a:ln>
            </p:spPr>
          </p:sp>
          <p:sp>
            <p:nvSpPr>
              <p:cNvPr id="36" name="TextBox 36"/>
              <p:cNvSpPr txBox="1"/>
              <p:nvPr/>
            </p:nvSpPr>
            <p:spPr>
              <a:xfrm>
                <a:off x="6014853" y="32385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5</a:t>
                </a:r>
              </a:p>
            </p:txBody>
          </p:sp>
          <p:sp>
            <p:nvSpPr>
              <p:cNvPr id="37" name="TextBox 37"/>
              <p:cNvSpPr txBox="1"/>
              <p:nvPr/>
            </p:nvSpPr>
            <p:spPr>
              <a:xfrm>
                <a:off x="6279261" y="3194050"/>
                <a:ext cx="345536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승인·교통통제 후 천공·내시경으로 확인</a:t>
                </a:r>
              </a:p>
            </p:txBody>
          </p:sp>
          <p:sp>
            <p:nvSpPr>
              <p:cNvPr id="38" name="Ellipse 38"/>
              <p:cNvSpPr/>
              <p:nvPr/>
            </p:nvSpPr>
            <p:spPr>
              <a:xfrm>
                <a:off x="5943600" y="3533775"/>
                <a:ext cx="228600" cy="228600"/>
              </a:xfrm>
              <a:prstGeom prst="ellipse">
                <a:avLst/>
              </a:prstGeom>
              <a:solidFill>
                <a:srgbClr val="0B1E3C"/>
              </a:solidFill>
              <a:ln>
                <a:noFill/>
              </a:ln>
            </p:spPr>
          </p:sp>
          <p:sp>
            <p:nvSpPr>
              <p:cNvPr id="39" name="TextBox 39"/>
              <p:cNvSpPr txBox="1"/>
              <p:nvPr/>
            </p:nvSpPr>
            <p:spPr>
              <a:xfrm>
                <a:off x="6014853" y="35814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6</a:t>
                </a:r>
              </a:p>
            </p:txBody>
          </p:sp>
          <p:sp>
            <p:nvSpPr>
              <p:cNvPr id="40" name="TextBox 40"/>
              <p:cNvSpPr txBox="1"/>
              <p:nvPr/>
            </p:nvSpPr>
            <p:spPr>
              <a:xfrm>
                <a:off x="6279261" y="3536950"/>
                <a:ext cx="2528237"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공동이 확인되면 복구·재포장</a:t>
                </a:r>
              </a:p>
            </p:txBody>
          </p:sp>
        </p:grpSp>
      </p:grpSp>
      <p:grpSp>
        <p:nvGrpSpPr>
          <p:cNvPr id="57" name="gap-timeline"/>
          <p:cNvGrpSpPr/>
          <p:nvPr/>
        </p:nvGrpSpPr>
        <p:grpSpPr>
          <a:xfrm>
            <a:off x="5937123" y="4038600"/>
            <a:ext cx="5628346" cy="1509078"/>
            <a:chOff x="5937123" y="4038600"/>
            <a:chExt cx="5628346" cy="1509078"/>
          </a:xfrm>
        </p:grpSpPr>
        <p:sp>
          <p:nvSpPr>
            <p:cNvPr id="43" name="TextBox 43"/>
            <p:cNvSpPr txBox="1"/>
            <p:nvPr/>
          </p:nvSpPr>
          <p:spPr>
            <a:xfrm>
              <a:off x="5937123" y="4038600"/>
              <a:ext cx="30762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그 사이의 공백 · 2024년 연희동 성산로</a:t>
              </a:r>
            </a:p>
          </p:txBody>
        </p:sp>
        <p:sp>
          <p:nvSpPr>
            <p:cNvPr id="44" name="Rectangle 44"/>
            <p:cNvSpPr/>
            <p:nvPr/>
          </p:nvSpPr>
          <p:spPr>
            <a:xfrm>
              <a:off x="6915150" y="4629150"/>
              <a:ext cx="4391025" cy="133350"/>
            </a:xfrm>
            <a:prstGeom prst="rect">
              <a:avLst/>
            </a:prstGeom>
            <a:solidFill>
              <a:srgbClr val="F5B700">
                <a:alpha val="28000"/>
              </a:srgbClr>
            </a:solidFill>
            <a:ln>
              <a:noFill/>
            </a:ln>
          </p:spPr>
        </p:sp>
        <p:sp>
          <p:nvSpPr>
            <p:cNvPr id="45" name="Line 45"/>
            <p:cNvSpPr/>
            <p:nvPr/>
          </p:nvSpPr>
          <p:spPr>
            <a:xfrm>
              <a:off x="6286500" y="4695825"/>
              <a:ext cx="5143500" cy="9525"/>
            </a:xfrm>
            <a:custGeom>
              <a:avLst/>
              <a:gdLst/>
              <a:ahLst/>
              <a:cxnLst/>
              <a:rect l="l" t="t" r="r" b="b"/>
              <a:pathLst>
                <a:path w="5143500" h="9525">
                  <a:moveTo>
                    <a:pt x="0" y="0"/>
                  </a:moveTo>
                  <a:lnTo>
                    <a:pt x="5143500" y="0"/>
                  </a:lnTo>
                </a:path>
              </a:pathLst>
            </a:custGeom>
            <a:noFill/>
            <a:ln w="19050">
              <a:solidFill>
                <a:srgbClr val="9AA3AF"/>
              </a:solidFill>
            </a:ln>
          </p:spPr>
        </p:sp>
        <p:grpSp>
          <p:nvGrpSpPr>
            <p:cNvPr id="50" name="Group 50"/>
            <p:cNvGrpSpPr/>
            <p:nvPr/>
          </p:nvGrpSpPr>
          <p:grpSpPr>
            <a:xfrm>
              <a:off x="6179303" y="4838700"/>
              <a:ext cx="4014869" cy="191643"/>
              <a:chOff x="6179303" y="4838700"/>
              <a:chExt cx="4014869" cy="191643"/>
            </a:xfrm>
          </p:grpSpPr>
          <p:sp>
            <p:nvSpPr>
              <p:cNvPr id="46" name="TextBox 46"/>
              <p:cNvSpPr txBox="1"/>
              <p:nvPr/>
            </p:nvSpPr>
            <p:spPr>
              <a:xfrm>
                <a:off x="61793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5월</a:t>
                </a:r>
              </a:p>
            </p:txBody>
          </p:sp>
          <p:sp>
            <p:nvSpPr>
              <p:cNvPr id="47" name="TextBox 47"/>
              <p:cNvSpPr txBox="1"/>
              <p:nvPr/>
            </p:nvSpPr>
            <p:spPr>
              <a:xfrm>
                <a:off x="74366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6월</a:t>
                </a:r>
              </a:p>
            </p:txBody>
          </p:sp>
          <p:sp>
            <p:nvSpPr>
              <p:cNvPr id="48" name="TextBox 48"/>
              <p:cNvSpPr txBox="1"/>
              <p:nvPr/>
            </p:nvSpPr>
            <p:spPr>
              <a:xfrm>
                <a:off x="86939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7월</a:t>
                </a:r>
              </a:p>
            </p:txBody>
          </p:sp>
          <p:sp>
            <p:nvSpPr>
              <p:cNvPr id="49" name="TextBox 49"/>
              <p:cNvSpPr txBox="1"/>
              <p:nvPr/>
            </p:nvSpPr>
            <p:spPr>
              <a:xfrm>
                <a:off x="9979778"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8월</a:t>
                </a:r>
              </a:p>
            </p:txBody>
          </p:sp>
        </p:grpSp>
        <p:sp>
          <p:nvSpPr>
            <p:cNvPr id="51" name="Rectangle 51"/>
            <p:cNvSpPr/>
            <p:nvPr/>
          </p:nvSpPr>
          <p:spPr>
            <a:xfrm>
              <a:off x="6534150" y="4619625"/>
              <a:ext cx="381000" cy="152400"/>
            </a:xfrm>
            <a:prstGeom prst="roundRect">
              <a:avLst>
                <a:gd name="adj" fmla="val 18750"/>
              </a:avLst>
            </a:prstGeom>
            <a:solidFill>
              <a:srgbClr val="0B1E3C"/>
            </a:solidFill>
            <a:ln>
              <a:noFill/>
            </a:ln>
          </p:spPr>
        </p:sp>
        <p:sp>
          <p:nvSpPr>
            <p:cNvPr id="52" name="TextBox 52"/>
            <p:cNvSpPr txBox="1"/>
            <p:nvPr/>
          </p:nvSpPr>
          <p:spPr>
            <a:xfrm>
              <a:off x="6528435" y="4375150"/>
              <a:ext cx="25442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5.7~16 정기 GPR 탐사 · 공동 미발견</a:t>
              </a:r>
            </a:p>
          </p:txBody>
        </p:sp>
        <p:sp>
          <p:nvSpPr>
            <p:cNvPr id="53" name="Ellipse 53"/>
            <p:cNvSpPr/>
            <p:nvPr/>
          </p:nvSpPr>
          <p:spPr>
            <a:xfrm>
              <a:off x="11220450" y="4610100"/>
              <a:ext cx="171450" cy="171450"/>
            </a:xfrm>
            <a:prstGeom prst="ellipse">
              <a:avLst/>
            </a:prstGeom>
            <a:solidFill>
              <a:srgbClr val="C62828"/>
            </a:solidFill>
            <a:ln>
              <a:noFill/>
            </a:ln>
          </p:spPr>
        </p:sp>
        <p:sp>
          <p:nvSpPr>
            <p:cNvPr id="54" name="TextBox 54"/>
            <p:cNvSpPr txBox="1"/>
            <p:nvPr/>
          </p:nvSpPr>
          <p:spPr>
            <a:xfrm>
              <a:off x="10425405" y="4375150"/>
              <a:ext cx="1010310" cy="220028"/>
            </a:xfrm>
            <a:prstGeom prst="rect">
              <a:avLst/>
            </a:prstGeom>
            <a:noFill/>
            <a:ln>
              <a:noFill/>
            </a:ln>
          </p:spPr>
          <p:txBody>
            <a:bodyPr wrap="none" lIns="0" tIns="0" rIns="0" bIns="0" anchor="t" anchorCtr="0">
              <a:spAutoFit/>
            </a:bodyPr>
            <a:lstStyle/>
            <a:p>
              <a:pPr algn="r"/>
              <a:r>
                <a:rPr lang="ko-KR" sz="1120" b="1" dirty="0">
                  <a:solidFill>
                    <a:srgbClr val="C62828"/>
                  </a:solidFill>
                  <a:latin typeface="+mn-lt"/>
                  <a:ea typeface="+mn-ea"/>
                  <a:cs typeface="+mn-cs"/>
                </a:rPr>
                <a:t>8.29 도로함몰</a:t>
              </a:r>
            </a:p>
          </p:txBody>
        </p:sp>
        <p:sp>
          <p:nvSpPr>
            <p:cNvPr id="55" name="TextBox 55"/>
            <p:cNvSpPr txBox="1"/>
            <p:nvPr/>
          </p:nvSpPr>
          <p:spPr>
            <a:xfrm>
              <a:off x="7041137" y="5067300"/>
              <a:ext cx="4129526"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이 사이의 지하 변화는 어디에도 기록되지 않았습니다</a:t>
              </a:r>
            </a:p>
          </p:txBody>
        </p:sp>
        <p:sp>
          <p:nvSpPr>
            <p:cNvPr id="56" name="TextBox 56"/>
            <p:cNvSpPr txBox="1"/>
            <p:nvPr/>
          </p:nvSpPr>
          <p:spPr>
            <a:xfrm>
              <a:off x="6646332" y="5327650"/>
              <a:ext cx="491913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탐사의 실패가 아니라, 한 시점의 결과는 그 시점만 말해 준다는 뜻입니다</a:t>
              </a:r>
            </a:p>
          </p:txBody>
        </p:sp>
      </p:grpSp>
      <p:grpSp>
        <p:nvGrpSpPr>
          <p:cNvPr id="60" name="conclusion"/>
          <p:cNvGrpSpPr/>
          <p:nvPr/>
        </p:nvGrpSpPr>
        <p:grpSpPr>
          <a:xfrm>
            <a:off x="533400" y="5715000"/>
            <a:ext cx="11125200" cy="495300"/>
            <a:chOff x="533400" y="5715000"/>
            <a:chExt cx="11125200" cy="495300"/>
          </a:xfrm>
        </p:grpSpPr>
        <p:sp>
          <p:nvSpPr>
            <p:cNvPr id="58" name="Rectangle 58"/>
            <p:cNvSpPr/>
            <p:nvPr/>
          </p:nvSpPr>
          <p:spPr>
            <a:xfrm>
              <a:off x="533400" y="5715000"/>
              <a:ext cx="11125200" cy="495300"/>
            </a:xfrm>
            <a:prstGeom prst="rect">
              <a:avLst/>
            </a:prstGeom>
            <a:solidFill>
              <a:srgbClr val="0B1E3C"/>
            </a:solidFill>
            <a:ln>
              <a:noFill/>
            </a:ln>
          </p:spPr>
        </p:sp>
        <p:sp>
          <p:nvSpPr>
            <p:cNvPr id="59" name="TextBox 59"/>
            <p:cNvSpPr txBox="1"/>
            <p:nvPr/>
          </p:nvSpPr>
          <p:spPr>
            <a:xfrm>
              <a:off x="753999" y="5848350"/>
              <a:ext cx="8746448"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기존 GPR을 대체하지 않습니다. </a:t>
              </a:r>
              <a:r>
                <a:rPr lang="ko-KR" sz="1580" b="1" dirty="0">
                  <a:solidFill>
                    <a:srgbClr val="F5B700"/>
                  </a:solidFill>
                  <a:latin typeface="+mn-lt"/>
                  <a:ea typeface="+mn-ea"/>
                  <a:cs typeface="+mn-cs"/>
                </a:rPr>
                <a:t>측정과 측정 사이의 시간</a:t>
              </a:r>
              <a:r>
                <a:rPr lang="ko-KR" sz="1580" b="1" dirty="0">
                  <a:solidFill>
                    <a:srgbClr val="FFFFFF"/>
                  </a:solidFill>
                  <a:latin typeface="+mn-lt"/>
                  <a:ea typeface="+mn-ea"/>
                  <a:cs typeface="+mn-cs"/>
                </a:rPr>
                <a:t>, 그리고 현장 업무를 연결합니다.</a:t>
              </a:r>
            </a:p>
          </p:txBody>
        </p:sp>
      </p:grpSp>
      <p:grpSp>
        <p:nvGrpSpPr>
          <p:cNvPr id="62" name="source"/>
          <p:cNvGrpSpPr/>
          <p:nvPr/>
        </p:nvGrpSpPr>
        <p:grpSpPr>
          <a:xfrm>
            <a:off x="528638" y="6324600"/>
            <a:ext cx="8493671" cy="176212"/>
            <a:chOff x="528638" y="6324600"/>
            <a:chExt cx="8493671" cy="176212"/>
          </a:xfrm>
        </p:grpSpPr>
        <p:sp>
          <p:nvSpPr>
            <p:cNvPr id="61" name="TextBox 61"/>
            <p:cNvSpPr txBox="1"/>
            <p:nvPr/>
          </p:nvSpPr>
          <p:spPr>
            <a:xfrm>
              <a:off x="528638" y="6324600"/>
              <a:ext cx="849367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메트로신문(2025.10.19) 서울시 누적 탐사 · 머니투데이(2026.3.23) 서울시 2026 계획 · 서울시 차량탑재형 GPR · 뉴시스(2024.8.30) 연희동 함몰</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97790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GroundWatch 운영 파이프라인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040915" cy="557403"/>
            <a:chOff x="518922" y="800100"/>
            <a:chExt cx="9040915" cy="557403"/>
          </a:xfrm>
        </p:grpSpPr>
        <p:sp>
          <p:nvSpPr>
            <p:cNvPr id="9" name="TextBox 9"/>
            <p:cNvSpPr txBox="1"/>
            <p:nvPr/>
          </p:nvSpPr>
          <p:spPr>
            <a:xfrm>
              <a:off x="518922" y="800100"/>
              <a:ext cx="9040915"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반복 순찰이 탐사 결과를 다음 현장 업무로 연결합니다</a:t>
              </a:r>
            </a:p>
          </p:txBody>
        </p:sp>
      </p:grpSp>
      <p:grpSp>
        <p:nvGrpSpPr>
          <p:cNvPr id="12" name="lead"/>
          <p:cNvGrpSpPr/>
          <p:nvPr/>
        </p:nvGrpSpPr>
        <p:grpSpPr>
          <a:xfrm>
            <a:off x="526161" y="1365250"/>
            <a:ext cx="8043215" cy="278702"/>
            <a:chOff x="526161" y="1365250"/>
            <a:chExt cx="8043215" cy="278702"/>
          </a:xfrm>
        </p:grpSpPr>
        <p:sp>
          <p:nvSpPr>
            <p:cNvPr id="11" name="TextBox 11"/>
            <p:cNvSpPr txBox="1"/>
            <p:nvPr/>
          </p:nvSpPr>
          <p:spPr>
            <a:xfrm>
              <a:off x="526161" y="1365250"/>
              <a:ext cx="8043215"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한 번의 탐사로 끝내지 않고, 같은 길을 회차마다 다시 보며 달라진 곳만 현장에서 확인합니다.</a:t>
              </a:r>
            </a:p>
          </p:txBody>
        </p:sp>
      </p:grpSp>
      <p:grpSp>
        <p:nvGrpSpPr>
          <p:cNvPr id="23" name="stage-1"/>
          <p:cNvGrpSpPr/>
          <p:nvPr/>
        </p:nvGrpSpPr>
        <p:grpSpPr>
          <a:xfrm>
            <a:off x="524256" y="1733550"/>
            <a:ext cx="2618994" cy="3145917"/>
            <a:chOff x="524256" y="1733550"/>
            <a:chExt cx="2618994" cy="3145917"/>
          </a:xfrm>
        </p:grpSpPr>
        <p:pic>
          <p:nvPicPr>
            <p:cNvPr id="13" name="Image 13"/>
            <p:cNvPicPr>
              <a:picLocks noChangeAspect="1"/>
            </p:cNvPicPr>
            <p:nvPr/>
          </p:nvPicPr>
          <p:blipFill>
            <a:blip r:embed="rId2"/>
            <a:srcRect l="0" t="3467" r="0" b="3467"/>
            <a:stretch>
              <a:fillRect/>
            </a:stretch>
          </p:blipFill>
          <p:spPr>
            <a:xfrm>
              <a:off x="533400" y="1733550"/>
              <a:ext cx="2609850" cy="1619250"/>
            </a:xfrm>
            <a:prstGeom prst="rect">
              <a:avLst/>
            </a:prstGeom>
          </p:spPr>
        </p:pic>
        <p:sp>
          <p:nvSpPr>
            <p:cNvPr id="14" name="TextBox 14"/>
            <p:cNvSpPr txBox="1"/>
            <p:nvPr/>
          </p:nvSpPr>
          <p:spPr>
            <a:xfrm>
              <a:off x="52806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01</a:t>
              </a:r>
            </a:p>
          </p:txBody>
        </p:sp>
        <p:sp>
          <p:nvSpPr>
            <p:cNvPr id="15" name="TextBox 15"/>
            <p:cNvSpPr txBox="1"/>
            <p:nvPr/>
          </p:nvSpPr>
          <p:spPr>
            <a:xfrm>
              <a:off x="52425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반복 측정</a:t>
              </a:r>
            </a:p>
          </p:txBody>
        </p:sp>
        <p:grpSp>
          <p:nvGrpSpPr>
            <p:cNvPr id="22" name="Group 22"/>
            <p:cNvGrpSpPr/>
            <p:nvPr/>
          </p:nvGrpSpPr>
          <p:grpSpPr>
            <a:xfrm>
              <a:off x="533400" y="4095750"/>
              <a:ext cx="2242053" cy="783717"/>
              <a:chOff x="533400" y="4095750"/>
              <a:chExt cx="2242053" cy="783717"/>
            </a:xfrm>
          </p:grpSpPr>
          <p:sp>
            <p:nvSpPr>
              <p:cNvPr id="16" name="Rectangle 16"/>
              <p:cNvSpPr/>
              <p:nvPr/>
            </p:nvSpPr>
            <p:spPr>
              <a:xfrm>
                <a:off x="533400" y="4171950"/>
                <a:ext cx="57150" cy="57150"/>
              </a:xfrm>
              <a:prstGeom prst="rect">
                <a:avLst/>
              </a:prstGeom>
              <a:solidFill>
                <a:srgbClr val="F5B700"/>
              </a:solidFill>
              <a:ln>
                <a:noFill/>
              </a:ln>
            </p:spPr>
          </p:sp>
          <p:sp>
            <p:nvSpPr>
              <p:cNvPr id="17" name="TextBox 17"/>
              <p:cNvSpPr txBox="1"/>
              <p:nvPr/>
            </p:nvSpPr>
            <p:spPr>
              <a:xfrm>
                <a:off x="660273" y="4095750"/>
                <a:ext cx="19342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위험·정기 순찰구간 등록</a:t>
                </a:r>
              </a:p>
            </p:txBody>
          </p:sp>
          <p:sp>
            <p:nvSpPr>
              <p:cNvPr id="18" name="Rectangle 18"/>
              <p:cNvSpPr/>
              <p:nvPr/>
            </p:nvSpPr>
            <p:spPr>
              <a:xfrm>
                <a:off x="533400" y="4438650"/>
                <a:ext cx="57150" cy="57150"/>
              </a:xfrm>
              <a:prstGeom prst="rect">
                <a:avLst/>
              </a:prstGeom>
              <a:solidFill>
                <a:srgbClr val="F5B700"/>
              </a:solidFill>
              <a:ln>
                <a:noFill/>
              </a:ln>
            </p:spPr>
          </p:sp>
          <p:sp>
            <p:nvSpPr>
              <p:cNvPr id="19" name="TextBox 19"/>
              <p:cNvSpPr txBox="1"/>
              <p:nvPr/>
            </p:nvSpPr>
            <p:spPr>
              <a:xfrm>
                <a:off x="66027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새벽에 같은 경로 반복 주행</a:t>
                </a:r>
              </a:p>
            </p:txBody>
          </p:sp>
          <p:sp>
            <p:nvSpPr>
              <p:cNvPr id="20" name="Rectangle 20"/>
              <p:cNvSpPr/>
              <p:nvPr/>
            </p:nvSpPr>
            <p:spPr>
              <a:xfrm>
                <a:off x="533400" y="4705350"/>
                <a:ext cx="57150" cy="57150"/>
              </a:xfrm>
              <a:prstGeom prst="rect">
                <a:avLst/>
              </a:prstGeom>
              <a:solidFill>
                <a:srgbClr val="F5B700"/>
              </a:solidFill>
              <a:ln>
                <a:noFill/>
              </a:ln>
            </p:spPr>
          </p:sp>
          <p:sp>
            <p:nvSpPr>
              <p:cNvPr id="21" name="TextBox 21"/>
              <p:cNvSpPr txBox="1"/>
              <p:nvPr/>
            </p:nvSpPr>
            <p:spPr>
              <a:xfrm>
                <a:off x="660273" y="4629150"/>
                <a:ext cx="17230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GPR·카메라 동시 수집</a:t>
                </a:r>
              </a:p>
            </p:txBody>
          </p:sp>
        </p:grpSp>
      </p:grpSp>
      <p:grpSp>
        <p:nvGrpSpPr>
          <p:cNvPr id="25" name="arrow-12"/>
          <p:cNvGrpSpPr/>
          <p:nvPr/>
        </p:nvGrpSpPr>
        <p:grpSpPr>
          <a:xfrm>
            <a:off x="3171825" y="2543175"/>
            <a:ext cx="161925" cy="1"/>
            <a:chOff x="3171825" y="2543175"/>
            <a:chExt cx="161925" cy="1"/>
          </a:xfrm>
        </p:grpSpPr>
        <p:sp>
          <p:nvSpPr>
            <p:cNvPr id="24" name="Line 24"/>
            <p:cNvSpPr/>
            <p:nvPr/>
          </p:nvSpPr>
          <p:spPr>
            <a:xfrm>
              <a:off x="3171825" y="2543175"/>
              <a:ext cx="161925" cy="1"/>
            </a:xfrm>
            <a:prstGeom prst="line">
              <a:avLst/>
            </a:prstGeom>
            <a:noFill/>
            <a:ln w="19050">
              <a:solidFill>
                <a:srgbClr val="0B1E3C"/>
              </a:solidFill>
              <a:tailEnd type="triangle" w="lg" len="lg"/>
            </a:ln>
          </p:spPr>
        </p:sp>
      </p:grpSp>
      <p:grpSp>
        <p:nvGrpSpPr>
          <p:cNvPr id="43" name="stage-2"/>
          <p:cNvGrpSpPr/>
          <p:nvPr/>
        </p:nvGrpSpPr>
        <p:grpSpPr>
          <a:xfrm>
            <a:off x="3362706" y="1733550"/>
            <a:ext cx="2618994" cy="3145917"/>
            <a:chOff x="3362706" y="1733550"/>
            <a:chExt cx="2618994" cy="3145917"/>
          </a:xfrm>
        </p:grpSpPr>
        <p:sp>
          <p:nvSpPr>
            <p:cNvPr id="26" name="Rectangle 26"/>
            <p:cNvSpPr/>
            <p:nvPr/>
          </p:nvSpPr>
          <p:spPr>
            <a:xfrm>
              <a:off x="3371850" y="1733550"/>
              <a:ext cx="2609850" cy="1619250"/>
            </a:xfrm>
            <a:prstGeom prst="rect">
              <a:avLst/>
            </a:prstGeom>
            <a:solidFill>
              <a:srgbClr val="2A2E33"/>
            </a:solidFill>
            <a:ln>
              <a:noFill/>
            </a:ln>
          </p:spPr>
        </p:sp>
        <p:pic>
          <p:nvPicPr>
            <p:cNvPr id="27" name="Image 27"/>
            <p:cNvPicPr>
              <a:picLocks noChangeAspect="1"/>
            </p:cNvPicPr>
            <p:nvPr/>
          </p:nvPicPr>
          <p:blipFill>
            <a:blip r:embed="rId3"/>
            <a:srcRect l="1410" t="0" r="1411" b="0"/>
            <a:stretch>
              <a:fillRect/>
            </a:stretch>
          </p:blipFill>
          <p:spPr>
            <a:xfrm>
              <a:off x="3371850" y="1733550"/>
              <a:ext cx="2609850" cy="790575"/>
            </a:xfrm>
            <a:prstGeom prst="rect">
              <a:avLst/>
            </a:prstGeom>
          </p:spPr>
        </p:pic>
        <p:pic>
          <p:nvPicPr>
            <p:cNvPr id="28" name="Image 28"/>
            <p:cNvPicPr>
              <a:picLocks noChangeAspect="1"/>
            </p:cNvPicPr>
            <p:nvPr/>
          </p:nvPicPr>
          <p:blipFill>
            <a:blip r:embed="rId4"/>
            <a:srcRect l="1410" t="0" r="1411" b="0"/>
            <a:stretch>
              <a:fillRect/>
            </a:stretch>
          </p:blipFill>
          <p:spPr>
            <a:xfrm>
              <a:off x="3371850" y="2562225"/>
              <a:ext cx="2609850" cy="790575"/>
            </a:xfrm>
            <a:prstGeom prst="rect">
              <a:avLst/>
            </a:prstGeom>
          </p:spPr>
        </p:pic>
        <p:sp>
          <p:nvSpPr>
            <p:cNvPr id="29" name="Rectangle 29"/>
            <p:cNvSpPr/>
            <p:nvPr/>
          </p:nvSpPr>
          <p:spPr>
            <a:xfrm>
              <a:off x="3429000" y="1790700"/>
              <a:ext cx="590550" cy="190500"/>
            </a:xfrm>
            <a:prstGeom prst="roundRect">
              <a:avLst>
                <a:gd name="adj" fmla="val 15000"/>
              </a:avLst>
            </a:prstGeom>
            <a:solidFill>
              <a:srgbClr val="0B1E3C">
                <a:alpha val="85000"/>
              </a:srgbClr>
            </a:solidFill>
            <a:ln>
              <a:noFill/>
            </a:ln>
          </p:spPr>
        </p:sp>
        <p:sp>
          <p:nvSpPr>
            <p:cNvPr id="30" name="TextBox 30"/>
            <p:cNvSpPr txBox="1"/>
            <p:nvPr/>
          </p:nvSpPr>
          <p:spPr>
            <a:xfrm>
              <a:off x="3434688" y="1819275"/>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이전 회차</a:t>
              </a:r>
            </a:p>
          </p:txBody>
        </p:sp>
        <p:sp>
          <p:nvSpPr>
            <p:cNvPr id="31" name="Rectangle 31"/>
            <p:cNvSpPr/>
            <p:nvPr/>
          </p:nvSpPr>
          <p:spPr>
            <a:xfrm>
              <a:off x="3429000" y="2619375"/>
              <a:ext cx="590550" cy="190500"/>
            </a:xfrm>
            <a:prstGeom prst="roundRect">
              <a:avLst>
                <a:gd name="adj" fmla="val 15000"/>
              </a:avLst>
            </a:prstGeom>
            <a:solidFill>
              <a:srgbClr val="0B1E3C">
                <a:alpha val="85000"/>
              </a:srgbClr>
            </a:solidFill>
            <a:ln>
              <a:noFill/>
            </a:ln>
          </p:spPr>
        </p:sp>
        <p:sp>
          <p:nvSpPr>
            <p:cNvPr id="32" name="TextBox 32"/>
            <p:cNvSpPr txBox="1"/>
            <p:nvPr/>
          </p:nvSpPr>
          <p:spPr>
            <a:xfrm>
              <a:off x="3434688" y="2647950"/>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이번 회차</a:t>
              </a:r>
            </a:p>
          </p:txBody>
        </p:sp>
        <p:sp>
          <p:nvSpPr>
            <p:cNvPr id="33" name="Rectangle 33"/>
            <p:cNvSpPr/>
            <p:nvPr/>
          </p:nvSpPr>
          <p:spPr>
            <a:xfrm>
              <a:off x="4419600" y="2733675"/>
              <a:ext cx="1352550" cy="552450"/>
            </a:xfrm>
            <a:prstGeom prst="rect">
              <a:avLst/>
            </a:prstGeom>
            <a:noFill/>
            <a:ln w="23812">
              <a:solidFill>
                <a:srgbClr val="F5B700"/>
              </a:solidFill>
            </a:ln>
          </p:spPr>
        </p:sp>
        <p:sp>
          <p:nvSpPr>
            <p:cNvPr id="34" name="TextBox 34"/>
            <p:cNvSpPr txBox="1"/>
            <p:nvPr/>
          </p:nvSpPr>
          <p:spPr>
            <a:xfrm>
              <a:off x="336651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02</a:t>
              </a:r>
            </a:p>
          </p:txBody>
        </p:sp>
        <p:sp>
          <p:nvSpPr>
            <p:cNvPr id="35" name="TextBox 35"/>
            <p:cNvSpPr txBox="1"/>
            <p:nvPr/>
          </p:nvSpPr>
          <p:spPr>
            <a:xfrm>
              <a:off x="33627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변화 감지</a:t>
              </a:r>
            </a:p>
          </p:txBody>
        </p:sp>
        <p:grpSp>
          <p:nvGrpSpPr>
            <p:cNvPr id="42" name="Group 42"/>
            <p:cNvGrpSpPr/>
            <p:nvPr/>
          </p:nvGrpSpPr>
          <p:grpSpPr>
            <a:xfrm>
              <a:off x="3371850" y="4095750"/>
              <a:ext cx="2362672" cy="783717"/>
              <a:chOff x="3371850" y="4095750"/>
              <a:chExt cx="2362672" cy="783717"/>
            </a:xfrm>
          </p:grpSpPr>
          <p:sp>
            <p:nvSpPr>
              <p:cNvPr id="36" name="Rectangle 36"/>
              <p:cNvSpPr/>
              <p:nvPr/>
            </p:nvSpPr>
            <p:spPr>
              <a:xfrm>
                <a:off x="3371850" y="4171950"/>
                <a:ext cx="57150" cy="57150"/>
              </a:xfrm>
              <a:prstGeom prst="rect">
                <a:avLst/>
              </a:prstGeom>
              <a:solidFill>
                <a:srgbClr val="F5B700"/>
              </a:solidFill>
              <a:ln>
                <a:noFill/>
              </a:ln>
            </p:spPr>
          </p:sp>
          <p:sp>
            <p:nvSpPr>
              <p:cNvPr id="37" name="TextBox 37"/>
              <p:cNvSpPr txBox="1"/>
              <p:nvPr/>
            </p:nvSpPr>
            <p:spPr>
              <a:xfrm>
                <a:off x="3498723" y="4095750"/>
                <a:ext cx="22351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위치·깊이·시간으로 4D 저장</a:t>
                </a:r>
              </a:p>
            </p:txBody>
          </p:sp>
          <p:sp>
            <p:nvSpPr>
              <p:cNvPr id="38" name="Rectangle 38"/>
              <p:cNvSpPr/>
              <p:nvPr/>
            </p:nvSpPr>
            <p:spPr>
              <a:xfrm>
                <a:off x="3371850" y="4438650"/>
                <a:ext cx="57150" cy="57150"/>
              </a:xfrm>
              <a:prstGeom prst="rect">
                <a:avLst/>
              </a:prstGeom>
              <a:solidFill>
                <a:srgbClr val="F5B700"/>
              </a:solidFill>
              <a:ln>
                <a:noFill/>
              </a:ln>
            </p:spPr>
          </p:sp>
          <p:sp>
            <p:nvSpPr>
              <p:cNvPr id="39" name="TextBox 39"/>
              <p:cNvSpPr txBox="1"/>
              <p:nvPr/>
            </p:nvSpPr>
            <p:spPr>
              <a:xfrm>
                <a:off x="3498723" y="4362450"/>
                <a:ext cx="209762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AI가 이전 회차와 변화 선별</a:t>
                </a:r>
              </a:p>
            </p:txBody>
          </p:sp>
          <p:sp>
            <p:nvSpPr>
              <p:cNvPr id="40" name="Rectangle 40"/>
              <p:cNvSpPr/>
              <p:nvPr/>
            </p:nvSpPr>
            <p:spPr>
              <a:xfrm>
                <a:off x="3371850" y="4705350"/>
                <a:ext cx="57150" cy="57150"/>
              </a:xfrm>
              <a:prstGeom prst="rect">
                <a:avLst/>
              </a:prstGeom>
              <a:solidFill>
                <a:srgbClr val="F5B700"/>
              </a:solidFill>
              <a:ln>
                <a:noFill/>
              </a:ln>
            </p:spPr>
          </p:sp>
          <p:sp>
            <p:nvSpPr>
              <p:cNvPr id="41" name="TextBox 41"/>
              <p:cNvSpPr txBox="1"/>
              <p:nvPr/>
            </p:nvSpPr>
            <p:spPr>
              <a:xfrm>
                <a:off x="3498723" y="4629150"/>
                <a:ext cx="223579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전문가가 원시 데이터로 승인</a:t>
                </a:r>
              </a:p>
            </p:txBody>
          </p:sp>
        </p:grpSp>
      </p:grpSp>
      <p:grpSp>
        <p:nvGrpSpPr>
          <p:cNvPr id="45" name="arrow-23"/>
          <p:cNvGrpSpPr/>
          <p:nvPr/>
        </p:nvGrpSpPr>
        <p:grpSpPr>
          <a:xfrm>
            <a:off x="6010275" y="2543175"/>
            <a:ext cx="161925" cy="1"/>
            <a:chOff x="6010275" y="2543175"/>
            <a:chExt cx="161925" cy="1"/>
          </a:xfrm>
        </p:grpSpPr>
        <p:sp>
          <p:nvSpPr>
            <p:cNvPr id="44" name="Line 44"/>
            <p:cNvSpPr/>
            <p:nvPr/>
          </p:nvSpPr>
          <p:spPr>
            <a:xfrm>
              <a:off x="6010275" y="2543175"/>
              <a:ext cx="161925" cy="1"/>
            </a:xfrm>
            <a:prstGeom prst="line">
              <a:avLst/>
            </a:prstGeom>
            <a:noFill/>
            <a:ln w="19050">
              <a:solidFill>
                <a:srgbClr val="0B1E3C"/>
              </a:solidFill>
              <a:tailEnd type="triangle" w="lg" len="lg"/>
            </a:ln>
          </p:spPr>
        </p:sp>
      </p:grpSp>
      <p:grpSp>
        <p:nvGrpSpPr>
          <p:cNvPr id="59" name="stage-3"/>
          <p:cNvGrpSpPr/>
          <p:nvPr/>
        </p:nvGrpSpPr>
        <p:grpSpPr>
          <a:xfrm>
            <a:off x="6201156" y="1733550"/>
            <a:ext cx="2618994" cy="3145917"/>
            <a:chOff x="6201156" y="1733550"/>
            <a:chExt cx="2618994" cy="3145917"/>
          </a:xfrm>
        </p:grpSpPr>
        <p:pic>
          <p:nvPicPr>
            <p:cNvPr id="46" name="Image 46"/>
            <p:cNvPicPr>
              <a:picLocks noChangeAspect="1"/>
            </p:cNvPicPr>
            <p:nvPr/>
          </p:nvPicPr>
          <p:blipFill>
            <a:blip r:embed="rId5"/>
            <a:srcRect l="0" t="3467" r="0" b="3467"/>
            <a:stretch>
              <a:fillRect/>
            </a:stretch>
          </p:blipFill>
          <p:spPr>
            <a:xfrm>
              <a:off x="6210300" y="1733550"/>
              <a:ext cx="2609850" cy="1619250"/>
            </a:xfrm>
            <a:prstGeom prst="rect">
              <a:avLst/>
            </a:prstGeom>
          </p:spPr>
        </p:pic>
        <p:sp>
          <p:nvSpPr>
            <p:cNvPr id="47" name="Polygon 47"/>
            <p:cNvSpPr/>
            <p:nvPr/>
          </p:nvSpPr>
          <p:spPr>
            <a:xfrm>
              <a:off x="7153275" y="2647950"/>
              <a:ext cx="885825" cy="314325"/>
            </a:xfrm>
            <a:custGeom>
              <a:avLst/>
              <a:gdLst/>
              <a:ahLst/>
              <a:cxnLst/>
              <a:rect l="l" t="t" r="r" b="b"/>
              <a:pathLst>
                <a:path w="885825" h="314325">
                  <a:moveTo>
                    <a:pt x="257175" y="0"/>
                  </a:moveTo>
                  <a:lnTo>
                    <a:pt x="619125" y="0"/>
                  </a:lnTo>
                  <a:lnTo>
                    <a:pt x="885825" y="314325"/>
                  </a:lnTo>
                  <a:lnTo>
                    <a:pt x="0" y="314325"/>
                  </a:lnTo>
                  <a:close/>
                </a:path>
              </a:pathLst>
            </a:custGeom>
            <a:solidFill>
              <a:srgbClr val="F5B700">
                <a:alpha val="30000"/>
              </a:srgbClr>
            </a:solidFill>
            <a:ln w="19050">
              <a:solidFill>
                <a:srgbClr val="F5B700"/>
              </a:solidFill>
            </a:ln>
          </p:spPr>
        </p:sp>
        <p:sp>
          <p:nvSpPr>
            <p:cNvPr id="48" name="Rectangle 48"/>
            <p:cNvSpPr/>
            <p:nvPr/>
          </p:nvSpPr>
          <p:spPr>
            <a:xfrm>
              <a:off x="6267450" y="1790700"/>
              <a:ext cx="990600" cy="190500"/>
            </a:xfrm>
            <a:prstGeom prst="roundRect">
              <a:avLst>
                <a:gd name="adj" fmla="val 15000"/>
              </a:avLst>
            </a:prstGeom>
            <a:solidFill>
              <a:srgbClr val="0B1E3C">
                <a:alpha val="85000"/>
              </a:srgbClr>
            </a:solidFill>
            <a:ln>
              <a:noFill/>
            </a:ln>
          </p:spPr>
        </p:sp>
        <p:sp>
          <p:nvSpPr>
            <p:cNvPr id="49" name="TextBox 49"/>
            <p:cNvSpPr txBox="1"/>
            <p:nvPr/>
          </p:nvSpPr>
          <p:spPr>
            <a:xfrm>
              <a:off x="6304744" y="1819275"/>
              <a:ext cx="91601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AR 재탐사 범위</a:t>
              </a:r>
            </a:p>
          </p:txBody>
        </p:sp>
        <p:sp>
          <p:nvSpPr>
            <p:cNvPr id="50" name="TextBox 50"/>
            <p:cNvSpPr txBox="1"/>
            <p:nvPr/>
          </p:nvSpPr>
          <p:spPr>
            <a:xfrm>
              <a:off x="620496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03</a:t>
              </a:r>
            </a:p>
          </p:txBody>
        </p:sp>
        <p:sp>
          <p:nvSpPr>
            <p:cNvPr id="51" name="TextBox 51"/>
            <p:cNvSpPr txBox="1"/>
            <p:nvPr/>
          </p:nvSpPr>
          <p:spPr>
            <a:xfrm>
              <a:off x="6201156" y="372745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현장 재확인</a:t>
              </a:r>
            </a:p>
          </p:txBody>
        </p:sp>
        <p:grpSp>
          <p:nvGrpSpPr>
            <p:cNvPr id="58" name="Group 58"/>
            <p:cNvGrpSpPr/>
            <p:nvPr/>
          </p:nvGrpSpPr>
          <p:grpSpPr>
            <a:xfrm>
              <a:off x="6210300" y="4095750"/>
              <a:ext cx="2509139" cy="783717"/>
              <a:chOff x="6210300" y="4095750"/>
              <a:chExt cx="2509139" cy="783717"/>
            </a:xfrm>
          </p:grpSpPr>
          <p:sp>
            <p:nvSpPr>
              <p:cNvPr id="52" name="Rectangle 52"/>
              <p:cNvSpPr/>
              <p:nvPr/>
            </p:nvSpPr>
            <p:spPr>
              <a:xfrm>
                <a:off x="6210300" y="4171950"/>
                <a:ext cx="57150" cy="57150"/>
              </a:xfrm>
              <a:prstGeom prst="rect">
                <a:avLst/>
              </a:prstGeom>
              <a:solidFill>
                <a:srgbClr val="F5B700"/>
              </a:solidFill>
              <a:ln>
                <a:noFill/>
              </a:ln>
            </p:spPr>
          </p:sp>
          <p:sp>
            <p:nvSpPr>
              <p:cNvPr id="53" name="TextBox 53"/>
              <p:cNvSpPr txBox="1"/>
              <p:nvPr/>
            </p:nvSpPr>
            <p:spPr>
              <a:xfrm>
                <a:off x="6337173" y="4095750"/>
                <a:ext cx="238226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앱이 지점·안전 정차 위치 안내</a:t>
                </a:r>
              </a:p>
            </p:txBody>
          </p:sp>
          <p:sp>
            <p:nvSpPr>
              <p:cNvPr id="54" name="Rectangle 54"/>
              <p:cNvSpPr/>
              <p:nvPr/>
            </p:nvSpPr>
            <p:spPr>
              <a:xfrm>
                <a:off x="6210300" y="4438650"/>
                <a:ext cx="57150" cy="57150"/>
              </a:xfrm>
              <a:prstGeom prst="rect">
                <a:avLst/>
              </a:prstGeom>
              <a:solidFill>
                <a:srgbClr val="F5B700"/>
              </a:solidFill>
              <a:ln>
                <a:noFill/>
              </a:ln>
            </p:spPr>
          </p:sp>
          <p:sp>
            <p:nvSpPr>
              <p:cNvPr id="55" name="TextBox 55"/>
              <p:cNvSpPr txBox="1"/>
              <p:nvPr/>
            </p:nvSpPr>
            <p:spPr>
              <a:xfrm>
                <a:off x="6337173" y="4362450"/>
                <a:ext cx="225416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 + 수동 GPR 재탐사</a:t>
                </a:r>
              </a:p>
            </p:txBody>
          </p:sp>
          <p:sp>
            <p:nvSpPr>
              <p:cNvPr id="56" name="Rectangle 56"/>
              <p:cNvSpPr/>
              <p:nvPr/>
            </p:nvSpPr>
            <p:spPr>
              <a:xfrm>
                <a:off x="6210300" y="4705350"/>
                <a:ext cx="57150" cy="57150"/>
              </a:xfrm>
              <a:prstGeom prst="rect">
                <a:avLst/>
              </a:prstGeom>
              <a:solidFill>
                <a:srgbClr val="F5B700"/>
              </a:solidFill>
              <a:ln>
                <a:noFill/>
              </a:ln>
            </p:spPr>
          </p:sp>
          <p:sp>
            <p:nvSpPr>
              <p:cNvPr id="57" name="TextBox 57"/>
              <p:cNvSpPr txBox="1"/>
              <p:nvPr/>
            </p:nvSpPr>
            <p:spPr>
              <a:xfrm>
                <a:off x="6337173" y="4629150"/>
                <a:ext cx="198594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필요 시 천공·내시경 요청</a:t>
                </a:r>
              </a:p>
            </p:txBody>
          </p:sp>
        </p:grpSp>
      </p:grpSp>
      <p:grpSp>
        <p:nvGrpSpPr>
          <p:cNvPr id="61" name="arrow-34"/>
          <p:cNvGrpSpPr/>
          <p:nvPr/>
        </p:nvGrpSpPr>
        <p:grpSpPr>
          <a:xfrm>
            <a:off x="8848725" y="2543175"/>
            <a:ext cx="161925" cy="1"/>
            <a:chOff x="8848725" y="2543175"/>
            <a:chExt cx="161925" cy="1"/>
          </a:xfrm>
        </p:grpSpPr>
        <p:sp>
          <p:nvSpPr>
            <p:cNvPr id="60" name="Line 60"/>
            <p:cNvSpPr/>
            <p:nvPr/>
          </p:nvSpPr>
          <p:spPr>
            <a:xfrm>
              <a:off x="8848725" y="2543175"/>
              <a:ext cx="161925" cy="1"/>
            </a:xfrm>
            <a:prstGeom prst="line">
              <a:avLst/>
            </a:prstGeom>
            <a:noFill/>
            <a:ln w="19050">
              <a:solidFill>
                <a:srgbClr val="0B1E3C"/>
              </a:solidFill>
              <a:tailEnd type="triangle" w="lg" len="lg"/>
            </a:ln>
          </p:spPr>
        </p:sp>
      </p:grpSp>
      <p:grpSp>
        <p:nvGrpSpPr>
          <p:cNvPr id="74" name="stage-4"/>
          <p:cNvGrpSpPr/>
          <p:nvPr/>
        </p:nvGrpSpPr>
        <p:grpSpPr>
          <a:xfrm>
            <a:off x="9039606" y="1733550"/>
            <a:ext cx="2618994" cy="3145917"/>
            <a:chOff x="9039606" y="1733550"/>
            <a:chExt cx="2618994" cy="3145917"/>
          </a:xfrm>
        </p:grpSpPr>
        <p:pic>
          <p:nvPicPr>
            <p:cNvPr id="62" name="Image 62"/>
            <p:cNvPicPr>
              <a:picLocks noChangeAspect="1"/>
            </p:cNvPicPr>
            <p:nvPr/>
          </p:nvPicPr>
          <p:blipFill>
            <a:blip r:embed="rId6"/>
            <a:srcRect l="4669" t="0" r="4669" b="0"/>
            <a:stretch>
              <a:fillRect/>
            </a:stretch>
          </p:blipFill>
          <p:spPr>
            <a:xfrm>
              <a:off x="9048750" y="1733550"/>
              <a:ext cx="2609850" cy="1619250"/>
            </a:xfrm>
            <a:prstGeom prst="rect">
              <a:avLst/>
            </a:prstGeom>
          </p:spPr>
        </p:pic>
        <p:sp>
          <p:nvSpPr>
            <p:cNvPr id="63" name="Rectangle 63"/>
            <p:cNvSpPr/>
            <p:nvPr/>
          </p:nvSpPr>
          <p:spPr>
            <a:xfrm>
              <a:off x="9105900" y="1790700"/>
              <a:ext cx="876300" cy="190500"/>
            </a:xfrm>
            <a:prstGeom prst="roundRect">
              <a:avLst>
                <a:gd name="adj" fmla="val 15000"/>
              </a:avLst>
            </a:prstGeom>
            <a:solidFill>
              <a:srgbClr val="0B1E3C">
                <a:alpha val="85000"/>
              </a:srgbClr>
            </a:solidFill>
            <a:ln>
              <a:noFill/>
            </a:ln>
          </p:spPr>
        </p:sp>
        <p:sp>
          <p:nvSpPr>
            <p:cNvPr id="64" name="TextBox 64"/>
            <p:cNvSpPr txBox="1"/>
            <p:nvPr/>
          </p:nvSpPr>
          <p:spPr>
            <a:xfrm>
              <a:off x="9152008" y="1819275"/>
              <a:ext cx="78408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4D 지하 지도</a:t>
              </a:r>
            </a:p>
          </p:txBody>
        </p:sp>
        <p:sp>
          <p:nvSpPr>
            <p:cNvPr id="65" name="TextBox 65"/>
            <p:cNvSpPr txBox="1"/>
            <p:nvPr/>
          </p:nvSpPr>
          <p:spPr>
            <a:xfrm>
              <a:off x="904341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04</a:t>
              </a:r>
            </a:p>
          </p:txBody>
        </p:sp>
        <p:sp>
          <p:nvSpPr>
            <p:cNvPr id="66" name="TextBox 66"/>
            <p:cNvSpPr txBox="1"/>
            <p:nvPr/>
          </p:nvSpPr>
          <p:spPr>
            <a:xfrm>
              <a:off x="90396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결과 축적</a:t>
              </a:r>
            </a:p>
          </p:txBody>
        </p:sp>
        <p:grpSp>
          <p:nvGrpSpPr>
            <p:cNvPr id="73" name="Group 73"/>
            <p:cNvGrpSpPr/>
            <p:nvPr/>
          </p:nvGrpSpPr>
          <p:grpSpPr>
            <a:xfrm>
              <a:off x="9048750" y="4095750"/>
              <a:ext cx="2457445" cy="783717"/>
              <a:chOff x="9048750" y="4095750"/>
              <a:chExt cx="2457445" cy="783717"/>
            </a:xfrm>
          </p:grpSpPr>
          <p:sp>
            <p:nvSpPr>
              <p:cNvPr id="67" name="Rectangle 67"/>
              <p:cNvSpPr/>
              <p:nvPr/>
            </p:nvSpPr>
            <p:spPr>
              <a:xfrm>
                <a:off x="9048750" y="4171950"/>
                <a:ext cx="57150" cy="57150"/>
              </a:xfrm>
              <a:prstGeom prst="rect">
                <a:avLst/>
              </a:prstGeom>
              <a:solidFill>
                <a:srgbClr val="F5B700"/>
              </a:solidFill>
              <a:ln>
                <a:noFill/>
              </a:ln>
            </p:spPr>
          </p:sp>
          <p:sp>
            <p:nvSpPr>
              <p:cNvPr id="68" name="TextBox 68"/>
              <p:cNvSpPr txBox="1"/>
              <p:nvPr/>
            </p:nvSpPr>
            <p:spPr>
              <a:xfrm>
                <a:off x="9175623" y="40957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확인·보수 이력을 지도에 저장</a:t>
                </a:r>
              </a:p>
            </p:txBody>
          </p:sp>
          <p:sp>
            <p:nvSpPr>
              <p:cNvPr id="69" name="Rectangle 69"/>
              <p:cNvSpPr/>
              <p:nvPr/>
            </p:nvSpPr>
            <p:spPr>
              <a:xfrm>
                <a:off x="9048750" y="4438650"/>
                <a:ext cx="57150" cy="57150"/>
              </a:xfrm>
              <a:prstGeom prst="rect">
                <a:avLst/>
              </a:prstGeom>
              <a:solidFill>
                <a:srgbClr val="F5B700"/>
              </a:solidFill>
              <a:ln>
                <a:noFill/>
              </a:ln>
            </p:spPr>
          </p:sp>
          <p:sp>
            <p:nvSpPr>
              <p:cNvPr id="70" name="TextBox 70"/>
              <p:cNvSpPr txBox="1"/>
              <p:nvPr/>
            </p:nvSpPr>
            <p:spPr>
              <a:xfrm>
                <a:off x="917562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다음 회차 순찰 경로에 반영</a:t>
                </a:r>
              </a:p>
            </p:txBody>
          </p:sp>
          <p:sp>
            <p:nvSpPr>
              <p:cNvPr id="71" name="Rectangle 71"/>
              <p:cNvSpPr/>
              <p:nvPr/>
            </p:nvSpPr>
            <p:spPr>
              <a:xfrm>
                <a:off x="9048750" y="4705350"/>
                <a:ext cx="57150" cy="57150"/>
              </a:xfrm>
              <a:prstGeom prst="rect">
                <a:avLst/>
              </a:prstGeom>
              <a:solidFill>
                <a:srgbClr val="F5B700"/>
              </a:solidFill>
              <a:ln>
                <a:noFill/>
              </a:ln>
            </p:spPr>
          </p:sp>
          <p:sp>
            <p:nvSpPr>
              <p:cNvPr id="72" name="TextBox 72"/>
              <p:cNvSpPr txBox="1"/>
              <p:nvPr/>
            </p:nvSpPr>
            <p:spPr>
              <a:xfrm>
                <a:off x="9175623" y="4629150"/>
                <a:ext cx="17042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 검증 데이터로 축적</a:t>
                </a:r>
              </a:p>
            </p:txBody>
          </p:sp>
        </p:grpSp>
      </p:grpSp>
      <p:grpSp>
        <p:nvGrpSpPr>
          <p:cNvPr id="78" name="return-loop"/>
          <p:cNvGrpSpPr/>
          <p:nvPr/>
        </p:nvGrpSpPr>
        <p:grpSpPr>
          <a:xfrm>
            <a:off x="1838325" y="4991100"/>
            <a:ext cx="8515350" cy="421767"/>
            <a:chOff x="1838325" y="4991100"/>
            <a:chExt cx="8515350" cy="421767"/>
          </a:xfrm>
        </p:grpSpPr>
        <p:sp>
          <p:nvSpPr>
            <p:cNvPr id="75" name="Freeform 75"/>
            <p:cNvSpPr/>
            <p:nvPr/>
          </p:nvSpPr>
          <p:spPr>
            <a:xfrm>
              <a:off x="1838325" y="4991100"/>
              <a:ext cx="8515350" cy="266700"/>
            </a:xfrm>
            <a:custGeom>
              <a:avLst/>
              <a:gdLst/>
              <a:ahLst/>
              <a:cxnLst/>
              <a:rect l="l" t="t" r="r" b="b"/>
              <a:pathLst>
                <a:path w="8515350" h="266700">
                  <a:moveTo>
                    <a:pt x="8515350" y="0"/>
                  </a:moveTo>
                  <a:lnTo>
                    <a:pt x="8515350" y="266700"/>
                  </a:lnTo>
                  <a:lnTo>
                    <a:pt x="0" y="266700"/>
                  </a:lnTo>
                  <a:lnTo>
                    <a:pt x="0" y="57150"/>
                  </a:lnTo>
                </a:path>
              </a:pathLst>
            </a:custGeom>
            <a:noFill/>
            <a:ln w="14288">
              <a:solidFill>
                <a:srgbClr val="4B5563"/>
              </a:solidFill>
              <a:custDash>
                <a:ds d="333333" sp="333333"/>
              </a:custDash>
              <a:tailEnd type="triangle" w="lg" len="lg"/>
            </a:ln>
          </p:spPr>
        </p:sp>
        <p:sp>
          <p:nvSpPr>
            <p:cNvPr id="76" name="Rectangle 76"/>
            <p:cNvSpPr/>
            <p:nvPr/>
          </p:nvSpPr>
          <p:spPr>
            <a:xfrm>
              <a:off x="4476750" y="5114925"/>
              <a:ext cx="3238500" cy="285750"/>
            </a:xfrm>
            <a:prstGeom prst="rect">
              <a:avLst/>
            </a:prstGeom>
            <a:solidFill>
              <a:srgbClr val="FFFFFF"/>
            </a:solidFill>
            <a:ln>
              <a:noFill/>
            </a:ln>
          </p:spPr>
        </p:sp>
        <p:sp>
          <p:nvSpPr>
            <p:cNvPr id="77" name="TextBox 77"/>
            <p:cNvSpPr txBox="1"/>
            <p:nvPr/>
          </p:nvSpPr>
          <p:spPr>
            <a:xfrm>
              <a:off x="4688613" y="5162550"/>
              <a:ext cx="2814773"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확인 결과가 다음 순찰로 돌아갑니다</a:t>
              </a:r>
            </a:p>
          </p:txBody>
        </p:sp>
      </p:grpSp>
      <p:grpSp>
        <p:nvGrpSpPr>
          <p:cNvPr id="81" name="role-band"/>
          <p:cNvGrpSpPr/>
          <p:nvPr/>
        </p:nvGrpSpPr>
        <p:grpSpPr>
          <a:xfrm>
            <a:off x="533400" y="5600700"/>
            <a:ext cx="11125200" cy="495300"/>
            <a:chOff x="533400" y="5600700"/>
            <a:chExt cx="11125200" cy="495300"/>
          </a:xfrm>
        </p:grpSpPr>
        <p:sp>
          <p:nvSpPr>
            <p:cNvPr id="79" name="Rectangle 79"/>
            <p:cNvSpPr/>
            <p:nvPr/>
          </p:nvSpPr>
          <p:spPr>
            <a:xfrm>
              <a:off x="533400" y="5600700"/>
              <a:ext cx="11125200" cy="495300"/>
            </a:xfrm>
            <a:prstGeom prst="rect">
              <a:avLst/>
            </a:prstGeom>
            <a:solidFill>
              <a:srgbClr val="0B1E3C"/>
            </a:solidFill>
            <a:ln>
              <a:noFill/>
            </a:ln>
          </p:spPr>
        </p:sp>
        <p:sp>
          <p:nvSpPr>
            <p:cNvPr id="80" name="TextBox 80"/>
            <p:cNvSpPr txBox="1"/>
            <p:nvPr/>
          </p:nvSpPr>
          <p:spPr>
            <a:xfrm>
              <a:off x="753999" y="5724525"/>
              <a:ext cx="790460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AI는 </a:t>
              </a:r>
              <a:r>
                <a:rPr lang="ko-KR" sz="1580" b="1" dirty="0">
                  <a:solidFill>
                    <a:srgbClr val="F5B700"/>
                  </a:solidFill>
                  <a:latin typeface="+mn-lt"/>
                  <a:ea typeface="+mn-ea"/>
                  <a:cs typeface="+mn-cs"/>
                </a:rPr>
                <a:t>검토 순서</a:t>
              </a:r>
              <a:r>
                <a:rPr lang="ko-KR" sz="1580" b="1" dirty="0">
                  <a:solidFill>
                    <a:srgbClr val="FFFFFF"/>
                  </a:solidFill>
                  <a:latin typeface="+mn-lt"/>
                  <a:ea typeface="+mn-ea"/>
                  <a:cs typeface="+mn-cs"/>
                </a:rPr>
                <a:t xml:space="preserve">를 정하고, 판정은 </a:t>
              </a:r>
              <a:r>
                <a:rPr lang="ko-KR" sz="1580" b="1" dirty="0">
                  <a:solidFill>
                    <a:srgbClr val="F5B700"/>
                  </a:solidFill>
                  <a:latin typeface="+mn-lt"/>
                  <a:ea typeface="+mn-ea"/>
                  <a:cs typeface="+mn-cs"/>
                </a:rPr>
                <a:t>전문가</a:t>
              </a:r>
              <a:r>
                <a:rPr lang="ko-KR" sz="1580" b="1" dirty="0">
                  <a:solidFill>
                    <a:srgbClr val="FFFFFF"/>
                  </a:solidFill>
                  <a:latin typeface="+mn-lt"/>
                  <a:ea typeface="+mn-ea"/>
                  <a:cs typeface="+mn-cs"/>
                </a:rPr>
                <a:t xml:space="preserve">가, 최종 확인은 </a:t>
              </a:r>
              <a:r>
                <a:rPr lang="ko-KR" sz="1580" b="1" dirty="0">
                  <a:solidFill>
                    <a:srgbClr val="F5B700"/>
                  </a:solidFill>
                  <a:latin typeface="+mn-lt"/>
                  <a:ea typeface="+mn-ea"/>
                  <a:cs typeface="+mn-cs"/>
                </a:rPr>
                <a:t>천공·내시경</a:t>
              </a:r>
              <a:r>
                <a:rPr lang="ko-KR" sz="1580" b="1" dirty="0">
                  <a:solidFill>
                    <a:srgbClr val="FFFFFF"/>
                  </a:solidFill>
                  <a:latin typeface="+mn-lt"/>
                  <a:ea typeface="+mn-ea"/>
                  <a:cs typeface="+mn-cs"/>
                </a:rPr>
                <a:t>이 맡습니다.</a:t>
              </a:r>
            </a:p>
          </p:txBody>
        </p:sp>
      </p:grpSp>
      <p:grpSp>
        <p:nvGrpSpPr>
          <p:cNvPr id="83" name="source"/>
          <p:cNvGrpSpPr/>
          <p:nvPr/>
        </p:nvGrpSpPr>
        <p:grpSpPr>
          <a:xfrm>
            <a:off x="528638" y="6229350"/>
            <a:ext cx="7551807" cy="176212"/>
            <a:chOff x="528638" y="6229350"/>
            <a:chExt cx="7551807" cy="176212"/>
          </a:xfrm>
        </p:grpSpPr>
        <p:sp>
          <p:nvSpPr>
            <p:cNvPr id="82" name="TextBox 82"/>
            <p:cNvSpPr txBox="1"/>
            <p:nvPr/>
          </p:nvSpPr>
          <p:spPr>
            <a:xfrm>
              <a:off x="528638" y="6229350"/>
              <a:ext cx="755180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B-scan 비교는 설명용 예시 · PV5: 실차 사진 기반 편집 이미지 · 도로 장면은 연출 이미지 · 지도 데이터 © OpenStreetMap contributors</a:t>
              </a:r>
            </a:p>
          </p:txBody>
        </p:sp>
      </p:grpSp>
      <p:grpSp>
        <p:nvGrpSpPr>
          <p:cNvPr id="86" name="footer"/>
          <p:cNvGrpSpPr/>
          <p:nvPr/>
        </p:nvGrpSpPr>
        <p:grpSpPr>
          <a:xfrm>
            <a:off x="528638" y="6610350"/>
            <a:ext cx="11134724" cy="176212"/>
            <a:chOff x="528638" y="6610350"/>
            <a:chExt cx="11134724" cy="176212"/>
          </a:xfrm>
        </p:grpSpPr>
        <p:sp>
          <p:nvSpPr>
            <p:cNvPr id="84" name="TextBox 8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5" name="TextBox 8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93917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PV5가 순정으로 제공하는 구조</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647532" cy="557403"/>
            <a:chOff x="518922" y="781050"/>
            <a:chExt cx="9647532" cy="557403"/>
          </a:xfrm>
        </p:grpSpPr>
        <p:sp>
          <p:nvSpPr>
            <p:cNvPr id="9" name="TextBox 9"/>
            <p:cNvSpPr txBox="1"/>
            <p:nvPr/>
          </p:nvSpPr>
          <p:spPr>
            <a:xfrm>
              <a:off x="518922" y="781050"/>
              <a:ext cx="9647532"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PV5가 순정으로 제공하는 구조 위에 GPR 장비를 끼웁니다</a:t>
              </a:r>
            </a:p>
          </p:txBody>
        </p:sp>
      </p:grpSp>
      <p:grpSp>
        <p:nvGrpSpPr>
          <p:cNvPr id="12" name="lead"/>
          <p:cNvGrpSpPr/>
          <p:nvPr/>
        </p:nvGrpSpPr>
        <p:grpSpPr>
          <a:xfrm>
            <a:off x="526542" y="1339850"/>
            <a:ext cx="7973797" cy="264033"/>
            <a:chOff x="526542" y="1339850"/>
            <a:chExt cx="7973797" cy="264033"/>
          </a:xfrm>
        </p:grpSpPr>
        <p:sp>
          <p:nvSpPr>
            <p:cNvPr id="11" name="TextBox 11"/>
            <p:cNvSpPr txBox="1"/>
            <p:nvPr/>
          </p:nvSpPr>
          <p:spPr>
            <a:xfrm>
              <a:off x="526542" y="1339850"/>
              <a:ext cx="7973797"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싣고, 켜고, 고정하고, 여러 대에 복제하는 구조를 차량과 기아 순정 액세서리가 이미 제공합니다.</a:t>
              </a:r>
            </a:p>
          </p:txBody>
        </p:sp>
      </p:grpSp>
      <p:grpSp>
        <p:nvGrpSpPr>
          <p:cNvPr id="25" name="feat-1"/>
          <p:cNvGrpSpPr/>
          <p:nvPr/>
        </p:nvGrpSpPr>
        <p:grpSpPr>
          <a:xfrm>
            <a:off x="533400" y="1752600"/>
            <a:ext cx="5455092" cy="1638300"/>
            <a:chOff x="533400" y="1752600"/>
            <a:chExt cx="5455092" cy="1638300"/>
          </a:xfrm>
        </p:grpSpPr>
        <p:pic>
          <p:nvPicPr>
            <p:cNvPr id="13" name="Image 13"/>
            <p:cNvPicPr>
              <a:picLocks noChangeAspect="1"/>
            </p:cNvPicPr>
            <p:nvPr/>
          </p:nvPicPr>
          <p:blipFill>
            <a:blip r:embed="rId2"/>
            <a:stretch>
              <a:fillRect/>
            </a:stretch>
          </p:blipFill>
          <p:spPr>
            <a:xfrm>
              <a:off x="533400" y="1752600"/>
              <a:ext cx="2457450" cy="1638300"/>
            </a:xfrm>
            <a:prstGeom prst="rect">
              <a:avLst/>
            </a:prstGeom>
          </p:spPr>
        </p:pic>
        <p:sp>
          <p:nvSpPr>
            <p:cNvPr id="14" name="Rectangle 14"/>
            <p:cNvSpPr/>
            <p:nvPr/>
          </p:nvSpPr>
          <p:spPr>
            <a:xfrm>
              <a:off x="590550" y="1809750"/>
              <a:ext cx="895350" cy="209550"/>
            </a:xfrm>
            <a:prstGeom prst="roundRect">
              <a:avLst>
                <a:gd name="adj" fmla="val 13636"/>
              </a:avLst>
            </a:prstGeom>
            <a:solidFill>
              <a:srgbClr val="0B1E3C">
                <a:alpha val="88000"/>
              </a:srgbClr>
            </a:solidFill>
            <a:ln>
              <a:noFill/>
            </a:ln>
          </p:spPr>
        </p:sp>
        <p:sp>
          <p:nvSpPr>
            <p:cNvPr id="15" name="TextBox 15"/>
            <p:cNvSpPr txBox="1"/>
            <p:nvPr/>
          </p:nvSpPr>
          <p:spPr>
            <a:xfrm>
              <a:off x="571924" y="1847850"/>
              <a:ext cx="932603"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카고룸 4,420L</a:t>
              </a:r>
            </a:p>
          </p:txBody>
        </p:sp>
        <p:sp>
          <p:nvSpPr>
            <p:cNvPr id="16" name="TextBox 16"/>
            <p:cNvSpPr txBox="1"/>
            <p:nvPr/>
          </p:nvSpPr>
          <p:spPr>
            <a:xfrm>
              <a:off x="3195066" y="18351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01</a:t>
              </a:r>
            </a:p>
          </p:txBody>
        </p:sp>
        <p:sp>
          <p:nvSpPr>
            <p:cNvPr id="17" name="TextBox 17"/>
            <p:cNvSpPr txBox="1"/>
            <p:nvPr/>
          </p:nvSpPr>
          <p:spPr>
            <a:xfrm>
              <a:off x="3191256" y="203200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넉넉한 적재</a:t>
              </a:r>
            </a:p>
          </p:txBody>
        </p:sp>
        <p:grpSp>
          <p:nvGrpSpPr>
            <p:cNvPr id="24" name="Group 24"/>
            <p:cNvGrpSpPr/>
            <p:nvPr/>
          </p:nvGrpSpPr>
          <p:grpSpPr>
            <a:xfrm>
              <a:off x="3200400" y="2400300"/>
              <a:ext cx="2788092" cy="783717"/>
              <a:chOff x="3200400" y="2400300"/>
              <a:chExt cx="2788092" cy="783717"/>
            </a:xfrm>
          </p:grpSpPr>
          <p:sp>
            <p:nvSpPr>
              <p:cNvPr id="18" name="Rectangle 18"/>
              <p:cNvSpPr/>
              <p:nvPr/>
            </p:nvSpPr>
            <p:spPr>
              <a:xfrm>
                <a:off x="3200400" y="2476500"/>
                <a:ext cx="57150" cy="57150"/>
              </a:xfrm>
              <a:prstGeom prst="rect">
                <a:avLst/>
              </a:prstGeom>
              <a:solidFill>
                <a:srgbClr val="F5B700"/>
              </a:solidFill>
              <a:ln>
                <a:noFill/>
              </a:ln>
            </p:spPr>
          </p:sp>
          <p:sp>
            <p:nvSpPr>
              <p:cNvPr id="19" name="TextBox 19"/>
              <p:cNvSpPr txBox="1"/>
              <p:nvPr/>
            </p:nvSpPr>
            <p:spPr>
              <a:xfrm>
                <a:off x="3327273" y="2400300"/>
                <a:ext cx="26612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카고룸 4,420L · 최대 적재 600kg</a:t>
                </a:r>
              </a:p>
            </p:txBody>
          </p:sp>
          <p:sp>
            <p:nvSpPr>
              <p:cNvPr id="20" name="Rectangle 20"/>
              <p:cNvSpPr/>
              <p:nvPr/>
            </p:nvSpPr>
            <p:spPr>
              <a:xfrm>
                <a:off x="3200400" y="2743200"/>
                <a:ext cx="57150" cy="57150"/>
              </a:xfrm>
              <a:prstGeom prst="rect">
                <a:avLst/>
              </a:prstGeom>
              <a:solidFill>
                <a:srgbClr val="F5B700"/>
              </a:solidFill>
              <a:ln>
                <a:noFill/>
              </a:ln>
            </p:spPr>
          </p:sp>
          <p:sp>
            <p:nvSpPr>
              <p:cNvPr id="21" name="TextBox 21"/>
              <p:cNvSpPr txBox="1"/>
              <p:nvPr/>
            </p:nvSpPr>
            <p:spPr>
              <a:xfrm>
                <a:off x="3327273" y="2667000"/>
                <a:ext cx="21995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카트·엣지 PC를 한 번에</a:t>
                </a:r>
              </a:p>
            </p:txBody>
          </p:sp>
          <p:sp>
            <p:nvSpPr>
              <p:cNvPr id="22" name="Rectangle 22"/>
              <p:cNvSpPr/>
              <p:nvPr/>
            </p:nvSpPr>
            <p:spPr>
              <a:xfrm>
                <a:off x="3200400" y="3009900"/>
                <a:ext cx="57150" cy="57150"/>
              </a:xfrm>
              <a:prstGeom prst="rect">
                <a:avLst/>
              </a:prstGeom>
              <a:solidFill>
                <a:srgbClr val="F5B700"/>
              </a:solidFill>
              <a:ln>
                <a:noFill/>
              </a:ln>
            </p:spPr>
          </p:sp>
          <p:sp>
            <p:nvSpPr>
              <p:cNvPr id="23" name="TextBox 23"/>
              <p:cNvSpPr txBox="1"/>
              <p:nvPr/>
            </p:nvSpPr>
            <p:spPr>
              <a:xfrm>
                <a:off x="3327273" y="2933700"/>
                <a:ext cx="205487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내시경·안전장비까지 적재</a:t>
                </a:r>
              </a:p>
            </p:txBody>
          </p:sp>
        </p:grpSp>
      </p:grpSp>
      <p:grpSp>
        <p:nvGrpSpPr>
          <p:cNvPr id="38" name="feat-2"/>
          <p:cNvGrpSpPr/>
          <p:nvPr/>
        </p:nvGrpSpPr>
        <p:grpSpPr>
          <a:xfrm>
            <a:off x="6210300" y="1752600"/>
            <a:ext cx="5168661" cy="1638300"/>
            <a:chOff x="6210300" y="1752600"/>
            <a:chExt cx="5168661" cy="1638300"/>
          </a:xfrm>
        </p:grpSpPr>
        <p:pic>
          <p:nvPicPr>
            <p:cNvPr id="26" name="Image 26"/>
            <p:cNvPicPr>
              <a:picLocks noChangeAspect="1"/>
            </p:cNvPicPr>
            <p:nvPr/>
          </p:nvPicPr>
          <p:blipFill>
            <a:blip r:embed="rId3"/>
            <a:stretch>
              <a:fillRect/>
            </a:stretch>
          </p:blipFill>
          <p:spPr>
            <a:xfrm>
              <a:off x="6210300" y="1752600"/>
              <a:ext cx="2457450" cy="1638300"/>
            </a:xfrm>
            <a:prstGeom prst="rect">
              <a:avLst/>
            </a:prstGeom>
          </p:spPr>
        </p:pic>
        <p:sp>
          <p:nvSpPr>
            <p:cNvPr id="27" name="Rectangle 27"/>
            <p:cNvSpPr/>
            <p:nvPr/>
          </p:nvSpPr>
          <p:spPr>
            <a:xfrm>
              <a:off x="6267450" y="1809750"/>
              <a:ext cx="1143000" cy="209550"/>
            </a:xfrm>
            <a:prstGeom prst="roundRect">
              <a:avLst>
                <a:gd name="adj" fmla="val 13636"/>
              </a:avLst>
            </a:prstGeom>
            <a:solidFill>
              <a:srgbClr val="0B1E3C">
                <a:alpha val="88000"/>
              </a:srgbClr>
            </a:solidFill>
            <a:ln>
              <a:noFill/>
            </a:ln>
          </p:spPr>
        </p:sp>
        <p:sp>
          <p:nvSpPr>
            <p:cNvPr id="28" name="TextBox 28"/>
            <p:cNvSpPr txBox="1"/>
            <p:nvPr/>
          </p:nvSpPr>
          <p:spPr>
            <a:xfrm>
              <a:off x="6245656" y="1847850"/>
              <a:ext cx="1186588"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V2X/V2L 설정 화면</a:t>
              </a:r>
            </a:p>
          </p:txBody>
        </p:sp>
        <p:sp>
          <p:nvSpPr>
            <p:cNvPr id="29" name="TextBox 29"/>
            <p:cNvSpPr txBox="1"/>
            <p:nvPr/>
          </p:nvSpPr>
          <p:spPr>
            <a:xfrm>
              <a:off x="8871966" y="18351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02</a:t>
              </a:r>
            </a:p>
          </p:txBody>
        </p:sp>
        <p:sp>
          <p:nvSpPr>
            <p:cNvPr id="30" name="TextBox 30"/>
            <p:cNvSpPr txBox="1"/>
            <p:nvPr/>
          </p:nvSpPr>
          <p:spPr>
            <a:xfrm>
              <a:off x="8868156" y="203200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즉시 전원</a:t>
              </a:r>
            </a:p>
          </p:txBody>
        </p:sp>
        <p:grpSp>
          <p:nvGrpSpPr>
            <p:cNvPr id="37" name="Group 37"/>
            <p:cNvGrpSpPr/>
            <p:nvPr/>
          </p:nvGrpSpPr>
          <p:grpSpPr>
            <a:xfrm>
              <a:off x="8877300" y="2400300"/>
              <a:ext cx="2501661" cy="783717"/>
              <a:chOff x="8877300" y="2400300"/>
              <a:chExt cx="2501661" cy="783717"/>
            </a:xfrm>
          </p:grpSpPr>
          <p:sp>
            <p:nvSpPr>
              <p:cNvPr id="31" name="Rectangle 31"/>
              <p:cNvSpPr/>
              <p:nvPr/>
            </p:nvSpPr>
            <p:spPr>
              <a:xfrm>
                <a:off x="8877300" y="2476500"/>
                <a:ext cx="57150" cy="57150"/>
              </a:xfrm>
              <a:prstGeom prst="rect">
                <a:avLst/>
              </a:prstGeom>
              <a:solidFill>
                <a:srgbClr val="F5B700"/>
              </a:solidFill>
              <a:ln>
                <a:noFill/>
              </a:ln>
            </p:spPr>
          </p:sp>
          <p:sp>
            <p:nvSpPr>
              <p:cNvPr id="32" name="TextBox 32"/>
              <p:cNvSpPr txBox="1"/>
              <p:nvPr/>
            </p:nvSpPr>
            <p:spPr>
              <a:xfrm>
                <a:off x="9004173" y="2400300"/>
                <a:ext cx="22818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실내·실외 V2L · 최대 3.6kW</a:t>
                </a:r>
              </a:p>
            </p:txBody>
          </p:sp>
          <p:sp>
            <p:nvSpPr>
              <p:cNvPr id="33" name="Rectangle 33"/>
              <p:cNvSpPr/>
              <p:nvPr/>
            </p:nvSpPr>
            <p:spPr>
              <a:xfrm>
                <a:off x="8877300" y="2743200"/>
                <a:ext cx="57150" cy="57150"/>
              </a:xfrm>
              <a:prstGeom prst="rect">
                <a:avLst/>
              </a:prstGeom>
              <a:solidFill>
                <a:srgbClr val="F5B700"/>
              </a:solidFill>
              <a:ln>
                <a:noFill/>
              </a:ln>
            </p:spPr>
          </p:sp>
          <p:sp>
            <p:nvSpPr>
              <p:cNvPr id="34" name="TextBox 34"/>
              <p:cNvSpPr txBox="1"/>
              <p:nvPr/>
            </p:nvSpPr>
            <p:spPr>
              <a:xfrm>
                <a:off x="9004173" y="2667000"/>
                <a:ext cx="237478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제어부·엣지 PC 상시 구동</a:t>
                </a:r>
              </a:p>
            </p:txBody>
          </p:sp>
          <p:sp>
            <p:nvSpPr>
              <p:cNvPr id="35" name="Rectangle 35"/>
              <p:cNvSpPr/>
              <p:nvPr/>
            </p:nvSpPr>
            <p:spPr>
              <a:xfrm>
                <a:off x="8877300" y="3009900"/>
                <a:ext cx="57150" cy="57150"/>
              </a:xfrm>
              <a:prstGeom prst="rect">
                <a:avLst/>
              </a:prstGeom>
              <a:solidFill>
                <a:srgbClr val="F5B700"/>
              </a:solidFill>
              <a:ln>
                <a:noFill/>
              </a:ln>
            </p:spPr>
          </p:sp>
          <p:sp>
            <p:nvSpPr>
              <p:cNvPr id="36" name="TextBox 36"/>
              <p:cNvSpPr txBox="1"/>
              <p:nvPr/>
            </p:nvSpPr>
            <p:spPr>
              <a:xfrm>
                <a:off x="9004173" y="2933700"/>
                <a:ext cx="237478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글래스·수동 GPR 현장 충전</a:t>
                </a:r>
              </a:p>
            </p:txBody>
          </p:sp>
        </p:grpSp>
      </p:grpSp>
      <p:grpSp>
        <p:nvGrpSpPr>
          <p:cNvPr id="51" name="feat-3"/>
          <p:cNvGrpSpPr/>
          <p:nvPr/>
        </p:nvGrpSpPr>
        <p:grpSpPr>
          <a:xfrm>
            <a:off x="533400" y="3619500"/>
            <a:ext cx="5647075" cy="1638300"/>
            <a:chOff x="533400" y="3619500"/>
            <a:chExt cx="5647075" cy="1638300"/>
          </a:xfrm>
        </p:grpSpPr>
        <p:pic>
          <p:nvPicPr>
            <p:cNvPr id="39" name="Image 39"/>
            <p:cNvPicPr>
              <a:picLocks noChangeAspect="1"/>
            </p:cNvPicPr>
            <p:nvPr/>
          </p:nvPicPr>
          <p:blipFill>
            <a:blip r:embed="rId4"/>
            <a:srcRect l="139" t="0" r="139" b="0"/>
            <a:stretch>
              <a:fillRect/>
            </a:stretch>
          </p:blipFill>
          <p:spPr>
            <a:xfrm>
              <a:off x="533400" y="3619500"/>
              <a:ext cx="2457450" cy="1638300"/>
            </a:xfrm>
            <a:prstGeom prst="rect">
              <a:avLst/>
            </a:prstGeom>
          </p:spPr>
        </p:pic>
        <p:sp>
          <p:nvSpPr>
            <p:cNvPr id="40" name="Rectangle 40"/>
            <p:cNvSpPr/>
            <p:nvPr/>
          </p:nvSpPr>
          <p:spPr>
            <a:xfrm>
              <a:off x="590550" y="3676650"/>
              <a:ext cx="781050" cy="209550"/>
            </a:xfrm>
            <a:prstGeom prst="roundRect">
              <a:avLst>
                <a:gd name="adj" fmla="val 13636"/>
              </a:avLst>
            </a:prstGeom>
            <a:solidFill>
              <a:srgbClr val="0B1E3C">
                <a:alpha val="88000"/>
              </a:srgbClr>
            </a:solidFill>
            <a:ln>
              <a:noFill/>
            </a:ln>
          </p:spPr>
        </p:sp>
        <p:sp>
          <p:nvSpPr>
            <p:cNvPr id="41" name="TextBox 41"/>
            <p:cNvSpPr txBox="1"/>
            <p:nvPr/>
          </p:nvSpPr>
          <p:spPr>
            <a:xfrm>
              <a:off x="551334" y="3714750"/>
              <a:ext cx="85948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L-Track 고정</a:t>
              </a:r>
            </a:p>
          </p:txBody>
        </p:sp>
        <p:sp>
          <p:nvSpPr>
            <p:cNvPr id="42" name="TextBox 42"/>
            <p:cNvSpPr txBox="1"/>
            <p:nvPr/>
          </p:nvSpPr>
          <p:spPr>
            <a:xfrm>
              <a:off x="3195066" y="37020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03</a:t>
              </a:r>
            </a:p>
          </p:txBody>
        </p:sp>
        <p:sp>
          <p:nvSpPr>
            <p:cNvPr id="43" name="TextBox 43"/>
            <p:cNvSpPr txBox="1"/>
            <p:nvPr/>
          </p:nvSpPr>
          <p:spPr>
            <a:xfrm>
              <a:off x="3191256" y="389890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레일 고정</a:t>
              </a:r>
            </a:p>
          </p:txBody>
        </p:sp>
        <p:grpSp>
          <p:nvGrpSpPr>
            <p:cNvPr id="50" name="Group 50"/>
            <p:cNvGrpSpPr/>
            <p:nvPr/>
          </p:nvGrpSpPr>
          <p:grpSpPr>
            <a:xfrm>
              <a:off x="3200400" y="4267200"/>
              <a:ext cx="2980075" cy="783717"/>
              <a:chOff x="3200400" y="4267200"/>
              <a:chExt cx="2980075" cy="783717"/>
            </a:xfrm>
          </p:grpSpPr>
          <p:sp>
            <p:nvSpPr>
              <p:cNvPr id="44" name="Rectangle 44"/>
              <p:cNvSpPr/>
              <p:nvPr/>
            </p:nvSpPr>
            <p:spPr>
              <a:xfrm>
                <a:off x="3200400" y="4343400"/>
                <a:ext cx="57150" cy="57150"/>
              </a:xfrm>
              <a:prstGeom prst="rect">
                <a:avLst/>
              </a:prstGeom>
              <a:solidFill>
                <a:srgbClr val="F5B700"/>
              </a:solidFill>
              <a:ln>
                <a:noFill/>
              </a:ln>
            </p:spPr>
          </p:sp>
          <p:sp>
            <p:nvSpPr>
              <p:cNvPr id="45" name="TextBox 45"/>
              <p:cNvSpPr txBox="1"/>
              <p:nvPr/>
            </p:nvSpPr>
            <p:spPr>
              <a:xfrm>
                <a:off x="3327273" y="4267200"/>
                <a:ext cx="285320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L-Track·몰리 패널 (순정 액세서리)</a:t>
                </a:r>
              </a:p>
            </p:txBody>
          </p:sp>
          <p:sp>
            <p:nvSpPr>
              <p:cNvPr id="46" name="Rectangle 46"/>
              <p:cNvSpPr/>
              <p:nvPr/>
            </p:nvSpPr>
            <p:spPr>
              <a:xfrm>
                <a:off x="3200400" y="4610100"/>
                <a:ext cx="57150" cy="57150"/>
              </a:xfrm>
              <a:prstGeom prst="rect">
                <a:avLst/>
              </a:prstGeom>
              <a:solidFill>
                <a:srgbClr val="F5B700"/>
              </a:solidFill>
              <a:ln>
                <a:noFill/>
              </a:ln>
            </p:spPr>
          </p:sp>
          <p:sp>
            <p:nvSpPr>
              <p:cNvPr id="47" name="TextBox 47"/>
              <p:cNvSpPr txBox="1"/>
              <p:nvPr/>
            </p:nvSpPr>
            <p:spPr>
              <a:xfrm>
                <a:off x="3327273" y="4533900"/>
                <a:ext cx="211696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카트·장비 케이스 고정</a:t>
                </a:r>
              </a:p>
            </p:txBody>
          </p:sp>
          <p:sp>
            <p:nvSpPr>
              <p:cNvPr id="48" name="Rectangle 48"/>
              <p:cNvSpPr/>
              <p:nvPr/>
            </p:nvSpPr>
            <p:spPr>
              <a:xfrm>
                <a:off x="3200400" y="4876800"/>
                <a:ext cx="57150" cy="57150"/>
              </a:xfrm>
              <a:prstGeom prst="rect">
                <a:avLst/>
              </a:prstGeom>
              <a:solidFill>
                <a:srgbClr val="F5B700"/>
              </a:solidFill>
              <a:ln>
                <a:noFill/>
              </a:ln>
            </p:spPr>
          </p:sp>
          <p:sp>
            <p:nvSpPr>
              <p:cNvPr id="49" name="TextBox 49"/>
              <p:cNvSpPr txBox="1"/>
              <p:nvPr/>
            </p:nvSpPr>
            <p:spPr>
              <a:xfrm>
                <a:off x="3327273" y="4800600"/>
                <a:ext cx="206348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회차마다 같은 위치에 장착</a:t>
                </a:r>
              </a:p>
            </p:txBody>
          </p:sp>
        </p:grpSp>
      </p:grpSp>
      <p:grpSp>
        <p:nvGrpSpPr>
          <p:cNvPr id="64" name="feat-4"/>
          <p:cNvGrpSpPr/>
          <p:nvPr/>
        </p:nvGrpSpPr>
        <p:grpSpPr>
          <a:xfrm>
            <a:off x="6210300" y="3619500"/>
            <a:ext cx="5453629" cy="1638300"/>
            <a:chOff x="6210300" y="3619500"/>
            <a:chExt cx="5453629" cy="1638300"/>
          </a:xfrm>
        </p:grpSpPr>
        <p:pic>
          <p:nvPicPr>
            <p:cNvPr id="52" name="Image 52"/>
            <p:cNvPicPr>
              <a:picLocks noChangeAspect="1"/>
            </p:cNvPicPr>
            <p:nvPr/>
          </p:nvPicPr>
          <p:blipFill>
            <a:blip r:embed="rId5"/>
            <a:srcRect l="81" t="0" r="81" b="0"/>
            <a:stretch>
              <a:fillRect/>
            </a:stretch>
          </p:blipFill>
          <p:spPr>
            <a:xfrm>
              <a:off x="6210300" y="3619500"/>
              <a:ext cx="2457450" cy="1638300"/>
            </a:xfrm>
            <a:prstGeom prst="rect">
              <a:avLst/>
            </a:prstGeom>
          </p:spPr>
        </p:pic>
        <p:sp>
          <p:nvSpPr>
            <p:cNvPr id="53" name="Rectangle 53"/>
            <p:cNvSpPr/>
            <p:nvPr/>
          </p:nvSpPr>
          <p:spPr>
            <a:xfrm>
              <a:off x="6267450" y="3676650"/>
              <a:ext cx="800100" cy="209550"/>
            </a:xfrm>
            <a:prstGeom prst="roundRect">
              <a:avLst>
                <a:gd name="adj" fmla="val 13636"/>
              </a:avLst>
            </a:prstGeom>
            <a:solidFill>
              <a:srgbClr val="0B1E3C">
                <a:alpha val="88000"/>
              </a:srgbClr>
            </a:solidFill>
            <a:ln>
              <a:noFill/>
            </a:ln>
          </p:spPr>
        </p:sp>
        <p:sp>
          <p:nvSpPr>
            <p:cNvPr id="54" name="TextBox 54"/>
            <p:cNvSpPr txBox="1"/>
            <p:nvPr/>
          </p:nvSpPr>
          <p:spPr>
            <a:xfrm>
              <a:off x="6225207" y="3714750"/>
              <a:ext cx="884586"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표준 키트 장착</a:t>
              </a:r>
            </a:p>
          </p:txBody>
        </p:sp>
        <p:sp>
          <p:nvSpPr>
            <p:cNvPr id="55" name="TextBox 55"/>
            <p:cNvSpPr txBox="1"/>
            <p:nvPr/>
          </p:nvSpPr>
          <p:spPr>
            <a:xfrm>
              <a:off x="8871966" y="37020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04</a:t>
              </a:r>
            </a:p>
          </p:txBody>
        </p:sp>
        <p:sp>
          <p:nvSpPr>
            <p:cNvPr id="56" name="TextBox 56"/>
            <p:cNvSpPr txBox="1"/>
            <p:nvPr/>
          </p:nvSpPr>
          <p:spPr>
            <a:xfrm>
              <a:off x="8868156" y="3898900"/>
              <a:ext cx="1548514"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컨버전 생태계</a:t>
              </a:r>
            </a:p>
          </p:txBody>
        </p:sp>
        <p:grpSp>
          <p:nvGrpSpPr>
            <p:cNvPr id="63" name="Group 63"/>
            <p:cNvGrpSpPr/>
            <p:nvPr/>
          </p:nvGrpSpPr>
          <p:grpSpPr>
            <a:xfrm>
              <a:off x="8877300" y="4267200"/>
              <a:ext cx="2786629" cy="783717"/>
              <a:chOff x="8877300" y="4267200"/>
              <a:chExt cx="2786629" cy="783717"/>
            </a:xfrm>
          </p:grpSpPr>
          <p:sp>
            <p:nvSpPr>
              <p:cNvPr id="57" name="Rectangle 57"/>
              <p:cNvSpPr/>
              <p:nvPr/>
            </p:nvSpPr>
            <p:spPr>
              <a:xfrm>
                <a:off x="8877300" y="4343400"/>
                <a:ext cx="57150" cy="57150"/>
              </a:xfrm>
              <a:prstGeom prst="rect">
                <a:avLst/>
              </a:prstGeom>
              <a:solidFill>
                <a:srgbClr val="F5B700"/>
              </a:solidFill>
              <a:ln>
                <a:noFill/>
              </a:ln>
            </p:spPr>
          </p:sp>
          <p:sp>
            <p:nvSpPr>
              <p:cNvPr id="58" name="TextBox 58"/>
              <p:cNvSpPr txBox="1"/>
              <p:nvPr/>
            </p:nvSpPr>
            <p:spPr>
              <a:xfrm>
                <a:off x="9004173" y="4267200"/>
                <a:ext cx="252873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플렉시블 바디: 표준 차체 + 모듈</a:t>
                </a:r>
              </a:p>
            </p:txBody>
          </p:sp>
          <p:sp>
            <p:nvSpPr>
              <p:cNvPr id="59" name="Rectangle 59"/>
              <p:cNvSpPr/>
              <p:nvPr/>
            </p:nvSpPr>
            <p:spPr>
              <a:xfrm>
                <a:off x="8877300" y="4610100"/>
                <a:ext cx="57150" cy="57150"/>
              </a:xfrm>
              <a:prstGeom prst="rect">
                <a:avLst/>
              </a:prstGeom>
              <a:solidFill>
                <a:srgbClr val="F5B700"/>
              </a:solidFill>
              <a:ln>
                <a:noFill/>
              </a:ln>
            </p:spPr>
          </p:sp>
          <p:sp>
            <p:nvSpPr>
              <p:cNvPr id="60" name="TextBox 60"/>
              <p:cNvSpPr txBox="1"/>
              <p:nvPr/>
            </p:nvSpPr>
            <p:spPr>
              <a:xfrm>
                <a:off x="9004173" y="4533900"/>
                <a:ext cx="229220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파트너사 PV5 전용 랙킹·선반</a:t>
                </a:r>
              </a:p>
            </p:txBody>
          </p:sp>
          <p:sp>
            <p:nvSpPr>
              <p:cNvPr id="61" name="Rectangle 61"/>
              <p:cNvSpPr/>
              <p:nvPr/>
            </p:nvSpPr>
            <p:spPr>
              <a:xfrm>
                <a:off x="8877300" y="4876800"/>
                <a:ext cx="57150" cy="57150"/>
              </a:xfrm>
              <a:prstGeom prst="rect">
                <a:avLst/>
              </a:prstGeom>
              <a:solidFill>
                <a:srgbClr val="F5B700"/>
              </a:solidFill>
              <a:ln>
                <a:noFill/>
              </a:ln>
            </p:spPr>
          </p:sp>
          <p:sp>
            <p:nvSpPr>
              <p:cNvPr id="62" name="TextBox 62"/>
              <p:cNvSpPr txBox="1"/>
              <p:nvPr/>
            </p:nvSpPr>
            <p:spPr>
              <a:xfrm>
                <a:off x="9004173" y="4800600"/>
                <a:ext cx="265975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GPR 탐사 키트도 같은 방식 </a:t>
                </a:r>
                <a:r>
                  <a:rPr lang="ko-KR" sz="1280" dirty="0">
                    <a:solidFill>
                      <a:srgbClr val="4B5563"/>
                    </a:solidFill>
                    <a:latin typeface="+mn-lt"/>
                    <a:ea typeface="+mn-ea"/>
                    <a:cs typeface="+mn-cs"/>
                  </a:rPr>
                  <a:t>[제안]</a:t>
                </a:r>
              </a:p>
            </p:txBody>
          </p:sp>
        </p:grpSp>
      </p:grpSp>
      <p:grpSp>
        <p:nvGrpSpPr>
          <p:cNvPr id="67" name="conclusion"/>
          <p:cNvGrpSpPr/>
          <p:nvPr/>
        </p:nvGrpSpPr>
        <p:grpSpPr>
          <a:xfrm>
            <a:off x="533400" y="5524500"/>
            <a:ext cx="11125200" cy="495300"/>
            <a:chOff x="533400" y="5524500"/>
            <a:chExt cx="11125200" cy="495300"/>
          </a:xfrm>
        </p:grpSpPr>
        <p:sp>
          <p:nvSpPr>
            <p:cNvPr id="65" name="Rectangle 65"/>
            <p:cNvSpPr/>
            <p:nvPr/>
          </p:nvSpPr>
          <p:spPr>
            <a:xfrm>
              <a:off x="533400" y="5524500"/>
              <a:ext cx="11125200" cy="495300"/>
            </a:xfrm>
            <a:prstGeom prst="rect">
              <a:avLst/>
            </a:prstGeom>
            <a:solidFill>
              <a:srgbClr val="0B1E3C"/>
            </a:solidFill>
            <a:ln>
              <a:noFill/>
            </a:ln>
          </p:spPr>
        </p:sp>
        <p:sp>
          <p:nvSpPr>
            <p:cNvPr id="66" name="TextBox 66"/>
            <p:cNvSpPr txBox="1"/>
            <p:nvPr/>
          </p:nvSpPr>
          <p:spPr>
            <a:xfrm>
              <a:off x="754380" y="5661025"/>
              <a:ext cx="8621497"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개조해서 매다는 짐이 아니라 </a:t>
              </a:r>
              <a:r>
                <a:rPr lang="ko-KR" sz="1500" b="1" dirty="0">
                  <a:solidFill>
                    <a:srgbClr val="F5B700"/>
                  </a:solidFill>
                  <a:latin typeface="+mn-lt"/>
                  <a:ea typeface="+mn-ea"/>
                  <a:cs typeface="+mn-cs"/>
                </a:rPr>
                <a:t>처음부터 끼우는 모듈</a:t>
              </a:r>
              <a:r>
                <a:rPr lang="ko-KR" sz="1500" b="1" dirty="0">
                  <a:solidFill>
                    <a:srgbClr val="FFFFFF"/>
                  </a:solidFill>
                  <a:latin typeface="+mn-lt"/>
                  <a:ea typeface="+mn-ea"/>
                  <a:cs typeface="+mn-cs"/>
                </a:rPr>
                <a:t>이라, 같은 사양으로 여러 대에 복제합니다.</a:t>
              </a:r>
            </a:p>
          </p:txBody>
        </p:sp>
      </p:grpSp>
      <p:grpSp>
        <p:nvGrpSpPr>
          <p:cNvPr id="69" name="source"/>
          <p:cNvGrpSpPr/>
          <p:nvPr/>
        </p:nvGrpSpPr>
        <p:grpSpPr>
          <a:xfrm>
            <a:off x="528638" y="6146800"/>
            <a:ext cx="10136505" cy="347662"/>
            <a:chOff x="528638" y="6146800"/>
            <a:chExt cx="10136505" cy="347662"/>
          </a:xfrm>
        </p:grpSpPr>
        <p:sp>
          <p:nvSpPr>
            <p:cNvPr id="68" name="TextBox 68"/>
            <p:cNvSpPr txBox="1"/>
            <p:nvPr/>
          </p:nvSpPr>
          <p:spPr>
            <a:xfrm>
              <a:off x="528638" y="6146800"/>
              <a:ext cx="10136505" cy="347662"/>
            </a:xfrm>
            <a:prstGeom prst="rect">
              <a:avLst/>
            </a:prstGeom>
            <a:noFill/>
            <a:ln>
              <a:noFill/>
            </a:ln>
          </p:spPr>
          <p:txBody>
            <a:bodyPr wrap="none" lIns="0" tIns="0" rIns="0" bIns="0" anchor="t" anchorCtr="0">
              <a:spAutoFit/>
            </a:bodyPr>
            <a:lstStyle/>
            <a:p>
              <a:pPr algn="l">
                <a:lnSpc>
                  <a:spcPts val="1350"/>
                </a:lnSpc>
              </a:pPr>
              <a:r>
                <a:rPr lang="ko-KR" sz="900" dirty="0">
                  <a:solidFill>
                    <a:srgbClr val="4B5563"/>
                  </a:solidFill>
                  <a:latin typeface="+mn-lt"/>
                  <a:ea typeface="+mn-ea"/>
                  <a:cs typeface="+mn-cs"/>
                </a:rPr>
                <a:t>출처: 기아 PV5 카고 가격표·제원(카고룸·최대 적재 600kg은 롱레인지 3도어) · 기아 PV5 카고 특징·액세서리(L-Track·몰리 패널) · 현대차그룹 PV5 테크 데이(2025.7.23, 플렉시블 바디·컨버전)</a:t>
              </a:r>
              <a:br>
                <a:rPr lang="ko-KR" sz="900" dirty="0">
                  <a:solidFill>
                    <a:srgbClr val="4B5563"/>
                  </a:solidFill>
                  <a:latin typeface="+mn-lt"/>
                  <a:ea typeface="+mn-ea"/>
                  <a:cs typeface="+mn-cs"/>
                </a:rPr>
              </a:br>
              <a:r>
                <a:rPr lang="ko-KR" sz="900" dirty="0">
                  <a:solidFill>
                    <a:srgbClr val="4B5563"/>
                  </a:solidFill>
                  <a:latin typeface="+mn-lt"/>
                  <a:ea typeface="+mn-ea"/>
                  <a:cs typeface="+mn-cs"/>
                </a:rPr>
                <a:t>V2L 3.6kW는 해외 공개 제원 · 사진: 02 RuinDig, CC BY 4.0(Japan Mobility Show 2025 전시차 화면, 일부 크롭) · 01·03·04 PV5 기반 콘셉트 이미지</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082268" cy="557403"/>
            <a:chOff x="518922" y="781050"/>
            <a:chExt cx="9082268" cy="557403"/>
          </a:xfrm>
        </p:grpSpPr>
        <p:sp>
          <p:nvSpPr>
            <p:cNvPr id="9" name="TextBox 9"/>
            <p:cNvSpPr txBox="1"/>
            <p:nvPr/>
          </p:nvSpPr>
          <p:spPr>
            <a:xfrm>
              <a:off x="518922" y="781050"/>
              <a:ext cx="9082268"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PV5 한 대가 측정 장비와 재검증 장비를 함께 싣습니다</a:t>
              </a:r>
            </a:p>
          </p:txBody>
        </p:sp>
      </p:grpSp>
      <p:grpSp>
        <p:nvGrpSpPr>
          <p:cNvPr id="19" name="cutaway"/>
          <p:cNvGrpSpPr/>
          <p:nvPr/>
        </p:nvGrpSpPr>
        <p:grpSpPr>
          <a:xfrm>
            <a:off x="533400" y="1333500"/>
            <a:ext cx="6343650" cy="4229100"/>
            <a:chOff x="533400" y="1333500"/>
            <a:chExt cx="6343650" cy="4229100"/>
          </a:xfrm>
        </p:grpSpPr>
        <p:pic>
          <p:nvPicPr>
            <p:cNvPr id="11" name="Image 11"/>
            <p:cNvPicPr>
              <a:picLocks noChangeAspect="1"/>
            </p:cNvPicPr>
            <p:nvPr/>
          </p:nvPicPr>
          <p:blipFill>
            <a:blip r:embed="rId2"/>
            <a:stretch>
              <a:fillRect/>
            </a:stretch>
          </p:blipFill>
          <p:spPr>
            <a:xfrm>
              <a:off x="533400" y="1333500"/>
              <a:ext cx="6343650" cy="4229100"/>
            </a:xfrm>
            <a:prstGeom prst="rect">
              <a:avLst/>
            </a:prstGeom>
          </p:spPr>
        </p:pic>
        <p:grpSp>
          <p:nvGrpSpPr>
            <p:cNvPr id="18" name="Group 18"/>
            <p:cNvGrpSpPr/>
            <p:nvPr/>
          </p:nvGrpSpPr>
          <p:grpSpPr>
            <a:xfrm>
              <a:off x="3133725" y="2695575"/>
              <a:ext cx="2771775" cy="914400"/>
              <a:chOff x="3133725" y="2695575"/>
              <a:chExt cx="2771775" cy="914400"/>
            </a:xfrm>
          </p:grpSpPr>
          <p:sp>
            <p:nvSpPr>
              <p:cNvPr id="12" name="Ellipse 12"/>
              <p:cNvSpPr/>
              <p:nvPr/>
            </p:nvSpPr>
            <p:spPr>
              <a:xfrm>
                <a:off x="3133725" y="3286125"/>
                <a:ext cx="323850" cy="323850"/>
              </a:xfrm>
              <a:prstGeom prst="ellipse">
                <a:avLst/>
              </a:prstGeom>
              <a:solidFill>
                <a:srgbClr val="F5B700"/>
              </a:solidFill>
              <a:ln w="19050">
                <a:solidFill>
                  <a:srgbClr val="0B1E3C"/>
                </a:solidFill>
              </a:ln>
            </p:spPr>
          </p:sp>
          <p:sp>
            <p:nvSpPr>
              <p:cNvPr id="13" name="TextBox 13"/>
              <p:cNvSpPr txBox="1"/>
              <p:nvPr/>
            </p:nvSpPr>
            <p:spPr>
              <a:xfrm>
                <a:off x="3240268" y="33528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14" name="Ellipse 14"/>
              <p:cNvSpPr/>
              <p:nvPr/>
            </p:nvSpPr>
            <p:spPr>
              <a:xfrm>
                <a:off x="4200525" y="2695575"/>
                <a:ext cx="323850" cy="323850"/>
              </a:xfrm>
              <a:prstGeom prst="ellipse">
                <a:avLst/>
              </a:prstGeom>
              <a:solidFill>
                <a:srgbClr val="F5B700"/>
              </a:solidFill>
              <a:ln w="19050">
                <a:solidFill>
                  <a:srgbClr val="0B1E3C"/>
                </a:solidFill>
              </a:ln>
            </p:spPr>
          </p:sp>
          <p:sp>
            <p:nvSpPr>
              <p:cNvPr id="15" name="TextBox 15"/>
              <p:cNvSpPr txBox="1"/>
              <p:nvPr/>
            </p:nvSpPr>
            <p:spPr>
              <a:xfrm>
                <a:off x="4307068" y="27622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16" name="Ellipse 16"/>
              <p:cNvSpPr/>
              <p:nvPr/>
            </p:nvSpPr>
            <p:spPr>
              <a:xfrm>
                <a:off x="5581650" y="2867025"/>
                <a:ext cx="323850" cy="323850"/>
              </a:xfrm>
              <a:prstGeom prst="ellipse">
                <a:avLst/>
              </a:prstGeom>
              <a:solidFill>
                <a:srgbClr val="F5B700"/>
              </a:solidFill>
              <a:ln w="19050">
                <a:solidFill>
                  <a:srgbClr val="0B1E3C"/>
                </a:solidFill>
              </a:ln>
            </p:spPr>
          </p:sp>
          <p:sp>
            <p:nvSpPr>
              <p:cNvPr id="17" name="TextBox 17"/>
              <p:cNvSpPr txBox="1"/>
              <p:nvPr/>
            </p:nvSpPr>
            <p:spPr>
              <a:xfrm>
                <a:off x="5688193" y="29337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33" name="zone-legend"/>
          <p:cNvGrpSpPr/>
          <p:nvPr/>
        </p:nvGrpSpPr>
        <p:grpSpPr>
          <a:xfrm>
            <a:off x="7232904" y="1409700"/>
            <a:ext cx="4572579" cy="2783967"/>
            <a:chOff x="7232904" y="1409700"/>
            <a:chExt cx="4572579" cy="2783967"/>
          </a:xfrm>
        </p:grpSpPr>
        <p:sp>
          <p:nvSpPr>
            <p:cNvPr id="20" name="TextBox 20"/>
            <p:cNvSpPr txBox="1"/>
            <p:nvPr/>
          </p:nvSpPr>
          <p:spPr>
            <a:xfrm>
              <a:off x="7232904" y="1409700"/>
              <a:ext cx="457257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화물실 구성 </a:t>
              </a:r>
              <a:r>
                <a:rPr lang="ko-KR" sz="1200" dirty="0">
                  <a:solidFill>
                    <a:srgbClr val="374151"/>
                  </a:solidFill>
                  <a:latin typeface="+mn-lt"/>
                  <a:ea typeface="+mn-ea"/>
                  <a:cs typeface="+mn-cs"/>
                </a:rPr>
                <a:t>· 카고룸 2,255×1,565×1,520mm · 적재고 419mm</a:t>
              </a:r>
            </a:p>
          </p:txBody>
        </p:sp>
        <p:sp>
          <p:nvSpPr>
            <p:cNvPr id="21" name="Ellipse 21"/>
            <p:cNvSpPr/>
            <p:nvPr/>
          </p:nvSpPr>
          <p:spPr>
            <a:xfrm>
              <a:off x="7239000" y="1771650"/>
              <a:ext cx="266700" cy="266700"/>
            </a:xfrm>
            <a:prstGeom prst="ellipse">
              <a:avLst/>
            </a:prstGeom>
            <a:solidFill>
              <a:srgbClr val="F5B700"/>
            </a:solidFill>
            <a:ln>
              <a:noFill/>
            </a:ln>
          </p:spPr>
        </p:sp>
        <p:sp>
          <p:nvSpPr>
            <p:cNvPr id="22" name="TextBox 22"/>
            <p:cNvSpPr txBox="1"/>
            <p:nvPr/>
          </p:nvSpPr>
          <p:spPr>
            <a:xfrm>
              <a:off x="7320635" y="182245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A</a:t>
              </a:r>
            </a:p>
          </p:txBody>
        </p:sp>
        <p:sp>
          <p:nvSpPr>
            <p:cNvPr id="23" name="TextBox 23"/>
            <p:cNvSpPr txBox="1"/>
            <p:nvPr/>
          </p:nvSpPr>
          <p:spPr>
            <a:xfrm>
              <a:off x="7611999" y="178117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전방 · 분석</a:t>
              </a:r>
            </a:p>
          </p:txBody>
        </p:sp>
        <p:sp>
          <p:nvSpPr>
            <p:cNvPr id="24" name="TextBox 24"/>
            <p:cNvSpPr txBox="1"/>
            <p:nvPr/>
          </p:nvSpPr>
          <p:spPr>
            <a:xfrm>
              <a:off x="7613523" y="2063750"/>
              <a:ext cx="3589274" cy="469392"/>
            </a:xfrm>
            <a:prstGeom prst="rect">
              <a:avLst/>
            </a:prstGeom>
            <a:noFill/>
            <a:ln>
              <a:noFill/>
            </a:ln>
          </p:spPr>
          <p:txBody>
            <a:bodyPr wrap="none" lIns="0" tIns="0" rIns="0" bIns="0" anchor="t" anchorCtr="0">
              <a:spAutoFit/>
            </a:bodyPr>
            <a:lstStyle/>
            <a:p>
              <a:pPr algn="l">
                <a:lnSpc>
                  <a:spcPts val="1725"/>
                </a:lnSpc>
              </a:pPr>
              <a:r>
                <a:rPr lang="ko-KR" sz="1280" dirty="0">
                  <a:solidFill>
                    <a:srgbClr val="374151"/>
                  </a:solidFill>
                  <a:latin typeface="+mn-lt"/>
                  <a:ea typeface="+mn-ea"/>
                  <a:cs typeface="+mn-cs"/>
                </a:rPr>
                <a:t>Edge Gateway · 엣지 AI 컴퓨터 · GPR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저장장치 · 보안 네트워크 · RTK 수신 · 전원 분배</a:t>
              </a:r>
            </a:p>
          </p:txBody>
        </p:sp>
        <p:sp>
          <p:nvSpPr>
            <p:cNvPr id="25" name="Ellipse 25"/>
            <p:cNvSpPr/>
            <p:nvPr/>
          </p:nvSpPr>
          <p:spPr>
            <a:xfrm>
              <a:off x="7239000" y="2705100"/>
              <a:ext cx="266700" cy="266700"/>
            </a:xfrm>
            <a:prstGeom prst="ellipse">
              <a:avLst/>
            </a:prstGeom>
            <a:solidFill>
              <a:srgbClr val="F5B700"/>
            </a:solidFill>
            <a:ln>
              <a:noFill/>
            </a:ln>
          </p:spPr>
        </p:sp>
        <p:sp>
          <p:nvSpPr>
            <p:cNvPr id="26" name="TextBox 26"/>
            <p:cNvSpPr txBox="1"/>
            <p:nvPr/>
          </p:nvSpPr>
          <p:spPr>
            <a:xfrm>
              <a:off x="7320635" y="275590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B</a:t>
              </a:r>
            </a:p>
          </p:txBody>
        </p:sp>
        <p:sp>
          <p:nvSpPr>
            <p:cNvPr id="27" name="TextBox 27"/>
            <p:cNvSpPr txBox="1"/>
            <p:nvPr/>
          </p:nvSpPr>
          <p:spPr>
            <a:xfrm>
              <a:off x="7611999" y="2714625"/>
              <a:ext cx="20414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측면 · 재검증</a:t>
              </a:r>
            </a:p>
          </p:txBody>
        </p:sp>
        <p:sp>
          <p:nvSpPr>
            <p:cNvPr id="28" name="TextBox 28"/>
            <p:cNvSpPr txBox="1"/>
            <p:nvPr/>
          </p:nvSpPr>
          <p:spPr>
            <a:xfrm>
              <a:off x="7613523" y="2997200"/>
              <a:ext cx="3345434" cy="469392"/>
            </a:xfrm>
            <a:prstGeom prst="rect">
              <a:avLst/>
            </a:prstGeom>
            <a:noFill/>
            <a:ln>
              <a:noFill/>
            </a:ln>
          </p:spPr>
          <p:txBody>
            <a:bodyPr wrap="none" lIns="0" tIns="0" rIns="0" bIns="0" anchor="t" anchorCtr="0">
              <a:spAutoFit/>
            </a:bodyPr>
            <a:lstStyle/>
            <a:p>
              <a:pPr algn="l">
                <a:lnSpc>
                  <a:spcPts val="1725"/>
                </a:lnSpc>
              </a:pPr>
              <a:r>
                <a:rPr lang="ko-KR" sz="1280" dirty="0">
                  <a:solidFill>
                    <a:srgbClr val="374151"/>
                  </a:solidFill>
                  <a:latin typeface="+mn-lt"/>
                  <a:ea typeface="+mn-ea"/>
                  <a:cs typeface="+mn-cs"/>
                </a:rPr>
                <a:t>지면 밀착형 수동 GPR · 산업용 AR 글래스</a:t>
              </a:r>
              <a:br>
                <a:rPr lang="ko-KR" sz="1280" dirty="0">
                  <a:solidFill>
                    <a:srgbClr val="374151"/>
                  </a:solidFill>
                  <a:latin typeface="+mn-lt"/>
                  <a:ea typeface="+mn-ea"/>
                  <a:cs typeface="+mn-cs"/>
                </a:rPr>
              </a:br>
              <a:r>
                <a:rPr lang="ko-KR" sz="1280" dirty="0">
                  <a:solidFill>
                    <a:srgbClr val="374151"/>
                  </a:solidFill>
                  <a:latin typeface="+mn-lt"/>
                  <a:ea typeface="+mn-ea"/>
                  <a:cs typeface="+mn-cs"/>
                </a:rPr>
                <a:t>AR 충전·보관함 · RTK 이동국 · 교체형 안테나</a:t>
              </a:r>
            </a:p>
          </p:txBody>
        </p:sp>
        <p:sp>
          <p:nvSpPr>
            <p:cNvPr id="29" name="Ellipse 29"/>
            <p:cNvSpPr/>
            <p:nvPr/>
          </p:nvSpPr>
          <p:spPr>
            <a:xfrm>
              <a:off x="7239000" y="3638550"/>
              <a:ext cx="266700" cy="266700"/>
            </a:xfrm>
            <a:prstGeom prst="ellipse">
              <a:avLst/>
            </a:prstGeom>
            <a:solidFill>
              <a:srgbClr val="F5B700"/>
            </a:solidFill>
            <a:ln>
              <a:noFill/>
            </a:ln>
          </p:spPr>
        </p:sp>
        <p:sp>
          <p:nvSpPr>
            <p:cNvPr id="30" name="TextBox 30"/>
            <p:cNvSpPr txBox="1"/>
            <p:nvPr/>
          </p:nvSpPr>
          <p:spPr>
            <a:xfrm>
              <a:off x="7320635" y="368935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C</a:t>
              </a:r>
            </a:p>
          </p:txBody>
        </p:sp>
        <p:sp>
          <p:nvSpPr>
            <p:cNvPr id="31" name="TextBox 31"/>
            <p:cNvSpPr txBox="1"/>
            <p:nvPr/>
          </p:nvSpPr>
          <p:spPr>
            <a:xfrm>
              <a:off x="7611999" y="364807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후방 · 안전</a:t>
              </a:r>
            </a:p>
          </p:txBody>
        </p:sp>
        <p:sp>
          <p:nvSpPr>
            <p:cNvPr id="32" name="TextBox 32"/>
            <p:cNvSpPr txBox="1"/>
            <p:nvPr/>
          </p:nvSpPr>
          <p:spPr>
            <a:xfrm>
              <a:off x="7613523" y="3943350"/>
              <a:ext cx="38124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관로 내시경 · 작업 조명 · 라바콘 · 개인보호장비</a:t>
              </a:r>
            </a:p>
          </p:txBody>
        </p:sp>
      </p:grpSp>
      <p:grpSp>
        <p:nvGrpSpPr>
          <p:cNvPr id="40" name="under-gpr"/>
          <p:cNvGrpSpPr/>
          <p:nvPr/>
        </p:nvGrpSpPr>
        <p:grpSpPr>
          <a:xfrm>
            <a:off x="7239000" y="4362450"/>
            <a:ext cx="4419600" cy="1162050"/>
            <a:chOff x="7239000" y="4362450"/>
            <a:chExt cx="4419600" cy="1162050"/>
          </a:xfrm>
        </p:grpSpPr>
        <p:sp>
          <p:nvSpPr>
            <p:cNvPr id="34" name="Line 34"/>
            <p:cNvSpPr/>
            <p:nvPr/>
          </p:nvSpPr>
          <p:spPr>
            <a:xfrm>
              <a:off x="7239000" y="4362450"/>
              <a:ext cx="4419600" cy="9525"/>
            </a:xfrm>
            <a:custGeom>
              <a:avLst/>
              <a:gdLst/>
              <a:ahLst/>
              <a:cxnLst/>
              <a:rect l="l" t="t" r="r" b="b"/>
              <a:pathLst>
                <a:path w="4419600" h="9525">
                  <a:moveTo>
                    <a:pt x="0" y="0"/>
                  </a:moveTo>
                  <a:lnTo>
                    <a:pt x="4419600" y="0"/>
                  </a:lnTo>
                </a:path>
              </a:pathLst>
            </a:custGeom>
            <a:noFill/>
            <a:ln w="9525">
              <a:solidFill>
                <a:srgbClr val="D5DAE1"/>
              </a:solidFill>
            </a:ln>
          </p:spPr>
        </p:sp>
        <p:pic>
          <p:nvPicPr>
            <p:cNvPr id="35" name="Image 35"/>
            <p:cNvPicPr>
              <a:picLocks noChangeAspect="1"/>
            </p:cNvPicPr>
            <p:nvPr/>
          </p:nvPicPr>
          <p:blipFill>
            <a:blip r:embed="rId3"/>
            <a:srcRect l="93" t="0" r="93" b="0"/>
            <a:stretch>
              <a:fillRect/>
            </a:stretch>
          </p:blipFill>
          <p:spPr>
            <a:xfrm>
              <a:off x="7239000" y="4495800"/>
              <a:ext cx="1714500" cy="1028700"/>
            </a:xfrm>
            <a:prstGeom prst="rect">
              <a:avLst/>
            </a:prstGeom>
          </p:spPr>
        </p:pic>
        <p:sp>
          <p:nvSpPr>
            <p:cNvPr id="36" name="Rectangle 36"/>
            <p:cNvSpPr/>
            <p:nvPr/>
          </p:nvSpPr>
          <p:spPr>
            <a:xfrm>
              <a:off x="7277100" y="4533900"/>
              <a:ext cx="685800" cy="190500"/>
            </a:xfrm>
            <a:prstGeom prst="roundRect">
              <a:avLst>
                <a:gd name="adj" fmla="val 15000"/>
              </a:avLst>
            </a:prstGeom>
            <a:solidFill>
              <a:srgbClr val="0B1E3C">
                <a:alpha val="88000"/>
              </a:srgbClr>
            </a:solidFill>
            <a:ln>
              <a:noFill/>
            </a:ln>
          </p:spPr>
        </p:sp>
        <p:sp>
          <p:nvSpPr>
            <p:cNvPr id="37" name="TextBox 37"/>
            <p:cNvSpPr txBox="1"/>
            <p:nvPr/>
          </p:nvSpPr>
          <p:spPr>
            <a:xfrm>
              <a:off x="7293260" y="4562475"/>
              <a:ext cx="653480"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후방 장착형</a:t>
              </a:r>
            </a:p>
          </p:txBody>
        </p:sp>
        <p:sp>
          <p:nvSpPr>
            <p:cNvPr id="38" name="TextBox 38"/>
            <p:cNvSpPr txBox="1"/>
            <p:nvPr/>
          </p:nvSpPr>
          <p:spPr>
            <a:xfrm>
              <a:off x="9117711" y="4527550"/>
              <a:ext cx="1635212"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차량형 다채널 GPR</a:t>
              </a:r>
            </a:p>
          </p:txBody>
        </p:sp>
        <p:sp>
          <p:nvSpPr>
            <p:cNvPr id="39" name="TextBox 39"/>
            <p:cNvSpPr txBox="1"/>
            <p:nvPr/>
          </p:nvSpPr>
          <p:spPr>
            <a:xfrm>
              <a:off x="9119235" y="4800600"/>
              <a:ext cx="2258822"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374151"/>
                  </a:solidFill>
                  <a:latin typeface="+mn-lt"/>
                  <a:ea typeface="+mn-ea"/>
                  <a:cs typeface="+mn-cs"/>
                </a:rPr>
                <a:t>하부형(왼쪽)과 후방 장착형(사진)</a:t>
              </a:r>
              <a:br>
                <a:rPr lang="ko-KR" sz="1120" dirty="0">
                  <a:solidFill>
                    <a:srgbClr val="374151"/>
                  </a:solidFill>
                  <a:latin typeface="+mn-lt"/>
                  <a:ea typeface="+mn-ea"/>
                  <a:cs typeface="+mn-cs"/>
                </a:rPr>
              </a:br>
              <a:r>
                <a:rPr lang="ko-KR" sz="1120" dirty="0">
                  <a:solidFill>
                    <a:srgbClr val="374151"/>
                  </a:solidFill>
                  <a:latin typeface="+mn-lt"/>
                  <a:ea typeface="+mn-ea"/>
                  <a:cs typeface="+mn-cs"/>
                </a:rPr>
                <a:t>중 지상고·배터리 팩 간섭</a:t>
              </a:r>
              <a:br>
                <a:rPr lang="ko-KR" sz="1120" dirty="0">
                  <a:solidFill>
                    <a:srgbClr val="374151"/>
                  </a:solidFill>
                  <a:latin typeface="+mn-lt"/>
                  <a:ea typeface="+mn-ea"/>
                  <a:cs typeface="+mn-cs"/>
                </a:rPr>
              </a:br>
              <a:r>
                <a:rPr lang="ko-KR" sz="1120" dirty="0">
                  <a:solidFill>
                    <a:srgbClr val="374151"/>
                  </a:solidFill>
                  <a:latin typeface="+mn-lt"/>
                  <a:ea typeface="+mn-ea"/>
                  <a:cs typeface="+mn-cs"/>
                </a:rPr>
                <a:t xml:space="preserve">시험으로 확정 </a:t>
              </a:r>
              <a:r>
                <a:rPr lang="ko-KR" sz="1120" dirty="0">
                  <a:solidFill>
                    <a:srgbClr val="4B5563"/>
                  </a:solidFill>
                  <a:latin typeface="+mn-lt"/>
                  <a:ea typeface="+mn-ea"/>
                  <a:cs typeface="+mn-cs"/>
                </a:rPr>
                <a:t>[설계 판단]</a:t>
              </a:r>
            </a:p>
          </p:txBody>
        </p:sp>
      </p:grpSp>
      <p:grpSp>
        <p:nvGrpSpPr>
          <p:cNvPr id="50" name="budget"/>
          <p:cNvGrpSpPr/>
          <p:nvPr/>
        </p:nvGrpSpPr>
        <p:grpSpPr>
          <a:xfrm>
            <a:off x="526161" y="5695950"/>
            <a:ext cx="11132439" cy="592709"/>
            <a:chOff x="526161" y="5695950"/>
            <a:chExt cx="11132439" cy="592709"/>
          </a:xfrm>
        </p:grpSpPr>
        <p:sp>
          <p:nvSpPr>
            <p:cNvPr id="41" name="Line 41"/>
            <p:cNvSpPr/>
            <p:nvPr/>
          </p:nvSpPr>
          <p:spPr>
            <a:xfrm>
              <a:off x="533400" y="5695950"/>
              <a:ext cx="11125200" cy="9525"/>
            </a:xfrm>
            <a:custGeom>
              <a:avLst/>
              <a:gdLst/>
              <a:ahLst/>
              <a:cxnLst/>
              <a:rect l="l" t="t" r="r" b="b"/>
              <a:pathLst>
                <a:path w="11125200" h="9525">
                  <a:moveTo>
                    <a:pt x="0" y="0"/>
                  </a:moveTo>
                  <a:lnTo>
                    <a:pt x="11125200" y="0"/>
                  </a:lnTo>
                </a:path>
              </a:pathLst>
            </a:custGeom>
            <a:noFill/>
            <a:ln w="19050">
              <a:solidFill>
                <a:srgbClr val="0B1E3C"/>
              </a:solidFill>
            </a:ln>
          </p:spPr>
        </p:sp>
        <p:sp>
          <p:nvSpPr>
            <p:cNvPr id="42" name="TextBox 42"/>
            <p:cNvSpPr txBox="1"/>
            <p:nvPr/>
          </p:nvSpPr>
          <p:spPr>
            <a:xfrm>
              <a:off x="526161" y="5803900"/>
              <a:ext cx="1332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적재·전력 예산</a:t>
              </a:r>
            </a:p>
          </p:txBody>
        </p:sp>
        <p:sp>
          <p:nvSpPr>
            <p:cNvPr id="43" name="TextBox 43"/>
            <p:cNvSpPr txBox="1"/>
            <p:nvPr/>
          </p:nvSpPr>
          <p:spPr>
            <a:xfrm>
              <a:off x="528066" y="6083300"/>
              <a:ext cx="138177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[가설] 실증으로 확인</a:t>
              </a:r>
            </a:p>
          </p:txBody>
        </p:sp>
        <p:sp>
          <p:nvSpPr>
            <p:cNvPr id="44" name="TextBox 44"/>
            <p:cNvSpPr txBox="1"/>
            <p:nvPr/>
          </p:nvSpPr>
          <p:spPr>
            <a:xfrm>
              <a:off x="2848356" y="5784850"/>
              <a:ext cx="179991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300kg </a:t>
              </a:r>
              <a:r>
                <a:rPr lang="ko-KR" sz="1350" b="1" dirty="0">
                  <a:solidFill>
                    <a:srgbClr val="4B5563"/>
                  </a:solidFill>
                  <a:latin typeface="+mn-lt"/>
                  <a:ea typeface="+mn-ea"/>
                  <a:cs typeface="+mn-cs"/>
                </a:rPr>
                <a:t xml:space="preserve">/ </a:t>
              </a:r>
              <a:r>
                <a:rPr lang="en-US" sz="1350" b="1" dirty="0">
                  <a:solidFill>
                    <a:srgbClr val="4B5563"/>
                  </a:solidFill>
                  <a:latin typeface="+mn-lt"/>
                  <a:ea typeface="+mn-ea"/>
                  <a:cs typeface="+mn-cs"/>
                </a:rPr>
                <a:t>600kg</a:t>
              </a:r>
            </a:p>
          </p:txBody>
        </p:sp>
        <p:sp>
          <p:nvSpPr>
            <p:cNvPr id="45" name="TextBox 45"/>
            <p:cNvSpPr txBox="1"/>
            <p:nvPr/>
          </p:nvSpPr>
          <p:spPr>
            <a:xfrm>
              <a:off x="2852166" y="6083300"/>
              <a:ext cx="185529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합계 · 최대 적재의 절반</a:t>
              </a:r>
            </a:p>
          </p:txBody>
        </p:sp>
        <p:sp>
          <p:nvSpPr>
            <p:cNvPr id="46" name="TextBox 46"/>
            <p:cNvSpPr txBox="1"/>
            <p:nvPr/>
          </p:nvSpPr>
          <p:spPr>
            <a:xfrm>
              <a:off x="5801106" y="5784850"/>
              <a:ext cx="1935053"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1.5kW </a:t>
              </a:r>
              <a:r>
                <a:rPr lang="en-US" sz="1350" b="1" dirty="0">
                  <a:solidFill>
                    <a:srgbClr val="4B5563"/>
                  </a:solidFill>
                  <a:latin typeface="+mn-lt"/>
                  <a:ea typeface="+mn-ea"/>
                  <a:cs typeface="+mn-cs"/>
                </a:rPr>
                <a:t>/ 3.6kW</a:t>
              </a:r>
            </a:p>
          </p:txBody>
        </p:sp>
        <p:sp>
          <p:nvSpPr>
            <p:cNvPr id="47" name="TextBox 47"/>
            <p:cNvSpPr txBox="1"/>
            <p:nvPr/>
          </p:nvSpPr>
          <p:spPr>
            <a:xfrm>
              <a:off x="5804916" y="6083300"/>
              <a:ext cx="291903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소비전력 · V2L 최대 출력(해외 제원) 안</a:t>
              </a:r>
            </a:p>
          </p:txBody>
        </p:sp>
        <p:sp>
          <p:nvSpPr>
            <p:cNvPr id="48" name="TextBox 48"/>
            <p:cNvSpPr txBox="1"/>
            <p:nvPr/>
          </p:nvSpPr>
          <p:spPr>
            <a:xfrm>
              <a:off x="8753856" y="5784850"/>
              <a:ext cx="213355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10kWh </a:t>
              </a:r>
              <a:r>
                <a:rPr lang="en-US" sz="1350" b="1" dirty="0">
                  <a:solidFill>
                    <a:srgbClr val="4B5563"/>
                  </a:solidFill>
                  <a:latin typeface="+mn-lt"/>
                  <a:ea typeface="+mn-ea"/>
                  <a:cs typeface="+mn-cs"/>
                </a:rPr>
                <a:t>/ 71.2kWh</a:t>
              </a:r>
            </a:p>
          </p:txBody>
        </p:sp>
        <p:sp>
          <p:nvSpPr>
            <p:cNvPr id="49" name="TextBox 49"/>
            <p:cNvSpPr txBox="1"/>
            <p:nvPr/>
          </p:nvSpPr>
          <p:spPr>
            <a:xfrm>
              <a:off x="8757666" y="6083300"/>
              <a:ext cx="219454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하루 주행+장비 · 배터리의 약 14%</a:t>
              </a:r>
            </a:p>
          </p:txBody>
        </p:sp>
      </p:grpSp>
      <p:grpSp>
        <p:nvGrpSpPr>
          <p:cNvPr id="52" name="source"/>
          <p:cNvGrpSpPr/>
          <p:nvPr/>
        </p:nvGrpSpPr>
        <p:grpSpPr>
          <a:xfrm>
            <a:off x="528638" y="6318250"/>
            <a:ext cx="6336030" cy="319088"/>
            <a:chOff x="528638" y="6318250"/>
            <a:chExt cx="6336030" cy="319088"/>
          </a:xfrm>
        </p:grpSpPr>
        <p:sp>
          <p:nvSpPr>
            <p:cNvPr id="51" name="TextBox 51"/>
            <p:cNvSpPr txBox="1"/>
            <p:nvPr/>
          </p:nvSpPr>
          <p:spPr>
            <a:xfrm>
              <a:off x="528638" y="6318250"/>
              <a:ext cx="6336030" cy="319088"/>
            </a:xfrm>
            <a:prstGeom prst="rect">
              <a:avLst/>
            </a:prstGeom>
            <a:noFill/>
            <a:ln>
              <a:noFill/>
            </a:ln>
          </p:spPr>
          <p:txBody>
            <a:bodyPr wrap="none" lIns="0" tIns="0" rIns="0" bIns="0" anchor="t" anchorCtr="0">
              <a:spAutoFit/>
            </a:bodyPr>
            <a:lstStyle/>
            <a:p>
              <a:pPr algn="l">
                <a:lnSpc>
                  <a:spcPts val="1125"/>
                </a:lnSpc>
              </a:pPr>
              <a:r>
                <a:rPr lang="ko-KR" sz="900" dirty="0">
                  <a:solidFill>
                    <a:srgbClr val="4B5563"/>
                  </a:solidFill>
                  <a:latin typeface="+mn-lt"/>
                  <a:ea typeface="+mn-ea"/>
                  <a:cs typeface="+mn-cs"/>
                </a:rPr>
                <a:t>가정: 하루 3시간·시속 10km 순찰(30km) · 장비 1.5kW 이하 · 수동 GPR 카트 약 27~34kg(GSSI UtilityScan Pro, 60~75lb)</a:t>
              </a:r>
              <a:br>
                <a:rPr lang="ko-KR" sz="900" dirty="0">
                  <a:solidFill>
                    <a:srgbClr val="4B5563"/>
                  </a:solidFill>
                  <a:latin typeface="+mn-lt"/>
                  <a:ea typeface="+mn-ea"/>
                  <a:cs typeface="+mn-cs"/>
                </a:rPr>
              </a:br>
              <a:r>
                <a:rPr lang="ko-KR" sz="900" dirty="0">
                  <a:solidFill>
                    <a:srgbClr val="4B5563"/>
                  </a:solidFill>
                  <a:latin typeface="+mn-lt"/>
                  <a:ea typeface="+mn-ea"/>
                  <a:cs typeface="+mn-cs"/>
                </a:rPr>
                <a:t>실증 필요: 총중량·축하중·전자파 간섭·구조변경 승인 · 출처: 기아 PV5 카고 제원 · 배치도는 PV5 기반 콘셉트 이미지</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6215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차량 앱과 AR 현장 재확인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676154" cy="557403"/>
            <a:chOff x="518922" y="800100"/>
            <a:chExt cx="9676154" cy="557403"/>
          </a:xfrm>
        </p:grpSpPr>
        <p:sp>
          <p:nvSpPr>
            <p:cNvPr id="9" name="TextBox 9"/>
            <p:cNvSpPr txBox="1"/>
            <p:nvPr/>
          </p:nvSpPr>
          <p:spPr>
            <a:xfrm>
              <a:off x="518922" y="800100"/>
              <a:ext cx="967615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차량에서 만든 재확인 업무가 작업자 시야까지 이어집니다</a:t>
              </a:r>
            </a:p>
          </p:txBody>
        </p:sp>
      </p:grpSp>
      <p:grpSp>
        <p:nvGrpSpPr>
          <p:cNvPr id="37" name="system-chain"/>
          <p:cNvGrpSpPr/>
          <p:nvPr/>
        </p:nvGrpSpPr>
        <p:grpSpPr>
          <a:xfrm>
            <a:off x="533400" y="1428750"/>
            <a:ext cx="11125200" cy="839343"/>
            <a:chOff x="533400" y="1428750"/>
            <a:chExt cx="11125200" cy="839343"/>
          </a:xfrm>
        </p:grpSpPr>
        <p:grpSp>
          <p:nvGrpSpPr>
            <p:cNvPr id="31" name="Group 31"/>
            <p:cNvGrpSpPr/>
            <p:nvPr/>
          </p:nvGrpSpPr>
          <p:grpSpPr>
            <a:xfrm>
              <a:off x="533400" y="1428750"/>
              <a:ext cx="11125200" cy="839343"/>
              <a:chOff x="533400" y="1428750"/>
              <a:chExt cx="11125200" cy="839343"/>
            </a:xfrm>
          </p:grpSpPr>
          <p:sp>
            <p:nvSpPr>
              <p:cNvPr id="11" name="Rectangle 11"/>
              <p:cNvSpPr/>
              <p:nvPr/>
            </p:nvSpPr>
            <p:spPr>
              <a:xfrm>
                <a:off x="533400" y="1428750"/>
                <a:ext cx="1905000" cy="552450"/>
              </a:xfrm>
              <a:prstGeom prst="roundRect">
                <a:avLst>
                  <a:gd name="adj" fmla="val 13793"/>
                </a:avLst>
              </a:prstGeom>
              <a:solidFill>
                <a:srgbClr val="0B1E3C"/>
              </a:solidFill>
              <a:ln>
                <a:noFill/>
              </a:ln>
            </p:spPr>
          </p:sp>
          <p:sp>
            <p:nvSpPr>
              <p:cNvPr id="12" name="TextBox 12"/>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13" name="TextBox 13"/>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14" name="Rectangle 14"/>
              <p:cNvSpPr/>
              <p:nvPr/>
            </p:nvSpPr>
            <p:spPr>
              <a:xfrm>
                <a:off x="2838450" y="1428750"/>
                <a:ext cx="1905000" cy="552450"/>
              </a:xfrm>
              <a:prstGeom prst="roundRect">
                <a:avLst>
                  <a:gd name="adj" fmla="val 13793"/>
                </a:avLst>
              </a:prstGeom>
              <a:solidFill>
                <a:srgbClr val="0B1E3C"/>
              </a:solidFill>
              <a:ln>
                <a:noFill/>
              </a:ln>
            </p:spPr>
          </p:sp>
          <p:sp>
            <p:nvSpPr>
              <p:cNvPr id="15" name="TextBox 15"/>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16" name="TextBox 16"/>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17" name="Rectangle 17"/>
              <p:cNvSpPr/>
              <p:nvPr/>
            </p:nvSpPr>
            <p:spPr>
              <a:xfrm>
                <a:off x="5143500" y="1428750"/>
                <a:ext cx="1905000" cy="552450"/>
              </a:xfrm>
              <a:prstGeom prst="roundRect">
                <a:avLst>
                  <a:gd name="adj" fmla="val 13793"/>
                </a:avLst>
              </a:prstGeom>
              <a:solidFill>
                <a:srgbClr val="0B1E3C"/>
              </a:solidFill>
              <a:ln>
                <a:noFill/>
              </a:ln>
            </p:spPr>
          </p:sp>
          <p:sp>
            <p:nvSpPr>
              <p:cNvPr id="18" name="TextBox 18"/>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19" name="TextBox 19"/>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0" name="Rectangle 20"/>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1" name="TextBox 21"/>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22" name="TextBox 22"/>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23" name="Rectangle 23"/>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24" name="TextBox 24"/>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25" name="TextBox 25"/>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nvGrpSpPr>
              <p:cNvPr id="30" name="Group 30"/>
              <p:cNvGrpSpPr/>
              <p:nvPr/>
            </p:nvGrpSpPr>
            <p:grpSpPr>
              <a:xfrm>
                <a:off x="2349828" y="2076450"/>
                <a:ext cx="7492345" cy="191643"/>
                <a:chOff x="2349828" y="2076450"/>
                <a:chExt cx="7492345" cy="191643"/>
              </a:xfrm>
            </p:grpSpPr>
            <p:sp>
              <p:nvSpPr>
                <p:cNvPr id="26" name="TextBox 26"/>
                <p:cNvSpPr txBox="1"/>
                <p:nvPr/>
              </p:nvSpPr>
              <p:spPr>
                <a:xfrm>
                  <a:off x="234982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통신</a:t>
                  </a:r>
                </a:p>
              </p:txBody>
            </p:sp>
            <p:sp>
              <p:nvSpPr>
                <p:cNvPr id="27" name="TextBox 27"/>
                <p:cNvSpPr txBox="1"/>
                <p:nvPr/>
              </p:nvSpPr>
              <p:spPr>
                <a:xfrm>
                  <a:off x="4688108" y="2076450"/>
                  <a:ext cx="510733"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로컬 API</a:t>
                  </a:r>
                </a:p>
              </p:txBody>
            </p:sp>
            <p:sp>
              <p:nvSpPr>
                <p:cNvPr id="28" name="TextBox 28"/>
                <p:cNvSpPr txBox="1"/>
                <p:nvPr/>
              </p:nvSpPr>
              <p:spPr>
                <a:xfrm>
                  <a:off x="6925110" y="2076450"/>
                  <a:ext cx="646830"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Wi-Fi</a:t>
                  </a:r>
                </a:p>
              </p:txBody>
            </p:sp>
            <p:sp>
              <p:nvSpPr>
                <p:cNvPr id="29" name="TextBox 29"/>
                <p:cNvSpPr txBox="1"/>
                <p:nvPr/>
              </p:nvSpPr>
              <p:spPr>
                <a:xfrm>
                  <a:off x="926497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작업 안내</a:t>
                  </a:r>
                </a:p>
              </p:txBody>
            </p:sp>
          </p:grpSp>
        </p:grpSp>
        <p:grpSp>
          <p:nvGrpSpPr>
            <p:cNvPr id="36" name="Group 36"/>
            <p:cNvGrpSpPr/>
            <p:nvPr/>
          </p:nvGrpSpPr>
          <p:grpSpPr>
            <a:xfrm>
              <a:off x="2466975" y="1704975"/>
              <a:ext cx="7258050" cy="1"/>
              <a:chOff x="2466975" y="1704975"/>
              <a:chExt cx="7258050" cy="1"/>
            </a:xfrm>
          </p:grpSpPr>
          <p:sp>
            <p:nvSpPr>
              <p:cNvPr id="32" name="Line 32"/>
              <p:cNvSpPr/>
              <p:nvPr/>
            </p:nvSpPr>
            <p:spPr>
              <a:xfrm>
                <a:off x="2466975" y="1704975"/>
                <a:ext cx="342900" cy="1"/>
              </a:xfrm>
              <a:prstGeom prst="line">
                <a:avLst/>
              </a:prstGeom>
              <a:noFill/>
              <a:ln w="19050">
                <a:solidFill>
                  <a:srgbClr val="0B1E3C"/>
                </a:solidFill>
                <a:headEnd type="triangle" w="lg" len="lg"/>
                <a:tailEnd type="triangle" w="lg" len="lg"/>
              </a:ln>
            </p:spPr>
          </p:sp>
          <p:sp>
            <p:nvSpPr>
              <p:cNvPr id="33" name="Line 33"/>
              <p:cNvSpPr/>
              <p:nvPr/>
            </p:nvSpPr>
            <p:spPr>
              <a:xfrm>
                <a:off x="4772025" y="1704975"/>
                <a:ext cx="342900" cy="1"/>
              </a:xfrm>
              <a:prstGeom prst="line">
                <a:avLst/>
              </a:prstGeom>
              <a:noFill/>
              <a:ln w="19050">
                <a:solidFill>
                  <a:srgbClr val="0B1E3C"/>
                </a:solidFill>
                <a:headEnd type="triangle" w="lg" len="lg"/>
                <a:tailEnd type="triangle" w="lg" len="lg"/>
              </a:ln>
            </p:spPr>
          </p:sp>
          <p:sp>
            <p:nvSpPr>
              <p:cNvPr id="34" name="Line 34"/>
              <p:cNvSpPr/>
              <p:nvPr/>
            </p:nvSpPr>
            <p:spPr>
              <a:xfrm>
                <a:off x="7077075" y="1704975"/>
                <a:ext cx="342900" cy="1"/>
              </a:xfrm>
              <a:prstGeom prst="line">
                <a:avLst/>
              </a:prstGeom>
              <a:noFill/>
              <a:ln w="19050">
                <a:solidFill>
                  <a:srgbClr val="0B1E3C"/>
                </a:solidFill>
                <a:headEnd type="triangle" w="lg" len="lg"/>
                <a:tailEnd type="triangle" w="lg" len="lg"/>
              </a:ln>
            </p:spPr>
          </p:sp>
          <p:sp>
            <p:nvSpPr>
              <p:cNvPr id="35" name="Line 35"/>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3" name="cabin-panel"/>
          <p:cNvGrpSpPr/>
          <p:nvPr/>
        </p:nvGrpSpPr>
        <p:grpSpPr>
          <a:xfrm>
            <a:off x="526542" y="2381250"/>
            <a:ext cx="5302758" cy="3739896"/>
            <a:chOff x="526542" y="2381250"/>
            <a:chExt cx="5302758" cy="3739896"/>
          </a:xfrm>
        </p:grpSpPr>
        <p:pic>
          <p:nvPicPr>
            <p:cNvPr id="38" name="Image 38"/>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9" name="Rectangle 39"/>
            <p:cNvSpPr/>
            <p:nvPr/>
          </p:nvSpPr>
          <p:spPr>
            <a:xfrm>
              <a:off x="628650" y="2476500"/>
              <a:ext cx="1314450" cy="228600"/>
            </a:xfrm>
            <a:prstGeom prst="roundRect">
              <a:avLst>
                <a:gd name="adj" fmla="val 12500"/>
              </a:avLst>
            </a:prstGeom>
            <a:solidFill>
              <a:srgbClr val="0B1E3C"/>
            </a:solidFill>
            <a:ln>
              <a:noFill/>
            </a:ln>
          </p:spPr>
        </p:sp>
        <p:sp>
          <p:nvSpPr>
            <p:cNvPr id="40" name="TextBox 40"/>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1" name="TextBox 41"/>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2" name="TextBox 42"/>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4" name="ar-panel"/>
          <p:cNvGrpSpPr/>
          <p:nvPr/>
        </p:nvGrpSpPr>
        <p:grpSpPr>
          <a:xfrm>
            <a:off x="6089142" y="2381250"/>
            <a:ext cx="5569458" cy="3739896"/>
            <a:chOff x="6089142" y="2381250"/>
            <a:chExt cx="5569458" cy="3739896"/>
          </a:xfrm>
        </p:grpSpPr>
        <p:pic>
          <p:nvPicPr>
            <p:cNvPr id="44" name="Image 44"/>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5" name="Polygon 45"/>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9" name="Group 49"/>
            <p:cNvGrpSpPr/>
            <p:nvPr/>
          </p:nvGrpSpPr>
          <p:grpSpPr>
            <a:xfrm>
              <a:off x="8229600" y="4343400"/>
              <a:ext cx="1628775" cy="352425"/>
              <a:chOff x="8229600" y="4343400"/>
              <a:chExt cx="1628775" cy="352425"/>
            </a:xfrm>
          </p:grpSpPr>
          <p:sp>
            <p:nvSpPr>
              <p:cNvPr id="46" name="Line 46"/>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7" name="Line 47"/>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8" name="Line 48"/>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0" name="Ellipse 50"/>
            <p:cNvSpPr/>
            <p:nvPr/>
          </p:nvSpPr>
          <p:spPr>
            <a:xfrm>
              <a:off x="7943850" y="4933950"/>
              <a:ext cx="1866900" cy="628650"/>
            </a:xfrm>
            <a:prstGeom prst="ellipse">
              <a:avLst/>
            </a:prstGeom>
            <a:noFill/>
            <a:ln w="23812">
              <a:solidFill>
                <a:srgbClr val="FFFFFF"/>
              </a:solidFill>
            </a:ln>
          </p:spPr>
        </p:sp>
        <p:sp>
          <p:nvSpPr>
            <p:cNvPr id="51" name="Rectangle 51"/>
            <p:cNvSpPr/>
            <p:nvPr/>
          </p:nvSpPr>
          <p:spPr>
            <a:xfrm>
              <a:off x="9906000" y="5086350"/>
              <a:ext cx="1066800" cy="209550"/>
            </a:xfrm>
            <a:prstGeom prst="roundRect">
              <a:avLst>
                <a:gd name="adj" fmla="val 13636"/>
              </a:avLst>
            </a:prstGeom>
            <a:solidFill>
              <a:srgbClr val="0B1E3C">
                <a:alpha val="85000"/>
              </a:srgbClr>
            </a:solidFill>
            <a:ln>
              <a:noFill/>
            </a:ln>
          </p:spPr>
        </p:sp>
        <p:sp>
          <p:nvSpPr>
            <p:cNvPr id="52" name="TextBox 52"/>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3" name="Ellipse 53"/>
            <p:cNvSpPr/>
            <p:nvPr/>
          </p:nvSpPr>
          <p:spPr>
            <a:xfrm>
              <a:off x="7267575" y="4705350"/>
              <a:ext cx="133350" cy="133350"/>
            </a:xfrm>
            <a:prstGeom prst="ellipse">
              <a:avLst/>
            </a:prstGeom>
            <a:noFill/>
            <a:ln w="23812">
              <a:solidFill>
                <a:srgbClr val="FFFFFF"/>
              </a:solidFill>
            </a:ln>
          </p:spPr>
        </p:sp>
        <p:sp>
          <p:nvSpPr>
            <p:cNvPr id="54" name="Rectangle 54"/>
            <p:cNvSpPr/>
            <p:nvPr/>
          </p:nvSpPr>
          <p:spPr>
            <a:xfrm>
              <a:off x="6286500" y="4362450"/>
              <a:ext cx="1181100" cy="209550"/>
            </a:xfrm>
            <a:prstGeom prst="roundRect">
              <a:avLst>
                <a:gd name="adj" fmla="val 13636"/>
              </a:avLst>
            </a:prstGeom>
            <a:solidFill>
              <a:srgbClr val="0B1E3C">
                <a:alpha val="85000"/>
              </a:srgbClr>
            </a:solidFill>
            <a:ln>
              <a:noFill/>
            </a:ln>
          </p:spPr>
        </p:sp>
        <p:sp>
          <p:nvSpPr>
            <p:cNvPr id="55" name="TextBox 55"/>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6" name="Rectangle 56"/>
            <p:cNvSpPr/>
            <p:nvPr/>
          </p:nvSpPr>
          <p:spPr>
            <a:xfrm>
              <a:off x="6096000" y="2381250"/>
              <a:ext cx="5562600" cy="228600"/>
            </a:xfrm>
            <a:prstGeom prst="rect">
              <a:avLst/>
            </a:prstGeom>
            <a:solidFill>
              <a:srgbClr val="C62828">
                <a:alpha val="92000"/>
              </a:srgbClr>
            </a:solidFill>
            <a:ln>
              <a:noFill/>
            </a:ln>
          </p:spPr>
        </p:sp>
        <p:sp>
          <p:nvSpPr>
            <p:cNvPr id="57" name="TextBox 57"/>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8" name="Rectangle 58"/>
            <p:cNvSpPr/>
            <p:nvPr/>
          </p:nvSpPr>
          <p:spPr>
            <a:xfrm>
              <a:off x="6248400" y="2724150"/>
              <a:ext cx="2571750" cy="685800"/>
            </a:xfrm>
            <a:prstGeom prst="roundRect">
              <a:avLst>
                <a:gd name="adj" fmla="val 8333"/>
              </a:avLst>
            </a:prstGeom>
            <a:solidFill>
              <a:srgbClr val="0B1E3C">
                <a:alpha val="85000"/>
              </a:srgbClr>
            </a:solidFill>
            <a:ln>
              <a:noFill/>
            </a:ln>
          </p:spPr>
        </p:sp>
        <p:sp>
          <p:nvSpPr>
            <p:cNvPr id="59" name="TextBox 59"/>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0" name="TextBox 60"/>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1" name="TextBox 61"/>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2" name="TextBox 62"/>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3" name="TextBox 63"/>
            <p:cNvSpPr txBox="1"/>
            <p:nvPr/>
          </p:nvSpPr>
          <p:spPr>
            <a:xfrm>
              <a:off x="6089904" y="5886450"/>
              <a:ext cx="505099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맨홀·차선·경계석·RTK 중 2~3개로 위치를 맞추고 재탐사 범위만 표시</a:t>
              </a:r>
            </a:p>
          </p:txBody>
        </p:sp>
      </p:grpSp>
      <p:grpSp>
        <p:nvGrpSpPr>
          <p:cNvPr id="67" name="source"/>
          <p:cNvGrpSpPr/>
          <p:nvPr/>
        </p:nvGrpSpPr>
        <p:grpSpPr>
          <a:xfrm>
            <a:off x="528447" y="6210300"/>
            <a:ext cx="10716876" cy="366712"/>
            <a:chOff x="528447" y="6210300"/>
            <a:chExt cx="10716876" cy="366712"/>
          </a:xfrm>
        </p:grpSpPr>
        <p:sp>
          <p:nvSpPr>
            <p:cNvPr id="65" name="TextBox 65"/>
            <p:cNvSpPr txBox="1"/>
            <p:nvPr/>
          </p:nvSpPr>
          <p:spPr>
            <a:xfrm>
              <a:off x="528447" y="6210300"/>
              <a:ext cx="10716876" cy="191643"/>
            </a:xfrm>
            <a:prstGeom prst="rect">
              <a:avLst/>
            </a:prstGeom>
            <a:noFill/>
            <a:ln>
              <a:noFill/>
            </a:ln>
          </p:spPr>
          <p:txBody>
            <a:bodyPr wrap="none" lIns="0" tIns="0" rIns="0" bIns="0" anchor="t" anchorCtr="0">
              <a:spAutoFit/>
            </a:bodyPr>
            <a:lstStyle/>
            <a:p>
              <a:pPr algn="l"/>
              <a:r>
                <a:rPr lang="ko-KR" sz="980" b="1" dirty="0">
                  <a:solidFill>
                    <a:srgbClr val="0B1E3C"/>
                  </a:solidFill>
                  <a:latin typeface="+mn-lt"/>
                  <a:ea typeface="+mn-ea"/>
                  <a:cs typeface="+mn-cs"/>
                </a:rPr>
                <a:t>운용 원칙</a:t>
              </a:r>
              <a:r>
                <a:rPr lang="ko-KR" sz="980" dirty="0">
                  <a:solidFill>
                    <a:srgbClr val="111827"/>
                  </a:solidFill>
                  <a:latin typeface="+mn-lt"/>
                  <a:ea typeface="+mn-ea"/>
                  <a:cs typeface="+mn-cs"/>
                </a:rPr>
                <a:t xml:space="preserve"> 2인 1조(운전·안전통제 / 탐사·판독) · 운전자는 주행 중 AR을 쓰지 않음 · AR은 공동 모양이 아니라 재탐사 범위만 안내 · 화면 미러링이 아닌 보안 Wi-Fi 작업 데이터 연동</a:t>
              </a:r>
            </a:p>
          </p:txBody>
        </p:sp>
        <p:sp>
          <p:nvSpPr>
            <p:cNvPr id="66" name="TextBox 66"/>
            <p:cNvSpPr txBox="1"/>
            <p:nvPr/>
          </p:nvSpPr>
          <p:spPr>
            <a:xfrm>
              <a:off x="528638" y="6400800"/>
              <a:ext cx="975111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앱 배포·차량 데이터 접근은 기아 PBV 파트너 승인·공식 API 범위 확인 필요 · 도로 장면은 연출 이미지 · 화면 수치는 예시 · 실내 사진: Alexander Migl, CC BY-SA 4.0(화면 합성)</a:t>
              </a:r>
            </a:p>
          </p:txBody>
        </p:sp>
      </p:grpSp>
      <p:grpSp>
        <p:nvGrpSpPr>
          <p:cNvPr id="70" name="footer"/>
          <p:cNvGrpSpPr/>
          <p:nvPr/>
        </p:nvGrpSpPr>
        <p:grpSpPr>
          <a:xfrm>
            <a:off x="528638" y="6629400"/>
            <a:ext cx="11134724" cy="176212"/>
            <a:chOff x="528638" y="6629400"/>
            <a:chExt cx="11134724" cy="176212"/>
          </a:xfrm>
        </p:grpSpPr>
        <p:sp>
          <p:nvSpPr>
            <p:cNvPr id="68" name="TextBox 68"/>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9" name="TextBox 69"/>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96277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 · 전기 상용차 비교</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829981" cy="557403"/>
            <a:chOff x="518922" y="781050"/>
            <a:chExt cx="9829981" cy="557403"/>
          </a:xfrm>
        </p:grpSpPr>
        <p:sp>
          <p:nvSpPr>
            <p:cNvPr id="9" name="TextBox 9"/>
            <p:cNvSpPr txBox="1"/>
            <p:nvPr/>
          </p:nvSpPr>
          <p:spPr>
            <a:xfrm>
              <a:off x="518922" y="781050"/>
              <a:ext cx="982998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같은 조건의 전기 밴 중에서 PV5가 탐사실로 가장 맞습니다</a:t>
              </a:r>
            </a:p>
          </p:txBody>
        </p:sp>
      </p:grpSp>
      <p:grpSp>
        <p:nvGrpSpPr>
          <p:cNvPr id="12" name="lead"/>
          <p:cNvGrpSpPr/>
          <p:nvPr/>
        </p:nvGrpSpPr>
        <p:grpSpPr>
          <a:xfrm>
            <a:off x="526542" y="1339850"/>
            <a:ext cx="9482214" cy="264033"/>
            <a:chOff x="526542" y="1339850"/>
            <a:chExt cx="9482214" cy="264033"/>
          </a:xfrm>
        </p:grpSpPr>
        <p:sp>
          <p:nvSpPr>
            <p:cNvPr id="11" name="TextBox 11"/>
            <p:cNvSpPr txBox="1"/>
            <p:nvPr/>
          </p:nvSpPr>
          <p:spPr>
            <a:xfrm>
              <a:off x="526542" y="1339850"/>
              <a:ext cx="948221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공공기관은 새 차를 전기·수소차로 사야 합니다. 그래서 비교 대상은 전기 상용차이고, 공식 수치로만 비교했습니다.</a:t>
              </a:r>
            </a:p>
          </p:txBody>
        </p:sp>
      </p:grpSp>
      <p:grpSp>
        <p:nvGrpSpPr>
          <p:cNvPr id="21" name="common"/>
          <p:cNvGrpSpPr/>
          <p:nvPr/>
        </p:nvGrpSpPr>
        <p:grpSpPr>
          <a:xfrm>
            <a:off x="533400" y="1733550"/>
            <a:ext cx="3276600" cy="3143250"/>
            <a:chOff x="533400" y="1733550"/>
            <a:chExt cx="3276600" cy="3143250"/>
          </a:xfrm>
        </p:grpSpPr>
        <p:sp>
          <p:nvSpPr>
            <p:cNvPr id="13" name="Rectangle 13"/>
            <p:cNvSpPr/>
            <p:nvPr/>
          </p:nvSpPr>
          <p:spPr>
            <a:xfrm>
              <a:off x="533400" y="1733550"/>
              <a:ext cx="3276600" cy="3143250"/>
            </a:xfrm>
            <a:prstGeom prst="rect">
              <a:avLst/>
            </a:prstGeom>
            <a:solidFill>
              <a:srgbClr val="F3F5F8"/>
            </a:solidFill>
            <a:ln>
              <a:noFill/>
            </a:ln>
          </p:spPr>
        </p:sp>
        <p:sp>
          <p:nvSpPr>
            <p:cNvPr id="14" name="TextBox 14"/>
            <p:cNvSpPr txBox="1"/>
            <p:nvPr/>
          </p:nvSpPr>
          <p:spPr>
            <a:xfrm>
              <a:off x="718185" y="1879600"/>
              <a:ext cx="216147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전기 밴이면 모두 충족하는 조건</a:t>
              </a:r>
            </a:p>
          </p:txBody>
        </p:sp>
        <p:sp>
          <p:nvSpPr>
            <p:cNvPr id="15" name="TextBox 15"/>
            <p:cNvSpPr txBox="1"/>
            <p:nvPr/>
          </p:nvSpPr>
          <p:spPr>
            <a:xfrm>
              <a:off x="716280" y="2203450"/>
              <a:ext cx="216175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공공 무공해차 의무구매</a:t>
              </a:r>
            </a:p>
          </p:txBody>
        </p:sp>
        <p:sp>
          <p:nvSpPr>
            <p:cNvPr id="16" name="TextBox 16"/>
            <p:cNvSpPr txBox="1"/>
            <p:nvPr/>
          </p:nvSpPr>
          <p:spPr>
            <a:xfrm>
              <a:off x="718185" y="2476500"/>
              <a:ext cx="2116582"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신규 구매·임차 차량 100%를</a:t>
              </a:r>
              <a:br>
                <a:rPr lang="ko-KR" sz="1120" dirty="0">
                  <a:solidFill>
                    <a:srgbClr val="111827"/>
                  </a:solidFill>
                  <a:latin typeface="+mn-lt"/>
                  <a:ea typeface="+mn-ea"/>
                  <a:cs typeface="+mn-cs"/>
                </a:rPr>
              </a:br>
              <a:r>
                <a:rPr lang="ko-KR" sz="1120" dirty="0">
                  <a:solidFill>
                    <a:srgbClr val="111827"/>
                  </a:solidFill>
                  <a:latin typeface="+mn-lt"/>
                  <a:ea typeface="+mn-ea"/>
                  <a:cs typeface="+mn-cs"/>
                </a:rPr>
                <a:t>전기·수소차로 (승합·화물 포함,</a:t>
              </a:r>
              <a:br>
                <a:rPr lang="ko-KR" sz="1120" dirty="0">
                  <a:solidFill>
                    <a:srgbClr val="111827"/>
                  </a:solidFill>
                  <a:latin typeface="+mn-lt"/>
                  <a:ea typeface="+mn-ea"/>
                  <a:cs typeface="+mn-cs"/>
                </a:rPr>
              </a:br>
              <a:r>
                <a:rPr lang="ko-KR" sz="1120" dirty="0">
                  <a:solidFill>
                    <a:srgbClr val="111827"/>
                  </a:solidFill>
                  <a:latin typeface="+mn-lt"/>
                  <a:ea typeface="+mn-ea"/>
                  <a:cs typeface="+mn-cs"/>
                </a:rPr>
                <a:t>특수·긴급차 등만 예외)</a:t>
              </a:r>
            </a:p>
          </p:txBody>
        </p:sp>
        <p:sp>
          <p:nvSpPr>
            <p:cNvPr id="17" name="Line 17"/>
            <p:cNvSpPr/>
            <p:nvPr/>
          </p:nvSpPr>
          <p:spPr>
            <a:xfrm>
              <a:off x="723900" y="3333750"/>
              <a:ext cx="2895600" cy="9525"/>
            </a:xfrm>
            <a:custGeom>
              <a:avLst/>
              <a:gdLst/>
              <a:ahLst/>
              <a:cxnLst/>
              <a:rect l="l" t="t" r="r" b="b"/>
              <a:pathLst>
                <a:path w="2895600" h="9525">
                  <a:moveTo>
                    <a:pt x="0" y="0"/>
                  </a:moveTo>
                  <a:lnTo>
                    <a:pt x="2895600" y="0"/>
                  </a:lnTo>
                </a:path>
              </a:pathLst>
            </a:custGeom>
            <a:noFill/>
            <a:ln w="9525">
              <a:solidFill>
                <a:srgbClr val="D5DAE1"/>
              </a:solidFill>
            </a:ln>
          </p:spPr>
        </p:sp>
        <p:sp>
          <p:nvSpPr>
            <p:cNvPr id="18" name="TextBox 18"/>
            <p:cNvSpPr txBox="1"/>
            <p:nvPr/>
          </p:nvSpPr>
          <p:spPr>
            <a:xfrm>
              <a:off x="716280" y="3479800"/>
              <a:ext cx="22889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새벽 정차 중 공회전 없음</a:t>
              </a:r>
            </a:p>
          </p:txBody>
        </p:sp>
        <p:sp>
          <p:nvSpPr>
            <p:cNvPr id="19" name="TextBox 19"/>
            <p:cNvSpPr txBox="1"/>
            <p:nvPr/>
          </p:nvSpPr>
          <p:spPr>
            <a:xfrm>
              <a:off x="718185" y="3752850"/>
              <a:ext cx="2337054"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서울 공회전 제한장소 2,772곳,</a:t>
              </a:r>
              <a:br>
                <a:rPr lang="ko-KR" sz="1120" dirty="0">
                  <a:solidFill>
                    <a:srgbClr val="111827"/>
                  </a:solidFill>
                  <a:latin typeface="+mn-lt"/>
                  <a:ea typeface="+mn-ea"/>
                  <a:cs typeface="+mn-cs"/>
                </a:rPr>
              </a:br>
              <a:r>
                <a:rPr lang="ko-KR" sz="1120" dirty="0">
                  <a:solidFill>
                    <a:srgbClr val="111827"/>
                  </a:solidFill>
                  <a:latin typeface="+mn-lt"/>
                  <a:ea typeface="+mn-ea"/>
                  <a:cs typeface="+mn-cs"/>
                </a:rPr>
                <a:t>5~25℃에서 2분 넘으면 과태료 5만 원</a:t>
              </a:r>
              <a:br>
                <a:rPr lang="ko-KR" sz="1120" dirty="0">
                  <a:solidFill>
                    <a:srgbClr val="111827"/>
                  </a:solidFill>
                  <a:latin typeface="+mn-lt"/>
                  <a:ea typeface="+mn-ea"/>
                  <a:cs typeface="+mn-cs"/>
                </a:rPr>
              </a:br>
              <a:r>
                <a:rPr lang="ko-KR" sz="1120" dirty="0">
                  <a:solidFill>
                    <a:srgbClr val="111827"/>
                  </a:solidFill>
                  <a:latin typeface="+mn-lt"/>
                  <a:ea typeface="+mn-ea"/>
                  <a:cs typeface="+mn-cs"/>
                </a:rPr>
                <a:t>→ 시동 없이 장비를 켜 둘 수 있음</a:t>
              </a:r>
            </a:p>
          </p:txBody>
        </p:sp>
        <p:sp>
          <p:nvSpPr>
            <p:cNvPr id="20" name="TextBox 20"/>
            <p:cNvSpPr txBox="1"/>
            <p:nvPr/>
          </p:nvSpPr>
          <p:spPr>
            <a:xfrm>
              <a:off x="718566" y="4597400"/>
              <a:ext cx="2381911"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PV5만의 장점으로 내세우지 않습니다</a:t>
              </a:r>
            </a:p>
          </p:txBody>
        </p:sp>
      </p:grpSp>
      <p:grpSp>
        <p:nvGrpSpPr>
          <p:cNvPr id="53" name="compare"/>
          <p:cNvGrpSpPr/>
          <p:nvPr/>
        </p:nvGrpSpPr>
        <p:grpSpPr>
          <a:xfrm>
            <a:off x="4032885" y="1733550"/>
            <a:ext cx="7625715" cy="3143250"/>
            <a:chOff x="4032885" y="1733550"/>
            <a:chExt cx="7625715" cy="3143250"/>
          </a:xfrm>
        </p:grpSpPr>
        <p:sp>
          <p:nvSpPr>
            <p:cNvPr id="22" name="Rectangle 22"/>
            <p:cNvSpPr/>
            <p:nvPr/>
          </p:nvSpPr>
          <p:spPr>
            <a:xfrm>
              <a:off x="5486400" y="1733550"/>
              <a:ext cx="1543050" cy="3143250"/>
            </a:xfrm>
            <a:prstGeom prst="rect">
              <a:avLst/>
            </a:prstGeom>
            <a:solidFill>
              <a:srgbClr val="FFF6D6"/>
            </a:solidFill>
            <a:ln>
              <a:noFill/>
            </a:ln>
          </p:spPr>
        </p:sp>
        <p:sp>
          <p:nvSpPr>
            <p:cNvPr id="23" name="Rectangle 23"/>
            <p:cNvSpPr/>
            <p:nvPr/>
          </p:nvSpPr>
          <p:spPr>
            <a:xfrm>
              <a:off x="5486400" y="1733550"/>
              <a:ext cx="1543050" cy="38100"/>
            </a:xfrm>
            <a:prstGeom prst="rect">
              <a:avLst/>
            </a:prstGeom>
            <a:solidFill>
              <a:srgbClr val="F5B700"/>
            </a:solidFill>
            <a:ln>
              <a:noFill/>
            </a:ln>
          </p:spPr>
        </p:sp>
        <p:grpSp>
          <p:nvGrpSpPr>
            <p:cNvPr id="32" name="Group 32"/>
            <p:cNvGrpSpPr/>
            <p:nvPr/>
          </p:nvGrpSpPr>
          <p:grpSpPr>
            <a:xfrm>
              <a:off x="5614035" y="1879600"/>
              <a:ext cx="5589184" cy="407543"/>
              <a:chOff x="5614035" y="1879600"/>
              <a:chExt cx="5589184" cy="407543"/>
            </a:xfrm>
          </p:grpSpPr>
          <p:sp>
            <p:nvSpPr>
              <p:cNvPr id="24" name="TextBox 24"/>
              <p:cNvSpPr txBox="1"/>
              <p:nvPr/>
            </p:nvSpPr>
            <p:spPr>
              <a:xfrm>
                <a:off x="5614035" y="1879600"/>
                <a:ext cx="639164"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PV5 카고</a:t>
                </a:r>
              </a:p>
            </p:txBody>
          </p:sp>
          <p:sp>
            <p:nvSpPr>
              <p:cNvPr id="25" name="TextBox 25"/>
              <p:cNvSpPr txBox="1"/>
              <p:nvPr/>
            </p:nvSpPr>
            <p:spPr>
              <a:xfrm>
                <a:off x="5614797" y="2095500"/>
                <a:ext cx="821261"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롱 · 롱레인지</a:t>
                </a:r>
              </a:p>
            </p:txBody>
          </p:sp>
          <p:sp>
            <p:nvSpPr>
              <p:cNvPr id="26" name="TextBox 26"/>
              <p:cNvSpPr txBox="1"/>
              <p:nvPr/>
            </p:nvSpPr>
            <p:spPr>
              <a:xfrm>
                <a:off x="7157085" y="1879600"/>
                <a:ext cx="12651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스타리아 일렉트릭</a:t>
                </a:r>
              </a:p>
            </p:txBody>
          </p:sp>
          <p:sp>
            <p:nvSpPr>
              <p:cNvPr id="27" name="TextBox 27"/>
              <p:cNvSpPr txBox="1"/>
              <p:nvPr/>
            </p:nvSpPr>
            <p:spPr>
              <a:xfrm>
                <a:off x="7157847" y="2095500"/>
                <a:ext cx="649755"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카고 3인승</a:t>
                </a:r>
              </a:p>
            </p:txBody>
          </p:sp>
          <p:sp>
            <p:nvSpPr>
              <p:cNvPr id="28" name="TextBox 28"/>
              <p:cNvSpPr txBox="1"/>
              <p:nvPr/>
            </p:nvSpPr>
            <p:spPr>
              <a:xfrm>
                <a:off x="8681085" y="1879600"/>
                <a:ext cx="287432" cy="220028"/>
              </a:xfrm>
              <a:prstGeom prst="rect">
                <a:avLst/>
              </a:prstGeom>
              <a:noFill/>
              <a:ln>
                <a:noFill/>
              </a:ln>
            </p:spPr>
            <p:txBody>
              <a:bodyPr wrap="none" lIns="0" tIns="0" rIns="0" bIns="0" anchor="t" anchorCtr="0">
                <a:spAutoFit/>
              </a:bodyPr>
              <a:lstStyle/>
              <a:p>
                <a:pPr algn="l"/>
                <a:r>
                  <a:rPr lang="en-US" sz="1120" b="1" dirty="0">
                    <a:solidFill>
                      <a:srgbClr val="374151"/>
                    </a:solidFill>
                    <a:latin typeface="+mn-lt"/>
                    <a:ea typeface="+mn-ea"/>
                    <a:cs typeface="+mn-cs"/>
                  </a:rPr>
                  <a:t>ST1</a:t>
                </a:r>
              </a:p>
            </p:txBody>
          </p:sp>
          <p:sp>
            <p:nvSpPr>
              <p:cNvPr id="29" name="TextBox 29"/>
              <p:cNvSpPr txBox="1"/>
              <p:nvPr/>
            </p:nvSpPr>
            <p:spPr>
              <a:xfrm>
                <a:off x="8681847" y="2095500"/>
                <a:ext cx="70912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카고 스타일</a:t>
                </a:r>
              </a:p>
            </p:txBody>
          </p:sp>
          <p:sp>
            <p:nvSpPr>
              <p:cNvPr id="30" name="TextBox 30"/>
              <p:cNvSpPr txBox="1"/>
              <p:nvPr/>
            </p:nvSpPr>
            <p:spPr>
              <a:xfrm>
                <a:off x="10205085" y="1879600"/>
                <a:ext cx="957440"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포터II·봉고III</a:t>
                </a:r>
              </a:p>
            </p:txBody>
          </p:sp>
          <p:sp>
            <p:nvSpPr>
              <p:cNvPr id="31" name="TextBox 31"/>
              <p:cNvSpPr txBox="1"/>
              <p:nvPr/>
            </p:nvSpPr>
            <p:spPr>
              <a:xfrm>
                <a:off x="10205847" y="2095500"/>
                <a:ext cx="99737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EV (2025년형~)</a:t>
                </a:r>
              </a:p>
            </p:txBody>
          </p:sp>
        </p:grpSp>
        <p:sp>
          <p:nvSpPr>
            <p:cNvPr id="33" name="Line 33"/>
            <p:cNvSpPr/>
            <p:nvPr/>
          </p:nvSpPr>
          <p:spPr>
            <a:xfrm>
              <a:off x="4038600" y="2343150"/>
              <a:ext cx="7620000" cy="9525"/>
            </a:xfrm>
            <a:custGeom>
              <a:avLst/>
              <a:gdLst/>
              <a:ahLst/>
              <a:cxnLst/>
              <a:rect l="l" t="t" r="r" b="b"/>
              <a:pathLst>
                <a:path w="7620000" h="9525">
                  <a:moveTo>
                    <a:pt x="0" y="0"/>
                  </a:moveTo>
                  <a:lnTo>
                    <a:pt x="7620000" y="0"/>
                  </a:lnTo>
                </a:path>
              </a:pathLst>
            </a:custGeom>
            <a:noFill/>
            <a:ln w="14288">
              <a:solidFill>
                <a:srgbClr val="0B1E3C"/>
              </a:solidFill>
            </a:ln>
          </p:spPr>
        </p:sp>
        <p:grpSp>
          <p:nvGrpSpPr>
            <p:cNvPr id="37" name="Group 37"/>
            <p:cNvGrpSpPr/>
            <p:nvPr/>
          </p:nvGrpSpPr>
          <p:grpSpPr>
            <a:xfrm>
              <a:off x="4032885" y="2679700"/>
              <a:ext cx="662022" cy="1744028"/>
              <a:chOff x="4032885" y="2679700"/>
              <a:chExt cx="662022" cy="1744028"/>
            </a:xfrm>
          </p:grpSpPr>
          <p:sp>
            <p:nvSpPr>
              <p:cNvPr id="34" name="TextBox 34"/>
              <p:cNvSpPr txBox="1"/>
              <p:nvPr/>
            </p:nvSpPr>
            <p:spPr>
              <a:xfrm>
                <a:off x="4032885" y="26797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5" name="TextBox 35"/>
              <p:cNvSpPr txBox="1"/>
              <p:nvPr/>
            </p:nvSpPr>
            <p:spPr>
              <a:xfrm>
                <a:off x="4032885" y="34607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sp>
            <p:nvSpPr>
              <p:cNvPr id="36" name="TextBox 36"/>
              <p:cNvSpPr txBox="1"/>
              <p:nvPr/>
            </p:nvSpPr>
            <p:spPr>
              <a:xfrm>
                <a:off x="4032885" y="42037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적재 공간</a:t>
                </a:r>
              </a:p>
            </p:txBody>
          </p:sp>
        </p:grpSp>
        <p:grpSp>
          <p:nvGrpSpPr>
            <p:cNvPr id="52" name="Group 52"/>
            <p:cNvGrpSpPr/>
            <p:nvPr/>
          </p:nvGrpSpPr>
          <p:grpSpPr>
            <a:xfrm>
              <a:off x="4038600" y="2622550"/>
              <a:ext cx="7620000" cy="2149221"/>
              <a:chOff x="4038600" y="2622550"/>
              <a:chExt cx="7620000" cy="2149221"/>
            </a:xfrm>
          </p:grpSpPr>
          <p:sp>
            <p:nvSpPr>
              <p:cNvPr id="38" name="TextBox 38"/>
              <p:cNvSpPr txBox="1"/>
              <p:nvPr/>
            </p:nvSpPr>
            <p:spPr>
              <a:xfrm>
                <a:off x="5610606" y="26225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39" name="TextBox 39"/>
              <p:cNvSpPr txBox="1"/>
              <p:nvPr/>
            </p:nvSpPr>
            <p:spPr>
              <a:xfrm>
                <a:off x="7154799" y="26479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0" name="TextBox 40"/>
              <p:cNvSpPr txBox="1"/>
              <p:nvPr/>
            </p:nvSpPr>
            <p:spPr>
              <a:xfrm>
                <a:off x="8678799" y="26479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1" name="TextBox 41"/>
              <p:cNvSpPr txBox="1"/>
              <p:nvPr/>
            </p:nvSpPr>
            <p:spPr>
              <a:xfrm>
                <a:off x="10205085" y="2698750"/>
                <a:ext cx="65976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비교 제외</a:t>
                </a:r>
              </a:p>
            </p:txBody>
          </p:sp>
          <p:sp>
            <p:nvSpPr>
              <p:cNvPr id="42" name="Line 42"/>
              <p:cNvSpPr/>
              <p:nvPr/>
            </p:nvSpPr>
            <p:spPr>
              <a:xfrm>
                <a:off x="4038600" y="3162300"/>
                <a:ext cx="7620000" cy="9525"/>
              </a:xfrm>
              <a:custGeom>
                <a:avLst/>
                <a:gdLst/>
                <a:ahLst/>
                <a:cxnLst/>
                <a:rect l="l" t="t" r="r" b="b"/>
                <a:pathLst>
                  <a:path w="7620000" h="9525">
                    <a:moveTo>
                      <a:pt x="0" y="0"/>
                    </a:moveTo>
                    <a:lnTo>
                      <a:pt x="7620000" y="0"/>
                    </a:lnTo>
                  </a:path>
                </a:pathLst>
              </a:custGeom>
              <a:noFill/>
              <a:ln w="9525">
                <a:solidFill>
                  <a:srgbClr val="E2E6EC"/>
                </a:solidFill>
              </a:ln>
            </p:spPr>
          </p:sp>
          <p:sp>
            <p:nvSpPr>
              <p:cNvPr id="43" name="TextBox 43"/>
              <p:cNvSpPr txBox="1"/>
              <p:nvPr/>
            </p:nvSpPr>
            <p:spPr>
              <a:xfrm>
                <a:off x="5610606" y="340360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4" name="TextBox 44"/>
              <p:cNvSpPr txBox="1"/>
              <p:nvPr/>
            </p:nvSpPr>
            <p:spPr>
              <a:xfrm>
                <a:off x="7154799" y="3429000"/>
                <a:ext cx="674839" cy="308991"/>
              </a:xfrm>
              <a:prstGeom prst="rect">
                <a:avLst/>
              </a:prstGeom>
              <a:noFill/>
              <a:ln>
                <a:noFill/>
              </a:ln>
            </p:spPr>
            <p:txBody>
              <a:bodyPr wrap="none" lIns="0" tIns="0" rIns="0" bIns="0" anchor="t" anchorCtr="0">
                <a:spAutoFit/>
              </a:bodyPr>
              <a:lstStyle/>
              <a:p>
                <a:pPr algn="l"/>
                <a:r>
                  <a:rPr lang="en-US" sz="1580" b="1" dirty="0">
                    <a:solidFill>
                      <a:srgbClr val="C62828"/>
                    </a:solidFill>
                    <a:latin typeface="+mn-lt"/>
                    <a:ea typeface="+mn-ea"/>
                    <a:cs typeface="+mn-cs"/>
                  </a:rPr>
                  <a:t>387km</a:t>
                </a:r>
              </a:p>
            </p:txBody>
          </p:sp>
          <p:sp>
            <p:nvSpPr>
              <p:cNvPr id="45" name="TextBox 45"/>
              <p:cNvSpPr txBox="1"/>
              <p:nvPr/>
            </p:nvSpPr>
            <p:spPr>
              <a:xfrm>
                <a:off x="8678799" y="342900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46" name="TextBox 46"/>
              <p:cNvSpPr txBox="1"/>
              <p:nvPr/>
            </p:nvSpPr>
            <p:spPr>
              <a:xfrm>
                <a:off x="10202799" y="342900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sp>
            <p:nvSpPr>
              <p:cNvPr id="47" name="Line 47"/>
              <p:cNvSpPr/>
              <p:nvPr/>
            </p:nvSpPr>
            <p:spPr>
              <a:xfrm>
                <a:off x="4038600" y="3943350"/>
                <a:ext cx="7620000" cy="9525"/>
              </a:xfrm>
              <a:custGeom>
                <a:avLst/>
                <a:gdLst/>
                <a:ahLst/>
                <a:cxnLst/>
                <a:rect l="l" t="t" r="r" b="b"/>
                <a:pathLst>
                  <a:path w="7620000" h="9525">
                    <a:moveTo>
                      <a:pt x="0" y="0"/>
                    </a:moveTo>
                    <a:lnTo>
                      <a:pt x="7620000" y="0"/>
                    </a:lnTo>
                  </a:path>
                </a:pathLst>
              </a:custGeom>
              <a:noFill/>
              <a:ln w="9525">
                <a:solidFill>
                  <a:srgbClr val="E2E6EC"/>
                </a:solidFill>
              </a:ln>
            </p:spPr>
          </p:sp>
          <p:sp>
            <p:nvSpPr>
              <p:cNvPr id="48" name="TextBox 48"/>
              <p:cNvSpPr txBox="1"/>
              <p:nvPr/>
            </p:nvSpPr>
            <p:spPr>
              <a:xfrm>
                <a:off x="5613654" y="4146550"/>
                <a:ext cx="1398270" cy="625221"/>
              </a:xfrm>
              <a:prstGeom prst="rect">
                <a:avLst/>
              </a:prstGeom>
              <a:noFill/>
              <a:ln>
                <a:noFill/>
              </a:ln>
            </p:spPr>
            <p:txBody>
              <a:bodyPr wrap="none" lIns="0" tIns="0" rIns="0" bIns="0" anchor="t" anchorCtr="0">
                <a:spAutoFit/>
              </a:bodyPr>
              <a:lstStyle/>
              <a:p>
                <a:pPr algn="l">
                  <a:lnSpc>
                    <a:spcPts val="1500"/>
                  </a:lnSpc>
                </a:pPr>
                <a:r>
                  <a:rPr lang="ko-KR" sz="1200" b="1" dirty="0">
                    <a:solidFill>
                      <a:srgbClr val="0B1E3C"/>
                    </a:solidFill>
                    <a:latin typeface="+mn-lt"/>
                    <a:ea typeface="+mn-ea"/>
                    <a:cs typeface="+mn-cs"/>
                  </a:rPr>
                  <a:t>밀폐 카고룸 4,420L</a:t>
                </a:r>
              </a:p>
              <a:p>
                <a:pPr algn="l">
                  <a:lnSpc>
                    <a:spcPts val="1500"/>
                  </a:lnSpc>
                  <a:spcBef>
                    <a:spcPts val="75"/>
                  </a:spcBef>
                </a:pPr>
                <a:r>
                  <a:rPr lang="ko-KR" sz="1050" dirty="0">
                    <a:solidFill>
                      <a:srgbClr val="374151"/>
                    </a:solidFill>
                    <a:latin typeface="+mn-lt"/>
                    <a:ea typeface="+mn-ea"/>
                    <a:cs typeface="+mn-cs"/>
                  </a:rPr>
                  <a:t>적재고 419mm</a:t>
                </a:r>
                <a:br>
                  <a:rPr lang="ko-KR" sz="1050" dirty="0">
                    <a:solidFill>
                      <a:srgbClr val="374151"/>
                    </a:solidFill>
                    <a:latin typeface="+mn-lt"/>
                    <a:ea typeface="+mn-ea"/>
                    <a:cs typeface="+mn-cs"/>
                  </a:rPr>
                </a:br>
                <a:r>
                  <a:rPr lang="ko-KR" sz="1050" dirty="0">
                    <a:solidFill>
                      <a:srgbClr val="374151"/>
                    </a:solidFill>
                    <a:latin typeface="+mn-lt"/>
                    <a:ea typeface="+mn-ea"/>
                    <a:cs typeface="+mn-cs"/>
                  </a:rPr>
                  <a:t>V2L·L-Track 장착</a:t>
                </a:r>
              </a:p>
            </p:txBody>
          </p:sp>
          <p:sp>
            <p:nvSpPr>
              <p:cNvPr id="49" name="TextBox 49"/>
              <p:cNvSpPr txBox="1"/>
              <p:nvPr/>
            </p:nvSpPr>
            <p:spPr>
              <a:xfrm>
                <a:off x="7156704" y="4191000"/>
                <a:ext cx="70683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밀폐 카고</a:t>
                </a:r>
              </a:p>
            </p:txBody>
          </p:sp>
          <p:sp>
            <p:nvSpPr>
              <p:cNvPr id="50" name="TextBox 50"/>
              <p:cNvSpPr txBox="1"/>
              <p:nvPr/>
            </p:nvSpPr>
            <p:spPr>
              <a:xfrm>
                <a:off x="8680704" y="4191000"/>
                <a:ext cx="107838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밀폐 카고 박스</a:t>
                </a:r>
              </a:p>
            </p:txBody>
          </p:sp>
          <p:sp>
            <p:nvSpPr>
              <p:cNvPr id="51" name="TextBox 51"/>
              <p:cNvSpPr txBox="1"/>
              <p:nvPr/>
            </p:nvSpPr>
            <p:spPr>
              <a:xfrm>
                <a:off x="10204704" y="41338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개방형 적재함</a:t>
                </a:r>
              </a:p>
              <a:p>
                <a:pPr algn="l">
                  <a:lnSpc>
                    <a:spcPts val="1575"/>
                  </a:lnSpc>
                </a:pPr>
                <a:r>
                  <a:rPr lang="ko-KR" sz="1050" dirty="0">
                    <a:solidFill>
                      <a:srgbClr val="374151"/>
                    </a:solidFill>
                    <a:latin typeface="+mn-lt"/>
                    <a:ea typeface="+mn-ea"/>
                    <a:cs typeface="+mn-cs"/>
                  </a:rPr>
                  <a:t>탑 개조 필요</a:t>
                </a:r>
              </a:p>
            </p:txBody>
          </p:sp>
        </p:grpSp>
      </p:grpSp>
      <p:grpSp>
        <p:nvGrpSpPr>
          <p:cNvPr id="57" name="drawbacks"/>
          <p:cNvGrpSpPr/>
          <p:nvPr/>
        </p:nvGrpSpPr>
        <p:grpSpPr>
          <a:xfrm>
            <a:off x="527304" y="5086350"/>
            <a:ext cx="8685581" cy="463296"/>
            <a:chOff x="527304" y="5086350"/>
            <a:chExt cx="8685581" cy="463296"/>
          </a:xfrm>
        </p:grpSpPr>
        <p:sp>
          <p:nvSpPr>
            <p:cNvPr id="54" name="TextBox 54"/>
            <p:cNvSpPr txBox="1"/>
            <p:nvPr/>
          </p:nvSpPr>
          <p:spPr>
            <a:xfrm>
              <a:off x="527304" y="5086350"/>
              <a:ext cx="1217402"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PV5가 불리한 점</a:t>
              </a:r>
            </a:p>
          </p:txBody>
        </p:sp>
        <p:sp>
          <p:nvSpPr>
            <p:cNvPr id="55" name="TextBox 55"/>
            <p:cNvSpPr txBox="1"/>
            <p:nvPr/>
          </p:nvSpPr>
          <p:spPr>
            <a:xfrm>
              <a:off x="1898904" y="5086350"/>
              <a:ext cx="731398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주행거리는 스타리아보다 10km 짧고, 전폭 1,895mm는 포터·봉고(1,740mm)보다 155mm 넓습니다.</a:t>
              </a:r>
            </a:p>
          </p:txBody>
        </p:sp>
        <p:sp>
          <p:nvSpPr>
            <p:cNvPr id="56" name="TextBox 56"/>
            <p:cNvSpPr txBox="1"/>
            <p:nvPr/>
          </p:nvSpPr>
          <p:spPr>
            <a:xfrm>
              <a:off x="1898904" y="5314950"/>
              <a:ext cx="728974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 하루 순찰 약 30km·장비 약 300kg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이면 377km·최대 적재 600kg 안에서 충분히 운용됩니다.</a:t>
              </a:r>
            </a:p>
          </p:txBody>
        </p:sp>
      </p:grpSp>
      <p:grpSp>
        <p:nvGrpSpPr>
          <p:cNvPr id="60" name="conclusion"/>
          <p:cNvGrpSpPr/>
          <p:nvPr/>
        </p:nvGrpSpPr>
        <p:grpSpPr>
          <a:xfrm>
            <a:off x="533400" y="5676900"/>
            <a:ext cx="11125200" cy="495300"/>
            <a:chOff x="533400" y="5676900"/>
            <a:chExt cx="11125200" cy="495300"/>
          </a:xfrm>
        </p:grpSpPr>
        <p:sp>
          <p:nvSpPr>
            <p:cNvPr id="58" name="Rectangle 58"/>
            <p:cNvSpPr/>
            <p:nvPr/>
          </p:nvSpPr>
          <p:spPr>
            <a:xfrm>
              <a:off x="533400" y="5676900"/>
              <a:ext cx="11125200" cy="495300"/>
            </a:xfrm>
            <a:prstGeom prst="rect">
              <a:avLst/>
            </a:prstGeom>
            <a:solidFill>
              <a:srgbClr val="0B1E3C"/>
            </a:solidFill>
            <a:ln>
              <a:noFill/>
            </a:ln>
          </p:spPr>
        </p:sp>
        <p:sp>
          <p:nvSpPr>
            <p:cNvPr id="59" name="TextBox 59"/>
            <p:cNvSpPr txBox="1"/>
            <p:nvPr/>
          </p:nvSpPr>
          <p:spPr>
            <a:xfrm>
              <a:off x="754380" y="5813425"/>
              <a:ext cx="858918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조건은 같고, </a:t>
              </a:r>
              <a:r>
                <a:rPr lang="ko-KR" sz="1500" b="1" dirty="0">
                  <a:solidFill>
                    <a:srgbClr val="F5B700"/>
                  </a:solidFill>
                  <a:latin typeface="+mn-lt"/>
                  <a:ea typeface="+mn-ea"/>
                  <a:cs typeface="+mn-cs"/>
                </a:rPr>
                <a:t>도입비는 가장 낮으며</a:t>
              </a:r>
              <a:r>
                <a:rPr lang="ko-KR" sz="1500" b="1" dirty="0">
                  <a:solidFill>
                    <a:srgbClr val="FFFFFF"/>
                  </a:solidFill>
                  <a:latin typeface="+mn-lt"/>
                  <a:ea typeface="+mn-ea"/>
                  <a:cs typeface="+mn-cs"/>
                </a:rPr>
                <a:t xml:space="preserve">, 탐사실에 필요한 전원·고정 구조를 </a:t>
              </a:r>
              <a:r>
                <a:rPr lang="ko-KR" sz="1500" b="1" dirty="0">
                  <a:solidFill>
                    <a:srgbClr val="F5B700"/>
                  </a:solidFill>
                  <a:latin typeface="+mn-lt"/>
                  <a:ea typeface="+mn-ea"/>
                  <a:cs typeface="+mn-cs"/>
                </a:rPr>
                <a:t>순정으로</a:t>
              </a:r>
              <a:r>
                <a:rPr lang="ko-KR" sz="1500" b="1" dirty="0">
                  <a:solidFill>
                    <a:srgbClr val="FFFFFF"/>
                  </a:solidFill>
                  <a:latin typeface="+mn-lt"/>
                  <a:ea typeface="+mn-ea"/>
                  <a:cs typeface="+mn-cs"/>
                </a:rPr>
                <a:t xml:space="preserve"> 제공합니다.</a:t>
              </a:r>
            </a:p>
          </p:txBody>
        </p:sp>
      </p:grpSp>
      <p:grpSp>
        <p:nvGrpSpPr>
          <p:cNvPr id="62" name="source"/>
          <p:cNvGrpSpPr/>
          <p:nvPr/>
        </p:nvGrpSpPr>
        <p:grpSpPr>
          <a:xfrm>
            <a:off x="528638" y="6248400"/>
            <a:ext cx="10587990" cy="328612"/>
            <a:chOff x="528638" y="6248400"/>
            <a:chExt cx="10587990" cy="328612"/>
          </a:xfrm>
        </p:grpSpPr>
        <p:sp>
          <p:nvSpPr>
            <p:cNvPr id="61" name="TextBox 61"/>
            <p:cNvSpPr txBox="1"/>
            <p:nvPr/>
          </p:nvSpPr>
          <p:spPr>
            <a:xfrm>
              <a:off x="528638" y="6248400"/>
              <a:ext cx="1058799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 기준)·제원 · 현대차 스타리아 일렉트릭 출시(2026.4.23) · 2026 ST1 출시(2025.7.16)·현대차그룹 뉴스룸(317km) · 현대차·기아 포터II·봉고III EV 2025년형 발표</a:t>
              </a:r>
              <a:br>
                <a:rPr lang="ko-KR" sz="900" dirty="0">
                  <a:solidFill>
                    <a:srgbClr val="4B5563"/>
                  </a:solidFill>
                  <a:latin typeface="+mn-lt"/>
                  <a:ea typeface="+mn-ea"/>
                  <a:cs typeface="+mn-cs"/>
                </a:rPr>
              </a:br>
              <a:r>
                <a:rPr lang="ko-KR" sz="900" dirty="0">
                  <a:solidFill>
                    <a:srgbClr val="4B5563"/>
                  </a:solidFill>
                  <a:latin typeface="+mn-lt"/>
                  <a:ea typeface="+mn-ea"/>
                  <a:cs typeface="+mn-cs"/>
                </a:rPr>
                <a:t>산업통상부 공공부문 무공해차 의무구매(2026.6.30) · 서울시 자동차 공회전 제한(제한장소 2,772곳, 2020.12) · 가격은 표기한 트림 기준, 보조금 제외 · 포터·봉고는 적재함 개조가 필요해 가격 비교 제외</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검증</a:t>
              </a:r>
            </a:p>
          </p:txBody>
        </p:sp>
        <p:sp>
          <p:nvSpPr>
            <p:cNvPr id="6" name="TextBox 6"/>
            <p:cNvSpPr txBox="1"/>
            <p:nvPr/>
          </p:nvSpPr>
          <p:spPr>
            <a:xfrm>
              <a:off x="239496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검증 현황</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10373097" cy="557403"/>
            <a:chOff x="518922" y="781050"/>
            <a:chExt cx="10373097" cy="557403"/>
          </a:xfrm>
        </p:grpSpPr>
        <p:sp>
          <p:nvSpPr>
            <p:cNvPr id="9" name="TextBox 9"/>
            <p:cNvSpPr txBox="1"/>
            <p:nvPr/>
          </p:nvSpPr>
          <p:spPr>
            <a:xfrm>
              <a:off x="518922" y="781050"/>
              <a:ext cx="10373097"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상용 기술을 결합하고, 차량 통합 성능은 실증으로 확인합니다</a:t>
              </a:r>
            </a:p>
          </p:txBody>
        </p:sp>
      </p:grpSp>
      <p:grpSp>
        <p:nvGrpSpPr>
          <p:cNvPr id="12" name="lead"/>
          <p:cNvGrpSpPr/>
          <p:nvPr/>
        </p:nvGrpSpPr>
        <p:grpSpPr>
          <a:xfrm>
            <a:off x="526542" y="1339850"/>
            <a:ext cx="8528094" cy="264033"/>
            <a:chOff x="526542" y="1339850"/>
            <a:chExt cx="8528094" cy="264033"/>
          </a:xfrm>
        </p:grpSpPr>
        <p:sp>
          <p:nvSpPr>
            <p:cNvPr id="11" name="TextBox 11"/>
            <p:cNvSpPr txBox="1"/>
            <p:nvPr/>
          </p:nvSpPr>
          <p:spPr>
            <a:xfrm>
              <a:off x="526542" y="1339850"/>
              <a:ext cx="852809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기반 기술은 이미 있습니다. 한 차량 안에서 반복 가능한 정확도로 묶이는지, 네 가지를 먼저 실증합니다.</a:t>
              </a:r>
            </a:p>
          </p:txBody>
        </p:sp>
      </p:grpSp>
      <p:grpSp>
        <p:nvGrpSpPr>
          <p:cNvPr id="25" name="test-1"/>
          <p:cNvGrpSpPr/>
          <p:nvPr/>
        </p:nvGrpSpPr>
        <p:grpSpPr>
          <a:xfrm>
            <a:off x="524637" y="1714500"/>
            <a:ext cx="2618613" cy="3035046"/>
            <a:chOff x="524637" y="1714500"/>
            <a:chExt cx="2618613" cy="3035046"/>
          </a:xfrm>
        </p:grpSpPr>
        <p:pic>
          <p:nvPicPr>
            <p:cNvPr id="13" name="Image 13"/>
            <p:cNvPicPr>
              <a:picLocks noChangeAspect="1"/>
            </p:cNvPicPr>
            <p:nvPr/>
          </p:nvPicPr>
          <p:blipFill>
            <a:blip r:embed="rId2"/>
            <a:srcRect l="0" t="2920" r="0" b="2919"/>
            <a:stretch>
              <a:fillRect/>
            </a:stretch>
          </p:blipFill>
          <p:spPr>
            <a:xfrm>
              <a:off x="533400" y="1714500"/>
              <a:ext cx="2609850" cy="1638300"/>
            </a:xfrm>
            <a:prstGeom prst="rect">
              <a:avLst/>
            </a:prstGeom>
          </p:spPr>
        </p:pic>
        <p:sp>
          <p:nvSpPr>
            <p:cNvPr id="14" name="Rectangle 14"/>
            <p:cNvSpPr/>
            <p:nvPr/>
          </p:nvSpPr>
          <p:spPr>
            <a:xfrm>
              <a:off x="590550" y="1771650"/>
              <a:ext cx="971550" cy="209550"/>
            </a:xfrm>
            <a:prstGeom prst="roundRect">
              <a:avLst>
                <a:gd name="adj" fmla="val 13636"/>
              </a:avLst>
            </a:prstGeom>
            <a:solidFill>
              <a:srgbClr val="0B1E3C">
                <a:alpha val="88000"/>
              </a:srgbClr>
            </a:solidFill>
            <a:ln>
              <a:noFill/>
            </a:ln>
          </p:spPr>
        </p:sp>
        <p:sp>
          <p:nvSpPr>
            <p:cNvPr id="15" name="TextBox 15"/>
            <p:cNvSpPr txBox="1"/>
            <p:nvPr/>
          </p:nvSpPr>
          <p:spPr>
            <a:xfrm>
              <a:off x="566114" y="1809750"/>
              <a:ext cx="102042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EV 구동계 × GPR</a:t>
              </a:r>
            </a:p>
          </p:txBody>
        </p:sp>
        <p:sp>
          <p:nvSpPr>
            <p:cNvPr id="16" name="TextBox 16"/>
            <p:cNvSpPr txBox="1"/>
            <p:nvPr/>
          </p:nvSpPr>
          <p:spPr>
            <a:xfrm>
              <a:off x="52806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01</a:t>
              </a:r>
            </a:p>
          </p:txBody>
        </p:sp>
        <p:sp>
          <p:nvSpPr>
            <p:cNvPr id="17" name="TextBox 17"/>
            <p:cNvSpPr txBox="1"/>
            <p:nvPr/>
          </p:nvSpPr>
          <p:spPr>
            <a:xfrm>
              <a:off x="524637" y="368935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전자파 간섭</a:t>
              </a:r>
            </a:p>
          </p:txBody>
        </p:sp>
        <p:grpSp>
          <p:nvGrpSpPr>
            <p:cNvPr id="24" name="Group 24"/>
            <p:cNvGrpSpPr/>
            <p:nvPr/>
          </p:nvGrpSpPr>
          <p:grpSpPr>
            <a:xfrm>
              <a:off x="533400" y="4019550"/>
              <a:ext cx="2157374" cy="729996"/>
              <a:chOff x="533400" y="4019550"/>
              <a:chExt cx="2157374" cy="729996"/>
            </a:xfrm>
          </p:grpSpPr>
          <p:sp>
            <p:nvSpPr>
              <p:cNvPr id="18" name="Rectangle 18"/>
              <p:cNvSpPr/>
              <p:nvPr/>
            </p:nvSpPr>
            <p:spPr>
              <a:xfrm>
                <a:off x="533400" y="4095750"/>
                <a:ext cx="57150" cy="57150"/>
              </a:xfrm>
              <a:prstGeom prst="rect">
                <a:avLst/>
              </a:prstGeom>
              <a:solidFill>
                <a:srgbClr val="F5B700"/>
              </a:solidFill>
              <a:ln>
                <a:noFill/>
              </a:ln>
            </p:spPr>
          </p:sp>
          <p:sp>
            <p:nvSpPr>
              <p:cNvPr id="19" name="TextBox 19"/>
              <p:cNvSpPr txBox="1"/>
              <p:nvPr/>
            </p:nvSpPr>
            <p:spPr>
              <a:xfrm>
                <a:off x="660654" y="4019550"/>
                <a:ext cx="16808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EV 구동계·인버터 잡음</a:t>
                </a:r>
              </a:p>
            </p:txBody>
          </p:sp>
          <p:sp>
            <p:nvSpPr>
              <p:cNvPr id="20" name="Rectangle 20"/>
              <p:cNvSpPr/>
              <p:nvPr/>
            </p:nvSpPr>
            <p:spPr>
              <a:xfrm>
                <a:off x="533400" y="4343400"/>
                <a:ext cx="57150" cy="57150"/>
              </a:xfrm>
              <a:prstGeom prst="rect">
                <a:avLst/>
              </a:prstGeom>
              <a:solidFill>
                <a:srgbClr val="F5B700"/>
              </a:solidFill>
              <a:ln>
                <a:noFill/>
              </a:ln>
            </p:spPr>
          </p:sp>
          <p:sp>
            <p:nvSpPr>
              <p:cNvPr id="21" name="TextBox 21"/>
              <p:cNvSpPr txBox="1"/>
              <p:nvPr/>
            </p:nvSpPr>
            <p:spPr>
              <a:xfrm>
                <a:off x="660654" y="4267200"/>
                <a:ext cx="20301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주행·정차·V2L 상태별 비교</a:t>
                </a:r>
              </a:p>
            </p:txBody>
          </p:sp>
          <p:sp>
            <p:nvSpPr>
              <p:cNvPr id="22" name="Rectangle 22"/>
              <p:cNvSpPr/>
              <p:nvPr/>
            </p:nvSpPr>
            <p:spPr>
              <a:xfrm>
                <a:off x="533400" y="4591050"/>
                <a:ext cx="57150" cy="57150"/>
              </a:xfrm>
              <a:prstGeom prst="rect">
                <a:avLst/>
              </a:prstGeom>
              <a:solidFill>
                <a:srgbClr val="C62828"/>
              </a:solidFill>
              <a:ln>
                <a:noFill/>
              </a:ln>
            </p:spPr>
          </p:sp>
          <p:sp>
            <p:nvSpPr>
              <p:cNvPr id="23" name="TextBox 23"/>
              <p:cNvSpPr txBox="1"/>
              <p:nvPr/>
            </p:nvSpPr>
            <p:spPr>
              <a:xfrm>
                <a:off x="660654" y="4514850"/>
                <a:ext cx="1611478"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크면 차량형 측정 불가</a:t>
                </a:r>
              </a:p>
            </p:txBody>
          </p:sp>
        </p:grpSp>
      </p:grpSp>
      <p:grpSp>
        <p:nvGrpSpPr>
          <p:cNvPr id="38" name="test-2"/>
          <p:cNvGrpSpPr/>
          <p:nvPr/>
        </p:nvGrpSpPr>
        <p:grpSpPr>
          <a:xfrm>
            <a:off x="3363087" y="1714500"/>
            <a:ext cx="2618613" cy="3035046"/>
            <a:chOff x="3363087" y="1714500"/>
            <a:chExt cx="2618613" cy="3035046"/>
          </a:xfrm>
        </p:grpSpPr>
        <p:pic>
          <p:nvPicPr>
            <p:cNvPr id="26" name="Image 26"/>
            <p:cNvPicPr>
              <a:picLocks noChangeAspect="1"/>
            </p:cNvPicPr>
            <p:nvPr/>
          </p:nvPicPr>
          <p:blipFill>
            <a:blip r:embed="rId3"/>
            <a:srcRect l="0" t="58" r="0" b="59"/>
            <a:stretch>
              <a:fillRect/>
            </a:stretch>
          </p:blipFill>
          <p:spPr>
            <a:xfrm>
              <a:off x="3371850" y="1714500"/>
              <a:ext cx="2609850" cy="1638300"/>
            </a:xfrm>
            <a:prstGeom prst="rect">
              <a:avLst/>
            </a:prstGeom>
          </p:spPr>
        </p:pic>
        <p:sp>
          <p:nvSpPr>
            <p:cNvPr id="27" name="Rectangle 27"/>
            <p:cNvSpPr/>
            <p:nvPr/>
          </p:nvSpPr>
          <p:spPr>
            <a:xfrm>
              <a:off x="3429000" y="1771650"/>
              <a:ext cx="857250" cy="209550"/>
            </a:xfrm>
            <a:prstGeom prst="roundRect">
              <a:avLst>
                <a:gd name="adj" fmla="val 13636"/>
              </a:avLst>
            </a:prstGeom>
            <a:solidFill>
              <a:srgbClr val="0B1E3C">
                <a:alpha val="88000"/>
              </a:srgbClr>
            </a:solidFill>
            <a:ln>
              <a:noFill/>
            </a:ln>
          </p:spPr>
        </p:sp>
        <p:sp>
          <p:nvSpPr>
            <p:cNvPr id="28" name="TextBox 28"/>
            <p:cNvSpPr txBox="1"/>
            <p:nvPr/>
          </p:nvSpPr>
          <p:spPr>
            <a:xfrm>
              <a:off x="3415332" y="1809750"/>
              <a:ext cx="884586"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같은 경로 반복</a:t>
              </a:r>
            </a:p>
          </p:txBody>
        </p:sp>
        <p:sp>
          <p:nvSpPr>
            <p:cNvPr id="29" name="TextBox 29"/>
            <p:cNvSpPr txBox="1"/>
            <p:nvPr/>
          </p:nvSpPr>
          <p:spPr>
            <a:xfrm>
              <a:off x="336651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02</a:t>
              </a:r>
            </a:p>
          </p:txBody>
        </p:sp>
        <p:sp>
          <p:nvSpPr>
            <p:cNvPr id="30" name="TextBox 30"/>
            <p:cNvSpPr txBox="1"/>
            <p:nvPr/>
          </p:nvSpPr>
          <p:spPr>
            <a:xfrm>
              <a:off x="3363087" y="3689350"/>
              <a:ext cx="178422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회차별 위치 정합</a:t>
              </a:r>
            </a:p>
          </p:txBody>
        </p:sp>
        <p:grpSp>
          <p:nvGrpSpPr>
            <p:cNvPr id="37" name="Group 37"/>
            <p:cNvGrpSpPr/>
            <p:nvPr/>
          </p:nvGrpSpPr>
          <p:grpSpPr>
            <a:xfrm>
              <a:off x="3371850" y="4019550"/>
              <a:ext cx="1948739" cy="729996"/>
              <a:chOff x="3371850" y="4019550"/>
              <a:chExt cx="1948739" cy="729996"/>
            </a:xfrm>
          </p:grpSpPr>
          <p:sp>
            <p:nvSpPr>
              <p:cNvPr id="31" name="Rectangle 31"/>
              <p:cNvSpPr/>
              <p:nvPr/>
            </p:nvSpPr>
            <p:spPr>
              <a:xfrm>
                <a:off x="3371850" y="4095750"/>
                <a:ext cx="57150" cy="57150"/>
              </a:xfrm>
              <a:prstGeom prst="rect">
                <a:avLst/>
              </a:prstGeom>
              <a:solidFill>
                <a:srgbClr val="F5B700"/>
              </a:solidFill>
              <a:ln>
                <a:noFill/>
              </a:ln>
            </p:spPr>
          </p:sp>
          <p:sp>
            <p:nvSpPr>
              <p:cNvPr id="32" name="TextBox 32"/>
              <p:cNvSpPr txBox="1"/>
              <p:nvPr/>
            </p:nvSpPr>
            <p:spPr>
              <a:xfrm>
                <a:off x="3499104" y="4019550"/>
                <a:ext cx="182148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경로 반복 주행 오차</a:t>
                </a:r>
              </a:p>
            </p:txBody>
          </p:sp>
          <p:sp>
            <p:nvSpPr>
              <p:cNvPr id="33" name="Rectangle 33"/>
              <p:cNvSpPr/>
              <p:nvPr/>
            </p:nvSpPr>
            <p:spPr>
              <a:xfrm>
                <a:off x="3371850" y="4343400"/>
                <a:ext cx="57150" cy="57150"/>
              </a:xfrm>
              <a:prstGeom prst="rect">
                <a:avLst/>
              </a:prstGeom>
              <a:solidFill>
                <a:srgbClr val="F5B700"/>
              </a:solidFill>
              <a:ln>
                <a:noFill/>
              </a:ln>
            </p:spPr>
          </p:sp>
          <p:sp>
            <p:nvSpPr>
              <p:cNvPr id="34" name="TextBox 34"/>
              <p:cNvSpPr txBox="1"/>
              <p:nvPr/>
            </p:nvSpPr>
            <p:spPr>
              <a:xfrm>
                <a:off x="3499104" y="4267200"/>
                <a:ext cx="182087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RTK·IMU·휠 인코더 보정</a:t>
                </a:r>
              </a:p>
            </p:txBody>
          </p:sp>
          <p:sp>
            <p:nvSpPr>
              <p:cNvPr id="35" name="Rectangle 35"/>
              <p:cNvSpPr/>
              <p:nvPr/>
            </p:nvSpPr>
            <p:spPr>
              <a:xfrm>
                <a:off x="3371850" y="4591050"/>
                <a:ext cx="57150" cy="57150"/>
              </a:xfrm>
              <a:prstGeom prst="rect">
                <a:avLst/>
              </a:prstGeom>
              <a:solidFill>
                <a:srgbClr val="C62828"/>
              </a:solidFill>
              <a:ln>
                <a:noFill/>
              </a:ln>
            </p:spPr>
          </p:sp>
          <p:sp>
            <p:nvSpPr>
              <p:cNvPr id="36" name="TextBox 36"/>
              <p:cNvSpPr txBox="1"/>
              <p:nvPr/>
            </p:nvSpPr>
            <p:spPr>
              <a:xfrm>
                <a:off x="3499104" y="4514850"/>
                <a:ext cx="1773022"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어긋나면 변화 비교 불가</a:t>
                </a:r>
              </a:p>
            </p:txBody>
          </p:sp>
        </p:grpSp>
      </p:grpSp>
      <p:grpSp>
        <p:nvGrpSpPr>
          <p:cNvPr id="52" name="test-3"/>
          <p:cNvGrpSpPr/>
          <p:nvPr/>
        </p:nvGrpSpPr>
        <p:grpSpPr>
          <a:xfrm>
            <a:off x="6201537" y="1714500"/>
            <a:ext cx="2618613" cy="3035046"/>
            <a:chOff x="6201537" y="1714500"/>
            <a:chExt cx="2618613" cy="3035046"/>
          </a:xfrm>
        </p:grpSpPr>
        <p:sp>
          <p:nvSpPr>
            <p:cNvPr id="39" name="Rectangle 39"/>
            <p:cNvSpPr/>
            <p:nvPr/>
          </p:nvSpPr>
          <p:spPr>
            <a:xfrm>
              <a:off x="6210300" y="1714500"/>
              <a:ext cx="2609850" cy="1638300"/>
            </a:xfrm>
            <a:prstGeom prst="rect">
              <a:avLst/>
            </a:prstGeom>
            <a:solidFill>
              <a:srgbClr val="D9DCE0"/>
            </a:solidFill>
            <a:ln>
              <a:noFill/>
            </a:ln>
          </p:spPr>
        </p:sp>
        <p:pic>
          <p:nvPicPr>
            <p:cNvPr id="40" name="Image 40"/>
            <p:cNvPicPr>
              <a:picLocks noChangeAspect="1"/>
            </p:cNvPicPr>
            <p:nvPr/>
          </p:nvPicPr>
          <p:blipFill>
            <a:blip r:embed="rId4"/>
            <a:srcRect l="0" t="5377" r="0" b="5377"/>
            <a:stretch>
              <a:fillRect/>
            </a:stretch>
          </p:blipFill>
          <p:spPr>
            <a:xfrm>
              <a:off x="6210300" y="1714500"/>
              <a:ext cx="2609850" cy="1638300"/>
            </a:xfrm>
            <a:prstGeom prst="rect">
              <a:avLst/>
            </a:prstGeom>
          </p:spPr>
        </p:pic>
        <p:sp>
          <p:nvSpPr>
            <p:cNvPr id="41" name="Rectangle 41"/>
            <p:cNvSpPr/>
            <p:nvPr/>
          </p:nvSpPr>
          <p:spPr>
            <a:xfrm>
              <a:off x="6267450" y="1771650"/>
              <a:ext cx="1085850" cy="209550"/>
            </a:xfrm>
            <a:prstGeom prst="roundRect">
              <a:avLst>
                <a:gd name="adj" fmla="val 13636"/>
              </a:avLst>
            </a:prstGeom>
            <a:solidFill>
              <a:srgbClr val="0B1E3C">
                <a:alpha val="88000"/>
              </a:srgbClr>
            </a:solidFill>
            <a:ln>
              <a:noFill/>
            </a:ln>
          </p:spPr>
        </p:sp>
        <p:sp>
          <p:nvSpPr>
            <p:cNvPr id="42" name="TextBox 42"/>
            <p:cNvSpPr txBox="1"/>
            <p:nvPr/>
          </p:nvSpPr>
          <p:spPr>
            <a:xfrm>
              <a:off x="6219135" y="1809750"/>
              <a:ext cx="1182481"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AI가 고른 변화 후보</a:t>
              </a:r>
            </a:p>
          </p:txBody>
        </p:sp>
        <p:sp>
          <p:nvSpPr>
            <p:cNvPr id="43" name="TextBox 43"/>
            <p:cNvSpPr txBox="1"/>
            <p:nvPr/>
          </p:nvSpPr>
          <p:spPr>
            <a:xfrm>
              <a:off x="620496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03</a:t>
              </a:r>
            </a:p>
          </p:txBody>
        </p:sp>
        <p:sp>
          <p:nvSpPr>
            <p:cNvPr id="44" name="TextBox 44"/>
            <p:cNvSpPr txBox="1"/>
            <p:nvPr/>
          </p:nvSpPr>
          <p:spPr>
            <a:xfrm>
              <a:off x="6201537" y="3689350"/>
              <a:ext cx="183594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AI 탐지율·오탐률</a:t>
              </a:r>
            </a:p>
          </p:txBody>
        </p:sp>
        <p:grpSp>
          <p:nvGrpSpPr>
            <p:cNvPr id="51" name="Group 51"/>
            <p:cNvGrpSpPr/>
            <p:nvPr/>
          </p:nvGrpSpPr>
          <p:grpSpPr>
            <a:xfrm>
              <a:off x="6210300" y="4019550"/>
              <a:ext cx="1900276" cy="729996"/>
              <a:chOff x="6210300" y="4019550"/>
              <a:chExt cx="1900276" cy="729996"/>
            </a:xfrm>
          </p:grpSpPr>
          <p:sp>
            <p:nvSpPr>
              <p:cNvPr id="45" name="Rectangle 45"/>
              <p:cNvSpPr/>
              <p:nvPr/>
            </p:nvSpPr>
            <p:spPr>
              <a:xfrm>
                <a:off x="6210300" y="4095750"/>
                <a:ext cx="57150" cy="57150"/>
              </a:xfrm>
              <a:prstGeom prst="rect">
                <a:avLst/>
              </a:prstGeom>
              <a:solidFill>
                <a:srgbClr val="F5B700"/>
              </a:solidFill>
              <a:ln>
                <a:noFill/>
              </a:ln>
            </p:spPr>
          </p:sp>
          <p:sp>
            <p:nvSpPr>
              <p:cNvPr id="46" name="TextBox 46"/>
              <p:cNvSpPr txBox="1"/>
              <p:nvPr/>
            </p:nvSpPr>
            <p:spPr>
              <a:xfrm>
                <a:off x="6337554" y="4019550"/>
                <a:ext cx="177302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공동 모사체 구간 탐지율</a:t>
                </a:r>
              </a:p>
            </p:txBody>
          </p:sp>
          <p:sp>
            <p:nvSpPr>
              <p:cNvPr id="47" name="Rectangle 47"/>
              <p:cNvSpPr/>
              <p:nvPr/>
            </p:nvSpPr>
            <p:spPr>
              <a:xfrm>
                <a:off x="6210300" y="4343400"/>
                <a:ext cx="57150" cy="57150"/>
              </a:xfrm>
              <a:prstGeom prst="rect">
                <a:avLst/>
              </a:prstGeom>
              <a:solidFill>
                <a:srgbClr val="F5B700"/>
              </a:solidFill>
              <a:ln>
                <a:noFill/>
              </a:ln>
            </p:spPr>
          </p:sp>
          <p:sp>
            <p:nvSpPr>
              <p:cNvPr id="48" name="TextBox 48"/>
              <p:cNvSpPr txBox="1"/>
              <p:nvPr/>
            </p:nvSpPr>
            <p:spPr>
              <a:xfrm>
                <a:off x="6337554" y="4267200"/>
                <a:ext cx="14903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기존·신규 신호 구분</a:t>
                </a:r>
              </a:p>
            </p:txBody>
          </p:sp>
          <p:sp>
            <p:nvSpPr>
              <p:cNvPr id="49" name="Rectangle 49"/>
              <p:cNvSpPr/>
              <p:nvPr/>
            </p:nvSpPr>
            <p:spPr>
              <a:xfrm>
                <a:off x="6210300" y="4591050"/>
                <a:ext cx="57150" cy="57150"/>
              </a:xfrm>
              <a:prstGeom prst="rect">
                <a:avLst/>
              </a:prstGeom>
              <a:solidFill>
                <a:srgbClr val="C62828"/>
              </a:solidFill>
              <a:ln>
                <a:noFill/>
              </a:ln>
            </p:spPr>
          </p:sp>
          <p:sp>
            <p:nvSpPr>
              <p:cNvPr id="50" name="TextBox 50"/>
              <p:cNvSpPr txBox="1"/>
              <p:nvPr/>
            </p:nvSpPr>
            <p:spPr>
              <a:xfrm>
                <a:off x="6337554" y="4514850"/>
                <a:ext cx="1773022"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오탐 많으면 재확인 증가</a:t>
                </a:r>
              </a:p>
            </p:txBody>
          </p:sp>
        </p:grpSp>
      </p:grpSp>
      <p:grpSp>
        <p:nvGrpSpPr>
          <p:cNvPr id="70" name="test-4"/>
          <p:cNvGrpSpPr/>
          <p:nvPr/>
        </p:nvGrpSpPr>
        <p:grpSpPr>
          <a:xfrm>
            <a:off x="9039987" y="1714500"/>
            <a:ext cx="2618613" cy="3035046"/>
            <a:chOff x="9039987" y="1714500"/>
            <a:chExt cx="2618613" cy="3035046"/>
          </a:xfrm>
        </p:grpSpPr>
        <p:pic>
          <p:nvPicPr>
            <p:cNvPr id="53" name="Image 53"/>
            <p:cNvPicPr>
              <a:picLocks noChangeAspect="1"/>
            </p:cNvPicPr>
            <p:nvPr/>
          </p:nvPicPr>
          <p:blipFill>
            <a:blip r:embed="rId5"/>
            <a:srcRect l="0" t="2920" r="0" b="2919"/>
            <a:stretch>
              <a:fillRect/>
            </a:stretch>
          </p:blipFill>
          <p:spPr>
            <a:xfrm>
              <a:off x="9048750" y="1714500"/>
              <a:ext cx="2609850" cy="1638300"/>
            </a:xfrm>
            <a:prstGeom prst="rect">
              <a:avLst/>
            </a:prstGeom>
          </p:spPr>
        </p:pic>
        <p:sp>
          <p:nvSpPr>
            <p:cNvPr id="54" name="Ellipse 54"/>
            <p:cNvSpPr/>
            <p:nvPr/>
          </p:nvSpPr>
          <p:spPr>
            <a:xfrm>
              <a:off x="9410700" y="3028950"/>
              <a:ext cx="171450" cy="171450"/>
            </a:xfrm>
            <a:prstGeom prst="ellipse">
              <a:avLst/>
            </a:prstGeom>
            <a:noFill/>
            <a:ln w="23812">
              <a:solidFill>
                <a:srgbClr val="FFFFFF"/>
              </a:solidFill>
            </a:ln>
          </p:spPr>
        </p:sp>
        <p:sp>
          <p:nvSpPr>
            <p:cNvPr id="55" name="Ellipse 55"/>
            <p:cNvSpPr/>
            <p:nvPr/>
          </p:nvSpPr>
          <p:spPr>
            <a:xfrm>
              <a:off x="9906000" y="2771775"/>
              <a:ext cx="171450" cy="171450"/>
            </a:xfrm>
            <a:prstGeom prst="ellipse">
              <a:avLst/>
            </a:prstGeom>
            <a:noFill/>
            <a:ln w="23812">
              <a:solidFill>
                <a:srgbClr val="FFFFFF"/>
              </a:solidFill>
            </a:ln>
          </p:spPr>
        </p:sp>
        <p:sp>
          <p:nvSpPr>
            <p:cNvPr id="56" name="Line 56"/>
            <p:cNvSpPr/>
            <p:nvPr/>
          </p:nvSpPr>
          <p:spPr>
            <a:xfrm>
              <a:off x="9572625" y="2895600"/>
              <a:ext cx="342900" cy="180975"/>
            </a:xfrm>
            <a:custGeom>
              <a:avLst/>
              <a:gdLst/>
              <a:ahLst/>
              <a:cxnLst/>
              <a:rect l="l" t="t" r="r" b="b"/>
              <a:pathLst>
                <a:path w="342900" h="180975">
                  <a:moveTo>
                    <a:pt x="0" y="180975"/>
                  </a:moveTo>
                  <a:lnTo>
                    <a:pt x="342900" y="0"/>
                  </a:lnTo>
                </a:path>
              </a:pathLst>
            </a:custGeom>
            <a:noFill/>
            <a:ln w="19050">
              <a:solidFill>
                <a:srgbClr val="F5B700"/>
              </a:solidFill>
              <a:custDash>
                <a:ds d="200000" sp="150000"/>
              </a:custDash>
            </a:ln>
          </p:spPr>
        </p:sp>
        <p:sp>
          <p:nvSpPr>
            <p:cNvPr id="57" name="Rectangle 57"/>
            <p:cNvSpPr/>
            <p:nvPr/>
          </p:nvSpPr>
          <p:spPr>
            <a:xfrm>
              <a:off x="10115550" y="2724150"/>
              <a:ext cx="933450" cy="190500"/>
            </a:xfrm>
            <a:prstGeom prst="roundRect">
              <a:avLst>
                <a:gd name="adj" fmla="val 15000"/>
              </a:avLst>
            </a:prstGeom>
            <a:solidFill>
              <a:srgbClr val="0B1E3C">
                <a:alpha val="88000"/>
              </a:srgbClr>
            </a:solidFill>
            <a:ln>
              <a:noFill/>
            </a:ln>
          </p:spPr>
        </p:sp>
        <p:sp>
          <p:nvSpPr>
            <p:cNvPr id="58" name="TextBox 58"/>
            <p:cNvSpPr txBox="1"/>
            <p:nvPr/>
          </p:nvSpPr>
          <p:spPr>
            <a:xfrm>
              <a:off x="10121807" y="2752725"/>
              <a:ext cx="920936"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차선 끝 · 경계석</a:t>
              </a:r>
            </a:p>
          </p:txBody>
        </p:sp>
        <p:sp>
          <p:nvSpPr>
            <p:cNvPr id="59" name="Rectangle 59"/>
            <p:cNvSpPr/>
            <p:nvPr/>
          </p:nvSpPr>
          <p:spPr>
            <a:xfrm>
              <a:off x="9105900" y="1771650"/>
              <a:ext cx="762000" cy="209550"/>
            </a:xfrm>
            <a:prstGeom prst="roundRect">
              <a:avLst>
                <a:gd name="adj" fmla="val 13636"/>
              </a:avLst>
            </a:prstGeom>
            <a:solidFill>
              <a:srgbClr val="0B1E3C">
                <a:alpha val="88000"/>
              </a:srgbClr>
            </a:solidFill>
            <a:ln>
              <a:noFill/>
            </a:ln>
          </p:spPr>
        </p:sp>
        <p:sp>
          <p:nvSpPr>
            <p:cNvPr id="60" name="TextBox 60"/>
            <p:cNvSpPr txBox="1"/>
            <p:nvPr/>
          </p:nvSpPr>
          <p:spPr>
            <a:xfrm>
              <a:off x="9131349" y="1809750"/>
              <a:ext cx="711101"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야간 기준점</a:t>
              </a:r>
            </a:p>
          </p:txBody>
        </p:sp>
        <p:sp>
          <p:nvSpPr>
            <p:cNvPr id="61" name="TextBox 61"/>
            <p:cNvSpPr txBox="1"/>
            <p:nvPr/>
          </p:nvSpPr>
          <p:spPr>
            <a:xfrm>
              <a:off x="904341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04</a:t>
              </a:r>
            </a:p>
          </p:txBody>
        </p:sp>
        <p:sp>
          <p:nvSpPr>
            <p:cNvPr id="62" name="TextBox 62"/>
            <p:cNvSpPr txBox="1"/>
            <p:nvPr/>
          </p:nvSpPr>
          <p:spPr>
            <a:xfrm>
              <a:off x="9039987" y="3689350"/>
              <a:ext cx="1916447"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야간 AR 위치 오차</a:t>
              </a:r>
            </a:p>
          </p:txBody>
        </p:sp>
        <p:grpSp>
          <p:nvGrpSpPr>
            <p:cNvPr id="69" name="Group 69"/>
            <p:cNvGrpSpPr/>
            <p:nvPr/>
          </p:nvGrpSpPr>
          <p:grpSpPr>
            <a:xfrm>
              <a:off x="9048750" y="4019550"/>
              <a:ext cx="1989125" cy="729996"/>
              <a:chOff x="9048750" y="4019550"/>
              <a:chExt cx="1989125" cy="729996"/>
            </a:xfrm>
          </p:grpSpPr>
          <p:sp>
            <p:nvSpPr>
              <p:cNvPr id="63" name="Rectangle 63"/>
              <p:cNvSpPr/>
              <p:nvPr/>
            </p:nvSpPr>
            <p:spPr>
              <a:xfrm>
                <a:off x="9048750" y="4095750"/>
                <a:ext cx="57150" cy="57150"/>
              </a:xfrm>
              <a:prstGeom prst="rect">
                <a:avLst/>
              </a:prstGeom>
              <a:solidFill>
                <a:srgbClr val="F5B700"/>
              </a:solidFill>
              <a:ln>
                <a:noFill/>
              </a:ln>
            </p:spPr>
          </p:sp>
          <p:sp>
            <p:nvSpPr>
              <p:cNvPr id="64" name="TextBox 64"/>
              <p:cNvSpPr txBox="1"/>
              <p:nvPr/>
            </p:nvSpPr>
            <p:spPr>
              <a:xfrm>
                <a:off x="9176004" y="4019550"/>
                <a:ext cx="181340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맨홀·경계석 기준점 인식</a:t>
                </a:r>
              </a:p>
            </p:txBody>
          </p:sp>
          <p:sp>
            <p:nvSpPr>
              <p:cNvPr id="65" name="Rectangle 65"/>
              <p:cNvSpPr/>
              <p:nvPr/>
            </p:nvSpPr>
            <p:spPr>
              <a:xfrm>
                <a:off x="9048750" y="4343400"/>
                <a:ext cx="57150" cy="57150"/>
              </a:xfrm>
              <a:prstGeom prst="rect">
                <a:avLst/>
              </a:prstGeom>
              <a:solidFill>
                <a:srgbClr val="F5B700"/>
              </a:solidFill>
              <a:ln>
                <a:noFill/>
              </a:ln>
            </p:spPr>
          </p:sp>
          <p:sp>
            <p:nvSpPr>
              <p:cNvPr id="66" name="TextBox 66"/>
              <p:cNvSpPr txBox="1"/>
              <p:nvPr/>
            </p:nvSpPr>
            <p:spPr>
              <a:xfrm>
                <a:off x="9176004" y="4267200"/>
                <a:ext cx="186187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야간·우천 조건 위치 오차</a:t>
                </a:r>
              </a:p>
            </p:txBody>
          </p:sp>
          <p:sp>
            <p:nvSpPr>
              <p:cNvPr id="67" name="Rectangle 67"/>
              <p:cNvSpPr/>
              <p:nvPr/>
            </p:nvSpPr>
            <p:spPr>
              <a:xfrm>
                <a:off x="9048750" y="4591050"/>
                <a:ext cx="57150" cy="57150"/>
              </a:xfrm>
              <a:prstGeom prst="rect">
                <a:avLst/>
              </a:prstGeom>
              <a:solidFill>
                <a:srgbClr val="C62828"/>
              </a:solidFill>
              <a:ln>
                <a:noFill/>
              </a:ln>
            </p:spPr>
          </p:sp>
          <p:sp>
            <p:nvSpPr>
              <p:cNvPr id="68" name="TextBox 68"/>
              <p:cNvSpPr txBox="1"/>
              <p:nvPr/>
            </p:nvSpPr>
            <p:spPr>
              <a:xfrm>
                <a:off x="9176004" y="4514850"/>
                <a:ext cx="1821485"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크면 수동 탐색 범위 확대</a:t>
                </a:r>
              </a:p>
            </p:txBody>
          </p:sp>
        </p:grpSp>
      </p:grpSp>
      <p:grpSp>
        <p:nvGrpSpPr>
          <p:cNvPr id="74" name="also"/>
          <p:cNvGrpSpPr/>
          <p:nvPr/>
        </p:nvGrpSpPr>
        <p:grpSpPr>
          <a:xfrm>
            <a:off x="533400" y="4876800"/>
            <a:ext cx="11125200" cy="628650"/>
            <a:chOff x="533400" y="4876800"/>
            <a:chExt cx="11125200" cy="628650"/>
          </a:xfrm>
        </p:grpSpPr>
        <p:sp>
          <p:nvSpPr>
            <p:cNvPr id="71" name="Rectangle 71"/>
            <p:cNvSpPr/>
            <p:nvPr/>
          </p:nvSpPr>
          <p:spPr>
            <a:xfrm>
              <a:off x="533400" y="4876800"/>
              <a:ext cx="11125200" cy="628650"/>
            </a:xfrm>
            <a:prstGeom prst="rect">
              <a:avLst/>
            </a:prstGeom>
            <a:solidFill>
              <a:srgbClr val="F3F5F8"/>
            </a:solidFill>
            <a:ln>
              <a:noFill/>
            </a:ln>
          </p:spPr>
        </p:sp>
        <p:sp>
          <p:nvSpPr>
            <p:cNvPr id="72" name="TextBox 72"/>
            <p:cNvSpPr txBox="1"/>
            <p:nvPr/>
          </p:nvSpPr>
          <p:spPr>
            <a:xfrm>
              <a:off x="718185" y="4994275"/>
              <a:ext cx="10119417"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함께 확인</a:t>
              </a:r>
              <a:r>
                <a:rPr lang="ko-KR" sz="1120" dirty="0">
                  <a:solidFill>
                    <a:srgbClr val="111827"/>
                  </a:solidFill>
                  <a:latin typeface="+mn-lt"/>
                  <a:ea typeface="+mn-ea"/>
                  <a:cs typeface="+mn-cs"/>
                </a:rPr>
                <a:t xml:space="preserve"> 장비 고정 상태의 반복 측정 일관성 · 적재중량·축하중·제동 안정성 · V2L 포함 실제 소비전력 · 차량 앱 배포 절차·접근 가능한 차량 데이터</a:t>
              </a:r>
            </a:p>
          </p:txBody>
        </p:sp>
        <p:sp>
          <p:nvSpPr>
            <p:cNvPr id="73" name="TextBox 73"/>
            <p:cNvSpPr txBox="1"/>
            <p:nvPr/>
          </p:nvSpPr>
          <p:spPr>
            <a:xfrm>
              <a:off x="718185" y="5232400"/>
              <a:ext cx="947521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이미 상용</a:t>
              </a:r>
              <a:r>
                <a:rPr lang="ko-KR" sz="1120" dirty="0">
                  <a:solidFill>
                    <a:srgbClr val="111827"/>
                  </a:solidFill>
                  <a:latin typeface="+mn-lt"/>
                  <a:ea typeface="+mn-ea"/>
                  <a:cs typeface="+mn-cs"/>
                </a:rPr>
                <a:t xml:space="preserve"> 차량형·수동 GPR · RTK-GNSS·IMU·휠 인코더 · 노면 카메라 · 엣지 컴퓨터 · GIS 이력 관리 · AAOS 앱 생태계 · 산업용 AR 글래스</a:t>
              </a:r>
            </a:p>
          </p:txBody>
        </p:sp>
      </p:grpSp>
      <p:grpSp>
        <p:nvGrpSpPr>
          <p:cNvPr id="77" name="conclusion"/>
          <p:cNvGrpSpPr/>
          <p:nvPr/>
        </p:nvGrpSpPr>
        <p:grpSpPr>
          <a:xfrm>
            <a:off x="533400" y="5657850"/>
            <a:ext cx="11125200" cy="495300"/>
            <a:chOff x="533400" y="5657850"/>
            <a:chExt cx="11125200" cy="495300"/>
          </a:xfrm>
        </p:grpSpPr>
        <p:sp>
          <p:nvSpPr>
            <p:cNvPr id="75" name="Rectangle 75"/>
            <p:cNvSpPr/>
            <p:nvPr/>
          </p:nvSpPr>
          <p:spPr>
            <a:xfrm>
              <a:off x="533400" y="5657850"/>
              <a:ext cx="11125200" cy="495300"/>
            </a:xfrm>
            <a:prstGeom prst="rect">
              <a:avLst/>
            </a:prstGeom>
            <a:solidFill>
              <a:srgbClr val="0B1E3C"/>
            </a:solidFill>
            <a:ln>
              <a:noFill/>
            </a:ln>
          </p:spPr>
        </p:sp>
        <p:sp>
          <p:nvSpPr>
            <p:cNvPr id="76" name="TextBox 76"/>
            <p:cNvSpPr txBox="1"/>
            <p:nvPr/>
          </p:nvSpPr>
          <p:spPr>
            <a:xfrm>
              <a:off x="754380" y="5794375"/>
              <a:ext cx="768656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핵심은 기술의 존재가 아니라, </a:t>
              </a:r>
              <a:r>
                <a:rPr lang="ko-KR" sz="1500" b="1" dirty="0">
                  <a:solidFill>
                    <a:srgbClr val="F5B700"/>
                  </a:solidFill>
                  <a:latin typeface="+mn-lt"/>
                  <a:ea typeface="+mn-ea"/>
                  <a:cs typeface="+mn-cs"/>
                </a:rPr>
                <a:t>한 차량에서 반복 가능한 정확도</a:t>
              </a:r>
              <a:r>
                <a:rPr lang="ko-KR" sz="1500" b="1" dirty="0">
                  <a:solidFill>
                    <a:srgbClr val="FFFFFF"/>
                  </a:solidFill>
                  <a:latin typeface="+mn-lt"/>
                  <a:ea typeface="+mn-ea"/>
                  <a:cs typeface="+mn-cs"/>
                </a:rPr>
                <a:t>로 연결되는가입니다.</a:t>
              </a:r>
            </a:p>
          </p:txBody>
        </p:sp>
      </p:grpSp>
      <p:grpSp>
        <p:nvGrpSpPr>
          <p:cNvPr id="79" name="source"/>
          <p:cNvGrpSpPr/>
          <p:nvPr/>
        </p:nvGrpSpPr>
        <p:grpSpPr>
          <a:xfrm>
            <a:off x="528638" y="6305550"/>
            <a:ext cx="10639366" cy="176212"/>
            <a:chOff x="528638" y="6305550"/>
            <a:chExt cx="10639366" cy="176212"/>
          </a:xfrm>
        </p:grpSpPr>
        <p:sp>
          <p:nvSpPr>
            <p:cNvPr id="78" name="TextBox 78"/>
            <p:cNvSpPr txBox="1"/>
            <p:nvPr/>
          </p:nvSpPr>
          <p:spPr>
            <a:xfrm>
              <a:off x="528638" y="6305550"/>
              <a:ext cx="1063936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이미지: 01 콘셉트 이미지 · 02 명일동 실제 도로(© OpenStreetMap contributors)에 회차별 궤적을 그린 설명도 · 03 B-scan은 설명용 예시 · 04 PattayaPatrol 사진(CC BY-SA 4.0) 기반 편집</a:t>
              </a:r>
            </a:p>
          </p:txBody>
        </p:sp>
      </p:grpSp>
      <p:grpSp>
        <p:nvGrpSpPr>
          <p:cNvPr id="82" name="footer"/>
          <p:cNvGrpSpPr/>
          <p:nvPr/>
        </p:nvGrpSpPr>
        <p:grpSpPr>
          <a:xfrm>
            <a:off x="528638" y="6610350"/>
            <a:ext cx="11134724" cy="176212"/>
            <a:chOff x="528638" y="6610350"/>
            <a:chExt cx="11134724" cy="176212"/>
          </a:xfrm>
        </p:grpSpPr>
        <p:sp>
          <p:nvSpPr>
            <p:cNvPr id="80" name="TextBox 8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1" name="TextBox 8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검증</a:t>
              </a:r>
            </a:p>
          </p:txBody>
        </p:sp>
        <p:sp>
          <p:nvSpPr>
            <p:cNvPr id="6" name="TextBox 6"/>
            <p:cNvSpPr txBox="1"/>
            <p:nvPr/>
          </p:nvSpPr>
          <p:spPr>
            <a:xfrm>
              <a:off x="2394966" y="301625"/>
              <a:ext cx="10849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단계별 실증 계획</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788056" cy="557403"/>
            <a:chOff x="518922" y="800100"/>
            <a:chExt cx="9788056" cy="557403"/>
          </a:xfrm>
        </p:grpSpPr>
        <p:sp>
          <p:nvSpPr>
            <p:cNvPr id="9" name="TextBox 9"/>
            <p:cNvSpPr txBox="1"/>
            <p:nvPr/>
          </p:nvSpPr>
          <p:spPr>
            <a:xfrm>
              <a:off x="518922" y="800100"/>
              <a:ext cx="978805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폐쇄 구간에서 시작해 실제 도로까지 검증 범위를 넓힙니다</a:t>
              </a:r>
            </a:p>
          </p:txBody>
        </p:sp>
      </p:grpSp>
      <p:grpSp>
        <p:nvGrpSpPr>
          <p:cNvPr id="12" name="lead"/>
          <p:cNvGrpSpPr/>
          <p:nvPr/>
        </p:nvGrpSpPr>
        <p:grpSpPr>
          <a:xfrm>
            <a:off x="526161" y="1365250"/>
            <a:ext cx="6944043" cy="278702"/>
            <a:chOff x="526161" y="1365250"/>
            <a:chExt cx="6944043" cy="278702"/>
          </a:xfrm>
        </p:grpSpPr>
        <p:sp>
          <p:nvSpPr>
            <p:cNvPr id="11" name="TextBox 11"/>
            <p:cNvSpPr txBox="1"/>
            <p:nvPr/>
          </p:nvSpPr>
          <p:spPr>
            <a:xfrm>
              <a:off x="526161" y="1365250"/>
              <a:ext cx="6944043"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장비 안정성 → 같은 길의 반복 일관성 → 실제 도로에서의 효용 순서로 검증합니다.</a:t>
              </a:r>
            </a:p>
          </p:txBody>
        </p:sp>
      </p:grpSp>
      <p:grpSp>
        <p:nvGrpSpPr>
          <p:cNvPr id="20" name="stage-1"/>
          <p:cNvGrpSpPr/>
          <p:nvPr/>
        </p:nvGrpSpPr>
        <p:grpSpPr>
          <a:xfrm>
            <a:off x="527685" y="3575050"/>
            <a:ext cx="2672715" cy="1987550"/>
            <a:chOff x="527685" y="3575050"/>
            <a:chExt cx="2672715" cy="1987550"/>
          </a:xfrm>
        </p:grpSpPr>
        <p:sp>
          <p:nvSpPr>
            <p:cNvPr id="13" name="TextBox 13"/>
            <p:cNvSpPr txBox="1"/>
            <p:nvPr/>
          </p:nvSpPr>
          <p:spPr>
            <a:xfrm>
              <a:off x="527685" y="3575050"/>
              <a:ext cx="164544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폐쇄 시험장 · 장비 단위</a:t>
              </a:r>
            </a:p>
          </p:txBody>
        </p:sp>
        <p:sp>
          <p:nvSpPr>
            <p:cNvPr id="14" name="Rectangle 14"/>
            <p:cNvSpPr/>
            <p:nvPr/>
          </p:nvSpPr>
          <p:spPr>
            <a:xfrm>
              <a:off x="533400" y="3810000"/>
              <a:ext cx="2667000" cy="1752600"/>
            </a:xfrm>
            <a:prstGeom prst="rect">
              <a:avLst/>
            </a:prstGeom>
            <a:solidFill>
              <a:srgbClr val="E8ECF2"/>
            </a:solidFill>
            <a:ln>
              <a:noFill/>
            </a:ln>
          </p:spPr>
        </p:sp>
        <p:sp>
          <p:nvSpPr>
            <p:cNvPr id="15" name="TextBox 15"/>
            <p:cNvSpPr txBox="1"/>
            <p:nvPr/>
          </p:nvSpPr>
          <p:spPr>
            <a:xfrm>
              <a:off x="718566" y="3968750"/>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1단계</a:t>
              </a:r>
            </a:p>
          </p:txBody>
        </p:sp>
        <p:sp>
          <p:nvSpPr>
            <p:cNvPr id="16" name="TextBox 16"/>
            <p:cNvSpPr txBox="1"/>
            <p:nvPr/>
          </p:nvSpPr>
          <p:spPr>
            <a:xfrm>
              <a:off x="715518" y="4178300"/>
              <a:ext cx="1489439"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장비 통합 시험</a:t>
              </a:r>
            </a:p>
          </p:txBody>
        </p:sp>
        <p:sp>
          <p:nvSpPr>
            <p:cNvPr id="17" name="TextBox 17"/>
            <p:cNvSpPr txBox="1"/>
            <p:nvPr/>
          </p:nvSpPr>
          <p:spPr>
            <a:xfrm>
              <a:off x="717804" y="4527550"/>
              <a:ext cx="203911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장착 구조·진동 · 전력 사용량</a:t>
              </a:r>
              <a:br>
                <a:rPr lang="ko-KR" sz="1200" dirty="0">
                  <a:solidFill>
                    <a:srgbClr val="111827"/>
                  </a:solidFill>
                  <a:latin typeface="+mn-lt"/>
                  <a:ea typeface="+mn-ea"/>
                  <a:cs typeface="+mn-cs"/>
                </a:rPr>
              </a:br>
              <a:r>
                <a:rPr lang="ko-KR" sz="1200" dirty="0">
                  <a:solidFill>
                    <a:srgbClr val="111827"/>
                  </a:solidFill>
                  <a:latin typeface="+mn-lt"/>
                  <a:ea typeface="+mn-ea"/>
                  <a:cs typeface="+mn-cs"/>
                </a:rPr>
                <a:t>전자파 간섭 · 통신 지연·누락</a:t>
              </a:r>
            </a:p>
          </p:txBody>
        </p:sp>
        <p:sp>
          <p:nvSpPr>
            <p:cNvPr id="18" name="Line 18"/>
            <p:cNvSpPr/>
            <p:nvPr/>
          </p:nvSpPr>
          <p:spPr>
            <a:xfrm>
              <a:off x="723900" y="5124450"/>
              <a:ext cx="2286000" cy="9525"/>
            </a:xfrm>
            <a:custGeom>
              <a:avLst/>
              <a:gdLst/>
              <a:ahLst/>
              <a:cxnLst/>
              <a:rect l="l" t="t" r="r" b="b"/>
              <a:pathLst>
                <a:path w="2286000" h="9525">
                  <a:moveTo>
                    <a:pt x="0" y="0"/>
                  </a:moveTo>
                  <a:lnTo>
                    <a:pt x="2286000" y="0"/>
                  </a:lnTo>
                </a:path>
              </a:pathLst>
            </a:custGeom>
            <a:noFill/>
            <a:ln w="9525">
              <a:solidFill>
                <a:srgbClr val="B4BFCF"/>
              </a:solidFill>
            </a:ln>
          </p:spPr>
        </p:sp>
        <p:sp>
          <p:nvSpPr>
            <p:cNvPr id="19" name="TextBox 19"/>
            <p:cNvSpPr txBox="1"/>
            <p:nvPr/>
          </p:nvSpPr>
          <p:spPr>
            <a:xfrm>
              <a:off x="718185" y="5251450"/>
              <a:ext cx="16454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통과 → 차량형 측정 가능</a:t>
              </a:r>
            </a:p>
          </p:txBody>
        </p:sp>
      </p:grpSp>
      <p:grpSp>
        <p:nvGrpSpPr>
          <p:cNvPr id="28" name="stage-2"/>
          <p:cNvGrpSpPr/>
          <p:nvPr/>
        </p:nvGrpSpPr>
        <p:grpSpPr>
          <a:xfrm>
            <a:off x="3347085" y="3051175"/>
            <a:ext cx="2672715" cy="2511425"/>
            <a:chOff x="3347085" y="3051175"/>
            <a:chExt cx="2672715" cy="2511425"/>
          </a:xfrm>
        </p:grpSpPr>
        <p:sp>
          <p:nvSpPr>
            <p:cNvPr id="21" name="TextBox 21"/>
            <p:cNvSpPr txBox="1"/>
            <p:nvPr/>
          </p:nvSpPr>
          <p:spPr>
            <a:xfrm>
              <a:off x="3347085" y="3051175"/>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통제된 시험 구간</a:t>
              </a:r>
            </a:p>
          </p:txBody>
        </p:sp>
        <p:sp>
          <p:nvSpPr>
            <p:cNvPr id="22" name="Rectangle 22"/>
            <p:cNvSpPr/>
            <p:nvPr/>
          </p:nvSpPr>
          <p:spPr>
            <a:xfrm>
              <a:off x="3352800" y="3286125"/>
              <a:ext cx="2667000" cy="2276475"/>
            </a:xfrm>
            <a:prstGeom prst="rect">
              <a:avLst/>
            </a:prstGeom>
            <a:solidFill>
              <a:srgbClr val="C9D3E2"/>
            </a:solidFill>
            <a:ln>
              <a:noFill/>
            </a:ln>
          </p:spPr>
        </p:sp>
        <p:sp>
          <p:nvSpPr>
            <p:cNvPr id="23" name="TextBox 23"/>
            <p:cNvSpPr txBox="1"/>
            <p:nvPr/>
          </p:nvSpPr>
          <p:spPr>
            <a:xfrm>
              <a:off x="3537966" y="3444875"/>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2단계</a:t>
              </a:r>
            </a:p>
          </p:txBody>
        </p:sp>
        <p:sp>
          <p:nvSpPr>
            <p:cNvPr id="24" name="TextBox 24"/>
            <p:cNvSpPr txBox="1"/>
            <p:nvPr/>
          </p:nvSpPr>
          <p:spPr>
            <a:xfrm>
              <a:off x="3534918" y="3654425"/>
              <a:ext cx="1711562"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통제된 반복 주행</a:t>
              </a:r>
            </a:p>
          </p:txBody>
        </p:sp>
        <p:sp>
          <p:nvSpPr>
            <p:cNvPr id="25" name="TextBox 25"/>
            <p:cNvSpPr txBox="1"/>
            <p:nvPr/>
          </p:nvSpPr>
          <p:spPr>
            <a:xfrm>
              <a:off x="3537204" y="4003675"/>
              <a:ext cx="187147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공동 모사체 구간 반복 측정</a:t>
              </a:r>
              <a:br>
                <a:rPr lang="ko-KR" sz="1200" dirty="0">
                  <a:solidFill>
                    <a:srgbClr val="111827"/>
                  </a:solidFill>
                  <a:latin typeface="+mn-lt"/>
                  <a:ea typeface="+mn-ea"/>
                  <a:cs typeface="+mn-cs"/>
                </a:rPr>
              </a:br>
              <a:r>
                <a:rPr lang="ko-KR" sz="1200" dirty="0">
                  <a:solidFill>
                    <a:srgbClr val="111827"/>
                  </a:solidFill>
                  <a:latin typeface="+mn-lt"/>
                  <a:ea typeface="+mn-ea"/>
                  <a:cs typeface="+mn-cs"/>
                </a:rPr>
                <a:t>위치 정합 오차·회차 편차</a:t>
              </a:r>
              <a:br>
                <a:rPr lang="ko-KR" sz="1200" dirty="0">
                  <a:solidFill>
                    <a:srgbClr val="111827"/>
                  </a:solidFill>
                  <a:latin typeface="+mn-lt"/>
                  <a:ea typeface="+mn-ea"/>
                  <a:cs typeface="+mn-cs"/>
                </a:rPr>
              </a:br>
              <a:r>
                <a:rPr lang="ko-KR" sz="1200" dirty="0">
                  <a:solidFill>
                    <a:srgbClr val="111827"/>
                  </a:solidFill>
                  <a:latin typeface="+mn-lt"/>
                  <a:ea typeface="+mn-ea"/>
                  <a:cs typeface="+mn-cs"/>
                </a:rPr>
                <a:t>AI의 기존·신규 신호 구분</a:t>
              </a:r>
            </a:p>
          </p:txBody>
        </p:sp>
        <p:sp>
          <p:nvSpPr>
            <p:cNvPr id="26" name="Line 26"/>
            <p:cNvSpPr/>
            <p:nvPr/>
          </p:nvSpPr>
          <p:spPr>
            <a:xfrm>
              <a:off x="3543300" y="5124450"/>
              <a:ext cx="2286000" cy="9525"/>
            </a:xfrm>
            <a:custGeom>
              <a:avLst/>
              <a:gdLst/>
              <a:ahLst/>
              <a:cxnLst/>
              <a:rect l="l" t="t" r="r" b="b"/>
              <a:pathLst>
                <a:path w="2286000" h="9525">
                  <a:moveTo>
                    <a:pt x="0" y="0"/>
                  </a:moveTo>
                  <a:lnTo>
                    <a:pt x="2286000" y="0"/>
                  </a:lnTo>
                </a:path>
              </a:pathLst>
            </a:custGeom>
            <a:noFill/>
            <a:ln w="9525">
              <a:solidFill>
                <a:srgbClr val="9DABC0"/>
              </a:solidFill>
            </a:ln>
          </p:spPr>
        </p:sp>
        <p:sp>
          <p:nvSpPr>
            <p:cNvPr id="27" name="TextBox 27"/>
            <p:cNvSpPr txBox="1"/>
            <p:nvPr/>
          </p:nvSpPr>
          <p:spPr>
            <a:xfrm>
              <a:off x="3537585" y="5251450"/>
              <a:ext cx="149467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통과 → 회차 비교 가능</a:t>
              </a:r>
            </a:p>
          </p:txBody>
        </p:sp>
      </p:grpSp>
      <p:grpSp>
        <p:nvGrpSpPr>
          <p:cNvPr id="36" name="stage-3"/>
          <p:cNvGrpSpPr/>
          <p:nvPr/>
        </p:nvGrpSpPr>
        <p:grpSpPr>
          <a:xfrm>
            <a:off x="6166485" y="2527300"/>
            <a:ext cx="2672715" cy="3035300"/>
            <a:chOff x="6166485" y="2527300"/>
            <a:chExt cx="2672715" cy="3035300"/>
          </a:xfrm>
        </p:grpSpPr>
        <p:sp>
          <p:nvSpPr>
            <p:cNvPr id="29" name="TextBox 29"/>
            <p:cNvSpPr txBox="1"/>
            <p:nvPr/>
          </p:nvSpPr>
          <p:spPr>
            <a:xfrm>
              <a:off x="6166485" y="2527300"/>
              <a:ext cx="131261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실제 도로 위험구간</a:t>
              </a:r>
            </a:p>
          </p:txBody>
        </p:sp>
        <p:sp>
          <p:nvSpPr>
            <p:cNvPr id="30" name="Rectangle 30"/>
            <p:cNvSpPr/>
            <p:nvPr/>
          </p:nvSpPr>
          <p:spPr>
            <a:xfrm>
              <a:off x="6172200" y="2762250"/>
              <a:ext cx="2667000" cy="2800350"/>
            </a:xfrm>
            <a:prstGeom prst="rect">
              <a:avLst/>
            </a:prstGeom>
            <a:solidFill>
              <a:srgbClr val="2E4A78"/>
            </a:solidFill>
            <a:ln>
              <a:noFill/>
            </a:ln>
          </p:spPr>
        </p:sp>
        <p:sp>
          <p:nvSpPr>
            <p:cNvPr id="31" name="TextBox 31"/>
            <p:cNvSpPr txBox="1"/>
            <p:nvPr/>
          </p:nvSpPr>
          <p:spPr>
            <a:xfrm>
              <a:off x="6357366" y="2921000"/>
              <a:ext cx="375000" cy="205359"/>
            </a:xfrm>
            <a:prstGeom prst="rect">
              <a:avLst/>
            </a:prstGeom>
            <a:noFill/>
            <a:ln>
              <a:noFill/>
            </a:ln>
          </p:spPr>
          <p:txBody>
            <a:bodyPr wrap="none" lIns="0" tIns="0" rIns="0" bIns="0" anchor="t" anchorCtr="0">
              <a:spAutoFit/>
            </a:bodyPr>
            <a:lstStyle/>
            <a:p>
              <a:pPr algn="l"/>
              <a:r>
                <a:rPr lang="ko-KR" sz="1050" b="1" dirty="0">
                  <a:solidFill>
                    <a:srgbClr val="D6DDE8"/>
                  </a:solidFill>
                  <a:latin typeface="+mn-lt"/>
                  <a:ea typeface="+mn-ea"/>
                  <a:cs typeface="+mn-cs"/>
                </a:rPr>
                <a:t>3단계</a:t>
              </a:r>
            </a:p>
          </p:txBody>
        </p:sp>
        <p:sp>
          <p:nvSpPr>
            <p:cNvPr id="32" name="TextBox 32"/>
            <p:cNvSpPr txBox="1"/>
            <p:nvPr/>
          </p:nvSpPr>
          <p:spPr>
            <a:xfrm>
              <a:off x="6354318" y="3130550"/>
              <a:ext cx="171156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실제 도로 파일럿</a:t>
              </a:r>
            </a:p>
          </p:txBody>
        </p:sp>
        <p:sp>
          <p:nvSpPr>
            <p:cNvPr id="33" name="TextBox 33"/>
            <p:cNvSpPr txBox="1"/>
            <p:nvPr/>
          </p:nvSpPr>
          <p:spPr>
            <a:xfrm>
              <a:off x="6356604" y="3479800"/>
              <a:ext cx="20162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지자체·조사기업과 구간 선정</a:t>
              </a:r>
              <a:br>
                <a:rPr lang="ko-KR" sz="1200" dirty="0">
                  <a:solidFill>
                    <a:srgbClr val="E5E9F0"/>
                  </a:solidFill>
                  <a:latin typeface="+mn-lt"/>
                  <a:ea typeface="+mn-ea"/>
                  <a:cs typeface="+mn-cs"/>
                </a:rPr>
              </a:br>
              <a:r>
                <a:rPr lang="ko-KR" sz="1200" dirty="0">
                  <a:solidFill>
                    <a:srgbClr val="E5E9F0"/>
                  </a:solidFill>
                  <a:latin typeface="+mn-lt"/>
                  <a:ea typeface="+mn-ea"/>
                  <a:cs typeface="+mn-cs"/>
                </a:rPr>
                <a:t>기존 전문 장비 결과와 비교</a:t>
              </a:r>
              <a:br>
                <a:rPr lang="ko-KR" sz="1200" dirty="0">
                  <a:solidFill>
                    <a:srgbClr val="E5E9F0"/>
                  </a:solidFill>
                  <a:latin typeface="+mn-lt"/>
                  <a:ea typeface="+mn-ea"/>
                  <a:cs typeface="+mn-cs"/>
                </a:rPr>
              </a:br>
              <a:r>
                <a:rPr lang="ko-KR" sz="1200" dirty="0">
                  <a:solidFill>
                    <a:srgbClr val="E5E9F0"/>
                  </a:solidFill>
                  <a:latin typeface="+mn-lt"/>
                  <a:ea typeface="+mn-ea"/>
                  <a:cs typeface="+mn-cs"/>
                </a:rPr>
                <a:t>전문가 판독·천공으로 검증</a:t>
              </a:r>
            </a:p>
          </p:txBody>
        </p:sp>
        <p:sp>
          <p:nvSpPr>
            <p:cNvPr id="34" name="Line 34"/>
            <p:cNvSpPr/>
            <p:nvPr/>
          </p:nvSpPr>
          <p:spPr>
            <a:xfrm>
              <a:off x="6362700" y="5124450"/>
              <a:ext cx="2286000" cy="9525"/>
            </a:xfrm>
            <a:custGeom>
              <a:avLst/>
              <a:gdLst/>
              <a:ahLst/>
              <a:cxnLst/>
              <a:rect l="l" t="t" r="r" b="b"/>
              <a:pathLst>
                <a:path w="2286000" h="9525">
                  <a:moveTo>
                    <a:pt x="0" y="0"/>
                  </a:moveTo>
                  <a:lnTo>
                    <a:pt x="2286000" y="0"/>
                  </a:lnTo>
                </a:path>
              </a:pathLst>
            </a:custGeom>
            <a:noFill/>
            <a:ln w="9525">
              <a:solidFill>
                <a:srgbClr val="5B739B"/>
              </a:solidFill>
            </a:ln>
          </p:spPr>
        </p:sp>
        <p:sp>
          <p:nvSpPr>
            <p:cNvPr id="35" name="TextBox 35"/>
            <p:cNvSpPr txBox="1"/>
            <p:nvPr/>
          </p:nvSpPr>
          <p:spPr>
            <a:xfrm>
              <a:off x="6356985" y="5251450"/>
              <a:ext cx="1685026"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통과 → 효용 입증·실증서</a:t>
              </a:r>
            </a:p>
          </p:txBody>
        </p:sp>
      </p:grpSp>
      <p:grpSp>
        <p:nvGrpSpPr>
          <p:cNvPr id="44" name="stage-4"/>
          <p:cNvGrpSpPr/>
          <p:nvPr/>
        </p:nvGrpSpPr>
        <p:grpSpPr>
          <a:xfrm>
            <a:off x="8985885" y="2003425"/>
            <a:ext cx="2672715" cy="3559175"/>
            <a:chOff x="8985885" y="2003425"/>
            <a:chExt cx="2672715" cy="3559175"/>
          </a:xfrm>
        </p:grpSpPr>
        <p:sp>
          <p:nvSpPr>
            <p:cNvPr id="37" name="TextBox 37"/>
            <p:cNvSpPr txBox="1"/>
            <p:nvPr/>
          </p:nvSpPr>
          <p:spPr>
            <a:xfrm>
              <a:off x="8985885" y="2003425"/>
              <a:ext cx="1011064"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실제 운영 환경</a:t>
              </a:r>
            </a:p>
          </p:txBody>
        </p:sp>
        <p:sp>
          <p:nvSpPr>
            <p:cNvPr id="38" name="Rectangle 38"/>
            <p:cNvSpPr/>
            <p:nvPr/>
          </p:nvSpPr>
          <p:spPr>
            <a:xfrm>
              <a:off x="8991600" y="2238375"/>
              <a:ext cx="2667000" cy="3324225"/>
            </a:xfrm>
            <a:prstGeom prst="rect">
              <a:avLst/>
            </a:prstGeom>
            <a:solidFill>
              <a:srgbClr val="0B1E3C"/>
            </a:solidFill>
            <a:ln>
              <a:noFill/>
            </a:ln>
          </p:spPr>
        </p:sp>
        <p:sp>
          <p:nvSpPr>
            <p:cNvPr id="39" name="TextBox 39"/>
            <p:cNvSpPr txBox="1"/>
            <p:nvPr/>
          </p:nvSpPr>
          <p:spPr>
            <a:xfrm>
              <a:off x="9176766" y="2397125"/>
              <a:ext cx="375000"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a:t>
              </a:r>
            </a:p>
          </p:txBody>
        </p:sp>
        <p:sp>
          <p:nvSpPr>
            <p:cNvPr id="40" name="TextBox 40"/>
            <p:cNvSpPr txBox="1"/>
            <p:nvPr/>
          </p:nvSpPr>
          <p:spPr>
            <a:xfrm>
              <a:off x="9173718" y="2606675"/>
              <a:ext cx="1197348"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운영성 검증</a:t>
              </a:r>
            </a:p>
          </p:txBody>
        </p:sp>
        <p:sp>
          <p:nvSpPr>
            <p:cNvPr id="41" name="TextBox 41"/>
            <p:cNvSpPr txBox="1"/>
            <p:nvPr/>
          </p:nvSpPr>
          <p:spPr>
            <a:xfrm>
              <a:off x="9176004" y="2955925"/>
              <a:ext cx="2001012" cy="9204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새벽 순찰 소요시간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재확인 생성 → 현장 도착 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AR 위치 보정 성공률</a:t>
              </a:r>
              <a:br>
                <a:rPr lang="ko-KR" sz="1200" dirty="0">
                  <a:solidFill>
                    <a:srgbClr val="E5E9F0"/>
                  </a:solidFill>
                  <a:latin typeface="+mn-lt"/>
                  <a:ea typeface="+mn-ea"/>
                  <a:cs typeface="+mn-cs"/>
                </a:rPr>
              </a:br>
              <a:r>
                <a:rPr lang="ko-KR" sz="1200" dirty="0">
                  <a:solidFill>
                    <a:srgbClr val="E5E9F0"/>
                  </a:solidFill>
                  <a:latin typeface="+mn-lt"/>
                  <a:ea typeface="+mn-ea"/>
                  <a:cs typeface="+mn-cs"/>
                </a:rPr>
                <a:t>재방문·수작업 입력 감소량</a:t>
              </a:r>
            </a:p>
          </p:txBody>
        </p:sp>
        <p:sp>
          <p:nvSpPr>
            <p:cNvPr id="42" name="Line 42"/>
            <p:cNvSpPr/>
            <p:nvPr/>
          </p:nvSpPr>
          <p:spPr>
            <a:xfrm>
              <a:off x="9182100" y="5124450"/>
              <a:ext cx="2286000" cy="9525"/>
            </a:xfrm>
            <a:custGeom>
              <a:avLst/>
              <a:gdLst/>
              <a:ahLst/>
              <a:cxnLst/>
              <a:rect l="l" t="t" r="r" b="b"/>
              <a:pathLst>
                <a:path w="2286000" h="9525">
                  <a:moveTo>
                    <a:pt x="0" y="0"/>
                  </a:moveTo>
                  <a:lnTo>
                    <a:pt x="2286000" y="0"/>
                  </a:lnTo>
                </a:path>
              </a:pathLst>
            </a:custGeom>
            <a:noFill/>
            <a:ln w="9525">
              <a:solidFill>
                <a:srgbClr val="3A4F73"/>
              </a:solidFill>
            </a:ln>
          </p:spPr>
        </p:sp>
        <p:sp>
          <p:nvSpPr>
            <p:cNvPr id="43" name="TextBox 43"/>
            <p:cNvSpPr txBox="1"/>
            <p:nvPr/>
          </p:nvSpPr>
          <p:spPr>
            <a:xfrm>
              <a:off x="9176385" y="5251450"/>
              <a:ext cx="149467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통과 → 연간 관제 계약</a:t>
              </a:r>
            </a:p>
          </p:txBody>
        </p:sp>
      </p:grpSp>
      <p:grpSp>
        <p:nvGrpSpPr>
          <p:cNvPr id="48" name="target-note"/>
          <p:cNvGrpSpPr/>
          <p:nvPr/>
        </p:nvGrpSpPr>
        <p:grpSpPr>
          <a:xfrm>
            <a:off x="533400" y="5753100"/>
            <a:ext cx="11125200" cy="457200"/>
            <a:chOff x="533400" y="5753100"/>
            <a:chExt cx="11125200" cy="457200"/>
          </a:xfrm>
        </p:grpSpPr>
        <p:sp>
          <p:nvSpPr>
            <p:cNvPr id="45" name="Rectangle 45"/>
            <p:cNvSpPr/>
            <p:nvPr/>
          </p:nvSpPr>
          <p:spPr>
            <a:xfrm>
              <a:off x="533400" y="5753100"/>
              <a:ext cx="11125200" cy="457200"/>
            </a:xfrm>
            <a:prstGeom prst="rect">
              <a:avLst/>
            </a:prstGeom>
            <a:solidFill>
              <a:srgbClr val="FFF6DC"/>
            </a:solidFill>
            <a:ln>
              <a:noFill/>
            </a:ln>
          </p:spPr>
        </p:sp>
        <p:sp>
          <p:nvSpPr>
            <p:cNvPr id="46" name="Rectangle 46"/>
            <p:cNvSpPr/>
            <p:nvPr/>
          </p:nvSpPr>
          <p:spPr>
            <a:xfrm>
              <a:off x="533400" y="5753100"/>
              <a:ext cx="47625" cy="457200"/>
            </a:xfrm>
            <a:prstGeom prst="rect">
              <a:avLst/>
            </a:prstGeom>
            <a:solidFill>
              <a:srgbClr val="F5B700"/>
            </a:solidFill>
            <a:ln>
              <a:noFill/>
            </a:ln>
          </p:spPr>
        </p:sp>
        <p:sp>
          <p:nvSpPr>
            <p:cNvPr id="47" name="TextBox 47"/>
            <p:cNvSpPr txBox="1"/>
            <p:nvPr/>
          </p:nvSpPr>
          <p:spPr>
            <a:xfrm>
              <a:off x="755142" y="5873750"/>
              <a:ext cx="8758446"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정량 목표치는 파일럿 설계 때 발주기관과 확정합니다.</a:t>
              </a:r>
              <a:r>
                <a:rPr lang="ko-KR" sz="1350" dirty="0">
                  <a:solidFill>
                    <a:srgbClr val="0B1E3C"/>
                  </a:solidFill>
                  <a:latin typeface="+mn-lt"/>
                  <a:ea typeface="+mn-ea"/>
                  <a:cs typeface="+mn-cs"/>
                </a:rPr>
                <a:t xml:space="preserve"> 지금은 근거 없는 정확도 수치를 제시하지 않습니다.</a:t>
              </a:r>
            </a:p>
          </p:txBody>
        </p:sp>
      </p:grpSp>
      <p:grpSp>
        <p:nvGrpSpPr>
          <p:cNvPr id="51" name="footer"/>
          <p:cNvGrpSpPr/>
          <p:nvPr/>
        </p:nvGrpSpPr>
        <p:grpSpPr>
          <a:xfrm>
            <a:off x="528638" y="6610350"/>
            <a:ext cx="11134724" cy="176212"/>
            <a:chOff x="528638" y="6610350"/>
            <a:chExt cx="11134724" cy="176212"/>
          </a:xfrm>
        </p:grpSpPr>
        <p:sp>
          <p:nvSpPr>
            <p:cNvPr id="49" name="TextBox 4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0" name="TextBox 5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확장</a:t>
              </a:r>
            </a:p>
          </p:txBody>
        </p:sp>
        <p:sp>
          <p:nvSpPr>
            <p:cNvPr id="6" name="TextBox 6"/>
            <p:cNvSpPr txBox="1"/>
            <p:nvPr/>
          </p:nvSpPr>
          <p:spPr>
            <a:xfrm>
              <a:off x="2394966" y="301625"/>
              <a:ext cx="75982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확장 가능성</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788056" cy="557403"/>
            <a:chOff x="518922" y="800100"/>
            <a:chExt cx="9788056" cy="557403"/>
          </a:xfrm>
        </p:grpSpPr>
        <p:sp>
          <p:nvSpPr>
            <p:cNvPr id="9" name="TextBox 9"/>
            <p:cNvSpPr txBox="1"/>
            <p:nvPr/>
          </p:nvSpPr>
          <p:spPr>
            <a:xfrm>
              <a:off x="518922" y="800100"/>
              <a:ext cx="978805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한 대의 반복 순찰차에서 도시 지하 안전망으로 확장합니다</a:t>
              </a:r>
            </a:p>
          </p:txBody>
        </p:sp>
      </p:grpSp>
      <p:grpSp>
        <p:nvGrpSpPr>
          <p:cNvPr id="26" name="patrol-map"/>
          <p:cNvGrpSpPr/>
          <p:nvPr/>
        </p:nvGrpSpPr>
        <p:grpSpPr>
          <a:xfrm>
            <a:off x="533400" y="1428750"/>
            <a:ext cx="6477000" cy="4221734"/>
            <a:chOff x="533400" y="1428750"/>
            <a:chExt cx="6477000" cy="4221734"/>
          </a:xfrm>
        </p:grpSpPr>
        <p:pic>
          <p:nvPicPr>
            <p:cNvPr id="11" name="Image 11"/>
            <p:cNvPicPr>
              <a:picLocks noChangeAspect="1"/>
            </p:cNvPicPr>
            <p:nvPr/>
          </p:nvPicPr>
          <p:blipFill>
            <a:blip r:embed="rId2"/>
            <a:srcRect l="66" t="0" r="65" b="0"/>
            <a:stretch>
              <a:fillRect/>
            </a:stretch>
          </p:blipFill>
          <p:spPr>
            <a:xfrm>
              <a:off x="533400" y="1428750"/>
              <a:ext cx="6477000" cy="3648075"/>
            </a:xfrm>
            <a:prstGeom prst="rect">
              <a:avLst/>
            </a:prstGeom>
          </p:spPr>
        </p:pic>
        <p:sp>
          <p:nvSpPr>
            <p:cNvPr id="12" name="Rectangle 12"/>
            <p:cNvSpPr/>
            <p:nvPr/>
          </p:nvSpPr>
          <p:spPr>
            <a:xfrm>
              <a:off x="647700" y="1543050"/>
              <a:ext cx="2400300" cy="228600"/>
            </a:xfrm>
            <a:prstGeom prst="roundRect">
              <a:avLst>
                <a:gd name="adj" fmla="val 12500"/>
              </a:avLst>
            </a:prstGeom>
            <a:solidFill>
              <a:srgbClr val="0B1E3C">
                <a:alpha val="85000"/>
              </a:srgbClr>
            </a:solidFill>
            <a:ln>
              <a:noFill/>
            </a:ln>
          </p:spPr>
        </p:sp>
        <p:sp>
          <p:nvSpPr>
            <p:cNvPr id="13" name="TextBox 13"/>
            <p:cNvSpPr txBox="1"/>
            <p:nvPr/>
          </p:nvSpPr>
          <p:spPr>
            <a:xfrm>
              <a:off x="757047" y="1590675"/>
              <a:ext cx="2751691" cy="191643"/>
            </a:xfrm>
            <a:prstGeom prst="rect">
              <a:avLst/>
            </a:prstGeom>
            <a:noFill/>
            <a:ln>
              <a:noFill/>
            </a:ln>
          </p:spPr>
          <p:txBody>
            <a:bodyPr wrap="none" lIns="0" tIns="0" rIns="0" bIns="0" anchor="t" anchorCtr="0">
              <a:spAutoFit/>
            </a:bodyPr>
            <a:lstStyle/>
            <a:p>
              <a:pPr algn="l"/>
              <a:r>
                <a:rPr lang="ko-KR" sz="980" b="1" dirty="0">
                  <a:solidFill>
                    <a:srgbClr val="FFFFFF"/>
                  </a:solidFill>
                  <a:latin typeface="+mn-lt"/>
                  <a:ea typeface="+mn-ea"/>
                  <a:cs typeface="+mn-cs"/>
                </a:rPr>
                <a:t>위험도별 순찰 경로 예시 · 강동구 명일동 일대</a:t>
              </a:r>
            </a:p>
          </p:txBody>
        </p:sp>
        <p:grpSp>
          <p:nvGrpSpPr>
            <p:cNvPr id="25" name="Group 25"/>
            <p:cNvGrpSpPr/>
            <p:nvPr/>
          </p:nvGrpSpPr>
          <p:grpSpPr>
            <a:xfrm>
              <a:off x="533400" y="5197475"/>
              <a:ext cx="5984748" cy="453009"/>
              <a:chOff x="533400" y="5197475"/>
              <a:chExt cx="5984748" cy="453009"/>
            </a:xfrm>
          </p:grpSpPr>
          <p:sp>
            <p:nvSpPr>
              <p:cNvPr id="14" name="Rectangle 14"/>
              <p:cNvSpPr/>
              <p:nvPr/>
            </p:nvSpPr>
            <p:spPr>
              <a:xfrm>
                <a:off x="533400" y="5257800"/>
                <a:ext cx="209550" cy="57150"/>
              </a:xfrm>
              <a:prstGeom prst="rect">
                <a:avLst/>
              </a:prstGeom>
              <a:solidFill>
                <a:srgbClr val="E03131"/>
              </a:solidFill>
              <a:ln>
                <a:noFill/>
              </a:ln>
            </p:spPr>
          </p:sp>
          <p:sp>
            <p:nvSpPr>
              <p:cNvPr id="15" name="TextBox 15"/>
              <p:cNvSpPr txBox="1"/>
              <p:nvPr/>
            </p:nvSpPr>
            <p:spPr>
              <a:xfrm>
                <a:off x="794766" y="5197475"/>
                <a:ext cx="1381773"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집중관리 매일~주 1회</a:t>
                </a:r>
              </a:p>
            </p:txBody>
          </p:sp>
          <p:sp>
            <p:nvSpPr>
              <p:cNvPr id="16" name="Rectangle 16"/>
              <p:cNvSpPr/>
              <p:nvPr/>
            </p:nvSpPr>
            <p:spPr>
              <a:xfrm>
                <a:off x="2381250" y="5257800"/>
                <a:ext cx="209550" cy="57150"/>
              </a:xfrm>
              <a:prstGeom prst="rect">
                <a:avLst/>
              </a:prstGeom>
              <a:solidFill>
                <a:srgbClr val="F08C00"/>
              </a:solidFill>
              <a:ln>
                <a:noFill/>
              </a:ln>
            </p:spPr>
          </p:sp>
          <p:sp>
            <p:nvSpPr>
              <p:cNvPr id="17" name="TextBox 17"/>
              <p:cNvSpPr txBox="1"/>
              <p:nvPr/>
            </p:nvSpPr>
            <p:spPr>
              <a:xfrm>
                <a:off x="2642616" y="5197475"/>
                <a:ext cx="170688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노후 하수관·공사장 주 1회</a:t>
                </a:r>
              </a:p>
            </p:txBody>
          </p:sp>
          <p:sp>
            <p:nvSpPr>
              <p:cNvPr id="18" name="Rectangle 18"/>
              <p:cNvSpPr/>
              <p:nvPr/>
            </p:nvSpPr>
            <p:spPr>
              <a:xfrm>
                <a:off x="4533900" y="5257800"/>
                <a:ext cx="209550" cy="57150"/>
              </a:xfrm>
              <a:prstGeom prst="rect">
                <a:avLst/>
              </a:prstGeom>
              <a:solidFill>
                <a:srgbClr val="4E8FD9"/>
              </a:solidFill>
              <a:ln>
                <a:noFill/>
              </a:ln>
            </p:spPr>
          </p:sp>
          <p:sp>
            <p:nvSpPr>
              <p:cNvPr id="19" name="TextBox 19"/>
              <p:cNvSpPr txBox="1"/>
              <p:nvPr/>
            </p:nvSpPr>
            <p:spPr>
              <a:xfrm>
                <a:off x="4795266" y="5197475"/>
                <a:ext cx="879977"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역세권 월 1회</a:t>
                </a:r>
              </a:p>
            </p:txBody>
          </p:sp>
          <p:sp>
            <p:nvSpPr>
              <p:cNvPr id="20" name="Rectangle 20"/>
              <p:cNvSpPr/>
              <p:nvPr/>
            </p:nvSpPr>
            <p:spPr>
              <a:xfrm>
                <a:off x="533400" y="5505450"/>
                <a:ext cx="209550" cy="57150"/>
              </a:xfrm>
              <a:prstGeom prst="rect">
                <a:avLst/>
              </a:prstGeom>
              <a:solidFill>
                <a:srgbClr val="3BA55C"/>
              </a:solidFill>
              <a:ln>
                <a:noFill/>
              </a:ln>
            </p:spPr>
          </p:sp>
          <p:sp>
            <p:nvSpPr>
              <p:cNvPr id="21" name="TextBox 21"/>
              <p:cNvSpPr txBox="1"/>
              <p:nvPr/>
            </p:nvSpPr>
            <p:spPr>
              <a:xfrm>
                <a:off x="794766" y="5445125"/>
                <a:ext cx="130403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일반 관리 분기~반기</a:t>
                </a:r>
              </a:p>
            </p:txBody>
          </p:sp>
          <p:sp>
            <p:nvSpPr>
              <p:cNvPr id="22" name="Rectangle 22"/>
              <p:cNvSpPr/>
              <p:nvPr/>
            </p:nvSpPr>
            <p:spPr>
              <a:xfrm>
                <a:off x="2381250" y="5505450"/>
                <a:ext cx="209550" cy="57150"/>
              </a:xfrm>
              <a:prstGeom prst="rect">
                <a:avLst/>
              </a:prstGeom>
              <a:solidFill>
                <a:srgbClr val="8B5CF6"/>
              </a:solidFill>
              <a:ln>
                <a:noFill/>
              </a:ln>
            </p:spPr>
          </p:sp>
          <p:sp>
            <p:nvSpPr>
              <p:cNvPr id="23" name="TextBox 23"/>
              <p:cNvSpPr txBox="1"/>
              <p:nvPr/>
            </p:nvSpPr>
            <p:spPr>
              <a:xfrm>
                <a:off x="2642616" y="5445125"/>
                <a:ext cx="1551394"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집중호우 이후 긴급 조사</a:t>
                </a:r>
              </a:p>
            </p:txBody>
          </p:sp>
          <p:sp>
            <p:nvSpPr>
              <p:cNvPr id="24" name="TextBox 24"/>
              <p:cNvSpPr txBox="1"/>
              <p:nvPr/>
            </p:nvSpPr>
            <p:spPr>
              <a:xfrm>
                <a:off x="4528566" y="5445125"/>
                <a:ext cx="1989582"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주기는 발주기관과 합의 [예시]</a:t>
                </a:r>
              </a:p>
            </p:txBody>
          </p:sp>
        </p:grpSp>
      </p:grpSp>
      <p:grpSp>
        <p:nvGrpSpPr>
          <p:cNvPr id="50" name="stages"/>
          <p:cNvGrpSpPr/>
          <p:nvPr/>
        </p:nvGrpSpPr>
        <p:grpSpPr>
          <a:xfrm>
            <a:off x="7400925" y="1533525"/>
            <a:ext cx="3674598" cy="3917442"/>
            <a:chOff x="7400925" y="1533525"/>
            <a:chExt cx="3674598" cy="3917442"/>
          </a:xfrm>
        </p:grpSpPr>
        <p:sp>
          <p:nvSpPr>
            <p:cNvPr id="27" name="Line 27"/>
            <p:cNvSpPr/>
            <p:nvPr/>
          </p:nvSpPr>
          <p:spPr>
            <a:xfrm>
              <a:off x="7543800" y="1733550"/>
              <a:ext cx="9525" cy="3352800"/>
            </a:xfrm>
            <a:custGeom>
              <a:avLst/>
              <a:gdLst/>
              <a:ahLst/>
              <a:cxnLst/>
              <a:rect l="l" t="t" r="r" b="b"/>
              <a:pathLst>
                <a:path w="9525" h="3352800">
                  <a:moveTo>
                    <a:pt x="0" y="0"/>
                  </a:moveTo>
                  <a:lnTo>
                    <a:pt x="0" y="3352800"/>
                  </a:lnTo>
                </a:path>
              </a:pathLst>
            </a:custGeom>
            <a:noFill/>
            <a:ln w="19050">
              <a:solidFill>
                <a:srgbClr val="C9D3E2"/>
              </a:solidFill>
            </a:ln>
          </p:spPr>
        </p:sp>
        <p:grpSp>
          <p:nvGrpSpPr>
            <p:cNvPr id="38" name="Group 38"/>
            <p:cNvGrpSpPr/>
            <p:nvPr/>
          </p:nvGrpSpPr>
          <p:grpSpPr>
            <a:xfrm>
              <a:off x="7400925" y="1533525"/>
              <a:ext cx="285750" cy="3638550"/>
              <a:chOff x="7400925" y="1533525"/>
              <a:chExt cx="285750" cy="3638550"/>
            </a:xfrm>
          </p:grpSpPr>
          <p:sp>
            <p:nvSpPr>
              <p:cNvPr id="28" name="Ellipse 28"/>
              <p:cNvSpPr/>
              <p:nvPr/>
            </p:nvSpPr>
            <p:spPr>
              <a:xfrm>
                <a:off x="7400925" y="1533525"/>
                <a:ext cx="285750" cy="285750"/>
              </a:xfrm>
              <a:prstGeom prst="ellipse">
                <a:avLst/>
              </a:prstGeom>
              <a:solidFill>
                <a:srgbClr val="E8ECF2"/>
              </a:solidFill>
              <a:ln>
                <a:noFill/>
              </a:ln>
            </p:spPr>
          </p:sp>
          <p:sp>
            <p:nvSpPr>
              <p:cNvPr id="29" name="TextBox 29"/>
              <p:cNvSpPr txBox="1"/>
              <p:nvPr/>
            </p:nvSpPr>
            <p:spPr>
              <a:xfrm>
                <a:off x="7494549" y="15843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1</a:t>
                </a:r>
              </a:p>
            </p:txBody>
          </p:sp>
          <p:sp>
            <p:nvSpPr>
              <p:cNvPr id="30" name="Ellipse 30"/>
              <p:cNvSpPr/>
              <p:nvPr/>
            </p:nvSpPr>
            <p:spPr>
              <a:xfrm>
                <a:off x="7400925" y="2371725"/>
                <a:ext cx="285750" cy="285750"/>
              </a:xfrm>
              <a:prstGeom prst="ellipse">
                <a:avLst/>
              </a:prstGeom>
              <a:solidFill>
                <a:srgbClr val="C9D3E2"/>
              </a:solidFill>
              <a:ln>
                <a:noFill/>
              </a:ln>
            </p:spPr>
          </p:sp>
          <p:sp>
            <p:nvSpPr>
              <p:cNvPr id="31" name="TextBox 31"/>
              <p:cNvSpPr txBox="1"/>
              <p:nvPr/>
            </p:nvSpPr>
            <p:spPr>
              <a:xfrm>
                <a:off x="7494549" y="24225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2</a:t>
                </a:r>
              </a:p>
            </p:txBody>
          </p:sp>
          <p:sp>
            <p:nvSpPr>
              <p:cNvPr id="32" name="Ellipse 32"/>
              <p:cNvSpPr/>
              <p:nvPr/>
            </p:nvSpPr>
            <p:spPr>
              <a:xfrm>
                <a:off x="7400925" y="3209925"/>
                <a:ext cx="285750" cy="285750"/>
              </a:xfrm>
              <a:prstGeom prst="ellipse">
                <a:avLst/>
              </a:prstGeom>
              <a:solidFill>
                <a:srgbClr val="2E4A78"/>
              </a:solidFill>
              <a:ln>
                <a:noFill/>
              </a:ln>
            </p:spPr>
          </p:sp>
          <p:sp>
            <p:nvSpPr>
              <p:cNvPr id="33" name="TextBox 33"/>
              <p:cNvSpPr txBox="1"/>
              <p:nvPr/>
            </p:nvSpPr>
            <p:spPr>
              <a:xfrm>
                <a:off x="7494549" y="32607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34" name="Ellipse 34"/>
              <p:cNvSpPr/>
              <p:nvPr/>
            </p:nvSpPr>
            <p:spPr>
              <a:xfrm>
                <a:off x="7400925" y="4048125"/>
                <a:ext cx="285750" cy="285750"/>
              </a:xfrm>
              <a:prstGeom prst="ellipse">
                <a:avLst/>
              </a:prstGeom>
              <a:solidFill>
                <a:srgbClr val="1C2F52"/>
              </a:solidFill>
              <a:ln>
                <a:noFill/>
              </a:ln>
            </p:spPr>
          </p:sp>
          <p:sp>
            <p:nvSpPr>
              <p:cNvPr id="35" name="TextBox 35"/>
              <p:cNvSpPr txBox="1"/>
              <p:nvPr/>
            </p:nvSpPr>
            <p:spPr>
              <a:xfrm>
                <a:off x="7494549" y="4098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36" name="Ellipse 36"/>
              <p:cNvSpPr/>
              <p:nvPr/>
            </p:nvSpPr>
            <p:spPr>
              <a:xfrm>
                <a:off x="7400925" y="4886325"/>
                <a:ext cx="285750" cy="285750"/>
              </a:xfrm>
              <a:prstGeom prst="ellipse">
                <a:avLst/>
              </a:prstGeom>
              <a:solidFill>
                <a:srgbClr val="0B1E3C"/>
              </a:solidFill>
              <a:ln>
                <a:noFill/>
              </a:ln>
            </p:spPr>
          </p:sp>
          <p:sp>
            <p:nvSpPr>
              <p:cNvPr id="37" name="TextBox 37"/>
              <p:cNvSpPr txBox="1"/>
              <p:nvPr/>
            </p:nvSpPr>
            <p:spPr>
              <a:xfrm>
                <a:off x="7494549" y="4937125"/>
                <a:ext cx="98502" cy="220028"/>
              </a:xfrm>
              <a:prstGeom prst="rect">
                <a:avLst/>
              </a:prstGeom>
              <a:noFill/>
              <a:ln>
                <a:noFill/>
              </a:ln>
            </p:spPr>
            <p:txBody>
              <a:bodyPr wrap="none" lIns="0" tIns="0" rIns="0" bIns="0" anchor="t" anchorCtr="0">
                <a:spAutoFit/>
              </a:bodyPr>
              <a:lstStyle/>
              <a:p>
                <a:pPr algn="ctr"/>
                <a:r>
                  <a:rPr lang="ko-KR" sz="1120" b="1" dirty="0">
                    <a:solidFill>
                      <a:srgbClr val="F5B700"/>
                    </a:solidFill>
                    <a:latin typeface="+mn-lt"/>
                    <a:ea typeface="+mn-ea"/>
                    <a:cs typeface="+mn-cs"/>
                  </a:rPr>
                  <a:t>5</a:t>
                </a:r>
              </a:p>
            </p:txBody>
          </p:sp>
        </p:grpSp>
        <p:grpSp>
          <p:nvGrpSpPr>
            <p:cNvPr id="49" name="Group 49"/>
            <p:cNvGrpSpPr/>
            <p:nvPr/>
          </p:nvGrpSpPr>
          <p:grpSpPr>
            <a:xfrm>
              <a:off x="7821549" y="1549400"/>
              <a:ext cx="3253974" cy="3901567"/>
              <a:chOff x="7821549" y="1549400"/>
              <a:chExt cx="3253974" cy="3901567"/>
            </a:xfrm>
          </p:grpSpPr>
          <p:sp>
            <p:nvSpPr>
              <p:cNvPr id="39" name="TextBox 39"/>
              <p:cNvSpPr txBox="1"/>
              <p:nvPr/>
            </p:nvSpPr>
            <p:spPr>
              <a:xfrm>
                <a:off x="7821549" y="1549400"/>
                <a:ext cx="654101"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파일럿</a:t>
                </a:r>
              </a:p>
            </p:txBody>
          </p:sp>
          <p:sp>
            <p:nvSpPr>
              <p:cNvPr id="40" name="TextBox 40"/>
              <p:cNvSpPr txBox="1"/>
              <p:nvPr/>
            </p:nvSpPr>
            <p:spPr>
              <a:xfrm>
                <a:off x="7823073" y="1847850"/>
                <a:ext cx="2675199"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지하철 공사구간·노후 하수관 주변</a:t>
                </a:r>
              </a:p>
            </p:txBody>
          </p:sp>
          <p:sp>
            <p:nvSpPr>
              <p:cNvPr id="41" name="TextBox 41"/>
              <p:cNvSpPr txBox="1"/>
              <p:nvPr/>
            </p:nvSpPr>
            <p:spPr>
              <a:xfrm>
                <a:off x="7821549" y="24003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자치구 정기 순찰</a:t>
                </a:r>
              </a:p>
            </p:txBody>
          </p:sp>
          <p:sp>
            <p:nvSpPr>
              <p:cNvPr id="42" name="TextBox 42"/>
              <p:cNvSpPr txBox="1"/>
              <p:nvPr/>
            </p:nvSpPr>
            <p:spPr>
              <a:xfrm>
                <a:off x="7823073" y="2686050"/>
                <a:ext cx="2856128"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위험도별 주기로 같은 길을 반복 관리</a:t>
                </a:r>
              </a:p>
            </p:txBody>
          </p:sp>
          <p:sp>
            <p:nvSpPr>
              <p:cNvPr id="43" name="TextBox 43"/>
              <p:cNvSpPr txBox="1"/>
              <p:nvPr/>
            </p:nvSpPr>
            <p:spPr>
              <a:xfrm>
                <a:off x="7821549" y="3238500"/>
                <a:ext cx="139395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PV5 플릿 운영</a:t>
                </a:r>
              </a:p>
            </p:txBody>
          </p:sp>
          <p:sp>
            <p:nvSpPr>
              <p:cNvPr id="44" name="TextBox 44"/>
              <p:cNvSpPr txBox="1"/>
              <p:nvPr/>
            </p:nvSpPr>
            <p:spPr>
              <a:xfrm>
                <a:off x="7823073" y="3524250"/>
                <a:ext cx="3252450"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여러 대가 권역을 나눠 같은 기준으로 순찰</a:t>
                </a:r>
              </a:p>
            </p:txBody>
          </p:sp>
          <p:sp>
            <p:nvSpPr>
              <p:cNvPr id="45" name="TextBox 45"/>
              <p:cNvSpPr txBox="1"/>
              <p:nvPr/>
            </p:nvSpPr>
            <p:spPr>
              <a:xfrm>
                <a:off x="7821549" y="40767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지하 데이터 결합</a:t>
                </a:r>
              </a:p>
            </p:txBody>
          </p:sp>
          <p:sp>
            <p:nvSpPr>
              <p:cNvPr id="46" name="TextBox 46"/>
              <p:cNvSpPr txBox="1"/>
              <p:nvPr/>
            </p:nvSpPr>
            <p:spPr>
              <a:xfrm>
                <a:off x="7823073" y="4362450"/>
                <a:ext cx="3200756"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하수관·굴착공사·지하수·강우·보수 이력</a:t>
                </a:r>
              </a:p>
            </p:txBody>
          </p:sp>
          <p:sp>
            <p:nvSpPr>
              <p:cNvPr id="47" name="TextBox 47"/>
              <p:cNvSpPr txBox="1"/>
              <p:nvPr/>
            </p:nvSpPr>
            <p:spPr>
              <a:xfrm>
                <a:off x="7821549" y="4914900"/>
                <a:ext cx="2181966"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4D 도시 지하 변화지도</a:t>
                </a:r>
              </a:p>
            </p:txBody>
          </p:sp>
          <p:sp>
            <p:nvSpPr>
              <p:cNvPr id="48" name="TextBox 48"/>
              <p:cNvSpPr txBox="1"/>
              <p:nvPr/>
            </p:nvSpPr>
            <p:spPr>
              <a:xfrm>
                <a:off x="7823073" y="5200650"/>
                <a:ext cx="2580427"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계약기관이 접근권한 안에서 활용</a:t>
                </a:r>
              </a:p>
            </p:txBody>
          </p:sp>
        </p:grpSp>
      </p:grpSp>
      <p:grpSp>
        <p:nvGrpSpPr>
          <p:cNvPr id="63" name="targets"/>
          <p:cNvGrpSpPr/>
          <p:nvPr/>
        </p:nvGrpSpPr>
        <p:grpSpPr>
          <a:xfrm>
            <a:off x="527304" y="5810250"/>
            <a:ext cx="10369296" cy="304800"/>
            <a:chOff x="527304" y="5810250"/>
            <a:chExt cx="10369296" cy="304800"/>
          </a:xfrm>
        </p:grpSpPr>
        <p:sp>
          <p:nvSpPr>
            <p:cNvPr id="51" name="TextBox 51"/>
            <p:cNvSpPr txBox="1"/>
            <p:nvPr/>
          </p:nvSpPr>
          <p:spPr>
            <a:xfrm>
              <a:off x="527304" y="5867400"/>
              <a:ext cx="70925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확장 대상</a:t>
              </a:r>
            </a:p>
          </p:txBody>
        </p:sp>
        <p:grpSp>
          <p:nvGrpSpPr>
            <p:cNvPr id="62" name="Group 62"/>
            <p:cNvGrpSpPr/>
            <p:nvPr/>
          </p:nvGrpSpPr>
          <p:grpSpPr>
            <a:xfrm>
              <a:off x="1333500" y="5810250"/>
              <a:ext cx="9563100" cy="304800"/>
              <a:chOff x="1333500" y="5810250"/>
              <a:chExt cx="9563100" cy="304800"/>
            </a:xfrm>
          </p:grpSpPr>
          <p:sp>
            <p:nvSpPr>
              <p:cNvPr id="52" name="Rectangle 52"/>
              <p:cNvSpPr/>
              <p:nvPr/>
            </p:nvSpPr>
            <p:spPr>
              <a:xfrm>
                <a:off x="1333500" y="5810250"/>
                <a:ext cx="1866900" cy="304800"/>
              </a:xfrm>
              <a:prstGeom prst="roundRect">
                <a:avLst>
                  <a:gd name="adj" fmla="val 50000"/>
                </a:avLst>
              </a:prstGeom>
              <a:noFill/>
              <a:ln w="9525">
                <a:solidFill>
                  <a:srgbClr val="9AA3AF"/>
                </a:solidFill>
              </a:ln>
            </p:spPr>
          </p:sp>
          <p:sp>
            <p:nvSpPr>
              <p:cNvPr id="53" name="TextBox 53"/>
              <p:cNvSpPr txBox="1"/>
              <p:nvPr/>
            </p:nvSpPr>
            <p:spPr>
              <a:xfrm>
                <a:off x="1443284" y="5870575"/>
                <a:ext cx="1647332"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서울시·자치구 도로관리</a:t>
                </a:r>
              </a:p>
            </p:txBody>
          </p:sp>
          <p:sp>
            <p:nvSpPr>
              <p:cNvPr id="54" name="Rectangle 54"/>
              <p:cNvSpPr/>
              <p:nvPr/>
            </p:nvSpPr>
            <p:spPr>
              <a:xfrm>
                <a:off x="3314700" y="5810250"/>
                <a:ext cx="1771650" cy="304800"/>
              </a:xfrm>
              <a:prstGeom prst="roundRect">
                <a:avLst>
                  <a:gd name="adj" fmla="val 50000"/>
                </a:avLst>
              </a:prstGeom>
              <a:noFill/>
              <a:ln w="9525">
                <a:solidFill>
                  <a:srgbClr val="9AA3AF"/>
                </a:solidFill>
              </a:ln>
            </p:spPr>
          </p:sp>
          <p:sp>
            <p:nvSpPr>
              <p:cNvPr id="55" name="TextBox 55"/>
              <p:cNvSpPr txBox="1"/>
              <p:nvPr/>
            </p:nvSpPr>
            <p:spPr>
              <a:xfrm>
                <a:off x="3395706" y="5870575"/>
                <a:ext cx="1609639"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도시철도 공사 영향구간</a:t>
                </a:r>
              </a:p>
            </p:txBody>
          </p:sp>
          <p:sp>
            <p:nvSpPr>
              <p:cNvPr id="56" name="Rectangle 56"/>
              <p:cNvSpPr/>
              <p:nvPr/>
            </p:nvSpPr>
            <p:spPr>
              <a:xfrm>
                <a:off x="5200650" y="5810250"/>
                <a:ext cx="1524000" cy="304800"/>
              </a:xfrm>
              <a:prstGeom prst="roundRect">
                <a:avLst>
                  <a:gd name="adj" fmla="val 50000"/>
                </a:avLst>
              </a:prstGeom>
              <a:noFill/>
              <a:ln w="9525">
                <a:solidFill>
                  <a:srgbClr val="9AA3AF"/>
                </a:solidFill>
              </a:ln>
            </p:spPr>
          </p:sp>
          <p:sp>
            <p:nvSpPr>
              <p:cNvPr id="57" name="TextBox 57"/>
              <p:cNvSpPr txBox="1"/>
              <p:nvPr/>
            </p:nvSpPr>
            <p:spPr>
              <a:xfrm>
                <a:off x="5331221" y="5870575"/>
                <a:ext cx="126285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상하수도 관리기관</a:t>
                </a:r>
              </a:p>
            </p:txBody>
          </p:sp>
          <p:sp>
            <p:nvSpPr>
              <p:cNvPr id="58" name="Rectangle 58"/>
              <p:cNvSpPr/>
              <p:nvPr/>
            </p:nvSpPr>
            <p:spPr>
              <a:xfrm>
                <a:off x="6838950" y="5810250"/>
                <a:ext cx="2247900" cy="304800"/>
              </a:xfrm>
              <a:prstGeom prst="roundRect">
                <a:avLst>
                  <a:gd name="adj" fmla="val 50000"/>
                </a:avLst>
              </a:prstGeom>
              <a:noFill/>
              <a:ln w="9525">
                <a:solidFill>
                  <a:srgbClr val="9AA3AF"/>
                </a:solidFill>
              </a:ln>
            </p:spPr>
          </p:sp>
          <p:sp>
            <p:nvSpPr>
              <p:cNvPr id="59" name="TextBox 59"/>
              <p:cNvSpPr txBox="1"/>
              <p:nvPr/>
            </p:nvSpPr>
            <p:spPr>
              <a:xfrm>
                <a:off x="6890456" y="5870575"/>
                <a:ext cx="214488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대형 굴착공사 발주기관·시공사</a:t>
                </a:r>
              </a:p>
            </p:txBody>
          </p:sp>
          <p:sp>
            <p:nvSpPr>
              <p:cNvPr id="60" name="Rectangle 60"/>
              <p:cNvSpPr/>
              <p:nvPr/>
            </p:nvSpPr>
            <p:spPr>
              <a:xfrm>
                <a:off x="9201150" y="5810250"/>
                <a:ext cx="1695450" cy="304800"/>
              </a:xfrm>
              <a:prstGeom prst="roundRect">
                <a:avLst>
                  <a:gd name="adj" fmla="val 50000"/>
                </a:avLst>
              </a:prstGeom>
              <a:noFill/>
              <a:ln w="9525">
                <a:solidFill>
                  <a:srgbClr val="9AA3AF"/>
                </a:solidFill>
              </a:ln>
            </p:spPr>
          </p:sp>
          <p:sp>
            <p:nvSpPr>
              <p:cNvPr id="61" name="TextBox 61"/>
              <p:cNvSpPr txBox="1"/>
              <p:nvPr/>
            </p:nvSpPr>
            <p:spPr>
              <a:xfrm>
                <a:off x="9296827" y="5870575"/>
                <a:ext cx="1504097"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집중호우 후 긴급 탐사</a:t>
                </a:r>
              </a:p>
            </p:txBody>
          </p:sp>
        </p:grpSp>
      </p:grpSp>
      <p:grpSp>
        <p:nvGrpSpPr>
          <p:cNvPr id="65" name="data-policy"/>
          <p:cNvGrpSpPr/>
          <p:nvPr/>
        </p:nvGrpSpPr>
        <p:grpSpPr>
          <a:xfrm>
            <a:off x="527685" y="6261100"/>
            <a:ext cx="9544407" cy="220028"/>
            <a:chOff x="527685" y="6261100"/>
            <a:chExt cx="9544407" cy="220028"/>
          </a:xfrm>
        </p:grpSpPr>
        <p:sp>
          <p:nvSpPr>
            <p:cNvPr id="64" name="TextBox 64"/>
            <p:cNvSpPr txBox="1"/>
            <p:nvPr/>
          </p:nvSpPr>
          <p:spPr>
            <a:xfrm>
              <a:off x="527685" y="6261100"/>
              <a:ext cx="9544407"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지하 데이터는 판매하지 않습니다.</a:t>
              </a:r>
              <a:r>
                <a:rPr lang="ko-KR" sz="1120" dirty="0">
                  <a:solidFill>
                    <a:srgbClr val="4B5563"/>
                  </a:solidFill>
                  <a:latin typeface="+mn-lt"/>
                  <a:ea typeface="+mn-ea"/>
                  <a:cs typeface="+mn-cs"/>
                </a:rPr>
                <a:t xml:space="preserve"> 계약기관 내부의 접근제어형 관제 서비스로만 제공합니다 · 지도 데이터 © OpenStreetMap contributors</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19241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B2G 비즈니스 모델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676154" cy="557403"/>
            <a:chOff x="518922" y="800100"/>
            <a:chExt cx="9676154" cy="557403"/>
          </a:xfrm>
        </p:grpSpPr>
        <p:sp>
          <p:nvSpPr>
            <p:cNvPr id="9" name="TextBox 9"/>
            <p:cNvSpPr txBox="1"/>
            <p:nvPr/>
          </p:nvSpPr>
          <p:spPr>
            <a:xfrm>
              <a:off x="518922" y="800100"/>
              <a:ext cx="967615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지자체 탐사 용역으로 시작해 연간 반복관제로 전환합니다</a:t>
              </a:r>
            </a:p>
          </p:txBody>
        </p:sp>
      </p:grpSp>
      <p:grpSp>
        <p:nvGrpSpPr>
          <p:cNvPr id="27" name="revenue-steps"/>
          <p:cNvGrpSpPr/>
          <p:nvPr/>
        </p:nvGrpSpPr>
        <p:grpSpPr>
          <a:xfrm>
            <a:off x="518160" y="1498600"/>
            <a:ext cx="5037201" cy="3088767"/>
            <a:chOff x="518160" y="1498600"/>
            <a:chExt cx="5037201" cy="3088767"/>
          </a:xfrm>
        </p:grpSpPr>
        <p:grpSp>
          <p:nvGrpSpPr>
            <p:cNvPr id="14" name="rev-1"/>
            <p:cNvGrpSpPr/>
            <p:nvPr/>
          </p:nvGrpSpPr>
          <p:grpSpPr>
            <a:xfrm>
              <a:off x="518160" y="1498600"/>
              <a:ext cx="3956177" cy="802767"/>
              <a:chOff x="518160" y="1498600"/>
              <a:chExt cx="3956177" cy="802767"/>
            </a:xfrm>
          </p:grpSpPr>
          <p:sp>
            <p:nvSpPr>
              <p:cNvPr id="11" name="TextBox 11"/>
              <p:cNvSpPr txBox="1"/>
              <p:nvPr/>
            </p:nvSpPr>
            <p:spPr>
              <a:xfrm>
                <a:off x="518160" y="1498600"/>
                <a:ext cx="496938" cy="586740"/>
              </a:xfrm>
              <a:prstGeom prst="rect">
                <a:avLst/>
              </a:prstGeom>
              <a:noFill/>
              <a:ln>
                <a:noFill/>
              </a:ln>
            </p:spPr>
            <p:txBody>
              <a:bodyPr wrap="none" lIns="0" tIns="0" rIns="0" bIns="0" anchor="t" anchorCtr="0">
                <a:spAutoFit/>
              </a:bodyPr>
              <a:lstStyle/>
              <a:p>
                <a:pPr algn="l"/>
                <a:r>
                  <a:rPr lang="ko-KR" sz="3000" b="1" dirty="0">
                    <a:solidFill>
                      <a:srgbClr val="C9D3E2"/>
                    </a:solidFill>
                    <a:latin typeface="+mn-lt"/>
                    <a:ea typeface="+mn-ea"/>
                    <a:cs typeface="+mn-cs"/>
                  </a:rPr>
                  <a:t>01</a:t>
                </a:r>
              </a:p>
            </p:txBody>
          </p:sp>
          <p:sp>
            <p:nvSpPr>
              <p:cNvPr id="12" name="TextBox 12"/>
              <p:cNvSpPr txBox="1"/>
              <p:nvPr/>
            </p:nvSpPr>
            <p:spPr>
              <a:xfrm>
                <a:off x="1248156" y="1517650"/>
                <a:ext cx="1867159"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파일럿 탐사 용역</a:t>
                </a:r>
              </a:p>
            </p:txBody>
          </p:sp>
          <p:sp>
            <p:nvSpPr>
              <p:cNvPr id="13" name="TextBox 13"/>
              <p:cNvSpPr txBox="1"/>
              <p:nvPr/>
            </p:nvSpPr>
            <p:spPr>
              <a:xfrm>
                <a:off x="1250823" y="1822450"/>
                <a:ext cx="3223514"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위험구간·공사구간의 거리와 회차 기준 계약</a:t>
                </a:r>
                <a:br>
                  <a:rPr lang="ko-KR" sz="1280" dirty="0">
                    <a:solidFill>
                      <a:srgbClr val="4B5563"/>
                    </a:solidFill>
                    <a:latin typeface="+mn-lt"/>
                    <a:ea typeface="+mn-ea"/>
                    <a:cs typeface="+mn-cs"/>
                  </a:rPr>
                </a:br>
                <a:r>
                  <a:rPr lang="ko-KR" sz="1280" dirty="0">
                    <a:solidFill>
                      <a:srgbClr val="4B5563"/>
                    </a:solidFill>
                    <a:latin typeface="+mn-lt"/>
                    <a:ea typeface="+mn-ea"/>
                    <a:cs typeface="+mn-cs"/>
                  </a:rPr>
                  <a:t>기존 조사 결과와 비교한 실증 보고서 제공</a:t>
                </a:r>
              </a:p>
            </p:txBody>
          </p:sp>
        </p:grpSp>
        <p:sp>
          <p:nvSpPr>
            <p:cNvPr id="15" name="Line 15"/>
            <p:cNvSpPr/>
            <p:nvPr/>
          </p:nvSpPr>
          <p:spPr>
            <a:xfrm>
              <a:off x="762000" y="2057400"/>
              <a:ext cx="1" cy="495300"/>
            </a:xfrm>
            <a:prstGeom prst="line">
              <a:avLst/>
            </a:prstGeom>
            <a:noFill/>
            <a:ln w="19050">
              <a:solidFill>
                <a:srgbClr val="9AA3AF"/>
              </a:solidFill>
              <a:tailEnd type="triangle" w="lg" len="lg"/>
            </a:ln>
          </p:spPr>
        </p:sp>
        <p:grpSp>
          <p:nvGrpSpPr>
            <p:cNvPr id="21" name="rev-2"/>
            <p:cNvGrpSpPr/>
            <p:nvPr/>
          </p:nvGrpSpPr>
          <p:grpSpPr>
            <a:xfrm>
              <a:off x="518160" y="2641600"/>
              <a:ext cx="4460113" cy="802767"/>
              <a:chOff x="518160" y="2641600"/>
              <a:chExt cx="4460113" cy="802767"/>
            </a:xfrm>
          </p:grpSpPr>
          <p:sp>
            <p:nvSpPr>
              <p:cNvPr id="16" name="TextBox 16"/>
              <p:cNvSpPr txBox="1"/>
              <p:nvPr/>
            </p:nvSpPr>
            <p:spPr>
              <a:xfrm>
                <a:off x="518160" y="2641600"/>
                <a:ext cx="496938" cy="586740"/>
              </a:xfrm>
              <a:prstGeom prst="rect">
                <a:avLst/>
              </a:prstGeom>
              <a:noFill/>
              <a:ln>
                <a:noFill/>
              </a:ln>
            </p:spPr>
            <p:txBody>
              <a:bodyPr wrap="none" lIns="0" tIns="0" rIns="0" bIns="0" anchor="t" anchorCtr="0">
                <a:spAutoFit/>
              </a:bodyPr>
              <a:lstStyle/>
              <a:p>
                <a:pPr algn="l"/>
                <a:r>
                  <a:rPr lang="ko-KR" sz="3000" b="1" dirty="0">
                    <a:solidFill>
                      <a:srgbClr val="2E4A78"/>
                    </a:solidFill>
                    <a:latin typeface="+mn-lt"/>
                    <a:ea typeface="+mn-ea"/>
                    <a:cs typeface="+mn-cs"/>
                  </a:rPr>
                  <a:t>02</a:t>
                </a:r>
              </a:p>
            </p:txBody>
          </p:sp>
          <p:sp>
            <p:nvSpPr>
              <p:cNvPr id="17" name="TextBox 17"/>
              <p:cNvSpPr txBox="1"/>
              <p:nvPr/>
            </p:nvSpPr>
            <p:spPr>
              <a:xfrm>
                <a:off x="1248156" y="2660650"/>
                <a:ext cx="210947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연간 반복관제 계약</a:t>
                </a:r>
              </a:p>
            </p:txBody>
          </p:sp>
          <p:sp>
            <p:nvSpPr>
              <p:cNvPr id="18" name="TextBox 18"/>
              <p:cNvSpPr txBox="1"/>
              <p:nvPr/>
            </p:nvSpPr>
            <p:spPr>
              <a:xfrm>
                <a:off x="1250823" y="2965450"/>
                <a:ext cx="372745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정기 순찰·변화 감지·재확인 업무·기관용 대시보드</a:t>
                </a:r>
                <a:br>
                  <a:rPr lang="ko-KR" sz="1280" dirty="0">
                    <a:solidFill>
                      <a:srgbClr val="4B5563"/>
                    </a:solidFill>
                    <a:latin typeface="+mn-lt"/>
                    <a:ea typeface="+mn-ea"/>
                    <a:cs typeface="+mn-cs"/>
                  </a:rPr>
                </a:br>
                <a:r>
                  <a:rPr lang="ko-KR" sz="1280" dirty="0">
                    <a:solidFill>
                      <a:srgbClr val="4B5563"/>
                    </a:solidFill>
                    <a:latin typeface="+mn-lt"/>
                    <a:ea typeface="+mn-ea"/>
                    <a:cs typeface="+mn-cs"/>
                  </a:rPr>
                  <a:t>집중호우·민원 발생 시 긴급조사 옵션</a:t>
                </a:r>
              </a:p>
            </p:txBody>
          </p:sp>
          <p:sp>
            <p:nvSpPr>
              <p:cNvPr id="19" name="Rectangle 19"/>
              <p:cNvSpPr/>
              <p:nvPr/>
            </p:nvSpPr>
            <p:spPr>
              <a:xfrm>
                <a:off x="3638550" y="2705100"/>
                <a:ext cx="1066800" cy="228600"/>
              </a:xfrm>
              <a:prstGeom prst="roundRect">
                <a:avLst>
                  <a:gd name="adj" fmla="val 16667"/>
                </a:avLst>
              </a:prstGeom>
              <a:noFill/>
              <a:ln w="14288">
                <a:solidFill>
                  <a:srgbClr val="C99600"/>
                </a:solidFill>
              </a:ln>
            </p:spPr>
          </p:sp>
          <p:sp>
            <p:nvSpPr>
              <p:cNvPr id="20" name="TextBox 20"/>
              <p:cNvSpPr txBox="1"/>
              <p:nvPr/>
            </p:nvSpPr>
            <p:spPr>
              <a:xfrm>
                <a:off x="3698037" y="2740025"/>
                <a:ext cx="947825" cy="205359"/>
              </a:xfrm>
              <a:prstGeom prst="rect">
                <a:avLst/>
              </a:prstGeom>
              <a:noFill/>
              <a:ln>
                <a:noFill/>
              </a:ln>
            </p:spPr>
            <p:txBody>
              <a:bodyPr wrap="none" lIns="0" tIns="0" rIns="0" bIns="0" anchor="t" anchorCtr="0">
                <a:spAutoFit/>
              </a:bodyPr>
              <a:lstStyle/>
              <a:p>
                <a:pPr algn="ctr"/>
                <a:r>
                  <a:rPr lang="ko-KR" sz="1050" b="1" dirty="0">
                    <a:solidFill>
                      <a:srgbClr val="8A5A00"/>
                    </a:solidFill>
                    <a:latin typeface="+mn-lt"/>
                    <a:ea typeface="+mn-ea"/>
                    <a:cs typeface="+mn-cs"/>
                  </a:rPr>
                  <a:t>핵심 반복 매출</a:t>
                </a:r>
              </a:p>
            </p:txBody>
          </p:sp>
        </p:grpSp>
        <p:sp>
          <p:nvSpPr>
            <p:cNvPr id="22" name="Line 22"/>
            <p:cNvSpPr/>
            <p:nvPr/>
          </p:nvSpPr>
          <p:spPr>
            <a:xfrm>
              <a:off x="762000" y="3200400"/>
              <a:ext cx="1" cy="495300"/>
            </a:xfrm>
            <a:prstGeom prst="line">
              <a:avLst/>
            </a:prstGeom>
            <a:noFill/>
            <a:ln w="19050">
              <a:solidFill>
                <a:srgbClr val="9AA3AF"/>
              </a:solidFill>
              <a:tailEnd type="triangle" w="lg" len="lg"/>
            </a:ln>
          </p:spPr>
        </p:sp>
        <p:grpSp>
          <p:nvGrpSpPr>
            <p:cNvPr id="26" name="rev-3"/>
            <p:cNvGrpSpPr/>
            <p:nvPr/>
          </p:nvGrpSpPr>
          <p:grpSpPr>
            <a:xfrm>
              <a:off x="518160" y="3784600"/>
              <a:ext cx="5037201" cy="802767"/>
              <a:chOff x="518160" y="3784600"/>
              <a:chExt cx="5037201" cy="802767"/>
            </a:xfrm>
          </p:grpSpPr>
          <p:sp>
            <p:nvSpPr>
              <p:cNvPr id="23" name="TextBox 23"/>
              <p:cNvSpPr txBox="1"/>
              <p:nvPr/>
            </p:nvSpPr>
            <p:spPr>
              <a:xfrm>
                <a:off x="518160" y="3784600"/>
                <a:ext cx="496938"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03</a:t>
                </a:r>
              </a:p>
            </p:txBody>
          </p:sp>
          <p:sp>
            <p:nvSpPr>
              <p:cNvPr id="24" name="TextBox 24"/>
              <p:cNvSpPr txBox="1"/>
              <p:nvPr/>
            </p:nvSpPr>
            <p:spPr>
              <a:xfrm>
                <a:off x="1248156" y="3803650"/>
                <a:ext cx="265771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차량·소프트웨어 패키지</a:t>
                </a:r>
              </a:p>
            </p:txBody>
          </p:sp>
          <p:sp>
            <p:nvSpPr>
              <p:cNvPr id="25" name="TextBox 25"/>
              <p:cNvSpPr txBox="1"/>
              <p:nvPr/>
            </p:nvSpPr>
            <p:spPr>
              <a:xfrm>
                <a:off x="1250823" y="4108450"/>
                <a:ext cx="430453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검증 이후 PV5 컨버전 차량·센서·Patrol 앱·Edge Gateway</a:t>
                </a:r>
                <a:br>
                  <a:rPr lang="ko-KR" sz="1280" dirty="0">
                    <a:solidFill>
                      <a:srgbClr val="4B5563"/>
                    </a:solidFill>
                    <a:latin typeface="+mn-lt"/>
                    <a:ea typeface="+mn-ea"/>
                    <a:cs typeface="+mn-cs"/>
                  </a:rPr>
                </a:br>
                <a:r>
                  <a:rPr lang="ko-KR" sz="1280" dirty="0">
                    <a:solidFill>
                      <a:srgbClr val="4B5563"/>
                    </a:solidFill>
                    <a:latin typeface="+mn-lt"/>
                    <a:ea typeface="+mn-ea"/>
                    <a:cs typeface="+mn-cs"/>
                  </a:rPr>
                  <a:t>AI 분석·관제 대시보드·AR·교육·유지보수 일괄 제공</a:t>
                </a:r>
              </a:p>
            </p:txBody>
          </p:sp>
        </p:grpSp>
      </p:grpSp>
      <p:grpSp>
        <p:nvGrpSpPr>
          <p:cNvPr id="40" name="stakeholders"/>
          <p:cNvGrpSpPr/>
          <p:nvPr/>
        </p:nvGrpSpPr>
        <p:grpSpPr>
          <a:xfrm>
            <a:off x="7239000" y="1428750"/>
            <a:ext cx="4636391" cy="3257550"/>
            <a:chOff x="7239000" y="1428750"/>
            <a:chExt cx="4636391" cy="3257550"/>
          </a:xfrm>
        </p:grpSpPr>
        <p:sp>
          <p:nvSpPr>
            <p:cNvPr id="28" name="Rectangle 28"/>
            <p:cNvSpPr/>
            <p:nvPr/>
          </p:nvSpPr>
          <p:spPr>
            <a:xfrm>
              <a:off x="7239000" y="1428750"/>
              <a:ext cx="4419600" cy="3257550"/>
            </a:xfrm>
            <a:prstGeom prst="roundRect">
              <a:avLst>
                <a:gd name="adj" fmla="val 2924"/>
              </a:avLst>
            </a:prstGeom>
            <a:solidFill>
              <a:srgbClr val="F3F5F8"/>
            </a:solidFill>
            <a:ln>
              <a:noFill/>
            </a:ln>
          </p:spPr>
        </p:sp>
        <p:sp>
          <p:nvSpPr>
            <p:cNvPr id="29" name="TextBox 29"/>
            <p:cNvSpPr txBox="1"/>
            <p:nvPr/>
          </p:nvSpPr>
          <p:spPr>
            <a:xfrm>
              <a:off x="7461885" y="157480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구매자</a:t>
              </a:r>
            </a:p>
          </p:txBody>
        </p:sp>
        <p:sp>
          <p:nvSpPr>
            <p:cNvPr id="30" name="TextBox 30"/>
            <p:cNvSpPr txBox="1"/>
            <p:nvPr/>
          </p:nvSpPr>
          <p:spPr>
            <a:xfrm>
              <a:off x="7461123" y="1765300"/>
              <a:ext cx="251637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서울시·자치구·도시철도 발주기관</a:t>
              </a:r>
              <a:br>
                <a:rPr lang="ko-KR" sz="1280" dirty="0">
                  <a:solidFill>
                    <a:srgbClr val="111827"/>
                  </a:solidFill>
                  <a:latin typeface="+mn-lt"/>
                  <a:ea typeface="+mn-ea"/>
                  <a:cs typeface="+mn-cs"/>
                </a:rPr>
              </a:br>
              <a:r>
                <a:rPr lang="ko-KR" sz="1280" dirty="0">
                  <a:solidFill>
                    <a:srgbClr val="111827"/>
                  </a:solidFill>
                  <a:latin typeface="+mn-lt"/>
                  <a:ea typeface="+mn-ea"/>
                  <a:cs typeface="+mn-cs"/>
                </a:rPr>
                <a:t>공공시설 관리기관</a:t>
              </a:r>
            </a:p>
          </p:txBody>
        </p:sp>
        <p:sp>
          <p:nvSpPr>
            <p:cNvPr id="31" name="Line 31"/>
            <p:cNvSpPr/>
            <p:nvPr/>
          </p:nvSpPr>
          <p:spPr>
            <a:xfrm>
              <a:off x="7467600" y="23431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2" name="TextBox 32"/>
            <p:cNvSpPr txBox="1"/>
            <p:nvPr/>
          </p:nvSpPr>
          <p:spPr>
            <a:xfrm>
              <a:off x="7461885" y="2451100"/>
              <a:ext cx="81279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실제 사용자</a:t>
              </a:r>
            </a:p>
          </p:txBody>
        </p:sp>
        <p:sp>
          <p:nvSpPr>
            <p:cNvPr id="33" name="TextBox 33"/>
            <p:cNvSpPr txBox="1"/>
            <p:nvPr/>
          </p:nvSpPr>
          <p:spPr>
            <a:xfrm>
              <a:off x="7461123" y="2641600"/>
              <a:ext cx="214249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지하안전·도로관리 담당자</a:t>
              </a:r>
              <a:br>
                <a:rPr lang="ko-KR" sz="1280" dirty="0">
                  <a:solidFill>
                    <a:srgbClr val="111827"/>
                  </a:solidFill>
                  <a:latin typeface="+mn-lt"/>
                  <a:ea typeface="+mn-ea"/>
                  <a:cs typeface="+mn-cs"/>
                </a:rPr>
              </a:br>
              <a:r>
                <a:rPr lang="ko-KR" sz="1280" dirty="0">
                  <a:solidFill>
                    <a:srgbClr val="111827"/>
                  </a:solidFill>
                  <a:latin typeface="+mn-lt"/>
                  <a:ea typeface="+mn-ea"/>
                  <a:cs typeface="+mn-cs"/>
                </a:rPr>
                <a:t>GPR 판독 전문가·현장 조사원</a:t>
              </a:r>
            </a:p>
          </p:txBody>
        </p:sp>
        <p:sp>
          <p:nvSpPr>
            <p:cNvPr id="34" name="Line 34"/>
            <p:cNvSpPr/>
            <p:nvPr/>
          </p:nvSpPr>
          <p:spPr>
            <a:xfrm>
              <a:off x="7467600" y="32194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5" name="TextBox 35"/>
            <p:cNvSpPr txBox="1"/>
            <p:nvPr/>
          </p:nvSpPr>
          <p:spPr>
            <a:xfrm>
              <a:off x="7461885" y="332740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협력사</a:t>
              </a:r>
            </a:p>
          </p:txBody>
        </p:sp>
        <p:sp>
          <p:nvSpPr>
            <p:cNvPr id="36" name="TextBox 36"/>
            <p:cNvSpPr txBox="1"/>
            <p:nvPr/>
          </p:nvSpPr>
          <p:spPr>
            <a:xfrm>
              <a:off x="7461123" y="3517900"/>
              <a:ext cx="2321306"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GPR 전문기업·PV5 특장업체</a:t>
              </a:r>
              <a:br>
                <a:rPr lang="ko-KR" sz="1280" dirty="0">
                  <a:solidFill>
                    <a:srgbClr val="111827"/>
                  </a:solidFill>
                  <a:latin typeface="+mn-lt"/>
                  <a:ea typeface="+mn-ea"/>
                  <a:cs typeface="+mn-cs"/>
                </a:rPr>
              </a:br>
              <a:r>
                <a:rPr lang="ko-KR" sz="1280" dirty="0">
                  <a:solidFill>
                    <a:srgbClr val="111827"/>
                  </a:solidFill>
                  <a:latin typeface="+mn-lt"/>
                  <a:ea typeface="+mn-ea"/>
                  <a:cs typeface="+mn-cs"/>
                </a:rPr>
                <a:t>GIS·클라우드 사업자·AR 장비사</a:t>
              </a:r>
            </a:p>
          </p:txBody>
        </p:sp>
        <p:sp>
          <p:nvSpPr>
            <p:cNvPr id="37" name="Line 37"/>
            <p:cNvSpPr/>
            <p:nvPr/>
          </p:nvSpPr>
          <p:spPr>
            <a:xfrm>
              <a:off x="7467600" y="40957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8" name="TextBox 38"/>
            <p:cNvSpPr txBox="1"/>
            <p:nvPr/>
          </p:nvSpPr>
          <p:spPr>
            <a:xfrm>
              <a:off x="7461885" y="4260850"/>
              <a:ext cx="312979"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기아</a:t>
              </a:r>
            </a:p>
          </p:txBody>
        </p:sp>
        <p:sp>
          <p:nvSpPr>
            <p:cNvPr id="39" name="TextBox 39"/>
            <p:cNvSpPr txBox="1"/>
            <p:nvPr/>
          </p:nvSpPr>
          <p:spPr>
            <a:xfrm>
              <a:off x="7899273" y="4248150"/>
              <a:ext cx="3976118" cy="250317"/>
            </a:xfrm>
            <a:prstGeom prst="rect">
              <a:avLst/>
            </a:prstGeom>
            <a:noFill/>
            <a:ln>
              <a:noFill/>
            </a:ln>
          </p:spPr>
          <p:txBody>
            <a:bodyPr wrap="none" lIns="0" tIns="0" rIns="0" bIns="0" anchor="t" anchorCtr="0">
              <a:spAutoFit/>
            </a:bodyPr>
            <a:lstStyle/>
            <a:p>
              <a:pPr algn="l"/>
              <a:r>
                <a:rPr lang="ko-KR" sz="1280" b="1" dirty="0">
                  <a:solidFill>
                    <a:srgbClr val="111827"/>
                  </a:solidFill>
                  <a:latin typeface="+mn-lt"/>
                  <a:ea typeface="+mn-ea"/>
                  <a:cs typeface="+mn-cs"/>
                </a:rPr>
                <a:t xml:space="preserve">PV5 컨버전 플릿 판매 </a:t>
              </a:r>
              <a:r>
                <a:rPr lang="ko-KR" sz="1280" dirty="0">
                  <a:solidFill>
                    <a:srgbClr val="111827"/>
                  </a:solidFill>
                  <a:latin typeface="+mn-lt"/>
                  <a:ea typeface="+mn-ea"/>
                  <a:cs typeface="+mn-cs"/>
                </a:rPr>
                <a:t>· Pleos 앱 마켓 공공 업무 앱</a:t>
              </a:r>
            </a:p>
          </p:txBody>
        </p:sp>
      </p:grpSp>
      <p:grpSp>
        <p:nvGrpSpPr>
          <p:cNvPr id="45" name="demand"/>
          <p:cNvGrpSpPr/>
          <p:nvPr/>
        </p:nvGrpSpPr>
        <p:grpSpPr>
          <a:xfrm>
            <a:off x="533400" y="5010150"/>
            <a:ext cx="11125200" cy="762000"/>
            <a:chOff x="533400" y="5010150"/>
            <a:chExt cx="11125200" cy="762000"/>
          </a:xfrm>
        </p:grpSpPr>
        <p:sp>
          <p:nvSpPr>
            <p:cNvPr id="41" name="Rectangle 41"/>
            <p:cNvSpPr/>
            <p:nvPr/>
          </p:nvSpPr>
          <p:spPr>
            <a:xfrm>
              <a:off x="533400" y="5010150"/>
              <a:ext cx="11125200" cy="762000"/>
            </a:xfrm>
            <a:prstGeom prst="rect">
              <a:avLst/>
            </a:prstGeom>
            <a:solidFill>
              <a:srgbClr val="0B1E3C"/>
            </a:solidFill>
            <a:ln>
              <a:noFill/>
            </a:ln>
          </p:spPr>
        </p:sp>
        <p:sp>
          <p:nvSpPr>
            <p:cNvPr id="42" name="TextBox 42"/>
            <p:cNvSpPr txBox="1"/>
            <p:nvPr/>
          </p:nvSpPr>
          <p:spPr>
            <a:xfrm>
              <a:off x="756285" y="5156200"/>
              <a:ext cx="2192005"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수요 근거 · 서울시 2026년 계획</a:t>
              </a:r>
            </a:p>
          </p:txBody>
        </p:sp>
        <p:sp>
          <p:nvSpPr>
            <p:cNvPr id="43" name="TextBox 43"/>
            <p:cNvSpPr txBox="1"/>
            <p:nvPr/>
          </p:nvSpPr>
          <p:spPr>
            <a:xfrm>
              <a:off x="752856" y="5394325"/>
              <a:ext cx="5931016"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GPR 탐사 16,423km · 전담 인력 9명 → 19명으로 확대</a:t>
              </a:r>
            </a:p>
          </p:txBody>
        </p:sp>
        <p:sp>
          <p:nvSpPr>
            <p:cNvPr id="44" name="TextBox 44"/>
            <p:cNvSpPr txBox="1"/>
            <p:nvPr/>
          </p:nvSpPr>
          <p:spPr>
            <a:xfrm>
              <a:off x="8567425" y="5305425"/>
              <a:ext cx="2869052" cy="250317"/>
            </a:xfrm>
            <a:prstGeom prst="rect">
              <a:avLst/>
            </a:prstGeom>
            <a:noFill/>
            <a:ln>
              <a:noFill/>
            </a:ln>
          </p:spPr>
          <p:txBody>
            <a:bodyPr wrap="none" lIns="0" tIns="0" rIns="0" bIns="0" anchor="t" anchorCtr="0">
              <a:spAutoFit/>
            </a:bodyPr>
            <a:lstStyle/>
            <a:p>
              <a:pPr algn="r"/>
              <a:r>
                <a:rPr lang="ko-KR" sz="1280" b="1" dirty="0">
                  <a:solidFill>
                    <a:srgbClr val="D6DDE8"/>
                  </a:solidFill>
                  <a:latin typeface="+mn-lt"/>
                  <a:ea typeface="+mn-ea"/>
                  <a:cs typeface="+mn-cs"/>
                </a:rPr>
                <a:t>반복 탐사 수요가 이미 늘고 있습니다</a:t>
              </a:r>
            </a:p>
          </p:txBody>
        </p:sp>
      </p:grpSp>
      <p:grpSp>
        <p:nvGrpSpPr>
          <p:cNvPr id="48" name="procurement"/>
          <p:cNvGrpSpPr/>
          <p:nvPr/>
        </p:nvGrpSpPr>
        <p:grpSpPr>
          <a:xfrm>
            <a:off x="527304" y="5886450"/>
            <a:ext cx="8693948" cy="463296"/>
            <a:chOff x="527304" y="5886450"/>
            <a:chExt cx="8693948" cy="463296"/>
          </a:xfrm>
        </p:grpSpPr>
        <p:sp>
          <p:nvSpPr>
            <p:cNvPr id="46" name="TextBox 46"/>
            <p:cNvSpPr txBox="1"/>
            <p:nvPr/>
          </p:nvSpPr>
          <p:spPr>
            <a:xfrm>
              <a:off x="527304" y="5886450"/>
              <a:ext cx="8693948"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조달 접근</a:t>
              </a:r>
              <a:r>
                <a:rPr lang="ko-KR" sz="1200" dirty="0">
                  <a:solidFill>
                    <a:srgbClr val="111827"/>
                  </a:solidFill>
                  <a:latin typeface="+mn-lt"/>
                  <a:ea typeface="+mn-ea"/>
                  <a:cs typeface="+mn-cs"/>
                </a:rPr>
                <a:t xml:space="preserve"> 첫 계약은 기존 GPR 조사기관과 공동 수행해 실적과 신뢰를 확보하고, 한 위험구간 입증 후 인접 구역으로 확장</a:t>
              </a:r>
            </a:p>
          </p:txBody>
        </p:sp>
        <p:sp>
          <p:nvSpPr>
            <p:cNvPr id="47" name="TextBox 47"/>
            <p:cNvSpPr txBox="1"/>
            <p:nvPr/>
          </p:nvSpPr>
          <p:spPr>
            <a:xfrm>
              <a:off x="527304" y="6115050"/>
              <a:ext cx="5528920"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가격</a:t>
              </a:r>
              <a:r>
                <a:rPr lang="ko-KR" sz="1200" dirty="0">
                  <a:solidFill>
                    <a:srgbClr val="111827"/>
                  </a:solidFill>
                  <a:latin typeface="+mn-lt"/>
                  <a:ea typeface="+mn-ea"/>
                  <a:cs typeface="+mn-cs"/>
                </a:rPr>
                <a:t xml:space="preserve"> 일일 조사거리·인력·장비 감가·분석시간을 확인한 뒤 산정 </a:t>
              </a:r>
              <a:r>
                <a:rPr lang="ko-KR" sz="1200" dirty="0">
                  <a:solidFill>
                    <a:srgbClr val="4B5563"/>
                  </a:solidFill>
                  <a:latin typeface="+mn-lt"/>
                  <a:ea typeface="+mn-ea"/>
                  <a:cs typeface="+mn-cs"/>
                </a:rPr>
                <a:t>[실증 필요]</a:t>
              </a:r>
            </a:p>
          </p:txBody>
        </p:sp>
      </p:grpSp>
      <p:grpSp>
        <p:nvGrpSpPr>
          <p:cNvPr id="50" name="source"/>
          <p:cNvGrpSpPr/>
          <p:nvPr/>
        </p:nvGrpSpPr>
        <p:grpSpPr>
          <a:xfrm>
            <a:off x="528638" y="6381750"/>
            <a:ext cx="6897357" cy="176212"/>
            <a:chOff x="528638" y="6381750"/>
            <a:chExt cx="6897357" cy="176212"/>
          </a:xfrm>
        </p:grpSpPr>
        <p:sp>
          <p:nvSpPr>
            <p:cNvPr id="49" name="TextBox 49"/>
            <p:cNvSpPr txBox="1"/>
            <p:nvPr/>
          </p:nvSpPr>
          <p:spPr>
            <a:xfrm>
              <a:off x="528638" y="6381750"/>
              <a:ext cx="689735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서울시 보도자료 「지반침하 예방체계 강화」 · 지하정보는 제3자에게 판매하지 않고 계약기관 접근제어형 서비스로 제공</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초기 고객과 확장 전략</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8378691" cy="557403"/>
            <a:chOff x="518922" y="781050"/>
            <a:chExt cx="8378691" cy="557403"/>
          </a:xfrm>
        </p:grpSpPr>
        <p:sp>
          <p:nvSpPr>
            <p:cNvPr id="9" name="TextBox 9"/>
            <p:cNvSpPr txBox="1"/>
            <p:nvPr/>
          </p:nvSpPr>
          <p:spPr>
            <a:xfrm>
              <a:off x="518922" y="781050"/>
              <a:ext cx="837869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탐사를 발주하는 지자체에서 시작합니다</a:t>
              </a:r>
            </a:p>
          </p:txBody>
        </p:sp>
      </p:grpSp>
      <p:grpSp>
        <p:nvGrpSpPr>
          <p:cNvPr id="12" name="lead"/>
          <p:cNvGrpSpPr/>
          <p:nvPr/>
        </p:nvGrpSpPr>
        <p:grpSpPr>
          <a:xfrm>
            <a:off x="526542" y="1339850"/>
            <a:ext cx="7746625" cy="264033"/>
            <a:chOff x="526542" y="1339850"/>
            <a:chExt cx="7746625" cy="264033"/>
          </a:xfrm>
        </p:grpSpPr>
        <p:sp>
          <p:nvSpPr>
            <p:cNvPr id="11" name="TextBox 11"/>
            <p:cNvSpPr txBox="1"/>
            <p:nvPr/>
          </p:nvSpPr>
          <p:spPr>
            <a:xfrm>
              <a:off x="526542" y="1339850"/>
              <a:ext cx="7746625"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새 예산을 만들지 않고, 지금 있는 탐사 예산과 공공 실증·혁신조달 제도로 들어가 넓혀 갑니다.</a:t>
              </a:r>
            </a:p>
          </p:txBody>
        </p:sp>
      </p:grpSp>
      <p:grpSp>
        <p:nvGrpSpPr>
          <p:cNvPr id="25" name="market-facts"/>
          <p:cNvGrpSpPr/>
          <p:nvPr/>
        </p:nvGrpSpPr>
        <p:grpSpPr>
          <a:xfrm>
            <a:off x="533400" y="1714500"/>
            <a:ext cx="11125200" cy="1066800"/>
            <a:chOff x="533400" y="1714500"/>
            <a:chExt cx="11125200" cy="1066800"/>
          </a:xfrm>
        </p:grpSpPr>
        <p:sp>
          <p:nvSpPr>
            <p:cNvPr id="13" name="Rectangle 13"/>
            <p:cNvSpPr/>
            <p:nvPr/>
          </p:nvSpPr>
          <p:spPr>
            <a:xfrm>
              <a:off x="533400" y="1714500"/>
              <a:ext cx="3581400" cy="1066800"/>
            </a:xfrm>
            <a:prstGeom prst="rect">
              <a:avLst/>
            </a:prstGeom>
            <a:solidFill>
              <a:srgbClr val="0B1E3C"/>
            </a:solidFill>
            <a:ln>
              <a:noFill/>
            </a:ln>
          </p:spPr>
        </p:sp>
        <p:sp>
          <p:nvSpPr>
            <p:cNvPr id="14" name="TextBox 14"/>
            <p:cNvSpPr txBox="1"/>
            <p:nvPr/>
          </p:nvSpPr>
          <p:spPr>
            <a:xfrm>
              <a:off x="730758" y="1860550"/>
              <a:ext cx="2961254"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4,558만~1.77억 원</a:t>
              </a:r>
            </a:p>
          </p:txBody>
        </p:sp>
        <p:sp>
          <p:nvSpPr>
            <p:cNvPr id="15" name="TextBox 15"/>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2026년 지자체 GPR 탐사 용역 낙찰액</a:t>
              </a:r>
            </a:p>
          </p:txBody>
        </p:sp>
        <p:sp>
          <p:nvSpPr>
            <p:cNvPr id="16" name="TextBox 16"/>
            <p:cNvSpPr txBox="1"/>
            <p:nvPr/>
          </p:nvSpPr>
          <p:spPr>
            <a:xfrm>
              <a:off x="737616" y="2501900"/>
              <a:ext cx="2830620"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보령·안양·용인(기흥구) 낙찰, 이미 집행 중</a:t>
              </a:r>
            </a:p>
          </p:txBody>
        </p:sp>
        <p:sp>
          <p:nvSpPr>
            <p:cNvPr id="17" name="Rectangle 17"/>
            <p:cNvSpPr/>
            <p:nvPr/>
          </p:nvSpPr>
          <p:spPr>
            <a:xfrm>
              <a:off x="4305300" y="1714500"/>
              <a:ext cx="3581400" cy="1066800"/>
            </a:xfrm>
            <a:prstGeom prst="rect">
              <a:avLst/>
            </a:prstGeom>
            <a:solidFill>
              <a:srgbClr val="0B1E3C"/>
            </a:solidFill>
            <a:ln>
              <a:noFill/>
            </a:ln>
          </p:spPr>
        </p:sp>
        <p:sp>
          <p:nvSpPr>
            <p:cNvPr id="18" name="TextBox 18"/>
            <p:cNvSpPr txBox="1"/>
            <p:nvPr/>
          </p:nvSpPr>
          <p:spPr>
            <a:xfrm>
              <a:off x="4502658" y="1860550"/>
              <a:ext cx="534055"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0대</a:t>
              </a:r>
            </a:p>
          </p:txBody>
        </p:sp>
        <p:sp>
          <p:nvSpPr>
            <p:cNvPr id="19" name="TextBox 19"/>
            <p:cNvSpPr txBox="1"/>
            <p:nvPr/>
          </p:nvSpPr>
          <p:spPr>
            <a:xfrm>
              <a:off x="4508754" y="2266950"/>
              <a:ext cx="26673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경기도·31개 시·군의 GPR 보유 대수</a:t>
              </a:r>
            </a:p>
          </p:txBody>
        </p:sp>
        <p:sp>
          <p:nvSpPr>
            <p:cNvPr id="20" name="TextBox 20"/>
            <p:cNvSpPr txBox="1"/>
            <p:nvPr/>
          </p:nvSpPr>
          <p:spPr>
            <a:xfrm>
              <a:off x="4509516" y="2501900"/>
              <a:ext cx="2724607"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장비 없이 외부 용역에 의존 (2025.4 보도)</a:t>
              </a:r>
            </a:p>
          </p:txBody>
        </p:sp>
        <p:sp>
          <p:nvSpPr>
            <p:cNvPr id="21" name="Rectangle 21"/>
            <p:cNvSpPr/>
            <p:nvPr/>
          </p:nvSpPr>
          <p:spPr>
            <a:xfrm>
              <a:off x="8077200" y="1714500"/>
              <a:ext cx="3581400" cy="1066800"/>
            </a:xfrm>
            <a:prstGeom prst="rect">
              <a:avLst/>
            </a:prstGeom>
            <a:solidFill>
              <a:srgbClr val="0B1E3C"/>
            </a:solidFill>
            <a:ln>
              <a:noFill/>
            </a:ln>
          </p:spPr>
        </p:sp>
        <p:sp>
          <p:nvSpPr>
            <p:cNvPr id="22" name="TextBox 22"/>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최대 6년</a:t>
              </a:r>
            </a:p>
          </p:txBody>
        </p:sp>
        <p:sp>
          <p:nvSpPr>
            <p:cNvPr id="23" name="TextBox 23"/>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조달청 혁신제품 수의계약</a:t>
              </a:r>
            </a:p>
          </p:txBody>
        </p:sp>
        <p:sp>
          <p:nvSpPr>
            <p:cNvPr id="24" name="TextBox 24"/>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실증 후 반복 계약으로 가는 길</a:t>
              </a:r>
            </a:p>
          </p:txBody>
        </p:sp>
      </p:grpSp>
      <p:grpSp>
        <p:nvGrpSpPr>
          <p:cNvPr id="58" name="steps"/>
          <p:cNvGrpSpPr/>
          <p:nvPr/>
        </p:nvGrpSpPr>
        <p:grpSpPr>
          <a:xfrm>
            <a:off x="524637" y="3009900"/>
            <a:ext cx="11133963" cy="1847850"/>
            <a:chOff x="524637" y="3009900"/>
            <a:chExt cx="11133963" cy="1847850"/>
          </a:xfrm>
        </p:grpSpPr>
        <p:sp>
          <p:nvSpPr>
            <p:cNvPr id="26" name="Rectangle 26"/>
            <p:cNvSpPr/>
            <p:nvPr/>
          </p:nvSpPr>
          <p:spPr>
            <a:xfrm>
              <a:off x="533400" y="3009900"/>
              <a:ext cx="2609850" cy="38100"/>
            </a:xfrm>
            <a:prstGeom prst="rect">
              <a:avLst/>
            </a:prstGeom>
            <a:solidFill>
              <a:srgbClr val="0B1E3C"/>
            </a:solidFill>
            <a:ln>
              <a:noFill/>
            </a:ln>
          </p:spPr>
        </p:sp>
        <p:sp>
          <p:nvSpPr>
            <p:cNvPr id="27" name="Rectangle 27"/>
            <p:cNvSpPr/>
            <p:nvPr/>
          </p:nvSpPr>
          <p:spPr>
            <a:xfrm>
              <a:off x="3371850" y="3009900"/>
              <a:ext cx="2609850" cy="38100"/>
            </a:xfrm>
            <a:prstGeom prst="rect">
              <a:avLst/>
            </a:prstGeom>
            <a:solidFill>
              <a:srgbClr val="0B1E3C"/>
            </a:solidFill>
            <a:ln>
              <a:noFill/>
            </a:ln>
          </p:spPr>
        </p:sp>
        <p:sp>
          <p:nvSpPr>
            <p:cNvPr id="28" name="Rectangle 28"/>
            <p:cNvSpPr/>
            <p:nvPr/>
          </p:nvSpPr>
          <p:spPr>
            <a:xfrm>
              <a:off x="6210300" y="3009900"/>
              <a:ext cx="2609850" cy="38100"/>
            </a:xfrm>
            <a:prstGeom prst="rect">
              <a:avLst/>
            </a:prstGeom>
            <a:solidFill>
              <a:srgbClr val="0B1E3C"/>
            </a:solidFill>
            <a:ln>
              <a:noFill/>
            </a:ln>
          </p:spPr>
        </p:sp>
        <p:sp>
          <p:nvSpPr>
            <p:cNvPr id="29" name="Rectangle 29"/>
            <p:cNvSpPr/>
            <p:nvPr/>
          </p:nvSpPr>
          <p:spPr>
            <a:xfrm>
              <a:off x="9048750" y="3009900"/>
              <a:ext cx="2609850" cy="38100"/>
            </a:xfrm>
            <a:prstGeom prst="rect">
              <a:avLst/>
            </a:prstGeom>
            <a:solidFill>
              <a:srgbClr val="F5B700"/>
            </a:solidFill>
            <a:ln>
              <a:noFill/>
            </a:ln>
          </p:spPr>
        </p:sp>
        <p:grpSp>
          <p:nvGrpSpPr>
            <p:cNvPr id="34" name="Group 34"/>
            <p:cNvGrpSpPr/>
            <p:nvPr/>
          </p:nvGrpSpPr>
          <p:grpSpPr>
            <a:xfrm>
              <a:off x="528066" y="3168650"/>
              <a:ext cx="8830629" cy="205359"/>
              <a:chOff x="528066" y="3168650"/>
              <a:chExt cx="8830629" cy="205359"/>
            </a:xfrm>
          </p:grpSpPr>
          <p:sp>
            <p:nvSpPr>
              <p:cNvPr id="30" name="TextBox 30"/>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1" name="TextBox 31"/>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2" name="TextBox 32"/>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3" name="TextBox 33"/>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39" name="Group 39"/>
            <p:cNvGrpSpPr/>
            <p:nvPr/>
          </p:nvGrpSpPr>
          <p:grpSpPr>
            <a:xfrm>
              <a:off x="524637" y="3365500"/>
              <a:ext cx="10128810" cy="337376"/>
              <a:chOff x="524637" y="3365500"/>
              <a:chExt cx="10128810" cy="337376"/>
            </a:xfrm>
          </p:grpSpPr>
          <p:sp>
            <p:nvSpPr>
              <p:cNvPr id="35" name="TextBox 35"/>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36" name="TextBox 36"/>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37" name="TextBox 37"/>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38" name="TextBox 38"/>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3" name="Group 43"/>
            <p:cNvGrpSpPr/>
            <p:nvPr/>
          </p:nvGrpSpPr>
          <p:grpSpPr>
            <a:xfrm>
              <a:off x="3181350" y="3505200"/>
              <a:ext cx="5810250" cy="1"/>
              <a:chOff x="3181350" y="3505200"/>
              <a:chExt cx="5810250" cy="1"/>
            </a:xfrm>
          </p:grpSpPr>
          <p:sp>
            <p:nvSpPr>
              <p:cNvPr id="40" name="Line 40"/>
              <p:cNvSpPr/>
              <p:nvPr/>
            </p:nvSpPr>
            <p:spPr>
              <a:xfrm>
                <a:off x="3181350" y="3505200"/>
                <a:ext cx="133350" cy="1"/>
              </a:xfrm>
              <a:prstGeom prst="line">
                <a:avLst/>
              </a:prstGeom>
              <a:noFill/>
              <a:ln w="14288">
                <a:solidFill>
                  <a:srgbClr val="9AA3AF"/>
                </a:solidFill>
                <a:tailEnd type="triangle" w="lg" len="lg"/>
              </a:ln>
            </p:spPr>
          </p:sp>
          <p:sp>
            <p:nvSpPr>
              <p:cNvPr id="41" name="Line 41"/>
              <p:cNvSpPr/>
              <p:nvPr/>
            </p:nvSpPr>
            <p:spPr>
              <a:xfrm>
                <a:off x="6019800" y="3505200"/>
                <a:ext cx="133350" cy="1"/>
              </a:xfrm>
              <a:prstGeom prst="line">
                <a:avLst/>
              </a:prstGeom>
              <a:noFill/>
              <a:ln w="14288">
                <a:solidFill>
                  <a:srgbClr val="9AA3AF"/>
                </a:solidFill>
                <a:tailEnd type="triangle" w="lg" len="lg"/>
              </a:ln>
            </p:spPr>
          </p:sp>
          <p:sp>
            <p:nvSpPr>
              <p:cNvPr id="42" name="Line 42"/>
              <p:cNvSpPr/>
              <p:nvPr/>
            </p:nvSpPr>
            <p:spPr>
              <a:xfrm>
                <a:off x="8858250" y="3505200"/>
                <a:ext cx="133350" cy="1"/>
              </a:xfrm>
              <a:prstGeom prst="line">
                <a:avLst/>
              </a:prstGeom>
              <a:noFill/>
              <a:ln w="14288">
                <a:solidFill>
                  <a:srgbClr val="9AA3AF"/>
                </a:solidFill>
                <a:tailEnd type="triangle" w="lg" len="lg"/>
              </a:ln>
            </p:spPr>
          </p:sp>
        </p:grpSp>
        <p:grpSp>
          <p:nvGrpSpPr>
            <p:cNvPr id="48" name="Group 48"/>
            <p:cNvGrpSpPr/>
            <p:nvPr/>
          </p:nvGrpSpPr>
          <p:grpSpPr>
            <a:xfrm>
              <a:off x="527304" y="3689350"/>
              <a:ext cx="10287762" cy="691896"/>
              <a:chOff x="527304" y="3689350"/>
              <a:chExt cx="10287762" cy="691896"/>
            </a:xfrm>
          </p:grpSpPr>
          <p:sp>
            <p:nvSpPr>
              <p:cNvPr id="44" name="TextBox 44"/>
              <p:cNvSpPr txBox="1"/>
              <p:nvPr/>
            </p:nvSpPr>
            <p:spPr>
              <a:xfrm>
                <a:off x="527304" y="3689350"/>
                <a:ext cx="178003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br>
                  <a:rPr lang="ko-KR" sz="1200" dirty="0">
                    <a:solidFill>
                      <a:srgbClr val="111827"/>
                    </a:solidFill>
                    <a:latin typeface="+mn-lt"/>
                    <a:ea typeface="+mn-ea"/>
                    <a:cs typeface="+mn-cs"/>
                  </a:rPr>
                </a:br>
                <a:r>
                  <a:rPr lang="ko-KR" sz="1200" dirty="0">
                    <a:solidFill>
                      <a:srgbClr val="111827"/>
                    </a:solidFill>
                    <a:latin typeface="+mn-lt"/>
                    <a:ea typeface="+mn-ea"/>
                    <a:cs typeface="+mn-cs"/>
                  </a:rPr>
                  <a:t>기존 GPR 조사기관과 공동</a:t>
                </a:r>
              </a:p>
            </p:txBody>
          </p:sp>
          <p:sp>
            <p:nvSpPr>
              <p:cNvPr id="45" name="TextBox 45"/>
              <p:cNvSpPr txBox="1"/>
              <p:nvPr/>
            </p:nvSpPr>
            <p:spPr>
              <a:xfrm>
                <a:off x="3365754" y="3689350"/>
                <a:ext cx="178003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br>
                  <a:rPr lang="ko-KR" sz="1200" dirty="0">
                    <a:solidFill>
                      <a:srgbClr val="111827"/>
                    </a:solidFill>
                    <a:latin typeface="+mn-lt"/>
                    <a:ea typeface="+mn-ea"/>
                    <a:cs typeface="+mn-cs"/>
                  </a:rPr>
                </a:br>
                <a:r>
                  <a:rPr lang="ko-KR" sz="1200" dirty="0">
                    <a:solidFill>
                      <a:srgbClr val="111827"/>
                    </a:solidFill>
                    <a:latin typeface="+mn-lt"/>
                    <a:ea typeface="+mn-ea"/>
                    <a:cs typeface="+mn-cs"/>
                  </a:rPr>
                  <a:t>1회 탐사 → 반복 탐사 제안</a:t>
                </a:r>
              </a:p>
            </p:txBody>
          </p:sp>
          <p:sp>
            <p:nvSpPr>
              <p:cNvPr id="46" name="TextBox 46"/>
              <p:cNvSpPr txBox="1"/>
              <p:nvPr/>
            </p:nvSpPr>
            <p:spPr>
              <a:xfrm>
                <a:off x="6204204" y="3689350"/>
                <a:ext cx="18257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br>
                  <a:rPr lang="ko-KR" sz="1200" dirty="0">
                    <a:solidFill>
                      <a:srgbClr val="111827"/>
                    </a:solidFill>
                    <a:latin typeface="+mn-lt"/>
                    <a:ea typeface="+mn-ea"/>
                    <a:cs typeface="+mn-cs"/>
                  </a:rPr>
                </a:br>
                <a:r>
                  <a:rPr lang="ko-KR" sz="1200" dirty="0">
                    <a:solidFill>
                      <a:srgbClr val="111827"/>
                    </a:solidFill>
                    <a:latin typeface="+mn-lt"/>
                    <a:ea typeface="+mn-ea"/>
                    <a:cs typeface="+mn-cs"/>
                  </a:rPr>
                  <a:t>자치구 연간 반복관제 계약</a:t>
                </a:r>
              </a:p>
            </p:txBody>
          </p:sp>
          <p:sp>
            <p:nvSpPr>
              <p:cNvPr id="47" name="TextBox 47"/>
              <p:cNvSpPr txBox="1"/>
              <p:nvPr/>
            </p:nvSpPr>
            <p:spPr>
              <a:xfrm>
                <a:off x="9042654" y="3689350"/>
                <a:ext cx="177241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br>
                  <a:rPr lang="ko-KR" sz="1200" dirty="0">
                    <a:solidFill>
                      <a:srgbClr val="111827"/>
                    </a:solidFill>
                    <a:latin typeface="+mn-lt"/>
                    <a:ea typeface="+mn-ea"/>
                    <a:cs typeface="+mn-cs"/>
                  </a:rPr>
                </a:br>
                <a:r>
                  <a:rPr lang="ko-KR" sz="1200" dirty="0">
                    <a:solidFill>
                      <a:srgbClr val="111827"/>
                    </a:solidFill>
                    <a:latin typeface="+mn-lt"/>
                    <a:ea typeface="+mn-ea"/>
                    <a:cs typeface="+mn-cs"/>
                  </a:rPr>
                  <a:t>광역지자체 PV5 플릿 구매</a:t>
                </a:r>
              </a:p>
            </p:txBody>
          </p:sp>
        </p:grpSp>
        <p:grpSp>
          <p:nvGrpSpPr>
            <p:cNvPr id="57" name="Group 57"/>
            <p:cNvGrpSpPr/>
            <p:nvPr/>
          </p:nvGrpSpPr>
          <p:grpSpPr>
            <a:xfrm>
              <a:off x="533400" y="4533900"/>
              <a:ext cx="11125200" cy="323850"/>
              <a:chOff x="533400" y="4533900"/>
              <a:chExt cx="11125200" cy="323850"/>
            </a:xfrm>
          </p:grpSpPr>
          <p:sp>
            <p:nvSpPr>
              <p:cNvPr id="49" name="Rectangle 49"/>
              <p:cNvSpPr/>
              <p:nvPr/>
            </p:nvSpPr>
            <p:spPr>
              <a:xfrm>
                <a:off x="533400" y="4533900"/>
                <a:ext cx="2609850" cy="323850"/>
              </a:xfrm>
              <a:prstGeom prst="rect">
                <a:avLst/>
              </a:prstGeom>
              <a:solidFill>
                <a:srgbClr val="F3F5F8"/>
              </a:solidFill>
              <a:ln>
                <a:noFill/>
              </a:ln>
            </p:spPr>
          </p:sp>
          <p:sp>
            <p:nvSpPr>
              <p:cNvPr id="50" name="TextBox 50"/>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1" name="Rectangle 51"/>
              <p:cNvSpPr/>
              <p:nvPr/>
            </p:nvSpPr>
            <p:spPr>
              <a:xfrm>
                <a:off x="3371850" y="4533900"/>
                <a:ext cx="2609850" cy="323850"/>
              </a:xfrm>
              <a:prstGeom prst="rect">
                <a:avLst/>
              </a:prstGeom>
              <a:solidFill>
                <a:srgbClr val="F3F5F8"/>
              </a:solidFill>
              <a:ln>
                <a:noFill/>
              </a:ln>
            </p:spPr>
          </p:sp>
          <p:sp>
            <p:nvSpPr>
              <p:cNvPr id="52" name="TextBox 52"/>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3" name="Rectangle 53"/>
              <p:cNvSpPr/>
              <p:nvPr/>
            </p:nvSpPr>
            <p:spPr>
              <a:xfrm>
                <a:off x="6210300" y="4533900"/>
                <a:ext cx="2609850" cy="323850"/>
              </a:xfrm>
              <a:prstGeom prst="rect">
                <a:avLst/>
              </a:prstGeom>
              <a:solidFill>
                <a:srgbClr val="F3F5F8"/>
              </a:solidFill>
              <a:ln>
                <a:noFill/>
              </a:ln>
            </p:spPr>
          </p:sp>
          <p:sp>
            <p:nvSpPr>
              <p:cNvPr id="54" name="TextBox 54"/>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자치구 2곳 연간 계약 </a:t>
                </a:r>
                <a:r>
                  <a:rPr lang="ko-KR" sz="1050" dirty="0">
                    <a:solidFill>
                      <a:srgbClr val="4B5563"/>
                    </a:solidFill>
                    <a:latin typeface="+mn-lt"/>
                    <a:ea typeface="+mn-ea"/>
                    <a:cs typeface="+mn-cs"/>
                  </a:rPr>
                  <a:t>[목표]</a:t>
                </a:r>
              </a:p>
            </p:txBody>
          </p:sp>
          <p:sp>
            <p:nvSpPr>
              <p:cNvPr id="55" name="Rectangle 55"/>
              <p:cNvSpPr/>
              <p:nvPr/>
            </p:nvSpPr>
            <p:spPr>
              <a:xfrm>
                <a:off x="9048750" y="4533900"/>
                <a:ext cx="2609850" cy="323850"/>
              </a:xfrm>
              <a:prstGeom prst="rect">
                <a:avLst/>
              </a:prstGeom>
              <a:solidFill>
                <a:srgbClr val="FFF6D6"/>
              </a:solidFill>
              <a:ln>
                <a:noFill/>
              </a:ln>
            </p:spPr>
          </p:sp>
          <p:sp>
            <p:nvSpPr>
              <p:cNvPr id="56" name="TextBox 56"/>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0" name="partner"/>
          <p:cNvGrpSpPr/>
          <p:nvPr/>
        </p:nvGrpSpPr>
        <p:grpSpPr>
          <a:xfrm>
            <a:off x="527304" y="5181600"/>
            <a:ext cx="11313773" cy="234696"/>
            <a:chOff x="527304" y="5181600"/>
            <a:chExt cx="11313773" cy="234696"/>
          </a:xfrm>
        </p:grpSpPr>
        <p:sp>
          <p:nvSpPr>
            <p:cNvPr id="59" name="TextBox 59"/>
            <p:cNvSpPr txBox="1"/>
            <p:nvPr/>
          </p:nvSpPr>
          <p:spPr>
            <a:xfrm>
              <a:off x="527304" y="5181600"/>
              <a:ext cx="113137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협력 원칙</a:t>
              </a:r>
              <a:r>
                <a:rPr lang="ko-KR" sz="1200" dirty="0">
                  <a:solidFill>
                    <a:srgbClr val="111827"/>
                  </a:solidFill>
                  <a:latin typeface="+mn-lt"/>
                  <a:ea typeface="+mn-ea"/>
                  <a:cs typeface="+mn-cs"/>
                </a:rPr>
                <a:t xml:space="preserve"> 기존 GPR 조사기관은 경쟁자가 아니라 공동 수행 파트너입니다. 탐사 자격·실적은 협력사가, 반복 비교·현장 재확인은 GroundWatch가 맡습니다.</a:t>
              </a:r>
            </a:p>
          </p:txBody>
        </p:sp>
      </p:grpSp>
      <p:grpSp>
        <p:nvGrpSpPr>
          <p:cNvPr id="63" name="conclusion"/>
          <p:cNvGrpSpPr/>
          <p:nvPr/>
        </p:nvGrpSpPr>
        <p:grpSpPr>
          <a:xfrm>
            <a:off x="533400" y="5562600"/>
            <a:ext cx="11125200" cy="495300"/>
            <a:chOff x="533400" y="5562600"/>
            <a:chExt cx="11125200" cy="495300"/>
          </a:xfrm>
        </p:grpSpPr>
        <p:sp>
          <p:nvSpPr>
            <p:cNvPr id="61" name="Rectangle 61"/>
            <p:cNvSpPr/>
            <p:nvPr/>
          </p:nvSpPr>
          <p:spPr>
            <a:xfrm>
              <a:off x="533400" y="5562600"/>
              <a:ext cx="11125200" cy="495300"/>
            </a:xfrm>
            <a:prstGeom prst="rect">
              <a:avLst/>
            </a:prstGeom>
            <a:solidFill>
              <a:srgbClr val="0B1E3C"/>
            </a:solidFill>
            <a:ln>
              <a:noFill/>
            </a:ln>
          </p:spPr>
        </p:sp>
        <p:sp>
          <p:nvSpPr>
            <p:cNvPr id="62" name="TextBox 62"/>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새 예산이 아니라, </a:t>
              </a:r>
              <a:r>
                <a:rPr lang="ko-KR" sz="1500" b="1" dirty="0">
                  <a:solidFill>
                    <a:srgbClr val="F5B700"/>
                  </a:solidFill>
                  <a:latin typeface="+mn-lt"/>
                  <a:ea typeface="+mn-ea"/>
                  <a:cs typeface="+mn-cs"/>
                </a:rPr>
                <a:t>지자체가 이미 쓰는 GPR 탐사 예산</a:t>
              </a:r>
              <a:r>
                <a:rPr lang="ko-KR" sz="1500" b="1" dirty="0">
                  <a:solidFill>
                    <a:srgbClr val="FFFFFF"/>
                  </a:solidFill>
                  <a:latin typeface="+mn-lt"/>
                  <a:ea typeface="+mn-ea"/>
                  <a:cs typeface="+mn-cs"/>
                </a:rPr>
                <a:t>에서 첫 계약을 만듭니다.</a:t>
              </a:r>
            </a:p>
          </p:txBody>
        </p:sp>
      </p:grpSp>
      <p:grpSp>
        <p:nvGrpSpPr>
          <p:cNvPr id="65" name="source"/>
          <p:cNvGrpSpPr/>
          <p:nvPr/>
        </p:nvGrpSpPr>
        <p:grpSpPr>
          <a:xfrm>
            <a:off x="528638" y="6191250"/>
            <a:ext cx="8599170" cy="328612"/>
            <a:chOff x="528638" y="6191250"/>
            <a:chExt cx="8599170" cy="328612"/>
          </a:xfrm>
        </p:grpSpPr>
        <p:sp>
          <p:nvSpPr>
            <p:cNvPr id="64" name="TextBox 64"/>
            <p:cNvSpPr txBox="1"/>
            <p:nvPr/>
          </p:nvSpPr>
          <p:spPr>
            <a:xfrm>
              <a:off x="528638" y="6191250"/>
              <a:ext cx="859917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나라장터 2026년 GPR 탐사 용역 낙찰(보령 4,558만·안양 8,522만·용인 기흥구 1억 7,736만 원, 2026.5~6 개찰) · 시사저널(2025.4.25, 경기도 GPR 보유 현황)</a:t>
              </a:r>
              <a:br>
                <a:rPr lang="ko-KR" sz="900" dirty="0">
                  <a:solidFill>
                    <a:srgbClr val="4B5563"/>
                  </a:solidFill>
                  <a:latin typeface="+mn-lt"/>
                  <a:ea typeface="+mn-ea"/>
                  <a:cs typeface="+mn-cs"/>
                </a:rPr>
              </a:br>
              <a:r>
                <a:rPr lang="ko-KR" sz="900" dirty="0">
                  <a:solidFill>
                    <a:srgbClr val="4B5563"/>
                  </a:solidFill>
                  <a:latin typeface="+mn-lt"/>
                  <a:ea typeface="+mn-ea"/>
                  <a:cs typeface="+mn-cs"/>
                </a:rPr>
                <a:t>조달청 혁신제품 지정제도(최대 6년 수의계약) · 서울시 테스트베드서울 2.0(과제당 최대 2억 원, 서울시장 명의 실증확인서) · 단계별 기간은 목표 [가설]</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기대 효과</a:t>
              </a:r>
            </a:p>
          </p:txBody>
        </p:sp>
        <p:sp>
          <p:nvSpPr>
            <p:cNvPr id="6" name="TextBox 6"/>
            <p:cNvSpPr txBox="1"/>
            <p:nvPr/>
          </p:nvSpPr>
          <p:spPr>
            <a:xfrm>
              <a:off x="268071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기존 문제와 개선 결과</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302584" cy="557403"/>
            <a:chOff x="518922" y="781050"/>
            <a:chExt cx="9302584" cy="557403"/>
          </a:xfrm>
        </p:grpSpPr>
        <p:sp>
          <p:nvSpPr>
            <p:cNvPr id="9" name="TextBox 9"/>
            <p:cNvSpPr txBox="1"/>
            <p:nvPr/>
          </p:nvSpPr>
          <p:spPr>
            <a:xfrm>
              <a:off x="518922" y="781050"/>
              <a:ext cx="93025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측정 결과가 다음 행동으로 이어지는 지하안전 관리체계</a:t>
              </a:r>
            </a:p>
          </p:txBody>
        </p:sp>
      </p:grpSp>
      <p:grpSp>
        <p:nvGrpSpPr>
          <p:cNvPr id="49" name="change-table"/>
          <p:cNvGrpSpPr/>
          <p:nvPr/>
        </p:nvGrpSpPr>
        <p:grpSpPr>
          <a:xfrm>
            <a:off x="533400" y="1333500"/>
            <a:ext cx="11125200" cy="3028950"/>
            <a:chOff x="533400" y="1333500"/>
            <a:chExt cx="11125200" cy="3028950"/>
          </a:xfrm>
        </p:grpSpPr>
        <p:sp>
          <p:nvSpPr>
            <p:cNvPr id="11" name="Rectangle 11"/>
            <p:cNvSpPr/>
            <p:nvPr/>
          </p:nvSpPr>
          <p:spPr>
            <a:xfrm>
              <a:off x="533400" y="1333500"/>
              <a:ext cx="11125200" cy="285750"/>
            </a:xfrm>
            <a:prstGeom prst="rect">
              <a:avLst/>
            </a:prstGeom>
            <a:solidFill>
              <a:srgbClr val="F3F5F8"/>
            </a:solidFill>
            <a:ln>
              <a:noFill/>
            </a:ln>
          </p:spPr>
        </p:sp>
        <p:sp>
          <p:nvSpPr>
            <p:cNvPr id="12" name="Rectangle 12"/>
            <p:cNvSpPr/>
            <p:nvPr/>
          </p:nvSpPr>
          <p:spPr>
            <a:xfrm>
              <a:off x="4724400" y="1333500"/>
              <a:ext cx="4000500" cy="285750"/>
            </a:xfrm>
            <a:prstGeom prst="rect">
              <a:avLst/>
            </a:prstGeom>
            <a:solidFill>
              <a:srgbClr val="0B1E3C"/>
            </a:solidFill>
            <a:ln>
              <a:noFill/>
            </a:ln>
          </p:spPr>
        </p:sp>
        <p:grpSp>
          <p:nvGrpSpPr>
            <p:cNvPr id="17" name="Group 17"/>
            <p:cNvGrpSpPr/>
            <p:nvPr/>
          </p:nvGrpSpPr>
          <p:grpSpPr>
            <a:xfrm>
              <a:off x="642366" y="1397000"/>
              <a:ext cx="9318776" cy="205359"/>
              <a:chOff x="642366" y="1397000"/>
              <a:chExt cx="9318776" cy="205359"/>
            </a:xfrm>
          </p:grpSpPr>
          <p:sp>
            <p:nvSpPr>
              <p:cNvPr id="13" name="TextBox 13"/>
              <p:cNvSpPr txBox="1"/>
              <p:nvPr/>
            </p:nvSpPr>
            <p:spPr>
              <a:xfrm>
                <a:off x="642366" y="1397000"/>
                <a:ext cx="29337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구분</a:t>
                </a:r>
              </a:p>
            </p:txBody>
          </p:sp>
          <p:sp>
            <p:nvSpPr>
              <p:cNvPr id="14" name="TextBox 14"/>
              <p:cNvSpPr txBox="1"/>
              <p:nvPr/>
            </p:nvSpPr>
            <p:spPr>
              <a:xfrm>
                <a:off x="1671066" y="1397000"/>
                <a:ext cx="620598"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기존 문제</a:t>
                </a:r>
              </a:p>
            </p:txBody>
          </p:sp>
          <p:sp>
            <p:nvSpPr>
              <p:cNvPr id="15" name="TextBox 15"/>
              <p:cNvSpPr txBox="1"/>
              <p:nvPr/>
            </p:nvSpPr>
            <p:spPr>
              <a:xfrm>
                <a:off x="4871466" y="1397000"/>
                <a:ext cx="1743637"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GroundWatch의 해결 방식</a:t>
                </a:r>
              </a:p>
            </p:txBody>
          </p:sp>
          <p:sp>
            <p:nvSpPr>
              <p:cNvPr id="16" name="TextBox 16"/>
              <p:cNvSpPr txBox="1"/>
              <p:nvPr/>
            </p:nvSpPr>
            <p:spPr>
              <a:xfrm>
                <a:off x="8871966" y="1397000"/>
                <a:ext cx="1089176"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확인할 개선 지표</a:t>
                </a:r>
              </a:p>
            </p:txBody>
          </p:sp>
        </p:grpSp>
        <p:sp>
          <p:nvSpPr>
            <p:cNvPr id="18" name="Rectangle 18"/>
            <p:cNvSpPr/>
            <p:nvPr/>
          </p:nvSpPr>
          <p:spPr>
            <a:xfrm>
              <a:off x="4724400" y="1619250"/>
              <a:ext cx="4000500" cy="2743200"/>
            </a:xfrm>
            <a:prstGeom prst="rect">
              <a:avLst/>
            </a:prstGeom>
            <a:solidFill>
              <a:srgbClr val="EEF2F7"/>
            </a:solidFill>
            <a:ln>
              <a:noFill/>
            </a:ln>
          </p:spPr>
        </p:sp>
        <p:grpSp>
          <p:nvGrpSpPr>
            <p:cNvPr id="48" name="Group 48"/>
            <p:cNvGrpSpPr/>
            <p:nvPr/>
          </p:nvGrpSpPr>
          <p:grpSpPr>
            <a:xfrm>
              <a:off x="533400" y="1733550"/>
              <a:ext cx="11125200" cy="2520696"/>
              <a:chOff x="533400" y="1733550"/>
              <a:chExt cx="11125200" cy="2520696"/>
            </a:xfrm>
          </p:grpSpPr>
          <p:sp>
            <p:nvSpPr>
              <p:cNvPr id="19" name="TextBox 19"/>
              <p:cNvSpPr txBox="1"/>
              <p:nvPr/>
            </p:nvSpPr>
            <p:spPr>
              <a:xfrm>
                <a:off x="641604" y="1733550"/>
                <a:ext cx="570327"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01</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기록</a:t>
                </a:r>
              </a:p>
            </p:txBody>
          </p:sp>
          <p:sp>
            <p:nvSpPr>
              <p:cNvPr id="20" name="TextBox 20"/>
              <p:cNvSpPr txBox="1"/>
              <p:nvPr/>
            </p:nvSpPr>
            <p:spPr>
              <a:xfrm>
                <a:off x="1670304" y="1733550"/>
                <a:ext cx="26292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조사 결과가 시점별 파일로 남습니다</a:t>
                </a:r>
              </a:p>
            </p:txBody>
          </p:sp>
          <p:sp>
            <p:nvSpPr>
              <p:cNvPr id="21" name="TextBox 21"/>
              <p:cNvSpPr txBox="1"/>
              <p:nvPr/>
            </p:nvSpPr>
            <p:spPr>
              <a:xfrm>
                <a:off x="4870704" y="1733550"/>
                <a:ext cx="326770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경로 데이터를 위치·시간 기준으로 누적</a:t>
                </a:r>
              </a:p>
            </p:txBody>
          </p:sp>
          <p:sp>
            <p:nvSpPr>
              <p:cNvPr id="22" name="TextBox 22"/>
              <p:cNvSpPr txBox="1"/>
              <p:nvPr/>
            </p:nvSpPr>
            <p:spPr>
              <a:xfrm>
                <a:off x="8871204" y="1733550"/>
                <a:ext cx="23061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시점별 비교가 가능한 도로 비율</a:t>
                </a:r>
              </a:p>
            </p:txBody>
          </p:sp>
          <p:sp>
            <p:nvSpPr>
              <p:cNvPr id="23" name="Line 23"/>
              <p:cNvSpPr/>
              <p:nvPr/>
            </p:nvSpPr>
            <p:spPr>
              <a:xfrm>
                <a:off x="533400" y="20764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4" name="TextBox 24"/>
              <p:cNvSpPr txBox="1"/>
              <p:nvPr/>
            </p:nvSpPr>
            <p:spPr>
              <a:xfrm>
                <a:off x="641604" y="2190750"/>
                <a:ext cx="570327"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02</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선별</a:t>
                </a:r>
              </a:p>
            </p:txBody>
          </p:sp>
          <p:sp>
            <p:nvSpPr>
              <p:cNvPr id="25" name="TextBox 25"/>
              <p:cNvSpPr txBox="1"/>
              <p:nvPr/>
            </p:nvSpPr>
            <p:spPr>
              <a:xfrm>
                <a:off x="1670304" y="2190750"/>
                <a:ext cx="28392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변화 구간을 사람이 다시 찾아야 합니다</a:t>
                </a:r>
              </a:p>
            </p:txBody>
          </p:sp>
          <p:sp>
            <p:nvSpPr>
              <p:cNvPr id="26" name="TextBox 26"/>
              <p:cNvSpPr txBox="1"/>
              <p:nvPr/>
            </p:nvSpPr>
            <p:spPr>
              <a:xfrm>
                <a:off x="4870704" y="2190750"/>
                <a:ext cx="2773871"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AI가 변화 후보를 선별, 전문가가 승인</a:t>
                </a:r>
              </a:p>
            </p:txBody>
          </p:sp>
          <p:sp>
            <p:nvSpPr>
              <p:cNvPr id="27" name="TextBox 27"/>
              <p:cNvSpPr txBox="1"/>
              <p:nvPr/>
            </p:nvSpPr>
            <p:spPr>
              <a:xfrm>
                <a:off x="8871204" y="2190750"/>
                <a:ext cx="213649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전문가 검토시간·후보 적중률</a:t>
                </a:r>
              </a:p>
            </p:txBody>
          </p:sp>
          <p:sp>
            <p:nvSpPr>
              <p:cNvPr id="28" name="Line 28"/>
              <p:cNvSpPr/>
              <p:nvPr/>
            </p:nvSpPr>
            <p:spPr>
              <a:xfrm>
                <a:off x="533400" y="25336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9" name="TextBox 29"/>
              <p:cNvSpPr txBox="1"/>
              <p:nvPr/>
            </p:nvSpPr>
            <p:spPr>
              <a:xfrm>
                <a:off x="641604" y="2647950"/>
                <a:ext cx="893415"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03</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우선순위</a:t>
                </a:r>
              </a:p>
            </p:txBody>
          </p:sp>
          <p:sp>
            <p:nvSpPr>
              <p:cNvPr id="30" name="TextBox 30"/>
              <p:cNvSpPr txBox="1"/>
              <p:nvPr/>
            </p:nvSpPr>
            <p:spPr>
              <a:xfrm>
                <a:off x="1670304" y="2647950"/>
                <a:ext cx="26292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다음 조사 순서가 경험에 의존합니다</a:t>
                </a:r>
              </a:p>
            </p:txBody>
          </p:sp>
          <p:sp>
            <p:nvSpPr>
              <p:cNvPr id="31" name="TextBox 31"/>
              <p:cNvSpPr txBox="1"/>
              <p:nvPr/>
            </p:nvSpPr>
            <p:spPr>
              <a:xfrm>
                <a:off x="4870704" y="2647950"/>
                <a:ext cx="30976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변화량·신뢰도·주변 위험요인을 함께 표시</a:t>
                </a:r>
              </a:p>
            </p:txBody>
          </p:sp>
          <p:sp>
            <p:nvSpPr>
              <p:cNvPr id="32" name="TextBox 32"/>
              <p:cNvSpPr txBox="1"/>
              <p:nvPr/>
            </p:nvSpPr>
            <p:spPr>
              <a:xfrm>
                <a:off x="8871204" y="2647950"/>
                <a:ext cx="209611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고위험 구간 재확인 소요시간</a:t>
                </a:r>
              </a:p>
            </p:txBody>
          </p:sp>
          <p:sp>
            <p:nvSpPr>
              <p:cNvPr id="33" name="Line 33"/>
              <p:cNvSpPr/>
              <p:nvPr/>
            </p:nvSpPr>
            <p:spPr>
              <a:xfrm>
                <a:off x="533400" y="29908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4" name="TextBox 34"/>
              <p:cNvSpPr txBox="1"/>
              <p:nvPr/>
            </p:nvSpPr>
            <p:spPr>
              <a:xfrm>
                <a:off x="641604" y="31051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04</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현장 위치</a:t>
                </a:r>
              </a:p>
            </p:txBody>
          </p:sp>
          <p:sp>
            <p:nvSpPr>
              <p:cNvPr id="35" name="TextBox 35"/>
              <p:cNvSpPr txBox="1"/>
              <p:nvPr/>
            </p:nvSpPr>
            <p:spPr>
              <a:xfrm>
                <a:off x="1670304" y="3105150"/>
                <a:ext cx="246766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과거 측정 위치를 찾기 어렵습니다</a:t>
                </a:r>
              </a:p>
            </p:txBody>
          </p:sp>
          <p:sp>
            <p:nvSpPr>
              <p:cNvPr id="36" name="TextBox 36"/>
              <p:cNvSpPr txBox="1"/>
              <p:nvPr/>
            </p:nvSpPr>
            <p:spPr>
              <a:xfrm>
                <a:off x="4870704" y="3105150"/>
                <a:ext cx="307774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RTK와 현장 기준점으로 AR 검색 범위 표시</a:t>
                </a:r>
              </a:p>
            </p:txBody>
          </p:sp>
          <p:sp>
            <p:nvSpPr>
              <p:cNvPr id="37" name="TextBox 37"/>
              <p:cNvSpPr txBox="1"/>
              <p:nvPr/>
            </p:nvSpPr>
            <p:spPr>
              <a:xfrm>
                <a:off x="8871204" y="3105150"/>
                <a:ext cx="181340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위치 오차·탐색시간</a:t>
                </a:r>
              </a:p>
            </p:txBody>
          </p:sp>
          <p:sp>
            <p:nvSpPr>
              <p:cNvPr id="38" name="Line 38"/>
              <p:cNvSpPr/>
              <p:nvPr/>
            </p:nvSpPr>
            <p:spPr>
              <a:xfrm>
                <a:off x="533400" y="34480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9" name="TextBox 39"/>
              <p:cNvSpPr txBox="1"/>
              <p:nvPr/>
            </p:nvSpPr>
            <p:spPr>
              <a:xfrm>
                <a:off x="641604" y="35623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05</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업무 연결</a:t>
                </a:r>
              </a:p>
            </p:txBody>
          </p:sp>
          <p:sp>
            <p:nvSpPr>
              <p:cNvPr id="40" name="TextBox 40"/>
              <p:cNvSpPr txBox="1"/>
              <p:nvPr/>
            </p:nvSpPr>
            <p:spPr>
              <a:xfrm>
                <a:off x="1670304" y="3562350"/>
                <a:ext cx="258074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넓은 탐사와 정밀조사가 분리됩니다</a:t>
                </a:r>
              </a:p>
            </p:txBody>
          </p:sp>
          <p:sp>
            <p:nvSpPr>
              <p:cNvPr id="41" name="TextBox 41"/>
              <p:cNvSpPr txBox="1"/>
              <p:nvPr/>
            </p:nvSpPr>
            <p:spPr>
              <a:xfrm>
                <a:off x="4870704" y="3562350"/>
                <a:ext cx="31820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차량형 GPR 결과를 수동 GPR 작업으로 전환</a:t>
                </a:r>
              </a:p>
            </p:txBody>
          </p:sp>
          <p:sp>
            <p:nvSpPr>
              <p:cNvPr id="42" name="TextBox 42"/>
              <p:cNvSpPr txBox="1"/>
              <p:nvPr/>
            </p:nvSpPr>
            <p:spPr>
              <a:xfrm>
                <a:off x="8871204" y="356235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재방문 횟수·업무 인계시간</a:t>
                </a:r>
              </a:p>
            </p:txBody>
          </p:sp>
          <p:sp>
            <p:nvSpPr>
              <p:cNvPr id="43" name="Line 43"/>
              <p:cNvSpPr/>
              <p:nvPr/>
            </p:nvSpPr>
            <p:spPr>
              <a:xfrm>
                <a:off x="533400" y="3905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4" name="TextBox 44"/>
              <p:cNvSpPr txBox="1"/>
              <p:nvPr/>
            </p:nvSpPr>
            <p:spPr>
              <a:xfrm>
                <a:off x="641604" y="40195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06</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이력 환류</a:t>
                </a:r>
              </a:p>
            </p:txBody>
          </p:sp>
          <p:sp>
            <p:nvSpPr>
              <p:cNvPr id="45" name="TextBox 45"/>
              <p:cNvSpPr txBox="1"/>
              <p:nvPr/>
            </p:nvSpPr>
            <p:spPr>
              <a:xfrm>
                <a:off x="1670304" y="4019550"/>
                <a:ext cx="28392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복구 결과가 다음 조사에 덜 반영됩니다</a:t>
                </a:r>
              </a:p>
            </p:txBody>
          </p:sp>
          <p:sp>
            <p:nvSpPr>
              <p:cNvPr id="46" name="TextBox 46"/>
              <p:cNvSpPr txBox="1"/>
              <p:nvPr/>
            </p:nvSpPr>
            <p:spPr>
              <a:xfrm>
                <a:off x="4870704" y="4019550"/>
                <a:ext cx="282443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확인·보수 이력을 4D 지도에 다시 저장</a:t>
                </a:r>
              </a:p>
            </p:txBody>
          </p:sp>
          <p:sp>
            <p:nvSpPr>
              <p:cNvPr id="47" name="TextBox 47"/>
              <p:cNvSpPr txBox="1"/>
              <p:nvPr/>
            </p:nvSpPr>
            <p:spPr>
              <a:xfrm>
                <a:off x="8871204" y="4019550"/>
                <a:ext cx="172455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보수구간 재검증 완료율</a:t>
                </a:r>
              </a:p>
            </p:txBody>
          </p:sp>
        </p:grpSp>
      </p:grpSp>
      <p:grpSp>
        <p:nvGrpSpPr>
          <p:cNvPr id="58" name="closing-band"/>
          <p:cNvGrpSpPr/>
          <p:nvPr/>
        </p:nvGrpSpPr>
        <p:grpSpPr>
          <a:xfrm>
            <a:off x="0" y="4572000"/>
            <a:ext cx="12192000" cy="2286000"/>
            <a:chOff x="0" y="4572000"/>
            <a:chExt cx="12192000" cy="2286000"/>
          </a:xfrm>
        </p:grpSpPr>
        <p:sp>
          <p:nvSpPr>
            <p:cNvPr id="50" name="Rectangle 50"/>
            <p:cNvSpPr/>
            <p:nvPr/>
          </p:nvSpPr>
          <p:spPr>
            <a:xfrm>
              <a:off x="0" y="4572000"/>
              <a:ext cx="12192000" cy="2286000"/>
            </a:xfrm>
            <a:prstGeom prst="rect">
              <a:avLst/>
            </a:prstGeom>
            <a:solidFill>
              <a:srgbClr val="0B1E3C"/>
            </a:solidFill>
            <a:ln>
              <a:noFill/>
            </a:ln>
          </p:spPr>
        </p:sp>
        <p:pic>
          <p:nvPicPr>
            <p:cNvPr id="51" name="Image 51"/>
            <p:cNvPicPr>
              <a:picLocks noChangeAspect="1"/>
            </p:cNvPicPr>
            <p:nvPr/>
          </p:nvPicPr>
          <p:blipFill>
            <a:blip r:embed="rId2"/>
            <a:srcRect l="0" t="15384" r="0" b="15385"/>
            <a:stretch>
              <a:fillRect/>
            </a:stretch>
          </p:blipFill>
          <p:spPr>
            <a:xfrm>
              <a:off x="7239000" y="4572000"/>
              <a:ext cx="4953000" cy="2286000"/>
            </a:xfrm>
            <a:prstGeom prst="rect">
              <a:avLst/>
            </a:prstGeom>
          </p:spPr>
        </p:pic>
        <p:sp>
          <p:nvSpPr>
            <p:cNvPr id="52" name="Rectangle 52"/>
            <p:cNvSpPr/>
            <p:nvPr/>
          </p:nvSpPr>
          <p:spPr>
            <a:xfrm>
              <a:off x="7239000" y="4572000"/>
              <a:ext cx="1905000" cy="2286000"/>
            </a:xfrm>
            <a:prstGeom prst="rect">
              <a:avLst/>
            </a:prstGeom>
            <a:gradFill>
              <a:gsLst>
                <a:gs pos="0">
                  <a:srgbClr val="0B1E3C"/>
                </a:gs>
                <a:gs pos="100000">
                  <a:srgbClr val="0B1E3C">
                    <a:alpha val="0"/>
                  </a:srgbClr>
                </a:gs>
              </a:gsLst>
              <a:lin ang="0" scaled="1"/>
            </a:gradFill>
            <a:ln>
              <a:noFill/>
            </a:ln>
          </p:spPr>
        </p:sp>
        <p:sp>
          <p:nvSpPr>
            <p:cNvPr id="53" name="TextBox 53"/>
            <p:cNvSpPr txBox="1"/>
            <p:nvPr/>
          </p:nvSpPr>
          <p:spPr>
            <a:xfrm>
              <a:off x="526923" y="4800600"/>
              <a:ext cx="4499610" cy="497967"/>
            </a:xfrm>
            <a:prstGeom prst="rect">
              <a:avLst/>
            </a:prstGeom>
            <a:noFill/>
            <a:ln>
              <a:noFill/>
            </a:ln>
          </p:spPr>
          <p:txBody>
            <a:bodyPr wrap="none" lIns="0" tIns="0" rIns="0" bIns="0" anchor="t" anchorCtr="0">
              <a:spAutoFit/>
            </a:bodyPr>
            <a:lstStyle/>
            <a:p>
              <a:pPr algn="l">
                <a:lnSpc>
                  <a:spcPts val="1950"/>
                </a:lnSpc>
              </a:pPr>
              <a:r>
                <a:rPr lang="ko-KR" sz="1280" dirty="0">
                  <a:solidFill>
                    <a:srgbClr val="D6DDE8"/>
                  </a:solidFill>
                  <a:latin typeface="+mn-lt"/>
                  <a:ea typeface="+mn-ea"/>
                  <a:cs typeface="+mn-cs"/>
                </a:rPr>
                <a:t>GroundWatch의 가치는 지도를 만드는 데서 끝나지 않습니다.</a:t>
              </a:r>
              <a:br>
                <a:rPr lang="ko-KR" sz="1280" dirty="0">
                  <a:solidFill>
                    <a:srgbClr val="D6DDE8"/>
                  </a:solidFill>
                  <a:latin typeface="+mn-lt"/>
                  <a:ea typeface="+mn-ea"/>
                  <a:cs typeface="+mn-cs"/>
                </a:rPr>
              </a:br>
              <a:r>
                <a:rPr lang="ko-KR" sz="1280" dirty="0">
                  <a:solidFill>
                    <a:srgbClr val="D6DDE8"/>
                  </a:solidFill>
                  <a:latin typeface="+mn-lt"/>
                  <a:ea typeface="+mn-ea"/>
                  <a:cs typeface="+mn-cs"/>
                </a:rPr>
                <a:t>한 번의 측정을 다음 판단과 현장 행동으로 연결합니다.</a:t>
              </a:r>
            </a:p>
          </p:txBody>
        </p:sp>
        <p:sp>
          <p:nvSpPr>
            <p:cNvPr id="54" name="Rectangle 54"/>
            <p:cNvSpPr/>
            <p:nvPr/>
          </p:nvSpPr>
          <p:spPr>
            <a:xfrm>
              <a:off x="533400" y="5448300"/>
              <a:ext cx="457200" cy="28575"/>
            </a:xfrm>
            <a:prstGeom prst="rect">
              <a:avLst/>
            </a:prstGeom>
            <a:solidFill>
              <a:srgbClr val="F5B700"/>
            </a:solidFill>
            <a:ln>
              <a:noFill/>
            </a:ln>
          </p:spPr>
        </p:sp>
        <p:sp>
          <p:nvSpPr>
            <p:cNvPr id="55" name="TextBox 55"/>
            <p:cNvSpPr txBox="1"/>
            <p:nvPr/>
          </p:nvSpPr>
          <p:spPr>
            <a:xfrm>
              <a:off x="520446" y="5594350"/>
              <a:ext cx="4507182" cy="936879"/>
            </a:xfrm>
            <a:prstGeom prst="rect">
              <a:avLst/>
            </a:prstGeom>
            <a:noFill/>
            <a:ln>
              <a:noFill/>
            </a:ln>
          </p:spPr>
          <p:txBody>
            <a:bodyPr wrap="none" lIns="0" tIns="0" rIns="0" bIns="0" anchor="t" anchorCtr="0">
              <a:spAutoFit/>
            </a:bodyPr>
            <a:lstStyle/>
            <a:p>
              <a:pPr algn="l">
                <a:lnSpc>
                  <a:spcPts val="3450"/>
                </a:lnSpc>
              </a:pPr>
              <a:r>
                <a:rPr lang="ko-KR" sz="2550" b="1" dirty="0">
                  <a:solidFill>
                    <a:srgbClr val="FFFFFF"/>
                  </a:solidFill>
                  <a:latin typeface="+mn-lt"/>
                  <a:ea typeface="+mn-ea"/>
                  <a:cs typeface="+mn-cs"/>
                </a:rPr>
                <a:t>한 번의 조기 발견이,</a:t>
              </a:r>
              <a:br>
                <a:rPr lang="ko-KR" sz="2550" b="1" dirty="0">
                  <a:solidFill>
                    <a:srgbClr val="FFFFFF"/>
                  </a:solidFill>
                  <a:latin typeface="+mn-lt"/>
                  <a:ea typeface="+mn-ea"/>
                  <a:cs typeface="+mn-cs"/>
                </a:rPr>
              </a:br>
              <a:r>
                <a:rPr lang="ko-KR" sz="2550" b="1" dirty="0">
                  <a:solidFill>
                    <a:srgbClr val="FFFFFF"/>
                  </a:solidFill>
                  <a:latin typeface="+mn-lt"/>
                  <a:ea typeface="+mn-ea"/>
                  <a:cs typeface="+mn-cs"/>
                </a:rPr>
                <a:t>한 사람의 무사 귀가가 되도록.</a:t>
              </a:r>
            </a:p>
          </p:txBody>
        </p:sp>
        <p:sp>
          <p:nvSpPr>
            <p:cNvPr id="56" name="TextBox 56"/>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57" name="TextBox 57"/>
            <p:cNvSpPr txBox="1"/>
            <p:nvPr/>
          </p:nvSpPr>
          <p:spPr>
            <a:xfrm>
              <a:off x="9093871" y="6591300"/>
              <a:ext cx="2645882"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TEAM 한 명이라도 살릴 수 있다면 · 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4">
  <a:themeElements>
    <a:clrScheme name="deck_v4">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4">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4">
  <a:themeElements>
    <a:clrScheme name="deck_v4">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4">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2026-10-22T08:40:41Z</dcterms:created>
  <dcterms:modified xsi:type="dcterms:W3CDTF">2026-10-22T08:40:41Z</dcterms:modified>
  <cp:category/>
  <cp:contentStatus/>
</cp:coreProperties>
</file>