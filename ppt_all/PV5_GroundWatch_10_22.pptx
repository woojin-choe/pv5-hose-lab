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16x9"/>
  <p:notesSz cx="6858000" cy="9144000"/>
  <p:defaultTextStyle>
    <a:defPPr>
      <a:defRPr lang="ko-KR"/>
    </a:defPPr>
    <a:lvl1pPr marL="0" algn="l" defTabSz="457200" rtl="0" eaLnBrk="1" latinLnBrk="0" hangingPunct="1">
      <a:defRPr sz="1800" kern="1200" lang="ko-KR">
        <a:solidFill>
          <a:schemeClr val="tx1"/>
        </a:solidFill>
        <a:latin typeface="+mn-lt"/>
        <a:ea typeface="+mn-ea"/>
        <a:cs typeface="+mn-cs"/>
      </a:defRPr>
    </a:lvl1pPr>
    <a:lvl2pPr marL="457200" algn="l" defTabSz="457200" rtl="0" eaLnBrk="1" latinLnBrk="0" hangingPunct="1">
      <a:defRPr sz="1800" kern="1200" lang="ko-KR">
        <a:solidFill>
          <a:schemeClr val="tx1"/>
        </a:solidFill>
        <a:latin typeface="+mn-lt"/>
        <a:ea typeface="+mn-ea"/>
        <a:cs typeface="+mn-cs"/>
      </a:defRPr>
    </a:lvl2pPr>
    <a:lvl3pPr marL="914400" algn="l" defTabSz="457200" rtl="0" eaLnBrk="1" latinLnBrk="0" hangingPunct="1">
      <a:defRPr sz="1800" kern="1200" lang="ko-KR">
        <a:solidFill>
          <a:schemeClr val="tx1"/>
        </a:solidFill>
        <a:latin typeface="+mn-lt"/>
        <a:ea typeface="+mn-ea"/>
        <a:cs typeface="+mn-cs"/>
      </a:defRPr>
    </a:lvl3pPr>
    <a:lvl4pPr marL="1371600" algn="l" defTabSz="457200" rtl="0" eaLnBrk="1" latinLnBrk="0" hangingPunct="1">
      <a:defRPr sz="1800" kern="1200" lang="ko-KR">
        <a:solidFill>
          <a:schemeClr val="tx1"/>
        </a:solidFill>
        <a:latin typeface="+mn-lt"/>
        <a:ea typeface="+mn-ea"/>
        <a:cs typeface="+mn-cs"/>
      </a:defRPr>
    </a:lvl4pPr>
    <a:lvl5pPr marL="1828800" algn="l" defTabSz="457200" rtl="0" eaLnBrk="1" latinLnBrk="0" hangingPunct="1">
      <a:defRPr sz="1800" kern="1200" lang="ko-KR">
        <a:solidFill>
          <a:schemeClr val="tx1"/>
        </a:solidFill>
        <a:latin typeface="+mn-lt"/>
        <a:ea typeface="+mn-ea"/>
        <a:cs typeface="+mn-cs"/>
      </a:defRPr>
    </a:lvl5pPr>
    <a:lvl6pPr marL="2286000" algn="l" defTabSz="457200" rtl="0" eaLnBrk="1" latinLnBrk="0" hangingPunct="1">
      <a:defRPr sz="1800" kern="1200" lang="ko-KR">
        <a:solidFill>
          <a:schemeClr val="tx1"/>
        </a:solidFill>
        <a:latin typeface="+mn-lt"/>
        <a:ea typeface="+mn-ea"/>
        <a:cs typeface="+mn-cs"/>
      </a:defRPr>
    </a:lvl6pPr>
    <a:lvl7pPr marL="2743200" algn="l" defTabSz="457200" rtl="0" eaLnBrk="1" latinLnBrk="0" hangingPunct="1">
      <a:defRPr sz="1800" kern="1200" lang="ko-KR">
        <a:solidFill>
          <a:schemeClr val="tx1"/>
        </a:solidFill>
        <a:latin typeface="+mn-lt"/>
        <a:ea typeface="+mn-ea"/>
        <a:cs typeface="+mn-cs"/>
      </a:defRPr>
    </a:lvl7pPr>
    <a:lvl8pPr marL="3200400" algn="l" defTabSz="457200" rtl="0" eaLnBrk="1" latinLnBrk="0" hangingPunct="1">
      <a:defRPr sz="1800" kern="1200" lang="ko-KR">
        <a:solidFill>
          <a:schemeClr val="tx1"/>
        </a:solidFill>
        <a:latin typeface="+mn-lt"/>
        <a:ea typeface="+mn-ea"/>
        <a:cs typeface="+mn-cs"/>
      </a:defRPr>
    </a:lvl8pPr>
    <a:lvl9pPr marL="3657600" algn="l" defTabSz="457200" rtl="0" eaLnBrk="1" latinLnBrk="0" hangingPunct="1">
      <a:defRPr sz="1800" kern="1200" lang="ko-KR">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  <Relationship Id="rId2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ko-KR"/>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ko-KR"/>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ko-KR"/>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ko-KR"/>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ko-KR"/>
          </a:p>
        </p:txBody>
      </p:sp>
    </p:spTree>
  </p:cSld>
  <p:clrMap bg1="lt1" tx1="dk1" bg2="lt2" tx2="dk2" accent1="accent1" accent2="accent2" accent3="accent3" accent4="accent4" accent5="accent5" accent6="accent6" hlink="hlink" folHlink="folHlink"/>
  <p:hf/>
  <p:notesStyle>
    <a:lvl1pPr marL="0" algn="l">
      <a:defRPr sz="1200" lang="ko-K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제5회 기아 PBV 아이디어 공모전 일반 부문에 PV5 GroundWatch, PV5 지하안전 순찰차를 제안합니다. 저희 팀 이름은 한 명이라도 살릴 수 있다면입니다. 같은 길을 반복해서 보고, 구멍이 되기 전의 변화를 찾는 것이 이 제안의 전부입니다. 표지는 실제 PV5 카고 사진(Alexander Migl, CC BY-SA 4.0)을 바탕으로 새벽 조명과 루프 장비(경광등·GNSS 안테나)를 편집한 이미지입니다.</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한 장으로 요약합니다. 문제는 2024년 연희동처럼 GPR 탐사에서 '이상 없음'이 나온 도로가 100여 일 뒤 무너지는 일, 즉 법정 점검 5년, 서울시 1년이라는 탐사와 탐사 사이의 공백입니다. 해법은 PV5가 같은 길을 약 2개월마다 GPR로 다시 찍고, AI가 지난 회차와 달라진 곳만 골라 전문가가 승인하면 작업자가 현장에서 재확인하는 것입니다. PV5는 PIM 제어기와 Navihelper로 차와 탐사 장비를 연동하고, V2L·L-Track으로 싣고 고정하며, 공식 컨버전 체계로 같은 탐사실을 복제합니다. 사업은 지자체가 이미 쓰는 GPR 용역 예산(2026년 강동구 1.41억, 용인 기흥구 1.77억 원 낙찰)에서 시작하며, 차량 1대가 지자체 2곳을 맡으면 흑자입니다. 아래 칸은 공모전 심사 배점별로 근거가 있는 장을 표시한 것입니다.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2024년 8월 29일 서울 서대문구 연희동 성산로에서 가로 6m, 세로 4m, 깊이 2.5m 땅꺼짐에 차량이 빠져 조수석 동승자가 숨지고 운전자가 크게 다쳤습니다. 이 구간은 같은 해 5월 7일부터 16일까지 탐사차량 2대와 인력 16명이 투입된 정기 GPR 탐사에서 빈 공간이 발견되지 않았습니다. 탐사가 틀린 것이 아니라, 한 번의 탐사는 그 시점만 말해 준다는 뜻입니다. 출처: 뉴시스 2024.8.30(https://www.newsis.com/view/NISX20240830_0002869815), 아시아경제 2024.8.30, 세계일보 2025.9.25(https://www.segye.com/newsView/20250925503464). 지도는 OpenStreetMap이며 정확한 지점이 보도되지 않아 성산로 연희동 구간으로 표시했습니다.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지하안전법상 지하시설물관리자의 GPR 공동조사 주기는 5년에 1회 이상입니다. 서울시는 2025년 4월 정기점검 주기를 5년에서 1년으로 줄였습니다(이투데이 2025.4.23). 그래도 연희동은 탐사에서 함몰까지 100여 일이었습니다. 일본 국토교통성 위탁연구(도쿄대 桑野玲子 교수 대표, 지오서치 참여, 2018~2020)는 실제 도로 모니터링에서 지하 1.64m 합류식 하수관(Φ800) 위 공동이 급격히 자란 것을 확인했고, 토사 유출 조건이 갖춰지면 종래 생각보다 단기간에 공동이 성장할 가능성을 보고했습니다(https://www.mlit.go.jp/road/tech/hyouka/r1/30-5_gaiyou.pdf). 그래서 맹점은 탐사 자체가 아니라 탐사와 탐사 사이입니다.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땅꺼짐은 깊이에 따라 막는 방법이 다릅니다. 전국 지반침하 867건(2020~2024) 가운데 394건, 45.4%가 하수관 손상 때문이었습니다(국토교통부 통계, 한경비즈니스 2025.4.15 https://magazine.hankyung.com/business/article/202504151399b). 하수관이 새면 흙이 쓸려 나가 공동이 먼저 생기고, 공동이 자라는 동안 도로 표면은 멀쩡해 보입니다. 이 얕은 공동은 차량형 GPR(탐사 깊이 약 2m)로 함몰 전에 찾을 수 있습니다. 반면 명일동 사고는 심층풍화대에서 불연속면 3개가 교차해 만든 쐐기형 토체가 미끄러진 심부 붕괴였고, 터널 공사로 지하수위가 약 3m에서 26m까지 낮아진 것과 노후 하수관 누수, 지보 성능 한계가 간접 원인이었습니다(국토교통부 사조위, 2025.12.3). 이런 깊은 붕괴는 지표 GPR로 확인하기 어렵고 공사장 계측과 지반조사가 맡습니다. 그래서 GroundWatch는 명일동 사고를 막을 수 있었다고 말하지 않습니다. 반대로 깊이 2.5m였던 연희동 같은 얕은 함몰이 우리의 대상입니다. 우리의 대상은 원인 1위인 얕은 공동이고, 한 번의 탐사가 아니라 회차 사이의 변화로 찾습니다. 단면도는 원리 설명용 도식이며 깊이 비례가 아닙니다.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GroundWatch는 네 단계가 반복되는 구조입니다. PV5가 교통량이 적은 새벽에 같은 경로를 약 2개월마다 반복 주행하며 GPR과 카메라 데이터를 함께 모으고, 위치·깊이·시간 기준으로 4D 지도에 저장합니다. AI가 이전 회차와 달라진 곳을 고르면 전문가가 원시 데이터를 보고 승인하고, 승인된 지점만 다음 순찰에서 AR 글래스와 수동 GPR로 다시 확인합니다. 필요하면 관계기관 승인과 교통통제 후 천공·내시경으로 최종 확인합니다. 확인과 보수 결과는 다시 지도에 저장돼 다음 순찰과 AI 검증에 쓰입니다. AI는 검토 순서를 정할 뿐 공동을 확정하지 않습니다. 회차 화면은 다음 장에서 설명하는 2D 전자기 시뮬레이션 결과입니다.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GroundWatch의 새로운 점은 장비가 아니라 변화를 판정하는 방법입니다. 일본 후지사와시는 지오서치와 함께 이미 발견한 공동 중 위험도가 낮은 것을 경과관찰하며 모니터링합니다(지오서치·후지사와시 보고, https://www.city.fujisawa.kanagawa.jp/documents/34128/20250822174442.pdf). 일본 국토교통성 연구(30-5)는 후쿠오카시와 후지사와시에 노선을 정해 3개월마다 공동 모니터링을 했고 공동 성장 속도의 실측값을 얻었습니다(https://www.mlit.go.jp/road/tech/hyouka/h30/30-5_houkoku.pdf). GroundWatch는 이를 연구 노선이 아니라 업무 노선 전체로, 이미 발견된 공동이 아니라 '이상 없음' 구간까지 넓혀, 지난 회차와 위치를 맞춰 뺀 차이만 판독하고, 같은 차에서 바로 재탐사하는 상시 업무로 만듭니다. 방법이 동작하는지 2D FDTD 전자기 시뮬레이션으로 확인했습니다. 400MHz 안테나, 토양 비유전율 9, 지름 0.8m 하수관 위 공동이 반경 18cm에서 38cm로 자란 두 회차를 계산하고 회차마다 함수비와 잡음, 2cm 주행선 오차를 넣었습니다. 배경 제거, 위치 정합, 차분, 임계값을 거치자 공동이 자란 회차에서는 2,831개 셀이, 공동이 그대로인 대조 회차에서는 같은 기준으로 25개 셀만 표시됐습니다. 위치는 3.97m로 실제 4.00m와 3cm 차이였고, 깊이는 1.05m로 실제 0.88m보다 17cm 깊게 나와 포장층 속도 보정이 실측 과제입니다. 이것은 시뮬레이션이며 실측이 아닙니다. 계산 코드는 build/fdtd_change.py, build/change_detect.py에 있습니다.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재확인 업무는 클라우드, PV5 Patrol 앱, Edge Gateway, AR 글래스, 수동 GPR로 이어집니다. 차량 앱은 업무와 경로를, 게이트웨이는 센서 동기화와 로컬 통신을, AR 글래스는 현장 위치 정합과 탐사 안내를 맡습니다. 이렇게 나누면 차량 API 접근이 일부 막혀도 GPR과 AR 기능 전체가 멈추지 않습니다. AR 글래스는 차량 화면의 단순 미러링이 아니라 보안 Wi-Fi로 작업 데이터만 주고받습니다. 현장은 2인 1조로, 한 명은 운전과 주변 교통 확인·안전통제를, 한 명은 GPR·AR 글래스와 현장 판독을 맡습니다. 태블릿이 아니라 AR 글래스인 이유는 수동 GPR을 두 손으로 밀어야 하기 때문입니다. 장비는 RealWear Navigator 520(제조사 판매가 US$3,750)급 산업용 헤드셋을 기준으로 하며, 2024년 단종된 HoloLens 2는 쓰지 않습니다. AR 글래스는 차량이 정차한 뒤 차 밖의 작업자만 쓰고, 맨홀·차선·경계석·RTK 중 두세 가지로 위치를 맞춘 뒤 공동의 모양이 아니라 수동 GPR로 다시 볼 범위만 표시합니다. 화면의 AI 신뢰도는 검토 우선순위를 위한 값이고, 현장에 표시되는 지점은 전문가가 승인한 지점입니다. PV5는 Android Automotive OS 기반 PBV 전용 인포테인먼트와 Pleos App Market을 지원하며, 앱 배포와 차량 데이터 접근은 기아 PBV 파트너 승인과 공식 API 범위 확인이 필요합니다(https://eu-www.kia.com/uk/pbv/solutions/software/). 도로 장면은 연출 이미지이고 화면 수치는 예시이며, 실내 사진은 Alexander Migl(CC BY-SA 4.0)에 화면을 합성했습니다.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PV5는 탐사 장비를 싣고, 켜고, 고정하고, 여러 대에 복제하는 구조를 차량과 기아 순정 액세서리로 제공합니다. 카고룸은 4,420L이고 롱레인지 3도어의 최대 적재는 600kg입니다(기아 국내 제원 https://www.kia.com/kr/vehicles/pv5-cargo/specification). 실내·실외 V2L로 GPR 제어부와 엣지 PC를 상시 구동하고 AR 글래스와 수동 GPR을 현장에서 충전합니다. V2L 최대 출력 3.6kW는 해외(독일·호주) 공개 제원이며 국내 공식 kW 수치는 확인 중입니다. L-Track과 몰리 패널은 기아 순정 액세서리(선택 사양)로, 장비를 회차마다 같은 위치에 고정해 반복 측정 환경을 유지하는 데 씁니다. 플렉시블 바디는 표준 차체에 모듈을 조합하는 방식으로(현대차그룹 PV5 테크 데이 2025.7.23), GPR 탐사 키트도 같은 방식으로 표준화하는 것이 저희 제안입니다. 두 번째 사진은 PV5 실내 사진(Alexander Migl, CC BY-SA 4.0)의 디스플레이에 장비 전원 화면을 합성한 예시로, 장비별 전력 합계 1.2kW와 배터리 86%에서 30% 하한까지 약 12시간 운용은 주행 약 2kWh/h와 장비 1.2kW를 가정한 값입니다. 1·3번은 장비 배치도 확대(콘셉트), 4번은 PV5 카고 실차 사진(Alexander Migl, CC BY-SA 4.0)입니다. 화물실 전방에는 Edge Gateway와 엣지 AI 컴퓨터, GPR 제어장치를, 측면에는 수동 GPR과 AR 글래스, RTK 이동국을, 후방에는 내시경과 안전 장비를 둡니다. 롱 카고룸은 2,255×1,565×1,520mm, 적재고는 419mm입니다. 차량형 다채널 GPR은 두 가지 장착안을 검토합니다. 배치도처럼 후륜 주변 차체 하부에 다는 하부형과, 표지처럼 뒷범퍼 뒤 프레임에 다는 후방 장착형입니다. PV5는 앞뒤 바퀴 사이 바닥 아래에 배터리 팩이 있으므로 지상고와 배터리 팩·구동계 간섭을 시험해 하나로 확정합니다. 적재·전력 예산은 가설입니다. 장비 합계 약 300kg으로 최대 적재 600kg의 절반, 장비 소비전력 1.5kW 이하로 V2L 최대 출력(해외 제원 3.6kW) 안, 하루 3시간·시속 10km 순찰(약 30km)과 장비 전력을 합쳐 약 10kWh로 배터리 71.2kWh의 약 14%입니다. 수동 GPR 카트 무게는 GSSI UtilityScan Pro 브로셔의 60~75lb(약 27~34kg, 카트에 따라 다름)를 참고했습니다. 총중량·축하중·전자파 간섭·구조변경 승인은 실증이 필요합니다. 배치도는 PV5 기반 콘셉트 이미지입니다.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다른 밴에 장비를 싣는 것과 달리 PV5에서는 차가 탐사 업무의 일부가 됩니다. 근거는 기아가 공개한 기능입니다. 공모전 솔루션 부문 안내에 따르면 Pleos Connect SDK는 차량 정보 조회와 내비게이션 연계를 API로 제공하며, Vehicle API(시트·조명·공조·도어·충전 상태·카메라 등), Navihelper(내비게이션 지도와 목적지·경로 연계), Gleo AI(음성 명령과 TTS·STT), Pleos App Market(검증·심사 후 지원 차종·지역 배포)이 예시로 제시됩니다(https://kiapbvidea.com/page3). 또 PV5 컨버전에는 IVI로 차량 데이터를 송수신하고 외부 전장 제품을 제어하는 PIM(PBV Interface Module) 제어기와 추가 전장 제품에 12V 전력을 연결하는 조인트 블록이 적용됩니다(오토뷰 2026.1.28 https://www.autoview.co.kr/ko-kr/articles/98843). GroundWatch는 이를 재확인 지점 내비 안내, 배터리 하한 시 장비 전원 정리와 문 열림 시 현장 작업 모드, 운전 중 음성 기록, 차량 화면에서 GPR·작업등 제어, 다른 지자체 PV5로의 앱 배포에 씁니다. 실제 제공 범위와 권한, 주행 중 사용 조건은 지원 차종·지역과 별도 정책에 따르므로 기아 PBV 파트너 승인 후 확정합니다.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현대차그룹 전기 상용차는 용도가 나뉘어 있습니다. 스타리아 일렉트릭 카고는 승합 기반 밴, ST1은 물류 특화 카고, 포터II·봉고III EV는 1톤 트럭입니다. 탐사·판독·재검증을 한 차에서 하려면 밀폐 공간, 장비 전원, 장비 고정, 그리고 같은 사양으로 여러 대를 만드는 컨버전 체계가 필요하고, 이 용도에 맞는 차가 PV5 카고입니다. 가격은 PV5 카고 롱 베이직 롱레인지 4,520만 원(기아 가격표 2026.10.1), 스타리아 일렉트릭 카고 3인승 5,792만 원(2026.4.23 출시), ST1 카고 스타일 5,874만 원(2025.7.16)이고, 1회 충전은 377km, 387km, 317km(현대차그룹 뉴스룸), 217km(포터·봉고 2025년형)입니다. 다만 차값 차이는 최대 1,354만 원인데 차량형 GPR은 대당 2억~8억 원이라(시사저널 2025.4.25, 경기도청 인용), 저희는 가격으로 고르지 않았다고 밝힙니다. PV5는 차량 3D 데이터와 인증자료를 주는 PBV 컨버전 포털, 12V 조인트 블록과 PIM 제어기를 제공합니다(오토뷰 2026 https://www.autoview.co.kr/ko-kr/articles/98843). 불리한 점으로 주행거리가 스타리아보다 10km 짧고 전폭이 포터·봉고보다 155mm 넓지만, 하루 약 30km 순찰이라는 가설에서는 충분합니다.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반복 탐사가 의미 있다는 근거는 일본 국토교통성 위탁연구(도쿄대 桑野玲子 교수 대표, 지오서치 참여, 2018~2020)입니다. 실제 도로 모니터링에서 지하 1.64m에 묻힌 합류식 하수관(Φ800) 위의 공동이 급격히 자란 것을 확인해 굴착 조사했고, 하수관 내부 카메라로는 보이지 않는 경미한 손상도 공동의 원인이 될 수 있었습니다. 연구진은 토사 유출 조건이 갖춰지면 종래 생각보다 단기간에 공동이 성장할 가능성을 보고했습니다(개요 https://www.mlit.go.jp/road/tech/hyouka/r1/30-5_gaiyou.pdf). 성장 속도의 정량화는 과제로 남아 있습니다(https://www.mlit.go.jp/road/tech/jigo/r03/pdf/houkokusyo30-5.pdf). 회차 간 3D GPR 정합 기법은 Ling et al., Remote Sensing 14(7):1593(2022)을 참고합니다. 먼저 실증할 것은 전자파 간섭, 회차별 위치 정합, AI 탐지율과 오탐률(계절별 함수비 변화 보정 포함), 야간 AR 위치 오차입니다. 인허가로는 도로 영상의 개인정보보호법 제25조의2(이동형 영상정보처리기기, 2023.9.15 시행)에 따라 차량 외부에 촬영 사실을 표시하고, GPR 전파 적합성평가와 장비 장착의 튜닝 승인 해당 여부는 사업화 전에 국립전파연구원과 한국교통안전공단에 확인하며, 장착은 기아 공식 컨버전 파트너를 거칩니다. 실증은 네 단계로 넓힙니다. 폐쇄 시험장에서 장착 구조와 전력, 전자파 간섭, 통신 누락을 확인해 차량형 측정이 가능한지 판정하고, 공동 모사체가 있는 통제 구간을 같은 속도와 경로로 반복 측정해 회차 비교가 가능한지 봅니다. 이후 지자체와 조사기업이 고른 실제 위험구간에서 기존 전문 장비, 전문가 판독, 천공 결과와 비교해 효용을 입증하고 실증서를 받습니다. 마지막으로 새벽 순찰 시간과 재확인부터 현장 도착까지 걸린 시간, AR 보정 성공률, 재방문 감소량을 측정해 연간 관제 계약으로 넘어갑니다. 정량 목표치는 파일럿 설계 때 발주기관과 확정하며 지금은 임의 수치를 제시하지 않습니다.</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시장은 지자체가 관리하는 도로 96,712km(전국 116,775km의 83%, e-나라지표 2025.12)와 226개 시·군·구입니다. 정부 지반탐사는 2024년 2,308km에서 2026년 11,380km로 약 5배 늘고 2028년 15,000km가 계획돼 있으며(머니투데이 2025.12.23), 2026년 국비 중 지자체 지반탐사 지원은 44억 원입니다(뉴스서울 2025.12.3). 차량 1대의 연간 비용은 가설로, PV5 4,520만 원과 차량형 GPR 2억~5억 원(경기도청 인용 대당 2억~8억, 서울시 3대 15억 원)을 5년 감가하고 2인 1조 인건비 1억 원, 수동 GPR·AR·분석·유지 0.3억 원을 더해 약 1.8~2.4억 원입니다. 수입 근거는 지자체 1곳의 연간 GPR 용역 낙찰액 1.4~1.8억 원입니다(나라장터 2026: 서울 강동구 노면하부공동탐사 연간단가 R26BK01599467 낙찰 140,520,000원, 용인 기흥구 GPR통합탐사 R26BK01490375 낙찰 177,356,600원). 차량 1대가 지자체 2곳을 맡으면 약 2.8~3.5억 원으로 비용을 넘고, 3곳이면 4.2~5.3억 원입니다. 하루 30km, 연 220일이면 6,600km라 서울 자치구 평균 도로(서울 8,342km ÷ 25개 구 ≈ 334km) 3곳, 약 1,000km를 연 6회, 즉 약 2개월마다 반복할 수 있습니다. 연희동의 100여 일보다 짧은 간격입니다. 기아에는 장비 포함 대당 2억 원 이상의 고부가 컨버전 PV5와 공공 반복 수요, Pleos 공공 업무 앱 레퍼런스가 생깁니다. 인건비·유지비·주행 가정은 파일럿에서 확정합니다.</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새 예산을 만들지 않고 지자체가 이미 쓰는 GPR 탐사 예산에서 시작합니다. 2026년 지자체 GPR 탐사 용역은 안양 8,522만 원(R26BK01572949), 강동구 1억 4,052만 원(R26BK01599467), 용인 기흥구 1억 7,736만 원(R26BK01490375), 용인 긴급 1억 8,950만 원(R26BK01517362)에 낙찰됐습니다(나라장터, 2026.5~6). 경기도는 2025년 9월 16개 시·군 1,080km 탐사를 21.6억 원(국비·도비·시군비)으로 지원했는데, 장비를 사지 않고 용역으로 수행합니다(헤럴드경제 2025.9.7 https://www.heraldk.com/article/2025090714512710835). 2025년 4월 기준 경기도와 31개 시·군은 GPR을 한 대도 보유하지 않았습니다(시사저널 2025.4.25). 0~1년차에는 테스트베드서울 2.0(과제당 최대 2억 원, 서울시장 명의 실증확인서, https://news.seoul.go.kr/economy/archives/571787)으로 공사구간 1곳을 기존 조사기관과 공동 실증하고, 1~2년차에는 시·군 탐사 용역에 컨소시엄으로 참여해 1회 탐사를 반복 탐사로 바꾸자고 제안합니다. 2~3년차에는 조달청 혁신제품 지정을 신청해 최대 6년 수의계약 길을 열고 자치구 연간 반복관제 계약으로 전환하며, 3년차 이후 GPR이 없는 시·군의 운영 대행과 도시철도·상하수도 기관, 광역지자체 PV5 플릿 구매로 넓힙니다. 단계별 기간은 목표이며 가설입니다. 사업은 지자체의 파일럿 탐사 용역으로 시작해, 정기 순찰과 변화 감지, 재확인 업무, 기관용 대시보드를 묶은 연간 반복관제 계약으로 전환하고, 검증 이후 PV5 컨버전 차량과 소프트웨어 패키지로 확장합니다. 구매자는 서울시와 자치구, 도시철도 발주기관, 공공시설 관리기관이고, 실제 사용자는 지하안전·도로관리 담당자와 GPR 판독 전문가, 현장 조사원입니다. 기아에게는 PV5 컨버전 플릿 판매와 Pleos 앱 마켓의 공공 업무 앱이라는 기회가 생깁니다. 첫 고객은 이미 GPR 용역을 발주하는 지자체로, 2026년 강동구 노면하부공동탐사 연간단가 용역이 1억 4,052만 원에 낙찰됐습니다(나라장터 R26BK01599467). 첫 계약은 기존 GPR 조사기관과 공동 수행하고, 가격은 첫 해 기존 용역 단가 수준에서 시작하고, 연간 관제는 관리 구간 km와 재확인 건수 기준으로 산정합니다(가설). 지하정보는 제3자에게 판매하지 않습니다.</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GroundWatch는 회차마다 따로 보는 탐사를 같은 길의 변화를 보는 탐사로, 사람이 다시 찾아야 하는 의심 지점을 현장에서 바로 확인하는 재탐사로, 장비를 실은 차를 업무에 연동된 PV5 탐사실로 바꾸고, 기아에는 장비 포함 2억 원대의 컨버전 PV5 수요를 만듭니다. 한 번의 조기 발견이 한 사람의 무사 귀가가 되도록, PV5 GroundWatch를 제안합니다. 감사합니다. 마지막 사진도 실제 PV5 카고 사진(Alexander Migl, CC BY-SA 4.0)을 편집했습니다.</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_v5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ko-KR" smtClean="0"/>
              <a:t>1/27/13</a:t>
            </a:fld>
            <a:endParaRPr lang="ko-KR"/>
          </a:p>
        </p:txBody>
      </p:sp>
      <p:sp>
        <p:nvSpPr>
          <p:cNvPr id="3" name="Footer Placeholder 2"/>
          <p:cNvSpPr>
            <a:spLocks noGrp="1"/>
          </p:cNvSpPr>
          <p:nvPr>
            <p:ph type="ftr" sz="quarter" idx="11"/>
          </p:nvPr>
        </p:nvSpPr>
        <p:spPr/>
        <p:txBody>
          <a:bodyPr/>
          <a:lstStyle/>
          <a:p>
            <a:endParaRPr lang="ko-KR"/>
          </a:p>
        </p:txBody>
      </p:sp>
      <p:sp>
        <p:nvSpPr>
          <p:cNvPr id="4" name="Slide Number Placeholder 3"/>
          <p:cNvSpPr>
            <a:spLocks noGrp="1"/>
          </p:cNvSpPr>
          <p:nvPr>
            <p:ph type="sldNum" sz="quarter" idx="12"/>
          </p:nvPr>
        </p:nvSpPr>
        <p:spPr/>
        <p:txBody>
          <a:bodyPr/>
          <a:lstStyle/>
          <a:p>
            <a:fld id="{C1FF6DA9-008F-8B48-92A6-B652298478BF}" type="slidenum">
              <a:rPr lang="ko-KR" smtClean="0"/>
              <a:t>‹#›</a:t>
            </a:fld>
            <a:endParaRPr lang="ko-K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_v5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ko-KR">
                <a:solidFill>
                  <a:schemeClr val="tx1">
                    <a:tint val="75000"/>
                  </a:schemeClr>
                </a:solidFill>
              </a:defRPr>
            </a:lvl1pPr>
          </a:lstStyle>
          <a:p>
            <a:fld id="{5BCAD085-E8A6-8845-BD4E-CB4CCA059FC4}" type="datetimeFigureOut">
              <a:rPr lang="ko-KR" smtClean="0"/>
              <a:t>1/27/13</a:t>
            </a:fld>
            <a:endParaRPr lang="ko-K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ko-KR">
                <a:solidFill>
                  <a:schemeClr val="tx1">
                    <a:tint val="75000"/>
                  </a:schemeClr>
                </a:solidFill>
              </a:defRPr>
            </a:lvl1pPr>
          </a:lstStyle>
          <a:p>
            <a:endParaRPr lang="ko-K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ko-KR">
                <a:solidFill>
                  <a:schemeClr val="tx1">
                    <a:tint val="75000"/>
                  </a:schemeClr>
                </a:solidFill>
              </a:defRPr>
            </a:lvl1pPr>
          </a:lstStyle>
          <a:p>
            <a:fld id="{C1FF6DA9-008F-8B48-92A6-B652298478BF}" type="slidenum">
              <a:rPr lang="ko-KR" smtClean="0"/>
              <a:t>‹#›</a:t>
            </a:fld>
            <a:endParaRPr lang="ko-KR"/>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ko-KR">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ko-KR">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ko-KR">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ko-KR">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ko-KR">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ko-KR">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ko-KR">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ko-KR">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ko-KR">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ko-KR">
          <a:solidFill>
            <a:schemeClr val="tx1"/>
          </a:solidFill>
          <a:latin typeface="+mn-lt"/>
          <a:ea typeface="+mn-ea"/>
          <a:cs typeface="+mn-cs"/>
        </a:defRPr>
      </a:lvl9pPr>
    </p:bodyStyle>
    <p:otherStyle>
      <a:defPPr>
        <a:defRPr lang="ko-KR"/>
      </a:defPPr>
      <a:lvl1pPr marL="0" algn="l" defTabSz="457200" rtl="0" eaLnBrk="1" latinLnBrk="0" hangingPunct="1">
        <a:defRPr sz="1800" kern="1200" lang="ko-KR">
          <a:solidFill>
            <a:schemeClr val="tx1"/>
          </a:solidFill>
          <a:latin typeface="+mn-lt"/>
          <a:ea typeface="+mn-ea"/>
          <a:cs typeface="+mn-cs"/>
        </a:defRPr>
      </a:lvl1pPr>
      <a:lvl2pPr marL="457200" algn="l" defTabSz="457200" rtl="0" eaLnBrk="1" latinLnBrk="0" hangingPunct="1">
        <a:defRPr sz="1800" kern="1200" lang="ko-KR">
          <a:solidFill>
            <a:schemeClr val="tx1"/>
          </a:solidFill>
          <a:latin typeface="+mn-lt"/>
          <a:ea typeface="+mn-ea"/>
          <a:cs typeface="+mn-cs"/>
        </a:defRPr>
      </a:lvl2pPr>
      <a:lvl3pPr marL="914400" algn="l" defTabSz="457200" rtl="0" eaLnBrk="1" latinLnBrk="0" hangingPunct="1">
        <a:defRPr sz="1800" kern="1200" lang="ko-KR">
          <a:solidFill>
            <a:schemeClr val="tx1"/>
          </a:solidFill>
          <a:latin typeface="+mn-lt"/>
          <a:ea typeface="+mn-ea"/>
          <a:cs typeface="+mn-cs"/>
        </a:defRPr>
      </a:lvl3pPr>
      <a:lvl4pPr marL="1371600" algn="l" defTabSz="457200" rtl="0" eaLnBrk="1" latinLnBrk="0" hangingPunct="1">
        <a:defRPr sz="1800" kern="1200" lang="ko-KR">
          <a:solidFill>
            <a:schemeClr val="tx1"/>
          </a:solidFill>
          <a:latin typeface="+mn-lt"/>
          <a:ea typeface="+mn-ea"/>
          <a:cs typeface="+mn-cs"/>
        </a:defRPr>
      </a:lvl4pPr>
      <a:lvl5pPr marL="1828800" algn="l" defTabSz="457200" rtl="0" eaLnBrk="1" latinLnBrk="0" hangingPunct="1">
        <a:defRPr sz="1800" kern="1200" lang="ko-KR">
          <a:solidFill>
            <a:schemeClr val="tx1"/>
          </a:solidFill>
          <a:latin typeface="+mn-lt"/>
          <a:ea typeface="+mn-ea"/>
          <a:cs typeface="+mn-cs"/>
        </a:defRPr>
      </a:lvl5pPr>
      <a:lvl6pPr marL="2286000" algn="l" defTabSz="457200" rtl="0" eaLnBrk="1" latinLnBrk="0" hangingPunct="1">
        <a:defRPr sz="1800" kern="1200" lang="ko-KR">
          <a:solidFill>
            <a:schemeClr val="tx1"/>
          </a:solidFill>
          <a:latin typeface="+mn-lt"/>
          <a:ea typeface="+mn-ea"/>
          <a:cs typeface="+mn-cs"/>
        </a:defRPr>
      </a:lvl6pPr>
      <a:lvl7pPr marL="2743200" algn="l" defTabSz="457200" rtl="0" eaLnBrk="1" latinLnBrk="0" hangingPunct="1">
        <a:defRPr sz="1800" kern="1200" lang="ko-KR">
          <a:solidFill>
            <a:schemeClr val="tx1"/>
          </a:solidFill>
          <a:latin typeface="+mn-lt"/>
          <a:ea typeface="+mn-ea"/>
          <a:cs typeface="+mn-cs"/>
        </a:defRPr>
      </a:lvl7pPr>
      <a:lvl8pPr marL="3200400" algn="l" defTabSz="457200" rtl="0" eaLnBrk="1" latinLnBrk="0" hangingPunct="1">
        <a:defRPr sz="1800" kern="1200" lang="ko-KR">
          <a:solidFill>
            <a:schemeClr val="tx1"/>
          </a:solidFill>
          <a:latin typeface="+mn-lt"/>
          <a:ea typeface="+mn-ea"/>
          <a:cs typeface="+mn-cs"/>
        </a:defRPr>
      </a:lvl8pPr>
      <a:lvl9pPr marL="3657600" algn="l" defTabSz="457200" rtl="0" eaLnBrk="1" latinLnBrk="0" hangingPunct="1">
        <a:defRPr sz="1800" kern="1200" lang="ko-KR">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c8607a62bfac2e7b.pn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b3f6c0592f2b003.pn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0845049425906c7.pn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71777acfc4f5e2f.png"/>
  <Relationship Id="rId3" Type="http://schemas.openxmlformats.org/officeDocument/2006/relationships/image" Target="../media/image_fa22147239f313de.png"/>
  <Relationship Id="rId4"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2ed7a41ebc22144.png"/>
  <Relationship Id="rId3" Type="http://schemas.openxmlformats.org/officeDocument/2006/relationships/image" Target="../media/image_c27dcb277d07ce6a.png"/>
  <Relationship Id="rId4"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0d7ae1915439d98.png"/>
  <Relationship Id="rId3" Type="http://schemas.openxmlformats.org/officeDocument/2006/relationships/image" Target="../media/image_e709a568109f40a6.png"/>
  <Relationship Id="rId4"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5692c53d38fa013.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a43ddd8d25e96dc.jp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eef3d43d8ee92e0.png"/>
  <Relationship Id="rId3"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over-bg"/>
          <p:cNvSpPr/>
          <p:nvPr/>
        </p:nvSpPr>
        <p:spPr>
          <a:xfrm>
            <a:off x="0" y="0"/>
            <a:ext cx="12192000" cy="6858000"/>
          </a:xfrm>
          <a:prstGeom prst="rect">
            <a:avLst/>
          </a:prstGeom>
          <a:solidFill>
            <a:srgbClr val="0B1E3C"/>
          </a:solidFill>
          <a:ln>
            <a:noFill/>
          </a:ln>
        </p:spPr>
      </p:sp>
      <p:pic>
        <p:nvPicPr>
          <p:cNvPr id="3" name="cover-photo"/>
          <p:cNvPicPr>
            <a:picLocks noChangeAspect="1"/>
          </p:cNvPicPr>
          <p:nvPr/>
        </p:nvPicPr>
        <p:blipFill>
          <a:blip r:embed="rId2"/>
          <a:stretch>
            <a:fillRect/>
          </a:stretch>
        </p:blipFill>
        <p:spPr>
          <a:xfrm>
            <a:off x="3810000" y="0"/>
            <a:ext cx="10287000" cy="6858000"/>
          </a:xfrm>
          <a:prstGeom prst="rect">
            <a:avLst/>
          </a:prstGeom>
        </p:spPr>
      </p:pic>
      <p:sp>
        <p:nvSpPr>
          <p:cNvPr id="4" name="cover-scrim"/>
          <p:cNvSpPr/>
          <p:nvPr/>
        </p:nvSpPr>
        <p:spPr>
          <a:xfrm>
            <a:off x="3810000" y="0"/>
            <a:ext cx="1905000" cy="6858000"/>
          </a:xfrm>
          <a:prstGeom prst="rect">
            <a:avLst/>
          </a:prstGeom>
          <a:gradFill>
            <a:gsLst>
              <a:gs pos="0">
                <a:srgbClr val="0B1E3C"/>
              </a:gs>
              <a:gs pos="100000">
                <a:srgbClr val="0B1E3C">
                  <a:alpha val="0"/>
                </a:srgbClr>
              </a:gs>
            </a:gsLst>
            <a:lin ang="0" scaled="1"/>
          </a:gradFill>
          <a:ln>
            <a:noFill/>
          </a:ln>
        </p:spPr>
      </p:sp>
      <p:grpSp>
        <p:nvGrpSpPr>
          <p:cNvPr id="6" name="cover-kicker"/>
          <p:cNvGrpSpPr/>
          <p:nvPr/>
        </p:nvGrpSpPr>
        <p:grpSpPr>
          <a:xfrm>
            <a:off x="603123" y="1924050"/>
            <a:ext cx="3498208" cy="250317"/>
            <a:chOff x="603123" y="1924050"/>
            <a:chExt cx="3498208" cy="250317"/>
          </a:xfrm>
        </p:grpSpPr>
        <p:sp>
          <p:nvSpPr>
            <p:cNvPr id="5" name="TextBox 5"/>
            <p:cNvSpPr txBox="1"/>
            <p:nvPr/>
          </p:nvSpPr>
          <p:spPr>
            <a:xfrm>
              <a:off x="603123" y="1924050"/>
              <a:ext cx="3498208" cy="250317"/>
            </a:xfrm>
            <a:prstGeom prst="rect">
              <a:avLst/>
            </a:prstGeom>
            <a:noFill/>
            <a:ln>
              <a:noFill/>
            </a:ln>
          </p:spPr>
          <p:txBody>
            <a:bodyPr wrap="none" lIns="0" tIns="0" rIns="0" bIns="0" anchor="t" anchorCtr="0">
              <a:spAutoFit/>
            </a:bodyPr>
            <a:lstStyle/>
            <a:p>
              <a:pPr algn="l"/>
              <a:r>
                <a:rPr lang="ko-KR" sz="1280" b="1" dirty="0">
                  <a:solidFill>
                    <a:srgbClr val="F5B700"/>
                  </a:solidFill>
                  <a:latin typeface="+mn-lt"/>
                  <a:ea typeface="+mn-ea"/>
                  <a:cs typeface="+mn-cs"/>
                </a:rPr>
                <a:t>제5회 기아 PBV 아이디어 공모전 · 일반 부문</a:t>
              </a:r>
            </a:p>
          </p:txBody>
        </p:sp>
      </p:grpSp>
      <p:grpSp>
        <p:nvGrpSpPr>
          <p:cNvPr id="9" name="cover-title"/>
          <p:cNvGrpSpPr/>
          <p:nvPr/>
        </p:nvGrpSpPr>
        <p:grpSpPr>
          <a:xfrm>
            <a:off x="590550" y="2254250"/>
            <a:ext cx="3634424" cy="1600200"/>
            <a:chOff x="590550" y="2254250"/>
            <a:chExt cx="3634424" cy="1600200"/>
          </a:xfrm>
        </p:grpSpPr>
        <p:sp>
          <p:nvSpPr>
            <p:cNvPr id="7" name="TextBox 7"/>
            <p:cNvSpPr txBox="1"/>
            <p:nvPr/>
          </p:nvSpPr>
          <p:spPr>
            <a:xfrm>
              <a:off x="590550" y="2254250"/>
              <a:ext cx="1263035" cy="990600"/>
            </a:xfrm>
            <a:prstGeom prst="rect">
              <a:avLst/>
            </a:prstGeom>
            <a:noFill/>
            <a:ln>
              <a:noFill/>
            </a:ln>
          </p:spPr>
          <p:txBody>
            <a:bodyPr wrap="none" lIns="0" tIns="0" rIns="0" bIns="0" anchor="t" anchorCtr="0">
              <a:spAutoFit/>
            </a:bodyPr>
            <a:lstStyle/>
            <a:p>
              <a:pPr algn="l"/>
              <a:r>
                <a:rPr lang="en-US" sz="5100" b="1" spc="-112" dirty="0">
                  <a:solidFill>
                    <a:srgbClr val="FFFFFF"/>
                  </a:solidFill>
                  <a:latin typeface="+mn-lt"/>
                  <a:ea typeface="+mn-ea"/>
                  <a:cs typeface="+mn-cs"/>
                </a:rPr>
                <a:t>PV5</a:t>
              </a:r>
            </a:p>
          </p:txBody>
        </p:sp>
        <p:sp>
          <p:nvSpPr>
            <p:cNvPr id="8" name="TextBox 8"/>
            <p:cNvSpPr txBox="1"/>
            <p:nvPr/>
          </p:nvSpPr>
          <p:spPr>
            <a:xfrm>
              <a:off x="590550" y="3035300"/>
              <a:ext cx="3634424" cy="819150"/>
            </a:xfrm>
            <a:prstGeom prst="rect">
              <a:avLst/>
            </a:prstGeom>
            <a:noFill/>
            <a:ln>
              <a:noFill/>
            </a:ln>
          </p:spPr>
          <p:txBody>
            <a:bodyPr wrap="none" lIns="0" tIns="0" rIns="0" bIns="0" anchor="t" anchorCtr="0">
              <a:spAutoFit/>
            </a:bodyPr>
            <a:lstStyle/>
            <a:p>
              <a:pPr algn="l"/>
              <a:r>
                <a:rPr lang="en-US" sz="4200" b="1" spc="-112" dirty="0">
                  <a:solidFill>
                    <a:srgbClr val="FFFFFF"/>
                  </a:solidFill>
                  <a:latin typeface="+mn-lt"/>
                  <a:ea typeface="+mn-ea"/>
                  <a:cs typeface="+mn-cs"/>
                </a:rPr>
                <a:t>GroundWatch</a:t>
              </a:r>
            </a:p>
          </p:txBody>
        </p:sp>
      </p:grpSp>
      <p:grpSp>
        <p:nvGrpSpPr>
          <p:cNvPr id="11" name="cover-subtitle"/>
          <p:cNvGrpSpPr/>
          <p:nvPr/>
        </p:nvGrpSpPr>
        <p:grpSpPr>
          <a:xfrm>
            <a:off x="598170" y="3797300"/>
            <a:ext cx="2893819" cy="440055"/>
            <a:chOff x="598170" y="3797300"/>
            <a:chExt cx="2893819" cy="440055"/>
          </a:xfrm>
        </p:grpSpPr>
        <p:sp>
          <p:nvSpPr>
            <p:cNvPr id="10" name="TextBox 10"/>
            <p:cNvSpPr txBox="1"/>
            <p:nvPr/>
          </p:nvSpPr>
          <p:spPr>
            <a:xfrm>
              <a:off x="598170" y="3797300"/>
              <a:ext cx="2893819" cy="440055"/>
            </a:xfrm>
            <a:prstGeom prst="rect">
              <a:avLst/>
            </a:prstGeom>
            <a:noFill/>
            <a:ln>
              <a:noFill/>
            </a:ln>
          </p:spPr>
          <p:txBody>
            <a:bodyPr wrap="none" lIns="0" tIns="0" rIns="0" bIns="0" anchor="t" anchorCtr="0">
              <a:spAutoFit/>
            </a:bodyPr>
            <a:lstStyle/>
            <a:p>
              <a:pPr algn="l"/>
              <a:r>
                <a:rPr lang="ko-KR" sz="2250" b="1" dirty="0">
                  <a:solidFill>
                    <a:srgbClr val="D7DEE8"/>
                  </a:solidFill>
                  <a:latin typeface="+mn-lt"/>
                  <a:ea typeface="+mn-ea"/>
                  <a:cs typeface="+mn-cs"/>
                </a:rPr>
                <a:t>PV5 지하안전 순찰차</a:t>
              </a:r>
            </a:p>
          </p:txBody>
        </p:sp>
      </p:grpSp>
      <p:grpSp>
        <p:nvGrpSpPr>
          <p:cNvPr id="14" name="cover-tagline"/>
          <p:cNvGrpSpPr/>
          <p:nvPr/>
        </p:nvGrpSpPr>
        <p:grpSpPr>
          <a:xfrm>
            <a:off x="601599" y="4381500"/>
            <a:ext cx="3176397" cy="785241"/>
            <a:chOff x="601599" y="4381500"/>
            <a:chExt cx="3176397" cy="785241"/>
          </a:xfrm>
        </p:grpSpPr>
        <p:sp>
          <p:nvSpPr>
            <p:cNvPr id="12" name="Rectangle 12"/>
            <p:cNvSpPr/>
            <p:nvPr/>
          </p:nvSpPr>
          <p:spPr>
            <a:xfrm>
              <a:off x="609600" y="4381500"/>
              <a:ext cx="457200" cy="28575"/>
            </a:xfrm>
            <a:prstGeom prst="rect">
              <a:avLst/>
            </a:prstGeom>
            <a:solidFill>
              <a:srgbClr val="F5B700"/>
            </a:solidFill>
            <a:ln>
              <a:noFill/>
            </a:ln>
          </p:spPr>
        </p:sp>
        <p:sp>
          <p:nvSpPr>
            <p:cNvPr id="13" name="TextBox 13"/>
            <p:cNvSpPr txBox="1"/>
            <p:nvPr/>
          </p:nvSpPr>
          <p:spPr>
            <a:xfrm>
              <a:off x="601599" y="4552950"/>
              <a:ext cx="3176397" cy="613791"/>
            </a:xfrm>
            <a:prstGeom prst="rect">
              <a:avLst/>
            </a:prstGeom>
            <a:noFill/>
            <a:ln>
              <a:noFill/>
            </a:ln>
          </p:spPr>
          <p:txBody>
            <a:bodyPr wrap="none" lIns="0" tIns="0" rIns="0" bIns="0" anchor="t" anchorCtr="0">
              <a:spAutoFit/>
            </a:bodyPr>
            <a:lstStyle/>
            <a:p>
              <a:pPr algn="l">
                <a:lnSpc>
                  <a:spcPts val="2400"/>
                </a:lnSpc>
              </a:pPr>
              <a:r>
                <a:rPr lang="ko-KR" sz="1580" dirty="0">
                  <a:solidFill>
                    <a:srgbClr val="D7DEE8"/>
                  </a:solidFill>
                  <a:latin typeface="+mn-lt"/>
                  <a:ea typeface="+mn-ea"/>
                  <a:cs typeface="+mn-cs"/>
                </a:rPr>
                <a:t>같은 길을 반복해서 보고,</a:t>
              </a:r>
              <a:br>
                <a:rPr lang="ko-KR" sz="1580" dirty="0">
                  <a:solidFill>
                    <a:srgbClr val="D7DEE8"/>
                  </a:solidFill>
                  <a:latin typeface="+mn-lt"/>
                  <a:ea typeface="+mn-ea"/>
                  <a:cs typeface="+mn-cs"/>
                </a:rPr>
              </a:br>
              <a:r>
                <a:rPr lang="ko-KR" sz="1580" dirty="0">
                  <a:solidFill>
                    <a:srgbClr val="D7DEE8"/>
                  </a:solidFill>
                  <a:latin typeface="+mn-lt"/>
                  <a:ea typeface="+mn-ea"/>
                  <a:cs typeface="+mn-cs"/>
                </a:rPr>
                <a:t>구멍이 되기 전의 변화를 찾습니다.</a:t>
              </a:r>
            </a:p>
          </p:txBody>
        </p:sp>
      </p:grpSp>
      <p:grpSp>
        <p:nvGrpSpPr>
          <p:cNvPr id="17" name="cover-team"/>
          <p:cNvGrpSpPr/>
          <p:nvPr/>
        </p:nvGrpSpPr>
        <p:grpSpPr>
          <a:xfrm>
            <a:off x="601218" y="5797550"/>
            <a:ext cx="2739992" cy="570357"/>
            <a:chOff x="601218" y="5797550"/>
            <a:chExt cx="2739992" cy="570357"/>
          </a:xfrm>
        </p:grpSpPr>
        <p:sp>
          <p:nvSpPr>
            <p:cNvPr id="15" name="TextBox 15"/>
            <p:cNvSpPr txBox="1"/>
            <p:nvPr/>
          </p:nvSpPr>
          <p:spPr>
            <a:xfrm>
              <a:off x="604266" y="5797550"/>
              <a:ext cx="387035" cy="205359"/>
            </a:xfrm>
            <a:prstGeom prst="rect">
              <a:avLst/>
            </a:prstGeom>
            <a:noFill/>
            <a:ln>
              <a:noFill/>
            </a:ln>
          </p:spPr>
          <p:txBody>
            <a:bodyPr wrap="none" lIns="0" tIns="0" rIns="0" bIns="0" anchor="t" anchorCtr="0">
              <a:spAutoFit/>
            </a:bodyPr>
            <a:lstStyle/>
            <a:p>
              <a:pPr algn="l"/>
              <a:r>
                <a:rPr lang="en-US" sz="1050" b="1" dirty="0">
                  <a:solidFill>
                    <a:srgbClr val="F5B700"/>
                  </a:solidFill>
                  <a:latin typeface="+mn-lt"/>
                  <a:ea typeface="+mn-ea"/>
                  <a:cs typeface="+mn-cs"/>
                </a:rPr>
                <a:t>TEAM</a:t>
              </a:r>
            </a:p>
          </p:txBody>
        </p:sp>
        <p:sp>
          <p:nvSpPr>
            <p:cNvPr id="16" name="TextBox 16"/>
            <p:cNvSpPr txBox="1"/>
            <p:nvPr/>
          </p:nvSpPr>
          <p:spPr>
            <a:xfrm>
              <a:off x="601218" y="6045200"/>
              <a:ext cx="2739992" cy="322707"/>
            </a:xfrm>
            <a:prstGeom prst="rect">
              <a:avLst/>
            </a:prstGeom>
            <a:noFill/>
            <a:ln>
              <a:noFill/>
            </a:ln>
          </p:spPr>
          <p:txBody>
            <a:bodyPr wrap="none" lIns="0" tIns="0" rIns="0" bIns="0" anchor="t" anchorCtr="0">
              <a:spAutoFit/>
            </a:bodyPr>
            <a:lstStyle/>
            <a:p>
              <a:pPr algn="l"/>
              <a:r>
                <a:rPr lang="ko-KR" sz="1650" b="1" dirty="0">
                  <a:solidFill>
                    <a:srgbClr val="FFFFFF"/>
                  </a:solidFill>
                  <a:latin typeface="+mn-lt"/>
                  <a:ea typeface="+mn-ea"/>
                  <a:cs typeface="+mn-cs"/>
                </a:rPr>
                <a:t>한 명이라도 살릴 수 있다면</a:t>
              </a:r>
            </a:p>
          </p:txBody>
        </p:sp>
      </p:grpSp>
      <p:grpSp>
        <p:nvGrpSpPr>
          <p:cNvPr id="20" name="cover-date"/>
          <p:cNvGrpSpPr/>
          <p:nvPr/>
        </p:nvGrpSpPr>
        <p:grpSpPr>
          <a:xfrm>
            <a:off x="9504226" y="6299200"/>
            <a:ext cx="2235527" cy="369443"/>
            <a:chOff x="9504226" y="6299200"/>
            <a:chExt cx="2235527" cy="369443"/>
          </a:xfrm>
        </p:grpSpPr>
        <p:sp>
          <p:nvSpPr>
            <p:cNvPr id="18" name="TextBox 18"/>
            <p:cNvSpPr txBox="1"/>
            <p:nvPr/>
          </p:nvSpPr>
          <p:spPr>
            <a:xfrm>
              <a:off x="9504226" y="6299200"/>
              <a:ext cx="2235337" cy="161925"/>
            </a:xfrm>
            <a:prstGeom prst="rect">
              <a:avLst/>
            </a:prstGeom>
            <a:noFill/>
            <a:ln>
              <a:noFill/>
            </a:ln>
          </p:spPr>
          <p:txBody>
            <a:bodyPr wrap="none" lIns="0" tIns="0" rIns="0" bIns="0" anchor="t" anchorCtr="0">
              <a:spAutoFit/>
            </a:bodyPr>
            <a:lstStyle/>
            <a:p>
              <a:pPr algn="r"/>
              <a:r>
                <a:rPr lang="ko-KR" sz="820" dirty="0">
                  <a:solidFill>
                    <a:srgbClr val="C3CCD9"/>
                  </a:solidFill>
                  <a:latin typeface="+mn-lt"/>
                  <a:ea typeface="+mn-ea"/>
                  <a:cs typeface="+mn-cs"/>
                </a:rPr>
                <a:t>사진: Alexander Migl, CC BY-SA 4.0(편집)</a:t>
              </a:r>
            </a:p>
          </p:txBody>
        </p:sp>
        <p:sp>
          <p:nvSpPr>
            <p:cNvPr id="19" name="TextBox 19"/>
            <p:cNvSpPr txBox="1"/>
            <p:nvPr/>
          </p:nvSpPr>
          <p:spPr>
            <a:xfrm>
              <a:off x="11182347" y="6477000"/>
              <a:ext cx="557406" cy="191643"/>
            </a:xfrm>
            <a:prstGeom prst="rect">
              <a:avLst/>
            </a:prstGeom>
            <a:noFill/>
            <a:ln>
              <a:noFill/>
            </a:ln>
          </p:spPr>
          <p:txBody>
            <a:bodyPr wrap="none" lIns="0" tIns="0" rIns="0" bIns="0" anchor="t" anchorCtr="0">
              <a:spAutoFit/>
            </a:bodyPr>
            <a:lstStyle/>
            <a:p>
              <a:pPr algn="r"/>
              <a:r>
                <a:rPr lang="ko-KR" sz="980" dirty="0">
                  <a:solidFill>
                    <a:srgbClr val="C3CCD9"/>
                  </a:solidFill>
                  <a:latin typeface="+mn-lt"/>
                  <a:ea typeface="+mn-ea"/>
                  <a:cs typeface="+mn-cs"/>
                </a:rPr>
                <a:t>2026. 10</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5"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660883"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한 장 요약</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문제</a:t>
              </a:r>
            </a:p>
          </p:txBody>
        </p:sp>
        <p:sp>
          <p:nvSpPr>
            <p:cNvPr id="6" name="TextBox 6"/>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7" name="TextBox 7"/>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해법</a:t>
              </a:r>
            </a:p>
          </p:txBody>
        </p:sp>
        <p:sp>
          <p:nvSpPr>
            <p:cNvPr id="8" name="TextBox 8"/>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9" name="TextBox 9"/>
            <p:cNvSpPr txBox="1"/>
            <p:nvPr/>
          </p:nvSpPr>
          <p:spPr>
            <a:xfrm>
              <a:off x="9701251" y="301625"/>
              <a:ext cx="257099" cy="205359"/>
            </a:xfrm>
            <a:prstGeom prst="rect">
              <a:avLst/>
            </a:prstGeom>
            <a:noFill/>
            <a:ln>
              <a:noFill/>
            </a:ln>
          </p:spPr>
          <p:txBody>
            <a:bodyPr wrap="none" lIns="0" tIns="0" rIns="0" bIns="0" anchor="t" anchorCtr="0">
              <a:spAutoFit/>
            </a:bodyPr>
            <a:lstStyle/>
            <a:p>
              <a:pPr algn="ctr"/>
              <a:r>
                <a:rPr lang="en-US" sz="1050" dirty="0">
                  <a:solidFill>
                    <a:srgbClr val="9AA3AF"/>
                  </a:solidFill>
                  <a:latin typeface="+mn-lt"/>
                  <a:ea typeface="+mn-ea"/>
                  <a:cs typeface="+mn-cs"/>
                </a:rPr>
                <a:t>PV5</a:t>
              </a:r>
            </a:p>
          </p:txBody>
        </p:sp>
        <p:sp>
          <p:nvSpPr>
            <p:cNvPr id="10" name="TextBox 10"/>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1" name="TextBox 11"/>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2" name="TextBox 12"/>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3" name="TextBox 13"/>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사업</a:t>
              </a:r>
            </a:p>
          </p:txBody>
        </p:sp>
        <p:sp>
          <p:nvSpPr>
            <p:cNvPr id="14" name="Line 14"/>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7" name="title"/>
          <p:cNvGrpSpPr/>
          <p:nvPr/>
        </p:nvGrpSpPr>
        <p:grpSpPr>
          <a:xfrm>
            <a:off x="518160" y="774700"/>
            <a:ext cx="9945591" cy="586740"/>
            <a:chOff x="518160" y="774700"/>
            <a:chExt cx="9945591" cy="586740"/>
          </a:xfrm>
        </p:grpSpPr>
        <p:sp>
          <p:nvSpPr>
            <p:cNvPr id="16" name="TextBox 16"/>
            <p:cNvSpPr txBox="1"/>
            <p:nvPr/>
          </p:nvSpPr>
          <p:spPr>
            <a:xfrm>
              <a:off x="518160" y="774700"/>
              <a:ext cx="9945591"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GroundWatch는 탐사와 탐사 ‘사이’의 공백을 메웁니다</a:t>
              </a:r>
            </a:p>
          </p:txBody>
        </p:sp>
      </p:grpSp>
      <p:grpSp>
        <p:nvGrpSpPr>
          <p:cNvPr id="23" name="col0"/>
          <p:cNvGrpSpPr/>
          <p:nvPr/>
        </p:nvGrpSpPr>
        <p:grpSpPr>
          <a:xfrm>
            <a:off x="524637" y="1600200"/>
            <a:ext cx="2618613" cy="2021459"/>
            <a:chOff x="524637" y="1600200"/>
            <a:chExt cx="2618613" cy="2021459"/>
          </a:xfrm>
        </p:grpSpPr>
        <p:sp>
          <p:nvSpPr>
            <p:cNvPr id="18" name="Rectangle 18"/>
            <p:cNvSpPr/>
            <p:nvPr/>
          </p:nvSpPr>
          <p:spPr>
            <a:xfrm>
              <a:off x="533400" y="1600200"/>
              <a:ext cx="2609850" cy="28575"/>
            </a:xfrm>
            <a:prstGeom prst="rect">
              <a:avLst/>
            </a:prstGeom>
            <a:solidFill>
              <a:srgbClr val="C62828"/>
            </a:solidFill>
            <a:ln>
              <a:noFill/>
            </a:ln>
          </p:spPr>
        </p:sp>
        <p:sp>
          <p:nvSpPr>
            <p:cNvPr id="19" name="TextBox 19"/>
            <p:cNvSpPr txBox="1"/>
            <p:nvPr/>
          </p:nvSpPr>
          <p:spPr>
            <a:xfrm>
              <a:off x="527304" y="1771650"/>
              <a:ext cx="335280" cy="234696"/>
            </a:xfrm>
            <a:prstGeom prst="rect">
              <a:avLst/>
            </a:prstGeom>
            <a:noFill/>
            <a:ln>
              <a:noFill/>
            </a:ln>
          </p:spPr>
          <p:txBody>
            <a:bodyPr wrap="none" lIns="0" tIns="0" rIns="0" bIns="0" anchor="t" anchorCtr="0">
              <a:spAutoFit/>
            </a:bodyPr>
            <a:lstStyle/>
            <a:p>
              <a:pPr algn="l"/>
              <a:r>
                <a:rPr lang="ko-KR" sz="1200" b="1" dirty="0">
                  <a:solidFill>
                    <a:srgbClr val="C62828"/>
                  </a:solidFill>
                  <a:latin typeface="+mn-lt"/>
                  <a:ea typeface="+mn-ea"/>
                  <a:cs typeface="+mn-cs"/>
                </a:rPr>
                <a:t>문제</a:t>
              </a:r>
            </a:p>
          </p:txBody>
        </p:sp>
        <p:sp>
          <p:nvSpPr>
            <p:cNvPr id="20" name="TextBox 20"/>
            <p:cNvSpPr txBox="1"/>
            <p:nvPr/>
          </p:nvSpPr>
          <p:spPr>
            <a:xfrm>
              <a:off x="524637" y="2070100"/>
              <a:ext cx="2331253" cy="337376"/>
            </a:xfrm>
            <a:prstGeom prst="rect">
              <a:avLst/>
            </a:prstGeom>
            <a:noFill/>
            <a:ln>
              <a:noFill/>
            </a:ln>
          </p:spPr>
          <p:txBody>
            <a:bodyPr wrap="none" lIns="0" tIns="0" rIns="0" bIns="0" anchor="t" anchorCtr="0">
              <a:spAutoFit/>
            </a:bodyPr>
            <a:lstStyle/>
            <a:p>
              <a:pPr algn="l"/>
              <a:r>
                <a:rPr lang="ko-KR" sz="1720" b="1" dirty="0">
                  <a:solidFill>
                    <a:srgbClr val="0B1E3C"/>
                  </a:solidFill>
                  <a:latin typeface="+mn-lt"/>
                  <a:ea typeface="+mn-ea"/>
                  <a:cs typeface="+mn-cs"/>
                </a:rPr>
                <a:t>탐사 100여 일 뒤 함몰</a:t>
              </a:r>
            </a:p>
          </p:txBody>
        </p:sp>
        <p:sp>
          <p:nvSpPr>
            <p:cNvPr id="21" name="TextBox 21"/>
            <p:cNvSpPr txBox="1"/>
            <p:nvPr/>
          </p:nvSpPr>
          <p:spPr>
            <a:xfrm>
              <a:off x="526923" y="2520950"/>
              <a:ext cx="1996186" cy="669417"/>
            </a:xfrm>
            <a:prstGeom prst="rect">
              <a:avLst/>
            </a:prstGeom>
            <a:noFill/>
            <a:ln>
              <a:noFill/>
            </a:ln>
          </p:spPr>
          <p:txBody>
            <a:bodyPr wrap="none" lIns="0" tIns="0" rIns="0" bIns="0" anchor="t" anchorCtr="0">
              <a:spAutoFit/>
            </a:bodyPr>
            <a:lstStyle/>
            <a:p>
              <a:pPr algn="l">
                <a:lnSpc>
                  <a:spcPts val="1650"/>
                </a:lnSpc>
              </a:pPr>
              <a:r>
                <a:rPr lang="ko-KR" sz="1280" dirty="0">
                  <a:solidFill>
                    <a:srgbClr val="374151"/>
                  </a:solidFill>
                  <a:latin typeface="+mn-lt"/>
                  <a:ea typeface="+mn-ea"/>
                  <a:cs typeface="+mn-cs"/>
                </a:rPr>
                <a:t>법정 점검 5년, 서울 1년.</a:t>
              </a:r>
              <a:br>
                <a:rPr lang="ko-KR" sz="1280" dirty="0">
                  <a:solidFill>
                    <a:srgbClr val="374151"/>
                  </a:solidFill>
                  <a:latin typeface="+mn-lt"/>
                  <a:ea typeface="+mn-ea"/>
                  <a:cs typeface="+mn-cs"/>
                </a:rPr>
              </a:br>
              <a:r>
                <a:rPr lang="ko-KR" sz="1280" dirty="0">
                  <a:solidFill>
                    <a:srgbClr val="374151"/>
                  </a:solidFill>
                  <a:latin typeface="+mn-lt"/>
                  <a:ea typeface="+mn-ea"/>
                  <a:cs typeface="+mn-cs"/>
                </a:rPr>
                <a:t>그 사이 자라는 얕은 공동을</a:t>
              </a:r>
              <a:br>
                <a:rPr lang="ko-KR" sz="1280" dirty="0">
                  <a:solidFill>
                    <a:srgbClr val="374151"/>
                  </a:solidFill>
                  <a:latin typeface="+mn-lt"/>
                  <a:ea typeface="+mn-ea"/>
                  <a:cs typeface="+mn-cs"/>
                </a:rPr>
              </a:br>
              <a:r>
                <a:rPr lang="ko-KR" sz="1280" dirty="0">
                  <a:solidFill>
                    <a:srgbClr val="374151"/>
                  </a:solidFill>
                  <a:latin typeface="+mn-lt"/>
                  <a:ea typeface="+mn-ea"/>
                  <a:cs typeface="+mn-cs"/>
                </a:rPr>
                <a:t>아무도 보지 못합니다.</a:t>
              </a:r>
            </a:p>
          </p:txBody>
        </p:sp>
        <p:sp>
          <p:nvSpPr>
            <p:cNvPr id="22" name="TextBox 22"/>
            <p:cNvSpPr txBox="1"/>
            <p:nvPr/>
          </p:nvSpPr>
          <p:spPr>
            <a:xfrm>
              <a:off x="528066" y="3416300"/>
              <a:ext cx="971855" cy="205359"/>
            </a:xfrm>
            <a:prstGeom prst="rect">
              <a:avLst/>
            </a:prstGeom>
            <a:noFill/>
            <a:ln>
              <a:noFill/>
            </a:ln>
          </p:spPr>
          <p:txBody>
            <a:bodyPr wrap="none" lIns="0" tIns="0" rIns="0" bIns="0" anchor="t" anchorCtr="0">
              <a:spAutoFit/>
            </a:bodyPr>
            <a:lstStyle/>
            <a:p>
              <a:pPr algn="l"/>
              <a:r>
                <a:rPr lang="ko-KR" sz="1050" dirty="0">
                  <a:solidFill>
                    <a:srgbClr val="4B5563"/>
                  </a:solidFill>
                  <a:latin typeface="+mn-lt"/>
                  <a:ea typeface="+mn-ea"/>
                  <a:cs typeface="+mn-cs"/>
                </a:rPr>
                <a:t>자세히 → 3~5장</a:t>
              </a:r>
            </a:p>
          </p:txBody>
        </p:sp>
      </p:grpSp>
      <p:grpSp>
        <p:nvGrpSpPr>
          <p:cNvPr id="29" name="col1"/>
          <p:cNvGrpSpPr/>
          <p:nvPr/>
        </p:nvGrpSpPr>
        <p:grpSpPr>
          <a:xfrm>
            <a:off x="3363087" y="1600200"/>
            <a:ext cx="2618613" cy="2021459"/>
            <a:chOff x="3363087" y="1600200"/>
            <a:chExt cx="2618613" cy="2021459"/>
          </a:xfrm>
        </p:grpSpPr>
        <p:sp>
          <p:nvSpPr>
            <p:cNvPr id="24" name="Rectangle 24"/>
            <p:cNvSpPr/>
            <p:nvPr/>
          </p:nvSpPr>
          <p:spPr>
            <a:xfrm>
              <a:off x="3371850" y="1600200"/>
              <a:ext cx="2609850" cy="28575"/>
            </a:xfrm>
            <a:prstGeom prst="rect">
              <a:avLst/>
            </a:prstGeom>
            <a:solidFill>
              <a:srgbClr val="0B1E3C"/>
            </a:solidFill>
            <a:ln>
              <a:noFill/>
            </a:ln>
          </p:spPr>
        </p:sp>
        <p:sp>
          <p:nvSpPr>
            <p:cNvPr id="25" name="TextBox 25"/>
            <p:cNvSpPr txBox="1"/>
            <p:nvPr/>
          </p:nvSpPr>
          <p:spPr>
            <a:xfrm>
              <a:off x="3365754" y="1771650"/>
              <a:ext cx="335280" cy="234696"/>
            </a:xfrm>
            <a:prstGeom prst="rect">
              <a:avLst/>
            </a:prstGeom>
            <a:noFill/>
            <a:ln>
              <a:noFill/>
            </a:ln>
          </p:spPr>
          <p:txBody>
            <a:bodyPr wrap="none" lIns="0" tIns="0" rIns="0" bIns="0" anchor="t" anchorCtr="0">
              <a:spAutoFit/>
            </a:bodyPr>
            <a:lstStyle/>
            <a:p>
              <a:pPr algn="l"/>
              <a:r>
                <a:rPr lang="ko-KR" sz="1200" b="1" dirty="0">
                  <a:solidFill>
                    <a:srgbClr val="B45309"/>
                  </a:solidFill>
                  <a:latin typeface="+mn-lt"/>
                  <a:ea typeface="+mn-ea"/>
                  <a:cs typeface="+mn-cs"/>
                </a:rPr>
                <a:t>해법</a:t>
              </a:r>
            </a:p>
          </p:txBody>
        </p:sp>
        <p:sp>
          <p:nvSpPr>
            <p:cNvPr id="26" name="TextBox 26"/>
            <p:cNvSpPr txBox="1"/>
            <p:nvPr/>
          </p:nvSpPr>
          <p:spPr>
            <a:xfrm>
              <a:off x="3363087" y="2070100"/>
              <a:ext cx="2453973" cy="337376"/>
            </a:xfrm>
            <a:prstGeom prst="rect">
              <a:avLst/>
            </a:prstGeom>
            <a:noFill/>
            <a:ln>
              <a:noFill/>
            </a:ln>
          </p:spPr>
          <p:txBody>
            <a:bodyPr wrap="none" lIns="0" tIns="0" rIns="0" bIns="0" anchor="t" anchorCtr="0">
              <a:spAutoFit/>
            </a:bodyPr>
            <a:lstStyle/>
            <a:p>
              <a:pPr algn="l"/>
              <a:r>
                <a:rPr lang="ko-KR" sz="1720" b="1" dirty="0">
                  <a:solidFill>
                    <a:srgbClr val="0B1E3C"/>
                  </a:solidFill>
                  <a:latin typeface="+mn-lt"/>
                  <a:ea typeface="+mn-ea"/>
                  <a:cs typeface="+mn-cs"/>
                </a:rPr>
                <a:t>같은 길을 약 2개월마다</a:t>
              </a:r>
            </a:p>
          </p:txBody>
        </p:sp>
        <p:sp>
          <p:nvSpPr>
            <p:cNvPr id="27" name="TextBox 27"/>
            <p:cNvSpPr txBox="1"/>
            <p:nvPr/>
          </p:nvSpPr>
          <p:spPr>
            <a:xfrm>
              <a:off x="3365373" y="2520950"/>
              <a:ext cx="1776730" cy="669417"/>
            </a:xfrm>
            <a:prstGeom prst="rect">
              <a:avLst/>
            </a:prstGeom>
            <a:noFill/>
            <a:ln>
              <a:noFill/>
            </a:ln>
          </p:spPr>
          <p:txBody>
            <a:bodyPr wrap="none" lIns="0" tIns="0" rIns="0" bIns="0" anchor="t" anchorCtr="0">
              <a:spAutoFit/>
            </a:bodyPr>
            <a:lstStyle/>
            <a:p>
              <a:pPr algn="l">
                <a:lnSpc>
                  <a:spcPts val="1650"/>
                </a:lnSpc>
              </a:pPr>
              <a:r>
                <a:rPr lang="ko-KR" sz="1280" dirty="0">
                  <a:solidFill>
                    <a:srgbClr val="374151"/>
                  </a:solidFill>
                  <a:latin typeface="+mn-lt"/>
                  <a:ea typeface="+mn-ea"/>
                  <a:cs typeface="+mn-cs"/>
                </a:rPr>
                <a:t>PV5가 GPR로 다시 찍고,</a:t>
              </a:r>
              <a:br>
                <a:rPr lang="ko-KR" sz="1280" dirty="0">
                  <a:solidFill>
                    <a:srgbClr val="374151"/>
                  </a:solidFill>
                  <a:latin typeface="+mn-lt"/>
                  <a:ea typeface="+mn-ea"/>
                  <a:cs typeface="+mn-cs"/>
                </a:rPr>
              </a:br>
              <a:r>
                <a:rPr lang="ko-KR" sz="1280" dirty="0">
                  <a:solidFill>
                    <a:srgbClr val="374151"/>
                  </a:solidFill>
                  <a:latin typeface="+mn-lt"/>
                  <a:ea typeface="+mn-ea"/>
                  <a:cs typeface="+mn-cs"/>
                </a:rPr>
                <a:t>달라진 곳만 골라</a:t>
              </a:r>
              <a:br>
                <a:rPr lang="ko-KR" sz="1280" dirty="0">
                  <a:solidFill>
                    <a:srgbClr val="374151"/>
                  </a:solidFill>
                  <a:latin typeface="+mn-lt"/>
                  <a:ea typeface="+mn-ea"/>
                  <a:cs typeface="+mn-cs"/>
                </a:rPr>
              </a:br>
              <a:r>
                <a:rPr lang="ko-KR" sz="1280" dirty="0">
                  <a:solidFill>
                    <a:srgbClr val="374151"/>
                  </a:solidFill>
                  <a:latin typeface="+mn-lt"/>
                  <a:ea typeface="+mn-ea"/>
                  <a:cs typeface="+mn-cs"/>
                </a:rPr>
                <a:t>현장에서 재확인합니다.</a:t>
              </a:r>
            </a:p>
          </p:txBody>
        </p:sp>
        <p:sp>
          <p:nvSpPr>
            <p:cNvPr id="28" name="TextBox 28"/>
            <p:cNvSpPr txBox="1"/>
            <p:nvPr/>
          </p:nvSpPr>
          <p:spPr>
            <a:xfrm>
              <a:off x="3366516" y="3416300"/>
              <a:ext cx="971855" cy="205359"/>
            </a:xfrm>
            <a:prstGeom prst="rect">
              <a:avLst/>
            </a:prstGeom>
            <a:noFill/>
            <a:ln>
              <a:noFill/>
            </a:ln>
          </p:spPr>
          <p:txBody>
            <a:bodyPr wrap="none" lIns="0" tIns="0" rIns="0" bIns="0" anchor="t" anchorCtr="0">
              <a:spAutoFit/>
            </a:bodyPr>
            <a:lstStyle/>
            <a:p>
              <a:pPr algn="l"/>
              <a:r>
                <a:rPr lang="ko-KR" sz="1050" dirty="0">
                  <a:solidFill>
                    <a:srgbClr val="4B5563"/>
                  </a:solidFill>
                  <a:latin typeface="+mn-lt"/>
                  <a:ea typeface="+mn-ea"/>
                  <a:cs typeface="+mn-cs"/>
                </a:rPr>
                <a:t>자세히 → 6~8장</a:t>
              </a:r>
            </a:p>
          </p:txBody>
        </p:sp>
      </p:grpSp>
      <p:grpSp>
        <p:nvGrpSpPr>
          <p:cNvPr id="35" name="col2"/>
          <p:cNvGrpSpPr/>
          <p:nvPr/>
        </p:nvGrpSpPr>
        <p:grpSpPr>
          <a:xfrm>
            <a:off x="6201537" y="1600200"/>
            <a:ext cx="2618613" cy="2021459"/>
            <a:chOff x="6201537" y="1600200"/>
            <a:chExt cx="2618613" cy="2021459"/>
          </a:xfrm>
        </p:grpSpPr>
        <p:sp>
          <p:nvSpPr>
            <p:cNvPr id="30" name="Rectangle 30"/>
            <p:cNvSpPr/>
            <p:nvPr/>
          </p:nvSpPr>
          <p:spPr>
            <a:xfrm>
              <a:off x="6210300" y="1600200"/>
              <a:ext cx="2609850" cy="28575"/>
            </a:xfrm>
            <a:prstGeom prst="rect">
              <a:avLst/>
            </a:prstGeom>
            <a:solidFill>
              <a:srgbClr val="0B1E3C"/>
            </a:solidFill>
            <a:ln>
              <a:noFill/>
            </a:ln>
          </p:spPr>
        </p:sp>
        <p:sp>
          <p:nvSpPr>
            <p:cNvPr id="31" name="TextBox 31"/>
            <p:cNvSpPr txBox="1"/>
            <p:nvPr/>
          </p:nvSpPr>
          <p:spPr>
            <a:xfrm>
              <a:off x="6204204" y="1771650"/>
              <a:ext cx="523220" cy="234696"/>
            </a:xfrm>
            <a:prstGeom prst="rect">
              <a:avLst/>
            </a:prstGeom>
            <a:noFill/>
            <a:ln>
              <a:noFill/>
            </a:ln>
          </p:spPr>
          <p:txBody>
            <a:bodyPr wrap="none" lIns="0" tIns="0" rIns="0" bIns="0" anchor="t" anchorCtr="0">
              <a:spAutoFit/>
            </a:bodyPr>
            <a:lstStyle/>
            <a:p>
              <a:pPr algn="l"/>
              <a:r>
                <a:rPr lang="ko-KR" sz="1200" b="1" dirty="0">
                  <a:solidFill>
                    <a:srgbClr val="B45309"/>
                  </a:solidFill>
                  <a:latin typeface="+mn-lt"/>
                  <a:ea typeface="+mn-ea"/>
                  <a:cs typeface="+mn-cs"/>
                </a:rPr>
                <a:t>왜 PV5</a:t>
              </a:r>
            </a:p>
          </p:txBody>
        </p:sp>
        <p:sp>
          <p:nvSpPr>
            <p:cNvPr id="32" name="TextBox 32"/>
            <p:cNvSpPr txBox="1"/>
            <p:nvPr/>
          </p:nvSpPr>
          <p:spPr>
            <a:xfrm>
              <a:off x="6201537" y="2070100"/>
              <a:ext cx="2320255" cy="337376"/>
            </a:xfrm>
            <a:prstGeom prst="rect">
              <a:avLst/>
            </a:prstGeom>
            <a:noFill/>
            <a:ln>
              <a:noFill/>
            </a:ln>
          </p:spPr>
          <p:txBody>
            <a:bodyPr wrap="none" lIns="0" tIns="0" rIns="0" bIns="0" anchor="t" anchorCtr="0">
              <a:spAutoFit/>
            </a:bodyPr>
            <a:lstStyle/>
            <a:p>
              <a:pPr algn="l"/>
              <a:r>
                <a:rPr lang="ko-KR" sz="1720" b="1" dirty="0">
                  <a:solidFill>
                    <a:srgbClr val="0B1E3C"/>
                  </a:solidFill>
                  <a:latin typeface="+mn-lt"/>
                  <a:ea typeface="+mn-ea"/>
                  <a:cs typeface="+mn-cs"/>
                </a:rPr>
                <a:t>차가 업무의 일부가 됨</a:t>
              </a:r>
            </a:p>
          </p:txBody>
        </p:sp>
        <p:sp>
          <p:nvSpPr>
            <p:cNvPr id="33" name="TextBox 33"/>
            <p:cNvSpPr txBox="1"/>
            <p:nvPr/>
          </p:nvSpPr>
          <p:spPr>
            <a:xfrm>
              <a:off x="6203823" y="2520950"/>
              <a:ext cx="2175002" cy="669417"/>
            </a:xfrm>
            <a:prstGeom prst="rect">
              <a:avLst/>
            </a:prstGeom>
            <a:noFill/>
            <a:ln>
              <a:noFill/>
            </a:ln>
          </p:spPr>
          <p:txBody>
            <a:bodyPr wrap="none" lIns="0" tIns="0" rIns="0" bIns="0" anchor="t" anchorCtr="0">
              <a:spAutoFit/>
            </a:bodyPr>
            <a:lstStyle/>
            <a:p>
              <a:pPr algn="l">
                <a:lnSpc>
                  <a:spcPts val="1650"/>
                </a:lnSpc>
              </a:pPr>
              <a:r>
                <a:rPr lang="ko-KR" sz="1280" dirty="0">
                  <a:solidFill>
                    <a:srgbClr val="374151"/>
                  </a:solidFill>
                  <a:latin typeface="+mn-lt"/>
                  <a:ea typeface="+mn-ea"/>
                  <a:cs typeface="+mn-cs"/>
                </a:rPr>
                <a:t>PIM·Navihelper로 차와 연동,</a:t>
              </a:r>
              <a:br>
                <a:rPr lang="ko-KR" sz="1280" dirty="0">
                  <a:solidFill>
                    <a:srgbClr val="374151"/>
                  </a:solidFill>
                  <a:latin typeface="+mn-lt"/>
                  <a:ea typeface="+mn-ea"/>
                  <a:cs typeface="+mn-cs"/>
                </a:rPr>
              </a:br>
              <a:r>
                <a:rPr lang="ko-KR" sz="1280" dirty="0">
                  <a:solidFill>
                    <a:srgbClr val="374151"/>
                  </a:solidFill>
                  <a:latin typeface="+mn-lt"/>
                  <a:ea typeface="+mn-ea"/>
                  <a:cs typeface="+mn-cs"/>
                </a:rPr>
                <a:t>V2L·L-Track으로 싣고 고정,</a:t>
              </a:r>
              <a:br>
                <a:rPr lang="ko-KR" sz="1280" dirty="0">
                  <a:solidFill>
                    <a:srgbClr val="374151"/>
                  </a:solidFill>
                  <a:latin typeface="+mn-lt"/>
                  <a:ea typeface="+mn-ea"/>
                  <a:cs typeface="+mn-cs"/>
                </a:rPr>
              </a:br>
              <a:r>
                <a:rPr lang="ko-KR" sz="1280" dirty="0">
                  <a:solidFill>
                    <a:srgbClr val="374151"/>
                  </a:solidFill>
                  <a:latin typeface="+mn-lt"/>
                  <a:ea typeface="+mn-ea"/>
                  <a:cs typeface="+mn-cs"/>
                </a:rPr>
                <a:t>공식 컨버전으로 복제.</a:t>
              </a:r>
            </a:p>
          </p:txBody>
        </p:sp>
        <p:sp>
          <p:nvSpPr>
            <p:cNvPr id="34" name="TextBox 34"/>
            <p:cNvSpPr txBox="1"/>
            <p:nvPr/>
          </p:nvSpPr>
          <p:spPr>
            <a:xfrm>
              <a:off x="6204966" y="3416300"/>
              <a:ext cx="1049598" cy="205359"/>
            </a:xfrm>
            <a:prstGeom prst="rect">
              <a:avLst/>
            </a:prstGeom>
            <a:noFill/>
            <a:ln>
              <a:noFill/>
            </a:ln>
          </p:spPr>
          <p:txBody>
            <a:bodyPr wrap="none" lIns="0" tIns="0" rIns="0" bIns="0" anchor="t" anchorCtr="0">
              <a:spAutoFit/>
            </a:bodyPr>
            <a:lstStyle/>
            <a:p>
              <a:pPr algn="l"/>
              <a:r>
                <a:rPr lang="ko-KR" sz="1050" dirty="0">
                  <a:solidFill>
                    <a:srgbClr val="4B5563"/>
                  </a:solidFill>
                  <a:latin typeface="+mn-lt"/>
                  <a:ea typeface="+mn-ea"/>
                  <a:cs typeface="+mn-cs"/>
                </a:rPr>
                <a:t>자세히 → 9~11장</a:t>
              </a:r>
            </a:p>
          </p:txBody>
        </p:sp>
      </p:grpSp>
      <p:grpSp>
        <p:nvGrpSpPr>
          <p:cNvPr id="41" name="col3"/>
          <p:cNvGrpSpPr/>
          <p:nvPr/>
        </p:nvGrpSpPr>
        <p:grpSpPr>
          <a:xfrm>
            <a:off x="9039987" y="1600200"/>
            <a:ext cx="2618613" cy="2021459"/>
            <a:chOff x="9039987" y="1600200"/>
            <a:chExt cx="2618613" cy="2021459"/>
          </a:xfrm>
        </p:grpSpPr>
        <p:sp>
          <p:nvSpPr>
            <p:cNvPr id="36" name="Rectangle 36"/>
            <p:cNvSpPr/>
            <p:nvPr/>
          </p:nvSpPr>
          <p:spPr>
            <a:xfrm>
              <a:off x="9048750" y="1600200"/>
              <a:ext cx="2609850" cy="28575"/>
            </a:xfrm>
            <a:prstGeom prst="rect">
              <a:avLst/>
            </a:prstGeom>
            <a:solidFill>
              <a:srgbClr val="0B1E3C"/>
            </a:solidFill>
            <a:ln>
              <a:noFill/>
            </a:ln>
          </p:spPr>
        </p:sp>
        <p:sp>
          <p:nvSpPr>
            <p:cNvPr id="37" name="TextBox 37"/>
            <p:cNvSpPr txBox="1"/>
            <p:nvPr/>
          </p:nvSpPr>
          <p:spPr>
            <a:xfrm>
              <a:off x="9042654" y="1771650"/>
              <a:ext cx="335280" cy="234696"/>
            </a:xfrm>
            <a:prstGeom prst="rect">
              <a:avLst/>
            </a:prstGeom>
            <a:noFill/>
            <a:ln>
              <a:noFill/>
            </a:ln>
          </p:spPr>
          <p:txBody>
            <a:bodyPr wrap="none" lIns="0" tIns="0" rIns="0" bIns="0" anchor="t" anchorCtr="0">
              <a:spAutoFit/>
            </a:bodyPr>
            <a:lstStyle/>
            <a:p>
              <a:pPr algn="l"/>
              <a:r>
                <a:rPr lang="ko-KR" sz="1200" b="1" dirty="0">
                  <a:solidFill>
                    <a:srgbClr val="B45309"/>
                  </a:solidFill>
                  <a:latin typeface="+mn-lt"/>
                  <a:ea typeface="+mn-ea"/>
                  <a:cs typeface="+mn-cs"/>
                </a:rPr>
                <a:t>사업</a:t>
              </a:r>
            </a:p>
          </p:txBody>
        </p:sp>
        <p:sp>
          <p:nvSpPr>
            <p:cNvPr id="38" name="TextBox 38"/>
            <p:cNvSpPr txBox="1"/>
            <p:nvPr/>
          </p:nvSpPr>
          <p:spPr>
            <a:xfrm>
              <a:off x="9039987" y="2070100"/>
              <a:ext cx="2015771" cy="337376"/>
            </a:xfrm>
            <a:prstGeom prst="rect">
              <a:avLst/>
            </a:prstGeom>
            <a:noFill/>
            <a:ln>
              <a:noFill/>
            </a:ln>
          </p:spPr>
          <p:txBody>
            <a:bodyPr wrap="none" lIns="0" tIns="0" rIns="0" bIns="0" anchor="t" anchorCtr="0">
              <a:spAutoFit/>
            </a:bodyPr>
            <a:lstStyle/>
            <a:p>
              <a:pPr algn="l"/>
              <a:r>
                <a:rPr lang="ko-KR" sz="1720" b="1" dirty="0">
                  <a:solidFill>
                    <a:srgbClr val="0B1E3C"/>
                  </a:solidFill>
                  <a:latin typeface="+mn-lt"/>
                  <a:ea typeface="+mn-ea"/>
                  <a:cs typeface="+mn-cs"/>
                </a:rPr>
                <a:t>이미 있는 예산에서</a:t>
              </a:r>
            </a:p>
          </p:txBody>
        </p:sp>
        <p:sp>
          <p:nvSpPr>
            <p:cNvPr id="39" name="TextBox 39"/>
            <p:cNvSpPr txBox="1"/>
            <p:nvPr/>
          </p:nvSpPr>
          <p:spPr>
            <a:xfrm>
              <a:off x="9042273" y="2520950"/>
              <a:ext cx="2540762" cy="669417"/>
            </a:xfrm>
            <a:prstGeom prst="rect">
              <a:avLst/>
            </a:prstGeom>
            <a:noFill/>
            <a:ln>
              <a:noFill/>
            </a:ln>
          </p:spPr>
          <p:txBody>
            <a:bodyPr wrap="none" lIns="0" tIns="0" rIns="0" bIns="0" anchor="t" anchorCtr="0">
              <a:spAutoFit/>
            </a:bodyPr>
            <a:lstStyle/>
            <a:p>
              <a:pPr algn="l">
                <a:lnSpc>
                  <a:spcPts val="1650"/>
                </a:lnSpc>
              </a:pPr>
              <a:r>
                <a:rPr lang="ko-KR" sz="1280" dirty="0">
                  <a:solidFill>
                    <a:srgbClr val="374151"/>
                  </a:solidFill>
                  <a:latin typeface="+mn-lt"/>
                  <a:ea typeface="+mn-ea"/>
                  <a:cs typeface="+mn-cs"/>
                </a:rPr>
                <a:t>큰 지자체 GPR 용역 연 1.4~1.8억.</a:t>
              </a:r>
              <a:br>
                <a:rPr lang="ko-KR" sz="1280" dirty="0">
                  <a:solidFill>
                    <a:srgbClr val="374151"/>
                  </a:solidFill>
                  <a:latin typeface="+mn-lt"/>
                  <a:ea typeface="+mn-ea"/>
                  <a:cs typeface="+mn-cs"/>
                </a:rPr>
              </a:br>
              <a:r>
                <a:rPr lang="ko-KR" sz="1280" dirty="0">
                  <a:solidFill>
                    <a:srgbClr val="374151"/>
                  </a:solidFill>
                  <a:latin typeface="+mn-lt"/>
                  <a:ea typeface="+mn-ea"/>
                  <a:cs typeface="+mn-cs"/>
                </a:rPr>
                <a:t>차량 1대가 2곳을 맡으면</a:t>
              </a:r>
              <a:br>
                <a:rPr lang="ko-KR" sz="1280" dirty="0">
                  <a:solidFill>
                    <a:srgbClr val="374151"/>
                  </a:solidFill>
                  <a:latin typeface="+mn-lt"/>
                  <a:ea typeface="+mn-ea"/>
                  <a:cs typeface="+mn-cs"/>
                </a:rPr>
              </a:br>
              <a:r>
                <a:rPr lang="ko-KR" sz="1280" dirty="0">
                  <a:solidFill>
                    <a:srgbClr val="374151"/>
                  </a:solidFill>
                  <a:latin typeface="+mn-lt"/>
                  <a:ea typeface="+mn-ea"/>
                  <a:cs typeface="+mn-cs"/>
                </a:rPr>
                <a:t>흑자, 실증은 4단계로.</a:t>
              </a:r>
            </a:p>
          </p:txBody>
        </p:sp>
        <p:sp>
          <p:nvSpPr>
            <p:cNvPr id="40" name="TextBox 40"/>
            <p:cNvSpPr txBox="1"/>
            <p:nvPr/>
          </p:nvSpPr>
          <p:spPr>
            <a:xfrm>
              <a:off x="9043416" y="3416300"/>
              <a:ext cx="1127341" cy="205359"/>
            </a:xfrm>
            <a:prstGeom prst="rect">
              <a:avLst/>
            </a:prstGeom>
            <a:noFill/>
            <a:ln>
              <a:noFill/>
            </a:ln>
          </p:spPr>
          <p:txBody>
            <a:bodyPr wrap="none" lIns="0" tIns="0" rIns="0" bIns="0" anchor="t" anchorCtr="0">
              <a:spAutoFit/>
            </a:bodyPr>
            <a:lstStyle/>
            <a:p>
              <a:pPr algn="l"/>
              <a:r>
                <a:rPr lang="ko-KR" sz="1050" dirty="0">
                  <a:solidFill>
                    <a:srgbClr val="4B5563"/>
                  </a:solidFill>
                  <a:latin typeface="+mn-lt"/>
                  <a:ea typeface="+mn-ea"/>
                  <a:cs typeface="+mn-cs"/>
                </a:rPr>
                <a:t>자세히 → 12~14장</a:t>
              </a:r>
            </a:p>
          </p:txBody>
        </p:sp>
      </p:grpSp>
      <p:grpSp>
        <p:nvGrpSpPr>
          <p:cNvPr id="58" name="criteria"/>
          <p:cNvGrpSpPr/>
          <p:nvPr/>
        </p:nvGrpSpPr>
        <p:grpSpPr>
          <a:xfrm>
            <a:off x="527685" y="4260850"/>
            <a:ext cx="11111865" cy="996950"/>
            <a:chOff x="527685" y="4260850"/>
            <a:chExt cx="11111865" cy="996950"/>
          </a:xfrm>
        </p:grpSpPr>
        <p:sp>
          <p:nvSpPr>
            <p:cNvPr id="42" name="TextBox 42"/>
            <p:cNvSpPr txBox="1"/>
            <p:nvPr/>
          </p:nvSpPr>
          <p:spPr>
            <a:xfrm>
              <a:off x="527685" y="4260850"/>
              <a:ext cx="1510881"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심사 기준별 근거 위치</a:t>
              </a:r>
            </a:p>
          </p:txBody>
        </p:sp>
        <p:sp>
          <p:nvSpPr>
            <p:cNvPr id="43" name="Rectangle 43"/>
            <p:cNvSpPr/>
            <p:nvPr/>
          </p:nvSpPr>
          <p:spPr>
            <a:xfrm>
              <a:off x="533400" y="4533900"/>
              <a:ext cx="2114550" cy="723900"/>
            </a:xfrm>
            <a:prstGeom prst="rect">
              <a:avLst/>
            </a:prstGeom>
            <a:solidFill>
              <a:srgbClr val="F3F5F8"/>
            </a:solidFill>
            <a:ln>
              <a:noFill/>
            </a:ln>
          </p:spPr>
        </p:sp>
        <p:sp>
          <p:nvSpPr>
            <p:cNvPr id="44" name="TextBox 44"/>
            <p:cNvSpPr txBox="1"/>
            <p:nvPr/>
          </p:nvSpPr>
          <p:spPr>
            <a:xfrm>
              <a:off x="679323" y="4667250"/>
              <a:ext cx="1452230"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 xml:space="preserve">기술적 완성도 </a:t>
              </a:r>
              <a:r>
                <a:rPr lang="ko-KR" sz="1050" dirty="0">
                  <a:solidFill>
                    <a:srgbClr val="4B5563"/>
                  </a:solidFill>
                  <a:latin typeface="+mn-lt"/>
                  <a:ea typeface="+mn-ea"/>
                  <a:cs typeface="+mn-cs"/>
                </a:rPr>
                <a:t>30점</a:t>
              </a:r>
            </a:p>
          </p:txBody>
        </p:sp>
        <p:sp>
          <p:nvSpPr>
            <p:cNvPr id="45" name="TextBox 45"/>
            <p:cNvSpPr txBox="1"/>
            <p:nvPr/>
          </p:nvSpPr>
          <p:spPr>
            <a:xfrm>
              <a:off x="679704" y="4953000"/>
              <a:ext cx="706831"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7·8·12장</a:t>
              </a:r>
            </a:p>
          </p:txBody>
        </p:sp>
        <p:sp>
          <p:nvSpPr>
            <p:cNvPr id="46" name="Rectangle 46"/>
            <p:cNvSpPr/>
            <p:nvPr/>
          </p:nvSpPr>
          <p:spPr>
            <a:xfrm>
              <a:off x="2781300" y="4533900"/>
              <a:ext cx="2114550" cy="723900"/>
            </a:xfrm>
            <a:prstGeom prst="rect">
              <a:avLst/>
            </a:prstGeom>
            <a:solidFill>
              <a:srgbClr val="F3F5F8"/>
            </a:solidFill>
            <a:ln>
              <a:noFill/>
            </a:ln>
          </p:spPr>
        </p:sp>
        <p:sp>
          <p:nvSpPr>
            <p:cNvPr id="47" name="TextBox 47"/>
            <p:cNvSpPr txBox="1"/>
            <p:nvPr/>
          </p:nvSpPr>
          <p:spPr>
            <a:xfrm>
              <a:off x="2927223" y="4667250"/>
              <a:ext cx="1279917"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 xml:space="preserve">시장 실현성 </a:t>
              </a:r>
              <a:r>
                <a:rPr lang="ko-KR" sz="1050" dirty="0">
                  <a:solidFill>
                    <a:srgbClr val="4B5563"/>
                  </a:solidFill>
                  <a:latin typeface="+mn-lt"/>
                  <a:ea typeface="+mn-ea"/>
                  <a:cs typeface="+mn-cs"/>
                </a:rPr>
                <a:t>25점</a:t>
              </a:r>
            </a:p>
          </p:txBody>
        </p:sp>
        <p:sp>
          <p:nvSpPr>
            <p:cNvPr id="48" name="TextBox 48"/>
            <p:cNvSpPr txBox="1"/>
            <p:nvPr/>
          </p:nvSpPr>
          <p:spPr>
            <a:xfrm>
              <a:off x="2927604" y="4953000"/>
              <a:ext cx="617982"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13·14장</a:t>
              </a:r>
            </a:p>
          </p:txBody>
        </p:sp>
        <p:sp>
          <p:nvSpPr>
            <p:cNvPr id="49" name="Rectangle 49"/>
            <p:cNvSpPr/>
            <p:nvPr/>
          </p:nvSpPr>
          <p:spPr>
            <a:xfrm>
              <a:off x="5029200" y="4533900"/>
              <a:ext cx="2114550" cy="723900"/>
            </a:xfrm>
            <a:prstGeom prst="rect">
              <a:avLst/>
            </a:prstGeom>
            <a:solidFill>
              <a:srgbClr val="F3F5F8"/>
            </a:solidFill>
            <a:ln>
              <a:noFill/>
            </a:ln>
          </p:spPr>
        </p:sp>
        <p:sp>
          <p:nvSpPr>
            <p:cNvPr id="50" name="TextBox 50"/>
            <p:cNvSpPr txBox="1"/>
            <p:nvPr/>
          </p:nvSpPr>
          <p:spPr>
            <a:xfrm>
              <a:off x="5175123" y="4667250"/>
              <a:ext cx="881011"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 xml:space="preserve">혁신성 </a:t>
              </a:r>
              <a:r>
                <a:rPr lang="ko-KR" sz="1050" dirty="0">
                  <a:solidFill>
                    <a:srgbClr val="4B5563"/>
                  </a:solidFill>
                  <a:latin typeface="+mn-lt"/>
                  <a:ea typeface="+mn-ea"/>
                  <a:cs typeface="+mn-cs"/>
                </a:rPr>
                <a:t>20점</a:t>
              </a:r>
            </a:p>
          </p:txBody>
        </p:sp>
        <p:sp>
          <p:nvSpPr>
            <p:cNvPr id="51" name="TextBox 51"/>
            <p:cNvSpPr txBox="1"/>
            <p:nvPr/>
          </p:nvSpPr>
          <p:spPr>
            <a:xfrm>
              <a:off x="5175504" y="4953000"/>
              <a:ext cx="440284"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4·7장</a:t>
              </a:r>
            </a:p>
          </p:txBody>
        </p:sp>
        <p:sp>
          <p:nvSpPr>
            <p:cNvPr id="52" name="Rectangle 52"/>
            <p:cNvSpPr/>
            <p:nvPr/>
          </p:nvSpPr>
          <p:spPr>
            <a:xfrm>
              <a:off x="7277100" y="4533900"/>
              <a:ext cx="2114550" cy="723900"/>
            </a:xfrm>
            <a:prstGeom prst="rect">
              <a:avLst/>
            </a:prstGeom>
            <a:solidFill>
              <a:srgbClr val="F3F5F8"/>
            </a:solidFill>
            <a:ln>
              <a:noFill/>
            </a:ln>
          </p:spPr>
        </p:sp>
        <p:sp>
          <p:nvSpPr>
            <p:cNvPr id="53" name="TextBox 53"/>
            <p:cNvSpPr txBox="1"/>
            <p:nvPr/>
          </p:nvSpPr>
          <p:spPr>
            <a:xfrm>
              <a:off x="7423023" y="4667250"/>
              <a:ext cx="1253793"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 xml:space="preserve">PV5 연계성 </a:t>
              </a:r>
              <a:r>
                <a:rPr lang="ko-KR" sz="1050" dirty="0">
                  <a:solidFill>
                    <a:srgbClr val="4B5563"/>
                  </a:solidFill>
                  <a:latin typeface="+mn-lt"/>
                  <a:ea typeface="+mn-ea"/>
                  <a:cs typeface="+mn-cs"/>
                </a:rPr>
                <a:t>15점</a:t>
              </a:r>
            </a:p>
          </p:txBody>
        </p:sp>
        <p:sp>
          <p:nvSpPr>
            <p:cNvPr id="54" name="TextBox 54"/>
            <p:cNvSpPr txBox="1"/>
            <p:nvPr/>
          </p:nvSpPr>
          <p:spPr>
            <a:xfrm>
              <a:off x="7423404" y="4953000"/>
              <a:ext cx="795680"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9·10·11장</a:t>
              </a:r>
            </a:p>
          </p:txBody>
        </p:sp>
        <p:sp>
          <p:nvSpPr>
            <p:cNvPr id="55" name="Rectangle 55"/>
            <p:cNvSpPr/>
            <p:nvPr/>
          </p:nvSpPr>
          <p:spPr>
            <a:xfrm>
              <a:off x="9525000" y="4533900"/>
              <a:ext cx="2114550" cy="723900"/>
            </a:xfrm>
            <a:prstGeom prst="rect">
              <a:avLst/>
            </a:prstGeom>
            <a:solidFill>
              <a:srgbClr val="F3F5F8"/>
            </a:solidFill>
            <a:ln>
              <a:noFill/>
            </a:ln>
          </p:spPr>
        </p:sp>
        <p:sp>
          <p:nvSpPr>
            <p:cNvPr id="56" name="TextBox 56"/>
            <p:cNvSpPr txBox="1"/>
            <p:nvPr/>
          </p:nvSpPr>
          <p:spPr>
            <a:xfrm>
              <a:off x="9670923" y="4667250"/>
              <a:ext cx="1279917"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 xml:space="preserve">사회적 가치 </a:t>
              </a:r>
              <a:r>
                <a:rPr lang="ko-KR" sz="1050" dirty="0">
                  <a:solidFill>
                    <a:srgbClr val="4B5563"/>
                  </a:solidFill>
                  <a:latin typeface="+mn-lt"/>
                  <a:ea typeface="+mn-ea"/>
                  <a:cs typeface="+mn-cs"/>
                </a:rPr>
                <a:t>10점</a:t>
              </a:r>
            </a:p>
          </p:txBody>
        </p:sp>
        <p:sp>
          <p:nvSpPr>
            <p:cNvPr id="57" name="TextBox 57"/>
            <p:cNvSpPr txBox="1"/>
            <p:nvPr/>
          </p:nvSpPr>
          <p:spPr>
            <a:xfrm>
              <a:off x="9671304" y="4953000"/>
              <a:ext cx="440284"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3·5장</a:t>
              </a:r>
            </a:p>
          </p:txBody>
        </p:sp>
      </p:grpSp>
      <p:grpSp>
        <p:nvGrpSpPr>
          <p:cNvPr id="61" name="conclusion"/>
          <p:cNvGrpSpPr/>
          <p:nvPr/>
        </p:nvGrpSpPr>
        <p:grpSpPr>
          <a:xfrm>
            <a:off x="533400" y="5619750"/>
            <a:ext cx="5234164" cy="419100"/>
            <a:chOff x="533400" y="5619750"/>
            <a:chExt cx="5234164" cy="419100"/>
          </a:xfrm>
        </p:grpSpPr>
        <p:sp>
          <p:nvSpPr>
            <p:cNvPr id="59" name="Rectangle 59"/>
            <p:cNvSpPr/>
            <p:nvPr/>
          </p:nvSpPr>
          <p:spPr>
            <a:xfrm>
              <a:off x="533400" y="5619750"/>
              <a:ext cx="38100" cy="419100"/>
            </a:xfrm>
            <a:prstGeom prst="rect">
              <a:avLst/>
            </a:prstGeom>
            <a:solidFill>
              <a:srgbClr val="F5B700"/>
            </a:solidFill>
            <a:ln>
              <a:noFill/>
            </a:ln>
          </p:spPr>
        </p:sp>
        <p:sp>
          <p:nvSpPr>
            <p:cNvPr id="60" name="TextBox 60"/>
            <p:cNvSpPr txBox="1"/>
            <p:nvPr/>
          </p:nvSpPr>
          <p:spPr>
            <a:xfrm>
              <a:off x="715899" y="5715000"/>
              <a:ext cx="5051665" cy="308991"/>
            </a:xfrm>
            <a:prstGeom prst="rect">
              <a:avLst/>
            </a:prstGeom>
            <a:noFill/>
            <a:ln>
              <a:noFill/>
            </a:ln>
          </p:spPr>
          <p:txBody>
            <a:bodyPr wrap="none" lIns="0" tIns="0" rIns="0" bIns="0" anchor="t" anchorCtr="0">
              <a:spAutoFit/>
            </a:bodyPr>
            <a:lstStyle/>
            <a:p>
              <a:pPr algn="l"/>
              <a:r>
                <a:rPr lang="ko-KR" sz="1580" b="1" dirty="0">
                  <a:solidFill>
                    <a:srgbClr val="0B1E3C"/>
                  </a:solidFill>
                  <a:latin typeface="+mn-lt"/>
                  <a:ea typeface="+mn-ea"/>
                  <a:cs typeface="+mn-cs"/>
                </a:rPr>
                <a:t>한 번의 조기 발견이, 한 사람의 무사 귀가가 되도록.</a:t>
              </a:r>
            </a:p>
          </p:txBody>
        </p:sp>
      </p:grpSp>
      <p:grpSp>
        <p:nvGrpSpPr>
          <p:cNvPr id="63" name="source"/>
          <p:cNvGrpSpPr/>
          <p:nvPr/>
        </p:nvGrpSpPr>
        <p:grpSpPr>
          <a:xfrm>
            <a:off x="528638" y="6381750"/>
            <a:ext cx="7185965" cy="176212"/>
            <a:chOff x="528638" y="6381750"/>
            <a:chExt cx="7185965" cy="176212"/>
          </a:xfrm>
        </p:grpSpPr>
        <p:sp>
          <p:nvSpPr>
            <p:cNvPr id="62" name="TextBox 62"/>
            <p:cNvSpPr txBox="1"/>
            <p:nvPr/>
          </p:nvSpPr>
          <p:spPr>
            <a:xfrm>
              <a:off x="528638" y="6381750"/>
              <a:ext cx="7185965"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심사 배점: 기아 PBV 아이디어 공모전 공식 안내(기술적 완성도 30 · 시장 실현성 25 · 혁신성 20 · PV5 연계성 15 · 사회적 가치 10)</a:t>
              </a:r>
            </a:p>
          </p:txBody>
        </p:sp>
      </p:grpSp>
      <p:grpSp>
        <p:nvGrpSpPr>
          <p:cNvPr id="66" name="footer"/>
          <p:cNvGrpSpPr/>
          <p:nvPr/>
        </p:nvGrpSpPr>
        <p:grpSpPr>
          <a:xfrm>
            <a:off x="528638" y="6610350"/>
            <a:ext cx="11134724" cy="176212"/>
            <a:chOff x="528638" y="6610350"/>
            <a:chExt cx="11134724" cy="176212"/>
          </a:xfrm>
        </p:grpSpPr>
        <p:sp>
          <p:nvSpPr>
            <p:cNvPr id="64" name="TextBox 64"/>
            <p:cNvSpPr txBox="1"/>
            <p:nvPr/>
          </p:nvSpPr>
          <p:spPr>
            <a:xfrm>
              <a:off x="528638" y="6610350"/>
              <a:ext cx="1487653"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한 명이라도 살릴 수 있다면</a:t>
              </a:r>
            </a:p>
          </p:txBody>
        </p:sp>
        <p:sp>
          <p:nvSpPr>
            <p:cNvPr id="65" name="TextBox 65"/>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02 / 15</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1084936"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실제로 일어난 일</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b="1" dirty="0">
                  <a:solidFill>
                    <a:srgbClr val="0B1E3C"/>
                  </a:solidFill>
                  <a:latin typeface="+mn-lt"/>
                  <a:ea typeface="+mn-ea"/>
                  <a:cs typeface="+mn-cs"/>
                </a:rPr>
                <a:t>문제</a:t>
              </a:r>
            </a:p>
          </p:txBody>
        </p:sp>
        <p:sp>
          <p:nvSpPr>
            <p:cNvPr id="6" name="Rectangle 6"/>
            <p:cNvSpPr/>
            <p:nvPr/>
          </p:nvSpPr>
          <p:spPr>
            <a:xfrm>
              <a:off x="8343900" y="514350"/>
              <a:ext cx="457200" cy="28575"/>
            </a:xfrm>
            <a:prstGeom prst="rect">
              <a:avLst/>
            </a:prstGeom>
            <a:solidFill>
              <a:srgbClr val="F5B700"/>
            </a:solidFill>
            <a:ln>
              <a:noFill/>
            </a:ln>
          </p:spPr>
        </p:sp>
        <p:sp>
          <p:nvSpPr>
            <p:cNvPr id="7" name="TextBox 7"/>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8" name="TextBox 8"/>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해법</a:t>
              </a:r>
            </a:p>
          </p:txBody>
        </p:sp>
        <p:sp>
          <p:nvSpPr>
            <p:cNvPr id="9" name="TextBox 9"/>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0" name="TextBox 10"/>
            <p:cNvSpPr txBox="1"/>
            <p:nvPr/>
          </p:nvSpPr>
          <p:spPr>
            <a:xfrm>
              <a:off x="9701251" y="301625"/>
              <a:ext cx="257099" cy="205359"/>
            </a:xfrm>
            <a:prstGeom prst="rect">
              <a:avLst/>
            </a:prstGeom>
            <a:noFill/>
            <a:ln>
              <a:noFill/>
            </a:ln>
          </p:spPr>
          <p:txBody>
            <a:bodyPr wrap="none" lIns="0" tIns="0" rIns="0" bIns="0" anchor="t" anchorCtr="0">
              <a:spAutoFit/>
            </a:bodyPr>
            <a:lstStyle/>
            <a:p>
              <a:pPr algn="ctr"/>
              <a:r>
                <a:rPr lang="en-US" sz="1050" dirty="0">
                  <a:solidFill>
                    <a:srgbClr val="9AA3AF"/>
                  </a:solidFill>
                  <a:latin typeface="+mn-lt"/>
                  <a:ea typeface="+mn-ea"/>
                  <a:cs typeface="+mn-cs"/>
                </a:rPr>
                <a:t>PV5</a:t>
              </a:r>
            </a:p>
          </p:txBody>
        </p:sp>
        <p:sp>
          <p:nvSpPr>
            <p:cNvPr id="11" name="TextBox 11"/>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2" name="TextBox 12"/>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3" name="TextBox 13"/>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4" name="TextBox 14"/>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사업</a:t>
              </a:r>
            </a:p>
          </p:txBody>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24" name="incident-map"/>
          <p:cNvGrpSpPr/>
          <p:nvPr/>
        </p:nvGrpSpPr>
        <p:grpSpPr>
          <a:xfrm>
            <a:off x="6477000" y="0"/>
            <a:ext cx="5715000" cy="6858000"/>
            <a:chOff x="6477000" y="0"/>
            <a:chExt cx="5715000" cy="6858000"/>
          </a:xfrm>
        </p:grpSpPr>
        <p:pic>
          <p:nvPicPr>
            <p:cNvPr id="17" name="Image 17"/>
            <p:cNvPicPr>
              <a:picLocks noChangeAspect="1"/>
            </p:cNvPicPr>
            <p:nvPr/>
          </p:nvPicPr>
          <p:blipFill>
            <a:blip r:embed="rId2"/>
            <a:srcRect l="3125" t="0" r="3125" b="0"/>
            <a:stretch>
              <a:fillRect/>
            </a:stretch>
          </p:blipFill>
          <p:spPr>
            <a:xfrm>
              <a:off x="6477000" y="0"/>
              <a:ext cx="5715000" cy="6858000"/>
            </a:xfrm>
            <a:prstGeom prst="rect">
              <a:avLst/>
            </a:prstGeom>
          </p:spPr>
        </p:pic>
        <p:sp>
          <p:nvSpPr>
            <p:cNvPr id="18" name="Rectangle 18"/>
            <p:cNvSpPr/>
            <p:nvPr/>
          </p:nvSpPr>
          <p:spPr>
            <a:xfrm>
              <a:off x="6477000" y="4095750"/>
              <a:ext cx="5715000" cy="2762250"/>
            </a:xfrm>
            <a:prstGeom prst="rect">
              <a:avLst/>
            </a:prstGeom>
            <a:gradFill>
              <a:gsLst>
                <a:gs pos="0">
                  <a:srgbClr val="05070B">
                    <a:alpha val="0"/>
                  </a:srgbClr>
                </a:gs>
                <a:gs pos="100000">
                  <a:srgbClr val="05070B">
                    <a:alpha val="88000"/>
                  </a:srgbClr>
                </a:gs>
              </a:gsLst>
              <a:lin ang="5400000" scaled="1"/>
            </a:gradFill>
            <a:ln>
              <a:noFill/>
            </a:ln>
          </p:spPr>
        </p:sp>
        <p:sp>
          <p:nvSpPr>
            <p:cNvPr id="19" name="Rectangle 19"/>
            <p:cNvSpPr/>
            <p:nvPr/>
          </p:nvSpPr>
          <p:spPr>
            <a:xfrm>
              <a:off x="6667500" y="1428750"/>
              <a:ext cx="2152650" cy="533400"/>
            </a:xfrm>
            <a:prstGeom prst="roundRect">
              <a:avLst>
                <a:gd name="adj" fmla="val 7143"/>
              </a:avLst>
            </a:prstGeom>
            <a:solidFill>
              <a:srgbClr val="0B1E3C">
                <a:alpha val="92000"/>
              </a:srgbClr>
            </a:solidFill>
            <a:ln>
              <a:noFill/>
            </a:ln>
          </p:spPr>
        </p:sp>
        <p:sp>
          <p:nvSpPr>
            <p:cNvPr id="20" name="TextBox 20"/>
            <p:cNvSpPr txBox="1"/>
            <p:nvPr/>
          </p:nvSpPr>
          <p:spPr>
            <a:xfrm>
              <a:off x="6794754" y="1504950"/>
              <a:ext cx="1701538" cy="234696"/>
            </a:xfrm>
            <a:prstGeom prst="rect">
              <a:avLst/>
            </a:prstGeom>
            <a:noFill/>
            <a:ln>
              <a:noFill/>
            </a:ln>
          </p:spPr>
          <p:txBody>
            <a:bodyPr wrap="none" lIns="0" tIns="0" rIns="0" bIns="0" anchor="t" anchorCtr="0">
              <a:spAutoFit/>
            </a:bodyPr>
            <a:lstStyle/>
            <a:p>
              <a:pPr algn="l"/>
              <a:r>
                <a:rPr lang="ko-KR" sz="1200" b="1" dirty="0">
                  <a:solidFill>
                    <a:srgbClr val="FFFFFF"/>
                  </a:solidFill>
                  <a:latin typeface="+mn-lt"/>
                  <a:ea typeface="+mn-ea"/>
                  <a:cs typeface="+mn-cs"/>
                </a:rPr>
                <a:t>2024. 8. 29 사고 구간</a:t>
              </a:r>
            </a:p>
          </p:txBody>
        </p:sp>
        <p:sp>
          <p:nvSpPr>
            <p:cNvPr id="21" name="TextBox 21"/>
            <p:cNvSpPr txBox="1"/>
            <p:nvPr/>
          </p:nvSpPr>
          <p:spPr>
            <a:xfrm>
              <a:off x="6795516" y="1730375"/>
              <a:ext cx="1508989" cy="205359"/>
            </a:xfrm>
            <a:prstGeom prst="rect">
              <a:avLst/>
            </a:prstGeom>
            <a:noFill/>
            <a:ln>
              <a:noFill/>
            </a:ln>
          </p:spPr>
          <p:txBody>
            <a:bodyPr wrap="none" lIns="0" tIns="0" rIns="0" bIns="0" anchor="t" anchorCtr="0">
              <a:spAutoFit/>
            </a:bodyPr>
            <a:lstStyle/>
            <a:p>
              <a:pPr algn="l"/>
              <a:r>
                <a:rPr lang="ko-KR" sz="1050" dirty="0">
                  <a:solidFill>
                    <a:srgbClr val="D6DDE8"/>
                  </a:solidFill>
                  <a:latin typeface="+mn-lt"/>
                  <a:ea typeface="+mn-ea"/>
                  <a:cs typeface="+mn-cs"/>
                </a:rPr>
                <a:t>서대문구 연희동 성산로</a:t>
              </a:r>
            </a:p>
          </p:txBody>
        </p:sp>
        <p:sp>
          <p:nvSpPr>
            <p:cNvPr id="22" name="TextBox 22"/>
            <p:cNvSpPr txBox="1"/>
            <p:nvPr/>
          </p:nvSpPr>
          <p:spPr>
            <a:xfrm>
              <a:off x="6771132" y="5314950"/>
              <a:ext cx="4245197" cy="810768"/>
            </a:xfrm>
            <a:prstGeom prst="rect">
              <a:avLst/>
            </a:prstGeom>
            <a:noFill/>
            <a:ln>
              <a:noFill/>
            </a:ln>
          </p:spPr>
          <p:txBody>
            <a:bodyPr wrap="none" lIns="0" tIns="0" rIns="0" bIns="0" anchor="t" anchorCtr="0">
              <a:spAutoFit/>
            </a:bodyPr>
            <a:lstStyle/>
            <a:p>
              <a:pPr algn="l">
                <a:lnSpc>
                  <a:spcPts val="3150"/>
                </a:lnSpc>
              </a:pPr>
              <a:r>
                <a:rPr lang="ko-KR" sz="2100" b="1" dirty="0">
                  <a:solidFill>
                    <a:srgbClr val="FFFFFF"/>
                  </a:solidFill>
                  <a:latin typeface="+mn-lt"/>
                  <a:ea typeface="+mn-ea"/>
                  <a:cs typeface="+mn-cs"/>
                </a:rPr>
                <a:t>평범한 도로가</a:t>
              </a:r>
              <a:br>
                <a:rPr lang="ko-KR" sz="2100" b="1" dirty="0">
                  <a:solidFill>
                    <a:srgbClr val="FFFFFF"/>
                  </a:solidFill>
                  <a:latin typeface="+mn-lt"/>
                  <a:ea typeface="+mn-ea"/>
                  <a:cs typeface="+mn-cs"/>
                </a:rPr>
              </a:br>
              <a:r>
                <a:rPr lang="ko-KR" sz="2100" b="1" dirty="0">
                  <a:solidFill>
                    <a:srgbClr val="FFFFFF"/>
                  </a:solidFill>
                  <a:latin typeface="+mn-lt"/>
                  <a:ea typeface="+mn-ea"/>
                  <a:cs typeface="+mn-cs"/>
                </a:rPr>
                <a:t>한 사람의 마지막 길이 되었습니다.</a:t>
              </a:r>
            </a:p>
          </p:txBody>
        </p:sp>
        <p:sp>
          <p:nvSpPr>
            <p:cNvPr id="23" name="TextBox 23"/>
            <p:cNvSpPr txBox="1"/>
            <p:nvPr/>
          </p:nvSpPr>
          <p:spPr>
            <a:xfrm>
              <a:off x="6777038" y="6457950"/>
              <a:ext cx="4627108" cy="176212"/>
            </a:xfrm>
            <a:prstGeom prst="rect">
              <a:avLst/>
            </a:prstGeom>
            <a:noFill/>
            <a:ln>
              <a:noFill/>
            </a:ln>
          </p:spPr>
          <p:txBody>
            <a:bodyPr wrap="none" lIns="0" tIns="0" rIns="0" bIns="0" anchor="t" anchorCtr="0">
              <a:spAutoFit/>
            </a:bodyPr>
            <a:lstStyle/>
            <a:p>
              <a:pPr algn="l"/>
              <a:r>
                <a:rPr lang="ko-KR" sz="900" dirty="0">
                  <a:solidFill>
                    <a:srgbClr val="C3CCD9"/>
                  </a:solidFill>
                  <a:latin typeface="+mn-lt"/>
                  <a:ea typeface="+mn-ea"/>
                  <a:cs typeface="+mn-cs"/>
                </a:rPr>
                <a:t>지도 © OpenStreetMap contributors · 정확한 지점은 보도되지 않아 구간으로 표시</a:t>
              </a:r>
            </a:p>
          </p:txBody>
        </p:sp>
      </p:grpSp>
      <p:grpSp>
        <p:nvGrpSpPr>
          <p:cNvPr id="26" name="kicker"/>
          <p:cNvGrpSpPr/>
          <p:nvPr/>
        </p:nvGrpSpPr>
        <p:grpSpPr>
          <a:xfrm>
            <a:off x="526542" y="1301750"/>
            <a:ext cx="3042363" cy="264033"/>
            <a:chOff x="526542" y="1301750"/>
            <a:chExt cx="3042363" cy="264033"/>
          </a:xfrm>
        </p:grpSpPr>
        <p:sp>
          <p:nvSpPr>
            <p:cNvPr id="25" name="TextBox 25"/>
            <p:cNvSpPr txBox="1"/>
            <p:nvPr/>
          </p:nvSpPr>
          <p:spPr>
            <a:xfrm>
              <a:off x="526542" y="1301750"/>
              <a:ext cx="3042363" cy="264033"/>
            </a:xfrm>
            <a:prstGeom prst="rect">
              <a:avLst/>
            </a:prstGeom>
            <a:noFill/>
            <a:ln>
              <a:noFill/>
            </a:ln>
          </p:spPr>
          <p:txBody>
            <a:bodyPr wrap="none" lIns="0" tIns="0" rIns="0" bIns="0" anchor="t" anchorCtr="0">
              <a:spAutoFit/>
            </a:bodyPr>
            <a:lstStyle/>
            <a:p>
              <a:pPr algn="l"/>
              <a:r>
                <a:rPr lang="ko-KR" sz="1350" b="1" dirty="0">
                  <a:solidFill>
                    <a:srgbClr val="C62828"/>
                  </a:solidFill>
                  <a:latin typeface="+mn-lt"/>
                  <a:ea typeface="+mn-ea"/>
                  <a:cs typeface="+mn-cs"/>
                </a:rPr>
                <a:t>2024. 8. 29 · 서울 서대문구 연희동</a:t>
              </a:r>
            </a:p>
          </p:txBody>
        </p:sp>
      </p:grpSp>
      <p:grpSp>
        <p:nvGrpSpPr>
          <p:cNvPr id="29" name="title"/>
          <p:cNvGrpSpPr/>
          <p:nvPr/>
        </p:nvGrpSpPr>
        <p:grpSpPr>
          <a:xfrm>
            <a:off x="518160" y="1746250"/>
            <a:ext cx="6039790" cy="1120140"/>
            <a:chOff x="518160" y="1746250"/>
            <a:chExt cx="6039790" cy="1120140"/>
          </a:xfrm>
        </p:grpSpPr>
        <p:sp>
          <p:nvSpPr>
            <p:cNvPr id="27" name="TextBox 27"/>
            <p:cNvSpPr txBox="1"/>
            <p:nvPr/>
          </p:nvSpPr>
          <p:spPr>
            <a:xfrm>
              <a:off x="518160" y="1746250"/>
              <a:ext cx="3043100" cy="586740"/>
            </a:xfrm>
            <a:prstGeom prst="rect">
              <a:avLst/>
            </a:prstGeom>
            <a:noFill/>
            <a:ln>
              <a:noFill/>
            </a:ln>
          </p:spPr>
          <p:txBody>
            <a:bodyPr wrap="none" lIns="0" tIns="0" rIns="0" bIns="0" anchor="t" anchorCtr="0">
              <a:spAutoFit/>
            </a:bodyPr>
            <a:lstStyle/>
            <a:p>
              <a:pPr algn="l"/>
              <a:r>
                <a:rPr lang="ko-KR" sz="3000" b="1" spc="-112" dirty="0">
                  <a:solidFill>
                    <a:srgbClr val="0B1E3C"/>
                  </a:solidFill>
                  <a:latin typeface="+mn-lt"/>
                  <a:ea typeface="+mn-ea"/>
                  <a:cs typeface="+mn-cs"/>
                </a:rPr>
                <a:t>‘이상 없음’ 판정</a:t>
              </a:r>
            </a:p>
          </p:txBody>
        </p:sp>
        <p:sp>
          <p:nvSpPr>
            <p:cNvPr id="28" name="TextBox 28"/>
            <p:cNvSpPr txBox="1"/>
            <p:nvPr/>
          </p:nvSpPr>
          <p:spPr>
            <a:xfrm>
              <a:off x="518160" y="2279650"/>
              <a:ext cx="6039790" cy="586740"/>
            </a:xfrm>
            <a:prstGeom prst="rect">
              <a:avLst/>
            </a:prstGeom>
            <a:noFill/>
            <a:ln>
              <a:noFill/>
            </a:ln>
          </p:spPr>
          <p:txBody>
            <a:bodyPr wrap="none" lIns="0" tIns="0" rIns="0" bIns="0" anchor="t" anchorCtr="0">
              <a:spAutoFit/>
            </a:bodyPr>
            <a:lstStyle/>
            <a:p>
              <a:pPr algn="l"/>
              <a:r>
                <a:rPr lang="ko-KR" sz="3000" b="1" spc="-112" dirty="0">
                  <a:solidFill>
                    <a:srgbClr val="C62828"/>
                  </a:solidFill>
                  <a:latin typeface="+mn-lt"/>
                  <a:ea typeface="+mn-ea"/>
                  <a:cs typeface="+mn-cs"/>
                </a:rPr>
                <a:t>100여 일 뒤, 도로가 무너졌습니다</a:t>
              </a:r>
            </a:p>
          </p:txBody>
        </p:sp>
      </p:grpSp>
      <p:grpSp>
        <p:nvGrpSpPr>
          <p:cNvPr id="39" name="timeline"/>
          <p:cNvGrpSpPr/>
          <p:nvPr/>
        </p:nvGrpSpPr>
        <p:grpSpPr>
          <a:xfrm>
            <a:off x="717804" y="3314700"/>
            <a:ext cx="5346192" cy="996696"/>
            <a:chOff x="717804" y="3314700"/>
            <a:chExt cx="5346192" cy="996696"/>
          </a:xfrm>
        </p:grpSpPr>
        <p:sp>
          <p:nvSpPr>
            <p:cNvPr id="30" name="Line 30"/>
            <p:cNvSpPr/>
            <p:nvPr/>
          </p:nvSpPr>
          <p:spPr>
            <a:xfrm>
              <a:off x="723900" y="3848100"/>
              <a:ext cx="5334000" cy="9525"/>
            </a:xfrm>
            <a:custGeom>
              <a:avLst/>
              <a:gdLst/>
              <a:ahLst/>
              <a:cxnLst/>
              <a:rect l="l" t="t" r="r" b="b"/>
              <a:pathLst>
                <a:path w="5334000" h="9525">
                  <a:moveTo>
                    <a:pt x="0" y="0"/>
                  </a:moveTo>
                  <a:lnTo>
                    <a:pt x="5334000" y="0"/>
                  </a:lnTo>
                </a:path>
              </a:pathLst>
            </a:custGeom>
            <a:noFill/>
            <a:ln w="28575">
              <a:solidFill>
                <a:srgbClr val="C3CCD9"/>
              </a:solidFill>
            </a:ln>
          </p:spPr>
        </p:sp>
        <p:sp>
          <p:nvSpPr>
            <p:cNvPr id="31" name="Rectangle 31"/>
            <p:cNvSpPr/>
            <p:nvPr/>
          </p:nvSpPr>
          <p:spPr>
            <a:xfrm>
              <a:off x="723900" y="3790950"/>
              <a:ext cx="5334000" cy="114300"/>
            </a:xfrm>
            <a:prstGeom prst="rect">
              <a:avLst/>
            </a:prstGeom>
            <a:solidFill>
              <a:srgbClr val="F5B700">
                <a:alpha val="25000"/>
              </a:srgbClr>
            </a:solidFill>
            <a:ln>
              <a:noFill/>
            </a:ln>
          </p:spPr>
        </p:sp>
        <p:sp>
          <p:nvSpPr>
            <p:cNvPr id="32" name="Ellipse 32"/>
            <p:cNvSpPr/>
            <p:nvPr/>
          </p:nvSpPr>
          <p:spPr>
            <a:xfrm>
              <a:off x="809625" y="3743325"/>
              <a:ext cx="209550" cy="209550"/>
            </a:xfrm>
            <a:prstGeom prst="ellipse">
              <a:avLst/>
            </a:prstGeom>
            <a:solidFill>
              <a:srgbClr val="0B1E3C"/>
            </a:solidFill>
            <a:ln>
              <a:noFill/>
            </a:ln>
          </p:spPr>
        </p:sp>
        <p:sp>
          <p:nvSpPr>
            <p:cNvPr id="33" name="TextBox 33"/>
            <p:cNvSpPr txBox="1"/>
            <p:nvPr/>
          </p:nvSpPr>
          <p:spPr>
            <a:xfrm>
              <a:off x="717804" y="3314700"/>
              <a:ext cx="1140173"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2024. 5. 7~16</a:t>
              </a:r>
            </a:p>
          </p:txBody>
        </p:sp>
        <p:sp>
          <p:nvSpPr>
            <p:cNvPr id="34" name="TextBox 34"/>
            <p:cNvSpPr txBox="1"/>
            <p:nvPr/>
          </p:nvSpPr>
          <p:spPr>
            <a:xfrm>
              <a:off x="718185" y="3536950"/>
              <a:ext cx="1794693"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정기 GPR 탐사 · 공동 없음</a:t>
              </a:r>
            </a:p>
          </p:txBody>
        </p:sp>
        <p:sp>
          <p:nvSpPr>
            <p:cNvPr id="35" name="Ellipse 35"/>
            <p:cNvSpPr/>
            <p:nvPr/>
          </p:nvSpPr>
          <p:spPr>
            <a:xfrm>
              <a:off x="5715000" y="3695700"/>
              <a:ext cx="304800" cy="304800"/>
            </a:xfrm>
            <a:prstGeom prst="ellipse">
              <a:avLst/>
            </a:prstGeom>
            <a:solidFill>
              <a:srgbClr val="C62828"/>
            </a:solidFill>
            <a:ln>
              <a:noFill/>
            </a:ln>
          </p:spPr>
        </p:sp>
        <p:sp>
          <p:nvSpPr>
            <p:cNvPr id="36" name="TextBox 36"/>
            <p:cNvSpPr txBox="1"/>
            <p:nvPr/>
          </p:nvSpPr>
          <p:spPr>
            <a:xfrm>
              <a:off x="5110406" y="3314700"/>
              <a:ext cx="953590" cy="234696"/>
            </a:xfrm>
            <a:prstGeom prst="rect">
              <a:avLst/>
            </a:prstGeom>
            <a:noFill/>
            <a:ln>
              <a:noFill/>
            </a:ln>
          </p:spPr>
          <p:txBody>
            <a:bodyPr wrap="none" lIns="0" tIns="0" rIns="0" bIns="0" anchor="t" anchorCtr="0">
              <a:spAutoFit/>
            </a:bodyPr>
            <a:lstStyle/>
            <a:p>
              <a:pPr algn="r"/>
              <a:r>
                <a:rPr lang="ko-KR" sz="1200" b="1" dirty="0">
                  <a:solidFill>
                    <a:srgbClr val="C62828"/>
                  </a:solidFill>
                  <a:latin typeface="+mn-lt"/>
                  <a:ea typeface="+mn-ea"/>
                  <a:cs typeface="+mn-cs"/>
                </a:rPr>
                <a:t>2024. 8. 29</a:t>
              </a:r>
            </a:p>
          </p:txBody>
        </p:sp>
        <p:sp>
          <p:nvSpPr>
            <p:cNvPr id="37" name="TextBox 37"/>
            <p:cNvSpPr txBox="1"/>
            <p:nvPr/>
          </p:nvSpPr>
          <p:spPr>
            <a:xfrm>
              <a:off x="5403855" y="3536950"/>
              <a:ext cx="659760" cy="220028"/>
            </a:xfrm>
            <a:prstGeom prst="rect">
              <a:avLst/>
            </a:prstGeom>
            <a:noFill/>
            <a:ln>
              <a:noFill/>
            </a:ln>
          </p:spPr>
          <p:txBody>
            <a:bodyPr wrap="none" lIns="0" tIns="0" rIns="0" bIns="0" anchor="t" anchorCtr="0">
              <a:spAutoFit/>
            </a:bodyPr>
            <a:lstStyle/>
            <a:p>
              <a:pPr algn="r"/>
              <a:r>
                <a:rPr lang="ko-KR" sz="1120" dirty="0">
                  <a:solidFill>
                    <a:srgbClr val="C62828"/>
                  </a:solidFill>
                  <a:latin typeface="+mn-lt"/>
                  <a:ea typeface="+mn-ea"/>
                  <a:cs typeface="+mn-cs"/>
                </a:rPr>
                <a:t>도로 함몰</a:t>
              </a:r>
            </a:p>
          </p:txBody>
        </p:sp>
        <p:sp>
          <p:nvSpPr>
            <p:cNvPr id="38" name="TextBox 38"/>
            <p:cNvSpPr txBox="1"/>
            <p:nvPr/>
          </p:nvSpPr>
          <p:spPr>
            <a:xfrm>
              <a:off x="1890522" y="4076700"/>
              <a:ext cx="3000756" cy="234696"/>
            </a:xfrm>
            <a:prstGeom prst="rect">
              <a:avLst/>
            </a:prstGeom>
            <a:noFill/>
            <a:ln>
              <a:noFill/>
            </a:ln>
          </p:spPr>
          <p:txBody>
            <a:bodyPr wrap="none" lIns="0" tIns="0" rIns="0" bIns="0" anchor="t" anchorCtr="0">
              <a:spAutoFit/>
            </a:bodyPr>
            <a:lstStyle/>
            <a:p>
              <a:pPr algn="ctr"/>
              <a:r>
                <a:rPr lang="ko-KR" sz="1200" dirty="0">
                  <a:solidFill>
                    <a:srgbClr val="374151"/>
                  </a:solidFill>
                  <a:latin typeface="+mn-lt"/>
                  <a:ea typeface="+mn-ea"/>
                  <a:cs typeface="+mn-cs"/>
                </a:rPr>
                <a:t>이 사이의 변화는 아무도 보지 못했습니다</a:t>
              </a:r>
            </a:p>
          </p:txBody>
        </p:sp>
      </p:grpSp>
      <p:grpSp>
        <p:nvGrpSpPr>
          <p:cNvPr id="47" name="facts"/>
          <p:cNvGrpSpPr/>
          <p:nvPr/>
        </p:nvGrpSpPr>
        <p:grpSpPr>
          <a:xfrm>
            <a:off x="518160" y="4686300"/>
            <a:ext cx="5539740" cy="880428"/>
            <a:chOff x="518160" y="4686300"/>
            <a:chExt cx="5539740" cy="880428"/>
          </a:xfrm>
        </p:grpSpPr>
        <p:sp>
          <p:nvSpPr>
            <p:cNvPr id="40" name="Line 40"/>
            <p:cNvSpPr/>
            <p:nvPr/>
          </p:nvSpPr>
          <p:spPr>
            <a:xfrm>
              <a:off x="533400" y="4686300"/>
              <a:ext cx="5524500" cy="9525"/>
            </a:xfrm>
            <a:custGeom>
              <a:avLst/>
              <a:gdLst/>
              <a:ahLst/>
              <a:cxnLst/>
              <a:rect l="l" t="t" r="r" b="b"/>
              <a:pathLst>
                <a:path w="5524500" h="9525">
                  <a:moveTo>
                    <a:pt x="0" y="0"/>
                  </a:moveTo>
                  <a:lnTo>
                    <a:pt x="5524500" y="0"/>
                  </a:lnTo>
                </a:path>
              </a:pathLst>
            </a:custGeom>
            <a:noFill/>
            <a:ln w="9525">
              <a:solidFill>
                <a:srgbClr val="E2E6EC"/>
              </a:solidFill>
            </a:ln>
          </p:spPr>
        </p:sp>
        <p:sp>
          <p:nvSpPr>
            <p:cNvPr id="41" name="TextBox 41"/>
            <p:cNvSpPr txBox="1"/>
            <p:nvPr/>
          </p:nvSpPr>
          <p:spPr>
            <a:xfrm>
              <a:off x="518160" y="4851400"/>
              <a:ext cx="1048207" cy="586740"/>
            </a:xfrm>
            <a:prstGeom prst="rect">
              <a:avLst/>
            </a:prstGeom>
            <a:noFill/>
            <a:ln>
              <a:noFill/>
            </a:ln>
          </p:spPr>
          <p:txBody>
            <a:bodyPr wrap="none" lIns="0" tIns="0" rIns="0" bIns="0" anchor="t" anchorCtr="0">
              <a:spAutoFit/>
            </a:bodyPr>
            <a:lstStyle/>
            <a:p>
              <a:pPr algn="l"/>
              <a:r>
                <a:rPr lang="en-US" sz="3000" b="1" dirty="0">
                  <a:solidFill>
                    <a:srgbClr val="111827"/>
                  </a:solidFill>
                  <a:latin typeface="+mn-lt"/>
                  <a:ea typeface="+mn-ea"/>
                  <a:cs typeface="+mn-cs"/>
                </a:rPr>
                <a:t>6×4m</a:t>
              </a:r>
            </a:p>
          </p:txBody>
        </p:sp>
        <p:sp>
          <p:nvSpPr>
            <p:cNvPr id="42" name="TextBox 42"/>
            <p:cNvSpPr txBox="1"/>
            <p:nvPr/>
          </p:nvSpPr>
          <p:spPr>
            <a:xfrm>
              <a:off x="527685" y="5346700"/>
              <a:ext cx="659760"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함몰 규모</a:t>
              </a:r>
            </a:p>
          </p:txBody>
        </p:sp>
        <p:sp>
          <p:nvSpPr>
            <p:cNvPr id="43" name="TextBox 43"/>
            <p:cNvSpPr txBox="1"/>
            <p:nvPr/>
          </p:nvSpPr>
          <p:spPr>
            <a:xfrm>
              <a:off x="2366010" y="4851400"/>
              <a:ext cx="1048207" cy="586740"/>
            </a:xfrm>
            <a:prstGeom prst="rect">
              <a:avLst/>
            </a:prstGeom>
            <a:noFill/>
            <a:ln>
              <a:noFill/>
            </a:ln>
          </p:spPr>
          <p:txBody>
            <a:bodyPr wrap="none" lIns="0" tIns="0" rIns="0" bIns="0" anchor="t" anchorCtr="0">
              <a:spAutoFit/>
            </a:bodyPr>
            <a:lstStyle/>
            <a:p>
              <a:pPr algn="l"/>
              <a:r>
                <a:rPr lang="en-US" sz="3000" b="1" dirty="0">
                  <a:solidFill>
                    <a:srgbClr val="111827"/>
                  </a:solidFill>
                  <a:latin typeface="+mn-lt"/>
                  <a:ea typeface="+mn-ea"/>
                  <a:cs typeface="+mn-cs"/>
                </a:rPr>
                <a:t>2.5m</a:t>
              </a:r>
            </a:p>
          </p:txBody>
        </p:sp>
        <p:sp>
          <p:nvSpPr>
            <p:cNvPr id="44" name="TextBox 44"/>
            <p:cNvSpPr txBox="1"/>
            <p:nvPr/>
          </p:nvSpPr>
          <p:spPr>
            <a:xfrm>
              <a:off x="2375535" y="5346700"/>
              <a:ext cx="1134699"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깊이 · 얕은 함몰</a:t>
              </a:r>
            </a:p>
          </p:txBody>
        </p:sp>
        <p:sp>
          <p:nvSpPr>
            <p:cNvPr id="45" name="TextBox 45"/>
            <p:cNvSpPr txBox="1"/>
            <p:nvPr/>
          </p:nvSpPr>
          <p:spPr>
            <a:xfrm>
              <a:off x="4175760" y="4851400"/>
              <a:ext cx="1198645" cy="586740"/>
            </a:xfrm>
            <a:prstGeom prst="rect">
              <a:avLst/>
            </a:prstGeom>
            <a:noFill/>
            <a:ln>
              <a:noFill/>
            </a:ln>
          </p:spPr>
          <p:txBody>
            <a:bodyPr wrap="none" lIns="0" tIns="0" rIns="0" bIns="0" anchor="t" anchorCtr="0">
              <a:spAutoFit/>
            </a:bodyPr>
            <a:lstStyle/>
            <a:p>
              <a:pPr algn="l"/>
              <a:r>
                <a:rPr lang="ko-KR" sz="3000" b="1" dirty="0">
                  <a:solidFill>
                    <a:srgbClr val="C62828"/>
                  </a:solidFill>
                  <a:latin typeface="+mn-lt"/>
                  <a:ea typeface="+mn-ea"/>
                  <a:cs typeface="+mn-cs"/>
                </a:rPr>
                <a:t>사망 1</a:t>
              </a:r>
            </a:p>
          </p:txBody>
        </p:sp>
        <p:sp>
          <p:nvSpPr>
            <p:cNvPr id="46" name="TextBox 46"/>
            <p:cNvSpPr txBox="1"/>
            <p:nvPr/>
          </p:nvSpPr>
          <p:spPr>
            <a:xfrm>
              <a:off x="4185285" y="5346700"/>
              <a:ext cx="1285474"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차량 추락 · 동승자</a:t>
              </a:r>
            </a:p>
          </p:txBody>
        </p:sp>
      </p:grpSp>
      <p:grpSp>
        <p:nvGrpSpPr>
          <p:cNvPr id="49" name="source"/>
          <p:cNvGrpSpPr/>
          <p:nvPr/>
        </p:nvGrpSpPr>
        <p:grpSpPr>
          <a:xfrm>
            <a:off x="528638" y="6096000"/>
            <a:ext cx="3444354" cy="176212"/>
            <a:chOff x="528638" y="6096000"/>
            <a:chExt cx="3444354" cy="176212"/>
          </a:xfrm>
        </p:grpSpPr>
        <p:sp>
          <p:nvSpPr>
            <p:cNvPr id="48" name="TextBox 48"/>
            <p:cNvSpPr txBox="1"/>
            <p:nvPr/>
          </p:nvSpPr>
          <p:spPr>
            <a:xfrm>
              <a:off x="528638" y="6096000"/>
              <a:ext cx="3444354"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출처: 뉴시스·아시아경제(2024.8.30), 세계일보(2025.9.25)</a:t>
              </a:r>
            </a:p>
          </p:txBody>
        </p:sp>
      </p:grpSp>
      <p:grpSp>
        <p:nvGrpSpPr>
          <p:cNvPr id="52" name="footer"/>
          <p:cNvGrpSpPr/>
          <p:nvPr/>
        </p:nvGrpSpPr>
        <p:grpSpPr>
          <a:xfrm>
            <a:off x="528638" y="6610350"/>
            <a:ext cx="5534024" cy="176212"/>
            <a:chOff x="528638" y="6610350"/>
            <a:chExt cx="5534024" cy="176212"/>
          </a:xfrm>
        </p:grpSpPr>
        <p:sp>
          <p:nvSpPr>
            <p:cNvPr id="50" name="TextBox 50"/>
            <p:cNvSpPr txBox="1"/>
            <p:nvPr/>
          </p:nvSpPr>
          <p:spPr>
            <a:xfrm>
              <a:off x="528638" y="6610350"/>
              <a:ext cx="1487653"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한 명이라도 살릴 수 있다면</a:t>
              </a:r>
            </a:p>
          </p:txBody>
        </p:sp>
        <p:sp>
          <p:nvSpPr>
            <p:cNvPr id="51" name="TextBox 51"/>
            <p:cNvSpPr txBox="1"/>
            <p:nvPr/>
          </p:nvSpPr>
          <p:spPr>
            <a:xfrm>
              <a:off x="56472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03 / 15</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1084936"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지금 체계의 맹점</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b="1" dirty="0">
                  <a:solidFill>
                    <a:srgbClr val="0B1E3C"/>
                  </a:solidFill>
                  <a:latin typeface="+mn-lt"/>
                  <a:ea typeface="+mn-ea"/>
                  <a:cs typeface="+mn-cs"/>
                </a:rPr>
                <a:t>문제</a:t>
              </a:r>
            </a:p>
          </p:txBody>
        </p:sp>
        <p:sp>
          <p:nvSpPr>
            <p:cNvPr id="6" name="Rectangle 6"/>
            <p:cNvSpPr/>
            <p:nvPr/>
          </p:nvSpPr>
          <p:spPr>
            <a:xfrm>
              <a:off x="8343900" y="514350"/>
              <a:ext cx="457200" cy="28575"/>
            </a:xfrm>
            <a:prstGeom prst="rect">
              <a:avLst/>
            </a:prstGeom>
            <a:solidFill>
              <a:srgbClr val="F5B700"/>
            </a:solidFill>
            <a:ln>
              <a:noFill/>
            </a:ln>
          </p:spPr>
        </p:sp>
        <p:sp>
          <p:nvSpPr>
            <p:cNvPr id="7" name="TextBox 7"/>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8" name="TextBox 8"/>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해법</a:t>
              </a:r>
            </a:p>
          </p:txBody>
        </p:sp>
        <p:sp>
          <p:nvSpPr>
            <p:cNvPr id="9" name="TextBox 9"/>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0" name="TextBox 10"/>
            <p:cNvSpPr txBox="1"/>
            <p:nvPr/>
          </p:nvSpPr>
          <p:spPr>
            <a:xfrm>
              <a:off x="9701251" y="301625"/>
              <a:ext cx="257099" cy="205359"/>
            </a:xfrm>
            <a:prstGeom prst="rect">
              <a:avLst/>
            </a:prstGeom>
            <a:noFill/>
            <a:ln>
              <a:noFill/>
            </a:ln>
          </p:spPr>
          <p:txBody>
            <a:bodyPr wrap="none" lIns="0" tIns="0" rIns="0" bIns="0" anchor="t" anchorCtr="0">
              <a:spAutoFit/>
            </a:bodyPr>
            <a:lstStyle/>
            <a:p>
              <a:pPr algn="ctr"/>
              <a:r>
                <a:rPr lang="en-US" sz="1050" dirty="0">
                  <a:solidFill>
                    <a:srgbClr val="9AA3AF"/>
                  </a:solidFill>
                  <a:latin typeface="+mn-lt"/>
                  <a:ea typeface="+mn-ea"/>
                  <a:cs typeface="+mn-cs"/>
                </a:rPr>
                <a:t>PV5</a:t>
              </a:r>
            </a:p>
          </p:txBody>
        </p:sp>
        <p:sp>
          <p:nvSpPr>
            <p:cNvPr id="11" name="TextBox 11"/>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2" name="TextBox 12"/>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3" name="TextBox 13"/>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4" name="TextBox 14"/>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사업</a:t>
              </a:r>
            </a:p>
          </p:txBody>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160" y="774700"/>
            <a:ext cx="8783936" cy="586740"/>
            <a:chOff x="518160" y="774700"/>
            <a:chExt cx="8783936" cy="586740"/>
          </a:xfrm>
        </p:grpSpPr>
        <p:sp>
          <p:nvSpPr>
            <p:cNvPr id="17" name="TextBox 17"/>
            <p:cNvSpPr txBox="1"/>
            <p:nvPr/>
          </p:nvSpPr>
          <p:spPr>
            <a:xfrm>
              <a:off x="518160" y="774700"/>
              <a:ext cx="8783936"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맹점은 탐사가 아니라, 탐사와 탐사 ‘사이’입니다</a:t>
              </a:r>
            </a:p>
          </p:txBody>
        </p:sp>
      </p:grpSp>
      <p:grpSp>
        <p:nvGrpSpPr>
          <p:cNvPr id="30" name="gap-chart"/>
          <p:cNvGrpSpPr/>
          <p:nvPr/>
        </p:nvGrpSpPr>
        <p:grpSpPr>
          <a:xfrm>
            <a:off x="526542" y="1701800"/>
            <a:ext cx="6483858" cy="3162681"/>
            <a:chOff x="526542" y="1701800"/>
            <a:chExt cx="6483858" cy="3162681"/>
          </a:xfrm>
        </p:grpSpPr>
        <p:sp>
          <p:nvSpPr>
            <p:cNvPr id="19" name="TextBox 19"/>
            <p:cNvSpPr txBox="1"/>
            <p:nvPr/>
          </p:nvSpPr>
          <p:spPr>
            <a:xfrm>
              <a:off x="526542" y="1701800"/>
              <a:ext cx="2844270" cy="264033"/>
            </a:xfrm>
            <a:prstGeom prst="rect">
              <a:avLst/>
            </a:prstGeom>
            <a:noFill/>
            <a:ln>
              <a:noFill/>
            </a:ln>
          </p:spPr>
          <p:txBody>
            <a:bodyPr wrap="none" lIns="0" tIns="0" rIns="0" bIns="0" anchor="t" anchorCtr="0">
              <a:spAutoFit/>
            </a:bodyPr>
            <a:lstStyle/>
            <a:p>
              <a:pPr algn="l"/>
              <a:r>
                <a:rPr lang="ko-KR" sz="1350" b="1" dirty="0">
                  <a:solidFill>
                    <a:srgbClr val="0B1E3C"/>
                  </a:solidFill>
                  <a:latin typeface="+mn-lt"/>
                  <a:ea typeface="+mn-ea"/>
                  <a:cs typeface="+mn-cs"/>
                </a:rPr>
                <a:t>한 번 탐사한 도로를 다시 보기까지</a:t>
              </a:r>
            </a:p>
          </p:txBody>
        </p:sp>
        <p:sp>
          <p:nvSpPr>
            <p:cNvPr id="20" name="Line 20"/>
            <p:cNvSpPr/>
            <p:nvPr/>
          </p:nvSpPr>
          <p:spPr>
            <a:xfrm>
              <a:off x="533400" y="2000250"/>
              <a:ext cx="6477000" cy="9525"/>
            </a:xfrm>
            <a:custGeom>
              <a:avLst/>
              <a:gdLst/>
              <a:ahLst/>
              <a:cxnLst/>
              <a:rect l="l" t="t" r="r" b="b"/>
              <a:pathLst>
                <a:path w="6477000" h="9525">
                  <a:moveTo>
                    <a:pt x="0" y="0"/>
                  </a:moveTo>
                  <a:lnTo>
                    <a:pt x="6477000" y="0"/>
                  </a:lnTo>
                </a:path>
              </a:pathLst>
            </a:custGeom>
            <a:noFill/>
            <a:ln w="14288">
              <a:solidFill>
                <a:srgbClr val="0B1E3C"/>
              </a:solidFill>
            </a:ln>
          </p:spPr>
        </p:sp>
        <p:sp>
          <p:nvSpPr>
            <p:cNvPr id="21" name="TextBox 21"/>
            <p:cNvSpPr txBox="1"/>
            <p:nvPr/>
          </p:nvSpPr>
          <p:spPr>
            <a:xfrm>
              <a:off x="526542" y="2273300"/>
              <a:ext cx="2942913" cy="264033"/>
            </a:xfrm>
            <a:prstGeom prst="rect">
              <a:avLst/>
            </a:prstGeom>
            <a:noFill/>
            <a:ln>
              <a:noFill/>
            </a:ln>
          </p:spPr>
          <p:txBody>
            <a:bodyPr wrap="none" lIns="0" tIns="0" rIns="0" bIns="0" anchor="t" anchorCtr="0">
              <a:spAutoFit/>
            </a:bodyPr>
            <a:lstStyle/>
            <a:p>
              <a:pPr algn="l"/>
              <a:r>
                <a:rPr lang="ko-KR" sz="1350" dirty="0">
                  <a:solidFill>
                    <a:srgbClr val="111827"/>
                  </a:solidFill>
                  <a:latin typeface="+mn-lt"/>
                  <a:ea typeface="+mn-ea"/>
                  <a:cs typeface="+mn-cs"/>
                </a:rPr>
                <a:t xml:space="preserve">법정 공동조사 주기 </a:t>
              </a:r>
              <a:r>
                <a:rPr lang="ko-KR" sz="1120" dirty="0">
                  <a:solidFill>
                    <a:srgbClr val="374151"/>
                  </a:solidFill>
                  <a:latin typeface="+mn-lt"/>
                  <a:ea typeface="+mn-ea"/>
                  <a:cs typeface="+mn-cs"/>
                </a:rPr>
                <a:t>(하수관 등 관리자)</a:t>
              </a:r>
            </a:p>
          </p:txBody>
        </p:sp>
        <p:sp>
          <p:nvSpPr>
            <p:cNvPr id="22" name="Rectangle 22"/>
            <p:cNvSpPr/>
            <p:nvPr/>
          </p:nvSpPr>
          <p:spPr>
            <a:xfrm>
              <a:off x="533400" y="2571750"/>
              <a:ext cx="5715000" cy="323850"/>
            </a:xfrm>
            <a:prstGeom prst="rect">
              <a:avLst/>
            </a:prstGeom>
            <a:solidFill>
              <a:srgbClr val="9AA3AF"/>
            </a:solidFill>
            <a:ln>
              <a:noFill/>
            </a:ln>
          </p:spPr>
        </p:sp>
        <p:sp>
          <p:nvSpPr>
            <p:cNvPr id="23" name="TextBox 23"/>
            <p:cNvSpPr txBox="1"/>
            <p:nvPr/>
          </p:nvSpPr>
          <p:spPr>
            <a:xfrm>
              <a:off x="6352794" y="2578100"/>
              <a:ext cx="433920" cy="381381"/>
            </a:xfrm>
            <a:prstGeom prst="rect">
              <a:avLst/>
            </a:prstGeom>
            <a:noFill/>
            <a:ln>
              <a:noFill/>
            </a:ln>
          </p:spPr>
          <p:txBody>
            <a:bodyPr wrap="none" lIns="0" tIns="0" rIns="0" bIns="0" anchor="t" anchorCtr="0">
              <a:spAutoFit/>
            </a:bodyPr>
            <a:lstStyle/>
            <a:p>
              <a:pPr algn="l"/>
              <a:r>
                <a:rPr lang="ko-KR" sz="1950" b="1" dirty="0">
                  <a:solidFill>
                    <a:srgbClr val="111827"/>
                  </a:solidFill>
                  <a:latin typeface="+mn-lt"/>
                  <a:ea typeface="+mn-ea"/>
                  <a:cs typeface="+mn-cs"/>
                </a:rPr>
                <a:t>5년</a:t>
              </a:r>
            </a:p>
          </p:txBody>
        </p:sp>
        <p:sp>
          <p:nvSpPr>
            <p:cNvPr id="24" name="TextBox 24"/>
            <p:cNvSpPr txBox="1"/>
            <p:nvPr/>
          </p:nvSpPr>
          <p:spPr>
            <a:xfrm>
              <a:off x="526542" y="3225800"/>
              <a:ext cx="3076052" cy="264033"/>
            </a:xfrm>
            <a:prstGeom prst="rect">
              <a:avLst/>
            </a:prstGeom>
            <a:noFill/>
            <a:ln>
              <a:noFill/>
            </a:ln>
          </p:spPr>
          <p:txBody>
            <a:bodyPr wrap="none" lIns="0" tIns="0" rIns="0" bIns="0" anchor="t" anchorCtr="0">
              <a:spAutoFit/>
            </a:bodyPr>
            <a:lstStyle/>
            <a:p>
              <a:pPr algn="l"/>
              <a:r>
                <a:rPr lang="ko-KR" sz="1350" dirty="0">
                  <a:solidFill>
                    <a:srgbClr val="111827"/>
                  </a:solidFill>
                  <a:latin typeface="+mn-lt"/>
                  <a:ea typeface="+mn-ea"/>
                  <a:cs typeface="+mn-cs"/>
                </a:rPr>
                <a:t xml:space="preserve">서울시가 줄인 정기점검 주기 </a:t>
              </a:r>
              <a:r>
                <a:rPr lang="ko-KR" sz="1120" dirty="0">
                  <a:solidFill>
                    <a:srgbClr val="374151"/>
                  </a:solidFill>
                  <a:latin typeface="+mn-lt"/>
                  <a:ea typeface="+mn-ea"/>
                  <a:cs typeface="+mn-cs"/>
                </a:rPr>
                <a:t>(2025.4)</a:t>
              </a:r>
            </a:p>
          </p:txBody>
        </p:sp>
        <p:sp>
          <p:nvSpPr>
            <p:cNvPr id="25" name="Rectangle 25"/>
            <p:cNvSpPr/>
            <p:nvPr/>
          </p:nvSpPr>
          <p:spPr>
            <a:xfrm>
              <a:off x="533400" y="3524250"/>
              <a:ext cx="1143000" cy="323850"/>
            </a:xfrm>
            <a:prstGeom prst="rect">
              <a:avLst/>
            </a:prstGeom>
            <a:solidFill>
              <a:srgbClr val="0B1E3C"/>
            </a:solidFill>
            <a:ln>
              <a:noFill/>
            </a:ln>
          </p:spPr>
        </p:sp>
        <p:sp>
          <p:nvSpPr>
            <p:cNvPr id="26" name="TextBox 26"/>
            <p:cNvSpPr txBox="1"/>
            <p:nvPr/>
          </p:nvSpPr>
          <p:spPr>
            <a:xfrm>
              <a:off x="1780794" y="3530600"/>
              <a:ext cx="433920" cy="381381"/>
            </a:xfrm>
            <a:prstGeom prst="rect">
              <a:avLst/>
            </a:prstGeom>
            <a:noFill/>
            <a:ln>
              <a:noFill/>
            </a:ln>
          </p:spPr>
          <p:txBody>
            <a:bodyPr wrap="none" lIns="0" tIns="0" rIns="0" bIns="0" anchor="t" anchorCtr="0">
              <a:spAutoFit/>
            </a:bodyPr>
            <a:lstStyle/>
            <a:p>
              <a:pPr algn="l"/>
              <a:r>
                <a:rPr lang="ko-KR" sz="1950" b="1" dirty="0">
                  <a:solidFill>
                    <a:srgbClr val="0B1E3C"/>
                  </a:solidFill>
                  <a:latin typeface="+mn-lt"/>
                  <a:ea typeface="+mn-ea"/>
                  <a:cs typeface="+mn-cs"/>
                </a:rPr>
                <a:t>1년</a:t>
              </a:r>
            </a:p>
          </p:txBody>
        </p:sp>
        <p:sp>
          <p:nvSpPr>
            <p:cNvPr id="27" name="TextBox 27"/>
            <p:cNvSpPr txBox="1"/>
            <p:nvPr/>
          </p:nvSpPr>
          <p:spPr>
            <a:xfrm>
              <a:off x="526542" y="4178300"/>
              <a:ext cx="3283619" cy="264033"/>
            </a:xfrm>
            <a:prstGeom prst="rect">
              <a:avLst/>
            </a:prstGeom>
            <a:noFill/>
            <a:ln>
              <a:noFill/>
            </a:ln>
          </p:spPr>
          <p:txBody>
            <a:bodyPr wrap="none" lIns="0" tIns="0" rIns="0" bIns="0" anchor="t" anchorCtr="0">
              <a:spAutoFit/>
            </a:bodyPr>
            <a:lstStyle/>
            <a:p>
              <a:pPr algn="l"/>
              <a:r>
                <a:rPr lang="ko-KR" sz="1350" b="1" dirty="0">
                  <a:solidFill>
                    <a:srgbClr val="C62828"/>
                  </a:solidFill>
                  <a:latin typeface="+mn-lt"/>
                  <a:ea typeface="+mn-ea"/>
                  <a:cs typeface="+mn-cs"/>
                </a:rPr>
                <a:t>연희동: 탐사 ‘이상 없음’에서 함몰까지</a:t>
              </a:r>
            </a:p>
          </p:txBody>
        </p:sp>
        <p:sp>
          <p:nvSpPr>
            <p:cNvPr id="28" name="Rectangle 28"/>
            <p:cNvSpPr/>
            <p:nvPr/>
          </p:nvSpPr>
          <p:spPr>
            <a:xfrm>
              <a:off x="533400" y="4476750"/>
              <a:ext cx="333375" cy="323850"/>
            </a:xfrm>
            <a:prstGeom prst="rect">
              <a:avLst/>
            </a:prstGeom>
            <a:solidFill>
              <a:srgbClr val="C62828"/>
            </a:solidFill>
            <a:ln>
              <a:noFill/>
            </a:ln>
          </p:spPr>
        </p:sp>
        <p:sp>
          <p:nvSpPr>
            <p:cNvPr id="29" name="TextBox 29"/>
            <p:cNvSpPr txBox="1"/>
            <p:nvPr/>
          </p:nvSpPr>
          <p:spPr>
            <a:xfrm>
              <a:off x="971169" y="4483100"/>
              <a:ext cx="1082317" cy="381381"/>
            </a:xfrm>
            <a:prstGeom prst="rect">
              <a:avLst/>
            </a:prstGeom>
            <a:noFill/>
            <a:ln>
              <a:noFill/>
            </a:ln>
          </p:spPr>
          <p:txBody>
            <a:bodyPr wrap="none" lIns="0" tIns="0" rIns="0" bIns="0" anchor="t" anchorCtr="0">
              <a:spAutoFit/>
            </a:bodyPr>
            <a:lstStyle/>
            <a:p>
              <a:pPr algn="l"/>
              <a:r>
                <a:rPr lang="ko-KR" sz="1950" b="1" dirty="0">
                  <a:solidFill>
                    <a:srgbClr val="C62828"/>
                  </a:solidFill>
                  <a:latin typeface="+mn-lt"/>
                  <a:ea typeface="+mn-ea"/>
                  <a:cs typeface="+mn-cs"/>
                </a:rPr>
                <a:t>100여 일</a:t>
              </a:r>
            </a:p>
          </p:txBody>
        </p:sp>
      </p:grpSp>
      <p:grpSp>
        <p:nvGrpSpPr>
          <p:cNvPr id="41" name="evidence"/>
          <p:cNvGrpSpPr/>
          <p:nvPr/>
        </p:nvGrpSpPr>
        <p:grpSpPr>
          <a:xfrm>
            <a:off x="7457694" y="1600200"/>
            <a:ext cx="4200906" cy="2882646"/>
            <a:chOff x="7457694" y="1600200"/>
            <a:chExt cx="4200906" cy="2882646"/>
          </a:xfrm>
        </p:grpSpPr>
        <p:sp>
          <p:nvSpPr>
            <p:cNvPr id="31" name="Rectangle 31"/>
            <p:cNvSpPr/>
            <p:nvPr/>
          </p:nvSpPr>
          <p:spPr>
            <a:xfrm>
              <a:off x="7467600" y="1600200"/>
              <a:ext cx="4191000" cy="28575"/>
            </a:xfrm>
            <a:prstGeom prst="rect">
              <a:avLst/>
            </a:prstGeom>
            <a:solidFill>
              <a:srgbClr val="0B1E3C"/>
            </a:solidFill>
            <a:ln>
              <a:noFill/>
            </a:ln>
          </p:spPr>
        </p:sp>
        <p:sp>
          <p:nvSpPr>
            <p:cNvPr id="32" name="TextBox 32"/>
            <p:cNvSpPr txBox="1"/>
            <p:nvPr/>
          </p:nvSpPr>
          <p:spPr>
            <a:xfrm>
              <a:off x="7461885" y="1803400"/>
              <a:ext cx="1661656"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그 사이 공동은 자랍니다</a:t>
              </a:r>
            </a:p>
          </p:txBody>
        </p:sp>
        <p:sp>
          <p:nvSpPr>
            <p:cNvPr id="33" name="TextBox 33"/>
            <p:cNvSpPr txBox="1"/>
            <p:nvPr/>
          </p:nvSpPr>
          <p:spPr>
            <a:xfrm>
              <a:off x="7457694" y="2139950"/>
              <a:ext cx="2354173" cy="381381"/>
            </a:xfrm>
            <a:prstGeom prst="rect">
              <a:avLst/>
            </a:prstGeom>
            <a:noFill/>
            <a:ln>
              <a:noFill/>
            </a:ln>
          </p:spPr>
          <p:txBody>
            <a:bodyPr wrap="none" lIns="0" tIns="0" rIns="0" bIns="0" anchor="t" anchorCtr="0">
              <a:spAutoFit/>
            </a:bodyPr>
            <a:lstStyle/>
            <a:p>
              <a:pPr algn="l"/>
              <a:r>
                <a:rPr lang="ko-KR" sz="1950" b="1" dirty="0">
                  <a:solidFill>
                    <a:srgbClr val="0B1E3C"/>
                  </a:solidFill>
                  <a:latin typeface="+mn-lt"/>
                  <a:ea typeface="+mn-ea"/>
                  <a:cs typeface="+mn-cs"/>
                </a:rPr>
                <a:t>“예상보다 단기간에</a:t>
              </a:r>
            </a:p>
          </p:txBody>
        </p:sp>
        <p:sp>
          <p:nvSpPr>
            <p:cNvPr id="34" name="TextBox 34"/>
            <p:cNvSpPr txBox="1"/>
            <p:nvPr/>
          </p:nvSpPr>
          <p:spPr>
            <a:xfrm>
              <a:off x="7457694" y="2482850"/>
              <a:ext cx="2782063" cy="381381"/>
            </a:xfrm>
            <a:prstGeom prst="rect">
              <a:avLst/>
            </a:prstGeom>
            <a:noFill/>
            <a:ln>
              <a:noFill/>
            </a:ln>
          </p:spPr>
          <p:txBody>
            <a:bodyPr wrap="none" lIns="0" tIns="0" rIns="0" bIns="0" anchor="t" anchorCtr="0">
              <a:spAutoFit/>
            </a:bodyPr>
            <a:lstStyle/>
            <a:p>
              <a:pPr algn="l"/>
              <a:r>
                <a:rPr lang="ko-KR" sz="1950" b="1" dirty="0">
                  <a:solidFill>
                    <a:srgbClr val="0B1E3C"/>
                  </a:solidFill>
                  <a:latin typeface="+mn-lt"/>
                  <a:ea typeface="+mn-ea"/>
                  <a:cs typeface="+mn-cs"/>
                </a:rPr>
                <a:t>공동이 성장할 수 있다”</a:t>
              </a:r>
            </a:p>
          </p:txBody>
        </p:sp>
        <p:sp>
          <p:nvSpPr>
            <p:cNvPr id="35" name="TextBox 35"/>
            <p:cNvSpPr txBox="1"/>
            <p:nvPr/>
          </p:nvSpPr>
          <p:spPr>
            <a:xfrm>
              <a:off x="7461504" y="2990850"/>
              <a:ext cx="1886102"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일본 국토교통성 위탁연구</a:t>
              </a:r>
            </a:p>
          </p:txBody>
        </p:sp>
        <p:sp>
          <p:nvSpPr>
            <p:cNvPr id="36" name="TextBox 36"/>
            <p:cNvSpPr txBox="1"/>
            <p:nvPr/>
          </p:nvSpPr>
          <p:spPr>
            <a:xfrm>
              <a:off x="7461504" y="3200400"/>
              <a:ext cx="2346503"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(도쿄대·지오서치, 2018~2020)</a:t>
              </a:r>
            </a:p>
          </p:txBody>
        </p:sp>
        <p:sp>
          <p:nvSpPr>
            <p:cNvPr id="37" name="Line 37"/>
            <p:cNvSpPr/>
            <p:nvPr/>
          </p:nvSpPr>
          <p:spPr>
            <a:xfrm>
              <a:off x="7467600" y="3619500"/>
              <a:ext cx="4191000" cy="9525"/>
            </a:xfrm>
            <a:custGeom>
              <a:avLst/>
              <a:gdLst/>
              <a:ahLst/>
              <a:cxnLst/>
              <a:rect l="l" t="t" r="r" b="b"/>
              <a:pathLst>
                <a:path w="4191000" h="9525">
                  <a:moveTo>
                    <a:pt x="0" y="0"/>
                  </a:moveTo>
                  <a:lnTo>
                    <a:pt x="4191000" y="0"/>
                  </a:lnTo>
                </a:path>
              </a:pathLst>
            </a:custGeom>
            <a:noFill/>
            <a:ln w="9525">
              <a:solidFill>
                <a:srgbClr val="E2E6EC"/>
              </a:solidFill>
            </a:ln>
          </p:spPr>
        </p:sp>
        <p:sp>
          <p:nvSpPr>
            <p:cNvPr id="38" name="TextBox 38"/>
            <p:cNvSpPr txBox="1"/>
            <p:nvPr/>
          </p:nvSpPr>
          <p:spPr>
            <a:xfrm>
              <a:off x="7461504" y="3790950"/>
              <a:ext cx="2257654"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같은 도로를 반복 모니터링하자</a:t>
              </a:r>
            </a:p>
          </p:txBody>
        </p:sp>
        <p:sp>
          <p:nvSpPr>
            <p:cNvPr id="39" name="TextBox 39"/>
            <p:cNvSpPr txBox="1"/>
            <p:nvPr/>
          </p:nvSpPr>
          <p:spPr>
            <a:xfrm>
              <a:off x="7461504" y="4019550"/>
              <a:ext cx="2136496"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지하 1.64m 하수관 위 공동이</a:t>
              </a:r>
            </a:p>
          </p:txBody>
        </p:sp>
        <p:sp>
          <p:nvSpPr>
            <p:cNvPr id="40" name="TextBox 40"/>
            <p:cNvSpPr txBox="1"/>
            <p:nvPr/>
          </p:nvSpPr>
          <p:spPr>
            <a:xfrm>
              <a:off x="7461504" y="4248150"/>
              <a:ext cx="2346503"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급격히 자란 것이 확인됐습니다.</a:t>
              </a:r>
            </a:p>
          </p:txBody>
        </p:sp>
      </p:grpSp>
      <p:grpSp>
        <p:nvGrpSpPr>
          <p:cNvPr id="44" name="conclusion"/>
          <p:cNvGrpSpPr/>
          <p:nvPr/>
        </p:nvGrpSpPr>
        <p:grpSpPr>
          <a:xfrm>
            <a:off x="533400" y="5391150"/>
            <a:ext cx="7169730" cy="419100"/>
            <a:chOff x="533400" y="5391150"/>
            <a:chExt cx="7169730" cy="419100"/>
          </a:xfrm>
        </p:grpSpPr>
        <p:sp>
          <p:nvSpPr>
            <p:cNvPr id="42" name="Rectangle 42"/>
            <p:cNvSpPr/>
            <p:nvPr/>
          </p:nvSpPr>
          <p:spPr>
            <a:xfrm>
              <a:off x="533400" y="5391150"/>
              <a:ext cx="38100" cy="419100"/>
            </a:xfrm>
            <a:prstGeom prst="rect">
              <a:avLst/>
            </a:prstGeom>
            <a:solidFill>
              <a:srgbClr val="F5B700"/>
            </a:solidFill>
            <a:ln>
              <a:noFill/>
            </a:ln>
          </p:spPr>
        </p:sp>
        <p:sp>
          <p:nvSpPr>
            <p:cNvPr id="43" name="TextBox 43"/>
            <p:cNvSpPr txBox="1"/>
            <p:nvPr/>
          </p:nvSpPr>
          <p:spPr>
            <a:xfrm>
              <a:off x="715899" y="5486400"/>
              <a:ext cx="6987231" cy="308991"/>
            </a:xfrm>
            <a:prstGeom prst="rect">
              <a:avLst/>
            </a:prstGeom>
            <a:noFill/>
            <a:ln>
              <a:noFill/>
            </a:ln>
          </p:spPr>
          <p:txBody>
            <a:bodyPr wrap="none" lIns="0" tIns="0" rIns="0" bIns="0" anchor="t" anchorCtr="0">
              <a:spAutoFit/>
            </a:bodyPr>
            <a:lstStyle/>
            <a:p>
              <a:pPr algn="l"/>
              <a:r>
                <a:rPr lang="ko-KR" sz="1580" b="1" dirty="0">
                  <a:solidFill>
                    <a:srgbClr val="0B1E3C"/>
                  </a:solidFill>
                  <a:latin typeface="+mn-lt"/>
                  <a:ea typeface="+mn-ea"/>
                  <a:cs typeface="+mn-cs"/>
                </a:rPr>
                <a:t>한 번의 탐사는 그 시점만 말해 줍니다. 그 사이의 ‘변화’를 봐야 합니다.</a:t>
              </a:r>
            </a:p>
          </p:txBody>
        </p:sp>
      </p:grpSp>
      <p:grpSp>
        <p:nvGrpSpPr>
          <p:cNvPr id="46" name="source"/>
          <p:cNvGrpSpPr/>
          <p:nvPr/>
        </p:nvGrpSpPr>
        <p:grpSpPr>
          <a:xfrm>
            <a:off x="528638" y="6381750"/>
            <a:ext cx="8430006" cy="176212"/>
            <a:chOff x="528638" y="6381750"/>
            <a:chExt cx="8430006" cy="176212"/>
          </a:xfrm>
        </p:grpSpPr>
        <p:sp>
          <p:nvSpPr>
            <p:cNvPr id="45" name="TextBox 45"/>
            <p:cNvSpPr txBox="1"/>
            <p:nvPr/>
          </p:nvSpPr>
          <p:spPr>
            <a:xfrm>
              <a:off x="528638" y="6381750"/>
              <a:ext cx="8430006"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출처: 지하안전법(지하시설물관리자 공동조사 5년 1회 이상) · 이투데이(2025.4.23) · 뉴시스(2024.8.30) · 일본 국토교통성 도로정책 연구 30-5(2021)</a:t>
              </a:r>
            </a:p>
          </p:txBody>
        </p:sp>
      </p:grpSp>
      <p:grpSp>
        <p:nvGrpSpPr>
          <p:cNvPr id="49" name="footer"/>
          <p:cNvGrpSpPr/>
          <p:nvPr/>
        </p:nvGrpSpPr>
        <p:grpSpPr>
          <a:xfrm>
            <a:off x="528638" y="6610350"/>
            <a:ext cx="11134724" cy="176212"/>
            <a:chOff x="528638" y="6610350"/>
            <a:chExt cx="11134724" cy="176212"/>
          </a:xfrm>
        </p:grpSpPr>
        <p:sp>
          <p:nvSpPr>
            <p:cNvPr id="47" name="TextBox 47"/>
            <p:cNvSpPr txBox="1"/>
            <p:nvPr/>
          </p:nvSpPr>
          <p:spPr>
            <a:xfrm>
              <a:off x="528638" y="6610350"/>
              <a:ext cx="1487653"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한 명이라도 살릴 수 있다면</a:t>
              </a:r>
            </a:p>
          </p:txBody>
        </p:sp>
        <p:sp>
          <p:nvSpPr>
            <p:cNvPr id="48" name="TextBox 48"/>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04 / 15</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1084936"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우리가 막을 대상</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b="1" dirty="0">
                  <a:solidFill>
                    <a:srgbClr val="0B1E3C"/>
                  </a:solidFill>
                  <a:latin typeface="+mn-lt"/>
                  <a:ea typeface="+mn-ea"/>
                  <a:cs typeface="+mn-cs"/>
                </a:rPr>
                <a:t>문제</a:t>
              </a:r>
            </a:p>
          </p:txBody>
        </p:sp>
        <p:sp>
          <p:nvSpPr>
            <p:cNvPr id="6" name="Rectangle 6"/>
            <p:cNvSpPr/>
            <p:nvPr/>
          </p:nvSpPr>
          <p:spPr>
            <a:xfrm>
              <a:off x="8343900" y="514350"/>
              <a:ext cx="457200" cy="28575"/>
            </a:xfrm>
            <a:prstGeom prst="rect">
              <a:avLst/>
            </a:prstGeom>
            <a:solidFill>
              <a:srgbClr val="F5B700"/>
            </a:solidFill>
            <a:ln>
              <a:noFill/>
            </a:ln>
          </p:spPr>
        </p:sp>
        <p:sp>
          <p:nvSpPr>
            <p:cNvPr id="7" name="TextBox 7"/>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8" name="TextBox 8"/>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해법</a:t>
              </a:r>
            </a:p>
          </p:txBody>
        </p:sp>
        <p:sp>
          <p:nvSpPr>
            <p:cNvPr id="9" name="TextBox 9"/>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0" name="TextBox 10"/>
            <p:cNvSpPr txBox="1"/>
            <p:nvPr/>
          </p:nvSpPr>
          <p:spPr>
            <a:xfrm>
              <a:off x="9701251" y="301625"/>
              <a:ext cx="257099" cy="205359"/>
            </a:xfrm>
            <a:prstGeom prst="rect">
              <a:avLst/>
            </a:prstGeom>
            <a:noFill/>
            <a:ln>
              <a:noFill/>
            </a:ln>
          </p:spPr>
          <p:txBody>
            <a:bodyPr wrap="none" lIns="0" tIns="0" rIns="0" bIns="0" anchor="t" anchorCtr="0">
              <a:spAutoFit/>
            </a:bodyPr>
            <a:lstStyle/>
            <a:p>
              <a:pPr algn="ctr"/>
              <a:r>
                <a:rPr lang="en-US" sz="1050" dirty="0">
                  <a:solidFill>
                    <a:srgbClr val="9AA3AF"/>
                  </a:solidFill>
                  <a:latin typeface="+mn-lt"/>
                  <a:ea typeface="+mn-ea"/>
                  <a:cs typeface="+mn-cs"/>
                </a:rPr>
                <a:t>PV5</a:t>
              </a:r>
            </a:p>
          </p:txBody>
        </p:sp>
        <p:sp>
          <p:nvSpPr>
            <p:cNvPr id="11" name="TextBox 11"/>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2" name="TextBox 12"/>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3" name="TextBox 13"/>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4" name="TextBox 14"/>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사업</a:t>
              </a:r>
            </a:p>
          </p:txBody>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160" y="774700"/>
            <a:ext cx="8902198" cy="586740"/>
            <a:chOff x="518160" y="774700"/>
            <a:chExt cx="8902198" cy="586740"/>
          </a:xfrm>
        </p:grpSpPr>
        <p:sp>
          <p:nvSpPr>
            <p:cNvPr id="17" name="TextBox 17"/>
            <p:cNvSpPr txBox="1"/>
            <p:nvPr/>
          </p:nvSpPr>
          <p:spPr>
            <a:xfrm>
              <a:off x="518160" y="774700"/>
              <a:ext cx="8902198"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원인 1위 하수관 손상은 ‘얕은 공동’부터 만듭니다</a:t>
              </a:r>
            </a:p>
          </p:txBody>
        </p:sp>
      </p:grpSp>
      <p:grpSp>
        <p:nvGrpSpPr>
          <p:cNvPr id="29" name="section"/>
          <p:cNvGrpSpPr/>
          <p:nvPr/>
        </p:nvGrpSpPr>
        <p:grpSpPr>
          <a:xfrm>
            <a:off x="537006" y="1581150"/>
            <a:ext cx="6088789" cy="3876675"/>
            <a:chOff x="537006" y="1581150"/>
            <a:chExt cx="6088789" cy="3876675"/>
          </a:xfrm>
        </p:grpSpPr>
        <p:pic>
          <p:nvPicPr>
            <p:cNvPr id="19" name="Image 19"/>
            <p:cNvPicPr>
              <a:picLocks noChangeAspect="1"/>
            </p:cNvPicPr>
            <p:nvPr/>
          </p:nvPicPr>
          <p:blipFill>
            <a:blip r:embed="rId2"/>
            <a:stretch>
              <a:fillRect/>
            </a:stretch>
          </p:blipFill>
          <p:spPr>
            <a:xfrm>
              <a:off x="537006" y="1581150"/>
              <a:ext cx="6088789" cy="3876675"/>
            </a:xfrm>
            <a:prstGeom prst="rect">
              <a:avLst/>
            </a:prstGeom>
          </p:spPr>
        </p:pic>
        <p:grpSp>
          <p:nvGrpSpPr>
            <p:cNvPr id="28" name="Group 28"/>
            <p:cNvGrpSpPr/>
            <p:nvPr/>
          </p:nvGrpSpPr>
          <p:grpSpPr>
            <a:xfrm>
              <a:off x="1085850" y="2038350"/>
              <a:ext cx="3962400" cy="3219450"/>
              <a:chOff x="1085850" y="2038350"/>
              <a:chExt cx="3962400" cy="3219450"/>
            </a:xfrm>
          </p:grpSpPr>
          <p:sp>
            <p:nvSpPr>
              <p:cNvPr id="20" name="Rectangle 20"/>
              <p:cNvSpPr/>
              <p:nvPr/>
            </p:nvSpPr>
            <p:spPr>
              <a:xfrm>
                <a:off x="2762250" y="2038350"/>
                <a:ext cx="1066800" cy="266700"/>
              </a:xfrm>
              <a:prstGeom prst="roundRect">
                <a:avLst>
                  <a:gd name="adj" fmla="val 50000"/>
                </a:avLst>
              </a:prstGeom>
              <a:solidFill>
                <a:srgbClr val="0B1E3C"/>
              </a:solidFill>
              <a:ln>
                <a:noFill/>
              </a:ln>
            </p:spPr>
          </p:sp>
          <p:sp>
            <p:nvSpPr>
              <p:cNvPr id="21" name="TextBox 21"/>
              <p:cNvSpPr txBox="1"/>
              <p:nvPr/>
            </p:nvSpPr>
            <p:spPr>
              <a:xfrm>
                <a:off x="2897356" y="2079625"/>
                <a:ext cx="796588" cy="220028"/>
              </a:xfrm>
              <a:prstGeom prst="rect">
                <a:avLst/>
              </a:prstGeom>
              <a:noFill/>
              <a:ln>
                <a:noFill/>
              </a:ln>
            </p:spPr>
            <p:txBody>
              <a:bodyPr wrap="none" lIns="0" tIns="0" rIns="0" bIns="0" anchor="t" anchorCtr="0">
                <a:spAutoFit/>
              </a:bodyPr>
              <a:lstStyle/>
              <a:p>
                <a:pPr algn="ctr"/>
                <a:r>
                  <a:rPr lang="ko-KR" sz="1120" b="1" dirty="0">
                    <a:solidFill>
                      <a:srgbClr val="FFFFFF"/>
                    </a:solidFill>
                    <a:latin typeface="+mn-lt"/>
                    <a:ea typeface="+mn-ea"/>
                    <a:cs typeface="+mn-cs"/>
                  </a:rPr>
                  <a:t>3 노면 침하</a:t>
                </a:r>
              </a:p>
            </p:txBody>
          </p:sp>
          <p:sp>
            <p:nvSpPr>
              <p:cNvPr id="22" name="Rectangle 22"/>
              <p:cNvSpPr/>
              <p:nvPr/>
            </p:nvSpPr>
            <p:spPr>
              <a:xfrm>
                <a:off x="1085850" y="2686050"/>
                <a:ext cx="1066800" cy="266700"/>
              </a:xfrm>
              <a:prstGeom prst="roundRect">
                <a:avLst>
                  <a:gd name="adj" fmla="val 50000"/>
                </a:avLst>
              </a:prstGeom>
              <a:solidFill>
                <a:srgbClr val="0B1E3C"/>
              </a:solidFill>
              <a:ln>
                <a:noFill/>
              </a:ln>
            </p:spPr>
          </p:sp>
          <p:sp>
            <p:nvSpPr>
              <p:cNvPr id="23" name="TextBox 23"/>
              <p:cNvSpPr txBox="1"/>
              <p:nvPr/>
            </p:nvSpPr>
            <p:spPr>
              <a:xfrm>
                <a:off x="1220956" y="2727325"/>
                <a:ext cx="796588" cy="220028"/>
              </a:xfrm>
              <a:prstGeom prst="rect">
                <a:avLst/>
              </a:prstGeom>
              <a:noFill/>
              <a:ln>
                <a:noFill/>
              </a:ln>
            </p:spPr>
            <p:txBody>
              <a:bodyPr wrap="none" lIns="0" tIns="0" rIns="0" bIns="0" anchor="t" anchorCtr="0">
                <a:spAutoFit/>
              </a:bodyPr>
              <a:lstStyle/>
              <a:p>
                <a:pPr algn="ctr"/>
                <a:r>
                  <a:rPr lang="ko-KR" sz="1120" b="1" dirty="0">
                    <a:solidFill>
                      <a:srgbClr val="FFFFFF"/>
                    </a:solidFill>
                    <a:latin typeface="+mn-lt"/>
                    <a:ea typeface="+mn-ea"/>
                    <a:cs typeface="+mn-cs"/>
                  </a:rPr>
                  <a:t>2 공동 형성</a:t>
                </a:r>
              </a:p>
            </p:txBody>
          </p:sp>
          <p:sp>
            <p:nvSpPr>
              <p:cNvPr id="24" name="Rectangle 24"/>
              <p:cNvSpPr/>
              <p:nvPr/>
            </p:nvSpPr>
            <p:spPr>
              <a:xfrm>
                <a:off x="3867150" y="3238500"/>
                <a:ext cx="1181100" cy="266700"/>
              </a:xfrm>
              <a:prstGeom prst="roundRect">
                <a:avLst>
                  <a:gd name="adj" fmla="val 50000"/>
                </a:avLst>
              </a:prstGeom>
              <a:solidFill>
                <a:srgbClr val="0B1E3C"/>
              </a:solidFill>
              <a:ln>
                <a:noFill/>
              </a:ln>
            </p:spPr>
          </p:sp>
          <p:sp>
            <p:nvSpPr>
              <p:cNvPr id="25" name="TextBox 25"/>
              <p:cNvSpPr txBox="1"/>
              <p:nvPr/>
            </p:nvSpPr>
            <p:spPr>
              <a:xfrm>
                <a:off x="3984019" y="3279775"/>
                <a:ext cx="947362" cy="220028"/>
              </a:xfrm>
              <a:prstGeom prst="rect">
                <a:avLst/>
              </a:prstGeom>
              <a:noFill/>
              <a:ln>
                <a:noFill/>
              </a:ln>
            </p:spPr>
            <p:txBody>
              <a:bodyPr wrap="none" lIns="0" tIns="0" rIns="0" bIns="0" anchor="t" anchorCtr="0">
                <a:spAutoFit/>
              </a:bodyPr>
              <a:lstStyle/>
              <a:p>
                <a:pPr algn="ctr"/>
                <a:r>
                  <a:rPr lang="ko-KR" sz="1120" b="1" dirty="0">
                    <a:solidFill>
                      <a:srgbClr val="FFFFFF"/>
                    </a:solidFill>
                    <a:latin typeface="+mn-lt"/>
                    <a:ea typeface="+mn-ea"/>
                    <a:cs typeface="+mn-cs"/>
                  </a:rPr>
                  <a:t>1 하수관 누수</a:t>
                </a:r>
              </a:p>
            </p:txBody>
          </p:sp>
          <p:sp>
            <p:nvSpPr>
              <p:cNvPr id="26" name="Rectangle 26"/>
              <p:cNvSpPr/>
              <p:nvPr/>
            </p:nvSpPr>
            <p:spPr>
              <a:xfrm>
                <a:off x="1314450" y="4991100"/>
                <a:ext cx="1524000" cy="266700"/>
              </a:xfrm>
              <a:prstGeom prst="roundRect">
                <a:avLst>
                  <a:gd name="adj" fmla="val 50000"/>
                </a:avLst>
              </a:prstGeom>
              <a:solidFill>
                <a:srgbClr val="FFFFFF"/>
              </a:solidFill>
              <a:ln w="9525">
                <a:solidFill>
                  <a:srgbClr val="9AA3AF"/>
                </a:solidFill>
              </a:ln>
            </p:spPr>
          </p:sp>
          <p:sp>
            <p:nvSpPr>
              <p:cNvPr id="27" name="TextBox 27"/>
              <p:cNvSpPr txBox="1"/>
              <p:nvPr/>
            </p:nvSpPr>
            <p:spPr>
              <a:xfrm>
                <a:off x="1404501" y="5032375"/>
                <a:ext cx="1343899" cy="220028"/>
              </a:xfrm>
              <a:prstGeom prst="rect">
                <a:avLst/>
              </a:prstGeom>
              <a:noFill/>
              <a:ln>
                <a:noFill/>
              </a:ln>
            </p:spPr>
            <p:txBody>
              <a:bodyPr wrap="none" lIns="0" tIns="0" rIns="0" bIns="0" anchor="t" anchorCtr="0">
                <a:spAutoFit/>
              </a:bodyPr>
              <a:lstStyle/>
              <a:p>
                <a:pPr algn="ctr"/>
                <a:r>
                  <a:rPr lang="ko-KR" sz="1120" b="1" dirty="0">
                    <a:solidFill>
                      <a:srgbClr val="374151"/>
                    </a:solidFill>
                    <a:latin typeface="+mn-lt"/>
                    <a:ea typeface="+mn-ea"/>
                    <a:cs typeface="+mn-cs"/>
                  </a:rPr>
                  <a:t>깊은 층 · 대상 아님</a:t>
                </a:r>
              </a:p>
            </p:txBody>
          </p:sp>
        </p:grpSp>
      </p:grpSp>
      <p:grpSp>
        <p:nvGrpSpPr>
          <p:cNvPr id="33" name="stat"/>
          <p:cNvGrpSpPr/>
          <p:nvPr/>
        </p:nvGrpSpPr>
        <p:grpSpPr>
          <a:xfrm>
            <a:off x="7067550" y="1581150"/>
            <a:ext cx="3001099" cy="1472946"/>
            <a:chOff x="7067550" y="1581150"/>
            <a:chExt cx="3001099" cy="1472946"/>
          </a:xfrm>
        </p:grpSpPr>
        <p:sp>
          <p:nvSpPr>
            <p:cNvPr id="30" name="TextBox 30"/>
            <p:cNvSpPr txBox="1"/>
            <p:nvPr/>
          </p:nvSpPr>
          <p:spPr>
            <a:xfrm>
              <a:off x="7067550" y="1581150"/>
              <a:ext cx="2669046" cy="1276350"/>
            </a:xfrm>
            <a:prstGeom prst="rect">
              <a:avLst/>
            </a:prstGeom>
            <a:noFill/>
            <a:ln>
              <a:noFill/>
            </a:ln>
          </p:spPr>
          <p:txBody>
            <a:bodyPr wrap="none" lIns="0" tIns="0" rIns="0" bIns="0" anchor="t" anchorCtr="0">
              <a:spAutoFit/>
            </a:bodyPr>
            <a:lstStyle/>
            <a:p>
              <a:pPr algn="l"/>
              <a:r>
                <a:rPr lang="ko-KR" sz="6600" b="1" spc="-225" dirty="0">
                  <a:solidFill>
                    <a:srgbClr val="0B1E3C"/>
                  </a:solidFill>
                  <a:latin typeface="+mn-lt"/>
                  <a:ea typeface="+mn-ea"/>
                  <a:cs typeface="+mn-cs"/>
                </a:rPr>
                <a:t>45.4%</a:t>
              </a:r>
            </a:p>
          </p:txBody>
        </p:sp>
        <p:sp>
          <p:nvSpPr>
            <p:cNvPr id="31" name="TextBox 31"/>
            <p:cNvSpPr txBox="1"/>
            <p:nvPr/>
          </p:nvSpPr>
          <p:spPr>
            <a:xfrm>
              <a:off x="7078980" y="2546350"/>
              <a:ext cx="2989669" cy="293370"/>
            </a:xfrm>
            <a:prstGeom prst="rect">
              <a:avLst/>
            </a:prstGeom>
            <a:noFill/>
            <a:ln>
              <a:noFill/>
            </a:ln>
          </p:spPr>
          <p:txBody>
            <a:bodyPr wrap="none" lIns="0" tIns="0" rIns="0" bIns="0" anchor="t" anchorCtr="0">
              <a:spAutoFit/>
            </a:bodyPr>
            <a:lstStyle/>
            <a:p>
              <a:pPr algn="l"/>
              <a:r>
                <a:rPr lang="ko-KR" sz="1500" b="1" dirty="0">
                  <a:solidFill>
                    <a:srgbClr val="111827"/>
                  </a:solidFill>
                  <a:latin typeface="+mn-lt"/>
                  <a:ea typeface="+mn-ea"/>
                  <a:cs typeface="+mn-cs"/>
                </a:rPr>
                <a:t>지반침하 원인 1위 · 하수관 손상</a:t>
              </a:r>
            </a:p>
          </p:txBody>
        </p:sp>
        <p:sp>
          <p:nvSpPr>
            <p:cNvPr id="32" name="TextBox 32"/>
            <p:cNvSpPr txBox="1"/>
            <p:nvPr/>
          </p:nvSpPr>
          <p:spPr>
            <a:xfrm>
              <a:off x="7080504" y="2819400"/>
              <a:ext cx="2524201"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전국 867건 중 394건 (2020~2024)</a:t>
              </a:r>
            </a:p>
          </p:txBody>
        </p:sp>
      </p:grpSp>
      <p:grpSp>
        <p:nvGrpSpPr>
          <p:cNvPr id="40" name="scope"/>
          <p:cNvGrpSpPr/>
          <p:nvPr/>
        </p:nvGrpSpPr>
        <p:grpSpPr>
          <a:xfrm>
            <a:off x="7079361" y="3238500"/>
            <a:ext cx="4579239" cy="1644396"/>
            <a:chOff x="7079361" y="3238500"/>
            <a:chExt cx="4579239" cy="1644396"/>
          </a:xfrm>
        </p:grpSpPr>
        <p:sp>
          <p:nvSpPr>
            <p:cNvPr id="34" name="Rectangle 34"/>
            <p:cNvSpPr/>
            <p:nvPr/>
          </p:nvSpPr>
          <p:spPr>
            <a:xfrm>
              <a:off x="7086600" y="3238500"/>
              <a:ext cx="4572000" cy="28575"/>
            </a:xfrm>
            <a:prstGeom prst="rect">
              <a:avLst/>
            </a:prstGeom>
            <a:solidFill>
              <a:srgbClr val="F5B700"/>
            </a:solidFill>
            <a:ln>
              <a:noFill/>
            </a:ln>
          </p:spPr>
        </p:sp>
        <p:sp>
          <p:nvSpPr>
            <p:cNvPr id="35" name="TextBox 35"/>
            <p:cNvSpPr txBox="1"/>
            <p:nvPr/>
          </p:nvSpPr>
          <p:spPr>
            <a:xfrm>
              <a:off x="7079361" y="3422650"/>
              <a:ext cx="4159927"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얕은 공동형 · 약 2m 이내 → GroundWatch 대상</a:t>
              </a:r>
            </a:p>
          </p:txBody>
        </p:sp>
        <p:sp>
          <p:nvSpPr>
            <p:cNvPr id="36" name="TextBox 36"/>
            <p:cNvSpPr txBox="1"/>
            <p:nvPr/>
          </p:nvSpPr>
          <p:spPr>
            <a:xfrm>
              <a:off x="7080504" y="3695700"/>
              <a:ext cx="3430524"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공동이 먼저 생겨 함몰 전에 GPR로 찾을 수 있음</a:t>
              </a:r>
            </a:p>
          </p:txBody>
        </p:sp>
        <p:sp>
          <p:nvSpPr>
            <p:cNvPr id="37" name="Rectangle 37"/>
            <p:cNvSpPr/>
            <p:nvPr/>
          </p:nvSpPr>
          <p:spPr>
            <a:xfrm>
              <a:off x="7086600" y="4191000"/>
              <a:ext cx="4572000" cy="28575"/>
            </a:xfrm>
            <a:prstGeom prst="rect">
              <a:avLst/>
            </a:prstGeom>
            <a:solidFill>
              <a:srgbClr val="C3CCD9"/>
            </a:solidFill>
            <a:ln>
              <a:noFill/>
            </a:ln>
          </p:spPr>
        </p:sp>
        <p:sp>
          <p:nvSpPr>
            <p:cNvPr id="38" name="TextBox 38"/>
            <p:cNvSpPr txBox="1"/>
            <p:nvPr/>
          </p:nvSpPr>
          <p:spPr>
            <a:xfrm>
              <a:off x="7079361" y="4375150"/>
              <a:ext cx="3683802" cy="278702"/>
            </a:xfrm>
            <a:prstGeom prst="rect">
              <a:avLst/>
            </a:prstGeom>
            <a:noFill/>
            <a:ln>
              <a:noFill/>
            </a:ln>
          </p:spPr>
          <p:txBody>
            <a:bodyPr wrap="none" lIns="0" tIns="0" rIns="0" bIns="0" anchor="t" anchorCtr="0">
              <a:spAutoFit/>
            </a:bodyPr>
            <a:lstStyle/>
            <a:p>
              <a:pPr algn="l"/>
              <a:r>
                <a:rPr lang="ko-KR" sz="1420" b="1" dirty="0">
                  <a:solidFill>
                    <a:srgbClr val="4B5563"/>
                  </a:solidFill>
                  <a:latin typeface="+mn-lt"/>
                  <a:ea typeface="+mn-ea"/>
                  <a:cs typeface="+mn-cs"/>
                </a:rPr>
                <a:t>심부 붕괴형 · 예: 명일동 16m → 대상 아님</a:t>
              </a:r>
            </a:p>
          </p:txBody>
        </p:sp>
        <p:sp>
          <p:nvSpPr>
            <p:cNvPr id="39" name="TextBox 39"/>
            <p:cNvSpPr txBox="1"/>
            <p:nvPr/>
          </p:nvSpPr>
          <p:spPr>
            <a:xfrm>
              <a:off x="7080504" y="4648200"/>
              <a:ext cx="3461156"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깊은 지층·터널 공사 영역은 공사장 계측이 맡음</a:t>
              </a:r>
            </a:p>
          </p:txBody>
        </p:sp>
      </p:grpSp>
      <p:grpSp>
        <p:nvGrpSpPr>
          <p:cNvPr id="43" name="conclusion"/>
          <p:cNvGrpSpPr/>
          <p:nvPr/>
        </p:nvGrpSpPr>
        <p:grpSpPr>
          <a:xfrm>
            <a:off x="533400" y="5715000"/>
            <a:ext cx="6376020" cy="419100"/>
            <a:chOff x="533400" y="5715000"/>
            <a:chExt cx="6376020" cy="419100"/>
          </a:xfrm>
        </p:grpSpPr>
        <p:sp>
          <p:nvSpPr>
            <p:cNvPr id="41" name="Rectangle 41"/>
            <p:cNvSpPr/>
            <p:nvPr/>
          </p:nvSpPr>
          <p:spPr>
            <a:xfrm>
              <a:off x="533400" y="5715000"/>
              <a:ext cx="38100" cy="419100"/>
            </a:xfrm>
            <a:prstGeom prst="rect">
              <a:avLst/>
            </a:prstGeom>
            <a:solidFill>
              <a:srgbClr val="F5B700"/>
            </a:solidFill>
            <a:ln>
              <a:noFill/>
            </a:ln>
          </p:spPr>
        </p:sp>
        <p:sp>
          <p:nvSpPr>
            <p:cNvPr id="42" name="TextBox 42"/>
            <p:cNvSpPr txBox="1"/>
            <p:nvPr/>
          </p:nvSpPr>
          <p:spPr>
            <a:xfrm>
              <a:off x="715899" y="5810250"/>
              <a:ext cx="6193521" cy="308991"/>
            </a:xfrm>
            <a:prstGeom prst="rect">
              <a:avLst/>
            </a:prstGeom>
            <a:noFill/>
            <a:ln>
              <a:noFill/>
            </a:ln>
          </p:spPr>
          <p:txBody>
            <a:bodyPr wrap="none" lIns="0" tIns="0" rIns="0" bIns="0" anchor="t" anchorCtr="0">
              <a:spAutoFit/>
            </a:bodyPr>
            <a:lstStyle/>
            <a:p>
              <a:pPr algn="l"/>
              <a:r>
                <a:rPr lang="ko-KR" sz="1580" b="1" dirty="0">
                  <a:solidFill>
                    <a:srgbClr val="0B1E3C"/>
                  </a:solidFill>
                  <a:latin typeface="+mn-lt"/>
                  <a:ea typeface="+mn-ea"/>
                  <a:cs typeface="+mn-cs"/>
                </a:rPr>
                <a:t>차량형 GPR이 보는 깊이(약 2m)에, 가장 흔한 원인이 있습니다.</a:t>
              </a:r>
            </a:p>
          </p:txBody>
        </p:sp>
      </p:grpSp>
      <p:grpSp>
        <p:nvGrpSpPr>
          <p:cNvPr id="45" name="source"/>
          <p:cNvGrpSpPr/>
          <p:nvPr/>
        </p:nvGrpSpPr>
        <p:grpSpPr>
          <a:xfrm>
            <a:off x="528638" y="6381750"/>
            <a:ext cx="8536305" cy="176212"/>
            <a:chOff x="528638" y="6381750"/>
            <a:chExt cx="8536305" cy="176212"/>
          </a:xfrm>
        </p:grpSpPr>
        <p:sp>
          <p:nvSpPr>
            <p:cNvPr id="44" name="TextBox 44"/>
            <p:cNvSpPr txBox="1"/>
            <p:nvPr/>
          </p:nvSpPr>
          <p:spPr>
            <a:xfrm>
              <a:off x="528638" y="6381750"/>
              <a:ext cx="8536305"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출처: 국토교통부 지반침하 원인 통계(2020~2024) · 국토교통부 명일동 사고조사(2025.12.3) · 서울시 차량형 GPR 탐사 깊이 약 2m · 단면도는 원리 설명용</a:t>
              </a:r>
            </a:p>
          </p:txBody>
        </p:sp>
      </p:grpSp>
      <p:grpSp>
        <p:nvGrpSpPr>
          <p:cNvPr id="48" name="footer"/>
          <p:cNvGrpSpPr/>
          <p:nvPr/>
        </p:nvGrpSpPr>
        <p:grpSpPr>
          <a:xfrm>
            <a:off x="528638" y="6610350"/>
            <a:ext cx="11134724" cy="176212"/>
            <a:chOff x="528638" y="6610350"/>
            <a:chExt cx="11134724" cy="176212"/>
          </a:xfrm>
        </p:grpSpPr>
        <p:sp>
          <p:nvSpPr>
            <p:cNvPr id="46" name="TextBox 46"/>
            <p:cNvSpPr txBox="1"/>
            <p:nvPr/>
          </p:nvSpPr>
          <p:spPr>
            <a:xfrm>
              <a:off x="528638" y="6610350"/>
              <a:ext cx="1487653"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한 명이라도 살릴 수 있다면</a:t>
              </a:r>
            </a:p>
          </p:txBody>
        </p:sp>
        <p:sp>
          <p:nvSpPr>
            <p:cNvPr id="47" name="TextBox 47"/>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05 / 15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1369662"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GroundWatch의 핵심</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문제</a:t>
              </a:r>
            </a:p>
          </p:txBody>
        </p:sp>
        <p:sp>
          <p:nvSpPr>
            <p:cNvPr id="6" name="TextBox 6"/>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7" name="TextBox 7"/>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b="1" dirty="0">
                  <a:solidFill>
                    <a:srgbClr val="0B1E3C"/>
                  </a:solidFill>
                  <a:latin typeface="+mn-lt"/>
                  <a:ea typeface="+mn-ea"/>
                  <a:cs typeface="+mn-cs"/>
                </a:rPr>
                <a:t>해법</a:t>
              </a:r>
            </a:p>
          </p:txBody>
        </p:sp>
        <p:sp>
          <p:nvSpPr>
            <p:cNvPr id="8" name="Rectangle 8"/>
            <p:cNvSpPr/>
            <p:nvPr/>
          </p:nvSpPr>
          <p:spPr>
            <a:xfrm>
              <a:off x="8972550" y="514350"/>
              <a:ext cx="457200" cy="28575"/>
            </a:xfrm>
            <a:prstGeom prst="rect">
              <a:avLst/>
            </a:prstGeom>
            <a:solidFill>
              <a:srgbClr val="F5B700"/>
            </a:solidFill>
            <a:ln>
              <a:noFill/>
            </a:ln>
          </p:spPr>
        </p:sp>
        <p:sp>
          <p:nvSpPr>
            <p:cNvPr id="9" name="TextBox 9"/>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0" name="TextBox 10"/>
            <p:cNvSpPr txBox="1"/>
            <p:nvPr/>
          </p:nvSpPr>
          <p:spPr>
            <a:xfrm>
              <a:off x="9701251" y="301625"/>
              <a:ext cx="257099" cy="205359"/>
            </a:xfrm>
            <a:prstGeom prst="rect">
              <a:avLst/>
            </a:prstGeom>
            <a:noFill/>
            <a:ln>
              <a:noFill/>
            </a:ln>
          </p:spPr>
          <p:txBody>
            <a:bodyPr wrap="none" lIns="0" tIns="0" rIns="0" bIns="0" anchor="t" anchorCtr="0">
              <a:spAutoFit/>
            </a:bodyPr>
            <a:lstStyle/>
            <a:p>
              <a:pPr algn="ctr"/>
              <a:r>
                <a:rPr lang="en-US" sz="1050" dirty="0">
                  <a:solidFill>
                    <a:srgbClr val="9AA3AF"/>
                  </a:solidFill>
                  <a:latin typeface="+mn-lt"/>
                  <a:ea typeface="+mn-ea"/>
                  <a:cs typeface="+mn-cs"/>
                </a:rPr>
                <a:t>PV5</a:t>
              </a:r>
            </a:p>
          </p:txBody>
        </p:sp>
        <p:sp>
          <p:nvSpPr>
            <p:cNvPr id="11" name="TextBox 11"/>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2" name="TextBox 12"/>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3" name="TextBox 13"/>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4" name="TextBox 14"/>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사업</a:t>
              </a:r>
            </a:p>
          </p:txBody>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160" y="774700"/>
            <a:ext cx="10607764" cy="586740"/>
            <a:chOff x="518160" y="774700"/>
            <a:chExt cx="10607764" cy="586740"/>
          </a:xfrm>
        </p:grpSpPr>
        <p:sp>
          <p:nvSpPr>
            <p:cNvPr id="17" name="TextBox 17"/>
            <p:cNvSpPr txBox="1"/>
            <p:nvPr/>
          </p:nvSpPr>
          <p:spPr>
            <a:xfrm>
              <a:off x="518160" y="774700"/>
              <a:ext cx="10607764"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같은 길을 약 2개월마다 다시 찍고, 달라진 곳만 다시 봅니다</a:t>
              </a:r>
            </a:p>
          </p:txBody>
        </p:sp>
      </p:grpSp>
      <p:grpSp>
        <p:nvGrpSpPr>
          <p:cNvPr id="29" name="compare"/>
          <p:cNvGrpSpPr/>
          <p:nvPr/>
        </p:nvGrpSpPr>
        <p:grpSpPr>
          <a:xfrm>
            <a:off x="533400" y="1581150"/>
            <a:ext cx="6477000" cy="3695700"/>
            <a:chOff x="533400" y="1581150"/>
            <a:chExt cx="6477000" cy="3695700"/>
          </a:xfrm>
        </p:grpSpPr>
        <p:sp>
          <p:nvSpPr>
            <p:cNvPr id="19" name="Rectangle 19"/>
            <p:cNvSpPr/>
            <p:nvPr/>
          </p:nvSpPr>
          <p:spPr>
            <a:xfrm>
              <a:off x="533400" y="1581150"/>
              <a:ext cx="6477000" cy="3695700"/>
            </a:xfrm>
            <a:prstGeom prst="rect">
              <a:avLst/>
            </a:prstGeom>
            <a:solidFill>
              <a:srgbClr val="2A2E33"/>
            </a:solidFill>
            <a:ln>
              <a:noFill/>
            </a:ln>
          </p:spPr>
        </p:sp>
        <p:pic>
          <p:nvPicPr>
            <p:cNvPr id="20" name="Image 20"/>
            <p:cNvPicPr>
              <a:picLocks noChangeAspect="1"/>
            </p:cNvPicPr>
            <p:nvPr/>
          </p:nvPicPr>
          <p:blipFill>
            <a:blip r:embed="rId2"/>
            <a:stretch>
              <a:fillRect/>
            </a:stretch>
          </p:blipFill>
          <p:spPr>
            <a:xfrm>
              <a:off x="533400" y="1581150"/>
              <a:ext cx="6477000" cy="1828800"/>
            </a:xfrm>
            <a:prstGeom prst="rect">
              <a:avLst/>
            </a:prstGeom>
          </p:spPr>
        </p:pic>
        <p:pic>
          <p:nvPicPr>
            <p:cNvPr id="21" name="Image 21"/>
            <p:cNvPicPr>
              <a:picLocks noChangeAspect="1"/>
            </p:cNvPicPr>
            <p:nvPr/>
          </p:nvPicPr>
          <p:blipFill>
            <a:blip r:embed="rId3"/>
            <a:stretch>
              <a:fillRect/>
            </a:stretch>
          </p:blipFill>
          <p:spPr>
            <a:xfrm>
              <a:off x="533400" y="3448050"/>
              <a:ext cx="6477000" cy="1828800"/>
            </a:xfrm>
            <a:prstGeom prst="rect">
              <a:avLst/>
            </a:prstGeom>
          </p:spPr>
        </p:pic>
        <p:sp>
          <p:nvSpPr>
            <p:cNvPr id="22" name="Rectangle 22"/>
            <p:cNvSpPr/>
            <p:nvPr/>
          </p:nvSpPr>
          <p:spPr>
            <a:xfrm>
              <a:off x="647700" y="1695450"/>
              <a:ext cx="914400" cy="266700"/>
            </a:xfrm>
            <a:prstGeom prst="roundRect">
              <a:avLst>
                <a:gd name="adj" fmla="val 10714"/>
              </a:avLst>
            </a:prstGeom>
            <a:solidFill>
              <a:srgbClr val="0B1E3C">
                <a:alpha val="90000"/>
              </a:srgbClr>
            </a:solidFill>
            <a:ln>
              <a:noFill/>
            </a:ln>
          </p:spPr>
        </p:sp>
        <p:sp>
          <p:nvSpPr>
            <p:cNvPr id="23" name="TextBox 23"/>
            <p:cNvSpPr txBox="1"/>
            <p:nvPr/>
          </p:nvSpPr>
          <p:spPr>
            <a:xfrm>
              <a:off x="750273" y="1733550"/>
              <a:ext cx="709254" cy="234696"/>
            </a:xfrm>
            <a:prstGeom prst="rect">
              <a:avLst/>
            </a:prstGeom>
            <a:noFill/>
            <a:ln>
              <a:noFill/>
            </a:ln>
          </p:spPr>
          <p:txBody>
            <a:bodyPr wrap="none" lIns="0" tIns="0" rIns="0" bIns="0" anchor="t" anchorCtr="0">
              <a:spAutoFit/>
            </a:bodyPr>
            <a:lstStyle/>
            <a:p>
              <a:pPr algn="ctr"/>
              <a:r>
                <a:rPr lang="ko-KR" sz="1200" b="1" dirty="0">
                  <a:solidFill>
                    <a:srgbClr val="FFFFFF"/>
                  </a:solidFill>
                  <a:latin typeface="+mn-lt"/>
                  <a:ea typeface="+mn-ea"/>
                  <a:cs typeface="+mn-cs"/>
                </a:rPr>
                <a:t>지난 회차</a:t>
              </a:r>
            </a:p>
          </p:txBody>
        </p:sp>
        <p:sp>
          <p:nvSpPr>
            <p:cNvPr id="24" name="Rectangle 24"/>
            <p:cNvSpPr/>
            <p:nvPr/>
          </p:nvSpPr>
          <p:spPr>
            <a:xfrm>
              <a:off x="647700" y="3562350"/>
              <a:ext cx="914400" cy="266700"/>
            </a:xfrm>
            <a:prstGeom prst="roundRect">
              <a:avLst>
                <a:gd name="adj" fmla="val 10714"/>
              </a:avLst>
            </a:prstGeom>
            <a:solidFill>
              <a:srgbClr val="0B1E3C">
                <a:alpha val="90000"/>
              </a:srgbClr>
            </a:solidFill>
            <a:ln>
              <a:noFill/>
            </a:ln>
          </p:spPr>
        </p:sp>
        <p:sp>
          <p:nvSpPr>
            <p:cNvPr id="25" name="TextBox 25"/>
            <p:cNvSpPr txBox="1"/>
            <p:nvPr/>
          </p:nvSpPr>
          <p:spPr>
            <a:xfrm>
              <a:off x="750273" y="3600450"/>
              <a:ext cx="709254" cy="234696"/>
            </a:xfrm>
            <a:prstGeom prst="rect">
              <a:avLst/>
            </a:prstGeom>
            <a:noFill/>
            <a:ln>
              <a:noFill/>
            </a:ln>
          </p:spPr>
          <p:txBody>
            <a:bodyPr wrap="none" lIns="0" tIns="0" rIns="0" bIns="0" anchor="t" anchorCtr="0">
              <a:spAutoFit/>
            </a:bodyPr>
            <a:lstStyle/>
            <a:p>
              <a:pPr algn="ctr"/>
              <a:r>
                <a:rPr lang="ko-KR" sz="1200" b="1" dirty="0">
                  <a:solidFill>
                    <a:srgbClr val="FFFFFF"/>
                  </a:solidFill>
                  <a:latin typeface="+mn-lt"/>
                  <a:ea typeface="+mn-ea"/>
                  <a:cs typeface="+mn-cs"/>
                </a:rPr>
                <a:t>이번 회차</a:t>
              </a:r>
            </a:p>
          </p:txBody>
        </p:sp>
        <p:sp>
          <p:nvSpPr>
            <p:cNvPr id="26" name="Rectangle 26"/>
            <p:cNvSpPr/>
            <p:nvPr/>
          </p:nvSpPr>
          <p:spPr>
            <a:xfrm>
              <a:off x="2857500" y="4305300"/>
              <a:ext cx="2857500" cy="914400"/>
            </a:xfrm>
            <a:prstGeom prst="rect">
              <a:avLst/>
            </a:prstGeom>
            <a:noFill/>
            <a:ln w="38100">
              <a:solidFill>
                <a:srgbClr val="F5B700"/>
              </a:solidFill>
            </a:ln>
          </p:spPr>
        </p:sp>
        <p:sp>
          <p:nvSpPr>
            <p:cNvPr id="27" name="Rectangle 27"/>
            <p:cNvSpPr/>
            <p:nvPr/>
          </p:nvSpPr>
          <p:spPr>
            <a:xfrm>
              <a:off x="2857500" y="4038600"/>
              <a:ext cx="1428750" cy="266700"/>
            </a:xfrm>
            <a:prstGeom prst="rect">
              <a:avLst/>
            </a:prstGeom>
            <a:solidFill>
              <a:srgbClr val="F5B700"/>
            </a:solidFill>
            <a:ln>
              <a:noFill/>
            </a:ln>
          </p:spPr>
        </p:sp>
        <p:sp>
          <p:nvSpPr>
            <p:cNvPr id="28" name="TextBox 28"/>
            <p:cNvSpPr txBox="1"/>
            <p:nvPr/>
          </p:nvSpPr>
          <p:spPr>
            <a:xfrm>
              <a:off x="3030261" y="4076700"/>
              <a:ext cx="1083229" cy="234696"/>
            </a:xfrm>
            <a:prstGeom prst="rect">
              <a:avLst/>
            </a:prstGeom>
            <a:noFill/>
            <a:ln>
              <a:noFill/>
            </a:ln>
          </p:spPr>
          <p:txBody>
            <a:bodyPr wrap="none" lIns="0" tIns="0" rIns="0" bIns="0" anchor="t" anchorCtr="0">
              <a:spAutoFit/>
            </a:bodyPr>
            <a:lstStyle/>
            <a:p>
              <a:pPr algn="ctr"/>
              <a:r>
                <a:rPr lang="ko-KR" sz="1200" b="1" dirty="0">
                  <a:solidFill>
                    <a:srgbClr val="0B1E3C"/>
                  </a:solidFill>
                  <a:latin typeface="+mn-lt"/>
                  <a:ea typeface="+mn-ea"/>
                  <a:cs typeface="+mn-cs"/>
                </a:rPr>
                <a:t>새로 커진 신호</a:t>
              </a:r>
            </a:p>
          </p:txBody>
        </p:sp>
      </p:grpSp>
      <p:grpSp>
        <p:nvGrpSpPr>
          <p:cNvPr id="45" name="steps"/>
          <p:cNvGrpSpPr/>
          <p:nvPr/>
        </p:nvGrpSpPr>
        <p:grpSpPr>
          <a:xfrm>
            <a:off x="7461123" y="1663700"/>
            <a:ext cx="4197477" cy="3482467"/>
            <a:chOff x="7461123" y="1663700"/>
            <a:chExt cx="4197477" cy="3482467"/>
          </a:xfrm>
        </p:grpSpPr>
        <p:sp>
          <p:nvSpPr>
            <p:cNvPr id="30" name="TextBox 30"/>
            <p:cNvSpPr txBox="1"/>
            <p:nvPr/>
          </p:nvSpPr>
          <p:spPr>
            <a:xfrm>
              <a:off x="7461885" y="1727200"/>
              <a:ext cx="98502"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1</a:t>
              </a:r>
            </a:p>
          </p:txBody>
        </p:sp>
        <p:sp>
          <p:nvSpPr>
            <p:cNvPr id="31" name="TextBox 31"/>
            <p:cNvSpPr txBox="1"/>
            <p:nvPr/>
          </p:nvSpPr>
          <p:spPr>
            <a:xfrm>
              <a:off x="7687818" y="1663700"/>
              <a:ext cx="975225" cy="322707"/>
            </a:xfrm>
            <a:prstGeom prst="rect">
              <a:avLst/>
            </a:prstGeom>
            <a:noFill/>
            <a:ln>
              <a:noFill/>
            </a:ln>
          </p:spPr>
          <p:txBody>
            <a:bodyPr wrap="none" lIns="0" tIns="0" rIns="0" bIns="0" anchor="t" anchorCtr="0">
              <a:spAutoFit/>
            </a:bodyPr>
            <a:lstStyle/>
            <a:p>
              <a:pPr algn="l"/>
              <a:r>
                <a:rPr lang="ko-KR" sz="1650" b="1" dirty="0">
                  <a:solidFill>
                    <a:srgbClr val="0B1E3C"/>
                  </a:solidFill>
                  <a:latin typeface="+mn-lt"/>
                  <a:ea typeface="+mn-ea"/>
                  <a:cs typeface="+mn-cs"/>
                </a:rPr>
                <a:t>반복 측정</a:t>
              </a:r>
            </a:p>
          </p:txBody>
        </p:sp>
        <p:sp>
          <p:nvSpPr>
            <p:cNvPr id="32" name="TextBox 32"/>
            <p:cNvSpPr txBox="1"/>
            <p:nvPr/>
          </p:nvSpPr>
          <p:spPr>
            <a:xfrm>
              <a:off x="7689723" y="1981200"/>
              <a:ext cx="3475319" cy="250317"/>
            </a:xfrm>
            <a:prstGeom prst="rect">
              <a:avLst/>
            </a:prstGeom>
            <a:noFill/>
            <a:ln>
              <a:noFill/>
            </a:ln>
          </p:spPr>
          <p:txBody>
            <a:bodyPr wrap="none" lIns="0" tIns="0" rIns="0" bIns="0" anchor="t" anchorCtr="0">
              <a:spAutoFit/>
            </a:bodyPr>
            <a:lstStyle/>
            <a:p>
              <a:pPr algn="l"/>
              <a:r>
                <a:rPr lang="ko-KR" sz="1280" dirty="0">
                  <a:solidFill>
                    <a:srgbClr val="374151"/>
                  </a:solidFill>
                  <a:latin typeface="+mn-lt"/>
                  <a:ea typeface="+mn-ea"/>
                  <a:cs typeface="+mn-cs"/>
                </a:rPr>
                <a:t>PV5가 새벽에 같은 경로를 약 2개월마다 주행</a:t>
              </a:r>
            </a:p>
          </p:txBody>
        </p:sp>
        <p:sp>
          <p:nvSpPr>
            <p:cNvPr id="33" name="Line 33"/>
            <p:cNvSpPr/>
            <p:nvPr/>
          </p:nvSpPr>
          <p:spPr>
            <a:xfrm>
              <a:off x="7467600" y="2400300"/>
              <a:ext cx="4191000" cy="9525"/>
            </a:xfrm>
            <a:custGeom>
              <a:avLst/>
              <a:gdLst/>
              <a:ahLst/>
              <a:cxnLst/>
              <a:rect l="l" t="t" r="r" b="b"/>
              <a:pathLst>
                <a:path w="4191000" h="9525">
                  <a:moveTo>
                    <a:pt x="0" y="0"/>
                  </a:moveTo>
                  <a:lnTo>
                    <a:pt x="4191000" y="0"/>
                  </a:lnTo>
                </a:path>
              </a:pathLst>
            </a:custGeom>
            <a:noFill/>
            <a:ln w="9525">
              <a:solidFill>
                <a:srgbClr val="E2E6EC"/>
              </a:solidFill>
            </a:ln>
          </p:spPr>
        </p:sp>
        <p:sp>
          <p:nvSpPr>
            <p:cNvPr id="34" name="TextBox 34"/>
            <p:cNvSpPr txBox="1"/>
            <p:nvPr/>
          </p:nvSpPr>
          <p:spPr>
            <a:xfrm>
              <a:off x="7461885" y="2641600"/>
              <a:ext cx="98502"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2</a:t>
              </a:r>
            </a:p>
          </p:txBody>
        </p:sp>
        <p:sp>
          <p:nvSpPr>
            <p:cNvPr id="35" name="TextBox 35"/>
            <p:cNvSpPr txBox="1"/>
            <p:nvPr/>
          </p:nvSpPr>
          <p:spPr>
            <a:xfrm>
              <a:off x="7687818" y="2578100"/>
              <a:ext cx="1197348" cy="322707"/>
            </a:xfrm>
            <a:prstGeom prst="rect">
              <a:avLst/>
            </a:prstGeom>
            <a:noFill/>
            <a:ln>
              <a:noFill/>
            </a:ln>
          </p:spPr>
          <p:txBody>
            <a:bodyPr wrap="none" lIns="0" tIns="0" rIns="0" bIns="0" anchor="t" anchorCtr="0">
              <a:spAutoFit/>
            </a:bodyPr>
            <a:lstStyle/>
            <a:p>
              <a:pPr algn="l"/>
              <a:r>
                <a:rPr lang="ko-KR" sz="1650" b="1" dirty="0">
                  <a:solidFill>
                    <a:srgbClr val="0B1E3C"/>
                  </a:solidFill>
                  <a:latin typeface="+mn-lt"/>
                  <a:ea typeface="+mn-ea"/>
                  <a:cs typeface="+mn-cs"/>
                </a:rPr>
                <a:t>변화만 선별</a:t>
              </a:r>
            </a:p>
          </p:txBody>
        </p:sp>
        <p:sp>
          <p:nvSpPr>
            <p:cNvPr id="36" name="TextBox 36"/>
            <p:cNvSpPr txBox="1"/>
            <p:nvPr/>
          </p:nvSpPr>
          <p:spPr>
            <a:xfrm>
              <a:off x="7689723" y="2895600"/>
              <a:ext cx="2838572" cy="250317"/>
            </a:xfrm>
            <a:prstGeom prst="rect">
              <a:avLst/>
            </a:prstGeom>
            <a:noFill/>
            <a:ln>
              <a:noFill/>
            </a:ln>
          </p:spPr>
          <p:txBody>
            <a:bodyPr wrap="none" lIns="0" tIns="0" rIns="0" bIns="0" anchor="t" anchorCtr="0">
              <a:spAutoFit/>
            </a:bodyPr>
            <a:lstStyle/>
            <a:p>
              <a:pPr algn="l"/>
              <a:r>
                <a:rPr lang="ko-KR" sz="1280" dirty="0">
                  <a:solidFill>
                    <a:srgbClr val="374151"/>
                  </a:solidFill>
                  <a:latin typeface="+mn-lt"/>
                  <a:ea typeface="+mn-ea"/>
                  <a:cs typeface="+mn-cs"/>
                </a:rPr>
                <a:t>AI가 지난 회차와 달라진 곳을 고르고</a:t>
              </a:r>
            </a:p>
          </p:txBody>
        </p:sp>
        <p:sp>
          <p:nvSpPr>
            <p:cNvPr id="37" name="TextBox 37"/>
            <p:cNvSpPr txBox="1"/>
            <p:nvPr/>
          </p:nvSpPr>
          <p:spPr>
            <a:xfrm>
              <a:off x="7689723" y="3124200"/>
              <a:ext cx="2235799" cy="250317"/>
            </a:xfrm>
            <a:prstGeom prst="rect">
              <a:avLst/>
            </a:prstGeom>
            <a:noFill/>
            <a:ln>
              <a:noFill/>
            </a:ln>
          </p:spPr>
          <p:txBody>
            <a:bodyPr wrap="none" lIns="0" tIns="0" rIns="0" bIns="0" anchor="t" anchorCtr="0">
              <a:spAutoFit/>
            </a:bodyPr>
            <a:lstStyle/>
            <a:p>
              <a:pPr algn="l"/>
              <a:r>
                <a:rPr lang="ko-KR" sz="1280" dirty="0">
                  <a:solidFill>
                    <a:srgbClr val="374151"/>
                  </a:solidFill>
                  <a:latin typeface="+mn-lt"/>
                  <a:ea typeface="+mn-ea"/>
                  <a:cs typeface="+mn-cs"/>
                </a:rPr>
                <a:t>전문가가 원시 데이터로 승인</a:t>
              </a:r>
            </a:p>
          </p:txBody>
        </p:sp>
        <p:sp>
          <p:nvSpPr>
            <p:cNvPr id="38" name="Line 38"/>
            <p:cNvSpPr/>
            <p:nvPr/>
          </p:nvSpPr>
          <p:spPr>
            <a:xfrm>
              <a:off x="7467600" y="3543300"/>
              <a:ext cx="4191000" cy="9525"/>
            </a:xfrm>
            <a:custGeom>
              <a:avLst/>
              <a:gdLst/>
              <a:ahLst/>
              <a:cxnLst/>
              <a:rect l="l" t="t" r="r" b="b"/>
              <a:pathLst>
                <a:path w="4191000" h="9525">
                  <a:moveTo>
                    <a:pt x="0" y="0"/>
                  </a:moveTo>
                  <a:lnTo>
                    <a:pt x="4191000" y="0"/>
                  </a:lnTo>
                </a:path>
              </a:pathLst>
            </a:custGeom>
            <a:noFill/>
            <a:ln w="9525">
              <a:solidFill>
                <a:srgbClr val="E2E6EC"/>
              </a:solidFill>
            </a:ln>
          </p:spPr>
        </p:sp>
        <p:sp>
          <p:nvSpPr>
            <p:cNvPr id="39" name="TextBox 39"/>
            <p:cNvSpPr txBox="1"/>
            <p:nvPr/>
          </p:nvSpPr>
          <p:spPr>
            <a:xfrm>
              <a:off x="7461885" y="3784600"/>
              <a:ext cx="98502"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3</a:t>
              </a:r>
            </a:p>
          </p:txBody>
        </p:sp>
        <p:sp>
          <p:nvSpPr>
            <p:cNvPr id="40" name="TextBox 40"/>
            <p:cNvSpPr txBox="1"/>
            <p:nvPr/>
          </p:nvSpPr>
          <p:spPr>
            <a:xfrm>
              <a:off x="7687818" y="3721100"/>
              <a:ext cx="1197348" cy="322707"/>
            </a:xfrm>
            <a:prstGeom prst="rect">
              <a:avLst/>
            </a:prstGeom>
            <a:noFill/>
            <a:ln>
              <a:noFill/>
            </a:ln>
          </p:spPr>
          <p:txBody>
            <a:bodyPr wrap="none" lIns="0" tIns="0" rIns="0" bIns="0" anchor="t" anchorCtr="0">
              <a:spAutoFit/>
            </a:bodyPr>
            <a:lstStyle/>
            <a:p>
              <a:pPr algn="l"/>
              <a:r>
                <a:rPr lang="ko-KR" sz="1650" b="1" dirty="0">
                  <a:solidFill>
                    <a:srgbClr val="0B1E3C"/>
                  </a:solidFill>
                  <a:latin typeface="+mn-lt"/>
                  <a:ea typeface="+mn-ea"/>
                  <a:cs typeface="+mn-cs"/>
                </a:rPr>
                <a:t>현장 재확인</a:t>
              </a:r>
            </a:p>
          </p:txBody>
        </p:sp>
        <p:sp>
          <p:nvSpPr>
            <p:cNvPr id="41" name="TextBox 41"/>
            <p:cNvSpPr txBox="1"/>
            <p:nvPr/>
          </p:nvSpPr>
          <p:spPr>
            <a:xfrm>
              <a:off x="7689723" y="4038600"/>
              <a:ext cx="2642525" cy="250317"/>
            </a:xfrm>
            <a:prstGeom prst="rect">
              <a:avLst/>
            </a:prstGeom>
            <a:noFill/>
            <a:ln>
              <a:noFill/>
            </a:ln>
          </p:spPr>
          <p:txBody>
            <a:bodyPr wrap="none" lIns="0" tIns="0" rIns="0" bIns="0" anchor="t" anchorCtr="0">
              <a:spAutoFit/>
            </a:bodyPr>
            <a:lstStyle/>
            <a:p>
              <a:pPr algn="l"/>
              <a:r>
                <a:rPr lang="ko-KR" sz="1280" dirty="0">
                  <a:solidFill>
                    <a:srgbClr val="374151"/>
                  </a:solidFill>
                  <a:latin typeface="+mn-lt"/>
                  <a:ea typeface="+mn-ea"/>
                  <a:cs typeface="+mn-cs"/>
                </a:rPr>
                <a:t>승인된 곳만 수동 GPR로 다시 보고</a:t>
              </a:r>
            </a:p>
          </p:txBody>
        </p:sp>
        <p:sp>
          <p:nvSpPr>
            <p:cNvPr id="42" name="TextBox 42"/>
            <p:cNvSpPr txBox="1"/>
            <p:nvPr/>
          </p:nvSpPr>
          <p:spPr>
            <a:xfrm>
              <a:off x="7689723" y="4267200"/>
              <a:ext cx="2451191" cy="250317"/>
            </a:xfrm>
            <a:prstGeom prst="rect">
              <a:avLst/>
            </a:prstGeom>
            <a:noFill/>
            <a:ln>
              <a:noFill/>
            </a:ln>
          </p:spPr>
          <p:txBody>
            <a:bodyPr wrap="none" lIns="0" tIns="0" rIns="0" bIns="0" anchor="t" anchorCtr="0">
              <a:spAutoFit/>
            </a:bodyPr>
            <a:lstStyle/>
            <a:p>
              <a:pPr algn="l"/>
              <a:r>
                <a:rPr lang="ko-KR" sz="1280" dirty="0">
                  <a:solidFill>
                    <a:srgbClr val="374151"/>
                  </a:solidFill>
                  <a:latin typeface="+mn-lt"/>
                  <a:ea typeface="+mn-ea"/>
                  <a:cs typeface="+mn-cs"/>
                </a:rPr>
                <a:t>필요하면 천공·내시경으로 확정</a:t>
              </a:r>
            </a:p>
          </p:txBody>
        </p:sp>
        <p:sp>
          <p:nvSpPr>
            <p:cNvPr id="43" name="Line 43"/>
            <p:cNvSpPr/>
            <p:nvPr/>
          </p:nvSpPr>
          <p:spPr>
            <a:xfrm>
              <a:off x="7467600" y="4686300"/>
              <a:ext cx="4191000" cy="9525"/>
            </a:xfrm>
            <a:custGeom>
              <a:avLst/>
              <a:gdLst/>
              <a:ahLst/>
              <a:cxnLst/>
              <a:rect l="l" t="t" r="r" b="b"/>
              <a:pathLst>
                <a:path w="4191000" h="9525">
                  <a:moveTo>
                    <a:pt x="0" y="0"/>
                  </a:moveTo>
                  <a:lnTo>
                    <a:pt x="4191000" y="0"/>
                  </a:lnTo>
                </a:path>
              </a:pathLst>
            </a:custGeom>
            <a:noFill/>
            <a:ln w="9525">
              <a:solidFill>
                <a:srgbClr val="E2E6EC"/>
              </a:solidFill>
            </a:ln>
          </p:spPr>
        </p:sp>
        <p:sp>
          <p:nvSpPr>
            <p:cNvPr id="44" name="TextBox 44"/>
            <p:cNvSpPr txBox="1"/>
            <p:nvPr/>
          </p:nvSpPr>
          <p:spPr>
            <a:xfrm>
              <a:off x="7461123" y="4895850"/>
              <a:ext cx="3295528"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결과는 다음 순찰 경로에 다시 반영됩니다.</a:t>
              </a:r>
            </a:p>
          </p:txBody>
        </p:sp>
      </p:grpSp>
      <p:grpSp>
        <p:nvGrpSpPr>
          <p:cNvPr id="48" name="conclusion"/>
          <p:cNvGrpSpPr/>
          <p:nvPr/>
        </p:nvGrpSpPr>
        <p:grpSpPr>
          <a:xfrm>
            <a:off x="533400" y="5619750"/>
            <a:ext cx="6844942" cy="419100"/>
            <a:chOff x="533400" y="5619750"/>
            <a:chExt cx="6844942" cy="419100"/>
          </a:xfrm>
        </p:grpSpPr>
        <p:sp>
          <p:nvSpPr>
            <p:cNvPr id="46" name="Rectangle 46"/>
            <p:cNvSpPr/>
            <p:nvPr/>
          </p:nvSpPr>
          <p:spPr>
            <a:xfrm>
              <a:off x="533400" y="5619750"/>
              <a:ext cx="38100" cy="419100"/>
            </a:xfrm>
            <a:prstGeom prst="rect">
              <a:avLst/>
            </a:prstGeom>
            <a:solidFill>
              <a:srgbClr val="F5B700"/>
            </a:solidFill>
            <a:ln>
              <a:noFill/>
            </a:ln>
          </p:spPr>
        </p:sp>
        <p:sp>
          <p:nvSpPr>
            <p:cNvPr id="47" name="TextBox 47"/>
            <p:cNvSpPr txBox="1"/>
            <p:nvPr/>
          </p:nvSpPr>
          <p:spPr>
            <a:xfrm>
              <a:off x="715899" y="5715000"/>
              <a:ext cx="6662443" cy="308991"/>
            </a:xfrm>
            <a:prstGeom prst="rect">
              <a:avLst/>
            </a:prstGeom>
            <a:noFill/>
            <a:ln>
              <a:noFill/>
            </a:ln>
          </p:spPr>
          <p:txBody>
            <a:bodyPr wrap="none" lIns="0" tIns="0" rIns="0" bIns="0" anchor="t" anchorCtr="0">
              <a:spAutoFit/>
            </a:bodyPr>
            <a:lstStyle/>
            <a:p>
              <a:pPr algn="l"/>
              <a:r>
                <a:rPr lang="ko-KR" sz="1580" b="1" dirty="0">
                  <a:solidFill>
                    <a:srgbClr val="0B1E3C"/>
                  </a:solidFill>
                  <a:latin typeface="+mn-lt"/>
                  <a:ea typeface="+mn-ea"/>
                  <a:cs typeface="+mn-cs"/>
                </a:rPr>
                <a:t>AI는 볼 순서를 정할 뿐, 판정은 전문가가 하고 확정은 천공이 합니다.</a:t>
              </a:r>
            </a:p>
          </p:txBody>
        </p:sp>
      </p:grpSp>
      <p:grpSp>
        <p:nvGrpSpPr>
          <p:cNvPr id="50" name="source"/>
          <p:cNvGrpSpPr/>
          <p:nvPr/>
        </p:nvGrpSpPr>
        <p:grpSpPr>
          <a:xfrm>
            <a:off x="528638" y="6381750"/>
            <a:ext cx="7369416" cy="176212"/>
            <a:chOff x="528638" y="6381750"/>
            <a:chExt cx="7369416" cy="176212"/>
          </a:xfrm>
        </p:grpSpPr>
        <p:sp>
          <p:nvSpPr>
            <p:cNvPr id="49" name="TextBox 49"/>
            <p:cNvSpPr txBox="1"/>
            <p:nvPr/>
          </p:nvSpPr>
          <p:spPr>
            <a:xfrm>
              <a:off x="528638" y="6381750"/>
              <a:ext cx="7369416"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약 2개월 = 차량 1대가 연 6,600km를 달려 도로 약 1,000km를 연 6회 반복(13장, 가설) · 회차 화면은 2D 전자기 시뮬레이션 결과(7장)</a:t>
              </a:r>
            </a:p>
          </p:txBody>
        </p:sp>
      </p:grpSp>
      <p:grpSp>
        <p:nvGrpSpPr>
          <p:cNvPr id="53" name="footer"/>
          <p:cNvGrpSpPr/>
          <p:nvPr/>
        </p:nvGrpSpPr>
        <p:grpSpPr>
          <a:xfrm>
            <a:off x="528638" y="6610350"/>
            <a:ext cx="11134724" cy="176212"/>
            <a:chOff x="528638" y="6610350"/>
            <a:chExt cx="11134724" cy="176212"/>
          </a:xfrm>
        </p:grpSpPr>
        <p:sp>
          <p:nvSpPr>
            <p:cNvPr id="51" name="TextBox 51"/>
            <p:cNvSpPr txBox="1"/>
            <p:nvPr/>
          </p:nvSpPr>
          <p:spPr>
            <a:xfrm>
              <a:off x="528638" y="6610350"/>
              <a:ext cx="1487653"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한 명이라도 살릴 수 있다면</a:t>
              </a:r>
            </a:p>
          </p:txBody>
        </p:sp>
        <p:sp>
          <p:nvSpPr>
            <p:cNvPr id="52" name="TextBox 52"/>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06 / 15</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1042530"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무엇이 새로운가</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문제</a:t>
              </a:r>
            </a:p>
          </p:txBody>
        </p:sp>
        <p:sp>
          <p:nvSpPr>
            <p:cNvPr id="6" name="TextBox 6"/>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7" name="TextBox 7"/>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b="1" dirty="0">
                  <a:solidFill>
                    <a:srgbClr val="0B1E3C"/>
                  </a:solidFill>
                  <a:latin typeface="+mn-lt"/>
                  <a:ea typeface="+mn-ea"/>
                  <a:cs typeface="+mn-cs"/>
                </a:rPr>
                <a:t>해법</a:t>
              </a:r>
            </a:p>
          </p:txBody>
        </p:sp>
        <p:sp>
          <p:nvSpPr>
            <p:cNvPr id="8" name="Rectangle 8"/>
            <p:cNvSpPr/>
            <p:nvPr/>
          </p:nvSpPr>
          <p:spPr>
            <a:xfrm>
              <a:off x="8972550" y="514350"/>
              <a:ext cx="457200" cy="28575"/>
            </a:xfrm>
            <a:prstGeom prst="rect">
              <a:avLst/>
            </a:prstGeom>
            <a:solidFill>
              <a:srgbClr val="F5B700"/>
            </a:solidFill>
            <a:ln>
              <a:noFill/>
            </a:ln>
          </p:spPr>
        </p:sp>
        <p:sp>
          <p:nvSpPr>
            <p:cNvPr id="9" name="TextBox 9"/>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0" name="TextBox 10"/>
            <p:cNvSpPr txBox="1"/>
            <p:nvPr/>
          </p:nvSpPr>
          <p:spPr>
            <a:xfrm>
              <a:off x="9701251" y="301625"/>
              <a:ext cx="257099" cy="205359"/>
            </a:xfrm>
            <a:prstGeom prst="rect">
              <a:avLst/>
            </a:prstGeom>
            <a:noFill/>
            <a:ln>
              <a:noFill/>
            </a:ln>
          </p:spPr>
          <p:txBody>
            <a:bodyPr wrap="none" lIns="0" tIns="0" rIns="0" bIns="0" anchor="t" anchorCtr="0">
              <a:spAutoFit/>
            </a:bodyPr>
            <a:lstStyle/>
            <a:p>
              <a:pPr algn="ctr"/>
              <a:r>
                <a:rPr lang="en-US" sz="1050" dirty="0">
                  <a:solidFill>
                    <a:srgbClr val="9AA3AF"/>
                  </a:solidFill>
                  <a:latin typeface="+mn-lt"/>
                  <a:ea typeface="+mn-ea"/>
                  <a:cs typeface="+mn-cs"/>
                </a:rPr>
                <a:t>PV5</a:t>
              </a:r>
            </a:p>
          </p:txBody>
        </p:sp>
        <p:sp>
          <p:nvSpPr>
            <p:cNvPr id="11" name="TextBox 11"/>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2" name="TextBox 12"/>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3" name="TextBox 13"/>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4" name="TextBox 14"/>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사업</a:t>
              </a:r>
            </a:p>
          </p:txBody>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160" y="774700"/>
            <a:ext cx="9860356" cy="586740"/>
            <a:chOff x="518160" y="774700"/>
            <a:chExt cx="9860356" cy="586740"/>
          </a:xfrm>
        </p:grpSpPr>
        <p:sp>
          <p:nvSpPr>
            <p:cNvPr id="17" name="TextBox 17"/>
            <p:cNvSpPr txBox="1"/>
            <p:nvPr/>
          </p:nvSpPr>
          <p:spPr>
            <a:xfrm>
              <a:off x="518160" y="774700"/>
              <a:ext cx="9860356"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새 장비가 아니라 ‘변화를 판정하는 방법’이 새롭습니다</a:t>
              </a:r>
            </a:p>
          </p:txBody>
        </p:sp>
      </p:grpSp>
      <p:grpSp>
        <p:nvGrpSpPr>
          <p:cNvPr id="38" name="compare"/>
          <p:cNvGrpSpPr/>
          <p:nvPr/>
        </p:nvGrpSpPr>
        <p:grpSpPr>
          <a:xfrm>
            <a:off x="526923" y="1631950"/>
            <a:ext cx="5340477" cy="3235325"/>
            <a:chOff x="526923" y="1631950"/>
            <a:chExt cx="5340477" cy="3235325"/>
          </a:xfrm>
        </p:grpSpPr>
        <p:sp>
          <p:nvSpPr>
            <p:cNvPr id="19" name="TextBox 19"/>
            <p:cNvSpPr txBox="1"/>
            <p:nvPr/>
          </p:nvSpPr>
          <p:spPr>
            <a:xfrm>
              <a:off x="527685" y="1631950"/>
              <a:ext cx="2327702"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기존 모니터링 (후지사와시·연구)</a:t>
              </a:r>
            </a:p>
          </p:txBody>
        </p:sp>
        <p:sp>
          <p:nvSpPr>
            <p:cNvPr id="20" name="TextBox 20"/>
            <p:cNvSpPr txBox="1"/>
            <p:nvPr/>
          </p:nvSpPr>
          <p:spPr>
            <a:xfrm>
              <a:off x="3137535" y="1631950"/>
              <a:ext cx="1011070" cy="220028"/>
            </a:xfrm>
            <a:prstGeom prst="rect">
              <a:avLst/>
            </a:prstGeom>
            <a:noFill/>
            <a:ln>
              <a:noFill/>
            </a:ln>
          </p:spPr>
          <p:txBody>
            <a:bodyPr wrap="none" lIns="0" tIns="0" rIns="0" bIns="0" anchor="t" anchorCtr="0">
              <a:spAutoFit/>
            </a:bodyPr>
            <a:lstStyle/>
            <a:p>
              <a:pPr algn="l"/>
              <a:r>
                <a:rPr lang="en-US" sz="1120" b="1" dirty="0">
                  <a:solidFill>
                    <a:srgbClr val="0B1E3C"/>
                  </a:solidFill>
                  <a:latin typeface="+mn-lt"/>
                  <a:ea typeface="+mn-ea"/>
                  <a:cs typeface="+mn-cs"/>
                </a:rPr>
                <a:t>GroundWatch</a:t>
              </a:r>
            </a:p>
          </p:txBody>
        </p:sp>
        <p:sp>
          <p:nvSpPr>
            <p:cNvPr id="21" name="Line 21"/>
            <p:cNvSpPr/>
            <p:nvPr/>
          </p:nvSpPr>
          <p:spPr>
            <a:xfrm>
              <a:off x="533400" y="1885950"/>
              <a:ext cx="5334000" cy="9525"/>
            </a:xfrm>
            <a:custGeom>
              <a:avLst/>
              <a:gdLst/>
              <a:ahLst/>
              <a:cxnLst/>
              <a:rect l="l" t="t" r="r" b="b"/>
              <a:pathLst>
                <a:path w="5334000" h="9525">
                  <a:moveTo>
                    <a:pt x="0" y="0"/>
                  </a:moveTo>
                  <a:lnTo>
                    <a:pt x="5334000" y="0"/>
                  </a:lnTo>
                </a:path>
              </a:pathLst>
            </a:custGeom>
            <a:noFill/>
            <a:ln w="14288">
              <a:solidFill>
                <a:srgbClr val="0B1E3C"/>
              </a:solidFill>
            </a:ln>
          </p:spPr>
        </p:sp>
        <p:sp>
          <p:nvSpPr>
            <p:cNvPr id="22" name="TextBox 22"/>
            <p:cNvSpPr txBox="1"/>
            <p:nvPr/>
          </p:nvSpPr>
          <p:spPr>
            <a:xfrm>
              <a:off x="528447" y="1924050"/>
              <a:ext cx="752658" cy="191643"/>
            </a:xfrm>
            <a:prstGeom prst="rect">
              <a:avLst/>
            </a:prstGeom>
            <a:noFill/>
            <a:ln>
              <a:noFill/>
            </a:ln>
          </p:spPr>
          <p:txBody>
            <a:bodyPr wrap="none" lIns="0" tIns="0" rIns="0" bIns="0" anchor="t" anchorCtr="0">
              <a:spAutoFit/>
            </a:bodyPr>
            <a:lstStyle/>
            <a:p>
              <a:pPr algn="l"/>
              <a:r>
                <a:rPr lang="ko-KR" sz="980" b="1" dirty="0">
                  <a:solidFill>
                    <a:srgbClr val="4B5563"/>
                  </a:solidFill>
                  <a:latin typeface="+mn-lt"/>
                  <a:ea typeface="+mn-ea"/>
                  <a:cs typeface="+mn-cs"/>
                </a:rPr>
                <a:t>다시 보는 곳</a:t>
              </a:r>
            </a:p>
          </p:txBody>
        </p:sp>
        <p:sp>
          <p:nvSpPr>
            <p:cNvPr id="23" name="TextBox 23"/>
            <p:cNvSpPr txBox="1"/>
            <p:nvPr/>
          </p:nvSpPr>
          <p:spPr>
            <a:xfrm>
              <a:off x="526923" y="2133600"/>
              <a:ext cx="1494851" cy="250317"/>
            </a:xfrm>
            <a:prstGeom prst="rect">
              <a:avLst/>
            </a:prstGeom>
            <a:noFill/>
            <a:ln>
              <a:noFill/>
            </a:ln>
          </p:spPr>
          <p:txBody>
            <a:bodyPr wrap="none" lIns="0" tIns="0" rIns="0" bIns="0" anchor="t" anchorCtr="0">
              <a:spAutoFit/>
            </a:bodyPr>
            <a:lstStyle/>
            <a:p>
              <a:pPr algn="l"/>
              <a:r>
                <a:rPr lang="ko-KR" sz="1280" dirty="0">
                  <a:solidFill>
                    <a:srgbClr val="374151"/>
                  </a:solidFill>
                  <a:latin typeface="+mn-lt"/>
                  <a:ea typeface="+mn-ea"/>
                  <a:cs typeface="+mn-cs"/>
                </a:rPr>
                <a:t>이미 발견한 공동만</a:t>
              </a:r>
            </a:p>
          </p:txBody>
        </p:sp>
        <p:sp>
          <p:nvSpPr>
            <p:cNvPr id="24" name="TextBox 24"/>
            <p:cNvSpPr txBox="1"/>
            <p:nvPr/>
          </p:nvSpPr>
          <p:spPr>
            <a:xfrm>
              <a:off x="3136773" y="2133600"/>
              <a:ext cx="2097949"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‘이상 없음’ 구간까지 전체</a:t>
              </a:r>
            </a:p>
          </p:txBody>
        </p:sp>
        <p:sp>
          <p:nvSpPr>
            <p:cNvPr id="25" name="Line 25"/>
            <p:cNvSpPr/>
            <p:nvPr/>
          </p:nvSpPr>
          <p:spPr>
            <a:xfrm>
              <a:off x="533400" y="2457450"/>
              <a:ext cx="5334000" cy="9525"/>
            </a:xfrm>
            <a:custGeom>
              <a:avLst/>
              <a:gdLst/>
              <a:ahLst/>
              <a:cxnLst/>
              <a:rect l="l" t="t" r="r" b="b"/>
              <a:pathLst>
                <a:path w="5334000" h="9525">
                  <a:moveTo>
                    <a:pt x="0" y="0"/>
                  </a:moveTo>
                  <a:lnTo>
                    <a:pt x="5334000" y="0"/>
                  </a:lnTo>
                </a:path>
              </a:pathLst>
            </a:custGeom>
            <a:noFill/>
            <a:ln w="9525">
              <a:solidFill>
                <a:srgbClr val="E2E6EC"/>
              </a:solidFill>
            </a:ln>
          </p:spPr>
        </p:sp>
        <p:sp>
          <p:nvSpPr>
            <p:cNvPr id="26" name="TextBox 26"/>
            <p:cNvSpPr txBox="1"/>
            <p:nvPr/>
          </p:nvSpPr>
          <p:spPr>
            <a:xfrm>
              <a:off x="528447" y="2724150"/>
              <a:ext cx="579174" cy="191643"/>
            </a:xfrm>
            <a:prstGeom prst="rect">
              <a:avLst/>
            </a:prstGeom>
            <a:noFill/>
            <a:ln>
              <a:noFill/>
            </a:ln>
          </p:spPr>
          <p:txBody>
            <a:bodyPr wrap="none" lIns="0" tIns="0" rIns="0" bIns="0" anchor="t" anchorCtr="0">
              <a:spAutoFit/>
            </a:bodyPr>
            <a:lstStyle/>
            <a:p>
              <a:pPr algn="l"/>
              <a:r>
                <a:rPr lang="ko-KR" sz="980" b="1" dirty="0">
                  <a:solidFill>
                    <a:srgbClr val="4B5563"/>
                  </a:solidFill>
                  <a:latin typeface="+mn-lt"/>
                  <a:ea typeface="+mn-ea"/>
                  <a:cs typeface="+mn-cs"/>
                </a:rPr>
                <a:t>판정 방식</a:t>
              </a:r>
            </a:p>
          </p:txBody>
        </p:sp>
        <p:sp>
          <p:nvSpPr>
            <p:cNvPr id="27" name="TextBox 27"/>
            <p:cNvSpPr txBox="1"/>
            <p:nvPr/>
          </p:nvSpPr>
          <p:spPr>
            <a:xfrm>
              <a:off x="526923" y="2933700"/>
              <a:ext cx="1494851" cy="250317"/>
            </a:xfrm>
            <a:prstGeom prst="rect">
              <a:avLst/>
            </a:prstGeom>
            <a:noFill/>
            <a:ln>
              <a:noFill/>
            </a:ln>
          </p:spPr>
          <p:txBody>
            <a:bodyPr wrap="none" lIns="0" tIns="0" rIns="0" bIns="0" anchor="t" anchorCtr="0">
              <a:spAutoFit/>
            </a:bodyPr>
            <a:lstStyle/>
            <a:p>
              <a:pPr algn="l"/>
              <a:r>
                <a:rPr lang="ko-KR" sz="1280" dirty="0">
                  <a:solidFill>
                    <a:srgbClr val="374151"/>
                  </a:solidFill>
                  <a:latin typeface="+mn-lt"/>
                  <a:ea typeface="+mn-ea"/>
                  <a:cs typeface="+mn-cs"/>
                </a:rPr>
                <a:t>회차마다 따로 판독</a:t>
              </a:r>
            </a:p>
          </p:txBody>
        </p:sp>
        <p:sp>
          <p:nvSpPr>
            <p:cNvPr id="28" name="TextBox 28"/>
            <p:cNvSpPr txBox="1"/>
            <p:nvPr/>
          </p:nvSpPr>
          <p:spPr>
            <a:xfrm>
              <a:off x="3136773" y="2933700"/>
              <a:ext cx="2125519"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지난 회차와 맞춰 뺀 차이만</a:t>
              </a:r>
            </a:p>
          </p:txBody>
        </p:sp>
        <p:sp>
          <p:nvSpPr>
            <p:cNvPr id="29" name="Line 29"/>
            <p:cNvSpPr/>
            <p:nvPr/>
          </p:nvSpPr>
          <p:spPr>
            <a:xfrm>
              <a:off x="533400" y="3257550"/>
              <a:ext cx="5334000" cy="9525"/>
            </a:xfrm>
            <a:custGeom>
              <a:avLst/>
              <a:gdLst/>
              <a:ahLst/>
              <a:cxnLst/>
              <a:rect l="l" t="t" r="r" b="b"/>
              <a:pathLst>
                <a:path w="5334000" h="9525">
                  <a:moveTo>
                    <a:pt x="0" y="0"/>
                  </a:moveTo>
                  <a:lnTo>
                    <a:pt x="5334000" y="0"/>
                  </a:lnTo>
                </a:path>
              </a:pathLst>
            </a:custGeom>
            <a:noFill/>
            <a:ln w="9525">
              <a:solidFill>
                <a:srgbClr val="E2E6EC"/>
              </a:solidFill>
            </a:ln>
          </p:spPr>
        </p:sp>
        <p:sp>
          <p:nvSpPr>
            <p:cNvPr id="30" name="TextBox 30"/>
            <p:cNvSpPr txBox="1"/>
            <p:nvPr/>
          </p:nvSpPr>
          <p:spPr>
            <a:xfrm>
              <a:off x="528447" y="3511550"/>
              <a:ext cx="273761" cy="191643"/>
            </a:xfrm>
            <a:prstGeom prst="rect">
              <a:avLst/>
            </a:prstGeom>
            <a:noFill/>
            <a:ln>
              <a:noFill/>
            </a:ln>
          </p:spPr>
          <p:txBody>
            <a:bodyPr wrap="none" lIns="0" tIns="0" rIns="0" bIns="0" anchor="t" anchorCtr="0">
              <a:spAutoFit/>
            </a:bodyPr>
            <a:lstStyle/>
            <a:p>
              <a:pPr algn="l"/>
              <a:r>
                <a:rPr lang="ko-KR" sz="980" b="1" dirty="0">
                  <a:solidFill>
                    <a:srgbClr val="4B5563"/>
                  </a:solidFill>
                  <a:latin typeface="+mn-lt"/>
                  <a:ea typeface="+mn-ea"/>
                  <a:cs typeface="+mn-cs"/>
                </a:rPr>
                <a:t>주기</a:t>
              </a:r>
            </a:p>
          </p:txBody>
        </p:sp>
        <p:sp>
          <p:nvSpPr>
            <p:cNvPr id="31" name="TextBox 31"/>
            <p:cNvSpPr txBox="1"/>
            <p:nvPr/>
          </p:nvSpPr>
          <p:spPr>
            <a:xfrm>
              <a:off x="526923" y="3733800"/>
              <a:ext cx="2330572" cy="250317"/>
            </a:xfrm>
            <a:prstGeom prst="rect">
              <a:avLst/>
            </a:prstGeom>
            <a:noFill/>
            <a:ln>
              <a:noFill/>
            </a:ln>
          </p:spPr>
          <p:txBody>
            <a:bodyPr wrap="none" lIns="0" tIns="0" rIns="0" bIns="0" anchor="t" anchorCtr="0">
              <a:spAutoFit/>
            </a:bodyPr>
            <a:lstStyle/>
            <a:p>
              <a:pPr algn="l"/>
              <a:r>
                <a:rPr lang="ko-KR" sz="1280" dirty="0">
                  <a:solidFill>
                    <a:srgbClr val="374151"/>
                  </a:solidFill>
                  <a:latin typeface="+mn-lt"/>
                  <a:ea typeface="+mn-ea"/>
                  <a:cs typeface="+mn-cs"/>
                </a:rPr>
                <a:t>연구 노선 3개월 · 시 5년 계획</a:t>
              </a:r>
            </a:p>
          </p:txBody>
        </p:sp>
        <p:sp>
          <p:nvSpPr>
            <p:cNvPr id="32" name="TextBox 32"/>
            <p:cNvSpPr txBox="1"/>
            <p:nvPr/>
          </p:nvSpPr>
          <p:spPr>
            <a:xfrm>
              <a:off x="3136773" y="3733800"/>
              <a:ext cx="2079425"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업무 노선 약 2개월 [가설]</a:t>
              </a:r>
            </a:p>
          </p:txBody>
        </p:sp>
        <p:sp>
          <p:nvSpPr>
            <p:cNvPr id="33" name="Line 33"/>
            <p:cNvSpPr/>
            <p:nvPr/>
          </p:nvSpPr>
          <p:spPr>
            <a:xfrm>
              <a:off x="533400" y="4057650"/>
              <a:ext cx="5334000" cy="9525"/>
            </a:xfrm>
            <a:custGeom>
              <a:avLst/>
              <a:gdLst/>
              <a:ahLst/>
              <a:cxnLst/>
              <a:rect l="l" t="t" r="r" b="b"/>
              <a:pathLst>
                <a:path w="5334000" h="9525">
                  <a:moveTo>
                    <a:pt x="0" y="0"/>
                  </a:moveTo>
                  <a:lnTo>
                    <a:pt x="5334000" y="0"/>
                  </a:lnTo>
                </a:path>
              </a:pathLst>
            </a:custGeom>
            <a:noFill/>
            <a:ln w="9525">
              <a:solidFill>
                <a:srgbClr val="E2E6EC"/>
              </a:solidFill>
            </a:ln>
          </p:spPr>
        </p:sp>
        <p:sp>
          <p:nvSpPr>
            <p:cNvPr id="34" name="TextBox 34"/>
            <p:cNvSpPr txBox="1"/>
            <p:nvPr/>
          </p:nvSpPr>
          <p:spPr>
            <a:xfrm>
              <a:off x="528447" y="4324350"/>
              <a:ext cx="579174" cy="191643"/>
            </a:xfrm>
            <a:prstGeom prst="rect">
              <a:avLst/>
            </a:prstGeom>
            <a:noFill/>
            <a:ln>
              <a:noFill/>
            </a:ln>
          </p:spPr>
          <p:txBody>
            <a:bodyPr wrap="none" lIns="0" tIns="0" rIns="0" bIns="0" anchor="t" anchorCtr="0">
              <a:spAutoFit/>
            </a:bodyPr>
            <a:lstStyle/>
            <a:p>
              <a:pPr algn="l"/>
              <a:r>
                <a:rPr lang="ko-KR" sz="980" b="1" dirty="0">
                  <a:solidFill>
                    <a:srgbClr val="4B5563"/>
                  </a:solidFill>
                  <a:latin typeface="+mn-lt"/>
                  <a:ea typeface="+mn-ea"/>
                  <a:cs typeface="+mn-cs"/>
                </a:rPr>
                <a:t>현장 확인</a:t>
              </a:r>
            </a:p>
          </p:txBody>
        </p:sp>
        <p:sp>
          <p:nvSpPr>
            <p:cNvPr id="35" name="TextBox 35"/>
            <p:cNvSpPr txBox="1"/>
            <p:nvPr/>
          </p:nvSpPr>
          <p:spPr>
            <a:xfrm>
              <a:off x="526923" y="4533900"/>
              <a:ext cx="1494851" cy="250317"/>
            </a:xfrm>
            <a:prstGeom prst="rect">
              <a:avLst/>
            </a:prstGeom>
            <a:noFill/>
            <a:ln>
              <a:noFill/>
            </a:ln>
          </p:spPr>
          <p:txBody>
            <a:bodyPr wrap="none" lIns="0" tIns="0" rIns="0" bIns="0" anchor="t" anchorCtr="0">
              <a:spAutoFit/>
            </a:bodyPr>
            <a:lstStyle/>
            <a:p>
              <a:pPr algn="l"/>
              <a:r>
                <a:rPr lang="ko-KR" sz="1280" dirty="0">
                  <a:solidFill>
                    <a:srgbClr val="374151"/>
                  </a:solidFill>
                  <a:latin typeface="+mn-lt"/>
                  <a:ea typeface="+mn-ea"/>
                  <a:cs typeface="+mn-cs"/>
                </a:rPr>
                <a:t>별도 정밀조사 발주</a:t>
              </a:r>
            </a:p>
          </p:txBody>
        </p:sp>
        <p:sp>
          <p:nvSpPr>
            <p:cNvPr id="36" name="TextBox 36"/>
            <p:cNvSpPr txBox="1"/>
            <p:nvPr/>
          </p:nvSpPr>
          <p:spPr>
            <a:xfrm>
              <a:off x="3136773" y="4533900"/>
              <a:ext cx="1898926"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같은 차에서 바로 재탐사</a:t>
              </a:r>
            </a:p>
          </p:txBody>
        </p:sp>
        <p:sp>
          <p:nvSpPr>
            <p:cNvPr id="37" name="Line 37"/>
            <p:cNvSpPr/>
            <p:nvPr/>
          </p:nvSpPr>
          <p:spPr>
            <a:xfrm>
              <a:off x="533400" y="4857750"/>
              <a:ext cx="5334000" cy="9525"/>
            </a:xfrm>
            <a:custGeom>
              <a:avLst/>
              <a:gdLst/>
              <a:ahLst/>
              <a:cxnLst/>
              <a:rect l="l" t="t" r="r" b="b"/>
              <a:pathLst>
                <a:path w="5334000" h="9525">
                  <a:moveTo>
                    <a:pt x="0" y="0"/>
                  </a:moveTo>
                  <a:lnTo>
                    <a:pt x="5334000" y="0"/>
                  </a:lnTo>
                </a:path>
              </a:pathLst>
            </a:custGeom>
            <a:noFill/>
            <a:ln w="9525">
              <a:solidFill>
                <a:srgbClr val="E2E6EC"/>
              </a:solidFill>
            </a:ln>
          </p:spPr>
        </p:sp>
      </p:grpSp>
      <p:grpSp>
        <p:nvGrpSpPr>
          <p:cNvPr id="53" name="evidence"/>
          <p:cNvGrpSpPr/>
          <p:nvPr/>
        </p:nvGrpSpPr>
        <p:grpSpPr>
          <a:xfrm>
            <a:off x="6235446" y="1631950"/>
            <a:ext cx="5423154" cy="3685667"/>
            <a:chOff x="6235446" y="1631950"/>
            <a:chExt cx="5423154" cy="3685667"/>
          </a:xfrm>
        </p:grpSpPr>
        <p:sp>
          <p:nvSpPr>
            <p:cNvPr id="39" name="TextBox 39"/>
            <p:cNvSpPr txBox="1"/>
            <p:nvPr/>
          </p:nvSpPr>
          <p:spPr>
            <a:xfrm>
              <a:off x="6242685" y="1631950"/>
              <a:ext cx="2957448"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검증 · GPR 전자기 시뮬레이션 (실측 아님)</a:t>
              </a:r>
            </a:p>
          </p:txBody>
        </p:sp>
        <p:pic>
          <p:nvPicPr>
            <p:cNvPr id="40" name="Image 40"/>
            <p:cNvPicPr>
              <a:picLocks noChangeAspect="1"/>
            </p:cNvPicPr>
            <p:nvPr/>
          </p:nvPicPr>
          <p:blipFill>
            <a:blip r:embed="rId2"/>
            <a:srcRect l="17381" t="0" r="17381" b="0"/>
            <a:stretch>
              <a:fillRect/>
            </a:stretch>
          </p:blipFill>
          <p:spPr>
            <a:xfrm>
              <a:off x="6248400" y="1905000"/>
              <a:ext cx="2609850" cy="1866900"/>
            </a:xfrm>
            <a:prstGeom prst="rect">
              <a:avLst/>
            </a:prstGeom>
          </p:spPr>
        </p:pic>
        <p:pic>
          <p:nvPicPr>
            <p:cNvPr id="41" name="Image 41"/>
            <p:cNvPicPr>
              <a:picLocks noChangeAspect="1"/>
            </p:cNvPicPr>
            <p:nvPr/>
          </p:nvPicPr>
          <p:blipFill>
            <a:blip r:embed="rId3"/>
            <a:srcRect l="17381" t="0" r="17381" b="0"/>
            <a:stretch>
              <a:fillRect/>
            </a:stretch>
          </p:blipFill>
          <p:spPr>
            <a:xfrm>
              <a:off x="9048750" y="1905000"/>
              <a:ext cx="2609850" cy="1866900"/>
            </a:xfrm>
            <a:prstGeom prst="rect">
              <a:avLst/>
            </a:prstGeom>
          </p:spPr>
        </p:pic>
        <p:sp>
          <p:nvSpPr>
            <p:cNvPr id="42" name="Rectangle 42"/>
            <p:cNvSpPr/>
            <p:nvPr/>
          </p:nvSpPr>
          <p:spPr>
            <a:xfrm>
              <a:off x="6305550" y="1962150"/>
              <a:ext cx="1257300" cy="228600"/>
            </a:xfrm>
            <a:prstGeom prst="roundRect">
              <a:avLst>
                <a:gd name="adj" fmla="val 12500"/>
              </a:avLst>
            </a:prstGeom>
            <a:solidFill>
              <a:srgbClr val="0B1E3C">
                <a:alpha val="90000"/>
              </a:srgbClr>
            </a:solidFill>
            <a:ln>
              <a:noFill/>
            </a:ln>
          </p:spPr>
        </p:sp>
        <p:sp>
          <p:nvSpPr>
            <p:cNvPr id="43" name="TextBox 43"/>
            <p:cNvSpPr txBox="1"/>
            <p:nvPr/>
          </p:nvSpPr>
          <p:spPr>
            <a:xfrm>
              <a:off x="6425943" y="2009775"/>
              <a:ext cx="1016514" cy="191643"/>
            </a:xfrm>
            <a:prstGeom prst="rect">
              <a:avLst/>
            </a:prstGeom>
            <a:noFill/>
            <a:ln>
              <a:noFill/>
            </a:ln>
          </p:spPr>
          <p:txBody>
            <a:bodyPr wrap="none" lIns="0" tIns="0" rIns="0" bIns="0" anchor="t" anchorCtr="0">
              <a:spAutoFit/>
            </a:bodyPr>
            <a:lstStyle/>
            <a:p>
              <a:pPr algn="ctr"/>
              <a:r>
                <a:rPr lang="ko-KR" sz="980" b="1" dirty="0">
                  <a:solidFill>
                    <a:srgbClr val="FFFFFF"/>
                  </a:solidFill>
                  <a:latin typeface="+mn-lt"/>
                  <a:ea typeface="+mn-ea"/>
                  <a:cs typeface="+mn-cs"/>
                </a:rPr>
                <a:t>공동이 자란 회차</a:t>
              </a:r>
            </a:p>
          </p:txBody>
        </p:sp>
        <p:sp>
          <p:nvSpPr>
            <p:cNvPr id="44" name="Rectangle 44"/>
            <p:cNvSpPr/>
            <p:nvPr/>
          </p:nvSpPr>
          <p:spPr>
            <a:xfrm>
              <a:off x="9105900" y="1962150"/>
              <a:ext cx="1466850" cy="228600"/>
            </a:xfrm>
            <a:prstGeom prst="roundRect">
              <a:avLst>
                <a:gd name="adj" fmla="val 12500"/>
              </a:avLst>
            </a:prstGeom>
            <a:solidFill>
              <a:srgbClr val="0B1E3C">
                <a:alpha val="90000"/>
              </a:srgbClr>
            </a:solidFill>
            <a:ln>
              <a:noFill/>
            </a:ln>
          </p:spPr>
        </p:sp>
        <p:sp>
          <p:nvSpPr>
            <p:cNvPr id="45" name="TextBox 45"/>
            <p:cNvSpPr txBox="1"/>
            <p:nvPr/>
          </p:nvSpPr>
          <p:spPr>
            <a:xfrm>
              <a:off x="9122952" y="2009775"/>
              <a:ext cx="1432745" cy="191643"/>
            </a:xfrm>
            <a:prstGeom prst="rect">
              <a:avLst/>
            </a:prstGeom>
            <a:noFill/>
            <a:ln>
              <a:noFill/>
            </a:ln>
          </p:spPr>
          <p:txBody>
            <a:bodyPr wrap="none" lIns="0" tIns="0" rIns="0" bIns="0" anchor="t" anchorCtr="0">
              <a:spAutoFit/>
            </a:bodyPr>
            <a:lstStyle/>
            <a:p>
              <a:pPr algn="ctr"/>
              <a:r>
                <a:rPr lang="ko-KR" sz="980" b="1" dirty="0">
                  <a:solidFill>
                    <a:srgbClr val="FFFFFF"/>
                  </a:solidFill>
                  <a:latin typeface="+mn-lt"/>
                  <a:ea typeface="+mn-ea"/>
                  <a:cs typeface="+mn-cs"/>
                </a:rPr>
                <a:t>변화 없는 회차(대조군)</a:t>
              </a:r>
            </a:p>
          </p:txBody>
        </p:sp>
        <p:sp>
          <p:nvSpPr>
            <p:cNvPr id="46" name="TextBox 46"/>
            <p:cNvSpPr txBox="1"/>
            <p:nvPr/>
          </p:nvSpPr>
          <p:spPr>
            <a:xfrm>
              <a:off x="6235446" y="3943350"/>
              <a:ext cx="1017132" cy="498729"/>
            </a:xfrm>
            <a:prstGeom prst="rect">
              <a:avLst/>
            </a:prstGeom>
            <a:noFill/>
            <a:ln>
              <a:noFill/>
            </a:ln>
          </p:spPr>
          <p:txBody>
            <a:bodyPr wrap="none" lIns="0" tIns="0" rIns="0" bIns="0" anchor="t" anchorCtr="0">
              <a:spAutoFit/>
            </a:bodyPr>
            <a:lstStyle/>
            <a:p>
              <a:pPr algn="l"/>
              <a:r>
                <a:rPr lang="ko-KR" sz="2550" b="1" dirty="0">
                  <a:solidFill>
                    <a:srgbClr val="0B1E3C"/>
                  </a:solidFill>
                  <a:latin typeface="+mn-lt"/>
                  <a:ea typeface="+mn-ea"/>
                  <a:cs typeface="+mn-cs"/>
                </a:rPr>
                <a:t>2,831</a:t>
              </a:r>
            </a:p>
          </p:txBody>
        </p:sp>
        <p:sp>
          <p:nvSpPr>
            <p:cNvPr id="47" name="TextBox 47"/>
            <p:cNvSpPr txBox="1"/>
            <p:nvPr/>
          </p:nvSpPr>
          <p:spPr>
            <a:xfrm>
              <a:off x="6242685" y="4337050"/>
              <a:ext cx="1157315"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변화로 표시된 셀</a:t>
              </a:r>
            </a:p>
          </p:txBody>
        </p:sp>
        <p:sp>
          <p:nvSpPr>
            <p:cNvPr id="48" name="TextBox 48"/>
            <p:cNvSpPr txBox="1"/>
            <p:nvPr/>
          </p:nvSpPr>
          <p:spPr>
            <a:xfrm>
              <a:off x="9035796" y="3943350"/>
              <a:ext cx="422398" cy="498729"/>
            </a:xfrm>
            <a:prstGeom prst="rect">
              <a:avLst/>
            </a:prstGeom>
            <a:noFill/>
            <a:ln>
              <a:noFill/>
            </a:ln>
          </p:spPr>
          <p:txBody>
            <a:bodyPr wrap="none" lIns="0" tIns="0" rIns="0" bIns="0" anchor="t" anchorCtr="0">
              <a:spAutoFit/>
            </a:bodyPr>
            <a:lstStyle/>
            <a:p>
              <a:pPr algn="l"/>
              <a:r>
                <a:rPr lang="ko-KR" sz="2550" b="1" dirty="0">
                  <a:solidFill>
                    <a:srgbClr val="4B5563"/>
                  </a:solidFill>
                  <a:latin typeface="+mn-lt"/>
                  <a:ea typeface="+mn-ea"/>
                  <a:cs typeface="+mn-cs"/>
                </a:rPr>
                <a:t>25</a:t>
              </a:r>
            </a:p>
          </p:txBody>
        </p:sp>
        <p:sp>
          <p:nvSpPr>
            <p:cNvPr id="49" name="TextBox 49"/>
            <p:cNvSpPr txBox="1"/>
            <p:nvPr/>
          </p:nvSpPr>
          <p:spPr>
            <a:xfrm>
              <a:off x="9043035" y="4337050"/>
              <a:ext cx="2175043"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같은 기준의 오탐 셀 (약 1/113)</a:t>
              </a:r>
            </a:p>
          </p:txBody>
        </p:sp>
        <p:sp>
          <p:nvSpPr>
            <p:cNvPr id="50" name="Line 50"/>
            <p:cNvSpPr/>
            <p:nvPr/>
          </p:nvSpPr>
          <p:spPr>
            <a:xfrm>
              <a:off x="6248400" y="4667250"/>
              <a:ext cx="5410200" cy="9525"/>
            </a:xfrm>
            <a:custGeom>
              <a:avLst/>
              <a:gdLst/>
              <a:ahLst/>
              <a:cxnLst/>
              <a:rect l="l" t="t" r="r" b="b"/>
              <a:pathLst>
                <a:path w="5410200" h="9525">
                  <a:moveTo>
                    <a:pt x="0" y="0"/>
                  </a:moveTo>
                  <a:lnTo>
                    <a:pt x="5410200" y="0"/>
                  </a:lnTo>
                </a:path>
              </a:pathLst>
            </a:custGeom>
            <a:noFill/>
            <a:ln w="9525">
              <a:solidFill>
                <a:srgbClr val="E2E6EC"/>
              </a:solidFill>
            </a:ln>
          </p:spPr>
        </p:sp>
        <p:sp>
          <p:nvSpPr>
            <p:cNvPr id="51" name="TextBox 51"/>
            <p:cNvSpPr txBox="1"/>
            <p:nvPr/>
          </p:nvSpPr>
          <p:spPr>
            <a:xfrm>
              <a:off x="6241923" y="4800600"/>
              <a:ext cx="3389008"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 xml:space="preserve">위치 오차 </a:t>
              </a:r>
              <a:r>
                <a:rPr lang="en-US" sz="1280" b="1" dirty="0">
                  <a:solidFill>
                    <a:srgbClr val="0B1E3C"/>
                  </a:solidFill>
                  <a:latin typeface="+mn-lt"/>
                  <a:ea typeface="+mn-ea"/>
                  <a:cs typeface="+mn-cs"/>
                </a:rPr>
                <a:t>3cm</a:t>
              </a:r>
              <a:r>
                <a:rPr lang="ko-KR" sz="1280" dirty="0">
                  <a:solidFill>
                    <a:srgbClr val="111827"/>
                  </a:solidFill>
                  <a:latin typeface="+mn-lt"/>
                  <a:ea typeface="+mn-ea"/>
                  <a:cs typeface="+mn-cs"/>
                </a:rPr>
                <a:t xml:space="preserve"> (추정 3.97m · 실제 4.00m)</a:t>
              </a:r>
            </a:p>
          </p:txBody>
        </p:sp>
        <p:sp>
          <p:nvSpPr>
            <p:cNvPr id="52" name="TextBox 52"/>
            <p:cNvSpPr txBox="1"/>
            <p:nvPr/>
          </p:nvSpPr>
          <p:spPr>
            <a:xfrm>
              <a:off x="6241923" y="5067300"/>
              <a:ext cx="4823950"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 xml:space="preserve">깊이 오차 </a:t>
              </a:r>
              <a:r>
                <a:rPr lang="en-US" sz="1280" b="1" dirty="0">
                  <a:solidFill>
                    <a:srgbClr val="C62828"/>
                  </a:solidFill>
                  <a:latin typeface="+mn-lt"/>
                  <a:ea typeface="+mn-ea"/>
                  <a:cs typeface="+mn-cs"/>
                </a:rPr>
                <a:t>17cm</a:t>
              </a:r>
              <a:r>
                <a:rPr lang="ko-KR" sz="1280" dirty="0">
                  <a:solidFill>
                    <a:srgbClr val="111827"/>
                  </a:solidFill>
                  <a:latin typeface="+mn-lt"/>
                  <a:ea typeface="+mn-ea"/>
                  <a:cs typeface="+mn-cs"/>
                </a:rPr>
                <a:t xml:space="preserve"> (추정 1.05m · 실제 0.88m) → 실측 보정 과제</a:t>
              </a:r>
            </a:p>
          </p:txBody>
        </p:sp>
      </p:grpSp>
      <p:grpSp>
        <p:nvGrpSpPr>
          <p:cNvPr id="56" name="conclusion"/>
          <p:cNvGrpSpPr/>
          <p:nvPr/>
        </p:nvGrpSpPr>
        <p:grpSpPr>
          <a:xfrm>
            <a:off x="533400" y="5676900"/>
            <a:ext cx="7428160" cy="419100"/>
            <a:chOff x="533400" y="5676900"/>
            <a:chExt cx="7428160" cy="419100"/>
          </a:xfrm>
        </p:grpSpPr>
        <p:sp>
          <p:nvSpPr>
            <p:cNvPr id="54" name="Rectangle 54"/>
            <p:cNvSpPr/>
            <p:nvPr/>
          </p:nvSpPr>
          <p:spPr>
            <a:xfrm>
              <a:off x="533400" y="5676900"/>
              <a:ext cx="38100" cy="419100"/>
            </a:xfrm>
            <a:prstGeom prst="rect">
              <a:avLst/>
            </a:prstGeom>
            <a:solidFill>
              <a:srgbClr val="F5B700"/>
            </a:solidFill>
            <a:ln>
              <a:noFill/>
            </a:ln>
          </p:spPr>
        </p:sp>
        <p:sp>
          <p:nvSpPr>
            <p:cNvPr id="55" name="TextBox 55"/>
            <p:cNvSpPr txBox="1"/>
            <p:nvPr/>
          </p:nvSpPr>
          <p:spPr>
            <a:xfrm>
              <a:off x="715899" y="5772150"/>
              <a:ext cx="7245661" cy="308991"/>
            </a:xfrm>
            <a:prstGeom prst="rect">
              <a:avLst/>
            </a:prstGeom>
            <a:noFill/>
            <a:ln>
              <a:noFill/>
            </a:ln>
          </p:spPr>
          <p:txBody>
            <a:bodyPr wrap="none" lIns="0" tIns="0" rIns="0" bIns="0" anchor="t" anchorCtr="0">
              <a:spAutoFit/>
            </a:bodyPr>
            <a:lstStyle/>
            <a:p>
              <a:pPr algn="l"/>
              <a:r>
                <a:rPr lang="ko-KR" sz="1580" b="1" dirty="0">
                  <a:solidFill>
                    <a:srgbClr val="0B1E3C"/>
                  </a:solidFill>
                  <a:latin typeface="+mn-lt"/>
                  <a:ea typeface="+mn-ea"/>
                  <a:cs typeface="+mn-cs"/>
                </a:rPr>
                <a:t>연구로 효과가 확인된 반복 모니터링을, 도로 전체의 상시 업무로 만듭니다.</a:t>
              </a:r>
            </a:p>
          </p:txBody>
        </p:sp>
      </p:grpSp>
      <p:grpSp>
        <p:nvGrpSpPr>
          <p:cNvPr id="58" name="source"/>
          <p:cNvGrpSpPr/>
          <p:nvPr/>
        </p:nvGrpSpPr>
        <p:grpSpPr>
          <a:xfrm>
            <a:off x="528638" y="6381750"/>
            <a:ext cx="10144949" cy="176212"/>
            <a:chOff x="528638" y="6381750"/>
            <a:chExt cx="10144949" cy="176212"/>
          </a:xfrm>
        </p:grpSpPr>
        <p:sp>
          <p:nvSpPr>
            <p:cNvPr id="57" name="TextBox 57"/>
            <p:cNvSpPr txBox="1"/>
            <p:nvPr/>
          </p:nvSpPr>
          <p:spPr>
            <a:xfrm>
              <a:off x="528638" y="6381750"/>
              <a:ext cx="10144949"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시뮬레이션: 2D FDTD · 400MHz · 토양 εr 9 · Ø0.8m 하수관 위 공동 반경 18→38cm · 함수비·잡음 변화 포함 · 출처: 후지사와시·지오서치 모니터링 보고(2025) · 일본 국토교통성 30-5</a:t>
              </a:r>
            </a:p>
          </p:txBody>
        </p:sp>
      </p:grpSp>
      <p:grpSp>
        <p:nvGrpSpPr>
          <p:cNvPr id="61" name="footer"/>
          <p:cNvGrpSpPr/>
          <p:nvPr/>
        </p:nvGrpSpPr>
        <p:grpSpPr>
          <a:xfrm>
            <a:off x="528638" y="6610350"/>
            <a:ext cx="11134724" cy="176212"/>
            <a:chOff x="528638" y="6610350"/>
            <a:chExt cx="11134724" cy="176212"/>
          </a:xfrm>
        </p:grpSpPr>
        <p:sp>
          <p:nvSpPr>
            <p:cNvPr id="59" name="TextBox 59"/>
            <p:cNvSpPr txBox="1"/>
            <p:nvPr/>
          </p:nvSpPr>
          <p:spPr>
            <a:xfrm>
              <a:off x="528638" y="6610350"/>
              <a:ext cx="1487653"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한 명이라도 살릴 수 있다면</a:t>
              </a:r>
            </a:p>
          </p:txBody>
        </p:sp>
        <p:sp>
          <p:nvSpPr>
            <p:cNvPr id="60" name="TextBox 60"/>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07 / 15</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759828"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현장 재확인</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문제</a:t>
              </a:r>
            </a:p>
          </p:txBody>
        </p:sp>
        <p:sp>
          <p:nvSpPr>
            <p:cNvPr id="6" name="TextBox 6"/>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7" name="TextBox 7"/>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b="1" dirty="0">
                  <a:solidFill>
                    <a:srgbClr val="0B1E3C"/>
                  </a:solidFill>
                  <a:latin typeface="+mn-lt"/>
                  <a:ea typeface="+mn-ea"/>
                  <a:cs typeface="+mn-cs"/>
                </a:rPr>
                <a:t>해법</a:t>
              </a:r>
            </a:p>
          </p:txBody>
        </p:sp>
        <p:sp>
          <p:nvSpPr>
            <p:cNvPr id="8" name="Rectangle 8"/>
            <p:cNvSpPr/>
            <p:nvPr/>
          </p:nvSpPr>
          <p:spPr>
            <a:xfrm>
              <a:off x="8972550" y="514350"/>
              <a:ext cx="457200" cy="28575"/>
            </a:xfrm>
            <a:prstGeom prst="rect">
              <a:avLst/>
            </a:prstGeom>
            <a:solidFill>
              <a:srgbClr val="F5B700"/>
            </a:solidFill>
            <a:ln>
              <a:noFill/>
            </a:ln>
          </p:spPr>
        </p:sp>
        <p:sp>
          <p:nvSpPr>
            <p:cNvPr id="9" name="TextBox 9"/>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0" name="TextBox 10"/>
            <p:cNvSpPr txBox="1"/>
            <p:nvPr/>
          </p:nvSpPr>
          <p:spPr>
            <a:xfrm>
              <a:off x="9701251" y="301625"/>
              <a:ext cx="257099" cy="205359"/>
            </a:xfrm>
            <a:prstGeom prst="rect">
              <a:avLst/>
            </a:prstGeom>
            <a:noFill/>
            <a:ln>
              <a:noFill/>
            </a:ln>
          </p:spPr>
          <p:txBody>
            <a:bodyPr wrap="none" lIns="0" tIns="0" rIns="0" bIns="0" anchor="t" anchorCtr="0">
              <a:spAutoFit/>
            </a:bodyPr>
            <a:lstStyle/>
            <a:p>
              <a:pPr algn="ctr"/>
              <a:r>
                <a:rPr lang="en-US" sz="1050" dirty="0">
                  <a:solidFill>
                    <a:srgbClr val="9AA3AF"/>
                  </a:solidFill>
                  <a:latin typeface="+mn-lt"/>
                  <a:ea typeface="+mn-ea"/>
                  <a:cs typeface="+mn-cs"/>
                </a:rPr>
                <a:t>PV5</a:t>
              </a:r>
            </a:p>
          </p:txBody>
        </p:sp>
        <p:sp>
          <p:nvSpPr>
            <p:cNvPr id="11" name="TextBox 11"/>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2" name="TextBox 12"/>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3" name="TextBox 13"/>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4" name="TextBox 14"/>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사업</a:t>
              </a:r>
            </a:p>
          </p:txBody>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922" y="800100"/>
            <a:ext cx="9140484" cy="557403"/>
            <a:chOff x="518922" y="800100"/>
            <a:chExt cx="9140484" cy="557403"/>
          </a:xfrm>
        </p:grpSpPr>
        <p:sp>
          <p:nvSpPr>
            <p:cNvPr id="17" name="TextBox 17"/>
            <p:cNvSpPr txBox="1"/>
            <p:nvPr/>
          </p:nvSpPr>
          <p:spPr>
            <a:xfrm>
              <a:off x="518922" y="800100"/>
              <a:ext cx="9140484" cy="557403"/>
            </a:xfrm>
            <a:prstGeom prst="rect">
              <a:avLst/>
            </a:prstGeom>
            <a:noFill/>
            <a:ln>
              <a:noFill/>
            </a:ln>
          </p:spPr>
          <p:txBody>
            <a:bodyPr wrap="none" lIns="0" tIns="0" rIns="0" bIns="0" anchor="t" anchorCtr="0">
              <a:spAutoFit/>
            </a:bodyPr>
            <a:lstStyle/>
            <a:p>
              <a:pPr algn="l"/>
              <a:r>
                <a:rPr lang="ko-KR" sz="2850" b="1" spc="-75" dirty="0">
                  <a:solidFill>
                    <a:srgbClr val="0B1E3C"/>
                  </a:solidFill>
                  <a:latin typeface="+mn-lt"/>
                  <a:ea typeface="+mn-ea"/>
                  <a:cs typeface="+mn-cs"/>
                </a:rPr>
                <a:t>차가 찾은 지점을, 작업자가 현장에서 바로 확인합니다</a:t>
              </a:r>
            </a:p>
          </p:txBody>
        </p:sp>
      </p:grpSp>
      <p:grpSp>
        <p:nvGrpSpPr>
          <p:cNvPr id="40" name="system-chain"/>
          <p:cNvGrpSpPr/>
          <p:nvPr/>
        </p:nvGrpSpPr>
        <p:grpSpPr>
          <a:xfrm>
            <a:off x="533400" y="1428750"/>
            <a:ext cx="11125200" cy="552450"/>
            <a:chOff x="533400" y="1428750"/>
            <a:chExt cx="11125200" cy="552450"/>
          </a:xfrm>
        </p:grpSpPr>
        <p:grpSp>
          <p:nvGrpSpPr>
            <p:cNvPr id="34" name="Group 34"/>
            <p:cNvGrpSpPr/>
            <p:nvPr/>
          </p:nvGrpSpPr>
          <p:grpSpPr>
            <a:xfrm>
              <a:off x="533400" y="1428750"/>
              <a:ext cx="11125200" cy="552450"/>
              <a:chOff x="533400" y="1428750"/>
              <a:chExt cx="11125200" cy="552450"/>
            </a:xfrm>
          </p:grpSpPr>
          <p:sp>
            <p:nvSpPr>
              <p:cNvPr id="19" name="Rectangle 19"/>
              <p:cNvSpPr/>
              <p:nvPr/>
            </p:nvSpPr>
            <p:spPr>
              <a:xfrm>
                <a:off x="533400" y="1428750"/>
                <a:ext cx="1905000" cy="552450"/>
              </a:xfrm>
              <a:prstGeom prst="roundRect">
                <a:avLst>
                  <a:gd name="adj" fmla="val 13793"/>
                </a:avLst>
              </a:prstGeom>
              <a:solidFill>
                <a:srgbClr val="FFFFFF"/>
              </a:solidFill>
              <a:ln w="19050">
                <a:solidFill>
                  <a:srgbClr val="0B1E3C"/>
                </a:solidFill>
              </a:ln>
            </p:spPr>
          </p:sp>
          <p:sp>
            <p:nvSpPr>
              <p:cNvPr id="20" name="TextBox 20"/>
              <p:cNvSpPr txBox="1"/>
              <p:nvPr/>
            </p:nvSpPr>
            <p:spPr>
              <a:xfrm>
                <a:off x="704122" y="1504950"/>
                <a:ext cx="1563556" cy="234696"/>
              </a:xfrm>
              <a:prstGeom prst="rect">
                <a:avLst/>
              </a:prstGeom>
              <a:noFill/>
              <a:ln>
                <a:noFill/>
              </a:ln>
            </p:spPr>
            <p:txBody>
              <a:bodyPr wrap="none" lIns="0" tIns="0" rIns="0" bIns="0" anchor="t" anchorCtr="0">
                <a:spAutoFit/>
              </a:bodyPr>
              <a:lstStyle/>
              <a:p>
                <a:pPr algn="ctr"/>
                <a:r>
                  <a:rPr lang="en-US" sz="1200" b="1" dirty="0">
                    <a:solidFill>
                      <a:srgbClr val="0B1E3C"/>
                    </a:solidFill>
                    <a:latin typeface="+mn-lt"/>
                    <a:ea typeface="+mn-ea"/>
                    <a:cs typeface="+mn-cs"/>
                  </a:rPr>
                  <a:t>GroundWatch Cloud</a:t>
                </a:r>
              </a:p>
            </p:txBody>
          </p:sp>
          <p:sp>
            <p:nvSpPr>
              <p:cNvPr id="21" name="TextBox 21"/>
              <p:cNvSpPr txBox="1"/>
              <p:nvPr/>
            </p:nvSpPr>
            <p:spPr>
              <a:xfrm>
                <a:off x="698935" y="1739900"/>
                <a:ext cx="1573930" cy="205359"/>
              </a:xfrm>
              <a:prstGeom prst="rect">
                <a:avLst/>
              </a:prstGeom>
              <a:noFill/>
              <a:ln>
                <a:noFill/>
              </a:ln>
            </p:spPr>
            <p:txBody>
              <a:bodyPr wrap="none" lIns="0" tIns="0" rIns="0" bIns="0" anchor="t" anchorCtr="0">
                <a:spAutoFit/>
              </a:bodyPr>
              <a:lstStyle/>
              <a:p>
                <a:pPr algn="ctr"/>
                <a:r>
                  <a:rPr lang="ko-KR" sz="1050" dirty="0">
                    <a:solidFill>
                      <a:srgbClr val="374151"/>
                    </a:solidFill>
                    <a:latin typeface="+mn-lt"/>
                    <a:ea typeface="+mn-ea"/>
                    <a:cs typeface="+mn-cs"/>
                  </a:rPr>
                  <a:t>4D 지도 · AI 분석 · 경로</a:t>
                </a:r>
              </a:p>
            </p:txBody>
          </p:sp>
          <p:sp>
            <p:nvSpPr>
              <p:cNvPr id="22" name="Rectangle 22"/>
              <p:cNvSpPr/>
              <p:nvPr/>
            </p:nvSpPr>
            <p:spPr>
              <a:xfrm>
                <a:off x="2838450" y="1428750"/>
                <a:ext cx="1905000" cy="552450"/>
              </a:xfrm>
              <a:prstGeom prst="roundRect">
                <a:avLst>
                  <a:gd name="adj" fmla="val 13793"/>
                </a:avLst>
              </a:prstGeom>
              <a:solidFill>
                <a:srgbClr val="FFFFFF"/>
              </a:solidFill>
              <a:ln w="19050">
                <a:solidFill>
                  <a:srgbClr val="0B1E3C"/>
                </a:solidFill>
              </a:ln>
            </p:spPr>
          </p:sp>
          <p:sp>
            <p:nvSpPr>
              <p:cNvPr id="23" name="TextBox 23"/>
              <p:cNvSpPr txBox="1"/>
              <p:nvPr/>
            </p:nvSpPr>
            <p:spPr>
              <a:xfrm>
                <a:off x="3230299" y="1504950"/>
                <a:ext cx="1121302" cy="234696"/>
              </a:xfrm>
              <a:prstGeom prst="rect">
                <a:avLst/>
              </a:prstGeom>
              <a:noFill/>
              <a:ln>
                <a:noFill/>
              </a:ln>
            </p:spPr>
            <p:txBody>
              <a:bodyPr wrap="none" lIns="0" tIns="0" rIns="0" bIns="0" anchor="t" anchorCtr="0">
                <a:spAutoFit/>
              </a:bodyPr>
              <a:lstStyle/>
              <a:p>
                <a:pPr algn="ctr"/>
                <a:r>
                  <a:rPr lang="ko-KR" sz="1200" b="1" dirty="0">
                    <a:solidFill>
                      <a:srgbClr val="0B1E3C"/>
                    </a:solidFill>
                    <a:latin typeface="+mn-lt"/>
                    <a:ea typeface="+mn-ea"/>
                    <a:cs typeface="+mn-cs"/>
                  </a:rPr>
                  <a:t>Patrol 차량 앱</a:t>
                </a:r>
              </a:p>
            </p:txBody>
          </p:sp>
          <p:sp>
            <p:nvSpPr>
              <p:cNvPr id="24" name="TextBox 24"/>
              <p:cNvSpPr txBox="1"/>
              <p:nvPr/>
            </p:nvSpPr>
            <p:spPr>
              <a:xfrm>
                <a:off x="3301489" y="1739900"/>
                <a:ext cx="978922" cy="205359"/>
              </a:xfrm>
              <a:prstGeom prst="rect">
                <a:avLst/>
              </a:prstGeom>
              <a:noFill/>
              <a:ln>
                <a:noFill/>
              </a:ln>
            </p:spPr>
            <p:txBody>
              <a:bodyPr wrap="none" lIns="0" tIns="0" rIns="0" bIns="0" anchor="t" anchorCtr="0">
                <a:spAutoFit/>
              </a:bodyPr>
              <a:lstStyle/>
              <a:p>
                <a:pPr algn="ctr"/>
                <a:r>
                  <a:rPr lang="ko-KR" sz="1050" dirty="0">
                    <a:solidFill>
                      <a:srgbClr val="374151"/>
                    </a:solidFill>
                    <a:latin typeface="+mn-lt"/>
                    <a:ea typeface="+mn-ea"/>
                    <a:cs typeface="+mn-cs"/>
                  </a:rPr>
                  <a:t>업무·경로 관리</a:t>
                </a:r>
              </a:p>
            </p:txBody>
          </p:sp>
          <p:sp>
            <p:nvSpPr>
              <p:cNvPr id="25" name="Rectangle 25"/>
              <p:cNvSpPr/>
              <p:nvPr/>
            </p:nvSpPr>
            <p:spPr>
              <a:xfrm>
                <a:off x="5143500" y="1428750"/>
                <a:ext cx="1905000" cy="552450"/>
              </a:xfrm>
              <a:prstGeom prst="roundRect">
                <a:avLst>
                  <a:gd name="adj" fmla="val 13793"/>
                </a:avLst>
              </a:prstGeom>
              <a:solidFill>
                <a:srgbClr val="FFFFFF"/>
              </a:solidFill>
              <a:ln w="19050">
                <a:solidFill>
                  <a:srgbClr val="0B1E3C"/>
                </a:solidFill>
              </a:ln>
            </p:spPr>
          </p:sp>
          <p:sp>
            <p:nvSpPr>
              <p:cNvPr id="26" name="TextBox 26"/>
              <p:cNvSpPr txBox="1"/>
              <p:nvPr/>
            </p:nvSpPr>
            <p:spPr>
              <a:xfrm>
                <a:off x="5528677" y="1504950"/>
                <a:ext cx="1134645" cy="234696"/>
              </a:xfrm>
              <a:prstGeom prst="rect">
                <a:avLst/>
              </a:prstGeom>
              <a:noFill/>
              <a:ln>
                <a:noFill/>
              </a:ln>
            </p:spPr>
            <p:txBody>
              <a:bodyPr wrap="none" lIns="0" tIns="0" rIns="0" bIns="0" anchor="t" anchorCtr="0">
                <a:spAutoFit/>
              </a:bodyPr>
              <a:lstStyle/>
              <a:p>
                <a:pPr algn="ctr"/>
                <a:r>
                  <a:rPr lang="en-US" sz="1200" b="1" dirty="0">
                    <a:solidFill>
                      <a:srgbClr val="0B1E3C"/>
                    </a:solidFill>
                    <a:latin typeface="+mn-lt"/>
                    <a:ea typeface="+mn-ea"/>
                    <a:cs typeface="+mn-cs"/>
                  </a:rPr>
                  <a:t>Edge Gateway</a:t>
                </a:r>
              </a:p>
            </p:txBody>
          </p:sp>
          <p:sp>
            <p:nvSpPr>
              <p:cNvPr id="27" name="TextBox 27"/>
              <p:cNvSpPr txBox="1"/>
              <p:nvPr/>
            </p:nvSpPr>
            <p:spPr>
              <a:xfrm>
                <a:off x="5373310" y="1739900"/>
                <a:ext cx="1445381" cy="205359"/>
              </a:xfrm>
              <a:prstGeom prst="rect">
                <a:avLst/>
              </a:prstGeom>
              <a:noFill/>
              <a:ln>
                <a:noFill/>
              </a:ln>
            </p:spPr>
            <p:txBody>
              <a:bodyPr wrap="none" lIns="0" tIns="0" rIns="0" bIns="0" anchor="t" anchorCtr="0">
                <a:spAutoFit/>
              </a:bodyPr>
              <a:lstStyle/>
              <a:p>
                <a:pPr algn="ctr"/>
                <a:r>
                  <a:rPr lang="ko-KR" sz="1050" dirty="0">
                    <a:solidFill>
                      <a:srgbClr val="374151"/>
                    </a:solidFill>
                    <a:latin typeface="+mn-lt"/>
                    <a:ea typeface="+mn-ea"/>
                    <a:cs typeface="+mn-cs"/>
                  </a:rPr>
                  <a:t>센서 동기화·로컬 통신</a:t>
                </a:r>
              </a:p>
            </p:txBody>
          </p:sp>
          <p:sp>
            <p:nvSpPr>
              <p:cNvPr id="28" name="Rectangle 28"/>
              <p:cNvSpPr/>
              <p:nvPr/>
            </p:nvSpPr>
            <p:spPr>
              <a:xfrm>
                <a:off x="7448550" y="1428750"/>
                <a:ext cx="1905000" cy="552450"/>
              </a:xfrm>
              <a:prstGeom prst="roundRect">
                <a:avLst>
                  <a:gd name="adj" fmla="val 13793"/>
                </a:avLst>
              </a:prstGeom>
              <a:solidFill>
                <a:srgbClr val="FFFFFF"/>
              </a:solidFill>
              <a:ln w="19050">
                <a:solidFill>
                  <a:srgbClr val="0B1E3C"/>
                </a:solidFill>
              </a:ln>
            </p:spPr>
          </p:sp>
          <p:sp>
            <p:nvSpPr>
              <p:cNvPr id="29" name="TextBox 29"/>
              <p:cNvSpPr txBox="1"/>
              <p:nvPr/>
            </p:nvSpPr>
            <p:spPr>
              <a:xfrm>
                <a:off x="8027182" y="1504950"/>
                <a:ext cx="747735" cy="234696"/>
              </a:xfrm>
              <a:prstGeom prst="rect">
                <a:avLst/>
              </a:prstGeom>
              <a:noFill/>
              <a:ln>
                <a:noFill/>
              </a:ln>
            </p:spPr>
            <p:txBody>
              <a:bodyPr wrap="none" lIns="0" tIns="0" rIns="0" bIns="0" anchor="t" anchorCtr="0">
                <a:spAutoFit/>
              </a:bodyPr>
              <a:lstStyle/>
              <a:p>
                <a:pPr algn="ctr"/>
                <a:r>
                  <a:rPr lang="ko-KR" sz="1200" b="1" dirty="0">
                    <a:solidFill>
                      <a:srgbClr val="0B1E3C"/>
                    </a:solidFill>
                    <a:latin typeface="+mn-lt"/>
                    <a:ea typeface="+mn-ea"/>
                    <a:cs typeface="+mn-cs"/>
                  </a:rPr>
                  <a:t>AR 글래스</a:t>
                </a:r>
              </a:p>
            </p:txBody>
          </p:sp>
          <p:sp>
            <p:nvSpPr>
              <p:cNvPr id="30" name="TextBox 30"/>
              <p:cNvSpPr txBox="1"/>
              <p:nvPr/>
            </p:nvSpPr>
            <p:spPr>
              <a:xfrm>
                <a:off x="7749035" y="1739900"/>
                <a:ext cx="1304030" cy="205359"/>
              </a:xfrm>
              <a:prstGeom prst="rect">
                <a:avLst/>
              </a:prstGeom>
              <a:noFill/>
              <a:ln>
                <a:noFill/>
              </a:ln>
            </p:spPr>
            <p:txBody>
              <a:bodyPr wrap="none" lIns="0" tIns="0" rIns="0" bIns="0" anchor="t" anchorCtr="0">
                <a:spAutoFit/>
              </a:bodyPr>
              <a:lstStyle/>
              <a:p>
                <a:pPr algn="ctr"/>
                <a:r>
                  <a:rPr lang="ko-KR" sz="1050" dirty="0">
                    <a:solidFill>
                      <a:srgbClr val="374151"/>
                    </a:solidFill>
                    <a:latin typeface="+mn-lt"/>
                    <a:ea typeface="+mn-ea"/>
                    <a:cs typeface="+mn-cs"/>
                  </a:rPr>
                  <a:t>위치 정합·탐사 안내</a:t>
                </a:r>
              </a:p>
            </p:txBody>
          </p:sp>
          <p:sp>
            <p:nvSpPr>
              <p:cNvPr id="31" name="Rectangle 31"/>
              <p:cNvSpPr/>
              <p:nvPr/>
            </p:nvSpPr>
            <p:spPr>
              <a:xfrm>
                <a:off x="9753600" y="1428750"/>
                <a:ext cx="1905000" cy="552450"/>
              </a:xfrm>
              <a:prstGeom prst="roundRect">
                <a:avLst>
                  <a:gd name="adj" fmla="val 13793"/>
                </a:avLst>
              </a:prstGeom>
              <a:solidFill>
                <a:srgbClr val="FFFFFF"/>
              </a:solidFill>
              <a:ln w="19050">
                <a:solidFill>
                  <a:srgbClr val="0B1E3C"/>
                </a:solidFill>
              </a:ln>
            </p:spPr>
          </p:sp>
          <p:sp>
            <p:nvSpPr>
              <p:cNvPr id="32" name="TextBox 32"/>
              <p:cNvSpPr txBox="1"/>
              <p:nvPr/>
            </p:nvSpPr>
            <p:spPr>
              <a:xfrm>
                <a:off x="10363718" y="1504950"/>
                <a:ext cx="684764" cy="234696"/>
              </a:xfrm>
              <a:prstGeom prst="rect">
                <a:avLst/>
              </a:prstGeom>
              <a:noFill/>
              <a:ln>
                <a:noFill/>
              </a:ln>
            </p:spPr>
            <p:txBody>
              <a:bodyPr wrap="none" lIns="0" tIns="0" rIns="0" bIns="0" anchor="t" anchorCtr="0">
                <a:spAutoFit/>
              </a:bodyPr>
              <a:lstStyle/>
              <a:p>
                <a:pPr algn="ctr"/>
                <a:r>
                  <a:rPr lang="ko-KR" sz="1200" b="1" dirty="0">
                    <a:solidFill>
                      <a:srgbClr val="0B1E3C"/>
                    </a:solidFill>
                    <a:latin typeface="+mn-lt"/>
                    <a:ea typeface="+mn-ea"/>
                    <a:cs typeface="+mn-cs"/>
                  </a:rPr>
                  <a:t>수동 GPR</a:t>
                </a:r>
              </a:p>
            </p:txBody>
          </p:sp>
          <p:sp>
            <p:nvSpPr>
              <p:cNvPr id="33" name="TextBox 33"/>
              <p:cNvSpPr txBox="1"/>
              <p:nvPr/>
            </p:nvSpPr>
            <p:spPr>
              <a:xfrm>
                <a:off x="9842059" y="1739900"/>
                <a:ext cx="1728083" cy="205359"/>
              </a:xfrm>
              <a:prstGeom prst="rect">
                <a:avLst/>
              </a:prstGeom>
              <a:noFill/>
              <a:ln>
                <a:noFill/>
              </a:ln>
            </p:spPr>
            <p:txBody>
              <a:bodyPr wrap="none" lIns="0" tIns="0" rIns="0" bIns="0" anchor="t" anchorCtr="0">
                <a:spAutoFit/>
              </a:bodyPr>
              <a:lstStyle/>
              <a:p>
                <a:pPr algn="ctr"/>
                <a:r>
                  <a:rPr lang="ko-KR" sz="1050" dirty="0">
                    <a:solidFill>
                      <a:srgbClr val="374151"/>
                    </a:solidFill>
                    <a:latin typeface="+mn-lt"/>
                    <a:ea typeface="+mn-ea"/>
                    <a:cs typeface="+mn-cs"/>
                  </a:rPr>
                  <a:t>다른 주파수·방향 교차검증</a:t>
                </a:r>
              </a:p>
            </p:txBody>
          </p:sp>
        </p:grpSp>
        <p:grpSp>
          <p:nvGrpSpPr>
            <p:cNvPr id="39" name="Group 39"/>
            <p:cNvGrpSpPr/>
            <p:nvPr/>
          </p:nvGrpSpPr>
          <p:grpSpPr>
            <a:xfrm>
              <a:off x="2466975" y="1704975"/>
              <a:ext cx="7258050" cy="1"/>
              <a:chOff x="2466975" y="1704975"/>
              <a:chExt cx="7258050" cy="1"/>
            </a:xfrm>
          </p:grpSpPr>
          <p:sp>
            <p:nvSpPr>
              <p:cNvPr id="35" name="Line 35"/>
              <p:cNvSpPr/>
              <p:nvPr/>
            </p:nvSpPr>
            <p:spPr>
              <a:xfrm>
                <a:off x="2466975" y="1704975"/>
                <a:ext cx="342900" cy="1"/>
              </a:xfrm>
              <a:prstGeom prst="line">
                <a:avLst/>
              </a:prstGeom>
              <a:noFill/>
              <a:ln w="19050">
                <a:solidFill>
                  <a:srgbClr val="0B1E3C"/>
                </a:solidFill>
                <a:headEnd type="triangle" w="lg" len="lg"/>
                <a:tailEnd type="triangle" w="lg" len="lg"/>
              </a:ln>
            </p:spPr>
          </p:sp>
          <p:sp>
            <p:nvSpPr>
              <p:cNvPr id="36" name="Line 36"/>
              <p:cNvSpPr/>
              <p:nvPr/>
            </p:nvSpPr>
            <p:spPr>
              <a:xfrm>
                <a:off x="4772025" y="1704975"/>
                <a:ext cx="342900" cy="1"/>
              </a:xfrm>
              <a:prstGeom prst="line">
                <a:avLst/>
              </a:prstGeom>
              <a:noFill/>
              <a:ln w="19050">
                <a:solidFill>
                  <a:srgbClr val="0B1E3C"/>
                </a:solidFill>
                <a:headEnd type="triangle" w="lg" len="lg"/>
                <a:tailEnd type="triangle" w="lg" len="lg"/>
              </a:ln>
            </p:spPr>
          </p:sp>
          <p:sp>
            <p:nvSpPr>
              <p:cNvPr id="37" name="Line 37"/>
              <p:cNvSpPr/>
              <p:nvPr/>
            </p:nvSpPr>
            <p:spPr>
              <a:xfrm>
                <a:off x="7077075" y="1704975"/>
                <a:ext cx="342900" cy="1"/>
              </a:xfrm>
              <a:prstGeom prst="line">
                <a:avLst/>
              </a:prstGeom>
              <a:noFill/>
              <a:ln w="19050">
                <a:solidFill>
                  <a:srgbClr val="0B1E3C"/>
                </a:solidFill>
                <a:headEnd type="triangle" w="lg" len="lg"/>
                <a:tailEnd type="triangle" w="lg" len="lg"/>
              </a:ln>
            </p:spPr>
          </p:sp>
          <p:sp>
            <p:nvSpPr>
              <p:cNvPr id="38" name="Line 38"/>
              <p:cNvSpPr/>
              <p:nvPr/>
            </p:nvSpPr>
            <p:spPr>
              <a:xfrm>
                <a:off x="9382125" y="1704975"/>
                <a:ext cx="342900" cy="1"/>
              </a:xfrm>
              <a:prstGeom prst="line">
                <a:avLst/>
              </a:prstGeom>
              <a:noFill/>
              <a:ln w="19050">
                <a:solidFill>
                  <a:srgbClr val="0B1E3C"/>
                </a:solidFill>
                <a:headEnd type="triangle" w="lg" len="lg"/>
                <a:tailEnd type="triangle" w="lg" len="lg"/>
              </a:ln>
            </p:spPr>
          </p:sp>
        </p:grpSp>
      </p:grpSp>
      <p:grpSp>
        <p:nvGrpSpPr>
          <p:cNvPr id="46" name="cabin-panel"/>
          <p:cNvGrpSpPr/>
          <p:nvPr/>
        </p:nvGrpSpPr>
        <p:grpSpPr>
          <a:xfrm>
            <a:off x="526542" y="2381250"/>
            <a:ext cx="5302758" cy="3739896"/>
            <a:chOff x="526542" y="2381250"/>
            <a:chExt cx="5302758" cy="3739896"/>
          </a:xfrm>
        </p:grpSpPr>
        <p:pic>
          <p:nvPicPr>
            <p:cNvPr id="41" name="Image 41"/>
            <p:cNvPicPr>
              <a:picLocks noChangeAspect="1"/>
            </p:cNvPicPr>
            <p:nvPr/>
          </p:nvPicPr>
          <p:blipFill>
            <a:blip r:embed="rId2"/>
            <a:srcRect l="12" t="0" r="11" b="0"/>
            <a:stretch>
              <a:fillRect/>
            </a:stretch>
          </p:blipFill>
          <p:spPr>
            <a:xfrm>
              <a:off x="533400" y="2381250"/>
              <a:ext cx="5295900" cy="3143250"/>
            </a:xfrm>
            <a:prstGeom prst="rect">
              <a:avLst/>
            </a:prstGeom>
          </p:spPr>
        </p:pic>
        <p:sp>
          <p:nvSpPr>
            <p:cNvPr id="42" name="Rectangle 42"/>
            <p:cNvSpPr/>
            <p:nvPr/>
          </p:nvSpPr>
          <p:spPr>
            <a:xfrm>
              <a:off x="628650" y="2476500"/>
              <a:ext cx="1314450" cy="228600"/>
            </a:xfrm>
            <a:prstGeom prst="roundRect">
              <a:avLst>
                <a:gd name="adj" fmla="val 12500"/>
              </a:avLst>
            </a:prstGeom>
            <a:solidFill>
              <a:srgbClr val="0B1E3C"/>
            </a:solidFill>
            <a:ln>
              <a:noFill/>
            </a:ln>
          </p:spPr>
        </p:sp>
        <p:sp>
          <p:nvSpPr>
            <p:cNvPr id="43" name="TextBox 43"/>
            <p:cNvSpPr txBox="1"/>
            <p:nvPr/>
          </p:nvSpPr>
          <p:spPr>
            <a:xfrm>
              <a:off x="680651" y="2524125"/>
              <a:ext cx="1210447" cy="191643"/>
            </a:xfrm>
            <a:prstGeom prst="rect">
              <a:avLst/>
            </a:prstGeom>
            <a:noFill/>
            <a:ln>
              <a:noFill/>
            </a:ln>
          </p:spPr>
          <p:txBody>
            <a:bodyPr wrap="none" lIns="0" tIns="0" rIns="0" bIns="0" anchor="t" anchorCtr="0">
              <a:spAutoFit/>
            </a:bodyPr>
            <a:lstStyle/>
            <a:p>
              <a:pPr algn="ctr"/>
              <a:r>
                <a:rPr lang="ko-KR" sz="980" b="1" dirty="0">
                  <a:solidFill>
                    <a:srgbClr val="FFFFFF"/>
                  </a:solidFill>
                  <a:latin typeface="+mn-lt"/>
                  <a:ea typeface="+mn-ea"/>
                  <a:cs typeface="+mn-cs"/>
                </a:rPr>
                <a:t>[화면 예시] 운행 전</a:t>
              </a:r>
            </a:p>
          </p:txBody>
        </p:sp>
        <p:sp>
          <p:nvSpPr>
            <p:cNvPr id="44" name="TextBox 44"/>
            <p:cNvSpPr txBox="1"/>
            <p:nvPr/>
          </p:nvSpPr>
          <p:spPr>
            <a:xfrm>
              <a:off x="526542" y="5626100"/>
              <a:ext cx="2870330" cy="264033"/>
            </a:xfrm>
            <a:prstGeom prst="rect">
              <a:avLst/>
            </a:prstGeom>
            <a:noFill/>
            <a:ln>
              <a:noFill/>
            </a:ln>
          </p:spPr>
          <p:txBody>
            <a:bodyPr wrap="none" lIns="0" tIns="0" rIns="0" bIns="0" anchor="t" anchorCtr="0">
              <a:spAutoFit/>
            </a:bodyPr>
            <a:lstStyle/>
            <a:p>
              <a:pPr algn="l"/>
              <a:r>
                <a:rPr lang="ko-KR" sz="1350" b="1" dirty="0">
                  <a:solidFill>
                    <a:srgbClr val="111827"/>
                  </a:solidFill>
                  <a:latin typeface="+mn-lt"/>
                  <a:ea typeface="+mn-ea"/>
                  <a:cs typeface="+mn-cs"/>
                </a:rPr>
                <a:t>운전석 · GroundWatch Patrol 앱</a:t>
              </a:r>
            </a:p>
          </p:txBody>
        </p:sp>
        <p:sp>
          <p:nvSpPr>
            <p:cNvPr id="45" name="TextBox 45"/>
            <p:cNvSpPr txBox="1"/>
            <p:nvPr/>
          </p:nvSpPr>
          <p:spPr>
            <a:xfrm>
              <a:off x="527304" y="5886450"/>
              <a:ext cx="4543501" cy="234696"/>
            </a:xfrm>
            <a:prstGeom prst="rect">
              <a:avLst/>
            </a:prstGeom>
            <a:noFill/>
            <a:ln>
              <a:noFill/>
            </a:ln>
          </p:spPr>
          <p:txBody>
            <a:bodyPr wrap="none" lIns="0" tIns="0" rIns="0" bIns="0" anchor="t" anchorCtr="0">
              <a:spAutoFit/>
            </a:bodyPr>
            <a:lstStyle/>
            <a:p>
              <a:pPr algn="l"/>
              <a:r>
                <a:rPr lang="ko-KR" sz="1200" dirty="0">
                  <a:solidFill>
                    <a:srgbClr val="4B5563"/>
                  </a:solidFill>
                  <a:latin typeface="+mn-lt"/>
                  <a:ea typeface="+mn-ea"/>
                  <a:cs typeface="+mn-cs"/>
                </a:rPr>
                <a:t>순찰경로·재확인 지점·장비 상태, 도착 전 안전 정차 위치 안내</a:t>
              </a:r>
            </a:p>
          </p:txBody>
        </p:sp>
      </p:grpSp>
      <p:grpSp>
        <p:nvGrpSpPr>
          <p:cNvPr id="67" name="ar-panel"/>
          <p:cNvGrpSpPr/>
          <p:nvPr/>
        </p:nvGrpSpPr>
        <p:grpSpPr>
          <a:xfrm>
            <a:off x="6089142" y="2381250"/>
            <a:ext cx="5569458" cy="3739896"/>
            <a:chOff x="6089142" y="2381250"/>
            <a:chExt cx="5569458" cy="3739896"/>
          </a:xfrm>
        </p:grpSpPr>
        <p:pic>
          <p:nvPicPr>
            <p:cNvPr id="47" name="Image 47"/>
            <p:cNvPicPr>
              <a:picLocks noChangeAspect="1"/>
            </p:cNvPicPr>
            <p:nvPr/>
          </p:nvPicPr>
          <p:blipFill>
            <a:blip r:embed="rId3"/>
            <a:srcRect l="0" t="7620" r="0" b="7620"/>
            <a:stretch>
              <a:fillRect/>
            </a:stretch>
          </p:blipFill>
          <p:spPr>
            <a:xfrm>
              <a:off x="6096000" y="2381250"/>
              <a:ext cx="5562600" cy="3143250"/>
            </a:xfrm>
            <a:prstGeom prst="rect">
              <a:avLst/>
            </a:prstGeom>
          </p:spPr>
        </p:pic>
        <p:sp>
          <p:nvSpPr>
            <p:cNvPr id="48" name="Polygon 48"/>
            <p:cNvSpPr/>
            <p:nvPr/>
          </p:nvSpPr>
          <p:spPr>
            <a:xfrm>
              <a:off x="8096250" y="4171950"/>
              <a:ext cx="1895475" cy="666750"/>
            </a:xfrm>
            <a:custGeom>
              <a:avLst/>
              <a:gdLst/>
              <a:ahLst/>
              <a:cxnLst/>
              <a:rect l="l" t="t" r="r" b="b"/>
              <a:pathLst>
                <a:path w="1895475" h="666750">
                  <a:moveTo>
                    <a:pt x="561975" y="0"/>
                  </a:moveTo>
                  <a:lnTo>
                    <a:pt x="1333500" y="0"/>
                  </a:lnTo>
                  <a:lnTo>
                    <a:pt x="1895475" y="666750"/>
                  </a:lnTo>
                  <a:lnTo>
                    <a:pt x="0" y="666750"/>
                  </a:lnTo>
                  <a:close/>
                </a:path>
              </a:pathLst>
            </a:custGeom>
            <a:solidFill>
              <a:srgbClr val="F5B700">
                <a:alpha val="26000"/>
              </a:srgbClr>
            </a:solidFill>
            <a:ln w="23812">
              <a:solidFill>
                <a:srgbClr val="F5B700"/>
              </a:solidFill>
            </a:ln>
          </p:spPr>
        </p:sp>
        <p:grpSp>
          <p:nvGrpSpPr>
            <p:cNvPr id="52" name="Group 52"/>
            <p:cNvGrpSpPr/>
            <p:nvPr/>
          </p:nvGrpSpPr>
          <p:grpSpPr>
            <a:xfrm>
              <a:off x="8229600" y="4343400"/>
              <a:ext cx="1628775" cy="352425"/>
              <a:chOff x="8229600" y="4343400"/>
              <a:chExt cx="1628775" cy="352425"/>
            </a:xfrm>
          </p:grpSpPr>
          <p:sp>
            <p:nvSpPr>
              <p:cNvPr id="49" name="Line 49"/>
              <p:cNvSpPr/>
              <p:nvPr/>
            </p:nvSpPr>
            <p:spPr>
              <a:xfrm>
                <a:off x="8515350" y="4343400"/>
                <a:ext cx="1057275" cy="9525"/>
              </a:xfrm>
              <a:custGeom>
                <a:avLst/>
                <a:gdLst/>
                <a:ahLst/>
                <a:cxnLst/>
                <a:rect l="l" t="t" r="r" b="b"/>
                <a:pathLst>
                  <a:path w="1057275" h="9525">
                    <a:moveTo>
                      <a:pt x="0" y="0"/>
                    </a:moveTo>
                    <a:lnTo>
                      <a:pt x="1057275" y="0"/>
                    </a:lnTo>
                  </a:path>
                </a:pathLst>
              </a:custGeom>
              <a:noFill/>
              <a:ln w="14288">
                <a:solidFill>
                  <a:srgbClr val="F5B700"/>
                </a:solidFill>
                <a:custDash>
                  <a:ds d="400000" sp="266667"/>
                </a:custDash>
              </a:ln>
            </p:spPr>
          </p:sp>
          <p:sp>
            <p:nvSpPr>
              <p:cNvPr id="50" name="Line 50"/>
              <p:cNvSpPr/>
              <p:nvPr/>
            </p:nvSpPr>
            <p:spPr>
              <a:xfrm>
                <a:off x="8372475" y="4514850"/>
                <a:ext cx="1343025" cy="9525"/>
              </a:xfrm>
              <a:custGeom>
                <a:avLst/>
                <a:gdLst/>
                <a:ahLst/>
                <a:cxnLst/>
                <a:rect l="l" t="t" r="r" b="b"/>
                <a:pathLst>
                  <a:path w="1343025" h="9525">
                    <a:moveTo>
                      <a:pt x="0" y="0"/>
                    </a:moveTo>
                    <a:lnTo>
                      <a:pt x="1343025" y="0"/>
                    </a:lnTo>
                  </a:path>
                </a:pathLst>
              </a:custGeom>
              <a:noFill/>
              <a:ln w="14288">
                <a:solidFill>
                  <a:srgbClr val="F5B700"/>
                </a:solidFill>
                <a:custDash>
                  <a:ds d="400000" sp="266667"/>
                </a:custDash>
              </a:ln>
            </p:spPr>
          </p:sp>
          <p:sp>
            <p:nvSpPr>
              <p:cNvPr id="51" name="Line 51"/>
              <p:cNvSpPr/>
              <p:nvPr/>
            </p:nvSpPr>
            <p:spPr>
              <a:xfrm>
                <a:off x="8229600" y="4686300"/>
                <a:ext cx="1628775" cy="9525"/>
              </a:xfrm>
              <a:custGeom>
                <a:avLst/>
                <a:gdLst/>
                <a:ahLst/>
                <a:cxnLst/>
                <a:rect l="l" t="t" r="r" b="b"/>
                <a:pathLst>
                  <a:path w="1628775" h="9525">
                    <a:moveTo>
                      <a:pt x="0" y="0"/>
                    </a:moveTo>
                    <a:lnTo>
                      <a:pt x="1628775" y="0"/>
                    </a:lnTo>
                  </a:path>
                </a:pathLst>
              </a:custGeom>
              <a:noFill/>
              <a:ln w="14288">
                <a:solidFill>
                  <a:srgbClr val="F5B700"/>
                </a:solidFill>
                <a:custDash>
                  <a:ds d="400000" sp="266667"/>
                </a:custDash>
              </a:ln>
            </p:spPr>
          </p:sp>
        </p:grpSp>
        <p:sp>
          <p:nvSpPr>
            <p:cNvPr id="53" name="Ellipse 53"/>
            <p:cNvSpPr/>
            <p:nvPr/>
          </p:nvSpPr>
          <p:spPr>
            <a:xfrm>
              <a:off x="7943850" y="4933950"/>
              <a:ext cx="1866900" cy="628650"/>
            </a:xfrm>
            <a:prstGeom prst="ellipse">
              <a:avLst/>
            </a:prstGeom>
            <a:noFill/>
            <a:ln w="23812">
              <a:solidFill>
                <a:srgbClr val="FFFFFF"/>
              </a:solidFill>
            </a:ln>
          </p:spPr>
        </p:sp>
        <p:sp>
          <p:nvSpPr>
            <p:cNvPr id="54" name="Rectangle 54"/>
            <p:cNvSpPr/>
            <p:nvPr/>
          </p:nvSpPr>
          <p:spPr>
            <a:xfrm>
              <a:off x="9906000" y="5086350"/>
              <a:ext cx="1066800" cy="209550"/>
            </a:xfrm>
            <a:prstGeom prst="roundRect">
              <a:avLst>
                <a:gd name="adj" fmla="val 13636"/>
              </a:avLst>
            </a:prstGeom>
            <a:solidFill>
              <a:srgbClr val="0B1E3C">
                <a:alpha val="85000"/>
              </a:srgbClr>
            </a:solidFill>
            <a:ln>
              <a:noFill/>
            </a:ln>
          </p:spPr>
        </p:sp>
        <p:sp>
          <p:nvSpPr>
            <p:cNvPr id="55" name="TextBox 55"/>
            <p:cNvSpPr txBox="1"/>
            <p:nvPr/>
          </p:nvSpPr>
          <p:spPr>
            <a:xfrm>
              <a:off x="10004527" y="5124450"/>
              <a:ext cx="869747" cy="176212"/>
            </a:xfrm>
            <a:prstGeom prst="rect">
              <a:avLst/>
            </a:prstGeom>
            <a:noFill/>
            <a:ln>
              <a:noFill/>
            </a:ln>
          </p:spPr>
          <p:txBody>
            <a:bodyPr wrap="none" lIns="0" tIns="0" rIns="0" bIns="0" anchor="t" anchorCtr="0">
              <a:spAutoFit/>
            </a:bodyPr>
            <a:lstStyle/>
            <a:p>
              <a:pPr algn="ctr"/>
              <a:r>
                <a:rPr lang="ko-KR" sz="900" b="1" dirty="0">
                  <a:solidFill>
                    <a:srgbClr val="FFFFFF"/>
                  </a:solidFill>
                  <a:latin typeface="+mn-lt"/>
                  <a:ea typeface="+mn-ea"/>
                  <a:cs typeface="+mn-cs"/>
                </a:rPr>
                <a:t>기준점 1 · 맨홀</a:t>
              </a:r>
            </a:p>
          </p:txBody>
        </p:sp>
        <p:sp>
          <p:nvSpPr>
            <p:cNvPr id="56" name="Ellipse 56"/>
            <p:cNvSpPr/>
            <p:nvPr/>
          </p:nvSpPr>
          <p:spPr>
            <a:xfrm>
              <a:off x="7267575" y="4705350"/>
              <a:ext cx="133350" cy="133350"/>
            </a:xfrm>
            <a:prstGeom prst="ellipse">
              <a:avLst/>
            </a:prstGeom>
            <a:noFill/>
            <a:ln w="23812">
              <a:solidFill>
                <a:srgbClr val="FFFFFF"/>
              </a:solidFill>
            </a:ln>
          </p:spPr>
        </p:sp>
        <p:sp>
          <p:nvSpPr>
            <p:cNvPr id="57" name="Rectangle 57"/>
            <p:cNvSpPr/>
            <p:nvPr/>
          </p:nvSpPr>
          <p:spPr>
            <a:xfrm>
              <a:off x="6286500" y="4362450"/>
              <a:ext cx="1181100" cy="209550"/>
            </a:xfrm>
            <a:prstGeom prst="roundRect">
              <a:avLst>
                <a:gd name="adj" fmla="val 13636"/>
              </a:avLst>
            </a:prstGeom>
            <a:solidFill>
              <a:srgbClr val="0B1E3C">
                <a:alpha val="85000"/>
              </a:srgbClr>
            </a:solidFill>
            <a:ln>
              <a:noFill/>
            </a:ln>
          </p:spPr>
        </p:sp>
        <p:sp>
          <p:nvSpPr>
            <p:cNvPr id="58" name="TextBox 58"/>
            <p:cNvSpPr txBox="1"/>
            <p:nvPr/>
          </p:nvSpPr>
          <p:spPr>
            <a:xfrm>
              <a:off x="6381598" y="4400550"/>
              <a:ext cx="990905" cy="176212"/>
            </a:xfrm>
            <a:prstGeom prst="rect">
              <a:avLst/>
            </a:prstGeom>
            <a:noFill/>
            <a:ln>
              <a:noFill/>
            </a:ln>
          </p:spPr>
          <p:txBody>
            <a:bodyPr wrap="none" lIns="0" tIns="0" rIns="0" bIns="0" anchor="t" anchorCtr="0">
              <a:spAutoFit/>
            </a:bodyPr>
            <a:lstStyle/>
            <a:p>
              <a:pPr algn="ctr"/>
              <a:r>
                <a:rPr lang="ko-KR" sz="900" b="1" dirty="0">
                  <a:solidFill>
                    <a:srgbClr val="FFFFFF"/>
                  </a:solidFill>
                  <a:latin typeface="+mn-lt"/>
                  <a:ea typeface="+mn-ea"/>
                  <a:cs typeface="+mn-cs"/>
                </a:rPr>
                <a:t>기준점 2 · 경계석</a:t>
              </a:r>
            </a:p>
          </p:txBody>
        </p:sp>
        <p:sp>
          <p:nvSpPr>
            <p:cNvPr id="59" name="Rectangle 59"/>
            <p:cNvSpPr/>
            <p:nvPr/>
          </p:nvSpPr>
          <p:spPr>
            <a:xfrm>
              <a:off x="6096000" y="2381250"/>
              <a:ext cx="5562600" cy="228600"/>
            </a:xfrm>
            <a:prstGeom prst="rect">
              <a:avLst/>
            </a:prstGeom>
            <a:solidFill>
              <a:srgbClr val="C62828">
                <a:alpha val="92000"/>
              </a:srgbClr>
            </a:solidFill>
            <a:ln>
              <a:noFill/>
            </a:ln>
          </p:spPr>
        </p:sp>
        <p:sp>
          <p:nvSpPr>
            <p:cNvPr id="60" name="TextBox 60"/>
            <p:cNvSpPr txBox="1"/>
            <p:nvPr/>
          </p:nvSpPr>
          <p:spPr>
            <a:xfrm>
              <a:off x="6762062" y="2428875"/>
              <a:ext cx="4230475" cy="176212"/>
            </a:xfrm>
            <a:prstGeom prst="rect">
              <a:avLst/>
            </a:prstGeom>
            <a:noFill/>
            <a:ln>
              <a:noFill/>
            </a:ln>
          </p:spPr>
          <p:txBody>
            <a:bodyPr wrap="none" lIns="0" tIns="0" rIns="0" bIns="0" anchor="t" anchorCtr="0">
              <a:spAutoFit/>
            </a:bodyPr>
            <a:lstStyle/>
            <a:p>
              <a:pPr algn="ctr"/>
              <a:r>
                <a:rPr lang="ko-KR" sz="900" b="1" dirty="0">
                  <a:solidFill>
                    <a:srgbClr val="FFFFFF"/>
                  </a:solidFill>
                  <a:latin typeface="+mn-lt"/>
                  <a:ea typeface="+mn-ea"/>
                  <a:cs typeface="+mn-cs"/>
                </a:rPr>
                <a:t>GPR 기반 추정 위치입니다. 굴착 전 정밀조사와 관계기관 승인이 필요합니다.</a:t>
              </a:r>
            </a:p>
          </p:txBody>
        </p:sp>
        <p:sp>
          <p:nvSpPr>
            <p:cNvPr id="61" name="Rectangle 61"/>
            <p:cNvSpPr/>
            <p:nvPr/>
          </p:nvSpPr>
          <p:spPr>
            <a:xfrm>
              <a:off x="6248400" y="2724150"/>
              <a:ext cx="2571750" cy="685800"/>
            </a:xfrm>
            <a:prstGeom prst="roundRect">
              <a:avLst>
                <a:gd name="adj" fmla="val 8333"/>
              </a:avLst>
            </a:prstGeom>
            <a:solidFill>
              <a:srgbClr val="0B1E3C">
                <a:alpha val="85000"/>
              </a:srgbClr>
            </a:solidFill>
            <a:ln>
              <a:noFill/>
            </a:ln>
          </p:spPr>
        </p:sp>
        <p:sp>
          <p:nvSpPr>
            <p:cNvPr id="62" name="TextBox 62"/>
            <p:cNvSpPr txBox="1"/>
            <p:nvPr/>
          </p:nvSpPr>
          <p:spPr>
            <a:xfrm>
              <a:off x="6395085" y="2813050"/>
              <a:ext cx="2265102" cy="220028"/>
            </a:xfrm>
            <a:prstGeom prst="rect">
              <a:avLst/>
            </a:prstGeom>
            <a:noFill/>
            <a:ln>
              <a:noFill/>
            </a:ln>
          </p:spPr>
          <p:txBody>
            <a:bodyPr wrap="none" lIns="0" tIns="0" rIns="0" bIns="0" anchor="t" anchorCtr="0">
              <a:spAutoFit/>
            </a:bodyPr>
            <a:lstStyle/>
            <a:p>
              <a:pPr algn="l"/>
              <a:r>
                <a:rPr lang="ko-KR" sz="1120" b="1" dirty="0">
                  <a:solidFill>
                    <a:srgbClr val="FFFFFF"/>
                  </a:solidFill>
                  <a:latin typeface="+mn-lt"/>
                  <a:ea typeface="+mn-ea"/>
                  <a:cs typeface="+mn-cs"/>
                </a:rPr>
                <a:t>재확인 R-0427 · 재탐사 3 / 4회</a:t>
              </a:r>
            </a:p>
          </p:txBody>
        </p:sp>
        <p:sp>
          <p:nvSpPr>
            <p:cNvPr id="63" name="TextBox 63"/>
            <p:cNvSpPr txBox="1"/>
            <p:nvPr/>
          </p:nvSpPr>
          <p:spPr>
            <a:xfrm>
              <a:off x="6395847" y="3038475"/>
              <a:ext cx="2242345" cy="191643"/>
            </a:xfrm>
            <a:prstGeom prst="rect">
              <a:avLst/>
            </a:prstGeom>
            <a:noFill/>
            <a:ln>
              <a:noFill/>
            </a:ln>
          </p:spPr>
          <p:txBody>
            <a:bodyPr wrap="none" lIns="0" tIns="0" rIns="0" bIns="0" anchor="t" anchorCtr="0">
              <a:spAutoFit/>
            </a:bodyPr>
            <a:lstStyle/>
            <a:p>
              <a:pPr algn="l"/>
              <a:r>
                <a:rPr lang="ko-KR" sz="980" dirty="0">
                  <a:solidFill>
                    <a:srgbClr val="E5E9F0"/>
                  </a:solidFill>
                  <a:latin typeface="+mn-lt"/>
                  <a:ea typeface="+mn-ea"/>
                  <a:cs typeface="+mn-cs"/>
                </a:rPr>
                <a:t>추정 깊이 0.9~1.3m · AI 신뢰도 84%</a:t>
              </a:r>
            </a:p>
          </p:txBody>
        </p:sp>
        <p:sp>
          <p:nvSpPr>
            <p:cNvPr id="64" name="TextBox 64"/>
            <p:cNvSpPr txBox="1"/>
            <p:nvPr/>
          </p:nvSpPr>
          <p:spPr>
            <a:xfrm>
              <a:off x="6396038" y="3209925"/>
              <a:ext cx="2559901" cy="176212"/>
            </a:xfrm>
            <a:prstGeom prst="rect">
              <a:avLst/>
            </a:prstGeom>
            <a:noFill/>
            <a:ln>
              <a:noFill/>
            </a:ln>
          </p:spPr>
          <p:txBody>
            <a:bodyPr wrap="none" lIns="0" tIns="0" rIns="0" bIns="0" anchor="t" anchorCtr="0">
              <a:spAutoFit/>
            </a:bodyPr>
            <a:lstStyle/>
            <a:p>
              <a:pPr algn="l"/>
              <a:r>
                <a:rPr lang="ko-KR" sz="900" dirty="0">
                  <a:solidFill>
                    <a:srgbClr val="C9D3E2"/>
                  </a:solidFill>
                  <a:latin typeface="+mn-lt"/>
                  <a:ea typeface="+mn-ea"/>
                  <a:cs typeface="+mn-cs"/>
                </a:rPr>
                <a:t>[화면 예시] 전문가 승인 · 위치 오차 기준 충족</a:t>
              </a:r>
            </a:p>
          </p:txBody>
        </p:sp>
        <p:sp>
          <p:nvSpPr>
            <p:cNvPr id="65" name="TextBox 65"/>
            <p:cNvSpPr txBox="1"/>
            <p:nvPr/>
          </p:nvSpPr>
          <p:spPr>
            <a:xfrm>
              <a:off x="6089142" y="5626100"/>
              <a:ext cx="3922613" cy="264033"/>
            </a:xfrm>
            <a:prstGeom prst="rect">
              <a:avLst/>
            </a:prstGeom>
            <a:noFill/>
            <a:ln>
              <a:noFill/>
            </a:ln>
          </p:spPr>
          <p:txBody>
            <a:bodyPr wrap="none" lIns="0" tIns="0" rIns="0" bIns="0" anchor="t" anchorCtr="0">
              <a:spAutoFit/>
            </a:bodyPr>
            <a:lstStyle/>
            <a:p>
              <a:pPr algn="l"/>
              <a:r>
                <a:rPr lang="ko-KR" sz="1350" b="1" dirty="0">
                  <a:solidFill>
                    <a:srgbClr val="111827"/>
                  </a:solidFill>
                  <a:latin typeface="+mn-lt"/>
                  <a:ea typeface="+mn-ea"/>
                  <a:cs typeface="+mn-cs"/>
                </a:rPr>
                <a:t>차량 밖 · 산업용 AR 글래스 (정차 후 작업자만)</a:t>
              </a:r>
            </a:p>
          </p:txBody>
        </p:sp>
        <p:sp>
          <p:nvSpPr>
            <p:cNvPr id="66" name="TextBox 66"/>
            <p:cNvSpPr txBox="1"/>
            <p:nvPr/>
          </p:nvSpPr>
          <p:spPr>
            <a:xfrm>
              <a:off x="6089904" y="5886450"/>
              <a:ext cx="4286707" cy="234696"/>
            </a:xfrm>
            <a:prstGeom prst="rect">
              <a:avLst/>
            </a:prstGeom>
            <a:noFill/>
            <a:ln>
              <a:noFill/>
            </a:ln>
          </p:spPr>
          <p:txBody>
            <a:bodyPr wrap="none" lIns="0" tIns="0" rIns="0" bIns="0" anchor="t" anchorCtr="0">
              <a:spAutoFit/>
            </a:bodyPr>
            <a:lstStyle/>
            <a:p>
              <a:pPr algn="l"/>
              <a:r>
                <a:rPr lang="ko-KR" sz="1200" dirty="0">
                  <a:solidFill>
                    <a:srgbClr val="4B5563"/>
                  </a:solidFill>
                  <a:latin typeface="+mn-lt"/>
                  <a:ea typeface="+mn-ea"/>
                  <a:cs typeface="+mn-cs"/>
                </a:rPr>
                <a:t>두 손으로 수동 GPR을 미는 동안 재탐사 범위를 눈앞에 표시</a:t>
              </a:r>
            </a:p>
          </p:txBody>
        </p:sp>
      </p:grpSp>
      <p:grpSp>
        <p:nvGrpSpPr>
          <p:cNvPr id="69" name="source"/>
          <p:cNvGrpSpPr/>
          <p:nvPr/>
        </p:nvGrpSpPr>
        <p:grpSpPr>
          <a:xfrm>
            <a:off x="528638" y="6343650"/>
            <a:ext cx="8033084" cy="176212"/>
            <a:chOff x="528638" y="6343650"/>
            <a:chExt cx="8033084" cy="176212"/>
          </a:xfrm>
        </p:grpSpPr>
        <p:sp>
          <p:nvSpPr>
            <p:cNvPr id="68" name="TextBox 68"/>
            <p:cNvSpPr txBox="1"/>
            <p:nvPr/>
          </p:nvSpPr>
          <p:spPr>
            <a:xfrm>
              <a:off x="528638" y="6343650"/>
              <a:ext cx="8033084"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2인 1조 운용 · 운전자는 주행 중 AR 미사용 · 앱 배포는 기아 PBV 파트너 승인 필요 · 화면 수치는 예시 · 실내 사진: Alexander Migl, CC BY-SA 4.0</a:t>
              </a:r>
            </a:p>
          </p:txBody>
        </p:sp>
      </p:grpSp>
      <p:grpSp>
        <p:nvGrpSpPr>
          <p:cNvPr id="72" name="footer"/>
          <p:cNvGrpSpPr/>
          <p:nvPr/>
        </p:nvGrpSpPr>
        <p:grpSpPr>
          <a:xfrm>
            <a:off x="528638" y="6629400"/>
            <a:ext cx="11134724" cy="176212"/>
            <a:chOff x="528638" y="6629400"/>
            <a:chExt cx="11134724" cy="176212"/>
          </a:xfrm>
        </p:grpSpPr>
        <p:sp>
          <p:nvSpPr>
            <p:cNvPr id="70" name="TextBox 70"/>
            <p:cNvSpPr txBox="1"/>
            <p:nvPr/>
          </p:nvSpPr>
          <p:spPr>
            <a:xfrm>
              <a:off x="528638" y="6629400"/>
              <a:ext cx="1487653"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한 명이라도 살릴 수 있다면</a:t>
              </a:r>
            </a:p>
          </p:txBody>
        </p:sp>
        <p:sp>
          <p:nvSpPr>
            <p:cNvPr id="71" name="TextBox 71"/>
            <p:cNvSpPr txBox="1"/>
            <p:nvPr/>
          </p:nvSpPr>
          <p:spPr>
            <a:xfrm>
              <a:off x="11247958" y="662940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08 / 15</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1192416"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PV5 이동형 탐사실</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문제</a:t>
              </a:r>
            </a:p>
          </p:txBody>
        </p:sp>
        <p:sp>
          <p:nvSpPr>
            <p:cNvPr id="6" name="TextBox 6"/>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7" name="TextBox 7"/>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해법</a:t>
              </a:r>
            </a:p>
          </p:txBody>
        </p:sp>
        <p:sp>
          <p:nvSpPr>
            <p:cNvPr id="8" name="TextBox 8"/>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9" name="TextBox 9"/>
            <p:cNvSpPr txBox="1"/>
            <p:nvPr/>
          </p:nvSpPr>
          <p:spPr>
            <a:xfrm>
              <a:off x="9695090" y="301625"/>
              <a:ext cx="269420" cy="205359"/>
            </a:xfrm>
            <a:prstGeom prst="rect">
              <a:avLst/>
            </a:prstGeom>
            <a:noFill/>
            <a:ln>
              <a:noFill/>
            </a:ln>
          </p:spPr>
          <p:txBody>
            <a:bodyPr wrap="none" lIns="0" tIns="0" rIns="0" bIns="0" anchor="t" anchorCtr="0">
              <a:spAutoFit/>
            </a:bodyPr>
            <a:lstStyle/>
            <a:p>
              <a:pPr algn="ctr"/>
              <a:r>
                <a:rPr lang="en-US" sz="1050" b="1" dirty="0">
                  <a:solidFill>
                    <a:srgbClr val="0B1E3C"/>
                  </a:solidFill>
                  <a:latin typeface="+mn-lt"/>
                  <a:ea typeface="+mn-ea"/>
                  <a:cs typeface="+mn-cs"/>
                </a:rPr>
                <a:t>PV5</a:t>
              </a:r>
            </a:p>
          </p:txBody>
        </p:sp>
        <p:sp>
          <p:nvSpPr>
            <p:cNvPr id="10" name="Rectangle 10"/>
            <p:cNvSpPr/>
            <p:nvPr/>
          </p:nvSpPr>
          <p:spPr>
            <a:xfrm>
              <a:off x="9601200" y="514350"/>
              <a:ext cx="457200" cy="28575"/>
            </a:xfrm>
            <a:prstGeom prst="rect">
              <a:avLst/>
            </a:prstGeom>
            <a:solidFill>
              <a:srgbClr val="F5B700"/>
            </a:solidFill>
            <a:ln>
              <a:noFill/>
            </a:ln>
          </p:spPr>
        </p:sp>
        <p:sp>
          <p:nvSpPr>
            <p:cNvPr id="11" name="TextBox 11"/>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2" name="TextBox 12"/>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3" name="TextBox 13"/>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4" name="TextBox 14"/>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사업</a:t>
              </a:r>
            </a:p>
          </p:txBody>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160" y="774700"/>
            <a:ext cx="7764285" cy="586740"/>
            <a:chOff x="518160" y="774700"/>
            <a:chExt cx="7764285" cy="586740"/>
          </a:xfrm>
        </p:grpSpPr>
        <p:sp>
          <p:nvSpPr>
            <p:cNvPr id="17" name="TextBox 17"/>
            <p:cNvSpPr txBox="1"/>
            <p:nvPr/>
          </p:nvSpPr>
          <p:spPr>
            <a:xfrm>
              <a:off x="518160" y="774700"/>
              <a:ext cx="7764285"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PV5 한 대가 그대로 이동형 탐사실이 됩니다</a:t>
              </a:r>
            </a:p>
          </p:txBody>
        </p:sp>
      </p:grpSp>
      <p:grpSp>
        <p:nvGrpSpPr>
          <p:cNvPr id="27" name="cutaway"/>
          <p:cNvGrpSpPr/>
          <p:nvPr/>
        </p:nvGrpSpPr>
        <p:grpSpPr>
          <a:xfrm>
            <a:off x="535781" y="1428750"/>
            <a:ext cx="6472238" cy="4314825"/>
            <a:chOff x="535781" y="1428750"/>
            <a:chExt cx="6472238" cy="4314825"/>
          </a:xfrm>
        </p:grpSpPr>
        <p:pic>
          <p:nvPicPr>
            <p:cNvPr id="19" name="Image 19"/>
            <p:cNvPicPr>
              <a:picLocks noChangeAspect="1"/>
            </p:cNvPicPr>
            <p:nvPr/>
          </p:nvPicPr>
          <p:blipFill>
            <a:blip r:embed="rId2"/>
            <a:stretch>
              <a:fillRect/>
            </a:stretch>
          </p:blipFill>
          <p:spPr>
            <a:xfrm>
              <a:off x="535781" y="1428750"/>
              <a:ext cx="6472238" cy="4314825"/>
            </a:xfrm>
            <a:prstGeom prst="rect">
              <a:avLst/>
            </a:prstGeom>
          </p:spPr>
        </p:pic>
        <p:grpSp>
          <p:nvGrpSpPr>
            <p:cNvPr id="26" name="Group 26"/>
            <p:cNvGrpSpPr/>
            <p:nvPr/>
          </p:nvGrpSpPr>
          <p:grpSpPr>
            <a:xfrm>
              <a:off x="3095625" y="2771775"/>
              <a:ext cx="2857500" cy="933450"/>
              <a:chOff x="3095625" y="2771775"/>
              <a:chExt cx="2857500" cy="933450"/>
            </a:xfrm>
          </p:grpSpPr>
          <p:sp>
            <p:nvSpPr>
              <p:cNvPr id="20" name="Ellipse 20"/>
              <p:cNvSpPr/>
              <p:nvPr/>
            </p:nvSpPr>
            <p:spPr>
              <a:xfrm>
                <a:off x="3095625" y="3381375"/>
                <a:ext cx="323850" cy="323850"/>
              </a:xfrm>
              <a:prstGeom prst="ellipse">
                <a:avLst/>
              </a:prstGeom>
              <a:solidFill>
                <a:srgbClr val="F5B700"/>
              </a:solidFill>
              <a:ln w="19050">
                <a:solidFill>
                  <a:srgbClr val="0B1E3C"/>
                </a:solidFill>
              </a:ln>
            </p:spPr>
          </p:sp>
          <p:sp>
            <p:nvSpPr>
              <p:cNvPr id="21" name="TextBox 21"/>
              <p:cNvSpPr txBox="1"/>
              <p:nvPr/>
            </p:nvSpPr>
            <p:spPr>
              <a:xfrm>
                <a:off x="3202168" y="3448050"/>
                <a:ext cx="110764" cy="234696"/>
              </a:xfrm>
              <a:prstGeom prst="rect">
                <a:avLst/>
              </a:prstGeom>
              <a:noFill/>
              <a:ln>
                <a:noFill/>
              </a:ln>
            </p:spPr>
            <p:txBody>
              <a:bodyPr wrap="none" lIns="0" tIns="0" rIns="0" bIns="0" anchor="t" anchorCtr="0">
                <a:spAutoFit/>
              </a:bodyPr>
              <a:lstStyle/>
              <a:p>
                <a:pPr algn="ctr"/>
                <a:r>
                  <a:rPr lang="en-US" sz="1200" b="1" dirty="0">
                    <a:solidFill>
                      <a:srgbClr val="0B1E3C"/>
                    </a:solidFill>
                    <a:latin typeface="+mn-lt"/>
                    <a:ea typeface="+mn-ea"/>
                    <a:cs typeface="+mn-cs"/>
                  </a:rPr>
                  <a:t>A</a:t>
                </a:r>
              </a:p>
            </p:txBody>
          </p:sp>
          <p:sp>
            <p:nvSpPr>
              <p:cNvPr id="22" name="Ellipse 22"/>
              <p:cNvSpPr/>
              <p:nvPr/>
            </p:nvSpPr>
            <p:spPr>
              <a:xfrm>
                <a:off x="4219575" y="2771775"/>
                <a:ext cx="323850" cy="323850"/>
              </a:xfrm>
              <a:prstGeom prst="ellipse">
                <a:avLst/>
              </a:prstGeom>
              <a:solidFill>
                <a:srgbClr val="F5B700"/>
              </a:solidFill>
              <a:ln w="19050">
                <a:solidFill>
                  <a:srgbClr val="0B1E3C"/>
                </a:solidFill>
              </a:ln>
            </p:spPr>
          </p:sp>
          <p:sp>
            <p:nvSpPr>
              <p:cNvPr id="23" name="TextBox 23"/>
              <p:cNvSpPr txBox="1"/>
              <p:nvPr/>
            </p:nvSpPr>
            <p:spPr>
              <a:xfrm>
                <a:off x="4326118" y="2838450"/>
                <a:ext cx="110764" cy="234696"/>
              </a:xfrm>
              <a:prstGeom prst="rect">
                <a:avLst/>
              </a:prstGeom>
              <a:noFill/>
              <a:ln>
                <a:noFill/>
              </a:ln>
            </p:spPr>
            <p:txBody>
              <a:bodyPr wrap="none" lIns="0" tIns="0" rIns="0" bIns="0" anchor="t" anchorCtr="0">
                <a:spAutoFit/>
              </a:bodyPr>
              <a:lstStyle/>
              <a:p>
                <a:pPr algn="ctr"/>
                <a:r>
                  <a:rPr lang="en-US" sz="1200" b="1" dirty="0">
                    <a:solidFill>
                      <a:srgbClr val="0B1E3C"/>
                    </a:solidFill>
                    <a:latin typeface="+mn-lt"/>
                    <a:ea typeface="+mn-ea"/>
                    <a:cs typeface="+mn-cs"/>
                  </a:rPr>
                  <a:t>B</a:t>
                </a:r>
              </a:p>
            </p:txBody>
          </p:sp>
          <p:sp>
            <p:nvSpPr>
              <p:cNvPr id="24" name="Ellipse 24"/>
              <p:cNvSpPr/>
              <p:nvPr/>
            </p:nvSpPr>
            <p:spPr>
              <a:xfrm>
                <a:off x="5629275" y="2943225"/>
                <a:ext cx="323850" cy="323850"/>
              </a:xfrm>
              <a:prstGeom prst="ellipse">
                <a:avLst/>
              </a:prstGeom>
              <a:solidFill>
                <a:srgbClr val="F5B700"/>
              </a:solidFill>
              <a:ln w="19050">
                <a:solidFill>
                  <a:srgbClr val="0B1E3C"/>
                </a:solidFill>
              </a:ln>
            </p:spPr>
          </p:sp>
          <p:sp>
            <p:nvSpPr>
              <p:cNvPr id="25" name="TextBox 25"/>
              <p:cNvSpPr txBox="1"/>
              <p:nvPr/>
            </p:nvSpPr>
            <p:spPr>
              <a:xfrm>
                <a:off x="5735818" y="3009900"/>
                <a:ext cx="110764" cy="234696"/>
              </a:xfrm>
              <a:prstGeom prst="rect">
                <a:avLst/>
              </a:prstGeom>
              <a:noFill/>
              <a:ln>
                <a:noFill/>
              </a:ln>
            </p:spPr>
            <p:txBody>
              <a:bodyPr wrap="none" lIns="0" tIns="0" rIns="0" bIns="0" anchor="t" anchorCtr="0">
                <a:spAutoFit/>
              </a:bodyPr>
              <a:lstStyle/>
              <a:p>
                <a:pPr algn="ctr"/>
                <a:r>
                  <a:rPr lang="en-US" sz="1200" b="1" dirty="0">
                    <a:solidFill>
                      <a:srgbClr val="0B1E3C"/>
                    </a:solidFill>
                    <a:latin typeface="+mn-lt"/>
                    <a:ea typeface="+mn-ea"/>
                    <a:cs typeface="+mn-cs"/>
                  </a:rPr>
                  <a:t>C</a:t>
                </a:r>
              </a:p>
            </p:txBody>
          </p:sp>
        </p:grpSp>
      </p:grpSp>
      <p:grpSp>
        <p:nvGrpSpPr>
          <p:cNvPr id="42" name="features"/>
          <p:cNvGrpSpPr/>
          <p:nvPr/>
        </p:nvGrpSpPr>
        <p:grpSpPr>
          <a:xfrm>
            <a:off x="7383780" y="1631950"/>
            <a:ext cx="4274820" cy="3892550"/>
            <a:chOff x="7383780" y="1631950"/>
            <a:chExt cx="4274820" cy="3892550"/>
          </a:xfrm>
        </p:grpSpPr>
        <p:sp>
          <p:nvSpPr>
            <p:cNvPr id="28" name="TextBox 28"/>
            <p:cNvSpPr txBox="1"/>
            <p:nvPr/>
          </p:nvSpPr>
          <p:spPr>
            <a:xfrm>
              <a:off x="7383780" y="1631950"/>
              <a:ext cx="3167386" cy="293370"/>
            </a:xfrm>
            <a:prstGeom prst="rect">
              <a:avLst/>
            </a:prstGeom>
            <a:noFill/>
            <a:ln>
              <a:noFill/>
            </a:ln>
          </p:spPr>
          <p:txBody>
            <a:bodyPr wrap="none" lIns="0" tIns="0" rIns="0" bIns="0" anchor="t" anchorCtr="0">
              <a:spAutoFit/>
            </a:bodyPr>
            <a:lstStyle/>
            <a:p>
              <a:pPr algn="l"/>
              <a:r>
                <a:rPr lang="ko-KR" sz="1500" b="1" dirty="0">
                  <a:solidFill>
                    <a:srgbClr val="0B1E3C"/>
                  </a:solidFill>
                  <a:latin typeface="+mn-lt"/>
                  <a:ea typeface="+mn-ea"/>
                  <a:cs typeface="+mn-cs"/>
                </a:rPr>
                <a:t xml:space="preserve">싣는다 </a:t>
              </a:r>
              <a:r>
                <a:rPr lang="ko-KR" sz="1200" dirty="0">
                  <a:solidFill>
                    <a:srgbClr val="374151"/>
                  </a:solidFill>
                  <a:latin typeface="+mn-lt"/>
                  <a:ea typeface="+mn-ea"/>
                  <a:cs typeface="+mn-cs"/>
                </a:rPr>
                <a:t>카고룸 4,420L · 최대 적재 600kg</a:t>
              </a:r>
            </a:p>
          </p:txBody>
        </p:sp>
        <p:sp>
          <p:nvSpPr>
            <p:cNvPr id="29" name="TextBox 29"/>
            <p:cNvSpPr txBox="1"/>
            <p:nvPr/>
          </p:nvSpPr>
          <p:spPr>
            <a:xfrm>
              <a:off x="7385685" y="1917700"/>
              <a:ext cx="3410682" cy="220028"/>
            </a:xfrm>
            <a:prstGeom prst="rect">
              <a:avLst/>
            </a:prstGeom>
            <a:noFill/>
            <a:ln>
              <a:noFill/>
            </a:ln>
          </p:spPr>
          <p:txBody>
            <a:bodyPr wrap="none" lIns="0" tIns="0" rIns="0" bIns="0" anchor="t" anchorCtr="0">
              <a:spAutoFit/>
            </a:bodyPr>
            <a:lstStyle/>
            <a:p>
              <a:pPr algn="l"/>
              <a:r>
                <a:rPr lang="ko-KR" sz="1120" dirty="0">
                  <a:solidFill>
                    <a:srgbClr val="4B5563"/>
                  </a:solidFill>
                  <a:latin typeface="+mn-lt"/>
                  <a:ea typeface="+mn-ea"/>
                  <a:cs typeface="+mn-cs"/>
                </a:rPr>
                <a:t>A 분석 장비 · B 수동 GPR·AR 글래스 · C 안전장비</a:t>
              </a:r>
            </a:p>
          </p:txBody>
        </p:sp>
        <p:sp>
          <p:nvSpPr>
            <p:cNvPr id="30" name="Line 30"/>
            <p:cNvSpPr/>
            <p:nvPr/>
          </p:nvSpPr>
          <p:spPr>
            <a:xfrm>
              <a:off x="7391400" y="2247900"/>
              <a:ext cx="4267200" cy="9525"/>
            </a:xfrm>
            <a:custGeom>
              <a:avLst/>
              <a:gdLst/>
              <a:ahLst/>
              <a:cxnLst/>
              <a:rect l="l" t="t" r="r" b="b"/>
              <a:pathLst>
                <a:path w="4267200" h="9525">
                  <a:moveTo>
                    <a:pt x="0" y="0"/>
                  </a:moveTo>
                  <a:lnTo>
                    <a:pt x="4267200" y="0"/>
                  </a:lnTo>
                </a:path>
              </a:pathLst>
            </a:custGeom>
            <a:noFill/>
            <a:ln w="9525">
              <a:solidFill>
                <a:srgbClr val="E2E6EC"/>
              </a:solidFill>
            </a:ln>
          </p:spPr>
        </p:sp>
        <p:sp>
          <p:nvSpPr>
            <p:cNvPr id="31" name="TextBox 31"/>
            <p:cNvSpPr txBox="1"/>
            <p:nvPr/>
          </p:nvSpPr>
          <p:spPr>
            <a:xfrm>
              <a:off x="7383780" y="2451100"/>
              <a:ext cx="2609831" cy="293370"/>
            </a:xfrm>
            <a:prstGeom prst="rect">
              <a:avLst/>
            </a:prstGeom>
            <a:noFill/>
            <a:ln>
              <a:noFill/>
            </a:ln>
          </p:spPr>
          <p:txBody>
            <a:bodyPr wrap="none" lIns="0" tIns="0" rIns="0" bIns="0" anchor="t" anchorCtr="0">
              <a:spAutoFit/>
            </a:bodyPr>
            <a:lstStyle/>
            <a:p>
              <a:pPr algn="l"/>
              <a:r>
                <a:rPr lang="ko-KR" sz="1500" b="1" dirty="0">
                  <a:solidFill>
                    <a:srgbClr val="0B1E3C"/>
                  </a:solidFill>
                  <a:latin typeface="+mn-lt"/>
                  <a:ea typeface="+mn-ea"/>
                  <a:cs typeface="+mn-cs"/>
                </a:rPr>
                <a:t xml:space="preserve">켠다 </a:t>
              </a:r>
              <a:r>
                <a:rPr lang="ko-KR" sz="1200" dirty="0">
                  <a:solidFill>
                    <a:srgbClr val="374151"/>
                  </a:solidFill>
                  <a:latin typeface="+mn-lt"/>
                  <a:ea typeface="+mn-ea"/>
                  <a:cs typeface="+mn-cs"/>
                </a:rPr>
                <a:t>실내·실외 V2L · 최대 3.6kW</a:t>
              </a:r>
            </a:p>
          </p:txBody>
        </p:sp>
        <p:sp>
          <p:nvSpPr>
            <p:cNvPr id="32" name="TextBox 32"/>
            <p:cNvSpPr txBox="1"/>
            <p:nvPr/>
          </p:nvSpPr>
          <p:spPr>
            <a:xfrm>
              <a:off x="7385685" y="2736850"/>
              <a:ext cx="3075280" cy="220028"/>
            </a:xfrm>
            <a:prstGeom prst="rect">
              <a:avLst/>
            </a:prstGeom>
            <a:noFill/>
            <a:ln>
              <a:noFill/>
            </a:ln>
          </p:spPr>
          <p:txBody>
            <a:bodyPr wrap="none" lIns="0" tIns="0" rIns="0" bIns="0" anchor="t" anchorCtr="0">
              <a:spAutoFit/>
            </a:bodyPr>
            <a:lstStyle/>
            <a:p>
              <a:pPr algn="l"/>
              <a:r>
                <a:rPr lang="ko-KR" sz="1120" dirty="0">
                  <a:solidFill>
                    <a:srgbClr val="4B5563"/>
                  </a:solidFill>
                  <a:latin typeface="+mn-lt"/>
                  <a:ea typeface="+mn-ea"/>
                  <a:cs typeface="+mn-cs"/>
                </a:rPr>
                <a:t>시동 없이 GPR·엣지 PC를 돌리고 장비를 충전</a:t>
              </a:r>
            </a:p>
          </p:txBody>
        </p:sp>
        <p:sp>
          <p:nvSpPr>
            <p:cNvPr id="33" name="Line 33"/>
            <p:cNvSpPr/>
            <p:nvPr/>
          </p:nvSpPr>
          <p:spPr>
            <a:xfrm>
              <a:off x="7391400" y="3067050"/>
              <a:ext cx="4267200" cy="9525"/>
            </a:xfrm>
            <a:custGeom>
              <a:avLst/>
              <a:gdLst/>
              <a:ahLst/>
              <a:cxnLst/>
              <a:rect l="l" t="t" r="r" b="b"/>
              <a:pathLst>
                <a:path w="4267200" h="9525">
                  <a:moveTo>
                    <a:pt x="0" y="0"/>
                  </a:moveTo>
                  <a:lnTo>
                    <a:pt x="4267200" y="0"/>
                  </a:lnTo>
                </a:path>
              </a:pathLst>
            </a:custGeom>
            <a:noFill/>
            <a:ln w="9525">
              <a:solidFill>
                <a:srgbClr val="E2E6EC"/>
              </a:solidFill>
            </a:ln>
          </p:spPr>
        </p:sp>
        <p:sp>
          <p:nvSpPr>
            <p:cNvPr id="34" name="TextBox 34"/>
            <p:cNvSpPr txBox="1"/>
            <p:nvPr/>
          </p:nvSpPr>
          <p:spPr>
            <a:xfrm>
              <a:off x="7383780" y="3270250"/>
              <a:ext cx="2305412" cy="293370"/>
            </a:xfrm>
            <a:prstGeom prst="rect">
              <a:avLst/>
            </a:prstGeom>
            <a:noFill/>
            <a:ln>
              <a:noFill/>
            </a:ln>
          </p:spPr>
          <p:txBody>
            <a:bodyPr wrap="none" lIns="0" tIns="0" rIns="0" bIns="0" anchor="t" anchorCtr="0">
              <a:spAutoFit/>
            </a:bodyPr>
            <a:lstStyle/>
            <a:p>
              <a:pPr algn="l"/>
              <a:r>
                <a:rPr lang="ko-KR" sz="1500" b="1" dirty="0">
                  <a:solidFill>
                    <a:srgbClr val="0B1E3C"/>
                  </a:solidFill>
                  <a:latin typeface="+mn-lt"/>
                  <a:ea typeface="+mn-ea"/>
                  <a:cs typeface="+mn-cs"/>
                </a:rPr>
                <a:t xml:space="preserve">고정한다 </a:t>
              </a:r>
              <a:r>
                <a:rPr lang="ko-KR" sz="1200" dirty="0">
                  <a:solidFill>
                    <a:srgbClr val="374151"/>
                  </a:solidFill>
                  <a:latin typeface="+mn-lt"/>
                  <a:ea typeface="+mn-ea"/>
                  <a:cs typeface="+mn-cs"/>
                </a:rPr>
                <a:t>L-Track·몰리 패널</a:t>
              </a:r>
            </a:p>
          </p:txBody>
        </p:sp>
        <p:sp>
          <p:nvSpPr>
            <p:cNvPr id="35" name="TextBox 35"/>
            <p:cNvSpPr txBox="1"/>
            <p:nvPr/>
          </p:nvSpPr>
          <p:spPr>
            <a:xfrm>
              <a:off x="7385685" y="3556000"/>
              <a:ext cx="3275696" cy="220028"/>
            </a:xfrm>
            <a:prstGeom prst="rect">
              <a:avLst/>
            </a:prstGeom>
            <a:noFill/>
            <a:ln>
              <a:noFill/>
            </a:ln>
          </p:spPr>
          <p:txBody>
            <a:bodyPr wrap="none" lIns="0" tIns="0" rIns="0" bIns="0" anchor="t" anchorCtr="0">
              <a:spAutoFit/>
            </a:bodyPr>
            <a:lstStyle/>
            <a:p>
              <a:pPr algn="l"/>
              <a:r>
                <a:rPr lang="ko-KR" sz="1120" dirty="0">
                  <a:solidFill>
                    <a:srgbClr val="4B5563"/>
                  </a:solidFill>
                  <a:latin typeface="+mn-lt"/>
                  <a:ea typeface="+mn-ea"/>
                  <a:cs typeface="+mn-cs"/>
                </a:rPr>
                <a:t>회차마다 같은 위치에 장착 → 같은 조건으로 비교</a:t>
              </a:r>
            </a:p>
          </p:txBody>
        </p:sp>
        <p:sp>
          <p:nvSpPr>
            <p:cNvPr id="36" name="Line 36"/>
            <p:cNvSpPr/>
            <p:nvPr/>
          </p:nvSpPr>
          <p:spPr>
            <a:xfrm>
              <a:off x="7391400" y="3886200"/>
              <a:ext cx="4267200" cy="9525"/>
            </a:xfrm>
            <a:custGeom>
              <a:avLst/>
              <a:gdLst/>
              <a:ahLst/>
              <a:cxnLst/>
              <a:rect l="l" t="t" r="r" b="b"/>
              <a:pathLst>
                <a:path w="4267200" h="9525">
                  <a:moveTo>
                    <a:pt x="0" y="0"/>
                  </a:moveTo>
                  <a:lnTo>
                    <a:pt x="4267200" y="0"/>
                  </a:lnTo>
                </a:path>
              </a:pathLst>
            </a:custGeom>
            <a:noFill/>
            <a:ln w="9525">
              <a:solidFill>
                <a:srgbClr val="E2E6EC"/>
              </a:solidFill>
            </a:ln>
          </p:spPr>
        </p:sp>
        <p:sp>
          <p:nvSpPr>
            <p:cNvPr id="37" name="TextBox 37"/>
            <p:cNvSpPr txBox="1"/>
            <p:nvPr/>
          </p:nvSpPr>
          <p:spPr>
            <a:xfrm>
              <a:off x="7383780" y="4089400"/>
              <a:ext cx="2485854" cy="293370"/>
            </a:xfrm>
            <a:prstGeom prst="rect">
              <a:avLst/>
            </a:prstGeom>
            <a:noFill/>
            <a:ln>
              <a:noFill/>
            </a:ln>
          </p:spPr>
          <p:txBody>
            <a:bodyPr wrap="none" lIns="0" tIns="0" rIns="0" bIns="0" anchor="t" anchorCtr="0">
              <a:spAutoFit/>
            </a:bodyPr>
            <a:lstStyle/>
            <a:p>
              <a:pPr algn="l"/>
              <a:r>
                <a:rPr lang="ko-KR" sz="1500" b="1" dirty="0">
                  <a:solidFill>
                    <a:srgbClr val="0B1E3C"/>
                  </a:solidFill>
                  <a:latin typeface="+mn-lt"/>
                  <a:ea typeface="+mn-ea"/>
                  <a:cs typeface="+mn-cs"/>
                </a:rPr>
                <a:t xml:space="preserve">복제한다 </a:t>
              </a:r>
              <a:r>
                <a:rPr lang="ko-KR" sz="1200" dirty="0">
                  <a:solidFill>
                    <a:srgbClr val="374151"/>
                  </a:solidFill>
                  <a:latin typeface="+mn-lt"/>
                  <a:ea typeface="+mn-ea"/>
                  <a:cs typeface="+mn-cs"/>
                </a:rPr>
                <a:t>기아 공식 컨버전 체계</a:t>
              </a:r>
            </a:p>
          </p:txBody>
        </p:sp>
        <p:sp>
          <p:nvSpPr>
            <p:cNvPr id="38" name="TextBox 38"/>
            <p:cNvSpPr txBox="1"/>
            <p:nvPr/>
          </p:nvSpPr>
          <p:spPr>
            <a:xfrm>
              <a:off x="7385685" y="4375150"/>
              <a:ext cx="4013921" cy="220028"/>
            </a:xfrm>
            <a:prstGeom prst="rect">
              <a:avLst/>
            </a:prstGeom>
            <a:noFill/>
            <a:ln>
              <a:noFill/>
            </a:ln>
          </p:spPr>
          <p:txBody>
            <a:bodyPr wrap="none" lIns="0" tIns="0" rIns="0" bIns="0" anchor="t" anchorCtr="0">
              <a:spAutoFit/>
            </a:bodyPr>
            <a:lstStyle/>
            <a:p>
              <a:pPr algn="l"/>
              <a:r>
                <a:rPr lang="ko-KR" sz="1120" dirty="0">
                  <a:solidFill>
                    <a:srgbClr val="4B5563"/>
                  </a:solidFill>
                  <a:latin typeface="+mn-lt"/>
                  <a:ea typeface="+mn-ea"/>
                  <a:cs typeface="+mn-cs"/>
                </a:rPr>
                <a:t>컨버전 포털: 차량 3D 데이터·인증자료 → 같은 사양 여러 대</a:t>
              </a:r>
            </a:p>
          </p:txBody>
        </p:sp>
        <p:sp>
          <p:nvSpPr>
            <p:cNvPr id="39" name="Rectangle 39"/>
            <p:cNvSpPr/>
            <p:nvPr/>
          </p:nvSpPr>
          <p:spPr>
            <a:xfrm>
              <a:off x="7391400" y="4800600"/>
              <a:ext cx="4267200" cy="723900"/>
            </a:xfrm>
            <a:prstGeom prst="rect">
              <a:avLst/>
            </a:prstGeom>
            <a:solidFill>
              <a:srgbClr val="F3F5F8"/>
            </a:solidFill>
            <a:ln>
              <a:noFill/>
            </a:ln>
          </p:spPr>
        </p:sp>
        <p:sp>
          <p:nvSpPr>
            <p:cNvPr id="40" name="TextBox 40"/>
            <p:cNvSpPr txBox="1"/>
            <p:nvPr/>
          </p:nvSpPr>
          <p:spPr>
            <a:xfrm>
              <a:off x="7576185" y="4946650"/>
              <a:ext cx="1978282"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 xml:space="preserve">그래도 여유 있습니다 </a:t>
              </a:r>
              <a:r>
                <a:rPr lang="ko-KR" sz="1120" dirty="0">
                  <a:solidFill>
                    <a:srgbClr val="4B5563"/>
                  </a:solidFill>
                  <a:latin typeface="+mn-lt"/>
                  <a:ea typeface="+mn-ea"/>
                  <a:cs typeface="+mn-cs"/>
                </a:rPr>
                <a:t>[가설]</a:t>
              </a:r>
            </a:p>
          </p:txBody>
        </p:sp>
        <p:sp>
          <p:nvSpPr>
            <p:cNvPr id="41" name="TextBox 41"/>
            <p:cNvSpPr txBox="1"/>
            <p:nvPr/>
          </p:nvSpPr>
          <p:spPr>
            <a:xfrm>
              <a:off x="7575804" y="5200650"/>
              <a:ext cx="3607841"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장비 약 300kg / 600kg · 전력 약 1.5kW / 3.6kW</a:t>
              </a:r>
            </a:p>
          </p:txBody>
        </p:sp>
      </p:grpSp>
      <p:grpSp>
        <p:nvGrpSpPr>
          <p:cNvPr id="44" name="source"/>
          <p:cNvGrpSpPr/>
          <p:nvPr/>
        </p:nvGrpSpPr>
        <p:grpSpPr>
          <a:xfrm>
            <a:off x="528638" y="6381750"/>
            <a:ext cx="10433342" cy="176212"/>
            <a:chOff x="528638" y="6381750"/>
            <a:chExt cx="10433342" cy="176212"/>
          </a:xfrm>
        </p:grpSpPr>
        <p:sp>
          <p:nvSpPr>
            <p:cNvPr id="43" name="TextBox 43"/>
            <p:cNvSpPr txBox="1"/>
            <p:nvPr/>
          </p:nvSpPr>
          <p:spPr>
            <a:xfrm>
              <a:off x="528638" y="6381750"/>
              <a:ext cx="10433342"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차량형 GPR 장착(하부형·후방형)은 배터리 팩·지상고 간섭 시험 후 확정 · 출처: 기아 PV5 카고 제원·액세서리, 오토뷰(2026.1.28, 컨버전 포털) · V2L 3.6kW는 해외 제원 · 배치도는 콘셉트</a:t>
              </a:r>
            </a:p>
          </p:txBody>
        </p:sp>
      </p:grpSp>
      <p:grpSp>
        <p:nvGrpSpPr>
          <p:cNvPr id="47" name="footer"/>
          <p:cNvGrpSpPr/>
          <p:nvPr/>
        </p:nvGrpSpPr>
        <p:grpSpPr>
          <a:xfrm>
            <a:off x="528638" y="6610350"/>
            <a:ext cx="11134724" cy="176212"/>
            <a:chOff x="528638" y="6610350"/>
            <a:chExt cx="11134724" cy="176212"/>
          </a:xfrm>
        </p:grpSpPr>
        <p:sp>
          <p:nvSpPr>
            <p:cNvPr id="45" name="TextBox 45"/>
            <p:cNvSpPr txBox="1"/>
            <p:nvPr/>
          </p:nvSpPr>
          <p:spPr>
            <a:xfrm>
              <a:off x="528638" y="6610350"/>
              <a:ext cx="1487653"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한 명이라도 살릴 수 있다면</a:t>
              </a:r>
            </a:p>
          </p:txBody>
        </p:sp>
        <p:sp>
          <p:nvSpPr>
            <p:cNvPr id="46" name="TextBox 46"/>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09 / 15</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1331366"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PV5와 연결되는 지점</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문제</a:t>
              </a:r>
            </a:p>
          </p:txBody>
        </p:sp>
        <p:sp>
          <p:nvSpPr>
            <p:cNvPr id="6" name="TextBox 6"/>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7" name="TextBox 7"/>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해법</a:t>
              </a:r>
            </a:p>
          </p:txBody>
        </p:sp>
        <p:sp>
          <p:nvSpPr>
            <p:cNvPr id="8" name="TextBox 8"/>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9" name="TextBox 9"/>
            <p:cNvSpPr txBox="1"/>
            <p:nvPr/>
          </p:nvSpPr>
          <p:spPr>
            <a:xfrm>
              <a:off x="9695090" y="301625"/>
              <a:ext cx="269420" cy="205359"/>
            </a:xfrm>
            <a:prstGeom prst="rect">
              <a:avLst/>
            </a:prstGeom>
            <a:noFill/>
            <a:ln>
              <a:noFill/>
            </a:ln>
          </p:spPr>
          <p:txBody>
            <a:bodyPr wrap="none" lIns="0" tIns="0" rIns="0" bIns="0" anchor="t" anchorCtr="0">
              <a:spAutoFit/>
            </a:bodyPr>
            <a:lstStyle/>
            <a:p>
              <a:pPr algn="ctr"/>
              <a:r>
                <a:rPr lang="en-US" sz="1050" b="1" dirty="0">
                  <a:solidFill>
                    <a:srgbClr val="0B1E3C"/>
                  </a:solidFill>
                  <a:latin typeface="+mn-lt"/>
                  <a:ea typeface="+mn-ea"/>
                  <a:cs typeface="+mn-cs"/>
                </a:rPr>
                <a:t>PV5</a:t>
              </a:r>
            </a:p>
          </p:txBody>
        </p:sp>
        <p:sp>
          <p:nvSpPr>
            <p:cNvPr id="10" name="Rectangle 10"/>
            <p:cNvSpPr/>
            <p:nvPr/>
          </p:nvSpPr>
          <p:spPr>
            <a:xfrm>
              <a:off x="9601200" y="514350"/>
              <a:ext cx="457200" cy="28575"/>
            </a:xfrm>
            <a:prstGeom prst="rect">
              <a:avLst/>
            </a:prstGeom>
            <a:solidFill>
              <a:srgbClr val="F5B700"/>
            </a:solidFill>
            <a:ln>
              <a:noFill/>
            </a:ln>
          </p:spPr>
        </p:sp>
        <p:sp>
          <p:nvSpPr>
            <p:cNvPr id="11" name="TextBox 11"/>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2" name="TextBox 12"/>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3" name="TextBox 13"/>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4" name="TextBox 14"/>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사업</a:t>
              </a:r>
            </a:p>
          </p:txBody>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160" y="774700"/>
            <a:ext cx="10318685" cy="586740"/>
            <a:chOff x="518160" y="774700"/>
            <a:chExt cx="10318685" cy="586740"/>
          </a:xfrm>
        </p:grpSpPr>
        <p:sp>
          <p:nvSpPr>
            <p:cNvPr id="17" name="TextBox 17"/>
            <p:cNvSpPr txBox="1"/>
            <p:nvPr/>
          </p:nvSpPr>
          <p:spPr>
            <a:xfrm>
              <a:off x="518160" y="774700"/>
              <a:ext cx="10318685"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GroundWatch는 PV5의 소프트웨어·전장 구조에 꽂힙니다</a:t>
              </a:r>
            </a:p>
          </p:txBody>
        </p:sp>
      </p:grpSp>
      <p:grpSp>
        <p:nvGrpSpPr>
          <p:cNvPr id="20" name="lead"/>
          <p:cNvGrpSpPr/>
          <p:nvPr/>
        </p:nvGrpSpPr>
        <p:grpSpPr>
          <a:xfrm>
            <a:off x="526542" y="1358900"/>
            <a:ext cx="7611180" cy="264033"/>
            <a:chOff x="526542" y="1358900"/>
            <a:chExt cx="7611180" cy="264033"/>
          </a:xfrm>
        </p:grpSpPr>
        <p:sp>
          <p:nvSpPr>
            <p:cNvPr id="19" name="TextBox 19"/>
            <p:cNvSpPr txBox="1"/>
            <p:nvPr/>
          </p:nvSpPr>
          <p:spPr>
            <a:xfrm>
              <a:off x="526542" y="1358900"/>
              <a:ext cx="7611180" cy="264033"/>
            </a:xfrm>
            <a:prstGeom prst="rect">
              <a:avLst/>
            </a:prstGeom>
            <a:noFill/>
            <a:ln>
              <a:noFill/>
            </a:ln>
          </p:spPr>
          <p:txBody>
            <a:bodyPr wrap="none" lIns="0" tIns="0" rIns="0" bIns="0" anchor="t" anchorCtr="0">
              <a:spAutoFit/>
            </a:bodyPr>
            <a:lstStyle/>
            <a:p>
              <a:pPr algn="l"/>
              <a:r>
                <a:rPr lang="ko-KR" sz="1350" dirty="0">
                  <a:solidFill>
                    <a:srgbClr val="374151"/>
                  </a:solidFill>
                  <a:latin typeface="+mn-lt"/>
                  <a:ea typeface="+mn-ea"/>
                  <a:cs typeface="+mn-cs"/>
                </a:rPr>
                <a:t>기아가 공개한 PV5 기능만 썼습니다. 실제 권한·범위는 기아 PBV 파트너 승인 후 확정합니다.</a:t>
              </a:r>
            </a:p>
          </p:txBody>
        </p:sp>
      </p:grpSp>
      <p:grpSp>
        <p:nvGrpSpPr>
          <p:cNvPr id="24" name="photo"/>
          <p:cNvGrpSpPr/>
          <p:nvPr/>
        </p:nvGrpSpPr>
        <p:grpSpPr>
          <a:xfrm>
            <a:off x="533400" y="1733550"/>
            <a:ext cx="4953000" cy="3619500"/>
            <a:chOff x="533400" y="1733550"/>
            <a:chExt cx="4953000" cy="3619500"/>
          </a:xfrm>
        </p:grpSpPr>
        <p:pic>
          <p:nvPicPr>
            <p:cNvPr id="21" name="Image 21"/>
            <p:cNvPicPr>
              <a:picLocks noChangeAspect="1"/>
            </p:cNvPicPr>
            <p:nvPr/>
          </p:nvPicPr>
          <p:blipFill>
            <a:blip r:embed="rId2"/>
            <a:srcRect l="4386" t="0" r="4386" b="0"/>
            <a:stretch>
              <a:fillRect/>
            </a:stretch>
          </p:blipFill>
          <p:spPr>
            <a:xfrm>
              <a:off x="533400" y="1733550"/>
              <a:ext cx="4953000" cy="3619500"/>
            </a:xfrm>
            <a:prstGeom prst="rect">
              <a:avLst/>
            </a:prstGeom>
          </p:spPr>
        </p:pic>
        <p:sp>
          <p:nvSpPr>
            <p:cNvPr id="22" name="Rectangle 22"/>
            <p:cNvSpPr/>
            <p:nvPr/>
          </p:nvSpPr>
          <p:spPr>
            <a:xfrm>
              <a:off x="628650" y="1828800"/>
              <a:ext cx="2038350" cy="247650"/>
            </a:xfrm>
            <a:prstGeom prst="roundRect">
              <a:avLst>
                <a:gd name="adj" fmla="val 11538"/>
              </a:avLst>
            </a:prstGeom>
            <a:solidFill>
              <a:srgbClr val="0B1E3C">
                <a:alpha val="90000"/>
              </a:srgbClr>
            </a:solidFill>
            <a:ln>
              <a:noFill/>
            </a:ln>
          </p:spPr>
        </p:sp>
        <p:sp>
          <p:nvSpPr>
            <p:cNvPr id="23" name="TextBox 23"/>
            <p:cNvSpPr txBox="1"/>
            <p:nvPr/>
          </p:nvSpPr>
          <p:spPr>
            <a:xfrm>
              <a:off x="548168" y="1873250"/>
              <a:ext cx="2199315" cy="205359"/>
            </a:xfrm>
            <a:prstGeom prst="rect">
              <a:avLst/>
            </a:prstGeom>
            <a:noFill/>
            <a:ln>
              <a:noFill/>
            </a:ln>
          </p:spPr>
          <p:txBody>
            <a:bodyPr wrap="none" lIns="0" tIns="0" rIns="0" bIns="0" anchor="t" anchorCtr="0">
              <a:spAutoFit/>
            </a:bodyPr>
            <a:lstStyle/>
            <a:p>
              <a:pPr algn="ctr"/>
              <a:r>
                <a:rPr lang="ko-KR" sz="1050" b="1" dirty="0">
                  <a:solidFill>
                    <a:srgbClr val="FFFFFF"/>
                  </a:solidFill>
                  <a:latin typeface="+mn-lt"/>
                  <a:ea typeface="+mn-ea"/>
                  <a:cs typeface="+mn-cs"/>
                </a:rPr>
                <a:t>[화면 예시] 장비 전원 · PIM 제어</a:t>
              </a:r>
            </a:p>
          </p:txBody>
        </p:sp>
      </p:grpSp>
      <p:grpSp>
        <p:nvGrpSpPr>
          <p:cNvPr id="39" name="links"/>
          <p:cNvGrpSpPr/>
          <p:nvPr/>
        </p:nvGrpSpPr>
        <p:grpSpPr>
          <a:xfrm>
            <a:off x="5860161" y="1765300"/>
            <a:ext cx="5798439" cy="3403346"/>
            <a:chOff x="5860161" y="1765300"/>
            <a:chExt cx="5798439" cy="3403346"/>
          </a:xfrm>
        </p:grpSpPr>
        <p:sp>
          <p:nvSpPr>
            <p:cNvPr id="25" name="TextBox 25"/>
            <p:cNvSpPr txBox="1"/>
            <p:nvPr/>
          </p:nvSpPr>
          <p:spPr>
            <a:xfrm>
              <a:off x="5860161" y="1765300"/>
              <a:ext cx="2519020" cy="278702"/>
            </a:xfrm>
            <a:prstGeom prst="rect">
              <a:avLst/>
            </a:prstGeom>
            <a:noFill/>
            <a:ln>
              <a:noFill/>
            </a:ln>
          </p:spPr>
          <p:txBody>
            <a:bodyPr wrap="none" lIns="0" tIns="0" rIns="0" bIns="0" anchor="t" anchorCtr="0">
              <a:spAutoFit/>
            </a:bodyPr>
            <a:lstStyle/>
            <a:p>
              <a:pPr algn="l"/>
              <a:r>
                <a:rPr lang="en-US" sz="1420" b="1" dirty="0">
                  <a:solidFill>
                    <a:srgbClr val="0B1E3C"/>
                  </a:solidFill>
                  <a:latin typeface="+mn-lt"/>
                  <a:ea typeface="+mn-ea"/>
                  <a:cs typeface="+mn-cs"/>
                </a:rPr>
                <a:t xml:space="preserve">Navihelper </a:t>
              </a:r>
              <a:r>
                <a:rPr lang="ko-KR" sz="1050" dirty="0">
                  <a:solidFill>
                    <a:srgbClr val="4B5563"/>
                  </a:solidFill>
                  <a:latin typeface="+mn-lt"/>
                  <a:ea typeface="+mn-ea"/>
                  <a:cs typeface="+mn-cs"/>
                </a:rPr>
                <a:t>내비 목적지·경로 연계</a:t>
              </a:r>
            </a:p>
          </p:txBody>
        </p:sp>
        <p:sp>
          <p:nvSpPr>
            <p:cNvPr id="26" name="TextBox 26"/>
            <p:cNvSpPr txBox="1"/>
            <p:nvPr/>
          </p:nvSpPr>
          <p:spPr>
            <a:xfrm>
              <a:off x="5861304" y="2038350"/>
              <a:ext cx="3598469"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 재확인 지점·순찰 경로를 차량 내비로 바로 안내</a:t>
              </a:r>
            </a:p>
          </p:txBody>
        </p:sp>
        <p:sp>
          <p:nvSpPr>
            <p:cNvPr id="27" name="Line 27"/>
            <p:cNvSpPr/>
            <p:nvPr/>
          </p:nvSpPr>
          <p:spPr>
            <a:xfrm>
              <a:off x="5867400" y="2362200"/>
              <a:ext cx="5791200" cy="9525"/>
            </a:xfrm>
            <a:custGeom>
              <a:avLst/>
              <a:gdLst/>
              <a:ahLst/>
              <a:cxnLst/>
              <a:rect l="l" t="t" r="r" b="b"/>
              <a:pathLst>
                <a:path w="5791200" h="9525">
                  <a:moveTo>
                    <a:pt x="0" y="0"/>
                  </a:moveTo>
                  <a:lnTo>
                    <a:pt x="5791200" y="0"/>
                  </a:lnTo>
                </a:path>
              </a:pathLst>
            </a:custGeom>
            <a:noFill/>
            <a:ln w="9525">
              <a:solidFill>
                <a:srgbClr val="E2E6EC"/>
              </a:solidFill>
            </a:ln>
          </p:spPr>
        </p:sp>
        <p:sp>
          <p:nvSpPr>
            <p:cNvPr id="28" name="TextBox 28"/>
            <p:cNvSpPr txBox="1"/>
            <p:nvPr/>
          </p:nvSpPr>
          <p:spPr>
            <a:xfrm>
              <a:off x="5860161" y="2489200"/>
              <a:ext cx="2914860" cy="278702"/>
            </a:xfrm>
            <a:prstGeom prst="rect">
              <a:avLst/>
            </a:prstGeom>
            <a:noFill/>
            <a:ln>
              <a:noFill/>
            </a:ln>
          </p:spPr>
          <p:txBody>
            <a:bodyPr wrap="none" lIns="0" tIns="0" rIns="0" bIns="0" anchor="t" anchorCtr="0">
              <a:spAutoFit/>
            </a:bodyPr>
            <a:lstStyle/>
            <a:p>
              <a:pPr algn="l"/>
              <a:r>
                <a:rPr lang="en-US" sz="1420" b="1" dirty="0">
                  <a:solidFill>
                    <a:srgbClr val="0B1E3C"/>
                  </a:solidFill>
                  <a:latin typeface="+mn-lt"/>
                  <a:ea typeface="+mn-ea"/>
                  <a:cs typeface="+mn-cs"/>
                </a:rPr>
                <a:t xml:space="preserve">Vehicle API </a:t>
              </a:r>
              <a:r>
                <a:rPr lang="ko-KR" sz="1050" dirty="0">
                  <a:solidFill>
                    <a:srgbClr val="4B5563"/>
                  </a:solidFill>
                  <a:latin typeface="+mn-lt"/>
                  <a:ea typeface="+mn-ea"/>
                  <a:cs typeface="+mn-cs"/>
                </a:rPr>
                <a:t>충전 상태·도어 등 차량 정보</a:t>
              </a:r>
            </a:p>
          </p:txBody>
        </p:sp>
        <p:sp>
          <p:nvSpPr>
            <p:cNvPr id="29" name="TextBox 29"/>
            <p:cNvSpPr txBox="1"/>
            <p:nvPr/>
          </p:nvSpPr>
          <p:spPr>
            <a:xfrm>
              <a:off x="5861304" y="2762250"/>
              <a:ext cx="3856939"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 배터리 하한에서 장비 전원 정리, 문 열면 현장 모드</a:t>
              </a:r>
            </a:p>
          </p:txBody>
        </p:sp>
        <p:sp>
          <p:nvSpPr>
            <p:cNvPr id="30" name="Line 30"/>
            <p:cNvSpPr/>
            <p:nvPr/>
          </p:nvSpPr>
          <p:spPr>
            <a:xfrm>
              <a:off x="5867400" y="3086100"/>
              <a:ext cx="5791200" cy="9525"/>
            </a:xfrm>
            <a:custGeom>
              <a:avLst/>
              <a:gdLst/>
              <a:ahLst/>
              <a:cxnLst/>
              <a:rect l="l" t="t" r="r" b="b"/>
              <a:pathLst>
                <a:path w="5791200" h="9525">
                  <a:moveTo>
                    <a:pt x="0" y="0"/>
                  </a:moveTo>
                  <a:lnTo>
                    <a:pt x="5791200" y="0"/>
                  </a:lnTo>
                </a:path>
              </a:pathLst>
            </a:custGeom>
            <a:noFill/>
            <a:ln w="9525">
              <a:solidFill>
                <a:srgbClr val="E2E6EC"/>
              </a:solidFill>
            </a:ln>
          </p:spPr>
        </p:sp>
        <p:sp>
          <p:nvSpPr>
            <p:cNvPr id="31" name="TextBox 31"/>
            <p:cNvSpPr txBox="1"/>
            <p:nvPr/>
          </p:nvSpPr>
          <p:spPr>
            <a:xfrm>
              <a:off x="5860161" y="3213100"/>
              <a:ext cx="2009597" cy="278702"/>
            </a:xfrm>
            <a:prstGeom prst="rect">
              <a:avLst/>
            </a:prstGeom>
            <a:noFill/>
            <a:ln>
              <a:noFill/>
            </a:ln>
          </p:spPr>
          <p:txBody>
            <a:bodyPr wrap="none" lIns="0" tIns="0" rIns="0" bIns="0" anchor="t" anchorCtr="0">
              <a:spAutoFit/>
            </a:bodyPr>
            <a:lstStyle/>
            <a:p>
              <a:pPr algn="l"/>
              <a:r>
                <a:rPr lang="en-US" sz="1420" b="1" dirty="0">
                  <a:solidFill>
                    <a:srgbClr val="0B1E3C"/>
                  </a:solidFill>
                  <a:latin typeface="+mn-lt"/>
                  <a:ea typeface="+mn-ea"/>
                  <a:cs typeface="+mn-cs"/>
                </a:rPr>
                <a:t xml:space="preserve">Gleo AI </a:t>
              </a:r>
              <a:r>
                <a:rPr lang="ko-KR" sz="1050" dirty="0">
                  <a:solidFill>
                    <a:srgbClr val="4B5563"/>
                  </a:solidFill>
                  <a:latin typeface="+mn-lt"/>
                  <a:ea typeface="+mn-ea"/>
                  <a:cs typeface="+mn-cs"/>
                </a:rPr>
                <a:t>음성 명령·음성 인식</a:t>
              </a:r>
            </a:p>
          </p:txBody>
        </p:sp>
        <p:sp>
          <p:nvSpPr>
            <p:cNvPr id="32" name="TextBox 32"/>
            <p:cNvSpPr txBox="1"/>
            <p:nvPr/>
          </p:nvSpPr>
          <p:spPr>
            <a:xfrm>
              <a:off x="5861304" y="3486150"/>
              <a:ext cx="3412693"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 운전자는 손 떼지 않고 ‘침하 의심’ 음성 기록</a:t>
              </a:r>
            </a:p>
          </p:txBody>
        </p:sp>
        <p:sp>
          <p:nvSpPr>
            <p:cNvPr id="33" name="Line 33"/>
            <p:cNvSpPr/>
            <p:nvPr/>
          </p:nvSpPr>
          <p:spPr>
            <a:xfrm>
              <a:off x="5867400" y="3810000"/>
              <a:ext cx="5791200" cy="9525"/>
            </a:xfrm>
            <a:custGeom>
              <a:avLst/>
              <a:gdLst/>
              <a:ahLst/>
              <a:cxnLst/>
              <a:rect l="l" t="t" r="r" b="b"/>
              <a:pathLst>
                <a:path w="5791200" h="9525">
                  <a:moveTo>
                    <a:pt x="0" y="0"/>
                  </a:moveTo>
                  <a:lnTo>
                    <a:pt x="5791200" y="0"/>
                  </a:lnTo>
                </a:path>
              </a:pathLst>
            </a:custGeom>
            <a:noFill/>
            <a:ln w="9525">
              <a:solidFill>
                <a:srgbClr val="E2E6EC"/>
              </a:solidFill>
            </a:ln>
          </p:spPr>
        </p:sp>
        <p:sp>
          <p:nvSpPr>
            <p:cNvPr id="34" name="TextBox 34"/>
            <p:cNvSpPr txBox="1"/>
            <p:nvPr/>
          </p:nvSpPr>
          <p:spPr>
            <a:xfrm>
              <a:off x="5860161" y="3937000"/>
              <a:ext cx="3577182"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 xml:space="preserve">PIM 제어기·12V 블록 </a:t>
              </a:r>
              <a:r>
                <a:rPr lang="ko-KR" sz="1050" dirty="0">
                  <a:solidFill>
                    <a:srgbClr val="4B5563"/>
                  </a:solidFill>
                  <a:latin typeface="+mn-lt"/>
                  <a:ea typeface="+mn-ea"/>
                  <a:cs typeface="+mn-cs"/>
                </a:rPr>
                <a:t>IVI로 외부 전장 장비 제어</a:t>
              </a:r>
            </a:p>
          </p:txBody>
        </p:sp>
        <p:sp>
          <p:nvSpPr>
            <p:cNvPr id="35" name="TextBox 35"/>
            <p:cNvSpPr txBox="1"/>
            <p:nvPr/>
          </p:nvSpPr>
          <p:spPr>
            <a:xfrm>
              <a:off x="5861304" y="4210050"/>
              <a:ext cx="2821686"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 차량 화면에서 GPR·작업등을 켜고 끔</a:t>
              </a:r>
            </a:p>
          </p:txBody>
        </p:sp>
        <p:sp>
          <p:nvSpPr>
            <p:cNvPr id="36" name="Line 36"/>
            <p:cNvSpPr/>
            <p:nvPr/>
          </p:nvSpPr>
          <p:spPr>
            <a:xfrm>
              <a:off x="5867400" y="4533900"/>
              <a:ext cx="5791200" cy="9525"/>
            </a:xfrm>
            <a:custGeom>
              <a:avLst/>
              <a:gdLst/>
              <a:ahLst/>
              <a:cxnLst/>
              <a:rect l="l" t="t" r="r" b="b"/>
              <a:pathLst>
                <a:path w="5791200" h="9525">
                  <a:moveTo>
                    <a:pt x="0" y="0"/>
                  </a:moveTo>
                  <a:lnTo>
                    <a:pt x="5791200" y="0"/>
                  </a:lnTo>
                </a:path>
              </a:pathLst>
            </a:custGeom>
            <a:noFill/>
            <a:ln w="9525">
              <a:solidFill>
                <a:srgbClr val="E2E6EC"/>
              </a:solidFill>
            </a:ln>
          </p:spPr>
        </p:sp>
        <p:sp>
          <p:nvSpPr>
            <p:cNvPr id="37" name="TextBox 37"/>
            <p:cNvSpPr txBox="1"/>
            <p:nvPr/>
          </p:nvSpPr>
          <p:spPr>
            <a:xfrm>
              <a:off x="5860161" y="4660900"/>
              <a:ext cx="3334567" cy="278702"/>
            </a:xfrm>
            <a:prstGeom prst="rect">
              <a:avLst/>
            </a:prstGeom>
            <a:noFill/>
            <a:ln>
              <a:noFill/>
            </a:ln>
          </p:spPr>
          <p:txBody>
            <a:bodyPr wrap="none" lIns="0" tIns="0" rIns="0" bIns="0" anchor="t" anchorCtr="0">
              <a:spAutoFit/>
            </a:bodyPr>
            <a:lstStyle/>
            <a:p>
              <a:pPr algn="l"/>
              <a:r>
                <a:rPr lang="en-US" sz="1420" b="1" dirty="0">
                  <a:solidFill>
                    <a:srgbClr val="0B1E3C"/>
                  </a:solidFill>
                  <a:latin typeface="+mn-lt"/>
                  <a:ea typeface="+mn-ea"/>
                  <a:cs typeface="+mn-cs"/>
                </a:rPr>
                <a:t xml:space="preserve">Pleos App Market </a:t>
              </a:r>
              <a:r>
                <a:rPr lang="ko-KR" sz="1050" dirty="0">
                  <a:solidFill>
                    <a:srgbClr val="4B5563"/>
                  </a:solidFill>
                  <a:latin typeface="+mn-lt"/>
                  <a:ea typeface="+mn-ea"/>
                  <a:cs typeface="+mn-cs"/>
                </a:rPr>
                <a:t>검증 후 지원 차종에 배포</a:t>
              </a:r>
            </a:p>
          </p:txBody>
        </p:sp>
        <p:sp>
          <p:nvSpPr>
            <p:cNvPr id="38" name="TextBox 38"/>
            <p:cNvSpPr txBox="1"/>
            <p:nvPr/>
          </p:nvSpPr>
          <p:spPr>
            <a:xfrm>
              <a:off x="5861304" y="4933950"/>
              <a:ext cx="2614727"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 다른 지자체 PV5에 같은 앱을 설치</a:t>
              </a:r>
            </a:p>
          </p:txBody>
        </p:sp>
      </p:grpSp>
      <p:grpSp>
        <p:nvGrpSpPr>
          <p:cNvPr id="42" name="conclusion"/>
          <p:cNvGrpSpPr/>
          <p:nvPr/>
        </p:nvGrpSpPr>
        <p:grpSpPr>
          <a:xfrm>
            <a:off x="533400" y="5619750"/>
            <a:ext cx="8174967" cy="419100"/>
            <a:chOff x="533400" y="5619750"/>
            <a:chExt cx="8174967" cy="419100"/>
          </a:xfrm>
        </p:grpSpPr>
        <p:sp>
          <p:nvSpPr>
            <p:cNvPr id="40" name="Rectangle 40"/>
            <p:cNvSpPr/>
            <p:nvPr/>
          </p:nvSpPr>
          <p:spPr>
            <a:xfrm>
              <a:off x="533400" y="5619750"/>
              <a:ext cx="38100" cy="419100"/>
            </a:xfrm>
            <a:prstGeom prst="rect">
              <a:avLst/>
            </a:prstGeom>
            <a:solidFill>
              <a:srgbClr val="F5B700"/>
            </a:solidFill>
            <a:ln>
              <a:noFill/>
            </a:ln>
          </p:spPr>
        </p:sp>
        <p:sp>
          <p:nvSpPr>
            <p:cNvPr id="41" name="TextBox 41"/>
            <p:cNvSpPr txBox="1"/>
            <p:nvPr/>
          </p:nvSpPr>
          <p:spPr>
            <a:xfrm>
              <a:off x="715899" y="5715000"/>
              <a:ext cx="7992468" cy="308991"/>
            </a:xfrm>
            <a:prstGeom prst="rect">
              <a:avLst/>
            </a:prstGeom>
            <a:noFill/>
            <a:ln>
              <a:noFill/>
            </a:ln>
          </p:spPr>
          <p:txBody>
            <a:bodyPr wrap="none" lIns="0" tIns="0" rIns="0" bIns="0" anchor="t" anchorCtr="0">
              <a:spAutoFit/>
            </a:bodyPr>
            <a:lstStyle/>
            <a:p>
              <a:pPr algn="l"/>
              <a:r>
                <a:rPr lang="ko-KR" sz="1580" b="1" dirty="0">
                  <a:solidFill>
                    <a:srgbClr val="0B1E3C"/>
                  </a:solidFill>
                  <a:latin typeface="+mn-lt"/>
                  <a:ea typeface="+mn-ea"/>
                  <a:cs typeface="+mn-cs"/>
                </a:rPr>
                <a:t>다른 밴은 장비를 싣는 데서 끝나지만, PV5에서는 차가 탐사 업무의 일부가 됩니다.</a:t>
              </a:r>
            </a:p>
          </p:txBody>
        </p:sp>
      </p:grpSp>
      <p:grpSp>
        <p:nvGrpSpPr>
          <p:cNvPr id="44" name="source"/>
          <p:cNvGrpSpPr/>
          <p:nvPr/>
        </p:nvGrpSpPr>
        <p:grpSpPr>
          <a:xfrm>
            <a:off x="528638" y="6381750"/>
            <a:ext cx="9438441" cy="176212"/>
            <a:chOff x="528638" y="6381750"/>
            <a:chExt cx="9438441" cy="176212"/>
          </a:xfrm>
        </p:grpSpPr>
        <p:sp>
          <p:nvSpPr>
            <p:cNvPr id="43" name="TextBox 43"/>
            <p:cNvSpPr txBox="1"/>
            <p:nvPr/>
          </p:nvSpPr>
          <p:spPr>
            <a:xfrm>
              <a:off x="528638" y="6381750"/>
              <a:ext cx="9438441"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출처: 기아 PBV 아이디어 공모전 솔루션 부문 안내(Pleos Connect SDK·Vehicle API·Navihelper·Gleo AI·App Market) · 오토뷰(2026.1.28, PIM 제어기·12V 조인트 블록)</a:t>
              </a:r>
            </a:p>
          </p:txBody>
        </p:sp>
      </p:grpSp>
      <p:grpSp>
        <p:nvGrpSpPr>
          <p:cNvPr id="47" name="footer"/>
          <p:cNvGrpSpPr/>
          <p:nvPr/>
        </p:nvGrpSpPr>
        <p:grpSpPr>
          <a:xfrm>
            <a:off x="528638" y="6610350"/>
            <a:ext cx="11134724" cy="176212"/>
            <a:chOff x="528638" y="6610350"/>
            <a:chExt cx="11134724" cy="176212"/>
          </a:xfrm>
        </p:grpSpPr>
        <p:sp>
          <p:nvSpPr>
            <p:cNvPr id="45" name="TextBox 45"/>
            <p:cNvSpPr txBox="1"/>
            <p:nvPr/>
          </p:nvSpPr>
          <p:spPr>
            <a:xfrm>
              <a:off x="528638" y="6610350"/>
              <a:ext cx="1487653"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한 명이라도 살릴 수 있다면</a:t>
              </a:r>
            </a:p>
          </p:txBody>
        </p:sp>
        <p:sp>
          <p:nvSpPr>
            <p:cNvPr id="46" name="TextBox 46"/>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10 / 15</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725957"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왜 PV5인가</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문제</a:t>
              </a:r>
            </a:p>
          </p:txBody>
        </p:sp>
        <p:sp>
          <p:nvSpPr>
            <p:cNvPr id="6" name="TextBox 6"/>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7" name="TextBox 7"/>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해법</a:t>
              </a:r>
            </a:p>
          </p:txBody>
        </p:sp>
        <p:sp>
          <p:nvSpPr>
            <p:cNvPr id="8" name="TextBox 8"/>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9" name="TextBox 9"/>
            <p:cNvSpPr txBox="1"/>
            <p:nvPr/>
          </p:nvSpPr>
          <p:spPr>
            <a:xfrm>
              <a:off x="9695090" y="301625"/>
              <a:ext cx="269420" cy="205359"/>
            </a:xfrm>
            <a:prstGeom prst="rect">
              <a:avLst/>
            </a:prstGeom>
            <a:noFill/>
            <a:ln>
              <a:noFill/>
            </a:ln>
          </p:spPr>
          <p:txBody>
            <a:bodyPr wrap="none" lIns="0" tIns="0" rIns="0" bIns="0" anchor="t" anchorCtr="0">
              <a:spAutoFit/>
            </a:bodyPr>
            <a:lstStyle/>
            <a:p>
              <a:pPr algn="ctr"/>
              <a:r>
                <a:rPr lang="en-US" sz="1050" b="1" dirty="0">
                  <a:solidFill>
                    <a:srgbClr val="0B1E3C"/>
                  </a:solidFill>
                  <a:latin typeface="+mn-lt"/>
                  <a:ea typeface="+mn-ea"/>
                  <a:cs typeface="+mn-cs"/>
                </a:rPr>
                <a:t>PV5</a:t>
              </a:r>
            </a:p>
          </p:txBody>
        </p:sp>
        <p:sp>
          <p:nvSpPr>
            <p:cNvPr id="10" name="Rectangle 10"/>
            <p:cNvSpPr/>
            <p:nvPr/>
          </p:nvSpPr>
          <p:spPr>
            <a:xfrm>
              <a:off x="9601200" y="514350"/>
              <a:ext cx="457200" cy="28575"/>
            </a:xfrm>
            <a:prstGeom prst="rect">
              <a:avLst/>
            </a:prstGeom>
            <a:solidFill>
              <a:srgbClr val="F5B700"/>
            </a:solidFill>
            <a:ln>
              <a:noFill/>
            </a:ln>
          </p:spPr>
        </p:sp>
        <p:sp>
          <p:nvSpPr>
            <p:cNvPr id="11" name="TextBox 11"/>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2" name="TextBox 12"/>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3" name="TextBox 13"/>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4" name="TextBox 14"/>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사업</a:t>
              </a:r>
            </a:p>
          </p:txBody>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922" y="781050"/>
            <a:ext cx="6393811" cy="557403"/>
            <a:chOff x="518922" y="781050"/>
            <a:chExt cx="6393811" cy="557403"/>
          </a:xfrm>
        </p:grpSpPr>
        <p:sp>
          <p:nvSpPr>
            <p:cNvPr id="17" name="TextBox 17"/>
            <p:cNvSpPr txBox="1"/>
            <p:nvPr/>
          </p:nvSpPr>
          <p:spPr>
            <a:xfrm>
              <a:off x="518922" y="781050"/>
              <a:ext cx="6393811" cy="557403"/>
            </a:xfrm>
            <a:prstGeom prst="rect">
              <a:avLst/>
            </a:prstGeom>
            <a:noFill/>
            <a:ln>
              <a:noFill/>
            </a:ln>
          </p:spPr>
          <p:txBody>
            <a:bodyPr wrap="none" lIns="0" tIns="0" rIns="0" bIns="0" anchor="t" anchorCtr="0">
              <a:spAutoFit/>
            </a:bodyPr>
            <a:lstStyle/>
            <a:p>
              <a:pPr algn="l"/>
              <a:r>
                <a:rPr lang="ko-KR" sz="2850" b="1" spc="-75" dirty="0">
                  <a:solidFill>
                    <a:srgbClr val="0B1E3C"/>
                  </a:solidFill>
                  <a:latin typeface="+mn-lt"/>
                  <a:ea typeface="+mn-ea"/>
                  <a:cs typeface="+mn-cs"/>
                </a:rPr>
                <a:t>가격이 아니라 구조 때문에 PV5입니다</a:t>
              </a:r>
            </a:p>
          </p:txBody>
        </p:sp>
      </p:grpSp>
      <p:grpSp>
        <p:nvGrpSpPr>
          <p:cNvPr id="20" name="lead"/>
          <p:cNvGrpSpPr/>
          <p:nvPr/>
        </p:nvGrpSpPr>
        <p:grpSpPr>
          <a:xfrm>
            <a:off x="526542" y="1339850"/>
            <a:ext cx="9427693" cy="264033"/>
            <a:chOff x="526542" y="1339850"/>
            <a:chExt cx="9427693" cy="264033"/>
          </a:xfrm>
        </p:grpSpPr>
        <p:sp>
          <p:nvSpPr>
            <p:cNvPr id="19" name="TextBox 19"/>
            <p:cNvSpPr txBox="1"/>
            <p:nvPr/>
          </p:nvSpPr>
          <p:spPr>
            <a:xfrm>
              <a:off x="526542" y="1339850"/>
              <a:ext cx="9427693" cy="264033"/>
            </a:xfrm>
            <a:prstGeom prst="rect">
              <a:avLst/>
            </a:prstGeom>
            <a:noFill/>
            <a:ln>
              <a:noFill/>
            </a:ln>
          </p:spPr>
          <p:txBody>
            <a:bodyPr wrap="none" lIns="0" tIns="0" rIns="0" bIns="0" anchor="t" anchorCtr="0">
              <a:spAutoFit/>
            </a:bodyPr>
            <a:lstStyle/>
            <a:p>
              <a:pPr algn="l"/>
              <a:r>
                <a:rPr lang="ko-KR" sz="1350" dirty="0">
                  <a:solidFill>
                    <a:srgbClr val="374151"/>
                  </a:solidFill>
                  <a:latin typeface="+mn-lt"/>
                  <a:ea typeface="+mn-ea"/>
                  <a:cs typeface="+mn-cs"/>
                </a:rPr>
                <a:t>그룹 전기 상용차는 용도가 나뉘어 있습니다. 탐사·판독·재검증을 한 차에서 하려면 무엇이 필요한지로 골랐습니다.</a:t>
              </a:r>
            </a:p>
          </p:txBody>
        </p:sp>
      </p:grpSp>
      <p:grpSp>
        <p:nvGrpSpPr>
          <p:cNvPr id="53" name="compare"/>
          <p:cNvGrpSpPr/>
          <p:nvPr/>
        </p:nvGrpSpPr>
        <p:grpSpPr>
          <a:xfrm>
            <a:off x="527685" y="1733550"/>
            <a:ext cx="11130915" cy="2362200"/>
            <a:chOff x="527685" y="1733550"/>
            <a:chExt cx="11130915" cy="2362200"/>
          </a:xfrm>
        </p:grpSpPr>
        <p:sp>
          <p:nvSpPr>
            <p:cNvPr id="21" name="Rectangle 21"/>
            <p:cNvSpPr/>
            <p:nvPr/>
          </p:nvSpPr>
          <p:spPr>
            <a:xfrm>
              <a:off x="2057400" y="1733550"/>
              <a:ext cx="2400300" cy="2362200"/>
            </a:xfrm>
            <a:prstGeom prst="rect">
              <a:avLst/>
            </a:prstGeom>
            <a:solidFill>
              <a:srgbClr val="FFF6D6"/>
            </a:solidFill>
            <a:ln>
              <a:noFill/>
            </a:ln>
          </p:spPr>
        </p:sp>
        <p:sp>
          <p:nvSpPr>
            <p:cNvPr id="22" name="Rectangle 22"/>
            <p:cNvSpPr/>
            <p:nvPr/>
          </p:nvSpPr>
          <p:spPr>
            <a:xfrm>
              <a:off x="2057400" y="1733550"/>
              <a:ext cx="2400300" cy="38100"/>
            </a:xfrm>
            <a:prstGeom prst="rect">
              <a:avLst/>
            </a:prstGeom>
            <a:solidFill>
              <a:srgbClr val="F5B700"/>
            </a:solidFill>
            <a:ln>
              <a:noFill/>
            </a:ln>
          </p:spPr>
        </p:sp>
        <p:grpSp>
          <p:nvGrpSpPr>
            <p:cNvPr id="27" name="Group 27"/>
            <p:cNvGrpSpPr/>
            <p:nvPr/>
          </p:nvGrpSpPr>
          <p:grpSpPr>
            <a:xfrm>
              <a:off x="2203323" y="1885950"/>
              <a:ext cx="8562647" cy="250317"/>
              <a:chOff x="2203323" y="1885950"/>
              <a:chExt cx="8562647" cy="250317"/>
            </a:xfrm>
          </p:grpSpPr>
          <p:sp>
            <p:nvSpPr>
              <p:cNvPr id="23" name="TextBox 23"/>
              <p:cNvSpPr txBox="1"/>
              <p:nvPr/>
            </p:nvSpPr>
            <p:spPr>
              <a:xfrm>
                <a:off x="2203323" y="1885950"/>
                <a:ext cx="1132342"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기아 PV5 카고</a:t>
                </a:r>
              </a:p>
            </p:txBody>
          </p:sp>
          <p:sp>
            <p:nvSpPr>
              <p:cNvPr id="24" name="TextBox 24"/>
              <p:cNvSpPr txBox="1"/>
              <p:nvPr/>
            </p:nvSpPr>
            <p:spPr>
              <a:xfrm>
                <a:off x="4603623" y="1885950"/>
                <a:ext cx="1844648" cy="250317"/>
              </a:xfrm>
              <a:prstGeom prst="rect">
                <a:avLst/>
              </a:prstGeom>
              <a:noFill/>
              <a:ln>
                <a:noFill/>
              </a:ln>
            </p:spPr>
            <p:txBody>
              <a:bodyPr wrap="none" lIns="0" tIns="0" rIns="0" bIns="0" anchor="t" anchorCtr="0">
                <a:spAutoFit/>
              </a:bodyPr>
              <a:lstStyle/>
              <a:p>
                <a:pPr algn="l"/>
                <a:r>
                  <a:rPr lang="ko-KR" sz="1280" b="1" dirty="0">
                    <a:solidFill>
                      <a:srgbClr val="374151"/>
                    </a:solidFill>
                    <a:latin typeface="+mn-lt"/>
                    <a:ea typeface="+mn-ea"/>
                    <a:cs typeface="+mn-cs"/>
                  </a:rPr>
                  <a:t>스타리아 일렉트릭 카고</a:t>
                </a:r>
              </a:p>
            </p:txBody>
          </p:sp>
          <p:sp>
            <p:nvSpPr>
              <p:cNvPr id="25" name="TextBox 25"/>
              <p:cNvSpPr txBox="1"/>
              <p:nvPr/>
            </p:nvSpPr>
            <p:spPr>
              <a:xfrm>
                <a:off x="7003923" y="1885950"/>
                <a:ext cx="1132342" cy="250317"/>
              </a:xfrm>
              <a:prstGeom prst="rect">
                <a:avLst/>
              </a:prstGeom>
              <a:noFill/>
              <a:ln>
                <a:noFill/>
              </a:ln>
            </p:spPr>
            <p:txBody>
              <a:bodyPr wrap="none" lIns="0" tIns="0" rIns="0" bIns="0" anchor="t" anchorCtr="0">
                <a:spAutoFit/>
              </a:bodyPr>
              <a:lstStyle/>
              <a:p>
                <a:pPr algn="l"/>
                <a:r>
                  <a:rPr lang="ko-KR" sz="1280" b="1" dirty="0">
                    <a:solidFill>
                      <a:srgbClr val="374151"/>
                    </a:solidFill>
                    <a:latin typeface="+mn-lt"/>
                    <a:ea typeface="+mn-ea"/>
                    <a:cs typeface="+mn-cs"/>
                  </a:rPr>
                  <a:t>현대 ST1 카고</a:t>
                </a:r>
              </a:p>
            </p:txBody>
          </p:sp>
          <p:sp>
            <p:nvSpPr>
              <p:cNvPr id="26" name="TextBox 26"/>
              <p:cNvSpPr txBox="1"/>
              <p:nvPr/>
            </p:nvSpPr>
            <p:spPr>
              <a:xfrm>
                <a:off x="9404223" y="1885950"/>
                <a:ext cx="1361747" cy="250317"/>
              </a:xfrm>
              <a:prstGeom prst="rect">
                <a:avLst/>
              </a:prstGeom>
              <a:noFill/>
              <a:ln>
                <a:noFill/>
              </a:ln>
            </p:spPr>
            <p:txBody>
              <a:bodyPr wrap="none" lIns="0" tIns="0" rIns="0" bIns="0" anchor="t" anchorCtr="0">
                <a:spAutoFit/>
              </a:bodyPr>
              <a:lstStyle/>
              <a:p>
                <a:pPr algn="l"/>
                <a:r>
                  <a:rPr lang="ko-KR" sz="1280" b="1" dirty="0">
                    <a:solidFill>
                      <a:srgbClr val="374151"/>
                    </a:solidFill>
                    <a:latin typeface="+mn-lt"/>
                    <a:ea typeface="+mn-ea"/>
                    <a:cs typeface="+mn-cs"/>
                  </a:rPr>
                  <a:t>포터II·봉고III EV</a:t>
                </a:r>
              </a:p>
            </p:txBody>
          </p:sp>
        </p:grpSp>
        <p:grpSp>
          <p:nvGrpSpPr>
            <p:cNvPr id="32" name="Group 32"/>
            <p:cNvGrpSpPr/>
            <p:nvPr/>
          </p:nvGrpSpPr>
          <p:grpSpPr>
            <a:xfrm>
              <a:off x="2204466" y="2120900"/>
              <a:ext cx="7882985" cy="205359"/>
              <a:chOff x="2204466" y="2120900"/>
              <a:chExt cx="7882985" cy="205359"/>
            </a:xfrm>
          </p:grpSpPr>
          <p:sp>
            <p:nvSpPr>
              <p:cNvPr id="28" name="TextBox 28"/>
              <p:cNvSpPr txBox="1"/>
              <p:nvPr/>
            </p:nvSpPr>
            <p:spPr>
              <a:xfrm>
                <a:off x="2204466" y="2120900"/>
                <a:ext cx="879977"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롱 · 롱레인지</a:t>
                </a:r>
              </a:p>
            </p:txBody>
          </p:sp>
          <p:sp>
            <p:nvSpPr>
              <p:cNvPr id="29" name="TextBox 29"/>
              <p:cNvSpPr txBox="1"/>
              <p:nvPr/>
            </p:nvSpPr>
            <p:spPr>
              <a:xfrm>
                <a:off x="4604766" y="2120900"/>
                <a:ext cx="371113"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3인승</a:t>
                </a:r>
              </a:p>
            </p:txBody>
          </p:sp>
          <p:sp>
            <p:nvSpPr>
              <p:cNvPr id="30" name="TextBox 30"/>
              <p:cNvSpPr txBox="1"/>
              <p:nvPr/>
            </p:nvSpPr>
            <p:spPr>
              <a:xfrm>
                <a:off x="7005066" y="2120900"/>
                <a:ext cx="759828"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카고 스타일</a:t>
                </a:r>
              </a:p>
            </p:txBody>
          </p:sp>
          <p:sp>
            <p:nvSpPr>
              <p:cNvPr id="31" name="TextBox 31"/>
              <p:cNvSpPr txBox="1"/>
              <p:nvPr/>
            </p:nvSpPr>
            <p:spPr>
              <a:xfrm>
                <a:off x="9405366" y="2120900"/>
                <a:ext cx="682085"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2025년형~</a:t>
                </a:r>
              </a:p>
            </p:txBody>
          </p:sp>
        </p:grpSp>
        <p:sp>
          <p:nvSpPr>
            <p:cNvPr id="33" name="Line 33"/>
            <p:cNvSpPr/>
            <p:nvPr/>
          </p:nvSpPr>
          <p:spPr>
            <a:xfrm>
              <a:off x="533400" y="2381250"/>
              <a:ext cx="11125200" cy="9525"/>
            </a:xfrm>
            <a:custGeom>
              <a:avLst/>
              <a:gdLst/>
              <a:ahLst/>
              <a:cxnLst/>
              <a:rect l="l" t="t" r="r" b="b"/>
              <a:pathLst>
                <a:path w="11125200" h="9525">
                  <a:moveTo>
                    <a:pt x="0" y="0"/>
                  </a:moveTo>
                  <a:lnTo>
                    <a:pt x="11125200" y="0"/>
                  </a:lnTo>
                </a:path>
              </a:pathLst>
            </a:custGeom>
            <a:noFill/>
            <a:ln w="14288">
              <a:solidFill>
                <a:srgbClr val="0B1E3C"/>
              </a:solidFill>
            </a:ln>
          </p:spPr>
        </p:sp>
        <p:grpSp>
          <p:nvGrpSpPr>
            <p:cNvPr id="37" name="Group 37"/>
            <p:cNvGrpSpPr/>
            <p:nvPr/>
          </p:nvGrpSpPr>
          <p:grpSpPr>
            <a:xfrm>
              <a:off x="527685" y="2527300"/>
              <a:ext cx="662022" cy="1458278"/>
              <a:chOff x="527685" y="2527300"/>
              <a:chExt cx="662022" cy="1458278"/>
            </a:xfrm>
          </p:grpSpPr>
          <p:sp>
            <p:nvSpPr>
              <p:cNvPr id="34" name="TextBox 34"/>
              <p:cNvSpPr txBox="1"/>
              <p:nvPr/>
            </p:nvSpPr>
            <p:spPr>
              <a:xfrm>
                <a:off x="527685" y="2527300"/>
                <a:ext cx="662022" cy="220028"/>
              </a:xfrm>
              <a:prstGeom prst="rect">
                <a:avLst/>
              </a:prstGeom>
              <a:noFill/>
              <a:ln>
                <a:noFill/>
              </a:ln>
            </p:spPr>
            <p:txBody>
              <a:bodyPr wrap="none" lIns="0" tIns="0" rIns="0" bIns="0" anchor="t" anchorCtr="0">
                <a:spAutoFit/>
              </a:bodyPr>
              <a:lstStyle/>
              <a:p>
                <a:pPr algn="l"/>
                <a:r>
                  <a:rPr lang="ko-KR" sz="1120" b="1" dirty="0">
                    <a:solidFill>
                      <a:srgbClr val="374151"/>
                    </a:solidFill>
                    <a:latin typeface="+mn-lt"/>
                    <a:ea typeface="+mn-ea"/>
                    <a:cs typeface="+mn-cs"/>
                  </a:rPr>
                  <a:t>차체 성격</a:t>
                </a:r>
              </a:p>
            </p:txBody>
          </p:sp>
          <p:sp>
            <p:nvSpPr>
              <p:cNvPr id="35" name="TextBox 35"/>
              <p:cNvSpPr txBox="1"/>
              <p:nvPr/>
            </p:nvSpPr>
            <p:spPr>
              <a:xfrm>
                <a:off x="527685" y="3270250"/>
                <a:ext cx="662022" cy="220028"/>
              </a:xfrm>
              <a:prstGeom prst="rect">
                <a:avLst/>
              </a:prstGeom>
              <a:noFill/>
              <a:ln>
                <a:noFill/>
              </a:ln>
            </p:spPr>
            <p:txBody>
              <a:bodyPr wrap="none" lIns="0" tIns="0" rIns="0" bIns="0" anchor="t" anchorCtr="0">
                <a:spAutoFit/>
              </a:bodyPr>
              <a:lstStyle/>
              <a:p>
                <a:pPr algn="l"/>
                <a:r>
                  <a:rPr lang="ko-KR" sz="1120" b="1" dirty="0">
                    <a:solidFill>
                      <a:srgbClr val="374151"/>
                    </a:solidFill>
                    <a:latin typeface="+mn-lt"/>
                    <a:ea typeface="+mn-ea"/>
                    <a:cs typeface="+mn-cs"/>
                  </a:rPr>
                  <a:t>차량 가격</a:t>
                </a:r>
              </a:p>
            </p:txBody>
          </p:sp>
          <p:sp>
            <p:nvSpPr>
              <p:cNvPr id="36" name="TextBox 36"/>
              <p:cNvSpPr txBox="1"/>
              <p:nvPr/>
            </p:nvSpPr>
            <p:spPr>
              <a:xfrm>
                <a:off x="527685" y="3765550"/>
                <a:ext cx="598319" cy="220028"/>
              </a:xfrm>
              <a:prstGeom prst="rect">
                <a:avLst/>
              </a:prstGeom>
              <a:noFill/>
              <a:ln>
                <a:noFill/>
              </a:ln>
            </p:spPr>
            <p:txBody>
              <a:bodyPr wrap="none" lIns="0" tIns="0" rIns="0" bIns="0" anchor="t" anchorCtr="0">
                <a:spAutoFit/>
              </a:bodyPr>
              <a:lstStyle/>
              <a:p>
                <a:pPr algn="l"/>
                <a:r>
                  <a:rPr lang="ko-KR" sz="1120" b="1" dirty="0">
                    <a:solidFill>
                      <a:srgbClr val="374151"/>
                    </a:solidFill>
                    <a:latin typeface="+mn-lt"/>
                    <a:ea typeface="+mn-ea"/>
                    <a:cs typeface="+mn-cs"/>
                  </a:rPr>
                  <a:t>1회 충전</a:t>
                </a:r>
              </a:p>
            </p:txBody>
          </p:sp>
        </p:grpSp>
        <p:grpSp>
          <p:nvGrpSpPr>
            <p:cNvPr id="52" name="Group 52"/>
            <p:cNvGrpSpPr/>
            <p:nvPr/>
          </p:nvGrpSpPr>
          <p:grpSpPr>
            <a:xfrm>
              <a:off x="533400" y="2495550"/>
              <a:ext cx="11125200" cy="1583944"/>
              <a:chOff x="533400" y="2495550"/>
              <a:chExt cx="11125200" cy="1583944"/>
            </a:xfrm>
          </p:grpSpPr>
          <p:sp>
            <p:nvSpPr>
              <p:cNvPr id="38" name="TextBox 38"/>
              <p:cNvSpPr txBox="1"/>
              <p:nvPr/>
            </p:nvSpPr>
            <p:spPr>
              <a:xfrm>
                <a:off x="2203704" y="2495550"/>
                <a:ext cx="1932432" cy="634746"/>
              </a:xfrm>
              <a:prstGeom prst="rect">
                <a:avLst/>
              </a:prstGeom>
              <a:noFill/>
              <a:ln>
                <a:noFill/>
              </a:ln>
            </p:spPr>
            <p:txBody>
              <a:bodyPr wrap="none" lIns="0" tIns="0" rIns="0" bIns="0" anchor="t" anchorCtr="0">
                <a:spAutoFit/>
              </a:bodyPr>
              <a:lstStyle/>
              <a:p>
                <a:pPr algn="l">
                  <a:lnSpc>
                    <a:spcPts val="1575"/>
                  </a:lnSpc>
                </a:pPr>
                <a:r>
                  <a:rPr lang="ko-KR" sz="1200" b="1" dirty="0">
                    <a:solidFill>
                      <a:srgbClr val="0B1E3C"/>
                    </a:solidFill>
                    <a:latin typeface="+mn-lt"/>
                    <a:ea typeface="+mn-ea"/>
                    <a:cs typeface="+mn-cs"/>
                  </a:rPr>
                  <a:t>컨버전 전제 소형 PBV</a:t>
                </a:r>
                <a:br>
                  <a:rPr lang="ko-KR" sz="1200" b="1" dirty="0">
                    <a:solidFill>
                      <a:srgbClr val="0B1E3C"/>
                    </a:solidFill>
                    <a:latin typeface="+mn-lt"/>
                    <a:ea typeface="+mn-ea"/>
                    <a:cs typeface="+mn-cs"/>
                  </a:rPr>
                </a:br>
                <a:r>
                  <a:rPr lang="ko-KR" sz="1200" dirty="0">
                    <a:solidFill>
                      <a:srgbClr val="374151"/>
                    </a:solidFill>
                    <a:latin typeface="+mn-lt"/>
                    <a:ea typeface="+mn-ea"/>
                    <a:cs typeface="+mn-cs"/>
                  </a:rPr>
                  <a:t>밀폐 카고룸 4,420L · V2L</a:t>
                </a:r>
                <a:br>
                  <a:rPr lang="ko-KR" sz="1200" dirty="0">
                    <a:solidFill>
                      <a:srgbClr val="374151"/>
                    </a:solidFill>
                    <a:latin typeface="+mn-lt"/>
                    <a:ea typeface="+mn-ea"/>
                    <a:cs typeface="+mn-cs"/>
                  </a:rPr>
                </a:br>
                <a:r>
                  <a:rPr lang="ko-KR" sz="1200" dirty="0">
                    <a:solidFill>
                      <a:srgbClr val="374151"/>
                    </a:solidFill>
                    <a:latin typeface="+mn-lt"/>
                    <a:ea typeface="+mn-ea"/>
                    <a:cs typeface="+mn-cs"/>
                  </a:rPr>
                  <a:t>L-Track · 공식 컨버전 체계</a:t>
                </a:r>
              </a:p>
            </p:txBody>
          </p:sp>
          <p:sp>
            <p:nvSpPr>
              <p:cNvPr id="39" name="TextBox 39"/>
              <p:cNvSpPr txBox="1"/>
              <p:nvPr/>
            </p:nvSpPr>
            <p:spPr>
              <a:xfrm>
                <a:off x="4604004" y="2495550"/>
                <a:ext cx="865632" cy="434721"/>
              </a:xfrm>
              <a:prstGeom prst="rect">
                <a:avLst/>
              </a:prstGeom>
              <a:noFill/>
              <a:ln>
                <a:noFill/>
              </a:ln>
            </p:spPr>
            <p:txBody>
              <a:bodyPr wrap="none" lIns="0" tIns="0" rIns="0" bIns="0" anchor="t" anchorCtr="0">
                <a:spAutoFit/>
              </a:bodyPr>
              <a:lstStyle/>
              <a:p>
                <a:pPr algn="l">
                  <a:lnSpc>
                    <a:spcPts val="1575"/>
                  </a:lnSpc>
                </a:pPr>
                <a:r>
                  <a:rPr lang="ko-KR" sz="1200" dirty="0">
                    <a:solidFill>
                      <a:srgbClr val="111827"/>
                    </a:solidFill>
                    <a:latin typeface="+mn-lt"/>
                    <a:ea typeface="+mn-ea"/>
                    <a:cs typeface="+mn-cs"/>
                  </a:rPr>
                  <a:t>승합 기반 밴</a:t>
                </a:r>
                <a:br>
                  <a:rPr lang="ko-KR" sz="1200" dirty="0">
                    <a:solidFill>
                      <a:srgbClr val="111827"/>
                    </a:solidFill>
                    <a:latin typeface="+mn-lt"/>
                    <a:ea typeface="+mn-ea"/>
                    <a:cs typeface="+mn-cs"/>
                  </a:rPr>
                </a:br>
                <a:r>
                  <a:rPr lang="ko-KR" sz="1200" dirty="0">
                    <a:solidFill>
                      <a:srgbClr val="374151"/>
                    </a:solidFill>
                    <a:latin typeface="+mn-lt"/>
                    <a:ea typeface="+mn-ea"/>
                    <a:cs typeface="+mn-cs"/>
                  </a:rPr>
                  <a:t>밀폐 카고</a:t>
                </a:r>
              </a:p>
            </p:txBody>
          </p:sp>
          <p:sp>
            <p:nvSpPr>
              <p:cNvPr id="40" name="TextBox 40"/>
              <p:cNvSpPr txBox="1"/>
              <p:nvPr/>
            </p:nvSpPr>
            <p:spPr>
              <a:xfrm>
                <a:off x="7004304" y="2495550"/>
                <a:ext cx="1018032" cy="434721"/>
              </a:xfrm>
              <a:prstGeom prst="rect">
                <a:avLst/>
              </a:prstGeom>
              <a:noFill/>
              <a:ln>
                <a:noFill/>
              </a:ln>
            </p:spPr>
            <p:txBody>
              <a:bodyPr wrap="none" lIns="0" tIns="0" rIns="0" bIns="0" anchor="t" anchorCtr="0">
                <a:spAutoFit/>
              </a:bodyPr>
              <a:lstStyle/>
              <a:p>
                <a:pPr algn="l">
                  <a:lnSpc>
                    <a:spcPts val="1575"/>
                  </a:lnSpc>
                </a:pPr>
                <a:r>
                  <a:rPr lang="ko-KR" sz="1200" dirty="0">
                    <a:solidFill>
                      <a:srgbClr val="111827"/>
                    </a:solidFill>
                    <a:latin typeface="+mn-lt"/>
                    <a:ea typeface="+mn-ea"/>
                    <a:cs typeface="+mn-cs"/>
                  </a:rPr>
                  <a:t>물류 특화 카고</a:t>
                </a:r>
                <a:br>
                  <a:rPr lang="ko-KR" sz="1200" dirty="0">
                    <a:solidFill>
                      <a:srgbClr val="111827"/>
                    </a:solidFill>
                    <a:latin typeface="+mn-lt"/>
                    <a:ea typeface="+mn-ea"/>
                    <a:cs typeface="+mn-cs"/>
                  </a:rPr>
                </a:br>
                <a:r>
                  <a:rPr lang="ko-KR" sz="1200" dirty="0">
                    <a:solidFill>
                      <a:srgbClr val="374151"/>
                    </a:solidFill>
                    <a:latin typeface="+mn-lt"/>
                    <a:ea typeface="+mn-ea"/>
                    <a:cs typeface="+mn-cs"/>
                  </a:rPr>
                  <a:t>밀폐 카고 박스</a:t>
                </a:r>
              </a:p>
            </p:txBody>
          </p:sp>
          <p:sp>
            <p:nvSpPr>
              <p:cNvPr id="41" name="TextBox 41"/>
              <p:cNvSpPr txBox="1"/>
              <p:nvPr/>
            </p:nvSpPr>
            <p:spPr>
              <a:xfrm>
                <a:off x="9404604" y="2495550"/>
                <a:ext cx="972312" cy="434721"/>
              </a:xfrm>
              <a:prstGeom prst="rect">
                <a:avLst/>
              </a:prstGeom>
              <a:noFill/>
              <a:ln>
                <a:noFill/>
              </a:ln>
            </p:spPr>
            <p:txBody>
              <a:bodyPr wrap="none" lIns="0" tIns="0" rIns="0" bIns="0" anchor="t" anchorCtr="0">
                <a:spAutoFit/>
              </a:bodyPr>
              <a:lstStyle/>
              <a:p>
                <a:pPr algn="l">
                  <a:lnSpc>
                    <a:spcPts val="1575"/>
                  </a:lnSpc>
                </a:pPr>
                <a:r>
                  <a:rPr lang="ko-KR" sz="1200" dirty="0">
                    <a:solidFill>
                      <a:srgbClr val="111827"/>
                    </a:solidFill>
                    <a:latin typeface="+mn-lt"/>
                    <a:ea typeface="+mn-ea"/>
                    <a:cs typeface="+mn-cs"/>
                  </a:rPr>
                  <a:t>1톤 트럭</a:t>
                </a:r>
                <a:br>
                  <a:rPr lang="ko-KR" sz="1200" dirty="0">
                    <a:solidFill>
                      <a:srgbClr val="111827"/>
                    </a:solidFill>
                    <a:latin typeface="+mn-lt"/>
                    <a:ea typeface="+mn-ea"/>
                    <a:cs typeface="+mn-cs"/>
                  </a:rPr>
                </a:br>
                <a:r>
                  <a:rPr lang="ko-KR" sz="1200" dirty="0">
                    <a:solidFill>
                      <a:srgbClr val="374151"/>
                    </a:solidFill>
                    <a:latin typeface="+mn-lt"/>
                    <a:ea typeface="+mn-ea"/>
                    <a:cs typeface="+mn-cs"/>
                  </a:rPr>
                  <a:t>개방형 적재함</a:t>
                </a:r>
              </a:p>
            </p:txBody>
          </p:sp>
          <p:sp>
            <p:nvSpPr>
              <p:cNvPr id="42" name="Line 42"/>
              <p:cNvSpPr/>
              <p:nvPr/>
            </p:nvSpPr>
            <p:spPr>
              <a:xfrm>
                <a:off x="533400" y="3143250"/>
                <a:ext cx="11125200" cy="9525"/>
              </a:xfrm>
              <a:custGeom>
                <a:avLst/>
                <a:gdLst/>
                <a:ahLst/>
                <a:cxnLst/>
                <a:rect l="l" t="t" r="r" b="b"/>
                <a:pathLst>
                  <a:path w="11125200" h="9525">
                    <a:moveTo>
                      <a:pt x="0" y="0"/>
                    </a:moveTo>
                    <a:lnTo>
                      <a:pt x="11125200" y="0"/>
                    </a:lnTo>
                  </a:path>
                </a:pathLst>
              </a:custGeom>
              <a:noFill/>
              <a:ln w="9525">
                <a:solidFill>
                  <a:srgbClr val="E2E6EC"/>
                </a:solidFill>
              </a:ln>
            </p:spPr>
          </p:sp>
          <p:sp>
            <p:nvSpPr>
              <p:cNvPr id="43" name="TextBox 43"/>
              <p:cNvSpPr txBox="1"/>
              <p:nvPr/>
            </p:nvSpPr>
            <p:spPr>
              <a:xfrm>
                <a:off x="2200656" y="3232150"/>
                <a:ext cx="1278937" cy="352044"/>
              </a:xfrm>
              <a:prstGeom prst="rect">
                <a:avLst/>
              </a:prstGeom>
              <a:noFill/>
              <a:ln>
                <a:noFill/>
              </a:ln>
            </p:spPr>
            <p:txBody>
              <a:bodyPr wrap="none" lIns="0" tIns="0" rIns="0" bIns="0" anchor="t" anchorCtr="0">
                <a:spAutoFit/>
              </a:bodyPr>
              <a:lstStyle/>
              <a:p>
                <a:pPr algn="l"/>
                <a:r>
                  <a:rPr lang="ko-KR" sz="1800" b="1" dirty="0">
                    <a:solidFill>
                      <a:srgbClr val="0B1E3C"/>
                    </a:solidFill>
                    <a:latin typeface="+mn-lt"/>
                    <a:ea typeface="+mn-ea"/>
                    <a:cs typeface="+mn-cs"/>
                  </a:rPr>
                  <a:t>4,520만 원</a:t>
                </a:r>
              </a:p>
            </p:txBody>
          </p:sp>
          <p:sp>
            <p:nvSpPr>
              <p:cNvPr id="44" name="TextBox 44"/>
              <p:cNvSpPr txBox="1"/>
              <p:nvPr/>
            </p:nvSpPr>
            <p:spPr>
              <a:xfrm>
                <a:off x="4602099" y="3257550"/>
                <a:ext cx="1090135" cy="308991"/>
              </a:xfrm>
              <a:prstGeom prst="rect">
                <a:avLst/>
              </a:prstGeom>
              <a:noFill/>
              <a:ln>
                <a:noFill/>
              </a:ln>
            </p:spPr>
            <p:txBody>
              <a:bodyPr wrap="none" lIns="0" tIns="0" rIns="0" bIns="0" anchor="t" anchorCtr="0">
                <a:spAutoFit/>
              </a:bodyPr>
              <a:lstStyle/>
              <a:p>
                <a:pPr algn="l"/>
                <a:r>
                  <a:rPr lang="ko-KR" sz="1580" dirty="0">
                    <a:solidFill>
                      <a:srgbClr val="111827"/>
                    </a:solidFill>
                    <a:latin typeface="+mn-lt"/>
                    <a:ea typeface="+mn-ea"/>
                    <a:cs typeface="+mn-cs"/>
                  </a:rPr>
                  <a:t>5,792만 원</a:t>
                </a:r>
              </a:p>
            </p:txBody>
          </p:sp>
          <p:sp>
            <p:nvSpPr>
              <p:cNvPr id="45" name="TextBox 45"/>
              <p:cNvSpPr txBox="1"/>
              <p:nvPr/>
            </p:nvSpPr>
            <p:spPr>
              <a:xfrm>
                <a:off x="7002399" y="3257550"/>
                <a:ext cx="1090135" cy="308991"/>
              </a:xfrm>
              <a:prstGeom prst="rect">
                <a:avLst/>
              </a:prstGeom>
              <a:noFill/>
              <a:ln>
                <a:noFill/>
              </a:ln>
            </p:spPr>
            <p:txBody>
              <a:bodyPr wrap="none" lIns="0" tIns="0" rIns="0" bIns="0" anchor="t" anchorCtr="0">
                <a:spAutoFit/>
              </a:bodyPr>
              <a:lstStyle/>
              <a:p>
                <a:pPr algn="l"/>
                <a:r>
                  <a:rPr lang="ko-KR" sz="1580" dirty="0">
                    <a:solidFill>
                      <a:srgbClr val="111827"/>
                    </a:solidFill>
                    <a:latin typeface="+mn-lt"/>
                    <a:ea typeface="+mn-ea"/>
                    <a:cs typeface="+mn-cs"/>
                  </a:rPr>
                  <a:t>5,874만 원</a:t>
                </a:r>
              </a:p>
            </p:txBody>
          </p:sp>
          <p:sp>
            <p:nvSpPr>
              <p:cNvPr id="46" name="TextBox 46"/>
              <p:cNvSpPr txBox="1"/>
              <p:nvPr/>
            </p:nvSpPr>
            <p:spPr>
              <a:xfrm>
                <a:off x="9404985" y="3308350"/>
                <a:ext cx="1677487" cy="220028"/>
              </a:xfrm>
              <a:prstGeom prst="rect">
                <a:avLst/>
              </a:prstGeom>
              <a:noFill/>
              <a:ln>
                <a:noFill/>
              </a:ln>
            </p:spPr>
            <p:txBody>
              <a:bodyPr wrap="none" lIns="0" tIns="0" rIns="0" bIns="0" anchor="t" anchorCtr="0">
                <a:spAutoFit/>
              </a:bodyPr>
              <a:lstStyle/>
              <a:p>
                <a:pPr algn="l"/>
                <a:r>
                  <a:rPr lang="ko-KR" sz="1120" dirty="0">
                    <a:solidFill>
                      <a:srgbClr val="4B5563"/>
                    </a:solidFill>
                    <a:latin typeface="+mn-lt"/>
                    <a:ea typeface="+mn-ea"/>
                    <a:cs typeface="+mn-cs"/>
                  </a:rPr>
                  <a:t>탑 개조 필요 · 비교 제외</a:t>
                </a:r>
              </a:p>
            </p:txBody>
          </p:sp>
          <p:sp>
            <p:nvSpPr>
              <p:cNvPr id="47" name="Line 47"/>
              <p:cNvSpPr/>
              <p:nvPr/>
            </p:nvSpPr>
            <p:spPr>
              <a:xfrm>
                <a:off x="533400" y="3638550"/>
                <a:ext cx="11125200" cy="9525"/>
              </a:xfrm>
              <a:custGeom>
                <a:avLst/>
                <a:gdLst/>
                <a:ahLst/>
                <a:cxnLst/>
                <a:rect l="l" t="t" r="r" b="b"/>
                <a:pathLst>
                  <a:path w="11125200" h="9525">
                    <a:moveTo>
                      <a:pt x="0" y="0"/>
                    </a:moveTo>
                    <a:lnTo>
                      <a:pt x="11125200" y="0"/>
                    </a:lnTo>
                  </a:path>
                </a:pathLst>
              </a:custGeom>
              <a:noFill/>
              <a:ln w="9525">
                <a:solidFill>
                  <a:srgbClr val="E2E6EC"/>
                </a:solidFill>
              </a:ln>
            </p:spPr>
          </p:sp>
          <p:sp>
            <p:nvSpPr>
              <p:cNvPr id="48" name="TextBox 48"/>
              <p:cNvSpPr txBox="1"/>
              <p:nvPr/>
            </p:nvSpPr>
            <p:spPr>
              <a:xfrm>
                <a:off x="2200656" y="3727450"/>
                <a:ext cx="768862" cy="352044"/>
              </a:xfrm>
              <a:prstGeom prst="rect">
                <a:avLst/>
              </a:prstGeom>
              <a:noFill/>
              <a:ln>
                <a:noFill/>
              </a:ln>
            </p:spPr>
            <p:txBody>
              <a:bodyPr wrap="none" lIns="0" tIns="0" rIns="0" bIns="0" anchor="t" anchorCtr="0">
                <a:spAutoFit/>
              </a:bodyPr>
              <a:lstStyle/>
              <a:p>
                <a:pPr algn="l"/>
                <a:r>
                  <a:rPr lang="en-US" sz="1800" b="1" dirty="0">
                    <a:solidFill>
                      <a:srgbClr val="0B1E3C"/>
                    </a:solidFill>
                    <a:latin typeface="+mn-lt"/>
                    <a:ea typeface="+mn-ea"/>
                    <a:cs typeface="+mn-cs"/>
                  </a:rPr>
                  <a:t>377km</a:t>
                </a:r>
              </a:p>
            </p:txBody>
          </p:sp>
          <p:sp>
            <p:nvSpPr>
              <p:cNvPr id="49" name="TextBox 49"/>
              <p:cNvSpPr txBox="1"/>
              <p:nvPr/>
            </p:nvSpPr>
            <p:spPr>
              <a:xfrm>
                <a:off x="4602099" y="3752850"/>
                <a:ext cx="643466" cy="308991"/>
              </a:xfrm>
              <a:prstGeom prst="rect">
                <a:avLst/>
              </a:prstGeom>
              <a:noFill/>
              <a:ln>
                <a:noFill/>
              </a:ln>
            </p:spPr>
            <p:txBody>
              <a:bodyPr wrap="none" lIns="0" tIns="0" rIns="0" bIns="0" anchor="t" anchorCtr="0">
                <a:spAutoFit/>
              </a:bodyPr>
              <a:lstStyle/>
              <a:p>
                <a:pPr algn="l"/>
                <a:r>
                  <a:rPr lang="en-US" sz="1580" dirty="0">
                    <a:solidFill>
                      <a:srgbClr val="111827"/>
                    </a:solidFill>
                    <a:latin typeface="+mn-lt"/>
                    <a:ea typeface="+mn-ea"/>
                    <a:cs typeface="+mn-cs"/>
                  </a:rPr>
                  <a:t>387km</a:t>
                </a:r>
              </a:p>
            </p:txBody>
          </p:sp>
          <p:sp>
            <p:nvSpPr>
              <p:cNvPr id="50" name="TextBox 50"/>
              <p:cNvSpPr txBox="1"/>
              <p:nvPr/>
            </p:nvSpPr>
            <p:spPr>
              <a:xfrm>
                <a:off x="7002399" y="3752850"/>
                <a:ext cx="643466" cy="308991"/>
              </a:xfrm>
              <a:prstGeom prst="rect">
                <a:avLst/>
              </a:prstGeom>
              <a:noFill/>
              <a:ln>
                <a:noFill/>
              </a:ln>
            </p:spPr>
            <p:txBody>
              <a:bodyPr wrap="none" lIns="0" tIns="0" rIns="0" bIns="0" anchor="t" anchorCtr="0">
                <a:spAutoFit/>
              </a:bodyPr>
              <a:lstStyle/>
              <a:p>
                <a:pPr algn="l"/>
                <a:r>
                  <a:rPr lang="en-US" sz="1580" dirty="0">
                    <a:solidFill>
                      <a:srgbClr val="111827"/>
                    </a:solidFill>
                    <a:latin typeface="+mn-lt"/>
                    <a:ea typeface="+mn-ea"/>
                    <a:cs typeface="+mn-cs"/>
                  </a:rPr>
                  <a:t>317km</a:t>
                </a:r>
              </a:p>
            </p:txBody>
          </p:sp>
          <p:sp>
            <p:nvSpPr>
              <p:cNvPr id="51" name="TextBox 51"/>
              <p:cNvSpPr txBox="1"/>
              <p:nvPr/>
            </p:nvSpPr>
            <p:spPr>
              <a:xfrm>
                <a:off x="9402699" y="3752850"/>
                <a:ext cx="643466" cy="308991"/>
              </a:xfrm>
              <a:prstGeom prst="rect">
                <a:avLst/>
              </a:prstGeom>
              <a:noFill/>
              <a:ln>
                <a:noFill/>
              </a:ln>
            </p:spPr>
            <p:txBody>
              <a:bodyPr wrap="none" lIns="0" tIns="0" rIns="0" bIns="0" anchor="t" anchorCtr="0">
                <a:spAutoFit/>
              </a:bodyPr>
              <a:lstStyle/>
              <a:p>
                <a:pPr algn="l"/>
                <a:r>
                  <a:rPr lang="en-US" sz="1580" dirty="0">
                    <a:solidFill>
                      <a:srgbClr val="111827"/>
                    </a:solidFill>
                    <a:latin typeface="+mn-lt"/>
                    <a:ea typeface="+mn-ea"/>
                    <a:cs typeface="+mn-cs"/>
                  </a:rPr>
                  <a:t>217km</a:t>
                </a:r>
              </a:p>
            </p:txBody>
          </p:sp>
        </p:grpSp>
      </p:grpSp>
      <p:grpSp>
        <p:nvGrpSpPr>
          <p:cNvPr id="60" name="honest"/>
          <p:cNvGrpSpPr/>
          <p:nvPr/>
        </p:nvGrpSpPr>
        <p:grpSpPr>
          <a:xfrm>
            <a:off x="533400" y="4248150"/>
            <a:ext cx="11125200" cy="1276350"/>
            <a:chOff x="533400" y="4248150"/>
            <a:chExt cx="11125200" cy="1276350"/>
          </a:xfrm>
        </p:grpSpPr>
        <p:sp>
          <p:nvSpPr>
            <p:cNvPr id="54" name="Rectangle 54"/>
            <p:cNvSpPr/>
            <p:nvPr/>
          </p:nvSpPr>
          <p:spPr>
            <a:xfrm>
              <a:off x="533400" y="4248150"/>
              <a:ext cx="5448300" cy="1276350"/>
            </a:xfrm>
            <a:prstGeom prst="rect">
              <a:avLst/>
            </a:prstGeom>
            <a:solidFill>
              <a:srgbClr val="F3F5F8"/>
            </a:solidFill>
            <a:ln>
              <a:noFill/>
            </a:ln>
          </p:spPr>
        </p:sp>
        <p:sp>
          <p:nvSpPr>
            <p:cNvPr id="55" name="TextBox 55"/>
            <p:cNvSpPr txBox="1"/>
            <p:nvPr/>
          </p:nvSpPr>
          <p:spPr>
            <a:xfrm>
              <a:off x="718185" y="4375150"/>
              <a:ext cx="1764936" cy="220028"/>
            </a:xfrm>
            <a:prstGeom prst="rect">
              <a:avLst/>
            </a:prstGeom>
            <a:noFill/>
            <a:ln>
              <a:noFill/>
            </a:ln>
          </p:spPr>
          <p:txBody>
            <a:bodyPr wrap="none" lIns="0" tIns="0" rIns="0" bIns="0" anchor="t" anchorCtr="0">
              <a:spAutoFit/>
            </a:bodyPr>
            <a:lstStyle/>
            <a:p>
              <a:pPr algn="l"/>
              <a:r>
                <a:rPr lang="ko-KR" sz="1120" b="1" dirty="0">
                  <a:solidFill>
                    <a:srgbClr val="8A5A00"/>
                  </a:solidFill>
                  <a:latin typeface="+mn-lt"/>
                  <a:ea typeface="+mn-ea"/>
                  <a:cs typeface="+mn-cs"/>
                </a:rPr>
                <a:t>가격으로 고르지 않습니다</a:t>
              </a:r>
            </a:p>
          </p:txBody>
        </p:sp>
        <p:sp>
          <p:nvSpPr>
            <p:cNvPr id="56" name="TextBox 56"/>
            <p:cNvSpPr txBox="1"/>
            <p:nvPr/>
          </p:nvSpPr>
          <p:spPr>
            <a:xfrm>
              <a:off x="717804" y="4584700"/>
              <a:ext cx="3326892" cy="691896"/>
            </a:xfrm>
            <a:prstGeom prst="rect">
              <a:avLst/>
            </a:prstGeom>
            <a:noFill/>
            <a:ln>
              <a:noFill/>
            </a:ln>
          </p:spPr>
          <p:txBody>
            <a:bodyPr wrap="none" lIns="0" tIns="0" rIns="0" bIns="0" anchor="t" anchorCtr="0">
              <a:spAutoFit/>
            </a:bodyPr>
            <a:lstStyle/>
            <a:p>
              <a:pPr algn="l">
                <a:lnSpc>
                  <a:spcPts val="1800"/>
                </a:lnSpc>
              </a:pPr>
              <a:r>
                <a:rPr lang="ko-KR" sz="1200" dirty="0">
                  <a:solidFill>
                    <a:srgbClr val="111827"/>
                  </a:solidFill>
                  <a:latin typeface="+mn-lt"/>
                  <a:ea typeface="+mn-ea"/>
                  <a:cs typeface="+mn-cs"/>
                </a:rPr>
                <a:t>차값 차이는 최대 1,354만 원인데, 차량형 GPR은</a:t>
              </a:r>
              <a:br>
                <a:rPr lang="ko-KR" sz="1200" dirty="0">
                  <a:solidFill>
                    <a:srgbClr val="111827"/>
                  </a:solidFill>
                  <a:latin typeface="+mn-lt"/>
                  <a:ea typeface="+mn-ea"/>
                  <a:cs typeface="+mn-cs"/>
                </a:rPr>
              </a:br>
              <a:r>
                <a:rPr lang="ko-KR" sz="1200" dirty="0">
                  <a:solidFill>
                    <a:srgbClr val="111827"/>
                  </a:solidFill>
                  <a:latin typeface="+mn-lt"/>
                  <a:ea typeface="+mn-ea"/>
                  <a:cs typeface="+mn-cs"/>
                </a:rPr>
                <a:t xml:space="preserve">대당 </a:t>
              </a:r>
              <a:r>
                <a:rPr lang="ko-KR" sz="1200" b="1" dirty="0">
                  <a:solidFill>
                    <a:srgbClr val="111827"/>
                  </a:solidFill>
                  <a:latin typeface="+mn-lt"/>
                  <a:ea typeface="+mn-ea"/>
                  <a:cs typeface="+mn-cs"/>
                </a:rPr>
                <a:t>2억~8억 원</a:t>
              </a:r>
              <a:r>
                <a:rPr lang="ko-KR" sz="1200" dirty="0">
                  <a:solidFill>
                    <a:srgbClr val="111827"/>
                  </a:solidFill>
                  <a:latin typeface="+mn-lt"/>
                  <a:ea typeface="+mn-ea"/>
                  <a:cs typeface="+mn-cs"/>
                </a:rPr>
                <a:t>입니다. 차이를 가르는 건</a:t>
              </a:r>
              <a:br>
                <a:rPr lang="ko-KR" sz="1200" dirty="0">
                  <a:solidFill>
                    <a:srgbClr val="111827"/>
                  </a:solidFill>
                  <a:latin typeface="+mn-lt"/>
                  <a:ea typeface="+mn-ea"/>
                  <a:cs typeface="+mn-cs"/>
                </a:rPr>
              </a:br>
              <a:r>
                <a:rPr lang="ko-KR" sz="1200" dirty="0">
                  <a:solidFill>
                    <a:srgbClr val="111827"/>
                  </a:solidFill>
                  <a:latin typeface="+mn-lt"/>
                  <a:ea typeface="+mn-ea"/>
                  <a:cs typeface="+mn-cs"/>
                </a:rPr>
                <a:t>전원·고정 구조와 공식 컨버전 체계입니다.</a:t>
              </a:r>
            </a:p>
          </p:txBody>
        </p:sp>
        <p:sp>
          <p:nvSpPr>
            <p:cNvPr id="57" name="Rectangle 57"/>
            <p:cNvSpPr/>
            <p:nvPr/>
          </p:nvSpPr>
          <p:spPr>
            <a:xfrm>
              <a:off x="6210300" y="4248150"/>
              <a:ext cx="5448300" cy="1276350"/>
            </a:xfrm>
            <a:prstGeom prst="rect">
              <a:avLst/>
            </a:prstGeom>
            <a:solidFill>
              <a:srgbClr val="F3F5F8"/>
            </a:solidFill>
            <a:ln>
              <a:noFill/>
            </a:ln>
          </p:spPr>
        </p:sp>
        <p:sp>
          <p:nvSpPr>
            <p:cNvPr id="58" name="TextBox 58"/>
            <p:cNvSpPr txBox="1"/>
            <p:nvPr/>
          </p:nvSpPr>
          <p:spPr>
            <a:xfrm>
              <a:off x="6395085" y="4375150"/>
              <a:ext cx="1136292" cy="220028"/>
            </a:xfrm>
            <a:prstGeom prst="rect">
              <a:avLst/>
            </a:prstGeom>
            <a:noFill/>
            <a:ln>
              <a:noFill/>
            </a:ln>
          </p:spPr>
          <p:txBody>
            <a:bodyPr wrap="none" lIns="0" tIns="0" rIns="0" bIns="0" anchor="t" anchorCtr="0">
              <a:spAutoFit/>
            </a:bodyPr>
            <a:lstStyle/>
            <a:p>
              <a:pPr algn="l"/>
              <a:r>
                <a:rPr lang="ko-KR" sz="1120" b="1" dirty="0">
                  <a:solidFill>
                    <a:srgbClr val="C62828"/>
                  </a:solidFill>
                  <a:latin typeface="+mn-lt"/>
                  <a:ea typeface="+mn-ea"/>
                  <a:cs typeface="+mn-cs"/>
                </a:rPr>
                <a:t>PV5가 불리한 점</a:t>
              </a:r>
            </a:p>
          </p:txBody>
        </p:sp>
        <p:sp>
          <p:nvSpPr>
            <p:cNvPr id="59" name="TextBox 59"/>
            <p:cNvSpPr txBox="1"/>
            <p:nvPr/>
          </p:nvSpPr>
          <p:spPr>
            <a:xfrm>
              <a:off x="6394704" y="4584700"/>
              <a:ext cx="4126992" cy="691896"/>
            </a:xfrm>
            <a:prstGeom prst="rect">
              <a:avLst/>
            </a:prstGeom>
            <a:noFill/>
            <a:ln>
              <a:noFill/>
            </a:ln>
          </p:spPr>
          <p:txBody>
            <a:bodyPr wrap="none" lIns="0" tIns="0" rIns="0" bIns="0" anchor="t" anchorCtr="0">
              <a:spAutoFit/>
            </a:bodyPr>
            <a:lstStyle/>
            <a:p>
              <a:pPr algn="l">
                <a:lnSpc>
                  <a:spcPts val="1800"/>
                </a:lnSpc>
              </a:pPr>
              <a:r>
                <a:rPr lang="ko-KR" sz="1200" dirty="0">
                  <a:solidFill>
                    <a:srgbClr val="111827"/>
                  </a:solidFill>
                  <a:latin typeface="+mn-lt"/>
                  <a:ea typeface="+mn-ea"/>
                  <a:cs typeface="+mn-cs"/>
                </a:rPr>
                <a:t>주행거리는 스타리아보다 10km 짧고, 전폭은 포터·봉고보다</a:t>
              </a:r>
              <a:br>
                <a:rPr lang="ko-KR" sz="1200" dirty="0">
                  <a:solidFill>
                    <a:srgbClr val="111827"/>
                  </a:solidFill>
                  <a:latin typeface="+mn-lt"/>
                  <a:ea typeface="+mn-ea"/>
                  <a:cs typeface="+mn-cs"/>
                </a:rPr>
              </a:br>
              <a:r>
                <a:rPr lang="ko-KR" sz="1200" dirty="0">
                  <a:solidFill>
                    <a:srgbClr val="111827"/>
                  </a:solidFill>
                  <a:latin typeface="+mn-lt"/>
                  <a:ea typeface="+mn-ea"/>
                  <a:cs typeface="+mn-cs"/>
                </a:rPr>
                <a:t xml:space="preserve">155mm 넓습니다. 하루 순찰 약 30km </a:t>
              </a:r>
              <a:r>
                <a:rPr lang="ko-KR" sz="1200" dirty="0">
                  <a:solidFill>
                    <a:srgbClr val="4B5563"/>
                  </a:solidFill>
                  <a:latin typeface="+mn-lt"/>
                  <a:ea typeface="+mn-ea"/>
                  <a:cs typeface="+mn-cs"/>
                </a:rPr>
                <a:t>[가설]</a:t>
              </a:r>
              <a:r>
                <a:rPr lang="ko-KR" sz="1200" dirty="0">
                  <a:solidFill>
                    <a:srgbClr val="111827"/>
                  </a:solidFill>
                  <a:latin typeface="+mn-lt"/>
                  <a:ea typeface="+mn-ea"/>
                  <a:cs typeface="+mn-cs"/>
                </a:rPr>
                <a:t>에는</a:t>
              </a:r>
              <a:br>
                <a:rPr lang="ko-KR" sz="1200" dirty="0">
                  <a:solidFill>
                    <a:srgbClr val="111827"/>
                  </a:solidFill>
                  <a:latin typeface="+mn-lt"/>
                  <a:ea typeface="+mn-ea"/>
                  <a:cs typeface="+mn-cs"/>
                </a:rPr>
              </a:br>
              <a:r>
                <a:rPr lang="ko-KR" sz="1200" dirty="0">
                  <a:solidFill>
                    <a:srgbClr val="111827"/>
                  </a:solidFill>
                  <a:latin typeface="+mn-lt"/>
                  <a:ea typeface="+mn-ea"/>
                  <a:cs typeface="+mn-cs"/>
                </a:rPr>
                <a:t>377km로 충분합니다.</a:t>
              </a:r>
            </a:p>
          </p:txBody>
        </p:sp>
      </p:grpSp>
      <p:grpSp>
        <p:nvGrpSpPr>
          <p:cNvPr id="63" name="conclusion"/>
          <p:cNvGrpSpPr/>
          <p:nvPr/>
        </p:nvGrpSpPr>
        <p:grpSpPr>
          <a:xfrm>
            <a:off x="533400" y="5657850"/>
            <a:ext cx="8992086" cy="495300"/>
            <a:chOff x="533400" y="5657850"/>
            <a:chExt cx="8992086" cy="495300"/>
          </a:xfrm>
        </p:grpSpPr>
        <p:sp>
          <p:nvSpPr>
            <p:cNvPr id="61" name="Rectangle 61"/>
            <p:cNvSpPr/>
            <p:nvPr/>
          </p:nvSpPr>
          <p:spPr>
            <a:xfrm>
              <a:off x="533400" y="5657850"/>
              <a:ext cx="38100" cy="495300"/>
            </a:xfrm>
            <a:prstGeom prst="rect">
              <a:avLst/>
            </a:prstGeom>
            <a:solidFill>
              <a:srgbClr val="F5B700"/>
            </a:solidFill>
            <a:ln>
              <a:noFill/>
            </a:ln>
          </p:spPr>
        </p:sp>
        <p:sp>
          <p:nvSpPr>
            <p:cNvPr id="62" name="TextBox 62"/>
            <p:cNvSpPr txBox="1"/>
            <p:nvPr/>
          </p:nvSpPr>
          <p:spPr>
            <a:xfrm>
              <a:off x="754380" y="5794375"/>
              <a:ext cx="8771106" cy="293370"/>
            </a:xfrm>
            <a:prstGeom prst="rect">
              <a:avLst/>
            </a:prstGeom>
            <a:noFill/>
            <a:ln>
              <a:noFill/>
            </a:ln>
          </p:spPr>
          <p:txBody>
            <a:bodyPr wrap="none" lIns="0" tIns="0" rIns="0" bIns="0" anchor="t" anchorCtr="0">
              <a:spAutoFit/>
            </a:bodyPr>
            <a:lstStyle/>
            <a:p>
              <a:pPr algn="l"/>
              <a:r>
                <a:rPr lang="ko-KR" sz="1500" b="1" dirty="0">
                  <a:solidFill>
                    <a:srgbClr val="0B1E3C"/>
                  </a:solidFill>
                  <a:latin typeface="+mn-lt"/>
                  <a:ea typeface="+mn-ea"/>
                  <a:cs typeface="+mn-cs"/>
                </a:rPr>
                <a:t xml:space="preserve">전원·고정 구조와 </a:t>
              </a:r>
              <a:r>
                <a:rPr lang="ko-KR" sz="1500" b="1" dirty="0">
                  <a:solidFill>
                    <a:srgbClr val="B45309"/>
                  </a:solidFill>
                  <a:latin typeface="+mn-lt"/>
                  <a:ea typeface="+mn-ea"/>
                  <a:cs typeface="+mn-cs"/>
                </a:rPr>
                <a:t>공식 컨버전 체계</a:t>
              </a:r>
              <a:r>
                <a:rPr lang="ko-KR" sz="1500" b="1" dirty="0">
                  <a:solidFill>
                    <a:srgbClr val="0B1E3C"/>
                  </a:solidFill>
                  <a:latin typeface="+mn-lt"/>
                  <a:ea typeface="+mn-ea"/>
                  <a:cs typeface="+mn-cs"/>
                </a:rPr>
                <a:t>를 갖춘 PV5로, 같은 탐사실을 여러 대에 그대로 복제합니다.</a:t>
              </a:r>
            </a:p>
          </p:txBody>
        </p:sp>
      </p:grpSp>
      <p:grpSp>
        <p:nvGrpSpPr>
          <p:cNvPr id="65" name="source"/>
          <p:cNvGrpSpPr/>
          <p:nvPr/>
        </p:nvGrpSpPr>
        <p:grpSpPr>
          <a:xfrm>
            <a:off x="528638" y="6248400"/>
            <a:ext cx="9570720" cy="328612"/>
            <a:chOff x="528638" y="6248400"/>
            <a:chExt cx="9570720" cy="328612"/>
          </a:xfrm>
        </p:grpSpPr>
        <p:sp>
          <p:nvSpPr>
            <p:cNvPr id="64" name="TextBox 64"/>
            <p:cNvSpPr txBox="1"/>
            <p:nvPr/>
          </p:nvSpPr>
          <p:spPr>
            <a:xfrm>
              <a:off x="528638" y="6248400"/>
              <a:ext cx="9570720" cy="328612"/>
            </a:xfrm>
            <a:prstGeom prst="rect">
              <a:avLst/>
            </a:prstGeom>
            <a:noFill/>
            <a:ln>
              <a:noFill/>
            </a:ln>
          </p:spPr>
          <p:txBody>
            <a:bodyPr wrap="none" lIns="0" tIns="0" rIns="0" bIns="0" anchor="t" anchorCtr="0">
              <a:spAutoFit/>
            </a:bodyPr>
            <a:lstStyle/>
            <a:p>
              <a:pPr algn="l">
                <a:lnSpc>
                  <a:spcPts val="1200"/>
                </a:lnSpc>
              </a:pPr>
              <a:r>
                <a:rPr lang="ko-KR" sz="900" dirty="0">
                  <a:solidFill>
                    <a:srgbClr val="4B5563"/>
                  </a:solidFill>
                  <a:latin typeface="+mn-lt"/>
                  <a:ea typeface="+mn-ea"/>
                  <a:cs typeface="+mn-cs"/>
                </a:rPr>
                <a:t>출처: 기아 PV5 카고 가격표(2026.10.1)·제원 · 오토뷰(2026.1.28, PV5 컨버전 포털) · 스타리아 일렉트릭 출시(2026.4.23) · 2026 ST1 출시(2025.7.16)·현대차그룹 뉴스룸(317km)</a:t>
              </a:r>
              <a:br>
                <a:rPr lang="ko-KR" sz="900" dirty="0">
                  <a:solidFill>
                    <a:srgbClr val="4B5563"/>
                  </a:solidFill>
                  <a:latin typeface="+mn-lt"/>
                  <a:ea typeface="+mn-ea"/>
                  <a:cs typeface="+mn-cs"/>
                </a:rPr>
              </a:br>
              <a:r>
                <a:rPr lang="ko-KR" sz="900" dirty="0">
                  <a:solidFill>
                    <a:srgbClr val="4B5563"/>
                  </a:solidFill>
                  <a:latin typeface="+mn-lt"/>
                  <a:ea typeface="+mn-ea"/>
                  <a:cs typeface="+mn-cs"/>
                </a:rPr>
                <a:t>포터II·봉고III EV 2025년형 발표(217km) · 시사저널(2025.4.25, 경기도청 인용 GPR 대당 2억~8억 원) · 가격은 표기한 트림 기준, 보조금 제외</a:t>
              </a:r>
            </a:p>
          </p:txBody>
        </p:sp>
      </p:grpSp>
      <p:grpSp>
        <p:nvGrpSpPr>
          <p:cNvPr id="68" name="footer"/>
          <p:cNvGrpSpPr/>
          <p:nvPr/>
        </p:nvGrpSpPr>
        <p:grpSpPr>
          <a:xfrm>
            <a:off x="528638" y="6610350"/>
            <a:ext cx="11134724" cy="176212"/>
            <a:chOff x="528638" y="6610350"/>
            <a:chExt cx="11134724" cy="176212"/>
          </a:xfrm>
        </p:grpSpPr>
        <p:sp>
          <p:nvSpPr>
            <p:cNvPr id="66" name="TextBox 66"/>
            <p:cNvSpPr txBox="1"/>
            <p:nvPr/>
          </p:nvSpPr>
          <p:spPr>
            <a:xfrm>
              <a:off x="528638" y="6610350"/>
              <a:ext cx="1487653"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한 명이라도 살릴 수 있다면</a:t>
              </a:r>
            </a:p>
          </p:txBody>
        </p:sp>
        <p:sp>
          <p:nvSpPr>
            <p:cNvPr id="67" name="TextBox 67"/>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11 / 15</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943585"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기술 실증 계획</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문제</a:t>
              </a:r>
            </a:p>
          </p:txBody>
        </p:sp>
        <p:sp>
          <p:nvSpPr>
            <p:cNvPr id="6" name="TextBox 6"/>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7" name="TextBox 7"/>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해법</a:t>
              </a:r>
            </a:p>
          </p:txBody>
        </p:sp>
        <p:sp>
          <p:nvSpPr>
            <p:cNvPr id="8" name="TextBox 8"/>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9" name="TextBox 9"/>
            <p:cNvSpPr txBox="1"/>
            <p:nvPr/>
          </p:nvSpPr>
          <p:spPr>
            <a:xfrm>
              <a:off x="9701251" y="301625"/>
              <a:ext cx="257099" cy="205359"/>
            </a:xfrm>
            <a:prstGeom prst="rect">
              <a:avLst/>
            </a:prstGeom>
            <a:noFill/>
            <a:ln>
              <a:noFill/>
            </a:ln>
          </p:spPr>
          <p:txBody>
            <a:bodyPr wrap="none" lIns="0" tIns="0" rIns="0" bIns="0" anchor="t" anchorCtr="0">
              <a:spAutoFit/>
            </a:bodyPr>
            <a:lstStyle/>
            <a:p>
              <a:pPr algn="ctr"/>
              <a:r>
                <a:rPr lang="en-US" sz="1050" dirty="0">
                  <a:solidFill>
                    <a:srgbClr val="9AA3AF"/>
                  </a:solidFill>
                  <a:latin typeface="+mn-lt"/>
                  <a:ea typeface="+mn-ea"/>
                  <a:cs typeface="+mn-cs"/>
                </a:rPr>
                <a:t>PV5</a:t>
              </a:r>
            </a:p>
          </p:txBody>
        </p:sp>
        <p:sp>
          <p:nvSpPr>
            <p:cNvPr id="10" name="TextBox 10"/>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1" name="TextBox 11"/>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b="1" dirty="0">
                  <a:solidFill>
                    <a:srgbClr val="0B1E3C"/>
                  </a:solidFill>
                  <a:latin typeface="+mn-lt"/>
                  <a:ea typeface="+mn-ea"/>
                  <a:cs typeface="+mn-cs"/>
                </a:rPr>
                <a:t>검증</a:t>
              </a:r>
            </a:p>
          </p:txBody>
        </p:sp>
        <p:sp>
          <p:nvSpPr>
            <p:cNvPr id="12" name="Rectangle 12"/>
            <p:cNvSpPr/>
            <p:nvPr/>
          </p:nvSpPr>
          <p:spPr>
            <a:xfrm>
              <a:off x="10229850" y="514350"/>
              <a:ext cx="457200" cy="28575"/>
            </a:xfrm>
            <a:prstGeom prst="rect">
              <a:avLst/>
            </a:prstGeom>
            <a:solidFill>
              <a:srgbClr val="F5B700"/>
            </a:solidFill>
            <a:ln>
              <a:noFill/>
            </a:ln>
          </p:spPr>
        </p:sp>
        <p:sp>
          <p:nvSpPr>
            <p:cNvPr id="13" name="TextBox 13"/>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4" name="TextBox 14"/>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사업</a:t>
              </a:r>
            </a:p>
          </p:txBody>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160" y="774700"/>
            <a:ext cx="7089477" cy="586740"/>
            <a:chOff x="518160" y="774700"/>
            <a:chExt cx="7089477" cy="586740"/>
          </a:xfrm>
        </p:grpSpPr>
        <p:sp>
          <p:nvSpPr>
            <p:cNvPr id="17" name="TextBox 17"/>
            <p:cNvSpPr txBox="1"/>
            <p:nvPr/>
          </p:nvSpPr>
          <p:spPr>
            <a:xfrm>
              <a:off x="518160" y="774700"/>
              <a:ext cx="7089477"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남은 질문은 4가지, 4단계로 실증합니다</a:t>
              </a:r>
            </a:p>
          </p:txBody>
        </p:sp>
      </p:grpSp>
      <p:grpSp>
        <p:nvGrpSpPr>
          <p:cNvPr id="20" name="lead"/>
          <p:cNvGrpSpPr/>
          <p:nvPr/>
        </p:nvGrpSpPr>
        <p:grpSpPr>
          <a:xfrm>
            <a:off x="526161" y="1346200"/>
            <a:ext cx="7971638" cy="278702"/>
            <a:chOff x="526161" y="1346200"/>
            <a:chExt cx="7971638" cy="278702"/>
          </a:xfrm>
        </p:grpSpPr>
        <p:sp>
          <p:nvSpPr>
            <p:cNvPr id="19" name="TextBox 19"/>
            <p:cNvSpPr txBox="1"/>
            <p:nvPr/>
          </p:nvSpPr>
          <p:spPr>
            <a:xfrm>
              <a:off x="526161" y="1346200"/>
              <a:ext cx="7971638" cy="278702"/>
            </a:xfrm>
            <a:prstGeom prst="rect">
              <a:avLst/>
            </a:prstGeom>
            <a:noFill/>
            <a:ln>
              <a:noFill/>
            </a:ln>
          </p:spPr>
          <p:txBody>
            <a:bodyPr wrap="none" lIns="0" tIns="0" rIns="0" bIns="0" anchor="t" anchorCtr="0">
              <a:spAutoFit/>
            </a:bodyPr>
            <a:lstStyle/>
            <a:p>
              <a:pPr algn="l"/>
              <a:r>
                <a:rPr lang="ko-KR" sz="1420" dirty="0">
                  <a:solidFill>
                    <a:srgbClr val="374151"/>
                  </a:solidFill>
                  <a:latin typeface="+mn-lt"/>
                  <a:ea typeface="+mn-ea"/>
                  <a:cs typeface="+mn-cs"/>
                </a:rPr>
                <a:t xml:space="preserve">반복 탐사의 효과는 연구로 확인됐습니다(4장). 남은 건 </a:t>
              </a:r>
              <a:r>
                <a:rPr lang="ko-KR" sz="1420" b="1" dirty="0">
                  <a:solidFill>
                    <a:srgbClr val="0B1E3C"/>
                  </a:solidFill>
                  <a:latin typeface="+mn-lt"/>
                  <a:ea typeface="+mn-ea"/>
                  <a:cs typeface="+mn-cs"/>
                </a:rPr>
                <a:t>PV5에 실었을 때도 정확한가</a:t>
              </a:r>
              <a:r>
                <a:rPr lang="ko-KR" sz="1420" dirty="0">
                  <a:solidFill>
                    <a:srgbClr val="374151"/>
                  </a:solidFill>
                  <a:latin typeface="+mn-lt"/>
                  <a:ea typeface="+mn-ea"/>
                  <a:cs typeface="+mn-cs"/>
                </a:rPr>
                <a:t>입니다.</a:t>
              </a:r>
            </a:p>
          </p:txBody>
        </p:sp>
      </p:grpSp>
      <p:grpSp>
        <p:nvGrpSpPr>
          <p:cNvPr id="45" name="questions"/>
          <p:cNvGrpSpPr/>
          <p:nvPr/>
        </p:nvGrpSpPr>
        <p:grpSpPr>
          <a:xfrm>
            <a:off x="527685" y="1835150"/>
            <a:ext cx="11130915" cy="2056702"/>
            <a:chOff x="527685" y="1835150"/>
            <a:chExt cx="11130915" cy="2056702"/>
          </a:xfrm>
        </p:grpSpPr>
        <p:grpSp>
          <p:nvGrpSpPr>
            <p:cNvPr id="24" name="Group 24"/>
            <p:cNvGrpSpPr/>
            <p:nvPr/>
          </p:nvGrpSpPr>
          <p:grpSpPr>
            <a:xfrm>
              <a:off x="528066" y="1835150"/>
              <a:ext cx="8321751" cy="205359"/>
              <a:chOff x="528066" y="1835150"/>
              <a:chExt cx="8321751" cy="205359"/>
            </a:xfrm>
          </p:grpSpPr>
          <p:sp>
            <p:nvSpPr>
              <p:cNvPr id="21" name="TextBox 21"/>
              <p:cNvSpPr txBox="1"/>
              <p:nvPr/>
            </p:nvSpPr>
            <p:spPr>
              <a:xfrm>
                <a:off x="528066" y="1835150"/>
                <a:ext cx="761949" cy="205359"/>
              </a:xfrm>
              <a:prstGeom prst="rect">
                <a:avLst/>
              </a:prstGeom>
              <a:noFill/>
              <a:ln>
                <a:noFill/>
              </a:ln>
            </p:spPr>
            <p:txBody>
              <a:bodyPr wrap="none" lIns="0" tIns="0" rIns="0" bIns="0" anchor="t" anchorCtr="0">
                <a:spAutoFit/>
              </a:bodyPr>
              <a:lstStyle/>
              <a:p>
                <a:pPr algn="l"/>
                <a:r>
                  <a:rPr lang="ko-KR" sz="1050" b="1" dirty="0">
                    <a:solidFill>
                      <a:srgbClr val="4B5563"/>
                    </a:solidFill>
                    <a:latin typeface="+mn-lt"/>
                    <a:ea typeface="+mn-ea"/>
                    <a:cs typeface="+mn-cs"/>
                  </a:rPr>
                  <a:t>확인할 질문</a:t>
                </a:r>
              </a:p>
            </p:txBody>
          </p:sp>
          <p:sp>
            <p:nvSpPr>
              <p:cNvPr id="22" name="TextBox 22"/>
              <p:cNvSpPr txBox="1"/>
              <p:nvPr/>
            </p:nvSpPr>
            <p:spPr>
              <a:xfrm>
                <a:off x="4947666" y="1835150"/>
                <a:ext cx="479247" cy="205359"/>
              </a:xfrm>
              <a:prstGeom prst="rect">
                <a:avLst/>
              </a:prstGeom>
              <a:noFill/>
              <a:ln>
                <a:noFill/>
              </a:ln>
            </p:spPr>
            <p:txBody>
              <a:bodyPr wrap="none" lIns="0" tIns="0" rIns="0" bIns="0" anchor="t" anchorCtr="0">
                <a:spAutoFit/>
              </a:bodyPr>
              <a:lstStyle/>
              <a:p>
                <a:pPr algn="l"/>
                <a:r>
                  <a:rPr lang="ko-KR" sz="1050" b="1" dirty="0">
                    <a:solidFill>
                      <a:srgbClr val="4B5563"/>
                    </a:solidFill>
                    <a:latin typeface="+mn-lt"/>
                    <a:ea typeface="+mn-ea"/>
                    <a:cs typeface="+mn-cs"/>
                  </a:rPr>
                  <a:t>안 되면</a:t>
                </a:r>
              </a:p>
            </p:txBody>
          </p:sp>
          <p:sp>
            <p:nvSpPr>
              <p:cNvPr id="23" name="TextBox 23"/>
              <p:cNvSpPr txBox="1"/>
              <p:nvPr/>
            </p:nvSpPr>
            <p:spPr>
              <a:xfrm>
                <a:off x="7805166" y="1835150"/>
                <a:ext cx="1044651" cy="205359"/>
              </a:xfrm>
              <a:prstGeom prst="rect">
                <a:avLst/>
              </a:prstGeom>
              <a:noFill/>
              <a:ln>
                <a:noFill/>
              </a:ln>
            </p:spPr>
            <p:txBody>
              <a:bodyPr wrap="none" lIns="0" tIns="0" rIns="0" bIns="0" anchor="t" anchorCtr="0">
                <a:spAutoFit/>
              </a:bodyPr>
              <a:lstStyle/>
              <a:p>
                <a:pPr algn="l"/>
                <a:r>
                  <a:rPr lang="ko-KR" sz="1050" b="1" dirty="0">
                    <a:solidFill>
                      <a:srgbClr val="4B5563"/>
                    </a:solidFill>
                    <a:latin typeface="+mn-lt"/>
                    <a:ea typeface="+mn-ea"/>
                    <a:cs typeface="+mn-cs"/>
                  </a:rPr>
                  <a:t>어떻게 확인하나</a:t>
                </a:r>
              </a:p>
            </p:txBody>
          </p:sp>
        </p:grpSp>
        <p:sp>
          <p:nvSpPr>
            <p:cNvPr id="25" name="Line 25"/>
            <p:cNvSpPr/>
            <p:nvPr/>
          </p:nvSpPr>
          <p:spPr>
            <a:xfrm>
              <a:off x="533400" y="2057400"/>
              <a:ext cx="11125200" cy="9525"/>
            </a:xfrm>
            <a:custGeom>
              <a:avLst/>
              <a:gdLst/>
              <a:ahLst/>
              <a:cxnLst/>
              <a:rect l="l" t="t" r="r" b="b"/>
              <a:pathLst>
                <a:path w="11125200" h="9525">
                  <a:moveTo>
                    <a:pt x="0" y="0"/>
                  </a:moveTo>
                  <a:lnTo>
                    <a:pt x="11125200" y="0"/>
                  </a:lnTo>
                </a:path>
              </a:pathLst>
            </a:custGeom>
            <a:noFill/>
            <a:ln w="14288">
              <a:solidFill>
                <a:srgbClr val="0B1E3C"/>
              </a:solidFill>
            </a:ln>
          </p:spPr>
        </p:sp>
        <p:sp>
          <p:nvSpPr>
            <p:cNvPr id="26" name="TextBox 26"/>
            <p:cNvSpPr txBox="1"/>
            <p:nvPr/>
          </p:nvSpPr>
          <p:spPr>
            <a:xfrm>
              <a:off x="527685" y="2279650"/>
              <a:ext cx="98502"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1</a:t>
              </a:r>
            </a:p>
          </p:txBody>
        </p:sp>
        <p:sp>
          <p:nvSpPr>
            <p:cNvPr id="27" name="TextBox 27"/>
            <p:cNvSpPr txBox="1"/>
            <p:nvPr/>
          </p:nvSpPr>
          <p:spPr>
            <a:xfrm>
              <a:off x="754761" y="2241550"/>
              <a:ext cx="2756981"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EV 구동계와 GPR의 전자파 간섭</a:t>
              </a:r>
            </a:p>
          </p:txBody>
        </p:sp>
        <p:sp>
          <p:nvSpPr>
            <p:cNvPr id="28" name="TextBox 28"/>
            <p:cNvSpPr txBox="1"/>
            <p:nvPr/>
          </p:nvSpPr>
          <p:spPr>
            <a:xfrm>
              <a:off x="4946523" y="2266950"/>
              <a:ext cx="2063486" cy="250317"/>
            </a:xfrm>
            <a:prstGeom prst="rect">
              <a:avLst/>
            </a:prstGeom>
            <a:noFill/>
            <a:ln>
              <a:noFill/>
            </a:ln>
          </p:spPr>
          <p:txBody>
            <a:bodyPr wrap="none" lIns="0" tIns="0" rIns="0" bIns="0" anchor="t" anchorCtr="0">
              <a:spAutoFit/>
            </a:bodyPr>
            <a:lstStyle/>
            <a:p>
              <a:pPr algn="l"/>
              <a:r>
                <a:rPr lang="ko-KR" sz="1280" dirty="0">
                  <a:solidFill>
                    <a:srgbClr val="C62828"/>
                  </a:solidFill>
                  <a:latin typeface="+mn-lt"/>
                  <a:ea typeface="+mn-ea"/>
                  <a:cs typeface="+mn-cs"/>
                </a:rPr>
                <a:t>차량에서 측정 자체가 불가</a:t>
              </a:r>
            </a:p>
          </p:txBody>
        </p:sp>
        <p:sp>
          <p:nvSpPr>
            <p:cNvPr id="29" name="TextBox 29"/>
            <p:cNvSpPr txBox="1"/>
            <p:nvPr/>
          </p:nvSpPr>
          <p:spPr>
            <a:xfrm>
              <a:off x="7804023" y="2266950"/>
              <a:ext cx="2561732"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주행·정차·V2L 상태별 잡음 비교</a:t>
              </a:r>
            </a:p>
          </p:txBody>
        </p:sp>
        <p:sp>
          <p:nvSpPr>
            <p:cNvPr id="30" name="Line 30"/>
            <p:cNvSpPr/>
            <p:nvPr/>
          </p:nvSpPr>
          <p:spPr>
            <a:xfrm>
              <a:off x="533400" y="2590800"/>
              <a:ext cx="11125200" cy="9525"/>
            </a:xfrm>
            <a:custGeom>
              <a:avLst/>
              <a:gdLst/>
              <a:ahLst/>
              <a:cxnLst/>
              <a:rect l="l" t="t" r="r" b="b"/>
              <a:pathLst>
                <a:path w="11125200" h="9525">
                  <a:moveTo>
                    <a:pt x="0" y="0"/>
                  </a:moveTo>
                  <a:lnTo>
                    <a:pt x="11125200" y="0"/>
                  </a:lnTo>
                </a:path>
              </a:pathLst>
            </a:custGeom>
            <a:noFill/>
            <a:ln w="9525">
              <a:solidFill>
                <a:srgbClr val="E2E6EC"/>
              </a:solidFill>
            </a:ln>
          </p:spPr>
        </p:sp>
        <p:sp>
          <p:nvSpPr>
            <p:cNvPr id="31" name="TextBox 31"/>
            <p:cNvSpPr txBox="1"/>
            <p:nvPr/>
          </p:nvSpPr>
          <p:spPr>
            <a:xfrm>
              <a:off x="527685" y="2736850"/>
              <a:ext cx="98502"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2</a:t>
              </a:r>
            </a:p>
          </p:txBody>
        </p:sp>
        <p:sp>
          <p:nvSpPr>
            <p:cNvPr id="32" name="TextBox 32"/>
            <p:cNvSpPr txBox="1"/>
            <p:nvPr/>
          </p:nvSpPr>
          <p:spPr>
            <a:xfrm>
              <a:off x="754761" y="2698750"/>
              <a:ext cx="2489049"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회차마다 같은 자리를 찍는가</a:t>
              </a:r>
            </a:p>
          </p:txBody>
        </p:sp>
        <p:sp>
          <p:nvSpPr>
            <p:cNvPr id="33" name="TextBox 33"/>
            <p:cNvSpPr txBox="1"/>
            <p:nvPr/>
          </p:nvSpPr>
          <p:spPr>
            <a:xfrm>
              <a:off x="4946523" y="2724150"/>
              <a:ext cx="1322537" cy="250317"/>
            </a:xfrm>
            <a:prstGeom prst="rect">
              <a:avLst/>
            </a:prstGeom>
            <a:noFill/>
            <a:ln>
              <a:noFill/>
            </a:ln>
          </p:spPr>
          <p:txBody>
            <a:bodyPr wrap="none" lIns="0" tIns="0" rIns="0" bIns="0" anchor="t" anchorCtr="0">
              <a:spAutoFit/>
            </a:bodyPr>
            <a:lstStyle/>
            <a:p>
              <a:pPr algn="l"/>
              <a:r>
                <a:rPr lang="ko-KR" sz="1280" dirty="0">
                  <a:solidFill>
                    <a:srgbClr val="C62828"/>
                  </a:solidFill>
                  <a:latin typeface="+mn-lt"/>
                  <a:ea typeface="+mn-ea"/>
                  <a:cs typeface="+mn-cs"/>
                </a:rPr>
                <a:t>변화 비교가 불가</a:t>
              </a:r>
            </a:p>
          </p:txBody>
        </p:sp>
        <p:sp>
          <p:nvSpPr>
            <p:cNvPr id="34" name="TextBox 34"/>
            <p:cNvSpPr txBox="1"/>
            <p:nvPr/>
          </p:nvSpPr>
          <p:spPr>
            <a:xfrm>
              <a:off x="7804023" y="2724150"/>
              <a:ext cx="2510851"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RTK·IMU·휠 인코더로 위치 정합</a:t>
              </a:r>
            </a:p>
          </p:txBody>
        </p:sp>
        <p:sp>
          <p:nvSpPr>
            <p:cNvPr id="35" name="Line 35"/>
            <p:cNvSpPr/>
            <p:nvPr/>
          </p:nvSpPr>
          <p:spPr>
            <a:xfrm>
              <a:off x="533400" y="3048000"/>
              <a:ext cx="11125200" cy="9525"/>
            </a:xfrm>
            <a:custGeom>
              <a:avLst/>
              <a:gdLst/>
              <a:ahLst/>
              <a:cxnLst/>
              <a:rect l="l" t="t" r="r" b="b"/>
              <a:pathLst>
                <a:path w="11125200" h="9525">
                  <a:moveTo>
                    <a:pt x="0" y="0"/>
                  </a:moveTo>
                  <a:lnTo>
                    <a:pt x="11125200" y="0"/>
                  </a:lnTo>
                </a:path>
              </a:pathLst>
            </a:custGeom>
            <a:noFill/>
            <a:ln w="9525">
              <a:solidFill>
                <a:srgbClr val="E2E6EC"/>
              </a:solidFill>
            </a:ln>
          </p:spPr>
        </p:sp>
        <p:sp>
          <p:nvSpPr>
            <p:cNvPr id="36" name="TextBox 36"/>
            <p:cNvSpPr txBox="1"/>
            <p:nvPr/>
          </p:nvSpPr>
          <p:spPr>
            <a:xfrm>
              <a:off x="527685" y="3194050"/>
              <a:ext cx="98502"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3</a:t>
              </a:r>
            </a:p>
          </p:txBody>
        </p:sp>
        <p:sp>
          <p:nvSpPr>
            <p:cNvPr id="37" name="TextBox 37"/>
            <p:cNvSpPr txBox="1"/>
            <p:nvPr/>
          </p:nvSpPr>
          <p:spPr>
            <a:xfrm>
              <a:off x="754761" y="3155950"/>
              <a:ext cx="2286996"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AI가 변화를 맞게 고르는가</a:t>
              </a:r>
            </a:p>
          </p:txBody>
        </p:sp>
        <p:sp>
          <p:nvSpPr>
            <p:cNvPr id="38" name="TextBox 38"/>
            <p:cNvSpPr txBox="1"/>
            <p:nvPr/>
          </p:nvSpPr>
          <p:spPr>
            <a:xfrm>
              <a:off x="4946523" y="3181350"/>
              <a:ext cx="1494851" cy="250317"/>
            </a:xfrm>
            <a:prstGeom prst="rect">
              <a:avLst/>
            </a:prstGeom>
            <a:noFill/>
            <a:ln>
              <a:noFill/>
            </a:ln>
          </p:spPr>
          <p:txBody>
            <a:bodyPr wrap="none" lIns="0" tIns="0" rIns="0" bIns="0" anchor="t" anchorCtr="0">
              <a:spAutoFit/>
            </a:bodyPr>
            <a:lstStyle/>
            <a:p>
              <a:pPr algn="l"/>
              <a:r>
                <a:rPr lang="ko-KR" sz="1280" dirty="0">
                  <a:solidFill>
                    <a:srgbClr val="C62828"/>
                  </a:solidFill>
                  <a:latin typeface="+mn-lt"/>
                  <a:ea typeface="+mn-ea"/>
                  <a:cs typeface="+mn-cs"/>
                </a:rPr>
                <a:t>재확인 출동이 과다</a:t>
              </a:r>
            </a:p>
          </p:txBody>
        </p:sp>
        <p:sp>
          <p:nvSpPr>
            <p:cNvPr id="39" name="TextBox 39"/>
            <p:cNvSpPr txBox="1"/>
            <p:nvPr/>
          </p:nvSpPr>
          <p:spPr>
            <a:xfrm>
              <a:off x="7804023" y="3181350"/>
              <a:ext cx="3235218"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시뮬레이션 통과(7장) → 공동 모사체 실측</a:t>
              </a:r>
            </a:p>
          </p:txBody>
        </p:sp>
        <p:sp>
          <p:nvSpPr>
            <p:cNvPr id="40" name="Line 40"/>
            <p:cNvSpPr/>
            <p:nvPr/>
          </p:nvSpPr>
          <p:spPr>
            <a:xfrm>
              <a:off x="533400" y="3505200"/>
              <a:ext cx="11125200" cy="9525"/>
            </a:xfrm>
            <a:custGeom>
              <a:avLst/>
              <a:gdLst/>
              <a:ahLst/>
              <a:cxnLst/>
              <a:rect l="l" t="t" r="r" b="b"/>
              <a:pathLst>
                <a:path w="11125200" h="9525">
                  <a:moveTo>
                    <a:pt x="0" y="0"/>
                  </a:moveTo>
                  <a:lnTo>
                    <a:pt x="11125200" y="0"/>
                  </a:lnTo>
                </a:path>
              </a:pathLst>
            </a:custGeom>
            <a:noFill/>
            <a:ln w="9525">
              <a:solidFill>
                <a:srgbClr val="E2E6EC"/>
              </a:solidFill>
            </a:ln>
          </p:spPr>
        </p:sp>
        <p:sp>
          <p:nvSpPr>
            <p:cNvPr id="41" name="TextBox 41"/>
            <p:cNvSpPr txBox="1"/>
            <p:nvPr/>
          </p:nvSpPr>
          <p:spPr>
            <a:xfrm>
              <a:off x="527685" y="3651250"/>
              <a:ext cx="98502"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4</a:t>
              </a:r>
            </a:p>
          </p:txBody>
        </p:sp>
        <p:sp>
          <p:nvSpPr>
            <p:cNvPr id="42" name="TextBox 42"/>
            <p:cNvSpPr txBox="1"/>
            <p:nvPr/>
          </p:nvSpPr>
          <p:spPr>
            <a:xfrm>
              <a:off x="754761" y="3613150"/>
              <a:ext cx="2152264"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밤에 AR이 정확히 맞는가</a:t>
              </a:r>
            </a:p>
          </p:txBody>
        </p:sp>
        <p:sp>
          <p:nvSpPr>
            <p:cNvPr id="43" name="TextBox 43"/>
            <p:cNvSpPr txBox="1"/>
            <p:nvPr/>
          </p:nvSpPr>
          <p:spPr>
            <a:xfrm>
              <a:off x="4946523" y="3638550"/>
              <a:ext cx="1718859" cy="250317"/>
            </a:xfrm>
            <a:prstGeom prst="rect">
              <a:avLst/>
            </a:prstGeom>
            <a:noFill/>
            <a:ln>
              <a:noFill/>
            </a:ln>
          </p:spPr>
          <p:txBody>
            <a:bodyPr wrap="none" lIns="0" tIns="0" rIns="0" bIns="0" anchor="t" anchorCtr="0">
              <a:spAutoFit/>
            </a:bodyPr>
            <a:lstStyle/>
            <a:p>
              <a:pPr algn="l"/>
              <a:r>
                <a:rPr lang="ko-KR" sz="1280" dirty="0">
                  <a:solidFill>
                    <a:srgbClr val="C62828"/>
                  </a:solidFill>
                  <a:latin typeface="+mn-lt"/>
                  <a:ea typeface="+mn-ea"/>
                  <a:cs typeface="+mn-cs"/>
                </a:rPr>
                <a:t>현장 탐색 범위가 커짐</a:t>
              </a:r>
            </a:p>
          </p:txBody>
        </p:sp>
        <p:sp>
          <p:nvSpPr>
            <p:cNvPr id="44" name="TextBox 44"/>
            <p:cNvSpPr txBox="1"/>
            <p:nvPr/>
          </p:nvSpPr>
          <p:spPr>
            <a:xfrm>
              <a:off x="7804023" y="3638550"/>
              <a:ext cx="2330572"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맨홀·경계석 기준점 오차 측정</a:t>
              </a:r>
            </a:p>
          </p:txBody>
        </p:sp>
      </p:grpSp>
      <p:grpSp>
        <p:nvGrpSpPr>
          <p:cNvPr id="70" name="stages"/>
          <p:cNvGrpSpPr/>
          <p:nvPr/>
        </p:nvGrpSpPr>
        <p:grpSpPr>
          <a:xfrm>
            <a:off x="527685" y="4298950"/>
            <a:ext cx="11140440" cy="1168400"/>
            <a:chOff x="527685" y="4298950"/>
            <a:chExt cx="11140440" cy="1168400"/>
          </a:xfrm>
        </p:grpSpPr>
        <p:sp>
          <p:nvSpPr>
            <p:cNvPr id="46" name="TextBox 46"/>
            <p:cNvSpPr txBox="1"/>
            <p:nvPr/>
          </p:nvSpPr>
          <p:spPr>
            <a:xfrm>
              <a:off x="527685" y="4298950"/>
              <a:ext cx="662022"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실증 순서</a:t>
              </a:r>
            </a:p>
          </p:txBody>
        </p:sp>
        <p:sp>
          <p:nvSpPr>
            <p:cNvPr id="47" name="Rectangle 47"/>
            <p:cNvSpPr/>
            <p:nvPr/>
          </p:nvSpPr>
          <p:spPr>
            <a:xfrm>
              <a:off x="533400" y="4572000"/>
              <a:ext cx="2647950" cy="895350"/>
            </a:xfrm>
            <a:prstGeom prst="rect">
              <a:avLst/>
            </a:prstGeom>
            <a:solidFill>
              <a:srgbClr val="F3F5F8"/>
            </a:solidFill>
            <a:ln>
              <a:noFill/>
            </a:ln>
          </p:spPr>
        </p:sp>
        <p:sp>
          <p:nvSpPr>
            <p:cNvPr id="48" name="Rectangle 48"/>
            <p:cNvSpPr/>
            <p:nvPr/>
          </p:nvSpPr>
          <p:spPr>
            <a:xfrm>
              <a:off x="533400" y="4572000"/>
              <a:ext cx="2647950" cy="38100"/>
            </a:xfrm>
            <a:prstGeom prst="rect">
              <a:avLst/>
            </a:prstGeom>
            <a:solidFill>
              <a:srgbClr val="0B1E3C"/>
            </a:solidFill>
            <a:ln>
              <a:noFill/>
            </a:ln>
          </p:spPr>
        </p:sp>
        <p:sp>
          <p:nvSpPr>
            <p:cNvPr id="49" name="TextBox 49"/>
            <p:cNvSpPr txBox="1"/>
            <p:nvPr/>
          </p:nvSpPr>
          <p:spPr>
            <a:xfrm>
              <a:off x="699516" y="4711700"/>
              <a:ext cx="954539" cy="205359"/>
            </a:xfrm>
            <a:prstGeom prst="rect">
              <a:avLst/>
            </a:prstGeom>
            <a:noFill/>
            <a:ln>
              <a:noFill/>
            </a:ln>
          </p:spPr>
          <p:txBody>
            <a:bodyPr wrap="none" lIns="0" tIns="0" rIns="0" bIns="0" anchor="t" anchorCtr="0">
              <a:spAutoFit/>
            </a:bodyPr>
            <a:lstStyle/>
            <a:p>
              <a:pPr algn="l"/>
              <a:r>
                <a:rPr lang="ko-KR" sz="1050" b="1" dirty="0">
                  <a:solidFill>
                    <a:srgbClr val="B45309"/>
                  </a:solidFill>
                  <a:latin typeface="+mn-lt"/>
                  <a:ea typeface="+mn-ea"/>
                  <a:cs typeface="+mn-cs"/>
                </a:rPr>
                <a:t>1단계 · 질문 1</a:t>
              </a:r>
            </a:p>
          </p:txBody>
        </p:sp>
        <p:sp>
          <p:nvSpPr>
            <p:cNvPr id="50" name="TextBox 50"/>
            <p:cNvSpPr txBox="1"/>
            <p:nvPr/>
          </p:nvSpPr>
          <p:spPr>
            <a:xfrm>
              <a:off x="697230" y="4927600"/>
              <a:ext cx="1088498" cy="293370"/>
            </a:xfrm>
            <a:prstGeom prst="rect">
              <a:avLst/>
            </a:prstGeom>
            <a:noFill/>
            <a:ln>
              <a:noFill/>
            </a:ln>
          </p:spPr>
          <p:txBody>
            <a:bodyPr wrap="none" lIns="0" tIns="0" rIns="0" bIns="0" anchor="t" anchorCtr="0">
              <a:spAutoFit/>
            </a:bodyPr>
            <a:lstStyle/>
            <a:p>
              <a:pPr algn="l"/>
              <a:r>
                <a:rPr lang="ko-KR" sz="1500" b="1" dirty="0">
                  <a:solidFill>
                    <a:srgbClr val="0B1E3C"/>
                  </a:solidFill>
                  <a:latin typeface="+mn-lt"/>
                  <a:ea typeface="+mn-ea"/>
                  <a:cs typeface="+mn-cs"/>
                </a:rPr>
                <a:t>폐쇄 시험장</a:t>
              </a:r>
            </a:p>
          </p:txBody>
        </p:sp>
        <p:sp>
          <p:nvSpPr>
            <p:cNvPr id="51" name="TextBox 51"/>
            <p:cNvSpPr txBox="1"/>
            <p:nvPr/>
          </p:nvSpPr>
          <p:spPr>
            <a:xfrm>
              <a:off x="699135" y="5213350"/>
              <a:ext cx="1481480" cy="220028"/>
            </a:xfrm>
            <a:prstGeom prst="rect">
              <a:avLst/>
            </a:prstGeom>
            <a:noFill/>
            <a:ln>
              <a:noFill/>
            </a:ln>
          </p:spPr>
          <p:txBody>
            <a:bodyPr wrap="none" lIns="0" tIns="0" rIns="0" bIns="0" anchor="t" anchorCtr="0">
              <a:spAutoFit/>
            </a:bodyPr>
            <a:lstStyle/>
            <a:p>
              <a:pPr algn="l"/>
              <a:r>
                <a:rPr lang="ko-KR" sz="1120" dirty="0">
                  <a:solidFill>
                    <a:srgbClr val="0B1E3C"/>
                  </a:solidFill>
                  <a:latin typeface="+mn-lt"/>
                  <a:ea typeface="+mn-ea"/>
                  <a:cs typeface="+mn-cs"/>
                </a:rPr>
                <a:t>통과 → 차량 측정 가능</a:t>
              </a:r>
            </a:p>
          </p:txBody>
        </p:sp>
        <p:sp>
          <p:nvSpPr>
            <p:cNvPr id="52" name="TextBox 52"/>
            <p:cNvSpPr txBox="1"/>
            <p:nvPr/>
          </p:nvSpPr>
          <p:spPr>
            <a:xfrm>
              <a:off x="3250692" y="4921250"/>
              <a:ext cx="113671" cy="264033"/>
            </a:xfrm>
            <a:prstGeom prst="rect">
              <a:avLst/>
            </a:prstGeom>
            <a:noFill/>
            <a:ln>
              <a:noFill/>
            </a:ln>
          </p:spPr>
          <p:txBody>
            <a:bodyPr wrap="none" lIns="0" tIns="0" rIns="0" bIns="0" anchor="t" anchorCtr="0">
              <a:spAutoFit/>
            </a:bodyPr>
            <a:lstStyle/>
            <a:p>
              <a:pPr algn="l"/>
              <a:r>
                <a:rPr lang="ko-KR" sz="1350" dirty="0">
                  <a:solidFill>
                    <a:srgbClr val="4B5563"/>
                  </a:solidFill>
                  <a:latin typeface="+mn-lt"/>
                  <a:ea typeface="+mn-ea"/>
                  <a:cs typeface="+mn-cs"/>
                </a:rPr>
                <a:t>›</a:t>
              </a:r>
            </a:p>
          </p:txBody>
        </p:sp>
        <p:sp>
          <p:nvSpPr>
            <p:cNvPr id="53" name="Rectangle 53"/>
            <p:cNvSpPr/>
            <p:nvPr/>
          </p:nvSpPr>
          <p:spPr>
            <a:xfrm>
              <a:off x="3362325" y="4572000"/>
              <a:ext cx="2647950" cy="895350"/>
            </a:xfrm>
            <a:prstGeom prst="rect">
              <a:avLst/>
            </a:prstGeom>
            <a:solidFill>
              <a:srgbClr val="F3F5F8"/>
            </a:solidFill>
            <a:ln>
              <a:noFill/>
            </a:ln>
          </p:spPr>
        </p:sp>
        <p:sp>
          <p:nvSpPr>
            <p:cNvPr id="54" name="Rectangle 54"/>
            <p:cNvSpPr/>
            <p:nvPr/>
          </p:nvSpPr>
          <p:spPr>
            <a:xfrm>
              <a:off x="3362325" y="4572000"/>
              <a:ext cx="2647950" cy="38100"/>
            </a:xfrm>
            <a:prstGeom prst="rect">
              <a:avLst/>
            </a:prstGeom>
            <a:solidFill>
              <a:srgbClr val="0B1E3C"/>
            </a:solidFill>
            <a:ln>
              <a:noFill/>
            </a:ln>
          </p:spPr>
        </p:sp>
        <p:sp>
          <p:nvSpPr>
            <p:cNvPr id="55" name="TextBox 55"/>
            <p:cNvSpPr txBox="1"/>
            <p:nvPr/>
          </p:nvSpPr>
          <p:spPr>
            <a:xfrm>
              <a:off x="3528441" y="4711700"/>
              <a:ext cx="1117800" cy="205359"/>
            </a:xfrm>
            <a:prstGeom prst="rect">
              <a:avLst/>
            </a:prstGeom>
            <a:noFill/>
            <a:ln>
              <a:noFill/>
            </a:ln>
          </p:spPr>
          <p:txBody>
            <a:bodyPr wrap="none" lIns="0" tIns="0" rIns="0" bIns="0" anchor="t" anchorCtr="0">
              <a:spAutoFit/>
            </a:bodyPr>
            <a:lstStyle/>
            <a:p>
              <a:pPr algn="l"/>
              <a:r>
                <a:rPr lang="ko-KR" sz="1050" b="1" dirty="0">
                  <a:solidFill>
                    <a:srgbClr val="B45309"/>
                  </a:solidFill>
                  <a:latin typeface="+mn-lt"/>
                  <a:ea typeface="+mn-ea"/>
                  <a:cs typeface="+mn-cs"/>
                </a:rPr>
                <a:t>2단계 · 질문 2·3</a:t>
              </a:r>
            </a:p>
          </p:txBody>
        </p:sp>
        <p:sp>
          <p:nvSpPr>
            <p:cNvPr id="56" name="TextBox 56"/>
            <p:cNvSpPr txBox="1"/>
            <p:nvPr/>
          </p:nvSpPr>
          <p:spPr>
            <a:xfrm>
              <a:off x="3526155" y="4927600"/>
              <a:ext cx="1555966" cy="293370"/>
            </a:xfrm>
            <a:prstGeom prst="rect">
              <a:avLst/>
            </a:prstGeom>
            <a:noFill/>
            <a:ln>
              <a:noFill/>
            </a:ln>
          </p:spPr>
          <p:txBody>
            <a:bodyPr wrap="none" lIns="0" tIns="0" rIns="0" bIns="0" anchor="t" anchorCtr="0">
              <a:spAutoFit/>
            </a:bodyPr>
            <a:lstStyle/>
            <a:p>
              <a:pPr algn="l"/>
              <a:r>
                <a:rPr lang="ko-KR" sz="1500" b="1" dirty="0">
                  <a:solidFill>
                    <a:srgbClr val="0B1E3C"/>
                  </a:solidFill>
                  <a:latin typeface="+mn-lt"/>
                  <a:ea typeface="+mn-ea"/>
                  <a:cs typeface="+mn-cs"/>
                </a:rPr>
                <a:t>통제된 시험 구간</a:t>
              </a:r>
            </a:p>
          </p:txBody>
        </p:sp>
        <p:sp>
          <p:nvSpPr>
            <p:cNvPr id="57" name="TextBox 57"/>
            <p:cNvSpPr txBox="1"/>
            <p:nvPr/>
          </p:nvSpPr>
          <p:spPr>
            <a:xfrm>
              <a:off x="3528060" y="5213350"/>
              <a:ext cx="1481480" cy="220028"/>
            </a:xfrm>
            <a:prstGeom prst="rect">
              <a:avLst/>
            </a:prstGeom>
            <a:noFill/>
            <a:ln>
              <a:noFill/>
            </a:ln>
          </p:spPr>
          <p:txBody>
            <a:bodyPr wrap="none" lIns="0" tIns="0" rIns="0" bIns="0" anchor="t" anchorCtr="0">
              <a:spAutoFit/>
            </a:bodyPr>
            <a:lstStyle/>
            <a:p>
              <a:pPr algn="l"/>
              <a:r>
                <a:rPr lang="ko-KR" sz="1120" dirty="0">
                  <a:solidFill>
                    <a:srgbClr val="0B1E3C"/>
                  </a:solidFill>
                  <a:latin typeface="+mn-lt"/>
                  <a:ea typeface="+mn-ea"/>
                  <a:cs typeface="+mn-cs"/>
                </a:rPr>
                <a:t>통과 → 회차 비교 가능</a:t>
              </a:r>
            </a:p>
          </p:txBody>
        </p:sp>
        <p:sp>
          <p:nvSpPr>
            <p:cNvPr id="58" name="TextBox 58"/>
            <p:cNvSpPr txBox="1"/>
            <p:nvPr/>
          </p:nvSpPr>
          <p:spPr>
            <a:xfrm>
              <a:off x="6079617" y="4921250"/>
              <a:ext cx="113671" cy="264033"/>
            </a:xfrm>
            <a:prstGeom prst="rect">
              <a:avLst/>
            </a:prstGeom>
            <a:noFill/>
            <a:ln>
              <a:noFill/>
            </a:ln>
          </p:spPr>
          <p:txBody>
            <a:bodyPr wrap="none" lIns="0" tIns="0" rIns="0" bIns="0" anchor="t" anchorCtr="0">
              <a:spAutoFit/>
            </a:bodyPr>
            <a:lstStyle/>
            <a:p>
              <a:pPr algn="l"/>
              <a:r>
                <a:rPr lang="ko-KR" sz="1350" dirty="0">
                  <a:solidFill>
                    <a:srgbClr val="4B5563"/>
                  </a:solidFill>
                  <a:latin typeface="+mn-lt"/>
                  <a:ea typeface="+mn-ea"/>
                  <a:cs typeface="+mn-cs"/>
                </a:rPr>
                <a:t>›</a:t>
              </a:r>
            </a:p>
          </p:txBody>
        </p:sp>
        <p:sp>
          <p:nvSpPr>
            <p:cNvPr id="59" name="Rectangle 59"/>
            <p:cNvSpPr/>
            <p:nvPr/>
          </p:nvSpPr>
          <p:spPr>
            <a:xfrm>
              <a:off x="6191250" y="4572000"/>
              <a:ext cx="2647950" cy="895350"/>
            </a:xfrm>
            <a:prstGeom prst="rect">
              <a:avLst/>
            </a:prstGeom>
            <a:solidFill>
              <a:srgbClr val="F3F5F8"/>
            </a:solidFill>
            <a:ln>
              <a:noFill/>
            </a:ln>
          </p:spPr>
        </p:sp>
        <p:sp>
          <p:nvSpPr>
            <p:cNvPr id="60" name="Rectangle 60"/>
            <p:cNvSpPr/>
            <p:nvPr/>
          </p:nvSpPr>
          <p:spPr>
            <a:xfrm>
              <a:off x="6191250" y="4572000"/>
              <a:ext cx="2647950" cy="38100"/>
            </a:xfrm>
            <a:prstGeom prst="rect">
              <a:avLst/>
            </a:prstGeom>
            <a:solidFill>
              <a:srgbClr val="0B1E3C"/>
            </a:solidFill>
            <a:ln>
              <a:noFill/>
            </a:ln>
          </p:spPr>
        </p:sp>
        <p:sp>
          <p:nvSpPr>
            <p:cNvPr id="61" name="TextBox 61"/>
            <p:cNvSpPr txBox="1"/>
            <p:nvPr/>
          </p:nvSpPr>
          <p:spPr>
            <a:xfrm>
              <a:off x="6357366" y="4711700"/>
              <a:ext cx="1117800" cy="205359"/>
            </a:xfrm>
            <a:prstGeom prst="rect">
              <a:avLst/>
            </a:prstGeom>
            <a:noFill/>
            <a:ln>
              <a:noFill/>
            </a:ln>
          </p:spPr>
          <p:txBody>
            <a:bodyPr wrap="none" lIns="0" tIns="0" rIns="0" bIns="0" anchor="t" anchorCtr="0">
              <a:spAutoFit/>
            </a:bodyPr>
            <a:lstStyle/>
            <a:p>
              <a:pPr algn="l"/>
              <a:r>
                <a:rPr lang="ko-KR" sz="1050" b="1" dirty="0">
                  <a:solidFill>
                    <a:srgbClr val="B45309"/>
                  </a:solidFill>
                  <a:latin typeface="+mn-lt"/>
                  <a:ea typeface="+mn-ea"/>
                  <a:cs typeface="+mn-cs"/>
                </a:rPr>
                <a:t>3단계 · 질문 3·4</a:t>
              </a:r>
            </a:p>
          </p:txBody>
        </p:sp>
        <p:sp>
          <p:nvSpPr>
            <p:cNvPr id="62" name="TextBox 62"/>
            <p:cNvSpPr txBox="1"/>
            <p:nvPr/>
          </p:nvSpPr>
          <p:spPr>
            <a:xfrm>
              <a:off x="6355080" y="4927600"/>
              <a:ext cx="1757896" cy="293370"/>
            </a:xfrm>
            <a:prstGeom prst="rect">
              <a:avLst/>
            </a:prstGeom>
            <a:noFill/>
            <a:ln>
              <a:noFill/>
            </a:ln>
          </p:spPr>
          <p:txBody>
            <a:bodyPr wrap="none" lIns="0" tIns="0" rIns="0" bIns="0" anchor="t" anchorCtr="0">
              <a:spAutoFit/>
            </a:bodyPr>
            <a:lstStyle/>
            <a:p>
              <a:pPr algn="l"/>
              <a:r>
                <a:rPr lang="ko-KR" sz="1500" b="1" dirty="0">
                  <a:solidFill>
                    <a:srgbClr val="0B1E3C"/>
                  </a:solidFill>
                  <a:latin typeface="+mn-lt"/>
                  <a:ea typeface="+mn-ea"/>
                  <a:cs typeface="+mn-cs"/>
                </a:rPr>
                <a:t>실제 도로 위험구간</a:t>
              </a:r>
            </a:p>
          </p:txBody>
        </p:sp>
        <p:sp>
          <p:nvSpPr>
            <p:cNvPr id="63" name="TextBox 63"/>
            <p:cNvSpPr txBox="1"/>
            <p:nvPr/>
          </p:nvSpPr>
          <p:spPr>
            <a:xfrm>
              <a:off x="6356985" y="5213350"/>
              <a:ext cx="1240241" cy="220028"/>
            </a:xfrm>
            <a:prstGeom prst="rect">
              <a:avLst/>
            </a:prstGeom>
            <a:noFill/>
            <a:ln>
              <a:noFill/>
            </a:ln>
          </p:spPr>
          <p:txBody>
            <a:bodyPr wrap="none" lIns="0" tIns="0" rIns="0" bIns="0" anchor="t" anchorCtr="0">
              <a:spAutoFit/>
            </a:bodyPr>
            <a:lstStyle/>
            <a:p>
              <a:pPr algn="l"/>
              <a:r>
                <a:rPr lang="ko-KR" sz="1120" dirty="0">
                  <a:solidFill>
                    <a:srgbClr val="0B1E3C"/>
                  </a:solidFill>
                  <a:latin typeface="+mn-lt"/>
                  <a:ea typeface="+mn-ea"/>
                  <a:cs typeface="+mn-cs"/>
                </a:rPr>
                <a:t>통과 → 실증확인서</a:t>
              </a:r>
            </a:p>
          </p:txBody>
        </p:sp>
        <p:sp>
          <p:nvSpPr>
            <p:cNvPr id="64" name="TextBox 64"/>
            <p:cNvSpPr txBox="1"/>
            <p:nvPr/>
          </p:nvSpPr>
          <p:spPr>
            <a:xfrm>
              <a:off x="8908542" y="4921250"/>
              <a:ext cx="113671" cy="264033"/>
            </a:xfrm>
            <a:prstGeom prst="rect">
              <a:avLst/>
            </a:prstGeom>
            <a:noFill/>
            <a:ln>
              <a:noFill/>
            </a:ln>
          </p:spPr>
          <p:txBody>
            <a:bodyPr wrap="none" lIns="0" tIns="0" rIns="0" bIns="0" anchor="t" anchorCtr="0">
              <a:spAutoFit/>
            </a:bodyPr>
            <a:lstStyle/>
            <a:p>
              <a:pPr algn="l"/>
              <a:r>
                <a:rPr lang="ko-KR" sz="1350" dirty="0">
                  <a:solidFill>
                    <a:srgbClr val="4B5563"/>
                  </a:solidFill>
                  <a:latin typeface="+mn-lt"/>
                  <a:ea typeface="+mn-ea"/>
                  <a:cs typeface="+mn-cs"/>
                </a:rPr>
                <a:t>›</a:t>
              </a:r>
            </a:p>
          </p:txBody>
        </p:sp>
        <p:sp>
          <p:nvSpPr>
            <p:cNvPr id="65" name="Rectangle 65"/>
            <p:cNvSpPr/>
            <p:nvPr/>
          </p:nvSpPr>
          <p:spPr>
            <a:xfrm>
              <a:off x="9020175" y="4572000"/>
              <a:ext cx="2647950" cy="895350"/>
            </a:xfrm>
            <a:prstGeom prst="rect">
              <a:avLst/>
            </a:prstGeom>
            <a:solidFill>
              <a:srgbClr val="F3F5F8"/>
            </a:solidFill>
            <a:ln>
              <a:noFill/>
            </a:ln>
          </p:spPr>
        </p:sp>
        <p:sp>
          <p:nvSpPr>
            <p:cNvPr id="66" name="Rectangle 66"/>
            <p:cNvSpPr/>
            <p:nvPr/>
          </p:nvSpPr>
          <p:spPr>
            <a:xfrm>
              <a:off x="9020175" y="4572000"/>
              <a:ext cx="2647950" cy="38100"/>
            </a:xfrm>
            <a:prstGeom prst="rect">
              <a:avLst/>
            </a:prstGeom>
            <a:solidFill>
              <a:srgbClr val="F5B700"/>
            </a:solidFill>
            <a:ln>
              <a:noFill/>
            </a:ln>
          </p:spPr>
        </p:sp>
        <p:sp>
          <p:nvSpPr>
            <p:cNvPr id="67" name="TextBox 67"/>
            <p:cNvSpPr txBox="1"/>
            <p:nvPr/>
          </p:nvSpPr>
          <p:spPr>
            <a:xfrm>
              <a:off x="9186291" y="4711700"/>
              <a:ext cx="1616769" cy="205359"/>
            </a:xfrm>
            <a:prstGeom prst="rect">
              <a:avLst/>
            </a:prstGeom>
            <a:noFill/>
            <a:ln>
              <a:noFill/>
            </a:ln>
          </p:spPr>
          <p:txBody>
            <a:bodyPr wrap="none" lIns="0" tIns="0" rIns="0" bIns="0" anchor="t" anchorCtr="0">
              <a:spAutoFit/>
            </a:bodyPr>
            <a:lstStyle/>
            <a:p>
              <a:pPr algn="l"/>
              <a:r>
                <a:rPr lang="ko-KR" sz="1050" b="1" dirty="0">
                  <a:solidFill>
                    <a:srgbClr val="B45309"/>
                  </a:solidFill>
                  <a:latin typeface="+mn-lt"/>
                  <a:ea typeface="+mn-ea"/>
                  <a:cs typeface="+mn-cs"/>
                </a:rPr>
                <a:t>4단계 · 소요시간·재방문</a:t>
              </a:r>
            </a:p>
          </p:txBody>
        </p:sp>
        <p:sp>
          <p:nvSpPr>
            <p:cNvPr id="68" name="TextBox 68"/>
            <p:cNvSpPr txBox="1"/>
            <p:nvPr/>
          </p:nvSpPr>
          <p:spPr>
            <a:xfrm>
              <a:off x="9184005" y="4927600"/>
              <a:ext cx="886568" cy="293370"/>
            </a:xfrm>
            <a:prstGeom prst="rect">
              <a:avLst/>
            </a:prstGeom>
            <a:noFill/>
            <a:ln>
              <a:noFill/>
            </a:ln>
          </p:spPr>
          <p:txBody>
            <a:bodyPr wrap="none" lIns="0" tIns="0" rIns="0" bIns="0" anchor="t" anchorCtr="0">
              <a:spAutoFit/>
            </a:bodyPr>
            <a:lstStyle/>
            <a:p>
              <a:pPr algn="l"/>
              <a:r>
                <a:rPr lang="ko-KR" sz="1500" b="1" dirty="0">
                  <a:solidFill>
                    <a:srgbClr val="0B1E3C"/>
                  </a:solidFill>
                  <a:latin typeface="+mn-lt"/>
                  <a:ea typeface="+mn-ea"/>
                  <a:cs typeface="+mn-cs"/>
                </a:rPr>
                <a:t>실제 운영</a:t>
              </a:r>
            </a:p>
          </p:txBody>
        </p:sp>
        <p:sp>
          <p:nvSpPr>
            <p:cNvPr id="69" name="TextBox 69"/>
            <p:cNvSpPr txBox="1"/>
            <p:nvPr/>
          </p:nvSpPr>
          <p:spPr>
            <a:xfrm>
              <a:off x="9185910" y="5213350"/>
              <a:ext cx="1481480" cy="220028"/>
            </a:xfrm>
            <a:prstGeom prst="rect">
              <a:avLst/>
            </a:prstGeom>
            <a:noFill/>
            <a:ln>
              <a:noFill/>
            </a:ln>
          </p:spPr>
          <p:txBody>
            <a:bodyPr wrap="none" lIns="0" tIns="0" rIns="0" bIns="0" anchor="t" anchorCtr="0">
              <a:spAutoFit/>
            </a:bodyPr>
            <a:lstStyle/>
            <a:p>
              <a:pPr algn="l"/>
              <a:r>
                <a:rPr lang="ko-KR" sz="1120" dirty="0">
                  <a:solidFill>
                    <a:srgbClr val="0B1E3C"/>
                  </a:solidFill>
                  <a:latin typeface="+mn-lt"/>
                  <a:ea typeface="+mn-ea"/>
                  <a:cs typeface="+mn-cs"/>
                </a:rPr>
                <a:t>통과 → 연간 관제 계약</a:t>
              </a:r>
            </a:p>
          </p:txBody>
        </p:sp>
      </p:grpSp>
      <p:grpSp>
        <p:nvGrpSpPr>
          <p:cNvPr id="73" name="conclusion"/>
          <p:cNvGrpSpPr/>
          <p:nvPr/>
        </p:nvGrpSpPr>
        <p:grpSpPr>
          <a:xfrm>
            <a:off x="533400" y="5715000"/>
            <a:ext cx="6510362" cy="419100"/>
            <a:chOff x="533400" y="5715000"/>
            <a:chExt cx="6510362" cy="419100"/>
          </a:xfrm>
        </p:grpSpPr>
        <p:sp>
          <p:nvSpPr>
            <p:cNvPr id="71" name="Rectangle 71"/>
            <p:cNvSpPr/>
            <p:nvPr/>
          </p:nvSpPr>
          <p:spPr>
            <a:xfrm>
              <a:off x="533400" y="5715000"/>
              <a:ext cx="38100" cy="419100"/>
            </a:xfrm>
            <a:prstGeom prst="rect">
              <a:avLst/>
            </a:prstGeom>
            <a:solidFill>
              <a:srgbClr val="F5B700"/>
            </a:solidFill>
            <a:ln>
              <a:noFill/>
            </a:ln>
          </p:spPr>
        </p:sp>
        <p:sp>
          <p:nvSpPr>
            <p:cNvPr id="72" name="TextBox 72"/>
            <p:cNvSpPr txBox="1"/>
            <p:nvPr/>
          </p:nvSpPr>
          <p:spPr>
            <a:xfrm>
              <a:off x="715899" y="5810250"/>
              <a:ext cx="6327863" cy="308991"/>
            </a:xfrm>
            <a:prstGeom prst="rect">
              <a:avLst/>
            </a:prstGeom>
            <a:noFill/>
            <a:ln>
              <a:noFill/>
            </a:ln>
          </p:spPr>
          <p:txBody>
            <a:bodyPr wrap="none" lIns="0" tIns="0" rIns="0" bIns="0" anchor="t" anchorCtr="0">
              <a:spAutoFit/>
            </a:bodyPr>
            <a:lstStyle/>
            <a:p>
              <a:pPr algn="l"/>
              <a:r>
                <a:rPr lang="ko-KR" sz="1580" b="1" dirty="0">
                  <a:solidFill>
                    <a:srgbClr val="0B1E3C"/>
                  </a:solidFill>
                  <a:latin typeface="+mn-lt"/>
                  <a:ea typeface="+mn-ea"/>
                  <a:cs typeface="+mn-cs"/>
                </a:rPr>
                <a:t>정확도 숫자를 미리 약속하지 않고, 단계마다 통과 조건을 둡니다.</a:t>
              </a:r>
            </a:p>
          </p:txBody>
        </p:sp>
      </p:grpSp>
      <p:grpSp>
        <p:nvGrpSpPr>
          <p:cNvPr id="75" name="source"/>
          <p:cNvGrpSpPr/>
          <p:nvPr/>
        </p:nvGrpSpPr>
        <p:grpSpPr>
          <a:xfrm>
            <a:off x="528638" y="6381750"/>
            <a:ext cx="9087345" cy="176212"/>
            <a:chOff x="528638" y="6381750"/>
            <a:chExt cx="9087345" cy="176212"/>
          </a:xfrm>
        </p:grpSpPr>
        <p:sp>
          <p:nvSpPr>
            <p:cNvPr id="74" name="TextBox 74"/>
            <p:cNvSpPr txBox="1"/>
            <p:nvPr/>
          </p:nvSpPr>
          <p:spPr>
            <a:xfrm>
              <a:off x="528638" y="6381750"/>
              <a:ext cx="9087345"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인허가: 도로 영상은 개인정보보호법 제25조의2(2023.9)대로 차량 외부 표시 · GPR 전파 적합성평가·튜닝 승인은 사업화 전 확인 · 출처: 일본 국토교통성 연구(2021)</a:t>
              </a:r>
            </a:p>
          </p:txBody>
        </p:sp>
      </p:grpSp>
      <p:grpSp>
        <p:nvGrpSpPr>
          <p:cNvPr id="78" name="footer"/>
          <p:cNvGrpSpPr/>
          <p:nvPr/>
        </p:nvGrpSpPr>
        <p:grpSpPr>
          <a:xfrm>
            <a:off x="528638" y="6610350"/>
            <a:ext cx="11134724" cy="176212"/>
            <a:chOff x="528638" y="6610350"/>
            <a:chExt cx="11134724" cy="176212"/>
          </a:xfrm>
        </p:grpSpPr>
        <p:sp>
          <p:nvSpPr>
            <p:cNvPr id="76" name="TextBox 76"/>
            <p:cNvSpPr txBox="1"/>
            <p:nvPr/>
          </p:nvSpPr>
          <p:spPr>
            <a:xfrm>
              <a:off x="528638" y="6610350"/>
              <a:ext cx="1487653"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한 명이라도 살릴 수 있다면</a:t>
              </a:r>
            </a:p>
          </p:txBody>
        </p:sp>
        <p:sp>
          <p:nvSpPr>
            <p:cNvPr id="77" name="TextBox 77"/>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12 / 15</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759828"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시장과 수지</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문제</a:t>
              </a:r>
            </a:p>
          </p:txBody>
        </p:sp>
        <p:sp>
          <p:nvSpPr>
            <p:cNvPr id="6" name="TextBox 6"/>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7" name="TextBox 7"/>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해법</a:t>
              </a:r>
            </a:p>
          </p:txBody>
        </p:sp>
        <p:sp>
          <p:nvSpPr>
            <p:cNvPr id="8" name="TextBox 8"/>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9" name="TextBox 9"/>
            <p:cNvSpPr txBox="1"/>
            <p:nvPr/>
          </p:nvSpPr>
          <p:spPr>
            <a:xfrm>
              <a:off x="9701251" y="301625"/>
              <a:ext cx="257099" cy="205359"/>
            </a:xfrm>
            <a:prstGeom prst="rect">
              <a:avLst/>
            </a:prstGeom>
            <a:noFill/>
            <a:ln>
              <a:noFill/>
            </a:ln>
          </p:spPr>
          <p:txBody>
            <a:bodyPr wrap="none" lIns="0" tIns="0" rIns="0" bIns="0" anchor="t" anchorCtr="0">
              <a:spAutoFit/>
            </a:bodyPr>
            <a:lstStyle/>
            <a:p>
              <a:pPr algn="ctr"/>
              <a:r>
                <a:rPr lang="en-US" sz="1050" dirty="0">
                  <a:solidFill>
                    <a:srgbClr val="9AA3AF"/>
                  </a:solidFill>
                  <a:latin typeface="+mn-lt"/>
                  <a:ea typeface="+mn-ea"/>
                  <a:cs typeface="+mn-cs"/>
                </a:rPr>
                <a:t>PV5</a:t>
              </a:r>
            </a:p>
          </p:txBody>
        </p:sp>
        <p:sp>
          <p:nvSpPr>
            <p:cNvPr id="10" name="TextBox 10"/>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1" name="TextBox 11"/>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2" name="TextBox 12"/>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3" name="TextBox 13"/>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b="1" dirty="0">
                  <a:solidFill>
                    <a:srgbClr val="0B1E3C"/>
                  </a:solidFill>
                  <a:latin typeface="+mn-lt"/>
                  <a:ea typeface="+mn-ea"/>
                  <a:cs typeface="+mn-cs"/>
                </a:rPr>
                <a:t>사업</a:t>
              </a:r>
            </a:p>
          </p:txBody>
        </p:sp>
        <p:sp>
          <p:nvSpPr>
            <p:cNvPr id="14" name="Rectangle 14"/>
            <p:cNvSpPr/>
            <p:nvPr/>
          </p:nvSpPr>
          <p:spPr>
            <a:xfrm>
              <a:off x="10858500" y="514350"/>
              <a:ext cx="457200" cy="28575"/>
            </a:xfrm>
            <a:prstGeom prst="rect">
              <a:avLst/>
            </a:prstGeom>
            <a:solidFill>
              <a:srgbClr val="F5B700"/>
            </a:solidFill>
            <a:ln>
              <a:noFill/>
            </a:ln>
          </p:spPr>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160" y="774700"/>
            <a:ext cx="7772133" cy="586740"/>
            <a:chOff x="518160" y="774700"/>
            <a:chExt cx="7772133" cy="586740"/>
          </a:xfrm>
        </p:grpSpPr>
        <p:sp>
          <p:nvSpPr>
            <p:cNvPr id="17" name="TextBox 17"/>
            <p:cNvSpPr txBox="1"/>
            <p:nvPr/>
          </p:nvSpPr>
          <p:spPr>
            <a:xfrm>
              <a:off x="518160" y="774700"/>
              <a:ext cx="7772133"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차량 1대가 지자체 2곳만 맡아도 흑자입니다</a:t>
              </a:r>
            </a:p>
          </p:txBody>
        </p:sp>
      </p:grpSp>
      <p:grpSp>
        <p:nvGrpSpPr>
          <p:cNvPr id="25" name="market"/>
          <p:cNvGrpSpPr/>
          <p:nvPr/>
        </p:nvGrpSpPr>
        <p:grpSpPr>
          <a:xfrm>
            <a:off x="521970" y="1397000"/>
            <a:ext cx="10355555" cy="607378"/>
            <a:chOff x="521970" y="1397000"/>
            <a:chExt cx="10355555" cy="607378"/>
          </a:xfrm>
        </p:grpSpPr>
        <p:sp>
          <p:nvSpPr>
            <p:cNvPr id="19" name="TextBox 19"/>
            <p:cNvSpPr txBox="1"/>
            <p:nvPr/>
          </p:nvSpPr>
          <p:spPr>
            <a:xfrm>
              <a:off x="521970" y="1397000"/>
              <a:ext cx="1485843" cy="440055"/>
            </a:xfrm>
            <a:prstGeom prst="rect">
              <a:avLst/>
            </a:prstGeom>
            <a:noFill/>
            <a:ln>
              <a:noFill/>
            </a:ln>
          </p:spPr>
          <p:txBody>
            <a:bodyPr wrap="none" lIns="0" tIns="0" rIns="0" bIns="0" anchor="t" anchorCtr="0">
              <a:spAutoFit/>
            </a:bodyPr>
            <a:lstStyle/>
            <a:p>
              <a:pPr algn="l"/>
              <a:r>
                <a:rPr lang="en-US" sz="2250" b="1" dirty="0">
                  <a:solidFill>
                    <a:srgbClr val="0B1E3C"/>
                  </a:solidFill>
                  <a:latin typeface="+mn-lt"/>
                  <a:ea typeface="+mn-ea"/>
                  <a:cs typeface="+mn-cs"/>
                </a:rPr>
                <a:t>96,712km</a:t>
              </a:r>
            </a:p>
          </p:txBody>
        </p:sp>
        <p:sp>
          <p:nvSpPr>
            <p:cNvPr id="20" name="TextBox 20"/>
            <p:cNvSpPr txBox="1"/>
            <p:nvPr/>
          </p:nvSpPr>
          <p:spPr>
            <a:xfrm>
              <a:off x="527685" y="1784350"/>
              <a:ext cx="2597211"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지자체가 관리하는 도로 (전국의 83%)</a:t>
              </a:r>
            </a:p>
          </p:txBody>
        </p:sp>
        <p:sp>
          <p:nvSpPr>
            <p:cNvPr id="21" name="TextBox 21"/>
            <p:cNvSpPr txBox="1"/>
            <p:nvPr/>
          </p:nvSpPr>
          <p:spPr>
            <a:xfrm>
              <a:off x="4293870" y="1397000"/>
              <a:ext cx="2726198" cy="440055"/>
            </a:xfrm>
            <a:prstGeom prst="rect">
              <a:avLst/>
            </a:prstGeom>
            <a:noFill/>
            <a:ln>
              <a:noFill/>
            </a:ln>
          </p:spPr>
          <p:txBody>
            <a:bodyPr wrap="none" lIns="0" tIns="0" rIns="0" bIns="0" anchor="t" anchorCtr="0">
              <a:spAutoFit/>
            </a:bodyPr>
            <a:lstStyle/>
            <a:p>
              <a:pPr algn="l"/>
              <a:r>
                <a:rPr lang="en-US" sz="2250" b="1" dirty="0">
                  <a:solidFill>
                    <a:srgbClr val="0B1E3C"/>
                  </a:solidFill>
                  <a:latin typeface="+mn-lt"/>
                  <a:ea typeface="+mn-ea"/>
                  <a:cs typeface="+mn-cs"/>
                </a:rPr>
                <a:t>2,308 → 11,380km</a:t>
              </a:r>
            </a:p>
          </p:txBody>
        </p:sp>
        <p:sp>
          <p:nvSpPr>
            <p:cNvPr id="22" name="TextBox 22"/>
            <p:cNvSpPr txBox="1"/>
            <p:nvPr/>
          </p:nvSpPr>
          <p:spPr>
            <a:xfrm>
              <a:off x="4299585" y="1784350"/>
              <a:ext cx="2484130"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정부 지반탐사 2024 → 2026 (약 5배)</a:t>
              </a:r>
            </a:p>
          </p:txBody>
        </p:sp>
        <p:sp>
          <p:nvSpPr>
            <p:cNvPr id="23" name="TextBox 23"/>
            <p:cNvSpPr txBox="1"/>
            <p:nvPr/>
          </p:nvSpPr>
          <p:spPr>
            <a:xfrm>
              <a:off x="8561070" y="1397000"/>
              <a:ext cx="1073906" cy="440055"/>
            </a:xfrm>
            <a:prstGeom prst="rect">
              <a:avLst/>
            </a:prstGeom>
            <a:noFill/>
            <a:ln>
              <a:noFill/>
            </a:ln>
          </p:spPr>
          <p:txBody>
            <a:bodyPr wrap="none" lIns="0" tIns="0" rIns="0" bIns="0" anchor="t" anchorCtr="0">
              <a:spAutoFit/>
            </a:bodyPr>
            <a:lstStyle/>
            <a:p>
              <a:pPr algn="l"/>
              <a:r>
                <a:rPr lang="ko-KR" sz="2250" b="1" dirty="0">
                  <a:solidFill>
                    <a:srgbClr val="0B1E3C"/>
                  </a:solidFill>
                  <a:latin typeface="+mn-lt"/>
                  <a:ea typeface="+mn-ea"/>
                  <a:cs typeface="+mn-cs"/>
                </a:rPr>
                <a:t>44억 원</a:t>
              </a:r>
            </a:p>
          </p:txBody>
        </p:sp>
        <p:sp>
          <p:nvSpPr>
            <p:cNvPr id="24" name="TextBox 24"/>
            <p:cNvSpPr txBox="1"/>
            <p:nvPr/>
          </p:nvSpPr>
          <p:spPr>
            <a:xfrm>
              <a:off x="8566785" y="1784350"/>
              <a:ext cx="2310740"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2026 국비 · 지자체 지반탐사 지원</a:t>
              </a:r>
            </a:p>
          </p:txBody>
        </p:sp>
      </p:grpSp>
      <p:grpSp>
        <p:nvGrpSpPr>
          <p:cNvPr id="46" name="bars"/>
          <p:cNvGrpSpPr/>
          <p:nvPr/>
        </p:nvGrpSpPr>
        <p:grpSpPr>
          <a:xfrm>
            <a:off x="526542" y="2228850"/>
            <a:ext cx="11132058" cy="2647950"/>
            <a:chOff x="526542" y="2228850"/>
            <a:chExt cx="11132058" cy="2647950"/>
          </a:xfrm>
        </p:grpSpPr>
        <p:sp>
          <p:nvSpPr>
            <p:cNvPr id="26" name="Line 26"/>
            <p:cNvSpPr/>
            <p:nvPr/>
          </p:nvSpPr>
          <p:spPr>
            <a:xfrm>
              <a:off x="533400" y="2228850"/>
              <a:ext cx="11125200" cy="9525"/>
            </a:xfrm>
            <a:custGeom>
              <a:avLst/>
              <a:gdLst/>
              <a:ahLst/>
              <a:cxnLst/>
              <a:rect l="l" t="t" r="r" b="b"/>
              <a:pathLst>
                <a:path w="11125200" h="9525">
                  <a:moveTo>
                    <a:pt x="0" y="0"/>
                  </a:moveTo>
                  <a:lnTo>
                    <a:pt x="11125200" y="0"/>
                  </a:lnTo>
                </a:path>
              </a:pathLst>
            </a:custGeom>
            <a:noFill/>
            <a:ln w="14288">
              <a:solidFill>
                <a:srgbClr val="0B1E3C"/>
              </a:solidFill>
            </a:ln>
          </p:spPr>
        </p:sp>
        <p:sp>
          <p:nvSpPr>
            <p:cNvPr id="27" name="TextBox 27"/>
            <p:cNvSpPr txBox="1"/>
            <p:nvPr/>
          </p:nvSpPr>
          <p:spPr>
            <a:xfrm>
              <a:off x="527685" y="2355850"/>
              <a:ext cx="1232703"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연간 금액 (억 원)</a:t>
              </a:r>
            </a:p>
          </p:txBody>
        </p:sp>
        <p:sp>
          <p:nvSpPr>
            <p:cNvPr id="28" name="TextBox 28"/>
            <p:cNvSpPr txBox="1"/>
            <p:nvPr/>
          </p:nvSpPr>
          <p:spPr>
            <a:xfrm>
              <a:off x="526542" y="2825750"/>
              <a:ext cx="2058005" cy="264033"/>
            </a:xfrm>
            <a:prstGeom prst="rect">
              <a:avLst/>
            </a:prstGeom>
            <a:noFill/>
            <a:ln>
              <a:noFill/>
            </a:ln>
          </p:spPr>
          <p:txBody>
            <a:bodyPr wrap="none" lIns="0" tIns="0" rIns="0" bIns="0" anchor="t" anchorCtr="0">
              <a:spAutoFit/>
            </a:bodyPr>
            <a:lstStyle/>
            <a:p>
              <a:pPr algn="l"/>
              <a:r>
                <a:rPr lang="ko-KR" sz="1350" b="1" dirty="0">
                  <a:solidFill>
                    <a:srgbClr val="111827"/>
                  </a:solidFill>
                  <a:latin typeface="+mn-lt"/>
                  <a:ea typeface="+mn-ea"/>
                  <a:cs typeface="+mn-cs"/>
                </a:rPr>
                <a:t xml:space="preserve">차량 1대 연간 비용 </a:t>
              </a:r>
              <a:r>
                <a:rPr lang="ko-KR" sz="1050" dirty="0">
                  <a:solidFill>
                    <a:srgbClr val="4B5563"/>
                  </a:solidFill>
                  <a:latin typeface="+mn-lt"/>
                  <a:ea typeface="+mn-ea"/>
                  <a:cs typeface="+mn-cs"/>
                </a:rPr>
                <a:t>[가설]</a:t>
              </a:r>
            </a:p>
          </p:txBody>
        </p:sp>
        <p:sp>
          <p:nvSpPr>
            <p:cNvPr id="29" name="Rectangle 29"/>
            <p:cNvSpPr/>
            <p:nvPr/>
          </p:nvSpPr>
          <p:spPr>
            <a:xfrm>
              <a:off x="3143250" y="2762250"/>
              <a:ext cx="1885950" cy="342900"/>
            </a:xfrm>
            <a:prstGeom prst="rect">
              <a:avLst/>
            </a:prstGeom>
            <a:solidFill>
              <a:srgbClr val="9AA3AF"/>
            </a:solidFill>
            <a:ln>
              <a:noFill/>
            </a:ln>
          </p:spPr>
        </p:sp>
        <p:sp>
          <p:nvSpPr>
            <p:cNvPr id="30" name="Rectangle 30"/>
            <p:cNvSpPr/>
            <p:nvPr/>
          </p:nvSpPr>
          <p:spPr>
            <a:xfrm>
              <a:off x="5029200" y="2762250"/>
              <a:ext cx="628650" cy="342900"/>
            </a:xfrm>
            <a:prstGeom prst="rect">
              <a:avLst/>
            </a:prstGeom>
            <a:solidFill>
              <a:srgbClr val="9AA3AF">
                <a:alpha val="45000"/>
              </a:srgbClr>
            </a:solidFill>
            <a:ln>
              <a:noFill/>
            </a:ln>
          </p:spPr>
        </p:sp>
        <p:sp>
          <p:nvSpPr>
            <p:cNvPr id="31" name="TextBox 31"/>
            <p:cNvSpPr txBox="1"/>
            <p:nvPr/>
          </p:nvSpPr>
          <p:spPr>
            <a:xfrm>
              <a:off x="5783580" y="2822575"/>
              <a:ext cx="1033472" cy="293370"/>
            </a:xfrm>
            <a:prstGeom prst="rect">
              <a:avLst/>
            </a:prstGeom>
            <a:noFill/>
            <a:ln>
              <a:noFill/>
            </a:ln>
          </p:spPr>
          <p:txBody>
            <a:bodyPr wrap="none" lIns="0" tIns="0" rIns="0" bIns="0" anchor="t" anchorCtr="0">
              <a:spAutoFit/>
            </a:bodyPr>
            <a:lstStyle/>
            <a:p>
              <a:pPr algn="l"/>
              <a:r>
                <a:rPr lang="ko-KR" sz="1500" b="1" dirty="0">
                  <a:solidFill>
                    <a:srgbClr val="0B1E3C"/>
                  </a:solidFill>
                  <a:latin typeface="+mn-lt"/>
                  <a:ea typeface="+mn-ea"/>
                  <a:cs typeface="+mn-cs"/>
                </a:rPr>
                <a:t>1.8~2.4억</a:t>
              </a:r>
            </a:p>
          </p:txBody>
        </p:sp>
        <p:sp>
          <p:nvSpPr>
            <p:cNvPr id="32" name="TextBox 32"/>
            <p:cNvSpPr txBox="1"/>
            <p:nvPr/>
          </p:nvSpPr>
          <p:spPr>
            <a:xfrm>
              <a:off x="526542" y="3378200"/>
              <a:ext cx="3123812" cy="264033"/>
            </a:xfrm>
            <a:prstGeom prst="rect">
              <a:avLst/>
            </a:prstGeom>
            <a:noFill/>
            <a:ln>
              <a:noFill/>
            </a:ln>
          </p:spPr>
          <p:txBody>
            <a:bodyPr wrap="none" lIns="0" tIns="0" rIns="0" bIns="0" anchor="t" anchorCtr="0">
              <a:spAutoFit/>
            </a:bodyPr>
            <a:lstStyle/>
            <a:p>
              <a:pPr algn="l"/>
              <a:r>
                <a:rPr lang="ko-KR" sz="1350" b="1" dirty="0">
                  <a:solidFill>
                    <a:srgbClr val="111827"/>
                  </a:solidFill>
                  <a:latin typeface="+mn-lt"/>
                  <a:ea typeface="+mn-ea"/>
                  <a:cs typeface="+mn-cs"/>
                </a:rPr>
                <a:t xml:space="preserve">지자체 1곳 연간 GPR 용역 </a:t>
              </a:r>
              <a:r>
                <a:rPr lang="ko-KR" sz="1050" dirty="0">
                  <a:solidFill>
                    <a:srgbClr val="4B5563"/>
                  </a:solidFill>
                  <a:latin typeface="+mn-lt"/>
                  <a:ea typeface="+mn-ea"/>
                  <a:cs typeface="+mn-cs"/>
                </a:rPr>
                <a:t>강동구·용인급</a:t>
              </a:r>
            </a:p>
          </p:txBody>
        </p:sp>
        <p:sp>
          <p:nvSpPr>
            <p:cNvPr id="33" name="Rectangle 33"/>
            <p:cNvSpPr/>
            <p:nvPr/>
          </p:nvSpPr>
          <p:spPr>
            <a:xfrm>
              <a:off x="3143250" y="3314700"/>
              <a:ext cx="1466850" cy="342900"/>
            </a:xfrm>
            <a:prstGeom prst="rect">
              <a:avLst/>
            </a:prstGeom>
            <a:solidFill>
              <a:srgbClr val="C9D3E2"/>
            </a:solidFill>
            <a:ln>
              <a:noFill/>
            </a:ln>
          </p:spPr>
        </p:sp>
        <p:sp>
          <p:nvSpPr>
            <p:cNvPr id="34" name="Rectangle 34"/>
            <p:cNvSpPr/>
            <p:nvPr/>
          </p:nvSpPr>
          <p:spPr>
            <a:xfrm>
              <a:off x="4610100" y="3314700"/>
              <a:ext cx="419100" cy="342900"/>
            </a:xfrm>
            <a:prstGeom prst="rect">
              <a:avLst/>
            </a:prstGeom>
            <a:solidFill>
              <a:srgbClr val="C9D3E2">
                <a:alpha val="45000"/>
              </a:srgbClr>
            </a:solidFill>
            <a:ln>
              <a:noFill/>
            </a:ln>
          </p:spPr>
        </p:sp>
        <p:sp>
          <p:nvSpPr>
            <p:cNvPr id="35" name="TextBox 35"/>
            <p:cNvSpPr txBox="1"/>
            <p:nvPr/>
          </p:nvSpPr>
          <p:spPr>
            <a:xfrm>
              <a:off x="5783580" y="3375025"/>
              <a:ext cx="1033472" cy="293370"/>
            </a:xfrm>
            <a:prstGeom prst="rect">
              <a:avLst/>
            </a:prstGeom>
            <a:noFill/>
            <a:ln>
              <a:noFill/>
            </a:ln>
          </p:spPr>
          <p:txBody>
            <a:bodyPr wrap="none" lIns="0" tIns="0" rIns="0" bIns="0" anchor="t" anchorCtr="0">
              <a:spAutoFit/>
            </a:bodyPr>
            <a:lstStyle/>
            <a:p>
              <a:pPr algn="l"/>
              <a:r>
                <a:rPr lang="ko-KR" sz="1500" b="1" dirty="0">
                  <a:solidFill>
                    <a:srgbClr val="0B1E3C"/>
                  </a:solidFill>
                  <a:latin typeface="+mn-lt"/>
                  <a:ea typeface="+mn-ea"/>
                  <a:cs typeface="+mn-cs"/>
                </a:rPr>
                <a:t>1.4~1.8억</a:t>
              </a:r>
            </a:p>
          </p:txBody>
        </p:sp>
        <p:sp>
          <p:nvSpPr>
            <p:cNvPr id="36" name="TextBox 36"/>
            <p:cNvSpPr txBox="1"/>
            <p:nvPr/>
          </p:nvSpPr>
          <p:spPr>
            <a:xfrm>
              <a:off x="526542" y="3930650"/>
              <a:ext cx="1687059" cy="264033"/>
            </a:xfrm>
            <a:prstGeom prst="rect">
              <a:avLst/>
            </a:prstGeom>
            <a:noFill/>
            <a:ln>
              <a:noFill/>
            </a:ln>
          </p:spPr>
          <p:txBody>
            <a:bodyPr wrap="none" lIns="0" tIns="0" rIns="0" bIns="0" anchor="t" anchorCtr="0">
              <a:spAutoFit/>
            </a:bodyPr>
            <a:lstStyle/>
            <a:p>
              <a:pPr algn="l"/>
              <a:r>
                <a:rPr lang="ko-KR" sz="1350" b="1" dirty="0">
                  <a:solidFill>
                    <a:srgbClr val="111827"/>
                  </a:solidFill>
                  <a:latin typeface="+mn-lt"/>
                  <a:ea typeface="+mn-ea"/>
                  <a:cs typeface="+mn-cs"/>
                </a:rPr>
                <a:t>지자체 2곳을 맡으면</a:t>
              </a:r>
            </a:p>
          </p:txBody>
        </p:sp>
        <p:sp>
          <p:nvSpPr>
            <p:cNvPr id="37" name="Rectangle 37"/>
            <p:cNvSpPr/>
            <p:nvPr/>
          </p:nvSpPr>
          <p:spPr>
            <a:xfrm>
              <a:off x="3143250" y="3867150"/>
              <a:ext cx="2933700" cy="342900"/>
            </a:xfrm>
            <a:prstGeom prst="rect">
              <a:avLst/>
            </a:prstGeom>
            <a:solidFill>
              <a:srgbClr val="0B1E3C"/>
            </a:solidFill>
            <a:ln>
              <a:noFill/>
            </a:ln>
          </p:spPr>
        </p:sp>
        <p:sp>
          <p:nvSpPr>
            <p:cNvPr id="38" name="Rectangle 38"/>
            <p:cNvSpPr/>
            <p:nvPr/>
          </p:nvSpPr>
          <p:spPr>
            <a:xfrm>
              <a:off x="6076950" y="3867150"/>
              <a:ext cx="733425" cy="342900"/>
            </a:xfrm>
            <a:prstGeom prst="rect">
              <a:avLst/>
            </a:prstGeom>
            <a:solidFill>
              <a:srgbClr val="0B1E3C">
                <a:alpha val="45000"/>
              </a:srgbClr>
            </a:solidFill>
            <a:ln>
              <a:noFill/>
            </a:ln>
          </p:spPr>
        </p:sp>
        <p:sp>
          <p:nvSpPr>
            <p:cNvPr id="39" name="TextBox 39"/>
            <p:cNvSpPr txBox="1"/>
            <p:nvPr/>
          </p:nvSpPr>
          <p:spPr>
            <a:xfrm>
              <a:off x="6936105" y="3927475"/>
              <a:ext cx="1033472" cy="293370"/>
            </a:xfrm>
            <a:prstGeom prst="rect">
              <a:avLst/>
            </a:prstGeom>
            <a:noFill/>
            <a:ln>
              <a:noFill/>
            </a:ln>
          </p:spPr>
          <p:txBody>
            <a:bodyPr wrap="none" lIns="0" tIns="0" rIns="0" bIns="0" anchor="t" anchorCtr="0">
              <a:spAutoFit/>
            </a:bodyPr>
            <a:lstStyle/>
            <a:p>
              <a:pPr algn="l"/>
              <a:r>
                <a:rPr lang="ko-KR" sz="1500" b="1" dirty="0">
                  <a:solidFill>
                    <a:srgbClr val="0B1E3C"/>
                  </a:solidFill>
                  <a:latin typeface="+mn-lt"/>
                  <a:ea typeface="+mn-ea"/>
                  <a:cs typeface="+mn-cs"/>
                </a:rPr>
                <a:t>2.8~3.5억</a:t>
              </a:r>
            </a:p>
          </p:txBody>
        </p:sp>
        <p:sp>
          <p:nvSpPr>
            <p:cNvPr id="40" name="TextBox 40"/>
            <p:cNvSpPr txBox="1"/>
            <p:nvPr/>
          </p:nvSpPr>
          <p:spPr>
            <a:xfrm>
              <a:off x="526542" y="4483100"/>
              <a:ext cx="1687059" cy="264033"/>
            </a:xfrm>
            <a:prstGeom prst="rect">
              <a:avLst/>
            </a:prstGeom>
            <a:noFill/>
            <a:ln>
              <a:noFill/>
            </a:ln>
          </p:spPr>
          <p:txBody>
            <a:bodyPr wrap="none" lIns="0" tIns="0" rIns="0" bIns="0" anchor="t" anchorCtr="0">
              <a:spAutoFit/>
            </a:bodyPr>
            <a:lstStyle/>
            <a:p>
              <a:pPr algn="l"/>
              <a:r>
                <a:rPr lang="ko-KR" sz="1350" b="1" dirty="0">
                  <a:solidFill>
                    <a:srgbClr val="111827"/>
                  </a:solidFill>
                  <a:latin typeface="+mn-lt"/>
                  <a:ea typeface="+mn-ea"/>
                  <a:cs typeface="+mn-cs"/>
                </a:rPr>
                <a:t>지자체 3곳을 맡으면</a:t>
              </a:r>
            </a:p>
          </p:txBody>
        </p:sp>
        <p:sp>
          <p:nvSpPr>
            <p:cNvPr id="41" name="Rectangle 41"/>
            <p:cNvSpPr/>
            <p:nvPr/>
          </p:nvSpPr>
          <p:spPr>
            <a:xfrm>
              <a:off x="3143250" y="4419600"/>
              <a:ext cx="4400550" cy="342900"/>
            </a:xfrm>
            <a:prstGeom prst="rect">
              <a:avLst/>
            </a:prstGeom>
            <a:solidFill>
              <a:srgbClr val="0B1E3C"/>
            </a:solidFill>
            <a:ln>
              <a:noFill/>
            </a:ln>
          </p:spPr>
        </p:sp>
        <p:sp>
          <p:nvSpPr>
            <p:cNvPr id="42" name="Rectangle 42"/>
            <p:cNvSpPr/>
            <p:nvPr/>
          </p:nvSpPr>
          <p:spPr>
            <a:xfrm>
              <a:off x="7543800" y="4419600"/>
              <a:ext cx="1152525" cy="342900"/>
            </a:xfrm>
            <a:prstGeom prst="rect">
              <a:avLst/>
            </a:prstGeom>
            <a:solidFill>
              <a:srgbClr val="0B1E3C">
                <a:alpha val="45000"/>
              </a:srgbClr>
            </a:solidFill>
            <a:ln>
              <a:noFill/>
            </a:ln>
          </p:spPr>
        </p:sp>
        <p:sp>
          <p:nvSpPr>
            <p:cNvPr id="43" name="TextBox 43"/>
            <p:cNvSpPr txBox="1"/>
            <p:nvPr/>
          </p:nvSpPr>
          <p:spPr>
            <a:xfrm>
              <a:off x="8822055" y="4479925"/>
              <a:ext cx="1033472" cy="293370"/>
            </a:xfrm>
            <a:prstGeom prst="rect">
              <a:avLst/>
            </a:prstGeom>
            <a:noFill/>
            <a:ln>
              <a:noFill/>
            </a:ln>
          </p:spPr>
          <p:txBody>
            <a:bodyPr wrap="none" lIns="0" tIns="0" rIns="0" bIns="0" anchor="t" anchorCtr="0">
              <a:spAutoFit/>
            </a:bodyPr>
            <a:lstStyle/>
            <a:p>
              <a:pPr algn="l"/>
              <a:r>
                <a:rPr lang="ko-KR" sz="1500" b="1" dirty="0">
                  <a:solidFill>
                    <a:srgbClr val="0B1E3C"/>
                  </a:solidFill>
                  <a:latin typeface="+mn-lt"/>
                  <a:ea typeface="+mn-ea"/>
                  <a:cs typeface="+mn-cs"/>
                </a:rPr>
                <a:t>4.2~5.3억</a:t>
              </a:r>
            </a:p>
          </p:txBody>
        </p:sp>
        <p:sp>
          <p:nvSpPr>
            <p:cNvPr id="44" name="Line 44"/>
            <p:cNvSpPr/>
            <p:nvPr/>
          </p:nvSpPr>
          <p:spPr>
            <a:xfrm>
              <a:off x="5657850" y="2647950"/>
              <a:ext cx="9525" cy="2228850"/>
            </a:xfrm>
            <a:custGeom>
              <a:avLst/>
              <a:gdLst/>
              <a:ahLst/>
              <a:cxnLst/>
              <a:rect l="l" t="t" r="r" b="b"/>
              <a:pathLst>
                <a:path w="9525" h="2228850">
                  <a:moveTo>
                    <a:pt x="0" y="0"/>
                  </a:moveTo>
                  <a:lnTo>
                    <a:pt x="0" y="2228850"/>
                  </a:lnTo>
                </a:path>
              </a:pathLst>
            </a:custGeom>
            <a:noFill/>
            <a:ln w="19050">
              <a:solidFill>
                <a:srgbClr val="C62828"/>
              </a:solidFill>
              <a:custDash>
                <a:ds d="300000" sp="250000"/>
              </a:custDash>
            </a:ln>
          </p:spPr>
        </p:sp>
        <p:sp>
          <p:nvSpPr>
            <p:cNvPr id="45" name="TextBox 45"/>
            <p:cNvSpPr txBox="1"/>
            <p:nvPr/>
          </p:nvSpPr>
          <p:spPr>
            <a:xfrm>
              <a:off x="5728716" y="2559050"/>
              <a:ext cx="1051365" cy="205359"/>
            </a:xfrm>
            <a:prstGeom prst="rect">
              <a:avLst/>
            </a:prstGeom>
            <a:noFill/>
            <a:ln>
              <a:noFill/>
            </a:ln>
          </p:spPr>
          <p:txBody>
            <a:bodyPr wrap="none" lIns="0" tIns="0" rIns="0" bIns="0" anchor="t" anchorCtr="0">
              <a:spAutoFit/>
            </a:bodyPr>
            <a:lstStyle/>
            <a:p>
              <a:pPr algn="l"/>
              <a:r>
                <a:rPr lang="ko-KR" sz="1050" b="1" dirty="0">
                  <a:solidFill>
                    <a:srgbClr val="C62828"/>
                  </a:solidFill>
                  <a:latin typeface="+mn-lt"/>
                  <a:ea typeface="+mn-ea"/>
                  <a:cs typeface="+mn-cs"/>
                </a:rPr>
                <a:t>비용 상한 2.4억</a:t>
              </a:r>
            </a:p>
          </p:txBody>
        </p:sp>
      </p:grpSp>
      <p:grpSp>
        <p:nvGrpSpPr>
          <p:cNvPr id="49" name="basis"/>
          <p:cNvGrpSpPr/>
          <p:nvPr/>
        </p:nvGrpSpPr>
        <p:grpSpPr>
          <a:xfrm>
            <a:off x="527685" y="5118100"/>
            <a:ext cx="9539661" cy="448628"/>
            <a:chOff x="527685" y="5118100"/>
            <a:chExt cx="9539661" cy="448628"/>
          </a:xfrm>
        </p:grpSpPr>
        <p:sp>
          <p:nvSpPr>
            <p:cNvPr id="47" name="TextBox 47"/>
            <p:cNvSpPr txBox="1"/>
            <p:nvPr/>
          </p:nvSpPr>
          <p:spPr>
            <a:xfrm>
              <a:off x="527685" y="5118100"/>
              <a:ext cx="9539661"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비용 = PV5·GPR(2억~5억, 서울시 대당 약 5억) 5년 감가 + 2인 인건비 1억 + 유지 0.3억 · 하루 30km×220일 → 도로 1,000km를 약 2개월마다</a:t>
              </a:r>
            </a:p>
          </p:txBody>
        </p:sp>
        <p:sp>
          <p:nvSpPr>
            <p:cNvPr id="48" name="TextBox 48"/>
            <p:cNvSpPr txBox="1"/>
            <p:nvPr/>
          </p:nvSpPr>
          <p:spPr>
            <a:xfrm>
              <a:off x="527685" y="5346700"/>
              <a:ext cx="9075233" cy="220028"/>
            </a:xfrm>
            <a:prstGeom prst="rect">
              <a:avLst/>
            </a:prstGeom>
            <a:noFill/>
            <a:ln>
              <a:noFill/>
            </a:ln>
          </p:spPr>
          <p:txBody>
            <a:bodyPr wrap="none" lIns="0" tIns="0" rIns="0" bIns="0" anchor="t" anchorCtr="0">
              <a:spAutoFit/>
            </a:bodyPr>
            <a:lstStyle/>
            <a:p>
              <a:pPr algn="l"/>
              <a:r>
                <a:rPr lang="ko-KR" sz="1120" b="1" dirty="0">
                  <a:solidFill>
                    <a:srgbClr val="C62828"/>
                  </a:solidFill>
                  <a:latin typeface="+mn-lt"/>
                  <a:ea typeface="+mn-ea"/>
                  <a:cs typeface="+mn-cs"/>
                </a:rPr>
                <a:t>핵심 가설</a:t>
              </a:r>
              <a:r>
                <a:rPr lang="ko-KR" sz="1120" dirty="0">
                  <a:solidFill>
                    <a:srgbClr val="374151"/>
                  </a:solidFill>
                  <a:latin typeface="+mn-lt"/>
                  <a:ea typeface="+mn-ea"/>
                  <a:cs typeface="+mn-cs"/>
                </a:rPr>
                <a:t xml:space="preserve"> 기존 용역은 km당 약 200만 원(경기도 21.6억÷1,080km, 판독·보고 포함). 차이만 판독해 이 단가를 낮춘다 → 실증 3·4단계</a:t>
              </a:r>
            </a:p>
          </p:txBody>
        </p:sp>
      </p:grpSp>
      <p:grpSp>
        <p:nvGrpSpPr>
          <p:cNvPr id="52" name="conclusion"/>
          <p:cNvGrpSpPr/>
          <p:nvPr/>
        </p:nvGrpSpPr>
        <p:grpSpPr>
          <a:xfrm>
            <a:off x="533400" y="5715000"/>
            <a:ext cx="6184931" cy="419100"/>
            <a:chOff x="533400" y="5715000"/>
            <a:chExt cx="6184931" cy="419100"/>
          </a:xfrm>
        </p:grpSpPr>
        <p:sp>
          <p:nvSpPr>
            <p:cNvPr id="50" name="Rectangle 50"/>
            <p:cNvSpPr/>
            <p:nvPr/>
          </p:nvSpPr>
          <p:spPr>
            <a:xfrm>
              <a:off x="533400" y="5715000"/>
              <a:ext cx="38100" cy="419100"/>
            </a:xfrm>
            <a:prstGeom prst="rect">
              <a:avLst/>
            </a:prstGeom>
            <a:solidFill>
              <a:srgbClr val="F5B700"/>
            </a:solidFill>
            <a:ln>
              <a:noFill/>
            </a:ln>
          </p:spPr>
        </p:sp>
        <p:sp>
          <p:nvSpPr>
            <p:cNvPr id="51" name="TextBox 51"/>
            <p:cNvSpPr txBox="1"/>
            <p:nvPr/>
          </p:nvSpPr>
          <p:spPr>
            <a:xfrm>
              <a:off x="715899" y="5810250"/>
              <a:ext cx="6002432" cy="308991"/>
            </a:xfrm>
            <a:prstGeom prst="rect">
              <a:avLst/>
            </a:prstGeom>
            <a:noFill/>
            <a:ln>
              <a:noFill/>
            </a:ln>
          </p:spPr>
          <p:txBody>
            <a:bodyPr wrap="none" lIns="0" tIns="0" rIns="0" bIns="0" anchor="t" anchorCtr="0">
              <a:spAutoFit/>
            </a:bodyPr>
            <a:lstStyle/>
            <a:p>
              <a:pPr algn="l"/>
              <a:r>
                <a:rPr lang="ko-KR" sz="1580" b="1" dirty="0">
                  <a:solidFill>
                    <a:srgbClr val="0B1E3C"/>
                  </a:solidFill>
                  <a:latin typeface="+mn-lt"/>
                  <a:ea typeface="+mn-ea"/>
                  <a:cs typeface="+mn-cs"/>
                </a:rPr>
                <a:t>비용은 연 약 2억 원. 지자체 2곳부터 수입이 비용을 넘습니다.</a:t>
              </a:r>
            </a:p>
          </p:txBody>
        </p:sp>
      </p:grpSp>
      <p:grpSp>
        <p:nvGrpSpPr>
          <p:cNvPr id="54" name="source"/>
          <p:cNvGrpSpPr/>
          <p:nvPr/>
        </p:nvGrpSpPr>
        <p:grpSpPr>
          <a:xfrm>
            <a:off x="528638" y="6381750"/>
            <a:ext cx="10065639" cy="176212"/>
            <a:chOff x="528638" y="6381750"/>
            <a:chExt cx="10065639" cy="176212"/>
          </a:xfrm>
        </p:grpSpPr>
        <p:sp>
          <p:nvSpPr>
            <p:cNvPr id="53" name="TextBox 53"/>
            <p:cNvSpPr txBox="1"/>
            <p:nvPr/>
          </p:nvSpPr>
          <p:spPr>
            <a:xfrm>
              <a:off x="528638" y="6381750"/>
              <a:ext cx="10065639"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출처: e-나라지표 · 머니투데이(2025.12.23) · 뉴스서울(2025.12.3) · 시사저널(2025.4.25) · 나라장터 개찰 · 헤럴드경제(2025.9.7) · 첫 해는 조사기관과 공동 수행 · 비용은 가설</a:t>
              </a:r>
            </a:p>
          </p:txBody>
        </p:sp>
      </p:grpSp>
      <p:grpSp>
        <p:nvGrpSpPr>
          <p:cNvPr id="57" name="footer"/>
          <p:cNvGrpSpPr/>
          <p:nvPr/>
        </p:nvGrpSpPr>
        <p:grpSpPr>
          <a:xfrm>
            <a:off x="528638" y="6610350"/>
            <a:ext cx="11134724" cy="176212"/>
            <a:chOff x="528638" y="6610350"/>
            <a:chExt cx="11134724" cy="176212"/>
          </a:xfrm>
        </p:grpSpPr>
        <p:sp>
          <p:nvSpPr>
            <p:cNvPr id="55" name="TextBox 55"/>
            <p:cNvSpPr txBox="1"/>
            <p:nvPr/>
          </p:nvSpPr>
          <p:spPr>
            <a:xfrm>
              <a:off x="528638" y="6610350"/>
              <a:ext cx="1487653"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한 명이라도 살릴 수 있다면</a:t>
              </a:r>
            </a:p>
          </p:txBody>
        </p:sp>
        <p:sp>
          <p:nvSpPr>
            <p:cNvPr id="56" name="TextBox 56"/>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13 / 15</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943585"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첫 고객과 확장</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문제</a:t>
              </a:r>
            </a:p>
          </p:txBody>
        </p:sp>
        <p:sp>
          <p:nvSpPr>
            <p:cNvPr id="6" name="TextBox 6"/>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7" name="TextBox 7"/>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해법</a:t>
              </a:r>
            </a:p>
          </p:txBody>
        </p:sp>
        <p:sp>
          <p:nvSpPr>
            <p:cNvPr id="8" name="TextBox 8"/>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9" name="TextBox 9"/>
            <p:cNvSpPr txBox="1"/>
            <p:nvPr/>
          </p:nvSpPr>
          <p:spPr>
            <a:xfrm>
              <a:off x="9701251" y="301625"/>
              <a:ext cx="257099" cy="205359"/>
            </a:xfrm>
            <a:prstGeom prst="rect">
              <a:avLst/>
            </a:prstGeom>
            <a:noFill/>
            <a:ln>
              <a:noFill/>
            </a:ln>
          </p:spPr>
          <p:txBody>
            <a:bodyPr wrap="none" lIns="0" tIns="0" rIns="0" bIns="0" anchor="t" anchorCtr="0">
              <a:spAutoFit/>
            </a:bodyPr>
            <a:lstStyle/>
            <a:p>
              <a:pPr algn="ctr"/>
              <a:r>
                <a:rPr lang="en-US" sz="1050" dirty="0">
                  <a:solidFill>
                    <a:srgbClr val="9AA3AF"/>
                  </a:solidFill>
                  <a:latin typeface="+mn-lt"/>
                  <a:ea typeface="+mn-ea"/>
                  <a:cs typeface="+mn-cs"/>
                </a:rPr>
                <a:t>PV5</a:t>
              </a:r>
            </a:p>
          </p:txBody>
        </p:sp>
        <p:sp>
          <p:nvSpPr>
            <p:cNvPr id="10" name="TextBox 10"/>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1" name="TextBox 11"/>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2" name="TextBox 12"/>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3" name="TextBox 13"/>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b="1" dirty="0">
                  <a:solidFill>
                    <a:srgbClr val="0B1E3C"/>
                  </a:solidFill>
                  <a:latin typeface="+mn-lt"/>
                  <a:ea typeface="+mn-ea"/>
                  <a:cs typeface="+mn-cs"/>
                </a:rPr>
                <a:t>사업</a:t>
              </a:r>
            </a:p>
          </p:txBody>
        </p:sp>
        <p:sp>
          <p:nvSpPr>
            <p:cNvPr id="14" name="Rectangle 14"/>
            <p:cNvSpPr/>
            <p:nvPr/>
          </p:nvSpPr>
          <p:spPr>
            <a:xfrm>
              <a:off x="10858500" y="514350"/>
              <a:ext cx="457200" cy="28575"/>
            </a:xfrm>
            <a:prstGeom prst="rect">
              <a:avLst/>
            </a:prstGeom>
            <a:solidFill>
              <a:srgbClr val="F5B700"/>
            </a:solidFill>
            <a:ln>
              <a:noFill/>
            </a:ln>
          </p:spPr>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922" y="781050"/>
            <a:ext cx="7631550" cy="557403"/>
            <a:chOff x="518922" y="781050"/>
            <a:chExt cx="7631550" cy="557403"/>
          </a:xfrm>
        </p:grpSpPr>
        <p:sp>
          <p:nvSpPr>
            <p:cNvPr id="17" name="TextBox 17"/>
            <p:cNvSpPr txBox="1"/>
            <p:nvPr/>
          </p:nvSpPr>
          <p:spPr>
            <a:xfrm>
              <a:off x="518922" y="781050"/>
              <a:ext cx="7631550" cy="557403"/>
            </a:xfrm>
            <a:prstGeom prst="rect">
              <a:avLst/>
            </a:prstGeom>
            <a:noFill/>
            <a:ln>
              <a:noFill/>
            </a:ln>
          </p:spPr>
          <p:txBody>
            <a:bodyPr wrap="none" lIns="0" tIns="0" rIns="0" bIns="0" anchor="t" anchorCtr="0">
              <a:spAutoFit/>
            </a:bodyPr>
            <a:lstStyle/>
            <a:p>
              <a:pPr algn="l"/>
              <a:r>
                <a:rPr lang="ko-KR" sz="2850" b="1" spc="-75" dirty="0">
                  <a:solidFill>
                    <a:srgbClr val="0B1E3C"/>
                  </a:solidFill>
                  <a:latin typeface="+mn-lt"/>
                  <a:ea typeface="+mn-ea"/>
                  <a:cs typeface="+mn-cs"/>
                </a:rPr>
                <a:t>이미 GPR 예산을 쓰는 지자체에서 시작합니다</a:t>
              </a:r>
            </a:p>
          </p:txBody>
        </p:sp>
      </p:grpSp>
      <p:grpSp>
        <p:nvGrpSpPr>
          <p:cNvPr id="31" name="market-facts"/>
          <p:cNvGrpSpPr/>
          <p:nvPr/>
        </p:nvGrpSpPr>
        <p:grpSpPr>
          <a:xfrm>
            <a:off x="533400" y="1714500"/>
            <a:ext cx="11125200" cy="992759"/>
            <a:chOff x="533400" y="1714500"/>
            <a:chExt cx="11125200" cy="992759"/>
          </a:xfrm>
        </p:grpSpPr>
        <p:sp>
          <p:nvSpPr>
            <p:cNvPr id="19" name="Rectangle 19"/>
            <p:cNvSpPr/>
            <p:nvPr/>
          </p:nvSpPr>
          <p:spPr>
            <a:xfrm>
              <a:off x="533400" y="1714500"/>
              <a:ext cx="3581400" cy="28575"/>
            </a:xfrm>
            <a:prstGeom prst="rect">
              <a:avLst/>
            </a:prstGeom>
            <a:solidFill>
              <a:srgbClr val="0B1E3C"/>
            </a:solidFill>
            <a:ln>
              <a:noFill/>
            </a:ln>
          </p:spPr>
        </p:sp>
        <p:sp>
          <p:nvSpPr>
            <p:cNvPr id="20" name="TextBox 20"/>
            <p:cNvSpPr txBox="1"/>
            <p:nvPr/>
          </p:nvSpPr>
          <p:spPr>
            <a:xfrm>
              <a:off x="730758" y="1860550"/>
              <a:ext cx="2451583" cy="469392"/>
            </a:xfrm>
            <a:prstGeom prst="rect">
              <a:avLst/>
            </a:prstGeom>
            <a:noFill/>
            <a:ln>
              <a:noFill/>
            </a:ln>
          </p:spPr>
          <p:txBody>
            <a:bodyPr wrap="none" lIns="0" tIns="0" rIns="0" bIns="0" anchor="t" anchorCtr="0">
              <a:spAutoFit/>
            </a:bodyPr>
            <a:lstStyle/>
            <a:p>
              <a:pPr algn="l"/>
              <a:r>
                <a:rPr lang="ko-KR" sz="2400" b="1" dirty="0">
                  <a:solidFill>
                    <a:srgbClr val="B45309"/>
                  </a:solidFill>
                  <a:latin typeface="+mn-lt"/>
                  <a:ea typeface="+mn-ea"/>
                  <a:cs typeface="+mn-cs"/>
                </a:rPr>
                <a:t>0.85~1.90억 원</a:t>
              </a:r>
            </a:p>
          </p:txBody>
        </p:sp>
        <p:sp>
          <p:nvSpPr>
            <p:cNvPr id="21" name="TextBox 21"/>
            <p:cNvSpPr txBox="1"/>
            <p:nvPr/>
          </p:nvSpPr>
          <p:spPr>
            <a:xfrm>
              <a:off x="736854" y="2266950"/>
              <a:ext cx="2718252"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2026년 지자체 GPR 탐사 용역 낙찰액</a:t>
              </a:r>
            </a:p>
          </p:txBody>
        </p:sp>
        <p:sp>
          <p:nvSpPr>
            <p:cNvPr id="22" name="TextBox 22"/>
            <p:cNvSpPr txBox="1"/>
            <p:nvPr/>
          </p:nvSpPr>
          <p:spPr>
            <a:xfrm>
              <a:off x="737616" y="2501900"/>
              <a:ext cx="2576189"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안양·강동구·용인 등 낙찰, 이미 집행 중</a:t>
              </a:r>
            </a:p>
          </p:txBody>
        </p:sp>
        <p:sp>
          <p:nvSpPr>
            <p:cNvPr id="23" name="Rectangle 23"/>
            <p:cNvSpPr/>
            <p:nvPr/>
          </p:nvSpPr>
          <p:spPr>
            <a:xfrm>
              <a:off x="4305300" y="1714500"/>
              <a:ext cx="3581400" cy="28575"/>
            </a:xfrm>
            <a:prstGeom prst="rect">
              <a:avLst/>
            </a:prstGeom>
            <a:solidFill>
              <a:srgbClr val="0B1E3C"/>
            </a:solidFill>
            <a:ln>
              <a:noFill/>
            </a:ln>
          </p:spPr>
        </p:sp>
        <p:sp>
          <p:nvSpPr>
            <p:cNvPr id="24" name="TextBox 24"/>
            <p:cNvSpPr txBox="1"/>
            <p:nvPr/>
          </p:nvSpPr>
          <p:spPr>
            <a:xfrm>
              <a:off x="4502658" y="1860550"/>
              <a:ext cx="1518666" cy="469392"/>
            </a:xfrm>
            <a:prstGeom prst="rect">
              <a:avLst/>
            </a:prstGeom>
            <a:noFill/>
            <a:ln>
              <a:noFill/>
            </a:ln>
          </p:spPr>
          <p:txBody>
            <a:bodyPr wrap="none" lIns="0" tIns="0" rIns="0" bIns="0" anchor="t" anchorCtr="0">
              <a:spAutoFit/>
            </a:bodyPr>
            <a:lstStyle/>
            <a:p>
              <a:pPr algn="l"/>
              <a:r>
                <a:rPr lang="ko-KR" sz="2400" b="1" dirty="0">
                  <a:solidFill>
                    <a:srgbClr val="B45309"/>
                  </a:solidFill>
                  <a:latin typeface="+mn-lt"/>
                  <a:ea typeface="+mn-ea"/>
                  <a:cs typeface="+mn-cs"/>
                </a:rPr>
                <a:t>21.6억 원</a:t>
              </a:r>
            </a:p>
          </p:txBody>
        </p:sp>
        <p:sp>
          <p:nvSpPr>
            <p:cNvPr id="25" name="TextBox 25"/>
            <p:cNvSpPr txBox="1"/>
            <p:nvPr/>
          </p:nvSpPr>
          <p:spPr>
            <a:xfrm>
              <a:off x="4508754" y="2266950"/>
              <a:ext cx="2463416"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경기도 16개 시·군 GPR 탐사 지원</a:t>
              </a:r>
            </a:p>
          </p:txBody>
        </p:sp>
        <p:sp>
          <p:nvSpPr>
            <p:cNvPr id="26" name="TextBox 26"/>
            <p:cNvSpPr txBox="1"/>
            <p:nvPr/>
          </p:nvSpPr>
          <p:spPr>
            <a:xfrm>
              <a:off x="4509516" y="2501900"/>
              <a:ext cx="2971971"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1,080km를 장비 구매 대신 용역으로 (2025.9)</a:t>
              </a:r>
            </a:p>
          </p:txBody>
        </p:sp>
        <p:sp>
          <p:nvSpPr>
            <p:cNvPr id="27" name="Rectangle 27"/>
            <p:cNvSpPr/>
            <p:nvPr/>
          </p:nvSpPr>
          <p:spPr>
            <a:xfrm>
              <a:off x="8077200" y="1714500"/>
              <a:ext cx="3581400" cy="28575"/>
            </a:xfrm>
            <a:prstGeom prst="rect">
              <a:avLst/>
            </a:prstGeom>
            <a:solidFill>
              <a:srgbClr val="0B1E3C"/>
            </a:solidFill>
            <a:ln>
              <a:noFill/>
            </a:ln>
          </p:spPr>
        </p:sp>
        <p:sp>
          <p:nvSpPr>
            <p:cNvPr id="28" name="TextBox 28"/>
            <p:cNvSpPr txBox="1"/>
            <p:nvPr/>
          </p:nvSpPr>
          <p:spPr>
            <a:xfrm>
              <a:off x="8274558" y="1860550"/>
              <a:ext cx="1282004" cy="469392"/>
            </a:xfrm>
            <a:prstGeom prst="rect">
              <a:avLst/>
            </a:prstGeom>
            <a:noFill/>
            <a:ln>
              <a:noFill/>
            </a:ln>
          </p:spPr>
          <p:txBody>
            <a:bodyPr wrap="none" lIns="0" tIns="0" rIns="0" bIns="0" anchor="t" anchorCtr="0">
              <a:spAutoFit/>
            </a:bodyPr>
            <a:lstStyle/>
            <a:p>
              <a:pPr algn="l"/>
              <a:r>
                <a:rPr lang="ko-KR" sz="2400" b="1" dirty="0">
                  <a:solidFill>
                    <a:srgbClr val="B45309"/>
                  </a:solidFill>
                  <a:latin typeface="+mn-lt"/>
                  <a:ea typeface="+mn-ea"/>
                  <a:cs typeface="+mn-cs"/>
                </a:rPr>
                <a:t>최대 6년</a:t>
              </a:r>
            </a:p>
          </p:txBody>
        </p:sp>
        <p:sp>
          <p:nvSpPr>
            <p:cNvPr id="29" name="TextBox 29"/>
            <p:cNvSpPr txBox="1"/>
            <p:nvPr/>
          </p:nvSpPr>
          <p:spPr>
            <a:xfrm>
              <a:off x="8280654" y="2266950"/>
              <a:ext cx="1890949"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조달청 혁신제품 수의계약</a:t>
              </a:r>
            </a:p>
          </p:txBody>
        </p:sp>
        <p:sp>
          <p:nvSpPr>
            <p:cNvPr id="30" name="TextBox 30"/>
            <p:cNvSpPr txBox="1"/>
            <p:nvPr/>
          </p:nvSpPr>
          <p:spPr>
            <a:xfrm>
              <a:off x="8281416" y="2501900"/>
              <a:ext cx="1918906"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실증 후 반복 계약으로 가는 길</a:t>
              </a:r>
            </a:p>
          </p:txBody>
        </p:sp>
      </p:grpSp>
      <p:grpSp>
        <p:nvGrpSpPr>
          <p:cNvPr id="64" name="steps"/>
          <p:cNvGrpSpPr/>
          <p:nvPr/>
        </p:nvGrpSpPr>
        <p:grpSpPr>
          <a:xfrm>
            <a:off x="524637" y="3009900"/>
            <a:ext cx="11133963" cy="1847850"/>
            <a:chOff x="524637" y="3009900"/>
            <a:chExt cx="11133963" cy="1847850"/>
          </a:xfrm>
        </p:grpSpPr>
        <p:sp>
          <p:nvSpPr>
            <p:cNvPr id="32" name="Rectangle 32"/>
            <p:cNvSpPr/>
            <p:nvPr/>
          </p:nvSpPr>
          <p:spPr>
            <a:xfrm>
              <a:off x="533400" y="3009900"/>
              <a:ext cx="2609850" cy="38100"/>
            </a:xfrm>
            <a:prstGeom prst="rect">
              <a:avLst/>
            </a:prstGeom>
            <a:solidFill>
              <a:srgbClr val="0B1E3C"/>
            </a:solidFill>
            <a:ln>
              <a:noFill/>
            </a:ln>
          </p:spPr>
        </p:sp>
        <p:sp>
          <p:nvSpPr>
            <p:cNvPr id="33" name="Rectangle 33"/>
            <p:cNvSpPr/>
            <p:nvPr/>
          </p:nvSpPr>
          <p:spPr>
            <a:xfrm>
              <a:off x="3371850" y="3009900"/>
              <a:ext cx="2609850" cy="38100"/>
            </a:xfrm>
            <a:prstGeom prst="rect">
              <a:avLst/>
            </a:prstGeom>
            <a:solidFill>
              <a:srgbClr val="0B1E3C"/>
            </a:solidFill>
            <a:ln>
              <a:noFill/>
            </a:ln>
          </p:spPr>
        </p:sp>
        <p:sp>
          <p:nvSpPr>
            <p:cNvPr id="34" name="Rectangle 34"/>
            <p:cNvSpPr/>
            <p:nvPr/>
          </p:nvSpPr>
          <p:spPr>
            <a:xfrm>
              <a:off x="6210300" y="3009900"/>
              <a:ext cx="2609850" cy="38100"/>
            </a:xfrm>
            <a:prstGeom prst="rect">
              <a:avLst/>
            </a:prstGeom>
            <a:solidFill>
              <a:srgbClr val="0B1E3C"/>
            </a:solidFill>
            <a:ln>
              <a:noFill/>
            </a:ln>
          </p:spPr>
        </p:sp>
        <p:sp>
          <p:nvSpPr>
            <p:cNvPr id="35" name="Rectangle 35"/>
            <p:cNvSpPr/>
            <p:nvPr/>
          </p:nvSpPr>
          <p:spPr>
            <a:xfrm>
              <a:off x="9048750" y="3009900"/>
              <a:ext cx="2609850" cy="38100"/>
            </a:xfrm>
            <a:prstGeom prst="rect">
              <a:avLst/>
            </a:prstGeom>
            <a:solidFill>
              <a:srgbClr val="F5B700"/>
            </a:solidFill>
            <a:ln>
              <a:noFill/>
            </a:ln>
          </p:spPr>
        </p:sp>
        <p:grpSp>
          <p:nvGrpSpPr>
            <p:cNvPr id="40" name="Group 40"/>
            <p:cNvGrpSpPr/>
            <p:nvPr/>
          </p:nvGrpSpPr>
          <p:grpSpPr>
            <a:xfrm>
              <a:off x="528066" y="3168650"/>
              <a:ext cx="8830629" cy="205359"/>
              <a:chOff x="528066" y="3168650"/>
              <a:chExt cx="8830629" cy="205359"/>
            </a:xfrm>
          </p:grpSpPr>
          <p:sp>
            <p:nvSpPr>
              <p:cNvPr id="36" name="TextBox 36"/>
              <p:cNvSpPr txBox="1"/>
              <p:nvPr/>
            </p:nvSpPr>
            <p:spPr>
              <a:xfrm>
                <a:off x="528066" y="3168650"/>
                <a:ext cx="396910" cy="205359"/>
              </a:xfrm>
              <a:prstGeom prst="rect">
                <a:avLst/>
              </a:prstGeom>
              <a:noFill/>
              <a:ln>
                <a:noFill/>
              </a:ln>
            </p:spPr>
            <p:txBody>
              <a:bodyPr wrap="none" lIns="0" tIns="0" rIns="0" bIns="0" anchor="t" anchorCtr="0">
                <a:spAutoFit/>
              </a:bodyPr>
              <a:lstStyle/>
              <a:p>
                <a:pPr algn="l"/>
                <a:r>
                  <a:rPr lang="ko-KR" sz="1050" b="1" dirty="0">
                    <a:solidFill>
                      <a:srgbClr val="4B5563"/>
                    </a:solidFill>
                    <a:latin typeface="+mn-lt"/>
                    <a:ea typeface="+mn-ea"/>
                    <a:cs typeface="+mn-cs"/>
                  </a:rPr>
                  <a:t>0~1년</a:t>
                </a:r>
              </a:p>
            </p:txBody>
          </p:sp>
          <p:sp>
            <p:nvSpPr>
              <p:cNvPr id="37" name="TextBox 37"/>
              <p:cNvSpPr txBox="1"/>
              <p:nvPr/>
            </p:nvSpPr>
            <p:spPr>
              <a:xfrm>
                <a:off x="3366516" y="3168650"/>
                <a:ext cx="396910" cy="205359"/>
              </a:xfrm>
              <a:prstGeom prst="rect">
                <a:avLst/>
              </a:prstGeom>
              <a:noFill/>
              <a:ln>
                <a:noFill/>
              </a:ln>
            </p:spPr>
            <p:txBody>
              <a:bodyPr wrap="none" lIns="0" tIns="0" rIns="0" bIns="0" anchor="t" anchorCtr="0">
                <a:spAutoFit/>
              </a:bodyPr>
              <a:lstStyle/>
              <a:p>
                <a:pPr algn="l"/>
                <a:r>
                  <a:rPr lang="ko-KR" sz="1050" b="1" dirty="0">
                    <a:solidFill>
                      <a:srgbClr val="4B5563"/>
                    </a:solidFill>
                    <a:latin typeface="+mn-lt"/>
                    <a:ea typeface="+mn-ea"/>
                    <a:cs typeface="+mn-cs"/>
                  </a:rPr>
                  <a:t>1~2년</a:t>
                </a:r>
              </a:p>
            </p:txBody>
          </p:sp>
          <p:sp>
            <p:nvSpPr>
              <p:cNvPr id="38" name="TextBox 38"/>
              <p:cNvSpPr txBox="1"/>
              <p:nvPr/>
            </p:nvSpPr>
            <p:spPr>
              <a:xfrm>
                <a:off x="6204966" y="3168650"/>
                <a:ext cx="396910" cy="205359"/>
              </a:xfrm>
              <a:prstGeom prst="rect">
                <a:avLst/>
              </a:prstGeom>
              <a:noFill/>
              <a:ln>
                <a:noFill/>
              </a:ln>
            </p:spPr>
            <p:txBody>
              <a:bodyPr wrap="none" lIns="0" tIns="0" rIns="0" bIns="0" anchor="t" anchorCtr="0">
                <a:spAutoFit/>
              </a:bodyPr>
              <a:lstStyle/>
              <a:p>
                <a:pPr algn="l"/>
                <a:r>
                  <a:rPr lang="ko-KR" sz="1050" b="1" dirty="0">
                    <a:solidFill>
                      <a:srgbClr val="4B5563"/>
                    </a:solidFill>
                    <a:latin typeface="+mn-lt"/>
                    <a:ea typeface="+mn-ea"/>
                    <a:cs typeface="+mn-cs"/>
                  </a:rPr>
                  <a:t>2~3년</a:t>
                </a:r>
              </a:p>
            </p:txBody>
          </p:sp>
          <p:sp>
            <p:nvSpPr>
              <p:cNvPr id="39" name="TextBox 39"/>
              <p:cNvSpPr txBox="1"/>
              <p:nvPr/>
            </p:nvSpPr>
            <p:spPr>
              <a:xfrm>
                <a:off x="9043416" y="3168650"/>
                <a:ext cx="315279" cy="205359"/>
              </a:xfrm>
              <a:prstGeom prst="rect">
                <a:avLst/>
              </a:prstGeom>
              <a:noFill/>
              <a:ln>
                <a:noFill/>
              </a:ln>
            </p:spPr>
            <p:txBody>
              <a:bodyPr wrap="none" lIns="0" tIns="0" rIns="0" bIns="0" anchor="t" anchorCtr="0">
                <a:spAutoFit/>
              </a:bodyPr>
              <a:lstStyle/>
              <a:p>
                <a:pPr algn="l"/>
                <a:r>
                  <a:rPr lang="ko-KR" sz="1050" b="1" dirty="0">
                    <a:solidFill>
                      <a:srgbClr val="4B5563"/>
                    </a:solidFill>
                    <a:latin typeface="+mn-lt"/>
                    <a:ea typeface="+mn-ea"/>
                    <a:cs typeface="+mn-cs"/>
                  </a:rPr>
                  <a:t>3년~</a:t>
                </a:r>
              </a:p>
            </p:txBody>
          </p:sp>
        </p:grpSp>
        <p:grpSp>
          <p:nvGrpSpPr>
            <p:cNvPr id="45" name="Group 45"/>
            <p:cNvGrpSpPr/>
            <p:nvPr/>
          </p:nvGrpSpPr>
          <p:grpSpPr>
            <a:xfrm>
              <a:off x="524637" y="3365500"/>
              <a:ext cx="10128810" cy="337376"/>
              <a:chOff x="524637" y="3365500"/>
              <a:chExt cx="10128810" cy="337376"/>
            </a:xfrm>
          </p:grpSpPr>
          <p:sp>
            <p:nvSpPr>
              <p:cNvPr id="41" name="TextBox 41"/>
              <p:cNvSpPr txBox="1"/>
              <p:nvPr/>
            </p:nvSpPr>
            <p:spPr>
              <a:xfrm>
                <a:off x="524637" y="3365500"/>
                <a:ext cx="1479742" cy="337376"/>
              </a:xfrm>
              <a:prstGeom prst="rect">
                <a:avLst/>
              </a:prstGeom>
              <a:noFill/>
              <a:ln>
                <a:noFill/>
              </a:ln>
            </p:spPr>
            <p:txBody>
              <a:bodyPr wrap="none" lIns="0" tIns="0" rIns="0" bIns="0" anchor="t" anchorCtr="0">
                <a:spAutoFit/>
              </a:bodyPr>
              <a:lstStyle/>
              <a:p>
                <a:pPr algn="l"/>
                <a:r>
                  <a:rPr lang="ko-KR" sz="1720" b="1" dirty="0">
                    <a:solidFill>
                      <a:srgbClr val="0B1E3C"/>
                    </a:solidFill>
                    <a:latin typeface="+mn-lt"/>
                    <a:ea typeface="+mn-ea"/>
                    <a:cs typeface="+mn-cs"/>
                  </a:rPr>
                  <a:t>실증 레퍼런스</a:t>
                </a:r>
              </a:p>
            </p:txBody>
          </p:sp>
          <p:sp>
            <p:nvSpPr>
              <p:cNvPr id="42" name="TextBox 42"/>
              <p:cNvSpPr txBox="1"/>
              <p:nvPr/>
            </p:nvSpPr>
            <p:spPr>
              <a:xfrm>
                <a:off x="3363087" y="3365500"/>
                <a:ext cx="1321132" cy="337376"/>
              </a:xfrm>
              <a:prstGeom prst="rect">
                <a:avLst/>
              </a:prstGeom>
              <a:noFill/>
              <a:ln>
                <a:noFill/>
              </a:ln>
            </p:spPr>
            <p:txBody>
              <a:bodyPr wrap="none" lIns="0" tIns="0" rIns="0" bIns="0" anchor="t" anchorCtr="0">
                <a:spAutoFit/>
              </a:bodyPr>
              <a:lstStyle/>
              <a:p>
                <a:pPr algn="l"/>
                <a:r>
                  <a:rPr lang="ko-KR" sz="1720" b="1" dirty="0">
                    <a:solidFill>
                      <a:srgbClr val="0B1E3C"/>
                    </a:solidFill>
                    <a:latin typeface="+mn-lt"/>
                    <a:ea typeface="+mn-ea"/>
                    <a:cs typeface="+mn-cs"/>
                  </a:rPr>
                  <a:t>첫 용역 수주</a:t>
                </a:r>
              </a:p>
            </p:txBody>
          </p:sp>
          <p:sp>
            <p:nvSpPr>
              <p:cNvPr id="43" name="TextBox 43"/>
              <p:cNvSpPr txBox="1"/>
              <p:nvPr/>
            </p:nvSpPr>
            <p:spPr>
              <a:xfrm>
                <a:off x="6201537" y="3365500"/>
                <a:ext cx="1479742" cy="337376"/>
              </a:xfrm>
              <a:prstGeom prst="rect">
                <a:avLst/>
              </a:prstGeom>
              <a:noFill/>
              <a:ln>
                <a:noFill/>
              </a:ln>
            </p:spPr>
            <p:txBody>
              <a:bodyPr wrap="none" lIns="0" tIns="0" rIns="0" bIns="0" anchor="t" anchorCtr="0">
                <a:spAutoFit/>
              </a:bodyPr>
              <a:lstStyle/>
              <a:p>
                <a:pPr algn="l"/>
                <a:r>
                  <a:rPr lang="ko-KR" sz="1720" b="1" dirty="0">
                    <a:solidFill>
                      <a:srgbClr val="0B1E3C"/>
                    </a:solidFill>
                    <a:latin typeface="+mn-lt"/>
                    <a:ea typeface="+mn-ea"/>
                    <a:cs typeface="+mn-cs"/>
                  </a:rPr>
                  <a:t>반복관제 전환</a:t>
                </a:r>
              </a:p>
            </p:txBody>
          </p:sp>
          <p:sp>
            <p:nvSpPr>
              <p:cNvPr id="44" name="TextBox 44"/>
              <p:cNvSpPr txBox="1"/>
              <p:nvPr/>
            </p:nvSpPr>
            <p:spPr>
              <a:xfrm>
                <a:off x="9039987" y="3365500"/>
                <a:ext cx="1613460" cy="337376"/>
              </a:xfrm>
              <a:prstGeom prst="rect">
                <a:avLst/>
              </a:prstGeom>
              <a:noFill/>
              <a:ln>
                <a:noFill/>
              </a:ln>
            </p:spPr>
            <p:txBody>
              <a:bodyPr wrap="none" lIns="0" tIns="0" rIns="0" bIns="0" anchor="t" anchorCtr="0">
                <a:spAutoFit/>
              </a:bodyPr>
              <a:lstStyle/>
              <a:p>
                <a:pPr algn="l"/>
                <a:r>
                  <a:rPr lang="ko-KR" sz="1720" b="1" dirty="0">
                    <a:solidFill>
                      <a:srgbClr val="0B1E3C"/>
                    </a:solidFill>
                    <a:latin typeface="+mn-lt"/>
                    <a:ea typeface="+mn-ea"/>
                    <a:cs typeface="+mn-cs"/>
                  </a:rPr>
                  <a:t>권역·기관 확장</a:t>
                </a:r>
              </a:p>
            </p:txBody>
          </p:sp>
        </p:grpSp>
        <p:grpSp>
          <p:nvGrpSpPr>
            <p:cNvPr id="49" name="Group 49"/>
            <p:cNvGrpSpPr/>
            <p:nvPr/>
          </p:nvGrpSpPr>
          <p:grpSpPr>
            <a:xfrm>
              <a:off x="3181350" y="3505200"/>
              <a:ext cx="5810250" cy="1"/>
              <a:chOff x="3181350" y="3505200"/>
              <a:chExt cx="5810250" cy="1"/>
            </a:xfrm>
          </p:grpSpPr>
          <p:sp>
            <p:nvSpPr>
              <p:cNvPr id="46" name="Line 46"/>
              <p:cNvSpPr/>
              <p:nvPr/>
            </p:nvSpPr>
            <p:spPr>
              <a:xfrm>
                <a:off x="3181350" y="3505200"/>
                <a:ext cx="133350" cy="1"/>
              </a:xfrm>
              <a:prstGeom prst="line">
                <a:avLst/>
              </a:prstGeom>
              <a:noFill/>
              <a:ln w="14288">
                <a:solidFill>
                  <a:srgbClr val="9AA3AF"/>
                </a:solidFill>
                <a:tailEnd type="triangle" w="lg" len="lg"/>
              </a:ln>
            </p:spPr>
          </p:sp>
          <p:sp>
            <p:nvSpPr>
              <p:cNvPr id="47" name="Line 47"/>
              <p:cNvSpPr/>
              <p:nvPr/>
            </p:nvSpPr>
            <p:spPr>
              <a:xfrm>
                <a:off x="6019800" y="3505200"/>
                <a:ext cx="133350" cy="1"/>
              </a:xfrm>
              <a:prstGeom prst="line">
                <a:avLst/>
              </a:prstGeom>
              <a:noFill/>
              <a:ln w="14288">
                <a:solidFill>
                  <a:srgbClr val="9AA3AF"/>
                </a:solidFill>
                <a:tailEnd type="triangle" w="lg" len="lg"/>
              </a:ln>
            </p:spPr>
          </p:sp>
          <p:sp>
            <p:nvSpPr>
              <p:cNvPr id="48" name="Line 48"/>
              <p:cNvSpPr/>
              <p:nvPr/>
            </p:nvSpPr>
            <p:spPr>
              <a:xfrm>
                <a:off x="8858250" y="3505200"/>
                <a:ext cx="133350" cy="1"/>
              </a:xfrm>
              <a:prstGeom prst="line">
                <a:avLst/>
              </a:prstGeom>
              <a:noFill/>
              <a:ln w="14288">
                <a:solidFill>
                  <a:srgbClr val="9AA3AF"/>
                </a:solidFill>
                <a:tailEnd type="triangle" w="lg" len="lg"/>
              </a:ln>
            </p:spPr>
          </p:sp>
        </p:grpSp>
        <p:grpSp>
          <p:nvGrpSpPr>
            <p:cNvPr id="54" name="Group 54"/>
            <p:cNvGrpSpPr/>
            <p:nvPr/>
          </p:nvGrpSpPr>
          <p:grpSpPr>
            <a:xfrm>
              <a:off x="527304" y="3689350"/>
              <a:ext cx="10264902" cy="463296"/>
              <a:chOff x="527304" y="3689350"/>
              <a:chExt cx="10264902" cy="463296"/>
            </a:xfrm>
          </p:grpSpPr>
          <p:sp>
            <p:nvSpPr>
              <p:cNvPr id="50" name="TextBox 50"/>
              <p:cNvSpPr txBox="1"/>
              <p:nvPr/>
            </p:nvSpPr>
            <p:spPr>
              <a:xfrm>
                <a:off x="527304" y="3689350"/>
                <a:ext cx="1780032" cy="463296"/>
              </a:xfrm>
              <a:prstGeom prst="rect">
                <a:avLst/>
              </a:prstGeom>
              <a:noFill/>
              <a:ln>
                <a:noFill/>
              </a:ln>
            </p:spPr>
            <p:txBody>
              <a:bodyPr wrap="none" lIns="0" tIns="0" rIns="0" bIns="0" anchor="t" anchorCtr="0">
                <a:spAutoFit/>
              </a:bodyPr>
              <a:lstStyle/>
              <a:p>
                <a:pPr algn="l">
                  <a:lnSpc>
                    <a:spcPts val="1800"/>
                  </a:lnSpc>
                </a:pPr>
                <a:r>
                  <a:rPr lang="ko-KR" sz="1200" dirty="0">
                    <a:solidFill>
                      <a:srgbClr val="111827"/>
                    </a:solidFill>
                    <a:latin typeface="+mn-lt"/>
                    <a:ea typeface="+mn-ea"/>
                    <a:cs typeface="+mn-cs"/>
                  </a:rPr>
                  <a:t>테스트베드서울 실증 신청</a:t>
                </a:r>
                <a:br>
                  <a:rPr lang="ko-KR" sz="1200" dirty="0">
                    <a:solidFill>
                      <a:srgbClr val="111827"/>
                    </a:solidFill>
                    <a:latin typeface="+mn-lt"/>
                    <a:ea typeface="+mn-ea"/>
                    <a:cs typeface="+mn-cs"/>
                  </a:rPr>
                </a:br>
                <a:r>
                  <a:rPr lang="ko-KR" sz="1200" dirty="0">
                    <a:solidFill>
                      <a:srgbClr val="111827"/>
                    </a:solidFill>
                    <a:latin typeface="+mn-lt"/>
                    <a:ea typeface="+mn-ea"/>
                    <a:cs typeface="+mn-cs"/>
                  </a:rPr>
                  <a:t>공사구간 1곳 파일럿</a:t>
                </a:r>
              </a:p>
            </p:txBody>
          </p:sp>
          <p:sp>
            <p:nvSpPr>
              <p:cNvPr id="51" name="TextBox 51"/>
              <p:cNvSpPr txBox="1"/>
              <p:nvPr/>
            </p:nvSpPr>
            <p:spPr>
              <a:xfrm>
                <a:off x="3365754" y="3689350"/>
                <a:ext cx="1780032" cy="463296"/>
              </a:xfrm>
              <a:prstGeom prst="rect">
                <a:avLst/>
              </a:prstGeom>
              <a:noFill/>
              <a:ln>
                <a:noFill/>
              </a:ln>
            </p:spPr>
            <p:txBody>
              <a:bodyPr wrap="none" lIns="0" tIns="0" rIns="0" bIns="0" anchor="t" anchorCtr="0">
                <a:spAutoFit/>
              </a:bodyPr>
              <a:lstStyle/>
              <a:p>
                <a:pPr algn="l">
                  <a:lnSpc>
                    <a:spcPts val="1800"/>
                  </a:lnSpc>
                </a:pPr>
                <a:r>
                  <a:rPr lang="ko-KR" sz="1200" dirty="0">
                    <a:solidFill>
                      <a:srgbClr val="111827"/>
                    </a:solidFill>
                    <a:latin typeface="+mn-lt"/>
                    <a:ea typeface="+mn-ea"/>
                    <a:cs typeface="+mn-cs"/>
                  </a:rPr>
                  <a:t>시·군 GPR 탐사 용역 입찰</a:t>
                </a:r>
                <a:br>
                  <a:rPr lang="ko-KR" sz="1200" dirty="0">
                    <a:solidFill>
                      <a:srgbClr val="111827"/>
                    </a:solidFill>
                    <a:latin typeface="+mn-lt"/>
                    <a:ea typeface="+mn-ea"/>
                    <a:cs typeface="+mn-cs"/>
                  </a:rPr>
                </a:br>
                <a:r>
                  <a:rPr lang="ko-KR" sz="1200" dirty="0">
                    <a:solidFill>
                      <a:srgbClr val="111827"/>
                    </a:solidFill>
                    <a:latin typeface="+mn-lt"/>
                    <a:ea typeface="+mn-ea"/>
                    <a:cs typeface="+mn-cs"/>
                  </a:rPr>
                  <a:t>조사기관과 컨소시엄 참여</a:t>
                </a:r>
              </a:p>
            </p:txBody>
          </p:sp>
          <p:sp>
            <p:nvSpPr>
              <p:cNvPr id="52" name="TextBox 52"/>
              <p:cNvSpPr txBox="1"/>
              <p:nvPr/>
            </p:nvSpPr>
            <p:spPr>
              <a:xfrm>
                <a:off x="6204204" y="3689350"/>
                <a:ext cx="1825752" cy="463296"/>
              </a:xfrm>
              <a:prstGeom prst="rect">
                <a:avLst/>
              </a:prstGeom>
              <a:noFill/>
              <a:ln>
                <a:noFill/>
              </a:ln>
            </p:spPr>
            <p:txBody>
              <a:bodyPr wrap="none" lIns="0" tIns="0" rIns="0" bIns="0" anchor="t" anchorCtr="0">
                <a:spAutoFit/>
              </a:bodyPr>
              <a:lstStyle/>
              <a:p>
                <a:pPr algn="l">
                  <a:lnSpc>
                    <a:spcPts val="1800"/>
                  </a:lnSpc>
                </a:pPr>
                <a:r>
                  <a:rPr lang="ko-KR" sz="1200" dirty="0">
                    <a:solidFill>
                      <a:srgbClr val="111827"/>
                    </a:solidFill>
                    <a:latin typeface="+mn-lt"/>
                    <a:ea typeface="+mn-ea"/>
                    <a:cs typeface="+mn-cs"/>
                  </a:rPr>
                  <a:t>조달청 혁신제품 지정 신청</a:t>
                </a:r>
                <a:br>
                  <a:rPr lang="ko-KR" sz="1200" dirty="0">
                    <a:solidFill>
                      <a:srgbClr val="111827"/>
                    </a:solidFill>
                    <a:latin typeface="+mn-lt"/>
                    <a:ea typeface="+mn-ea"/>
                    <a:cs typeface="+mn-cs"/>
                  </a:rPr>
                </a:br>
                <a:r>
                  <a:rPr lang="ko-KR" sz="1200" dirty="0">
                    <a:solidFill>
                      <a:srgbClr val="111827"/>
                    </a:solidFill>
                    <a:latin typeface="+mn-lt"/>
                    <a:ea typeface="+mn-ea"/>
                    <a:cs typeface="+mn-cs"/>
                  </a:rPr>
                  <a:t>지정 시 최대 6년 수의계약</a:t>
                </a:r>
              </a:p>
            </p:txBody>
          </p:sp>
          <p:sp>
            <p:nvSpPr>
              <p:cNvPr id="53" name="TextBox 53"/>
              <p:cNvSpPr txBox="1"/>
              <p:nvPr/>
            </p:nvSpPr>
            <p:spPr>
              <a:xfrm>
                <a:off x="9042654" y="3689350"/>
                <a:ext cx="1749552" cy="463296"/>
              </a:xfrm>
              <a:prstGeom prst="rect">
                <a:avLst/>
              </a:prstGeom>
              <a:noFill/>
              <a:ln>
                <a:noFill/>
              </a:ln>
            </p:spPr>
            <p:txBody>
              <a:bodyPr wrap="none" lIns="0" tIns="0" rIns="0" bIns="0" anchor="t" anchorCtr="0">
                <a:spAutoFit/>
              </a:bodyPr>
              <a:lstStyle/>
              <a:p>
                <a:pPr algn="l">
                  <a:lnSpc>
                    <a:spcPts val="1800"/>
                  </a:lnSpc>
                </a:pPr>
                <a:r>
                  <a:rPr lang="ko-KR" sz="1200" dirty="0">
                    <a:solidFill>
                      <a:srgbClr val="111827"/>
                    </a:solidFill>
                    <a:latin typeface="+mn-lt"/>
                    <a:ea typeface="+mn-ea"/>
                    <a:cs typeface="+mn-cs"/>
                  </a:rPr>
                  <a:t>GPR 없는 시·군 운영 대행</a:t>
                </a:r>
                <a:br>
                  <a:rPr lang="ko-KR" sz="1200" dirty="0">
                    <a:solidFill>
                      <a:srgbClr val="111827"/>
                    </a:solidFill>
                    <a:latin typeface="+mn-lt"/>
                    <a:ea typeface="+mn-ea"/>
                    <a:cs typeface="+mn-cs"/>
                  </a:rPr>
                </a:br>
                <a:r>
                  <a:rPr lang="ko-KR" sz="1200" dirty="0">
                    <a:solidFill>
                      <a:srgbClr val="111827"/>
                    </a:solidFill>
                    <a:latin typeface="+mn-lt"/>
                    <a:ea typeface="+mn-ea"/>
                    <a:cs typeface="+mn-cs"/>
                  </a:rPr>
                  <a:t>도시철도·상하수도 기관</a:t>
                </a:r>
              </a:p>
            </p:txBody>
          </p:sp>
        </p:grpSp>
        <p:grpSp>
          <p:nvGrpSpPr>
            <p:cNvPr id="63" name="Group 63"/>
            <p:cNvGrpSpPr/>
            <p:nvPr/>
          </p:nvGrpSpPr>
          <p:grpSpPr>
            <a:xfrm>
              <a:off x="533400" y="4533900"/>
              <a:ext cx="11125200" cy="323850"/>
              <a:chOff x="533400" y="4533900"/>
              <a:chExt cx="11125200" cy="323850"/>
            </a:xfrm>
          </p:grpSpPr>
          <p:sp>
            <p:nvSpPr>
              <p:cNvPr id="55" name="Rectangle 55"/>
              <p:cNvSpPr/>
              <p:nvPr/>
            </p:nvSpPr>
            <p:spPr>
              <a:xfrm>
                <a:off x="533400" y="4533900"/>
                <a:ext cx="2609850" cy="323850"/>
              </a:xfrm>
              <a:prstGeom prst="rect">
                <a:avLst/>
              </a:prstGeom>
              <a:solidFill>
                <a:srgbClr val="F3F5F8"/>
              </a:solidFill>
              <a:ln>
                <a:noFill/>
              </a:ln>
            </p:spPr>
          </p:sp>
          <p:sp>
            <p:nvSpPr>
              <p:cNvPr id="56" name="TextBox 56"/>
              <p:cNvSpPr txBox="1"/>
              <p:nvPr/>
            </p:nvSpPr>
            <p:spPr>
              <a:xfrm>
                <a:off x="642366" y="4616450"/>
                <a:ext cx="2387485" cy="205359"/>
              </a:xfrm>
              <a:prstGeom prst="rect">
                <a:avLst/>
              </a:prstGeom>
              <a:noFill/>
              <a:ln>
                <a:noFill/>
              </a:ln>
            </p:spPr>
            <p:txBody>
              <a:bodyPr wrap="none" lIns="0" tIns="0" rIns="0" bIns="0" anchor="t" anchorCtr="0">
                <a:spAutoFit/>
              </a:bodyPr>
              <a:lstStyle/>
              <a:p>
                <a:pPr algn="l"/>
                <a:r>
                  <a:rPr lang="ko-KR" sz="1050" b="1" dirty="0">
                    <a:solidFill>
                      <a:srgbClr val="8A5A00"/>
                    </a:solidFill>
                    <a:latin typeface="+mn-lt"/>
                    <a:ea typeface="+mn-ea"/>
                    <a:cs typeface="+mn-cs"/>
                  </a:rPr>
                  <a:t>다음 조건</a:t>
                </a:r>
                <a:r>
                  <a:rPr lang="ko-KR" sz="1050" dirty="0">
                    <a:solidFill>
                      <a:srgbClr val="111827"/>
                    </a:solidFill>
                    <a:latin typeface="+mn-lt"/>
                    <a:ea typeface="+mn-ea"/>
                    <a:cs typeface="+mn-cs"/>
                  </a:rPr>
                  <a:t xml:space="preserve"> 기존 장비와 같은 공동 탐지</a:t>
                </a:r>
              </a:p>
            </p:txBody>
          </p:sp>
          <p:sp>
            <p:nvSpPr>
              <p:cNvPr id="57" name="Rectangle 57"/>
              <p:cNvSpPr/>
              <p:nvPr/>
            </p:nvSpPr>
            <p:spPr>
              <a:xfrm>
                <a:off x="3371850" y="4533900"/>
                <a:ext cx="2609850" cy="323850"/>
              </a:xfrm>
              <a:prstGeom prst="rect">
                <a:avLst/>
              </a:prstGeom>
              <a:solidFill>
                <a:srgbClr val="F3F5F8"/>
              </a:solidFill>
              <a:ln>
                <a:noFill/>
              </a:ln>
            </p:spPr>
          </p:sp>
          <p:sp>
            <p:nvSpPr>
              <p:cNvPr id="58" name="TextBox 58"/>
              <p:cNvSpPr txBox="1"/>
              <p:nvPr/>
            </p:nvSpPr>
            <p:spPr>
              <a:xfrm>
                <a:off x="3480816" y="4616450"/>
                <a:ext cx="2055310" cy="205359"/>
              </a:xfrm>
              <a:prstGeom prst="rect">
                <a:avLst/>
              </a:prstGeom>
              <a:noFill/>
              <a:ln>
                <a:noFill/>
              </a:ln>
            </p:spPr>
            <p:txBody>
              <a:bodyPr wrap="none" lIns="0" tIns="0" rIns="0" bIns="0" anchor="t" anchorCtr="0">
                <a:spAutoFit/>
              </a:bodyPr>
              <a:lstStyle/>
              <a:p>
                <a:pPr algn="l"/>
                <a:r>
                  <a:rPr lang="ko-KR" sz="1050" b="1" dirty="0">
                    <a:solidFill>
                      <a:srgbClr val="8A5A00"/>
                    </a:solidFill>
                    <a:latin typeface="+mn-lt"/>
                    <a:ea typeface="+mn-ea"/>
                    <a:cs typeface="+mn-cs"/>
                  </a:rPr>
                  <a:t>다음 조건</a:t>
                </a:r>
                <a:r>
                  <a:rPr lang="ko-KR" sz="1050" dirty="0">
                    <a:solidFill>
                      <a:srgbClr val="111827"/>
                    </a:solidFill>
                    <a:latin typeface="+mn-lt"/>
                    <a:ea typeface="+mn-ea"/>
                    <a:cs typeface="+mn-cs"/>
                  </a:rPr>
                  <a:t xml:space="preserve"> 실증확인서·용역 실적</a:t>
                </a:r>
              </a:p>
            </p:txBody>
          </p:sp>
          <p:sp>
            <p:nvSpPr>
              <p:cNvPr id="59" name="Rectangle 59"/>
              <p:cNvSpPr/>
              <p:nvPr/>
            </p:nvSpPr>
            <p:spPr>
              <a:xfrm>
                <a:off x="6210300" y="4533900"/>
                <a:ext cx="2609850" cy="323850"/>
              </a:xfrm>
              <a:prstGeom prst="rect">
                <a:avLst/>
              </a:prstGeom>
              <a:solidFill>
                <a:srgbClr val="F3F5F8"/>
              </a:solidFill>
              <a:ln>
                <a:noFill/>
              </a:ln>
            </p:spPr>
          </p:sp>
          <p:sp>
            <p:nvSpPr>
              <p:cNvPr id="60" name="TextBox 60"/>
              <p:cNvSpPr txBox="1"/>
              <p:nvPr/>
            </p:nvSpPr>
            <p:spPr>
              <a:xfrm>
                <a:off x="6319266" y="4616450"/>
                <a:ext cx="2479363" cy="205359"/>
              </a:xfrm>
              <a:prstGeom prst="rect">
                <a:avLst/>
              </a:prstGeom>
              <a:noFill/>
              <a:ln>
                <a:noFill/>
              </a:ln>
            </p:spPr>
            <p:txBody>
              <a:bodyPr wrap="none" lIns="0" tIns="0" rIns="0" bIns="0" anchor="t" anchorCtr="0">
                <a:spAutoFit/>
              </a:bodyPr>
              <a:lstStyle/>
              <a:p>
                <a:pPr algn="l"/>
                <a:r>
                  <a:rPr lang="ko-KR" sz="1050" b="1" dirty="0">
                    <a:solidFill>
                      <a:srgbClr val="8A5A00"/>
                    </a:solidFill>
                    <a:latin typeface="+mn-lt"/>
                    <a:ea typeface="+mn-ea"/>
                    <a:cs typeface="+mn-cs"/>
                  </a:rPr>
                  <a:t>다음 조건</a:t>
                </a:r>
                <a:r>
                  <a:rPr lang="ko-KR" sz="1050" dirty="0">
                    <a:solidFill>
                      <a:srgbClr val="111827"/>
                    </a:solidFill>
                    <a:latin typeface="+mn-lt"/>
                    <a:ea typeface="+mn-ea"/>
                    <a:cs typeface="+mn-cs"/>
                  </a:rPr>
                  <a:t xml:space="preserve"> 지자체 2곳 연간 계약 </a:t>
                </a:r>
                <a:r>
                  <a:rPr lang="ko-KR" sz="1050" dirty="0">
                    <a:solidFill>
                      <a:srgbClr val="4B5563"/>
                    </a:solidFill>
                    <a:latin typeface="+mn-lt"/>
                    <a:ea typeface="+mn-ea"/>
                    <a:cs typeface="+mn-cs"/>
                  </a:rPr>
                  <a:t>[목표]</a:t>
                </a:r>
              </a:p>
            </p:txBody>
          </p:sp>
          <p:sp>
            <p:nvSpPr>
              <p:cNvPr id="61" name="Rectangle 61"/>
              <p:cNvSpPr/>
              <p:nvPr/>
            </p:nvSpPr>
            <p:spPr>
              <a:xfrm>
                <a:off x="9048750" y="4533900"/>
                <a:ext cx="2609850" cy="323850"/>
              </a:xfrm>
              <a:prstGeom prst="rect">
                <a:avLst/>
              </a:prstGeom>
              <a:solidFill>
                <a:srgbClr val="FFF6D6"/>
              </a:solidFill>
              <a:ln>
                <a:noFill/>
              </a:ln>
            </p:spPr>
          </p:sp>
          <p:sp>
            <p:nvSpPr>
              <p:cNvPr id="62" name="TextBox 62"/>
              <p:cNvSpPr txBox="1"/>
              <p:nvPr/>
            </p:nvSpPr>
            <p:spPr>
              <a:xfrm>
                <a:off x="9157716" y="4616450"/>
                <a:ext cx="1703680" cy="205359"/>
              </a:xfrm>
              <a:prstGeom prst="rect">
                <a:avLst/>
              </a:prstGeom>
              <a:noFill/>
              <a:ln>
                <a:noFill/>
              </a:ln>
            </p:spPr>
            <p:txBody>
              <a:bodyPr wrap="none" lIns="0" tIns="0" rIns="0" bIns="0" anchor="t" anchorCtr="0">
                <a:spAutoFit/>
              </a:bodyPr>
              <a:lstStyle/>
              <a:p>
                <a:pPr algn="l"/>
                <a:r>
                  <a:rPr lang="ko-KR" sz="1050" b="1" dirty="0">
                    <a:solidFill>
                      <a:srgbClr val="8A5A00"/>
                    </a:solidFill>
                    <a:latin typeface="+mn-lt"/>
                    <a:ea typeface="+mn-ea"/>
                    <a:cs typeface="+mn-cs"/>
                  </a:rPr>
                  <a:t>목표</a:t>
                </a:r>
                <a:r>
                  <a:rPr lang="ko-KR" sz="1050" dirty="0">
                    <a:solidFill>
                      <a:srgbClr val="111827"/>
                    </a:solidFill>
                    <a:latin typeface="+mn-lt"/>
                    <a:ea typeface="+mn-ea"/>
                    <a:cs typeface="+mn-cs"/>
                  </a:rPr>
                  <a:t xml:space="preserve"> 권역별 PV5 플릿 운영</a:t>
                </a:r>
              </a:p>
            </p:txBody>
          </p:sp>
        </p:grpSp>
      </p:grpSp>
      <p:grpSp>
        <p:nvGrpSpPr>
          <p:cNvPr id="67" name="conclusion"/>
          <p:cNvGrpSpPr/>
          <p:nvPr/>
        </p:nvGrpSpPr>
        <p:grpSpPr>
          <a:xfrm>
            <a:off x="533400" y="5562600"/>
            <a:ext cx="7401954" cy="495300"/>
            <a:chOff x="533400" y="5562600"/>
            <a:chExt cx="7401954" cy="495300"/>
          </a:xfrm>
        </p:grpSpPr>
        <p:sp>
          <p:nvSpPr>
            <p:cNvPr id="65" name="Rectangle 65"/>
            <p:cNvSpPr/>
            <p:nvPr/>
          </p:nvSpPr>
          <p:spPr>
            <a:xfrm>
              <a:off x="533400" y="5562600"/>
              <a:ext cx="38100" cy="495300"/>
            </a:xfrm>
            <a:prstGeom prst="rect">
              <a:avLst/>
            </a:prstGeom>
            <a:solidFill>
              <a:srgbClr val="F5B700"/>
            </a:solidFill>
            <a:ln>
              <a:noFill/>
            </a:ln>
          </p:spPr>
        </p:sp>
        <p:sp>
          <p:nvSpPr>
            <p:cNvPr id="66" name="TextBox 66"/>
            <p:cNvSpPr txBox="1"/>
            <p:nvPr/>
          </p:nvSpPr>
          <p:spPr>
            <a:xfrm>
              <a:off x="754380" y="5699125"/>
              <a:ext cx="7180974" cy="293370"/>
            </a:xfrm>
            <a:prstGeom prst="rect">
              <a:avLst/>
            </a:prstGeom>
            <a:noFill/>
            <a:ln>
              <a:noFill/>
            </a:ln>
          </p:spPr>
          <p:txBody>
            <a:bodyPr wrap="none" lIns="0" tIns="0" rIns="0" bIns="0" anchor="t" anchorCtr="0">
              <a:spAutoFit/>
            </a:bodyPr>
            <a:lstStyle/>
            <a:p>
              <a:pPr algn="l"/>
              <a:r>
                <a:rPr lang="ko-KR" sz="1500" b="1" dirty="0">
                  <a:solidFill>
                    <a:srgbClr val="0B1E3C"/>
                  </a:solidFill>
                  <a:latin typeface="+mn-lt"/>
                  <a:ea typeface="+mn-ea"/>
                  <a:cs typeface="+mn-cs"/>
                </a:rPr>
                <a:t xml:space="preserve">새 예산이 아니라, </a:t>
              </a:r>
              <a:r>
                <a:rPr lang="ko-KR" sz="1500" b="1" dirty="0">
                  <a:solidFill>
                    <a:srgbClr val="B45309"/>
                  </a:solidFill>
                  <a:latin typeface="+mn-lt"/>
                  <a:ea typeface="+mn-ea"/>
                  <a:cs typeface="+mn-cs"/>
                </a:rPr>
                <a:t>지자체가 이미 쓰는 GPR 탐사 예산</a:t>
              </a:r>
              <a:r>
                <a:rPr lang="ko-KR" sz="1500" b="1" dirty="0">
                  <a:solidFill>
                    <a:srgbClr val="0B1E3C"/>
                  </a:solidFill>
                  <a:latin typeface="+mn-lt"/>
                  <a:ea typeface="+mn-ea"/>
                  <a:cs typeface="+mn-cs"/>
                </a:rPr>
                <a:t>에서 첫 계약을 만듭니다.</a:t>
              </a:r>
            </a:p>
          </p:txBody>
        </p:sp>
      </p:grpSp>
      <p:grpSp>
        <p:nvGrpSpPr>
          <p:cNvPr id="69" name="source"/>
          <p:cNvGrpSpPr/>
          <p:nvPr/>
        </p:nvGrpSpPr>
        <p:grpSpPr>
          <a:xfrm>
            <a:off x="528638" y="6343650"/>
            <a:ext cx="11611661" cy="176212"/>
            <a:chOff x="528638" y="6343650"/>
            <a:chExt cx="11611661" cy="176212"/>
          </a:xfrm>
        </p:grpSpPr>
        <p:sp>
          <p:nvSpPr>
            <p:cNvPr id="68" name="TextBox 68"/>
            <p:cNvSpPr txBox="1"/>
            <p:nvPr/>
          </p:nvSpPr>
          <p:spPr>
            <a:xfrm>
              <a:off x="528638" y="6343650"/>
              <a:ext cx="11611661"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출처: 나라장터 2026 GPR 용역(안양 R26BK01572949 · 강동구 R26BK01599467 · 용인 R26BK01517362) · 헤럴드경제(2025.9.7) · 조달청 혁신제품 지정제도 · 서울시 테스트베드서울 2.0 · 기간은 목표 [가설]</a:t>
              </a:r>
            </a:p>
          </p:txBody>
        </p:sp>
      </p:grpSp>
      <p:grpSp>
        <p:nvGrpSpPr>
          <p:cNvPr id="72" name="footer"/>
          <p:cNvGrpSpPr/>
          <p:nvPr/>
        </p:nvGrpSpPr>
        <p:grpSpPr>
          <a:xfrm>
            <a:off x="528638" y="6610350"/>
            <a:ext cx="11134724" cy="176212"/>
            <a:chOff x="528638" y="6610350"/>
            <a:chExt cx="11134724" cy="176212"/>
          </a:xfrm>
        </p:grpSpPr>
        <p:sp>
          <p:nvSpPr>
            <p:cNvPr id="70" name="TextBox 70"/>
            <p:cNvSpPr txBox="1"/>
            <p:nvPr/>
          </p:nvSpPr>
          <p:spPr>
            <a:xfrm>
              <a:off x="528638" y="6610350"/>
              <a:ext cx="1487653"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한 명이라도 살릴 수 있다면</a:t>
              </a:r>
            </a:p>
          </p:txBody>
        </p:sp>
        <p:sp>
          <p:nvSpPr>
            <p:cNvPr id="71" name="TextBox 71"/>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14 / 15</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B1E3C"/>
          </a:solidFill>
          <a:ln>
            <a:noFill/>
          </a:ln>
        </p:spPr>
      </p:sp>
      <p:pic>
        <p:nvPicPr>
          <p:cNvPr id="3" name="Image 3"/>
          <p:cNvPicPr>
            <a:picLocks noChangeAspect="1"/>
          </p:cNvPicPr>
          <p:nvPr/>
        </p:nvPicPr>
        <p:blipFill>
          <a:blip r:embed="rId2"/>
          <a:srcRect l="16666" t="0" r="16667" b="0"/>
          <a:stretch>
            <a:fillRect/>
          </a:stretch>
        </p:blipFill>
        <p:spPr>
          <a:xfrm>
            <a:off x="5334000" y="0"/>
            <a:ext cx="6858000" cy="6858000"/>
          </a:xfrm>
          <a:prstGeom prst="rect">
            <a:avLst/>
          </a:prstGeom>
        </p:spPr>
      </p:pic>
      <p:sp>
        <p:nvSpPr>
          <p:cNvPr id="4" name="Rectangle 4"/>
          <p:cNvSpPr/>
          <p:nvPr/>
        </p:nvSpPr>
        <p:spPr>
          <a:xfrm>
            <a:off x="5334000" y="0"/>
            <a:ext cx="4000500" cy="6858000"/>
          </a:xfrm>
          <a:prstGeom prst="rect">
            <a:avLst/>
          </a:prstGeom>
          <a:gradFill>
            <a:gsLst>
              <a:gs pos="0">
                <a:srgbClr val="0B1E3C"/>
              </a:gs>
              <a:gs pos="55000">
                <a:srgbClr val="0B1E3C">
                  <a:alpha val="85000"/>
                </a:srgbClr>
              </a:gs>
              <a:gs pos="100000">
                <a:srgbClr val="0B1E3C">
                  <a:alpha val="0"/>
                </a:srgbClr>
              </a:gs>
            </a:gsLst>
            <a:lin ang="0" scaled="1"/>
          </a:gradFill>
          <a:ln>
            <a:noFill/>
          </a:ln>
        </p:spPr>
      </p:sp>
      <p:grpSp>
        <p:nvGrpSpPr>
          <p:cNvPr id="14" name="recap"/>
          <p:cNvGrpSpPr/>
          <p:nvPr/>
        </p:nvGrpSpPr>
        <p:grpSpPr>
          <a:xfrm>
            <a:off x="600075" y="838200"/>
            <a:ext cx="3788354" cy="3263265"/>
            <a:chOff x="600075" y="838200"/>
            <a:chExt cx="3788354" cy="3263265"/>
          </a:xfrm>
        </p:grpSpPr>
        <p:sp>
          <p:nvSpPr>
            <p:cNvPr id="5" name="TextBox 5"/>
            <p:cNvSpPr txBox="1"/>
            <p:nvPr/>
          </p:nvSpPr>
          <p:spPr>
            <a:xfrm>
              <a:off x="603504" y="838200"/>
              <a:ext cx="1992728" cy="234696"/>
            </a:xfrm>
            <a:prstGeom prst="rect">
              <a:avLst/>
            </a:prstGeom>
            <a:noFill/>
            <a:ln>
              <a:noFill/>
            </a:ln>
          </p:spPr>
          <p:txBody>
            <a:bodyPr wrap="none" lIns="0" tIns="0" rIns="0" bIns="0" anchor="t" anchorCtr="0">
              <a:spAutoFit/>
            </a:bodyPr>
            <a:lstStyle/>
            <a:p>
              <a:pPr algn="l"/>
              <a:r>
                <a:rPr lang="ko-KR" sz="1200" b="1" dirty="0">
                  <a:solidFill>
                    <a:srgbClr val="F5B700"/>
                  </a:solidFill>
                  <a:latin typeface="+mn-lt"/>
                  <a:ea typeface="+mn-ea"/>
                  <a:cs typeface="+mn-cs"/>
                </a:rPr>
                <a:t>GroundWatch가 바꾸는 것</a:t>
              </a:r>
            </a:p>
          </p:txBody>
        </p:sp>
        <p:sp>
          <p:nvSpPr>
            <p:cNvPr id="6" name="TextBox 6"/>
            <p:cNvSpPr txBox="1"/>
            <p:nvPr/>
          </p:nvSpPr>
          <p:spPr>
            <a:xfrm>
              <a:off x="601980" y="1250950"/>
              <a:ext cx="2216277" cy="293370"/>
            </a:xfrm>
            <a:prstGeom prst="rect">
              <a:avLst/>
            </a:prstGeom>
            <a:noFill/>
            <a:ln>
              <a:noFill/>
            </a:ln>
          </p:spPr>
          <p:txBody>
            <a:bodyPr wrap="none" lIns="0" tIns="0" rIns="0" bIns="0" anchor="t" anchorCtr="0">
              <a:spAutoFit/>
            </a:bodyPr>
            <a:lstStyle/>
            <a:p>
              <a:pPr algn="l"/>
              <a:r>
                <a:rPr lang="ko-KR" sz="1500" dirty="0">
                  <a:solidFill>
                    <a:srgbClr val="9FB0C8"/>
                  </a:solidFill>
                  <a:latin typeface="+mn-lt"/>
                  <a:ea typeface="+mn-ea"/>
                  <a:cs typeface="+mn-cs"/>
                </a:rPr>
                <a:t>회차마다 따로 보는 탐사</a:t>
              </a:r>
            </a:p>
          </p:txBody>
        </p:sp>
        <p:sp>
          <p:nvSpPr>
            <p:cNvPr id="7" name="TextBox 7"/>
            <p:cNvSpPr txBox="1"/>
            <p:nvPr/>
          </p:nvSpPr>
          <p:spPr>
            <a:xfrm>
              <a:off x="600075" y="1504950"/>
              <a:ext cx="3640072" cy="367665"/>
            </a:xfrm>
            <a:prstGeom prst="rect">
              <a:avLst/>
            </a:prstGeom>
            <a:noFill/>
            <a:ln>
              <a:noFill/>
            </a:ln>
          </p:spPr>
          <p:txBody>
            <a:bodyPr wrap="none" lIns="0" tIns="0" rIns="0" bIns="0" anchor="t" anchorCtr="0">
              <a:spAutoFit/>
            </a:bodyPr>
            <a:lstStyle/>
            <a:p>
              <a:pPr algn="l"/>
              <a:r>
                <a:rPr lang="ko-KR" sz="1880" b="1" dirty="0">
                  <a:solidFill>
                    <a:srgbClr val="FFFFFF"/>
                  </a:solidFill>
                  <a:latin typeface="+mn-lt"/>
                  <a:ea typeface="+mn-ea"/>
                  <a:cs typeface="+mn-cs"/>
                </a:rPr>
                <a:t>→ 같은 길의 ‘변화’를 보는 탐사</a:t>
              </a:r>
            </a:p>
          </p:txBody>
        </p:sp>
        <p:sp>
          <p:nvSpPr>
            <p:cNvPr id="8" name="TextBox 8"/>
            <p:cNvSpPr txBox="1"/>
            <p:nvPr/>
          </p:nvSpPr>
          <p:spPr>
            <a:xfrm>
              <a:off x="601980" y="1993900"/>
              <a:ext cx="2680716" cy="293370"/>
            </a:xfrm>
            <a:prstGeom prst="rect">
              <a:avLst/>
            </a:prstGeom>
            <a:noFill/>
            <a:ln>
              <a:noFill/>
            </a:ln>
          </p:spPr>
          <p:txBody>
            <a:bodyPr wrap="none" lIns="0" tIns="0" rIns="0" bIns="0" anchor="t" anchorCtr="0">
              <a:spAutoFit/>
            </a:bodyPr>
            <a:lstStyle/>
            <a:p>
              <a:pPr algn="l"/>
              <a:r>
                <a:rPr lang="ko-KR" sz="1500" dirty="0">
                  <a:solidFill>
                    <a:srgbClr val="9FB0C8"/>
                  </a:solidFill>
                  <a:latin typeface="+mn-lt"/>
                  <a:ea typeface="+mn-ea"/>
                  <a:cs typeface="+mn-cs"/>
                </a:rPr>
                <a:t>다시 찾아가야 하는 의심 지점</a:t>
              </a:r>
            </a:p>
          </p:txBody>
        </p:sp>
        <p:sp>
          <p:nvSpPr>
            <p:cNvPr id="9" name="TextBox 9"/>
            <p:cNvSpPr txBox="1"/>
            <p:nvPr/>
          </p:nvSpPr>
          <p:spPr>
            <a:xfrm>
              <a:off x="600075" y="2247900"/>
              <a:ext cx="3014951" cy="367665"/>
            </a:xfrm>
            <a:prstGeom prst="rect">
              <a:avLst/>
            </a:prstGeom>
            <a:noFill/>
            <a:ln>
              <a:noFill/>
            </a:ln>
          </p:spPr>
          <p:txBody>
            <a:bodyPr wrap="none" lIns="0" tIns="0" rIns="0" bIns="0" anchor="t" anchorCtr="0">
              <a:spAutoFit/>
            </a:bodyPr>
            <a:lstStyle/>
            <a:p>
              <a:pPr algn="l"/>
              <a:r>
                <a:rPr lang="ko-KR" sz="1880" b="1" dirty="0">
                  <a:solidFill>
                    <a:srgbClr val="FFFFFF"/>
                  </a:solidFill>
                  <a:latin typeface="+mn-lt"/>
                  <a:ea typeface="+mn-ea"/>
                  <a:cs typeface="+mn-cs"/>
                </a:rPr>
                <a:t>→ 같은 차에서 바로 재탐사</a:t>
              </a:r>
            </a:p>
          </p:txBody>
        </p:sp>
        <p:sp>
          <p:nvSpPr>
            <p:cNvPr id="10" name="TextBox 10"/>
            <p:cNvSpPr txBox="1"/>
            <p:nvPr/>
          </p:nvSpPr>
          <p:spPr>
            <a:xfrm>
              <a:off x="601980" y="2736850"/>
              <a:ext cx="1347978" cy="293370"/>
            </a:xfrm>
            <a:prstGeom prst="rect">
              <a:avLst/>
            </a:prstGeom>
            <a:noFill/>
            <a:ln>
              <a:noFill/>
            </a:ln>
          </p:spPr>
          <p:txBody>
            <a:bodyPr wrap="none" lIns="0" tIns="0" rIns="0" bIns="0" anchor="t" anchorCtr="0">
              <a:spAutoFit/>
            </a:bodyPr>
            <a:lstStyle/>
            <a:p>
              <a:pPr algn="l"/>
              <a:r>
                <a:rPr lang="ko-KR" sz="1500" dirty="0">
                  <a:solidFill>
                    <a:srgbClr val="9FB0C8"/>
                  </a:solidFill>
                  <a:latin typeface="+mn-lt"/>
                  <a:ea typeface="+mn-ea"/>
                  <a:cs typeface="+mn-cs"/>
                </a:rPr>
                <a:t>장비를 실은 차</a:t>
              </a:r>
            </a:p>
          </p:txBody>
        </p:sp>
        <p:sp>
          <p:nvSpPr>
            <p:cNvPr id="11" name="TextBox 11"/>
            <p:cNvSpPr txBox="1"/>
            <p:nvPr/>
          </p:nvSpPr>
          <p:spPr>
            <a:xfrm>
              <a:off x="600075" y="2990850"/>
              <a:ext cx="3234180" cy="367665"/>
            </a:xfrm>
            <a:prstGeom prst="rect">
              <a:avLst/>
            </a:prstGeom>
            <a:noFill/>
            <a:ln>
              <a:noFill/>
            </a:ln>
          </p:spPr>
          <p:txBody>
            <a:bodyPr wrap="none" lIns="0" tIns="0" rIns="0" bIns="0" anchor="t" anchorCtr="0">
              <a:spAutoFit/>
            </a:bodyPr>
            <a:lstStyle/>
            <a:p>
              <a:pPr algn="l"/>
              <a:r>
                <a:rPr lang="ko-KR" sz="1880" b="1" dirty="0">
                  <a:solidFill>
                    <a:srgbClr val="FFFFFF"/>
                  </a:solidFill>
                  <a:latin typeface="+mn-lt"/>
                  <a:ea typeface="+mn-ea"/>
                  <a:cs typeface="+mn-cs"/>
                </a:rPr>
                <a:t>→ 업무에 연동된 PV5 탐사실</a:t>
              </a:r>
            </a:p>
          </p:txBody>
        </p:sp>
        <p:sp>
          <p:nvSpPr>
            <p:cNvPr id="12" name="TextBox 12"/>
            <p:cNvSpPr txBox="1"/>
            <p:nvPr/>
          </p:nvSpPr>
          <p:spPr>
            <a:xfrm>
              <a:off x="601980" y="3467100"/>
              <a:ext cx="822960" cy="293370"/>
            </a:xfrm>
            <a:prstGeom prst="rect">
              <a:avLst/>
            </a:prstGeom>
            <a:noFill/>
            <a:ln>
              <a:noFill/>
            </a:ln>
          </p:spPr>
          <p:txBody>
            <a:bodyPr wrap="none" lIns="0" tIns="0" rIns="0" bIns="0" anchor="t" anchorCtr="0">
              <a:spAutoFit/>
            </a:bodyPr>
            <a:lstStyle/>
            <a:p>
              <a:pPr algn="l"/>
              <a:r>
                <a:rPr lang="ko-KR" sz="1500" dirty="0">
                  <a:solidFill>
                    <a:srgbClr val="9FB0C8"/>
                  </a:solidFill>
                  <a:latin typeface="+mn-lt"/>
                  <a:ea typeface="+mn-ea"/>
                  <a:cs typeface="+mn-cs"/>
                </a:rPr>
                <a:t>기아에게</a:t>
              </a:r>
            </a:p>
          </p:txBody>
        </p:sp>
        <p:sp>
          <p:nvSpPr>
            <p:cNvPr id="13" name="TextBox 13"/>
            <p:cNvSpPr txBox="1"/>
            <p:nvPr/>
          </p:nvSpPr>
          <p:spPr>
            <a:xfrm>
              <a:off x="600075" y="3733800"/>
              <a:ext cx="3788354" cy="367665"/>
            </a:xfrm>
            <a:prstGeom prst="rect">
              <a:avLst/>
            </a:prstGeom>
            <a:noFill/>
            <a:ln>
              <a:noFill/>
            </a:ln>
          </p:spPr>
          <p:txBody>
            <a:bodyPr wrap="none" lIns="0" tIns="0" rIns="0" bIns="0" anchor="t" anchorCtr="0">
              <a:spAutoFit/>
            </a:bodyPr>
            <a:lstStyle/>
            <a:p>
              <a:pPr algn="l"/>
              <a:r>
                <a:rPr lang="ko-KR" sz="1880" b="1" dirty="0">
                  <a:solidFill>
                    <a:srgbClr val="FFFFFF"/>
                  </a:solidFill>
                  <a:latin typeface="+mn-lt"/>
                  <a:ea typeface="+mn-ea"/>
                  <a:cs typeface="+mn-cs"/>
                </a:rPr>
                <a:t>→ 장비 포함 2억 원대 컨버전 PV5</a:t>
              </a:r>
            </a:p>
          </p:txBody>
        </p:sp>
      </p:grpSp>
      <p:grpSp>
        <p:nvGrpSpPr>
          <p:cNvPr id="17" name="closing"/>
          <p:cNvGrpSpPr/>
          <p:nvPr/>
        </p:nvGrpSpPr>
        <p:grpSpPr>
          <a:xfrm>
            <a:off x="595122" y="4572000"/>
            <a:ext cx="5037439" cy="1255903"/>
            <a:chOff x="595122" y="4572000"/>
            <a:chExt cx="5037439" cy="1255903"/>
          </a:xfrm>
        </p:grpSpPr>
        <p:sp>
          <p:nvSpPr>
            <p:cNvPr id="15" name="Rectangle 15"/>
            <p:cNvSpPr/>
            <p:nvPr/>
          </p:nvSpPr>
          <p:spPr>
            <a:xfrm>
              <a:off x="609600" y="4572000"/>
              <a:ext cx="457200" cy="28575"/>
            </a:xfrm>
            <a:prstGeom prst="rect">
              <a:avLst/>
            </a:prstGeom>
            <a:solidFill>
              <a:srgbClr val="F5B700"/>
            </a:solidFill>
            <a:ln>
              <a:noFill/>
            </a:ln>
          </p:spPr>
        </p:sp>
        <p:sp>
          <p:nvSpPr>
            <p:cNvPr id="16" name="TextBox 16"/>
            <p:cNvSpPr txBox="1"/>
            <p:nvPr/>
          </p:nvSpPr>
          <p:spPr>
            <a:xfrm>
              <a:off x="595122" y="4775200"/>
              <a:ext cx="5037439" cy="1052703"/>
            </a:xfrm>
            <a:prstGeom prst="rect">
              <a:avLst/>
            </a:prstGeom>
            <a:noFill/>
            <a:ln>
              <a:noFill/>
            </a:ln>
          </p:spPr>
          <p:txBody>
            <a:bodyPr wrap="none" lIns="0" tIns="0" rIns="0" bIns="0" anchor="t" anchorCtr="0">
              <a:spAutoFit/>
            </a:bodyPr>
            <a:lstStyle/>
            <a:p>
              <a:pPr algn="l">
                <a:lnSpc>
                  <a:spcPts val="3900"/>
                </a:lnSpc>
              </a:pPr>
              <a:r>
                <a:rPr lang="ko-KR" sz="2850" b="1" dirty="0">
                  <a:solidFill>
                    <a:srgbClr val="FFFFFF"/>
                  </a:solidFill>
                  <a:latin typeface="+mn-lt"/>
                  <a:ea typeface="+mn-ea"/>
                  <a:cs typeface="+mn-cs"/>
                </a:rPr>
                <a:t>한 번의 조기 발견이,</a:t>
              </a:r>
              <a:br>
                <a:rPr lang="ko-KR" sz="2850" b="1" dirty="0">
                  <a:solidFill>
                    <a:srgbClr val="FFFFFF"/>
                  </a:solidFill>
                  <a:latin typeface="+mn-lt"/>
                  <a:ea typeface="+mn-ea"/>
                  <a:cs typeface="+mn-cs"/>
                </a:rPr>
              </a:br>
              <a:r>
                <a:rPr lang="ko-KR" sz="2850" b="1" dirty="0">
                  <a:solidFill>
                    <a:srgbClr val="FFFFFF"/>
                  </a:solidFill>
                  <a:latin typeface="+mn-lt"/>
                  <a:ea typeface="+mn-ea"/>
                  <a:cs typeface="+mn-cs"/>
                </a:rPr>
                <a:t>한 사람의 무사 귀가가 되도록.</a:t>
              </a:r>
            </a:p>
          </p:txBody>
        </p:sp>
      </p:grpSp>
      <p:grpSp>
        <p:nvGrpSpPr>
          <p:cNvPr id="21" name="footer"/>
          <p:cNvGrpSpPr/>
          <p:nvPr/>
        </p:nvGrpSpPr>
        <p:grpSpPr>
          <a:xfrm>
            <a:off x="604266" y="6413500"/>
            <a:ext cx="11135487" cy="369443"/>
            <a:chOff x="604266" y="6413500"/>
            <a:chExt cx="11135487" cy="369443"/>
          </a:xfrm>
        </p:grpSpPr>
        <p:sp>
          <p:nvSpPr>
            <p:cNvPr id="18" name="TextBox 18"/>
            <p:cNvSpPr txBox="1"/>
            <p:nvPr/>
          </p:nvSpPr>
          <p:spPr>
            <a:xfrm>
              <a:off x="604266" y="6540500"/>
              <a:ext cx="2167044" cy="205359"/>
            </a:xfrm>
            <a:prstGeom prst="rect">
              <a:avLst/>
            </a:prstGeom>
            <a:noFill/>
            <a:ln>
              <a:noFill/>
            </a:ln>
          </p:spPr>
          <p:txBody>
            <a:bodyPr wrap="none" lIns="0" tIns="0" rIns="0" bIns="0" anchor="t" anchorCtr="0">
              <a:spAutoFit/>
            </a:bodyPr>
            <a:lstStyle/>
            <a:p>
              <a:pPr algn="l"/>
              <a:r>
                <a:rPr lang="ko-KR" sz="1050" b="1" dirty="0">
                  <a:solidFill>
                    <a:srgbClr val="F5B700"/>
                  </a:solidFill>
                  <a:latin typeface="+mn-lt"/>
                  <a:ea typeface="+mn-ea"/>
                  <a:cs typeface="+mn-cs"/>
                </a:rPr>
                <a:t>TEAM 한 명이라도 살릴 수 있다면</a:t>
              </a:r>
            </a:p>
          </p:txBody>
        </p:sp>
        <p:sp>
          <p:nvSpPr>
            <p:cNvPr id="19" name="TextBox 19"/>
            <p:cNvSpPr txBox="1"/>
            <p:nvPr/>
          </p:nvSpPr>
          <p:spPr>
            <a:xfrm>
              <a:off x="9504226" y="6413500"/>
              <a:ext cx="2235337" cy="161925"/>
            </a:xfrm>
            <a:prstGeom prst="rect">
              <a:avLst/>
            </a:prstGeom>
            <a:noFill/>
            <a:ln>
              <a:noFill/>
            </a:ln>
          </p:spPr>
          <p:txBody>
            <a:bodyPr wrap="none" lIns="0" tIns="0" rIns="0" bIns="0" anchor="t" anchorCtr="0">
              <a:spAutoFit/>
            </a:bodyPr>
            <a:lstStyle/>
            <a:p>
              <a:pPr algn="r"/>
              <a:r>
                <a:rPr lang="ko-KR" sz="820" dirty="0">
                  <a:solidFill>
                    <a:srgbClr val="D6DDE8"/>
                  </a:solidFill>
                  <a:latin typeface="+mn-lt"/>
                  <a:ea typeface="+mn-ea"/>
                  <a:cs typeface="+mn-cs"/>
                </a:rPr>
                <a:t>사진: Alexander Migl, CC BY-SA 4.0(편집)</a:t>
              </a:r>
            </a:p>
          </p:txBody>
        </p:sp>
        <p:sp>
          <p:nvSpPr>
            <p:cNvPr id="20" name="TextBox 20"/>
            <p:cNvSpPr txBox="1"/>
            <p:nvPr/>
          </p:nvSpPr>
          <p:spPr>
            <a:xfrm>
              <a:off x="11265792" y="6591300"/>
              <a:ext cx="473961" cy="191643"/>
            </a:xfrm>
            <a:prstGeom prst="rect">
              <a:avLst/>
            </a:prstGeom>
            <a:noFill/>
            <a:ln>
              <a:noFill/>
            </a:ln>
          </p:spPr>
          <p:txBody>
            <a:bodyPr wrap="none" lIns="0" tIns="0" rIns="0" bIns="0" anchor="t" anchorCtr="0">
              <a:spAutoFit/>
            </a:bodyPr>
            <a:lstStyle/>
            <a:p>
              <a:pPr algn="r"/>
              <a:r>
                <a:rPr lang="ko-KR" sz="980" b="1" dirty="0">
                  <a:solidFill>
                    <a:srgbClr val="F5B700"/>
                  </a:solidFill>
                  <a:latin typeface="+mn-lt"/>
                  <a:ea typeface="+mn-ea"/>
                  <a:cs typeface="+mn-cs"/>
                </a:rPr>
                <a:t>15 / 15</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_v5">
  <a:themeElements>
    <a:clrScheme name="deck_v5">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eck_v5">
      <a:majorFont>
        <a:latin typeface="Pretendard"/>
        <a:ea typeface="Pretendard"/>
        <a:cs typeface="Pretendard"/>
        <a:font script="Jpan" typeface="Pretendard"/>
        <a:font script="Hang" typeface="Pretendard"/>
        <a:font script="Hans" typeface="Pretendard"/>
        <a:font script="Hant" typeface="Pretendard"/>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retendard"/>
        <a:ea typeface="Pretendard"/>
        <a:cs typeface="Pretendard"/>
        <a:font script="Jpan" typeface="Pretendard"/>
        <a:font script="Hang" typeface="Pretendard"/>
        <a:font script="Hans" typeface="Pretendard"/>
        <a:font script="Hant" typeface="Pretendard"/>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_v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deck_v5">
  <a:themeElements>
    <a:clrScheme name="deck_v5">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eck_v5">
      <a:majorFont>
        <a:latin typeface="Pretendard"/>
        <a:ea typeface="Pretendard"/>
        <a:cs typeface="Pretendard"/>
        <a:font script="Jpan" typeface="Pretendard"/>
        <a:font script="Hang" typeface="Pretendard"/>
        <a:font script="Hans" typeface="Pretendard"/>
        <a:font script="Hant" typeface="Pretendard"/>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retendard"/>
        <a:ea typeface="Pretendard"/>
        <a:cs typeface="Pretendard"/>
        <a:font script="Jpan" typeface="Pretendard"/>
        <a:font script="Hang" typeface="Pretendard"/>
        <a:font script="Hans" typeface="Pretendard"/>
        <a:font script="Hant" typeface="Pretendard"/>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_v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ko-KR</dc:language>
  <cp:lastModifiedBy/>
  <cp:revision>1</cp:revision>
  <dcterms:created xsi:type="dcterms:W3CDTF">2026-10-22T12:55:49Z</dcterms:created>
  <dcterms:modified xsi:type="dcterms:W3CDTF">2026-10-22T12:55:49Z</dcterms:modified>
  <cp:category/>
  <cp:contentStatus/>
</cp:coreProperties>
</file>