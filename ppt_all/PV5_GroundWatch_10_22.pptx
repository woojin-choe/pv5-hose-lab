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  <Relationship Id="rId19"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저희 팀 이름은 한 명이라도 살릴 수 있다면입니다. 같은 길을 반복해서 보고, 구멍이 되기 전의 변화를 찾는 것이 이 제안의 전부입니다. 표지는 새벽 서울 도로를 순찰하는 PV5와 도로 아래 GPR 탐사를 표현한 연출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지도는 OpenStreetMap이며 정확한 지점이 보도되지 않아 성산로 연희동 구간으로 표시했습니다.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줄였습니다(이투데이 2025.4.23). 그래도 연희동은 탐사에서 함몰까지 약 3.5개월이었습니다. 일본 국토교통성 위탁연구(도쿄대 桑野玲子 교수 대표, 지오서치 참여, 2018~2020)는 실제 도로 모니터링에서 지하 1.64m 합류식 하수관(Φ800) 위 공동이 급격히 자란 것을 확인했고, 토사 유출 조건이 갖춰지면 종래 생각보다 단기간에 공동이 성장할 가능성을 보고했습니다(https://www.mlit.go.jp/road/tech/hyouka/r1/30-5_gaiyou.pdf). 그래서 맹점은 탐사 자체가 아니라 탐사와 탐사 사이입니다.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반복 주행하며 GPR과 카메라 데이터를 함께 모으고, 위치·깊이·시간 기준으로 4D 지도에 저장합니다. AI가 이전 회차와 달라진 곳을 고르면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B-scan 비교 화면은 설명용 예시입니다.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도로 장면은 연출 이미지이고 화면 수치는 예시이며, 실내 사진은 Alexander Migl(CC BY-SA 4.0)에 화면을 합성했습니다.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600kg입니다(기아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최대 적재 600kg의 절반,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국내 특장 파트너 10개사, 3D CAD와 기술 가이드를 주는 PBV 컨버전 포털, 12V 전력 연결 블록과 PIM을 기본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시장은 지자체가 관리하는 도로 96,712km(전국 116,775km의 83%, e-나라지표 2025.12)와 226개 시·군·구입니다. 정부 지반탐사는 2024년 2,308km에서 2026년 11,380km로 약 5배 늘고 2028년 15,000km가 계획돼 있으며(머니투데이 2025.12.23), 2026년 국비는 국토안전관리원 GPR 13대→32대 87억 원과 지자체 지원 44억 원입니다(뉴스서울 2025.12.3). 차량 1대의 연간 비용은 가설로, PV5 4,520만 원과 차량형 GPR 2억~5억 원(경기도청 인용 대당 2억~8억, 서울시 3대 15억 원)을 5년 감가하고 2인 1조 인건비 1억 원, 수동 GPR·AR·분석·유지 0.3억 원을 더해 약 1.8~2.4억 원입니다. 수입 근거는 자치구 연간 GPR 용역 발주 규모 1.6억~2.2억 원(강동구·도봉구 2026)이므로, 차량 1대가 자치구 2곳을 맡으면 약 3.2~4.3억 원으로 비용을 넘고 3곳이면 4.8~6.5억 원입니다. 하루 30km, 연 220일이면 6,600km라 서울 자치구 평균 도로(약 334km) 3곳, 약 1,000km를 연 6회 반복할 수 있습니다. 기아에는 장비 포함 대당 2억 원 이상의 고부가 컨버전 PV5와 공공 반복 수요, Pleos 공공 업무 앱 레퍼런스가 생깁니다. 인건비·유지비·주행 가정은 파일럿에서 확정합니다.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보령 4,558만 원, 안양 8,522만 원, 용인 기흥구 1억 7,736만 원에 낙찰됐습니다(나라장터 개찰 결과, 2026.5~6). 경기도는 2025년 9월 16개 시·군 1,080km 탐사를 21.6억 원(국비·도비·시군비)으로 지원했는데, 장비를 사지 않고 용역으로 수행합니다(헤럴드경제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서울 자치구로, 2026년 강동구 노면하부공동탐사 연간단가 용역의 배정예산이 1.6억 원, 도봉구 GPR 정기점검 용역 공고 금액이 2억 1,604만 원입니다(나라장터, 산군 재게시). 첫 계약은 기존 GPR 조사기관과 공동 수행하고, 가격은 첫 해 기존 용역 단가 수준에서 시작하고, 연간 관제는 관리 구간 km와 재확인 건수 기준으로 산정합니다(가설). 지하정보는 제3자에게 판매하지 않습니다.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한 번 찍고 끝나는 탐사를 같은 길의 변화를 보는 탐사로, 사람이 다시 찾아야 하는 의심 지점을 현장에서 바로 확인하는 재탐사로, 장비를 실은 차를 복제 가능한 PV5 탐사실로 바꿉니다. 한 번의 조기 발견이 한 사람의 무사 귀가가 되도록, PV5 GroundWatch를 제안합니다. 감사합니다. 사진은 Alexander Migl(CC BY-SA 4.0)의 PV5 실차 사진을 편집했습니다.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2c16b89a98ad91c5.png"/>
  <Relationship Id="rId3" Type="http://schemas.openxmlformats.org/officeDocument/2006/relationships/image" Target="../media/image_0ba21e85bd198504.png"/>
  <Relationship Id="rId4"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5692c53d38fa013.pn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9244a9ee8f3b83d.jpg"/>
  <Relationship Id="rId3" Type="http://schemas.openxmlformats.org/officeDocument/2006/relationships/notesSlide" Target="../notesSlides/notesSlide12.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3"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5" name="cover-kicker"/>
          <p:cNvGrpSpPr/>
          <p:nvPr/>
        </p:nvGrpSpPr>
        <p:grpSpPr>
          <a:xfrm>
            <a:off x="603123" y="1924050"/>
            <a:ext cx="3498208" cy="250317"/>
            <a:chOff x="603123" y="1924050"/>
            <a:chExt cx="3498208" cy="250317"/>
          </a:xfrm>
        </p:grpSpPr>
        <p:sp>
          <p:nvSpPr>
            <p:cNvPr id="4" name="TextBox 4"/>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8" name="cover-title"/>
          <p:cNvGrpSpPr/>
          <p:nvPr/>
        </p:nvGrpSpPr>
        <p:grpSpPr>
          <a:xfrm>
            <a:off x="590550" y="2254250"/>
            <a:ext cx="3634424" cy="1600200"/>
            <a:chOff x="590550" y="2254250"/>
            <a:chExt cx="3634424" cy="1600200"/>
          </a:xfrm>
        </p:grpSpPr>
        <p:sp>
          <p:nvSpPr>
            <p:cNvPr id="6" name="TextBox 6"/>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7" name="TextBox 7"/>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0" name="cover-subtitle"/>
          <p:cNvGrpSpPr/>
          <p:nvPr/>
        </p:nvGrpSpPr>
        <p:grpSpPr>
          <a:xfrm>
            <a:off x="598170" y="3797300"/>
            <a:ext cx="2893819" cy="440055"/>
            <a:chOff x="598170" y="3797300"/>
            <a:chExt cx="2893819" cy="440055"/>
          </a:xfrm>
        </p:grpSpPr>
        <p:sp>
          <p:nvSpPr>
            <p:cNvPr id="9" name="TextBox 9"/>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3" name="cover-tagline"/>
          <p:cNvGrpSpPr/>
          <p:nvPr/>
        </p:nvGrpSpPr>
        <p:grpSpPr>
          <a:xfrm>
            <a:off x="601599" y="4381500"/>
            <a:ext cx="3176397" cy="785241"/>
            <a:chOff x="601599" y="4381500"/>
            <a:chExt cx="3176397" cy="785241"/>
          </a:xfrm>
        </p:grpSpPr>
        <p:sp>
          <p:nvSpPr>
            <p:cNvPr id="11" name="Rectangle 11"/>
            <p:cNvSpPr/>
            <p:nvPr/>
          </p:nvSpPr>
          <p:spPr>
            <a:xfrm>
              <a:off x="609600" y="4381500"/>
              <a:ext cx="457200" cy="28575"/>
            </a:xfrm>
            <a:prstGeom prst="rect">
              <a:avLst/>
            </a:prstGeom>
            <a:solidFill>
              <a:srgbClr val="F5B700"/>
            </a:solidFill>
            <a:ln>
              <a:noFill/>
            </a:ln>
          </p:spPr>
        </p:sp>
        <p:sp>
          <p:nvSpPr>
            <p:cNvPr id="12" name="TextBox 12"/>
            <p:cNvSpPr txBox="1"/>
            <p:nvPr/>
          </p:nvSpPr>
          <p:spPr>
            <a:xfrm>
              <a:off x="601599" y="4552950"/>
              <a:ext cx="3176397"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6" name="cover-team"/>
          <p:cNvGrpSpPr/>
          <p:nvPr/>
        </p:nvGrpSpPr>
        <p:grpSpPr>
          <a:xfrm>
            <a:off x="601218" y="5797550"/>
            <a:ext cx="2739992" cy="570357"/>
            <a:chOff x="601218" y="5797550"/>
            <a:chExt cx="2739992" cy="570357"/>
          </a:xfrm>
        </p:grpSpPr>
        <p:sp>
          <p:nvSpPr>
            <p:cNvPr id="14" name="TextBox 14"/>
            <p:cNvSpPr txBox="1"/>
            <p:nvPr/>
          </p:nvSpPr>
          <p:spPr>
            <a:xfrm>
              <a:off x="604266" y="5797550"/>
              <a:ext cx="387035" cy="205359"/>
            </a:xfrm>
            <a:prstGeom prst="rect">
              <a:avLst/>
            </a:prstGeom>
            <a:noFill/>
            <a:ln>
              <a:noFill/>
            </a:ln>
          </p:spPr>
          <p:txBody>
            <a:bodyPr wrap="none" lIns="0" tIns="0" rIns="0" bIns="0" anchor="t" anchorCtr="0">
              <a:spAutoFit/>
            </a:bodyPr>
            <a:lstStyle/>
            <a:p>
              <a:pPr algn="l"/>
              <a:r>
                <a:rPr lang="en-US" sz="1050" b="1" dirty="0">
                  <a:solidFill>
                    <a:srgbClr val="F5B700"/>
                  </a:solidFill>
                  <a:latin typeface="+mn-lt"/>
                  <a:ea typeface="+mn-ea"/>
                  <a:cs typeface="+mn-cs"/>
                </a:rPr>
                <a:t>TEAM</a:t>
              </a:r>
            </a:p>
          </p:txBody>
        </p:sp>
        <p:sp>
          <p:nvSpPr>
            <p:cNvPr id="15" name="TextBox 15"/>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18" name="cover-date"/>
          <p:cNvGrpSpPr/>
          <p:nvPr/>
        </p:nvGrpSpPr>
        <p:grpSpPr>
          <a:xfrm>
            <a:off x="11182347" y="6477000"/>
            <a:ext cx="557406" cy="191643"/>
            <a:chOff x="11182347" y="6477000"/>
            <a:chExt cx="557406" cy="191643"/>
          </a:xfrm>
        </p:grpSpPr>
        <p:sp>
          <p:nvSpPr>
            <p:cNvPr id="17" name="TextBox 17"/>
            <p:cNvSpPr txBox="1"/>
            <p:nvPr/>
          </p:nvSpPr>
          <p:spPr>
            <a:xfrm>
              <a:off x="11182347" y="6477000"/>
              <a:ext cx="557406"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2026. 10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24" name="incident-map"/>
          <p:cNvGrpSpPr/>
          <p:nvPr/>
        </p:nvGrpSpPr>
        <p:grpSpPr>
          <a:xfrm>
            <a:off x="6477000" y="0"/>
            <a:ext cx="5715000" cy="6858000"/>
            <a:chOff x="6477000" y="0"/>
            <a:chExt cx="5715000" cy="6858000"/>
          </a:xfrm>
        </p:grpSpPr>
        <p:pic>
          <p:nvPicPr>
            <p:cNvPr id="17" name="Image 1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18" name="Rectangle 1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19" name="Rectangle 19"/>
            <p:cNvSpPr/>
            <p:nvPr/>
          </p:nvSpPr>
          <p:spPr>
            <a:xfrm>
              <a:off x="6667500" y="1428750"/>
              <a:ext cx="2152650" cy="533400"/>
            </a:xfrm>
            <a:prstGeom prst="roundRect">
              <a:avLst>
                <a:gd name="adj" fmla="val 7143"/>
              </a:avLst>
            </a:prstGeom>
            <a:solidFill>
              <a:srgbClr val="0B1E3C">
                <a:alpha val="92000"/>
              </a:srgbClr>
            </a:solidFill>
            <a:ln>
              <a:noFill/>
            </a:ln>
          </p:spPr>
        </p:sp>
        <p:sp>
          <p:nvSpPr>
            <p:cNvPr id="20" name="TextBox 20"/>
            <p:cNvSpPr txBox="1"/>
            <p:nvPr/>
          </p:nvSpPr>
          <p:spPr>
            <a:xfrm>
              <a:off x="6794754" y="1504950"/>
              <a:ext cx="1701538"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 8. 29 사고 구간</a:t>
              </a:r>
            </a:p>
          </p:txBody>
        </p:sp>
        <p:sp>
          <p:nvSpPr>
            <p:cNvPr id="21" name="TextBox 21"/>
            <p:cNvSpPr txBox="1"/>
            <p:nvPr/>
          </p:nvSpPr>
          <p:spPr>
            <a:xfrm>
              <a:off x="6795516" y="1730375"/>
              <a:ext cx="1508989"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서대문구 연희동 성산로</a:t>
              </a:r>
            </a:p>
          </p:txBody>
        </p:sp>
        <p:sp>
          <p:nvSpPr>
            <p:cNvPr id="22" name="TextBox 2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23" name="TextBox 23"/>
            <p:cNvSpPr txBox="1"/>
            <p:nvPr/>
          </p:nvSpPr>
          <p:spPr>
            <a:xfrm>
              <a:off x="6777038" y="6457950"/>
              <a:ext cx="462710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정확한 지점은 보도되지 않아 구간으로 표시</a:t>
              </a:r>
            </a:p>
          </p:txBody>
        </p:sp>
      </p:grpSp>
      <p:grpSp>
        <p:nvGrpSpPr>
          <p:cNvPr id="26" name="kicker"/>
          <p:cNvGrpSpPr/>
          <p:nvPr/>
        </p:nvGrpSpPr>
        <p:grpSpPr>
          <a:xfrm>
            <a:off x="526542" y="1301750"/>
            <a:ext cx="3042363" cy="264033"/>
            <a:chOff x="526542" y="1301750"/>
            <a:chExt cx="3042363" cy="264033"/>
          </a:xfrm>
        </p:grpSpPr>
        <p:sp>
          <p:nvSpPr>
            <p:cNvPr id="25" name="TextBox 25"/>
            <p:cNvSpPr txBox="1"/>
            <p:nvPr/>
          </p:nvSpPr>
          <p:spPr>
            <a:xfrm>
              <a:off x="526542" y="1301750"/>
              <a:ext cx="3042363"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 8. 29 · 서울 서대문구 연희동</a:t>
              </a:r>
            </a:p>
          </p:txBody>
        </p:sp>
      </p:grpSp>
      <p:grpSp>
        <p:nvGrpSpPr>
          <p:cNvPr id="29" name="title"/>
          <p:cNvGrpSpPr/>
          <p:nvPr/>
        </p:nvGrpSpPr>
        <p:grpSpPr>
          <a:xfrm>
            <a:off x="516636" y="1708150"/>
            <a:ext cx="6062132" cy="1216914"/>
            <a:chOff x="516636" y="1708150"/>
            <a:chExt cx="6062132" cy="1216914"/>
          </a:xfrm>
        </p:grpSpPr>
        <p:sp>
          <p:nvSpPr>
            <p:cNvPr id="27" name="TextBox 27"/>
            <p:cNvSpPr txBox="1"/>
            <p:nvPr/>
          </p:nvSpPr>
          <p:spPr>
            <a:xfrm>
              <a:off x="516636" y="1708150"/>
              <a:ext cx="3360553" cy="645414"/>
            </a:xfrm>
            <a:prstGeom prst="rect">
              <a:avLst/>
            </a:prstGeom>
            <a:noFill/>
            <a:ln>
              <a:noFill/>
            </a:ln>
          </p:spPr>
          <p:txBody>
            <a:bodyPr wrap="none" lIns="0" tIns="0" rIns="0" bIns="0" anchor="t" anchorCtr="0">
              <a:spAutoFit/>
            </a:bodyPr>
            <a:lstStyle/>
            <a:p>
              <a:pPr algn="l"/>
              <a:r>
                <a:rPr lang="ko-KR" sz="3300" b="1" spc="-112" dirty="0">
                  <a:solidFill>
                    <a:srgbClr val="0B1E3C"/>
                  </a:solidFill>
                  <a:latin typeface="+mn-lt"/>
                  <a:ea typeface="+mn-ea"/>
                  <a:cs typeface="+mn-cs"/>
                </a:rPr>
                <a:t>‘이상 없음’ 판정</a:t>
              </a:r>
            </a:p>
          </p:txBody>
        </p:sp>
        <p:sp>
          <p:nvSpPr>
            <p:cNvPr id="28" name="TextBox 28"/>
            <p:cNvSpPr txBox="1"/>
            <p:nvPr/>
          </p:nvSpPr>
          <p:spPr>
            <a:xfrm>
              <a:off x="516636" y="2279650"/>
              <a:ext cx="6062132" cy="645414"/>
            </a:xfrm>
            <a:prstGeom prst="rect">
              <a:avLst/>
            </a:prstGeom>
            <a:noFill/>
            <a:ln>
              <a:noFill/>
            </a:ln>
          </p:spPr>
          <p:txBody>
            <a:bodyPr wrap="none" lIns="0" tIns="0" rIns="0" bIns="0" anchor="t" anchorCtr="0">
              <a:spAutoFit/>
            </a:bodyPr>
            <a:lstStyle/>
            <a:p>
              <a:pPr algn="l"/>
              <a:r>
                <a:rPr lang="ko-KR" sz="3300" b="1" spc="-112" dirty="0">
                  <a:solidFill>
                    <a:srgbClr val="C62828"/>
                  </a:solidFill>
                  <a:latin typeface="+mn-lt"/>
                  <a:ea typeface="+mn-ea"/>
                  <a:cs typeface="+mn-cs"/>
                </a:rPr>
                <a:t>3개월 뒤, 도로가 무너졌습니다</a:t>
              </a:r>
            </a:p>
          </p:txBody>
        </p:sp>
      </p:grpSp>
      <p:grpSp>
        <p:nvGrpSpPr>
          <p:cNvPr id="39" name="timeline"/>
          <p:cNvGrpSpPr/>
          <p:nvPr/>
        </p:nvGrpSpPr>
        <p:grpSpPr>
          <a:xfrm>
            <a:off x="717804" y="3314700"/>
            <a:ext cx="5346192" cy="996696"/>
            <a:chOff x="717804" y="3314700"/>
            <a:chExt cx="5346192" cy="996696"/>
          </a:xfrm>
        </p:grpSpPr>
        <p:sp>
          <p:nvSpPr>
            <p:cNvPr id="30" name="Line 30"/>
            <p:cNvSpPr/>
            <p:nvPr/>
          </p:nvSpPr>
          <p:spPr>
            <a:xfrm>
              <a:off x="723900" y="3848100"/>
              <a:ext cx="5334000" cy="9525"/>
            </a:xfrm>
            <a:custGeom>
              <a:avLst/>
              <a:gdLst/>
              <a:ahLst/>
              <a:cxnLst/>
              <a:rect l="l" t="t" r="r" b="b"/>
              <a:pathLst>
                <a:path w="5334000" h="9525">
                  <a:moveTo>
                    <a:pt x="0" y="0"/>
                  </a:moveTo>
                  <a:lnTo>
                    <a:pt x="5334000" y="0"/>
                  </a:lnTo>
                </a:path>
              </a:pathLst>
            </a:custGeom>
            <a:noFill/>
            <a:ln w="28575">
              <a:solidFill>
                <a:srgbClr val="C3CCD9"/>
              </a:solidFill>
            </a:ln>
          </p:spPr>
        </p:sp>
        <p:sp>
          <p:nvSpPr>
            <p:cNvPr id="31" name="Rectangle 31"/>
            <p:cNvSpPr/>
            <p:nvPr/>
          </p:nvSpPr>
          <p:spPr>
            <a:xfrm>
              <a:off x="723900" y="3790950"/>
              <a:ext cx="5334000" cy="114300"/>
            </a:xfrm>
            <a:prstGeom prst="rect">
              <a:avLst/>
            </a:prstGeom>
            <a:solidFill>
              <a:srgbClr val="F5B700">
                <a:alpha val="25000"/>
              </a:srgbClr>
            </a:solidFill>
            <a:ln>
              <a:noFill/>
            </a:ln>
          </p:spPr>
        </p:sp>
        <p:sp>
          <p:nvSpPr>
            <p:cNvPr id="32" name="Ellipse 32"/>
            <p:cNvSpPr/>
            <p:nvPr/>
          </p:nvSpPr>
          <p:spPr>
            <a:xfrm>
              <a:off x="809625" y="3743325"/>
              <a:ext cx="209550" cy="209550"/>
            </a:xfrm>
            <a:prstGeom prst="ellipse">
              <a:avLst/>
            </a:prstGeom>
            <a:solidFill>
              <a:srgbClr val="0B1E3C"/>
            </a:solidFill>
            <a:ln>
              <a:noFill/>
            </a:ln>
          </p:spPr>
        </p:sp>
        <p:sp>
          <p:nvSpPr>
            <p:cNvPr id="33" name="TextBox 33"/>
            <p:cNvSpPr txBox="1"/>
            <p:nvPr/>
          </p:nvSpPr>
          <p:spPr>
            <a:xfrm>
              <a:off x="717804" y="3314700"/>
              <a:ext cx="1140173"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 5. 7~16</a:t>
              </a:r>
            </a:p>
          </p:txBody>
        </p:sp>
        <p:sp>
          <p:nvSpPr>
            <p:cNvPr id="34" name="TextBox 34"/>
            <p:cNvSpPr txBox="1"/>
            <p:nvPr/>
          </p:nvSpPr>
          <p:spPr>
            <a:xfrm>
              <a:off x="718185" y="353695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35" name="Ellipse 35"/>
            <p:cNvSpPr/>
            <p:nvPr/>
          </p:nvSpPr>
          <p:spPr>
            <a:xfrm>
              <a:off x="5715000" y="3695700"/>
              <a:ext cx="304800" cy="304800"/>
            </a:xfrm>
            <a:prstGeom prst="ellipse">
              <a:avLst/>
            </a:prstGeom>
            <a:solidFill>
              <a:srgbClr val="C62828"/>
            </a:solidFill>
            <a:ln>
              <a:noFill/>
            </a:ln>
          </p:spPr>
        </p:sp>
        <p:sp>
          <p:nvSpPr>
            <p:cNvPr id="36" name="TextBox 36"/>
            <p:cNvSpPr txBox="1"/>
            <p:nvPr/>
          </p:nvSpPr>
          <p:spPr>
            <a:xfrm>
              <a:off x="5110406" y="3314700"/>
              <a:ext cx="953590"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2024. 8. 29</a:t>
              </a:r>
            </a:p>
          </p:txBody>
        </p:sp>
        <p:sp>
          <p:nvSpPr>
            <p:cNvPr id="37" name="TextBox 37"/>
            <p:cNvSpPr txBox="1"/>
            <p:nvPr/>
          </p:nvSpPr>
          <p:spPr>
            <a:xfrm>
              <a:off x="5403855" y="353695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38" name="TextBox 38"/>
            <p:cNvSpPr txBox="1"/>
            <p:nvPr/>
          </p:nvSpPr>
          <p:spPr>
            <a:xfrm>
              <a:off x="1890522" y="4076700"/>
              <a:ext cx="300075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이 사이의 변화는 아무도 보지 못했습니다</a:t>
              </a:r>
            </a:p>
          </p:txBody>
        </p:sp>
      </p:grpSp>
      <p:grpSp>
        <p:nvGrpSpPr>
          <p:cNvPr id="47" name="facts"/>
          <p:cNvGrpSpPr/>
          <p:nvPr/>
        </p:nvGrpSpPr>
        <p:grpSpPr>
          <a:xfrm>
            <a:off x="518160" y="4686300"/>
            <a:ext cx="5539740" cy="880428"/>
            <a:chOff x="518160" y="4686300"/>
            <a:chExt cx="5539740" cy="880428"/>
          </a:xfrm>
        </p:grpSpPr>
        <p:sp>
          <p:nvSpPr>
            <p:cNvPr id="40" name="Line 4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41" name="TextBox 4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42" name="TextBox 4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43" name="TextBox 4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44" name="TextBox 44"/>
            <p:cNvSpPr txBox="1"/>
            <p:nvPr/>
          </p:nvSpPr>
          <p:spPr>
            <a:xfrm>
              <a:off x="2375535" y="5346700"/>
              <a:ext cx="113469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깊이 · 얕은 함몰</a:t>
              </a:r>
            </a:p>
          </p:txBody>
        </p:sp>
        <p:sp>
          <p:nvSpPr>
            <p:cNvPr id="45" name="TextBox 4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46" name="TextBox 4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49" name="source"/>
          <p:cNvGrpSpPr/>
          <p:nvPr/>
        </p:nvGrpSpPr>
        <p:grpSpPr>
          <a:xfrm>
            <a:off x="528638" y="6096000"/>
            <a:ext cx="3444354" cy="176212"/>
            <a:chOff x="528638" y="6096000"/>
            <a:chExt cx="3444354" cy="176212"/>
          </a:xfrm>
        </p:grpSpPr>
        <p:sp>
          <p:nvSpPr>
            <p:cNvPr id="48" name="TextBox 4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52" name="footer"/>
          <p:cNvGrpSpPr/>
          <p:nvPr/>
        </p:nvGrpSpPr>
        <p:grpSpPr>
          <a:xfrm>
            <a:off x="528638" y="6610350"/>
            <a:ext cx="5534024" cy="176212"/>
            <a:chOff x="528638" y="6610350"/>
            <a:chExt cx="5534024" cy="176212"/>
          </a:xfrm>
        </p:grpSpPr>
        <p:sp>
          <p:nvSpPr>
            <p:cNvPr id="50" name="TextBox 50"/>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1" name="TextBox 5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12</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701800"/>
            <a:ext cx="6483858" cy="3162681"/>
            <a:chOff x="526542" y="1701800"/>
            <a:chExt cx="6483858" cy="3162681"/>
          </a:xfrm>
        </p:grpSpPr>
        <p:sp>
          <p:nvSpPr>
            <p:cNvPr id="19" name="TextBox 19"/>
            <p:cNvSpPr txBox="1"/>
            <p:nvPr/>
          </p:nvSpPr>
          <p:spPr>
            <a:xfrm>
              <a:off x="526542" y="1701800"/>
              <a:ext cx="2844270"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한 번 탐사한 도로를 다시 보기까지</a:t>
              </a:r>
            </a:p>
          </p:txBody>
        </p:sp>
        <p:sp>
          <p:nvSpPr>
            <p:cNvPr id="20" name="Line 20"/>
            <p:cNvSpPr/>
            <p:nvPr/>
          </p:nvSpPr>
          <p:spPr>
            <a:xfrm>
              <a:off x="533400" y="2000250"/>
              <a:ext cx="6477000" cy="9525"/>
            </a:xfrm>
            <a:custGeom>
              <a:avLst/>
              <a:gdLst/>
              <a:ahLst/>
              <a:cxnLst/>
              <a:rect l="l" t="t" r="r" b="b"/>
              <a:pathLst>
                <a:path w="6477000" h="9525">
                  <a:moveTo>
                    <a:pt x="0" y="0"/>
                  </a:moveTo>
                  <a:lnTo>
                    <a:pt x="6477000" y="0"/>
                  </a:lnTo>
                </a:path>
              </a:pathLst>
            </a:custGeom>
            <a:noFill/>
            <a:ln w="14288">
              <a:solidFill>
                <a:srgbClr val="0B1E3C"/>
              </a:solidFill>
            </a:ln>
          </p:spPr>
        </p:sp>
        <p:sp>
          <p:nvSpPr>
            <p:cNvPr id="21" name="TextBox 21"/>
            <p:cNvSpPr txBox="1"/>
            <p:nvPr/>
          </p:nvSpPr>
          <p:spPr>
            <a:xfrm>
              <a:off x="526542" y="2273300"/>
              <a:ext cx="1994649"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법이 정한 공동조사 주기</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3076052"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줄인 정기점검 주기 </a:t>
              </a:r>
              <a:r>
                <a:rPr lang="ko-KR" sz="1120" dirty="0">
                  <a:solidFill>
                    <a:srgbClr val="374151"/>
                  </a:solidFill>
                  <a:latin typeface="+mn-lt"/>
                  <a:ea typeface="+mn-ea"/>
                  <a:cs typeface="+mn-cs"/>
                </a:rPr>
                <a:t>(2025.4)</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344826"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약 3.5개월</a:t>
              </a:r>
            </a:p>
          </p:txBody>
        </p:sp>
      </p:grpSp>
      <p:grpSp>
        <p:nvGrpSpPr>
          <p:cNvPr id="41" name="evidence"/>
          <p:cNvGrpSpPr/>
          <p:nvPr/>
        </p:nvGrpSpPr>
        <p:grpSpPr>
          <a:xfrm>
            <a:off x="7457694" y="1600200"/>
            <a:ext cx="4200906" cy="2882646"/>
            <a:chOff x="7457694" y="1600200"/>
            <a:chExt cx="4200906" cy="2882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166165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 사이 공동은 자랍니다</a:t>
              </a:r>
            </a:p>
          </p:txBody>
        </p:sp>
        <p:sp>
          <p:nvSpPr>
            <p:cNvPr id="33" name="TextBox 33"/>
            <p:cNvSpPr txBox="1"/>
            <p:nvPr/>
          </p:nvSpPr>
          <p:spPr>
            <a:xfrm>
              <a:off x="7457694" y="2139950"/>
              <a:ext cx="235417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“예상보다 단기간에</a:t>
              </a:r>
            </a:p>
          </p:txBody>
        </p:sp>
        <p:sp>
          <p:nvSpPr>
            <p:cNvPr id="34" name="TextBox 34"/>
            <p:cNvSpPr txBox="1"/>
            <p:nvPr/>
          </p:nvSpPr>
          <p:spPr>
            <a:xfrm>
              <a:off x="7457694" y="2482850"/>
              <a:ext cx="278206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공동이 성장할 수 있다”</a:t>
              </a:r>
            </a:p>
          </p:txBody>
        </p:sp>
        <p:sp>
          <p:nvSpPr>
            <p:cNvPr id="35" name="TextBox 35"/>
            <p:cNvSpPr txBox="1"/>
            <p:nvPr/>
          </p:nvSpPr>
          <p:spPr>
            <a:xfrm>
              <a:off x="7461504" y="2990850"/>
              <a:ext cx="188610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일본 국토교통성 위탁연구</a:t>
              </a:r>
            </a:p>
          </p:txBody>
        </p:sp>
        <p:sp>
          <p:nvSpPr>
            <p:cNvPr id="36" name="TextBox 36"/>
            <p:cNvSpPr txBox="1"/>
            <p:nvPr/>
          </p:nvSpPr>
          <p:spPr>
            <a:xfrm>
              <a:off x="7461504" y="3200400"/>
              <a:ext cx="2346503"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(도쿄대·지오서치, 2018~2020)</a:t>
              </a:r>
            </a:p>
          </p:txBody>
        </p:sp>
        <p:sp>
          <p:nvSpPr>
            <p:cNvPr id="37" name="Line 37"/>
            <p:cNvSpPr/>
            <p:nvPr/>
          </p:nvSpPr>
          <p:spPr>
            <a:xfrm>
              <a:off x="7467600" y="36195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8" name="TextBox 38"/>
            <p:cNvSpPr txBox="1"/>
            <p:nvPr/>
          </p:nvSpPr>
          <p:spPr>
            <a:xfrm>
              <a:off x="7461504" y="3790950"/>
              <a:ext cx="225765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도로를 반복 모니터링하자</a:t>
              </a:r>
            </a:p>
          </p:txBody>
        </p:sp>
        <p:sp>
          <p:nvSpPr>
            <p:cNvPr id="39" name="TextBox 39"/>
            <p:cNvSpPr txBox="1"/>
            <p:nvPr/>
          </p:nvSpPr>
          <p:spPr>
            <a:xfrm>
              <a:off x="7461504" y="401955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지하 1.64m 하수관 위 공동이</a:t>
              </a:r>
            </a:p>
          </p:txBody>
        </p:sp>
        <p:sp>
          <p:nvSpPr>
            <p:cNvPr id="40" name="TextBox 40"/>
            <p:cNvSpPr txBox="1"/>
            <p:nvPr/>
          </p:nvSpPr>
          <p:spPr>
            <a:xfrm>
              <a:off x="7461504" y="4248150"/>
              <a:ext cx="234650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급격히 자란 것이 확인됐습니다.</a:t>
              </a:r>
            </a:p>
          </p:txBody>
        </p:sp>
      </p:grpSp>
      <p:grpSp>
        <p:nvGrpSpPr>
          <p:cNvPr id="44" name="conclusion"/>
          <p:cNvGrpSpPr/>
          <p:nvPr/>
        </p:nvGrpSpPr>
        <p:grpSpPr>
          <a:xfrm>
            <a:off x="533400" y="5391150"/>
            <a:ext cx="7169730" cy="419100"/>
            <a:chOff x="533400" y="5391150"/>
            <a:chExt cx="7169730" cy="419100"/>
          </a:xfrm>
        </p:grpSpPr>
        <p:sp>
          <p:nvSpPr>
            <p:cNvPr id="42" name="Rectangle 42"/>
            <p:cNvSpPr/>
            <p:nvPr/>
          </p:nvSpPr>
          <p:spPr>
            <a:xfrm>
              <a:off x="533400" y="5391150"/>
              <a:ext cx="38100" cy="419100"/>
            </a:xfrm>
            <a:prstGeom prst="rect">
              <a:avLst/>
            </a:prstGeom>
            <a:solidFill>
              <a:srgbClr val="F5B700"/>
            </a:solidFill>
            <a:ln>
              <a:noFill/>
            </a:ln>
          </p:spPr>
        </p:sp>
        <p:sp>
          <p:nvSpPr>
            <p:cNvPr id="43" name="TextBox 43"/>
            <p:cNvSpPr txBox="1"/>
            <p:nvPr/>
          </p:nvSpPr>
          <p:spPr>
            <a:xfrm>
              <a:off x="715899" y="548640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46" name="source"/>
          <p:cNvGrpSpPr/>
          <p:nvPr/>
        </p:nvGrpSpPr>
        <p:grpSpPr>
          <a:xfrm>
            <a:off x="528638" y="6381750"/>
            <a:ext cx="8430006" cy="176212"/>
            <a:chOff x="528638" y="6381750"/>
            <a:chExt cx="8430006" cy="176212"/>
          </a:xfrm>
        </p:grpSpPr>
        <p:sp>
          <p:nvSpPr>
            <p:cNvPr id="45" name="TextBox 45"/>
            <p:cNvSpPr txBox="1"/>
            <p:nvPr/>
          </p:nvSpPr>
          <p:spPr>
            <a:xfrm>
              <a:off x="528638" y="6381750"/>
              <a:ext cx="8430006"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지하안전법(지하시설물관리자 공동조사 5년 1회 이상) · 이투데이(2025.4.23) · 뉴시스(2024.8.30) · 일본 국토교통성 도로정책 연구 30-5(2021)</a:t>
              </a:r>
            </a:p>
          </p:txBody>
        </p:sp>
      </p:grpSp>
      <p:grpSp>
        <p:nvGrpSpPr>
          <p:cNvPr id="49" name="footer"/>
          <p:cNvGrpSpPr/>
          <p:nvPr/>
        </p:nvGrpSpPr>
        <p:grpSpPr>
          <a:xfrm>
            <a:off x="528638" y="6610350"/>
            <a:ext cx="11134724" cy="176212"/>
            <a:chOff x="528638" y="6610350"/>
            <a:chExt cx="11134724" cy="176212"/>
          </a:xfrm>
        </p:grpSpPr>
        <p:sp>
          <p:nvSpPr>
            <p:cNvPr id="47" name="TextBox 47"/>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8" name="TextBox 4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12</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414224" cy="586740"/>
            <a:chOff x="518160" y="774700"/>
            <a:chExt cx="9414224" cy="586740"/>
          </a:xfrm>
        </p:grpSpPr>
        <p:sp>
          <p:nvSpPr>
            <p:cNvPr id="17" name="TextBox 17"/>
            <p:cNvSpPr txBox="1"/>
            <p:nvPr/>
          </p:nvSpPr>
          <p:spPr>
            <a:xfrm>
              <a:off x="518160" y="774700"/>
              <a:ext cx="9414224"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그 사이 자라는 ‘얕은 공동’이 땅꺼짐 원인 1위입니다</a:t>
              </a:r>
            </a:p>
          </p:txBody>
        </p:sp>
      </p:grpSp>
      <p:grpSp>
        <p:nvGrpSpPr>
          <p:cNvPr id="27"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6" name="Group 26"/>
            <p:cNvGrpSpPr/>
            <p:nvPr/>
          </p:nvGrpSpPr>
          <p:grpSpPr>
            <a:xfrm>
              <a:off x="1085850" y="2038350"/>
              <a:ext cx="3962400" cy="1466850"/>
              <a:chOff x="1085850" y="2038350"/>
              <a:chExt cx="3962400" cy="14668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③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②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① 하수관 누수</a:t>
                </a:r>
              </a:p>
            </p:txBody>
          </p:sp>
        </p:grpSp>
      </p:grpSp>
      <p:grpSp>
        <p:nvGrpSpPr>
          <p:cNvPr id="31" name="stat"/>
          <p:cNvGrpSpPr/>
          <p:nvPr/>
        </p:nvGrpSpPr>
        <p:grpSpPr>
          <a:xfrm>
            <a:off x="7067550" y="1581150"/>
            <a:ext cx="3001099" cy="1472946"/>
            <a:chOff x="7067550" y="1581150"/>
            <a:chExt cx="3001099" cy="1472946"/>
          </a:xfrm>
        </p:grpSpPr>
        <p:sp>
          <p:nvSpPr>
            <p:cNvPr id="28" name="TextBox 28"/>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29" name="TextBox 29"/>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0" name="TextBox 30"/>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38" name="scope"/>
          <p:cNvGrpSpPr/>
          <p:nvPr/>
        </p:nvGrpSpPr>
        <p:grpSpPr>
          <a:xfrm>
            <a:off x="7079361" y="3238500"/>
            <a:ext cx="4579239" cy="1644396"/>
            <a:chOff x="7079361" y="3238500"/>
            <a:chExt cx="4579239" cy="1644396"/>
          </a:xfrm>
        </p:grpSpPr>
        <p:sp>
          <p:nvSpPr>
            <p:cNvPr id="32" name="Rectangle 32"/>
            <p:cNvSpPr/>
            <p:nvPr/>
          </p:nvSpPr>
          <p:spPr>
            <a:xfrm>
              <a:off x="7086600" y="3238500"/>
              <a:ext cx="4572000" cy="28575"/>
            </a:xfrm>
            <a:prstGeom prst="rect">
              <a:avLst/>
            </a:prstGeom>
            <a:solidFill>
              <a:srgbClr val="F5B700"/>
            </a:solidFill>
            <a:ln>
              <a:noFill/>
            </a:ln>
          </p:spPr>
        </p:sp>
        <p:sp>
          <p:nvSpPr>
            <p:cNvPr id="33" name="TextBox 33"/>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4" name="TextBox 34"/>
            <p:cNvSpPr txBox="1"/>
            <p:nvPr/>
          </p:nvSpPr>
          <p:spPr>
            <a:xfrm>
              <a:off x="7080504" y="3695700"/>
              <a:ext cx="343052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함몰 전에 GPR로 찾을 수 있음</a:t>
              </a:r>
            </a:p>
          </p:txBody>
        </p:sp>
        <p:sp>
          <p:nvSpPr>
            <p:cNvPr id="35" name="Rectangle 35"/>
            <p:cNvSpPr/>
            <p:nvPr/>
          </p:nvSpPr>
          <p:spPr>
            <a:xfrm>
              <a:off x="7086600" y="4191000"/>
              <a:ext cx="4572000" cy="28575"/>
            </a:xfrm>
            <a:prstGeom prst="rect">
              <a:avLst/>
            </a:prstGeom>
            <a:solidFill>
              <a:srgbClr val="C3CCD9"/>
            </a:solidFill>
            <a:ln>
              <a:noFill/>
            </a:ln>
          </p:spPr>
        </p:sp>
        <p:sp>
          <p:nvSpPr>
            <p:cNvPr id="36" name="TextBox 36"/>
            <p:cNvSpPr txBox="1"/>
            <p:nvPr/>
          </p:nvSpPr>
          <p:spPr>
            <a:xfrm>
              <a:off x="7079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예: 명일동 16m → 대상 아님</a:t>
              </a:r>
            </a:p>
          </p:txBody>
        </p:sp>
        <p:sp>
          <p:nvSpPr>
            <p:cNvPr id="37" name="TextBox 37"/>
            <p:cNvSpPr txBox="1"/>
            <p:nvPr/>
          </p:nvSpPr>
          <p:spPr>
            <a:xfrm>
              <a:off x="7080504" y="4648200"/>
              <a:ext cx="346115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깊은 지층·터널 공사 영역은 공사장 계측이 맡음</a:t>
              </a:r>
            </a:p>
          </p:txBody>
        </p:sp>
      </p:grpSp>
      <p:grpSp>
        <p:nvGrpSpPr>
          <p:cNvPr id="41" name="conclusion"/>
          <p:cNvGrpSpPr/>
          <p:nvPr/>
        </p:nvGrpSpPr>
        <p:grpSpPr>
          <a:xfrm>
            <a:off x="533400" y="5715000"/>
            <a:ext cx="6376020" cy="419100"/>
            <a:chOff x="533400" y="5715000"/>
            <a:chExt cx="6376020" cy="419100"/>
          </a:xfrm>
        </p:grpSpPr>
        <p:sp>
          <p:nvSpPr>
            <p:cNvPr id="39" name="Rectangle 39"/>
            <p:cNvSpPr/>
            <p:nvPr/>
          </p:nvSpPr>
          <p:spPr>
            <a:xfrm>
              <a:off x="533400" y="5715000"/>
              <a:ext cx="38100" cy="419100"/>
            </a:xfrm>
            <a:prstGeom prst="rect">
              <a:avLst/>
            </a:prstGeom>
            <a:solidFill>
              <a:srgbClr val="F5B700"/>
            </a:solidFill>
            <a:ln>
              <a:noFill/>
            </a:ln>
          </p:spPr>
        </p:sp>
        <p:sp>
          <p:nvSpPr>
            <p:cNvPr id="40" name="TextBox 40"/>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3" name="source"/>
          <p:cNvGrpSpPr/>
          <p:nvPr/>
        </p:nvGrpSpPr>
        <p:grpSpPr>
          <a:xfrm>
            <a:off x="528638" y="6381750"/>
            <a:ext cx="8536305" cy="176212"/>
            <a:chOff x="528638" y="6381750"/>
            <a:chExt cx="8536305" cy="176212"/>
          </a:xfrm>
        </p:grpSpPr>
        <p:sp>
          <p:nvSpPr>
            <p:cNvPr id="42" name="TextBox 42"/>
            <p:cNvSpPr txBox="1"/>
            <p:nvPr/>
          </p:nvSpPr>
          <p:spPr>
            <a:xfrm>
              <a:off x="528638" y="6381750"/>
              <a:ext cx="853630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국토교통부 지반침하 원인 통계(2020~2024) · 국토교통부 명일동 사고조사(2025.12.3) · 서울시 차량형 GPR 탐사 깊이 약 2m · 단면도는 원리 설명용</a:t>
              </a:r>
            </a:p>
          </p:txBody>
        </p:sp>
      </p:grpSp>
      <p:grpSp>
        <p:nvGrpSpPr>
          <p:cNvPr id="46" name="footer"/>
          <p:cNvGrpSpPr/>
          <p:nvPr/>
        </p:nvGrpSpPr>
        <p:grpSpPr>
          <a:xfrm>
            <a:off x="528638" y="6610350"/>
            <a:ext cx="11134724" cy="176212"/>
            <a:chOff x="528638" y="6610350"/>
            <a:chExt cx="11134724" cy="176212"/>
          </a:xfrm>
        </p:grpSpPr>
        <p:sp>
          <p:nvSpPr>
            <p:cNvPr id="44" name="TextBox 44"/>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5" name="TextBox 4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12</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966816" cy="586740"/>
            <a:chOff x="518160" y="774700"/>
            <a:chExt cx="8966816" cy="586740"/>
          </a:xfrm>
        </p:grpSpPr>
        <p:sp>
          <p:nvSpPr>
            <p:cNvPr id="17" name="TextBox 17"/>
            <p:cNvSpPr txBox="1"/>
            <p:nvPr/>
          </p:nvSpPr>
          <p:spPr>
            <a:xfrm>
              <a:off x="518160" y="774700"/>
              <a:ext cx="896681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반복해서 찍고, 달라진 곳만 다시 봅니다</a:t>
              </a:r>
            </a:p>
          </p:txBody>
        </p:sp>
      </p:grpSp>
      <p:grpSp>
        <p:nvGrpSpPr>
          <p:cNvPr id="29" name="compare"/>
          <p:cNvGrpSpPr/>
          <p:nvPr/>
        </p:nvGrpSpPr>
        <p:grpSpPr>
          <a:xfrm>
            <a:off x="533400" y="1581150"/>
            <a:ext cx="6477000" cy="3695700"/>
            <a:chOff x="533400" y="1581150"/>
            <a:chExt cx="6477000" cy="3695700"/>
          </a:xfrm>
        </p:grpSpPr>
        <p:sp>
          <p:nvSpPr>
            <p:cNvPr id="19" name="Rectangle 19"/>
            <p:cNvSpPr/>
            <p:nvPr/>
          </p:nvSpPr>
          <p:spPr>
            <a:xfrm>
              <a:off x="533400" y="1581150"/>
              <a:ext cx="6477000" cy="3695700"/>
            </a:xfrm>
            <a:prstGeom prst="rect">
              <a:avLst/>
            </a:prstGeom>
            <a:solidFill>
              <a:srgbClr val="2A2E33"/>
            </a:solidFill>
            <a:ln>
              <a:noFill/>
            </a:ln>
          </p:spPr>
        </p:sp>
        <p:pic>
          <p:nvPicPr>
            <p:cNvPr id="20" name="Image 20"/>
            <p:cNvPicPr>
              <a:picLocks noChangeAspect="1"/>
            </p:cNvPicPr>
            <p:nvPr/>
          </p:nvPicPr>
          <p:blipFill>
            <a:blip r:embed="rId2"/>
            <a:srcRect l="0" t="2042" r="0" b="2042"/>
            <a:stretch>
              <a:fillRect/>
            </a:stretch>
          </p:blipFill>
          <p:spPr>
            <a:xfrm>
              <a:off x="533400" y="1581150"/>
              <a:ext cx="6477000" cy="1828800"/>
            </a:xfrm>
            <a:prstGeom prst="rect">
              <a:avLst/>
            </a:prstGeom>
          </p:spPr>
        </p:pic>
        <p:pic>
          <p:nvPicPr>
            <p:cNvPr id="21" name="Image 21"/>
            <p:cNvPicPr>
              <a:picLocks noChangeAspect="1"/>
            </p:cNvPicPr>
            <p:nvPr/>
          </p:nvPicPr>
          <p:blipFill>
            <a:blip r:embed="rId3"/>
            <a:srcRect l="0" t="2042" r="0" b="2042"/>
            <a:stretch>
              <a:fillRect/>
            </a:stretch>
          </p:blipFill>
          <p:spPr>
            <a:xfrm>
              <a:off x="533400" y="3448050"/>
              <a:ext cx="6477000" cy="1828800"/>
            </a:xfrm>
            <a:prstGeom prst="rect">
              <a:avLst/>
            </a:prstGeom>
          </p:spPr>
        </p:pic>
        <p:sp>
          <p:nvSpPr>
            <p:cNvPr id="22" name="Rectangle 22"/>
            <p:cNvSpPr/>
            <p:nvPr/>
          </p:nvSpPr>
          <p:spPr>
            <a:xfrm>
              <a:off x="647700" y="1695450"/>
              <a:ext cx="914400" cy="266700"/>
            </a:xfrm>
            <a:prstGeom prst="roundRect">
              <a:avLst>
                <a:gd name="adj" fmla="val 10714"/>
              </a:avLst>
            </a:prstGeom>
            <a:solidFill>
              <a:srgbClr val="0B1E3C">
                <a:alpha val="90000"/>
              </a:srgbClr>
            </a:solidFill>
            <a:ln>
              <a:noFill/>
            </a:ln>
          </p:spPr>
        </p:sp>
        <p:sp>
          <p:nvSpPr>
            <p:cNvPr id="23" name="TextBox 23"/>
            <p:cNvSpPr txBox="1"/>
            <p:nvPr/>
          </p:nvSpPr>
          <p:spPr>
            <a:xfrm>
              <a:off x="750273" y="1733550"/>
              <a:ext cx="709254"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지난 회차</a:t>
              </a:r>
            </a:p>
          </p:txBody>
        </p:sp>
        <p:sp>
          <p:nvSpPr>
            <p:cNvPr id="24" name="Rectangle 24"/>
            <p:cNvSpPr/>
            <p:nvPr/>
          </p:nvSpPr>
          <p:spPr>
            <a:xfrm>
              <a:off x="647700" y="3562350"/>
              <a:ext cx="914400" cy="266700"/>
            </a:xfrm>
            <a:prstGeom prst="roundRect">
              <a:avLst>
                <a:gd name="adj" fmla="val 10714"/>
              </a:avLst>
            </a:prstGeom>
            <a:solidFill>
              <a:srgbClr val="0B1E3C">
                <a:alpha val="90000"/>
              </a:srgbClr>
            </a:solidFill>
            <a:ln>
              <a:noFill/>
            </a:ln>
          </p:spPr>
        </p:sp>
        <p:sp>
          <p:nvSpPr>
            <p:cNvPr id="25" name="TextBox 25"/>
            <p:cNvSpPr txBox="1"/>
            <p:nvPr/>
          </p:nvSpPr>
          <p:spPr>
            <a:xfrm>
              <a:off x="750273" y="3600450"/>
              <a:ext cx="709254"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이번 회차</a:t>
              </a:r>
            </a:p>
          </p:txBody>
        </p:sp>
        <p:sp>
          <p:nvSpPr>
            <p:cNvPr id="26" name="Rectangle 26"/>
            <p:cNvSpPr/>
            <p:nvPr/>
          </p:nvSpPr>
          <p:spPr>
            <a:xfrm>
              <a:off x="3905250" y="3810000"/>
              <a:ext cx="2857500" cy="1333500"/>
            </a:xfrm>
            <a:prstGeom prst="rect">
              <a:avLst/>
            </a:prstGeom>
            <a:noFill/>
            <a:ln w="38100">
              <a:solidFill>
                <a:srgbClr val="F5B700"/>
              </a:solidFill>
            </a:ln>
          </p:spPr>
        </p:sp>
        <p:sp>
          <p:nvSpPr>
            <p:cNvPr id="27" name="Rectangle 27"/>
            <p:cNvSpPr/>
            <p:nvPr/>
          </p:nvSpPr>
          <p:spPr>
            <a:xfrm>
              <a:off x="3905250" y="3524250"/>
              <a:ext cx="1428750" cy="266700"/>
            </a:xfrm>
            <a:prstGeom prst="rect">
              <a:avLst/>
            </a:prstGeom>
            <a:solidFill>
              <a:srgbClr val="F5B700"/>
            </a:solidFill>
            <a:ln>
              <a:noFill/>
            </a:ln>
          </p:spPr>
        </p:sp>
        <p:sp>
          <p:nvSpPr>
            <p:cNvPr id="28" name="TextBox 28"/>
            <p:cNvSpPr txBox="1"/>
            <p:nvPr/>
          </p:nvSpPr>
          <p:spPr>
            <a:xfrm>
              <a:off x="4078011" y="3562350"/>
              <a:ext cx="1083229"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새로 커진 신호</a:t>
              </a:r>
            </a:p>
          </p:txBody>
        </p:sp>
      </p:grpSp>
      <p:grpSp>
        <p:nvGrpSpPr>
          <p:cNvPr id="45" name="steps"/>
          <p:cNvGrpSpPr/>
          <p:nvPr/>
        </p:nvGrpSpPr>
        <p:grpSpPr>
          <a:xfrm>
            <a:off x="7461123" y="1663700"/>
            <a:ext cx="4197477" cy="3482467"/>
            <a:chOff x="7461123" y="1663700"/>
            <a:chExt cx="4197477" cy="3482467"/>
          </a:xfrm>
        </p:grpSpPr>
        <p:sp>
          <p:nvSpPr>
            <p:cNvPr id="30" name="TextBox 30"/>
            <p:cNvSpPr txBox="1"/>
            <p:nvPr/>
          </p:nvSpPr>
          <p:spPr>
            <a:xfrm>
              <a:off x="7461885" y="1727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1" name="TextBox 31"/>
            <p:cNvSpPr txBox="1"/>
            <p:nvPr/>
          </p:nvSpPr>
          <p:spPr>
            <a:xfrm>
              <a:off x="7687818" y="1663700"/>
              <a:ext cx="975225"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반복 측정</a:t>
              </a:r>
            </a:p>
          </p:txBody>
        </p:sp>
        <p:sp>
          <p:nvSpPr>
            <p:cNvPr id="32" name="TextBox 32"/>
            <p:cNvSpPr txBox="1"/>
            <p:nvPr/>
          </p:nvSpPr>
          <p:spPr>
            <a:xfrm>
              <a:off x="7689723" y="1981200"/>
              <a:ext cx="2587904"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PV5가 새벽마다 같은 경로를 주행</a:t>
              </a:r>
            </a:p>
          </p:txBody>
        </p:sp>
        <p:sp>
          <p:nvSpPr>
            <p:cNvPr id="33" name="Line 33"/>
            <p:cNvSpPr/>
            <p:nvPr/>
          </p:nvSpPr>
          <p:spPr>
            <a:xfrm>
              <a:off x="7467600" y="24003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4" name="TextBox 34"/>
            <p:cNvSpPr txBox="1"/>
            <p:nvPr/>
          </p:nvSpPr>
          <p:spPr>
            <a:xfrm>
              <a:off x="7461885" y="2641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5" name="TextBox 35"/>
            <p:cNvSpPr txBox="1"/>
            <p:nvPr/>
          </p:nvSpPr>
          <p:spPr>
            <a:xfrm>
              <a:off x="7687818" y="2578100"/>
              <a:ext cx="1197348"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변화만 선별</a:t>
              </a:r>
            </a:p>
          </p:txBody>
        </p:sp>
        <p:sp>
          <p:nvSpPr>
            <p:cNvPr id="36" name="TextBox 36"/>
            <p:cNvSpPr txBox="1"/>
            <p:nvPr/>
          </p:nvSpPr>
          <p:spPr>
            <a:xfrm>
              <a:off x="7689723" y="2895600"/>
              <a:ext cx="2838572"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AI가 지난 회차와 달라진 곳을 고르고</a:t>
              </a:r>
            </a:p>
          </p:txBody>
        </p:sp>
        <p:sp>
          <p:nvSpPr>
            <p:cNvPr id="37" name="TextBox 37"/>
            <p:cNvSpPr txBox="1"/>
            <p:nvPr/>
          </p:nvSpPr>
          <p:spPr>
            <a:xfrm>
              <a:off x="7689723" y="3124200"/>
              <a:ext cx="223579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전문가가 원시 데이터로 승인</a:t>
              </a:r>
            </a:p>
          </p:txBody>
        </p:sp>
        <p:sp>
          <p:nvSpPr>
            <p:cNvPr id="38" name="Line 38"/>
            <p:cNvSpPr/>
            <p:nvPr/>
          </p:nvSpPr>
          <p:spPr>
            <a:xfrm>
              <a:off x="7467600" y="35433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9" name="TextBox 39"/>
            <p:cNvSpPr txBox="1"/>
            <p:nvPr/>
          </p:nvSpPr>
          <p:spPr>
            <a:xfrm>
              <a:off x="7461885" y="3784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0" name="TextBox 40"/>
            <p:cNvSpPr txBox="1"/>
            <p:nvPr/>
          </p:nvSpPr>
          <p:spPr>
            <a:xfrm>
              <a:off x="7687818" y="3721100"/>
              <a:ext cx="1197348"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현장 재확인</a:t>
              </a:r>
            </a:p>
          </p:txBody>
        </p:sp>
        <p:sp>
          <p:nvSpPr>
            <p:cNvPr id="41" name="TextBox 41"/>
            <p:cNvSpPr txBox="1"/>
            <p:nvPr/>
          </p:nvSpPr>
          <p:spPr>
            <a:xfrm>
              <a:off x="7689723" y="4038600"/>
              <a:ext cx="2642525"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승인된 곳만 수동 GPR로 다시 보고</a:t>
              </a:r>
            </a:p>
          </p:txBody>
        </p:sp>
        <p:sp>
          <p:nvSpPr>
            <p:cNvPr id="42" name="TextBox 42"/>
            <p:cNvSpPr txBox="1"/>
            <p:nvPr/>
          </p:nvSpPr>
          <p:spPr>
            <a:xfrm>
              <a:off x="7689723" y="4267200"/>
              <a:ext cx="245119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필요하면 천공·내시경으로 확정</a:t>
              </a:r>
            </a:p>
          </p:txBody>
        </p:sp>
        <p:sp>
          <p:nvSpPr>
            <p:cNvPr id="43" name="Line 43"/>
            <p:cNvSpPr/>
            <p:nvPr/>
          </p:nvSpPr>
          <p:spPr>
            <a:xfrm>
              <a:off x="7467600" y="46863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4" name="TextBox 44"/>
            <p:cNvSpPr txBox="1"/>
            <p:nvPr/>
          </p:nvSpPr>
          <p:spPr>
            <a:xfrm>
              <a:off x="7461123" y="4895850"/>
              <a:ext cx="329552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결과는 다음 순찰 경로에 다시 반영됩니다.</a:t>
              </a:r>
            </a:p>
          </p:txBody>
        </p:sp>
      </p:grpSp>
      <p:grpSp>
        <p:nvGrpSpPr>
          <p:cNvPr id="48" name="conclusion"/>
          <p:cNvGrpSpPr/>
          <p:nvPr/>
        </p:nvGrpSpPr>
        <p:grpSpPr>
          <a:xfrm>
            <a:off x="533400" y="5619750"/>
            <a:ext cx="6844942" cy="419100"/>
            <a:chOff x="533400" y="5619750"/>
            <a:chExt cx="6844942" cy="419100"/>
          </a:xfrm>
        </p:grpSpPr>
        <p:sp>
          <p:nvSpPr>
            <p:cNvPr id="46" name="Rectangle 46"/>
            <p:cNvSpPr/>
            <p:nvPr/>
          </p:nvSpPr>
          <p:spPr>
            <a:xfrm>
              <a:off x="533400" y="5619750"/>
              <a:ext cx="38100" cy="419100"/>
            </a:xfrm>
            <a:prstGeom prst="rect">
              <a:avLst/>
            </a:prstGeom>
            <a:solidFill>
              <a:srgbClr val="F5B700"/>
            </a:solidFill>
            <a:ln>
              <a:noFill/>
            </a:ln>
          </p:spPr>
        </p:sp>
        <p:sp>
          <p:nvSpPr>
            <p:cNvPr id="47" name="TextBox 47"/>
            <p:cNvSpPr txBox="1"/>
            <p:nvPr/>
          </p:nvSpPr>
          <p:spPr>
            <a:xfrm>
              <a:off x="715899" y="5715000"/>
              <a:ext cx="666244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AI는 볼 순서를 정할 뿐, 판정은 전문가가 하고 확정은 천공이 합니다.</a:t>
              </a:r>
            </a:p>
          </p:txBody>
        </p:sp>
      </p:grpSp>
      <p:grpSp>
        <p:nvGrpSpPr>
          <p:cNvPr id="50" name="source"/>
          <p:cNvGrpSpPr/>
          <p:nvPr/>
        </p:nvGrpSpPr>
        <p:grpSpPr>
          <a:xfrm>
            <a:off x="528638" y="6381750"/>
            <a:ext cx="2201365" cy="176212"/>
            <a:chOff x="528638" y="6381750"/>
            <a:chExt cx="2201365" cy="176212"/>
          </a:xfrm>
        </p:grpSpPr>
        <p:sp>
          <p:nvSpPr>
            <p:cNvPr id="49" name="TextBox 49"/>
            <p:cNvSpPr txBox="1"/>
            <p:nvPr/>
          </p:nvSpPr>
          <p:spPr>
            <a:xfrm>
              <a:off x="528638" y="6381750"/>
              <a:ext cx="220136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B-scan 비교 화면은 설명용 예시입니다.</a:t>
              </a:r>
            </a:p>
          </p:txBody>
        </p:sp>
      </p:grpSp>
      <p:grpSp>
        <p:nvGrpSpPr>
          <p:cNvPr id="53" name="footer"/>
          <p:cNvGrpSpPr/>
          <p:nvPr/>
        </p:nvGrpSpPr>
        <p:grpSpPr>
          <a:xfrm>
            <a:off x="528638" y="6610350"/>
            <a:ext cx="11134724" cy="176212"/>
            <a:chOff x="528638" y="6610350"/>
            <a:chExt cx="11134724" cy="176212"/>
          </a:xfrm>
        </p:grpSpPr>
        <p:sp>
          <p:nvSpPr>
            <p:cNvPr id="51" name="TextBox 51"/>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2" name="TextBox 5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12</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800100"/>
            <a:ext cx="9140484" cy="557403"/>
            <a:chOff x="518922" y="800100"/>
            <a:chExt cx="9140484" cy="557403"/>
          </a:xfrm>
        </p:grpSpPr>
        <p:sp>
          <p:nvSpPr>
            <p:cNvPr id="17" name="TextBox 17"/>
            <p:cNvSpPr txBox="1"/>
            <p:nvPr/>
          </p:nvSpPr>
          <p:spPr>
            <a:xfrm>
              <a:off x="518922" y="800100"/>
              <a:ext cx="914048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차가 찾은 지점을, 작업자가 현장에서 바로 확인합니다</a:t>
              </a:r>
            </a:p>
          </p:txBody>
        </p:sp>
      </p:grpSp>
      <p:grpSp>
        <p:nvGrpSpPr>
          <p:cNvPr id="45" name="system-chain"/>
          <p:cNvGrpSpPr/>
          <p:nvPr/>
        </p:nvGrpSpPr>
        <p:grpSpPr>
          <a:xfrm>
            <a:off x="533400" y="1428750"/>
            <a:ext cx="11125200" cy="839343"/>
            <a:chOff x="533400" y="1428750"/>
            <a:chExt cx="11125200" cy="839343"/>
          </a:xfrm>
        </p:grpSpPr>
        <p:grpSp>
          <p:nvGrpSpPr>
            <p:cNvPr id="39" name="Group 39"/>
            <p:cNvGrpSpPr/>
            <p:nvPr/>
          </p:nvGrpSpPr>
          <p:grpSpPr>
            <a:xfrm>
              <a:off x="533400" y="1428750"/>
              <a:ext cx="11125200" cy="839343"/>
              <a:chOff x="533400" y="1428750"/>
              <a:chExt cx="11125200" cy="839343"/>
            </a:xfrm>
          </p:grpSpPr>
          <p:sp>
            <p:nvSpPr>
              <p:cNvPr id="19" name="Rectangle 19"/>
              <p:cNvSpPr/>
              <p:nvPr/>
            </p:nvSpPr>
            <p:spPr>
              <a:xfrm>
                <a:off x="533400" y="1428750"/>
                <a:ext cx="1905000" cy="552450"/>
              </a:xfrm>
              <a:prstGeom prst="roundRect">
                <a:avLst>
                  <a:gd name="adj" fmla="val 13793"/>
                </a:avLst>
              </a:prstGeom>
              <a:solidFill>
                <a:srgbClr val="0B1E3C"/>
              </a:solidFill>
              <a:ln>
                <a:noFill/>
              </a:ln>
            </p:spPr>
          </p:sp>
          <p:sp>
            <p:nvSpPr>
              <p:cNvPr id="20" name="TextBox 20"/>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GroundWatch Cloud</a:t>
                </a:r>
              </a:p>
            </p:txBody>
          </p:sp>
          <p:sp>
            <p:nvSpPr>
              <p:cNvPr id="21" name="TextBox 21"/>
              <p:cNvSpPr txBox="1"/>
              <p:nvPr/>
            </p:nvSpPr>
            <p:spPr>
              <a:xfrm>
                <a:off x="698935" y="1739900"/>
                <a:ext cx="1573930"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4D 지도 · AI 분석 · 경로</a:t>
                </a:r>
              </a:p>
            </p:txBody>
          </p:sp>
          <p:sp>
            <p:nvSpPr>
              <p:cNvPr id="22" name="Rectangle 22"/>
              <p:cNvSpPr/>
              <p:nvPr/>
            </p:nvSpPr>
            <p:spPr>
              <a:xfrm>
                <a:off x="2838450" y="1428750"/>
                <a:ext cx="1905000" cy="552450"/>
              </a:xfrm>
              <a:prstGeom prst="roundRect">
                <a:avLst>
                  <a:gd name="adj" fmla="val 13793"/>
                </a:avLst>
              </a:prstGeom>
              <a:solidFill>
                <a:srgbClr val="0B1E3C"/>
              </a:solidFill>
              <a:ln>
                <a:noFill/>
              </a:ln>
            </p:spPr>
          </p:sp>
          <p:sp>
            <p:nvSpPr>
              <p:cNvPr id="23" name="TextBox 23"/>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Patrol 차량 앱</a:t>
                </a:r>
              </a:p>
            </p:txBody>
          </p:sp>
          <p:sp>
            <p:nvSpPr>
              <p:cNvPr id="24" name="TextBox 24"/>
              <p:cNvSpPr txBox="1"/>
              <p:nvPr/>
            </p:nvSpPr>
            <p:spPr>
              <a:xfrm>
                <a:off x="3301489" y="1739900"/>
                <a:ext cx="978922"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업무·경로 관리</a:t>
                </a:r>
              </a:p>
            </p:txBody>
          </p:sp>
          <p:sp>
            <p:nvSpPr>
              <p:cNvPr id="25" name="Rectangle 25"/>
              <p:cNvSpPr/>
              <p:nvPr/>
            </p:nvSpPr>
            <p:spPr>
              <a:xfrm>
                <a:off x="5143500" y="1428750"/>
                <a:ext cx="1905000" cy="552450"/>
              </a:xfrm>
              <a:prstGeom prst="roundRect">
                <a:avLst>
                  <a:gd name="adj" fmla="val 13793"/>
                </a:avLst>
              </a:prstGeom>
              <a:solidFill>
                <a:srgbClr val="0B1E3C"/>
              </a:solidFill>
              <a:ln>
                <a:noFill/>
              </a:ln>
            </p:spPr>
          </p:sp>
          <p:sp>
            <p:nvSpPr>
              <p:cNvPr id="26" name="TextBox 26"/>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Edge Gateway</a:t>
                </a:r>
              </a:p>
            </p:txBody>
          </p:sp>
          <p:sp>
            <p:nvSpPr>
              <p:cNvPr id="27" name="TextBox 27"/>
              <p:cNvSpPr txBox="1"/>
              <p:nvPr/>
            </p:nvSpPr>
            <p:spPr>
              <a:xfrm>
                <a:off x="5373310" y="1739900"/>
                <a:ext cx="1445381"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센서 동기화·로컬 통신</a:t>
                </a:r>
              </a:p>
            </p:txBody>
          </p:sp>
          <p:sp>
            <p:nvSpPr>
              <p:cNvPr id="28" name="Rectangle 28"/>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9" name="TextBox 29"/>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7749035" y="1739900"/>
                <a:ext cx="13040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위치 정합·탐사 안내</a:t>
                </a:r>
              </a:p>
            </p:txBody>
          </p:sp>
          <p:sp>
            <p:nvSpPr>
              <p:cNvPr id="31" name="Rectangle 31"/>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32" name="TextBox 32"/>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33" name="TextBox 33"/>
              <p:cNvSpPr txBox="1"/>
              <p:nvPr/>
            </p:nvSpPr>
            <p:spPr>
              <a:xfrm>
                <a:off x="9842059" y="1739900"/>
                <a:ext cx="1728083"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다른 주파수·방향 교차검증</a:t>
                </a:r>
              </a:p>
            </p:txBody>
          </p:sp>
          <p:grpSp>
            <p:nvGrpSpPr>
              <p:cNvPr id="38" name="Group 38"/>
              <p:cNvGrpSpPr/>
              <p:nvPr/>
            </p:nvGrpSpPr>
            <p:grpSpPr>
              <a:xfrm>
                <a:off x="2349828" y="2076450"/>
                <a:ext cx="7492345" cy="191643"/>
                <a:chOff x="2349828" y="2076450"/>
                <a:chExt cx="7492345" cy="191643"/>
              </a:xfrm>
            </p:grpSpPr>
            <p:sp>
              <p:nvSpPr>
                <p:cNvPr id="34" name="TextBox 34"/>
                <p:cNvSpPr txBox="1"/>
                <p:nvPr/>
              </p:nvSpPr>
              <p:spPr>
                <a:xfrm>
                  <a:off x="2349828" y="2076450"/>
                  <a:ext cx="577195"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보안 통신</a:t>
                  </a:r>
                </a:p>
              </p:txBody>
            </p:sp>
            <p:sp>
              <p:nvSpPr>
                <p:cNvPr id="35" name="TextBox 35"/>
                <p:cNvSpPr txBox="1"/>
                <p:nvPr/>
              </p:nvSpPr>
              <p:spPr>
                <a:xfrm>
                  <a:off x="4688108" y="2076450"/>
                  <a:ext cx="510733"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로컬 API</a:t>
                  </a:r>
                </a:p>
              </p:txBody>
            </p:sp>
            <p:sp>
              <p:nvSpPr>
                <p:cNvPr id="36" name="TextBox 36"/>
                <p:cNvSpPr txBox="1"/>
                <p:nvPr/>
              </p:nvSpPr>
              <p:spPr>
                <a:xfrm>
                  <a:off x="6925110" y="2076450"/>
                  <a:ext cx="646830"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보안 Wi-Fi</a:t>
                  </a:r>
                </a:p>
              </p:txBody>
            </p:sp>
            <p:sp>
              <p:nvSpPr>
                <p:cNvPr id="37" name="TextBox 37"/>
                <p:cNvSpPr txBox="1"/>
                <p:nvPr/>
              </p:nvSpPr>
              <p:spPr>
                <a:xfrm>
                  <a:off x="9264978" y="2076450"/>
                  <a:ext cx="577195" cy="191643"/>
                </a:xfrm>
                <a:prstGeom prst="rect">
                  <a:avLst/>
                </a:prstGeom>
                <a:noFill/>
                <a:ln>
                  <a:noFill/>
                </a:ln>
              </p:spPr>
              <p:txBody>
                <a:bodyPr wrap="none" lIns="0" tIns="0" rIns="0" bIns="0" anchor="t" anchorCtr="0">
                  <a:spAutoFit/>
                </a:bodyPr>
                <a:lstStyle/>
                <a:p>
                  <a:pPr algn="ctr"/>
                  <a:r>
                    <a:rPr lang="ko-KR" sz="980" dirty="0">
                      <a:solidFill>
                        <a:srgbClr val="4B5563"/>
                      </a:solidFill>
                      <a:latin typeface="+mn-lt"/>
                      <a:ea typeface="+mn-ea"/>
                      <a:cs typeface="+mn-cs"/>
                    </a:rPr>
                    <a:t>작업 안내</a:t>
                  </a:r>
                </a:p>
              </p:txBody>
            </p:sp>
          </p:grpSp>
        </p:grpSp>
        <p:grpSp>
          <p:nvGrpSpPr>
            <p:cNvPr id="44" name="Group 44"/>
            <p:cNvGrpSpPr/>
            <p:nvPr/>
          </p:nvGrpSpPr>
          <p:grpSpPr>
            <a:xfrm>
              <a:off x="2466975" y="1704975"/>
              <a:ext cx="7258050" cy="1"/>
              <a:chOff x="2466975" y="1704975"/>
              <a:chExt cx="7258050" cy="1"/>
            </a:xfrm>
          </p:grpSpPr>
          <p:sp>
            <p:nvSpPr>
              <p:cNvPr id="40" name="Line 40"/>
              <p:cNvSpPr/>
              <p:nvPr/>
            </p:nvSpPr>
            <p:spPr>
              <a:xfrm>
                <a:off x="2466975" y="1704975"/>
                <a:ext cx="342900" cy="1"/>
              </a:xfrm>
              <a:prstGeom prst="line">
                <a:avLst/>
              </a:prstGeom>
              <a:noFill/>
              <a:ln w="19050">
                <a:solidFill>
                  <a:srgbClr val="0B1E3C"/>
                </a:solidFill>
                <a:headEnd type="triangle" w="lg" len="lg"/>
                <a:tailEnd type="triangle" w="lg" len="lg"/>
              </a:ln>
            </p:spPr>
          </p:sp>
          <p:sp>
            <p:nvSpPr>
              <p:cNvPr id="41" name="Line 41"/>
              <p:cNvSpPr/>
              <p:nvPr/>
            </p:nvSpPr>
            <p:spPr>
              <a:xfrm>
                <a:off x="4772025" y="1704975"/>
                <a:ext cx="342900" cy="1"/>
              </a:xfrm>
              <a:prstGeom prst="line">
                <a:avLst/>
              </a:prstGeom>
              <a:noFill/>
              <a:ln w="19050">
                <a:solidFill>
                  <a:srgbClr val="0B1E3C"/>
                </a:solidFill>
                <a:headEnd type="triangle" w="lg" len="lg"/>
                <a:tailEnd type="triangle" w="lg" len="lg"/>
              </a:ln>
            </p:spPr>
          </p:sp>
          <p:sp>
            <p:nvSpPr>
              <p:cNvPr id="42" name="Line 42"/>
              <p:cNvSpPr/>
              <p:nvPr/>
            </p:nvSpPr>
            <p:spPr>
              <a:xfrm>
                <a:off x="7077075" y="1704975"/>
                <a:ext cx="342900" cy="1"/>
              </a:xfrm>
              <a:prstGeom prst="line">
                <a:avLst/>
              </a:prstGeom>
              <a:noFill/>
              <a:ln w="19050">
                <a:solidFill>
                  <a:srgbClr val="0B1E3C"/>
                </a:solidFill>
                <a:headEnd type="triangle" w="lg" len="lg"/>
                <a:tailEnd type="triangle" w="lg" len="lg"/>
              </a:ln>
            </p:spPr>
          </p:sp>
          <p:sp>
            <p:nvSpPr>
              <p:cNvPr id="43" name="Line 43"/>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51" name="cabin-panel"/>
          <p:cNvGrpSpPr/>
          <p:nvPr/>
        </p:nvGrpSpPr>
        <p:grpSpPr>
          <a:xfrm>
            <a:off x="526542" y="2381250"/>
            <a:ext cx="5302758" cy="3739896"/>
            <a:chOff x="526542" y="2381250"/>
            <a:chExt cx="5302758" cy="3739896"/>
          </a:xfrm>
        </p:grpSpPr>
        <p:pic>
          <p:nvPicPr>
            <p:cNvPr id="46" name="Image 46"/>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47" name="Rectangle 47"/>
            <p:cNvSpPr/>
            <p:nvPr/>
          </p:nvSpPr>
          <p:spPr>
            <a:xfrm>
              <a:off x="628650" y="2476500"/>
              <a:ext cx="1314450" cy="228600"/>
            </a:xfrm>
            <a:prstGeom prst="roundRect">
              <a:avLst>
                <a:gd name="adj" fmla="val 12500"/>
              </a:avLst>
            </a:prstGeom>
            <a:solidFill>
              <a:srgbClr val="0B1E3C"/>
            </a:solidFill>
            <a:ln>
              <a:noFill/>
            </a:ln>
          </p:spPr>
        </p:sp>
        <p:sp>
          <p:nvSpPr>
            <p:cNvPr id="48" name="TextBox 48"/>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9" name="TextBox 49"/>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50" name="TextBox 50"/>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72" name="ar-panel"/>
          <p:cNvGrpSpPr/>
          <p:nvPr/>
        </p:nvGrpSpPr>
        <p:grpSpPr>
          <a:xfrm>
            <a:off x="6089142" y="2381250"/>
            <a:ext cx="5569458" cy="3739896"/>
            <a:chOff x="6089142" y="2381250"/>
            <a:chExt cx="5569458" cy="3739896"/>
          </a:xfrm>
        </p:grpSpPr>
        <p:pic>
          <p:nvPicPr>
            <p:cNvPr id="52" name="Image 52"/>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53" name="Polygon 53"/>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7" name="Group 57"/>
            <p:cNvGrpSpPr/>
            <p:nvPr/>
          </p:nvGrpSpPr>
          <p:grpSpPr>
            <a:xfrm>
              <a:off x="8229600" y="4343400"/>
              <a:ext cx="1628775" cy="352425"/>
              <a:chOff x="8229600" y="4343400"/>
              <a:chExt cx="1628775" cy="352425"/>
            </a:xfrm>
          </p:grpSpPr>
          <p:sp>
            <p:nvSpPr>
              <p:cNvPr id="54" name="Line 54"/>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55" name="Line 55"/>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56" name="Line 56"/>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8" name="Ellipse 58"/>
            <p:cNvSpPr/>
            <p:nvPr/>
          </p:nvSpPr>
          <p:spPr>
            <a:xfrm>
              <a:off x="7943850" y="4933950"/>
              <a:ext cx="1866900" cy="628650"/>
            </a:xfrm>
            <a:prstGeom prst="ellipse">
              <a:avLst/>
            </a:prstGeom>
            <a:noFill/>
            <a:ln w="23812">
              <a:solidFill>
                <a:srgbClr val="FFFFFF"/>
              </a:solidFill>
            </a:ln>
          </p:spPr>
        </p:sp>
        <p:sp>
          <p:nvSpPr>
            <p:cNvPr id="59" name="Rectangle 59"/>
            <p:cNvSpPr/>
            <p:nvPr/>
          </p:nvSpPr>
          <p:spPr>
            <a:xfrm>
              <a:off x="9906000" y="5086350"/>
              <a:ext cx="1066800" cy="209550"/>
            </a:xfrm>
            <a:prstGeom prst="roundRect">
              <a:avLst>
                <a:gd name="adj" fmla="val 13636"/>
              </a:avLst>
            </a:prstGeom>
            <a:solidFill>
              <a:srgbClr val="0B1E3C">
                <a:alpha val="85000"/>
              </a:srgbClr>
            </a:solidFill>
            <a:ln>
              <a:noFill/>
            </a:ln>
          </p:spPr>
        </p:sp>
        <p:sp>
          <p:nvSpPr>
            <p:cNvPr id="60" name="TextBox 60"/>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61" name="Ellipse 61"/>
            <p:cNvSpPr/>
            <p:nvPr/>
          </p:nvSpPr>
          <p:spPr>
            <a:xfrm>
              <a:off x="7267575" y="4705350"/>
              <a:ext cx="133350" cy="133350"/>
            </a:xfrm>
            <a:prstGeom prst="ellipse">
              <a:avLst/>
            </a:prstGeom>
            <a:noFill/>
            <a:ln w="23812">
              <a:solidFill>
                <a:srgbClr val="FFFFFF"/>
              </a:solidFill>
            </a:ln>
          </p:spPr>
        </p:sp>
        <p:sp>
          <p:nvSpPr>
            <p:cNvPr id="62" name="Rectangle 62"/>
            <p:cNvSpPr/>
            <p:nvPr/>
          </p:nvSpPr>
          <p:spPr>
            <a:xfrm>
              <a:off x="6286500" y="4362450"/>
              <a:ext cx="1181100" cy="209550"/>
            </a:xfrm>
            <a:prstGeom prst="roundRect">
              <a:avLst>
                <a:gd name="adj" fmla="val 13636"/>
              </a:avLst>
            </a:prstGeom>
            <a:solidFill>
              <a:srgbClr val="0B1E3C">
                <a:alpha val="85000"/>
              </a:srgbClr>
            </a:solidFill>
            <a:ln>
              <a:noFill/>
            </a:ln>
          </p:spPr>
        </p:sp>
        <p:sp>
          <p:nvSpPr>
            <p:cNvPr id="63" name="TextBox 63"/>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64" name="Rectangle 64"/>
            <p:cNvSpPr/>
            <p:nvPr/>
          </p:nvSpPr>
          <p:spPr>
            <a:xfrm>
              <a:off x="6096000" y="2381250"/>
              <a:ext cx="5562600" cy="228600"/>
            </a:xfrm>
            <a:prstGeom prst="rect">
              <a:avLst/>
            </a:prstGeom>
            <a:solidFill>
              <a:srgbClr val="C62828">
                <a:alpha val="92000"/>
              </a:srgbClr>
            </a:solidFill>
            <a:ln>
              <a:noFill/>
            </a:ln>
          </p:spPr>
        </p:sp>
        <p:sp>
          <p:nvSpPr>
            <p:cNvPr id="65" name="TextBox 65"/>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66" name="Rectangle 66"/>
            <p:cNvSpPr/>
            <p:nvPr/>
          </p:nvSpPr>
          <p:spPr>
            <a:xfrm>
              <a:off x="6248400" y="2724150"/>
              <a:ext cx="2571750" cy="685800"/>
            </a:xfrm>
            <a:prstGeom prst="roundRect">
              <a:avLst>
                <a:gd name="adj" fmla="val 8333"/>
              </a:avLst>
            </a:prstGeom>
            <a:solidFill>
              <a:srgbClr val="0B1E3C">
                <a:alpha val="85000"/>
              </a:srgbClr>
            </a:solidFill>
            <a:ln>
              <a:noFill/>
            </a:ln>
          </p:spPr>
        </p:sp>
        <p:sp>
          <p:nvSpPr>
            <p:cNvPr id="67" name="TextBox 67"/>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8" name="TextBox 68"/>
            <p:cNvSpPr txBox="1"/>
            <p:nvPr/>
          </p:nvSpPr>
          <p:spPr>
            <a:xfrm>
              <a:off x="6395847" y="3038475"/>
              <a:ext cx="2242345"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AI 신뢰도 84%</a:t>
              </a:r>
            </a:p>
          </p:txBody>
        </p:sp>
        <p:sp>
          <p:nvSpPr>
            <p:cNvPr id="69" name="TextBox 69"/>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70" name="TextBox 70"/>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71" name="TextBox 71"/>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74" name="source"/>
          <p:cNvGrpSpPr/>
          <p:nvPr/>
        </p:nvGrpSpPr>
        <p:grpSpPr>
          <a:xfrm>
            <a:off x="528638" y="6343650"/>
            <a:ext cx="8033084" cy="176212"/>
            <a:chOff x="528638" y="6343650"/>
            <a:chExt cx="8033084" cy="176212"/>
          </a:xfrm>
        </p:grpSpPr>
        <p:sp>
          <p:nvSpPr>
            <p:cNvPr id="73" name="TextBox 73"/>
            <p:cNvSpPr txBox="1"/>
            <p:nvPr/>
          </p:nvSpPr>
          <p:spPr>
            <a:xfrm>
              <a:off x="528638" y="6343650"/>
              <a:ext cx="803308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77" name="footer"/>
          <p:cNvGrpSpPr/>
          <p:nvPr/>
        </p:nvGrpSpPr>
        <p:grpSpPr>
          <a:xfrm>
            <a:off x="528638" y="6629400"/>
            <a:ext cx="11134724" cy="176212"/>
            <a:chOff x="528638" y="6629400"/>
            <a:chExt cx="11134724" cy="176212"/>
          </a:xfrm>
        </p:grpSpPr>
        <p:sp>
          <p:nvSpPr>
            <p:cNvPr id="75" name="TextBox 75"/>
            <p:cNvSpPr txBox="1"/>
            <p:nvPr/>
          </p:nvSpPr>
          <p:spPr>
            <a:xfrm>
              <a:off x="528638" y="662940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6" name="TextBox 76"/>
            <p:cNvSpPr txBox="1"/>
            <p:nvPr/>
          </p:nvSpPr>
          <p:spPr>
            <a:xfrm>
              <a:off x="11247958" y="662940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12</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764285" cy="586740"/>
            <a:chOff x="518160" y="774700"/>
            <a:chExt cx="7764285" cy="586740"/>
          </a:xfrm>
        </p:grpSpPr>
        <p:sp>
          <p:nvSpPr>
            <p:cNvPr id="17" name="TextBox 17"/>
            <p:cNvSpPr txBox="1"/>
            <p:nvPr/>
          </p:nvSpPr>
          <p:spPr>
            <a:xfrm>
              <a:off x="518160" y="774700"/>
              <a:ext cx="776428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대가 그대로 이동형 탐사실이 됩니다</a:t>
              </a:r>
            </a:p>
          </p:txBody>
        </p:sp>
      </p:grpSp>
      <p:grpSp>
        <p:nvGrpSpPr>
          <p:cNvPr id="27" name="cutaway"/>
          <p:cNvGrpSpPr/>
          <p:nvPr/>
        </p:nvGrpSpPr>
        <p:grpSpPr>
          <a:xfrm>
            <a:off x="535781" y="1428750"/>
            <a:ext cx="6472238" cy="4314825"/>
            <a:chOff x="535781" y="1428750"/>
            <a:chExt cx="6472238" cy="4314825"/>
          </a:xfrm>
        </p:grpSpPr>
        <p:pic>
          <p:nvPicPr>
            <p:cNvPr id="19" name="Image 19"/>
            <p:cNvPicPr>
              <a:picLocks noChangeAspect="1"/>
            </p:cNvPicPr>
            <p:nvPr/>
          </p:nvPicPr>
          <p:blipFill>
            <a:blip r:embed="rId2"/>
            <a:stretch>
              <a:fillRect/>
            </a:stretch>
          </p:blipFill>
          <p:spPr>
            <a:xfrm>
              <a:off x="535781" y="1428750"/>
              <a:ext cx="6472238" cy="4314825"/>
            </a:xfrm>
            <a:prstGeom prst="rect">
              <a:avLst/>
            </a:prstGeom>
          </p:spPr>
        </p:pic>
        <p:grpSp>
          <p:nvGrpSpPr>
            <p:cNvPr id="26" name="Group 26"/>
            <p:cNvGrpSpPr/>
            <p:nvPr/>
          </p:nvGrpSpPr>
          <p:grpSpPr>
            <a:xfrm>
              <a:off x="3095625" y="2771775"/>
              <a:ext cx="2857500" cy="933450"/>
              <a:chOff x="3095625" y="2771775"/>
              <a:chExt cx="2857500" cy="933450"/>
            </a:xfrm>
          </p:grpSpPr>
          <p:sp>
            <p:nvSpPr>
              <p:cNvPr id="20" name="Ellipse 20"/>
              <p:cNvSpPr/>
              <p:nvPr/>
            </p:nvSpPr>
            <p:spPr>
              <a:xfrm>
                <a:off x="3095625" y="3381375"/>
                <a:ext cx="323850" cy="323850"/>
              </a:xfrm>
              <a:prstGeom prst="ellipse">
                <a:avLst/>
              </a:prstGeom>
              <a:solidFill>
                <a:srgbClr val="F5B700"/>
              </a:solidFill>
              <a:ln w="19050">
                <a:solidFill>
                  <a:srgbClr val="0B1E3C"/>
                </a:solidFill>
              </a:ln>
            </p:spPr>
          </p:sp>
          <p:sp>
            <p:nvSpPr>
              <p:cNvPr id="21" name="TextBox 21"/>
              <p:cNvSpPr txBox="1"/>
              <p:nvPr/>
            </p:nvSpPr>
            <p:spPr>
              <a:xfrm>
                <a:off x="3202168" y="34480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219575" y="2771775"/>
                <a:ext cx="323850" cy="323850"/>
              </a:xfrm>
              <a:prstGeom prst="ellipse">
                <a:avLst/>
              </a:prstGeom>
              <a:solidFill>
                <a:srgbClr val="F5B700"/>
              </a:solidFill>
              <a:ln w="19050">
                <a:solidFill>
                  <a:srgbClr val="0B1E3C"/>
                </a:solidFill>
              </a:ln>
            </p:spPr>
          </p:sp>
          <p:sp>
            <p:nvSpPr>
              <p:cNvPr id="23" name="TextBox 23"/>
              <p:cNvSpPr txBox="1"/>
              <p:nvPr/>
            </p:nvSpPr>
            <p:spPr>
              <a:xfrm>
                <a:off x="4326118" y="28384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629275" y="2943225"/>
                <a:ext cx="323850" cy="323850"/>
              </a:xfrm>
              <a:prstGeom prst="ellipse">
                <a:avLst/>
              </a:prstGeom>
              <a:solidFill>
                <a:srgbClr val="F5B700"/>
              </a:solidFill>
              <a:ln w="19050">
                <a:solidFill>
                  <a:srgbClr val="0B1E3C"/>
                </a:solidFill>
              </a:ln>
            </p:spPr>
          </p:sp>
          <p:sp>
            <p:nvSpPr>
              <p:cNvPr id="25" name="TextBox 25"/>
              <p:cNvSpPr txBox="1"/>
              <p:nvPr/>
            </p:nvSpPr>
            <p:spPr>
              <a:xfrm>
                <a:off x="5735818" y="30099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grpSp>
      </p:grpSp>
      <p:grpSp>
        <p:nvGrpSpPr>
          <p:cNvPr id="42" name="features"/>
          <p:cNvGrpSpPr/>
          <p:nvPr/>
        </p:nvGrpSpPr>
        <p:grpSpPr>
          <a:xfrm>
            <a:off x="7383780" y="1631950"/>
            <a:ext cx="4274820" cy="3892550"/>
            <a:chOff x="7383780" y="1631950"/>
            <a:chExt cx="4274820" cy="3892550"/>
          </a:xfrm>
        </p:grpSpPr>
        <p:sp>
          <p:nvSpPr>
            <p:cNvPr id="28" name="TextBox 28"/>
            <p:cNvSpPr txBox="1"/>
            <p:nvPr/>
          </p:nvSpPr>
          <p:spPr>
            <a:xfrm>
              <a:off x="7383780" y="1631950"/>
              <a:ext cx="316738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싣는다 </a:t>
              </a:r>
              <a:r>
                <a:rPr lang="ko-KR" sz="1200" dirty="0">
                  <a:solidFill>
                    <a:srgbClr val="374151"/>
                  </a:solidFill>
                  <a:latin typeface="+mn-lt"/>
                  <a:ea typeface="+mn-ea"/>
                  <a:cs typeface="+mn-cs"/>
                </a:rPr>
                <a:t>카고룸 4,420L · 최대 적재 600kg</a:t>
              </a:r>
            </a:p>
          </p:txBody>
        </p:sp>
        <p:sp>
          <p:nvSpPr>
            <p:cNvPr id="29" name="TextBox 29"/>
            <p:cNvSpPr txBox="1"/>
            <p:nvPr/>
          </p:nvSpPr>
          <p:spPr>
            <a:xfrm>
              <a:off x="7385685" y="1917700"/>
              <a:ext cx="3410682"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A 분석 장비 · B 수동 GPR·AR 글래스 · C 안전장비</a:t>
              </a:r>
            </a:p>
          </p:txBody>
        </p:sp>
        <p:sp>
          <p:nvSpPr>
            <p:cNvPr id="30" name="Line 30"/>
            <p:cNvSpPr/>
            <p:nvPr/>
          </p:nvSpPr>
          <p:spPr>
            <a:xfrm>
              <a:off x="7391400" y="2247900"/>
              <a:ext cx="4267200" cy="9525"/>
            </a:xfrm>
            <a:custGeom>
              <a:avLst/>
              <a:gdLst/>
              <a:ahLst/>
              <a:cxnLst/>
              <a:rect l="l" t="t" r="r" b="b"/>
              <a:pathLst>
                <a:path w="4267200" h="9525">
                  <a:moveTo>
                    <a:pt x="0" y="0"/>
                  </a:moveTo>
                  <a:lnTo>
                    <a:pt x="4267200" y="0"/>
                  </a:lnTo>
                </a:path>
              </a:pathLst>
            </a:custGeom>
            <a:noFill/>
            <a:ln w="9525">
              <a:solidFill>
                <a:srgbClr val="E2E6EC"/>
              </a:solidFill>
            </a:ln>
          </p:spPr>
        </p:sp>
        <p:sp>
          <p:nvSpPr>
            <p:cNvPr id="31" name="TextBox 31"/>
            <p:cNvSpPr txBox="1"/>
            <p:nvPr/>
          </p:nvSpPr>
          <p:spPr>
            <a:xfrm>
              <a:off x="7383780" y="2451100"/>
              <a:ext cx="2609831"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켠다 </a:t>
              </a:r>
              <a:r>
                <a:rPr lang="ko-KR" sz="1200" dirty="0">
                  <a:solidFill>
                    <a:srgbClr val="374151"/>
                  </a:solidFill>
                  <a:latin typeface="+mn-lt"/>
                  <a:ea typeface="+mn-ea"/>
                  <a:cs typeface="+mn-cs"/>
                </a:rPr>
                <a:t>실내·실외 V2L · 최대 3.6kW</a:t>
              </a:r>
            </a:p>
          </p:txBody>
        </p:sp>
        <p:sp>
          <p:nvSpPr>
            <p:cNvPr id="32" name="TextBox 32"/>
            <p:cNvSpPr txBox="1"/>
            <p:nvPr/>
          </p:nvSpPr>
          <p:spPr>
            <a:xfrm>
              <a:off x="7385685" y="2736850"/>
              <a:ext cx="3075280"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시동 없이 GPR·엣지 PC를 돌리고 장비를 충전</a:t>
              </a:r>
            </a:p>
          </p:txBody>
        </p:sp>
        <p:sp>
          <p:nvSpPr>
            <p:cNvPr id="33" name="Line 33"/>
            <p:cNvSpPr/>
            <p:nvPr/>
          </p:nvSpPr>
          <p:spPr>
            <a:xfrm>
              <a:off x="7391400" y="3067050"/>
              <a:ext cx="4267200" cy="9525"/>
            </a:xfrm>
            <a:custGeom>
              <a:avLst/>
              <a:gdLst/>
              <a:ahLst/>
              <a:cxnLst/>
              <a:rect l="l" t="t" r="r" b="b"/>
              <a:pathLst>
                <a:path w="4267200" h="9525">
                  <a:moveTo>
                    <a:pt x="0" y="0"/>
                  </a:moveTo>
                  <a:lnTo>
                    <a:pt x="4267200" y="0"/>
                  </a:lnTo>
                </a:path>
              </a:pathLst>
            </a:custGeom>
            <a:noFill/>
            <a:ln w="9525">
              <a:solidFill>
                <a:srgbClr val="E2E6EC"/>
              </a:solidFill>
            </a:ln>
          </p:spPr>
        </p:sp>
        <p:sp>
          <p:nvSpPr>
            <p:cNvPr id="34" name="TextBox 34"/>
            <p:cNvSpPr txBox="1"/>
            <p:nvPr/>
          </p:nvSpPr>
          <p:spPr>
            <a:xfrm>
              <a:off x="7383780" y="3270250"/>
              <a:ext cx="230541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고정한다 </a:t>
              </a:r>
              <a:r>
                <a:rPr lang="ko-KR" sz="1200" dirty="0">
                  <a:solidFill>
                    <a:srgbClr val="374151"/>
                  </a:solidFill>
                  <a:latin typeface="+mn-lt"/>
                  <a:ea typeface="+mn-ea"/>
                  <a:cs typeface="+mn-cs"/>
                </a:rPr>
                <a:t>L-Track·몰리 패널</a:t>
              </a:r>
            </a:p>
          </p:txBody>
        </p:sp>
        <p:sp>
          <p:nvSpPr>
            <p:cNvPr id="35" name="TextBox 35"/>
            <p:cNvSpPr txBox="1"/>
            <p:nvPr/>
          </p:nvSpPr>
          <p:spPr>
            <a:xfrm>
              <a:off x="7385685" y="3556000"/>
              <a:ext cx="3275696"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회차마다 같은 위치에 장착 → 같은 조건으로 비교</a:t>
              </a:r>
            </a:p>
          </p:txBody>
        </p:sp>
        <p:sp>
          <p:nvSpPr>
            <p:cNvPr id="36" name="Line 36"/>
            <p:cNvSpPr/>
            <p:nvPr/>
          </p:nvSpPr>
          <p:spPr>
            <a:xfrm>
              <a:off x="7391400" y="3886200"/>
              <a:ext cx="4267200" cy="9525"/>
            </a:xfrm>
            <a:custGeom>
              <a:avLst/>
              <a:gdLst/>
              <a:ahLst/>
              <a:cxnLst/>
              <a:rect l="l" t="t" r="r" b="b"/>
              <a:pathLst>
                <a:path w="4267200" h="9525">
                  <a:moveTo>
                    <a:pt x="0" y="0"/>
                  </a:moveTo>
                  <a:lnTo>
                    <a:pt x="4267200" y="0"/>
                  </a:lnTo>
                </a:path>
              </a:pathLst>
            </a:custGeom>
            <a:noFill/>
            <a:ln w="9525">
              <a:solidFill>
                <a:srgbClr val="E2E6EC"/>
              </a:solidFill>
            </a:ln>
          </p:spPr>
        </p:sp>
        <p:sp>
          <p:nvSpPr>
            <p:cNvPr id="37" name="TextBox 37"/>
            <p:cNvSpPr txBox="1"/>
            <p:nvPr/>
          </p:nvSpPr>
          <p:spPr>
            <a:xfrm>
              <a:off x="7383780" y="4089400"/>
              <a:ext cx="2485854"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복제한다 </a:t>
              </a:r>
              <a:r>
                <a:rPr lang="ko-KR" sz="1200" dirty="0">
                  <a:solidFill>
                    <a:srgbClr val="374151"/>
                  </a:solidFill>
                  <a:latin typeface="+mn-lt"/>
                  <a:ea typeface="+mn-ea"/>
                  <a:cs typeface="+mn-cs"/>
                </a:rPr>
                <a:t>기아 공식 컨버전 체계</a:t>
              </a:r>
            </a:p>
          </p:txBody>
        </p:sp>
        <p:sp>
          <p:nvSpPr>
            <p:cNvPr id="38" name="TextBox 38"/>
            <p:cNvSpPr txBox="1"/>
            <p:nvPr/>
          </p:nvSpPr>
          <p:spPr>
            <a:xfrm>
              <a:off x="7385685" y="4375150"/>
              <a:ext cx="3706114"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특장 파트너 10개사 · 3D CAD 제공 → 같은 사양 여러 대</a:t>
              </a:r>
            </a:p>
          </p:txBody>
        </p:sp>
        <p:sp>
          <p:nvSpPr>
            <p:cNvPr id="39" name="Rectangle 39"/>
            <p:cNvSpPr/>
            <p:nvPr/>
          </p:nvSpPr>
          <p:spPr>
            <a:xfrm>
              <a:off x="7391400" y="4800600"/>
              <a:ext cx="4267200" cy="723900"/>
            </a:xfrm>
            <a:prstGeom prst="rect">
              <a:avLst/>
            </a:prstGeom>
            <a:solidFill>
              <a:srgbClr val="F3F5F8"/>
            </a:solidFill>
            <a:ln>
              <a:noFill/>
            </a:ln>
          </p:spPr>
        </p:sp>
        <p:sp>
          <p:nvSpPr>
            <p:cNvPr id="40" name="TextBox 40"/>
            <p:cNvSpPr txBox="1"/>
            <p:nvPr/>
          </p:nvSpPr>
          <p:spPr>
            <a:xfrm>
              <a:off x="7576185" y="4946650"/>
              <a:ext cx="197828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그래도 여유 있습니다 </a:t>
              </a:r>
              <a:r>
                <a:rPr lang="ko-KR" sz="1120" dirty="0">
                  <a:solidFill>
                    <a:srgbClr val="4B5563"/>
                  </a:solidFill>
                  <a:latin typeface="+mn-lt"/>
                  <a:ea typeface="+mn-ea"/>
                  <a:cs typeface="+mn-cs"/>
                </a:rPr>
                <a:t>[가설]</a:t>
              </a:r>
            </a:p>
          </p:txBody>
        </p:sp>
        <p:sp>
          <p:nvSpPr>
            <p:cNvPr id="41" name="TextBox 41"/>
            <p:cNvSpPr txBox="1"/>
            <p:nvPr/>
          </p:nvSpPr>
          <p:spPr>
            <a:xfrm>
              <a:off x="7575804" y="5200650"/>
              <a:ext cx="360784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장비 약 300kg / 600kg · 전력 약 1.5kW / 3.6kW</a:t>
              </a:r>
            </a:p>
          </p:txBody>
        </p:sp>
      </p:grpSp>
      <p:grpSp>
        <p:nvGrpSpPr>
          <p:cNvPr id="44" name="source"/>
          <p:cNvGrpSpPr/>
          <p:nvPr/>
        </p:nvGrpSpPr>
        <p:grpSpPr>
          <a:xfrm>
            <a:off x="528638" y="6381750"/>
            <a:ext cx="8991562" cy="176212"/>
            <a:chOff x="528638" y="6381750"/>
            <a:chExt cx="8991562" cy="176212"/>
          </a:xfrm>
        </p:grpSpPr>
        <p:sp>
          <p:nvSpPr>
            <p:cNvPr id="43" name="TextBox 43"/>
            <p:cNvSpPr txBox="1"/>
            <p:nvPr/>
          </p:nvSpPr>
          <p:spPr>
            <a:xfrm>
              <a:off x="528638" y="6381750"/>
              <a:ext cx="8991562"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기아 PV5 카고 가격표·제원·액세서리 · 오토뷰(2026, 공식 컨버전 파트너) · V2L 3.6kW는 해외 제원 · 배치도는 PV5 기반 콘셉트 · 실증 필요: 총중량·전자파</a:t>
              </a:r>
            </a:p>
          </p:txBody>
        </p:sp>
      </p:grpSp>
      <p:grpSp>
        <p:nvGrpSpPr>
          <p:cNvPr id="47" name="footer"/>
          <p:cNvGrpSpPr/>
          <p:nvPr/>
        </p:nvGrpSpPr>
        <p:grpSpPr>
          <a:xfrm>
            <a:off x="528638" y="6610350"/>
            <a:ext cx="11134724" cy="176212"/>
            <a:chOff x="528638" y="6610350"/>
            <a:chExt cx="11134724" cy="176212"/>
          </a:xfrm>
        </p:grpSpPr>
        <p:sp>
          <p:nvSpPr>
            <p:cNvPr id="45" name="TextBox 45"/>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6" name="TextBox 4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12</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6393811" cy="557403"/>
            <a:chOff x="518922" y="781050"/>
            <a:chExt cx="6393811" cy="557403"/>
          </a:xfrm>
        </p:grpSpPr>
        <p:sp>
          <p:nvSpPr>
            <p:cNvPr id="17" name="TextBox 17"/>
            <p:cNvSpPr txBox="1"/>
            <p:nvPr/>
          </p:nvSpPr>
          <p:spPr>
            <a:xfrm>
              <a:off x="518922" y="781050"/>
              <a:ext cx="6393811"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가격이 아니라 구조 때문에 PV5입니다</a:t>
              </a:r>
            </a:p>
          </p:txBody>
        </p:sp>
      </p:grpSp>
      <p:grpSp>
        <p:nvGrpSpPr>
          <p:cNvPr id="20" name="lead"/>
          <p:cNvGrpSpPr/>
          <p:nvPr/>
        </p:nvGrpSpPr>
        <p:grpSpPr>
          <a:xfrm>
            <a:off x="526542" y="1339850"/>
            <a:ext cx="9427693" cy="264033"/>
            <a:chOff x="526542" y="1339850"/>
            <a:chExt cx="9427693" cy="264033"/>
          </a:xfrm>
        </p:grpSpPr>
        <p:sp>
          <p:nvSpPr>
            <p:cNvPr id="19" name="TextBox 19"/>
            <p:cNvSpPr txBox="1"/>
            <p:nvPr/>
          </p:nvSpPr>
          <p:spPr>
            <a:xfrm>
              <a:off x="526542" y="1339850"/>
              <a:ext cx="9427693"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그룹 전기 상용차는 용도가 나뉘어 있습니다. 탐사·판독·재검증을 한 차에서 하려면 무엇이 필요한지로 골랐습니다.</a:t>
              </a:r>
            </a:p>
          </p:txBody>
        </p:sp>
      </p:grpSp>
      <p:grpSp>
        <p:nvGrpSpPr>
          <p:cNvPr id="53" name="compare"/>
          <p:cNvGrpSpPr/>
          <p:nvPr/>
        </p:nvGrpSpPr>
        <p:grpSpPr>
          <a:xfrm>
            <a:off x="527685" y="1733550"/>
            <a:ext cx="11130915" cy="2362200"/>
            <a:chOff x="527685" y="1733550"/>
            <a:chExt cx="11130915" cy="2362200"/>
          </a:xfrm>
        </p:grpSpPr>
        <p:sp>
          <p:nvSpPr>
            <p:cNvPr id="21" name="Rectangle 21"/>
            <p:cNvSpPr/>
            <p:nvPr/>
          </p:nvSpPr>
          <p:spPr>
            <a:xfrm>
              <a:off x="2057400" y="1733550"/>
              <a:ext cx="2400300" cy="2362200"/>
            </a:xfrm>
            <a:prstGeom prst="rect">
              <a:avLst/>
            </a:prstGeom>
            <a:solidFill>
              <a:srgbClr val="FFF6D6"/>
            </a:solidFill>
            <a:ln>
              <a:noFill/>
            </a:ln>
          </p:spPr>
        </p:sp>
        <p:sp>
          <p:nvSpPr>
            <p:cNvPr id="22" name="Rectangle 22"/>
            <p:cNvSpPr/>
            <p:nvPr/>
          </p:nvSpPr>
          <p:spPr>
            <a:xfrm>
              <a:off x="2057400" y="1733550"/>
              <a:ext cx="2400300" cy="38100"/>
            </a:xfrm>
            <a:prstGeom prst="rect">
              <a:avLst/>
            </a:prstGeom>
            <a:solidFill>
              <a:srgbClr val="F5B700"/>
            </a:solidFill>
            <a:ln>
              <a:noFill/>
            </a:ln>
          </p:spPr>
        </p:sp>
        <p:grpSp>
          <p:nvGrpSpPr>
            <p:cNvPr id="27" name="Group 27"/>
            <p:cNvGrpSpPr/>
            <p:nvPr/>
          </p:nvGrpSpPr>
          <p:grpSpPr>
            <a:xfrm>
              <a:off x="2203323" y="1885950"/>
              <a:ext cx="8562647" cy="250317"/>
              <a:chOff x="2203323" y="1885950"/>
              <a:chExt cx="8562647" cy="250317"/>
            </a:xfrm>
          </p:grpSpPr>
          <p:sp>
            <p:nvSpPr>
              <p:cNvPr id="23" name="TextBox 23"/>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24" name="TextBox 24"/>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25" name="TextBox 25"/>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26" name="TextBox 26"/>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32" name="Group 32"/>
            <p:cNvGrpSpPr/>
            <p:nvPr/>
          </p:nvGrpSpPr>
          <p:grpSpPr>
            <a:xfrm>
              <a:off x="2204466" y="2120900"/>
              <a:ext cx="7882985" cy="205359"/>
              <a:chOff x="2204466" y="2120900"/>
              <a:chExt cx="7882985" cy="205359"/>
            </a:xfrm>
          </p:grpSpPr>
          <p:sp>
            <p:nvSpPr>
              <p:cNvPr id="28" name="TextBox 28"/>
              <p:cNvSpPr txBox="1"/>
              <p:nvPr/>
            </p:nvSpPr>
            <p:spPr>
              <a:xfrm>
                <a:off x="2204466" y="2120900"/>
                <a:ext cx="87997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롱 · 롱레인지</a:t>
                </a:r>
              </a:p>
            </p:txBody>
          </p:sp>
          <p:sp>
            <p:nvSpPr>
              <p:cNvPr id="29" name="TextBox 29"/>
              <p:cNvSpPr txBox="1"/>
              <p:nvPr/>
            </p:nvSpPr>
            <p:spPr>
              <a:xfrm>
                <a:off x="4604766" y="2120900"/>
                <a:ext cx="3711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3인승</a:t>
                </a:r>
              </a:p>
            </p:txBody>
          </p:sp>
          <p:sp>
            <p:nvSpPr>
              <p:cNvPr id="30" name="TextBox 30"/>
              <p:cNvSpPr txBox="1"/>
              <p:nvPr/>
            </p:nvSpPr>
            <p:spPr>
              <a:xfrm>
                <a:off x="7005066" y="212090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카고 스타일</a:t>
                </a:r>
              </a:p>
            </p:txBody>
          </p:sp>
          <p:sp>
            <p:nvSpPr>
              <p:cNvPr id="31" name="TextBox 31"/>
              <p:cNvSpPr txBox="1"/>
              <p:nvPr/>
            </p:nvSpPr>
            <p:spPr>
              <a:xfrm>
                <a:off x="9405366" y="2120900"/>
                <a:ext cx="6820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2025년형~</a:t>
                </a:r>
              </a:p>
            </p:txBody>
          </p:sp>
        </p:grpSp>
        <p:sp>
          <p:nvSpPr>
            <p:cNvPr id="33" name="Line 33"/>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37" name="Group 37"/>
            <p:cNvGrpSpPr/>
            <p:nvPr/>
          </p:nvGrpSpPr>
          <p:grpSpPr>
            <a:xfrm>
              <a:off x="527685" y="2527300"/>
              <a:ext cx="662022" cy="1458278"/>
              <a:chOff x="527685" y="2527300"/>
              <a:chExt cx="662022" cy="1458278"/>
            </a:xfrm>
          </p:grpSpPr>
          <p:sp>
            <p:nvSpPr>
              <p:cNvPr id="34" name="TextBox 34"/>
              <p:cNvSpPr txBox="1"/>
              <p:nvPr/>
            </p:nvSpPr>
            <p:spPr>
              <a:xfrm>
                <a:off x="527685" y="252730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35" name="TextBox 35"/>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6" name="TextBox 36"/>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52" name="Group 52"/>
            <p:cNvGrpSpPr/>
            <p:nvPr/>
          </p:nvGrpSpPr>
          <p:grpSpPr>
            <a:xfrm>
              <a:off x="533400" y="2495550"/>
              <a:ext cx="11125200" cy="1583944"/>
              <a:chOff x="533400" y="2495550"/>
              <a:chExt cx="11125200" cy="1583944"/>
            </a:xfrm>
          </p:grpSpPr>
          <p:sp>
            <p:nvSpPr>
              <p:cNvPr id="38" name="TextBox 38"/>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9" name="TextBox 39"/>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40" name="TextBox 40"/>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41" name="TextBox 41"/>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42" name="Line 42"/>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2200656" y="3232150"/>
                <a:ext cx="1278937"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4,520만 원</a:t>
                </a:r>
              </a:p>
            </p:txBody>
          </p:sp>
          <p:sp>
            <p:nvSpPr>
              <p:cNvPr id="44" name="TextBox 44"/>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5" name="TextBox 45"/>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6" name="TextBox 46"/>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47" name="Line 47"/>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8" name="TextBox 48"/>
              <p:cNvSpPr txBox="1"/>
              <p:nvPr/>
            </p:nvSpPr>
            <p:spPr>
              <a:xfrm>
                <a:off x="2200656" y="3727450"/>
                <a:ext cx="768862" cy="352044"/>
              </a:xfrm>
              <a:prstGeom prst="rect">
                <a:avLst/>
              </a:prstGeom>
              <a:noFill/>
              <a:ln>
                <a:noFill/>
              </a:ln>
            </p:spPr>
            <p:txBody>
              <a:bodyPr wrap="none" lIns="0" tIns="0" rIns="0" bIns="0" anchor="t" anchorCtr="0">
                <a:spAutoFit/>
              </a:bodyPr>
              <a:lstStyle/>
              <a:p>
                <a:pPr algn="l"/>
                <a:r>
                  <a:rPr lang="en-US" sz="1800" b="1" dirty="0">
                    <a:solidFill>
                      <a:srgbClr val="0B1E3C"/>
                    </a:solidFill>
                    <a:latin typeface="+mn-lt"/>
                    <a:ea typeface="+mn-ea"/>
                    <a:cs typeface="+mn-cs"/>
                  </a:rPr>
                  <a:t>377km</a:t>
                </a:r>
              </a:p>
            </p:txBody>
          </p:sp>
          <p:sp>
            <p:nvSpPr>
              <p:cNvPr id="49" name="TextBox 49"/>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50" name="TextBox 50"/>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51" name="TextBox 51"/>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60" name="honest"/>
          <p:cNvGrpSpPr/>
          <p:nvPr/>
        </p:nvGrpSpPr>
        <p:grpSpPr>
          <a:xfrm>
            <a:off x="533400" y="4248150"/>
            <a:ext cx="11125200" cy="1276350"/>
            <a:chOff x="533400" y="4248150"/>
            <a:chExt cx="11125200" cy="1276350"/>
          </a:xfrm>
        </p:grpSpPr>
        <p:sp>
          <p:nvSpPr>
            <p:cNvPr id="54" name="Rectangle 54"/>
            <p:cNvSpPr/>
            <p:nvPr/>
          </p:nvSpPr>
          <p:spPr>
            <a:xfrm>
              <a:off x="533400" y="4248150"/>
              <a:ext cx="5448300" cy="1276350"/>
            </a:xfrm>
            <a:prstGeom prst="rect">
              <a:avLst/>
            </a:prstGeom>
            <a:solidFill>
              <a:srgbClr val="F3F5F8"/>
            </a:solidFill>
            <a:ln>
              <a:noFill/>
            </a:ln>
          </p:spPr>
        </p:sp>
        <p:sp>
          <p:nvSpPr>
            <p:cNvPr id="55" name="TextBox 55"/>
            <p:cNvSpPr txBox="1"/>
            <p:nvPr/>
          </p:nvSpPr>
          <p:spPr>
            <a:xfrm>
              <a:off x="718185" y="4375150"/>
              <a:ext cx="1764936" cy="220028"/>
            </a:xfrm>
            <a:prstGeom prst="rect">
              <a:avLst/>
            </a:prstGeom>
            <a:noFill/>
            <a:ln>
              <a:noFill/>
            </a:ln>
          </p:spPr>
          <p:txBody>
            <a:bodyPr wrap="none" lIns="0" tIns="0" rIns="0" bIns="0" anchor="t" anchorCtr="0">
              <a:spAutoFit/>
            </a:bodyPr>
            <a:lstStyle/>
            <a:p>
              <a:pPr algn="l"/>
              <a:r>
                <a:rPr lang="ko-KR" sz="1120" b="1" dirty="0">
                  <a:solidFill>
                    <a:srgbClr val="8A5A00"/>
                  </a:solidFill>
                  <a:latin typeface="+mn-lt"/>
                  <a:ea typeface="+mn-ea"/>
                  <a:cs typeface="+mn-cs"/>
                </a:rPr>
                <a:t>가격으로 고르지 않습니다</a:t>
              </a:r>
            </a:p>
          </p:txBody>
        </p:sp>
        <p:sp>
          <p:nvSpPr>
            <p:cNvPr id="56" name="TextBox 56"/>
            <p:cNvSpPr txBox="1"/>
            <p:nvPr/>
          </p:nvSpPr>
          <p:spPr>
            <a:xfrm>
              <a:off x="717804" y="4584700"/>
              <a:ext cx="332689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차값 차이는 최대 1,354만 원인데, 차량형 GPR은</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대당 </a:t>
              </a:r>
              <a:r>
                <a:rPr lang="ko-KR" sz="1200" b="1" dirty="0">
                  <a:solidFill>
                    <a:srgbClr val="111827"/>
                  </a:solidFill>
                  <a:latin typeface="+mn-lt"/>
                  <a:ea typeface="+mn-ea"/>
                  <a:cs typeface="+mn-cs"/>
                </a:rPr>
                <a:t>2억~8억 원</a:t>
              </a:r>
              <a:r>
                <a:rPr lang="ko-KR" sz="1200" dirty="0">
                  <a:solidFill>
                    <a:srgbClr val="111827"/>
                  </a:solidFill>
                  <a:latin typeface="+mn-lt"/>
                  <a:ea typeface="+mn-ea"/>
                  <a:cs typeface="+mn-cs"/>
                </a:rPr>
                <a:t>입니다. 차이를 가르는 건</a:t>
              </a:r>
              <a:br>
                <a:rPr lang="ko-KR" sz="1200" dirty="0">
                  <a:solidFill>
                    <a:srgbClr val="111827"/>
                  </a:solidFill>
                  <a:latin typeface="+mn-lt"/>
                  <a:ea typeface="+mn-ea"/>
                  <a:cs typeface="+mn-cs"/>
                </a:rPr>
              </a:br>
              <a:r>
                <a:rPr lang="ko-KR" sz="1200" dirty="0">
                  <a:solidFill>
                    <a:srgbClr val="111827"/>
                  </a:solidFill>
                  <a:latin typeface="+mn-lt"/>
                  <a:ea typeface="+mn-ea"/>
                  <a:cs typeface="+mn-cs"/>
                </a:rPr>
                <a:t>전원·고정 구조와 공식 컨버전 체계입니다.</a:t>
              </a:r>
            </a:p>
          </p:txBody>
        </p:sp>
        <p:sp>
          <p:nvSpPr>
            <p:cNvPr id="57" name="Rectangle 57"/>
            <p:cNvSpPr/>
            <p:nvPr/>
          </p:nvSpPr>
          <p:spPr>
            <a:xfrm>
              <a:off x="6210300" y="4248150"/>
              <a:ext cx="5448300" cy="1276350"/>
            </a:xfrm>
            <a:prstGeom prst="rect">
              <a:avLst/>
            </a:prstGeom>
            <a:solidFill>
              <a:srgbClr val="F3F5F8"/>
            </a:solidFill>
            <a:ln>
              <a:noFill/>
            </a:ln>
          </p:spPr>
        </p:sp>
        <p:sp>
          <p:nvSpPr>
            <p:cNvPr id="58" name="TextBox 58"/>
            <p:cNvSpPr txBox="1"/>
            <p:nvPr/>
          </p:nvSpPr>
          <p:spPr>
            <a:xfrm>
              <a:off x="639508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59" name="TextBox 59"/>
            <p:cNvSpPr txBox="1"/>
            <p:nvPr/>
          </p:nvSpPr>
          <p:spPr>
            <a:xfrm>
              <a:off x="6394704" y="4584700"/>
              <a:ext cx="412699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주행거리는 스타리아보다 10km 짧고, 전폭은 포터·봉고보다</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155mm 넓습니다. 하루 순찰 약 30km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에는</a:t>
              </a:r>
              <a:br>
                <a:rPr lang="ko-KR" sz="1200" dirty="0">
                  <a:solidFill>
                    <a:srgbClr val="111827"/>
                  </a:solidFill>
                  <a:latin typeface="+mn-lt"/>
                  <a:ea typeface="+mn-ea"/>
                  <a:cs typeface="+mn-cs"/>
                </a:rPr>
              </a:br>
              <a:r>
                <a:rPr lang="ko-KR" sz="1200" dirty="0">
                  <a:solidFill>
                    <a:srgbClr val="111827"/>
                  </a:solidFill>
                  <a:latin typeface="+mn-lt"/>
                  <a:ea typeface="+mn-ea"/>
                  <a:cs typeface="+mn-cs"/>
                </a:rPr>
                <a:t>377km로 충분합니다.</a:t>
              </a:r>
            </a:p>
          </p:txBody>
        </p:sp>
      </p:grpSp>
      <p:grpSp>
        <p:nvGrpSpPr>
          <p:cNvPr id="63" name="conclusion"/>
          <p:cNvGrpSpPr/>
          <p:nvPr/>
        </p:nvGrpSpPr>
        <p:grpSpPr>
          <a:xfrm>
            <a:off x="533400" y="5657850"/>
            <a:ext cx="8992086" cy="495300"/>
            <a:chOff x="533400" y="5657850"/>
            <a:chExt cx="8992086" cy="495300"/>
          </a:xfrm>
        </p:grpSpPr>
        <p:sp>
          <p:nvSpPr>
            <p:cNvPr id="61" name="Rectangle 61"/>
            <p:cNvSpPr/>
            <p:nvPr/>
          </p:nvSpPr>
          <p:spPr>
            <a:xfrm>
              <a:off x="533400" y="5657850"/>
              <a:ext cx="38100" cy="495300"/>
            </a:xfrm>
            <a:prstGeom prst="rect">
              <a:avLst/>
            </a:prstGeom>
            <a:solidFill>
              <a:srgbClr val="F5B700"/>
            </a:solidFill>
            <a:ln>
              <a:noFill/>
            </a:ln>
          </p:spPr>
        </p:sp>
        <p:sp>
          <p:nvSpPr>
            <p:cNvPr id="62" name="TextBox 62"/>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전원·고정 구조와 </a:t>
              </a:r>
              <a:r>
                <a:rPr lang="ko-KR" sz="1500" b="1" dirty="0">
                  <a:solidFill>
                    <a:srgbClr val="B45309"/>
                  </a:solidFill>
                  <a:latin typeface="+mn-lt"/>
                  <a:ea typeface="+mn-ea"/>
                  <a:cs typeface="+mn-cs"/>
                </a:rPr>
                <a:t>공식 컨버전 체계</a:t>
              </a:r>
              <a:r>
                <a:rPr lang="ko-KR" sz="1500" b="1" dirty="0">
                  <a:solidFill>
                    <a:srgbClr val="0B1E3C"/>
                  </a:solidFill>
                  <a:latin typeface="+mn-lt"/>
                  <a:ea typeface="+mn-ea"/>
                  <a:cs typeface="+mn-cs"/>
                </a:rPr>
                <a:t>를 갖춘 PV5로, 같은 탐사실을 여러 대에 그대로 복제합니다.</a:t>
              </a:r>
            </a:p>
          </p:txBody>
        </p:sp>
      </p:grpSp>
      <p:grpSp>
        <p:nvGrpSpPr>
          <p:cNvPr id="65" name="source"/>
          <p:cNvGrpSpPr/>
          <p:nvPr/>
        </p:nvGrpSpPr>
        <p:grpSpPr>
          <a:xfrm>
            <a:off x="528638" y="6248400"/>
            <a:ext cx="9925050" cy="328612"/>
            <a:chOff x="528638" y="6248400"/>
            <a:chExt cx="9925050" cy="328612"/>
          </a:xfrm>
        </p:grpSpPr>
        <p:sp>
          <p:nvSpPr>
            <p:cNvPr id="64" name="TextBox 64"/>
            <p:cNvSpPr txBox="1"/>
            <p:nvPr/>
          </p:nvSpPr>
          <p:spPr>
            <a:xfrm>
              <a:off x="528638" y="6248400"/>
              <a:ext cx="9925050" cy="328612"/>
            </a:xfrm>
            <a:prstGeom prst="rect">
              <a:avLst/>
            </a:prstGeom>
            <a:noFill/>
            <a:ln>
              <a:noFill/>
            </a:ln>
          </p:spPr>
          <p:txBody>
            <a:bodyPr wrap="none" lIns="0" tIns="0" rIns="0" bIns="0" anchor="t" anchorCtr="0">
              <a:spAutoFit/>
            </a:bodyPr>
            <a:lstStyle/>
            <a:p>
              <a:pPr algn="l">
                <a:lnSpc>
                  <a:spcPts val="1200"/>
                </a:lnSpc>
              </a:pPr>
              <a:r>
                <a:rPr lang="ko-KR" sz="900" dirty="0">
                  <a:solidFill>
                    <a:srgbClr val="4B5563"/>
                  </a:solidFill>
                  <a:latin typeface="+mn-lt"/>
                  <a:ea typeface="+mn-ea"/>
                  <a:cs typeface="+mn-cs"/>
                </a:rPr>
                <a:t>출처: 기아 PV5 카고 가격표(2026.10.1)·제원 · 오토뷰(2026, PV5 공식 컨버전 파트너·포털) · 스타리아 일렉트릭 출시(2026.4.23) · 2026 ST1 출시(2025.7.16)·현대차그룹 뉴스룸(317km)</a:t>
              </a:r>
              <a:br>
                <a:rPr lang="ko-KR" sz="900" dirty="0">
                  <a:solidFill>
                    <a:srgbClr val="4B5563"/>
                  </a:solidFill>
                  <a:latin typeface="+mn-lt"/>
                  <a:ea typeface="+mn-ea"/>
                  <a:cs typeface="+mn-cs"/>
                </a:rPr>
              </a:br>
              <a:r>
                <a:rPr lang="ko-KR" sz="900" dirty="0">
                  <a:solidFill>
                    <a:srgbClr val="4B5563"/>
                  </a:solidFill>
                  <a:latin typeface="+mn-lt"/>
                  <a:ea typeface="+mn-ea"/>
                  <a:cs typeface="+mn-cs"/>
                </a:rPr>
                <a:t>포터II·봉고III EV 2025년형 발표(217km) · 시사저널(2025.4.25, 경기도청 인용 GPR 대당 2억~8억 원) · 가격은 표기한 트림 기준, 보조금 제외</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12</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6724630" cy="557403"/>
            <a:chOff x="518922" y="781050"/>
            <a:chExt cx="6724630" cy="557403"/>
          </a:xfrm>
        </p:grpSpPr>
        <p:sp>
          <p:nvSpPr>
            <p:cNvPr id="17" name="TextBox 17"/>
            <p:cNvSpPr txBox="1"/>
            <p:nvPr/>
          </p:nvSpPr>
          <p:spPr>
            <a:xfrm>
              <a:off x="518922" y="781050"/>
              <a:ext cx="6724630"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남은 질문은 4가지, 4단계로 실증합니다</a:t>
              </a:r>
            </a:p>
          </p:txBody>
        </p:sp>
      </p:grpSp>
      <p:grpSp>
        <p:nvGrpSpPr>
          <p:cNvPr id="21" name="lead"/>
          <p:cNvGrpSpPr/>
          <p:nvPr/>
        </p:nvGrpSpPr>
        <p:grpSpPr>
          <a:xfrm>
            <a:off x="526161" y="1384300"/>
            <a:ext cx="5806638" cy="545402"/>
            <a:chOff x="526161" y="1384300"/>
            <a:chExt cx="5806638" cy="545402"/>
          </a:xfrm>
        </p:grpSpPr>
        <p:sp>
          <p:nvSpPr>
            <p:cNvPr id="19" name="TextBox 19"/>
            <p:cNvSpPr txBox="1"/>
            <p:nvPr/>
          </p:nvSpPr>
          <p:spPr>
            <a:xfrm>
              <a:off x="526161" y="1384300"/>
              <a:ext cx="5806638"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반복 탐사가 공동 성장을 잡는다는 것은 연구로 확인됐습니다(3장).</a:t>
              </a:r>
            </a:p>
          </p:txBody>
        </p:sp>
        <p:sp>
          <p:nvSpPr>
            <p:cNvPr id="20" name="TextBox 20"/>
            <p:cNvSpPr txBox="1"/>
            <p:nvPr/>
          </p:nvSpPr>
          <p:spPr>
            <a:xfrm>
              <a:off x="526161" y="1651000"/>
              <a:ext cx="477935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남은 질문은 하나, PV5에 실었을 때도 정확한가입니다.</a:t>
              </a:r>
            </a:p>
          </p:txBody>
        </p:sp>
      </p:grpSp>
      <p:grpSp>
        <p:nvGrpSpPr>
          <p:cNvPr id="48" name="matrix"/>
          <p:cNvGrpSpPr/>
          <p:nvPr/>
        </p:nvGrpSpPr>
        <p:grpSpPr>
          <a:xfrm>
            <a:off x="527304" y="2616200"/>
            <a:ext cx="11131296" cy="2038096"/>
            <a:chOff x="527304" y="2616200"/>
            <a:chExt cx="11131296" cy="2038096"/>
          </a:xfrm>
        </p:grpSpPr>
        <p:grpSp>
          <p:nvGrpSpPr>
            <p:cNvPr id="26" name="Group 26"/>
            <p:cNvGrpSpPr/>
            <p:nvPr/>
          </p:nvGrpSpPr>
          <p:grpSpPr>
            <a:xfrm>
              <a:off x="528066" y="2616200"/>
              <a:ext cx="10374198" cy="205359"/>
              <a:chOff x="528066" y="2616200"/>
              <a:chExt cx="10374198" cy="205359"/>
            </a:xfrm>
          </p:grpSpPr>
          <p:sp>
            <p:nvSpPr>
              <p:cNvPr id="22" name="TextBox 22"/>
              <p:cNvSpPr txBox="1"/>
              <p:nvPr/>
            </p:nvSpPr>
            <p:spPr>
              <a:xfrm>
                <a:off x="528066" y="2616200"/>
                <a:ext cx="1170806"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먼저 실증할 4가지</a:t>
                </a:r>
              </a:p>
            </p:txBody>
          </p:sp>
          <p:sp>
            <p:nvSpPr>
              <p:cNvPr id="23" name="TextBox 23"/>
              <p:cNvSpPr txBox="1"/>
              <p:nvPr/>
            </p:nvSpPr>
            <p:spPr>
              <a:xfrm>
                <a:off x="3614166" y="2616200"/>
                <a:ext cx="576072"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실패하면</a:t>
                </a:r>
              </a:p>
            </p:txBody>
          </p:sp>
          <p:sp>
            <p:nvSpPr>
              <p:cNvPr id="24" name="TextBox 24"/>
              <p:cNvSpPr txBox="1"/>
              <p:nvPr/>
            </p:nvSpPr>
            <p:spPr>
              <a:xfrm>
                <a:off x="6662166" y="2616200"/>
                <a:ext cx="1044651"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어떻게 확인하나</a:t>
                </a:r>
              </a:p>
            </p:txBody>
          </p:sp>
          <p:sp>
            <p:nvSpPr>
              <p:cNvPr id="25" name="TextBox 25"/>
              <p:cNvSpPr txBox="1"/>
              <p:nvPr/>
            </p:nvSpPr>
            <p:spPr>
              <a:xfrm>
                <a:off x="10281666" y="2616200"/>
                <a:ext cx="620598"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실증 단계</a:t>
                </a:r>
              </a:p>
            </p:txBody>
          </p:sp>
        </p:grpSp>
        <p:sp>
          <p:nvSpPr>
            <p:cNvPr id="27" name="Line 27"/>
            <p:cNvSpPr/>
            <p:nvPr/>
          </p:nvSpPr>
          <p:spPr>
            <a:xfrm>
              <a:off x="533400" y="28384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47" name="Group 47"/>
            <p:cNvGrpSpPr/>
            <p:nvPr/>
          </p:nvGrpSpPr>
          <p:grpSpPr>
            <a:xfrm>
              <a:off x="527304" y="2990850"/>
              <a:ext cx="11131296" cy="1663446"/>
              <a:chOff x="527304" y="2990850"/>
              <a:chExt cx="11131296" cy="1663446"/>
            </a:xfrm>
          </p:grpSpPr>
          <p:sp>
            <p:nvSpPr>
              <p:cNvPr id="28" name="TextBox 28"/>
              <p:cNvSpPr txBox="1"/>
              <p:nvPr/>
            </p:nvSpPr>
            <p:spPr>
              <a:xfrm>
                <a:off x="527304" y="2990850"/>
                <a:ext cx="2161931"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EV 구동계 × GPR 전자파 간섭</a:t>
                </a:r>
              </a:p>
            </p:txBody>
          </p:sp>
          <p:sp>
            <p:nvSpPr>
              <p:cNvPr id="29" name="TextBox 29"/>
              <p:cNvSpPr txBox="1"/>
              <p:nvPr/>
            </p:nvSpPr>
            <p:spPr>
              <a:xfrm>
                <a:off x="3613404" y="2990850"/>
                <a:ext cx="1773022" cy="234696"/>
              </a:xfrm>
              <a:prstGeom prst="rect">
                <a:avLst/>
              </a:prstGeom>
              <a:noFill/>
              <a:ln>
                <a:noFill/>
              </a:ln>
            </p:spPr>
            <p:txBody>
              <a:bodyPr wrap="none" lIns="0" tIns="0" rIns="0" bIns="0" anchor="t" anchorCtr="0">
                <a:spAutoFit/>
              </a:bodyPr>
              <a:lstStyle/>
              <a:p>
                <a:pPr algn="l"/>
                <a:r>
                  <a:rPr lang="ko-KR" sz="1200" dirty="0">
                    <a:solidFill>
                      <a:srgbClr val="C62828"/>
                    </a:solidFill>
                    <a:latin typeface="+mn-lt"/>
                    <a:ea typeface="+mn-ea"/>
                    <a:cs typeface="+mn-cs"/>
                  </a:rPr>
                  <a:t>차량형 측정 자체가 불가</a:t>
                </a:r>
              </a:p>
            </p:txBody>
          </p:sp>
          <p:sp>
            <p:nvSpPr>
              <p:cNvPr id="30" name="TextBox 30"/>
              <p:cNvSpPr txBox="1"/>
              <p:nvPr/>
            </p:nvSpPr>
            <p:spPr>
              <a:xfrm>
                <a:off x="6661404" y="2990850"/>
                <a:ext cx="240167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주행·정차·V2L 상태별 잡음 비교</a:t>
                </a:r>
              </a:p>
            </p:txBody>
          </p:sp>
          <p:sp>
            <p:nvSpPr>
              <p:cNvPr id="31" name="TextBox 31"/>
              <p:cNvSpPr txBox="1"/>
              <p:nvPr/>
            </p:nvSpPr>
            <p:spPr>
              <a:xfrm>
                <a:off x="10280904" y="2990850"/>
                <a:ext cx="428572" cy="234696"/>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1단계</a:t>
                </a:r>
              </a:p>
            </p:txBody>
          </p:sp>
          <p:sp>
            <p:nvSpPr>
              <p:cNvPr id="32" name="Line 32"/>
              <p:cNvSpPr/>
              <p:nvPr/>
            </p:nvSpPr>
            <p:spPr>
              <a:xfrm>
                <a:off x="533400" y="33147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3" name="TextBox 33"/>
              <p:cNvSpPr txBox="1"/>
              <p:nvPr/>
            </p:nvSpPr>
            <p:spPr>
              <a:xfrm>
                <a:off x="527304" y="3467100"/>
                <a:ext cx="1244773"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회차별 위치 정합</a:t>
                </a:r>
              </a:p>
            </p:txBody>
          </p:sp>
          <p:sp>
            <p:nvSpPr>
              <p:cNvPr id="34" name="TextBox 34"/>
              <p:cNvSpPr txBox="1"/>
              <p:nvPr/>
            </p:nvSpPr>
            <p:spPr>
              <a:xfrm>
                <a:off x="3613404" y="3467100"/>
                <a:ext cx="1239926" cy="234696"/>
              </a:xfrm>
              <a:prstGeom prst="rect">
                <a:avLst/>
              </a:prstGeom>
              <a:noFill/>
              <a:ln>
                <a:noFill/>
              </a:ln>
            </p:spPr>
            <p:txBody>
              <a:bodyPr wrap="none" lIns="0" tIns="0" rIns="0" bIns="0" anchor="t" anchorCtr="0">
                <a:spAutoFit/>
              </a:bodyPr>
              <a:lstStyle/>
              <a:p>
                <a:pPr algn="l"/>
                <a:r>
                  <a:rPr lang="ko-KR" sz="1200" dirty="0">
                    <a:solidFill>
                      <a:srgbClr val="C62828"/>
                    </a:solidFill>
                    <a:latin typeface="+mn-lt"/>
                    <a:ea typeface="+mn-ea"/>
                    <a:cs typeface="+mn-cs"/>
                  </a:rPr>
                  <a:t>변화 비교가 불가</a:t>
                </a:r>
              </a:p>
            </p:txBody>
          </p:sp>
          <p:sp>
            <p:nvSpPr>
              <p:cNvPr id="35" name="TextBox 35"/>
              <p:cNvSpPr txBox="1"/>
              <p:nvPr/>
            </p:nvSpPr>
            <p:spPr>
              <a:xfrm>
                <a:off x="6661404" y="3467100"/>
                <a:ext cx="306583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RTK·IMU·휠 인코더 · 시계열 3D GPR 정합</a:t>
                </a:r>
              </a:p>
            </p:txBody>
          </p:sp>
          <p:sp>
            <p:nvSpPr>
              <p:cNvPr id="36" name="TextBox 36"/>
              <p:cNvSpPr txBox="1"/>
              <p:nvPr/>
            </p:nvSpPr>
            <p:spPr>
              <a:xfrm>
                <a:off x="10280904" y="3467100"/>
                <a:ext cx="428572" cy="234696"/>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2단계</a:t>
                </a:r>
              </a:p>
            </p:txBody>
          </p:sp>
          <p:sp>
            <p:nvSpPr>
              <p:cNvPr id="37" name="Line 37"/>
              <p:cNvSpPr/>
              <p:nvPr/>
            </p:nvSpPr>
            <p:spPr>
              <a:xfrm>
                <a:off x="533400" y="37909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8" name="TextBox 38"/>
              <p:cNvSpPr txBox="1"/>
              <p:nvPr/>
            </p:nvSpPr>
            <p:spPr>
              <a:xfrm>
                <a:off x="527304" y="3943350"/>
                <a:ext cx="1654828"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AI 변화 탐지율·오탐률</a:t>
                </a:r>
              </a:p>
            </p:txBody>
          </p:sp>
          <p:sp>
            <p:nvSpPr>
              <p:cNvPr id="39" name="TextBox 39"/>
              <p:cNvSpPr txBox="1"/>
              <p:nvPr/>
            </p:nvSpPr>
            <p:spPr>
              <a:xfrm>
                <a:off x="3613404" y="3943350"/>
                <a:ext cx="1401470" cy="234696"/>
              </a:xfrm>
              <a:prstGeom prst="rect">
                <a:avLst/>
              </a:prstGeom>
              <a:noFill/>
              <a:ln>
                <a:noFill/>
              </a:ln>
            </p:spPr>
            <p:txBody>
              <a:bodyPr wrap="none" lIns="0" tIns="0" rIns="0" bIns="0" anchor="t" anchorCtr="0">
                <a:spAutoFit/>
              </a:bodyPr>
              <a:lstStyle/>
              <a:p>
                <a:pPr algn="l"/>
                <a:r>
                  <a:rPr lang="ko-KR" sz="1200" dirty="0">
                    <a:solidFill>
                      <a:srgbClr val="C62828"/>
                    </a:solidFill>
                    <a:latin typeface="+mn-lt"/>
                    <a:ea typeface="+mn-ea"/>
                    <a:cs typeface="+mn-cs"/>
                  </a:rPr>
                  <a:t>재확인 출동이 과다</a:t>
                </a:r>
              </a:p>
            </p:txBody>
          </p:sp>
          <p:sp>
            <p:nvSpPr>
              <p:cNvPr id="40" name="TextBox 40"/>
              <p:cNvSpPr txBox="1"/>
              <p:nvPr/>
            </p:nvSpPr>
            <p:spPr>
              <a:xfrm>
                <a:off x="6661404" y="3943350"/>
                <a:ext cx="281498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공동 모사체 구간 · 계절별 함수비 보정</a:t>
                </a:r>
              </a:p>
            </p:txBody>
          </p:sp>
          <p:sp>
            <p:nvSpPr>
              <p:cNvPr id="41" name="TextBox 41"/>
              <p:cNvSpPr txBox="1"/>
              <p:nvPr/>
            </p:nvSpPr>
            <p:spPr>
              <a:xfrm>
                <a:off x="10280904" y="3943350"/>
                <a:ext cx="615155" cy="234696"/>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2~3단계</a:t>
                </a:r>
              </a:p>
            </p:txBody>
          </p:sp>
          <p:sp>
            <p:nvSpPr>
              <p:cNvPr id="42" name="Line 42"/>
              <p:cNvSpPr/>
              <p:nvPr/>
            </p:nvSpPr>
            <p:spPr>
              <a:xfrm>
                <a:off x="533400" y="4267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527304" y="4419600"/>
                <a:ext cx="133702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야간 AR 위치 오차</a:t>
                </a:r>
              </a:p>
            </p:txBody>
          </p:sp>
          <p:sp>
            <p:nvSpPr>
              <p:cNvPr id="44" name="TextBox 44"/>
              <p:cNvSpPr txBox="1"/>
              <p:nvPr/>
            </p:nvSpPr>
            <p:spPr>
              <a:xfrm>
                <a:off x="3613404" y="4419600"/>
                <a:ext cx="1611478" cy="234696"/>
              </a:xfrm>
              <a:prstGeom prst="rect">
                <a:avLst/>
              </a:prstGeom>
              <a:noFill/>
              <a:ln>
                <a:noFill/>
              </a:ln>
            </p:spPr>
            <p:txBody>
              <a:bodyPr wrap="none" lIns="0" tIns="0" rIns="0" bIns="0" anchor="t" anchorCtr="0">
                <a:spAutoFit/>
              </a:bodyPr>
              <a:lstStyle/>
              <a:p>
                <a:pPr algn="l"/>
                <a:r>
                  <a:rPr lang="ko-KR" sz="1200" dirty="0">
                    <a:solidFill>
                      <a:srgbClr val="C62828"/>
                    </a:solidFill>
                    <a:latin typeface="+mn-lt"/>
                    <a:ea typeface="+mn-ea"/>
                    <a:cs typeface="+mn-cs"/>
                  </a:rPr>
                  <a:t>수동 탐색 범위가 커짐</a:t>
                </a:r>
              </a:p>
            </p:txBody>
          </p:sp>
          <p:sp>
            <p:nvSpPr>
              <p:cNvPr id="45" name="TextBox 45"/>
              <p:cNvSpPr txBox="1"/>
              <p:nvPr/>
            </p:nvSpPr>
            <p:spPr>
              <a:xfrm>
                <a:off x="6661404" y="4419600"/>
                <a:ext cx="268574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맨홀·경계석 기준점, 야간·우천 오차</a:t>
                </a:r>
              </a:p>
            </p:txBody>
          </p:sp>
          <p:sp>
            <p:nvSpPr>
              <p:cNvPr id="46" name="TextBox 46"/>
              <p:cNvSpPr txBox="1"/>
              <p:nvPr/>
            </p:nvSpPr>
            <p:spPr>
              <a:xfrm>
                <a:off x="10280904" y="4419600"/>
                <a:ext cx="428572" cy="234696"/>
              </a:xfrm>
              <a:prstGeom prst="rect">
                <a:avLst/>
              </a:prstGeom>
              <a:noFill/>
              <a:ln>
                <a:noFill/>
              </a:ln>
            </p:spPr>
            <p:txBody>
              <a:bodyPr wrap="none" lIns="0" tIns="0" rIns="0" bIns="0" anchor="t" anchorCtr="0">
                <a:spAutoFit/>
              </a:bodyPr>
              <a:lstStyle/>
              <a:p>
                <a:pPr algn="l"/>
                <a:r>
                  <a:rPr lang="ko-KR" sz="1200" b="1" dirty="0">
                    <a:solidFill>
                      <a:srgbClr val="111827"/>
                    </a:solidFill>
                    <a:latin typeface="+mn-lt"/>
                    <a:ea typeface="+mn-ea"/>
                    <a:cs typeface="+mn-cs"/>
                  </a:rPr>
                  <a:t>3단계</a:t>
                </a:r>
              </a:p>
            </p:txBody>
          </p:sp>
        </p:grpSp>
      </p:grpSp>
      <p:grpSp>
        <p:nvGrpSpPr>
          <p:cNvPr id="54" name="regulation"/>
          <p:cNvGrpSpPr/>
          <p:nvPr/>
        </p:nvGrpSpPr>
        <p:grpSpPr>
          <a:xfrm>
            <a:off x="533400" y="5200650"/>
            <a:ext cx="11125200" cy="876300"/>
            <a:chOff x="533400" y="5200650"/>
            <a:chExt cx="11125200" cy="876300"/>
          </a:xfrm>
        </p:grpSpPr>
        <p:sp>
          <p:nvSpPr>
            <p:cNvPr id="49" name="Rectangle 49"/>
            <p:cNvSpPr/>
            <p:nvPr/>
          </p:nvSpPr>
          <p:spPr>
            <a:xfrm>
              <a:off x="533400" y="5200650"/>
              <a:ext cx="11125200" cy="876300"/>
            </a:xfrm>
            <a:prstGeom prst="rect">
              <a:avLst/>
            </a:prstGeom>
            <a:solidFill>
              <a:srgbClr val="F3F5F8"/>
            </a:solidFill>
            <a:ln>
              <a:noFill/>
            </a:ln>
          </p:spPr>
        </p:sp>
        <p:sp>
          <p:nvSpPr>
            <p:cNvPr id="50" name="TextBox 50"/>
            <p:cNvSpPr txBox="1"/>
            <p:nvPr/>
          </p:nvSpPr>
          <p:spPr>
            <a:xfrm>
              <a:off x="718185" y="5327650"/>
              <a:ext cx="947362" cy="220028"/>
            </a:xfrm>
            <a:prstGeom prst="rect">
              <a:avLst/>
            </a:prstGeom>
            <a:noFill/>
            <a:ln>
              <a:noFill/>
            </a:ln>
          </p:spPr>
          <p:txBody>
            <a:bodyPr wrap="none" lIns="0" tIns="0" rIns="0" bIns="0" anchor="t" anchorCtr="0">
              <a:spAutoFit/>
            </a:bodyPr>
            <a:lstStyle/>
            <a:p>
              <a:pPr algn="l"/>
              <a:r>
                <a:rPr lang="ko-KR" sz="1120" b="1" dirty="0">
                  <a:solidFill>
                    <a:srgbClr val="8A5A00"/>
                  </a:solidFill>
                  <a:latin typeface="+mn-lt"/>
                  <a:ea typeface="+mn-ea"/>
                  <a:cs typeface="+mn-cs"/>
                </a:rPr>
                <a:t>인허가 · 법규</a:t>
              </a:r>
            </a:p>
          </p:txBody>
        </p:sp>
        <p:sp>
          <p:nvSpPr>
            <p:cNvPr id="51" name="TextBox 51"/>
            <p:cNvSpPr txBox="1"/>
            <p:nvPr/>
          </p:nvSpPr>
          <p:spPr>
            <a:xfrm>
              <a:off x="1994535" y="5327650"/>
              <a:ext cx="7363944"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도로 영상</a:t>
              </a:r>
              <a:r>
                <a:rPr lang="ko-KR" sz="1120" dirty="0">
                  <a:solidFill>
                    <a:srgbClr val="111827"/>
                  </a:solidFill>
                  <a:latin typeface="+mn-lt"/>
                  <a:ea typeface="+mn-ea"/>
                  <a:cs typeface="+mn-cs"/>
                </a:rPr>
                <a:t xml:space="preserve"> 개인정보보호법 제25조의2(이동형 영상정보처리기기, 2023.9 시행) → 차량 외부에 촬영 사실 표시</a:t>
              </a:r>
            </a:p>
          </p:txBody>
        </p:sp>
        <p:sp>
          <p:nvSpPr>
            <p:cNvPr id="52" name="TextBox 52"/>
            <p:cNvSpPr txBox="1"/>
            <p:nvPr/>
          </p:nvSpPr>
          <p:spPr>
            <a:xfrm>
              <a:off x="1994535" y="5565775"/>
              <a:ext cx="4823153"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GPR 전파</a:t>
              </a:r>
              <a:r>
                <a:rPr lang="ko-KR" sz="1120" dirty="0">
                  <a:solidFill>
                    <a:srgbClr val="111827"/>
                  </a:solidFill>
                  <a:latin typeface="+mn-lt"/>
                  <a:ea typeface="+mn-ea"/>
                  <a:cs typeface="+mn-cs"/>
                </a:rPr>
                <a:t xml:space="preserve"> 국립전파연구원 적합성평가 대상·기준 확인 </a:t>
              </a:r>
              <a:r>
                <a:rPr lang="ko-KR" sz="1120" dirty="0">
                  <a:solidFill>
                    <a:srgbClr val="4B5563"/>
                  </a:solidFill>
                  <a:latin typeface="+mn-lt"/>
                  <a:ea typeface="+mn-ea"/>
                  <a:cs typeface="+mn-cs"/>
                </a:rPr>
                <a:t>[사업화 전 확인]</a:t>
              </a:r>
            </a:p>
          </p:txBody>
        </p:sp>
        <p:sp>
          <p:nvSpPr>
            <p:cNvPr id="53" name="TextBox 53"/>
            <p:cNvSpPr txBox="1"/>
            <p:nvPr/>
          </p:nvSpPr>
          <p:spPr>
            <a:xfrm>
              <a:off x="1994535" y="5803900"/>
              <a:ext cx="781626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차량 장착</a:t>
              </a:r>
              <a:r>
                <a:rPr lang="ko-KR" sz="1120" dirty="0">
                  <a:solidFill>
                    <a:srgbClr val="111827"/>
                  </a:solidFill>
                  <a:latin typeface="+mn-lt"/>
                  <a:ea typeface="+mn-ea"/>
                  <a:cs typeface="+mn-cs"/>
                </a:rPr>
                <a:t xml:space="preserve"> 튜닝 승인 해당 여부를 한국교통안전공단에 확인 · 기아 공식 컨버전 파트너를 거쳐 장착 </a:t>
              </a:r>
              <a:r>
                <a:rPr lang="ko-KR" sz="1120" dirty="0">
                  <a:solidFill>
                    <a:srgbClr val="4B5563"/>
                  </a:solidFill>
                  <a:latin typeface="+mn-lt"/>
                  <a:ea typeface="+mn-ea"/>
                  <a:cs typeface="+mn-cs"/>
                </a:rPr>
                <a:t>[사업화 전 확인]</a:t>
              </a:r>
            </a:p>
          </p:txBody>
        </p:sp>
      </p:grpSp>
      <p:grpSp>
        <p:nvGrpSpPr>
          <p:cNvPr id="56" name="source"/>
          <p:cNvGrpSpPr/>
          <p:nvPr/>
        </p:nvGrpSpPr>
        <p:grpSpPr>
          <a:xfrm>
            <a:off x="528638" y="6343650"/>
            <a:ext cx="8302757" cy="176212"/>
            <a:chOff x="528638" y="6343650"/>
            <a:chExt cx="8302757" cy="176212"/>
          </a:xfrm>
        </p:grpSpPr>
        <p:sp>
          <p:nvSpPr>
            <p:cNvPr id="55" name="TextBox 55"/>
            <p:cNvSpPr txBox="1"/>
            <p:nvPr/>
          </p:nvSpPr>
          <p:spPr>
            <a:xfrm>
              <a:off x="528638" y="6343650"/>
              <a:ext cx="8302757"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일본 국토교통성 도로정책 연구 30-5(2021) · Ling et al., Remote Sensing(2022) · 개인정보보호법 제25조의2 · 자동차관리법 시행규칙 제55조</a:t>
              </a:r>
            </a:p>
          </p:txBody>
        </p:sp>
      </p:grpSp>
      <p:grpSp>
        <p:nvGrpSpPr>
          <p:cNvPr id="59" name="footer"/>
          <p:cNvGrpSpPr/>
          <p:nvPr/>
        </p:nvGrpSpPr>
        <p:grpSpPr>
          <a:xfrm>
            <a:off x="528638" y="6610350"/>
            <a:ext cx="11134724" cy="176212"/>
            <a:chOff x="528638" y="6610350"/>
            <a:chExt cx="11134724" cy="176212"/>
          </a:xfrm>
        </p:grpSpPr>
        <p:sp>
          <p:nvSpPr>
            <p:cNvPr id="57" name="TextBox 57"/>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8" name="TextBox 5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12</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시장과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7372201" cy="557403"/>
            <a:chOff x="518922" y="781050"/>
            <a:chExt cx="7372201" cy="557403"/>
          </a:xfrm>
        </p:grpSpPr>
        <p:sp>
          <p:nvSpPr>
            <p:cNvPr id="17" name="TextBox 17"/>
            <p:cNvSpPr txBox="1"/>
            <p:nvPr/>
          </p:nvSpPr>
          <p:spPr>
            <a:xfrm>
              <a:off x="518922" y="781050"/>
              <a:ext cx="7372201"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차량 1대가 자치구 2곳만 맡아도 흑자입니다</a:t>
              </a:r>
            </a:p>
          </p:txBody>
        </p:sp>
      </p:grpSp>
      <p:grpSp>
        <p:nvGrpSpPr>
          <p:cNvPr id="28" name="market"/>
          <p:cNvGrpSpPr/>
          <p:nvPr/>
        </p:nvGrpSpPr>
        <p:grpSpPr>
          <a:xfrm>
            <a:off x="533400" y="1333500"/>
            <a:ext cx="11125200" cy="728028"/>
            <a:chOff x="533400" y="1333500"/>
            <a:chExt cx="11125200" cy="728028"/>
          </a:xfrm>
        </p:grpSpPr>
        <p:sp>
          <p:nvSpPr>
            <p:cNvPr id="19" name="Rectangle 19"/>
            <p:cNvSpPr/>
            <p:nvPr/>
          </p:nvSpPr>
          <p:spPr>
            <a:xfrm>
              <a:off x="533400" y="1333500"/>
              <a:ext cx="3581400" cy="28575"/>
            </a:xfrm>
            <a:prstGeom prst="rect">
              <a:avLst/>
            </a:prstGeom>
            <a:solidFill>
              <a:srgbClr val="0B1E3C"/>
            </a:solidFill>
            <a:ln>
              <a:noFill/>
            </a:ln>
          </p:spPr>
        </p:sp>
        <p:sp>
          <p:nvSpPr>
            <p:cNvPr id="20" name="TextBox 20"/>
            <p:cNvSpPr txBox="1"/>
            <p:nvPr/>
          </p:nvSpPr>
          <p:spPr>
            <a:xfrm>
              <a:off x="712470" y="1454150"/>
              <a:ext cx="1485843" cy="440055"/>
            </a:xfrm>
            <a:prstGeom prst="rect">
              <a:avLst/>
            </a:prstGeom>
            <a:noFill/>
            <a:ln>
              <a:noFill/>
            </a:ln>
          </p:spPr>
          <p:txBody>
            <a:bodyPr wrap="none" lIns="0" tIns="0" rIns="0" bIns="0" anchor="t" anchorCtr="0">
              <a:spAutoFit/>
            </a:bodyPr>
            <a:lstStyle/>
            <a:p>
              <a:pPr algn="l"/>
              <a:r>
                <a:rPr lang="en-US" sz="2250" b="1" dirty="0">
                  <a:solidFill>
                    <a:srgbClr val="B45309"/>
                  </a:solidFill>
                  <a:latin typeface="+mn-lt"/>
                  <a:ea typeface="+mn-ea"/>
                  <a:cs typeface="+mn-cs"/>
                </a:rPr>
                <a:t>96,712km</a:t>
              </a:r>
            </a:p>
          </p:txBody>
        </p:sp>
        <p:sp>
          <p:nvSpPr>
            <p:cNvPr id="21" name="TextBox 21"/>
            <p:cNvSpPr txBox="1"/>
            <p:nvPr/>
          </p:nvSpPr>
          <p:spPr>
            <a:xfrm>
              <a:off x="718185" y="1841500"/>
              <a:ext cx="2628497"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지자체가 관리하는 도로 (전국의 83%)</a:t>
              </a:r>
            </a:p>
          </p:txBody>
        </p:sp>
        <p:sp>
          <p:nvSpPr>
            <p:cNvPr id="22" name="Rectangle 22"/>
            <p:cNvSpPr/>
            <p:nvPr/>
          </p:nvSpPr>
          <p:spPr>
            <a:xfrm>
              <a:off x="4305300" y="1333500"/>
              <a:ext cx="3581400" cy="28575"/>
            </a:xfrm>
            <a:prstGeom prst="rect">
              <a:avLst/>
            </a:prstGeom>
            <a:solidFill>
              <a:srgbClr val="0B1E3C"/>
            </a:solidFill>
            <a:ln>
              <a:noFill/>
            </a:ln>
          </p:spPr>
        </p:sp>
        <p:sp>
          <p:nvSpPr>
            <p:cNvPr id="23" name="TextBox 23"/>
            <p:cNvSpPr txBox="1"/>
            <p:nvPr/>
          </p:nvSpPr>
          <p:spPr>
            <a:xfrm>
              <a:off x="4484370" y="1454150"/>
              <a:ext cx="2726198" cy="440055"/>
            </a:xfrm>
            <a:prstGeom prst="rect">
              <a:avLst/>
            </a:prstGeom>
            <a:noFill/>
            <a:ln>
              <a:noFill/>
            </a:ln>
          </p:spPr>
          <p:txBody>
            <a:bodyPr wrap="none" lIns="0" tIns="0" rIns="0" bIns="0" anchor="t" anchorCtr="0">
              <a:spAutoFit/>
            </a:bodyPr>
            <a:lstStyle/>
            <a:p>
              <a:pPr algn="l"/>
              <a:r>
                <a:rPr lang="en-US" sz="2250" b="1" dirty="0">
                  <a:solidFill>
                    <a:srgbClr val="B45309"/>
                  </a:solidFill>
                  <a:latin typeface="+mn-lt"/>
                  <a:ea typeface="+mn-ea"/>
                  <a:cs typeface="+mn-cs"/>
                </a:rPr>
                <a:t>2,308 → 11,380km</a:t>
              </a:r>
            </a:p>
          </p:txBody>
        </p:sp>
        <p:sp>
          <p:nvSpPr>
            <p:cNvPr id="24" name="TextBox 24"/>
            <p:cNvSpPr txBox="1"/>
            <p:nvPr/>
          </p:nvSpPr>
          <p:spPr>
            <a:xfrm>
              <a:off x="4490085" y="1841500"/>
              <a:ext cx="2238745"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정부 지반탐사 연장 2024 → 2026</a:t>
              </a:r>
            </a:p>
          </p:txBody>
        </p:sp>
        <p:sp>
          <p:nvSpPr>
            <p:cNvPr id="25" name="Rectangle 25"/>
            <p:cNvSpPr/>
            <p:nvPr/>
          </p:nvSpPr>
          <p:spPr>
            <a:xfrm>
              <a:off x="8077200" y="1333500"/>
              <a:ext cx="3581400" cy="28575"/>
            </a:xfrm>
            <a:prstGeom prst="rect">
              <a:avLst/>
            </a:prstGeom>
            <a:solidFill>
              <a:srgbClr val="0B1E3C"/>
            </a:solidFill>
            <a:ln>
              <a:noFill/>
            </a:ln>
          </p:spPr>
        </p:sp>
        <p:sp>
          <p:nvSpPr>
            <p:cNvPr id="26" name="TextBox 26"/>
            <p:cNvSpPr txBox="1"/>
            <p:nvPr/>
          </p:nvSpPr>
          <p:spPr>
            <a:xfrm>
              <a:off x="8256270" y="1454150"/>
              <a:ext cx="1248828"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131억 원</a:t>
              </a:r>
            </a:p>
          </p:txBody>
        </p:sp>
        <p:sp>
          <p:nvSpPr>
            <p:cNvPr id="27" name="TextBox 27"/>
            <p:cNvSpPr txBox="1"/>
            <p:nvPr/>
          </p:nvSpPr>
          <p:spPr>
            <a:xfrm>
              <a:off x="8261985" y="1841500"/>
              <a:ext cx="3257112"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2026 국비 · GPR 장비 87억 + 지자체 지원 44억</a:t>
              </a:r>
            </a:p>
          </p:txBody>
        </p:sp>
      </p:grpSp>
      <p:grpSp>
        <p:nvGrpSpPr>
          <p:cNvPr id="46" name="cost"/>
          <p:cNvGrpSpPr/>
          <p:nvPr/>
        </p:nvGrpSpPr>
        <p:grpSpPr>
          <a:xfrm>
            <a:off x="527304" y="2552700"/>
            <a:ext cx="5346192" cy="2381250"/>
            <a:chOff x="527304" y="2552700"/>
            <a:chExt cx="5346192" cy="2381250"/>
          </a:xfrm>
        </p:grpSpPr>
        <p:sp>
          <p:nvSpPr>
            <p:cNvPr id="29" name="TextBox 29"/>
            <p:cNvSpPr txBox="1"/>
            <p:nvPr/>
          </p:nvSpPr>
          <p:spPr>
            <a:xfrm>
              <a:off x="527304" y="2552700"/>
              <a:ext cx="194062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차량 1대 연간 비용 </a:t>
              </a:r>
              <a:r>
                <a:rPr lang="ko-KR" sz="1200" dirty="0">
                  <a:solidFill>
                    <a:srgbClr val="4B5563"/>
                  </a:solidFill>
                  <a:latin typeface="+mn-lt"/>
                  <a:ea typeface="+mn-ea"/>
                  <a:cs typeface="+mn-cs"/>
                </a:rPr>
                <a:t>[가설]</a:t>
              </a:r>
            </a:p>
          </p:txBody>
        </p:sp>
        <p:sp>
          <p:nvSpPr>
            <p:cNvPr id="30" name="Line 30"/>
            <p:cNvSpPr/>
            <p:nvPr/>
          </p:nvSpPr>
          <p:spPr>
            <a:xfrm>
              <a:off x="533400" y="2819400"/>
              <a:ext cx="5334000" cy="9525"/>
            </a:xfrm>
            <a:custGeom>
              <a:avLst/>
              <a:gdLst/>
              <a:ahLst/>
              <a:cxnLst/>
              <a:rect l="l" t="t" r="r" b="b"/>
              <a:pathLst>
                <a:path w="5334000" h="9525">
                  <a:moveTo>
                    <a:pt x="0" y="0"/>
                  </a:moveTo>
                  <a:lnTo>
                    <a:pt x="5334000" y="0"/>
                  </a:lnTo>
                </a:path>
              </a:pathLst>
            </a:custGeom>
            <a:noFill/>
            <a:ln w="14288">
              <a:solidFill>
                <a:srgbClr val="0B1E3C"/>
              </a:solidFill>
            </a:ln>
          </p:spPr>
        </p:sp>
        <p:grpSp>
          <p:nvGrpSpPr>
            <p:cNvPr id="42" name="Group 42"/>
            <p:cNvGrpSpPr/>
            <p:nvPr/>
          </p:nvGrpSpPr>
          <p:grpSpPr>
            <a:xfrm>
              <a:off x="527304" y="2952750"/>
              <a:ext cx="5346192" cy="1491996"/>
              <a:chOff x="527304" y="2952750"/>
              <a:chExt cx="5346192" cy="1491996"/>
            </a:xfrm>
          </p:grpSpPr>
          <p:sp>
            <p:nvSpPr>
              <p:cNvPr id="31" name="TextBox 31"/>
              <p:cNvSpPr txBox="1"/>
              <p:nvPr/>
            </p:nvSpPr>
            <p:spPr>
              <a:xfrm>
                <a:off x="527304" y="2952750"/>
                <a:ext cx="2340102"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 감가</a:t>
                </a:r>
              </a:p>
            </p:txBody>
          </p:sp>
          <p:sp>
            <p:nvSpPr>
              <p:cNvPr id="32" name="TextBox 32"/>
              <p:cNvSpPr txBox="1"/>
              <p:nvPr/>
            </p:nvSpPr>
            <p:spPr>
              <a:xfrm>
                <a:off x="5326593" y="29527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a:t>
                </a:r>
              </a:p>
            </p:txBody>
          </p:sp>
          <p:sp>
            <p:nvSpPr>
              <p:cNvPr id="33" name="Line 33"/>
              <p:cNvSpPr/>
              <p:nvPr/>
            </p:nvSpPr>
            <p:spPr>
              <a:xfrm>
                <a:off x="533400" y="323850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4" name="TextBox 34"/>
              <p:cNvSpPr txBox="1"/>
              <p:nvPr/>
            </p:nvSpPr>
            <p:spPr>
              <a:xfrm>
                <a:off x="527304" y="3371850"/>
                <a:ext cx="249326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2억~5억 원 · 5년 감가</a:t>
                </a:r>
              </a:p>
            </p:txBody>
          </p:sp>
          <p:sp>
            <p:nvSpPr>
              <p:cNvPr id="35" name="TextBox 35"/>
              <p:cNvSpPr txBox="1"/>
              <p:nvPr/>
            </p:nvSpPr>
            <p:spPr>
              <a:xfrm>
                <a:off x="4860135" y="3371850"/>
                <a:ext cx="1013361"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0.40~1.00억</a:t>
                </a:r>
              </a:p>
            </p:txBody>
          </p:sp>
          <p:sp>
            <p:nvSpPr>
              <p:cNvPr id="36" name="Line 36"/>
              <p:cNvSpPr/>
              <p:nvPr/>
            </p:nvSpPr>
            <p:spPr>
              <a:xfrm>
                <a:off x="533400" y="365760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7" name="TextBox 37"/>
              <p:cNvSpPr txBox="1"/>
              <p:nvPr/>
            </p:nvSpPr>
            <p:spPr>
              <a:xfrm>
                <a:off x="527304" y="3790950"/>
                <a:ext cx="297652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2인 1조 인건비 (운전·안전 / 탐사·판독)</a:t>
                </a:r>
              </a:p>
            </p:txBody>
          </p:sp>
          <p:sp>
            <p:nvSpPr>
              <p:cNvPr id="38" name="TextBox 38"/>
              <p:cNvSpPr txBox="1"/>
              <p:nvPr/>
            </p:nvSpPr>
            <p:spPr>
              <a:xfrm>
                <a:off x="5326593" y="37909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a:t>
                </a:r>
              </a:p>
            </p:txBody>
          </p:sp>
          <p:sp>
            <p:nvSpPr>
              <p:cNvPr id="39" name="Line 39"/>
              <p:cNvSpPr/>
              <p:nvPr/>
            </p:nvSpPr>
            <p:spPr>
              <a:xfrm>
                <a:off x="533400" y="407670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0" name="TextBox 40"/>
              <p:cNvSpPr txBox="1"/>
              <p:nvPr/>
            </p:nvSpPr>
            <p:spPr>
              <a:xfrm>
                <a:off x="527304" y="4210050"/>
                <a:ext cx="2632558"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 글래스·분석·유지보수</a:t>
                </a:r>
              </a:p>
            </p:txBody>
          </p:sp>
          <p:sp>
            <p:nvSpPr>
              <p:cNvPr id="41" name="TextBox 41"/>
              <p:cNvSpPr txBox="1"/>
              <p:nvPr/>
            </p:nvSpPr>
            <p:spPr>
              <a:xfrm>
                <a:off x="5326593" y="42100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0.30억</a:t>
                </a:r>
              </a:p>
            </p:txBody>
          </p:sp>
        </p:grpSp>
        <p:sp>
          <p:nvSpPr>
            <p:cNvPr id="43" name="Rectangle 43"/>
            <p:cNvSpPr/>
            <p:nvPr/>
          </p:nvSpPr>
          <p:spPr>
            <a:xfrm>
              <a:off x="533400" y="4514850"/>
              <a:ext cx="5334000" cy="419100"/>
            </a:xfrm>
            <a:prstGeom prst="rect">
              <a:avLst/>
            </a:prstGeom>
            <a:solidFill>
              <a:srgbClr val="F3F5F8"/>
            </a:solidFill>
            <a:ln>
              <a:noFill/>
            </a:ln>
          </p:spPr>
        </p:sp>
        <p:sp>
          <p:nvSpPr>
            <p:cNvPr id="44" name="TextBox 44"/>
            <p:cNvSpPr txBox="1"/>
            <p:nvPr/>
          </p:nvSpPr>
          <p:spPr>
            <a:xfrm>
              <a:off x="679323" y="4625975"/>
              <a:ext cx="35758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합계</a:t>
              </a:r>
            </a:p>
          </p:txBody>
        </p:sp>
        <p:sp>
          <p:nvSpPr>
            <p:cNvPr id="45" name="TextBox 45"/>
            <p:cNvSpPr txBox="1"/>
            <p:nvPr/>
          </p:nvSpPr>
          <p:spPr>
            <a:xfrm>
              <a:off x="3512043" y="4587875"/>
              <a:ext cx="2211339"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약 1.8~2.4억 원 / 년</a:t>
              </a:r>
            </a:p>
          </p:txBody>
        </p:sp>
      </p:grpSp>
      <p:grpSp>
        <p:nvGrpSpPr>
          <p:cNvPr id="63" name="revenue"/>
          <p:cNvGrpSpPr/>
          <p:nvPr/>
        </p:nvGrpSpPr>
        <p:grpSpPr>
          <a:xfrm>
            <a:off x="6318504" y="2552700"/>
            <a:ext cx="5346192" cy="2381250"/>
            <a:chOff x="6318504" y="2552700"/>
            <a:chExt cx="5346192" cy="2381250"/>
          </a:xfrm>
        </p:grpSpPr>
        <p:sp>
          <p:nvSpPr>
            <p:cNvPr id="47" name="TextBox 47"/>
            <p:cNvSpPr txBox="1"/>
            <p:nvPr/>
          </p:nvSpPr>
          <p:spPr>
            <a:xfrm>
              <a:off x="6318504" y="2552700"/>
              <a:ext cx="38478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수입 근거 · 자치구 연간 GPR 용역 발주 규모 (2026)</a:t>
              </a:r>
            </a:p>
          </p:txBody>
        </p:sp>
        <p:sp>
          <p:nvSpPr>
            <p:cNvPr id="48" name="Line 48"/>
            <p:cNvSpPr/>
            <p:nvPr/>
          </p:nvSpPr>
          <p:spPr>
            <a:xfrm>
              <a:off x="6324600" y="2819400"/>
              <a:ext cx="5334000" cy="9525"/>
            </a:xfrm>
            <a:custGeom>
              <a:avLst/>
              <a:gdLst/>
              <a:ahLst/>
              <a:cxnLst/>
              <a:rect l="l" t="t" r="r" b="b"/>
              <a:pathLst>
                <a:path w="5334000" h="9525">
                  <a:moveTo>
                    <a:pt x="0" y="0"/>
                  </a:moveTo>
                  <a:lnTo>
                    <a:pt x="5334000" y="0"/>
                  </a:lnTo>
                </a:path>
              </a:pathLst>
            </a:custGeom>
            <a:noFill/>
            <a:ln w="14288">
              <a:solidFill>
                <a:srgbClr val="0B1E3C"/>
              </a:solidFill>
            </a:ln>
          </p:spPr>
        </p:sp>
        <p:grpSp>
          <p:nvGrpSpPr>
            <p:cNvPr id="60" name="Group 60"/>
            <p:cNvGrpSpPr/>
            <p:nvPr/>
          </p:nvGrpSpPr>
          <p:grpSpPr>
            <a:xfrm>
              <a:off x="6318504" y="2952750"/>
              <a:ext cx="5346192" cy="1491996"/>
              <a:chOff x="6318504" y="2952750"/>
              <a:chExt cx="5346192" cy="1491996"/>
            </a:xfrm>
          </p:grpSpPr>
          <p:sp>
            <p:nvSpPr>
              <p:cNvPr id="49" name="TextBox 49"/>
              <p:cNvSpPr txBox="1"/>
              <p:nvPr/>
            </p:nvSpPr>
            <p:spPr>
              <a:xfrm>
                <a:off x="6318504" y="2952750"/>
                <a:ext cx="257266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서울 강동구 (연간단가 · 배정예산)</a:t>
                </a:r>
              </a:p>
            </p:txBody>
          </p:sp>
          <p:sp>
            <p:nvSpPr>
              <p:cNvPr id="50" name="TextBox 50"/>
              <p:cNvSpPr txBox="1"/>
              <p:nvPr/>
            </p:nvSpPr>
            <p:spPr>
              <a:xfrm>
                <a:off x="11117793" y="29527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1.60억</a:t>
                </a:r>
              </a:p>
            </p:txBody>
          </p:sp>
          <p:sp>
            <p:nvSpPr>
              <p:cNvPr id="51" name="Line 51"/>
              <p:cNvSpPr/>
              <p:nvPr/>
            </p:nvSpPr>
            <p:spPr>
              <a:xfrm>
                <a:off x="6324600" y="323850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52" name="TextBox 52"/>
              <p:cNvSpPr txBox="1"/>
              <p:nvPr/>
            </p:nvSpPr>
            <p:spPr>
              <a:xfrm>
                <a:off x="6318504" y="3371850"/>
                <a:ext cx="2621128"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서울 도봉구 (정기점검 · 공고 금액)</a:t>
                </a:r>
              </a:p>
            </p:txBody>
          </p:sp>
          <p:sp>
            <p:nvSpPr>
              <p:cNvPr id="53" name="TextBox 53"/>
              <p:cNvSpPr txBox="1"/>
              <p:nvPr/>
            </p:nvSpPr>
            <p:spPr>
              <a:xfrm>
                <a:off x="11117793" y="3371850"/>
                <a:ext cx="54690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2.16억</a:t>
                </a:r>
              </a:p>
            </p:txBody>
          </p:sp>
          <p:sp>
            <p:nvSpPr>
              <p:cNvPr id="54" name="Line 54"/>
              <p:cNvSpPr/>
              <p:nvPr/>
            </p:nvSpPr>
            <p:spPr>
              <a:xfrm>
                <a:off x="6324600" y="365760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55" name="TextBox 55"/>
              <p:cNvSpPr txBox="1"/>
              <p:nvPr/>
            </p:nvSpPr>
            <p:spPr>
              <a:xfrm>
                <a:off x="6318504" y="3790950"/>
                <a:ext cx="153878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자치구 2곳을 맡을 때</a:t>
                </a:r>
              </a:p>
            </p:txBody>
          </p:sp>
          <p:sp>
            <p:nvSpPr>
              <p:cNvPr id="56" name="TextBox 56"/>
              <p:cNvSpPr txBox="1"/>
              <p:nvPr/>
            </p:nvSpPr>
            <p:spPr>
              <a:xfrm>
                <a:off x="10625488" y="3790950"/>
                <a:ext cx="1039208"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약 3.2~4.3억</a:t>
                </a:r>
              </a:p>
            </p:txBody>
          </p:sp>
          <p:sp>
            <p:nvSpPr>
              <p:cNvPr id="57" name="Line 57"/>
              <p:cNvSpPr/>
              <p:nvPr/>
            </p:nvSpPr>
            <p:spPr>
              <a:xfrm>
                <a:off x="6324600" y="407670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58" name="TextBox 58"/>
              <p:cNvSpPr txBox="1"/>
              <p:nvPr/>
            </p:nvSpPr>
            <p:spPr>
              <a:xfrm>
                <a:off x="6318504" y="4210050"/>
                <a:ext cx="153878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자치구 3곳을 맡을 때</a:t>
                </a:r>
              </a:p>
            </p:txBody>
          </p:sp>
          <p:sp>
            <p:nvSpPr>
              <p:cNvPr id="59" name="TextBox 59"/>
              <p:cNvSpPr txBox="1"/>
              <p:nvPr/>
            </p:nvSpPr>
            <p:spPr>
              <a:xfrm>
                <a:off x="10625488" y="4210050"/>
                <a:ext cx="1039208"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약 4.8~6.5억</a:t>
                </a:r>
              </a:p>
            </p:txBody>
          </p:sp>
        </p:grpSp>
        <p:sp>
          <p:nvSpPr>
            <p:cNvPr id="61" name="Rectangle 61"/>
            <p:cNvSpPr/>
            <p:nvPr/>
          </p:nvSpPr>
          <p:spPr>
            <a:xfrm>
              <a:off x="6324600" y="4514850"/>
              <a:ext cx="5334000" cy="419100"/>
            </a:xfrm>
            <a:prstGeom prst="rect">
              <a:avLst/>
            </a:prstGeom>
            <a:solidFill>
              <a:srgbClr val="FFF6D6"/>
            </a:solidFill>
            <a:ln>
              <a:noFill/>
            </a:ln>
          </p:spPr>
        </p:sp>
        <p:sp>
          <p:nvSpPr>
            <p:cNvPr id="62" name="TextBox 62"/>
            <p:cNvSpPr txBox="1"/>
            <p:nvPr/>
          </p:nvSpPr>
          <p:spPr>
            <a:xfrm>
              <a:off x="6471285" y="4651375"/>
              <a:ext cx="4345063"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감당 가능?</a:t>
              </a:r>
              <a:r>
                <a:rPr lang="ko-KR" sz="1120" dirty="0">
                  <a:solidFill>
                    <a:srgbClr val="111827"/>
                  </a:solidFill>
                  <a:latin typeface="+mn-lt"/>
                  <a:ea typeface="+mn-ea"/>
                  <a:cs typeface="+mn-cs"/>
                </a:rPr>
                <a:t xml:space="preserve"> 연 6,600km(30km×220일) → 3개 구 1,000km 연 6회</a:t>
              </a:r>
            </a:p>
          </p:txBody>
        </p:sp>
      </p:grpSp>
      <p:grpSp>
        <p:nvGrpSpPr>
          <p:cNvPr id="65" name="kia"/>
          <p:cNvGrpSpPr/>
          <p:nvPr/>
        </p:nvGrpSpPr>
        <p:grpSpPr>
          <a:xfrm>
            <a:off x="527304" y="5238750"/>
            <a:ext cx="11216792" cy="234696"/>
            <a:chOff x="527304" y="5238750"/>
            <a:chExt cx="11216792" cy="234696"/>
          </a:xfrm>
        </p:grpSpPr>
        <p:sp>
          <p:nvSpPr>
            <p:cNvPr id="64" name="TextBox 64"/>
            <p:cNvSpPr txBox="1"/>
            <p:nvPr/>
          </p:nvSpPr>
          <p:spPr>
            <a:xfrm>
              <a:off x="527304" y="5238750"/>
              <a:ext cx="1121679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기아에게</a:t>
              </a:r>
              <a:r>
                <a:rPr lang="ko-KR" sz="1200" dirty="0">
                  <a:solidFill>
                    <a:srgbClr val="111827"/>
                  </a:solidFill>
                  <a:latin typeface="+mn-lt"/>
                  <a:ea typeface="+mn-ea"/>
                  <a:cs typeface="+mn-cs"/>
                </a:rPr>
                <a:t xml:space="preserve"> 장비 포함 대당 2억 원 이상의 고부가 컨버전 PV5 · 공공 반복 수요(시·군·구, 국토안전관리원 GPR 13→32대 확충) · Pleos 공공 업무 앱 레퍼런스</a:t>
              </a:r>
            </a:p>
          </p:txBody>
        </p:sp>
      </p:grpSp>
      <p:grpSp>
        <p:nvGrpSpPr>
          <p:cNvPr id="68" name="conclusion"/>
          <p:cNvGrpSpPr/>
          <p:nvPr/>
        </p:nvGrpSpPr>
        <p:grpSpPr>
          <a:xfrm>
            <a:off x="533400" y="5638800"/>
            <a:ext cx="9115082" cy="495300"/>
            <a:chOff x="533400" y="5638800"/>
            <a:chExt cx="9115082" cy="495300"/>
          </a:xfrm>
        </p:grpSpPr>
        <p:sp>
          <p:nvSpPr>
            <p:cNvPr id="66" name="Rectangle 66"/>
            <p:cNvSpPr/>
            <p:nvPr/>
          </p:nvSpPr>
          <p:spPr>
            <a:xfrm>
              <a:off x="533400" y="5638800"/>
              <a:ext cx="38100" cy="495300"/>
            </a:xfrm>
            <a:prstGeom prst="rect">
              <a:avLst/>
            </a:prstGeom>
            <a:solidFill>
              <a:srgbClr val="F5B700"/>
            </a:solidFill>
            <a:ln>
              <a:noFill/>
            </a:ln>
          </p:spPr>
        </p:sp>
        <p:sp>
          <p:nvSpPr>
            <p:cNvPr id="67" name="TextBox 67"/>
            <p:cNvSpPr txBox="1"/>
            <p:nvPr/>
          </p:nvSpPr>
          <p:spPr>
            <a:xfrm>
              <a:off x="754380" y="5775325"/>
              <a:ext cx="889410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비용은 연 약 2억 원, 자치구 한 곳의 연간 용역 발주가 </a:t>
              </a:r>
              <a:r>
                <a:rPr lang="ko-KR" sz="1500" b="1" dirty="0">
                  <a:solidFill>
                    <a:srgbClr val="B45309"/>
                  </a:solidFill>
                  <a:latin typeface="+mn-lt"/>
                  <a:ea typeface="+mn-ea"/>
                  <a:cs typeface="+mn-cs"/>
                </a:rPr>
                <a:t>1.6~2.2억 원</a:t>
              </a:r>
              <a:r>
                <a:rPr lang="ko-KR" sz="1500" b="1" dirty="0">
                  <a:solidFill>
                    <a:srgbClr val="0B1E3C"/>
                  </a:solidFill>
                  <a:latin typeface="+mn-lt"/>
                  <a:ea typeface="+mn-ea"/>
                  <a:cs typeface="+mn-cs"/>
                </a:rPr>
                <a:t xml:space="preserve"> — 2곳부터 흑자 구간입니다.</a:t>
              </a:r>
            </a:p>
          </p:txBody>
        </p:sp>
      </p:grpSp>
      <p:grpSp>
        <p:nvGrpSpPr>
          <p:cNvPr id="71" name="source"/>
          <p:cNvGrpSpPr/>
          <p:nvPr/>
        </p:nvGrpSpPr>
        <p:grpSpPr>
          <a:xfrm>
            <a:off x="528638" y="6229350"/>
            <a:ext cx="9132837" cy="328612"/>
            <a:chOff x="528638" y="6229350"/>
            <a:chExt cx="9132837" cy="328612"/>
          </a:xfrm>
        </p:grpSpPr>
        <p:sp>
          <p:nvSpPr>
            <p:cNvPr id="69" name="TextBox 69"/>
            <p:cNvSpPr txBox="1"/>
            <p:nvPr/>
          </p:nvSpPr>
          <p:spPr>
            <a:xfrm>
              <a:off x="528638" y="6229350"/>
              <a:ext cx="9132837"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e-나라지표 도로현황(2025.12) · 머니투데이(2025.12.23) · 뉴스서울(2025.12.3) · 시사저널(2025.4.25, GPR 2억~8억) · 이투데이(2025.4.23, 3대 15억)</a:t>
              </a:r>
            </a:p>
          </p:txBody>
        </p:sp>
        <p:sp>
          <p:nvSpPr>
            <p:cNvPr id="70" name="TextBox 70"/>
            <p:cNvSpPr txBox="1"/>
            <p:nvPr/>
          </p:nvSpPr>
          <p:spPr>
            <a:xfrm>
              <a:off x="528638" y="6381750"/>
              <a:ext cx="77757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나라장터 공고(산군 재게시, 2026) 강동구·도봉구 · 인건비·유지비·하루 30km·220일은 가설, 파일럿에서 확정 · 감가는 잔존가치 0 단순 계산</a:t>
              </a:r>
            </a:p>
          </p:txBody>
        </p:sp>
      </p:grpSp>
      <p:grpSp>
        <p:nvGrpSpPr>
          <p:cNvPr id="74" name="footer"/>
          <p:cNvGrpSpPr/>
          <p:nvPr/>
        </p:nvGrpSpPr>
        <p:grpSpPr>
          <a:xfrm>
            <a:off x="528638" y="6610350"/>
            <a:ext cx="11134724" cy="176212"/>
            <a:chOff x="528638" y="6610350"/>
            <a:chExt cx="11134724" cy="176212"/>
          </a:xfrm>
        </p:grpSpPr>
        <p:sp>
          <p:nvSpPr>
            <p:cNvPr id="72" name="TextBox 72"/>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3" name="TextBox 7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12</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확장</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7631550" cy="557403"/>
            <a:chOff x="518922" y="781050"/>
            <a:chExt cx="7631550" cy="557403"/>
          </a:xfrm>
        </p:grpSpPr>
        <p:sp>
          <p:nvSpPr>
            <p:cNvPr id="17" name="TextBox 17"/>
            <p:cNvSpPr txBox="1"/>
            <p:nvPr/>
          </p:nvSpPr>
          <p:spPr>
            <a:xfrm>
              <a:off x="518922" y="781050"/>
              <a:ext cx="7631550"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이미 GPR 예산을 쓰는 지자체에서 시작합니다</a:t>
              </a:r>
            </a:p>
          </p:txBody>
        </p:sp>
      </p:grpSp>
      <p:grpSp>
        <p:nvGrpSpPr>
          <p:cNvPr id="31" name="market-facts"/>
          <p:cNvGrpSpPr/>
          <p:nvPr/>
        </p:nvGrpSpPr>
        <p:grpSpPr>
          <a:xfrm>
            <a:off x="533400" y="1714500"/>
            <a:ext cx="11125200" cy="992759"/>
            <a:chOff x="533400" y="1714500"/>
            <a:chExt cx="11125200" cy="992759"/>
          </a:xfrm>
        </p:grpSpPr>
        <p:sp>
          <p:nvSpPr>
            <p:cNvPr id="19" name="Rectangle 19"/>
            <p:cNvSpPr/>
            <p:nvPr/>
          </p:nvSpPr>
          <p:spPr>
            <a:xfrm>
              <a:off x="533400" y="1714500"/>
              <a:ext cx="3581400" cy="28575"/>
            </a:xfrm>
            <a:prstGeom prst="rect">
              <a:avLst/>
            </a:prstGeom>
            <a:solidFill>
              <a:srgbClr val="0B1E3C"/>
            </a:solidFill>
            <a:ln>
              <a:noFill/>
            </a:ln>
          </p:spPr>
        </p:sp>
        <p:sp>
          <p:nvSpPr>
            <p:cNvPr id="20" name="TextBox 20"/>
            <p:cNvSpPr txBox="1"/>
            <p:nvPr/>
          </p:nvSpPr>
          <p:spPr>
            <a:xfrm>
              <a:off x="730758" y="1860550"/>
              <a:ext cx="2451583" cy="469392"/>
            </a:xfrm>
            <a:prstGeom prst="rect">
              <a:avLst/>
            </a:prstGeom>
            <a:noFill/>
            <a:ln>
              <a:noFill/>
            </a:ln>
          </p:spPr>
          <p:txBody>
            <a:bodyPr wrap="none" lIns="0" tIns="0" rIns="0" bIns="0" anchor="t" anchorCtr="0">
              <a:spAutoFit/>
            </a:bodyPr>
            <a:lstStyle/>
            <a:p>
              <a:pPr algn="l"/>
              <a:r>
                <a:rPr lang="ko-KR" sz="2400" b="1" dirty="0">
                  <a:solidFill>
                    <a:srgbClr val="B45309"/>
                  </a:solidFill>
                  <a:latin typeface="+mn-lt"/>
                  <a:ea typeface="+mn-ea"/>
                  <a:cs typeface="+mn-cs"/>
                </a:rPr>
                <a:t>0.46~1.77억 원</a:t>
              </a:r>
            </a:p>
          </p:txBody>
        </p:sp>
        <p:sp>
          <p:nvSpPr>
            <p:cNvPr id="21" name="TextBox 21"/>
            <p:cNvSpPr txBox="1"/>
            <p:nvPr/>
          </p:nvSpPr>
          <p:spPr>
            <a:xfrm>
              <a:off x="736854" y="2266950"/>
              <a:ext cx="27182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2026년 지자체 GPR 탐사 용역 낙찰액</a:t>
              </a:r>
            </a:p>
          </p:txBody>
        </p:sp>
        <p:sp>
          <p:nvSpPr>
            <p:cNvPr id="22" name="TextBox 22"/>
            <p:cNvSpPr txBox="1"/>
            <p:nvPr/>
          </p:nvSpPr>
          <p:spPr>
            <a:xfrm>
              <a:off x="737616" y="2501900"/>
              <a:ext cx="2830620"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보령·안양·용인(기흥구) 낙찰, 이미 집행 중</a:t>
              </a:r>
            </a:p>
          </p:txBody>
        </p:sp>
        <p:sp>
          <p:nvSpPr>
            <p:cNvPr id="23" name="Rectangle 23"/>
            <p:cNvSpPr/>
            <p:nvPr/>
          </p:nvSpPr>
          <p:spPr>
            <a:xfrm>
              <a:off x="4305300" y="1714500"/>
              <a:ext cx="3581400" cy="28575"/>
            </a:xfrm>
            <a:prstGeom prst="rect">
              <a:avLst/>
            </a:prstGeom>
            <a:solidFill>
              <a:srgbClr val="0B1E3C"/>
            </a:solidFill>
            <a:ln>
              <a:noFill/>
            </a:ln>
          </p:spPr>
        </p:sp>
        <p:sp>
          <p:nvSpPr>
            <p:cNvPr id="24" name="TextBox 24"/>
            <p:cNvSpPr txBox="1"/>
            <p:nvPr/>
          </p:nvSpPr>
          <p:spPr>
            <a:xfrm>
              <a:off x="4502658" y="1860550"/>
              <a:ext cx="1518666" cy="469392"/>
            </a:xfrm>
            <a:prstGeom prst="rect">
              <a:avLst/>
            </a:prstGeom>
            <a:noFill/>
            <a:ln>
              <a:noFill/>
            </a:ln>
          </p:spPr>
          <p:txBody>
            <a:bodyPr wrap="none" lIns="0" tIns="0" rIns="0" bIns="0" anchor="t" anchorCtr="0">
              <a:spAutoFit/>
            </a:bodyPr>
            <a:lstStyle/>
            <a:p>
              <a:pPr algn="l"/>
              <a:r>
                <a:rPr lang="ko-KR" sz="2400" b="1" dirty="0">
                  <a:solidFill>
                    <a:srgbClr val="B45309"/>
                  </a:solidFill>
                  <a:latin typeface="+mn-lt"/>
                  <a:ea typeface="+mn-ea"/>
                  <a:cs typeface="+mn-cs"/>
                </a:rPr>
                <a:t>21.6억 원</a:t>
              </a:r>
            </a:p>
          </p:txBody>
        </p:sp>
        <p:sp>
          <p:nvSpPr>
            <p:cNvPr id="25" name="TextBox 25"/>
            <p:cNvSpPr txBox="1"/>
            <p:nvPr/>
          </p:nvSpPr>
          <p:spPr>
            <a:xfrm>
              <a:off x="4508754" y="2266950"/>
              <a:ext cx="246341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GPR 탐사 지원</a:t>
              </a:r>
            </a:p>
          </p:txBody>
        </p:sp>
        <p:sp>
          <p:nvSpPr>
            <p:cNvPr id="26" name="TextBox 26"/>
            <p:cNvSpPr txBox="1"/>
            <p:nvPr/>
          </p:nvSpPr>
          <p:spPr>
            <a:xfrm>
              <a:off x="4509516" y="2501900"/>
              <a:ext cx="2971971"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1,080km를 장비 구매 대신 용역으로 (2025.9)</a:t>
              </a:r>
            </a:p>
          </p:txBody>
        </p:sp>
        <p:sp>
          <p:nvSpPr>
            <p:cNvPr id="27" name="Rectangle 27"/>
            <p:cNvSpPr/>
            <p:nvPr/>
          </p:nvSpPr>
          <p:spPr>
            <a:xfrm>
              <a:off x="8077200" y="1714500"/>
              <a:ext cx="3581400" cy="28575"/>
            </a:xfrm>
            <a:prstGeom prst="rect">
              <a:avLst/>
            </a:prstGeom>
            <a:solidFill>
              <a:srgbClr val="0B1E3C"/>
            </a:solidFill>
            <a:ln>
              <a:noFill/>
            </a:ln>
          </p:spPr>
        </p:sp>
        <p:sp>
          <p:nvSpPr>
            <p:cNvPr id="28" name="TextBox 28"/>
            <p:cNvSpPr txBox="1"/>
            <p:nvPr/>
          </p:nvSpPr>
          <p:spPr>
            <a:xfrm>
              <a:off x="8274558" y="1860550"/>
              <a:ext cx="1282004" cy="469392"/>
            </a:xfrm>
            <a:prstGeom prst="rect">
              <a:avLst/>
            </a:prstGeom>
            <a:noFill/>
            <a:ln>
              <a:noFill/>
            </a:ln>
          </p:spPr>
          <p:txBody>
            <a:bodyPr wrap="none" lIns="0" tIns="0" rIns="0" bIns="0" anchor="t" anchorCtr="0">
              <a:spAutoFit/>
            </a:bodyPr>
            <a:lstStyle/>
            <a:p>
              <a:pPr algn="l"/>
              <a:r>
                <a:rPr lang="ko-KR" sz="2400" b="1" dirty="0">
                  <a:solidFill>
                    <a:srgbClr val="B45309"/>
                  </a:solidFill>
                  <a:latin typeface="+mn-lt"/>
                  <a:ea typeface="+mn-ea"/>
                  <a:cs typeface="+mn-cs"/>
                </a:rPr>
                <a:t>최대 6년</a:t>
              </a:r>
            </a:p>
          </p:txBody>
        </p:sp>
        <p:sp>
          <p:nvSpPr>
            <p:cNvPr id="29" name="TextBox 29"/>
            <p:cNvSpPr txBox="1"/>
            <p:nvPr/>
          </p:nvSpPr>
          <p:spPr>
            <a:xfrm>
              <a:off x="8280654" y="2266950"/>
              <a:ext cx="18909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조달청 혁신제품 수의계약</a:t>
              </a:r>
            </a:p>
          </p:txBody>
        </p:sp>
        <p:sp>
          <p:nvSpPr>
            <p:cNvPr id="30" name="TextBox 30"/>
            <p:cNvSpPr txBox="1"/>
            <p:nvPr/>
          </p:nvSpPr>
          <p:spPr>
            <a:xfrm>
              <a:off x="8281416" y="2501900"/>
              <a:ext cx="191890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실증 후 반복 계약으로 가는 길</a:t>
              </a:r>
            </a:p>
          </p:txBody>
        </p:sp>
      </p:grpSp>
      <p:grpSp>
        <p:nvGrpSpPr>
          <p:cNvPr id="64" name="steps"/>
          <p:cNvGrpSpPr/>
          <p:nvPr/>
        </p:nvGrpSpPr>
        <p:grpSpPr>
          <a:xfrm>
            <a:off x="524637" y="3009900"/>
            <a:ext cx="11133963" cy="1847850"/>
            <a:chOff x="524637" y="3009900"/>
            <a:chExt cx="11133963" cy="1847850"/>
          </a:xfrm>
        </p:grpSpPr>
        <p:sp>
          <p:nvSpPr>
            <p:cNvPr id="32" name="Rectangle 32"/>
            <p:cNvSpPr/>
            <p:nvPr/>
          </p:nvSpPr>
          <p:spPr>
            <a:xfrm>
              <a:off x="533400" y="3009900"/>
              <a:ext cx="2609850" cy="38100"/>
            </a:xfrm>
            <a:prstGeom prst="rect">
              <a:avLst/>
            </a:prstGeom>
            <a:solidFill>
              <a:srgbClr val="0B1E3C"/>
            </a:solidFill>
            <a:ln>
              <a:noFill/>
            </a:ln>
          </p:spPr>
        </p:sp>
        <p:sp>
          <p:nvSpPr>
            <p:cNvPr id="33" name="Rectangle 33"/>
            <p:cNvSpPr/>
            <p:nvPr/>
          </p:nvSpPr>
          <p:spPr>
            <a:xfrm>
              <a:off x="3371850" y="3009900"/>
              <a:ext cx="2609850" cy="38100"/>
            </a:xfrm>
            <a:prstGeom prst="rect">
              <a:avLst/>
            </a:prstGeom>
            <a:solidFill>
              <a:srgbClr val="0B1E3C"/>
            </a:solidFill>
            <a:ln>
              <a:noFill/>
            </a:ln>
          </p:spPr>
        </p:sp>
        <p:sp>
          <p:nvSpPr>
            <p:cNvPr id="34" name="Rectangle 34"/>
            <p:cNvSpPr/>
            <p:nvPr/>
          </p:nvSpPr>
          <p:spPr>
            <a:xfrm>
              <a:off x="6210300" y="3009900"/>
              <a:ext cx="2609850" cy="38100"/>
            </a:xfrm>
            <a:prstGeom prst="rect">
              <a:avLst/>
            </a:prstGeom>
            <a:solidFill>
              <a:srgbClr val="0B1E3C"/>
            </a:solidFill>
            <a:ln>
              <a:noFill/>
            </a:ln>
          </p:spPr>
        </p:sp>
        <p:sp>
          <p:nvSpPr>
            <p:cNvPr id="35" name="Rectangle 35"/>
            <p:cNvSpPr/>
            <p:nvPr/>
          </p:nvSpPr>
          <p:spPr>
            <a:xfrm>
              <a:off x="9048750" y="3009900"/>
              <a:ext cx="2609850" cy="38100"/>
            </a:xfrm>
            <a:prstGeom prst="rect">
              <a:avLst/>
            </a:prstGeom>
            <a:solidFill>
              <a:srgbClr val="F5B700"/>
            </a:solidFill>
            <a:ln>
              <a:noFill/>
            </a:ln>
          </p:spPr>
        </p:sp>
        <p:grpSp>
          <p:nvGrpSpPr>
            <p:cNvPr id="40" name="Group 40"/>
            <p:cNvGrpSpPr/>
            <p:nvPr/>
          </p:nvGrpSpPr>
          <p:grpSpPr>
            <a:xfrm>
              <a:off x="528066" y="3168650"/>
              <a:ext cx="8830629" cy="205359"/>
              <a:chOff x="528066" y="3168650"/>
              <a:chExt cx="8830629" cy="205359"/>
            </a:xfrm>
          </p:grpSpPr>
          <p:sp>
            <p:nvSpPr>
              <p:cNvPr id="36" name="TextBox 36"/>
              <p:cNvSpPr txBox="1"/>
              <p:nvPr/>
            </p:nvSpPr>
            <p:spPr>
              <a:xfrm>
                <a:off x="52806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0~1년</a:t>
                </a:r>
              </a:p>
            </p:txBody>
          </p:sp>
          <p:sp>
            <p:nvSpPr>
              <p:cNvPr id="37" name="TextBox 37"/>
              <p:cNvSpPr txBox="1"/>
              <p:nvPr/>
            </p:nvSpPr>
            <p:spPr>
              <a:xfrm>
                <a:off x="336651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1~2년</a:t>
                </a:r>
              </a:p>
            </p:txBody>
          </p:sp>
          <p:sp>
            <p:nvSpPr>
              <p:cNvPr id="38" name="TextBox 38"/>
              <p:cNvSpPr txBox="1"/>
              <p:nvPr/>
            </p:nvSpPr>
            <p:spPr>
              <a:xfrm>
                <a:off x="620496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2~3년</a:t>
                </a:r>
              </a:p>
            </p:txBody>
          </p:sp>
          <p:sp>
            <p:nvSpPr>
              <p:cNvPr id="39" name="TextBox 39"/>
              <p:cNvSpPr txBox="1"/>
              <p:nvPr/>
            </p:nvSpPr>
            <p:spPr>
              <a:xfrm>
                <a:off x="9043416" y="3168650"/>
                <a:ext cx="31527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3년~</a:t>
                </a:r>
              </a:p>
            </p:txBody>
          </p:sp>
        </p:grpSp>
        <p:grpSp>
          <p:nvGrpSpPr>
            <p:cNvPr id="45" name="Group 45"/>
            <p:cNvGrpSpPr/>
            <p:nvPr/>
          </p:nvGrpSpPr>
          <p:grpSpPr>
            <a:xfrm>
              <a:off x="524637" y="3365500"/>
              <a:ext cx="10128810" cy="337376"/>
              <a:chOff x="524637" y="3365500"/>
              <a:chExt cx="10128810" cy="337376"/>
            </a:xfrm>
          </p:grpSpPr>
          <p:sp>
            <p:nvSpPr>
              <p:cNvPr id="41" name="TextBox 41"/>
              <p:cNvSpPr txBox="1"/>
              <p:nvPr/>
            </p:nvSpPr>
            <p:spPr>
              <a:xfrm>
                <a:off x="524637" y="3365500"/>
                <a:ext cx="147974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실증 레퍼런스</a:t>
                </a:r>
              </a:p>
            </p:txBody>
          </p:sp>
          <p:sp>
            <p:nvSpPr>
              <p:cNvPr id="42" name="TextBox 42"/>
              <p:cNvSpPr txBox="1"/>
              <p:nvPr/>
            </p:nvSpPr>
            <p:spPr>
              <a:xfrm>
                <a:off x="3363087" y="3365500"/>
                <a:ext cx="132113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첫 용역 수주</a:t>
                </a:r>
              </a:p>
            </p:txBody>
          </p:sp>
          <p:sp>
            <p:nvSpPr>
              <p:cNvPr id="43" name="TextBox 43"/>
              <p:cNvSpPr txBox="1"/>
              <p:nvPr/>
            </p:nvSpPr>
            <p:spPr>
              <a:xfrm>
                <a:off x="6201537" y="3365500"/>
                <a:ext cx="147974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반복관제 전환</a:t>
                </a:r>
              </a:p>
            </p:txBody>
          </p:sp>
          <p:sp>
            <p:nvSpPr>
              <p:cNvPr id="44" name="TextBox 44"/>
              <p:cNvSpPr txBox="1"/>
              <p:nvPr/>
            </p:nvSpPr>
            <p:spPr>
              <a:xfrm>
                <a:off x="9039987" y="3365500"/>
                <a:ext cx="1613460"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권역·기관 확장</a:t>
                </a:r>
              </a:p>
            </p:txBody>
          </p:sp>
        </p:grpSp>
        <p:grpSp>
          <p:nvGrpSpPr>
            <p:cNvPr id="49" name="Group 49"/>
            <p:cNvGrpSpPr/>
            <p:nvPr/>
          </p:nvGrpSpPr>
          <p:grpSpPr>
            <a:xfrm>
              <a:off x="3181350" y="3505200"/>
              <a:ext cx="5810250" cy="1"/>
              <a:chOff x="3181350" y="3505200"/>
              <a:chExt cx="5810250" cy="1"/>
            </a:xfrm>
          </p:grpSpPr>
          <p:sp>
            <p:nvSpPr>
              <p:cNvPr id="46" name="Line 46"/>
              <p:cNvSpPr/>
              <p:nvPr/>
            </p:nvSpPr>
            <p:spPr>
              <a:xfrm>
                <a:off x="3181350" y="3505200"/>
                <a:ext cx="133350" cy="1"/>
              </a:xfrm>
              <a:prstGeom prst="line">
                <a:avLst/>
              </a:prstGeom>
              <a:noFill/>
              <a:ln w="14288">
                <a:solidFill>
                  <a:srgbClr val="9AA3AF"/>
                </a:solidFill>
                <a:tailEnd type="triangle" w="lg" len="lg"/>
              </a:ln>
            </p:spPr>
          </p:sp>
          <p:sp>
            <p:nvSpPr>
              <p:cNvPr id="47" name="Line 47"/>
              <p:cNvSpPr/>
              <p:nvPr/>
            </p:nvSpPr>
            <p:spPr>
              <a:xfrm>
                <a:off x="6019800" y="3505200"/>
                <a:ext cx="133350" cy="1"/>
              </a:xfrm>
              <a:prstGeom prst="line">
                <a:avLst/>
              </a:prstGeom>
              <a:noFill/>
              <a:ln w="14288">
                <a:solidFill>
                  <a:srgbClr val="9AA3AF"/>
                </a:solidFill>
                <a:tailEnd type="triangle" w="lg" len="lg"/>
              </a:ln>
            </p:spPr>
          </p:sp>
          <p:sp>
            <p:nvSpPr>
              <p:cNvPr id="48" name="Line 48"/>
              <p:cNvSpPr/>
              <p:nvPr/>
            </p:nvSpPr>
            <p:spPr>
              <a:xfrm>
                <a:off x="8858250" y="3505200"/>
                <a:ext cx="133350" cy="1"/>
              </a:xfrm>
              <a:prstGeom prst="line">
                <a:avLst/>
              </a:prstGeom>
              <a:noFill/>
              <a:ln w="14288">
                <a:solidFill>
                  <a:srgbClr val="9AA3AF"/>
                </a:solidFill>
                <a:tailEnd type="triangle" w="lg" len="lg"/>
              </a:ln>
            </p:spPr>
          </p:sp>
        </p:grpSp>
        <p:grpSp>
          <p:nvGrpSpPr>
            <p:cNvPr id="54" name="Group 54"/>
            <p:cNvGrpSpPr/>
            <p:nvPr/>
          </p:nvGrpSpPr>
          <p:grpSpPr>
            <a:xfrm>
              <a:off x="527304" y="3689350"/>
              <a:ext cx="10264902" cy="463296"/>
              <a:chOff x="527304" y="3689350"/>
              <a:chExt cx="10264902" cy="463296"/>
            </a:xfrm>
          </p:grpSpPr>
          <p:sp>
            <p:nvSpPr>
              <p:cNvPr id="50" name="TextBox 50"/>
              <p:cNvSpPr txBox="1"/>
              <p:nvPr/>
            </p:nvSpPr>
            <p:spPr>
              <a:xfrm>
                <a:off x="527304" y="3689350"/>
                <a:ext cx="178003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테스트베드서울 실증 신청</a:t>
                </a:r>
                <a:br>
                  <a:rPr lang="ko-KR" sz="1200" dirty="0">
                    <a:solidFill>
                      <a:srgbClr val="111827"/>
                    </a:solidFill>
                    <a:latin typeface="+mn-lt"/>
                    <a:ea typeface="+mn-ea"/>
                    <a:cs typeface="+mn-cs"/>
                  </a:rPr>
                </a:br>
                <a:r>
                  <a:rPr lang="ko-KR" sz="1200" dirty="0">
                    <a:solidFill>
                      <a:srgbClr val="111827"/>
                    </a:solidFill>
                    <a:latin typeface="+mn-lt"/>
                    <a:ea typeface="+mn-ea"/>
                    <a:cs typeface="+mn-cs"/>
                  </a:rPr>
                  <a:t>공사구간 1곳 파일럿</a:t>
                </a:r>
              </a:p>
            </p:txBody>
          </p:sp>
          <p:sp>
            <p:nvSpPr>
              <p:cNvPr id="51" name="TextBox 51"/>
              <p:cNvSpPr txBox="1"/>
              <p:nvPr/>
            </p:nvSpPr>
            <p:spPr>
              <a:xfrm>
                <a:off x="3365754" y="3689350"/>
                <a:ext cx="178003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시·군 GPR 탐사 용역 입찰</a:t>
                </a:r>
                <a:br>
                  <a:rPr lang="ko-KR" sz="1200" dirty="0">
                    <a:solidFill>
                      <a:srgbClr val="111827"/>
                    </a:solidFill>
                    <a:latin typeface="+mn-lt"/>
                    <a:ea typeface="+mn-ea"/>
                    <a:cs typeface="+mn-cs"/>
                  </a:rPr>
                </a:br>
                <a:r>
                  <a:rPr lang="ko-KR" sz="1200" dirty="0">
                    <a:solidFill>
                      <a:srgbClr val="111827"/>
                    </a:solidFill>
                    <a:latin typeface="+mn-lt"/>
                    <a:ea typeface="+mn-ea"/>
                    <a:cs typeface="+mn-cs"/>
                  </a:rPr>
                  <a:t>조사기관과 컨소시엄 참여</a:t>
                </a:r>
              </a:p>
            </p:txBody>
          </p:sp>
          <p:sp>
            <p:nvSpPr>
              <p:cNvPr id="52" name="TextBox 52"/>
              <p:cNvSpPr txBox="1"/>
              <p:nvPr/>
            </p:nvSpPr>
            <p:spPr>
              <a:xfrm>
                <a:off x="6204204" y="3689350"/>
                <a:ext cx="182575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조달청 혁신제품 지정 신청</a:t>
                </a:r>
                <a:br>
                  <a:rPr lang="ko-KR" sz="1200" dirty="0">
                    <a:solidFill>
                      <a:srgbClr val="111827"/>
                    </a:solidFill>
                    <a:latin typeface="+mn-lt"/>
                    <a:ea typeface="+mn-ea"/>
                    <a:cs typeface="+mn-cs"/>
                  </a:rPr>
                </a:br>
                <a:r>
                  <a:rPr lang="ko-KR" sz="1200" dirty="0">
                    <a:solidFill>
                      <a:srgbClr val="111827"/>
                    </a:solidFill>
                    <a:latin typeface="+mn-lt"/>
                    <a:ea typeface="+mn-ea"/>
                    <a:cs typeface="+mn-cs"/>
                  </a:rPr>
                  <a:t>지정 시 최대 6년 수의계약</a:t>
                </a:r>
              </a:p>
            </p:txBody>
          </p:sp>
          <p:sp>
            <p:nvSpPr>
              <p:cNvPr id="53" name="TextBox 53"/>
              <p:cNvSpPr txBox="1"/>
              <p:nvPr/>
            </p:nvSpPr>
            <p:spPr>
              <a:xfrm>
                <a:off x="9042654" y="3689350"/>
                <a:ext cx="174955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GPR 없는 시·군 운영 대행</a:t>
                </a:r>
                <a:br>
                  <a:rPr lang="ko-KR" sz="1200" dirty="0">
                    <a:solidFill>
                      <a:srgbClr val="111827"/>
                    </a:solidFill>
                    <a:latin typeface="+mn-lt"/>
                    <a:ea typeface="+mn-ea"/>
                    <a:cs typeface="+mn-cs"/>
                  </a:rPr>
                </a:br>
                <a:r>
                  <a:rPr lang="ko-KR" sz="1200" dirty="0">
                    <a:solidFill>
                      <a:srgbClr val="111827"/>
                    </a:solidFill>
                    <a:latin typeface="+mn-lt"/>
                    <a:ea typeface="+mn-ea"/>
                    <a:cs typeface="+mn-cs"/>
                  </a:rPr>
                  <a:t>도시철도·상하수도 기관</a:t>
                </a:r>
              </a:p>
            </p:txBody>
          </p:sp>
        </p:grpSp>
        <p:grpSp>
          <p:nvGrpSpPr>
            <p:cNvPr id="63" name="Group 63"/>
            <p:cNvGrpSpPr/>
            <p:nvPr/>
          </p:nvGrpSpPr>
          <p:grpSpPr>
            <a:xfrm>
              <a:off x="533400" y="4533900"/>
              <a:ext cx="11125200" cy="323850"/>
              <a:chOff x="533400" y="4533900"/>
              <a:chExt cx="11125200" cy="323850"/>
            </a:xfrm>
          </p:grpSpPr>
          <p:sp>
            <p:nvSpPr>
              <p:cNvPr id="55" name="Rectangle 55"/>
              <p:cNvSpPr/>
              <p:nvPr/>
            </p:nvSpPr>
            <p:spPr>
              <a:xfrm>
                <a:off x="533400" y="4533900"/>
                <a:ext cx="2609850" cy="323850"/>
              </a:xfrm>
              <a:prstGeom prst="rect">
                <a:avLst/>
              </a:prstGeom>
              <a:solidFill>
                <a:srgbClr val="F3F5F8"/>
              </a:solidFill>
              <a:ln>
                <a:noFill/>
              </a:ln>
            </p:spPr>
          </p:sp>
          <p:sp>
            <p:nvSpPr>
              <p:cNvPr id="56" name="TextBox 56"/>
              <p:cNvSpPr txBox="1"/>
              <p:nvPr/>
            </p:nvSpPr>
            <p:spPr>
              <a:xfrm>
                <a:off x="642366" y="4616450"/>
                <a:ext cx="2387485"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기존 장비와 같은 공동 탐지</a:t>
                </a:r>
              </a:p>
            </p:txBody>
          </p:sp>
          <p:sp>
            <p:nvSpPr>
              <p:cNvPr id="57" name="Rectangle 57"/>
              <p:cNvSpPr/>
              <p:nvPr/>
            </p:nvSpPr>
            <p:spPr>
              <a:xfrm>
                <a:off x="3371850" y="4533900"/>
                <a:ext cx="2609850" cy="323850"/>
              </a:xfrm>
              <a:prstGeom prst="rect">
                <a:avLst/>
              </a:prstGeom>
              <a:solidFill>
                <a:srgbClr val="F3F5F8"/>
              </a:solidFill>
              <a:ln>
                <a:noFill/>
              </a:ln>
            </p:spPr>
          </p:sp>
          <p:sp>
            <p:nvSpPr>
              <p:cNvPr id="58" name="TextBox 58"/>
              <p:cNvSpPr txBox="1"/>
              <p:nvPr/>
            </p:nvSpPr>
            <p:spPr>
              <a:xfrm>
                <a:off x="3480816" y="4616450"/>
                <a:ext cx="2055310"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실증확인서·용역 실적</a:t>
                </a:r>
              </a:p>
            </p:txBody>
          </p:sp>
          <p:sp>
            <p:nvSpPr>
              <p:cNvPr id="59" name="Rectangle 59"/>
              <p:cNvSpPr/>
              <p:nvPr/>
            </p:nvSpPr>
            <p:spPr>
              <a:xfrm>
                <a:off x="6210300" y="4533900"/>
                <a:ext cx="2609850" cy="323850"/>
              </a:xfrm>
              <a:prstGeom prst="rect">
                <a:avLst/>
              </a:prstGeom>
              <a:solidFill>
                <a:srgbClr val="F3F5F8"/>
              </a:solidFill>
              <a:ln>
                <a:noFill/>
              </a:ln>
            </p:spPr>
          </p:sp>
          <p:sp>
            <p:nvSpPr>
              <p:cNvPr id="60" name="TextBox 60"/>
              <p:cNvSpPr txBox="1"/>
              <p:nvPr/>
            </p:nvSpPr>
            <p:spPr>
              <a:xfrm>
                <a:off x="6319266" y="4616450"/>
                <a:ext cx="2479363"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자치구 2곳 연간 계약 </a:t>
                </a:r>
                <a:r>
                  <a:rPr lang="ko-KR" sz="1050" dirty="0">
                    <a:solidFill>
                      <a:srgbClr val="4B5563"/>
                    </a:solidFill>
                    <a:latin typeface="+mn-lt"/>
                    <a:ea typeface="+mn-ea"/>
                    <a:cs typeface="+mn-cs"/>
                  </a:rPr>
                  <a:t>[목표]</a:t>
                </a:r>
              </a:p>
            </p:txBody>
          </p:sp>
          <p:sp>
            <p:nvSpPr>
              <p:cNvPr id="61" name="Rectangle 61"/>
              <p:cNvSpPr/>
              <p:nvPr/>
            </p:nvSpPr>
            <p:spPr>
              <a:xfrm>
                <a:off x="9048750" y="4533900"/>
                <a:ext cx="2609850" cy="323850"/>
              </a:xfrm>
              <a:prstGeom prst="rect">
                <a:avLst/>
              </a:prstGeom>
              <a:solidFill>
                <a:srgbClr val="FFF6D6"/>
              </a:solidFill>
              <a:ln>
                <a:noFill/>
              </a:ln>
            </p:spPr>
          </p:sp>
          <p:sp>
            <p:nvSpPr>
              <p:cNvPr id="62" name="TextBox 62"/>
              <p:cNvSpPr txBox="1"/>
              <p:nvPr/>
            </p:nvSpPr>
            <p:spPr>
              <a:xfrm>
                <a:off x="9157716" y="4616450"/>
                <a:ext cx="1703680"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목표</a:t>
                </a:r>
                <a:r>
                  <a:rPr lang="ko-KR" sz="1050" dirty="0">
                    <a:solidFill>
                      <a:srgbClr val="111827"/>
                    </a:solidFill>
                    <a:latin typeface="+mn-lt"/>
                    <a:ea typeface="+mn-ea"/>
                    <a:cs typeface="+mn-cs"/>
                  </a:rPr>
                  <a:t xml:space="preserve"> 권역별 PV5 플릿 운영</a:t>
                </a:r>
              </a:p>
            </p:txBody>
          </p:sp>
        </p:grpSp>
      </p:grpSp>
      <p:grpSp>
        <p:nvGrpSpPr>
          <p:cNvPr id="67" name="conclusion"/>
          <p:cNvGrpSpPr/>
          <p:nvPr/>
        </p:nvGrpSpPr>
        <p:grpSpPr>
          <a:xfrm>
            <a:off x="533400" y="5562600"/>
            <a:ext cx="7401954" cy="495300"/>
            <a:chOff x="533400" y="5562600"/>
            <a:chExt cx="7401954" cy="495300"/>
          </a:xfrm>
        </p:grpSpPr>
        <p:sp>
          <p:nvSpPr>
            <p:cNvPr id="65" name="Rectangle 65"/>
            <p:cNvSpPr/>
            <p:nvPr/>
          </p:nvSpPr>
          <p:spPr>
            <a:xfrm>
              <a:off x="533400" y="5562600"/>
              <a:ext cx="38100" cy="495300"/>
            </a:xfrm>
            <a:prstGeom prst="rect">
              <a:avLst/>
            </a:prstGeom>
            <a:solidFill>
              <a:srgbClr val="F5B700"/>
            </a:solidFill>
            <a:ln>
              <a:noFill/>
            </a:ln>
          </p:spPr>
        </p:sp>
        <p:sp>
          <p:nvSpPr>
            <p:cNvPr id="66" name="TextBox 66"/>
            <p:cNvSpPr txBox="1"/>
            <p:nvPr/>
          </p:nvSpPr>
          <p:spPr>
            <a:xfrm>
              <a:off x="754380" y="5699125"/>
              <a:ext cx="7180974"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새 예산이 아니라, </a:t>
              </a:r>
              <a:r>
                <a:rPr lang="ko-KR" sz="1500" b="1" dirty="0">
                  <a:solidFill>
                    <a:srgbClr val="B45309"/>
                  </a:solidFill>
                  <a:latin typeface="+mn-lt"/>
                  <a:ea typeface="+mn-ea"/>
                  <a:cs typeface="+mn-cs"/>
                </a:rPr>
                <a:t>지자체가 이미 쓰는 GPR 탐사 예산</a:t>
              </a:r>
              <a:r>
                <a:rPr lang="ko-KR" sz="1500" b="1" dirty="0">
                  <a:solidFill>
                    <a:srgbClr val="0B1E3C"/>
                  </a:solidFill>
                  <a:latin typeface="+mn-lt"/>
                  <a:ea typeface="+mn-ea"/>
                  <a:cs typeface="+mn-cs"/>
                </a:rPr>
                <a:t>에서 첫 계약을 만듭니다.</a:t>
              </a:r>
            </a:p>
          </p:txBody>
        </p:sp>
      </p:grpSp>
      <p:grpSp>
        <p:nvGrpSpPr>
          <p:cNvPr id="69" name="source"/>
          <p:cNvGrpSpPr/>
          <p:nvPr/>
        </p:nvGrpSpPr>
        <p:grpSpPr>
          <a:xfrm>
            <a:off x="528638" y="6343650"/>
            <a:ext cx="9135008" cy="176212"/>
            <a:chOff x="528638" y="6343650"/>
            <a:chExt cx="9135008" cy="176212"/>
          </a:xfrm>
        </p:grpSpPr>
        <p:sp>
          <p:nvSpPr>
            <p:cNvPr id="68" name="TextBox 68"/>
            <p:cNvSpPr txBox="1"/>
            <p:nvPr/>
          </p:nvSpPr>
          <p:spPr>
            <a:xfrm>
              <a:off x="528638" y="6343650"/>
              <a:ext cx="9135008"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나라장터 2026 GPR 용역 낙찰(보령·안양·용인 기흥구) · 헤럴드경제(2025.9.7) · 조달청 혁신제품 지정제도 · 서울시 테스트베드서울 2.0 · 기간은 목표 [가설]</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12</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B1E3C"/>
          </a:solidFill>
          <a:ln>
            <a:noFill/>
          </a:ln>
        </p:spPr>
      </p:sp>
      <p:pic>
        <p:nvPicPr>
          <p:cNvPr id="3" name="Image 3"/>
          <p:cNvPicPr>
            <a:picLocks noChangeAspect="1"/>
          </p:cNvPicPr>
          <p:nvPr/>
        </p:nvPicPr>
        <p:blipFill>
          <a:blip r:embed="rId2"/>
          <a:srcRect l="16666" t="0" r="16667" b="0"/>
          <a:stretch>
            <a:fillRect/>
          </a:stretch>
        </p:blipFill>
        <p:spPr>
          <a:xfrm>
            <a:off x="5334000" y="0"/>
            <a:ext cx="6858000" cy="6858000"/>
          </a:xfrm>
          <a:prstGeom prst="rect">
            <a:avLst/>
          </a:prstGeom>
        </p:spPr>
      </p:pic>
      <p:sp>
        <p:nvSpPr>
          <p:cNvPr id="4" name="Rectangle 4"/>
          <p:cNvSpPr/>
          <p:nvPr/>
        </p:nvSpPr>
        <p:spPr>
          <a:xfrm>
            <a:off x="5334000" y="0"/>
            <a:ext cx="4000500" cy="6858000"/>
          </a:xfrm>
          <a:prstGeom prst="rect">
            <a:avLst/>
          </a:prstGeom>
          <a:gradFill>
            <a:gsLst>
              <a:gs pos="0">
                <a:srgbClr val="0B1E3C"/>
              </a:gs>
              <a:gs pos="55000">
                <a:srgbClr val="0B1E3C">
                  <a:alpha val="85000"/>
                </a:srgbClr>
              </a:gs>
              <a:gs pos="100000">
                <a:srgbClr val="0B1E3C">
                  <a:alpha val="0"/>
                </a:srgbClr>
              </a:gs>
            </a:gsLst>
            <a:lin ang="0" scaled="1"/>
          </a:gradFill>
          <a:ln>
            <a:noFill/>
          </a:ln>
        </p:spPr>
      </p:sp>
      <p:grpSp>
        <p:nvGrpSpPr>
          <p:cNvPr id="12" name="recap"/>
          <p:cNvGrpSpPr/>
          <p:nvPr/>
        </p:nvGrpSpPr>
        <p:grpSpPr>
          <a:xfrm>
            <a:off x="599694" y="990600"/>
            <a:ext cx="3914789" cy="2921381"/>
            <a:chOff x="599694" y="990600"/>
            <a:chExt cx="3914789" cy="2921381"/>
          </a:xfrm>
        </p:grpSpPr>
        <p:sp>
          <p:nvSpPr>
            <p:cNvPr id="5" name="TextBox 5"/>
            <p:cNvSpPr txBox="1"/>
            <p:nvPr/>
          </p:nvSpPr>
          <p:spPr>
            <a:xfrm>
              <a:off x="603504" y="990600"/>
              <a:ext cx="199272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GroundWatch가 바꾸는 것</a:t>
              </a:r>
            </a:p>
          </p:txBody>
        </p:sp>
        <p:sp>
          <p:nvSpPr>
            <p:cNvPr id="6" name="TextBox 6"/>
            <p:cNvSpPr txBox="1"/>
            <p:nvPr/>
          </p:nvSpPr>
          <p:spPr>
            <a:xfrm>
              <a:off x="601218" y="1473200"/>
              <a:ext cx="2282419" cy="322707"/>
            </a:xfrm>
            <a:prstGeom prst="rect">
              <a:avLst/>
            </a:prstGeom>
            <a:noFill/>
            <a:ln>
              <a:noFill/>
            </a:ln>
          </p:spPr>
          <p:txBody>
            <a:bodyPr wrap="none" lIns="0" tIns="0" rIns="0" bIns="0" anchor="t" anchorCtr="0">
              <a:spAutoFit/>
            </a:bodyPr>
            <a:lstStyle/>
            <a:p>
              <a:pPr algn="l"/>
              <a:r>
                <a:rPr lang="ko-KR" sz="1650" dirty="0">
                  <a:solidFill>
                    <a:srgbClr val="9FB0C8"/>
                  </a:solidFill>
                  <a:latin typeface="+mn-lt"/>
                  <a:ea typeface="+mn-ea"/>
                  <a:cs typeface="+mn-cs"/>
                </a:rPr>
                <a:t>한 번 찍고 끝나는 탐사</a:t>
              </a:r>
            </a:p>
          </p:txBody>
        </p:sp>
        <p:sp>
          <p:nvSpPr>
            <p:cNvPr id="7" name="TextBox 7"/>
            <p:cNvSpPr txBox="1"/>
            <p:nvPr/>
          </p:nvSpPr>
          <p:spPr>
            <a:xfrm>
              <a:off x="599694" y="1778000"/>
              <a:ext cx="3775660" cy="381381"/>
            </a:xfrm>
            <a:prstGeom prst="rect">
              <a:avLst/>
            </a:prstGeom>
            <a:noFill/>
            <a:ln>
              <a:noFill/>
            </a:ln>
          </p:spPr>
          <p:txBody>
            <a:bodyPr wrap="none" lIns="0" tIns="0" rIns="0" bIns="0" anchor="t" anchorCtr="0">
              <a:spAutoFit/>
            </a:bodyPr>
            <a:lstStyle/>
            <a:p>
              <a:pPr algn="l"/>
              <a:r>
                <a:rPr lang="ko-KR" sz="1950" b="1" dirty="0">
                  <a:solidFill>
                    <a:srgbClr val="FFFFFF"/>
                  </a:solidFill>
                  <a:latin typeface="+mn-lt"/>
                  <a:ea typeface="+mn-ea"/>
                  <a:cs typeface="+mn-cs"/>
                </a:rPr>
                <a:t>→ 같은 길의 ‘변화’를 보는 탐사</a:t>
              </a:r>
            </a:p>
          </p:txBody>
        </p:sp>
        <p:sp>
          <p:nvSpPr>
            <p:cNvPr id="8" name="TextBox 8"/>
            <p:cNvSpPr txBox="1"/>
            <p:nvPr/>
          </p:nvSpPr>
          <p:spPr>
            <a:xfrm>
              <a:off x="601218" y="2349500"/>
              <a:ext cx="3459670" cy="322707"/>
            </a:xfrm>
            <a:prstGeom prst="rect">
              <a:avLst/>
            </a:prstGeom>
            <a:noFill/>
            <a:ln>
              <a:noFill/>
            </a:ln>
          </p:spPr>
          <p:txBody>
            <a:bodyPr wrap="none" lIns="0" tIns="0" rIns="0" bIns="0" anchor="t" anchorCtr="0">
              <a:spAutoFit/>
            </a:bodyPr>
            <a:lstStyle/>
            <a:p>
              <a:pPr algn="l"/>
              <a:r>
                <a:rPr lang="ko-KR" sz="1650" dirty="0">
                  <a:solidFill>
                    <a:srgbClr val="9FB0C8"/>
                  </a:solidFill>
                  <a:latin typeface="+mn-lt"/>
                  <a:ea typeface="+mn-ea"/>
                  <a:cs typeface="+mn-cs"/>
                </a:rPr>
                <a:t>사람이 다시 찾아야 하는 의심 지점</a:t>
              </a:r>
            </a:p>
          </p:txBody>
        </p:sp>
        <p:sp>
          <p:nvSpPr>
            <p:cNvPr id="9" name="TextBox 9"/>
            <p:cNvSpPr txBox="1"/>
            <p:nvPr/>
          </p:nvSpPr>
          <p:spPr>
            <a:xfrm>
              <a:off x="599694" y="2654300"/>
              <a:ext cx="3914789" cy="381381"/>
            </a:xfrm>
            <a:prstGeom prst="rect">
              <a:avLst/>
            </a:prstGeom>
            <a:noFill/>
            <a:ln>
              <a:noFill/>
            </a:ln>
          </p:spPr>
          <p:txBody>
            <a:bodyPr wrap="none" lIns="0" tIns="0" rIns="0" bIns="0" anchor="t" anchorCtr="0">
              <a:spAutoFit/>
            </a:bodyPr>
            <a:lstStyle/>
            <a:p>
              <a:pPr algn="l"/>
              <a:r>
                <a:rPr lang="ko-KR" sz="1950" b="1" dirty="0">
                  <a:solidFill>
                    <a:srgbClr val="FFFFFF"/>
                  </a:solidFill>
                  <a:latin typeface="+mn-lt"/>
                  <a:ea typeface="+mn-ea"/>
                  <a:cs typeface="+mn-cs"/>
                </a:rPr>
                <a:t>→ 현장에서 바로 확인하는 재탐사</a:t>
              </a:r>
            </a:p>
          </p:txBody>
        </p:sp>
        <p:sp>
          <p:nvSpPr>
            <p:cNvPr id="10" name="TextBox 10"/>
            <p:cNvSpPr txBox="1"/>
            <p:nvPr/>
          </p:nvSpPr>
          <p:spPr>
            <a:xfrm>
              <a:off x="601218" y="3225800"/>
              <a:ext cx="1482776" cy="322707"/>
            </a:xfrm>
            <a:prstGeom prst="rect">
              <a:avLst/>
            </a:prstGeom>
            <a:noFill/>
            <a:ln>
              <a:noFill/>
            </a:ln>
          </p:spPr>
          <p:txBody>
            <a:bodyPr wrap="none" lIns="0" tIns="0" rIns="0" bIns="0" anchor="t" anchorCtr="0">
              <a:spAutoFit/>
            </a:bodyPr>
            <a:lstStyle/>
            <a:p>
              <a:pPr algn="l"/>
              <a:r>
                <a:rPr lang="ko-KR" sz="1650" dirty="0">
                  <a:solidFill>
                    <a:srgbClr val="9FB0C8"/>
                  </a:solidFill>
                  <a:latin typeface="+mn-lt"/>
                  <a:ea typeface="+mn-ea"/>
                  <a:cs typeface="+mn-cs"/>
                </a:rPr>
                <a:t>장비를 실은 차</a:t>
              </a:r>
            </a:p>
          </p:txBody>
        </p:sp>
        <p:sp>
          <p:nvSpPr>
            <p:cNvPr id="11" name="TextBox 11"/>
            <p:cNvSpPr txBox="1"/>
            <p:nvPr/>
          </p:nvSpPr>
          <p:spPr>
            <a:xfrm>
              <a:off x="599694" y="3530600"/>
              <a:ext cx="3092146" cy="381381"/>
            </a:xfrm>
            <a:prstGeom prst="rect">
              <a:avLst/>
            </a:prstGeom>
            <a:noFill/>
            <a:ln>
              <a:noFill/>
            </a:ln>
          </p:spPr>
          <p:txBody>
            <a:bodyPr wrap="none" lIns="0" tIns="0" rIns="0" bIns="0" anchor="t" anchorCtr="0">
              <a:spAutoFit/>
            </a:bodyPr>
            <a:lstStyle/>
            <a:p>
              <a:pPr algn="l"/>
              <a:r>
                <a:rPr lang="ko-KR" sz="1950" b="1" dirty="0">
                  <a:solidFill>
                    <a:srgbClr val="FFFFFF"/>
                  </a:solidFill>
                  <a:latin typeface="+mn-lt"/>
                  <a:ea typeface="+mn-ea"/>
                  <a:cs typeface="+mn-cs"/>
                </a:rPr>
                <a:t>→ 복제 가능한 PV5 탐사실</a:t>
              </a:r>
            </a:p>
          </p:txBody>
        </p:sp>
      </p:grpSp>
      <p:grpSp>
        <p:nvGrpSpPr>
          <p:cNvPr id="15" name="closing"/>
          <p:cNvGrpSpPr/>
          <p:nvPr/>
        </p:nvGrpSpPr>
        <p:grpSpPr>
          <a:xfrm>
            <a:off x="595122" y="4476750"/>
            <a:ext cx="5037439" cy="1255903"/>
            <a:chOff x="595122" y="4476750"/>
            <a:chExt cx="5037439" cy="1255903"/>
          </a:xfrm>
        </p:grpSpPr>
        <p:sp>
          <p:nvSpPr>
            <p:cNvPr id="13" name="Rectangle 13"/>
            <p:cNvSpPr/>
            <p:nvPr/>
          </p:nvSpPr>
          <p:spPr>
            <a:xfrm>
              <a:off x="609600" y="4476750"/>
              <a:ext cx="457200" cy="28575"/>
            </a:xfrm>
            <a:prstGeom prst="rect">
              <a:avLst/>
            </a:prstGeom>
            <a:solidFill>
              <a:srgbClr val="F5B700"/>
            </a:solidFill>
            <a:ln>
              <a:noFill/>
            </a:ln>
          </p:spPr>
        </p:sp>
        <p:sp>
          <p:nvSpPr>
            <p:cNvPr id="14" name="TextBox 14"/>
            <p:cNvSpPr txBox="1"/>
            <p:nvPr/>
          </p:nvSpPr>
          <p:spPr>
            <a:xfrm>
              <a:off x="595122" y="4679950"/>
              <a:ext cx="5037439" cy="1052703"/>
            </a:xfrm>
            <a:prstGeom prst="rect">
              <a:avLst/>
            </a:prstGeom>
            <a:noFill/>
            <a:ln>
              <a:noFill/>
            </a:ln>
          </p:spPr>
          <p:txBody>
            <a:bodyPr wrap="none" lIns="0" tIns="0" rIns="0" bIns="0" anchor="t" anchorCtr="0">
              <a:spAutoFit/>
            </a:bodyPr>
            <a:lstStyle/>
            <a:p>
              <a:pPr algn="l">
                <a:lnSpc>
                  <a:spcPts val="3900"/>
                </a:lnSpc>
              </a:pPr>
              <a:r>
                <a:rPr lang="ko-KR" sz="2850" b="1" dirty="0">
                  <a:solidFill>
                    <a:srgbClr val="FFFFFF"/>
                  </a:solidFill>
                  <a:latin typeface="+mn-lt"/>
                  <a:ea typeface="+mn-ea"/>
                  <a:cs typeface="+mn-cs"/>
                </a:rPr>
                <a:t>한 번의 조기 발견이,</a:t>
              </a:r>
              <a:br>
                <a:rPr lang="ko-KR" sz="2850" b="1" dirty="0">
                  <a:solidFill>
                    <a:srgbClr val="FFFFFF"/>
                  </a:solidFill>
                  <a:latin typeface="+mn-lt"/>
                  <a:ea typeface="+mn-ea"/>
                  <a:cs typeface="+mn-cs"/>
                </a:rPr>
              </a:br>
              <a:r>
                <a:rPr lang="ko-KR" sz="2850" b="1" dirty="0">
                  <a:solidFill>
                    <a:srgbClr val="FFFFFF"/>
                  </a:solidFill>
                  <a:latin typeface="+mn-lt"/>
                  <a:ea typeface="+mn-ea"/>
                  <a:cs typeface="+mn-cs"/>
                </a:rPr>
                <a:t>한 사람의 무사 귀가가 되도록.</a:t>
              </a:r>
            </a:p>
          </p:txBody>
        </p:sp>
      </p:grpSp>
      <p:grpSp>
        <p:nvGrpSpPr>
          <p:cNvPr id="19" name="footer"/>
          <p:cNvGrpSpPr/>
          <p:nvPr/>
        </p:nvGrpSpPr>
        <p:grpSpPr>
          <a:xfrm>
            <a:off x="604266" y="6413500"/>
            <a:ext cx="11135487" cy="369443"/>
            <a:chOff x="604266" y="6413500"/>
            <a:chExt cx="11135487" cy="369443"/>
          </a:xfrm>
        </p:grpSpPr>
        <p:sp>
          <p:nvSpPr>
            <p:cNvPr id="16" name="TextBox 16"/>
            <p:cNvSpPr txBox="1"/>
            <p:nvPr/>
          </p:nvSpPr>
          <p:spPr>
            <a:xfrm>
              <a:off x="604266" y="65405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7" name="TextBox 17"/>
            <p:cNvSpPr txBox="1"/>
            <p:nvPr/>
          </p:nvSpPr>
          <p:spPr>
            <a:xfrm>
              <a:off x="9504226" y="6413500"/>
              <a:ext cx="2235337" cy="161925"/>
            </a:xfrm>
            <a:prstGeom prst="rect">
              <a:avLst/>
            </a:prstGeom>
            <a:noFill/>
            <a:ln>
              <a:noFill/>
            </a:ln>
          </p:spPr>
          <p:txBody>
            <a:bodyPr wrap="none" lIns="0" tIns="0" rIns="0" bIns="0" anchor="t" anchorCtr="0">
              <a:spAutoFit/>
            </a:bodyPr>
            <a:lstStyle/>
            <a:p>
              <a:pPr algn="r"/>
              <a:r>
                <a:rPr lang="ko-KR" sz="820" dirty="0">
                  <a:solidFill>
                    <a:srgbClr val="D6DDE8"/>
                  </a:solidFill>
                  <a:latin typeface="+mn-lt"/>
                  <a:ea typeface="+mn-ea"/>
                  <a:cs typeface="+mn-cs"/>
                </a:rPr>
                <a:t>사진: Alexander Migl, CC BY-SA 4.0(편집)</a:t>
              </a:r>
            </a:p>
          </p:txBody>
        </p:sp>
        <p:sp>
          <p:nvSpPr>
            <p:cNvPr id="18" name="TextBox 18"/>
            <p:cNvSpPr txBox="1"/>
            <p:nvPr/>
          </p:nvSpPr>
          <p:spPr>
            <a:xfrm>
              <a:off x="11265792" y="65913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12 / 12</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12</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2026-10-22T11:38:27Z</dcterms:created>
  <dcterms:modified xsi:type="dcterms:W3CDTF">2026-10-22T11:38:27Z</dcterms:modified>
  <cp:category/>
  <cp:contentStatus/>
</cp:coreProperties>
</file>