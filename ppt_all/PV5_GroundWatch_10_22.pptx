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실제 PV5 카고 사진(Alexander Migl, CC BY-SA 4.0)을 바탕으로 새벽 조명과 루프 장비(경광등·GNSS 안테나)를 편집한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회차 화면은 다음 장에서 설명하는 2D 전자기 시뮬레이션 결과입니다.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약 3.1억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8607a62bfac2e7b.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tretch>
            <a:fillRect/>
          </a:stretch>
        </p:blipFill>
        <p:spPr>
          <a:xfrm>
            <a:off x="3810000" y="0"/>
            <a:ext cx="10287000" cy="6858000"/>
          </a:xfrm>
          <a:prstGeom prst="rect">
            <a:avLst/>
          </a:prstGeom>
        </p:spPr>
      </p:pic>
      <p:sp>
        <p:nvSpPr>
          <p:cNvPr id="4" name="cover-scrim"/>
          <p:cNvSpPr/>
          <p:nvPr/>
        </p:nvSpPr>
        <p:spPr>
          <a:xfrm>
            <a:off x="3810000" y="0"/>
            <a:ext cx="1905000" cy="6858000"/>
          </a:xfrm>
          <a:prstGeom prst="rect">
            <a:avLst/>
          </a:prstGeom>
          <a:gradFill>
            <a:gsLst>
              <a:gs pos="0">
                <a:srgbClr val="0B1E3C"/>
              </a:gs>
              <a:gs pos="10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9504226" y="6299200"/>
            <a:ext cx="2235527" cy="369443"/>
            <a:chOff x="9504226" y="6299200"/>
            <a:chExt cx="2235527" cy="369443"/>
          </a:xfrm>
        </p:grpSpPr>
        <p:sp>
          <p:nvSpPr>
            <p:cNvPr id="18" name="TextBox 18"/>
            <p:cNvSpPr txBox="1"/>
            <p:nvPr/>
          </p:nvSpPr>
          <p:spPr>
            <a:xfrm>
              <a:off x="9504226" y="6299200"/>
              <a:ext cx="223533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사진: Alexander Migl, CC BY-SA 4.0(편집)</a:t>
              </a:r>
            </a:p>
          </p:txBody>
        </p:sp>
        <p:sp>
          <p:nvSpPr>
            <p:cNvPr id="19" name="TextBox 19"/>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732408" cy="2021459"/>
            <a:chOff x="9039987" y="1600200"/>
            <a:chExt cx="2732408"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73240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6번, 1회의 1/3</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2318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11장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8160" y="1746250"/>
            <a:ext cx="6039790" cy="1120140"/>
            <a:chOff x="518160" y="1746250"/>
            <a:chExt cx="6039790" cy="1120140"/>
          </a:xfrm>
        </p:grpSpPr>
        <p:sp>
          <p:nvSpPr>
            <p:cNvPr id="27" name="TextBox 2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28" name="TextBox 2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50" name="TextBox 50"/>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53" name="TextBox 53"/>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56" name="TextBox 56"/>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59" name="TextBox 59"/>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62" name="TextBox 62"/>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95262"/>
            <a:chOff x="528638" y="6610350"/>
            <a:chExt cx="11134724" cy="19526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98996" cy="586740"/>
            <a:chOff x="518160" y="774700"/>
            <a:chExt cx="9798996" cy="586740"/>
          </a:xfrm>
        </p:grpSpPr>
        <p:sp>
          <p:nvSpPr>
            <p:cNvPr id="17" name="TextBox 17"/>
            <p:cNvSpPr txBox="1"/>
            <p:nvPr/>
          </p:nvSpPr>
          <p:spPr>
            <a:xfrm>
              <a:off x="518160" y="774700"/>
              <a:ext cx="979899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탐사실이 되고, 차가 업무의 일부가 됩니다</a:t>
              </a:r>
            </a:p>
          </p:txBody>
        </p:sp>
      </p:grpSp>
      <p:grpSp>
        <p:nvGrpSpPr>
          <p:cNvPr id="28" name="cutaway"/>
          <p:cNvGrpSpPr/>
          <p:nvPr/>
        </p:nvGrpSpPr>
        <p:grpSpPr>
          <a:xfrm>
            <a:off x="528066" y="1390650"/>
            <a:ext cx="6101334" cy="4212209"/>
            <a:chOff x="528066" y="1390650"/>
            <a:chExt cx="6101334" cy="4212209"/>
          </a:xfrm>
        </p:grpSpPr>
        <p:pic>
          <p:nvPicPr>
            <p:cNvPr id="19" name="Image 19"/>
            <p:cNvPicPr>
              <a:picLocks noChangeAspect="1"/>
            </p:cNvPicPr>
            <p:nvPr/>
          </p:nvPicPr>
          <p:blipFill>
            <a:blip r:embed="rId2"/>
            <a:stretch>
              <a:fillRect/>
            </a:stretch>
          </p:blipFill>
          <p:spPr>
            <a:xfrm>
              <a:off x="533400" y="1390650"/>
              <a:ext cx="6096000" cy="4067175"/>
            </a:xfrm>
            <a:prstGeom prst="rect">
              <a:avLst/>
            </a:prstGeom>
          </p:spPr>
        </p:pic>
        <p:grpSp>
          <p:nvGrpSpPr>
            <p:cNvPr id="26" name="Group 26"/>
            <p:cNvGrpSpPr/>
            <p:nvPr/>
          </p:nvGrpSpPr>
          <p:grpSpPr>
            <a:xfrm>
              <a:off x="2952750" y="2667000"/>
              <a:ext cx="2752725" cy="904875"/>
              <a:chOff x="2952750" y="2667000"/>
              <a:chExt cx="2752725" cy="904875"/>
            </a:xfrm>
          </p:grpSpPr>
          <p:sp>
            <p:nvSpPr>
              <p:cNvPr id="20" name="Ellipse 20"/>
              <p:cNvSpPr/>
              <p:nvPr/>
            </p:nvSpPr>
            <p:spPr>
              <a:xfrm>
                <a:off x="2952750" y="3248025"/>
                <a:ext cx="323850" cy="323850"/>
              </a:xfrm>
              <a:prstGeom prst="ellipse">
                <a:avLst/>
              </a:prstGeom>
              <a:solidFill>
                <a:srgbClr val="F5B700"/>
              </a:solidFill>
              <a:ln w="19050">
                <a:solidFill>
                  <a:srgbClr val="0B1E3C"/>
                </a:solidFill>
              </a:ln>
            </p:spPr>
          </p:sp>
          <p:sp>
            <p:nvSpPr>
              <p:cNvPr id="21" name="TextBox 21"/>
              <p:cNvSpPr txBox="1"/>
              <p:nvPr/>
            </p:nvSpPr>
            <p:spPr>
              <a:xfrm>
                <a:off x="3059293" y="33147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029075" y="2667000"/>
                <a:ext cx="323850" cy="323850"/>
              </a:xfrm>
              <a:prstGeom prst="ellipse">
                <a:avLst/>
              </a:prstGeom>
              <a:solidFill>
                <a:srgbClr val="F5B700"/>
              </a:solidFill>
              <a:ln w="19050">
                <a:solidFill>
                  <a:srgbClr val="0B1E3C"/>
                </a:solidFill>
              </a:ln>
            </p:spPr>
          </p:sp>
          <p:sp>
            <p:nvSpPr>
              <p:cNvPr id="23" name="TextBox 23"/>
              <p:cNvSpPr txBox="1"/>
              <p:nvPr/>
            </p:nvSpPr>
            <p:spPr>
              <a:xfrm>
                <a:off x="4135618" y="273367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381625" y="2828925"/>
                <a:ext cx="323850" cy="323850"/>
              </a:xfrm>
              <a:prstGeom prst="ellipse">
                <a:avLst/>
              </a:prstGeom>
              <a:solidFill>
                <a:srgbClr val="F5B700"/>
              </a:solidFill>
              <a:ln w="19050">
                <a:solidFill>
                  <a:srgbClr val="0B1E3C"/>
                </a:solidFill>
              </a:ln>
            </p:spPr>
          </p:sp>
          <p:sp>
            <p:nvSpPr>
              <p:cNvPr id="25" name="TextBox 25"/>
              <p:cNvSpPr txBox="1"/>
              <p:nvPr/>
            </p:nvSpPr>
            <p:spPr>
              <a:xfrm>
                <a:off x="5488168" y="28956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sp>
          <p:nvSpPr>
            <p:cNvPr id="27" name="TextBox 27"/>
            <p:cNvSpPr txBox="1"/>
            <p:nvPr/>
          </p:nvSpPr>
          <p:spPr>
            <a:xfrm>
              <a:off x="528066" y="5397500"/>
              <a:ext cx="555949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A 분석 장비 · B 수동 GPR·AR 글래스 · C 안전장비 · 하부 GPR은 간섭 시험 후 위치 확정</a:t>
              </a:r>
            </a:p>
          </p:txBody>
        </p:sp>
      </p:grpSp>
      <p:grpSp>
        <p:nvGrpSpPr>
          <p:cNvPr id="43" name="verbs"/>
          <p:cNvGrpSpPr/>
          <p:nvPr/>
        </p:nvGrpSpPr>
        <p:grpSpPr>
          <a:xfrm>
            <a:off x="7002399" y="1485900"/>
            <a:ext cx="4656201" cy="3644646"/>
            <a:chOff x="7002399" y="1485900"/>
            <a:chExt cx="4656201" cy="3644646"/>
          </a:xfrm>
        </p:grpSpPr>
        <p:sp>
          <p:nvSpPr>
            <p:cNvPr id="29" name="TextBox 29"/>
            <p:cNvSpPr txBox="1"/>
            <p:nvPr/>
          </p:nvSpPr>
          <p:spPr>
            <a:xfrm>
              <a:off x="7002399" y="1485900"/>
              <a:ext cx="303833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 xml:space="preserve">싣는다 </a:t>
              </a:r>
              <a:r>
                <a:rPr lang="ko-KR" sz="1120" dirty="0">
                  <a:solidFill>
                    <a:srgbClr val="4B5563"/>
                  </a:solidFill>
                  <a:latin typeface="+mn-lt"/>
                  <a:ea typeface="+mn-ea"/>
                  <a:cs typeface="+mn-cs"/>
                </a:rPr>
                <a:t>카고룸 4,420L · 최대 적재 600kg</a:t>
              </a:r>
            </a:p>
          </p:txBody>
        </p:sp>
        <p:sp>
          <p:nvSpPr>
            <p:cNvPr id="30" name="TextBox 30"/>
            <p:cNvSpPr txBox="1"/>
            <p:nvPr/>
          </p:nvSpPr>
          <p:spPr>
            <a:xfrm>
              <a:off x="7004304" y="1771650"/>
              <a:ext cx="372770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+ 2인 약 150kg [가설] — 150kg 여유</a:t>
              </a:r>
            </a:p>
          </p:txBody>
        </p:sp>
        <p:sp>
          <p:nvSpPr>
            <p:cNvPr id="31" name="Line 31"/>
            <p:cNvSpPr/>
            <p:nvPr/>
          </p:nvSpPr>
          <p:spPr>
            <a:xfrm>
              <a:off x="7010400" y="209550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32" name="TextBox 32"/>
            <p:cNvSpPr txBox="1"/>
            <p:nvPr/>
          </p:nvSpPr>
          <p:spPr>
            <a:xfrm>
              <a:off x="7002399" y="2266950"/>
              <a:ext cx="360425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 xml:space="preserve">켠다 </a:t>
              </a:r>
              <a:r>
                <a:rPr lang="ko-KR" sz="1120" dirty="0">
                  <a:solidFill>
                    <a:srgbClr val="4B5563"/>
                  </a:solidFill>
                  <a:latin typeface="+mn-lt"/>
                  <a:ea typeface="+mn-ea"/>
                  <a:cs typeface="+mn-cs"/>
                </a:rPr>
                <a:t>실내·실외 V2L · PIM 제어기(외부 장비 제어)</a:t>
              </a:r>
            </a:p>
          </p:txBody>
        </p:sp>
        <p:sp>
          <p:nvSpPr>
            <p:cNvPr id="33" name="TextBox 33"/>
            <p:cNvSpPr txBox="1"/>
            <p:nvPr/>
          </p:nvSpPr>
          <p:spPr>
            <a:xfrm>
              <a:off x="7004304" y="2552700"/>
              <a:ext cx="334807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시동 없이 장비 운용, 차량 화면에서 전원 제어</a:t>
              </a:r>
            </a:p>
          </p:txBody>
        </p:sp>
        <p:sp>
          <p:nvSpPr>
            <p:cNvPr id="34" name="Line 34"/>
            <p:cNvSpPr/>
            <p:nvPr/>
          </p:nvSpPr>
          <p:spPr>
            <a:xfrm>
              <a:off x="7010400" y="287655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35" name="TextBox 35"/>
            <p:cNvSpPr txBox="1"/>
            <p:nvPr/>
          </p:nvSpPr>
          <p:spPr>
            <a:xfrm>
              <a:off x="7002399" y="3048000"/>
              <a:ext cx="3373786"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 xml:space="preserve">고정한다 </a:t>
              </a:r>
              <a:r>
                <a:rPr lang="ko-KR" sz="1120" dirty="0">
                  <a:solidFill>
                    <a:srgbClr val="4B5563"/>
                  </a:solidFill>
                  <a:latin typeface="+mn-lt"/>
                  <a:ea typeface="+mn-ea"/>
                  <a:cs typeface="+mn-cs"/>
                </a:rPr>
                <a:t>L-Track·몰리 패널(순정 액세서리)</a:t>
              </a:r>
            </a:p>
          </p:txBody>
        </p:sp>
        <p:sp>
          <p:nvSpPr>
            <p:cNvPr id="36" name="TextBox 36"/>
            <p:cNvSpPr txBox="1"/>
            <p:nvPr/>
          </p:nvSpPr>
          <p:spPr>
            <a:xfrm>
              <a:off x="7004304" y="3333750"/>
              <a:ext cx="29765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회차마다 같은 위치 → 같은 조건으로 비교</a:t>
              </a:r>
            </a:p>
          </p:txBody>
        </p:sp>
        <p:sp>
          <p:nvSpPr>
            <p:cNvPr id="37" name="Line 37"/>
            <p:cNvSpPr/>
            <p:nvPr/>
          </p:nvSpPr>
          <p:spPr>
            <a:xfrm>
              <a:off x="7010400" y="365760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38" name="TextBox 38"/>
            <p:cNvSpPr txBox="1"/>
            <p:nvPr/>
          </p:nvSpPr>
          <p:spPr>
            <a:xfrm>
              <a:off x="7002399" y="3829050"/>
              <a:ext cx="356482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 xml:space="preserve">안내한다 </a:t>
              </a:r>
              <a:r>
                <a:rPr lang="ko-KR" sz="1120" dirty="0">
                  <a:solidFill>
                    <a:srgbClr val="4B5563"/>
                  </a:solidFill>
                  <a:latin typeface="+mn-lt"/>
                  <a:ea typeface="+mn-ea"/>
                  <a:cs typeface="+mn-cs"/>
                </a:rPr>
                <a:t>Pleos Connect 내비 연동(Navihelper)</a:t>
              </a:r>
            </a:p>
          </p:txBody>
        </p:sp>
        <p:sp>
          <p:nvSpPr>
            <p:cNvPr id="39" name="TextBox 39"/>
            <p:cNvSpPr txBox="1"/>
            <p:nvPr/>
          </p:nvSpPr>
          <p:spPr>
            <a:xfrm>
              <a:off x="7004304" y="4114800"/>
              <a:ext cx="267766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재확인 지점을 차량 내비로 바로 안내</a:t>
              </a:r>
            </a:p>
          </p:txBody>
        </p:sp>
        <p:sp>
          <p:nvSpPr>
            <p:cNvPr id="40" name="Line 40"/>
            <p:cNvSpPr/>
            <p:nvPr/>
          </p:nvSpPr>
          <p:spPr>
            <a:xfrm>
              <a:off x="7010400" y="443865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41" name="TextBox 41"/>
            <p:cNvSpPr txBox="1"/>
            <p:nvPr/>
          </p:nvSpPr>
          <p:spPr>
            <a:xfrm>
              <a:off x="7002399" y="4610100"/>
              <a:ext cx="316737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 xml:space="preserve">복제한다 </a:t>
              </a:r>
              <a:r>
                <a:rPr lang="ko-KR" sz="1120" dirty="0">
                  <a:solidFill>
                    <a:srgbClr val="4B5563"/>
                  </a:solidFill>
                  <a:latin typeface="+mn-lt"/>
                  <a:ea typeface="+mn-ea"/>
                  <a:cs typeface="+mn-cs"/>
                </a:rPr>
                <a:t>컨버전 포털 · Pleos App Market</a:t>
              </a:r>
            </a:p>
          </p:txBody>
        </p:sp>
        <p:sp>
          <p:nvSpPr>
            <p:cNvPr id="42" name="TextBox 42"/>
            <p:cNvSpPr txBox="1"/>
            <p:nvPr/>
          </p:nvSpPr>
          <p:spPr>
            <a:xfrm>
              <a:off x="7004304" y="4895850"/>
              <a:ext cx="28893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사양·같은 앱을 다른 지자체 PV5로</a:t>
              </a:r>
            </a:p>
          </p:txBody>
        </p:sp>
      </p:grpSp>
      <p:grpSp>
        <p:nvGrpSpPr>
          <p:cNvPr id="46" name="conclusion"/>
          <p:cNvGrpSpPr/>
          <p:nvPr/>
        </p:nvGrpSpPr>
        <p:grpSpPr>
          <a:xfrm>
            <a:off x="533400" y="5695950"/>
            <a:ext cx="6764768" cy="419100"/>
            <a:chOff x="533400" y="5695950"/>
            <a:chExt cx="6764768" cy="419100"/>
          </a:xfrm>
        </p:grpSpPr>
        <p:sp>
          <p:nvSpPr>
            <p:cNvPr id="44" name="Rectangle 44"/>
            <p:cNvSpPr/>
            <p:nvPr/>
          </p:nvSpPr>
          <p:spPr>
            <a:xfrm>
              <a:off x="533400" y="5695950"/>
              <a:ext cx="38100" cy="419100"/>
            </a:xfrm>
            <a:prstGeom prst="rect">
              <a:avLst/>
            </a:prstGeom>
            <a:solidFill>
              <a:srgbClr val="F5B700"/>
            </a:solidFill>
            <a:ln>
              <a:noFill/>
            </a:ln>
          </p:spPr>
        </p:sp>
        <p:sp>
          <p:nvSpPr>
            <p:cNvPr id="45" name="TextBox 45"/>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48" name="source"/>
          <p:cNvGrpSpPr/>
          <p:nvPr/>
        </p:nvGrpSpPr>
        <p:grpSpPr>
          <a:xfrm>
            <a:off x="528447" y="6381750"/>
            <a:ext cx="9249505" cy="191643"/>
            <a:chOff x="528447" y="6381750"/>
            <a:chExt cx="9249505" cy="191643"/>
          </a:xfrm>
        </p:grpSpPr>
        <p:sp>
          <p:nvSpPr>
            <p:cNvPr id="47" name="TextBox 47"/>
            <p:cNvSpPr txBox="1"/>
            <p:nvPr/>
          </p:nvSpPr>
          <p:spPr>
            <a:xfrm>
              <a:off x="528447" y="6381750"/>
              <a:ext cx="924950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PIM·포털) · V2L 3.6kW 해외 제원 · 배치도 콘셉트</a:t>
              </a:r>
            </a:p>
          </p:txBody>
        </p:sp>
      </p:grpSp>
      <p:grpSp>
        <p:nvGrpSpPr>
          <p:cNvPr id="51" name="footer"/>
          <p:cNvGrpSpPr/>
          <p:nvPr/>
        </p:nvGrpSpPr>
        <p:grpSpPr>
          <a:xfrm>
            <a:off x="528638" y="6610350"/>
            <a:ext cx="11134724" cy="176212"/>
            <a:chOff x="528638" y="6610350"/>
            <a:chExt cx="11134724" cy="176212"/>
          </a:xfrm>
        </p:grpSpPr>
        <p:sp>
          <p:nvSpPr>
            <p:cNvPr id="49" name="TextBox 49"/>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0" name="TextBox 5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10365" cy="586740"/>
            <a:chOff x="518160" y="774700"/>
            <a:chExt cx="8710365" cy="586740"/>
          </a:xfrm>
        </p:grpSpPr>
        <p:sp>
          <p:nvSpPr>
            <p:cNvPr id="17" name="TextBox 17"/>
            <p:cNvSpPr txBox="1"/>
            <p:nvPr/>
          </p:nvSpPr>
          <p:spPr>
            <a:xfrm>
              <a:off x="518160" y="774700"/>
              <a:ext cx="871036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5만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3265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326593" y="32956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326593" y="36385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326593" y="39814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326593" y="43243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640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약 3.1억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31480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20~30km/h)</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4053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23296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a:t>
              </a:r>
              <a:r>
                <a:rPr lang="ko-KR" sz="1050" dirty="0">
                  <a:solidFill>
                    <a:srgbClr val="4B5563"/>
                  </a:solidFill>
                  <a:latin typeface="+mn-lt"/>
                  <a:ea typeface="+mn-ea"/>
                  <a:cs typeface="+mn-cs"/>
                </a:rPr>
                <a:t>(4.7만 × 6)</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888457" cy="191643"/>
            <a:chOff x="528447" y="6381750"/>
            <a:chExt cx="10888457" cy="191643"/>
          </a:xfrm>
        </p:grpSpPr>
        <p:sp>
          <p:nvSpPr>
            <p:cNvPr id="60" name="TextBox 60"/>
            <p:cNvSpPr txBox="1"/>
            <p:nvPr/>
          </p:nvSpPr>
          <p:spPr>
            <a:xfrm>
              <a:off x="528447" y="6381750"/>
              <a:ext cx="108884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1,780,900,000원·수행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29835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413500"/>
            <a:ext cx="11135487" cy="369443"/>
            <a:chOff x="604266" y="6413500"/>
            <a:chExt cx="11135487" cy="369443"/>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20" name="TextBox 2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2026-10-22T13:22:10Z</dcterms:created>
  <dcterms:modified xsi:type="dcterms:W3CDTF">2026-10-22T13:22:10Z</dcterms:modified>
  <cp:category/>
  <cp:contentStatus/>
</cp:coreProperties>
</file>