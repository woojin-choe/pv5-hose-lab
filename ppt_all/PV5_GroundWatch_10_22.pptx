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jpg" ContentType="image/jpeg"/>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19"/>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2000" cy="6858000" type="screen16x9"/>
  <p:notesSz cx="6858000" cy="9144000"/>
  <p:defaultText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  <Relationship Id="rId19"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ko-KR"/>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ko-K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ko-KR"/>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ko-K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ko-KR"/>
          </a:p>
        </p:txBody>
      </p:sp>
    </p:spTree>
  </p:cSld>
  <p:clrMap bg1="lt1" tx1="dk1" bg2="lt2" tx2="dk2" accent1="accent1" accent2="accent2" accent3="accent3" accent4="accent4" accent5="accent5" accent6="accent6" hlink="hlink" folHlink="folHlink"/>
  <p:hf/>
  <p:notesStyle>
    <a:lvl1pPr marL="0" algn="l">
      <a:defRPr sz="1200" lang="ko-KR"/>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제5회 기아 PBV 아이디어 공모전 일반 부문에 PV5 GroundWatch, PV5 지하안전 순찰차를 제안합니다. 저희 팀 이름은 한 명이라도 살릴 수 있다면입니다. 같은 길을 반복해서 보고, 구멍이 되기 전의 변화를 찾는 것이 이 제안의 전부입니다. 표지는 새벽 서울 도로를 순찰하는 PV5와 도로 아래 GPR 탐사를 표현한 연출 이미지입니다.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2024년 8월 29일 서울 서대문구 연희동 성산로에서 가로 6m, 세로 4m, 깊이 2.5m 땅꺼짐에 차량이 빠져 조수석 동승자가 숨지고 운전자가 크게 다쳤습니다. 이 구간은 같은 해 5월 7일부터 16일까지 탐사차량 2대와 인력 16명이 투입된 정기 GPR 탐사에서 빈 공간이 발견되지 않았습니다. 탐사가 틀린 것이 아니라, 한 번의 탐사는 그 시점만 말해 준다는 뜻입니다. 출처: 뉴시스 2024.8.30(https://www.newsis.com/view/NISX20240830_0002869815), 아시아경제 2024.8.30, 세계일보 2025.9.25(https://www.segye.com/newsView/20250925503464). 지도는 OpenStreetMap이며 정확한 지점이 보도되지 않아 성산로 연희동 구간으로 표시했습니다.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지하안전법상 지하시설물관리자의 GPR 공동조사 주기는 5년에 1회 이상입니다. 서울시는 2025년 4월 정기점검 주기를 5년에서 1년으로 줄였습니다(이투데이 2025.4.23). 그래도 연희동은 탐사에서 함몰까지 약 3.5개월이었습니다. 일본 국토교통성 위탁연구(도쿄대 桑野玲子 교수 대표, 지오서치 참여, 2018~2020)는 실제 도로 모니터링에서 지하 1.64m 합류식 하수관(Φ800) 위 공동이 급격히 자란 것을 확인했고, 토사 유출 조건이 갖춰지면 종래 생각보다 단기간에 공동이 성장할 가능성을 보고했습니다(https://www.mlit.go.jp/road/tech/hyouka/r1/30-5_gaiyou.pdf). 그래서 맹점은 탐사 자체가 아니라 탐사와 탐사 사이입니다.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땅꺼짐은 깊이에 따라 막는 방법이 다릅니다. 전국 지반침하 867건(2020~2024) 가운데 394건, 45.4%가 하수관 손상 때문이었습니다(국토교통부 통계, 한경비즈니스 2025.4.15 https://magazine.hankyung.com/business/article/202504151399b). 하수관이 새면 흙이 쓸려 나가 공동이 먼저 생기고, 공동이 자라는 동안 도로 표면은 멀쩡해 보입니다. 이 얕은 공동은 차량형 GPR(탐사 깊이 약 2m)로 함몰 전에 찾을 수 있습니다. 반면 명일동 사고는 심층풍화대에서 불연속면 3개가 교차해 만든 쐐기형 토체가 미끄러진 심부 붕괴였고, 터널 공사로 지하수위가 약 3m에서 26m까지 낮아진 것과 노후 하수관 누수, 지보 성능 한계가 간접 원인이었습니다(국토교통부 사조위, 2025.12.3). 이런 깊은 붕괴는 지표 GPR로 확인하기 어렵고 공사장 계측과 지반조사가 맡습니다. 그래서 GroundWatch는 명일동 사고를 막을 수 있었다고 말하지 않습니다. 반대로 깊이 2.5m였던 연희동 같은 얕은 함몰이 우리의 대상입니다. 우리의 대상은 원인 1위인 얕은 공동이고, 한 번의 탐사가 아니라 회차 사이의 변화로 찾습니다. 단면도는 원리 설명용 도식이며 깊이 비례가 아닙니다.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네 단계가 반복되는 구조입니다. PV5가 교통량이 적은 새벽에 같은 경로를 반복 주행하며 GPR과 카메라 데이터를 함께 모으고, 위치·깊이·시간 기준으로 4D 지도에 저장합니다. AI가 이전 회차와 달라진 곳을 고르면 전문가가 원시 데이터를 보고 승인하고, 승인된 지점만 다음 순찰에서 AR 글래스와 수동 GPR로 다시 확인합니다. 필요하면 관계기관 승인과 교통통제 후 천공·내시경으로 최종 확인합니다. 확인과 보수 결과는 다시 지도에 저장돼 다음 순찰과 AI 검증에 쓰입니다. AI는 검토 순서를 정할 뿐 공동을 확정하지 않습니다. B-scan 비교 화면은 설명용 예시입니다.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재확인 업무는 클라우드, PV5 Patrol 앱, Edge Gateway, AR 글래스, 수동 GPR로 이어집니다. 차량 앱은 업무와 경로를, 게이트웨이는 센서 동기화와 로컬 통신을, AR 글래스는 현장 위치 정합과 탐사 안내를 맡습니다. 이렇게 나누면 차량 API 접근이 일부 막혀도 GPR과 AR 기능 전체가 멈추지 않습니다. AR 글래스는 차량 화면의 단순 미러링이 아니라 보안 Wi-Fi로 작업 데이터만 주고받습니다. 현장은 2인 1조로, 한 명은 운전과 주변 교통 확인·안전통제를, 한 명은 GPR·AR 글래스와 현장 판독을 맡습니다. 태블릿이 아니라 AR 글래스인 이유는 수동 GPR을 두 손으로 밀어야 하기 때문입니다. 장비는 RealWear Navigator 520(제조사 판매가 US$3,750)급 산업용 헤드셋을 기준으로 하며, 2024년 단종된 HoloLens 2는 쓰지 않습니다. AR 글래스는 차량이 정차한 뒤 차 밖의 작업자만 쓰고, 맨홀·차선·경계석·RTK 중 두세 가지로 위치를 맞춘 뒤 공동의 모양이 아니라 수동 GPR로 다시 볼 범위만 표시합니다. 화면의 AI 신뢰도는 검토 우선순위를 위한 값이고, 현장에 표시되는 지점은 전문가가 승인한 지점입니다. PV5는 Android Automotive OS 기반 PBV 전용 인포테인먼트와 Pleos App Market을 지원하며, 앱 배포와 차량 데이터 접근은 기아 PBV 파트너 승인과 공식 API 범위 확인이 필요합니다(https://eu-www.kia.com/uk/pbv/solutions/software/). 도로 장면은 연출 이미지이고 화면 수치는 예시이며, 실내 사진은 Alexander Migl(CC BY-SA 4.0)에 화면을 합성했습니다.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PV5는 탐사 장비를 싣고, 켜고, 고정하고, 여러 대에 복제하는 구조를 차량과 기아 순정 액세서리로 제공합니다. 카고룸은 4,420L이고 롱레인지 3도어의 최대 적재는 600kg입니다(기아 국내 제원 https://www.kia.com/kr/vehicles/pv5-cargo/specification). 실내·실외 V2L로 GPR 제어부와 엣지 PC를 상시 구동하고 AR 글래스와 수동 GPR을 현장에서 충전합니다. V2L 최대 출력 3.6kW는 해외(독일·호주) 공개 제원이며 국내 공식 kW 수치는 확인 중입니다. L-Track과 몰리 패널은 기아 순정 액세서리(선택 사양)로, 장비를 회차마다 같은 위치에 고정해 반복 측정 환경을 유지하는 데 씁니다. 플렉시블 바디는 표준 차체에 모듈을 조합하는 방식으로(현대차그룹 PV5 테크 데이 2025.7.23), GPR 탐사 키트도 같은 방식으로 표준화하는 것이 저희 제안입니다. 두 번째 사진은 PV5 실내 사진(Alexander Migl, CC BY-SA 4.0)의 디스플레이에 장비 전원 화면을 합성한 예시로, 장비별 전력 합계 1.2kW와 배터리 86%에서 30% 하한까지 약 12시간 운용은 주행 약 2kWh/h와 장비 1.2kW를 가정한 값입니다. 1·3번은 장비 배치도 확대(콘셉트), 4번은 PV5 카고 실차 사진(Alexander Migl, CC BY-SA 4.0)입니다. 화물실 전방에는 Edge Gateway와 엣지 AI 컴퓨터, GPR 제어장치를, 측면에는 수동 GPR과 AR 글래스, RTK 이동국을, 후방에는 내시경과 안전 장비를 둡니다. 롱 카고룸은 2,255×1,565×1,520mm, 적재고는 419mm입니다. 차량형 다채널 GPR은 두 가지 장착안을 검토합니다. 배치도처럼 후륜 주변 차체 하부에 다는 하부형과, 표지처럼 뒷범퍼 뒤 프레임에 다는 후방 장착형입니다. PV5는 앞뒤 바퀴 사이 바닥 아래에 배터리 팩이 있으므로 지상고와 배터리 팩·구동계 간섭을 시험해 하나로 확정합니다. 적재·전력 예산은 가설입니다. 장비 합계 약 300kg으로 최대 적재 600kg의 절반, 장비 소비전력 1.5kW 이하로 V2L 최대 출력(해외 제원 3.6kW) 안, 하루 3시간·시속 10km 순찰(약 30km)과 장비 전력을 합쳐 약 10kWh로 배터리 71.2kWh의 약 14%입니다. 수동 GPR 카트 무게는 GSSI UtilityScan Pro 브로셔의 60~75lb(약 27~34kg, 카트에 따라 다름)를 참고했습니다. 총중량·축하중·전자파 간섭·구조변경 승인은 실증이 필요합니다. 배치도는 PV5 기반 콘셉트 이미지입니다.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현대차그룹 전기 상용차는 용도가 나뉘어 있습니다. 스타리아 일렉트릭 카고는 승합 기반 밴, ST1은 물류 특화 카고, 포터II·봉고III EV는 1톤 트럭입니다. 탐사·판독·재검증을 한 차에서 하려면 밀폐 공간, 장비 전원, 장비 고정, 그리고 같은 사양으로 여러 대를 만드는 컨버전 체계가 필요하고, 이 용도에 맞는 차가 PV5 카고입니다. 가격은 PV5 카고 롱 베이직 롱레인지 4,520만 원(기아 가격표 2026.10.1), 스타리아 일렉트릭 카고 3인승 5,792만 원(2026.4.23 출시), ST1 카고 스타일 5,874만 원(2025.7.16)이고, 1회 충전은 377km, 387km, 317km(현대차그룹 뉴스룸), 217km(포터·봉고 2025년형)입니다. 다만 차값 차이는 최대 1,354만 원인데 차량형 GPR은 대당 2억~8억 원이라(시사저널 2025.4.25, 경기도청 인용), 저희는 가격으로 고르지 않았다고 밝힙니다. PV5는 국내 특장 파트너 10개사, 3D CAD와 기술 가이드를 주는 PBV 컨버전 포털, 12V 전력 연결 블록과 PIM을 기본 제공합니다(오토뷰 2026 https://www.autoview.co.kr/ko-kr/articles/98843). 불리한 점으로 주행거리가 스타리아보다 10km 짧고 전폭이 포터·봉고보다 155mm 넓지만, 하루 약 30km 순찰이라는 가설에서는 충분합니다.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반복 탐사가 의미 있다는 근거는 일본 국토교통성 위탁연구(도쿄대 桑野玲子 교수 대표, 지오서치 참여, 2018~2020)입니다. 실제 도로 모니터링에서 지하 1.64m에 묻힌 합류식 하수관(Φ800) 위의 공동이 급격히 자란 것을 확인해 굴착 조사했고, 하수관 내부 카메라로는 보이지 않는 경미한 손상도 공동의 원인이 될 수 있었습니다. 연구진은 토사 유출 조건이 갖춰지면 종래 생각보다 단기간에 공동이 성장할 가능성을 보고했습니다(개요 https://www.mlit.go.jp/road/tech/hyouka/r1/30-5_gaiyou.pdf). 성장 속도의 정량화는 과제로 남아 있습니다(https://www.mlit.go.jp/road/tech/jigo/r03/pdf/houkokusyo30-5.pdf). 회차 간 3D GPR 정합 기법은 Ling et al., Remote Sensing 14(7):1593(2022)을 참고합니다. 먼저 실증할 것은 전자파 간섭, 회차별 위치 정합, AI 탐지율과 오탐률(계절별 함수비 변화 보정 포함), 야간 AR 위치 오차입니다. 인허가로는 도로 영상의 개인정보보호법 제25조의2(이동형 영상정보처리기기, 2023.9.15 시행)에 따라 차량 외부에 촬영 사실을 표시하고, GPR 전파 적합성평가와 장비 장착의 튜닝 승인 해당 여부는 사업화 전에 국립전파연구원과 한국교통안전공단에 확인하며, 장착은 기아 공식 컨버전 파트너를 거칩니다. 실증은 네 단계로 넓힙니다. 폐쇄 시험장에서 장착 구조와 전력, 전자파 간섭, 통신 누락을 확인해 차량형 측정이 가능한지 판정하고, 공동 모사체가 있는 통제 구간을 같은 속도와 경로로 반복 측정해 회차 비교가 가능한지 봅니다. 이후 지자체와 조사기업이 고른 실제 위험구간에서 기존 전문 장비, 전문가 판독, 천공 결과와 비교해 효용을 입증하고 실증서를 받습니다. 마지막으로 새벽 순찰 시간과 재확인부터 현장 도착까지 걸린 시간, AR 보정 성공률, 재방문 감소량을 측정해 연간 관제 계약으로 넘어갑니다. 정량 목표치는 파일럿 설계 때 발주기관과 확정하며 지금은 임의 수치를 제시하지 않습니다.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시장은 지자체가 관리하는 도로 96,712km(전국 116,775km의 83%, e-나라지표 2025.12)와 226개 시·군·구입니다. 정부 지반탐사는 2024년 2,308km에서 2026년 11,380km로 약 5배 늘고 2028년 15,000km가 계획돼 있으며(머니투데이 2025.12.23), 2026년 국비는 국토안전관리원 GPR 13대→32대 87억 원과 지자체 지원 44억 원입니다(뉴스서울 2025.12.3). 차량 1대의 연간 비용은 가설로, PV5 4,520만 원과 차량형 GPR 2억~5억 원(경기도청 인용 대당 2억~8억, 서울시 3대 15억 원)을 5년 감가하고 2인 1조 인건비 1억 원, 수동 GPR·AR·분석·유지 0.3억 원을 더해 약 1.8~2.4억 원입니다. 수입 근거는 자치구 연간 GPR 용역 발주 규모 1.6억~2.2억 원(강동구·도봉구 2026)이므로, 차량 1대가 자치구 2곳을 맡으면 약 3.2~4.3억 원으로 비용을 넘고 3곳이면 4.8~6.5억 원입니다. 하루 30km, 연 220일이면 6,600km라 서울 자치구 평균 도로(약 334km) 3곳, 약 1,000km를 연 6회 반복할 수 있습니다. 기아에는 장비 포함 대당 2억 원 이상의 고부가 컨버전 PV5와 공공 반복 수요, Pleos 공공 업무 앱 레퍼런스가 생깁니다. 인건비·유지비·주행 가정은 파일럿에서 확정합니다.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새 예산을 만들지 않고 지자체가 이미 쓰는 GPR 탐사 예산에서 시작합니다. 2026년 지자체 GPR 탐사 용역은 보령 4,558만 원, 안양 8,522만 원, 용인 기흥구 1억 7,736만 원에 낙찰됐습니다(나라장터 개찰 결과, 2026.5~6). 경기도는 2025년 9월 16개 시·군 1,080km 탐사를 21.6억 원(국비·도비·시군비)으로 지원했는데, 장비를 사지 않고 용역으로 수행합니다(헤럴드경제 2025.9.7 https://www.heraldk.com/article/2025090714512710835). 2025년 4월 기준 경기도와 31개 시·군은 GPR을 한 대도 보유하지 않았습니다(시사저널 2025.4.25). 0~1년차에는 테스트베드서울 2.0(과제당 최대 2억 원, 서울시장 명의 실증확인서, https://news.seoul.go.kr/economy/archives/571787)으로 공사구간 1곳을 기존 조사기관과 공동 실증하고, 1~2년차에는 시·군 탐사 용역에 컨소시엄으로 참여해 1회 탐사를 반복 탐사로 바꾸자고 제안합니다. 2~3년차에는 조달청 혁신제품 지정을 신청해 최대 6년 수의계약 길을 열고 자치구 연간 반복관제 계약으로 전환하며, 3년차 이후 GPR이 없는 시·군의 운영 대행과 도시철도·상하수도 기관, 광역지자체 PV5 플릿 구매로 넓힙니다. 단계별 기간은 목표이며 가설입니다. 사업은 지자체의 파일럿 탐사 용역으로 시작해, 정기 순찰과 변화 감지, 재확인 업무, 기관용 대시보드를 묶은 연간 반복관제 계약으로 전환하고, 검증 이후 PV5 컨버전 차량과 소프트웨어 패키지로 확장합니다. 구매자는 서울시와 자치구, 도시철도 발주기관, 공공시설 관리기관이고, 실제 사용자는 지하안전·도로관리 담당자와 GPR 판독 전문가, 현장 조사원입니다. 기아에게는 PV5 컨버전 플릿 판매와 Pleos 앱 마켓의 공공 업무 앱이라는 기회가 생깁니다. 첫 고객은 이미 GPR 용역을 발주하는 서울 자치구로, 2026년 강동구 노면하부공동탐사 연간단가 용역의 배정예산이 1.6억 원, 도봉구 GPR 정기점검 용역 공고 금액이 2억 1,604만 원입니다(나라장터, 산군 재게시). 첫 계약은 기존 GPR 조사기관과 공동 수행하고, 가격은 첫 해 기존 용역 단가 수준에서 시작하고, 연간 관제는 관리 구간 km와 재확인 건수 기준으로 산정합니다(가설). 지하정보는 제3자에게 판매하지 않습니다.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ko-KR" dirty="0"/>
              <a:t>GroundWatch는 한 번 찍고 끝나는 탐사를 같은 길의 변화를 보는 탐사로, 사람이 다시 찾아야 하는 의심 지점을 현장에서 바로 확인하는 재탐사로, 장비를 실은 차를 복제 가능한 PV5 탐사실로 바꿉니다. 한 번의 조기 발견이 한 사람의 무사 귀가가 되도록, PV5 GroundWatch를 제안합니다. 감사합니다. 사진은 Alexander Migl(CC BY-SA 4.0)의 PV5 실차 사진을 편집했습니다.</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deck_v5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ko-KR" smtClean="0"/>
              <a:t>1/27/13</a:t>
            </a:fld>
            <a:endParaRPr lang="ko-KR"/>
          </a:p>
        </p:txBody>
      </p:sp>
      <p:sp>
        <p:nvSpPr>
          <p:cNvPr id="3" name="Footer Placeholder 2"/>
          <p:cNvSpPr>
            <a:spLocks noGrp="1"/>
          </p:cNvSpPr>
          <p:nvPr>
            <p:ph type="ftr" sz="quarter" idx="11"/>
          </p:nvPr>
        </p:nvSpPr>
        <p:spPr/>
        <p:txBody>
          <a:bodyPr/>
          <a:lstStyle/>
          <a:p>
            <a:endParaRPr lang="ko-KR"/>
          </a:p>
        </p:txBody>
      </p:sp>
      <p:sp>
        <p:nvSpPr>
          <p:cNvPr id="4" name="Slide Number Placeholder 3"/>
          <p:cNvSpPr>
            <a:spLocks noGrp="1"/>
          </p:cNvSpPr>
          <p:nvPr>
            <p:ph type="sldNum" sz="quarter" idx="12"/>
          </p:nvPr>
        </p:nvSpPr>
        <p:spPr/>
        <p:txBody>
          <a:bodyPr/>
          <a:lstStyle/>
          <a:p>
            <a:fld id="{C1FF6DA9-008F-8B48-92A6-B652298478BF}" type="slidenum">
              <a:rPr lang="ko-KR" smtClean="0"/>
              <a:t>‹#›</a:t>
            </a:fld>
            <a:endParaRPr lang="ko-KR"/>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deck_v5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ko-KR">
                <a:solidFill>
                  <a:schemeClr val="tx1">
                    <a:tint val="75000"/>
                  </a:schemeClr>
                </a:solidFill>
              </a:defRPr>
            </a:lvl1pPr>
          </a:lstStyle>
          <a:p>
            <a:fld id="{5BCAD085-E8A6-8845-BD4E-CB4CCA059FC4}" type="datetimeFigureOut">
              <a:rPr lang="ko-KR" smtClean="0"/>
              <a:t>1/27/13</a:t>
            </a:fld>
            <a:endParaRPr lang="ko-K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ko-KR">
                <a:solidFill>
                  <a:schemeClr val="tx1">
                    <a:tint val="75000"/>
                  </a:schemeClr>
                </a:solidFill>
              </a:defRPr>
            </a:lvl1pPr>
          </a:lstStyle>
          <a:p>
            <a:endParaRPr lang="ko-K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ko-KR">
                <a:solidFill>
                  <a:schemeClr val="tx1">
                    <a:tint val="75000"/>
                  </a:schemeClr>
                </a:solidFill>
              </a:defRPr>
            </a:lvl1pPr>
          </a:lstStyle>
          <a:p>
            <a:fld id="{C1FF6DA9-008F-8B48-92A6-B652298478BF}" type="slidenum">
              <a:rPr lang="ko-KR" smtClean="0"/>
              <a:t>‹#›</a:t>
            </a:fld>
            <a:endParaRPr lang="ko-KR"/>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ko-KR">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ko-KR">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ko-KR">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ko-KR">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ko-KR">
          <a:solidFill>
            <a:schemeClr val="tx1"/>
          </a:solidFill>
          <a:latin typeface="+mn-lt"/>
          <a:ea typeface="+mn-ea"/>
          <a:cs typeface="+mn-cs"/>
        </a:defRPr>
      </a:lvl9pPr>
    </p:bodyStyle>
    <p:otherStyle>
      <a:defPPr>
        <a:defRPr lang="ko-KR"/>
      </a:defPPr>
      <a:lvl1pPr marL="0" algn="l" defTabSz="457200" rtl="0" eaLnBrk="1" latinLnBrk="0" hangingPunct="1">
        <a:defRPr sz="1800" kern="1200" lang="ko-KR">
          <a:solidFill>
            <a:schemeClr val="tx1"/>
          </a:solidFill>
          <a:latin typeface="+mn-lt"/>
          <a:ea typeface="+mn-ea"/>
          <a:cs typeface="+mn-cs"/>
        </a:defRPr>
      </a:lvl1pPr>
      <a:lvl2pPr marL="457200" algn="l" defTabSz="457200" rtl="0" eaLnBrk="1" latinLnBrk="0" hangingPunct="1">
        <a:defRPr sz="1800" kern="1200" lang="ko-KR">
          <a:solidFill>
            <a:schemeClr val="tx1"/>
          </a:solidFill>
          <a:latin typeface="+mn-lt"/>
          <a:ea typeface="+mn-ea"/>
          <a:cs typeface="+mn-cs"/>
        </a:defRPr>
      </a:lvl2pPr>
      <a:lvl3pPr marL="914400" algn="l" defTabSz="457200" rtl="0" eaLnBrk="1" latinLnBrk="0" hangingPunct="1">
        <a:defRPr sz="1800" kern="1200" lang="ko-KR">
          <a:solidFill>
            <a:schemeClr val="tx1"/>
          </a:solidFill>
          <a:latin typeface="+mn-lt"/>
          <a:ea typeface="+mn-ea"/>
          <a:cs typeface="+mn-cs"/>
        </a:defRPr>
      </a:lvl3pPr>
      <a:lvl4pPr marL="1371600" algn="l" defTabSz="457200" rtl="0" eaLnBrk="1" latinLnBrk="0" hangingPunct="1">
        <a:defRPr sz="1800" kern="1200" lang="ko-KR">
          <a:solidFill>
            <a:schemeClr val="tx1"/>
          </a:solidFill>
          <a:latin typeface="+mn-lt"/>
          <a:ea typeface="+mn-ea"/>
          <a:cs typeface="+mn-cs"/>
        </a:defRPr>
      </a:lvl4pPr>
      <a:lvl5pPr marL="1828800" algn="l" defTabSz="457200" rtl="0" eaLnBrk="1" latinLnBrk="0" hangingPunct="1">
        <a:defRPr sz="1800" kern="1200" lang="ko-KR">
          <a:solidFill>
            <a:schemeClr val="tx1"/>
          </a:solidFill>
          <a:latin typeface="+mn-lt"/>
          <a:ea typeface="+mn-ea"/>
          <a:cs typeface="+mn-cs"/>
        </a:defRPr>
      </a:lvl5pPr>
      <a:lvl6pPr marL="2286000" algn="l" defTabSz="457200" rtl="0" eaLnBrk="1" latinLnBrk="0" hangingPunct="1">
        <a:defRPr sz="1800" kern="1200" lang="ko-KR">
          <a:solidFill>
            <a:schemeClr val="tx1"/>
          </a:solidFill>
          <a:latin typeface="+mn-lt"/>
          <a:ea typeface="+mn-ea"/>
          <a:cs typeface="+mn-cs"/>
        </a:defRPr>
      </a:lvl6pPr>
      <a:lvl7pPr marL="2743200" algn="l" defTabSz="457200" rtl="0" eaLnBrk="1" latinLnBrk="0" hangingPunct="1">
        <a:defRPr sz="1800" kern="1200" lang="ko-KR">
          <a:solidFill>
            <a:schemeClr val="tx1"/>
          </a:solidFill>
          <a:latin typeface="+mn-lt"/>
          <a:ea typeface="+mn-ea"/>
          <a:cs typeface="+mn-cs"/>
        </a:defRPr>
      </a:lvl7pPr>
      <a:lvl8pPr marL="3200400" algn="l" defTabSz="457200" rtl="0" eaLnBrk="1" latinLnBrk="0" hangingPunct="1">
        <a:defRPr sz="1800" kern="1200" lang="ko-KR">
          <a:solidFill>
            <a:schemeClr val="tx1"/>
          </a:solidFill>
          <a:latin typeface="+mn-lt"/>
          <a:ea typeface="+mn-ea"/>
          <a:cs typeface="+mn-cs"/>
        </a:defRPr>
      </a:lvl8pPr>
      <a:lvl9pPr marL="3657600" algn="l" defTabSz="457200" rtl="0" eaLnBrk="1" latinLnBrk="0" hangingPunct="1">
        <a:defRPr sz="1800" kern="1200" lang="ko-KR">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c3c6e4906305580.jp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b3f6c0592f2b003.png"/>
  <Relationship Id="rId3"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0845049425906c7.png"/>
  <Relationship Id="rId3"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2c16b89a98ad91c5.png"/>
  <Relationship Id="rId3" Type="http://schemas.openxmlformats.org/officeDocument/2006/relationships/image" Target="../media/image_0ba21e85bd198504.png"/>
  <Relationship Id="rId4"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0d7ae1915439d98.png"/>
  <Relationship Id="rId3" Type="http://schemas.openxmlformats.org/officeDocument/2006/relationships/image" Target="../media/image_e709a568109f40a6.png"/>
  <Relationship Id="rId4"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5692c53d38fa013.png"/>
  <Relationship Id="rId3"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9244a9ee8f3b83d.jpg"/>
  <Relationship Id="rId3" Type="http://schemas.openxmlformats.org/officeDocument/2006/relationships/notesSlide" Target="../notesSlides/notesSlide12.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cover-photo"/>
          <p:cNvPicPr>
            <a:picLocks noChangeAspect="1"/>
          </p:cNvPicPr>
          <p:nvPr/>
        </p:nvPicPr>
        <p:blipFill>
          <a:blip r:embed="rId2"/>
          <a:srcRect l="0" t="26" r="0" b="27"/>
          <a:stretch>
            <a:fillRect/>
          </a:stretch>
        </p:blipFill>
        <p:spPr>
          <a:xfrm>
            <a:off x="0" y="0"/>
            <a:ext cx="12192000" cy="6858000"/>
          </a:xfrm>
          <a:prstGeom prst="rect">
            <a:avLst/>
          </a:prstGeom>
        </p:spPr>
      </p:pic>
      <p:sp>
        <p:nvSpPr>
          <p:cNvPr id="3" name="cover-scrim"/>
          <p:cNvSpPr/>
          <p:nvPr/>
        </p:nvSpPr>
        <p:spPr>
          <a:xfrm>
            <a:off x="0" y="0"/>
            <a:ext cx="12192000" cy="6858000"/>
          </a:xfrm>
          <a:prstGeom prst="rect">
            <a:avLst/>
          </a:prstGeom>
          <a:gradFill>
            <a:gsLst>
              <a:gs pos="0">
                <a:srgbClr val="0B1E3C">
                  <a:alpha val="94000"/>
                </a:srgbClr>
              </a:gs>
              <a:gs pos="42000">
                <a:srgbClr val="0B1E3C">
                  <a:alpha val="72000"/>
                </a:srgbClr>
              </a:gs>
              <a:gs pos="70000">
                <a:srgbClr val="0B1E3C">
                  <a:alpha val="0"/>
                </a:srgbClr>
              </a:gs>
            </a:gsLst>
            <a:lin ang="0" scaled="1"/>
          </a:gradFill>
          <a:ln>
            <a:noFill/>
          </a:ln>
        </p:spPr>
      </p:sp>
      <p:grpSp>
        <p:nvGrpSpPr>
          <p:cNvPr id="5" name="cover-kicker"/>
          <p:cNvGrpSpPr/>
          <p:nvPr/>
        </p:nvGrpSpPr>
        <p:grpSpPr>
          <a:xfrm>
            <a:off x="603123" y="1924050"/>
            <a:ext cx="3498208" cy="250317"/>
            <a:chOff x="603123" y="1924050"/>
            <a:chExt cx="3498208" cy="250317"/>
          </a:xfrm>
        </p:grpSpPr>
        <p:sp>
          <p:nvSpPr>
            <p:cNvPr id="4" name="TextBox 4"/>
            <p:cNvSpPr txBox="1"/>
            <p:nvPr/>
          </p:nvSpPr>
          <p:spPr>
            <a:xfrm>
              <a:off x="603123" y="1924050"/>
              <a:ext cx="3498208" cy="250317"/>
            </a:xfrm>
            <a:prstGeom prst="rect">
              <a:avLst/>
            </a:prstGeom>
            <a:noFill/>
            <a:ln>
              <a:noFill/>
            </a:ln>
          </p:spPr>
          <p:txBody>
            <a:bodyPr wrap="none" lIns="0" tIns="0" rIns="0" bIns="0" anchor="t" anchorCtr="0">
              <a:spAutoFit/>
            </a:bodyPr>
            <a:lstStyle/>
            <a:p>
              <a:pPr algn="l"/>
              <a:r>
                <a:rPr lang="ko-KR" sz="1280" b="1" dirty="0">
                  <a:solidFill>
                    <a:srgbClr val="F5B700"/>
                  </a:solidFill>
                  <a:latin typeface="+mn-lt"/>
                  <a:ea typeface="+mn-ea"/>
                  <a:cs typeface="+mn-cs"/>
                </a:rPr>
                <a:t>제5회 기아 PBV 아이디어 공모전 · 일반 부문</a:t>
              </a:r>
            </a:p>
          </p:txBody>
        </p:sp>
      </p:grpSp>
      <p:grpSp>
        <p:nvGrpSpPr>
          <p:cNvPr id="8" name="cover-title"/>
          <p:cNvGrpSpPr/>
          <p:nvPr/>
        </p:nvGrpSpPr>
        <p:grpSpPr>
          <a:xfrm>
            <a:off x="590550" y="2254250"/>
            <a:ext cx="3634424" cy="1600200"/>
            <a:chOff x="590550" y="2254250"/>
            <a:chExt cx="3634424" cy="1600200"/>
          </a:xfrm>
        </p:grpSpPr>
        <p:sp>
          <p:nvSpPr>
            <p:cNvPr id="6" name="TextBox 6"/>
            <p:cNvSpPr txBox="1"/>
            <p:nvPr/>
          </p:nvSpPr>
          <p:spPr>
            <a:xfrm>
              <a:off x="590550" y="2254250"/>
              <a:ext cx="1263035" cy="990600"/>
            </a:xfrm>
            <a:prstGeom prst="rect">
              <a:avLst/>
            </a:prstGeom>
            <a:noFill/>
            <a:ln>
              <a:noFill/>
            </a:ln>
          </p:spPr>
          <p:txBody>
            <a:bodyPr wrap="none" lIns="0" tIns="0" rIns="0" bIns="0" anchor="t" anchorCtr="0">
              <a:spAutoFit/>
            </a:bodyPr>
            <a:lstStyle/>
            <a:p>
              <a:pPr algn="l"/>
              <a:r>
                <a:rPr lang="en-US" sz="5100" b="1" spc="-112" dirty="0">
                  <a:solidFill>
                    <a:srgbClr val="FFFFFF"/>
                  </a:solidFill>
                  <a:latin typeface="+mn-lt"/>
                  <a:ea typeface="+mn-ea"/>
                  <a:cs typeface="+mn-cs"/>
                </a:rPr>
                <a:t>PV5</a:t>
              </a:r>
            </a:p>
          </p:txBody>
        </p:sp>
        <p:sp>
          <p:nvSpPr>
            <p:cNvPr id="7" name="TextBox 7"/>
            <p:cNvSpPr txBox="1"/>
            <p:nvPr/>
          </p:nvSpPr>
          <p:spPr>
            <a:xfrm>
              <a:off x="590550" y="3035300"/>
              <a:ext cx="3634424" cy="819150"/>
            </a:xfrm>
            <a:prstGeom prst="rect">
              <a:avLst/>
            </a:prstGeom>
            <a:noFill/>
            <a:ln>
              <a:noFill/>
            </a:ln>
          </p:spPr>
          <p:txBody>
            <a:bodyPr wrap="none" lIns="0" tIns="0" rIns="0" bIns="0" anchor="t" anchorCtr="0">
              <a:spAutoFit/>
            </a:bodyPr>
            <a:lstStyle/>
            <a:p>
              <a:pPr algn="l"/>
              <a:r>
                <a:rPr lang="en-US" sz="4200" b="1" spc="-112" dirty="0">
                  <a:solidFill>
                    <a:srgbClr val="FFFFFF"/>
                  </a:solidFill>
                  <a:latin typeface="+mn-lt"/>
                  <a:ea typeface="+mn-ea"/>
                  <a:cs typeface="+mn-cs"/>
                </a:rPr>
                <a:t>GroundWatch</a:t>
              </a:r>
            </a:p>
          </p:txBody>
        </p:sp>
      </p:grpSp>
      <p:grpSp>
        <p:nvGrpSpPr>
          <p:cNvPr id="10" name="cover-subtitle"/>
          <p:cNvGrpSpPr/>
          <p:nvPr/>
        </p:nvGrpSpPr>
        <p:grpSpPr>
          <a:xfrm>
            <a:off x="598170" y="3797300"/>
            <a:ext cx="2893819" cy="440055"/>
            <a:chOff x="598170" y="3797300"/>
            <a:chExt cx="2893819" cy="440055"/>
          </a:xfrm>
        </p:grpSpPr>
        <p:sp>
          <p:nvSpPr>
            <p:cNvPr id="9" name="TextBox 9"/>
            <p:cNvSpPr txBox="1"/>
            <p:nvPr/>
          </p:nvSpPr>
          <p:spPr>
            <a:xfrm>
              <a:off x="598170" y="3797300"/>
              <a:ext cx="2893819" cy="440055"/>
            </a:xfrm>
            <a:prstGeom prst="rect">
              <a:avLst/>
            </a:prstGeom>
            <a:noFill/>
            <a:ln>
              <a:noFill/>
            </a:ln>
          </p:spPr>
          <p:txBody>
            <a:bodyPr wrap="none" lIns="0" tIns="0" rIns="0" bIns="0" anchor="t" anchorCtr="0">
              <a:spAutoFit/>
            </a:bodyPr>
            <a:lstStyle/>
            <a:p>
              <a:pPr algn="l"/>
              <a:r>
                <a:rPr lang="ko-KR" sz="2250" b="1" dirty="0">
                  <a:solidFill>
                    <a:srgbClr val="D7DEE8"/>
                  </a:solidFill>
                  <a:latin typeface="+mn-lt"/>
                  <a:ea typeface="+mn-ea"/>
                  <a:cs typeface="+mn-cs"/>
                </a:rPr>
                <a:t>PV5 지하안전 순찰차</a:t>
              </a:r>
            </a:p>
          </p:txBody>
        </p:sp>
      </p:grpSp>
      <p:grpSp>
        <p:nvGrpSpPr>
          <p:cNvPr id="13" name="cover-tagline"/>
          <p:cNvGrpSpPr/>
          <p:nvPr/>
        </p:nvGrpSpPr>
        <p:grpSpPr>
          <a:xfrm>
            <a:off x="601599" y="4381500"/>
            <a:ext cx="3176397" cy="785241"/>
            <a:chOff x="601599" y="4381500"/>
            <a:chExt cx="3176397" cy="785241"/>
          </a:xfrm>
        </p:grpSpPr>
        <p:sp>
          <p:nvSpPr>
            <p:cNvPr id="11" name="Rectangle 11"/>
            <p:cNvSpPr/>
            <p:nvPr/>
          </p:nvSpPr>
          <p:spPr>
            <a:xfrm>
              <a:off x="609600" y="4381500"/>
              <a:ext cx="457200" cy="28575"/>
            </a:xfrm>
            <a:prstGeom prst="rect">
              <a:avLst/>
            </a:prstGeom>
            <a:solidFill>
              <a:srgbClr val="F5B700"/>
            </a:solidFill>
            <a:ln>
              <a:noFill/>
            </a:ln>
          </p:spPr>
        </p:sp>
        <p:sp>
          <p:nvSpPr>
            <p:cNvPr id="12" name="TextBox 12"/>
            <p:cNvSpPr txBox="1"/>
            <p:nvPr/>
          </p:nvSpPr>
          <p:spPr>
            <a:xfrm>
              <a:off x="601599" y="4552950"/>
              <a:ext cx="3176397" cy="613791"/>
            </a:xfrm>
            <a:prstGeom prst="rect">
              <a:avLst/>
            </a:prstGeom>
            <a:noFill/>
            <a:ln>
              <a:noFill/>
            </a:ln>
          </p:spPr>
          <p:txBody>
            <a:bodyPr wrap="none" lIns="0" tIns="0" rIns="0" bIns="0" anchor="t" anchorCtr="0">
              <a:spAutoFit/>
            </a:bodyPr>
            <a:lstStyle/>
            <a:p>
              <a:pPr algn="l">
                <a:lnSpc>
                  <a:spcPts val="2400"/>
                </a:lnSpc>
              </a:pPr>
              <a:r>
                <a:rPr lang="ko-KR" sz="1580" dirty="0">
                  <a:solidFill>
                    <a:srgbClr val="D7DEE8"/>
                  </a:solidFill>
                  <a:latin typeface="+mn-lt"/>
                  <a:ea typeface="+mn-ea"/>
                  <a:cs typeface="+mn-cs"/>
                </a:rPr>
                <a:t>같은 길을 반복해서 보고,</a:t>
              </a:r>
              <a:br>
                <a:rPr lang="ko-KR" sz="1580" dirty="0">
                  <a:solidFill>
                    <a:srgbClr val="D7DEE8"/>
                  </a:solidFill>
                  <a:latin typeface="+mn-lt"/>
                  <a:ea typeface="+mn-ea"/>
                  <a:cs typeface="+mn-cs"/>
                </a:rPr>
              </a:br>
              <a:r>
                <a:rPr lang="ko-KR" sz="1580" dirty="0">
                  <a:solidFill>
                    <a:srgbClr val="D7DEE8"/>
                  </a:solidFill>
                  <a:latin typeface="+mn-lt"/>
                  <a:ea typeface="+mn-ea"/>
                  <a:cs typeface="+mn-cs"/>
                </a:rPr>
                <a:t>구멍이 되기 전의 변화를 찾습니다.</a:t>
              </a:r>
            </a:p>
          </p:txBody>
        </p:sp>
      </p:grpSp>
      <p:grpSp>
        <p:nvGrpSpPr>
          <p:cNvPr id="16" name="cover-team"/>
          <p:cNvGrpSpPr/>
          <p:nvPr/>
        </p:nvGrpSpPr>
        <p:grpSpPr>
          <a:xfrm>
            <a:off x="601218" y="5797550"/>
            <a:ext cx="2739992" cy="570357"/>
            <a:chOff x="601218" y="5797550"/>
            <a:chExt cx="2739992" cy="570357"/>
          </a:xfrm>
        </p:grpSpPr>
        <p:sp>
          <p:nvSpPr>
            <p:cNvPr id="14" name="TextBox 14"/>
            <p:cNvSpPr txBox="1"/>
            <p:nvPr/>
          </p:nvSpPr>
          <p:spPr>
            <a:xfrm>
              <a:off x="604266" y="5797550"/>
              <a:ext cx="387035" cy="205359"/>
            </a:xfrm>
            <a:prstGeom prst="rect">
              <a:avLst/>
            </a:prstGeom>
            <a:noFill/>
            <a:ln>
              <a:noFill/>
            </a:ln>
          </p:spPr>
          <p:txBody>
            <a:bodyPr wrap="none" lIns="0" tIns="0" rIns="0" bIns="0" anchor="t" anchorCtr="0">
              <a:spAutoFit/>
            </a:bodyPr>
            <a:lstStyle/>
            <a:p>
              <a:pPr algn="l"/>
              <a:r>
                <a:rPr lang="en-US" sz="1050" b="1" dirty="0">
                  <a:solidFill>
                    <a:srgbClr val="F5B700"/>
                  </a:solidFill>
                  <a:latin typeface="+mn-lt"/>
                  <a:ea typeface="+mn-ea"/>
                  <a:cs typeface="+mn-cs"/>
                </a:rPr>
                <a:t>TEAM</a:t>
              </a:r>
            </a:p>
          </p:txBody>
        </p:sp>
        <p:sp>
          <p:nvSpPr>
            <p:cNvPr id="15" name="TextBox 15"/>
            <p:cNvSpPr txBox="1"/>
            <p:nvPr/>
          </p:nvSpPr>
          <p:spPr>
            <a:xfrm>
              <a:off x="601218" y="6045200"/>
              <a:ext cx="2739992" cy="322707"/>
            </a:xfrm>
            <a:prstGeom prst="rect">
              <a:avLst/>
            </a:prstGeom>
            <a:noFill/>
            <a:ln>
              <a:noFill/>
            </a:ln>
          </p:spPr>
          <p:txBody>
            <a:bodyPr wrap="none" lIns="0" tIns="0" rIns="0" bIns="0" anchor="t" anchorCtr="0">
              <a:spAutoFit/>
            </a:bodyPr>
            <a:lstStyle/>
            <a:p>
              <a:pPr algn="l"/>
              <a:r>
                <a:rPr lang="ko-KR" sz="1650" b="1" dirty="0">
                  <a:solidFill>
                    <a:srgbClr val="FFFFFF"/>
                  </a:solidFill>
                  <a:latin typeface="+mn-lt"/>
                  <a:ea typeface="+mn-ea"/>
                  <a:cs typeface="+mn-cs"/>
                </a:rPr>
                <a:t>한 명이라도 살릴 수 있다면</a:t>
              </a:r>
            </a:p>
          </p:txBody>
        </p:sp>
      </p:grpSp>
      <p:grpSp>
        <p:nvGrpSpPr>
          <p:cNvPr id="18" name="cover-date"/>
          <p:cNvGrpSpPr/>
          <p:nvPr/>
        </p:nvGrpSpPr>
        <p:grpSpPr>
          <a:xfrm>
            <a:off x="11182347" y="6477000"/>
            <a:ext cx="557406" cy="191643"/>
            <a:chOff x="11182347" y="6477000"/>
            <a:chExt cx="557406" cy="191643"/>
          </a:xfrm>
        </p:grpSpPr>
        <p:sp>
          <p:nvSpPr>
            <p:cNvPr id="17" name="TextBox 17"/>
            <p:cNvSpPr txBox="1"/>
            <p:nvPr/>
          </p:nvSpPr>
          <p:spPr>
            <a:xfrm>
              <a:off x="11182347" y="6477000"/>
              <a:ext cx="557406" cy="191643"/>
            </a:xfrm>
            <a:prstGeom prst="rect">
              <a:avLst/>
            </a:prstGeom>
            <a:noFill/>
            <a:ln>
              <a:noFill/>
            </a:ln>
          </p:spPr>
          <p:txBody>
            <a:bodyPr wrap="none" lIns="0" tIns="0" rIns="0" bIns="0" anchor="t" anchorCtr="0">
              <a:spAutoFit/>
            </a:bodyPr>
            <a:lstStyle/>
            <a:p>
              <a:pPr algn="r"/>
              <a:r>
                <a:rPr lang="ko-KR" sz="980" dirty="0">
                  <a:solidFill>
                    <a:srgbClr val="C3CCD9"/>
                  </a:solidFill>
                  <a:latin typeface="+mn-lt"/>
                  <a:ea typeface="+mn-ea"/>
                  <a:cs typeface="+mn-cs"/>
                </a:rPr>
                <a:t>2026. 10</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실제로 일어난 일</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24" name="incident-map"/>
          <p:cNvGrpSpPr/>
          <p:nvPr/>
        </p:nvGrpSpPr>
        <p:grpSpPr>
          <a:xfrm>
            <a:off x="6477000" y="0"/>
            <a:ext cx="5715000" cy="6858000"/>
            <a:chOff x="6477000" y="0"/>
            <a:chExt cx="5715000" cy="6858000"/>
          </a:xfrm>
        </p:grpSpPr>
        <p:pic>
          <p:nvPicPr>
            <p:cNvPr id="17" name="Image 17"/>
            <p:cNvPicPr>
              <a:picLocks noChangeAspect="1"/>
            </p:cNvPicPr>
            <p:nvPr/>
          </p:nvPicPr>
          <p:blipFill>
            <a:blip r:embed="rId2"/>
            <a:srcRect l="3125" t="0" r="3125" b="0"/>
            <a:stretch>
              <a:fillRect/>
            </a:stretch>
          </p:blipFill>
          <p:spPr>
            <a:xfrm>
              <a:off x="6477000" y="0"/>
              <a:ext cx="5715000" cy="6858000"/>
            </a:xfrm>
            <a:prstGeom prst="rect">
              <a:avLst/>
            </a:prstGeom>
          </p:spPr>
        </p:pic>
        <p:sp>
          <p:nvSpPr>
            <p:cNvPr id="18" name="Rectangle 18"/>
            <p:cNvSpPr/>
            <p:nvPr/>
          </p:nvSpPr>
          <p:spPr>
            <a:xfrm>
              <a:off x="6477000" y="4095750"/>
              <a:ext cx="5715000" cy="2762250"/>
            </a:xfrm>
            <a:prstGeom prst="rect">
              <a:avLst/>
            </a:prstGeom>
            <a:gradFill>
              <a:gsLst>
                <a:gs pos="0">
                  <a:srgbClr val="05070B">
                    <a:alpha val="0"/>
                  </a:srgbClr>
                </a:gs>
                <a:gs pos="100000">
                  <a:srgbClr val="05070B">
                    <a:alpha val="88000"/>
                  </a:srgbClr>
                </a:gs>
              </a:gsLst>
              <a:lin ang="5400000" scaled="1"/>
            </a:gradFill>
            <a:ln>
              <a:noFill/>
            </a:ln>
          </p:spPr>
        </p:sp>
        <p:sp>
          <p:nvSpPr>
            <p:cNvPr id="19" name="Rectangle 19"/>
            <p:cNvSpPr/>
            <p:nvPr/>
          </p:nvSpPr>
          <p:spPr>
            <a:xfrm>
              <a:off x="6667500" y="1428750"/>
              <a:ext cx="2152650" cy="533400"/>
            </a:xfrm>
            <a:prstGeom prst="roundRect">
              <a:avLst>
                <a:gd name="adj" fmla="val 7143"/>
              </a:avLst>
            </a:prstGeom>
            <a:solidFill>
              <a:srgbClr val="0B1E3C">
                <a:alpha val="92000"/>
              </a:srgbClr>
            </a:solidFill>
            <a:ln>
              <a:noFill/>
            </a:ln>
          </p:spPr>
        </p:sp>
        <p:sp>
          <p:nvSpPr>
            <p:cNvPr id="20" name="TextBox 20"/>
            <p:cNvSpPr txBox="1"/>
            <p:nvPr/>
          </p:nvSpPr>
          <p:spPr>
            <a:xfrm>
              <a:off x="6794754" y="1504950"/>
              <a:ext cx="1701538" cy="234696"/>
            </a:xfrm>
            <a:prstGeom prst="rect">
              <a:avLst/>
            </a:prstGeom>
            <a:noFill/>
            <a:ln>
              <a:noFill/>
            </a:ln>
          </p:spPr>
          <p:txBody>
            <a:bodyPr wrap="none" lIns="0" tIns="0" rIns="0" bIns="0" anchor="t" anchorCtr="0">
              <a:spAutoFit/>
            </a:bodyPr>
            <a:lstStyle/>
            <a:p>
              <a:pPr algn="l"/>
              <a:r>
                <a:rPr lang="ko-KR" sz="1200" b="1" dirty="0">
                  <a:solidFill>
                    <a:srgbClr val="FFFFFF"/>
                  </a:solidFill>
                  <a:latin typeface="+mn-lt"/>
                  <a:ea typeface="+mn-ea"/>
                  <a:cs typeface="+mn-cs"/>
                </a:rPr>
                <a:t>2024. 8. 29 사고 구간</a:t>
              </a:r>
            </a:p>
          </p:txBody>
        </p:sp>
        <p:sp>
          <p:nvSpPr>
            <p:cNvPr id="21" name="TextBox 21"/>
            <p:cNvSpPr txBox="1"/>
            <p:nvPr/>
          </p:nvSpPr>
          <p:spPr>
            <a:xfrm>
              <a:off x="6795516" y="1730375"/>
              <a:ext cx="1508989" cy="205359"/>
            </a:xfrm>
            <a:prstGeom prst="rect">
              <a:avLst/>
            </a:prstGeom>
            <a:noFill/>
            <a:ln>
              <a:noFill/>
            </a:ln>
          </p:spPr>
          <p:txBody>
            <a:bodyPr wrap="none" lIns="0" tIns="0" rIns="0" bIns="0" anchor="t" anchorCtr="0">
              <a:spAutoFit/>
            </a:bodyPr>
            <a:lstStyle/>
            <a:p>
              <a:pPr algn="l"/>
              <a:r>
                <a:rPr lang="ko-KR" sz="1050" dirty="0">
                  <a:solidFill>
                    <a:srgbClr val="D6DDE8"/>
                  </a:solidFill>
                  <a:latin typeface="+mn-lt"/>
                  <a:ea typeface="+mn-ea"/>
                  <a:cs typeface="+mn-cs"/>
                </a:rPr>
                <a:t>서대문구 연희동 성산로</a:t>
              </a:r>
            </a:p>
          </p:txBody>
        </p:sp>
        <p:sp>
          <p:nvSpPr>
            <p:cNvPr id="22" name="TextBox 22"/>
            <p:cNvSpPr txBox="1"/>
            <p:nvPr/>
          </p:nvSpPr>
          <p:spPr>
            <a:xfrm>
              <a:off x="6771132" y="5314950"/>
              <a:ext cx="4245197" cy="810768"/>
            </a:xfrm>
            <a:prstGeom prst="rect">
              <a:avLst/>
            </a:prstGeom>
            <a:noFill/>
            <a:ln>
              <a:noFill/>
            </a:ln>
          </p:spPr>
          <p:txBody>
            <a:bodyPr wrap="none" lIns="0" tIns="0" rIns="0" bIns="0" anchor="t" anchorCtr="0">
              <a:spAutoFit/>
            </a:bodyPr>
            <a:lstStyle/>
            <a:p>
              <a:pPr algn="l">
                <a:lnSpc>
                  <a:spcPts val="3150"/>
                </a:lnSpc>
              </a:pPr>
              <a:r>
                <a:rPr lang="ko-KR" sz="2100" b="1" dirty="0">
                  <a:solidFill>
                    <a:srgbClr val="FFFFFF"/>
                  </a:solidFill>
                  <a:latin typeface="+mn-lt"/>
                  <a:ea typeface="+mn-ea"/>
                  <a:cs typeface="+mn-cs"/>
                </a:rPr>
                <a:t>평범한 도로가</a:t>
              </a:r>
              <a:br>
                <a:rPr lang="ko-KR" sz="2100" b="1" dirty="0">
                  <a:solidFill>
                    <a:srgbClr val="FFFFFF"/>
                  </a:solidFill>
                  <a:latin typeface="+mn-lt"/>
                  <a:ea typeface="+mn-ea"/>
                  <a:cs typeface="+mn-cs"/>
                </a:rPr>
              </a:br>
              <a:r>
                <a:rPr lang="ko-KR" sz="2100" b="1" dirty="0">
                  <a:solidFill>
                    <a:srgbClr val="FFFFFF"/>
                  </a:solidFill>
                  <a:latin typeface="+mn-lt"/>
                  <a:ea typeface="+mn-ea"/>
                  <a:cs typeface="+mn-cs"/>
                </a:rPr>
                <a:t>한 사람의 마지막 길이 되었습니다.</a:t>
              </a:r>
            </a:p>
          </p:txBody>
        </p:sp>
        <p:sp>
          <p:nvSpPr>
            <p:cNvPr id="23" name="TextBox 23"/>
            <p:cNvSpPr txBox="1"/>
            <p:nvPr/>
          </p:nvSpPr>
          <p:spPr>
            <a:xfrm>
              <a:off x="6777038" y="6457950"/>
              <a:ext cx="4627108" cy="176212"/>
            </a:xfrm>
            <a:prstGeom prst="rect">
              <a:avLst/>
            </a:prstGeom>
            <a:noFill/>
            <a:ln>
              <a:noFill/>
            </a:ln>
          </p:spPr>
          <p:txBody>
            <a:bodyPr wrap="none" lIns="0" tIns="0" rIns="0" bIns="0" anchor="t" anchorCtr="0">
              <a:spAutoFit/>
            </a:bodyPr>
            <a:lstStyle/>
            <a:p>
              <a:pPr algn="l"/>
              <a:r>
                <a:rPr lang="ko-KR" sz="900" dirty="0">
                  <a:solidFill>
                    <a:srgbClr val="C3CCD9"/>
                  </a:solidFill>
                  <a:latin typeface="+mn-lt"/>
                  <a:ea typeface="+mn-ea"/>
                  <a:cs typeface="+mn-cs"/>
                </a:rPr>
                <a:t>지도 © OpenStreetMap contributors · 정확한 지점은 보도되지 않아 구간으로 표시</a:t>
              </a:r>
            </a:p>
          </p:txBody>
        </p:sp>
      </p:grpSp>
      <p:grpSp>
        <p:nvGrpSpPr>
          <p:cNvPr id="26" name="kicker"/>
          <p:cNvGrpSpPr/>
          <p:nvPr/>
        </p:nvGrpSpPr>
        <p:grpSpPr>
          <a:xfrm>
            <a:off x="526542" y="1301750"/>
            <a:ext cx="3042363" cy="264033"/>
            <a:chOff x="526542" y="1301750"/>
            <a:chExt cx="3042363" cy="264033"/>
          </a:xfrm>
        </p:grpSpPr>
        <p:sp>
          <p:nvSpPr>
            <p:cNvPr id="25" name="TextBox 25"/>
            <p:cNvSpPr txBox="1"/>
            <p:nvPr/>
          </p:nvSpPr>
          <p:spPr>
            <a:xfrm>
              <a:off x="526542" y="1301750"/>
              <a:ext cx="3042363"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2024. 8. 29 · 서울 서대문구 연희동</a:t>
              </a:r>
            </a:p>
          </p:txBody>
        </p:sp>
      </p:grpSp>
      <p:grpSp>
        <p:nvGrpSpPr>
          <p:cNvPr id="29" name="title"/>
          <p:cNvGrpSpPr/>
          <p:nvPr/>
        </p:nvGrpSpPr>
        <p:grpSpPr>
          <a:xfrm>
            <a:off x="516636" y="1708150"/>
            <a:ext cx="6062132" cy="1216914"/>
            <a:chOff x="516636" y="1708150"/>
            <a:chExt cx="6062132" cy="1216914"/>
          </a:xfrm>
        </p:grpSpPr>
        <p:sp>
          <p:nvSpPr>
            <p:cNvPr id="27" name="TextBox 27"/>
            <p:cNvSpPr txBox="1"/>
            <p:nvPr/>
          </p:nvSpPr>
          <p:spPr>
            <a:xfrm>
              <a:off x="516636" y="1708150"/>
              <a:ext cx="3360553" cy="645414"/>
            </a:xfrm>
            <a:prstGeom prst="rect">
              <a:avLst/>
            </a:prstGeom>
            <a:noFill/>
            <a:ln>
              <a:noFill/>
            </a:ln>
          </p:spPr>
          <p:txBody>
            <a:bodyPr wrap="none" lIns="0" tIns="0" rIns="0" bIns="0" anchor="t" anchorCtr="0">
              <a:spAutoFit/>
            </a:bodyPr>
            <a:lstStyle/>
            <a:p>
              <a:pPr algn="l"/>
              <a:r>
                <a:rPr lang="ko-KR" sz="3300" b="1" spc="-112" dirty="0">
                  <a:solidFill>
                    <a:srgbClr val="0B1E3C"/>
                  </a:solidFill>
                  <a:latin typeface="+mn-lt"/>
                  <a:ea typeface="+mn-ea"/>
                  <a:cs typeface="+mn-cs"/>
                </a:rPr>
                <a:t>‘이상 없음’ 판정</a:t>
              </a:r>
            </a:p>
          </p:txBody>
        </p:sp>
        <p:sp>
          <p:nvSpPr>
            <p:cNvPr id="28" name="TextBox 28"/>
            <p:cNvSpPr txBox="1"/>
            <p:nvPr/>
          </p:nvSpPr>
          <p:spPr>
            <a:xfrm>
              <a:off x="516636" y="2279650"/>
              <a:ext cx="6062132" cy="645414"/>
            </a:xfrm>
            <a:prstGeom prst="rect">
              <a:avLst/>
            </a:prstGeom>
            <a:noFill/>
            <a:ln>
              <a:noFill/>
            </a:ln>
          </p:spPr>
          <p:txBody>
            <a:bodyPr wrap="none" lIns="0" tIns="0" rIns="0" bIns="0" anchor="t" anchorCtr="0">
              <a:spAutoFit/>
            </a:bodyPr>
            <a:lstStyle/>
            <a:p>
              <a:pPr algn="l"/>
              <a:r>
                <a:rPr lang="ko-KR" sz="3300" b="1" spc="-112" dirty="0">
                  <a:solidFill>
                    <a:srgbClr val="C62828"/>
                  </a:solidFill>
                  <a:latin typeface="+mn-lt"/>
                  <a:ea typeface="+mn-ea"/>
                  <a:cs typeface="+mn-cs"/>
                </a:rPr>
                <a:t>3개월 뒤, 도로가 무너졌습니다</a:t>
              </a:r>
            </a:p>
          </p:txBody>
        </p:sp>
      </p:grpSp>
      <p:grpSp>
        <p:nvGrpSpPr>
          <p:cNvPr id="39" name="timeline"/>
          <p:cNvGrpSpPr/>
          <p:nvPr/>
        </p:nvGrpSpPr>
        <p:grpSpPr>
          <a:xfrm>
            <a:off x="717804" y="3314700"/>
            <a:ext cx="5346192" cy="996696"/>
            <a:chOff x="717804" y="3314700"/>
            <a:chExt cx="5346192" cy="996696"/>
          </a:xfrm>
        </p:grpSpPr>
        <p:sp>
          <p:nvSpPr>
            <p:cNvPr id="30" name="Line 30"/>
            <p:cNvSpPr/>
            <p:nvPr/>
          </p:nvSpPr>
          <p:spPr>
            <a:xfrm>
              <a:off x="723900" y="3848100"/>
              <a:ext cx="5334000" cy="9525"/>
            </a:xfrm>
            <a:custGeom>
              <a:avLst/>
              <a:gdLst/>
              <a:ahLst/>
              <a:cxnLst/>
              <a:rect l="l" t="t" r="r" b="b"/>
              <a:pathLst>
                <a:path w="5334000" h="9525">
                  <a:moveTo>
                    <a:pt x="0" y="0"/>
                  </a:moveTo>
                  <a:lnTo>
                    <a:pt x="5334000" y="0"/>
                  </a:lnTo>
                </a:path>
              </a:pathLst>
            </a:custGeom>
            <a:noFill/>
            <a:ln w="28575">
              <a:solidFill>
                <a:srgbClr val="C3CCD9"/>
              </a:solidFill>
            </a:ln>
          </p:spPr>
        </p:sp>
        <p:sp>
          <p:nvSpPr>
            <p:cNvPr id="31" name="Rectangle 31"/>
            <p:cNvSpPr/>
            <p:nvPr/>
          </p:nvSpPr>
          <p:spPr>
            <a:xfrm>
              <a:off x="723900" y="3790950"/>
              <a:ext cx="5334000" cy="114300"/>
            </a:xfrm>
            <a:prstGeom prst="rect">
              <a:avLst/>
            </a:prstGeom>
            <a:solidFill>
              <a:srgbClr val="F5B700">
                <a:alpha val="25000"/>
              </a:srgbClr>
            </a:solidFill>
            <a:ln>
              <a:noFill/>
            </a:ln>
          </p:spPr>
        </p:sp>
        <p:sp>
          <p:nvSpPr>
            <p:cNvPr id="32" name="Ellipse 32"/>
            <p:cNvSpPr/>
            <p:nvPr/>
          </p:nvSpPr>
          <p:spPr>
            <a:xfrm>
              <a:off x="809625" y="3743325"/>
              <a:ext cx="209550" cy="209550"/>
            </a:xfrm>
            <a:prstGeom prst="ellipse">
              <a:avLst/>
            </a:prstGeom>
            <a:solidFill>
              <a:srgbClr val="0B1E3C"/>
            </a:solidFill>
            <a:ln>
              <a:noFill/>
            </a:ln>
          </p:spPr>
        </p:sp>
        <p:sp>
          <p:nvSpPr>
            <p:cNvPr id="33" name="TextBox 33"/>
            <p:cNvSpPr txBox="1"/>
            <p:nvPr/>
          </p:nvSpPr>
          <p:spPr>
            <a:xfrm>
              <a:off x="717804" y="3314700"/>
              <a:ext cx="1140173"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2024. 5. 7~16</a:t>
              </a:r>
            </a:p>
          </p:txBody>
        </p:sp>
        <p:sp>
          <p:nvSpPr>
            <p:cNvPr id="34" name="TextBox 34"/>
            <p:cNvSpPr txBox="1"/>
            <p:nvPr/>
          </p:nvSpPr>
          <p:spPr>
            <a:xfrm>
              <a:off x="718185" y="3536950"/>
              <a:ext cx="1794693"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정기 GPR 탐사 · 공동 없음</a:t>
              </a:r>
            </a:p>
          </p:txBody>
        </p:sp>
        <p:sp>
          <p:nvSpPr>
            <p:cNvPr id="35" name="Ellipse 35"/>
            <p:cNvSpPr/>
            <p:nvPr/>
          </p:nvSpPr>
          <p:spPr>
            <a:xfrm>
              <a:off x="5715000" y="3695700"/>
              <a:ext cx="304800" cy="304800"/>
            </a:xfrm>
            <a:prstGeom prst="ellipse">
              <a:avLst/>
            </a:prstGeom>
            <a:solidFill>
              <a:srgbClr val="C62828"/>
            </a:solidFill>
            <a:ln>
              <a:noFill/>
            </a:ln>
          </p:spPr>
        </p:sp>
        <p:sp>
          <p:nvSpPr>
            <p:cNvPr id="36" name="TextBox 36"/>
            <p:cNvSpPr txBox="1"/>
            <p:nvPr/>
          </p:nvSpPr>
          <p:spPr>
            <a:xfrm>
              <a:off x="5110406" y="3314700"/>
              <a:ext cx="953590" cy="234696"/>
            </a:xfrm>
            <a:prstGeom prst="rect">
              <a:avLst/>
            </a:prstGeom>
            <a:noFill/>
            <a:ln>
              <a:noFill/>
            </a:ln>
          </p:spPr>
          <p:txBody>
            <a:bodyPr wrap="none" lIns="0" tIns="0" rIns="0" bIns="0" anchor="t" anchorCtr="0">
              <a:spAutoFit/>
            </a:bodyPr>
            <a:lstStyle/>
            <a:p>
              <a:pPr algn="r"/>
              <a:r>
                <a:rPr lang="ko-KR" sz="1200" b="1" dirty="0">
                  <a:solidFill>
                    <a:srgbClr val="C62828"/>
                  </a:solidFill>
                  <a:latin typeface="+mn-lt"/>
                  <a:ea typeface="+mn-ea"/>
                  <a:cs typeface="+mn-cs"/>
                </a:rPr>
                <a:t>2024. 8. 29</a:t>
              </a:r>
            </a:p>
          </p:txBody>
        </p:sp>
        <p:sp>
          <p:nvSpPr>
            <p:cNvPr id="37" name="TextBox 37"/>
            <p:cNvSpPr txBox="1"/>
            <p:nvPr/>
          </p:nvSpPr>
          <p:spPr>
            <a:xfrm>
              <a:off x="5403855" y="3536950"/>
              <a:ext cx="659760" cy="220028"/>
            </a:xfrm>
            <a:prstGeom prst="rect">
              <a:avLst/>
            </a:prstGeom>
            <a:noFill/>
            <a:ln>
              <a:noFill/>
            </a:ln>
          </p:spPr>
          <p:txBody>
            <a:bodyPr wrap="none" lIns="0" tIns="0" rIns="0" bIns="0" anchor="t" anchorCtr="0">
              <a:spAutoFit/>
            </a:bodyPr>
            <a:lstStyle/>
            <a:p>
              <a:pPr algn="r"/>
              <a:r>
                <a:rPr lang="ko-KR" sz="1120" dirty="0">
                  <a:solidFill>
                    <a:srgbClr val="C62828"/>
                  </a:solidFill>
                  <a:latin typeface="+mn-lt"/>
                  <a:ea typeface="+mn-ea"/>
                  <a:cs typeface="+mn-cs"/>
                </a:rPr>
                <a:t>도로 함몰</a:t>
              </a:r>
            </a:p>
          </p:txBody>
        </p:sp>
        <p:sp>
          <p:nvSpPr>
            <p:cNvPr id="38" name="TextBox 38"/>
            <p:cNvSpPr txBox="1"/>
            <p:nvPr/>
          </p:nvSpPr>
          <p:spPr>
            <a:xfrm>
              <a:off x="1890522" y="4076700"/>
              <a:ext cx="3000756" cy="234696"/>
            </a:xfrm>
            <a:prstGeom prst="rect">
              <a:avLst/>
            </a:prstGeom>
            <a:noFill/>
            <a:ln>
              <a:noFill/>
            </a:ln>
          </p:spPr>
          <p:txBody>
            <a:bodyPr wrap="none" lIns="0" tIns="0" rIns="0" bIns="0" anchor="t" anchorCtr="0">
              <a:spAutoFit/>
            </a:bodyPr>
            <a:lstStyle/>
            <a:p>
              <a:pPr algn="ctr"/>
              <a:r>
                <a:rPr lang="ko-KR" sz="1200" dirty="0">
                  <a:solidFill>
                    <a:srgbClr val="374151"/>
                  </a:solidFill>
                  <a:latin typeface="+mn-lt"/>
                  <a:ea typeface="+mn-ea"/>
                  <a:cs typeface="+mn-cs"/>
                </a:rPr>
                <a:t>이 사이의 변화는 아무도 보지 못했습니다</a:t>
              </a:r>
            </a:p>
          </p:txBody>
        </p:sp>
      </p:grpSp>
      <p:grpSp>
        <p:nvGrpSpPr>
          <p:cNvPr id="47" name="facts"/>
          <p:cNvGrpSpPr/>
          <p:nvPr/>
        </p:nvGrpSpPr>
        <p:grpSpPr>
          <a:xfrm>
            <a:off x="518160" y="4686300"/>
            <a:ext cx="5539740" cy="880428"/>
            <a:chOff x="518160" y="4686300"/>
            <a:chExt cx="5539740" cy="880428"/>
          </a:xfrm>
        </p:grpSpPr>
        <p:sp>
          <p:nvSpPr>
            <p:cNvPr id="40" name="Line 40"/>
            <p:cNvSpPr/>
            <p:nvPr/>
          </p:nvSpPr>
          <p:spPr>
            <a:xfrm>
              <a:off x="533400" y="4686300"/>
              <a:ext cx="5524500" cy="9525"/>
            </a:xfrm>
            <a:custGeom>
              <a:avLst/>
              <a:gdLst/>
              <a:ahLst/>
              <a:cxnLst/>
              <a:rect l="l" t="t" r="r" b="b"/>
              <a:pathLst>
                <a:path w="5524500" h="9525">
                  <a:moveTo>
                    <a:pt x="0" y="0"/>
                  </a:moveTo>
                  <a:lnTo>
                    <a:pt x="5524500" y="0"/>
                  </a:lnTo>
                </a:path>
              </a:pathLst>
            </a:custGeom>
            <a:noFill/>
            <a:ln w="9525">
              <a:solidFill>
                <a:srgbClr val="E2E6EC"/>
              </a:solidFill>
            </a:ln>
          </p:spPr>
        </p:sp>
        <p:sp>
          <p:nvSpPr>
            <p:cNvPr id="41" name="TextBox 41"/>
            <p:cNvSpPr txBox="1"/>
            <p:nvPr/>
          </p:nvSpPr>
          <p:spPr>
            <a:xfrm>
              <a:off x="51816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6×4m</a:t>
              </a:r>
            </a:p>
          </p:txBody>
        </p:sp>
        <p:sp>
          <p:nvSpPr>
            <p:cNvPr id="42" name="TextBox 42"/>
            <p:cNvSpPr txBox="1"/>
            <p:nvPr/>
          </p:nvSpPr>
          <p:spPr>
            <a:xfrm>
              <a:off x="527685" y="5346700"/>
              <a:ext cx="65976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함몰 규모</a:t>
              </a:r>
            </a:p>
          </p:txBody>
        </p:sp>
        <p:sp>
          <p:nvSpPr>
            <p:cNvPr id="43" name="TextBox 43"/>
            <p:cNvSpPr txBox="1"/>
            <p:nvPr/>
          </p:nvSpPr>
          <p:spPr>
            <a:xfrm>
              <a:off x="2366010" y="4851400"/>
              <a:ext cx="1048207" cy="586740"/>
            </a:xfrm>
            <a:prstGeom prst="rect">
              <a:avLst/>
            </a:prstGeom>
            <a:noFill/>
            <a:ln>
              <a:noFill/>
            </a:ln>
          </p:spPr>
          <p:txBody>
            <a:bodyPr wrap="none" lIns="0" tIns="0" rIns="0" bIns="0" anchor="t" anchorCtr="0">
              <a:spAutoFit/>
            </a:bodyPr>
            <a:lstStyle/>
            <a:p>
              <a:pPr algn="l"/>
              <a:r>
                <a:rPr lang="en-US" sz="3000" b="1" dirty="0">
                  <a:solidFill>
                    <a:srgbClr val="111827"/>
                  </a:solidFill>
                  <a:latin typeface="+mn-lt"/>
                  <a:ea typeface="+mn-ea"/>
                  <a:cs typeface="+mn-cs"/>
                </a:rPr>
                <a:t>2.5m</a:t>
              </a:r>
            </a:p>
          </p:txBody>
        </p:sp>
        <p:sp>
          <p:nvSpPr>
            <p:cNvPr id="44" name="TextBox 44"/>
            <p:cNvSpPr txBox="1"/>
            <p:nvPr/>
          </p:nvSpPr>
          <p:spPr>
            <a:xfrm>
              <a:off x="2375535" y="5346700"/>
              <a:ext cx="1134699"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깊이 · 얕은 함몰</a:t>
              </a:r>
            </a:p>
          </p:txBody>
        </p:sp>
        <p:sp>
          <p:nvSpPr>
            <p:cNvPr id="45" name="TextBox 45"/>
            <p:cNvSpPr txBox="1"/>
            <p:nvPr/>
          </p:nvSpPr>
          <p:spPr>
            <a:xfrm>
              <a:off x="4175760" y="4851400"/>
              <a:ext cx="1198645" cy="586740"/>
            </a:xfrm>
            <a:prstGeom prst="rect">
              <a:avLst/>
            </a:prstGeom>
            <a:noFill/>
            <a:ln>
              <a:noFill/>
            </a:ln>
          </p:spPr>
          <p:txBody>
            <a:bodyPr wrap="none" lIns="0" tIns="0" rIns="0" bIns="0" anchor="t" anchorCtr="0">
              <a:spAutoFit/>
            </a:bodyPr>
            <a:lstStyle/>
            <a:p>
              <a:pPr algn="l"/>
              <a:r>
                <a:rPr lang="ko-KR" sz="3000" b="1" dirty="0">
                  <a:solidFill>
                    <a:srgbClr val="C62828"/>
                  </a:solidFill>
                  <a:latin typeface="+mn-lt"/>
                  <a:ea typeface="+mn-ea"/>
                  <a:cs typeface="+mn-cs"/>
                </a:rPr>
                <a:t>사망 1</a:t>
              </a:r>
            </a:p>
          </p:txBody>
        </p:sp>
        <p:sp>
          <p:nvSpPr>
            <p:cNvPr id="46" name="TextBox 46"/>
            <p:cNvSpPr txBox="1"/>
            <p:nvPr/>
          </p:nvSpPr>
          <p:spPr>
            <a:xfrm>
              <a:off x="4185285" y="5346700"/>
              <a:ext cx="1285474"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차량 추락 · 동승자</a:t>
              </a:r>
            </a:p>
          </p:txBody>
        </p:sp>
      </p:grpSp>
      <p:grpSp>
        <p:nvGrpSpPr>
          <p:cNvPr id="49" name="source"/>
          <p:cNvGrpSpPr/>
          <p:nvPr/>
        </p:nvGrpSpPr>
        <p:grpSpPr>
          <a:xfrm>
            <a:off x="528638" y="6096000"/>
            <a:ext cx="3444354" cy="176212"/>
            <a:chOff x="528638" y="6096000"/>
            <a:chExt cx="3444354" cy="176212"/>
          </a:xfrm>
        </p:grpSpPr>
        <p:sp>
          <p:nvSpPr>
            <p:cNvPr id="48" name="TextBox 48"/>
            <p:cNvSpPr txBox="1"/>
            <p:nvPr/>
          </p:nvSpPr>
          <p:spPr>
            <a:xfrm>
              <a:off x="528638" y="6096000"/>
              <a:ext cx="344435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뉴시스·아시아경제(2024.8.30), 세계일보(2025.9.25)</a:t>
              </a:r>
            </a:p>
          </p:txBody>
        </p:sp>
      </p:grpSp>
      <p:grpSp>
        <p:nvGrpSpPr>
          <p:cNvPr id="52" name="footer"/>
          <p:cNvGrpSpPr/>
          <p:nvPr/>
        </p:nvGrpSpPr>
        <p:grpSpPr>
          <a:xfrm>
            <a:off x="528638" y="6610350"/>
            <a:ext cx="5534024" cy="176212"/>
            <a:chOff x="528638" y="6610350"/>
            <a:chExt cx="5534024" cy="176212"/>
          </a:xfrm>
        </p:grpSpPr>
        <p:sp>
          <p:nvSpPr>
            <p:cNvPr id="50" name="TextBox 50"/>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51" name="TextBox 51"/>
            <p:cNvSpPr txBox="1"/>
            <p:nvPr/>
          </p:nvSpPr>
          <p:spPr>
            <a:xfrm>
              <a:off x="56472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02 / 12</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지금 체계의 맹점</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783936" cy="586740"/>
            <a:chOff x="518160" y="774700"/>
            <a:chExt cx="8783936" cy="586740"/>
          </a:xfrm>
        </p:grpSpPr>
        <p:sp>
          <p:nvSpPr>
            <p:cNvPr id="17" name="TextBox 17"/>
            <p:cNvSpPr txBox="1"/>
            <p:nvPr/>
          </p:nvSpPr>
          <p:spPr>
            <a:xfrm>
              <a:off x="518160" y="774700"/>
              <a:ext cx="878393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맹점은 탐사가 아니라, 탐사와 탐사 ‘사이’입니다</a:t>
              </a:r>
            </a:p>
          </p:txBody>
        </p:sp>
      </p:grpSp>
      <p:grpSp>
        <p:nvGrpSpPr>
          <p:cNvPr id="30" name="gap-chart"/>
          <p:cNvGrpSpPr/>
          <p:nvPr/>
        </p:nvGrpSpPr>
        <p:grpSpPr>
          <a:xfrm>
            <a:off x="526542" y="1701800"/>
            <a:ext cx="6483858" cy="3162681"/>
            <a:chOff x="526542" y="1701800"/>
            <a:chExt cx="6483858" cy="3162681"/>
          </a:xfrm>
        </p:grpSpPr>
        <p:sp>
          <p:nvSpPr>
            <p:cNvPr id="19" name="TextBox 19"/>
            <p:cNvSpPr txBox="1"/>
            <p:nvPr/>
          </p:nvSpPr>
          <p:spPr>
            <a:xfrm>
              <a:off x="526542" y="1701800"/>
              <a:ext cx="2844270" cy="264033"/>
            </a:xfrm>
            <a:prstGeom prst="rect">
              <a:avLst/>
            </a:prstGeom>
            <a:noFill/>
            <a:ln>
              <a:noFill/>
            </a:ln>
          </p:spPr>
          <p:txBody>
            <a:bodyPr wrap="none" lIns="0" tIns="0" rIns="0" bIns="0" anchor="t" anchorCtr="0">
              <a:spAutoFit/>
            </a:bodyPr>
            <a:lstStyle/>
            <a:p>
              <a:pPr algn="l"/>
              <a:r>
                <a:rPr lang="ko-KR" sz="1350" b="1" dirty="0">
                  <a:solidFill>
                    <a:srgbClr val="0B1E3C"/>
                  </a:solidFill>
                  <a:latin typeface="+mn-lt"/>
                  <a:ea typeface="+mn-ea"/>
                  <a:cs typeface="+mn-cs"/>
                </a:rPr>
                <a:t>한 번 탐사한 도로를 다시 보기까지</a:t>
              </a:r>
            </a:p>
          </p:txBody>
        </p:sp>
        <p:sp>
          <p:nvSpPr>
            <p:cNvPr id="20" name="Line 20"/>
            <p:cNvSpPr/>
            <p:nvPr/>
          </p:nvSpPr>
          <p:spPr>
            <a:xfrm>
              <a:off x="533400" y="2000250"/>
              <a:ext cx="6477000" cy="9525"/>
            </a:xfrm>
            <a:custGeom>
              <a:avLst/>
              <a:gdLst/>
              <a:ahLst/>
              <a:cxnLst/>
              <a:rect l="l" t="t" r="r" b="b"/>
              <a:pathLst>
                <a:path w="6477000" h="9525">
                  <a:moveTo>
                    <a:pt x="0" y="0"/>
                  </a:moveTo>
                  <a:lnTo>
                    <a:pt x="6477000" y="0"/>
                  </a:lnTo>
                </a:path>
              </a:pathLst>
            </a:custGeom>
            <a:noFill/>
            <a:ln w="14288">
              <a:solidFill>
                <a:srgbClr val="0B1E3C"/>
              </a:solidFill>
            </a:ln>
          </p:spPr>
        </p:sp>
        <p:sp>
          <p:nvSpPr>
            <p:cNvPr id="21" name="TextBox 21"/>
            <p:cNvSpPr txBox="1"/>
            <p:nvPr/>
          </p:nvSpPr>
          <p:spPr>
            <a:xfrm>
              <a:off x="526542" y="2273300"/>
              <a:ext cx="1994649"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법이 정한 공동조사 주기</a:t>
              </a:r>
            </a:p>
          </p:txBody>
        </p:sp>
        <p:sp>
          <p:nvSpPr>
            <p:cNvPr id="22" name="Rectangle 22"/>
            <p:cNvSpPr/>
            <p:nvPr/>
          </p:nvSpPr>
          <p:spPr>
            <a:xfrm>
              <a:off x="533400" y="2571750"/>
              <a:ext cx="5715000" cy="323850"/>
            </a:xfrm>
            <a:prstGeom prst="rect">
              <a:avLst/>
            </a:prstGeom>
            <a:solidFill>
              <a:srgbClr val="9AA3AF"/>
            </a:solidFill>
            <a:ln>
              <a:noFill/>
            </a:ln>
          </p:spPr>
        </p:sp>
        <p:sp>
          <p:nvSpPr>
            <p:cNvPr id="23" name="TextBox 23"/>
            <p:cNvSpPr txBox="1"/>
            <p:nvPr/>
          </p:nvSpPr>
          <p:spPr>
            <a:xfrm>
              <a:off x="6352794" y="2578100"/>
              <a:ext cx="433920" cy="381381"/>
            </a:xfrm>
            <a:prstGeom prst="rect">
              <a:avLst/>
            </a:prstGeom>
            <a:noFill/>
            <a:ln>
              <a:noFill/>
            </a:ln>
          </p:spPr>
          <p:txBody>
            <a:bodyPr wrap="none" lIns="0" tIns="0" rIns="0" bIns="0" anchor="t" anchorCtr="0">
              <a:spAutoFit/>
            </a:bodyPr>
            <a:lstStyle/>
            <a:p>
              <a:pPr algn="l"/>
              <a:r>
                <a:rPr lang="ko-KR" sz="1950" b="1" dirty="0">
                  <a:solidFill>
                    <a:srgbClr val="111827"/>
                  </a:solidFill>
                  <a:latin typeface="+mn-lt"/>
                  <a:ea typeface="+mn-ea"/>
                  <a:cs typeface="+mn-cs"/>
                </a:rPr>
                <a:t>5년</a:t>
              </a:r>
            </a:p>
          </p:txBody>
        </p:sp>
        <p:sp>
          <p:nvSpPr>
            <p:cNvPr id="24" name="TextBox 24"/>
            <p:cNvSpPr txBox="1"/>
            <p:nvPr/>
          </p:nvSpPr>
          <p:spPr>
            <a:xfrm>
              <a:off x="526542" y="3225800"/>
              <a:ext cx="3076052" cy="264033"/>
            </a:xfrm>
            <a:prstGeom prst="rect">
              <a:avLst/>
            </a:prstGeom>
            <a:noFill/>
            <a:ln>
              <a:noFill/>
            </a:ln>
          </p:spPr>
          <p:txBody>
            <a:bodyPr wrap="none" lIns="0" tIns="0" rIns="0" bIns="0" anchor="t" anchorCtr="0">
              <a:spAutoFit/>
            </a:bodyPr>
            <a:lstStyle/>
            <a:p>
              <a:pPr algn="l"/>
              <a:r>
                <a:rPr lang="ko-KR" sz="1350" dirty="0">
                  <a:solidFill>
                    <a:srgbClr val="111827"/>
                  </a:solidFill>
                  <a:latin typeface="+mn-lt"/>
                  <a:ea typeface="+mn-ea"/>
                  <a:cs typeface="+mn-cs"/>
                </a:rPr>
                <a:t xml:space="preserve">서울시가 줄인 정기점검 주기 </a:t>
              </a:r>
              <a:r>
                <a:rPr lang="ko-KR" sz="1120" dirty="0">
                  <a:solidFill>
                    <a:srgbClr val="374151"/>
                  </a:solidFill>
                  <a:latin typeface="+mn-lt"/>
                  <a:ea typeface="+mn-ea"/>
                  <a:cs typeface="+mn-cs"/>
                </a:rPr>
                <a:t>(2025.4)</a:t>
              </a:r>
            </a:p>
          </p:txBody>
        </p:sp>
        <p:sp>
          <p:nvSpPr>
            <p:cNvPr id="25" name="Rectangle 25"/>
            <p:cNvSpPr/>
            <p:nvPr/>
          </p:nvSpPr>
          <p:spPr>
            <a:xfrm>
              <a:off x="533400" y="3524250"/>
              <a:ext cx="1143000" cy="323850"/>
            </a:xfrm>
            <a:prstGeom prst="rect">
              <a:avLst/>
            </a:prstGeom>
            <a:solidFill>
              <a:srgbClr val="0B1E3C"/>
            </a:solidFill>
            <a:ln>
              <a:noFill/>
            </a:ln>
          </p:spPr>
        </p:sp>
        <p:sp>
          <p:nvSpPr>
            <p:cNvPr id="26" name="TextBox 26"/>
            <p:cNvSpPr txBox="1"/>
            <p:nvPr/>
          </p:nvSpPr>
          <p:spPr>
            <a:xfrm>
              <a:off x="1780794" y="3530600"/>
              <a:ext cx="433920"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1년</a:t>
              </a:r>
            </a:p>
          </p:txBody>
        </p:sp>
        <p:sp>
          <p:nvSpPr>
            <p:cNvPr id="27" name="TextBox 27"/>
            <p:cNvSpPr txBox="1"/>
            <p:nvPr/>
          </p:nvSpPr>
          <p:spPr>
            <a:xfrm>
              <a:off x="526542" y="4178300"/>
              <a:ext cx="3283619" cy="264033"/>
            </a:xfrm>
            <a:prstGeom prst="rect">
              <a:avLst/>
            </a:prstGeom>
            <a:noFill/>
            <a:ln>
              <a:noFill/>
            </a:ln>
          </p:spPr>
          <p:txBody>
            <a:bodyPr wrap="none" lIns="0" tIns="0" rIns="0" bIns="0" anchor="t" anchorCtr="0">
              <a:spAutoFit/>
            </a:bodyPr>
            <a:lstStyle/>
            <a:p>
              <a:pPr algn="l"/>
              <a:r>
                <a:rPr lang="ko-KR" sz="1350" b="1" dirty="0">
                  <a:solidFill>
                    <a:srgbClr val="C62828"/>
                  </a:solidFill>
                  <a:latin typeface="+mn-lt"/>
                  <a:ea typeface="+mn-ea"/>
                  <a:cs typeface="+mn-cs"/>
                </a:rPr>
                <a:t>연희동: 탐사 ‘이상 없음’에서 함몰까지</a:t>
              </a:r>
            </a:p>
          </p:txBody>
        </p:sp>
        <p:sp>
          <p:nvSpPr>
            <p:cNvPr id="28" name="Rectangle 28"/>
            <p:cNvSpPr/>
            <p:nvPr/>
          </p:nvSpPr>
          <p:spPr>
            <a:xfrm>
              <a:off x="533400" y="4476750"/>
              <a:ext cx="333375" cy="323850"/>
            </a:xfrm>
            <a:prstGeom prst="rect">
              <a:avLst/>
            </a:prstGeom>
            <a:solidFill>
              <a:srgbClr val="C62828"/>
            </a:solidFill>
            <a:ln>
              <a:noFill/>
            </a:ln>
          </p:spPr>
        </p:sp>
        <p:sp>
          <p:nvSpPr>
            <p:cNvPr id="29" name="TextBox 29"/>
            <p:cNvSpPr txBox="1"/>
            <p:nvPr/>
          </p:nvSpPr>
          <p:spPr>
            <a:xfrm>
              <a:off x="971169" y="4483100"/>
              <a:ext cx="1344826" cy="381381"/>
            </a:xfrm>
            <a:prstGeom prst="rect">
              <a:avLst/>
            </a:prstGeom>
            <a:noFill/>
            <a:ln>
              <a:noFill/>
            </a:ln>
          </p:spPr>
          <p:txBody>
            <a:bodyPr wrap="none" lIns="0" tIns="0" rIns="0" bIns="0" anchor="t" anchorCtr="0">
              <a:spAutoFit/>
            </a:bodyPr>
            <a:lstStyle/>
            <a:p>
              <a:pPr algn="l"/>
              <a:r>
                <a:rPr lang="ko-KR" sz="1950" b="1" dirty="0">
                  <a:solidFill>
                    <a:srgbClr val="C62828"/>
                  </a:solidFill>
                  <a:latin typeface="+mn-lt"/>
                  <a:ea typeface="+mn-ea"/>
                  <a:cs typeface="+mn-cs"/>
                </a:rPr>
                <a:t>약 3.5개월</a:t>
              </a:r>
            </a:p>
          </p:txBody>
        </p:sp>
      </p:grpSp>
      <p:grpSp>
        <p:nvGrpSpPr>
          <p:cNvPr id="41" name="evidence"/>
          <p:cNvGrpSpPr/>
          <p:nvPr/>
        </p:nvGrpSpPr>
        <p:grpSpPr>
          <a:xfrm>
            <a:off x="7457694" y="1600200"/>
            <a:ext cx="4200906" cy="2882646"/>
            <a:chOff x="7457694" y="1600200"/>
            <a:chExt cx="4200906" cy="2882646"/>
          </a:xfrm>
        </p:grpSpPr>
        <p:sp>
          <p:nvSpPr>
            <p:cNvPr id="31" name="Rectangle 31"/>
            <p:cNvSpPr/>
            <p:nvPr/>
          </p:nvSpPr>
          <p:spPr>
            <a:xfrm>
              <a:off x="7467600" y="1600200"/>
              <a:ext cx="4191000" cy="28575"/>
            </a:xfrm>
            <a:prstGeom prst="rect">
              <a:avLst/>
            </a:prstGeom>
            <a:solidFill>
              <a:srgbClr val="0B1E3C"/>
            </a:solidFill>
            <a:ln>
              <a:noFill/>
            </a:ln>
          </p:spPr>
        </p:sp>
        <p:sp>
          <p:nvSpPr>
            <p:cNvPr id="32" name="TextBox 32"/>
            <p:cNvSpPr txBox="1"/>
            <p:nvPr/>
          </p:nvSpPr>
          <p:spPr>
            <a:xfrm>
              <a:off x="7461885" y="1803400"/>
              <a:ext cx="1661656"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그 사이 공동은 자랍니다</a:t>
              </a:r>
            </a:p>
          </p:txBody>
        </p:sp>
        <p:sp>
          <p:nvSpPr>
            <p:cNvPr id="33" name="TextBox 33"/>
            <p:cNvSpPr txBox="1"/>
            <p:nvPr/>
          </p:nvSpPr>
          <p:spPr>
            <a:xfrm>
              <a:off x="7457694" y="2139950"/>
              <a:ext cx="2354173"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“예상보다 단기간에</a:t>
              </a:r>
            </a:p>
          </p:txBody>
        </p:sp>
        <p:sp>
          <p:nvSpPr>
            <p:cNvPr id="34" name="TextBox 34"/>
            <p:cNvSpPr txBox="1"/>
            <p:nvPr/>
          </p:nvSpPr>
          <p:spPr>
            <a:xfrm>
              <a:off x="7457694" y="2482850"/>
              <a:ext cx="2782063" cy="381381"/>
            </a:xfrm>
            <a:prstGeom prst="rect">
              <a:avLst/>
            </a:prstGeom>
            <a:noFill/>
            <a:ln>
              <a:noFill/>
            </a:ln>
          </p:spPr>
          <p:txBody>
            <a:bodyPr wrap="none" lIns="0" tIns="0" rIns="0" bIns="0" anchor="t" anchorCtr="0">
              <a:spAutoFit/>
            </a:bodyPr>
            <a:lstStyle/>
            <a:p>
              <a:pPr algn="l"/>
              <a:r>
                <a:rPr lang="ko-KR" sz="1950" b="1" dirty="0">
                  <a:solidFill>
                    <a:srgbClr val="0B1E3C"/>
                  </a:solidFill>
                  <a:latin typeface="+mn-lt"/>
                  <a:ea typeface="+mn-ea"/>
                  <a:cs typeface="+mn-cs"/>
                </a:rPr>
                <a:t>공동이 성장할 수 있다”</a:t>
              </a:r>
            </a:p>
          </p:txBody>
        </p:sp>
        <p:sp>
          <p:nvSpPr>
            <p:cNvPr id="35" name="TextBox 35"/>
            <p:cNvSpPr txBox="1"/>
            <p:nvPr/>
          </p:nvSpPr>
          <p:spPr>
            <a:xfrm>
              <a:off x="7461504" y="2990850"/>
              <a:ext cx="1886102"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일본 국토교통성 위탁연구</a:t>
              </a:r>
            </a:p>
          </p:txBody>
        </p:sp>
        <p:sp>
          <p:nvSpPr>
            <p:cNvPr id="36" name="TextBox 36"/>
            <p:cNvSpPr txBox="1"/>
            <p:nvPr/>
          </p:nvSpPr>
          <p:spPr>
            <a:xfrm>
              <a:off x="7461504" y="3200400"/>
              <a:ext cx="2346503"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(도쿄대·지오서치, 2018~2020)</a:t>
              </a:r>
            </a:p>
          </p:txBody>
        </p:sp>
        <p:sp>
          <p:nvSpPr>
            <p:cNvPr id="37" name="Line 37"/>
            <p:cNvSpPr/>
            <p:nvPr/>
          </p:nvSpPr>
          <p:spPr>
            <a:xfrm>
              <a:off x="7467600" y="36195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8" name="TextBox 38"/>
            <p:cNvSpPr txBox="1"/>
            <p:nvPr/>
          </p:nvSpPr>
          <p:spPr>
            <a:xfrm>
              <a:off x="7461504" y="3790950"/>
              <a:ext cx="2257654"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같은 도로를 반복 모니터링하자</a:t>
              </a:r>
            </a:p>
          </p:txBody>
        </p:sp>
        <p:sp>
          <p:nvSpPr>
            <p:cNvPr id="39" name="TextBox 39"/>
            <p:cNvSpPr txBox="1"/>
            <p:nvPr/>
          </p:nvSpPr>
          <p:spPr>
            <a:xfrm>
              <a:off x="7461504" y="4019550"/>
              <a:ext cx="2136496"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지하 1.64m 하수관 위 공동이</a:t>
              </a:r>
            </a:p>
          </p:txBody>
        </p:sp>
        <p:sp>
          <p:nvSpPr>
            <p:cNvPr id="40" name="TextBox 40"/>
            <p:cNvSpPr txBox="1"/>
            <p:nvPr/>
          </p:nvSpPr>
          <p:spPr>
            <a:xfrm>
              <a:off x="7461504" y="4248150"/>
              <a:ext cx="2346503"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급격히 자란 것이 확인됐습니다.</a:t>
              </a:r>
            </a:p>
          </p:txBody>
        </p:sp>
      </p:grpSp>
      <p:grpSp>
        <p:nvGrpSpPr>
          <p:cNvPr id="44" name="conclusion"/>
          <p:cNvGrpSpPr/>
          <p:nvPr/>
        </p:nvGrpSpPr>
        <p:grpSpPr>
          <a:xfrm>
            <a:off x="533400" y="5391150"/>
            <a:ext cx="7169730" cy="419100"/>
            <a:chOff x="533400" y="5391150"/>
            <a:chExt cx="7169730" cy="419100"/>
          </a:xfrm>
        </p:grpSpPr>
        <p:sp>
          <p:nvSpPr>
            <p:cNvPr id="42" name="Rectangle 42"/>
            <p:cNvSpPr/>
            <p:nvPr/>
          </p:nvSpPr>
          <p:spPr>
            <a:xfrm>
              <a:off x="533400" y="5391150"/>
              <a:ext cx="38100" cy="419100"/>
            </a:xfrm>
            <a:prstGeom prst="rect">
              <a:avLst/>
            </a:prstGeom>
            <a:solidFill>
              <a:srgbClr val="F5B700"/>
            </a:solidFill>
            <a:ln>
              <a:noFill/>
            </a:ln>
          </p:spPr>
        </p:sp>
        <p:sp>
          <p:nvSpPr>
            <p:cNvPr id="43" name="TextBox 43"/>
            <p:cNvSpPr txBox="1"/>
            <p:nvPr/>
          </p:nvSpPr>
          <p:spPr>
            <a:xfrm>
              <a:off x="715899" y="5486400"/>
              <a:ext cx="698723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한 번의 탐사는 그 시점만 말해 줍니다. 그 사이의 ‘변화’를 봐야 합니다.</a:t>
              </a:r>
            </a:p>
          </p:txBody>
        </p:sp>
      </p:grpSp>
      <p:grpSp>
        <p:nvGrpSpPr>
          <p:cNvPr id="46" name="source"/>
          <p:cNvGrpSpPr/>
          <p:nvPr/>
        </p:nvGrpSpPr>
        <p:grpSpPr>
          <a:xfrm>
            <a:off x="528638" y="6381750"/>
            <a:ext cx="8430006" cy="176212"/>
            <a:chOff x="528638" y="6381750"/>
            <a:chExt cx="8430006" cy="176212"/>
          </a:xfrm>
        </p:grpSpPr>
        <p:sp>
          <p:nvSpPr>
            <p:cNvPr id="45" name="TextBox 45"/>
            <p:cNvSpPr txBox="1"/>
            <p:nvPr/>
          </p:nvSpPr>
          <p:spPr>
            <a:xfrm>
              <a:off x="528638" y="6381750"/>
              <a:ext cx="8430006"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지하안전법(지하시설물관리자 공동조사 5년 1회 이상) · 이투데이(2025.4.23) · 뉴시스(2024.8.30) · 일본 국토교통성 도로정책 연구 30-5(2021)</a:t>
              </a:r>
            </a:p>
          </p:txBody>
        </p:sp>
      </p:grpSp>
      <p:grpSp>
        <p:nvGrpSpPr>
          <p:cNvPr id="49" name="footer"/>
          <p:cNvGrpSpPr/>
          <p:nvPr/>
        </p:nvGrpSpPr>
        <p:grpSpPr>
          <a:xfrm>
            <a:off x="528638" y="6610350"/>
            <a:ext cx="11134724" cy="176212"/>
            <a:chOff x="528638" y="6610350"/>
            <a:chExt cx="11134724" cy="176212"/>
          </a:xfrm>
        </p:grpSpPr>
        <p:sp>
          <p:nvSpPr>
            <p:cNvPr id="47" name="TextBox 47"/>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48" name="TextBox 48"/>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03 / 12</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08493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우리가 막을 대상</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문제</a:t>
              </a:r>
            </a:p>
          </p:txBody>
        </p:sp>
        <p:sp>
          <p:nvSpPr>
            <p:cNvPr id="6" name="Rectangle 6"/>
            <p:cNvSpPr/>
            <p:nvPr/>
          </p:nvSpPr>
          <p:spPr>
            <a:xfrm>
              <a:off x="8343900" y="514350"/>
              <a:ext cx="457200" cy="28575"/>
            </a:xfrm>
            <a:prstGeom prst="rect">
              <a:avLst/>
            </a:prstGeom>
            <a:solidFill>
              <a:srgbClr val="F5B700"/>
            </a:solidFill>
            <a:ln>
              <a:noFill/>
            </a:ln>
          </p:spPr>
        </p:sp>
        <p:sp>
          <p:nvSpPr>
            <p:cNvPr id="7" name="TextBox 7"/>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8" name="TextBox 8"/>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9414224" cy="586740"/>
            <a:chOff x="518160" y="774700"/>
            <a:chExt cx="9414224" cy="586740"/>
          </a:xfrm>
        </p:grpSpPr>
        <p:sp>
          <p:nvSpPr>
            <p:cNvPr id="17" name="TextBox 17"/>
            <p:cNvSpPr txBox="1"/>
            <p:nvPr/>
          </p:nvSpPr>
          <p:spPr>
            <a:xfrm>
              <a:off x="518160" y="774700"/>
              <a:ext cx="9414224"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그 사이 자라는 ‘얕은 공동’이 땅꺼짐 원인 1위입니다</a:t>
              </a:r>
            </a:p>
          </p:txBody>
        </p:sp>
      </p:grpSp>
      <p:grpSp>
        <p:nvGrpSpPr>
          <p:cNvPr id="29" name="section"/>
          <p:cNvGrpSpPr/>
          <p:nvPr/>
        </p:nvGrpSpPr>
        <p:grpSpPr>
          <a:xfrm>
            <a:off x="537006" y="1581150"/>
            <a:ext cx="6088789" cy="3876675"/>
            <a:chOff x="537006" y="1581150"/>
            <a:chExt cx="6088789" cy="3876675"/>
          </a:xfrm>
        </p:grpSpPr>
        <p:pic>
          <p:nvPicPr>
            <p:cNvPr id="19" name="Image 19"/>
            <p:cNvPicPr>
              <a:picLocks noChangeAspect="1"/>
            </p:cNvPicPr>
            <p:nvPr/>
          </p:nvPicPr>
          <p:blipFill>
            <a:blip r:embed="rId2"/>
            <a:stretch>
              <a:fillRect/>
            </a:stretch>
          </p:blipFill>
          <p:spPr>
            <a:xfrm>
              <a:off x="537006" y="1581150"/>
              <a:ext cx="6088789" cy="3876675"/>
            </a:xfrm>
            <a:prstGeom prst="rect">
              <a:avLst/>
            </a:prstGeom>
          </p:spPr>
        </p:pic>
        <p:grpSp>
          <p:nvGrpSpPr>
            <p:cNvPr id="28" name="Group 28"/>
            <p:cNvGrpSpPr/>
            <p:nvPr/>
          </p:nvGrpSpPr>
          <p:grpSpPr>
            <a:xfrm>
              <a:off x="1085850" y="2038350"/>
              <a:ext cx="3962400" cy="3219450"/>
              <a:chOff x="1085850" y="2038350"/>
              <a:chExt cx="3962400" cy="3219450"/>
            </a:xfrm>
          </p:grpSpPr>
          <p:sp>
            <p:nvSpPr>
              <p:cNvPr id="20" name="Rectangle 20"/>
              <p:cNvSpPr/>
              <p:nvPr/>
            </p:nvSpPr>
            <p:spPr>
              <a:xfrm>
                <a:off x="2762250" y="2038350"/>
                <a:ext cx="1066800" cy="266700"/>
              </a:xfrm>
              <a:prstGeom prst="roundRect">
                <a:avLst>
                  <a:gd name="adj" fmla="val 50000"/>
                </a:avLst>
              </a:prstGeom>
              <a:solidFill>
                <a:srgbClr val="0B1E3C"/>
              </a:solidFill>
              <a:ln>
                <a:noFill/>
              </a:ln>
            </p:spPr>
          </p:sp>
          <p:sp>
            <p:nvSpPr>
              <p:cNvPr id="21" name="TextBox 21"/>
              <p:cNvSpPr txBox="1"/>
              <p:nvPr/>
            </p:nvSpPr>
            <p:spPr>
              <a:xfrm>
                <a:off x="2897356" y="20796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3 노면 침하</a:t>
                </a:r>
              </a:p>
            </p:txBody>
          </p:sp>
          <p:sp>
            <p:nvSpPr>
              <p:cNvPr id="22" name="Rectangle 22"/>
              <p:cNvSpPr/>
              <p:nvPr/>
            </p:nvSpPr>
            <p:spPr>
              <a:xfrm>
                <a:off x="1085850" y="2686050"/>
                <a:ext cx="1066800" cy="266700"/>
              </a:xfrm>
              <a:prstGeom prst="roundRect">
                <a:avLst>
                  <a:gd name="adj" fmla="val 50000"/>
                </a:avLst>
              </a:prstGeom>
              <a:solidFill>
                <a:srgbClr val="0B1E3C"/>
              </a:solidFill>
              <a:ln>
                <a:noFill/>
              </a:ln>
            </p:spPr>
          </p:sp>
          <p:sp>
            <p:nvSpPr>
              <p:cNvPr id="23" name="TextBox 23"/>
              <p:cNvSpPr txBox="1"/>
              <p:nvPr/>
            </p:nvSpPr>
            <p:spPr>
              <a:xfrm>
                <a:off x="1220956" y="2727325"/>
                <a:ext cx="796588"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2 공동 형성</a:t>
                </a:r>
              </a:p>
            </p:txBody>
          </p:sp>
          <p:sp>
            <p:nvSpPr>
              <p:cNvPr id="24" name="Rectangle 24"/>
              <p:cNvSpPr/>
              <p:nvPr/>
            </p:nvSpPr>
            <p:spPr>
              <a:xfrm>
                <a:off x="3867150" y="3238500"/>
                <a:ext cx="1181100" cy="266700"/>
              </a:xfrm>
              <a:prstGeom prst="roundRect">
                <a:avLst>
                  <a:gd name="adj" fmla="val 50000"/>
                </a:avLst>
              </a:prstGeom>
              <a:solidFill>
                <a:srgbClr val="0B1E3C"/>
              </a:solidFill>
              <a:ln>
                <a:noFill/>
              </a:ln>
            </p:spPr>
          </p:sp>
          <p:sp>
            <p:nvSpPr>
              <p:cNvPr id="25" name="TextBox 25"/>
              <p:cNvSpPr txBox="1"/>
              <p:nvPr/>
            </p:nvSpPr>
            <p:spPr>
              <a:xfrm>
                <a:off x="3984019" y="3279775"/>
                <a:ext cx="947362" cy="220028"/>
              </a:xfrm>
              <a:prstGeom prst="rect">
                <a:avLst/>
              </a:prstGeom>
              <a:noFill/>
              <a:ln>
                <a:noFill/>
              </a:ln>
            </p:spPr>
            <p:txBody>
              <a:bodyPr wrap="none" lIns="0" tIns="0" rIns="0" bIns="0" anchor="t" anchorCtr="0">
                <a:spAutoFit/>
              </a:bodyPr>
              <a:lstStyle/>
              <a:p>
                <a:pPr algn="ctr"/>
                <a:r>
                  <a:rPr lang="ko-KR" sz="1120" b="1" dirty="0">
                    <a:solidFill>
                      <a:srgbClr val="FFFFFF"/>
                    </a:solidFill>
                    <a:latin typeface="+mn-lt"/>
                    <a:ea typeface="+mn-ea"/>
                    <a:cs typeface="+mn-cs"/>
                  </a:rPr>
                  <a:t>1 하수관 누수</a:t>
                </a:r>
              </a:p>
            </p:txBody>
          </p:sp>
          <p:sp>
            <p:nvSpPr>
              <p:cNvPr id="26" name="Rectangle 26"/>
              <p:cNvSpPr/>
              <p:nvPr/>
            </p:nvSpPr>
            <p:spPr>
              <a:xfrm>
                <a:off x="1314450" y="4991100"/>
                <a:ext cx="1524000" cy="266700"/>
              </a:xfrm>
              <a:prstGeom prst="roundRect">
                <a:avLst>
                  <a:gd name="adj" fmla="val 50000"/>
                </a:avLst>
              </a:prstGeom>
              <a:solidFill>
                <a:srgbClr val="FFFFFF"/>
              </a:solidFill>
              <a:ln w="9525">
                <a:solidFill>
                  <a:srgbClr val="9AA3AF"/>
                </a:solidFill>
              </a:ln>
            </p:spPr>
          </p:sp>
          <p:sp>
            <p:nvSpPr>
              <p:cNvPr id="27" name="TextBox 27"/>
              <p:cNvSpPr txBox="1"/>
              <p:nvPr/>
            </p:nvSpPr>
            <p:spPr>
              <a:xfrm>
                <a:off x="1404501" y="5032375"/>
                <a:ext cx="1343899" cy="220028"/>
              </a:xfrm>
              <a:prstGeom prst="rect">
                <a:avLst/>
              </a:prstGeom>
              <a:noFill/>
              <a:ln>
                <a:noFill/>
              </a:ln>
            </p:spPr>
            <p:txBody>
              <a:bodyPr wrap="none" lIns="0" tIns="0" rIns="0" bIns="0" anchor="t" anchorCtr="0">
                <a:spAutoFit/>
              </a:bodyPr>
              <a:lstStyle/>
              <a:p>
                <a:pPr algn="ctr"/>
                <a:r>
                  <a:rPr lang="ko-KR" sz="1120" b="1" dirty="0">
                    <a:solidFill>
                      <a:srgbClr val="374151"/>
                    </a:solidFill>
                    <a:latin typeface="+mn-lt"/>
                    <a:ea typeface="+mn-ea"/>
                    <a:cs typeface="+mn-cs"/>
                  </a:rPr>
                  <a:t>깊은 층 · 대상 아님</a:t>
                </a:r>
              </a:p>
            </p:txBody>
          </p:sp>
        </p:grpSp>
      </p:grpSp>
      <p:grpSp>
        <p:nvGrpSpPr>
          <p:cNvPr id="33" name="stat"/>
          <p:cNvGrpSpPr/>
          <p:nvPr/>
        </p:nvGrpSpPr>
        <p:grpSpPr>
          <a:xfrm>
            <a:off x="7067550" y="1581150"/>
            <a:ext cx="3001099" cy="1472946"/>
            <a:chOff x="7067550" y="1581150"/>
            <a:chExt cx="3001099" cy="1472946"/>
          </a:xfrm>
        </p:grpSpPr>
        <p:sp>
          <p:nvSpPr>
            <p:cNvPr id="30" name="TextBox 30"/>
            <p:cNvSpPr txBox="1"/>
            <p:nvPr/>
          </p:nvSpPr>
          <p:spPr>
            <a:xfrm>
              <a:off x="7067550" y="1581150"/>
              <a:ext cx="2669046" cy="1276350"/>
            </a:xfrm>
            <a:prstGeom prst="rect">
              <a:avLst/>
            </a:prstGeom>
            <a:noFill/>
            <a:ln>
              <a:noFill/>
            </a:ln>
          </p:spPr>
          <p:txBody>
            <a:bodyPr wrap="none" lIns="0" tIns="0" rIns="0" bIns="0" anchor="t" anchorCtr="0">
              <a:spAutoFit/>
            </a:bodyPr>
            <a:lstStyle/>
            <a:p>
              <a:pPr algn="l"/>
              <a:r>
                <a:rPr lang="ko-KR" sz="6600" b="1" spc="-225" dirty="0">
                  <a:solidFill>
                    <a:srgbClr val="0B1E3C"/>
                  </a:solidFill>
                  <a:latin typeface="+mn-lt"/>
                  <a:ea typeface="+mn-ea"/>
                  <a:cs typeface="+mn-cs"/>
                </a:rPr>
                <a:t>45.4%</a:t>
              </a:r>
            </a:p>
          </p:txBody>
        </p:sp>
        <p:sp>
          <p:nvSpPr>
            <p:cNvPr id="31" name="TextBox 31"/>
            <p:cNvSpPr txBox="1"/>
            <p:nvPr/>
          </p:nvSpPr>
          <p:spPr>
            <a:xfrm>
              <a:off x="7078980" y="2546350"/>
              <a:ext cx="2989669" cy="293370"/>
            </a:xfrm>
            <a:prstGeom prst="rect">
              <a:avLst/>
            </a:prstGeom>
            <a:noFill/>
            <a:ln>
              <a:noFill/>
            </a:ln>
          </p:spPr>
          <p:txBody>
            <a:bodyPr wrap="none" lIns="0" tIns="0" rIns="0" bIns="0" anchor="t" anchorCtr="0">
              <a:spAutoFit/>
            </a:bodyPr>
            <a:lstStyle/>
            <a:p>
              <a:pPr algn="l"/>
              <a:r>
                <a:rPr lang="ko-KR" sz="1500" b="1" dirty="0">
                  <a:solidFill>
                    <a:srgbClr val="111827"/>
                  </a:solidFill>
                  <a:latin typeface="+mn-lt"/>
                  <a:ea typeface="+mn-ea"/>
                  <a:cs typeface="+mn-cs"/>
                </a:rPr>
                <a:t>지반침하 원인 1위 · 하수관 손상</a:t>
              </a:r>
            </a:p>
          </p:txBody>
        </p:sp>
        <p:sp>
          <p:nvSpPr>
            <p:cNvPr id="32" name="TextBox 32"/>
            <p:cNvSpPr txBox="1"/>
            <p:nvPr/>
          </p:nvSpPr>
          <p:spPr>
            <a:xfrm>
              <a:off x="7080504" y="2819400"/>
              <a:ext cx="2524201"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전국 867건 중 394건 (2020~2024)</a:t>
              </a:r>
            </a:p>
          </p:txBody>
        </p:sp>
      </p:grpSp>
      <p:grpSp>
        <p:nvGrpSpPr>
          <p:cNvPr id="40" name="scope"/>
          <p:cNvGrpSpPr/>
          <p:nvPr/>
        </p:nvGrpSpPr>
        <p:grpSpPr>
          <a:xfrm>
            <a:off x="7079361" y="3238500"/>
            <a:ext cx="4579239" cy="1644396"/>
            <a:chOff x="7079361" y="3238500"/>
            <a:chExt cx="4579239" cy="1644396"/>
          </a:xfrm>
        </p:grpSpPr>
        <p:sp>
          <p:nvSpPr>
            <p:cNvPr id="34" name="Rectangle 34"/>
            <p:cNvSpPr/>
            <p:nvPr/>
          </p:nvSpPr>
          <p:spPr>
            <a:xfrm>
              <a:off x="7086600" y="3238500"/>
              <a:ext cx="4572000" cy="28575"/>
            </a:xfrm>
            <a:prstGeom prst="rect">
              <a:avLst/>
            </a:prstGeom>
            <a:solidFill>
              <a:srgbClr val="F5B700"/>
            </a:solidFill>
            <a:ln>
              <a:noFill/>
            </a:ln>
          </p:spPr>
        </p:sp>
        <p:sp>
          <p:nvSpPr>
            <p:cNvPr id="35" name="TextBox 35"/>
            <p:cNvSpPr txBox="1"/>
            <p:nvPr/>
          </p:nvSpPr>
          <p:spPr>
            <a:xfrm>
              <a:off x="7079361" y="3422650"/>
              <a:ext cx="4159927"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얕은 공동형 · 약 2m 이내 → GroundWatch 대상</a:t>
              </a:r>
            </a:p>
          </p:txBody>
        </p:sp>
        <p:sp>
          <p:nvSpPr>
            <p:cNvPr id="36" name="TextBox 36"/>
            <p:cNvSpPr txBox="1"/>
            <p:nvPr/>
          </p:nvSpPr>
          <p:spPr>
            <a:xfrm>
              <a:off x="7080504" y="3695700"/>
              <a:ext cx="3430524"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공동이 먼저 생겨 함몰 전에 GPR로 찾을 수 있음</a:t>
              </a:r>
            </a:p>
          </p:txBody>
        </p:sp>
        <p:sp>
          <p:nvSpPr>
            <p:cNvPr id="37" name="Rectangle 37"/>
            <p:cNvSpPr/>
            <p:nvPr/>
          </p:nvSpPr>
          <p:spPr>
            <a:xfrm>
              <a:off x="7086600" y="4191000"/>
              <a:ext cx="4572000" cy="28575"/>
            </a:xfrm>
            <a:prstGeom prst="rect">
              <a:avLst/>
            </a:prstGeom>
            <a:solidFill>
              <a:srgbClr val="C3CCD9"/>
            </a:solidFill>
            <a:ln>
              <a:noFill/>
            </a:ln>
          </p:spPr>
        </p:sp>
        <p:sp>
          <p:nvSpPr>
            <p:cNvPr id="38" name="TextBox 38"/>
            <p:cNvSpPr txBox="1"/>
            <p:nvPr/>
          </p:nvSpPr>
          <p:spPr>
            <a:xfrm>
              <a:off x="7079361" y="4375150"/>
              <a:ext cx="3683802" cy="278702"/>
            </a:xfrm>
            <a:prstGeom prst="rect">
              <a:avLst/>
            </a:prstGeom>
            <a:noFill/>
            <a:ln>
              <a:noFill/>
            </a:ln>
          </p:spPr>
          <p:txBody>
            <a:bodyPr wrap="none" lIns="0" tIns="0" rIns="0" bIns="0" anchor="t" anchorCtr="0">
              <a:spAutoFit/>
            </a:bodyPr>
            <a:lstStyle/>
            <a:p>
              <a:pPr algn="l"/>
              <a:r>
                <a:rPr lang="ko-KR" sz="1420" b="1" dirty="0">
                  <a:solidFill>
                    <a:srgbClr val="4B5563"/>
                  </a:solidFill>
                  <a:latin typeface="+mn-lt"/>
                  <a:ea typeface="+mn-ea"/>
                  <a:cs typeface="+mn-cs"/>
                </a:rPr>
                <a:t>심부 붕괴형 · 예: 명일동 16m → 대상 아님</a:t>
              </a:r>
            </a:p>
          </p:txBody>
        </p:sp>
        <p:sp>
          <p:nvSpPr>
            <p:cNvPr id="39" name="TextBox 39"/>
            <p:cNvSpPr txBox="1"/>
            <p:nvPr/>
          </p:nvSpPr>
          <p:spPr>
            <a:xfrm>
              <a:off x="7080504" y="4648200"/>
              <a:ext cx="3461156" cy="234696"/>
            </a:xfrm>
            <a:prstGeom prst="rect">
              <a:avLst/>
            </a:prstGeom>
            <a:noFill/>
            <a:ln>
              <a:noFill/>
            </a:ln>
          </p:spPr>
          <p:txBody>
            <a:bodyPr wrap="none" lIns="0" tIns="0" rIns="0" bIns="0" anchor="t" anchorCtr="0">
              <a:spAutoFit/>
            </a:bodyPr>
            <a:lstStyle/>
            <a:p>
              <a:pPr algn="l"/>
              <a:r>
                <a:rPr lang="ko-KR" sz="1200" dirty="0">
                  <a:solidFill>
                    <a:srgbClr val="374151"/>
                  </a:solidFill>
                  <a:latin typeface="+mn-lt"/>
                  <a:ea typeface="+mn-ea"/>
                  <a:cs typeface="+mn-cs"/>
                </a:rPr>
                <a:t>깊은 지층·터널 공사 영역은 공사장 계측이 맡음</a:t>
              </a:r>
            </a:p>
          </p:txBody>
        </p:sp>
      </p:grpSp>
      <p:grpSp>
        <p:nvGrpSpPr>
          <p:cNvPr id="43" name="conclusion"/>
          <p:cNvGrpSpPr/>
          <p:nvPr/>
        </p:nvGrpSpPr>
        <p:grpSpPr>
          <a:xfrm>
            <a:off x="533400" y="5715000"/>
            <a:ext cx="6376020" cy="419100"/>
            <a:chOff x="533400" y="5715000"/>
            <a:chExt cx="6376020" cy="419100"/>
          </a:xfrm>
        </p:grpSpPr>
        <p:sp>
          <p:nvSpPr>
            <p:cNvPr id="41" name="Rectangle 41"/>
            <p:cNvSpPr/>
            <p:nvPr/>
          </p:nvSpPr>
          <p:spPr>
            <a:xfrm>
              <a:off x="533400" y="5715000"/>
              <a:ext cx="38100" cy="419100"/>
            </a:xfrm>
            <a:prstGeom prst="rect">
              <a:avLst/>
            </a:prstGeom>
            <a:solidFill>
              <a:srgbClr val="F5B700"/>
            </a:solidFill>
            <a:ln>
              <a:noFill/>
            </a:ln>
          </p:spPr>
        </p:sp>
        <p:sp>
          <p:nvSpPr>
            <p:cNvPr id="42" name="TextBox 42"/>
            <p:cNvSpPr txBox="1"/>
            <p:nvPr/>
          </p:nvSpPr>
          <p:spPr>
            <a:xfrm>
              <a:off x="715899" y="5810250"/>
              <a:ext cx="6193521"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차량형 GPR이 보는 깊이(약 2m)에, 가장 흔한 원인이 있습니다.</a:t>
              </a:r>
            </a:p>
          </p:txBody>
        </p:sp>
      </p:grpSp>
      <p:grpSp>
        <p:nvGrpSpPr>
          <p:cNvPr id="45" name="source"/>
          <p:cNvGrpSpPr/>
          <p:nvPr/>
        </p:nvGrpSpPr>
        <p:grpSpPr>
          <a:xfrm>
            <a:off x="528638" y="6381750"/>
            <a:ext cx="8536305" cy="176212"/>
            <a:chOff x="528638" y="6381750"/>
            <a:chExt cx="8536305" cy="176212"/>
          </a:xfrm>
        </p:grpSpPr>
        <p:sp>
          <p:nvSpPr>
            <p:cNvPr id="44" name="TextBox 44"/>
            <p:cNvSpPr txBox="1"/>
            <p:nvPr/>
          </p:nvSpPr>
          <p:spPr>
            <a:xfrm>
              <a:off x="528638" y="6381750"/>
              <a:ext cx="8536305"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국토교통부 지반침하 원인 통계(2020~2024) · 국토교통부 명일동 사고조사(2025.12.3) · 서울시 차량형 GPR 탐사 깊이 약 2m · 단면도는 원리 설명용</a:t>
              </a:r>
            </a:p>
          </p:txBody>
        </p:sp>
      </p:grpSp>
      <p:grpSp>
        <p:nvGrpSpPr>
          <p:cNvPr id="48" name="footer"/>
          <p:cNvGrpSpPr/>
          <p:nvPr/>
        </p:nvGrpSpPr>
        <p:grpSpPr>
          <a:xfrm>
            <a:off x="528638" y="6610350"/>
            <a:ext cx="11134724" cy="176212"/>
            <a:chOff x="528638" y="6610350"/>
            <a:chExt cx="11134724" cy="176212"/>
          </a:xfrm>
        </p:grpSpPr>
        <p:sp>
          <p:nvSpPr>
            <p:cNvPr id="46" name="TextBox 46"/>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47" name="TextBox 4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04 / 12</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369662"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GroundWatch의 핵심</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8966816" cy="586740"/>
            <a:chOff x="518160" y="774700"/>
            <a:chExt cx="8966816" cy="586740"/>
          </a:xfrm>
        </p:grpSpPr>
        <p:sp>
          <p:nvSpPr>
            <p:cNvPr id="17" name="TextBox 17"/>
            <p:cNvSpPr txBox="1"/>
            <p:nvPr/>
          </p:nvSpPr>
          <p:spPr>
            <a:xfrm>
              <a:off x="518160" y="774700"/>
              <a:ext cx="8966816"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같은 길을 반복해서 찍고, 달라진 곳만 다시 봅니다</a:t>
              </a:r>
            </a:p>
          </p:txBody>
        </p:sp>
      </p:grpSp>
      <p:grpSp>
        <p:nvGrpSpPr>
          <p:cNvPr id="29" name="compare"/>
          <p:cNvGrpSpPr/>
          <p:nvPr/>
        </p:nvGrpSpPr>
        <p:grpSpPr>
          <a:xfrm>
            <a:off x="533400" y="1581150"/>
            <a:ext cx="6477000" cy="3695700"/>
            <a:chOff x="533400" y="1581150"/>
            <a:chExt cx="6477000" cy="3695700"/>
          </a:xfrm>
        </p:grpSpPr>
        <p:sp>
          <p:nvSpPr>
            <p:cNvPr id="19" name="Rectangle 19"/>
            <p:cNvSpPr/>
            <p:nvPr/>
          </p:nvSpPr>
          <p:spPr>
            <a:xfrm>
              <a:off x="533400" y="1581150"/>
              <a:ext cx="6477000" cy="3695700"/>
            </a:xfrm>
            <a:prstGeom prst="rect">
              <a:avLst/>
            </a:prstGeom>
            <a:solidFill>
              <a:srgbClr val="2A2E33"/>
            </a:solidFill>
            <a:ln>
              <a:noFill/>
            </a:ln>
          </p:spPr>
        </p:sp>
        <p:pic>
          <p:nvPicPr>
            <p:cNvPr id="20" name="Image 20"/>
            <p:cNvPicPr>
              <a:picLocks noChangeAspect="1"/>
            </p:cNvPicPr>
            <p:nvPr/>
          </p:nvPicPr>
          <p:blipFill>
            <a:blip r:embed="rId2"/>
            <a:srcRect l="0" t="2042" r="0" b="2042"/>
            <a:stretch>
              <a:fillRect/>
            </a:stretch>
          </p:blipFill>
          <p:spPr>
            <a:xfrm>
              <a:off x="533400" y="1581150"/>
              <a:ext cx="6477000" cy="1828800"/>
            </a:xfrm>
            <a:prstGeom prst="rect">
              <a:avLst/>
            </a:prstGeom>
          </p:spPr>
        </p:pic>
        <p:pic>
          <p:nvPicPr>
            <p:cNvPr id="21" name="Image 21"/>
            <p:cNvPicPr>
              <a:picLocks noChangeAspect="1"/>
            </p:cNvPicPr>
            <p:nvPr/>
          </p:nvPicPr>
          <p:blipFill>
            <a:blip r:embed="rId3"/>
            <a:srcRect l="0" t="2042" r="0" b="2042"/>
            <a:stretch>
              <a:fillRect/>
            </a:stretch>
          </p:blipFill>
          <p:spPr>
            <a:xfrm>
              <a:off x="533400" y="3448050"/>
              <a:ext cx="6477000" cy="1828800"/>
            </a:xfrm>
            <a:prstGeom prst="rect">
              <a:avLst/>
            </a:prstGeom>
          </p:spPr>
        </p:pic>
        <p:sp>
          <p:nvSpPr>
            <p:cNvPr id="22" name="Rectangle 22"/>
            <p:cNvSpPr/>
            <p:nvPr/>
          </p:nvSpPr>
          <p:spPr>
            <a:xfrm>
              <a:off x="647700" y="1695450"/>
              <a:ext cx="914400" cy="266700"/>
            </a:xfrm>
            <a:prstGeom prst="roundRect">
              <a:avLst>
                <a:gd name="adj" fmla="val 10714"/>
              </a:avLst>
            </a:prstGeom>
            <a:solidFill>
              <a:srgbClr val="0B1E3C">
                <a:alpha val="90000"/>
              </a:srgbClr>
            </a:solidFill>
            <a:ln>
              <a:noFill/>
            </a:ln>
          </p:spPr>
        </p:sp>
        <p:sp>
          <p:nvSpPr>
            <p:cNvPr id="23" name="TextBox 23"/>
            <p:cNvSpPr txBox="1"/>
            <p:nvPr/>
          </p:nvSpPr>
          <p:spPr>
            <a:xfrm>
              <a:off x="750273" y="1733550"/>
              <a:ext cx="709254" cy="234696"/>
            </a:xfrm>
            <a:prstGeom prst="rect">
              <a:avLst/>
            </a:prstGeom>
            <a:noFill/>
            <a:ln>
              <a:noFill/>
            </a:ln>
          </p:spPr>
          <p:txBody>
            <a:bodyPr wrap="none" lIns="0" tIns="0" rIns="0" bIns="0" anchor="t" anchorCtr="0">
              <a:spAutoFit/>
            </a:bodyPr>
            <a:lstStyle/>
            <a:p>
              <a:pPr algn="ctr"/>
              <a:r>
                <a:rPr lang="ko-KR" sz="1200" b="1" dirty="0">
                  <a:solidFill>
                    <a:srgbClr val="FFFFFF"/>
                  </a:solidFill>
                  <a:latin typeface="+mn-lt"/>
                  <a:ea typeface="+mn-ea"/>
                  <a:cs typeface="+mn-cs"/>
                </a:rPr>
                <a:t>지난 회차</a:t>
              </a:r>
            </a:p>
          </p:txBody>
        </p:sp>
        <p:sp>
          <p:nvSpPr>
            <p:cNvPr id="24" name="Rectangle 24"/>
            <p:cNvSpPr/>
            <p:nvPr/>
          </p:nvSpPr>
          <p:spPr>
            <a:xfrm>
              <a:off x="647700" y="3562350"/>
              <a:ext cx="914400" cy="266700"/>
            </a:xfrm>
            <a:prstGeom prst="roundRect">
              <a:avLst>
                <a:gd name="adj" fmla="val 10714"/>
              </a:avLst>
            </a:prstGeom>
            <a:solidFill>
              <a:srgbClr val="0B1E3C">
                <a:alpha val="90000"/>
              </a:srgbClr>
            </a:solidFill>
            <a:ln>
              <a:noFill/>
            </a:ln>
          </p:spPr>
        </p:sp>
        <p:sp>
          <p:nvSpPr>
            <p:cNvPr id="25" name="TextBox 25"/>
            <p:cNvSpPr txBox="1"/>
            <p:nvPr/>
          </p:nvSpPr>
          <p:spPr>
            <a:xfrm>
              <a:off x="750273" y="3600450"/>
              <a:ext cx="709254" cy="234696"/>
            </a:xfrm>
            <a:prstGeom prst="rect">
              <a:avLst/>
            </a:prstGeom>
            <a:noFill/>
            <a:ln>
              <a:noFill/>
            </a:ln>
          </p:spPr>
          <p:txBody>
            <a:bodyPr wrap="none" lIns="0" tIns="0" rIns="0" bIns="0" anchor="t" anchorCtr="0">
              <a:spAutoFit/>
            </a:bodyPr>
            <a:lstStyle/>
            <a:p>
              <a:pPr algn="ctr"/>
              <a:r>
                <a:rPr lang="ko-KR" sz="1200" b="1" dirty="0">
                  <a:solidFill>
                    <a:srgbClr val="FFFFFF"/>
                  </a:solidFill>
                  <a:latin typeface="+mn-lt"/>
                  <a:ea typeface="+mn-ea"/>
                  <a:cs typeface="+mn-cs"/>
                </a:rPr>
                <a:t>이번 회차</a:t>
              </a:r>
            </a:p>
          </p:txBody>
        </p:sp>
        <p:sp>
          <p:nvSpPr>
            <p:cNvPr id="26" name="Rectangle 26"/>
            <p:cNvSpPr/>
            <p:nvPr/>
          </p:nvSpPr>
          <p:spPr>
            <a:xfrm>
              <a:off x="3905250" y="3810000"/>
              <a:ext cx="2857500" cy="1333500"/>
            </a:xfrm>
            <a:prstGeom prst="rect">
              <a:avLst/>
            </a:prstGeom>
            <a:noFill/>
            <a:ln w="38100">
              <a:solidFill>
                <a:srgbClr val="F5B700"/>
              </a:solidFill>
            </a:ln>
          </p:spPr>
        </p:sp>
        <p:sp>
          <p:nvSpPr>
            <p:cNvPr id="27" name="Rectangle 27"/>
            <p:cNvSpPr/>
            <p:nvPr/>
          </p:nvSpPr>
          <p:spPr>
            <a:xfrm>
              <a:off x="3905250" y="3524250"/>
              <a:ext cx="1428750" cy="266700"/>
            </a:xfrm>
            <a:prstGeom prst="rect">
              <a:avLst/>
            </a:prstGeom>
            <a:solidFill>
              <a:srgbClr val="F5B700"/>
            </a:solidFill>
            <a:ln>
              <a:noFill/>
            </a:ln>
          </p:spPr>
        </p:sp>
        <p:sp>
          <p:nvSpPr>
            <p:cNvPr id="28" name="TextBox 28"/>
            <p:cNvSpPr txBox="1"/>
            <p:nvPr/>
          </p:nvSpPr>
          <p:spPr>
            <a:xfrm>
              <a:off x="4078011" y="3562350"/>
              <a:ext cx="1083229"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새로 커진 신호</a:t>
              </a:r>
            </a:p>
          </p:txBody>
        </p:sp>
      </p:grpSp>
      <p:grpSp>
        <p:nvGrpSpPr>
          <p:cNvPr id="45" name="steps"/>
          <p:cNvGrpSpPr/>
          <p:nvPr/>
        </p:nvGrpSpPr>
        <p:grpSpPr>
          <a:xfrm>
            <a:off x="7461123" y="1663700"/>
            <a:ext cx="4197477" cy="3482467"/>
            <a:chOff x="7461123" y="1663700"/>
            <a:chExt cx="4197477" cy="3482467"/>
          </a:xfrm>
        </p:grpSpPr>
        <p:sp>
          <p:nvSpPr>
            <p:cNvPr id="30" name="TextBox 30"/>
            <p:cNvSpPr txBox="1"/>
            <p:nvPr/>
          </p:nvSpPr>
          <p:spPr>
            <a:xfrm>
              <a:off x="7461885" y="17272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31" name="TextBox 31"/>
            <p:cNvSpPr txBox="1"/>
            <p:nvPr/>
          </p:nvSpPr>
          <p:spPr>
            <a:xfrm>
              <a:off x="7687818" y="1663700"/>
              <a:ext cx="975225"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반복 측정</a:t>
              </a:r>
            </a:p>
          </p:txBody>
        </p:sp>
        <p:sp>
          <p:nvSpPr>
            <p:cNvPr id="32" name="TextBox 32"/>
            <p:cNvSpPr txBox="1"/>
            <p:nvPr/>
          </p:nvSpPr>
          <p:spPr>
            <a:xfrm>
              <a:off x="7689723" y="1981200"/>
              <a:ext cx="2587904"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PV5가 새벽마다 같은 경로를 주행</a:t>
              </a:r>
            </a:p>
          </p:txBody>
        </p:sp>
        <p:sp>
          <p:nvSpPr>
            <p:cNvPr id="33" name="Line 33"/>
            <p:cNvSpPr/>
            <p:nvPr/>
          </p:nvSpPr>
          <p:spPr>
            <a:xfrm>
              <a:off x="7467600" y="24003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4" name="TextBox 34"/>
            <p:cNvSpPr txBox="1"/>
            <p:nvPr/>
          </p:nvSpPr>
          <p:spPr>
            <a:xfrm>
              <a:off x="7461885" y="26416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5" name="TextBox 35"/>
            <p:cNvSpPr txBox="1"/>
            <p:nvPr/>
          </p:nvSpPr>
          <p:spPr>
            <a:xfrm>
              <a:off x="7687818" y="2578100"/>
              <a:ext cx="1197348"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변화만 선별</a:t>
              </a:r>
            </a:p>
          </p:txBody>
        </p:sp>
        <p:sp>
          <p:nvSpPr>
            <p:cNvPr id="36" name="TextBox 36"/>
            <p:cNvSpPr txBox="1"/>
            <p:nvPr/>
          </p:nvSpPr>
          <p:spPr>
            <a:xfrm>
              <a:off x="7689723" y="2895600"/>
              <a:ext cx="2838572"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AI가 지난 회차와 달라진 곳을 고르고</a:t>
              </a:r>
            </a:p>
          </p:txBody>
        </p:sp>
        <p:sp>
          <p:nvSpPr>
            <p:cNvPr id="37" name="TextBox 37"/>
            <p:cNvSpPr txBox="1"/>
            <p:nvPr/>
          </p:nvSpPr>
          <p:spPr>
            <a:xfrm>
              <a:off x="7689723" y="3124200"/>
              <a:ext cx="2235799"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전문가가 원시 데이터로 승인</a:t>
              </a:r>
            </a:p>
          </p:txBody>
        </p:sp>
        <p:sp>
          <p:nvSpPr>
            <p:cNvPr id="38" name="Line 38"/>
            <p:cNvSpPr/>
            <p:nvPr/>
          </p:nvSpPr>
          <p:spPr>
            <a:xfrm>
              <a:off x="7467600" y="35433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39" name="TextBox 39"/>
            <p:cNvSpPr txBox="1"/>
            <p:nvPr/>
          </p:nvSpPr>
          <p:spPr>
            <a:xfrm>
              <a:off x="7461885" y="378460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40" name="TextBox 40"/>
            <p:cNvSpPr txBox="1"/>
            <p:nvPr/>
          </p:nvSpPr>
          <p:spPr>
            <a:xfrm>
              <a:off x="7687818" y="3721100"/>
              <a:ext cx="1197348" cy="322707"/>
            </a:xfrm>
            <a:prstGeom prst="rect">
              <a:avLst/>
            </a:prstGeom>
            <a:noFill/>
            <a:ln>
              <a:noFill/>
            </a:ln>
          </p:spPr>
          <p:txBody>
            <a:bodyPr wrap="none" lIns="0" tIns="0" rIns="0" bIns="0" anchor="t" anchorCtr="0">
              <a:spAutoFit/>
            </a:bodyPr>
            <a:lstStyle/>
            <a:p>
              <a:pPr algn="l"/>
              <a:r>
                <a:rPr lang="ko-KR" sz="1650" b="1" dirty="0">
                  <a:solidFill>
                    <a:srgbClr val="0B1E3C"/>
                  </a:solidFill>
                  <a:latin typeface="+mn-lt"/>
                  <a:ea typeface="+mn-ea"/>
                  <a:cs typeface="+mn-cs"/>
                </a:rPr>
                <a:t>현장 재확인</a:t>
              </a:r>
            </a:p>
          </p:txBody>
        </p:sp>
        <p:sp>
          <p:nvSpPr>
            <p:cNvPr id="41" name="TextBox 41"/>
            <p:cNvSpPr txBox="1"/>
            <p:nvPr/>
          </p:nvSpPr>
          <p:spPr>
            <a:xfrm>
              <a:off x="7689723" y="4038600"/>
              <a:ext cx="2642525"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승인된 곳만 수동 GPR로 다시 보고</a:t>
              </a:r>
            </a:p>
          </p:txBody>
        </p:sp>
        <p:sp>
          <p:nvSpPr>
            <p:cNvPr id="42" name="TextBox 42"/>
            <p:cNvSpPr txBox="1"/>
            <p:nvPr/>
          </p:nvSpPr>
          <p:spPr>
            <a:xfrm>
              <a:off x="7689723" y="4267200"/>
              <a:ext cx="2451191" cy="250317"/>
            </a:xfrm>
            <a:prstGeom prst="rect">
              <a:avLst/>
            </a:prstGeom>
            <a:noFill/>
            <a:ln>
              <a:noFill/>
            </a:ln>
          </p:spPr>
          <p:txBody>
            <a:bodyPr wrap="none" lIns="0" tIns="0" rIns="0" bIns="0" anchor="t" anchorCtr="0">
              <a:spAutoFit/>
            </a:bodyPr>
            <a:lstStyle/>
            <a:p>
              <a:pPr algn="l"/>
              <a:r>
                <a:rPr lang="ko-KR" sz="1280" dirty="0">
                  <a:solidFill>
                    <a:srgbClr val="374151"/>
                  </a:solidFill>
                  <a:latin typeface="+mn-lt"/>
                  <a:ea typeface="+mn-ea"/>
                  <a:cs typeface="+mn-cs"/>
                </a:rPr>
                <a:t>필요하면 천공·내시경으로 확정</a:t>
              </a:r>
            </a:p>
          </p:txBody>
        </p:sp>
        <p:sp>
          <p:nvSpPr>
            <p:cNvPr id="43" name="Line 43"/>
            <p:cNvSpPr/>
            <p:nvPr/>
          </p:nvSpPr>
          <p:spPr>
            <a:xfrm>
              <a:off x="7467600" y="4686300"/>
              <a:ext cx="4191000" cy="9525"/>
            </a:xfrm>
            <a:custGeom>
              <a:avLst/>
              <a:gdLst/>
              <a:ahLst/>
              <a:cxnLst/>
              <a:rect l="l" t="t" r="r" b="b"/>
              <a:pathLst>
                <a:path w="4191000" h="9525">
                  <a:moveTo>
                    <a:pt x="0" y="0"/>
                  </a:moveTo>
                  <a:lnTo>
                    <a:pt x="4191000" y="0"/>
                  </a:lnTo>
                </a:path>
              </a:pathLst>
            </a:custGeom>
            <a:noFill/>
            <a:ln w="9525">
              <a:solidFill>
                <a:srgbClr val="E2E6EC"/>
              </a:solidFill>
            </a:ln>
          </p:spPr>
        </p:sp>
        <p:sp>
          <p:nvSpPr>
            <p:cNvPr id="44" name="TextBox 44"/>
            <p:cNvSpPr txBox="1"/>
            <p:nvPr/>
          </p:nvSpPr>
          <p:spPr>
            <a:xfrm>
              <a:off x="7461123" y="4895850"/>
              <a:ext cx="3295528"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결과는 다음 순찰 경로에 다시 반영됩니다.</a:t>
              </a:r>
            </a:p>
          </p:txBody>
        </p:sp>
      </p:grpSp>
      <p:grpSp>
        <p:nvGrpSpPr>
          <p:cNvPr id="48" name="conclusion"/>
          <p:cNvGrpSpPr/>
          <p:nvPr/>
        </p:nvGrpSpPr>
        <p:grpSpPr>
          <a:xfrm>
            <a:off x="533400" y="5619750"/>
            <a:ext cx="6844942" cy="419100"/>
            <a:chOff x="533400" y="5619750"/>
            <a:chExt cx="6844942" cy="419100"/>
          </a:xfrm>
        </p:grpSpPr>
        <p:sp>
          <p:nvSpPr>
            <p:cNvPr id="46" name="Rectangle 46"/>
            <p:cNvSpPr/>
            <p:nvPr/>
          </p:nvSpPr>
          <p:spPr>
            <a:xfrm>
              <a:off x="533400" y="5619750"/>
              <a:ext cx="38100" cy="419100"/>
            </a:xfrm>
            <a:prstGeom prst="rect">
              <a:avLst/>
            </a:prstGeom>
            <a:solidFill>
              <a:srgbClr val="F5B700"/>
            </a:solidFill>
            <a:ln>
              <a:noFill/>
            </a:ln>
          </p:spPr>
        </p:sp>
        <p:sp>
          <p:nvSpPr>
            <p:cNvPr id="47" name="TextBox 47"/>
            <p:cNvSpPr txBox="1"/>
            <p:nvPr/>
          </p:nvSpPr>
          <p:spPr>
            <a:xfrm>
              <a:off x="715899" y="5715000"/>
              <a:ext cx="666244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AI는 볼 순서를 정할 뿐, 판정은 전문가가 하고 확정은 천공이 합니다.</a:t>
              </a:r>
            </a:p>
          </p:txBody>
        </p:sp>
      </p:grpSp>
      <p:grpSp>
        <p:nvGrpSpPr>
          <p:cNvPr id="50" name="source"/>
          <p:cNvGrpSpPr/>
          <p:nvPr/>
        </p:nvGrpSpPr>
        <p:grpSpPr>
          <a:xfrm>
            <a:off x="528638" y="6381750"/>
            <a:ext cx="2201365" cy="176212"/>
            <a:chOff x="528638" y="6381750"/>
            <a:chExt cx="2201365" cy="176212"/>
          </a:xfrm>
        </p:grpSpPr>
        <p:sp>
          <p:nvSpPr>
            <p:cNvPr id="49" name="TextBox 49"/>
            <p:cNvSpPr txBox="1"/>
            <p:nvPr/>
          </p:nvSpPr>
          <p:spPr>
            <a:xfrm>
              <a:off x="528638" y="6381750"/>
              <a:ext cx="2201365"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B-scan 비교 화면은 설명용 예시입니다.</a:t>
              </a:r>
            </a:p>
          </p:txBody>
        </p:sp>
      </p:grpSp>
      <p:grpSp>
        <p:nvGrpSpPr>
          <p:cNvPr id="53" name="footer"/>
          <p:cNvGrpSpPr/>
          <p:nvPr/>
        </p:nvGrpSpPr>
        <p:grpSpPr>
          <a:xfrm>
            <a:off x="528638" y="6610350"/>
            <a:ext cx="11134724" cy="176212"/>
            <a:chOff x="528638" y="6610350"/>
            <a:chExt cx="11134724" cy="176212"/>
          </a:xfrm>
        </p:grpSpPr>
        <p:sp>
          <p:nvSpPr>
            <p:cNvPr id="51" name="TextBox 51"/>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52" name="TextBox 52"/>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05 / 12</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현장 재확인</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해법</a:t>
              </a:r>
            </a:p>
          </p:txBody>
        </p:sp>
        <p:sp>
          <p:nvSpPr>
            <p:cNvPr id="8" name="Rectangle 8"/>
            <p:cNvSpPr/>
            <p:nvPr/>
          </p:nvSpPr>
          <p:spPr>
            <a:xfrm>
              <a:off x="8972550" y="514350"/>
              <a:ext cx="457200" cy="28575"/>
            </a:xfrm>
            <a:prstGeom prst="rect">
              <a:avLst/>
            </a:prstGeom>
            <a:solidFill>
              <a:srgbClr val="F5B700"/>
            </a:solidFill>
            <a:ln>
              <a:noFill/>
            </a:ln>
          </p:spPr>
        </p:sp>
        <p:sp>
          <p:nvSpPr>
            <p:cNvPr id="9" name="TextBox 9"/>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0" name="TextBox 10"/>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800100"/>
            <a:ext cx="9140484" cy="557403"/>
            <a:chOff x="518922" y="800100"/>
            <a:chExt cx="9140484" cy="557403"/>
          </a:xfrm>
        </p:grpSpPr>
        <p:sp>
          <p:nvSpPr>
            <p:cNvPr id="17" name="TextBox 17"/>
            <p:cNvSpPr txBox="1"/>
            <p:nvPr/>
          </p:nvSpPr>
          <p:spPr>
            <a:xfrm>
              <a:off x="518922" y="800100"/>
              <a:ext cx="9140484"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차가 찾은 지점을, 작업자가 현장에서 바로 확인합니다</a:t>
              </a:r>
            </a:p>
          </p:txBody>
        </p:sp>
      </p:grpSp>
      <p:grpSp>
        <p:nvGrpSpPr>
          <p:cNvPr id="40" name="system-chain"/>
          <p:cNvGrpSpPr/>
          <p:nvPr/>
        </p:nvGrpSpPr>
        <p:grpSpPr>
          <a:xfrm>
            <a:off x="533400" y="1428750"/>
            <a:ext cx="11125200" cy="552450"/>
            <a:chOff x="533400" y="1428750"/>
            <a:chExt cx="11125200" cy="552450"/>
          </a:xfrm>
        </p:grpSpPr>
        <p:grpSp>
          <p:nvGrpSpPr>
            <p:cNvPr id="34" name="Group 34"/>
            <p:cNvGrpSpPr/>
            <p:nvPr/>
          </p:nvGrpSpPr>
          <p:grpSpPr>
            <a:xfrm>
              <a:off x="533400" y="1428750"/>
              <a:ext cx="11125200" cy="552450"/>
              <a:chOff x="533400" y="1428750"/>
              <a:chExt cx="11125200" cy="552450"/>
            </a:xfrm>
          </p:grpSpPr>
          <p:sp>
            <p:nvSpPr>
              <p:cNvPr id="19" name="Rectangle 19"/>
              <p:cNvSpPr/>
              <p:nvPr/>
            </p:nvSpPr>
            <p:spPr>
              <a:xfrm>
                <a:off x="533400" y="1428750"/>
                <a:ext cx="1905000" cy="552450"/>
              </a:xfrm>
              <a:prstGeom prst="roundRect">
                <a:avLst>
                  <a:gd name="adj" fmla="val 13793"/>
                </a:avLst>
              </a:prstGeom>
              <a:solidFill>
                <a:srgbClr val="0B1E3C"/>
              </a:solidFill>
              <a:ln>
                <a:noFill/>
              </a:ln>
            </p:spPr>
          </p:sp>
          <p:sp>
            <p:nvSpPr>
              <p:cNvPr id="20" name="TextBox 20"/>
              <p:cNvSpPr txBox="1"/>
              <p:nvPr/>
            </p:nvSpPr>
            <p:spPr>
              <a:xfrm>
                <a:off x="704122" y="1504950"/>
                <a:ext cx="1563556"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mn-lt"/>
                    <a:ea typeface="+mn-ea"/>
                    <a:cs typeface="+mn-cs"/>
                  </a:rPr>
                  <a:t>GroundWatch Cloud</a:t>
                </a:r>
              </a:p>
            </p:txBody>
          </p:sp>
          <p:sp>
            <p:nvSpPr>
              <p:cNvPr id="21" name="TextBox 21"/>
              <p:cNvSpPr txBox="1"/>
              <p:nvPr/>
            </p:nvSpPr>
            <p:spPr>
              <a:xfrm>
                <a:off x="698935" y="1739900"/>
                <a:ext cx="1573930" cy="205359"/>
              </a:xfrm>
              <a:prstGeom prst="rect">
                <a:avLst/>
              </a:prstGeom>
              <a:noFill/>
              <a:ln>
                <a:noFill/>
              </a:ln>
            </p:spPr>
            <p:txBody>
              <a:bodyPr wrap="none" lIns="0" tIns="0" rIns="0" bIns="0" anchor="t" anchorCtr="0">
                <a:spAutoFit/>
              </a:bodyPr>
              <a:lstStyle/>
              <a:p>
                <a:pPr algn="ctr"/>
                <a:r>
                  <a:rPr lang="ko-KR" sz="1050" dirty="0">
                    <a:solidFill>
                      <a:srgbClr val="D6DDE8"/>
                    </a:solidFill>
                    <a:latin typeface="+mn-lt"/>
                    <a:ea typeface="+mn-ea"/>
                    <a:cs typeface="+mn-cs"/>
                  </a:rPr>
                  <a:t>4D 지도 · AI 분석 · 경로</a:t>
                </a:r>
              </a:p>
            </p:txBody>
          </p:sp>
          <p:sp>
            <p:nvSpPr>
              <p:cNvPr id="22" name="Rectangle 22"/>
              <p:cNvSpPr/>
              <p:nvPr/>
            </p:nvSpPr>
            <p:spPr>
              <a:xfrm>
                <a:off x="2838450" y="1428750"/>
                <a:ext cx="1905000" cy="552450"/>
              </a:xfrm>
              <a:prstGeom prst="roundRect">
                <a:avLst>
                  <a:gd name="adj" fmla="val 13793"/>
                </a:avLst>
              </a:prstGeom>
              <a:solidFill>
                <a:srgbClr val="0B1E3C"/>
              </a:solidFill>
              <a:ln>
                <a:noFill/>
              </a:ln>
            </p:spPr>
          </p:sp>
          <p:sp>
            <p:nvSpPr>
              <p:cNvPr id="23" name="TextBox 23"/>
              <p:cNvSpPr txBox="1"/>
              <p:nvPr/>
            </p:nvSpPr>
            <p:spPr>
              <a:xfrm>
                <a:off x="3230299" y="1504950"/>
                <a:ext cx="1121302" cy="234696"/>
              </a:xfrm>
              <a:prstGeom prst="rect">
                <a:avLst/>
              </a:prstGeom>
              <a:noFill/>
              <a:ln>
                <a:noFill/>
              </a:ln>
            </p:spPr>
            <p:txBody>
              <a:bodyPr wrap="none" lIns="0" tIns="0" rIns="0" bIns="0" anchor="t" anchorCtr="0">
                <a:spAutoFit/>
              </a:bodyPr>
              <a:lstStyle/>
              <a:p>
                <a:pPr algn="ctr"/>
                <a:r>
                  <a:rPr lang="ko-KR" sz="1200" b="1" dirty="0">
                    <a:solidFill>
                      <a:srgbClr val="FFFFFF"/>
                    </a:solidFill>
                    <a:latin typeface="+mn-lt"/>
                    <a:ea typeface="+mn-ea"/>
                    <a:cs typeface="+mn-cs"/>
                  </a:rPr>
                  <a:t>Patrol 차량 앱</a:t>
                </a:r>
              </a:p>
            </p:txBody>
          </p:sp>
          <p:sp>
            <p:nvSpPr>
              <p:cNvPr id="24" name="TextBox 24"/>
              <p:cNvSpPr txBox="1"/>
              <p:nvPr/>
            </p:nvSpPr>
            <p:spPr>
              <a:xfrm>
                <a:off x="3301489" y="1739900"/>
                <a:ext cx="978922" cy="205359"/>
              </a:xfrm>
              <a:prstGeom prst="rect">
                <a:avLst/>
              </a:prstGeom>
              <a:noFill/>
              <a:ln>
                <a:noFill/>
              </a:ln>
            </p:spPr>
            <p:txBody>
              <a:bodyPr wrap="none" lIns="0" tIns="0" rIns="0" bIns="0" anchor="t" anchorCtr="0">
                <a:spAutoFit/>
              </a:bodyPr>
              <a:lstStyle/>
              <a:p>
                <a:pPr algn="ctr"/>
                <a:r>
                  <a:rPr lang="ko-KR" sz="1050" dirty="0">
                    <a:solidFill>
                      <a:srgbClr val="D6DDE8"/>
                    </a:solidFill>
                    <a:latin typeface="+mn-lt"/>
                    <a:ea typeface="+mn-ea"/>
                    <a:cs typeface="+mn-cs"/>
                  </a:rPr>
                  <a:t>업무·경로 관리</a:t>
                </a:r>
              </a:p>
            </p:txBody>
          </p:sp>
          <p:sp>
            <p:nvSpPr>
              <p:cNvPr id="25" name="Rectangle 25"/>
              <p:cNvSpPr/>
              <p:nvPr/>
            </p:nvSpPr>
            <p:spPr>
              <a:xfrm>
                <a:off x="5143500" y="1428750"/>
                <a:ext cx="1905000" cy="552450"/>
              </a:xfrm>
              <a:prstGeom prst="roundRect">
                <a:avLst>
                  <a:gd name="adj" fmla="val 13793"/>
                </a:avLst>
              </a:prstGeom>
              <a:solidFill>
                <a:srgbClr val="0B1E3C"/>
              </a:solidFill>
              <a:ln>
                <a:noFill/>
              </a:ln>
            </p:spPr>
          </p:sp>
          <p:sp>
            <p:nvSpPr>
              <p:cNvPr id="26" name="TextBox 26"/>
              <p:cNvSpPr txBox="1"/>
              <p:nvPr/>
            </p:nvSpPr>
            <p:spPr>
              <a:xfrm>
                <a:off x="5528677" y="1504950"/>
                <a:ext cx="1134645"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mn-lt"/>
                    <a:ea typeface="+mn-ea"/>
                    <a:cs typeface="+mn-cs"/>
                  </a:rPr>
                  <a:t>Edge Gateway</a:t>
                </a:r>
              </a:p>
            </p:txBody>
          </p:sp>
          <p:sp>
            <p:nvSpPr>
              <p:cNvPr id="27" name="TextBox 27"/>
              <p:cNvSpPr txBox="1"/>
              <p:nvPr/>
            </p:nvSpPr>
            <p:spPr>
              <a:xfrm>
                <a:off x="5373310" y="1739900"/>
                <a:ext cx="1445381" cy="205359"/>
              </a:xfrm>
              <a:prstGeom prst="rect">
                <a:avLst/>
              </a:prstGeom>
              <a:noFill/>
              <a:ln>
                <a:noFill/>
              </a:ln>
            </p:spPr>
            <p:txBody>
              <a:bodyPr wrap="none" lIns="0" tIns="0" rIns="0" bIns="0" anchor="t" anchorCtr="0">
                <a:spAutoFit/>
              </a:bodyPr>
              <a:lstStyle/>
              <a:p>
                <a:pPr algn="ctr"/>
                <a:r>
                  <a:rPr lang="ko-KR" sz="1050" dirty="0">
                    <a:solidFill>
                      <a:srgbClr val="D6DDE8"/>
                    </a:solidFill>
                    <a:latin typeface="+mn-lt"/>
                    <a:ea typeface="+mn-ea"/>
                    <a:cs typeface="+mn-cs"/>
                  </a:rPr>
                  <a:t>센서 동기화·로컬 통신</a:t>
                </a:r>
              </a:p>
            </p:txBody>
          </p:sp>
          <p:sp>
            <p:nvSpPr>
              <p:cNvPr id="28" name="Rectangle 28"/>
              <p:cNvSpPr/>
              <p:nvPr/>
            </p:nvSpPr>
            <p:spPr>
              <a:xfrm>
                <a:off x="7448550" y="1428750"/>
                <a:ext cx="1905000" cy="552450"/>
              </a:xfrm>
              <a:prstGeom prst="roundRect">
                <a:avLst>
                  <a:gd name="adj" fmla="val 13793"/>
                </a:avLst>
              </a:prstGeom>
              <a:solidFill>
                <a:srgbClr val="FFFFFF"/>
              </a:solidFill>
              <a:ln w="19050">
                <a:solidFill>
                  <a:srgbClr val="0B1E3C"/>
                </a:solidFill>
              </a:ln>
            </p:spPr>
          </p:sp>
          <p:sp>
            <p:nvSpPr>
              <p:cNvPr id="29" name="TextBox 29"/>
              <p:cNvSpPr txBox="1"/>
              <p:nvPr/>
            </p:nvSpPr>
            <p:spPr>
              <a:xfrm>
                <a:off x="8027182" y="1504950"/>
                <a:ext cx="747735"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AR 글래스</a:t>
                </a:r>
              </a:p>
            </p:txBody>
          </p:sp>
          <p:sp>
            <p:nvSpPr>
              <p:cNvPr id="30" name="TextBox 30"/>
              <p:cNvSpPr txBox="1"/>
              <p:nvPr/>
            </p:nvSpPr>
            <p:spPr>
              <a:xfrm>
                <a:off x="7749035" y="1739900"/>
                <a:ext cx="1304030"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위치 정합·탐사 안내</a:t>
                </a:r>
              </a:p>
            </p:txBody>
          </p:sp>
          <p:sp>
            <p:nvSpPr>
              <p:cNvPr id="31" name="Rectangle 31"/>
              <p:cNvSpPr/>
              <p:nvPr/>
            </p:nvSpPr>
            <p:spPr>
              <a:xfrm>
                <a:off x="9753600" y="1428750"/>
                <a:ext cx="1905000" cy="552450"/>
              </a:xfrm>
              <a:prstGeom prst="roundRect">
                <a:avLst>
                  <a:gd name="adj" fmla="val 13793"/>
                </a:avLst>
              </a:prstGeom>
              <a:solidFill>
                <a:srgbClr val="FFFFFF"/>
              </a:solidFill>
              <a:ln w="19050">
                <a:solidFill>
                  <a:srgbClr val="0B1E3C"/>
                </a:solidFill>
              </a:ln>
            </p:spPr>
          </p:sp>
          <p:sp>
            <p:nvSpPr>
              <p:cNvPr id="32" name="TextBox 32"/>
              <p:cNvSpPr txBox="1"/>
              <p:nvPr/>
            </p:nvSpPr>
            <p:spPr>
              <a:xfrm>
                <a:off x="10363718" y="1504950"/>
                <a:ext cx="684764" cy="234696"/>
              </a:xfrm>
              <a:prstGeom prst="rect">
                <a:avLst/>
              </a:prstGeom>
              <a:noFill/>
              <a:ln>
                <a:noFill/>
              </a:ln>
            </p:spPr>
            <p:txBody>
              <a:bodyPr wrap="none" lIns="0" tIns="0" rIns="0" bIns="0" anchor="t" anchorCtr="0">
                <a:spAutoFit/>
              </a:bodyPr>
              <a:lstStyle/>
              <a:p>
                <a:pPr algn="ctr"/>
                <a:r>
                  <a:rPr lang="ko-KR" sz="1200" b="1" dirty="0">
                    <a:solidFill>
                      <a:srgbClr val="0B1E3C"/>
                    </a:solidFill>
                    <a:latin typeface="+mn-lt"/>
                    <a:ea typeface="+mn-ea"/>
                    <a:cs typeface="+mn-cs"/>
                  </a:rPr>
                  <a:t>수동 GPR</a:t>
                </a:r>
              </a:p>
            </p:txBody>
          </p:sp>
          <p:sp>
            <p:nvSpPr>
              <p:cNvPr id="33" name="TextBox 33"/>
              <p:cNvSpPr txBox="1"/>
              <p:nvPr/>
            </p:nvSpPr>
            <p:spPr>
              <a:xfrm>
                <a:off x="9842059" y="1739900"/>
                <a:ext cx="1728083" cy="205359"/>
              </a:xfrm>
              <a:prstGeom prst="rect">
                <a:avLst/>
              </a:prstGeom>
              <a:noFill/>
              <a:ln>
                <a:noFill/>
              </a:ln>
            </p:spPr>
            <p:txBody>
              <a:bodyPr wrap="none" lIns="0" tIns="0" rIns="0" bIns="0" anchor="t" anchorCtr="0">
                <a:spAutoFit/>
              </a:bodyPr>
              <a:lstStyle/>
              <a:p>
                <a:pPr algn="ctr"/>
                <a:r>
                  <a:rPr lang="ko-KR" sz="1050" dirty="0">
                    <a:solidFill>
                      <a:srgbClr val="374151"/>
                    </a:solidFill>
                    <a:latin typeface="+mn-lt"/>
                    <a:ea typeface="+mn-ea"/>
                    <a:cs typeface="+mn-cs"/>
                  </a:rPr>
                  <a:t>다른 주파수·방향 교차검증</a:t>
                </a:r>
              </a:p>
            </p:txBody>
          </p:sp>
        </p:grpSp>
        <p:grpSp>
          <p:nvGrpSpPr>
            <p:cNvPr id="39" name="Group 39"/>
            <p:cNvGrpSpPr/>
            <p:nvPr/>
          </p:nvGrpSpPr>
          <p:grpSpPr>
            <a:xfrm>
              <a:off x="2466975" y="1704975"/>
              <a:ext cx="7258050" cy="1"/>
              <a:chOff x="2466975" y="1704975"/>
              <a:chExt cx="7258050" cy="1"/>
            </a:xfrm>
          </p:grpSpPr>
          <p:sp>
            <p:nvSpPr>
              <p:cNvPr id="35" name="Line 35"/>
              <p:cNvSpPr/>
              <p:nvPr/>
            </p:nvSpPr>
            <p:spPr>
              <a:xfrm>
                <a:off x="2466975" y="1704975"/>
                <a:ext cx="342900" cy="1"/>
              </a:xfrm>
              <a:prstGeom prst="line">
                <a:avLst/>
              </a:prstGeom>
              <a:noFill/>
              <a:ln w="19050">
                <a:solidFill>
                  <a:srgbClr val="0B1E3C"/>
                </a:solidFill>
                <a:headEnd type="triangle" w="lg" len="lg"/>
                <a:tailEnd type="triangle" w="lg" len="lg"/>
              </a:ln>
            </p:spPr>
          </p:sp>
          <p:sp>
            <p:nvSpPr>
              <p:cNvPr id="36" name="Line 36"/>
              <p:cNvSpPr/>
              <p:nvPr/>
            </p:nvSpPr>
            <p:spPr>
              <a:xfrm>
                <a:off x="4772025" y="1704975"/>
                <a:ext cx="342900" cy="1"/>
              </a:xfrm>
              <a:prstGeom prst="line">
                <a:avLst/>
              </a:prstGeom>
              <a:noFill/>
              <a:ln w="19050">
                <a:solidFill>
                  <a:srgbClr val="0B1E3C"/>
                </a:solidFill>
                <a:headEnd type="triangle" w="lg" len="lg"/>
                <a:tailEnd type="triangle" w="lg" len="lg"/>
              </a:ln>
            </p:spPr>
          </p:sp>
          <p:sp>
            <p:nvSpPr>
              <p:cNvPr id="37" name="Line 37"/>
              <p:cNvSpPr/>
              <p:nvPr/>
            </p:nvSpPr>
            <p:spPr>
              <a:xfrm>
                <a:off x="7077075" y="1704975"/>
                <a:ext cx="342900" cy="1"/>
              </a:xfrm>
              <a:prstGeom prst="line">
                <a:avLst/>
              </a:prstGeom>
              <a:noFill/>
              <a:ln w="19050">
                <a:solidFill>
                  <a:srgbClr val="0B1E3C"/>
                </a:solidFill>
                <a:headEnd type="triangle" w="lg" len="lg"/>
                <a:tailEnd type="triangle" w="lg" len="lg"/>
              </a:ln>
            </p:spPr>
          </p:sp>
          <p:sp>
            <p:nvSpPr>
              <p:cNvPr id="38" name="Line 38"/>
              <p:cNvSpPr/>
              <p:nvPr/>
            </p:nvSpPr>
            <p:spPr>
              <a:xfrm>
                <a:off x="9382125" y="1704975"/>
                <a:ext cx="342900" cy="1"/>
              </a:xfrm>
              <a:prstGeom prst="line">
                <a:avLst/>
              </a:prstGeom>
              <a:noFill/>
              <a:ln w="19050">
                <a:solidFill>
                  <a:srgbClr val="0B1E3C"/>
                </a:solidFill>
                <a:headEnd type="triangle" w="lg" len="lg"/>
                <a:tailEnd type="triangle" w="lg" len="lg"/>
              </a:ln>
            </p:spPr>
          </p:sp>
        </p:grpSp>
      </p:grpSp>
      <p:grpSp>
        <p:nvGrpSpPr>
          <p:cNvPr id="46" name="cabin-panel"/>
          <p:cNvGrpSpPr/>
          <p:nvPr/>
        </p:nvGrpSpPr>
        <p:grpSpPr>
          <a:xfrm>
            <a:off x="526542" y="2381250"/>
            <a:ext cx="5302758" cy="3739896"/>
            <a:chOff x="526542" y="2381250"/>
            <a:chExt cx="5302758" cy="3739896"/>
          </a:xfrm>
        </p:grpSpPr>
        <p:pic>
          <p:nvPicPr>
            <p:cNvPr id="41" name="Image 41"/>
            <p:cNvPicPr>
              <a:picLocks noChangeAspect="1"/>
            </p:cNvPicPr>
            <p:nvPr/>
          </p:nvPicPr>
          <p:blipFill>
            <a:blip r:embed="rId2"/>
            <a:srcRect l="12" t="0" r="11" b="0"/>
            <a:stretch>
              <a:fillRect/>
            </a:stretch>
          </p:blipFill>
          <p:spPr>
            <a:xfrm>
              <a:off x="533400" y="2381250"/>
              <a:ext cx="5295900" cy="3143250"/>
            </a:xfrm>
            <a:prstGeom prst="rect">
              <a:avLst/>
            </a:prstGeom>
          </p:spPr>
        </p:pic>
        <p:sp>
          <p:nvSpPr>
            <p:cNvPr id="42" name="Rectangle 42"/>
            <p:cNvSpPr/>
            <p:nvPr/>
          </p:nvSpPr>
          <p:spPr>
            <a:xfrm>
              <a:off x="628650" y="2476500"/>
              <a:ext cx="1314450" cy="228600"/>
            </a:xfrm>
            <a:prstGeom prst="roundRect">
              <a:avLst>
                <a:gd name="adj" fmla="val 12500"/>
              </a:avLst>
            </a:prstGeom>
            <a:solidFill>
              <a:srgbClr val="0B1E3C"/>
            </a:solidFill>
            <a:ln>
              <a:noFill/>
            </a:ln>
          </p:spPr>
        </p:sp>
        <p:sp>
          <p:nvSpPr>
            <p:cNvPr id="43" name="TextBox 43"/>
            <p:cNvSpPr txBox="1"/>
            <p:nvPr/>
          </p:nvSpPr>
          <p:spPr>
            <a:xfrm>
              <a:off x="680651" y="2524125"/>
              <a:ext cx="1210447" cy="191643"/>
            </a:xfrm>
            <a:prstGeom prst="rect">
              <a:avLst/>
            </a:prstGeom>
            <a:noFill/>
            <a:ln>
              <a:noFill/>
            </a:ln>
          </p:spPr>
          <p:txBody>
            <a:bodyPr wrap="none" lIns="0" tIns="0" rIns="0" bIns="0" anchor="t" anchorCtr="0">
              <a:spAutoFit/>
            </a:bodyPr>
            <a:lstStyle/>
            <a:p>
              <a:pPr algn="ctr"/>
              <a:r>
                <a:rPr lang="ko-KR" sz="980" b="1" dirty="0">
                  <a:solidFill>
                    <a:srgbClr val="FFFFFF"/>
                  </a:solidFill>
                  <a:latin typeface="+mn-lt"/>
                  <a:ea typeface="+mn-ea"/>
                  <a:cs typeface="+mn-cs"/>
                </a:rPr>
                <a:t>[화면 예시] 운행 전</a:t>
              </a:r>
            </a:p>
          </p:txBody>
        </p:sp>
        <p:sp>
          <p:nvSpPr>
            <p:cNvPr id="44" name="TextBox 44"/>
            <p:cNvSpPr txBox="1"/>
            <p:nvPr/>
          </p:nvSpPr>
          <p:spPr>
            <a:xfrm>
              <a:off x="526542" y="5626100"/>
              <a:ext cx="2870330"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운전석 · GroundWatch Patrol 앱</a:t>
              </a:r>
            </a:p>
          </p:txBody>
        </p:sp>
        <p:sp>
          <p:nvSpPr>
            <p:cNvPr id="45" name="TextBox 45"/>
            <p:cNvSpPr txBox="1"/>
            <p:nvPr/>
          </p:nvSpPr>
          <p:spPr>
            <a:xfrm>
              <a:off x="527304" y="5886450"/>
              <a:ext cx="4543501"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순찰경로·재확인 지점·장비 상태, 도착 전 안전 정차 위치 안내</a:t>
              </a:r>
            </a:p>
          </p:txBody>
        </p:sp>
      </p:grpSp>
      <p:grpSp>
        <p:nvGrpSpPr>
          <p:cNvPr id="67" name="ar-panel"/>
          <p:cNvGrpSpPr/>
          <p:nvPr/>
        </p:nvGrpSpPr>
        <p:grpSpPr>
          <a:xfrm>
            <a:off x="6089142" y="2381250"/>
            <a:ext cx="5569458" cy="3739896"/>
            <a:chOff x="6089142" y="2381250"/>
            <a:chExt cx="5569458" cy="3739896"/>
          </a:xfrm>
        </p:grpSpPr>
        <p:pic>
          <p:nvPicPr>
            <p:cNvPr id="47" name="Image 47"/>
            <p:cNvPicPr>
              <a:picLocks noChangeAspect="1"/>
            </p:cNvPicPr>
            <p:nvPr/>
          </p:nvPicPr>
          <p:blipFill>
            <a:blip r:embed="rId3"/>
            <a:srcRect l="0" t="7620" r="0" b="7620"/>
            <a:stretch>
              <a:fillRect/>
            </a:stretch>
          </p:blipFill>
          <p:spPr>
            <a:xfrm>
              <a:off x="6096000" y="2381250"/>
              <a:ext cx="5562600" cy="3143250"/>
            </a:xfrm>
            <a:prstGeom prst="rect">
              <a:avLst/>
            </a:prstGeom>
          </p:spPr>
        </p:pic>
        <p:sp>
          <p:nvSpPr>
            <p:cNvPr id="48" name="Polygon 48"/>
            <p:cNvSpPr/>
            <p:nvPr/>
          </p:nvSpPr>
          <p:spPr>
            <a:xfrm>
              <a:off x="8096250" y="4171950"/>
              <a:ext cx="1895475" cy="666750"/>
            </a:xfrm>
            <a:custGeom>
              <a:avLst/>
              <a:gdLst/>
              <a:ahLst/>
              <a:cxnLst/>
              <a:rect l="l" t="t" r="r" b="b"/>
              <a:pathLst>
                <a:path w="1895475" h="666750">
                  <a:moveTo>
                    <a:pt x="561975" y="0"/>
                  </a:moveTo>
                  <a:lnTo>
                    <a:pt x="1333500" y="0"/>
                  </a:lnTo>
                  <a:lnTo>
                    <a:pt x="1895475" y="666750"/>
                  </a:lnTo>
                  <a:lnTo>
                    <a:pt x="0" y="666750"/>
                  </a:lnTo>
                  <a:close/>
                </a:path>
              </a:pathLst>
            </a:custGeom>
            <a:solidFill>
              <a:srgbClr val="F5B700">
                <a:alpha val="26000"/>
              </a:srgbClr>
            </a:solidFill>
            <a:ln w="23812">
              <a:solidFill>
                <a:srgbClr val="F5B700"/>
              </a:solidFill>
            </a:ln>
          </p:spPr>
        </p:sp>
        <p:grpSp>
          <p:nvGrpSpPr>
            <p:cNvPr id="52" name="Group 52"/>
            <p:cNvGrpSpPr/>
            <p:nvPr/>
          </p:nvGrpSpPr>
          <p:grpSpPr>
            <a:xfrm>
              <a:off x="8229600" y="4343400"/>
              <a:ext cx="1628775" cy="352425"/>
              <a:chOff x="8229600" y="4343400"/>
              <a:chExt cx="1628775" cy="352425"/>
            </a:xfrm>
          </p:grpSpPr>
          <p:sp>
            <p:nvSpPr>
              <p:cNvPr id="49" name="Line 49"/>
              <p:cNvSpPr/>
              <p:nvPr/>
            </p:nvSpPr>
            <p:spPr>
              <a:xfrm>
                <a:off x="8515350" y="4343400"/>
                <a:ext cx="1057275" cy="9525"/>
              </a:xfrm>
              <a:custGeom>
                <a:avLst/>
                <a:gdLst/>
                <a:ahLst/>
                <a:cxnLst/>
                <a:rect l="l" t="t" r="r" b="b"/>
                <a:pathLst>
                  <a:path w="1057275" h="9525">
                    <a:moveTo>
                      <a:pt x="0" y="0"/>
                    </a:moveTo>
                    <a:lnTo>
                      <a:pt x="1057275" y="0"/>
                    </a:lnTo>
                  </a:path>
                </a:pathLst>
              </a:custGeom>
              <a:noFill/>
              <a:ln w="14288">
                <a:solidFill>
                  <a:srgbClr val="F5B700"/>
                </a:solidFill>
                <a:custDash>
                  <a:ds d="400000" sp="266667"/>
                </a:custDash>
              </a:ln>
            </p:spPr>
          </p:sp>
          <p:sp>
            <p:nvSpPr>
              <p:cNvPr id="50" name="Line 50"/>
              <p:cNvSpPr/>
              <p:nvPr/>
            </p:nvSpPr>
            <p:spPr>
              <a:xfrm>
                <a:off x="8372475" y="4514850"/>
                <a:ext cx="1343025" cy="9525"/>
              </a:xfrm>
              <a:custGeom>
                <a:avLst/>
                <a:gdLst/>
                <a:ahLst/>
                <a:cxnLst/>
                <a:rect l="l" t="t" r="r" b="b"/>
                <a:pathLst>
                  <a:path w="1343025" h="9525">
                    <a:moveTo>
                      <a:pt x="0" y="0"/>
                    </a:moveTo>
                    <a:lnTo>
                      <a:pt x="1343025" y="0"/>
                    </a:lnTo>
                  </a:path>
                </a:pathLst>
              </a:custGeom>
              <a:noFill/>
              <a:ln w="14288">
                <a:solidFill>
                  <a:srgbClr val="F5B700"/>
                </a:solidFill>
                <a:custDash>
                  <a:ds d="400000" sp="266667"/>
                </a:custDash>
              </a:ln>
            </p:spPr>
          </p:sp>
          <p:sp>
            <p:nvSpPr>
              <p:cNvPr id="51" name="Line 51"/>
              <p:cNvSpPr/>
              <p:nvPr/>
            </p:nvSpPr>
            <p:spPr>
              <a:xfrm>
                <a:off x="8229600" y="4686300"/>
                <a:ext cx="1628775" cy="9525"/>
              </a:xfrm>
              <a:custGeom>
                <a:avLst/>
                <a:gdLst/>
                <a:ahLst/>
                <a:cxnLst/>
                <a:rect l="l" t="t" r="r" b="b"/>
                <a:pathLst>
                  <a:path w="1628775" h="9525">
                    <a:moveTo>
                      <a:pt x="0" y="0"/>
                    </a:moveTo>
                    <a:lnTo>
                      <a:pt x="1628775" y="0"/>
                    </a:lnTo>
                  </a:path>
                </a:pathLst>
              </a:custGeom>
              <a:noFill/>
              <a:ln w="14288">
                <a:solidFill>
                  <a:srgbClr val="F5B700"/>
                </a:solidFill>
                <a:custDash>
                  <a:ds d="400000" sp="266667"/>
                </a:custDash>
              </a:ln>
            </p:spPr>
          </p:sp>
        </p:grpSp>
        <p:sp>
          <p:nvSpPr>
            <p:cNvPr id="53" name="Ellipse 53"/>
            <p:cNvSpPr/>
            <p:nvPr/>
          </p:nvSpPr>
          <p:spPr>
            <a:xfrm>
              <a:off x="7943850" y="4933950"/>
              <a:ext cx="1866900" cy="628650"/>
            </a:xfrm>
            <a:prstGeom prst="ellipse">
              <a:avLst/>
            </a:prstGeom>
            <a:noFill/>
            <a:ln w="23812">
              <a:solidFill>
                <a:srgbClr val="FFFFFF"/>
              </a:solidFill>
            </a:ln>
          </p:spPr>
        </p:sp>
        <p:sp>
          <p:nvSpPr>
            <p:cNvPr id="54" name="Rectangle 54"/>
            <p:cNvSpPr/>
            <p:nvPr/>
          </p:nvSpPr>
          <p:spPr>
            <a:xfrm>
              <a:off x="9906000" y="5086350"/>
              <a:ext cx="1066800" cy="209550"/>
            </a:xfrm>
            <a:prstGeom prst="roundRect">
              <a:avLst>
                <a:gd name="adj" fmla="val 13636"/>
              </a:avLst>
            </a:prstGeom>
            <a:solidFill>
              <a:srgbClr val="0B1E3C">
                <a:alpha val="85000"/>
              </a:srgbClr>
            </a:solidFill>
            <a:ln>
              <a:noFill/>
            </a:ln>
          </p:spPr>
        </p:sp>
        <p:sp>
          <p:nvSpPr>
            <p:cNvPr id="55" name="TextBox 55"/>
            <p:cNvSpPr txBox="1"/>
            <p:nvPr/>
          </p:nvSpPr>
          <p:spPr>
            <a:xfrm>
              <a:off x="10004527" y="5124450"/>
              <a:ext cx="869747"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1 · 맨홀</a:t>
              </a:r>
            </a:p>
          </p:txBody>
        </p:sp>
        <p:sp>
          <p:nvSpPr>
            <p:cNvPr id="56" name="Ellipse 56"/>
            <p:cNvSpPr/>
            <p:nvPr/>
          </p:nvSpPr>
          <p:spPr>
            <a:xfrm>
              <a:off x="7267575" y="4705350"/>
              <a:ext cx="133350" cy="133350"/>
            </a:xfrm>
            <a:prstGeom prst="ellipse">
              <a:avLst/>
            </a:prstGeom>
            <a:noFill/>
            <a:ln w="23812">
              <a:solidFill>
                <a:srgbClr val="FFFFFF"/>
              </a:solidFill>
            </a:ln>
          </p:spPr>
        </p:sp>
        <p:sp>
          <p:nvSpPr>
            <p:cNvPr id="57" name="Rectangle 57"/>
            <p:cNvSpPr/>
            <p:nvPr/>
          </p:nvSpPr>
          <p:spPr>
            <a:xfrm>
              <a:off x="6286500" y="4362450"/>
              <a:ext cx="1181100" cy="209550"/>
            </a:xfrm>
            <a:prstGeom prst="roundRect">
              <a:avLst>
                <a:gd name="adj" fmla="val 13636"/>
              </a:avLst>
            </a:prstGeom>
            <a:solidFill>
              <a:srgbClr val="0B1E3C">
                <a:alpha val="85000"/>
              </a:srgbClr>
            </a:solidFill>
            <a:ln>
              <a:noFill/>
            </a:ln>
          </p:spPr>
        </p:sp>
        <p:sp>
          <p:nvSpPr>
            <p:cNvPr id="58" name="TextBox 58"/>
            <p:cNvSpPr txBox="1"/>
            <p:nvPr/>
          </p:nvSpPr>
          <p:spPr>
            <a:xfrm>
              <a:off x="6381598" y="4400550"/>
              <a:ext cx="99090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기준점 2 · 경계석</a:t>
              </a:r>
            </a:p>
          </p:txBody>
        </p:sp>
        <p:sp>
          <p:nvSpPr>
            <p:cNvPr id="59" name="Rectangle 59"/>
            <p:cNvSpPr/>
            <p:nvPr/>
          </p:nvSpPr>
          <p:spPr>
            <a:xfrm>
              <a:off x="6096000" y="2381250"/>
              <a:ext cx="5562600" cy="228600"/>
            </a:xfrm>
            <a:prstGeom prst="rect">
              <a:avLst/>
            </a:prstGeom>
            <a:solidFill>
              <a:srgbClr val="C62828">
                <a:alpha val="92000"/>
              </a:srgbClr>
            </a:solidFill>
            <a:ln>
              <a:noFill/>
            </a:ln>
          </p:spPr>
        </p:sp>
        <p:sp>
          <p:nvSpPr>
            <p:cNvPr id="60" name="TextBox 60"/>
            <p:cNvSpPr txBox="1"/>
            <p:nvPr/>
          </p:nvSpPr>
          <p:spPr>
            <a:xfrm>
              <a:off x="6762062" y="2428875"/>
              <a:ext cx="4230475" cy="176212"/>
            </a:xfrm>
            <a:prstGeom prst="rect">
              <a:avLst/>
            </a:prstGeom>
            <a:noFill/>
            <a:ln>
              <a:noFill/>
            </a:ln>
          </p:spPr>
          <p:txBody>
            <a:bodyPr wrap="none" lIns="0" tIns="0" rIns="0" bIns="0" anchor="t" anchorCtr="0">
              <a:spAutoFit/>
            </a:bodyPr>
            <a:lstStyle/>
            <a:p>
              <a:pPr algn="ctr"/>
              <a:r>
                <a:rPr lang="ko-KR" sz="900" b="1" dirty="0">
                  <a:solidFill>
                    <a:srgbClr val="FFFFFF"/>
                  </a:solidFill>
                  <a:latin typeface="+mn-lt"/>
                  <a:ea typeface="+mn-ea"/>
                  <a:cs typeface="+mn-cs"/>
                </a:rPr>
                <a:t>GPR 기반 추정 위치입니다. 굴착 전 정밀조사와 관계기관 승인이 필요합니다.</a:t>
              </a:r>
            </a:p>
          </p:txBody>
        </p:sp>
        <p:sp>
          <p:nvSpPr>
            <p:cNvPr id="61" name="Rectangle 61"/>
            <p:cNvSpPr/>
            <p:nvPr/>
          </p:nvSpPr>
          <p:spPr>
            <a:xfrm>
              <a:off x="6248400" y="2724150"/>
              <a:ext cx="2571750" cy="685800"/>
            </a:xfrm>
            <a:prstGeom prst="roundRect">
              <a:avLst>
                <a:gd name="adj" fmla="val 8333"/>
              </a:avLst>
            </a:prstGeom>
            <a:solidFill>
              <a:srgbClr val="0B1E3C">
                <a:alpha val="85000"/>
              </a:srgbClr>
            </a:solidFill>
            <a:ln>
              <a:noFill/>
            </a:ln>
          </p:spPr>
        </p:sp>
        <p:sp>
          <p:nvSpPr>
            <p:cNvPr id="62" name="TextBox 62"/>
            <p:cNvSpPr txBox="1"/>
            <p:nvPr/>
          </p:nvSpPr>
          <p:spPr>
            <a:xfrm>
              <a:off x="6395085" y="2813050"/>
              <a:ext cx="2265102" cy="220028"/>
            </a:xfrm>
            <a:prstGeom prst="rect">
              <a:avLst/>
            </a:prstGeom>
            <a:noFill/>
            <a:ln>
              <a:noFill/>
            </a:ln>
          </p:spPr>
          <p:txBody>
            <a:bodyPr wrap="none" lIns="0" tIns="0" rIns="0" bIns="0" anchor="t" anchorCtr="0">
              <a:spAutoFit/>
            </a:bodyPr>
            <a:lstStyle/>
            <a:p>
              <a:pPr algn="l"/>
              <a:r>
                <a:rPr lang="ko-KR" sz="1120" b="1" dirty="0">
                  <a:solidFill>
                    <a:srgbClr val="FFFFFF"/>
                  </a:solidFill>
                  <a:latin typeface="+mn-lt"/>
                  <a:ea typeface="+mn-ea"/>
                  <a:cs typeface="+mn-cs"/>
                </a:rPr>
                <a:t>재확인 R-0427 · 재탐사 3 / 4회</a:t>
              </a:r>
            </a:p>
          </p:txBody>
        </p:sp>
        <p:sp>
          <p:nvSpPr>
            <p:cNvPr id="63" name="TextBox 63"/>
            <p:cNvSpPr txBox="1"/>
            <p:nvPr/>
          </p:nvSpPr>
          <p:spPr>
            <a:xfrm>
              <a:off x="6395847" y="3038475"/>
              <a:ext cx="2242345" cy="191643"/>
            </a:xfrm>
            <a:prstGeom prst="rect">
              <a:avLst/>
            </a:prstGeom>
            <a:noFill/>
            <a:ln>
              <a:noFill/>
            </a:ln>
          </p:spPr>
          <p:txBody>
            <a:bodyPr wrap="none" lIns="0" tIns="0" rIns="0" bIns="0" anchor="t" anchorCtr="0">
              <a:spAutoFit/>
            </a:bodyPr>
            <a:lstStyle/>
            <a:p>
              <a:pPr algn="l"/>
              <a:r>
                <a:rPr lang="ko-KR" sz="980" dirty="0">
                  <a:solidFill>
                    <a:srgbClr val="E5E9F0"/>
                  </a:solidFill>
                  <a:latin typeface="+mn-lt"/>
                  <a:ea typeface="+mn-ea"/>
                  <a:cs typeface="+mn-cs"/>
                </a:rPr>
                <a:t>추정 깊이 0.9~1.3m · AI 신뢰도 84%</a:t>
              </a:r>
            </a:p>
          </p:txBody>
        </p:sp>
        <p:sp>
          <p:nvSpPr>
            <p:cNvPr id="64" name="TextBox 64"/>
            <p:cNvSpPr txBox="1"/>
            <p:nvPr/>
          </p:nvSpPr>
          <p:spPr>
            <a:xfrm>
              <a:off x="6396038" y="3209925"/>
              <a:ext cx="2559901" cy="176212"/>
            </a:xfrm>
            <a:prstGeom prst="rect">
              <a:avLst/>
            </a:prstGeom>
            <a:noFill/>
            <a:ln>
              <a:noFill/>
            </a:ln>
          </p:spPr>
          <p:txBody>
            <a:bodyPr wrap="none" lIns="0" tIns="0" rIns="0" bIns="0" anchor="t" anchorCtr="0">
              <a:spAutoFit/>
            </a:bodyPr>
            <a:lstStyle/>
            <a:p>
              <a:pPr algn="l"/>
              <a:r>
                <a:rPr lang="ko-KR" sz="900" dirty="0">
                  <a:solidFill>
                    <a:srgbClr val="C9D3E2"/>
                  </a:solidFill>
                  <a:latin typeface="+mn-lt"/>
                  <a:ea typeface="+mn-ea"/>
                  <a:cs typeface="+mn-cs"/>
                </a:rPr>
                <a:t>[화면 예시] 전문가 승인 · 위치 오차 기준 충족</a:t>
              </a:r>
            </a:p>
          </p:txBody>
        </p:sp>
        <p:sp>
          <p:nvSpPr>
            <p:cNvPr id="65" name="TextBox 65"/>
            <p:cNvSpPr txBox="1"/>
            <p:nvPr/>
          </p:nvSpPr>
          <p:spPr>
            <a:xfrm>
              <a:off x="6089142" y="5626100"/>
              <a:ext cx="3922613"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차량 밖 · 산업용 AR 글래스 (정차 후 작업자만)</a:t>
              </a:r>
            </a:p>
          </p:txBody>
        </p:sp>
        <p:sp>
          <p:nvSpPr>
            <p:cNvPr id="66" name="TextBox 66"/>
            <p:cNvSpPr txBox="1"/>
            <p:nvPr/>
          </p:nvSpPr>
          <p:spPr>
            <a:xfrm>
              <a:off x="6089904" y="5886450"/>
              <a:ext cx="4286707" cy="234696"/>
            </a:xfrm>
            <a:prstGeom prst="rect">
              <a:avLst/>
            </a:prstGeom>
            <a:noFill/>
            <a:ln>
              <a:noFill/>
            </a:ln>
          </p:spPr>
          <p:txBody>
            <a:bodyPr wrap="none" lIns="0" tIns="0" rIns="0" bIns="0" anchor="t" anchorCtr="0">
              <a:spAutoFit/>
            </a:bodyPr>
            <a:lstStyle/>
            <a:p>
              <a:pPr algn="l"/>
              <a:r>
                <a:rPr lang="ko-KR" sz="1200" dirty="0">
                  <a:solidFill>
                    <a:srgbClr val="4B5563"/>
                  </a:solidFill>
                  <a:latin typeface="+mn-lt"/>
                  <a:ea typeface="+mn-ea"/>
                  <a:cs typeface="+mn-cs"/>
                </a:rPr>
                <a:t>두 손으로 수동 GPR을 미는 동안 재탐사 범위를 눈앞에 표시</a:t>
              </a:r>
            </a:p>
          </p:txBody>
        </p:sp>
      </p:grpSp>
      <p:grpSp>
        <p:nvGrpSpPr>
          <p:cNvPr id="69" name="source"/>
          <p:cNvGrpSpPr/>
          <p:nvPr/>
        </p:nvGrpSpPr>
        <p:grpSpPr>
          <a:xfrm>
            <a:off x="528638" y="6343650"/>
            <a:ext cx="8033084" cy="176212"/>
            <a:chOff x="528638" y="6343650"/>
            <a:chExt cx="8033084" cy="176212"/>
          </a:xfrm>
        </p:grpSpPr>
        <p:sp>
          <p:nvSpPr>
            <p:cNvPr id="68" name="TextBox 68"/>
            <p:cNvSpPr txBox="1"/>
            <p:nvPr/>
          </p:nvSpPr>
          <p:spPr>
            <a:xfrm>
              <a:off x="528638" y="6343650"/>
              <a:ext cx="8033084"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2인 1조 운용 · 운전자는 주행 중 AR 미사용 · 앱 배포는 기아 PBV 파트너 승인 필요 · 화면 수치는 예시 · 실내 사진: Alexander Migl, CC BY-SA 4.0</a:t>
              </a:r>
            </a:p>
          </p:txBody>
        </p:sp>
      </p:grpSp>
      <p:grpSp>
        <p:nvGrpSpPr>
          <p:cNvPr id="72" name="footer"/>
          <p:cNvGrpSpPr/>
          <p:nvPr/>
        </p:nvGrpSpPr>
        <p:grpSpPr>
          <a:xfrm>
            <a:off x="528638" y="6629400"/>
            <a:ext cx="11134724" cy="176212"/>
            <a:chOff x="528638" y="6629400"/>
            <a:chExt cx="11134724" cy="176212"/>
          </a:xfrm>
        </p:grpSpPr>
        <p:sp>
          <p:nvSpPr>
            <p:cNvPr id="70" name="TextBox 70"/>
            <p:cNvSpPr txBox="1"/>
            <p:nvPr/>
          </p:nvSpPr>
          <p:spPr>
            <a:xfrm>
              <a:off x="528638" y="662940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71" name="TextBox 71"/>
            <p:cNvSpPr txBox="1"/>
            <p:nvPr/>
          </p:nvSpPr>
          <p:spPr>
            <a:xfrm>
              <a:off x="11247958" y="662940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06 / 12</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119241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PV5 이동형 탐사실</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764285" cy="586740"/>
            <a:chOff x="518160" y="774700"/>
            <a:chExt cx="7764285" cy="586740"/>
          </a:xfrm>
        </p:grpSpPr>
        <p:sp>
          <p:nvSpPr>
            <p:cNvPr id="17" name="TextBox 17"/>
            <p:cNvSpPr txBox="1"/>
            <p:nvPr/>
          </p:nvSpPr>
          <p:spPr>
            <a:xfrm>
              <a:off x="518160" y="774700"/>
              <a:ext cx="7764285"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PV5 한 대가 그대로 이동형 탐사실이 됩니다</a:t>
              </a:r>
            </a:p>
          </p:txBody>
        </p:sp>
      </p:grpSp>
      <p:grpSp>
        <p:nvGrpSpPr>
          <p:cNvPr id="27" name="cutaway"/>
          <p:cNvGrpSpPr/>
          <p:nvPr/>
        </p:nvGrpSpPr>
        <p:grpSpPr>
          <a:xfrm>
            <a:off x="535781" y="1428750"/>
            <a:ext cx="6472238" cy="4314825"/>
            <a:chOff x="535781" y="1428750"/>
            <a:chExt cx="6472238" cy="4314825"/>
          </a:xfrm>
        </p:grpSpPr>
        <p:pic>
          <p:nvPicPr>
            <p:cNvPr id="19" name="Image 19"/>
            <p:cNvPicPr>
              <a:picLocks noChangeAspect="1"/>
            </p:cNvPicPr>
            <p:nvPr/>
          </p:nvPicPr>
          <p:blipFill>
            <a:blip r:embed="rId2"/>
            <a:stretch>
              <a:fillRect/>
            </a:stretch>
          </p:blipFill>
          <p:spPr>
            <a:xfrm>
              <a:off x="535781" y="1428750"/>
              <a:ext cx="6472238" cy="4314825"/>
            </a:xfrm>
            <a:prstGeom prst="rect">
              <a:avLst/>
            </a:prstGeom>
          </p:spPr>
        </p:pic>
        <p:grpSp>
          <p:nvGrpSpPr>
            <p:cNvPr id="26" name="Group 26"/>
            <p:cNvGrpSpPr/>
            <p:nvPr/>
          </p:nvGrpSpPr>
          <p:grpSpPr>
            <a:xfrm>
              <a:off x="3095625" y="2771775"/>
              <a:ext cx="2857500" cy="933450"/>
              <a:chOff x="3095625" y="2771775"/>
              <a:chExt cx="2857500" cy="933450"/>
            </a:xfrm>
          </p:grpSpPr>
          <p:sp>
            <p:nvSpPr>
              <p:cNvPr id="20" name="Ellipse 20"/>
              <p:cNvSpPr/>
              <p:nvPr/>
            </p:nvSpPr>
            <p:spPr>
              <a:xfrm>
                <a:off x="3095625" y="3381375"/>
                <a:ext cx="323850" cy="323850"/>
              </a:xfrm>
              <a:prstGeom prst="ellipse">
                <a:avLst/>
              </a:prstGeom>
              <a:solidFill>
                <a:srgbClr val="F5B700"/>
              </a:solidFill>
              <a:ln w="19050">
                <a:solidFill>
                  <a:srgbClr val="0B1E3C"/>
                </a:solidFill>
              </a:ln>
            </p:spPr>
          </p:sp>
          <p:sp>
            <p:nvSpPr>
              <p:cNvPr id="21" name="TextBox 21"/>
              <p:cNvSpPr txBox="1"/>
              <p:nvPr/>
            </p:nvSpPr>
            <p:spPr>
              <a:xfrm>
                <a:off x="3202168" y="34480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A</a:t>
                </a:r>
              </a:p>
            </p:txBody>
          </p:sp>
          <p:sp>
            <p:nvSpPr>
              <p:cNvPr id="22" name="Ellipse 22"/>
              <p:cNvSpPr/>
              <p:nvPr/>
            </p:nvSpPr>
            <p:spPr>
              <a:xfrm>
                <a:off x="4219575" y="2771775"/>
                <a:ext cx="323850" cy="323850"/>
              </a:xfrm>
              <a:prstGeom prst="ellipse">
                <a:avLst/>
              </a:prstGeom>
              <a:solidFill>
                <a:srgbClr val="F5B700"/>
              </a:solidFill>
              <a:ln w="19050">
                <a:solidFill>
                  <a:srgbClr val="0B1E3C"/>
                </a:solidFill>
              </a:ln>
            </p:spPr>
          </p:sp>
          <p:sp>
            <p:nvSpPr>
              <p:cNvPr id="23" name="TextBox 23"/>
              <p:cNvSpPr txBox="1"/>
              <p:nvPr/>
            </p:nvSpPr>
            <p:spPr>
              <a:xfrm>
                <a:off x="4326118" y="283845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B</a:t>
                </a:r>
              </a:p>
            </p:txBody>
          </p:sp>
          <p:sp>
            <p:nvSpPr>
              <p:cNvPr id="24" name="Ellipse 24"/>
              <p:cNvSpPr/>
              <p:nvPr/>
            </p:nvSpPr>
            <p:spPr>
              <a:xfrm>
                <a:off x="5629275" y="2943225"/>
                <a:ext cx="323850" cy="323850"/>
              </a:xfrm>
              <a:prstGeom prst="ellipse">
                <a:avLst/>
              </a:prstGeom>
              <a:solidFill>
                <a:srgbClr val="F5B700"/>
              </a:solidFill>
              <a:ln w="19050">
                <a:solidFill>
                  <a:srgbClr val="0B1E3C"/>
                </a:solidFill>
              </a:ln>
            </p:spPr>
          </p:sp>
          <p:sp>
            <p:nvSpPr>
              <p:cNvPr id="25" name="TextBox 25"/>
              <p:cNvSpPr txBox="1"/>
              <p:nvPr/>
            </p:nvSpPr>
            <p:spPr>
              <a:xfrm>
                <a:off x="5735818" y="3009900"/>
                <a:ext cx="110764" cy="234696"/>
              </a:xfrm>
              <a:prstGeom prst="rect">
                <a:avLst/>
              </a:prstGeom>
              <a:noFill/>
              <a:ln>
                <a:noFill/>
              </a:ln>
            </p:spPr>
            <p:txBody>
              <a:bodyPr wrap="none" lIns="0" tIns="0" rIns="0" bIns="0" anchor="t" anchorCtr="0">
                <a:spAutoFit/>
              </a:bodyPr>
              <a:lstStyle/>
              <a:p>
                <a:pPr algn="ctr"/>
                <a:r>
                  <a:rPr lang="en-US" sz="1200" b="1" dirty="0">
                    <a:solidFill>
                      <a:srgbClr val="0B1E3C"/>
                    </a:solidFill>
                    <a:latin typeface="+mn-lt"/>
                    <a:ea typeface="+mn-ea"/>
                    <a:cs typeface="+mn-cs"/>
                  </a:rPr>
                  <a:t>C</a:t>
                </a:r>
              </a:p>
            </p:txBody>
          </p:sp>
        </p:grpSp>
      </p:grpSp>
      <p:grpSp>
        <p:nvGrpSpPr>
          <p:cNvPr id="42" name="features"/>
          <p:cNvGrpSpPr/>
          <p:nvPr/>
        </p:nvGrpSpPr>
        <p:grpSpPr>
          <a:xfrm>
            <a:off x="7383780" y="1631950"/>
            <a:ext cx="4274820" cy="3892550"/>
            <a:chOff x="7383780" y="1631950"/>
            <a:chExt cx="4274820" cy="3892550"/>
          </a:xfrm>
        </p:grpSpPr>
        <p:sp>
          <p:nvSpPr>
            <p:cNvPr id="28" name="TextBox 28"/>
            <p:cNvSpPr txBox="1"/>
            <p:nvPr/>
          </p:nvSpPr>
          <p:spPr>
            <a:xfrm>
              <a:off x="7383780" y="1631950"/>
              <a:ext cx="316738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싣는다 </a:t>
              </a:r>
              <a:r>
                <a:rPr lang="ko-KR" sz="1200" dirty="0">
                  <a:solidFill>
                    <a:srgbClr val="374151"/>
                  </a:solidFill>
                  <a:latin typeface="+mn-lt"/>
                  <a:ea typeface="+mn-ea"/>
                  <a:cs typeface="+mn-cs"/>
                </a:rPr>
                <a:t>카고룸 4,420L · 최대 적재 600kg</a:t>
              </a:r>
            </a:p>
          </p:txBody>
        </p:sp>
        <p:sp>
          <p:nvSpPr>
            <p:cNvPr id="29" name="TextBox 29"/>
            <p:cNvSpPr txBox="1"/>
            <p:nvPr/>
          </p:nvSpPr>
          <p:spPr>
            <a:xfrm>
              <a:off x="7385685" y="1917700"/>
              <a:ext cx="3410682"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A 분석 장비 · B 수동 GPR·AR 글래스 · C 안전장비</a:t>
              </a:r>
            </a:p>
          </p:txBody>
        </p:sp>
        <p:sp>
          <p:nvSpPr>
            <p:cNvPr id="30" name="Line 30"/>
            <p:cNvSpPr/>
            <p:nvPr/>
          </p:nvSpPr>
          <p:spPr>
            <a:xfrm>
              <a:off x="7391400" y="2247900"/>
              <a:ext cx="4267200" cy="9525"/>
            </a:xfrm>
            <a:custGeom>
              <a:avLst/>
              <a:gdLst/>
              <a:ahLst/>
              <a:cxnLst/>
              <a:rect l="l" t="t" r="r" b="b"/>
              <a:pathLst>
                <a:path w="4267200" h="9525">
                  <a:moveTo>
                    <a:pt x="0" y="0"/>
                  </a:moveTo>
                  <a:lnTo>
                    <a:pt x="4267200" y="0"/>
                  </a:lnTo>
                </a:path>
              </a:pathLst>
            </a:custGeom>
            <a:noFill/>
            <a:ln w="9525">
              <a:solidFill>
                <a:srgbClr val="E2E6EC"/>
              </a:solidFill>
            </a:ln>
          </p:spPr>
        </p:sp>
        <p:sp>
          <p:nvSpPr>
            <p:cNvPr id="31" name="TextBox 31"/>
            <p:cNvSpPr txBox="1"/>
            <p:nvPr/>
          </p:nvSpPr>
          <p:spPr>
            <a:xfrm>
              <a:off x="7383780" y="2451100"/>
              <a:ext cx="2609831"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켠다 </a:t>
              </a:r>
              <a:r>
                <a:rPr lang="ko-KR" sz="1200" dirty="0">
                  <a:solidFill>
                    <a:srgbClr val="374151"/>
                  </a:solidFill>
                  <a:latin typeface="+mn-lt"/>
                  <a:ea typeface="+mn-ea"/>
                  <a:cs typeface="+mn-cs"/>
                </a:rPr>
                <a:t>실내·실외 V2L · 최대 3.6kW</a:t>
              </a:r>
            </a:p>
          </p:txBody>
        </p:sp>
        <p:sp>
          <p:nvSpPr>
            <p:cNvPr id="32" name="TextBox 32"/>
            <p:cNvSpPr txBox="1"/>
            <p:nvPr/>
          </p:nvSpPr>
          <p:spPr>
            <a:xfrm>
              <a:off x="7385685" y="2736850"/>
              <a:ext cx="3075280"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시동 없이 GPR·엣지 PC를 돌리고 장비를 충전</a:t>
              </a:r>
            </a:p>
          </p:txBody>
        </p:sp>
        <p:sp>
          <p:nvSpPr>
            <p:cNvPr id="33" name="Line 33"/>
            <p:cNvSpPr/>
            <p:nvPr/>
          </p:nvSpPr>
          <p:spPr>
            <a:xfrm>
              <a:off x="7391400" y="3067050"/>
              <a:ext cx="4267200" cy="9525"/>
            </a:xfrm>
            <a:custGeom>
              <a:avLst/>
              <a:gdLst/>
              <a:ahLst/>
              <a:cxnLst/>
              <a:rect l="l" t="t" r="r" b="b"/>
              <a:pathLst>
                <a:path w="4267200" h="9525">
                  <a:moveTo>
                    <a:pt x="0" y="0"/>
                  </a:moveTo>
                  <a:lnTo>
                    <a:pt x="4267200" y="0"/>
                  </a:lnTo>
                </a:path>
              </a:pathLst>
            </a:custGeom>
            <a:noFill/>
            <a:ln w="9525">
              <a:solidFill>
                <a:srgbClr val="E2E6EC"/>
              </a:solidFill>
            </a:ln>
          </p:spPr>
        </p:sp>
        <p:sp>
          <p:nvSpPr>
            <p:cNvPr id="34" name="TextBox 34"/>
            <p:cNvSpPr txBox="1"/>
            <p:nvPr/>
          </p:nvSpPr>
          <p:spPr>
            <a:xfrm>
              <a:off x="7383780" y="3270250"/>
              <a:ext cx="2305412"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고정한다 </a:t>
              </a:r>
              <a:r>
                <a:rPr lang="ko-KR" sz="1200" dirty="0">
                  <a:solidFill>
                    <a:srgbClr val="374151"/>
                  </a:solidFill>
                  <a:latin typeface="+mn-lt"/>
                  <a:ea typeface="+mn-ea"/>
                  <a:cs typeface="+mn-cs"/>
                </a:rPr>
                <a:t>L-Track·몰리 패널</a:t>
              </a:r>
            </a:p>
          </p:txBody>
        </p:sp>
        <p:sp>
          <p:nvSpPr>
            <p:cNvPr id="35" name="TextBox 35"/>
            <p:cNvSpPr txBox="1"/>
            <p:nvPr/>
          </p:nvSpPr>
          <p:spPr>
            <a:xfrm>
              <a:off x="7385685" y="3556000"/>
              <a:ext cx="3275696"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회차마다 같은 위치에 장착 → 같은 조건으로 비교</a:t>
              </a:r>
            </a:p>
          </p:txBody>
        </p:sp>
        <p:sp>
          <p:nvSpPr>
            <p:cNvPr id="36" name="Line 36"/>
            <p:cNvSpPr/>
            <p:nvPr/>
          </p:nvSpPr>
          <p:spPr>
            <a:xfrm>
              <a:off x="7391400" y="3886200"/>
              <a:ext cx="4267200" cy="9525"/>
            </a:xfrm>
            <a:custGeom>
              <a:avLst/>
              <a:gdLst/>
              <a:ahLst/>
              <a:cxnLst/>
              <a:rect l="l" t="t" r="r" b="b"/>
              <a:pathLst>
                <a:path w="4267200" h="9525">
                  <a:moveTo>
                    <a:pt x="0" y="0"/>
                  </a:moveTo>
                  <a:lnTo>
                    <a:pt x="4267200" y="0"/>
                  </a:lnTo>
                </a:path>
              </a:pathLst>
            </a:custGeom>
            <a:noFill/>
            <a:ln w="9525">
              <a:solidFill>
                <a:srgbClr val="E2E6EC"/>
              </a:solidFill>
            </a:ln>
          </p:spPr>
        </p:sp>
        <p:sp>
          <p:nvSpPr>
            <p:cNvPr id="37" name="TextBox 37"/>
            <p:cNvSpPr txBox="1"/>
            <p:nvPr/>
          </p:nvSpPr>
          <p:spPr>
            <a:xfrm>
              <a:off x="7383780" y="4089400"/>
              <a:ext cx="2485854"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복제한다 </a:t>
              </a:r>
              <a:r>
                <a:rPr lang="ko-KR" sz="1200" dirty="0">
                  <a:solidFill>
                    <a:srgbClr val="374151"/>
                  </a:solidFill>
                  <a:latin typeface="+mn-lt"/>
                  <a:ea typeface="+mn-ea"/>
                  <a:cs typeface="+mn-cs"/>
                </a:rPr>
                <a:t>기아 공식 컨버전 체계</a:t>
              </a:r>
            </a:p>
          </p:txBody>
        </p:sp>
        <p:sp>
          <p:nvSpPr>
            <p:cNvPr id="38" name="TextBox 38"/>
            <p:cNvSpPr txBox="1"/>
            <p:nvPr/>
          </p:nvSpPr>
          <p:spPr>
            <a:xfrm>
              <a:off x="7385685" y="4375150"/>
              <a:ext cx="3706114"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특장 파트너 10개사 · 3D CAD 제공 → 같은 사양 여러 대</a:t>
              </a:r>
            </a:p>
          </p:txBody>
        </p:sp>
        <p:sp>
          <p:nvSpPr>
            <p:cNvPr id="39" name="Rectangle 39"/>
            <p:cNvSpPr/>
            <p:nvPr/>
          </p:nvSpPr>
          <p:spPr>
            <a:xfrm>
              <a:off x="7391400" y="4800600"/>
              <a:ext cx="4267200" cy="723900"/>
            </a:xfrm>
            <a:prstGeom prst="rect">
              <a:avLst/>
            </a:prstGeom>
            <a:solidFill>
              <a:srgbClr val="F3F5F8"/>
            </a:solidFill>
            <a:ln>
              <a:noFill/>
            </a:ln>
          </p:spPr>
        </p:sp>
        <p:sp>
          <p:nvSpPr>
            <p:cNvPr id="40" name="TextBox 40"/>
            <p:cNvSpPr txBox="1"/>
            <p:nvPr/>
          </p:nvSpPr>
          <p:spPr>
            <a:xfrm>
              <a:off x="7576185" y="4946650"/>
              <a:ext cx="1978282" cy="220028"/>
            </a:xfrm>
            <a:prstGeom prst="rect">
              <a:avLst/>
            </a:prstGeom>
            <a:noFill/>
            <a:ln>
              <a:noFill/>
            </a:ln>
          </p:spPr>
          <p:txBody>
            <a:bodyPr wrap="none" lIns="0" tIns="0" rIns="0" bIns="0" anchor="t" anchorCtr="0">
              <a:spAutoFit/>
            </a:bodyPr>
            <a:lstStyle/>
            <a:p>
              <a:pPr algn="l"/>
              <a:r>
                <a:rPr lang="ko-KR" sz="1120" b="1" dirty="0">
                  <a:solidFill>
                    <a:srgbClr val="B45309"/>
                  </a:solidFill>
                  <a:latin typeface="+mn-lt"/>
                  <a:ea typeface="+mn-ea"/>
                  <a:cs typeface="+mn-cs"/>
                </a:rPr>
                <a:t xml:space="preserve">그래도 여유 있습니다 </a:t>
              </a:r>
              <a:r>
                <a:rPr lang="ko-KR" sz="1120" dirty="0">
                  <a:solidFill>
                    <a:srgbClr val="4B5563"/>
                  </a:solidFill>
                  <a:latin typeface="+mn-lt"/>
                  <a:ea typeface="+mn-ea"/>
                  <a:cs typeface="+mn-cs"/>
                </a:rPr>
                <a:t>[가설]</a:t>
              </a:r>
            </a:p>
          </p:txBody>
        </p:sp>
        <p:sp>
          <p:nvSpPr>
            <p:cNvPr id="41" name="TextBox 41"/>
            <p:cNvSpPr txBox="1"/>
            <p:nvPr/>
          </p:nvSpPr>
          <p:spPr>
            <a:xfrm>
              <a:off x="7575804" y="5200650"/>
              <a:ext cx="3607841" cy="234696"/>
            </a:xfrm>
            <a:prstGeom prst="rect">
              <a:avLst/>
            </a:prstGeom>
            <a:noFill/>
            <a:ln>
              <a:noFill/>
            </a:ln>
          </p:spPr>
          <p:txBody>
            <a:bodyPr wrap="none" lIns="0" tIns="0" rIns="0" bIns="0" anchor="t" anchorCtr="0">
              <a:spAutoFit/>
            </a:bodyPr>
            <a:lstStyle/>
            <a:p>
              <a:pPr algn="l"/>
              <a:r>
                <a:rPr lang="ko-KR" sz="1200" dirty="0">
                  <a:solidFill>
                    <a:srgbClr val="111827"/>
                  </a:solidFill>
                  <a:latin typeface="+mn-lt"/>
                  <a:ea typeface="+mn-ea"/>
                  <a:cs typeface="+mn-cs"/>
                </a:rPr>
                <a:t>장비 약 300kg / 600kg · 전력 약 1.5kW / 3.6kW</a:t>
              </a:r>
            </a:p>
          </p:txBody>
        </p:sp>
      </p:grpSp>
      <p:grpSp>
        <p:nvGrpSpPr>
          <p:cNvPr id="44" name="source"/>
          <p:cNvGrpSpPr/>
          <p:nvPr/>
        </p:nvGrpSpPr>
        <p:grpSpPr>
          <a:xfrm>
            <a:off x="528638" y="6381750"/>
            <a:ext cx="10021376" cy="176212"/>
            <a:chOff x="528638" y="6381750"/>
            <a:chExt cx="10021376" cy="176212"/>
          </a:xfrm>
        </p:grpSpPr>
        <p:sp>
          <p:nvSpPr>
            <p:cNvPr id="43" name="TextBox 43"/>
            <p:cNvSpPr txBox="1"/>
            <p:nvPr/>
          </p:nvSpPr>
          <p:spPr>
            <a:xfrm>
              <a:off x="528638" y="6381750"/>
              <a:ext cx="10021376"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차량형 GPR은 하부형(배치도)·후방형(표지) 중 배터리 팩·지상고 간섭 시험 후 확정 · 출처: 기아 PV5 카고 제원·액세서리, 오토뷰(2026) · V2L 3.6kW는 해외 제원 · 배치도는 콘셉트</a:t>
              </a:r>
            </a:p>
          </p:txBody>
        </p:sp>
      </p:grpSp>
      <p:grpSp>
        <p:nvGrpSpPr>
          <p:cNvPr id="47" name="footer"/>
          <p:cNvGrpSpPr/>
          <p:nvPr/>
        </p:nvGrpSpPr>
        <p:grpSpPr>
          <a:xfrm>
            <a:off x="528638" y="6610350"/>
            <a:ext cx="11134724" cy="176212"/>
            <a:chOff x="528638" y="6610350"/>
            <a:chExt cx="11134724" cy="176212"/>
          </a:xfrm>
        </p:grpSpPr>
        <p:sp>
          <p:nvSpPr>
            <p:cNvPr id="45" name="TextBox 45"/>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46" name="TextBox 46"/>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07 / 12</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2595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왜 PV5인가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695090" y="301625"/>
              <a:ext cx="269420" cy="205359"/>
            </a:xfrm>
            <a:prstGeom prst="rect">
              <a:avLst/>
            </a:prstGeom>
            <a:noFill/>
            <a:ln>
              <a:noFill/>
            </a:ln>
          </p:spPr>
          <p:txBody>
            <a:bodyPr wrap="none" lIns="0" tIns="0" rIns="0" bIns="0" anchor="t" anchorCtr="0">
              <a:spAutoFit/>
            </a:bodyPr>
            <a:lstStyle/>
            <a:p>
              <a:pPr algn="ctr"/>
              <a:r>
                <a:rPr lang="en-US" sz="1050" b="1" dirty="0">
                  <a:solidFill>
                    <a:srgbClr val="0B1E3C"/>
                  </a:solidFill>
                  <a:latin typeface="+mn-lt"/>
                  <a:ea typeface="+mn-ea"/>
                  <a:cs typeface="+mn-cs"/>
                </a:rPr>
                <a:t>PV5</a:t>
              </a:r>
            </a:p>
          </p:txBody>
        </p:sp>
        <p:sp>
          <p:nvSpPr>
            <p:cNvPr id="10" name="Rectangle 10"/>
            <p:cNvSpPr/>
            <p:nvPr/>
          </p:nvSpPr>
          <p:spPr>
            <a:xfrm>
              <a:off x="9601200" y="514350"/>
              <a:ext cx="457200" cy="28575"/>
            </a:xfrm>
            <a:prstGeom prst="rect">
              <a:avLst/>
            </a:prstGeom>
            <a:solidFill>
              <a:srgbClr val="F5B700"/>
            </a:solidFill>
            <a:ln>
              <a:noFill/>
            </a:ln>
          </p:spPr>
        </p:sp>
        <p:sp>
          <p:nvSpPr>
            <p:cNvPr id="11" name="TextBox 11"/>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2" name="TextBox 12"/>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781050"/>
            <a:ext cx="6393811" cy="557403"/>
            <a:chOff x="518922" y="781050"/>
            <a:chExt cx="6393811" cy="557403"/>
          </a:xfrm>
        </p:grpSpPr>
        <p:sp>
          <p:nvSpPr>
            <p:cNvPr id="17" name="TextBox 17"/>
            <p:cNvSpPr txBox="1"/>
            <p:nvPr/>
          </p:nvSpPr>
          <p:spPr>
            <a:xfrm>
              <a:off x="518922" y="781050"/>
              <a:ext cx="6393811"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가격이 아니라 구조 때문에 PV5입니다</a:t>
              </a:r>
            </a:p>
          </p:txBody>
        </p:sp>
      </p:grpSp>
      <p:grpSp>
        <p:nvGrpSpPr>
          <p:cNvPr id="20" name="lead"/>
          <p:cNvGrpSpPr/>
          <p:nvPr/>
        </p:nvGrpSpPr>
        <p:grpSpPr>
          <a:xfrm>
            <a:off x="526542" y="1339850"/>
            <a:ext cx="9427693" cy="264033"/>
            <a:chOff x="526542" y="1339850"/>
            <a:chExt cx="9427693" cy="264033"/>
          </a:xfrm>
        </p:grpSpPr>
        <p:sp>
          <p:nvSpPr>
            <p:cNvPr id="19" name="TextBox 19"/>
            <p:cNvSpPr txBox="1"/>
            <p:nvPr/>
          </p:nvSpPr>
          <p:spPr>
            <a:xfrm>
              <a:off x="526542" y="1339850"/>
              <a:ext cx="9427693" cy="264033"/>
            </a:xfrm>
            <a:prstGeom prst="rect">
              <a:avLst/>
            </a:prstGeom>
            <a:noFill/>
            <a:ln>
              <a:noFill/>
            </a:ln>
          </p:spPr>
          <p:txBody>
            <a:bodyPr wrap="none" lIns="0" tIns="0" rIns="0" bIns="0" anchor="t" anchorCtr="0">
              <a:spAutoFit/>
            </a:bodyPr>
            <a:lstStyle/>
            <a:p>
              <a:pPr algn="l"/>
              <a:r>
                <a:rPr lang="ko-KR" sz="1350" dirty="0">
                  <a:solidFill>
                    <a:srgbClr val="374151"/>
                  </a:solidFill>
                  <a:latin typeface="+mn-lt"/>
                  <a:ea typeface="+mn-ea"/>
                  <a:cs typeface="+mn-cs"/>
                </a:rPr>
                <a:t>그룹 전기 상용차는 용도가 나뉘어 있습니다. 탐사·판독·재검증을 한 차에서 하려면 무엇이 필요한지로 골랐습니다.</a:t>
              </a:r>
            </a:p>
          </p:txBody>
        </p:sp>
      </p:grpSp>
      <p:grpSp>
        <p:nvGrpSpPr>
          <p:cNvPr id="53" name="compare"/>
          <p:cNvGrpSpPr/>
          <p:nvPr/>
        </p:nvGrpSpPr>
        <p:grpSpPr>
          <a:xfrm>
            <a:off x="527685" y="1733550"/>
            <a:ext cx="11130915" cy="2362200"/>
            <a:chOff x="527685" y="1733550"/>
            <a:chExt cx="11130915" cy="2362200"/>
          </a:xfrm>
        </p:grpSpPr>
        <p:sp>
          <p:nvSpPr>
            <p:cNvPr id="21" name="Rectangle 21"/>
            <p:cNvSpPr/>
            <p:nvPr/>
          </p:nvSpPr>
          <p:spPr>
            <a:xfrm>
              <a:off x="2057400" y="1733550"/>
              <a:ext cx="2400300" cy="2362200"/>
            </a:xfrm>
            <a:prstGeom prst="rect">
              <a:avLst/>
            </a:prstGeom>
            <a:solidFill>
              <a:srgbClr val="FFF6D6"/>
            </a:solidFill>
            <a:ln>
              <a:noFill/>
            </a:ln>
          </p:spPr>
        </p:sp>
        <p:sp>
          <p:nvSpPr>
            <p:cNvPr id="22" name="Rectangle 22"/>
            <p:cNvSpPr/>
            <p:nvPr/>
          </p:nvSpPr>
          <p:spPr>
            <a:xfrm>
              <a:off x="2057400" y="1733550"/>
              <a:ext cx="2400300" cy="38100"/>
            </a:xfrm>
            <a:prstGeom prst="rect">
              <a:avLst/>
            </a:prstGeom>
            <a:solidFill>
              <a:srgbClr val="F5B700"/>
            </a:solidFill>
            <a:ln>
              <a:noFill/>
            </a:ln>
          </p:spPr>
        </p:sp>
        <p:grpSp>
          <p:nvGrpSpPr>
            <p:cNvPr id="27" name="Group 27"/>
            <p:cNvGrpSpPr/>
            <p:nvPr/>
          </p:nvGrpSpPr>
          <p:grpSpPr>
            <a:xfrm>
              <a:off x="2203323" y="1885950"/>
              <a:ext cx="8562647" cy="250317"/>
              <a:chOff x="2203323" y="1885950"/>
              <a:chExt cx="8562647" cy="250317"/>
            </a:xfrm>
          </p:grpSpPr>
          <p:sp>
            <p:nvSpPr>
              <p:cNvPr id="23" name="TextBox 23"/>
              <p:cNvSpPr txBox="1"/>
              <p:nvPr/>
            </p:nvSpPr>
            <p:spPr>
              <a:xfrm>
                <a:off x="2203323" y="1885950"/>
                <a:ext cx="1132342" cy="250317"/>
              </a:xfrm>
              <a:prstGeom prst="rect">
                <a:avLst/>
              </a:prstGeom>
              <a:noFill/>
              <a:ln>
                <a:noFill/>
              </a:ln>
            </p:spPr>
            <p:txBody>
              <a:bodyPr wrap="none" lIns="0" tIns="0" rIns="0" bIns="0" anchor="t" anchorCtr="0">
                <a:spAutoFit/>
              </a:bodyPr>
              <a:lstStyle/>
              <a:p>
                <a:pPr algn="l"/>
                <a:r>
                  <a:rPr lang="ko-KR" sz="1280" b="1" dirty="0">
                    <a:solidFill>
                      <a:srgbClr val="0B1E3C"/>
                    </a:solidFill>
                    <a:latin typeface="+mn-lt"/>
                    <a:ea typeface="+mn-ea"/>
                    <a:cs typeface="+mn-cs"/>
                  </a:rPr>
                  <a:t>기아 PV5 카고</a:t>
                </a:r>
              </a:p>
            </p:txBody>
          </p:sp>
          <p:sp>
            <p:nvSpPr>
              <p:cNvPr id="24" name="TextBox 24"/>
              <p:cNvSpPr txBox="1"/>
              <p:nvPr/>
            </p:nvSpPr>
            <p:spPr>
              <a:xfrm>
                <a:off x="4603623" y="1885950"/>
                <a:ext cx="1844648"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스타리아 일렉트릭 카고</a:t>
                </a:r>
              </a:p>
            </p:txBody>
          </p:sp>
          <p:sp>
            <p:nvSpPr>
              <p:cNvPr id="25" name="TextBox 25"/>
              <p:cNvSpPr txBox="1"/>
              <p:nvPr/>
            </p:nvSpPr>
            <p:spPr>
              <a:xfrm>
                <a:off x="7003923" y="1885950"/>
                <a:ext cx="1132342"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현대 ST1 카고</a:t>
                </a:r>
              </a:p>
            </p:txBody>
          </p:sp>
          <p:sp>
            <p:nvSpPr>
              <p:cNvPr id="26" name="TextBox 26"/>
              <p:cNvSpPr txBox="1"/>
              <p:nvPr/>
            </p:nvSpPr>
            <p:spPr>
              <a:xfrm>
                <a:off x="9404223" y="1885950"/>
                <a:ext cx="1361747" cy="250317"/>
              </a:xfrm>
              <a:prstGeom prst="rect">
                <a:avLst/>
              </a:prstGeom>
              <a:noFill/>
              <a:ln>
                <a:noFill/>
              </a:ln>
            </p:spPr>
            <p:txBody>
              <a:bodyPr wrap="none" lIns="0" tIns="0" rIns="0" bIns="0" anchor="t" anchorCtr="0">
                <a:spAutoFit/>
              </a:bodyPr>
              <a:lstStyle/>
              <a:p>
                <a:pPr algn="l"/>
                <a:r>
                  <a:rPr lang="ko-KR" sz="1280" b="1" dirty="0">
                    <a:solidFill>
                      <a:srgbClr val="374151"/>
                    </a:solidFill>
                    <a:latin typeface="+mn-lt"/>
                    <a:ea typeface="+mn-ea"/>
                    <a:cs typeface="+mn-cs"/>
                  </a:rPr>
                  <a:t>포터II·봉고III EV</a:t>
                </a:r>
              </a:p>
            </p:txBody>
          </p:sp>
        </p:grpSp>
        <p:grpSp>
          <p:nvGrpSpPr>
            <p:cNvPr id="32" name="Group 32"/>
            <p:cNvGrpSpPr/>
            <p:nvPr/>
          </p:nvGrpSpPr>
          <p:grpSpPr>
            <a:xfrm>
              <a:off x="2204466" y="2120900"/>
              <a:ext cx="7882985" cy="205359"/>
              <a:chOff x="2204466" y="2120900"/>
              <a:chExt cx="7882985" cy="205359"/>
            </a:xfrm>
          </p:grpSpPr>
          <p:sp>
            <p:nvSpPr>
              <p:cNvPr id="28" name="TextBox 28"/>
              <p:cNvSpPr txBox="1"/>
              <p:nvPr/>
            </p:nvSpPr>
            <p:spPr>
              <a:xfrm>
                <a:off x="2204466" y="2120900"/>
                <a:ext cx="879977"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롱 · 롱레인지</a:t>
                </a:r>
              </a:p>
            </p:txBody>
          </p:sp>
          <p:sp>
            <p:nvSpPr>
              <p:cNvPr id="29" name="TextBox 29"/>
              <p:cNvSpPr txBox="1"/>
              <p:nvPr/>
            </p:nvSpPr>
            <p:spPr>
              <a:xfrm>
                <a:off x="4604766" y="2120900"/>
                <a:ext cx="371113"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3인승</a:t>
                </a:r>
              </a:p>
            </p:txBody>
          </p:sp>
          <p:sp>
            <p:nvSpPr>
              <p:cNvPr id="30" name="TextBox 30"/>
              <p:cNvSpPr txBox="1"/>
              <p:nvPr/>
            </p:nvSpPr>
            <p:spPr>
              <a:xfrm>
                <a:off x="7005066" y="2120900"/>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카고 스타일</a:t>
                </a:r>
              </a:p>
            </p:txBody>
          </p:sp>
          <p:sp>
            <p:nvSpPr>
              <p:cNvPr id="31" name="TextBox 31"/>
              <p:cNvSpPr txBox="1"/>
              <p:nvPr/>
            </p:nvSpPr>
            <p:spPr>
              <a:xfrm>
                <a:off x="9405366" y="2120900"/>
                <a:ext cx="6820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2025년형~</a:t>
                </a:r>
              </a:p>
            </p:txBody>
          </p:sp>
        </p:grpSp>
        <p:sp>
          <p:nvSpPr>
            <p:cNvPr id="33" name="Line 33"/>
            <p:cNvSpPr/>
            <p:nvPr/>
          </p:nvSpPr>
          <p:spPr>
            <a:xfrm>
              <a:off x="533400" y="2381250"/>
              <a:ext cx="11125200" cy="9525"/>
            </a:xfrm>
            <a:custGeom>
              <a:avLst/>
              <a:gdLst/>
              <a:ahLst/>
              <a:cxnLst/>
              <a:rect l="l" t="t" r="r" b="b"/>
              <a:pathLst>
                <a:path w="11125200" h="9525">
                  <a:moveTo>
                    <a:pt x="0" y="0"/>
                  </a:moveTo>
                  <a:lnTo>
                    <a:pt x="11125200" y="0"/>
                  </a:lnTo>
                </a:path>
              </a:pathLst>
            </a:custGeom>
            <a:noFill/>
            <a:ln w="14288">
              <a:solidFill>
                <a:srgbClr val="0B1E3C"/>
              </a:solidFill>
            </a:ln>
          </p:spPr>
        </p:sp>
        <p:grpSp>
          <p:nvGrpSpPr>
            <p:cNvPr id="37" name="Group 37"/>
            <p:cNvGrpSpPr/>
            <p:nvPr/>
          </p:nvGrpSpPr>
          <p:grpSpPr>
            <a:xfrm>
              <a:off x="527685" y="2527300"/>
              <a:ext cx="662022" cy="1458278"/>
              <a:chOff x="527685" y="2527300"/>
              <a:chExt cx="662022" cy="1458278"/>
            </a:xfrm>
          </p:grpSpPr>
          <p:sp>
            <p:nvSpPr>
              <p:cNvPr id="34" name="TextBox 34"/>
              <p:cNvSpPr txBox="1"/>
              <p:nvPr/>
            </p:nvSpPr>
            <p:spPr>
              <a:xfrm>
                <a:off x="527685" y="252730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차체 성격</a:t>
                </a:r>
              </a:p>
            </p:txBody>
          </p:sp>
          <p:sp>
            <p:nvSpPr>
              <p:cNvPr id="35" name="TextBox 35"/>
              <p:cNvSpPr txBox="1"/>
              <p:nvPr/>
            </p:nvSpPr>
            <p:spPr>
              <a:xfrm>
                <a:off x="527685" y="3270250"/>
                <a:ext cx="662022"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차량 가격</a:t>
                </a:r>
              </a:p>
            </p:txBody>
          </p:sp>
          <p:sp>
            <p:nvSpPr>
              <p:cNvPr id="36" name="TextBox 36"/>
              <p:cNvSpPr txBox="1"/>
              <p:nvPr/>
            </p:nvSpPr>
            <p:spPr>
              <a:xfrm>
                <a:off x="527685" y="3765550"/>
                <a:ext cx="598319" cy="220028"/>
              </a:xfrm>
              <a:prstGeom prst="rect">
                <a:avLst/>
              </a:prstGeom>
              <a:noFill/>
              <a:ln>
                <a:noFill/>
              </a:ln>
            </p:spPr>
            <p:txBody>
              <a:bodyPr wrap="none" lIns="0" tIns="0" rIns="0" bIns="0" anchor="t" anchorCtr="0">
                <a:spAutoFit/>
              </a:bodyPr>
              <a:lstStyle/>
              <a:p>
                <a:pPr algn="l"/>
                <a:r>
                  <a:rPr lang="ko-KR" sz="1120" b="1" dirty="0">
                    <a:solidFill>
                      <a:srgbClr val="374151"/>
                    </a:solidFill>
                    <a:latin typeface="+mn-lt"/>
                    <a:ea typeface="+mn-ea"/>
                    <a:cs typeface="+mn-cs"/>
                  </a:rPr>
                  <a:t>1회 충전</a:t>
                </a:r>
              </a:p>
            </p:txBody>
          </p:sp>
        </p:grpSp>
        <p:grpSp>
          <p:nvGrpSpPr>
            <p:cNvPr id="52" name="Group 52"/>
            <p:cNvGrpSpPr/>
            <p:nvPr/>
          </p:nvGrpSpPr>
          <p:grpSpPr>
            <a:xfrm>
              <a:off x="533400" y="2495550"/>
              <a:ext cx="11125200" cy="1583944"/>
              <a:chOff x="533400" y="2495550"/>
              <a:chExt cx="11125200" cy="1583944"/>
            </a:xfrm>
          </p:grpSpPr>
          <p:sp>
            <p:nvSpPr>
              <p:cNvPr id="38" name="TextBox 38"/>
              <p:cNvSpPr txBox="1"/>
              <p:nvPr/>
            </p:nvSpPr>
            <p:spPr>
              <a:xfrm>
                <a:off x="2203704" y="2495550"/>
                <a:ext cx="1932432" cy="634746"/>
              </a:xfrm>
              <a:prstGeom prst="rect">
                <a:avLst/>
              </a:prstGeom>
              <a:noFill/>
              <a:ln>
                <a:noFill/>
              </a:ln>
            </p:spPr>
            <p:txBody>
              <a:bodyPr wrap="none" lIns="0" tIns="0" rIns="0" bIns="0" anchor="t" anchorCtr="0">
                <a:spAutoFit/>
              </a:bodyPr>
              <a:lstStyle/>
              <a:p>
                <a:pPr algn="l">
                  <a:lnSpc>
                    <a:spcPts val="1575"/>
                  </a:lnSpc>
                </a:pPr>
                <a:r>
                  <a:rPr lang="ko-KR" sz="1200" b="1" dirty="0">
                    <a:solidFill>
                      <a:srgbClr val="0B1E3C"/>
                    </a:solidFill>
                    <a:latin typeface="+mn-lt"/>
                    <a:ea typeface="+mn-ea"/>
                    <a:cs typeface="+mn-cs"/>
                  </a:rPr>
                  <a:t>컨버전 전제 소형 PBV</a:t>
                </a:r>
                <a:br>
                  <a:rPr lang="ko-KR" sz="1200" b="1" dirty="0">
                    <a:solidFill>
                      <a:srgbClr val="0B1E3C"/>
                    </a:solidFill>
                    <a:latin typeface="+mn-lt"/>
                    <a:ea typeface="+mn-ea"/>
                    <a:cs typeface="+mn-cs"/>
                  </a:rPr>
                </a:br>
                <a:r>
                  <a:rPr lang="ko-KR" sz="1200" dirty="0">
                    <a:solidFill>
                      <a:srgbClr val="374151"/>
                    </a:solidFill>
                    <a:latin typeface="+mn-lt"/>
                    <a:ea typeface="+mn-ea"/>
                    <a:cs typeface="+mn-cs"/>
                  </a:rPr>
                  <a:t>밀폐 카고룸 4,420L · V2L</a:t>
                </a:r>
                <a:br>
                  <a:rPr lang="ko-KR" sz="1200" dirty="0">
                    <a:solidFill>
                      <a:srgbClr val="374151"/>
                    </a:solidFill>
                    <a:latin typeface="+mn-lt"/>
                    <a:ea typeface="+mn-ea"/>
                    <a:cs typeface="+mn-cs"/>
                  </a:rPr>
                </a:br>
                <a:r>
                  <a:rPr lang="ko-KR" sz="1200" dirty="0">
                    <a:solidFill>
                      <a:srgbClr val="374151"/>
                    </a:solidFill>
                    <a:latin typeface="+mn-lt"/>
                    <a:ea typeface="+mn-ea"/>
                    <a:cs typeface="+mn-cs"/>
                  </a:rPr>
                  <a:t>L-Track · 공식 컨버전 체계</a:t>
                </a:r>
              </a:p>
            </p:txBody>
          </p:sp>
          <p:sp>
            <p:nvSpPr>
              <p:cNvPr id="39" name="TextBox 39"/>
              <p:cNvSpPr txBox="1"/>
              <p:nvPr/>
            </p:nvSpPr>
            <p:spPr>
              <a:xfrm>
                <a:off x="4604004" y="2495550"/>
                <a:ext cx="8656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승합 기반 밴</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a:t>
                </a:r>
              </a:p>
            </p:txBody>
          </p:sp>
          <p:sp>
            <p:nvSpPr>
              <p:cNvPr id="40" name="TextBox 40"/>
              <p:cNvSpPr txBox="1"/>
              <p:nvPr/>
            </p:nvSpPr>
            <p:spPr>
              <a:xfrm>
                <a:off x="7004304" y="2495550"/>
                <a:ext cx="101803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물류 특화 카고</a:t>
                </a:r>
                <a:br>
                  <a:rPr lang="ko-KR" sz="1200" dirty="0">
                    <a:solidFill>
                      <a:srgbClr val="111827"/>
                    </a:solidFill>
                    <a:latin typeface="+mn-lt"/>
                    <a:ea typeface="+mn-ea"/>
                    <a:cs typeface="+mn-cs"/>
                  </a:rPr>
                </a:br>
                <a:r>
                  <a:rPr lang="ko-KR" sz="1200" dirty="0">
                    <a:solidFill>
                      <a:srgbClr val="374151"/>
                    </a:solidFill>
                    <a:latin typeface="+mn-lt"/>
                    <a:ea typeface="+mn-ea"/>
                    <a:cs typeface="+mn-cs"/>
                  </a:rPr>
                  <a:t>밀폐 카고 박스</a:t>
                </a:r>
              </a:p>
            </p:txBody>
          </p:sp>
          <p:sp>
            <p:nvSpPr>
              <p:cNvPr id="41" name="TextBox 41"/>
              <p:cNvSpPr txBox="1"/>
              <p:nvPr/>
            </p:nvSpPr>
            <p:spPr>
              <a:xfrm>
                <a:off x="9404604" y="2495550"/>
                <a:ext cx="972312" cy="434721"/>
              </a:xfrm>
              <a:prstGeom prst="rect">
                <a:avLst/>
              </a:prstGeom>
              <a:noFill/>
              <a:ln>
                <a:noFill/>
              </a:ln>
            </p:spPr>
            <p:txBody>
              <a:bodyPr wrap="none" lIns="0" tIns="0" rIns="0" bIns="0" anchor="t" anchorCtr="0">
                <a:spAutoFit/>
              </a:bodyPr>
              <a:lstStyle/>
              <a:p>
                <a:pPr algn="l">
                  <a:lnSpc>
                    <a:spcPts val="1575"/>
                  </a:lnSpc>
                </a:pPr>
                <a:r>
                  <a:rPr lang="ko-KR" sz="1200" dirty="0">
                    <a:solidFill>
                      <a:srgbClr val="111827"/>
                    </a:solidFill>
                    <a:latin typeface="+mn-lt"/>
                    <a:ea typeface="+mn-ea"/>
                    <a:cs typeface="+mn-cs"/>
                  </a:rPr>
                  <a:t>1톤 트럭</a:t>
                </a:r>
                <a:br>
                  <a:rPr lang="ko-KR" sz="1200" dirty="0">
                    <a:solidFill>
                      <a:srgbClr val="111827"/>
                    </a:solidFill>
                    <a:latin typeface="+mn-lt"/>
                    <a:ea typeface="+mn-ea"/>
                    <a:cs typeface="+mn-cs"/>
                  </a:rPr>
                </a:br>
                <a:r>
                  <a:rPr lang="ko-KR" sz="1200" dirty="0">
                    <a:solidFill>
                      <a:srgbClr val="374151"/>
                    </a:solidFill>
                    <a:latin typeface="+mn-lt"/>
                    <a:ea typeface="+mn-ea"/>
                    <a:cs typeface="+mn-cs"/>
                  </a:rPr>
                  <a:t>개방형 적재함</a:t>
                </a:r>
              </a:p>
            </p:txBody>
          </p:sp>
          <p:sp>
            <p:nvSpPr>
              <p:cNvPr id="42" name="Line 42"/>
              <p:cNvSpPr/>
              <p:nvPr/>
            </p:nvSpPr>
            <p:spPr>
              <a:xfrm>
                <a:off x="533400" y="31432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3" name="TextBox 43"/>
              <p:cNvSpPr txBox="1"/>
              <p:nvPr/>
            </p:nvSpPr>
            <p:spPr>
              <a:xfrm>
                <a:off x="2200656" y="3232150"/>
                <a:ext cx="1278937" cy="352044"/>
              </a:xfrm>
              <a:prstGeom prst="rect">
                <a:avLst/>
              </a:prstGeom>
              <a:noFill/>
              <a:ln>
                <a:noFill/>
              </a:ln>
            </p:spPr>
            <p:txBody>
              <a:bodyPr wrap="none" lIns="0" tIns="0" rIns="0" bIns="0" anchor="t" anchorCtr="0">
                <a:spAutoFit/>
              </a:bodyPr>
              <a:lstStyle/>
              <a:p>
                <a:pPr algn="l"/>
                <a:r>
                  <a:rPr lang="ko-KR" sz="1800" b="1" dirty="0">
                    <a:solidFill>
                      <a:srgbClr val="0B1E3C"/>
                    </a:solidFill>
                    <a:latin typeface="+mn-lt"/>
                    <a:ea typeface="+mn-ea"/>
                    <a:cs typeface="+mn-cs"/>
                  </a:rPr>
                  <a:t>4,520만 원</a:t>
                </a:r>
              </a:p>
            </p:txBody>
          </p:sp>
          <p:sp>
            <p:nvSpPr>
              <p:cNvPr id="44" name="TextBox 44"/>
              <p:cNvSpPr txBox="1"/>
              <p:nvPr/>
            </p:nvSpPr>
            <p:spPr>
              <a:xfrm>
                <a:off x="46020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5,792만 원</a:t>
                </a:r>
              </a:p>
            </p:txBody>
          </p:sp>
          <p:sp>
            <p:nvSpPr>
              <p:cNvPr id="45" name="TextBox 45"/>
              <p:cNvSpPr txBox="1"/>
              <p:nvPr/>
            </p:nvSpPr>
            <p:spPr>
              <a:xfrm>
                <a:off x="7002399" y="3257550"/>
                <a:ext cx="1090135" cy="308991"/>
              </a:xfrm>
              <a:prstGeom prst="rect">
                <a:avLst/>
              </a:prstGeom>
              <a:noFill/>
              <a:ln>
                <a:noFill/>
              </a:ln>
            </p:spPr>
            <p:txBody>
              <a:bodyPr wrap="none" lIns="0" tIns="0" rIns="0" bIns="0" anchor="t" anchorCtr="0">
                <a:spAutoFit/>
              </a:bodyPr>
              <a:lstStyle/>
              <a:p>
                <a:pPr algn="l"/>
                <a:r>
                  <a:rPr lang="ko-KR" sz="1580" dirty="0">
                    <a:solidFill>
                      <a:srgbClr val="111827"/>
                    </a:solidFill>
                    <a:latin typeface="+mn-lt"/>
                    <a:ea typeface="+mn-ea"/>
                    <a:cs typeface="+mn-cs"/>
                  </a:rPr>
                  <a:t>5,874만 원</a:t>
                </a:r>
              </a:p>
            </p:txBody>
          </p:sp>
          <p:sp>
            <p:nvSpPr>
              <p:cNvPr id="46" name="TextBox 46"/>
              <p:cNvSpPr txBox="1"/>
              <p:nvPr/>
            </p:nvSpPr>
            <p:spPr>
              <a:xfrm>
                <a:off x="9404985" y="3308350"/>
                <a:ext cx="1677487" cy="220028"/>
              </a:xfrm>
              <a:prstGeom prst="rect">
                <a:avLst/>
              </a:prstGeom>
              <a:noFill/>
              <a:ln>
                <a:noFill/>
              </a:ln>
            </p:spPr>
            <p:txBody>
              <a:bodyPr wrap="none" lIns="0" tIns="0" rIns="0" bIns="0" anchor="t" anchorCtr="0">
                <a:spAutoFit/>
              </a:bodyPr>
              <a:lstStyle/>
              <a:p>
                <a:pPr algn="l"/>
                <a:r>
                  <a:rPr lang="ko-KR" sz="1120" dirty="0">
                    <a:solidFill>
                      <a:srgbClr val="4B5563"/>
                    </a:solidFill>
                    <a:latin typeface="+mn-lt"/>
                    <a:ea typeface="+mn-ea"/>
                    <a:cs typeface="+mn-cs"/>
                  </a:rPr>
                  <a:t>탑 개조 필요 · 비교 제외</a:t>
                </a:r>
              </a:p>
            </p:txBody>
          </p:sp>
          <p:sp>
            <p:nvSpPr>
              <p:cNvPr id="47" name="Line 47"/>
              <p:cNvSpPr/>
              <p:nvPr/>
            </p:nvSpPr>
            <p:spPr>
              <a:xfrm>
                <a:off x="533400" y="363855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8" name="TextBox 48"/>
              <p:cNvSpPr txBox="1"/>
              <p:nvPr/>
            </p:nvSpPr>
            <p:spPr>
              <a:xfrm>
                <a:off x="2200656" y="3727450"/>
                <a:ext cx="768862" cy="352044"/>
              </a:xfrm>
              <a:prstGeom prst="rect">
                <a:avLst/>
              </a:prstGeom>
              <a:noFill/>
              <a:ln>
                <a:noFill/>
              </a:ln>
            </p:spPr>
            <p:txBody>
              <a:bodyPr wrap="none" lIns="0" tIns="0" rIns="0" bIns="0" anchor="t" anchorCtr="0">
                <a:spAutoFit/>
              </a:bodyPr>
              <a:lstStyle/>
              <a:p>
                <a:pPr algn="l"/>
                <a:r>
                  <a:rPr lang="en-US" sz="1800" b="1" dirty="0">
                    <a:solidFill>
                      <a:srgbClr val="0B1E3C"/>
                    </a:solidFill>
                    <a:latin typeface="+mn-lt"/>
                    <a:ea typeface="+mn-ea"/>
                    <a:cs typeface="+mn-cs"/>
                  </a:rPr>
                  <a:t>377km</a:t>
                </a:r>
              </a:p>
            </p:txBody>
          </p:sp>
          <p:sp>
            <p:nvSpPr>
              <p:cNvPr id="49" name="TextBox 49"/>
              <p:cNvSpPr txBox="1"/>
              <p:nvPr/>
            </p:nvSpPr>
            <p:spPr>
              <a:xfrm>
                <a:off x="46020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387km</a:t>
                </a:r>
              </a:p>
            </p:txBody>
          </p:sp>
          <p:sp>
            <p:nvSpPr>
              <p:cNvPr id="50" name="TextBox 50"/>
              <p:cNvSpPr txBox="1"/>
              <p:nvPr/>
            </p:nvSpPr>
            <p:spPr>
              <a:xfrm>
                <a:off x="70023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317km</a:t>
                </a:r>
              </a:p>
            </p:txBody>
          </p:sp>
          <p:sp>
            <p:nvSpPr>
              <p:cNvPr id="51" name="TextBox 51"/>
              <p:cNvSpPr txBox="1"/>
              <p:nvPr/>
            </p:nvSpPr>
            <p:spPr>
              <a:xfrm>
                <a:off x="9402699" y="3752850"/>
                <a:ext cx="643466" cy="308991"/>
              </a:xfrm>
              <a:prstGeom prst="rect">
                <a:avLst/>
              </a:prstGeom>
              <a:noFill/>
              <a:ln>
                <a:noFill/>
              </a:ln>
            </p:spPr>
            <p:txBody>
              <a:bodyPr wrap="none" lIns="0" tIns="0" rIns="0" bIns="0" anchor="t" anchorCtr="0">
                <a:spAutoFit/>
              </a:bodyPr>
              <a:lstStyle/>
              <a:p>
                <a:pPr algn="l"/>
                <a:r>
                  <a:rPr lang="en-US" sz="1580" dirty="0">
                    <a:solidFill>
                      <a:srgbClr val="111827"/>
                    </a:solidFill>
                    <a:latin typeface="+mn-lt"/>
                    <a:ea typeface="+mn-ea"/>
                    <a:cs typeface="+mn-cs"/>
                  </a:rPr>
                  <a:t>217km</a:t>
                </a:r>
              </a:p>
            </p:txBody>
          </p:sp>
        </p:grpSp>
      </p:grpSp>
      <p:grpSp>
        <p:nvGrpSpPr>
          <p:cNvPr id="60" name="honest"/>
          <p:cNvGrpSpPr/>
          <p:nvPr/>
        </p:nvGrpSpPr>
        <p:grpSpPr>
          <a:xfrm>
            <a:off x="533400" y="4248150"/>
            <a:ext cx="11125200" cy="1276350"/>
            <a:chOff x="533400" y="4248150"/>
            <a:chExt cx="11125200" cy="1276350"/>
          </a:xfrm>
        </p:grpSpPr>
        <p:sp>
          <p:nvSpPr>
            <p:cNvPr id="54" name="Rectangle 54"/>
            <p:cNvSpPr/>
            <p:nvPr/>
          </p:nvSpPr>
          <p:spPr>
            <a:xfrm>
              <a:off x="533400" y="4248150"/>
              <a:ext cx="5448300" cy="1276350"/>
            </a:xfrm>
            <a:prstGeom prst="rect">
              <a:avLst/>
            </a:prstGeom>
            <a:solidFill>
              <a:srgbClr val="F3F5F8"/>
            </a:solidFill>
            <a:ln>
              <a:noFill/>
            </a:ln>
          </p:spPr>
        </p:sp>
        <p:sp>
          <p:nvSpPr>
            <p:cNvPr id="55" name="TextBox 55"/>
            <p:cNvSpPr txBox="1"/>
            <p:nvPr/>
          </p:nvSpPr>
          <p:spPr>
            <a:xfrm>
              <a:off x="718185" y="4375150"/>
              <a:ext cx="1764936" cy="220028"/>
            </a:xfrm>
            <a:prstGeom prst="rect">
              <a:avLst/>
            </a:prstGeom>
            <a:noFill/>
            <a:ln>
              <a:noFill/>
            </a:ln>
          </p:spPr>
          <p:txBody>
            <a:bodyPr wrap="none" lIns="0" tIns="0" rIns="0" bIns="0" anchor="t" anchorCtr="0">
              <a:spAutoFit/>
            </a:bodyPr>
            <a:lstStyle/>
            <a:p>
              <a:pPr algn="l"/>
              <a:r>
                <a:rPr lang="ko-KR" sz="1120" b="1" dirty="0">
                  <a:solidFill>
                    <a:srgbClr val="8A5A00"/>
                  </a:solidFill>
                  <a:latin typeface="+mn-lt"/>
                  <a:ea typeface="+mn-ea"/>
                  <a:cs typeface="+mn-cs"/>
                </a:rPr>
                <a:t>가격으로 고르지 않습니다</a:t>
              </a:r>
            </a:p>
          </p:txBody>
        </p:sp>
        <p:sp>
          <p:nvSpPr>
            <p:cNvPr id="56" name="TextBox 56"/>
            <p:cNvSpPr txBox="1"/>
            <p:nvPr/>
          </p:nvSpPr>
          <p:spPr>
            <a:xfrm>
              <a:off x="717804" y="4584700"/>
              <a:ext cx="332689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차값 차이는 최대 1,354만 원인데, 차량형 GPR은</a:t>
              </a:r>
              <a:br>
                <a:rPr lang="ko-KR" sz="1200" dirty="0">
                  <a:solidFill>
                    <a:srgbClr val="111827"/>
                  </a:solidFill>
                  <a:latin typeface="+mn-lt"/>
                  <a:ea typeface="+mn-ea"/>
                  <a:cs typeface="+mn-cs"/>
                </a:rPr>
              </a:br>
              <a:r>
                <a:rPr lang="ko-KR" sz="1200" dirty="0">
                  <a:solidFill>
                    <a:srgbClr val="111827"/>
                  </a:solidFill>
                  <a:latin typeface="+mn-lt"/>
                  <a:ea typeface="+mn-ea"/>
                  <a:cs typeface="+mn-cs"/>
                </a:rPr>
                <a:t xml:space="preserve">대당 </a:t>
              </a:r>
              <a:r>
                <a:rPr lang="ko-KR" sz="1200" b="1" dirty="0">
                  <a:solidFill>
                    <a:srgbClr val="111827"/>
                  </a:solidFill>
                  <a:latin typeface="+mn-lt"/>
                  <a:ea typeface="+mn-ea"/>
                  <a:cs typeface="+mn-cs"/>
                </a:rPr>
                <a:t>2억~8억 원</a:t>
              </a:r>
              <a:r>
                <a:rPr lang="ko-KR" sz="1200" dirty="0">
                  <a:solidFill>
                    <a:srgbClr val="111827"/>
                  </a:solidFill>
                  <a:latin typeface="+mn-lt"/>
                  <a:ea typeface="+mn-ea"/>
                  <a:cs typeface="+mn-cs"/>
                </a:rPr>
                <a:t>입니다. 차이를 가르는 건</a:t>
              </a:r>
              <a:br>
                <a:rPr lang="ko-KR" sz="1200" dirty="0">
                  <a:solidFill>
                    <a:srgbClr val="111827"/>
                  </a:solidFill>
                  <a:latin typeface="+mn-lt"/>
                  <a:ea typeface="+mn-ea"/>
                  <a:cs typeface="+mn-cs"/>
                </a:rPr>
              </a:br>
              <a:r>
                <a:rPr lang="ko-KR" sz="1200" dirty="0">
                  <a:solidFill>
                    <a:srgbClr val="111827"/>
                  </a:solidFill>
                  <a:latin typeface="+mn-lt"/>
                  <a:ea typeface="+mn-ea"/>
                  <a:cs typeface="+mn-cs"/>
                </a:rPr>
                <a:t>전원·고정 구조와 공식 컨버전 체계입니다.</a:t>
              </a:r>
            </a:p>
          </p:txBody>
        </p:sp>
        <p:sp>
          <p:nvSpPr>
            <p:cNvPr id="57" name="Rectangle 57"/>
            <p:cNvSpPr/>
            <p:nvPr/>
          </p:nvSpPr>
          <p:spPr>
            <a:xfrm>
              <a:off x="6210300" y="4248150"/>
              <a:ext cx="5448300" cy="1276350"/>
            </a:xfrm>
            <a:prstGeom prst="rect">
              <a:avLst/>
            </a:prstGeom>
            <a:solidFill>
              <a:srgbClr val="F3F5F8"/>
            </a:solidFill>
            <a:ln>
              <a:noFill/>
            </a:ln>
          </p:spPr>
        </p:sp>
        <p:sp>
          <p:nvSpPr>
            <p:cNvPr id="58" name="TextBox 58"/>
            <p:cNvSpPr txBox="1"/>
            <p:nvPr/>
          </p:nvSpPr>
          <p:spPr>
            <a:xfrm>
              <a:off x="6395085" y="4375150"/>
              <a:ext cx="1136292" cy="220028"/>
            </a:xfrm>
            <a:prstGeom prst="rect">
              <a:avLst/>
            </a:prstGeom>
            <a:noFill/>
            <a:ln>
              <a:noFill/>
            </a:ln>
          </p:spPr>
          <p:txBody>
            <a:bodyPr wrap="none" lIns="0" tIns="0" rIns="0" bIns="0" anchor="t" anchorCtr="0">
              <a:spAutoFit/>
            </a:bodyPr>
            <a:lstStyle/>
            <a:p>
              <a:pPr algn="l"/>
              <a:r>
                <a:rPr lang="ko-KR" sz="1120" b="1" dirty="0">
                  <a:solidFill>
                    <a:srgbClr val="C62828"/>
                  </a:solidFill>
                  <a:latin typeface="+mn-lt"/>
                  <a:ea typeface="+mn-ea"/>
                  <a:cs typeface="+mn-cs"/>
                </a:rPr>
                <a:t>PV5가 불리한 점</a:t>
              </a:r>
            </a:p>
          </p:txBody>
        </p:sp>
        <p:sp>
          <p:nvSpPr>
            <p:cNvPr id="59" name="TextBox 59"/>
            <p:cNvSpPr txBox="1"/>
            <p:nvPr/>
          </p:nvSpPr>
          <p:spPr>
            <a:xfrm>
              <a:off x="6394704" y="4584700"/>
              <a:ext cx="4126992" cy="6918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주행거리는 스타리아보다 10km 짧고, 전폭은 포터·봉고보다</a:t>
              </a:r>
              <a:br>
                <a:rPr lang="ko-KR" sz="1200" dirty="0">
                  <a:solidFill>
                    <a:srgbClr val="111827"/>
                  </a:solidFill>
                  <a:latin typeface="+mn-lt"/>
                  <a:ea typeface="+mn-ea"/>
                  <a:cs typeface="+mn-cs"/>
                </a:rPr>
              </a:br>
              <a:r>
                <a:rPr lang="ko-KR" sz="1200" dirty="0">
                  <a:solidFill>
                    <a:srgbClr val="111827"/>
                  </a:solidFill>
                  <a:latin typeface="+mn-lt"/>
                  <a:ea typeface="+mn-ea"/>
                  <a:cs typeface="+mn-cs"/>
                </a:rPr>
                <a:t xml:space="preserve">155mm 넓습니다. 하루 순찰 약 30km </a:t>
              </a:r>
              <a:r>
                <a:rPr lang="ko-KR" sz="1200" dirty="0">
                  <a:solidFill>
                    <a:srgbClr val="4B5563"/>
                  </a:solidFill>
                  <a:latin typeface="+mn-lt"/>
                  <a:ea typeface="+mn-ea"/>
                  <a:cs typeface="+mn-cs"/>
                </a:rPr>
                <a:t>[가설]</a:t>
              </a:r>
              <a:r>
                <a:rPr lang="ko-KR" sz="1200" dirty="0">
                  <a:solidFill>
                    <a:srgbClr val="111827"/>
                  </a:solidFill>
                  <a:latin typeface="+mn-lt"/>
                  <a:ea typeface="+mn-ea"/>
                  <a:cs typeface="+mn-cs"/>
                </a:rPr>
                <a:t>에는</a:t>
              </a:r>
              <a:br>
                <a:rPr lang="ko-KR" sz="1200" dirty="0">
                  <a:solidFill>
                    <a:srgbClr val="111827"/>
                  </a:solidFill>
                  <a:latin typeface="+mn-lt"/>
                  <a:ea typeface="+mn-ea"/>
                  <a:cs typeface="+mn-cs"/>
                </a:rPr>
              </a:br>
              <a:r>
                <a:rPr lang="ko-KR" sz="1200" dirty="0">
                  <a:solidFill>
                    <a:srgbClr val="111827"/>
                  </a:solidFill>
                  <a:latin typeface="+mn-lt"/>
                  <a:ea typeface="+mn-ea"/>
                  <a:cs typeface="+mn-cs"/>
                </a:rPr>
                <a:t>377km로 충분합니다.</a:t>
              </a:r>
            </a:p>
          </p:txBody>
        </p:sp>
      </p:grpSp>
      <p:grpSp>
        <p:nvGrpSpPr>
          <p:cNvPr id="63" name="conclusion"/>
          <p:cNvGrpSpPr/>
          <p:nvPr/>
        </p:nvGrpSpPr>
        <p:grpSpPr>
          <a:xfrm>
            <a:off x="533400" y="5657850"/>
            <a:ext cx="8992086" cy="495300"/>
            <a:chOff x="533400" y="5657850"/>
            <a:chExt cx="8992086" cy="495300"/>
          </a:xfrm>
        </p:grpSpPr>
        <p:sp>
          <p:nvSpPr>
            <p:cNvPr id="61" name="Rectangle 61"/>
            <p:cNvSpPr/>
            <p:nvPr/>
          </p:nvSpPr>
          <p:spPr>
            <a:xfrm>
              <a:off x="533400" y="5657850"/>
              <a:ext cx="38100" cy="495300"/>
            </a:xfrm>
            <a:prstGeom prst="rect">
              <a:avLst/>
            </a:prstGeom>
            <a:solidFill>
              <a:srgbClr val="F5B700"/>
            </a:solidFill>
            <a:ln>
              <a:noFill/>
            </a:ln>
          </p:spPr>
        </p:sp>
        <p:sp>
          <p:nvSpPr>
            <p:cNvPr id="62" name="TextBox 62"/>
            <p:cNvSpPr txBox="1"/>
            <p:nvPr/>
          </p:nvSpPr>
          <p:spPr>
            <a:xfrm>
              <a:off x="754380" y="5794375"/>
              <a:ext cx="877110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전원·고정 구조와 </a:t>
              </a:r>
              <a:r>
                <a:rPr lang="ko-KR" sz="1500" b="1" dirty="0">
                  <a:solidFill>
                    <a:srgbClr val="B45309"/>
                  </a:solidFill>
                  <a:latin typeface="+mn-lt"/>
                  <a:ea typeface="+mn-ea"/>
                  <a:cs typeface="+mn-cs"/>
                </a:rPr>
                <a:t>공식 컨버전 체계</a:t>
              </a:r>
              <a:r>
                <a:rPr lang="ko-KR" sz="1500" b="1" dirty="0">
                  <a:solidFill>
                    <a:srgbClr val="0B1E3C"/>
                  </a:solidFill>
                  <a:latin typeface="+mn-lt"/>
                  <a:ea typeface="+mn-ea"/>
                  <a:cs typeface="+mn-cs"/>
                </a:rPr>
                <a:t>를 갖춘 PV5로, 같은 탐사실을 여러 대에 그대로 복제합니다.</a:t>
              </a:r>
            </a:p>
          </p:txBody>
        </p:sp>
      </p:grpSp>
      <p:grpSp>
        <p:nvGrpSpPr>
          <p:cNvPr id="65" name="source"/>
          <p:cNvGrpSpPr/>
          <p:nvPr/>
        </p:nvGrpSpPr>
        <p:grpSpPr>
          <a:xfrm>
            <a:off x="528638" y="6248400"/>
            <a:ext cx="9925050" cy="328612"/>
            <a:chOff x="528638" y="6248400"/>
            <a:chExt cx="9925050" cy="328612"/>
          </a:xfrm>
        </p:grpSpPr>
        <p:sp>
          <p:nvSpPr>
            <p:cNvPr id="64" name="TextBox 64"/>
            <p:cNvSpPr txBox="1"/>
            <p:nvPr/>
          </p:nvSpPr>
          <p:spPr>
            <a:xfrm>
              <a:off x="528638" y="6248400"/>
              <a:ext cx="9925050" cy="328612"/>
            </a:xfrm>
            <a:prstGeom prst="rect">
              <a:avLst/>
            </a:prstGeom>
            <a:noFill/>
            <a:ln>
              <a:noFill/>
            </a:ln>
          </p:spPr>
          <p:txBody>
            <a:bodyPr wrap="none" lIns="0" tIns="0" rIns="0" bIns="0" anchor="t" anchorCtr="0">
              <a:spAutoFit/>
            </a:bodyPr>
            <a:lstStyle/>
            <a:p>
              <a:pPr algn="l">
                <a:lnSpc>
                  <a:spcPts val="1200"/>
                </a:lnSpc>
              </a:pPr>
              <a:r>
                <a:rPr lang="ko-KR" sz="900" dirty="0">
                  <a:solidFill>
                    <a:srgbClr val="4B5563"/>
                  </a:solidFill>
                  <a:latin typeface="+mn-lt"/>
                  <a:ea typeface="+mn-ea"/>
                  <a:cs typeface="+mn-cs"/>
                </a:rPr>
                <a:t>출처: 기아 PV5 카고 가격표(2026.10.1)·제원 · 오토뷰(2026, PV5 공식 컨버전 파트너·포털) · 스타리아 일렉트릭 출시(2026.4.23) · 2026 ST1 출시(2025.7.16)·현대차그룹 뉴스룸(317km)</a:t>
              </a:r>
              <a:br>
                <a:rPr lang="ko-KR" sz="900" dirty="0">
                  <a:solidFill>
                    <a:srgbClr val="4B5563"/>
                  </a:solidFill>
                  <a:latin typeface="+mn-lt"/>
                  <a:ea typeface="+mn-ea"/>
                  <a:cs typeface="+mn-cs"/>
                </a:rPr>
              </a:br>
              <a:r>
                <a:rPr lang="ko-KR" sz="900" dirty="0">
                  <a:solidFill>
                    <a:srgbClr val="4B5563"/>
                  </a:solidFill>
                  <a:latin typeface="+mn-lt"/>
                  <a:ea typeface="+mn-ea"/>
                  <a:cs typeface="+mn-cs"/>
                </a:rPr>
                <a:t>포터II·봉고III EV 2025년형 발표(217km) · 시사저널(2025.4.25, 경기도청 인용 GPR 대당 2억~8억 원) · 가격은 표기한 트림 기준, 보조금 제외</a:t>
              </a:r>
            </a:p>
          </p:txBody>
        </p:sp>
      </p:grpSp>
      <p:grpSp>
        <p:nvGrpSpPr>
          <p:cNvPr id="68" name="footer"/>
          <p:cNvGrpSpPr/>
          <p:nvPr/>
        </p:nvGrpSpPr>
        <p:grpSpPr>
          <a:xfrm>
            <a:off x="528638" y="6610350"/>
            <a:ext cx="11134724" cy="176212"/>
            <a:chOff x="528638" y="6610350"/>
            <a:chExt cx="11134724" cy="176212"/>
          </a:xfrm>
        </p:grpSpPr>
        <p:sp>
          <p:nvSpPr>
            <p:cNvPr id="66" name="TextBox 66"/>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67" name="TextBox 67"/>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08 / 12</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기술 실증 계획</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검증</a:t>
              </a:r>
            </a:p>
          </p:txBody>
        </p:sp>
        <p:sp>
          <p:nvSpPr>
            <p:cNvPr id="12" name="Rectangle 12"/>
            <p:cNvSpPr/>
            <p:nvPr/>
          </p:nvSpPr>
          <p:spPr>
            <a:xfrm>
              <a:off x="10229850" y="514350"/>
              <a:ext cx="457200" cy="28575"/>
            </a:xfrm>
            <a:prstGeom prst="rect">
              <a:avLst/>
            </a:prstGeom>
            <a:solidFill>
              <a:srgbClr val="F5B700"/>
            </a:solidFill>
            <a:ln>
              <a:noFill/>
            </a:ln>
          </p:spPr>
        </p:sp>
        <p:sp>
          <p:nvSpPr>
            <p:cNvPr id="13" name="TextBox 13"/>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4" name="TextBox 14"/>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사업</a:t>
              </a:r>
            </a:p>
          </p:txBody>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089477" cy="586740"/>
            <a:chOff x="518160" y="774700"/>
            <a:chExt cx="7089477" cy="586740"/>
          </a:xfrm>
        </p:grpSpPr>
        <p:sp>
          <p:nvSpPr>
            <p:cNvPr id="17" name="TextBox 17"/>
            <p:cNvSpPr txBox="1"/>
            <p:nvPr/>
          </p:nvSpPr>
          <p:spPr>
            <a:xfrm>
              <a:off x="518160" y="774700"/>
              <a:ext cx="7089477"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남은 질문은 4가지, 4단계로 실증합니다</a:t>
              </a:r>
            </a:p>
          </p:txBody>
        </p:sp>
      </p:grpSp>
      <p:grpSp>
        <p:nvGrpSpPr>
          <p:cNvPr id="20" name="lead"/>
          <p:cNvGrpSpPr/>
          <p:nvPr/>
        </p:nvGrpSpPr>
        <p:grpSpPr>
          <a:xfrm>
            <a:off x="526161" y="1346200"/>
            <a:ext cx="7971638" cy="278702"/>
            <a:chOff x="526161" y="1346200"/>
            <a:chExt cx="7971638" cy="278702"/>
          </a:xfrm>
        </p:grpSpPr>
        <p:sp>
          <p:nvSpPr>
            <p:cNvPr id="19" name="TextBox 19"/>
            <p:cNvSpPr txBox="1"/>
            <p:nvPr/>
          </p:nvSpPr>
          <p:spPr>
            <a:xfrm>
              <a:off x="526161" y="1346200"/>
              <a:ext cx="7971638" cy="278702"/>
            </a:xfrm>
            <a:prstGeom prst="rect">
              <a:avLst/>
            </a:prstGeom>
            <a:noFill/>
            <a:ln>
              <a:noFill/>
            </a:ln>
          </p:spPr>
          <p:txBody>
            <a:bodyPr wrap="none" lIns="0" tIns="0" rIns="0" bIns="0" anchor="t" anchorCtr="0">
              <a:spAutoFit/>
            </a:bodyPr>
            <a:lstStyle/>
            <a:p>
              <a:pPr algn="l"/>
              <a:r>
                <a:rPr lang="ko-KR" sz="1420" dirty="0">
                  <a:solidFill>
                    <a:srgbClr val="374151"/>
                  </a:solidFill>
                  <a:latin typeface="+mn-lt"/>
                  <a:ea typeface="+mn-ea"/>
                  <a:cs typeface="+mn-cs"/>
                </a:rPr>
                <a:t xml:space="preserve">반복 탐사의 효과는 연구로 확인됐습니다(3장). 남은 건 </a:t>
              </a:r>
              <a:r>
                <a:rPr lang="ko-KR" sz="1420" b="1" dirty="0">
                  <a:solidFill>
                    <a:srgbClr val="0B1E3C"/>
                  </a:solidFill>
                  <a:latin typeface="+mn-lt"/>
                  <a:ea typeface="+mn-ea"/>
                  <a:cs typeface="+mn-cs"/>
                </a:rPr>
                <a:t>PV5에 실었을 때도 정확한가</a:t>
              </a:r>
              <a:r>
                <a:rPr lang="ko-KR" sz="1420" dirty="0">
                  <a:solidFill>
                    <a:srgbClr val="374151"/>
                  </a:solidFill>
                  <a:latin typeface="+mn-lt"/>
                  <a:ea typeface="+mn-ea"/>
                  <a:cs typeface="+mn-cs"/>
                </a:rPr>
                <a:t>입니다.</a:t>
              </a:r>
            </a:p>
          </p:txBody>
        </p:sp>
      </p:grpSp>
      <p:grpSp>
        <p:nvGrpSpPr>
          <p:cNvPr id="45" name="questions"/>
          <p:cNvGrpSpPr/>
          <p:nvPr/>
        </p:nvGrpSpPr>
        <p:grpSpPr>
          <a:xfrm>
            <a:off x="527685" y="1835150"/>
            <a:ext cx="11130915" cy="2056702"/>
            <a:chOff x="527685" y="1835150"/>
            <a:chExt cx="11130915" cy="2056702"/>
          </a:xfrm>
        </p:grpSpPr>
        <p:grpSp>
          <p:nvGrpSpPr>
            <p:cNvPr id="24" name="Group 24"/>
            <p:cNvGrpSpPr/>
            <p:nvPr/>
          </p:nvGrpSpPr>
          <p:grpSpPr>
            <a:xfrm>
              <a:off x="528066" y="1835150"/>
              <a:ext cx="8321751" cy="205359"/>
              <a:chOff x="528066" y="1835150"/>
              <a:chExt cx="8321751" cy="205359"/>
            </a:xfrm>
          </p:grpSpPr>
          <p:sp>
            <p:nvSpPr>
              <p:cNvPr id="21" name="TextBox 21"/>
              <p:cNvSpPr txBox="1"/>
              <p:nvPr/>
            </p:nvSpPr>
            <p:spPr>
              <a:xfrm>
                <a:off x="528066" y="1835150"/>
                <a:ext cx="761949"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확인할 질문</a:t>
                </a:r>
              </a:p>
            </p:txBody>
          </p:sp>
          <p:sp>
            <p:nvSpPr>
              <p:cNvPr id="22" name="TextBox 22"/>
              <p:cNvSpPr txBox="1"/>
              <p:nvPr/>
            </p:nvSpPr>
            <p:spPr>
              <a:xfrm>
                <a:off x="4947666" y="1835150"/>
                <a:ext cx="479247"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안 되면</a:t>
                </a:r>
              </a:p>
            </p:txBody>
          </p:sp>
          <p:sp>
            <p:nvSpPr>
              <p:cNvPr id="23" name="TextBox 23"/>
              <p:cNvSpPr txBox="1"/>
              <p:nvPr/>
            </p:nvSpPr>
            <p:spPr>
              <a:xfrm>
                <a:off x="7805166" y="1835150"/>
                <a:ext cx="1044651"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어떻게 확인하나</a:t>
                </a:r>
              </a:p>
            </p:txBody>
          </p:sp>
        </p:grpSp>
        <p:sp>
          <p:nvSpPr>
            <p:cNvPr id="25" name="Line 25"/>
            <p:cNvSpPr/>
            <p:nvPr/>
          </p:nvSpPr>
          <p:spPr>
            <a:xfrm>
              <a:off x="533400" y="2057400"/>
              <a:ext cx="11125200" cy="9525"/>
            </a:xfrm>
            <a:custGeom>
              <a:avLst/>
              <a:gdLst/>
              <a:ahLst/>
              <a:cxnLst/>
              <a:rect l="l" t="t" r="r" b="b"/>
              <a:pathLst>
                <a:path w="11125200" h="9525">
                  <a:moveTo>
                    <a:pt x="0" y="0"/>
                  </a:moveTo>
                  <a:lnTo>
                    <a:pt x="11125200" y="0"/>
                  </a:lnTo>
                </a:path>
              </a:pathLst>
            </a:custGeom>
            <a:noFill/>
            <a:ln w="14288">
              <a:solidFill>
                <a:srgbClr val="0B1E3C"/>
              </a:solidFill>
            </a:ln>
          </p:spPr>
        </p:sp>
        <p:sp>
          <p:nvSpPr>
            <p:cNvPr id="26" name="TextBox 26"/>
            <p:cNvSpPr txBox="1"/>
            <p:nvPr/>
          </p:nvSpPr>
          <p:spPr>
            <a:xfrm>
              <a:off x="527685" y="22796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1</a:t>
              </a:r>
            </a:p>
          </p:txBody>
        </p:sp>
        <p:sp>
          <p:nvSpPr>
            <p:cNvPr id="27" name="TextBox 27"/>
            <p:cNvSpPr txBox="1"/>
            <p:nvPr/>
          </p:nvSpPr>
          <p:spPr>
            <a:xfrm>
              <a:off x="754761" y="2241550"/>
              <a:ext cx="2756981"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EV 구동계와 GPR의 전자파 간섭</a:t>
              </a:r>
            </a:p>
          </p:txBody>
        </p:sp>
        <p:sp>
          <p:nvSpPr>
            <p:cNvPr id="28" name="TextBox 28"/>
            <p:cNvSpPr txBox="1"/>
            <p:nvPr/>
          </p:nvSpPr>
          <p:spPr>
            <a:xfrm>
              <a:off x="4946523" y="2266950"/>
              <a:ext cx="2063486"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차량에서 측정 자체가 불가</a:t>
              </a:r>
            </a:p>
          </p:txBody>
        </p:sp>
        <p:sp>
          <p:nvSpPr>
            <p:cNvPr id="29" name="TextBox 29"/>
            <p:cNvSpPr txBox="1"/>
            <p:nvPr/>
          </p:nvSpPr>
          <p:spPr>
            <a:xfrm>
              <a:off x="7804023" y="2266950"/>
              <a:ext cx="256173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주행·정차·V2L 상태별 잡음 비교</a:t>
              </a:r>
            </a:p>
          </p:txBody>
        </p:sp>
        <p:sp>
          <p:nvSpPr>
            <p:cNvPr id="30" name="Line 30"/>
            <p:cNvSpPr/>
            <p:nvPr/>
          </p:nvSpPr>
          <p:spPr>
            <a:xfrm>
              <a:off x="533400" y="25908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1" name="TextBox 31"/>
            <p:cNvSpPr txBox="1"/>
            <p:nvPr/>
          </p:nvSpPr>
          <p:spPr>
            <a:xfrm>
              <a:off x="527685" y="27368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2</a:t>
              </a:r>
            </a:p>
          </p:txBody>
        </p:sp>
        <p:sp>
          <p:nvSpPr>
            <p:cNvPr id="32" name="TextBox 32"/>
            <p:cNvSpPr txBox="1"/>
            <p:nvPr/>
          </p:nvSpPr>
          <p:spPr>
            <a:xfrm>
              <a:off x="754761" y="2698750"/>
              <a:ext cx="2489049"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회차마다 같은 자리를 찍는가</a:t>
              </a:r>
            </a:p>
          </p:txBody>
        </p:sp>
        <p:sp>
          <p:nvSpPr>
            <p:cNvPr id="33" name="TextBox 33"/>
            <p:cNvSpPr txBox="1"/>
            <p:nvPr/>
          </p:nvSpPr>
          <p:spPr>
            <a:xfrm>
              <a:off x="4946523" y="2724150"/>
              <a:ext cx="1322537"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변화 비교가 불가</a:t>
              </a:r>
            </a:p>
          </p:txBody>
        </p:sp>
        <p:sp>
          <p:nvSpPr>
            <p:cNvPr id="34" name="TextBox 34"/>
            <p:cNvSpPr txBox="1"/>
            <p:nvPr/>
          </p:nvSpPr>
          <p:spPr>
            <a:xfrm>
              <a:off x="7804023" y="2724150"/>
              <a:ext cx="2510851"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RTK·IMU·휠 인코더로 위치 정합</a:t>
              </a:r>
            </a:p>
          </p:txBody>
        </p:sp>
        <p:sp>
          <p:nvSpPr>
            <p:cNvPr id="35" name="Line 35"/>
            <p:cNvSpPr/>
            <p:nvPr/>
          </p:nvSpPr>
          <p:spPr>
            <a:xfrm>
              <a:off x="533400" y="30480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36" name="TextBox 36"/>
            <p:cNvSpPr txBox="1"/>
            <p:nvPr/>
          </p:nvSpPr>
          <p:spPr>
            <a:xfrm>
              <a:off x="527685" y="31940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3</a:t>
              </a:r>
            </a:p>
          </p:txBody>
        </p:sp>
        <p:sp>
          <p:nvSpPr>
            <p:cNvPr id="37" name="TextBox 37"/>
            <p:cNvSpPr txBox="1"/>
            <p:nvPr/>
          </p:nvSpPr>
          <p:spPr>
            <a:xfrm>
              <a:off x="754761" y="3155950"/>
              <a:ext cx="2286996"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AI가 변화를 맞게 고르는가</a:t>
              </a:r>
            </a:p>
          </p:txBody>
        </p:sp>
        <p:sp>
          <p:nvSpPr>
            <p:cNvPr id="38" name="TextBox 38"/>
            <p:cNvSpPr txBox="1"/>
            <p:nvPr/>
          </p:nvSpPr>
          <p:spPr>
            <a:xfrm>
              <a:off x="4946523" y="3181350"/>
              <a:ext cx="1494851"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재확인 출동이 과다</a:t>
              </a:r>
            </a:p>
          </p:txBody>
        </p:sp>
        <p:sp>
          <p:nvSpPr>
            <p:cNvPr id="39" name="TextBox 39"/>
            <p:cNvSpPr txBox="1"/>
            <p:nvPr/>
          </p:nvSpPr>
          <p:spPr>
            <a:xfrm>
              <a:off x="7804023" y="3181350"/>
              <a:ext cx="2261646"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공동 모사체 구간 · 계절 보정</a:t>
              </a:r>
            </a:p>
          </p:txBody>
        </p:sp>
        <p:sp>
          <p:nvSpPr>
            <p:cNvPr id="40" name="Line 40"/>
            <p:cNvSpPr/>
            <p:nvPr/>
          </p:nvSpPr>
          <p:spPr>
            <a:xfrm>
              <a:off x="533400" y="3505200"/>
              <a:ext cx="11125200" cy="9525"/>
            </a:xfrm>
            <a:custGeom>
              <a:avLst/>
              <a:gdLst/>
              <a:ahLst/>
              <a:cxnLst/>
              <a:rect l="l" t="t" r="r" b="b"/>
              <a:pathLst>
                <a:path w="11125200" h="9525">
                  <a:moveTo>
                    <a:pt x="0" y="0"/>
                  </a:moveTo>
                  <a:lnTo>
                    <a:pt x="11125200" y="0"/>
                  </a:lnTo>
                </a:path>
              </a:pathLst>
            </a:custGeom>
            <a:noFill/>
            <a:ln w="9525">
              <a:solidFill>
                <a:srgbClr val="E2E6EC"/>
              </a:solidFill>
            </a:ln>
          </p:spPr>
        </p:sp>
        <p:sp>
          <p:nvSpPr>
            <p:cNvPr id="41" name="TextBox 41"/>
            <p:cNvSpPr txBox="1"/>
            <p:nvPr/>
          </p:nvSpPr>
          <p:spPr>
            <a:xfrm>
              <a:off x="527685" y="3651250"/>
              <a:ext cx="9850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4</a:t>
              </a:r>
            </a:p>
          </p:txBody>
        </p:sp>
        <p:sp>
          <p:nvSpPr>
            <p:cNvPr id="42" name="TextBox 42"/>
            <p:cNvSpPr txBox="1"/>
            <p:nvPr/>
          </p:nvSpPr>
          <p:spPr>
            <a:xfrm>
              <a:off x="754761" y="3613150"/>
              <a:ext cx="2152264" cy="278702"/>
            </a:xfrm>
            <a:prstGeom prst="rect">
              <a:avLst/>
            </a:prstGeom>
            <a:noFill/>
            <a:ln>
              <a:noFill/>
            </a:ln>
          </p:spPr>
          <p:txBody>
            <a:bodyPr wrap="none" lIns="0" tIns="0" rIns="0" bIns="0" anchor="t" anchorCtr="0">
              <a:spAutoFit/>
            </a:bodyPr>
            <a:lstStyle/>
            <a:p>
              <a:pPr algn="l"/>
              <a:r>
                <a:rPr lang="ko-KR" sz="1420" b="1" dirty="0">
                  <a:solidFill>
                    <a:srgbClr val="0B1E3C"/>
                  </a:solidFill>
                  <a:latin typeface="+mn-lt"/>
                  <a:ea typeface="+mn-ea"/>
                  <a:cs typeface="+mn-cs"/>
                </a:rPr>
                <a:t>밤에 AR이 정확히 맞는가</a:t>
              </a:r>
            </a:p>
          </p:txBody>
        </p:sp>
        <p:sp>
          <p:nvSpPr>
            <p:cNvPr id="43" name="TextBox 43"/>
            <p:cNvSpPr txBox="1"/>
            <p:nvPr/>
          </p:nvSpPr>
          <p:spPr>
            <a:xfrm>
              <a:off x="4946523" y="3638550"/>
              <a:ext cx="1718859" cy="250317"/>
            </a:xfrm>
            <a:prstGeom prst="rect">
              <a:avLst/>
            </a:prstGeom>
            <a:noFill/>
            <a:ln>
              <a:noFill/>
            </a:ln>
          </p:spPr>
          <p:txBody>
            <a:bodyPr wrap="none" lIns="0" tIns="0" rIns="0" bIns="0" anchor="t" anchorCtr="0">
              <a:spAutoFit/>
            </a:bodyPr>
            <a:lstStyle/>
            <a:p>
              <a:pPr algn="l"/>
              <a:r>
                <a:rPr lang="ko-KR" sz="1280" dirty="0">
                  <a:solidFill>
                    <a:srgbClr val="C62828"/>
                  </a:solidFill>
                  <a:latin typeface="+mn-lt"/>
                  <a:ea typeface="+mn-ea"/>
                  <a:cs typeface="+mn-cs"/>
                </a:rPr>
                <a:t>현장 탐색 범위가 커짐</a:t>
              </a:r>
            </a:p>
          </p:txBody>
        </p:sp>
        <p:sp>
          <p:nvSpPr>
            <p:cNvPr id="44" name="TextBox 44"/>
            <p:cNvSpPr txBox="1"/>
            <p:nvPr/>
          </p:nvSpPr>
          <p:spPr>
            <a:xfrm>
              <a:off x="7804023" y="3638550"/>
              <a:ext cx="2330572" cy="250317"/>
            </a:xfrm>
            <a:prstGeom prst="rect">
              <a:avLst/>
            </a:prstGeom>
            <a:noFill/>
            <a:ln>
              <a:noFill/>
            </a:ln>
          </p:spPr>
          <p:txBody>
            <a:bodyPr wrap="none" lIns="0" tIns="0" rIns="0" bIns="0" anchor="t" anchorCtr="0">
              <a:spAutoFit/>
            </a:bodyPr>
            <a:lstStyle/>
            <a:p>
              <a:pPr algn="l"/>
              <a:r>
                <a:rPr lang="ko-KR" sz="1280" dirty="0">
                  <a:solidFill>
                    <a:srgbClr val="111827"/>
                  </a:solidFill>
                  <a:latin typeface="+mn-lt"/>
                  <a:ea typeface="+mn-ea"/>
                  <a:cs typeface="+mn-cs"/>
                </a:rPr>
                <a:t>맨홀·경계석 기준점 오차 측정</a:t>
              </a:r>
            </a:p>
          </p:txBody>
        </p:sp>
      </p:grpSp>
      <p:grpSp>
        <p:nvGrpSpPr>
          <p:cNvPr id="66" name="stages"/>
          <p:cNvGrpSpPr/>
          <p:nvPr/>
        </p:nvGrpSpPr>
        <p:grpSpPr>
          <a:xfrm>
            <a:off x="527685" y="4298950"/>
            <a:ext cx="11140440" cy="1168400"/>
            <a:chOff x="527685" y="4298950"/>
            <a:chExt cx="11140440" cy="1168400"/>
          </a:xfrm>
        </p:grpSpPr>
        <p:sp>
          <p:nvSpPr>
            <p:cNvPr id="46" name="TextBox 46"/>
            <p:cNvSpPr txBox="1"/>
            <p:nvPr/>
          </p:nvSpPr>
          <p:spPr>
            <a:xfrm>
              <a:off x="527685" y="4298950"/>
              <a:ext cx="662022"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실증 순서</a:t>
              </a:r>
            </a:p>
          </p:txBody>
        </p:sp>
        <p:sp>
          <p:nvSpPr>
            <p:cNvPr id="47" name="Rectangle 47"/>
            <p:cNvSpPr/>
            <p:nvPr/>
          </p:nvSpPr>
          <p:spPr>
            <a:xfrm>
              <a:off x="533400" y="4572000"/>
              <a:ext cx="2647950" cy="895350"/>
            </a:xfrm>
            <a:prstGeom prst="rect">
              <a:avLst/>
            </a:prstGeom>
            <a:solidFill>
              <a:srgbClr val="F3F5F8"/>
            </a:solidFill>
            <a:ln>
              <a:noFill/>
            </a:ln>
          </p:spPr>
        </p:sp>
        <p:sp>
          <p:nvSpPr>
            <p:cNvPr id="48" name="TextBox 48"/>
            <p:cNvSpPr txBox="1"/>
            <p:nvPr/>
          </p:nvSpPr>
          <p:spPr>
            <a:xfrm>
              <a:off x="699516" y="4711700"/>
              <a:ext cx="954539"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1단계 · 질문 1</a:t>
              </a:r>
            </a:p>
          </p:txBody>
        </p:sp>
        <p:sp>
          <p:nvSpPr>
            <p:cNvPr id="49" name="TextBox 49"/>
            <p:cNvSpPr txBox="1"/>
            <p:nvPr/>
          </p:nvSpPr>
          <p:spPr>
            <a:xfrm>
              <a:off x="697230" y="4927600"/>
              <a:ext cx="1088498"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폐쇄 시험장</a:t>
              </a:r>
            </a:p>
          </p:txBody>
        </p:sp>
        <p:sp>
          <p:nvSpPr>
            <p:cNvPr id="50" name="TextBox 50"/>
            <p:cNvSpPr txBox="1"/>
            <p:nvPr/>
          </p:nvSpPr>
          <p:spPr>
            <a:xfrm>
              <a:off x="699135"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차량 측정 가능</a:t>
              </a:r>
            </a:p>
          </p:txBody>
        </p:sp>
        <p:sp>
          <p:nvSpPr>
            <p:cNvPr id="51" name="TextBox 51"/>
            <p:cNvSpPr txBox="1"/>
            <p:nvPr/>
          </p:nvSpPr>
          <p:spPr>
            <a:xfrm>
              <a:off x="3250692" y="492125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2" name="Rectangle 52"/>
            <p:cNvSpPr/>
            <p:nvPr/>
          </p:nvSpPr>
          <p:spPr>
            <a:xfrm>
              <a:off x="3362325" y="4572000"/>
              <a:ext cx="2647950" cy="895350"/>
            </a:xfrm>
            <a:prstGeom prst="rect">
              <a:avLst/>
            </a:prstGeom>
            <a:solidFill>
              <a:srgbClr val="F3F5F8"/>
            </a:solidFill>
            <a:ln>
              <a:noFill/>
            </a:ln>
          </p:spPr>
        </p:sp>
        <p:sp>
          <p:nvSpPr>
            <p:cNvPr id="53" name="TextBox 53"/>
            <p:cNvSpPr txBox="1"/>
            <p:nvPr/>
          </p:nvSpPr>
          <p:spPr>
            <a:xfrm>
              <a:off x="3528441" y="4711700"/>
              <a:ext cx="1117800"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2단계 · 질문 2·3</a:t>
              </a:r>
            </a:p>
          </p:txBody>
        </p:sp>
        <p:sp>
          <p:nvSpPr>
            <p:cNvPr id="54" name="TextBox 54"/>
            <p:cNvSpPr txBox="1"/>
            <p:nvPr/>
          </p:nvSpPr>
          <p:spPr>
            <a:xfrm>
              <a:off x="3526155" y="4927600"/>
              <a:ext cx="155596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통제된 시험 구간</a:t>
              </a:r>
            </a:p>
          </p:txBody>
        </p:sp>
        <p:sp>
          <p:nvSpPr>
            <p:cNvPr id="55" name="TextBox 55"/>
            <p:cNvSpPr txBox="1"/>
            <p:nvPr/>
          </p:nvSpPr>
          <p:spPr>
            <a:xfrm>
              <a:off x="3528060" y="5213350"/>
              <a:ext cx="1481480"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회차 비교 가능</a:t>
              </a:r>
            </a:p>
          </p:txBody>
        </p:sp>
        <p:sp>
          <p:nvSpPr>
            <p:cNvPr id="56" name="TextBox 56"/>
            <p:cNvSpPr txBox="1"/>
            <p:nvPr/>
          </p:nvSpPr>
          <p:spPr>
            <a:xfrm>
              <a:off x="6079617" y="492125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57" name="Rectangle 57"/>
            <p:cNvSpPr/>
            <p:nvPr/>
          </p:nvSpPr>
          <p:spPr>
            <a:xfrm>
              <a:off x="6191250" y="4572000"/>
              <a:ext cx="2647950" cy="895350"/>
            </a:xfrm>
            <a:prstGeom prst="rect">
              <a:avLst/>
            </a:prstGeom>
            <a:solidFill>
              <a:srgbClr val="F3F5F8"/>
            </a:solidFill>
            <a:ln>
              <a:noFill/>
            </a:ln>
          </p:spPr>
        </p:sp>
        <p:sp>
          <p:nvSpPr>
            <p:cNvPr id="58" name="TextBox 58"/>
            <p:cNvSpPr txBox="1"/>
            <p:nvPr/>
          </p:nvSpPr>
          <p:spPr>
            <a:xfrm>
              <a:off x="6357366" y="4711700"/>
              <a:ext cx="1117800" cy="205359"/>
            </a:xfrm>
            <a:prstGeom prst="rect">
              <a:avLst/>
            </a:prstGeom>
            <a:noFill/>
            <a:ln>
              <a:noFill/>
            </a:ln>
          </p:spPr>
          <p:txBody>
            <a:bodyPr wrap="none" lIns="0" tIns="0" rIns="0" bIns="0" anchor="t" anchorCtr="0">
              <a:spAutoFit/>
            </a:bodyPr>
            <a:lstStyle/>
            <a:p>
              <a:pPr algn="l"/>
              <a:r>
                <a:rPr lang="ko-KR" sz="1050" b="1" dirty="0">
                  <a:solidFill>
                    <a:srgbClr val="B45309"/>
                  </a:solidFill>
                  <a:latin typeface="+mn-lt"/>
                  <a:ea typeface="+mn-ea"/>
                  <a:cs typeface="+mn-cs"/>
                </a:rPr>
                <a:t>3단계 · 질문 3·4</a:t>
              </a:r>
            </a:p>
          </p:txBody>
        </p:sp>
        <p:sp>
          <p:nvSpPr>
            <p:cNvPr id="59" name="TextBox 59"/>
            <p:cNvSpPr txBox="1"/>
            <p:nvPr/>
          </p:nvSpPr>
          <p:spPr>
            <a:xfrm>
              <a:off x="6355080" y="4927600"/>
              <a:ext cx="1757896"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실제 도로 위험구간</a:t>
              </a:r>
            </a:p>
          </p:txBody>
        </p:sp>
        <p:sp>
          <p:nvSpPr>
            <p:cNvPr id="60" name="TextBox 60"/>
            <p:cNvSpPr txBox="1"/>
            <p:nvPr/>
          </p:nvSpPr>
          <p:spPr>
            <a:xfrm>
              <a:off x="6356985" y="5213350"/>
              <a:ext cx="1240241" cy="220028"/>
            </a:xfrm>
            <a:prstGeom prst="rect">
              <a:avLst/>
            </a:prstGeom>
            <a:noFill/>
            <a:ln>
              <a:noFill/>
            </a:ln>
          </p:spPr>
          <p:txBody>
            <a:bodyPr wrap="none" lIns="0" tIns="0" rIns="0" bIns="0" anchor="t" anchorCtr="0">
              <a:spAutoFit/>
            </a:bodyPr>
            <a:lstStyle/>
            <a:p>
              <a:pPr algn="l"/>
              <a:r>
                <a:rPr lang="ko-KR" sz="1120" dirty="0">
                  <a:solidFill>
                    <a:srgbClr val="0B1E3C"/>
                  </a:solidFill>
                  <a:latin typeface="+mn-lt"/>
                  <a:ea typeface="+mn-ea"/>
                  <a:cs typeface="+mn-cs"/>
                </a:rPr>
                <a:t>통과 → 실증확인서</a:t>
              </a:r>
            </a:p>
          </p:txBody>
        </p:sp>
        <p:sp>
          <p:nvSpPr>
            <p:cNvPr id="61" name="TextBox 61"/>
            <p:cNvSpPr txBox="1"/>
            <p:nvPr/>
          </p:nvSpPr>
          <p:spPr>
            <a:xfrm>
              <a:off x="8908542" y="4921250"/>
              <a:ext cx="113671" cy="264033"/>
            </a:xfrm>
            <a:prstGeom prst="rect">
              <a:avLst/>
            </a:prstGeom>
            <a:noFill/>
            <a:ln>
              <a:noFill/>
            </a:ln>
          </p:spPr>
          <p:txBody>
            <a:bodyPr wrap="none" lIns="0" tIns="0" rIns="0" bIns="0" anchor="t" anchorCtr="0">
              <a:spAutoFit/>
            </a:bodyPr>
            <a:lstStyle/>
            <a:p>
              <a:pPr algn="l"/>
              <a:r>
                <a:rPr lang="ko-KR" sz="1350" dirty="0">
                  <a:solidFill>
                    <a:srgbClr val="4B5563"/>
                  </a:solidFill>
                  <a:latin typeface="+mn-lt"/>
                  <a:ea typeface="+mn-ea"/>
                  <a:cs typeface="+mn-cs"/>
                </a:rPr>
                <a:t>›</a:t>
              </a:r>
            </a:p>
          </p:txBody>
        </p:sp>
        <p:sp>
          <p:nvSpPr>
            <p:cNvPr id="62" name="Rectangle 62"/>
            <p:cNvSpPr/>
            <p:nvPr/>
          </p:nvSpPr>
          <p:spPr>
            <a:xfrm>
              <a:off x="9020175" y="4572000"/>
              <a:ext cx="2647950" cy="895350"/>
            </a:xfrm>
            <a:prstGeom prst="rect">
              <a:avLst/>
            </a:prstGeom>
            <a:solidFill>
              <a:srgbClr val="0B1E3C"/>
            </a:solidFill>
            <a:ln>
              <a:noFill/>
            </a:ln>
          </p:spPr>
        </p:sp>
        <p:sp>
          <p:nvSpPr>
            <p:cNvPr id="63" name="TextBox 63"/>
            <p:cNvSpPr txBox="1"/>
            <p:nvPr/>
          </p:nvSpPr>
          <p:spPr>
            <a:xfrm>
              <a:off x="9186291" y="4711700"/>
              <a:ext cx="1616769"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4단계 · 소요시간·재방문</a:t>
              </a:r>
            </a:p>
          </p:txBody>
        </p:sp>
        <p:sp>
          <p:nvSpPr>
            <p:cNvPr id="64" name="TextBox 64"/>
            <p:cNvSpPr txBox="1"/>
            <p:nvPr/>
          </p:nvSpPr>
          <p:spPr>
            <a:xfrm>
              <a:off x="9184005" y="4927600"/>
              <a:ext cx="886568" cy="293370"/>
            </a:xfrm>
            <a:prstGeom prst="rect">
              <a:avLst/>
            </a:prstGeom>
            <a:noFill/>
            <a:ln>
              <a:noFill/>
            </a:ln>
          </p:spPr>
          <p:txBody>
            <a:bodyPr wrap="none" lIns="0" tIns="0" rIns="0" bIns="0" anchor="t" anchorCtr="0">
              <a:spAutoFit/>
            </a:bodyPr>
            <a:lstStyle/>
            <a:p>
              <a:pPr algn="l"/>
              <a:r>
                <a:rPr lang="ko-KR" sz="1500" b="1" dirty="0">
                  <a:solidFill>
                    <a:srgbClr val="FFFFFF"/>
                  </a:solidFill>
                  <a:latin typeface="+mn-lt"/>
                  <a:ea typeface="+mn-ea"/>
                  <a:cs typeface="+mn-cs"/>
                </a:rPr>
                <a:t>실제 운영</a:t>
              </a:r>
            </a:p>
          </p:txBody>
        </p:sp>
        <p:sp>
          <p:nvSpPr>
            <p:cNvPr id="65" name="TextBox 65"/>
            <p:cNvSpPr txBox="1"/>
            <p:nvPr/>
          </p:nvSpPr>
          <p:spPr>
            <a:xfrm>
              <a:off x="9185910" y="5213350"/>
              <a:ext cx="1481480" cy="220028"/>
            </a:xfrm>
            <a:prstGeom prst="rect">
              <a:avLst/>
            </a:prstGeom>
            <a:noFill/>
            <a:ln>
              <a:noFill/>
            </a:ln>
          </p:spPr>
          <p:txBody>
            <a:bodyPr wrap="none" lIns="0" tIns="0" rIns="0" bIns="0" anchor="t" anchorCtr="0">
              <a:spAutoFit/>
            </a:bodyPr>
            <a:lstStyle/>
            <a:p>
              <a:pPr algn="l"/>
              <a:r>
                <a:rPr lang="ko-KR" sz="1120" dirty="0">
                  <a:solidFill>
                    <a:srgbClr val="FFFFFF"/>
                  </a:solidFill>
                  <a:latin typeface="+mn-lt"/>
                  <a:ea typeface="+mn-ea"/>
                  <a:cs typeface="+mn-cs"/>
                </a:rPr>
                <a:t>통과 → 연간 관제 계약</a:t>
              </a:r>
            </a:p>
          </p:txBody>
        </p:sp>
      </p:grpSp>
      <p:grpSp>
        <p:nvGrpSpPr>
          <p:cNvPr id="69" name="conclusion"/>
          <p:cNvGrpSpPr/>
          <p:nvPr/>
        </p:nvGrpSpPr>
        <p:grpSpPr>
          <a:xfrm>
            <a:off x="533400" y="5715000"/>
            <a:ext cx="6510362" cy="419100"/>
            <a:chOff x="533400" y="5715000"/>
            <a:chExt cx="6510362" cy="419100"/>
          </a:xfrm>
        </p:grpSpPr>
        <p:sp>
          <p:nvSpPr>
            <p:cNvPr id="67" name="Rectangle 67"/>
            <p:cNvSpPr/>
            <p:nvPr/>
          </p:nvSpPr>
          <p:spPr>
            <a:xfrm>
              <a:off x="533400" y="5715000"/>
              <a:ext cx="38100" cy="419100"/>
            </a:xfrm>
            <a:prstGeom prst="rect">
              <a:avLst/>
            </a:prstGeom>
            <a:solidFill>
              <a:srgbClr val="F5B700"/>
            </a:solidFill>
            <a:ln>
              <a:noFill/>
            </a:ln>
          </p:spPr>
        </p:sp>
        <p:sp>
          <p:nvSpPr>
            <p:cNvPr id="68" name="TextBox 68"/>
            <p:cNvSpPr txBox="1"/>
            <p:nvPr/>
          </p:nvSpPr>
          <p:spPr>
            <a:xfrm>
              <a:off x="715899" y="5810250"/>
              <a:ext cx="6327863"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정확도 숫자를 미리 약속하지 않고, 단계마다 통과 조건을 둡니다.</a:t>
              </a:r>
            </a:p>
          </p:txBody>
        </p:sp>
      </p:grpSp>
      <p:grpSp>
        <p:nvGrpSpPr>
          <p:cNvPr id="71" name="source"/>
          <p:cNvGrpSpPr/>
          <p:nvPr/>
        </p:nvGrpSpPr>
        <p:grpSpPr>
          <a:xfrm>
            <a:off x="528638" y="6381750"/>
            <a:ext cx="9087345" cy="176212"/>
            <a:chOff x="528638" y="6381750"/>
            <a:chExt cx="9087345" cy="176212"/>
          </a:xfrm>
        </p:grpSpPr>
        <p:sp>
          <p:nvSpPr>
            <p:cNvPr id="70" name="TextBox 70"/>
            <p:cNvSpPr txBox="1"/>
            <p:nvPr/>
          </p:nvSpPr>
          <p:spPr>
            <a:xfrm>
              <a:off x="528638" y="6381750"/>
              <a:ext cx="9087345"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인허가: 도로 영상은 개인정보보호법 제25조의2(2023.9)대로 차량 외부 표시 · GPR 전파 적합성평가·튜닝 승인은 사업화 전 확인 · 출처: 일본 국토교통성 연구(2021)</a:t>
              </a:r>
            </a:p>
          </p:txBody>
        </p:sp>
      </p:grpSp>
      <p:grpSp>
        <p:nvGrpSpPr>
          <p:cNvPr id="74" name="footer"/>
          <p:cNvGrpSpPr/>
          <p:nvPr/>
        </p:nvGrpSpPr>
        <p:grpSpPr>
          <a:xfrm>
            <a:off x="528638" y="6610350"/>
            <a:ext cx="11134724" cy="176212"/>
            <a:chOff x="528638" y="6610350"/>
            <a:chExt cx="11134724" cy="176212"/>
          </a:xfrm>
        </p:grpSpPr>
        <p:sp>
          <p:nvSpPr>
            <p:cNvPr id="72" name="TextBox 72"/>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73" name="TextBox 73"/>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09 / 12</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759828"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시장과 수지</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160" y="774700"/>
            <a:ext cx="7772133" cy="586740"/>
            <a:chOff x="518160" y="774700"/>
            <a:chExt cx="7772133" cy="586740"/>
          </a:xfrm>
        </p:grpSpPr>
        <p:sp>
          <p:nvSpPr>
            <p:cNvPr id="17" name="TextBox 17"/>
            <p:cNvSpPr txBox="1"/>
            <p:nvPr/>
          </p:nvSpPr>
          <p:spPr>
            <a:xfrm>
              <a:off x="518160" y="774700"/>
              <a:ext cx="7772133" cy="586740"/>
            </a:xfrm>
            <a:prstGeom prst="rect">
              <a:avLst/>
            </a:prstGeom>
            <a:noFill/>
            <a:ln>
              <a:noFill/>
            </a:ln>
          </p:spPr>
          <p:txBody>
            <a:bodyPr wrap="none" lIns="0" tIns="0" rIns="0" bIns="0" anchor="t" anchorCtr="0">
              <a:spAutoFit/>
            </a:bodyPr>
            <a:lstStyle/>
            <a:p>
              <a:pPr algn="l"/>
              <a:r>
                <a:rPr lang="ko-KR" sz="3000" b="1" spc="-75" dirty="0">
                  <a:solidFill>
                    <a:srgbClr val="0B1E3C"/>
                  </a:solidFill>
                  <a:latin typeface="+mn-lt"/>
                  <a:ea typeface="+mn-ea"/>
                  <a:cs typeface="+mn-cs"/>
                </a:rPr>
                <a:t>차량 1대가 자치구 2곳만 맡아도 흑자입니다</a:t>
              </a:r>
            </a:p>
          </p:txBody>
        </p:sp>
      </p:grpSp>
      <p:grpSp>
        <p:nvGrpSpPr>
          <p:cNvPr id="25" name="market"/>
          <p:cNvGrpSpPr/>
          <p:nvPr/>
        </p:nvGrpSpPr>
        <p:grpSpPr>
          <a:xfrm>
            <a:off x="521970" y="1397000"/>
            <a:ext cx="10412166" cy="607378"/>
            <a:chOff x="521970" y="1397000"/>
            <a:chExt cx="10412166" cy="607378"/>
          </a:xfrm>
        </p:grpSpPr>
        <p:sp>
          <p:nvSpPr>
            <p:cNvPr id="19" name="TextBox 19"/>
            <p:cNvSpPr txBox="1"/>
            <p:nvPr/>
          </p:nvSpPr>
          <p:spPr>
            <a:xfrm>
              <a:off x="521970" y="1397000"/>
              <a:ext cx="1485843" cy="440055"/>
            </a:xfrm>
            <a:prstGeom prst="rect">
              <a:avLst/>
            </a:prstGeom>
            <a:noFill/>
            <a:ln>
              <a:noFill/>
            </a:ln>
          </p:spPr>
          <p:txBody>
            <a:bodyPr wrap="none" lIns="0" tIns="0" rIns="0" bIns="0" anchor="t" anchorCtr="0">
              <a:spAutoFit/>
            </a:bodyPr>
            <a:lstStyle/>
            <a:p>
              <a:pPr algn="l"/>
              <a:r>
                <a:rPr lang="en-US" sz="2250" b="1" dirty="0">
                  <a:solidFill>
                    <a:srgbClr val="0B1E3C"/>
                  </a:solidFill>
                  <a:latin typeface="+mn-lt"/>
                  <a:ea typeface="+mn-ea"/>
                  <a:cs typeface="+mn-cs"/>
                </a:rPr>
                <a:t>96,712km</a:t>
              </a:r>
            </a:p>
          </p:txBody>
        </p:sp>
        <p:sp>
          <p:nvSpPr>
            <p:cNvPr id="20" name="TextBox 20"/>
            <p:cNvSpPr txBox="1"/>
            <p:nvPr/>
          </p:nvSpPr>
          <p:spPr>
            <a:xfrm>
              <a:off x="527685" y="1784350"/>
              <a:ext cx="259721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지자체가 관리하는 도로 (전국의 83%)</a:t>
              </a:r>
            </a:p>
          </p:txBody>
        </p:sp>
        <p:sp>
          <p:nvSpPr>
            <p:cNvPr id="21" name="TextBox 21"/>
            <p:cNvSpPr txBox="1"/>
            <p:nvPr/>
          </p:nvSpPr>
          <p:spPr>
            <a:xfrm>
              <a:off x="4293870" y="1397000"/>
              <a:ext cx="2726198" cy="440055"/>
            </a:xfrm>
            <a:prstGeom prst="rect">
              <a:avLst/>
            </a:prstGeom>
            <a:noFill/>
            <a:ln>
              <a:noFill/>
            </a:ln>
          </p:spPr>
          <p:txBody>
            <a:bodyPr wrap="none" lIns="0" tIns="0" rIns="0" bIns="0" anchor="t" anchorCtr="0">
              <a:spAutoFit/>
            </a:bodyPr>
            <a:lstStyle/>
            <a:p>
              <a:pPr algn="l"/>
              <a:r>
                <a:rPr lang="en-US" sz="2250" b="1" dirty="0">
                  <a:solidFill>
                    <a:srgbClr val="0B1E3C"/>
                  </a:solidFill>
                  <a:latin typeface="+mn-lt"/>
                  <a:ea typeface="+mn-ea"/>
                  <a:cs typeface="+mn-cs"/>
                </a:rPr>
                <a:t>2,308 → 11,380km</a:t>
              </a:r>
            </a:p>
          </p:txBody>
        </p:sp>
        <p:sp>
          <p:nvSpPr>
            <p:cNvPr id="22" name="TextBox 22"/>
            <p:cNvSpPr txBox="1"/>
            <p:nvPr/>
          </p:nvSpPr>
          <p:spPr>
            <a:xfrm>
              <a:off x="4299585" y="1784350"/>
              <a:ext cx="2484130"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정부 지반탐사 2024 → 2026 (약 5배)</a:t>
              </a:r>
            </a:p>
          </p:txBody>
        </p:sp>
        <p:sp>
          <p:nvSpPr>
            <p:cNvPr id="23" name="TextBox 23"/>
            <p:cNvSpPr txBox="1"/>
            <p:nvPr/>
          </p:nvSpPr>
          <p:spPr>
            <a:xfrm>
              <a:off x="8561070" y="1397000"/>
              <a:ext cx="1248828" cy="440055"/>
            </a:xfrm>
            <a:prstGeom prst="rect">
              <a:avLst/>
            </a:prstGeom>
            <a:noFill/>
            <a:ln>
              <a:noFill/>
            </a:ln>
          </p:spPr>
          <p:txBody>
            <a:bodyPr wrap="none" lIns="0" tIns="0" rIns="0" bIns="0" anchor="t" anchorCtr="0">
              <a:spAutoFit/>
            </a:bodyPr>
            <a:lstStyle/>
            <a:p>
              <a:pPr algn="l"/>
              <a:r>
                <a:rPr lang="ko-KR" sz="2250" b="1" dirty="0">
                  <a:solidFill>
                    <a:srgbClr val="0B1E3C"/>
                  </a:solidFill>
                  <a:latin typeface="+mn-lt"/>
                  <a:ea typeface="+mn-ea"/>
                  <a:cs typeface="+mn-cs"/>
                </a:rPr>
                <a:t>131억 원</a:t>
              </a:r>
            </a:p>
          </p:txBody>
        </p:sp>
        <p:sp>
          <p:nvSpPr>
            <p:cNvPr id="24" name="TextBox 24"/>
            <p:cNvSpPr txBox="1"/>
            <p:nvPr/>
          </p:nvSpPr>
          <p:spPr>
            <a:xfrm>
              <a:off x="8566785" y="1784350"/>
              <a:ext cx="2367351"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2026 국비 · GPR 장비·지자체 지원</a:t>
              </a:r>
            </a:p>
          </p:txBody>
        </p:sp>
      </p:grpSp>
      <p:grpSp>
        <p:nvGrpSpPr>
          <p:cNvPr id="46" name="bars"/>
          <p:cNvGrpSpPr/>
          <p:nvPr/>
        </p:nvGrpSpPr>
        <p:grpSpPr>
          <a:xfrm>
            <a:off x="526542" y="2228850"/>
            <a:ext cx="11132058" cy="2647950"/>
            <a:chOff x="526542" y="2228850"/>
            <a:chExt cx="11132058" cy="2647950"/>
          </a:xfrm>
        </p:grpSpPr>
        <p:sp>
          <p:nvSpPr>
            <p:cNvPr id="26" name="Line 26"/>
            <p:cNvSpPr/>
            <p:nvPr/>
          </p:nvSpPr>
          <p:spPr>
            <a:xfrm>
              <a:off x="533400" y="2228850"/>
              <a:ext cx="11125200" cy="9525"/>
            </a:xfrm>
            <a:custGeom>
              <a:avLst/>
              <a:gdLst/>
              <a:ahLst/>
              <a:cxnLst/>
              <a:rect l="l" t="t" r="r" b="b"/>
              <a:pathLst>
                <a:path w="11125200" h="9525">
                  <a:moveTo>
                    <a:pt x="0" y="0"/>
                  </a:moveTo>
                  <a:lnTo>
                    <a:pt x="11125200" y="0"/>
                  </a:lnTo>
                </a:path>
              </a:pathLst>
            </a:custGeom>
            <a:noFill/>
            <a:ln w="14288">
              <a:solidFill>
                <a:srgbClr val="0B1E3C"/>
              </a:solidFill>
            </a:ln>
          </p:spPr>
        </p:sp>
        <p:sp>
          <p:nvSpPr>
            <p:cNvPr id="27" name="TextBox 27"/>
            <p:cNvSpPr txBox="1"/>
            <p:nvPr/>
          </p:nvSpPr>
          <p:spPr>
            <a:xfrm>
              <a:off x="527685" y="2355850"/>
              <a:ext cx="1232703" cy="220028"/>
            </a:xfrm>
            <a:prstGeom prst="rect">
              <a:avLst/>
            </a:prstGeom>
            <a:noFill/>
            <a:ln>
              <a:noFill/>
            </a:ln>
          </p:spPr>
          <p:txBody>
            <a:bodyPr wrap="none" lIns="0" tIns="0" rIns="0" bIns="0" anchor="t" anchorCtr="0">
              <a:spAutoFit/>
            </a:bodyPr>
            <a:lstStyle/>
            <a:p>
              <a:pPr algn="l"/>
              <a:r>
                <a:rPr lang="ko-KR" sz="1120" b="1" dirty="0">
                  <a:solidFill>
                    <a:srgbClr val="4B5563"/>
                  </a:solidFill>
                  <a:latin typeface="+mn-lt"/>
                  <a:ea typeface="+mn-ea"/>
                  <a:cs typeface="+mn-cs"/>
                </a:rPr>
                <a:t>연간 금액 (억 원)</a:t>
              </a:r>
            </a:p>
          </p:txBody>
        </p:sp>
        <p:sp>
          <p:nvSpPr>
            <p:cNvPr id="28" name="TextBox 28"/>
            <p:cNvSpPr txBox="1"/>
            <p:nvPr/>
          </p:nvSpPr>
          <p:spPr>
            <a:xfrm>
              <a:off x="526542" y="2825750"/>
              <a:ext cx="2058005"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 xml:space="preserve">차량 1대 연간 비용 </a:t>
              </a:r>
              <a:r>
                <a:rPr lang="ko-KR" sz="1050" dirty="0">
                  <a:solidFill>
                    <a:srgbClr val="4B5563"/>
                  </a:solidFill>
                  <a:latin typeface="+mn-lt"/>
                  <a:ea typeface="+mn-ea"/>
                  <a:cs typeface="+mn-cs"/>
                </a:rPr>
                <a:t>[가설]</a:t>
              </a:r>
            </a:p>
          </p:txBody>
        </p:sp>
        <p:sp>
          <p:nvSpPr>
            <p:cNvPr id="29" name="Rectangle 29"/>
            <p:cNvSpPr/>
            <p:nvPr/>
          </p:nvSpPr>
          <p:spPr>
            <a:xfrm>
              <a:off x="3143250" y="2762250"/>
              <a:ext cx="1885950" cy="342900"/>
            </a:xfrm>
            <a:prstGeom prst="rect">
              <a:avLst/>
            </a:prstGeom>
            <a:solidFill>
              <a:srgbClr val="9AA3AF"/>
            </a:solidFill>
            <a:ln>
              <a:noFill/>
            </a:ln>
          </p:spPr>
        </p:sp>
        <p:sp>
          <p:nvSpPr>
            <p:cNvPr id="30" name="Rectangle 30"/>
            <p:cNvSpPr/>
            <p:nvPr/>
          </p:nvSpPr>
          <p:spPr>
            <a:xfrm>
              <a:off x="5029200" y="2762250"/>
              <a:ext cx="628650" cy="342900"/>
            </a:xfrm>
            <a:prstGeom prst="rect">
              <a:avLst/>
            </a:prstGeom>
            <a:solidFill>
              <a:srgbClr val="9AA3AF">
                <a:alpha val="45000"/>
              </a:srgbClr>
            </a:solidFill>
            <a:ln>
              <a:noFill/>
            </a:ln>
          </p:spPr>
        </p:sp>
        <p:sp>
          <p:nvSpPr>
            <p:cNvPr id="31" name="TextBox 31"/>
            <p:cNvSpPr txBox="1"/>
            <p:nvPr/>
          </p:nvSpPr>
          <p:spPr>
            <a:xfrm>
              <a:off x="5783580" y="2822575"/>
              <a:ext cx="1033472"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1.8~2.4억</a:t>
              </a:r>
            </a:p>
          </p:txBody>
        </p:sp>
        <p:sp>
          <p:nvSpPr>
            <p:cNvPr id="32" name="TextBox 32"/>
            <p:cNvSpPr txBox="1"/>
            <p:nvPr/>
          </p:nvSpPr>
          <p:spPr>
            <a:xfrm>
              <a:off x="526542" y="3378200"/>
              <a:ext cx="2413322"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 xml:space="preserve">자치구 1곳 GPR 용역 </a:t>
              </a:r>
              <a:r>
                <a:rPr lang="ko-KR" sz="1050" dirty="0">
                  <a:solidFill>
                    <a:srgbClr val="4B5563"/>
                  </a:solidFill>
                  <a:latin typeface="+mn-lt"/>
                  <a:ea typeface="+mn-ea"/>
                  <a:cs typeface="+mn-cs"/>
                </a:rPr>
                <a:t>2026 발주</a:t>
              </a:r>
            </a:p>
          </p:txBody>
        </p:sp>
        <p:sp>
          <p:nvSpPr>
            <p:cNvPr id="33" name="Rectangle 33"/>
            <p:cNvSpPr/>
            <p:nvPr/>
          </p:nvSpPr>
          <p:spPr>
            <a:xfrm>
              <a:off x="3143250" y="3314700"/>
              <a:ext cx="1676400" cy="342900"/>
            </a:xfrm>
            <a:prstGeom prst="rect">
              <a:avLst/>
            </a:prstGeom>
            <a:solidFill>
              <a:srgbClr val="C9D3E2"/>
            </a:solidFill>
            <a:ln>
              <a:noFill/>
            </a:ln>
          </p:spPr>
        </p:sp>
        <p:sp>
          <p:nvSpPr>
            <p:cNvPr id="34" name="Rectangle 34"/>
            <p:cNvSpPr/>
            <p:nvPr/>
          </p:nvSpPr>
          <p:spPr>
            <a:xfrm>
              <a:off x="4819650" y="3314700"/>
              <a:ext cx="628650" cy="342900"/>
            </a:xfrm>
            <a:prstGeom prst="rect">
              <a:avLst/>
            </a:prstGeom>
            <a:solidFill>
              <a:srgbClr val="C9D3E2">
                <a:alpha val="45000"/>
              </a:srgbClr>
            </a:solidFill>
            <a:ln>
              <a:noFill/>
            </a:ln>
          </p:spPr>
        </p:sp>
        <p:sp>
          <p:nvSpPr>
            <p:cNvPr id="35" name="TextBox 35"/>
            <p:cNvSpPr txBox="1"/>
            <p:nvPr/>
          </p:nvSpPr>
          <p:spPr>
            <a:xfrm>
              <a:off x="5783580" y="3375025"/>
              <a:ext cx="1033472"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1.6~2.2억</a:t>
              </a:r>
            </a:p>
          </p:txBody>
        </p:sp>
        <p:sp>
          <p:nvSpPr>
            <p:cNvPr id="36" name="TextBox 36"/>
            <p:cNvSpPr txBox="1"/>
            <p:nvPr/>
          </p:nvSpPr>
          <p:spPr>
            <a:xfrm>
              <a:off x="526542" y="3930650"/>
              <a:ext cx="1687059"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자치구 2곳을 맡으면</a:t>
              </a:r>
            </a:p>
          </p:txBody>
        </p:sp>
        <p:sp>
          <p:nvSpPr>
            <p:cNvPr id="37" name="Rectangle 37"/>
            <p:cNvSpPr/>
            <p:nvPr/>
          </p:nvSpPr>
          <p:spPr>
            <a:xfrm>
              <a:off x="3143250" y="3867150"/>
              <a:ext cx="3352800" cy="342900"/>
            </a:xfrm>
            <a:prstGeom prst="rect">
              <a:avLst/>
            </a:prstGeom>
            <a:solidFill>
              <a:srgbClr val="0B1E3C"/>
            </a:solidFill>
            <a:ln>
              <a:noFill/>
            </a:ln>
          </p:spPr>
        </p:sp>
        <p:sp>
          <p:nvSpPr>
            <p:cNvPr id="38" name="Rectangle 38"/>
            <p:cNvSpPr/>
            <p:nvPr/>
          </p:nvSpPr>
          <p:spPr>
            <a:xfrm>
              <a:off x="6496050" y="3867150"/>
              <a:ext cx="1152525" cy="342900"/>
            </a:xfrm>
            <a:prstGeom prst="rect">
              <a:avLst/>
            </a:prstGeom>
            <a:solidFill>
              <a:srgbClr val="0B1E3C">
                <a:alpha val="45000"/>
              </a:srgbClr>
            </a:solidFill>
            <a:ln>
              <a:noFill/>
            </a:ln>
          </p:spPr>
        </p:sp>
        <p:sp>
          <p:nvSpPr>
            <p:cNvPr id="39" name="TextBox 39"/>
            <p:cNvSpPr txBox="1"/>
            <p:nvPr/>
          </p:nvSpPr>
          <p:spPr>
            <a:xfrm>
              <a:off x="7774305" y="3927475"/>
              <a:ext cx="1033472"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3.2~4.3억</a:t>
              </a:r>
            </a:p>
          </p:txBody>
        </p:sp>
        <p:sp>
          <p:nvSpPr>
            <p:cNvPr id="40" name="TextBox 40"/>
            <p:cNvSpPr txBox="1"/>
            <p:nvPr/>
          </p:nvSpPr>
          <p:spPr>
            <a:xfrm>
              <a:off x="526542" y="4483100"/>
              <a:ext cx="1687059" cy="264033"/>
            </a:xfrm>
            <a:prstGeom prst="rect">
              <a:avLst/>
            </a:prstGeom>
            <a:noFill/>
            <a:ln>
              <a:noFill/>
            </a:ln>
          </p:spPr>
          <p:txBody>
            <a:bodyPr wrap="none" lIns="0" tIns="0" rIns="0" bIns="0" anchor="t" anchorCtr="0">
              <a:spAutoFit/>
            </a:bodyPr>
            <a:lstStyle/>
            <a:p>
              <a:pPr algn="l"/>
              <a:r>
                <a:rPr lang="ko-KR" sz="1350" b="1" dirty="0">
                  <a:solidFill>
                    <a:srgbClr val="111827"/>
                  </a:solidFill>
                  <a:latin typeface="+mn-lt"/>
                  <a:ea typeface="+mn-ea"/>
                  <a:cs typeface="+mn-cs"/>
                </a:rPr>
                <a:t>자치구 3곳을 맡으면</a:t>
              </a:r>
            </a:p>
          </p:txBody>
        </p:sp>
        <p:sp>
          <p:nvSpPr>
            <p:cNvPr id="41" name="Rectangle 41"/>
            <p:cNvSpPr/>
            <p:nvPr/>
          </p:nvSpPr>
          <p:spPr>
            <a:xfrm>
              <a:off x="3143250" y="4419600"/>
              <a:ext cx="5029200" cy="342900"/>
            </a:xfrm>
            <a:prstGeom prst="rect">
              <a:avLst/>
            </a:prstGeom>
            <a:solidFill>
              <a:srgbClr val="0B1E3C"/>
            </a:solidFill>
            <a:ln>
              <a:noFill/>
            </a:ln>
          </p:spPr>
        </p:sp>
        <p:sp>
          <p:nvSpPr>
            <p:cNvPr id="42" name="Rectangle 42"/>
            <p:cNvSpPr/>
            <p:nvPr/>
          </p:nvSpPr>
          <p:spPr>
            <a:xfrm>
              <a:off x="8172450" y="4419600"/>
              <a:ext cx="1781175" cy="342900"/>
            </a:xfrm>
            <a:prstGeom prst="rect">
              <a:avLst/>
            </a:prstGeom>
            <a:solidFill>
              <a:srgbClr val="0B1E3C">
                <a:alpha val="45000"/>
              </a:srgbClr>
            </a:solidFill>
            <a:ln>
              <a:noFill/>
            </a:ln>
          </p:spPr>
        </p:sp>
        <p:sp>
          <p:nvSpPr>
            <p:cNvPr id="43" name="TextBox 43"/>
            <p:cNvSpPr txBox="1"/>
            <p:nvPr/>
          </p:nvSpPr>
          <p:spPr>
            <a:xfrm>
              <a:off x="10079355" y="4479925"/>
              <a:ext cx="1033472"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4.8~6.5억</a:t>
              </a:r>
            </a:p>
          </p:txBody>
        </p:sp>
        <p:sp>
          <p:nvSpPr>
            <p:cNvPr id="44" name="Line 44"/>
            <p:cNvSpPr/>
            <p:nvPr/>
          </p:nvSpPr>
          <p:spPr>
            <a:xfrm>
              <a:off x="5657850" y="2647950"/>
              <a:ext cx="9525" cy="2228850"/>
            </a:xfrm>
            <a:custGeom>
              <a:avLst/>
              <a:gdLst/>
              <a:ahLst/>
              <a:cxnLst/>
              <a:rect l="l" t="t" r="r" b="b"/>
              <a:pathLst>
                <a:path w="9525" h="2228850">
                  <a:moveTo>
                    <a:pt x="0" y="0"/>
                  </a:moveTo>
                  <a:lnTo>
                    <a:pt x="0" y="2228850"/>
                  </a:lnTo>
                </a:path>
              </a:pathLst>
            </a:custGeom>
            <a:noFill/>
            <a:ln w="19050">
              <a:solidFill>
                <a:srgbClr val="C62828"/>
              </a:solidFill>
              <a:custDash>
                <a:ds d="300000" sp="250000"/>
              </a:custDash>
            </a:ln>
          </p:spPr>
        </p:sp>
        <p:sp>
          <p:nvSpPr>
            <p:cNvPr id="45" name="TextBox 45"/>
            <p:cNvSpPr txBox="1"/>
            <p:nvPr/>
          </p:nvSpPr>
          <p:spPr>
            <a:xfrm>
              <a:off x="5728716" y="2559050"/>
              <a:ext cx="1051365" cy="205359"/>
            </a:xfrm>
            <a:prstGeom prst="rect">
              <a:avLst/>
            </a:prstGeom>
            <a:noFill/>
            <a:ln>
              <a:noFill/>
            </a:ln>
          </p:spPr>
          <p:txBody>
            <a:bodyPr wrap="none" lIns="0" tIns="0" rIns="0" bIns="0" anchor="t" anchorCtr="0">
              <a:spAutoFit/>
            </a:bodyPr>
            <a:lstStyle/>
            <a:p>
              <a:pPr algn="l"/>
              <a:r>
                <a:rPr lang="ko-KR" sz="1050" b="1" dirty="0">
                  <a:solidFill>
                    <a:srgbClr val="C62828"/>
                  </a:solidFill>
                  <a:latin typeface="+mn-lt"/>
                  <a:ea typeface="+mn-ea"/>
                  <a:cs typeface="+mn-cs"/>
                </a:rPr>
                <a:t>비용 상한 2.4억</a:t>
              </a:r>
            </a:p>
          </p:txBody>
        </p:sp>
      </p:grpSp>
      <p:grpSp>
        <p:nvGrpSpPr>
          <p:cNvPr id="49" name="basis"/>
          <p:cNvGrpSpPr/>
          <p:nvPr/>
        </p:nvGrpSpPr>
        <p:grpSpPr>
          <a:xfrm>
            <a:off x="527685" y="5118100"/>
            <a:ext cx="8788349" cy="448628"/>
            <a:chOff x="527685" y="5118100"/>
            <a:chExt cx="8788349" cy="448628"/>
          </a:xfrm>
        </p:grpSpPr>
        <p:sp>
          <p:nvSpPr>
            <p:cNvPr id="47" name="TextBox 47"/>
            <p:cNvSpPr txBox="1"/>
            <p:nvPr/>
          </p:nvSpPr>
          <p:spPr>
            <a:xfrm>
              <a:off x="527685" y="5118100"/>
              <a:ext cx="8788349" cy="220028"/>
            </a:xfrm>
            <a:prstGeom prst="rect">
              <a:avLst/>
            </a:prstGeom>
            <a:noFill/>
            <a:ln>
              <a:noFill/>
            </a:ln>
          </p:spPr>
          <p:txBody>
            <a:bodyPr wrap="none" lIns="0" tIns="0" rIns="0" bIns="0" anchor="t" anchorCtr="0">
              <a:spAutoFit/>
            </a:bodyPr>
            <a:lstStyle/>
            <a:p>
              <a:pPr algn="l"/>
              <a:r>
                <a:rPr lang="ko-KR" sz="1120" dirty="0">
                  <a:solidFill>
                    <a:srgbClr val="374151"/>
                  </a:solidFill>
                  <a:latin typeface="+mn-lt"/>
                  <a:ea typeface="+mn-ea"/>
                  <a:cs typeface="+mn-cs"/>
                </a:rPr>
                <a:t>비용 = PV5·차량형 GPR(2억~5억) 5년 감가 + 2인 1조 인건비 1억 + 장비·유지 0.3억 · 처리량 = 하루 30km × 220일 = 연 6,600km</a:t>
              </a:r>
            </a:p>
          </p:txBody>
        </p:sp>
        <p:sp>
          <p:nvSpPr>
            <p:cNvPr id="48" name="TextBox 48"/>
            <p:cNvSpPr txBox="1"/>
            <p:nvPr/>
          </p:nvSpPr>
          <p:spPr>
            <a:xfrm>
              <a:off x="527685" y="5346700"/>
              <a:ext cx="7355423" cy="220028"/>
            </a:xfrm>
            <a:prstGeom prst="rect">
              <a:avLst/>
            </a:prstGeom>
            <a:noFill/>
            <a:ln>
              <a:noFill/>
            </a:ln>
          </p:spPr>
          <p:txBody>
            <a:bodyPr wrap="none" lIns="0" tIns="0" rIns="0" bIns="0" anchor="t" anchorCtr="0">
              <a:spAutoFit/>
            </a:bodyPr>
            <a:lstStyle/>
            <a:p>
              <a:pPr algn="l"/>
              <a:r>
                <a:rPr lang="ko-KR" sz="1120" b="1" dirty="0">
                  <a:solidFill>
                    <a:srgbClr val="0B1E3C"/>
                  </a:solidFill>
                  <a:latin typeface="+mn-lt"/>
                  <a:ea typeface="+mn-ea"/>
                  <a:cs typeface="+mn-cs"/>
                </a:rPr>
                <a:t>기아에게</a:t>
              </a:r>
              <a:r>
                <a:rPr lang="ko-KR" sz="1120" dirty="0">
                  <a:solidFill>
                    <a:srgbClr val="374151"/>
                  </a:solidFill>
                  <a:latin typeface="+mn-lt"/>
                  <a:ea typeface="+mn-ea"/>
                  <a:cs typeface="+mn-cs"/>
                </a:rPr>
                <a:t xml:space="preserve"> 장비 포함 대당 2억 원 이상의 고부가 컨버전 PV5 · 국토안전관리원 GPR 13→32대 등 공공 반복 수요</a:t>
              </a:r>
            </a:p>
          </p:txBody>
        </p:sp>
      </p:grpSp>
      <p:grpSp>
        <p:nvGrpSpPr>
          <p:cNvPr id="52" name="conclusion"/>
          <p:cNvGrpSpPr/>
          <p:nvPr/>
        </p:nvGrpSpPr>
        <p:grpSpPr>
          <a:xfrm>
            <a:off x="533400" y="5715000"/>
            <a:ext cx="6184931" cy="419100"/>
            <a:chOff x="533400" y="5715000"/>
            <a:chExt cx="6184931" cy="419100"/>
          </a:xfrm>
        </p:grpSpPr>
        <p:sp>
          <p:nvSpPr>
            <p:cNvPr id="50" name="Rectangle 50"/>
            <p:cNvSpPr/>
            <p:nvPr/>
          </p:nvSpPr>
          <p:spPr>
            <a:xfrm>
              <a:off x="533400" y="5715000"/>
              <a:ext cx="38100" cy="419100"/>
            </a:xfrm>
            <a:prstGeom prst="rect">
              <a:avLst/>
            </a:prstGeom>
            <a:solidFill>
              <a:srgbClr val="F5B700"/>
            </a:solidFill>
            <a:ln>
              <a:noFill/>
            </a:ln>
          </p:spPr>
        </p:sp>
        <p:sp>
          <p:nvSpPr>
            <p:cNvPr id="51" name="TextBox 51"/>
            <p:cNvSpPr txBox="1"/>
            <p:nvPr/>
          </p:nvSpPr>
          <p:spPr>
            <a:xfrm>
              <a:off x="715899" y="5810250"/>
              <a:ext cx="6002432" cy="308991"/>
            </a:xfrm>
            <a:prstGeom prst="rect">
              <a:avLst/>
            </a:prstGeom>
            <a:noFill/>
            <a:ln>
              <a:noFill/>
            </a:ln>
          </p:spPr>
          <p:txBody>
            <a:bodyPr wrap="none" lIns="0" tIns="0" rIns="0" bIns="0" anchor="t" anchorCtr="0">
              <a:spAutoFit/>
            </a:bodyPr>
            <a:lstStyle/>
            <a:p>
              <a:pPr algn="l"/>
              <a:r>
                <a:rPr lang="ko-KR" sz="1580" b="1" dirty="0">
                  <a:solidFill>
                    <a:srgbClr val="0B1E3C"/>
                  </a:solidFill>
                  <a:latin typeface="+mn-lt"/>
                  <a:ea typeface="+mn-ea"/>
                  <a:cs typeface="+mn-cs"/>
                </a:rPr>
                <a:t>비용은 연 약 2억 원. 자치구 2곳부터 수입이 비용을 넘습니다.</a:t>
              </a:r>
            </a:p>
          </p:txBody>
        </p:sp>
      </p:grpSp>
      <p:grpSp>
        <p:nvGrpSpPr>
          <p:cNvPr id="54" name="source"/>
          <p:cNvGrpSpPr/>
          <p:nvPr/>
        </p:nvGrpSpPr>
        <p:grpSpPr>
          <a:xfrm>
            <a:off x="528638" y="6381750"/>
            <a:ext cx="10011118" cy="176212"/>
            <a:chOff x="528638" y="6381750"/>
            <a:chExt cx="10011118" cy="176212"/>
          </a:xfrm>
        </p:grpSpPr>
        <p:sp>
          <p:nvSpPr>
            <p:cNvPr id="53" name="TextBox 53"/>
            <p:cNvSpPr txBox="1"/>
            <p:nvPr/>
          </p:nvSpPr>
          <p:spPr>
            <a:xfrm>
              <a:off x="528638" y="6381750"/>
              <a:ext cx="10011118"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e-나라지표 도로현황(2025.12) · 머니투데이(2025.12.23) · 뉴스서울(2025.12.3) · 시사저널(2025.4.25) · 나라장터 공고(산군 재게시, 2026) 강동구·도봉구 · 비용은 가설</a:t>
              </a:r>
            </a:p>
          </p:txBody>
        </p:sp>
      </p:grpSp>
      <p:grpSp>
        <p:nvGrpSpPr>
          <p:cNvPr id="57" name="footer"/>
          <p:cNvGrpSpPr/>
          <p:nvPr/>
        </p:nvGrpSpPr>
        <p:grpSpPr>
          <a:xfrm>
            <a:off x="528638" y="6610350"/>
            <a:ext cx="11134724" cy="176212"/>
            <a:chOff x="528638" y="6610350"/>
            <a:chExt cx="11134724" cy="176212"/>
          </a:xfrm>
        </p:grpSpPr>
        <p:sp>
          <p:nvSpPr>
            <p:cNvPr id="55" name="TextBox 55"/>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56" name="TextBox 56"/>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10 / 12</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6" name="header"/>
          <p:cNvGrpSpPr/>
          <p:nvPr/>
        </p:nvGrpSpPr>
        <p:grpSpPr>
          <a:xfrm>
            <a:off x="533400" y="266700"/>
            <a:ext cx="11125200" cy="333375"/>
            <a:chOff x="533400" y="266700"/>
            <a:chExt cx="11125200" cy="333375"/>
          </a:xfrm>
        </p:grpSpPr>
        <p:sp>
          <p:nvSpPr>
            <p:cNvPr id="2" name="Rectangle 2"/>
            <p:cNvSpPr/>
            <p:nvPr/>
          </p:nvSpPr>
          <p:spPr>
            <a:xfrm>
              <a:off x="533400" y="266700"/>
              <a:ext cx="1333500" cy="228600"/>
            </a:xfrm>
            <a:prstGeom prst="rect">
              <a:avLst/>
            </a:prstGeom>
            <a:solidFill>
              <a:srgbClr val="0B1E3C"/>
            </a:solidFill>
            <a:ln>
              <a:noFill/>
            </a:ln>
          </p:spPr>
        </p:sp>
        <p:sp>
          <p:nvSpPr>
            <p:cNvPr id="3" name="TextBox 3"/>
            <p:cNvSpPr txBox="1"/>
            <p:nvPr/>
          </p:nvSpPr>
          <p:spPr>
            <a:xfrm>
              <a:off x="617357" y="314325"/>
              <a:ext cx="1165586" cy="191643"/>
            </a:xfrm>
            <a:prstGeom prst="rect">
              <a:avLst/>
            </a:prstGeom>
            <a:noFill/>
            <a:ln>
              <a:noFill/>
            </a:ln>
          </p:spPr>
          <p:txBody>
            <a:bodyPr wrap="none" lIns="0" tIns="0" rIns="0" bIns="0" anchor="t" anchorCtr="0">
              <a:spAutoFit/>
            </a:bodyPr>
            <a:lstStyle/>
            <a:p>
              <a:pPr algn="ctr"/>
              <a:r>
                <a:rPr lang="en-US" sz="980" b="1" dirty="0">
                  <a:solidFill>
                    <a:srgbClr val="FFFFFF"/>
                  </a:solidFill>
                  <a:latin typeface="+mn-lt"/>
                  <a:ea typeface="+mn-ea"/>
                  <a:cs typeface="+mn-cs"/>
                </a:rPr>
                <a:t>PV5 GroundWatch</a:t>
              </a:r>
            </a:p>
          </p:txBody>
        </p:sp>
        <p:sp>
          <p:nvSpPr>
            <p:cNvPr id="4" name="TextBox 4"/>
            <p:cNvSpPr txBox="1"/>
            <p:nvPr/>
          </p:nvSpPr>
          <p:spPr>
            <a:xfrm>
              <a:off x="1994916" y="301625"/>
              <a:ext cx="943585"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첫 고객과 확장</a:t>
              </a:r>
            </a:p>
          </p:txBody>
        </p:sp>
        <p:sp>
          <p:nvSpPr>
            <p:cNvPr id="5" name="TextBox 5"/>
            <p:cNvSpPr txBox="1"/>
            <p:nvPr/>
          </p:nvSpPr>
          <p:spPr>
            <a:xfrm>
              <a:off x="842581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문제</a:t>
              </a:r>
            </a:p>
          </p:txBody>
        </p:sp>
        <p:sp>
          <p:nvSpPr>
            <p:cNvPr id="6" name="TextBox 6"/>
            <p:cNvSpPr txBox="1"/>
            <p:nvPr/>
          </p:nvSpPr>
          <p:spPr>
            <a:xfrm>
              <a:off x="88487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7" name="TextBox 7"/>
            <p:cNvSpPr txBox="1"/>
            <p:nvPr/>
          </p:nvSpPr>
          <p:spPr>
            <a:xfrm>
              <a:off x="90544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해법</a:t>
              </a:r>
            </a:p>
          </p:txBody>
        </p:sp>
        <p:sp>
          <p:nvSpPr>
            <p:cNvPr id="8" name="TextBox 8"/>
            <p:cNvSpPr txBox="1"/>
            <p:nvPr/>
          </p:nvSpPr>
          <p:spPr>
            <a:xfrm>
              <a:off x="94773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9" name="TextBox 9"/>
            <p:cNvSpPr txBox="1"/>
            <p:nvPr/>
          </p:nvSpPr>
          <p:spPr>
            <a:xfrm>
              <a:off x="9701251" y="301625"/>
              <a:ext cx="257099" cy="205359"/>
            </a:xfrm>
            <a:prstGeom prst="rect">
              <a:avLst/>
            </a:prstGeom>
            <a:noFill/>
            <a:ln>
              <a:noFill/>
            </a:ln>
          </p:spPr>
          <p:txBody>
            <a:bodyPr wrap="none" lIns="0" tIns="0" rIns="0" bIns="0" anchor="t" anchorCtr="0">
              <a:spAutoFit/>
            </a:bodyPr>
            <a:lstStyle/>
            <a:p>
              <a:pPr algn="ctr"/>
              <a:r>
                <a:rPr lang="en-US" sz="1050" dirty="0">
                  <a:solidFill>
                    <a:srgbClr val="9AA3AF"/>
                  </a:solidFill>
                  <a:latin typeface="+mn-lt"/>
                  <a:ea typeface="+mn-ea"/>
                  <a:cs typeface="+mn-cs"/>
                </a:rPr>
                <a:t>PV5</a:t>
              </a:r>
            </a:p>
          </p:txBody>
        </p:sp>
        <p:sp>
          <p:nvSpPr>
            <p:cNvPr id="10" name="TextBox 10"/>
            <p:cNvSpPr txBox="1"/>
            <p:nvPr/>
          </p:nvSpPr>
          <p:spPr>
            <a:xfrm>
              <a:off x="1010604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1" name="TextBox 11"/>
            <p:cNvSpPr txBox="1"/>
            <p:nvPr/>
          </p:nvSpPr>
          <p:spPr>
            <a:xfrm>
              <a:off x="10311765" y="301625"/>
              <a:ext cx="293370" cy="205359"/>
            </a:xfrm>
            <a:prstGeom prst="rect">
              <a:avLst/>
            </a:prstGeom>
            <a:noFill/>
            <a:ln>
              <a:noFill/>
            </a:ln>
          </p:spPr>
          <p:txBody>
            <a:bodyPr wrap="none" lIns="0" tIns="0" rIns="0" bIns="0" anchor="t" anchorCtr="0">
              <a:spAutoFit/>
            </a:bodyPr>
            <a:lstStyle/>
            <a:p>
              <a:pPr algn="ctr"/>
              <a:r>
                <a:rPr lang="ko-KR" sz="1050" dirty="0">
                  <a:solidFill>
                    <a:srgbClr val="9AA3AF"/>
                  </a:solidFill>
                  <a:latin typeface="+mn-lt"/>
                  <a:ea typeface="+mn-ea"/>
                  <a:cs typeface="+mn-cs"/>
                </a:rPr>
                <a:t>검증</a:t>
              </a:r>
            </a:p>
          </p:txBody>
        </p:sp>
        <p:sp>
          <p:nvSpPr>
            <p:cNvPr id="12" name="TextBox 12"/>
            <p:cNvSpPr txBox="1"/>
            <p:nvPr/>
          </p:nvSpPr>
          <p:spPr>
            <a:xfrm>
              <a:off x="10734694" y="314325"/>
              <a:ext cx="76162" cy="176212"/>
            </a:xfrm>
            <a:prstGeom prst="rect">
              <a:avLst/>
            </a:prstGeom>
            <a:noFill/>
            <a:ln>
              <a:noFill/>
            </a:ln>
          </p:spPr>
          <p:txBody>
            <a:bodyPr wrap="none" lIns="0" tIns="0" rIns="0" bIns="0" anchor="t" anchorCtr="0">
              <a:spAutoFit/>
            </a:bodyPr>
            <a:lstStyle/>
            <a:p>
              <a:pPr algn="ctr"/>
              <a:r>
                <a:rPr lang="ko-KR" sz="900" dirty="0">
                  <a:solidFill>
                    <a:srgbClr val="C3CCD9"/>
                  </a:solidFill>
                  <a:latin typeface="+mn-lt"/>
                  <a:ea typeface="+mn-ea"/>
                  <a:cs typeface="+mn-cs"/>
                </a:rPr>
                <a:t>›</a:t>
              </a:r>
            </a:p>
          </p:txBody>
        </p:sp>
        <p:sp>
          <p:nvSpPr>
            <p:cNvPr id="13" name="TextBox 13"/>
            <p:cNvSpPr txBox="1"/>
            <p:nvPr/>
          </p:nvSpPr>
          <p:spPr>
            <a:xfrm>
              <a:off x="10940415" y="301625"/>
              <a:ext cx="293370" cy="205359"/>
            </a:xfrm>
            <a:prstGeom prst="rect">
              <a:avLst/>
            </a:prstGeom>
            <a:noFill/>
            <a:ln>
              <a:noFill/>
            </a:ln>
          </p:spPr>
          <p:txBody>
            <a:bodyPr wrap="none" lIns="0" tIns="0" rIns="0" bIns="0" anchor="t" anchorCtr="0">
              <a:spAutoFit/>
            </a:bodyPr>
            <a:lstStyle/>
            <a:p>
              <a:pPr algn="ctr"/>
              <a:r>
                <a:rPr lang="ko-KR" sz="1050" b="1" dirty="0">
                  <a:solidFill>
                    <a:srgbClr val="0B1E3C"/>
                  </a:solidFill>
                  <a:latin typeface="+mn-lt"/>
                  <a:ea typeface="+mn-ea"/>
                  <a:cs typeface="+mn-cs"/>
                </a:rPr>
                <a:t>사업</a:t>
              </a:r>
            </a:p>
          </p:txBody>
        </p:sp>
        <p:sp>
          <p:nvSpPr>
            <p:cNvPr id="14" name="Rectangle 14"/>
            <p:cNvSpPr/>
            <p:nvPr/>
          </p:nvSpPr>
          <p:spPr>
            <a:xfrm>
              <a:off x="10858500" y="514350"/>
              <a:ext cx="457200" cy="28575"/>
            </a:xfrm>
            <a:prstGeom prst="rect">
              <a:avLst/>
            </a:prstGeom>
            <a:solidFill>
              <a:srgbClr val="F5B700"/>
            </a:solidFill>
            <a:ln>
              <a:noFill/>
            </a:ln>
          </p:spPr>
        </p:sp>
        <p:sp>
          <p:nvSpPr>
            <p:cNvPr id="15" name="Line 15"/>
            <p:cNvSpPr/>
            <p:nvPr/>
          </p:nvSpPr>
          <p:spPr>
            <a:xfrm>
              <a:off x="533400" y="590550"/>
              <a:ext cx="11125200" cy="9525"/>
            </a:xfrm>
            <a:custGeom>
              <a:avLst/>
              <a:gdLst/>
              <a:ahLst/>
              <a:cxnLst/>
              <a:rect l="l" t="t" r="r" b="b"/>
              <a:pathLst>
                <a:path w="11125200" h="9525">
                  <a:moveTo>
                    <a:pt x="0" y="0"/>
                  </a:moveTo>
                  <a:lnTo>
                    <a:pt x="11125200" y="0"/>
                  </a:lnTo>
                </a:path>
              </a:pathLst>
            </a:custGeom>
            <a:noFill/>
            <a:ln w="9525">
              <a:solidFill>
                <a:srgbClr val="0B1E3C"/>
              </a:solidFill>
            </a:ln>
          </p:spPr>
        </p:sp>
      </p:grpSp>
      <p:grpSp>
        <p:nvGrpSpPr>
          <p:cNvPr id="18" name="title"/>
          <p:cNvGrpSpPr/>
          <p:nvPr/>
        </p:nvGrpSpPr>
        <p:grpSpPr>
          <a:xfrm>
            <a:off x="518922" y="781050"/>
            <a:ext cx="7631550" cy="557403"/>
            <a:chOff x="518922" y="781050"/>
            <a:chExt cx="7631550" cy="557403"/>
          </a:xfrm>
        </p:grpSpPr>
        <p:sp>
          <p:nvSpPr>
            <p:cNvPr id="17" name="TextBox 17"/>
            <p:cNvSpPr txBox="1"/>
            <p:nvPr/>
          </p:nvSpPr>
          <p:spPr>
            <a:xfrm>
              <a:off x="518922" y="781050"/>
              <a:ext cx="7631550" cy="557403"/>
            </a:xfrm>
            <a:prstGeom prst="rect">
              <a:avLst/>
            </a:prstGeom>
            <a:noFill/>
            <a:ln>
              <a:noFill/>
            </a:ln>
          </p:spPr>
          <p:txBody>
            <a:bodyPr wrap="none" lIns="0" tIns="0" rIns="0" bIns="0" anchor="t" anchorCtr="0">
              <a:spAutoFit/>
            </a:bodyPr>
            <a:lstStyle/>
            <a:p>
              <a:pPr algn="l"/>
              <a:r>
                <a:rPr lang="ko-KR" sz="2850" b="1" spc="-75" dirty="0">
                  <a:solidFill>
                    <a:srgbClr val="0B1E3C"/>
                  </a:solidFill>
                  <a:latin typeface="+mn-lt"/>
                  <a:ea typeface="+mn-ea"/>
                  <a:cs typeface="+mn-cs"/>
                </a:rPr>
                <a:t>이미 GPR 예산을 쓰는 지자체에서 시작합니다</a:t>
              </a:r>
            </a:p>
          </p:txBody>
        </p:sp>
      </p:grpSp>
      <p:grpSp>
        <p:nvGrpSpPr>
          <p:cNvPr id="31" name="market-facts"/>
          <p:cNvGrpSpPr/>
          <p:nvPr/>
        </p:nvGrpSpPr>
        <p:grpSpPr>
          <a:xfrm>
            <a:off x="533400" y="1714500"/>
            <a:ext cx="11125200" cy="992759"/>
            <a:chOff x="533400" y="1714500"/>
            <a:chExt cx="11125200" cy="992759"/>
          </a:xfrm>
        </p:grpSpPr>
        <p:sp>
          <p:nvSpPr>
            <p:cNvPr id="19" name="Rectangle 19"/>
            <p:cNvSpPr/>
            <p:nvPr/>
          </p:nvSpPr>
          <p:spPr>
            <a:xfrm>
              <a:off x="533400" y="1714500"/>
              <a:ext cx="3581400" cy="28575"/>
            </a:xfrm>
            <a:prstGeom prst="rect">
              <a:avLst/>
            </a:prstGeom>
            <a:solidFill>
              <a:srgbClr val="0B1E3C"/>
            </a:solidFill>
            <a:ln>
              <a:noFill/>
            </a:ln>
          </p:spPr>
        </p:sp>
        <p:sp>
          <p:nvSpPr>
            <p:cNvPr id="20" name="TextBox 20"/>
            <p:cNvSpPr txBox="1"/>
            <p:nvPr/>
          </p:nvSpPr>
          <p:spPr>
            <a:xfrm>
              <a:off x="730758" y="1860550"/>
              <a:ext cx="2451583" cy="469392"/>
            </a:xfrm>
            <a:prstGeom prst="rect">
              <a:avLst/>
            </a:prstGeom>
            <a:noFill/>
            <a:ln>
              <a:noFill/>
            </a:ln>
          </p:spPr>
          <p:txBody>
            <a:bodyPr wrap="none" lIns="0" tIns="0" rIns="0" bIns="0" anchor="t" anchorCtr="0">
              <a:spAutoFit/>
            </a:bodyPr>
            <a:lstStyle/>
            <a:p>
              <a:pPr algn="l"/>
              <a:r>
                <a:rPr lang="ko-KR" sz="2400" b="1" dirty="0">
                  <a:solidFill>
                    <a:srgbClr val="B45309"/>
                  </a:solidFill>
                  <a:latin typeface="+mn-lt"/>
                  <a:ea typeface="+mn-ea"/>
                  <a:cs typeface="+mn-cs"/>
                </a:rPr>
                <a:t>0.46~1.77억 원</a:t>
              </a:r>
            </a:p>
          </p:txBody>
        </p:sp>
        <p:sp>
          <p:nvSpPr>
            <p:cNvPr id="21" name="TextBox 21"/>
            <p:cNvSpPr txBox="1"/>
            <p:nvPr/>
          </p:nvSpPr>
          <p:spPr>
            <a:xfrm>
              <a:off x="736854" y="2266950"/>
              <a:ext cx="2718252"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2026년 지자체 GPR 탐사 용역 낙찰액</a:t>
              </a:r>
            </a:p>
          </p:txBody>
        </p:sp>
        <p:sp>
          <p:nvSpPr>
            <p:cNvPr id="22" name="TextBox 22"/>
            <p:cNvSpPr txBox="1"/>
            <p:nvPr/>
          </p:nvSpPr>
          <p:spPr>
            <a:xfrm>
              <a:off x="737616" y="2501900"/>
              <a:ext cx="2830620"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보령·안양·용인(기흥구) 낙찰, 이미 집행 중</a:t>
              </a:r>
            </a:p>
          </p:txBody>
        </p:sp>
        <p:sp>
          <p:nvSpPr>
            <p:cNvPr id="23" name="Rectangle 23"/>
            <p:cNvSpPr/>
            <p:nvPr/>
          </p:nvSpPr>
          <p:spPr>
            <a:xfrm>
              <a:off x="4305300" y="1714500"/>
              <a:ext cx="3581400" cy="28575"/>
            </a:xfrm>
            <a:prstGeom prst="rect">
              <a:avLst/>
            </a:prstGeom>
            <a:solidFill>
              <a:srgbClr val="0B1E3C"/>
            </a:solidFill>
            <a:ln>
              <a:noFill/>
            </a:ln>
          </p:spPr>
        </p:sp>
        <p:sp>
          <p:nvSpPr>
            <p:cNvPr id="24" name="TextBox 24"/>
            <p:cNvSpPr txBox="1"/>
            <p:nvPr/>
          </p:nvSpPr>
          <p:spPr>
            <a:xfrm>
              <a:off x="4502658" y="1860550"/>
              <a:ext cx="1518666" cy="469392"/>
            </a:xfrm>
            <a:prstGeom prst="rect">
              <a:avLst/>
            </a:prstGeom>
            <a:noFill/>
            <a:ln>
              <a:noFill/>
            </a:ln>
          </p:spPr>
          <p:txBody>
            <a:bodyPr wrap="none" lIns="0" tIns="0" rIns="0" bIns="0" anchor="t" anchorCtr="0">
              <a:spAutoFit/>
            </a:bodyPr>
            <a:lstStyle/>
            <a:p>
              <a:pPr algn="l"/>
              <a:r>
                <a:rPr lang="ko-KR" sz="2400" b="1" dirty="0">
                  <a:solidFill>
                    <a:srgbClr val="B45309"/>
                  </a:solidFill>
                  <a:latin typeface="+mn-lt"/>
                  <a:ea typeface="+mn-ea"/>
                  <a:cs typeface="+mn-cs"/>
                </a:rPr>
                <a:t>21.6억 원</a:t>
              </a:r>
            </a:p>
          </p:txBody>
        </p:sp>
        <p:sp>
          <p:nvSpPr>
            <p:cNvPr id="25" name="TextBox 25"/>
            <p:cNvSpPr txBox="1"/>
            <p:nvPr/>
          </p:nvSpPr>
          <p:spPr>
            <a:xfrm>
              <a:off x="4508754" y="2266950"/>
              <a:ext cx="2463416"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경기도 16개 시·군 GPR 탐사 지원</a:t>
              </a:r>
            </a:p>
          </p:txBody>
        </p:sp>
        <p:sp>
          <p:nvSpPr>
            <p:cNvPr id="26" name="TextBox 26"/>
            <p:cNvSpPr txBox="1"/>
            <p:nvPr/>
          </p:nvSpPr>
          <p:spPr>
            <a:xfrm>
              <a:off x="4509516" y="2501900"/>
              <a:ext cx="2971971"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1,080km를 장비 구매 대신 용역으로 (2025.9)</a:t>
              </a:r>
            </a:p>
          </p:txBody>
        </p:sp>
        <p:sp>
          <p:nvSpPr>
            <p:cNvPr id="27" name="Rectangle 27"/>
            <p:cNvSpPr/>
            <p:nvPr/>
          </p:nvSpPr>
          <p:spPr>
            <a:xfrm>
              <a:off x="8077200" y="1714500"/>
              <a:ext cx="3581400" cy="28575"/>
            </a:xfrm>
            <a:prstGeom prst="rect">
              <a:avLst/>
            </a:prstGeom>
            <a:solidFill>
              <a:srgbClr val="0B1E3C"/>
            </a:solidFill>
            <a:ln>
              <a:noFill/>
            </a:ln>
          </p:spPr>
        </p:sp>
        <p:sp>
          <p:nvSpPr>
            <p:cNvPr id="28" name="TextBox 28"/>
            <p:cNvSpPr txBox="1"/>
            <p:nvPr/>
          </p:nvSpPr>
          <p:spPr>
            <a:xfrm>
              <a:off x="8274558" y="1860550"/>
              <a:ext cx="1282004" cy="469392"/>
            </a:xfrm>
            <a:prstGeom prst="rect">
              <a:avLst/>
            </a:prstGeom>
            <a:noFill/>
            <a:ln>
              <a:noFill/>
            </a:ln>
          </p:spPr>
          <p:txBody>
            <a:bodyPr wrap="none" lIns="0" tIns="0" rIns="0" bIns="0" anchor="t" anchorCtr="0">
              <a:spAutoFit/>
            </a:bodyPr>
            <a:lstStyle/>
            <a:p>
              <a:pPr algn="l"/>
              <a:r>
                <a:rPr lang="ko-KR" sz="2400" b="1" dirty="0">
                  <a:solidFill>
                    <a:srgbClr val="B45309"/>
                  </a:solidFill>
                  <a:latin typeface="+mn-lt"/>
                  <a:ea typeface="+mn-ea"/>
                  <a:cs typeface="+mn-cs"/>
                </a:rPr>
                <a:t>최대 6년</a:t>
              </a:r>
            </a:p>
          </p:txBody>
        </p:sp>
        <p:sp>
          <p:nvSpPr>
            <p:cNvPr id="29" name="TextBox 29"/>
            <p:cNvSpPr txBox="1"/>
            <p:nvPr/>
          </p:nvSpPr>
          <p:spPr>
            <a:xfrm>
              <a:off x="8280654" y="2266950"/>
              <a:ext cx="1890949" cy="234696"/>
            </a:xfrm>
            <a:prstGeom prst="rect">
              <a:avLst/>
            </a:prstGeom>
            <a:noFill/>
            <a:ln>
              <a:noFill/>
            </a:ln>
          </p:spPr>
          <p:txBody>
            <a:bodyPr wrap="none" lIns="0" tIns="0" rIns="0" bIns="0" anchor="t" anchorCtr="0">
              <a:spAutoFit/>
            </a:bodyPr>
            <a:lstStyle/>
            <a:p>
              <a:pPr algn="l"/>
              <a:r>
                <a:rPr lang="ko-KR" sz="1200" b="1" dirty="0">
                  <a:solidFill>
                    <a:srgbClr val="0B1E3C"/>
                  </a:solidFill>
                  <a:latin typeface="+mn-lt"/>
                  <a:ea typeface="+mn-ea"/>
                  <a:cs typeface="+mn-cs"/>
                </a:rPr>
                <a:t>조달청 혁신제품 수의계약</a:t>
              </a:r>
            </a:p>
          </p:txBody>
        </p:sp>
        <p:sp>
          <p:nvSpPr>
            <p:cNvPr id="30" name="TextBox 30"/>
            <p:cNvSpPr txBox="1"/>
            <p:nvPr/>
          </p:nvSpPr>
          <p:spPr>
            <a:xfrm>
              <a:off x="8281416" y="2501900"/>
              <a:ext cx="1918906" cy="205359"/>
            </a:xfrm>
            <a:prstGeom prst="rect">
              <a:avLst/>
            </a:prstGeom>
            <a:noFill/>
            <a:ln>
              <a:noFill/>
            </a:ln>
          </p:spPr>
          <p:txBody>
            <a:bodyPr wrap="none" lIns="0" tIns="0" rIns="0" bIns="0" anchor="t" anchorCtr="0">
              <a:spAutoFit/>
            </a:bodyPr>
            <a:lstStyle/>
            <a:p>
              <a:pPr algn="l"/>
              <a:r>
                <a:rPr lang="ko-KR" sz="1050" dirty="0">
                  <a:solidFill>
                    <a:srgbClr val="374151"/>
                  </a:solidFill>
                  <a:latin typeface="+mn-lt"/>
                  <a:ea typeface="+mn-ea"/>
                  <a:cs typeface="+mn-cs"/>
                </a:rPr>
                <a:t>실증 후 반복 계약으로 가는 길</a:t>
              </a:r>
            </a:p>
          </p:txBody>
        </p:sp>
      </p:grpSp>
      <p:grpSp>
        <p:nvGrpSpPr>
          <p:cNvPr id="64" name="steps"/>
          <p:cNvGrpSpPr/>
          <p:nvPr/>
        </p:nvGrpSpPr>
        <p:grpSpPr>
          <a:xfrm>
            <a:off x="524637" y="3009900"/>
            <a:ext cx="11133963" cy="1847850"/>
            <a:chOff x="524637" y="3009900"/>
            <a:chExt cx="11133963" cy="1847850"/>
          </a:xfrm>
        </p:grpSpPr>
        <p:sp>
          <p:nvSpPr>
            <p:cNvPr id="32" name="Rectangle 32"/>
            <p:cNvSpPr/>
            <p:nvPr/>
          </p:nvSpPr>
          <p:spPr>
            <a:xfrm>
              <a:off x="533400" y="3009900"/>
              <a:ext cx="2609850" cy="38100"/>
            </a:xfrm>
            <a:prstGeom prst="rect">
              <a:avLst/>
            </a:prstGeom>
            <a:solidFill>
              <a:srgbClr val="0B1E3C"/>
            </a:solidFill>
            <a:ln>
              <a:noFill/>
            </a:ln>
          </p:spPr>
        </p:sp>
        <p:sp>
          <p:nvSpPr>
            <p:cNvPr id="33" name="Rectangle 33"/>
            <p:cNvSpPr/>
            <p:nvPr/>
          </p:nvSpPr>
          <p:spPr>
            <a:xfrm>
              <a:off x="3371850" y="3009900"/>
              <a:ext cx="2609850" cy="38100"/>
            </a:xfrm>
            <a:prstGeom prst="rect">
              <a:avLst/>
            </a:prstGeom>
            <a:solidFill>
              <a:srgbClr val="0B1E3C"/>
            </a:solidFill>
            <a:ln>
              <a:noFill/>
            </a:ln>
          </p:spPr>
        </p:sp>
        <p:sp>
          <p:nvSpPr>
            <p:cNvPr id="34" name="Rectangle 34"/>
            <p:cNvSpPr/>
            <p:nvPr/>
          </p:nvSpPr>
          <p:spPr>
            <a:xfrm>
              <a:off x="6210300" y="3009900"/>
              <a:ext cx="2609850" cy="38100"/>
            </a:xfrm>
            <a:prstGeom prst="rect">
              <a:avLst/>
            </a:prstGeom>
            <a:solidFill>
              <a:srgbClr val="0B1E3C"/>
            </a:solidFill>
            <a:ln>
              <a:noFill/>
            </a:ln>
          </p:spPr>
        </p:sp>
        <p:sp>
          <p:nvSpPr>
            <p:cNvPr id="35" name="Rectangle 35"/>
            <p:cNvSpPr/>
            <p:nvPr/>
          </p:nvSpPr>
          <p:spPr>
            <a:xfrm>
              <a:off x="9048750" y="3009900"/>
              <a:ext cx="2609850" cy="38100"/>
            </a:xfrm>
            <a:prstGeom prst="rect">
              <a:avLst/>
            </a:prstGeom>
            <a:solidFill>
              <a:srgbClr val="F5B700"/>
            </a:solidFill>
            <a:ln>
              <a:noFill/>
            </a:ln>
          </p:spPr>
        </p:sp>
        <p:grpSp>
          <p:nvGrpSpPr>
            <p:cNvPr id="40" name="Group 40"/>
            <p:cNvGrpSpPr/>
            <p:nvPr/>
          </p:nvGrpSpPr>
          <p:grpSpPr>
            <a:xfrm>
              <a:off x="528066" y="3168650"/>
              <a:ext cx="8830629" cy="205359"/>
              <a:chOff x="528066" y="3168650"/>
              <a:chExt cx="8830629" cy="205359"/>
            </a:xfrm>
          </p:grpSpPr>
          <p:sp>
            <p:nvSpPr>
              <p:cNvPr id="36" name="TextBox 36"/>
              <p:cNvSpPr txBox="1"/>
              <p:nvPr/>
            </p:nvSpPr>
            <p:spPr>
              <a:xfrm>
                <a:off x="528066" y="3168650"/>
                <a:ext cx="39691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0~1년</a:t>
                </a:r>
              </a:p>
            </p:txBody>
          </p:sp>
          <p:sp>
            <p:nvSpPr>
              <p:cNvPr id="37" name="TextBox 37"/>
              <p:cNvSpPr txBox="1"/>
              <p:nvPr/>
            </p:nvSpPr>
            <p:spPr>
              <a:xfrm>
                <a:off x="3366516" y="3168650"/>
                <a:ext cx="39691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1~2년</a:t>
                </a:r>
              </a:p>
            </p:txBody>
          </p:sp>
          <p:sp>
            <p:nvSpPr>
              <p:cNvPr id="38" name="TextBox 38"/>
              <p:cNvSpPr txBox="1"/>
              <p:nvPr/>
            </p:nvSpPr>
            <p:spPr>
              <a:xfrm>
                <a:off x="6204966" y="3168650"/>
                <a:ext cx="396910"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2~3년</a:t>
                </a:r>
              </a:p>
            </p:txBody>
          </p:sp>
          <p:sp>
            <p:nvSpPr>
              <p:cNvPr id="39" name="TextBox 39"/>
              <p:cNvSpPr txBox="1"/>
              <p:nvPr/>
            </p:nvSpPr>
            <p:spPr>
              <a:xfrm>
                <a:off x="9043416" y="3168650"/>
                <a:ext cx="315279" cy="205359"/>
              </a:xfrm>
              <a:prstGeom prst="rect">
                <a:avLst/>
              </a:prstGeom>
              <a:noFill/>
              <a:ln>
                <a:noFill/>
              </a:ln>
            </p:spPr>
            <p:txBody>
              <a:bodyPr wrap="none" lIns="0" tIns="0" rIns="0" bIns="0" anchor="t" anchorCtr="0">
                <a:spAutoFit/>
              </a:bodyPr>
              <a:lstStyle/>
              <a:p>
                <a:pPr algn="l"/>
                <a:r>
                  <a:rPr lang="ko-KR" sz="1050" b="1" dirty="0">
                    <a:solidFill>
                      <a:srgbClr val="4B5563"/>
                    </a:solidFill>
                    <a:latin typeface="+mn-lt"/>
                    <a:ea typeface="+mn-ea"/>
                    <a:cs typeface="+mn-cs"/>
                  </a:rPr>
                  <a:t>3년~</a:t>
                </a:r>
              </a:p>
            </p:txBody>
          </p:sp>
        </p:grpSp>
        <p:grpSp>
          <p:nvGrpSpPr>
            <p:cNvPr id="45" name="Group 45"/>
            <p:cNvGrpSpPr/>
            <p:nvPr/>
          </p:nvGrpSpPr>
          <p:grpSpPr>
            <a:xfrm>
              <a:off x="524637" y="3365500"/>
              <a:ext cx="10128810" cy="337376"/>
              <a:chOff x="524637" y="3365500"/>
              <a:chExt cx="10128810" cy="337376"/>
            </a:xfrm>
          </p:grpSpPr>
          <p:sp>
            <p:nvSpPr>
              <p:cNvPr id="41" name="TextBox 41"/>
              <p:cNvSpPr txBox="1"/>
              <p:nvPr/>
            </p:nvSpPr>
            <p:spPr>
              <a:xfrm>
                <a:off x="524637" y="3365500"/>
                <a:ext cx="147974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실증 레퍼런스</a:t>
                </a:r>
              </a:p>
            </p:txBody>
          </p:sp>
          <p:sp>
            <p:nvSpPr>
              <p:cNvPr id="42" name="TextBox 42"/>
              <p:cNvSpPr txBox="1"/>
              <p:nvPr/>
            </p:nvSpPr>
            <p:spPr>
              <a:xfrm>
                <a:off x="3363087" y="3365500"/>
                <a:ext cx="132113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첫 용역 수주</a:t>
                </a:r>
              </a:p>
            </p:txBody>
          </p:sp>
          <p:sp>
            <p:nvSpPr>
              <p:cNvPr id="43" name="TextBox 43"/>
              <p:cNvSpPr txBox="1"/>
              <p:nvPr/>
            </p:nvSpPr>
            <p:spPr>
              <a:xfrm>
                <a:off x="6201537" y="3365500"/>
                <a:ext cx="1479742"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반복관제 전환</a:t>
                </a:r>
              </a:p>
            </p:txBody>
          </p:sp>
          <p:sp>
            <p:nvSpPr>
              <p:cNvPr id="44" name="TextBox 44"/>
              <p:cNvSpPr txBox="1"/>
              <p:nvPr/>
            </p:nvSpPr>
            <p:spPr>
              <a:xfrm>
                <a:off x="9039987" y="3365500"/>
                <a:ext cx="1613460" cy="337376"/>
              </a:xfrm>
              <a:prstGeom prst="rect">
                <a:avLst/>
              </a:prstGeom>
              <a:noFill/>
              <a:ln>
                <a:noFill/>
              </a:ln>
            </p:spPr>
            <p:txBody>
              <a:bodyPr wrap="none" lIns="0" tIns="0" rIns="0" bIns="0" anchor="t" anchorCtr="0">
                <a:spAutoFit/>
              </a:bodyPr>
              <a:lstStyle/>
              <a:p>
                <a:pPr algn="l"/>
                <a:r>
                  <a:rPr lang="ko-KR" sz="1720" b="1" dirty="0">
                    <a:solidFill>
                      <a:srgbClr val="0B1E3C"/>
                    </a:solidFill>
                    <a:latin typeface="+mn-lt"/>
                    <a:ea typeface="+mn-ea"/>
                    <a:cs typeface="+mn-cs"/>
                  </a:rPr>
                  <a:t>권역·기관 확장</a:t>
                </a:r>
              </a:p>
            </p:txBody>
          </p:sp>
        </p:grpSp>
        <p:grpSp>
          <p:nvGrpSpPr>
            <p:cNvPr id="49" name="Group 49"/>
            <p:cNvGrpSpPr/>
            <p:nvPr/>
          </p:nvGrpSpPr>
          <p:grpSpPr>
            <a:xfrm>
              <a:off x="3181350" y="3505200"/>
              <a:ext cx="5810250" cy="1"/>
              <a:chOff x="3181350" y="3505200"/>
              <a:chExt cx="5810250" cy="1"/>
            </a:xfrm>
          </p:grpSpPr>
          <p:sp>
            <p:nvSpPr>
              <p:cNvPr id="46" name="Line 46"/>
              <p:cNvSpPr/>
              <p:nvPr/>
            </p:nvSpPr>
            <p:spPr>
              <a:xfrm>
                <a:off x="3181350" y="3505200"/>
                <a:ext cx="133350" cy="1"/>
              </a:xfrm>
              <a:prstGeom prst="line">
                <a:avLst/>
              </a:prstGeom>
              <a:noFill/>
              <a:ln w="14288">
                <a:solidFill>
                  <a:srgbClr val="9AA3AF"/>
                </a:solidFill>
                <a:tailEnd type="triangle" w="lg" len="lg"/>
              </a:ln>
            </p:spPr>
          </p:sp>
          <p:sp>
            <p:nvSpPr>
              <p:cNvPr id="47" name="Line 47"/>
              <p:cNvSpPr/>
              <p:nvPr/>
            </p:nvSpPr>
            <p:spPr>
              <a:xfrm>
                <a:off x="6019800" y="3505200"/>
                <a:ext cx="133350" cy="1"/>
              </a:xfrm>
              <a:prstGeom prst="line">
                <a:avLst/>
              </a:prstGeom>
              <a:noFill/>
              <a:ln w="14288">
                <a:solidFill>
                  <a:srgbClr val="9AA3AF"/>
                </a:solidFill>
                <a:tailEnd type="triangle" w="lg" len="lg"/>
              </a:ln>
            </p:spPr>
          </p:sp>
          <p:sp>
            <p:nvSpPr>
              <p:cNvPr id="48" name="Line 48"/>
              <p:cNvSpPr/>
              <p:nvPr/>
            </p:nvSpPr>
            <p:spPr>
              <a:xfrm>
                <a:off x="8858250" y="3505200"/>
                <a:ext cx="133350" cy="1"/>
              </a:xfrm>
              <a:prstGeom prst="line">
                <a:avLst/>
              </a:prstGeom>
              <a:noFill/>
              <a:ln w="14288">
                <a:solidFill>
                  <a:srgbClr val="9AA3AF"/>
                </a:solidFill>
                <a:tailEnd type="triangle" w="lg" len="lg"/>
              </a:ln>
            </p:spPr>
          </p:sp>
        </p:grpSp>
        <p:grpSp>
          <p:nvGrpSpPr>
            <p:cNvPr id="54" name="Group 54"/>
            <p:cNvGrpSpPr/>
            <p:nvPr/>
          </p:nvGrpSpPr>
          <p:grpSpPr>
            <a:xfrm>
              <a:off x="527304" y="3689350"/>
              <a:ext cx="10264902" cy="463296"/>
              <a:chOff x="527304" y="3689350"/>
              <a:chExt cx="10264902" cy="463296"/>
            </a:xfrm>
          </p:grpSpPr>
          <p:sp>
            <p:nvSpPr>
              <p:cNvPr id="50" name="TextBox 50"/>
              <p:cNvSpPr txBox="1"/>
              <p:nvPr/>
            </p:nvSpPr>
            <p:spPr>
              <a:xfrm>
                <a:off x="527304" y="3689350"/>
                <a:ext cx="1780032" cy="4632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테스트베드서울 실증 신청</a:t>
                </a:r>
                <a:br>
                  <a:rPr lang="ko-KR" sz="1200" dirty="0">
                    <a:solidFill>
                      <a:srgbClr val="111827"/>
                    </a:solidFill>
                    <a:latin typeface="+mn-lt"/>
                    <a:ea typeface="+mn-ea"/>
                    <a:cs typeface="+mn-cs"/>
                  </a:rPr>
                </a:br>
                <a:r>
                  <a:rPr lang="ko-KR" sz="1200" dirty="0">
                    <a:solidFill>
                      <a:srgbClr val="111827"/>
                    </a:solidFill>
                    <a:latin typeface="+mn-lt"/>
                    <a:ea typeface="+mn-ea"/>
                    <a:cs typeface="+mn-cs"/>
                  </a:rPr>
                  <a:t>공사구간 1곳 파일럿</a:t>
                </a:r>
              </a:p>
            </p:txBody>
          </p:sp>
          <p:sp>
            <p:nvSpPr>
              <p:cNvPr id="51" name="TextBox 51"/>
              <p:cNvSpPr txBox="1"/>
              <p:nvPr/>
            </p:nvSpPr>
            <p:spPr>
              <a:xfrm>
                <a:off x="3365754" y="3689350"/>
                <a:ext cx="1780032" cy="4632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시·군 GPR 탐사 용역 입찰</a:t>
                </a:r>
                <a:br>
                  <a:rPr lang="ko-KR" sz="1200" dirty="0">
                    <a:solidFill>
                      <a:srgbClr val="111827"/>
                    </a:solidFill>
                    <a:latin typeface="+mn-lt"/>
                    <a:ea typeface="+mn-ea"/>
                    <a:cs typeface="+mn-cs"/>
                  </a:rPr>
                </a:br>
                <a:r>
                  <a:rPr lang="ko-KR" sz="1200" dirty="0">
                    <a:solidFill>
                      <a:srgbClr val="111827"/>
                    </a:solidFill>
                    <a:latin typeface="+mn-lt"/>
                    <a:ea typeface="+mn-ea"/>
                    <a:cs typeface="+mn-cs"/>
                  </a:rPr>
                  <a:t>조사기관과 컨소시엄 참여</a:t>
                </a:r>
              </a:p>
            </p:txBody>
          </p:sp>
          <p:sp>
            <p:nvSpPr>
              <p:cNvPr id="52" name="TextBox 52"/>
              <p:cNvSpPr txBox="1"/>
              <p:nvPr/>
            </p:nvSpPr>
            <p:spPr>
              <a:xfrm>
                <a:off x="6204204" y="3689350"/>
                <a:ext cx="1825752" cy="4632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조달청 혁신제품 지정 신청</a:t>
                </a:r>
                <a:br>
                  <a:rPr lang="ko-KR" sz="1200" dirty="0">
                    <a:solidFill>
                      <a:srgbClr val="111827"/>
                    </a:solidFill>
                    <a:latin typeface="+mn-lt"/>
                    <a:ea typeface="+mn-ea"/>
                    <a:cs typeface="+mn-cs"/>
                  </a:rPr>
                </a:br>
                <a:r>
                  <a:rPr lang="ko-KR" sz="1200" dirty="0">
                    <a:solidFill>
                      <a:srgbClr val="111827"/>
                    </a:solidFill>
                    <a:latin typeface="+mn-lt"/>
                    <a:ea typeface="+mn-ea"/>
                    <a:cs typeface="+mn-cs"/>
                  </a:rPr>
                  <a:t>지정 시 최대 6년 수의계약</a:t>
                </a:r>
              </a:p>
            </p:txBody>
          </p:sp>
          <p:sp>
            <p:nvSpPr>
              <p:cNvPr id="53" name="TextBox 53"/>
              <p:cNvSpPr txBox="1"/>
              <p:nvPr/>
            </p:nvSpPr>
            <p:spPr>
              <a:xfrm>
                <a:off x="9042654" y="3689350"/>
                <a:ext cx="1749552" cy="463296"/>
              </a:xfrm>
              <a:prstGeom prst="rect">
                <a:avLst/>
              </a:prstGeom>
              <a:noFill/>
              <a:ln>
                <a:noFill/>
              </a:ln>
            </p:spPr>
            <p:txBody>
              <a:bodyPr wrap="none" lIns="0" tIns="0" rIns="0" bIns="0" anchor="t" anchorCtr="0">
                <a:spAutoFit/>
              </a:bodyPr>
              <a:lstStyle/>
              <a:p>
                <a:pPr algn="l">
                  <a:lnSpc>
                    <a:spcPts val="1800"/>
                  </a:lnSpc>
                </a:pPr>
                <a:r>
                  <a:rPr lang="ko-KR" sz="1200" dirty="0">
                    <a:solidFill>
                      <a:srgbClr val="111827"/>
                    </a:solidFill>
                    <a:latin typeface="+mn-lt"/>
                    <a:ea typeface="+mn-ea"/>
                    <a:cs typeface="+mn-cs"/>
                  </a:rPr>
                  <a:t>GPR 없는 시·군 운영 대행</a:t>
                </a:r>
                <a:br>
                  <a:rPr lang="ko-KR" sz="1200" dirty="0">
                    <a:solidFill>
                      <a:srgbClr val="111827"/>
                    </a:solidFill>
                    <a:latin typeface="+mn-lt"/>
                    <a:ea typeface="+mn-ea"/>
                    <a:cs typeface="+mn-cs"/>
                  </a:rPr>
                </a:br>
                <a:r>
                  <a:rPr lang="ko-KR" sz="1200" dirty="0">
                    <a:solidFill>
                      <a:srgbClr val="111827"/>
                    </a:solidFill>
                    <a:latin typeface="+mn-lt"/>
                    <a:ea typeface="+mn-ea"/>
                    <a:cs typeface="+mn-cs"/>
                  </a:rPr>
                  <a:t>도시철도·상하수도 기관</a:t>
                </a:r>
              </a:p>
            </p:txBody>
          </p:sp>
        </p:grpSp>
        <p:grpSp>
          <p:nvGrpSpPr>
            <p:cNvPr id="63" name="Group 63"/>
            <p:cNvGrpSpPr/>
            <p:nvPr/>
          </p:nvGrpSpPr>
          <p:grpSpPr>
            <a:xfrm>
              <a:off x="533400" y="4533900"/>
              <a:ext cx="11125200" cy="323850"/>
              <a:chOff x="533400" y="4533900"/>
              <a:chExt cx="11125200" cy="323850"/>
            </a:xfrm>
          </p:grpSpPr>
          <p:sp>
            <p:nvSpPr>
              <p:cNvPr id="55" name="Rectangle 55"/>
              <p:cNvSpPr/>
              <p:nvPr/>
            </p:nvSpPr>
            <p:spPr>
              <a:xfrm>
                <a:off x="533400" y="4533900"/>
                <a:ext cx="2609850" cy="323850"/>
              </a:xfrm>
              <a:prstGeom prst="rect">
                <a:avLst/>
              </a:prstGeom>
              <a:solidFill>
                <a:srgbClr val="F3F5F8"/>
              </a:solidFill>
              <a:ln>
                <a:noFill/>
              </a:ln>
            </p:spPr>
          </p:sp>
          <p:sp>
            <p:nvSpPr>
              <p:cNvPr id="56" name="TextBox 56"/>
              <p:cNvSpPr txBox="1"/>
              <p:nvPr/>
            </p:nvSpPr>
            <p:spPr>
              <a:xfrm>
                <a:off x="642366" y="4616450"/>
                <a:ext cx="2387485"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다음 조건</a:t>
                </a:r>
                <a:r>
                  <a:rPr lang="ko-KR" sz="1050" dirty="0">
                    <a:solidFill>
                      <a:srgbClr val="111827"/>
                    </a:solidFill>
                    <a:latin typeface="+mn-lt"/>
                    <a:ea typeface="+mn-ea"/>
                    <a:cs typeface="+mn-cs"/>
                  </a:rPr>
                  <a:t xml:space="preserve"> 기존 장비와 같은 공동 탐지</a:t>
                </a:r>
              </a:p>
            </p:txBody>
          </p:sp>
          <p:sp>
            <p:nvSpPr>
              <p:cNvPr id="57" name="Rectangle 57"/>
              <p:cNvSpPr/>
              <p:nvPr/>
            </p:nvSpPr>
            <p:spPr>
              <a:xfrm>
                <a:off x="3371850" y="4533900"/>
                <a:ext cx="2609850" cy="323850"/>
              </a:xfrm>
              <a:prstGeom prst="rect">
                <a:avLst/>
              </a:prstGeom>
              <a:solidFill>
                <a:srgbClr val="F3F5F8"/>
              </a:solidFill>
              <a:ln>
                <a:noFill/>
              </a:ln>
            </p:spPr>
          </p:sp>
          <p:sp>
            <p:nvSpPr>
              <p:cNvPr id="58" name="TextBox 58"/>
              <p:cNvSpPr txBox="1"/>
              <p:nvPr/>
            </p:nvSpPr>
            <p:spPr>
              <a:xfrm>
                <a:off x="3480816" y="4616450"/>
                <a:ext cx="2055310"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다음 조건</a:t>
                </a:r>
                <a:r>
                  <a:rPr lang="ko-KR" sz="1050" dirty="0">
                    <a:solidFill>
                      <a:srgbClr val="111827"/>
                    </a:solidFill>
                    <a:latin typeface="+mn-lt"/>
                    <a:ea typeface="+mn-ea"/>
                    <a:cs typeface="+mn-cs"/>
                  </a:rPr>
                  <a:t xml:space="preserve"> 실증확인서·용역 실적</a:t>
                </a:r>
              </a:p>
            </p:txBody>
          </p:sp>
          <p:sp>
            <p:nvSpPr>
              <p:cNvPr id="59" name="Rectangle 59"/>
              <p:cNvSpPr/>
              <p:nvPr/>
            </p:nvSpPr>
            <p:spPr>
              <a:xfrm>
                <a:off x="6210300" y="4533900"/>
                <a:ext cx="2609850" cy="323850"/>
              </a:xfrm>
              <a:prstGeom prst="rect">
                <a:avLst/>
              </a:prstGeom>
              <a:solidFill>
                <a:srgbClr val="F3F5F8"/>
              </a:solidFill>
              <a:ln>
                <a:noFill/>
              </a:ln>
            </p:spPr>
          </p:sp>
          <p:sp>
            <p:nvSpPr>
              <p:cNvPr id="60" name="TextBox 60"/>
              <p:cNvSpPr txBox="1"/>
              <p:nvPr/>
            </p:nvSpPr>
            <p:spPr>
              <a:xfrm>
                <a:off x="6319266" y="4616450"/>
                <a:ext cx="2479363"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다음 조건</a:t>
                </a:r>
                <a:r>
                  <a:rPr lang="ko-KR" sz="1050" dirty="0">
                    <a:solidFill>
                      <a:srgbClr val="111827"/>
                    </a:solidFill>
                    <a:latin typeface="+mn-lt"/>
                    <a:ea typeface="+mn-ea"/>
                    <a:cs typeface="+mn-cs"/>
                  </a:rPr>
                  <a:t xml:space="preserve"> 자치구 2곳 연간 계약 </a:t>
                </a:r>
                <a:r>
                  <a:rPr lang="ko-KR" sz="1050" dirty="0">
                    <a:solidFill>
                      <a:srgbClr val="4B5563"/>
                    </a:solidFill>
                    <a:latin typeface="+mn-lt"/>
                    <a:ea typeface="+mn-ea"/>
                    <a:cs typeface="+mn-cs"/>
                  </a:rPr>
                  <a:t>[목표]</a:t>
                </a:r>
              </a:p>
            </p:txBody>
          </p:sp>
          <p:sp>
            <p:nvSpPr>
              <p:cNvPr id="61" name="Rectangle 61"/>
              <p:cNvSpPr/>
              <p:nvPr/>
            </p:nvSpPr>
            <p:spPr>
              <a:xfrm>
                <a:off x="9048750" y="4533900"/>
                <a:ext cx="2609850" cy="323850"/>
              </a:xfrm>
              <a:prstGeom prst="rect">
                <a:avLst/>
              </a:prstGeom>
              <a:solidFill>
                <a:srgbClr val="FFF6D6"/>
              </a:solidFill>
              <a:ln>
                <a:noFill/>
              </a:ln>
            </p:spPr>
          </p:sp>
          <p:sp>
            <p:nvSpPr>
              <p:cNvPr id="62" name="TextBox 62"/>
              <p:cNvSpPr txBox="1"/>
              <p:nvPr/>
            </p:nvSpPr>
            <p:spPr>
              <a:xfrm>
                <a:off x="9157716" y="4616450"/>
                <a:ext cx="1703680" cy="205359"/>
              </a:xfrm>
              <a:prstGeom prst="rect">
                <a:avLst/>
              </a:prstGeom>
              <a:noFill/>
              <a:ln>
                <a:noFill/>
              </a:ln>
            </p:spPr>
            <p:txBody>
              <a:bodyPr wrap="none" lIns="0" tIns="0" rIns="0" bIns="0" anchor="t" anchorCtr="0">
                <a:spAutoFit/>
              </a:bodyPr>
              <a:lstStyle/>
              <a:p>
                <a:pPr algn="l"/>
                <a:r>
                  <a:rPr lang="ko-KR" sz="1050" b="1" dirty="0">
                    <a:solidFill>
                      <a:srgbClr val="8A5A00"/>
                    </a:solidFill>
                    <a:latin typeface="+mn-lt"/>
                    <a:ea typeface="+mn-ea"/>
                    <a:cs typeface="+mn-cs"/>
                  </a:rPr>
                  <a:t>목표</a:t>
                </a:r>
                <a:r>
                  <a:rPr lang="ko-KR" sz="1050" dirty="0">
                    <a:solidFill>
                      <a:srgbClr val="111827"/>
                    </a:solidFill>
                    <a:latin typeface="+mn-lt"/>
                    <a:ea typeface="+mn-ea"/>
                    <a:cs typeface="+mn-cs"/>
                  </a:rPr>
                  <a:t xml:space="preserve"> 권역별 PV5 플릿 운영</a:t>
                </a:r>
              </a:p>
            </p:txBody>
          </p:sp>
        </p:grpSp>
      </p:grpSp>
      <p:grpSp>
        <p:nvGrpSpPr>
          <p:cNvPr id="67" name="conclusion"/>
          <p:cNvGrpSpPr/>
          <p:nvPr/>
        </p:nvGrpSpPr>
        <p:grpSpPr>
          <a:xfrm>
            <a:off x="533400" y="5562600"/>
            <a:ext cx="7401954" cy="495300"/>
            <a:chOff x="533400" y="5562600"/>
            <a:chExt cx="7401954" cy="495300"/>
          </a:xfrm>
        </p:grpSpPr>
        <p:sp>
          <p:nvSpPr>
            <p:cNvPr id="65" name="Rectangle 65"/>
            <p:cNvSpPr/>
            <p:nvPr/>
          </p:nvSpPr>
          <p:spPr>
            <a:xfrm>
              <a:off x="533400" y="5562600"/>
              <a:ext cx="38100" cy="495300"/>
            </a:xfrm>
            <a:prstGeom prst="rect">
              <a:avLst/>
            </a:prstGeom>
            <a:solidFill>
              <a:srgbClr val="F5B700"/>
            </a:solidFill>
            <a:ln>
              <a:noFill/>
            </a:ln>
          </p:spPr>
        </p:sp>
        <p:sp>
          <p:nvSpPr>
            <p:cNvPr id="66" name="TextBox 66"/>
            <p:cNvSpPr txBox="1"/>
            <p:nvPr/>
          </p:nvSpPr>
          <p:spPr>
            <a:xfrm>
              <a:off x="754380" y="5699125"/>
              <a:ext cx="7180974" cy="293370"/>
            </a:xfrm>
            <a:prstGeom prst="rect">
              <a:avLst/>
            </a:prstGeom>
            <a:noFill/>
            <a:ln>
              <a:noFill/>
            </a:ln>
          </p:spPr>
          <p:txBody>
            <a:bodyPr wrap="none" lIns="0" tIns="0" rIns="0" bIns="0" anchor="t" anchorCtr="0">
              <a:spAutoFit/>
            </a:bodyPr>
            <a:lstStyle/>
            <a:p>
              <a:pPr algn="l"/>
              <a:r>
                <a:rPr lang="ko-KR" sz="1500" b="1" dirty="0">
                  <a:solidFill>
                    <a:srgbClr val="0B1E3C"/>
                  </a:solidFill>
                  <a:latin typeface="+mn-lt"/>
                  <a:ea typeface="+mn-ea"/>
                  <a:cs typeface="+mn-cs"/>
                </a:rPr>
                <a:t xml:space="preserve">새 예산이 아니라, </a:t>
              </a:r>
              <a:r>
                <a:rPr lang="ko-KR" sz="1500" b="1" dirty="0">
                  <a:solidFill>
                    <a:srgbClr val="B45309"/>
                  </a:solidFill>
                  <a:latin typeface="+mn-lt"/>
                  <a:ea typeface="+mn-ea"/>
                  <a:cs typeface="+mn-cs"/>
                </a:rPr>
                <a:t>지자체가 이미 쓰는 GPR 탐사 예산</a:t>
              </a:r>
              <a:r>
                <a:rPr lang="ko-KR" sz="1500" b="1" dirty="0">
                  <a:solidFill>
                    <a:srgbClr val="0B1E3C"/>
                  </a:solidFill>
                  <a:latin typeface="+mn-lt"/>
                  <a:ea typeface="+mn-ea"/>
                  <a:cs typeface="+mn-cs"/>
                </a:rPr>
                <a:t>에서 첫 계약을 만듭니다.</a:t>
              </a:r>
            </a:p>
          </p:txBody>
        </p:sp>
      </p:grpSp>
      <p:grpSp>
        <p:nvGrpSpPr>
          <p:cNvPr id="69" name="source"/>
          <p:cNvGrpSpPr/>
          <p:nvPr/>
        </p:nvGrpSpPr>
        <p:grpSpPr>
          <a:xfrm>
            <a:off x="528638" y="6343650"/>
            <a:ext cx="9135008" cy="176212"/>
            <a:chOff x="528638" y="6343650"/>
            <a:chExt cx="9135008" cy="176212"/>
          </a:xfrm>
        </p:grpSpPr>
        <p:sp>
          <p:nvSpPr>
            <p:cNvPr id="68" name="TextBox 68"/>
            <p:cNvSpPr txBox="1"/>
            <p:nvPr/>
          </p:nvSpPr>
          <p:spPr>
            <a:xfrm>
              <a:off x="528638" y="6343650"/>
              <a:ext cx="9135008"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출처: 나라장터 2026 GPR 용역 낙찰(보령·안양·용인 기흥구) · 헤럴드경제(2025.9.7) · 조달청 혁신제품 지정제도 · 서울시 테스트베드서울 2.0 · 기간은 목표 [가설]</a:t>
              </a:r>
            </a:p>
          </p:txBody>
        </p:sp>
      </p:grpSp>
      <p:grpSp>
        <p:nvGrpSpPr>
          <p:cNvPr id="72" name="footer"/>
          <p:cNvGrpSpPr/>
          <p:nvPr/>
        </p:nvGrpSpPr>
        <p:grpSpPr>
          <a:xfrm>
            <a:off x="528638" y="6610350"/>
            <a:ext cx="11134724" cy="176212"/>
            <a:chOff x="528638" y="6610350"/>
            <a:chExt cx="11134724" cy="176212"/>
          </a:xfrm>
        </p:grpSpPr>
        <p:sp>
          <p:nvSpPr>
            <p:cNvPr id="70" name="TextBox 70"/>
            <p:cNvSpPr txBox="1"/>
            <p:nvPr/>
          </p:nvSpPr>
          <p:spPr>
            <a:xfrm>
              <a:off x="528638" y="6610350"/>
              <a:ext cx="1487653" cy="176212"/>
            </a:xfrm>
            <a:prstGeom prst="rect">
              <a:avLst/>
            </a:prstGeom>
            <a:noFill/>
            <a:ln>
              <a:noFill/>
            </a:ln>
          </p:spPr>
          <p:txBody>
            <a:bodyPr wrap="none" lIns="0" tIns="0" rIns="0" bIns="0" anchor="t" anchorCtr="0">
              <a:spAutoFit/>
            </a:bodyPr>
            <a:lstStyle/>
            <a:p>
              <a:pPr algn="l"/>
              <a:r>
                <a:rPr lang="ko-KR" sz="900" dirty="0">
                  <a:solidFill>
                    <a:srgbClr val="4B5563"/>
                  </a:solidFill>
                  <a:latin typeface="+mn-lt"/>
                  <a:ea typeface="+mn-ea"/>
                  <a:cs typeface="+mn-cs"/>
                </a:rPr>
                <a:t>한 명이라도 살릴 수 있다면</a:t>
              </a:r>
            </a:p>
          </p:txBody>
        </p:sp>
        <p:sp>
          <p:nvSpPr>
            <p:cNvPr id="71" name="TextBox 71"/>
            <p:cNvSpPr txBox="1"/>
            <p:nvPr/>
          </p:nvSpPr>
          <p:spPr>
            <a:xfrm>
              <a:off x="11247958" y="6610350"/>
              <a:ext cx="415404" cy="176212"/>
            </a:xfrm>
            <a:prstGeom prst="rect">
              <a:avLst/>
            </a:prstGeom>
            <a:noFill/>
            <a:ln>
              <a:noFill/>
            </a:ln>
          </p:spPr>
          <p:txBody>
            <a:bodyPr wrap="none" lIns="0" tIns="0" rIns="0" bIns="0" anchor="t" anchorCtr="0">
              <a:spAutoFit/>
            </a:bodyPr>
            <a:lstStyle/>
            <a:p>
              <a:pPr algn="r"/>
              <a:r>
                <a:rPr lang="ko-KR" sz="900" dirty="0">
                  <a:solidFill>
                    <a:srgbClr val="4B5563"/>
                  </a:solidFill>
                  <a:latin typeface="+mn-lt"/>
                  <a:ea typeface="+mn-ea"/>
                  <a:cs typeface="+mn-cs"/>
                </a:rPr>
                <a:t>11 / 12</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6858000"/>
          </a:xfrm>
          <a:prstGeom prst="rect">
            <a:avLst/>
          </a:prstGeom>
          <a:solidFill>
            <a:srgbClr val="0B1E3C"/>
          </a:solidFill>
          <a:ln>
            <a:noFill/>
          </a:ln>
        </p:spPr>
      </p:sp>
      <p:pic>
        <p:nvPicPr>
          <p:cNvPr id="3" name="Image 3"/>
          <p:cNvPicPr>
            <a:picLocks noChangeAspect="1"/>
          </p:cNvPicPr>
          <p:nvPr/>
        </p:nvPicPr>
        <p:blipFill>
          <a:blip r:embed="rId2"/>
          <a:srcRect l="16666" t="0" r="16667" b="0"/>
          <a:stretch>
            <a:fillRect/>
          </a:stretch>
        </p:blipFill>
        <p:spPr>
          <a:xfrm>
            <a:off x="5334000" y="0"/>
            <a:ext cx="6858000" cy="6858000"/>
          </a:xfrm>
          <a:prstGeom prst="rect">
            <a:avLst/>
          </a:prstGeom>
        </p:spPr>
      </p:pic>
      <p:sp>
        <p:nvSpPr>
          <p:cNvPr id="4" name="Rectangle 4"/>
          <p:cNvSpPr/>
          <p:nvPr/>
        </p:nvSpPr>
        <p:spPr>
          <a:xfrm>
            <a:off x="5334000" y="0"/>
            <a:ext cx="4000500" cy="6858000"/>
          </a:xfrm>
          <a:prstGeom prst="rect">
            <a:avLst/>
          </a:prstGeom>
          <a:gradFill>
            <a:gsLst>
              <a:gs pos="0">
                <a:srgbClr val="0B1E3C"/>
              </a:gs>
              <a:gs pos="55000">
                <a:srgbClr val="0B1E3C">
                  <a:alpha val="85000"/>
                </a:srgbClr>
              </a:gs>
              <a:gs pos="100000">
                <a:srgbClr val="0B1E3C">
                  <a:alpha val="0"/>
                </a:srgbClr>
              </a:gs>
            </a:gsLst>
            <a:lin ang="0" scaled="1"/>
          </a:gradFill>
          <a:ln>
            <a:noFill/>
          </a:ln>
        </p:spPr>
      </p:sp>
      <p:grpSp>
        <p:nvGrpSpPr>
          <p:cNvPr id="12" name="recap"/>
          <p:cNvGrpSpPr/>
          <p:nvPr/>
        </p:nvGrpSpPr>
        <p:grpSpPr>
          <a:xfrm>
            <a:off x="599694" y="990600"/>
            <a:ext cx="3914789" cy="2921381"/>
            <a:chOff x="599694" y="990600"/>
            <a:chExt cx="3914789" cy="2921381"/>
          </a:xfrm>
        </p:grpSpPr>
        <p:sp>
          <p:nvSpPr>
            <p:cNvPr id="5" name="TextBox 5"/>
            <p:cNvSpPr txBox="1"/>
            <p:nvPr/>
          </p:nvSpPr>
          <p:spPr>
            <a:xfrm>
              <a:off x="603504" y="990600"/>
              <a:ext cx="1992728" cy="234696"/>
            </a:xfrm>
            <a:prstGeom prst="rect">
              <a:avLst/>
            </a:prstGeom>
            <a:noFill/>
            <a:ln>
              <a:noFill/>
            </a:ln>
          </p:spPr>
          <p:txBody>
            <a:bodyPr wrap="none" lIns="0" tIns="0" rIns="0" bIns="0" anchor="t" anchorCtr="0">
              <a:spAutoFit/>
            </a:bodyPr>
            <a:lstStyle/>
            <a:p>
              <a:pPr algn="l"/>
              <a:r>
                <a:rPr lang="ko-KR" sz="1200" b="1" dirty="0">
                  <a:solidFill>
                    <a:srgbClr val="F5B700"/>
                  </a:solidFill>
                  <a:latin typeface="+mn-lt"/>
                  <a:ea typeface="+mn-ea"/>
                  <a:cs typeface="+mn-cs"/>
                </a:rPr>
                <a:t>GroundWatch가 바꾸는 것</a:t>
              </a:r>
            </a:p>
          </p:txBody>
        </p:sp>
        <p:sp>
          <p:nvSpPr>
            <p:cNvPr id="6" name="TextBox 6"/>
            <p:cNvSpPr txBox="1"/>
            <p:nvPr/>
          </p:nvSpPr>
          <p:spPr>
            <a:xfrm>
              <a:off x="601218" y="1473200"/>
              <a:ext cx="2282419" cy="322707"/>
            </a:xfrm>
            <a:prstGeom prst="rect">
              <a:avLst/>
            </a:prstGeom>
            <a:noFill/>
            <a:ln>
              <a:noFill/>
            </a:ln>
          </p:spPr>
          <p:txBody>
            <a:bodyPr wrap="none" lIns="0" tIns="0" rIns="0" bIns="0" anchor="t" anchorCtr="0">
              <a:spAutoFit/>
            </a:bodyPr>
            <a:lstStyle/>
            <a:p>
              <a:pPr algn="l"/>
              <a:r>
                <a:rPr lang="ko-KR" sz="1650" dirty="0">
                  <a:solidFill>
                    <a:srgbClr val="9FB0C8"/>
                  </a:solidFill>
                  <a:latin typeface="+mn-lt"/>
                  <a:ea typeface="+mn-ea"/>
                  <a:cs typeface="+mn-cs"/>
                </a:rPr>
                <a:t>한 번 찍고 끝나는 탐사</a:t>
              </a:r>
            </a:p>
          </p:txBody>
        </p:sp>
        <p:sp>
          <p:nvSpPr>
            <p:cNvPr id="7" name="TextBox 7"/>
            <p:cNvSpPr txBox="1"/>
            <p:nvPr/>
          </p:nvSpPr>
          <p:spPr>
            <a:xfrm>
              <a:off x="599694" y="1778000"/>
              <a:ext cx="3775660" cy="381381"/>
            </a:xfrm>
            <a:prstGeom prst="rect">
              <a:avLst/>
            </a:prstGeom>
            <a:noFill/>
            <a:ln>
              <a:noFill/>
            </a:ln>
          </p:spPr>
          <p:txBody>
            <a:bodyPr wrap="none" lIns="0" tIns="0" rIns="0" bIns="0" anchor="t" anchorCtr="0">
              <a:spAutoFit/>
            </a:bodyPr>
            <a:lstStyle/>
            <a:p>
              <a:pPr algn="l"/>
              <a:r>
                <a:rPr lang="ko-KR" sz="1950" b="1" dirty="0">
                  <a:solidFill>
                    <a:srgbClr val="FFFFFF"/>
                  </a:solidFill>
                  <a:latin typeface="+mn-lt"/>
                  <a:ea typeface="+mn-ea"/>
                  <a:cs typeface="+mn-cs"/>
                </a:rPr>
                <a:t>→ 같은 길의 ‘변화’를 보는 탐사</a:t>
              </a:r>
            </a:p>
          </p:txBody>
        </p:sp>
        <p:sp>
          <p:nvSpPr>
            <p:cNvPr id="8" name="TextBox 8"/>
            <p:cNvSpPr txBox="1"/>
            <p:nvPr/>
          </p:nvSpPr>
          <p:spPr>
            <a:xfrm>
              <a:off x="601218" y="2349500"/>
              <a:ext cx="3459670" cy="322707"/>
            </a:xfrm>
            <a:prstGeom prst="rect">
              <a:avLst/>
            </a:prstGeom>
            <a:noFill/>
            <a:ln>
              <a:noFill/>
            </a:ln>
          </p:spPr>
          <p:txBody>
            <a:bodyPr wrap="none" lIns="0" tIns="0" rIns="0" bIns="0" anchor="t" anchorCtr="0">
              <a:spAutoFit/>
            </a:bodyPr>
            <a:lstStyle/>
            <a:p>
              <a:pPr algn="l"/>
              <a:r>
                <a:rPr lang="ko-KR" sz="1650" dirty="0">
                  <a:solidFill>
                    <a:srgbClr val="9FB0C8"/>
                  </a:solidFill>
                  <a:latin typeface="+mn-lt"/>
                  <a:ea typeface="+mn-ea"/>
                  <a:cs typeface="+mn-cs"/>
                </a:rPr>
                <a:t>사람이 다시 찾아야 하는 의심 지점</a:t>
              </a:r>
            </a:p>
          </p:txBody>
        </p:sp>
        <p:sp>
          <p:nvSpPr>
            <p:cNvPr id="9" name="TextBox 9"/>
            <p:cNvSpPr txBox="1"/>
            <p:nvPr/>
          </p:nvSpPr>
          <p:spPr>
            <a:xfrm>
              <a:off x="599694" y="2654300"/>
              <a:ext cx="3914789" cy="381381"/>
            </a:xfrm>
            <a:prstGeom prst="rect">
              <a:avLst/>
            </a:prstGeom>
            <a:noFill/>
            <a:ln>
              <a:noFill/>
            </a:ln>
          </p:spPr>
          <p:txBody>
            <a:bodyPr wrap="none" lIns="0" tIns="0" rIns="0" bIns="0" anchor="t" anchorCtr="0">
              <a:spAutoFit/>
            </a:bodyPr>
            <a:lstStyle/>
            <a:p>
              <a:pPr algn="l"/>
              <a:r>
                <a:rPr lang="ko-KR" sz="1950" b="1" dirty="0">
                  <a:solidFill>
                    <a:srgbClr val="FFFFFF"/>
                  </a:solidFill>
                  <a:latin typeface="+mn-lt"/>
                  <a:ea typeface="+mn-ea"/>
                  <a:cs typeface="+mn-cs"/>
                </a:rPr>
                <a:t>→ 현장에서 바로 확인하는 재탐사</a:t>
              </a:r>
            </a:p>
          </p:txBody>
        </p:sp>
        <p:sp>
          <p:nvSpPr>
            <p:cNvPr id="10" name="TextBox 10"/>
            <p:cNvSpPr txBox="1"/>
            <p:nvPr/>
          </p:nvSpPr>
          <p:spPr>
            <a:xfrm>
              <a:off x="601218" y="3225800"/>
              <a:ext cx="1482776" cy="322707"/>
            </a:xfrm>
            <a:prstGeom prst="rect">
              <a:avLst/>
            </a:prstGeom>
            <a:noFill/>
            <a:ln>
              <a:noFill/>
            </a:ln>
          </p:spPr>
          <p:txBody>
            <a:bodyPr wrap="none" lIns="0" tIns="0" rIns="0" bIns="0" anchor="t" anchorCtr="0">
              <a:spAutoFit/>
            </a:bodyPr>
            <a:lstStyle/>
            <a:p>
              <a:pPr algn="l"/>
              <a:r>
                <a:rPr lang="ko-KR" sz="1650" dirty="0">
                  <a:solidFill>
                    <a:srgbClr val="9FB0C8"/>
                  </a:solidFill>
                  <a:latin typeface="+mn-lt"/>
                  <a:ea typeface="+mn-ea"/>
                  <a:cs typeface="+mn-cs"/>
                </a:rPr>
                <a:t>장비를 실은 차</a:t>
              </a:r>
            </a:p>
          </p:txBody>
        </p:sp>
        <p:sp>
          <p:nvSpPr>
            <p:cNvPr id="11" name="TextBox 11"/>
            <p:cNvSpPr txBox="1"/>
            <p:nvPr/>
          </p:nvSpPr>
          <p:spPr>
            <a:xfrm>
              <a:off x="599694" y="3530600"/>
              <a:ext cx="3092146" cy="381381"/>
            </a:xfrm>
            <a:prstGeom prst="rect">
              <a:avLst/>
            </a:prstGeom>
            <a:noFill/>
            <a:ln>
              <a:noFill/>
            </a:ln>
          </p:spPr>
          <p:txBody>
            <a:bodyPr wrap="none" lIns="0" tIns="0" rIns="0" bIns="0" anchor="t" anchorCtr="0">
              <a:spAutoFit/>
            </a:bodyPr>
            <a:lstStyle/>
            <a:p>
              <a:pPr algn="l"/>
              <a:r>
                <a:rPr lang="ko-KR" sz="1950" b="1" dirty="0">
                  <a:solidFill>
                    <a:srgbClr val="FFFFFF"/>
                  </a:solidFill>
                  <a:latin typeface="+mn-lt"/>
                  <a:ea typeface="+mn-ea"/>
                  <a:cs typeface="+mn-cs"/>
                </a:rPr>
                <a:t>→ 복제 가능한 PV5 탐사실</a:t>
              </a:r>
            </a:p>
          </p:txBody>
        </p:sp>
      </p:grpSp>
      <p:grpSp>
        <p:nvGrpSpPr>
          <p:cNvPr id="15" name="closing"/>
          <p:cNvGrpSpPr/>
          <p:nvPr/>
        </p:nvGrpSpPr>
        <p:grpSpPr>
          <a:xfrm>
            <a:off x="595122" y="4476750"/>
            <a:ext cx="5037439" cy="1255903"/>
            <a:chOff x="595122" y="4476750"/>
            <a:chExt cx="5037439" cy="1255903"/>
          </a:xfrm>
        </p:grpSpPr>
        <p:sp>
          <p:nvSpPr>
            <p:cNvPr id="13" name="Rectangle 13"/>
            <p:cNvSpPr/>
            <p:nvPr/>
          </p:nvSpPr>
          <p:spPr>
            <a:xfrm>
              <a:off x="609600" y="4476750"/>
              <a:ext cx="457200" cy="28575"/>
            </a:xfrm>
            <a:prstGeom prst="rect">
              <a:avLst/>
            </a:prstGeom>
            <a:solidFill>
              <a:srgbClr val="F5B700"/>
            </a:solidFill>
            <a:ln>
              <a:noFill/>
            </a:ln>
          </p:spPr>
        </p:sp>
        <p:sp>
          <p:nvSpPr>
            <p:cNvPr id="14" name="TextBox 14"/>
            <p:cNvSpPr txBox="1"/>
            <p:nvPr/>
          </p:nvSpPr>
          <p:spPr>
            <a:xfrm>
              <a:off x="595122" y="4679950"/>
              <a:ext cx="5037439" cy="1052703"/>
            </a:xfrm>
            <a:prstGeom prst="rect">
              <a:avLst/>
            </a:prstGeom>
            <a:noFill/>
            <a:ln>
              <a:noFill/>
            </a:ln>
          </p:spPr>
          <p:txBody>
            <a:bodyPr wrap="none" lIns="0" tIns="0" rIns="0" bIns="0" anchor="t" anchorCtr="0">
              <a:spAutoFit/>
            </a:bodyPr>
            <a:lstStyle/>
            <a:p>
              <a:pPr algn="l">
                <a:lnSpc>
                  <a:spcPts val="3900"/>
                </a:lnSpc>
              </a:pPr>
              <a:r>
                <a:rPr lang="ko-KR" sz="2850" b="1" dirty="0">
                  <a:solidFill>
                    <a:srgbClr val="FFFFFF"/>
                  </a:solidFill>
                  <a:latin typeface="+mn-lt"/>
                  <a:ea typeface="+mn-ea"/>
                  <a:cs typeface="+mn-cs"/>
                </a:rPr>
                <a:t>한 번의 조기 발견이,</a:t>
              </a:r>
              <a:br>
                <a:rPr lang="ko-KR" sz="2850" b="1" dirty="0">
                  <a:solidFill>
                    <a:srgbClr val="FFFFFF"/>
                  </a:solidFill>
                  <a:latin typeface="+mn-lt"/>
                  <a:ea typeface="+mn-ea"/>
                  <a:cs typeface="+mn-cs"/>
                </a:rPr>
              </a:br>
              <a:r>
                <a:rPr lang="ko-KR" sz="2850" b="1" dirty="0">
                  <a:solidFill>
                    <a:srgbClr val="FFFFFF"/>
                  </a:solidFill>
                  <a:latin typeface="+mn-lt"/>
                  <a:ea typeface="+mn-ea"/>
                  <a:cs typeface="+mn-cs"/>
                </a:rPr>
                <a:t>한 사람의 무사 귀가가 되도록.</a:t>
              </a:r>
            </a:p>
          </p:txBody>
        </p:sp>
      </p:grpSp>
      <p:grpSp>
        <p:nvGrpSpPr>
          <p:cNvPr id="19" name="footer"/>
          <p:cNvGrpSpPr/>
          <p:nvPr/>
        </p:nvGrpSpPr>
        <p:grpSpPr>
          <a:xfrm>
            <a:off x="604266" y="6413500"/>
            <a:ext cx="11135487" cy="369443"/>
            <a:chOff x="604266" y="6413500"/>
            <a:chExt cx="11135487" cy="369443"/>
          </a:xfrm>
        </p:grpSpPr>
        <p:sp>
          <p:nvSpPr>
            <p:cNvPr id="16" name="TextBox 16"/>
            <p:cNvSpPr txBox="1"/>
            <p:nvPr/>
          </p:nvSpPr>
          <p:spPr>
            <a:xfrm>
              <a:off x="604266" y="6540500"/>
              <a:ext cx="2167044" cy="205359"/>
            </a:xfrm>
            <a:prstGeom prst="rect">
              <a:avLst/>
            </a:prstGeom>
            <a:noFill/>
            <a:ln>
              <a:noFill/>
            </a:ln>
          </p:spPr>
          <p:txBody>
            <a:bodyPr wrap="none" lIns="0" tIns="0" rIns="0" bIns="0" anchor="t" anchorCtr="0">
              <a:spAutoFit/>
            </a:bodyPr>
            <a:lstStyle/>
            <a:p>
              <a:pPr algn="l"/>
              <a:r>
                <a:rPr lang="ko-KR" sz="1050" b="1" dirty="0">
                  <a:solidFill>
                    <a:srgbClr val="F5B700"/>
                  </a:solidFill>
                  <a:latin typeface="+mn-lt"/>
                  <a:ea typeface="+mn-ea"/>
                  <a:cs typeface="+mn-cs"/>
                </a:rPr>
                <a:t>TEAM 한 명이라도 살릴 수 있다면</a:t>
              </a:r>
            </a:p>
          </p:txBody>
        </p:sp>
        <p:sp>
          <p:nvSpPr>
            <p:cNvPr id="17" name="TextBox 17"/>
            <p:cNvSpPr txBox="1"/>
            <p:nvPr/>
          </p:nvSpPr>
          <p:spPr>
            <a:xfrm>
              <a:off x="9504226" y="6413500"/>
              <a:ext cx="2235337" cy="161925"/>
            </a:xfrm>
            <a:prstGeom prst="rect">
              <a:avLst/>
            </a:prstGeom>
            <a:noFill/>
            <a:ln>
              <a:noFill/>
            </a:ln>
          </p:spPr>
          <p:txBody>
            <a:bodyPr wrap="none" lIns="0" tIns="0" rIns="0" bIns="0" anchor="t" anchorCtr="0">
              <a:spAutoFit/>
            </a:bodyPr>
            <a:lstStyle/>
            <a:p>
              <a:pPr algn="r"/>
              <a:r>
                <a:rPr lang="ko-KR" sz="820" dirty="0">
                  <a:solidFill>
                    <a:srgbClr val="D6DDE8"/>
                  </a:solidFill>
                  <a:latin typeface="+mn-lt"/>
                  <a:ea typeface="+mn-ea"/>
                  <a:cs typeface="+mn-cs"/>
                </a:rPr>
                <a:t>사진: Alexander Migl, CC BY-SA 4.0(편집)</a:t>
              </a:r>
            </a:p>
          </p:txBody>
        </p:sp>
        <p:sp>
          <p:nvSpPr>
            <p:cNvPr id="18" name="TextBox 18"/>
            <p:cNvSpPr txBox="1"/>
            <p:nvPr/>
          </p:nvSpPr>
          <p:spPr>
            <a:xfrm>
              <a:off x="11265792" y="6591300"/>
              <a:ext cx="473961" cy="191643"/>
            </a:xfrm>
            <a:prstGeom prst="rect">
              <a:avLst/>
            </a:prstGeom>
            <a:noFill/>
            <a:ln>
              <a:noFill/>
            </a:ln>
          </p:spPr>
          <p:txBody>
            <a:bodyPr wrap="none" lIns="0" tIns="0" rIns="0" bIns="0" anchor="t" anchorCtr="0">
              <a:spAutoFit/>
            </a:bodyPr>
            <a:lstStyle/>
            <a:p>
              <a:pPr algn="r"/>
              <a:r>
                <a:rPr lang="ko-KR" sz="980" b="1" dirty="0">
                  <a:solidFill>
                    <a:srgbClr val="F5B700"/>
                  </a:solidFill>
                  <a:latin typeface="+mn-lt"/>
                  <a:ea typeface="+mn-ea"/>
                  <a:cs typeface="+mn-cs"/>
                </a:rPr>
                <a:t>12 / 12</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deck_v5">
  <a:themeElements>
    <a:clrScheme name="deck_v5">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deck_v5">
      <a:majorFont>
        <a:latin typeface="Pretendard"/>
        <a:ea typeface="Pretendard"/>
        <a:cs typeface="Pretendard"/>
        <a:font script="Jpan" typeface="Pretendard"/>
        <a:font script="Hang" typeface="Pretendard"/>
        <a:font script="Hans" typeface="Pretendard"/>
        <a:font script="Hant" typeface="Pretendard"/>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Pretendard"/>
        <a:ea typeface="Pretendard"/>
        <a:cs typeface="Pretendard"/>
        <a:font script="Jpan" typeface="Pretendard"/>
        <a:font script="Hang" typeface="Pretendard"/>
        <a:font script="Hans" typeface="Pretendard"/>
        <a:font script="Hant" typeface="Pretendard"/>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ck_v5">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12</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ko-KR</dc:language>
  <cp:lastModifiedBy/>
  <cp:revision>1</cp:revision>
  <dcterms:created xsi:type="dcterms:W3CDTF">2026-10-22T11:44:15Z</dcterms:created>
  <dcterms:modified xsi:type="dcterms:W3CDTF">2026-10-22T11:44:15Z</dcterms:modified>
  <cp:category/>
  <cp:contentStatus/>
</cp:coreProperties>
</file>