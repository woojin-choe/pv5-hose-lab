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d2ade1910d4da2" /><Relationship Type="http://schemas.openxmlformats.org/officeDocument/2006/relationships/extended-properties" Target="/docProps/app.xml" Id="Rec0082d44dd943c4" /><Relationship Type="http://schemas.openxmlformats.org/officeDocument/2006/relationships/officeDocument" Target="/ppt/presentation.xml" Id="Rbb981d197b1f46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b97cd91a524e8f"/>
  </p:sldMasterIdLst>
  <p:notesMasterIdLst>
    <p:notesMasterId xmlns:r="http://schemas.openxmlformats.org/officeDocument/2006/relationships" r:id="R77c7b0e72c264591"/>
  </p:notesMasterIdLst>
  <p:sldIdLst>
    <p:sldId xmlns:r="http://schemas.openxmlformats.org/officeDocument/2006/relationships" id="256" r:id="Rf1aa7b88aaf84902"/>
    <p:sldId xmlns:r="http://schemas.openxmlformats.org/officeDocument/2006/relationships" id="257" r:id="Rb173691bcead45d4"/>
    <p:sldId xmlns:r="http://schemas.openxmlformats.org/officeDocument/2006/relationships" id="258" r:id="Rc62425e0de1f406c"/>
    <p:sldId xmlns:r="http://schemas.openxmlformats.org/officeDocument/2006/relationships" id="259" r:id="Rbd2bed0812fb4298"/>
    <p:sldId xmlns:r="http://schemas.openxmlformats.org/officeDocument/2006/relationships" id="260" r:id="R0579eb7262eb4148"/>
    <p:sldId xmlns:r="http://schemas.openxmlformats.org/officeDocument/2006/relationships" id="261" r:id="R6b52736c5bea4030"/>
    <p:sldId xmlns:r="http://schemas.openxmlformats.org/officeDocument/2006/relationships" id="262" r:id="R440373ef94004d19"/>
    <p:sldId xmlns:r="http://schemas.openxmlformats.org/officeDocument/2006/relationships" id="263" r:id="R06b7cc7c8d6543f5"/>
    <p:sldId xmlns:r="http://schemas.openxmlformats.org/officeDocument/2006/relationships" id="264" r:id="Rbb27096d108a4a09"/>
    <p:sldId xmlns:r="http://schemas.openxmlformats.org/officeDocument/2006/relationships" id="265" r:id="R0b5320d36d674ba3"/>
    <p:sldId xmlns:r="http://schemas.openxmlformats.org/officeDocument/2006/relationships" id="266" r:id="R561905fec78d47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5aab853f584170" /><Relationship Type="http://schemas.openxmlformats.org/officeDocument/2006/relationships/slideMaster" Target="/ppt/slideMasters/slideMaster1.xml" Id="Rc4b97cd91a524e8f" /><Relationship Type="http://schemas.openxmlformats.org/officeDocument/2006/relationships/notesMaster" Target="/ppt/notesMasters/notesMaster1.xml" Id="R77c7b0e72c264591" /><Relationship Type="http://schemas.openxmlformats.org/officeDocument/2006/relationships/presProps" Target="/ppt/presProps.xml" Id="Reda0ee73ffa044db" /><Relationship Type="http://schemas.openxmlformats.org/officeDocument/2006/relationships/tableStyles" Target="/ppt/tableStyles.xml" Id="R45d31e79dcf5451c" /><Relationship Type="http://schemas.openxmlformats.org/officeDocument/2006/relationships/slide" Target="/ppt/slides/slide1.xml" Id="Rf1aa7b88aaf84902" /><Relationship Type="http://schemas.openxmlformats.org/officeDocument/2006/relationships/slide" Target="/ppt/slides/slide2.xml" Id="Rb173691bcead45d4" /><Relationship Type="http://schemas.openxmlformats.org/officeDocument/2006/relationships/slide" Target="/ppt/slides/slide3.xml" Id="Rc62425e0de1f406c" /><Relationship Type="http://schemas.openxmlformats.org/officeDocument/2006/relationships/slide" Target="/ppt/slides/slide4.xml" Id="Rbd2bed0812fb4298" /><Relationship Type="http://schemas.openxmlformats.org/officeDocument/2006/relationships/slide" Target="/ppt/slides/slide5.xml" Id="R0579eb7262eb4148" /><Relationship Type="http://schemas.openxmlformats.org/officeDocument/2006/relationships/slide" Target="/ppt/slides/slide6.xml" Id="R6b52736c5bea4030" /><Relationship Type="http://schemas.openxmlformats.org/officeDocument/2006/relationships/slide" Target="/ppt/slides/slide7.xml" Id="R440373ef94004d19" /><Relationship Type="http://schemas.openxmlformats.org/officeDocument/2006/relationships/slide" Target="/ppt/slides/slide8.xml" Id="R06b7cc7c8d6543f5" /><Relationship Type="http://schemas.openxmlformats.org/officeDocument/2006/relationships/slide" Target="/ppt/slides/slide9.xml" Id="Rbb27096d108a4a09" /><Relationship Type="http://schemas.openxmlformats.org/officeDocument/2006/relationships/slide" Target="/ppt/slides/slide10.xml" Id="R0b5320d36d674ba3" /><Relationship Type="http://schemas.openxmlformats.org/officeDocument/2006/relationships/slide" Target="/ppt/slides/slide11.xml" Id="R561905fec78d47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bdc87d57fa4b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2bac9fae7b4ba5" /><Relationship Type="http://schemas.openxmlformats.org/officeDocument/2006/relationships/notesMaster" Target="/ppt/notesMasters/notesMaster1.xml" Id="Ra74dcd04c0b441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46d17da7f14563" /><Relationship Type="http://schemas.openxmlformats.org/officeDocument/2006/relationships/notesMaster" Target="/ppt/notesMasters/notesMaster1.xml" Id="R89a5438ff9c045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f98f6f602f4a55" /><Relationship Type="http://schemas.openxmlformats.org/officeDocument/2006/relationships/notesMaster" Target="/ppt/notesMasters/notesMaster1.xml" Id="Re784aa36b42044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82ecacb5cf44dc" /><Relationship Type="http://schemas.openxmlformats.org/officeDocument/2006/relationships/notesMaster" Target="/ppt/notesMasters/notesMaster1.xml" Id="Rab472c51c1de4a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396a6dd83743f0" /><Relationship Type="http://schemas.openxmlformats.org/officeDocument/2006/relationships/notesMaster" Target="/ppt/notesMasters/notesMaster1.xml" Id="R6b71a9f83a9c4d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215074e92e490a" /><Relationship Type="http://schemas.openxmlformats.org/officeDocument/2006/relationships/notesMaster" Target="/ppt/notesMasters/notesMaster1.xml" Id="R95b65e50e7df47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48af0d61f345ed" /><Relationship Type="http://schemas.openxmlformats.org/officeDocument/2006/relationships/notesMaster" Target="/ppt/notesMasters/notesMaster1.xml" Id="R2665363d9daa41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e396830a4d4849" /><Relationship Type="http://schemas.openxmlformats.org/officeDocument/2006/relationships/notesMaster" Target="/ppt/notesMasters/notesMaster1.xml" Id="R470590b0d2de466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19a076a722f456e" /><Relationship Type="http://schemas.openxmlformats.org/officeDocument/2006/relationships/notesMaster" Target="/ppt/notesMasters/notesMaster1.xml" Id="R37c9f458a0ec4b8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d5ac9a83eae47dc" /><Relationship Type="http://schemas.openxmlformats.org/officeDocument/2006/relationships/notesMaster" Target="/ppt/notesMasters/notesMaster1.xml" Id="Re7002e4787784bd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0481d9ac29a4501" /><Relationship Type="http://schemas.openxmlformats.org/officeDocument/2006/relationships/notesMaster" Target="/ppt/notesMasters/notesMaster1.xml" Id="R2a7f319982f246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표지 이미지는 콘셉트 이미지입니다. 발표 시작: 드론이 고장 나면 현장이 드론을 보내는 대신, 정비소가 현장으로 가야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개인 경험을 바탕으로 한 서사 초안입니다. 실제 연구실 프로젝트의 기체명, 맡은 역할, 대표 고장 사례를 발표 때 한 문장으로 보완하면 더 강해집니다. 이미지는 경험 재구성 이미지입니다.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DJI Care Enterprise. 제품 수령 후 통상 5영업일 안내이며 배송과 지역별 처리시간은 별도입니다. https://enterprise.dji.com/djicare-enterprise?from=nav&amp;site=enterprise . 이미지는 문제 상황을 설명하기 위한 콘셉트 이미지입니다.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대표적인 센터 발송형 수리 흐름을 단순화했습니다. 국내 파일럿에서 포장, 배송, 견적 승인, 반송 시간을 실제 수치로 수집해야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드론 3대 이상은 시장통계가 아니라 초기 고객 선정을 위한 가설입니다. DJI Agras T40 사전 정비 가이드는 방제철 전 예비부품, 공구, 작업대와 기본 수리 지식 준비를 권고합니다. https://ag.dji.com/newsroom/agras-t40-preseason-maintenance-guide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PV5 카고 공식 특징: 화물실 길이 2,255mm, 폭 1,565mm, 높이 1,520mm, 최대 적재중량 600kg 또는 700kg, 카고룸 220V V2L. https://www.kia.com/kr/vehicles/pv5-cargo/features . 실제 장비 전력과 축하중은 별도 검증이 필요합니다.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차량 투시도는 콘셉트 이미지입니다. 실제 제작 전 적재중량, 전후축 하중, 배터리 방화, 환기, 전력, 작업 동선 검토가 필요합니다.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3D프린터는 비행 안전에 영향을 주지 않는 지그, 보호캡, 측정 템플릿과 작업장 정리 부품에 한정합니다. 출력 중 차량 운행 금지, 밀폐 챔버, 환기와 소재별 사용범위 검증이 필요합니다. 이미지는 콘셉트 이미지입니다.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수리 범위는 예시입니다. 제조사와 모델에 따라 현장 분해가 보증에 영향을 줄 수 있습니다. DJI Enterprise Maintenance FAQ: https://enterprise.dji.com/enterprise-maintenance/faq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가격은 국내 고객 인터뷰와 파일럿을 통해 확정합니다. 제조사 공인 파트너 또는 공식 대리점 제휴가 보증, 부품, 진단 소프트웨어 문제를 줄이는 핵심 조건입니다.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마무리: 연구실에서 드론을 직접 다뤄본 경험은 비행 기술만이 아니라 정비와 복구도 현장 활용의 일부라는 문제의식으로 이어졌습니다. 이제 그 정비 환경을 PV5에 싣고 현장으로 가져갑니다.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디자인 근거: Apple Human Interface Guidelines — Design Principles, Layout, Color. 명확한 위계, 충분한 여백, 정렬을 통한 관계 표현, 색상의 절제된 사용 원칙을 프레젠테이션 문법으로 적용했습니다. https://developer.apple.com/design/human-interface-guidelines/design-principles https://developer.apple.com/design/human-interface-guidelines/layout https://developer.apple.com/design/human-interface-guidelines/color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adc6918f0b461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4ce929107f412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362fe69ce8459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b8b58e4953456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21b9837f1449c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17acee8d454b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368E69-8E82-41A4-BD13-AACA31BB1B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15BF25B-0EDF-43AF-AB42-D9C7E9351D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DF98C29-5700-413D-BAB6-05EA12EDD1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D28BB3-B1D3-48DD-A95C-942ADC771D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059611A-E0CA-4439-8799-A3C5766ED7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039163F-AF24-46FF-8979-0F6FD48861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CD1D5C0-98DF-40CB-A2E7-6862FAD533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1003790-A938-458E-8BDF-9BA190A7813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3F2399-B9A7-4C18-A262-9316BE393F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7B85582-9B1B-4CEF-9776-87A1EC2DB0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aff9e8b4f64922" /><Relationship Type="http://schemas.openxmlformats.org/officeDocument/2006/relationships/slideLayout" Target="/ppt/slideLayouts/slideLayout1.xml" Id="Rfa2936871f2548af" /><Relationship Type="http://schemas.openxmlformats.org/officeDocument/2006/relationships/slideLayout" Target="/ppt/slideLayouts/slideLayout2.xml" Id="R6825977dc4d44c63" /><Relationship Type="http://schemas.openxmlformats.org/officeDocument/2006/relationships/slideLayout" Target="/ppt/slideLayouts/slideLayout3.xml" Id="R03c05d1464b449d2" /><Relationship Type="http://schemas.openxmlformats.org/officeDocument/2006/relationships/slideLayout" Target="/ppt/slideLayouts/slideLayout4.xml" Id="R182bfcfa23b8434d" /><Relationship Type="http://schemas.openxmlformats.org/officeDocument/2006/relationships/slideLayout" Target="/ppt/slideLayouts/slideLayout5.xml" Id="R6b151c345d864391" /><Relationship Type="http://schemas.openxmlformats.org/officeDocument/2006/relationships/slideLayout" Target="/ppt/slideLayouts/slideLayout6.xml" Id="R5a9c96bb66bd42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2936871f2548af"/>
    <p:sldLayoutId xmlns:r="http://schemas.openxmlformats.org/officeDocument/2006/relationships" id="2147483650" r:id="R6825977dc4d44c63"/>
    <p:sldLayoutId xmlns:r="http://schemas.openxmlformats.org/officeDocument/2006/relationships" id="2147483651" r:id="R03c05d1464b449d2"/>
    <p:sldLayoutId xmlns:r="http://schemas.openxmlformats.org/officeDocument/2006/relationships" id="2147483652" r:id="R182bfcfa23b8434d"/>
    <p:sldLayoutId xmlns:r="http://schemas.openxmlformats.org/officeDocument/2006/relationships" id="2147483653" r:id="R6b151c345d864391"/>
    <p:sldLayoutId xmlns:r="http://schemas.openxmlformats.org/officeDocument/2006/relationships" id="2147483654" r:id="R5a9c96bb66bd42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aec758be4c42d5" /><Relationship Type="http://schemas.openxmlformats.org/officeDocument/2006/relationships/image" Target="/ppt/media/image.png" Id="R1d211622d0104270" /><Relationship Type="http://schemas.openxmlformats.org/officeDocument/2006/relationships/notesSlide" Target="/ppt/notesSlides/notesSlide1.xml" Id="Rd819f3b2b57047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9d21d4f62a4932" /><Relationship Type="http://schemas.openxmlformats.org/officeDocument/2006/relationships/image" Target="/ppt/media/image2.png" Id="R4be2ff22024f4ad4" /><Relationship Type="http://schemas.openxmlformats.org/officeDocument/2006/relationships/notesSlide" Target="/ppt/notesSlides/notesSlide2.xml" Id="R7c5323db0b0a4a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e847ee7902425d" /><Relationship Type="http://schemas.openxmlformats.org/officeDocument/2006/relationships/image" Target="/ppt/media/image3.png" Id="R1b8b3d3a477041d5" /><Relationship Type="http://schemas.openxmlformats.org/officeDocument/2006/relationships/notesSlide" Target="/ppt/notesSlides/notesSlide3.xml" Id="R4da9ab011e8749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4a34a38b404ba8" /><Relationship Type="http://schemas.openxmlformats.org/officeDocument/2006/relationships/notesSlide" Target="/ppt/notesSlides/notesSlide4.xml" Id="Re1bec6b82bff48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27a8bc80014355" /><Relationship Type="http://schemas.openxmlformats.org/officeDocument/2006/relationships/notesSlide" Target="/ppt/notesSlides/notesSlide5.xml" Id="R106ffb35fe4647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d85f209a434399" /><Relationship Type="http://schemas.openxmlformats.org/officeDocument/2006/relationships/notesSlide" Target="/ppt/notesSlides/notesSlide6.xml" Id="R2b309f2845ad4d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ecef6661854781" /><Relationship Type="http://schemas.openxmlformats.org/officeDocument/2006/relationships/image" Target="/ppt/media/image4.png" Id="R70122f13985641b7" /><Relationship Type="http://schemas.openxmlformats.org/officeDocument/2006/relationships/notesSlide" Target="/ppt/notesSlides/notesSlide7.xml" Id="R18b584ab1db744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e5e1ec6eb74bbe" /><Relationship Type="http://schemas.openxmlformats.org/officeDocument/2006/relationships/image" Target="/ppt/media/image5.png" Id="R788bb674708342d6" /><Relationship Type="http://schemas.openxmlformats.org/officeDocument/2006/relationships/notesSlide" Target="/ppt/notesSlides/notesSlide8.xml" Id="R4ae29d4b67e54f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1518476ae54907" /><Relationship Type="http://schemas.openxmlformats.org/officeDocument/2006/relationships/notesSlide" Target="/ppt/notesSlides/notesSlide9.xml" Id="R0ab4262c5a8f40e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84e0731d724662" /><Relationship Type="http://schemas.openxmlformats.org/officeDocument/2006/relationships/notesSlide" Target="/ppt/notesSlides/notesSlide10.xml" Id="R22060e94ef10451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45549170854ec7" /><Relationship Type="http://schemas.openxmlformats.org/officeDocument/2006/relationships/notesSlide" Target="/ppt/notesSlides/notesSlide11.xml" Id="R546b56182dc240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2D885A-3BC9-4063-A7A1-089C5E3DC2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211622d010427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083963-7C00-4A43-AF8F-17E41184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FE2728-9C07-4651-9B5E-E3F8B5D8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F83F0-F244-4634-AD3A-7B4FC7EE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41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DA5B54-0D0E-4C59-8698-8924F55B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PV5 Drone Pit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6654A4-E02A-44B0-ACDF-48A0B143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42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36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멈춘 드론을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36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현장에서 다시 띄우다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1369B3-9F0A-46C1-AD5E-ABD50CED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2905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E5E5E1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E5E5E1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0">
                <a:solidFill>
                  <a:srgbClr val="E5E5E1"/>
                </a:solidFill>
                <a:latin typeface="Nanum Gothic"/>
                <a:ea typeface="Nanum Gothic"/>
                <a:cs typeface="Nanum Gothic"/>
              </a:rPr>
              <a:t>농업·산업용 드론을 위한 이동식 정비소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5334A8-85DC-4F47-AB80-6EBD827E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483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현장 진단   ·   즉시 수리   ·   재가동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B74E5B-EB9D-4CEA-916B-D2076D39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1">
                <a:solidFill>
                  <a:srgbClr val="BDBDB8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750" b="1">
                <a:solidFill>
                  <a:srgbClr val="BDBDB8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BDBDB8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839827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BA219E-1DB0-49F2-A206-DFBCEF9B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5C2C9B-B41A-44AF-9799-CCEA7569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"/>
            <a:ext cx="590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7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rPr>
              <a:t>프로젝트의 시작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35A3A8-B2D1-4E18-BECF-BABA3E06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476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22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22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pPr>
            <a:r>
              <a:rPr sz="322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rPr>
              <a:t>작은 고장이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22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pPr>
            <a:r>
              <a:rPr sz="322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rPr>
              <a:t>전체 실험을 멈췄다.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F48C76-FA59-434F-9A2C-328AD310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425" b="0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6A6A66"/>
                </a:solidFill>
                <a:latin typeface="Nanum Gothic"/>
                <a:ea typeface="Nanum Gothic"/>
                <a:cs typeface="Nanum Gothic"/>
              </a:rPr>
              <a:t>연구실에서 드론 프로젝트를 진행하며 제작과 시험을 반복했다.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425" b="0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6A6A66"/>
                </a:solidFill>
                <a:latin typeface="Nanum Gothic"/>
                <a:ea typeface="Nanum Gothic"/>
                <a:cs typeface="Nanum Gothic"/>
              </a:rPr>
              <a:t>그때 알게 된 건 비행 성능만큼 복구 속도가 중요하다는 사실이었다.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7B7C93-2925-4C85-B526-D0C1BCB0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CF87F7-01DC-472D-A3EC-80C324CA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rPr>
              <a:t>“멈춘 기체를 얼마나 빨리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rPr>
              <a:t>다시 띄울 수 있는가?”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1CF18-07FF-4B60-83F9-780F8AB0D7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e2ff22024f4ad4"/>
          <a:srcRect xmlns:a="http://schemas.openxmlformats.org/drawingml/2006/main" l="25378" t="0" r="253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2FCA07-1D34-499D-BF1C-0F458D51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FCFB17-C5F8-4385-88D2-3219CD3E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008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675" b="0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675" b="0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경험 재구성 이미지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D02BE5-BF07-47F3-88F4-B287A0FB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1">
                <a:solidFill>
                  <a:srgbClr val="BDBDB8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750" b="1">
                <a:solidFill>
                  <a:srgbClr val="BDBDB8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BDBDB8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021108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963BA9-25E3-42A8-A0AC-02AE822A3A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8b3d3a477041d5"/>
          <a:srcRect xmlns:a="http://schemas.openxmlformats.org/drawingml/2006/main" l="23033" t="0" r="230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446F00-E38D-4B4C-BBAC-FC2ACE21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4D098D-F467-4443-88CC-D94CD4A2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7946FF-69E7-4C5E-A1F8-722CD7A3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881BB2-93BC-47D8-A2E1-04AF927A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"/>
            <a:ext cx="590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현재의 문제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A2BEFE-B1B0-4AC8-A31D-0D4C0AB8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43000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6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26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26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드론은 수리센터로 가고,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6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26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현장은 그동안 멈춘다.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99FA48-57E8-4216-8BD6-28592628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05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BEBEBA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BEBEBA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BEBEBA"/>
                </a:solidFill>
                <a:latin typeface="Nanum Gothic"/>
                <a:ea typeface="Nanum Gothic"/>
                <a:cs typeface="Nanum Gothic"/>
              </a:rPr>
              <a:t>제품 수령 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F0C2BD-3E10-4C77-A283-D287956F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480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375" b="1">
                <a:solidFill>
                  <a:srgbClr val="087F78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3375" b="1">
                <a:solidFill>
                  <a:srgbClr val="087F78"/>
                </a:solidFill>
                <a:latin typeface="Nanum Gothic"/>
                <a:ea typeface="Nanum Gothic"/>
                <a:cs typeface="Nanum Gothic"/>
              </a:defRPr>
            </a:pPr>
            <a:r>
              <a:rPr sz="3375" b="1">
                <a:solidFill>
                  <a:srgbClr val="087F78"/>
                </a:solidFill>
                <a:latin typeface="Nanum Gothic"/>
                <a:ea typeface="Nanum Gothic"/>
                <a:cs typeface="Nanum Gothic"/>
              </a:rPr>
              <a:t>통상 5영업일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633A9D-1171-4470-914B-0A67DA1D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196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0EDCF1-9F7C-4DA9-B95F-7DB2A5F1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05350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D6D6D1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D6D6D1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D6D6D1"/>
                </a:solidFill>
                <a:latin typeface="Nanum Gothic"/>
                <a:ea typeface="Nanum Gothic"/>
                <a:cs typeface="Nanum Gothic"/>
              </a:rPr>
              <a:t>배송시간과 지역별 처리시간은 별도다.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D6D6D1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D6D6D1"/>
                </a:solidFill>
                <a:latin typeface="Nanum Gothic"/>
                <a:ea typeface="Nanum Gothic"/>
                <a:cs typeface="Nanum Gothic"/>
              </a:rPr>
              <a:t>방제철에는 이 공백이 곧 작업 손실이 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793CDB-7D8F-4725-A11E-F3DC3313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1">
                <a:solidFill>
                  <a:srgbClr val="BDBDB8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750" b="1">
                <a:solidFill>
                  <a:srgbClr val="BDBDB8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BDBDB8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629318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DE9150-661F-49F4-8473-757E479A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A3DE5E-BCA2-482F-9925-1F5E496A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"/>
            <a:ext cx="590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7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rPr>
              <a:t>현재 수리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3603C9-FFAF-4CF7-A262-9EE7944E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571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92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pPr>
            <a:r>
              <a:rPr sz="292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rPr>
              <a:t>고장부터 재투입까지,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pPr>
            <a:r>
              <a:rPr sz="292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rPr>
              <a:t>기체는 다섯 번 이동한다.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4F89C3-4920-4172-9092-8CA781B2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227A5C-4D25-4245-8865-D5CFDC4F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D0D4E9-E541-4424-BC5F-44558765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528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7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7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ADE35C-9F1A-4F48-90EB-8FCF9B3D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rPr>
              <a:t>고장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818F8A-37E2-4261-A833-9317D89D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6A6A66"/>
                </a:solidFill>
                <a:latin typeface="Nanum Gothic"/>
                <a:ea typeface="Nanum Gothic"/>
                <a:cs typeface="Nanum Gothic"/>
              </a:rPr>
              <a:t>작업 중단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2C89C0-94D0-4345-A74F-68172BE2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486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954BD3-D9B6-4640-96B7-939B4D67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5528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7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7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D4C70C-20CC-4354-ADE7-D324DFE6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957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rPr>
              <a:t>포장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AEE91C-8DF8-4DCD-9030-89B58073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5148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6A6A66"/>
                </a:solidFill>
                <a:latin typeface="Nanum Gothic"/>
                <a:ea typeface="Nanum Gothic"/>
                <a:cs typeface="Nanum Gothic"/>
              </a:rPr>
              <a:t>배터리 분리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D65055-4304-4B6B-B402-89F66F57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486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AF6AC9-E358-44CE-8E16-158032FB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5528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7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7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F6DACE-424E-4AAF-BC3C-FE472E86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0957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rPr>
              <a:t>발송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BFBFFE-ED86-462B-9D25-5C9F778D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148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6A6A66"/>
                </a:solidFill>
                <a:latin typeface="Nanum Gothic"/>
                <a:ea typeface="Nanum Gothic"/>
                <a:cs typeface="Nanum Gothic"/>
              </a:rPr>
              <a:t>센터 이동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D2131C-CD73-4B80-B10A-EC809EF2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86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0273E6-65A7-4998-A71D-98002336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528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7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7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E1C217-A60A-4814-94F3-078C7512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957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rPr>
              <a:t>수리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C8A3E9-E607-465D-AF69-EC9B02A2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5148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6A6A66"/>
                </a:solidFill>
                <a:latin typeface="Nanum Gothic"/>
                <a:ea typeface="Nanum Gothic"/>
                <a:cs typeface="Nanum Gothic"/>
              </a:rPr>
              <a:t>견적·대기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ADF2CB-067A-47C0-B507-05661EBF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486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7397A0-40B0-473D-9B53-B1ECC0AC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5528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7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7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235F8C-13BA-4CA7-B96B-DE02516C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0957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rPr>
              <a:t>반송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50D66E-575D-4299-8F8D-957E1247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5148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6A6A66"/>
                </a:solidFill>
                <a:latin typeface="Nanum Gothic"/>
                <a:ea typeface="Nanum Gothic"/>
                <a:cs typeface="Nanum Gothic"/>
              </a:rPr>
              <a:t>현장 재투입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0118CC-2339-4073-8A2B-7BE034CD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087F78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087F78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1">
                <a:solidFill>
                  <a:srgbClr val="087F78"/>
                </a:solidFill>
                <a:latin typeface="Nanum Gothic"/>
                <a:ea typeface="Nanum Gothic"/>
                <a:cs typeface="Nanum Gothic"/>
              </a:rPr>
              <a:t>현장 수리가 가능한 고장까지 이동 과정에 묶여 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106B92-CA9B-4100-BCA9-19FEE608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1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750" b="1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6A6A66"/>
                </a:solidFill>
                <a:latin typeface="Nanum Gothic"/>
                <a:ea typeface="Nanum Gothic"/>
                <a:cs typeface="Nanum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670590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63A390-C798-4D10-B28E-A6B308DF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5FB6A0-5E8A-43EC-AE9E-2A12DFF5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"/>
            <a:ext cx="590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7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rPr>
              <a:t>첫 번째 고객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3C0DC6-FEA4-431B-BBE7-2F2FD72E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9525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92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292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pPr>
            <a:r>
              <a:rPr sz="292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rPr>
              <a:t>방제철에 드론 3대 이상을 운용하는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92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pPr>
            <a:r>
              <a:rPr sz="292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rPr>
              <a:t>지역 방제업체.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FA261B-4CD3-4AE1-AE02-676429BA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0">
                <a:solidFill>
                  <a:srgbClr val="6A6A66"/>
                </a:solidFill>
                <a:latin typeface="Nanum Gothic"/>
                <a:ea typeface="Nanum Gothic"/>
                <a:cs typeface="Nanum Gothic"/>
              </a:rPr>
              <a:t>가격보다 ‘오늘 작업을 끝내는 것’이 중요한 B2B 고객이다.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2C327D-07AC-401E-98E0-31FDC5CC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DBF2EE-FF44-41B5-B329-AB9CF469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087F78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087F78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1">
                <a:solidFill>
                  <a:srgbClr val="087F78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1F0666-44FA-490D-ADBC-A2757F97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052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rPr>
              <a:t>계절성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A06D64-A3EA-401E-B66D-61D1A8D6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2425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6A6A66"/>
                </a:solidFill>
                <a:latin typeface="Nanum Gothic"/>
                <a:ea typeface="Nanum Gothic"/>
                <a:cs typeface="Nanum Gothic"/>
              </a:rPr>
              <a:t>방제 가능한 기간이 짧아 며칠의 공백도 일정 전체에 영향을 준다.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DD3BFA-8202-402A-A6B5-45849AD5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0CE62D-F6B1-45D0-978A-CA07C399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087F78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087F78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1">
                <a:solidFill>
                  <a:srgbClr val="087F78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603569-B1B8-443E-94AC-D7D2BF92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053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rPr>
              <a:t>운송 부담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F6F4F4-1E62-4EDA-99EE-A83B555C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2435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6A6A66"/>
                </a:solidFill>
                <a:latin typeface="Nanum Gothic"/>
                <a:ea typeface="Nanum Gothic"/>
                <a:cs typeface="Nanum Gothic"/>
              </a:rPr>
              <a:t>대형 기체와 배터리를 분리·포장해 센터로 보내는 과정이 번거롭다.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E48452-DF1E-4AB7-B964-30DBA660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68B5C1-0CF0-47AA-975B-9BCFE012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087F78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087F78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1">
                <a:solidFill>
                  <a:srgbClr val="087F78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0F6F54-2DC3-41B3-A68D-3FB76514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054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rPr>
              <a:t>직접 손실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1D3CE5-FAB2-4CD5-AB14-65505DBB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2445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6A6A66"/>
                </a:solidFill>
                <a:latin typeface="Nanum Gothic"/>
                <a:ea typeface="Nanum Gothic"/>
                <a:cs typeface="Nanum Gothic"/>
              </a:rPr>
              <a:t>기체 한 대가 멈추면 하루 작업량과 사업자의 매출이 함께 줄어든다.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7A10E0-C820-476C-A7E8-D61C75A3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1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750" b="1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6A6A66"/>
                </a:solidFill>
                <a:latin typeface="Nanum Gothic"/>
                <a:ea typeface="Nanum Gothic"/>
                <a:cs typeface="Nanum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038338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636E9B-7E7C-4F78-AD01-45E3B24D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59309E-60CE-4CA4-A27B-E626E3CD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"/>
            <a:ext cx="590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7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rPr>
              <a:t>제안 솔루션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A1FE4D-D7D0-4F63-840B-58FAC81E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666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00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pPr>
            <a:r>
              <a:rPr sz="300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rPr>
              <a:t>정비소를 기다리지 않고,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pPr>
            <a:r>
              <a:rPr sz="300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rPr>
              <a:t>정비소가 현장으로 간다.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15C51F-78EF-48BC-B2EA-1CF373C5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9925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D4C55-1452-483D-8A33-3373AFBE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ADF530-88E8-4639-B28D-2F41C951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8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CC673C-AB3C-4DFA-9827-3B5D3139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rPr>
              <a:t>원격 진단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9FDD64-66C1-4D77-8D9F-6774C9B8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6A6A66"/>
                </a:solidFill>
                <a:latin typeface="Nanum Gothic"/>
                <a:ea typeface="Nanum Gothic"/>
                <a:cs typeface="Nanum Gothic"/>
              </a:rPr>
              <a:t>오류코드 · 사진 · 비행로그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C9E509-5BC0-4089-A002-C8B12924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576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82D2B0-60B7-4ACB-8F8C-EFE1B57F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338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8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C4470B-666E-49ED-A537-3DC2FD8C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243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rPr>
              <a:t>부품 준비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A0AF3A-5D79-40BD-87EC-D7827AA1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7625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6A6A66"/>
                </a:solidFill>
                <a:latin typeface="Nanum Gothic"/>
                <a:ea typeface="Nanum Gothic"/>
                <a:cs typeface="Nanum Gothic"/>
              </a:rPr>
              <a:t>예상 모듈과 교체부품 적재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3D0817-0688-492E-A985-AEF92FCD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576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E57AA1-61DA-4F85-982E-6715C54C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338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8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39A46F-3816-45F0-98A3-2E2F479D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243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rPr>
              <a:t>현장 수리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B0B083-4695-437E-BE46-2F512071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625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6A6A66"/>
                </a:solidFill>
                <a:latin typeface="Nanum Gothic"/>
                <a:ea typeface="Nanum Gothic"/>
                <a:cs typeface="Nanum Gothic"/>
              </a:rPr>
              <a:t>진단 · 수리 · 모듈 교환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571FB1-1FDB-4635-B1E2-D9146C81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576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9F74F8-7C63-4431-9EDB-BF98915F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338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8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FDA2FC-B5EB-408F-B428-502CDF2A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243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rPr>
              <a:t>재가동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C99E71-3A20-4EA0-A8DE-58D6E94E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7625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6A6A66"/>
                </a:solidFill>
                <a:latin typeface="Nanum Gothic"/>
                <a:ea typeface="Nanum Gothic"/>
                <a:cs typeface="Nanum Gothic"/>
              </a:rPr>
              <a:t>교정 · 지상시험 · 시험비행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A8BE56-0E79-4D08-BE7A-20C2CBAE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087F78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350" b="1">
                <a:solidFill>
                  <a:srgbClr val="087F78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087F78"/>
                </a:solidFill>
                <a:latin typeface="Nanum Gothic"/>
                <a:ea typeface="Nanum Gothic"/>
                <a:cs typeface="Nanum Gothic"/>
              </a:rPr>
              <a:t>현장 수리가 불가능하면 검증된 대체 모듈 또는 대체기체로 작업을 이어간다.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CFE455-EF8A-412F-92B6-DBAFEFE0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1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750" b="1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6A6A66"/>
                </a:solidFill>
                <a:latin typeface="Nanum Gothic"/>
                <a:ea typeface="Nanum Gothic"/>
                <a:cs typeface="Nanum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896996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290A0D-1A6D-4E86-89DD-CF6CCD52CB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122f13985641b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3723AF-5CE1-4C0A-90D3-96AADA9A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096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46DB30-4FEA-4A4D-B6CF-4D96647D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2E0B23-41FD-41E4-B002-E3CC904D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22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차량 안의 드론 정비소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AAC33E-1924-4176-A0A3-CA46A8F7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D6D6D1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D6D6D1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0">
                <a:solidFill>
                  <a:srgbClr val="D6D6D1"/>
                </a:solidFill>
                <a:latin typeface="Nanum Gothic"/>
                <a:ea typeface="Nanum Gothic"/>
                <a:cs typeface="Nanum Gothic"/>
              </a:rPr>
              <a:t>보관은 내부에, 실제 정비는 인출식 작업대에서.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90D25C-4CD4-472A-A6D4-F05B1806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943600"/>
            <a:ext cx="33718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4D0BB2-ED10-4429-8CBD-4F0F1BA5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6076950"/>
            <a:ext cx="3086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안전함 · ESD 작업대 · 밀폐형 3D프린터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974FED-8B22-4702-8802-545A2AA3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1">
                <a:solidFill>
                  <a:srgbClr val="BDBDB8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750" b="1">
                <a:solidFill>
                  <a:srgbClr val="BDBDB8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BDBDB8"/>
                </a:solidFill>
                <a:latin typeface="Nanum Gothic"/>
                <a:ea typeface="Nanum Gothic"/>
                <a:cs typeface="Nanum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659599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ECE24B-1BEE-4D20-906B-712B02B52F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8bb674708342d6"/>
          <a:srcRect xmlns:a="http://schemas.openxmlformats.org/drawingml/2006/main" l="24987" t="0" r="2498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096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B3447B-C5A5-4C85-9AD6-E5675B62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6BF221-DE98-426B-AEAD-B3720781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E536A8-3F28-4059-BEE8-BFA92615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"/>
            <a:ext cx="590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7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rPr>
              <a:t>3D 프린터의 역할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5A8D3-4873-4B62-8A9E-83C58CE3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123950"/>
            <a:ext cx="4381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77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pPr>
            <a:r>
              <a:rPr sz="277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rPr>
              <a:t>비행부품이 아니라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pPr>
            <a:r>
              <a:rPr sz="277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rPr>
              <a:t>정비도구를 출력한다.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2B3113-AA44-411F-BC6C-ACD2DC12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146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087F78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087F78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1">
                <a:solidFill>
                  <a:srgbClr val="087F78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3E0A64-3118-45B1-A634-67B22E53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765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50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rPr>
              <a:t>조립·정렬 지그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1B5F3D-24DC-47E3-BB88-F6E910A0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671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087F78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087F78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1">
                <a:solidFill>
                  <a:srgbClr val="087F78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1D8FC2-149C-47A9-9AB7-8FB86BAC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4290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50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rPr>
              <a:t>커넥터 보호캡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049313-3011-4BB8-924D-E165FB06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19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087F78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087F78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1">
                <a:solidFill>
                  <a:srgbClr val="087F78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7AD7F0-75B3-4912-ACB9-A1529A9B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814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50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rPr>
              <a:t>측정 템플릿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B9070E-6493-4F94-8876-FBDBC74B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72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087F78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087F78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1">
                <a:solidFill>
                  <a:srgbClr val="087F78"/>
                </a:solidFill>
                <a:latin typeface="Nanum Gothic"/>
                <a:ea typeface="Nanum Gothic"/>
                <a:cs typeface="Nanum Gothic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A9D644-6AAF-4B68-8E8F-C94CC435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5339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50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rPr>
              <a:t>공구·부품 거치대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4B8B3A-375C-4431-A247-3C25F0F9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76850"/>
            <a:ext cx="438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1E83C6-E16A-47EB-839B-F7B0908C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24500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6A6A66"/>
                </a:solidFill>
                <a:latin typeface="Nanum Gothic"/>
                <a:ea typeface="Nanum Gothic"/>
                <a:cs typeface="Nanum Gothic"/>
              </a:rPr>
              <a:t>프로펠러·암·모터 마운트 등 비행 안전부품은 현장 출력 대상에서 제외한다.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B7DA40-72BC-48C1-8713-E67C218D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1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750" b="1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6A6A66"/>
                </a:solidFill>
                <a:latin typeface="Nanum Gothic"/>
                <a:ea typeface="Nanum Gothic"/>
                <a:cs typeface="Nanum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888182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706C1F-21D9-4BC5-AB31-B05A2D05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B7254B-1E5B-4839-9E2D-870525A9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"/>
            <a:ext cx="590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7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rPr>
              <a:t>현장 수리의 경계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F8CC2-AF26-458A-9052-27D4AA7D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609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00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pPr>
            <a:r>
              <a:rPr sz="300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rPr>
              <a:t>빠르게 고치되,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pPr>
            <a:r>
              <a:rPr sz="300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rPr>
              <a:t>안전의 선은 넘지 않는다.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EFB0D0-3F47-4447-85CE-B8C63A5E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7393DB-BC8B-4EAF-8A8F-F541C77D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087F78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087F78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1">
                <a:solidFill>
                  <a:srgbClr val="087F78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2A86C9-12B6-4B9B-BE42-966CD2B5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051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rPr>
              <a:t>현장 즉시 수리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570225-7689-48F9-B4C7-18E1EC86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2420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6A6A66"/>
                </a:solidFill>
                <a:latin typeface="Nanum Gothic"/>
                <a:ea typeface="Nanum Gothic"/>
                <a:cs typeface="Nanum Gothic"/>
              </a:rPr>
              <a:t>프로펠러 · 랜딩기어 · 펌프 · 노즐 · 호스 · 커넥터 · 기본 교정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D471B7-B154-4B81-AFED-6D10FBA9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4D1D97-0911-44DF-AED6-62FFC71D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087F78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087F78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1">
                <a:solidFill>
                  <a:srgbClr val="087F78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DD30C5-3C75-442D-9539-5B91E614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95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rPr>
              <a:t>검증 모듈 교환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D6C16C-B744-4D39-A3F6-958DF5F8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1480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6A6A66"/>
                </a:solidFill>
                <a:latin typeface="Nanum Gothic"/>
                <a:ea typeface="Nanum Gothic"/>
                <a:cs typeface="Nanum Gothic"/>
              </a:rPr>
              <a:t>모터 · ESC · 암 · 펌프 · 조종기 · 통신 모듈 · 검증 배터리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345C69-839C-44D7-AA0A-526A1EEC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10D8C0-5B96-43C6-90E3-D11F54A1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087F78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087F78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1">
                <a:solidFill>
                  <a:srgbClr val="087F78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7033FF-8679-47A3-A74D-3A2D0C4C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863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rPr>
              <a:t>센터 이관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27B93E-8384-4C5D-AF15-DDF275B3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0540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6A6A66"/>
                </a:solidFill>
                <a:latin typeface="Nanum Gothic"/>
                <a:ea typeface="Nanum Gothic"/>
                <a:cs typeface="Nanum Gothic"/>
              </a:rPr>
              <a:t>침수 · 프레임 변형 · 복합 오류 · 카메라·라이다 내부 · 배터리 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9153C2-1FE3-4307-A257-FC6C62E2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1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750" b="1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6A6A66"/>
                </a:solidFill>
                <a:latin typeface="Nanum Gothic"/>
                <a:ea typeface="Nanum Gothic"/>
                <a:cs typeface="Nanum 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600317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EE7212-8FF5-41FB-9CB7-05379611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3ED0DE-C1C6-4F72-A2A6-80809EE6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"/>
            <a:ext cx="590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7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171717"/>
                </a:solidFill>
                <a:latin typeface="Nanum Gothic"/>
                <a:ea typeface="Nanum Gothic"/>
                <a:cs typeface="Nanum Gothic"/>
              </a:rPr>
              <a:t>비즈니스 모델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21B4E3-9474-47F8-A930-6E5274EA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rPr>
              <a:t>수리가 아니라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rPr>
              <a:t>가동시간을 판매한다.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3E72A6-C951-4D0D-8B7D-F4FB0997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>
                <a:solidFill>
                  <a:srgbClr val="087F78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875" b="1">
                <a:solidFill>
                  <a:srgbClr val="087F78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1">
                <a:solidFill>
                  <a:srgbClr val="087F78"/>
                </a:solidFill>
                <a:latin typeface="Nanum Gothic"/>
                <a:ea typeface="Nanum Gothic"/>
                <a:cs typeface="Nanum Gothic"/>
              </a:rPr>
              <a:t>B2B 가동보장 계약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B5C385-53A6-4248-A5D9-96B99572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6A6A66"/>
                </a:solidFill>
                <a:latin typeface="Nanum Gothic"/>
                <a:ea typeface="Nanum Gothic"/>
                <a:cs typeface="Nanum Gothic"/>
              </a:rPr>
              <a:t>건별 출동으로 시작해 시즌 계약과 대리점 파트너 모델로 확장한다.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F615ED-FCF8-4C94-A354-999451AA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002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087F78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087F78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1">
                <a:solidFill>
                  <a:srgbClr val="087F78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21D78-2FCA-430C-B81B-32D3216F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5240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rPr>
              <a:t>긴급출동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04BD67-AE04-4401-A85F-7FF782C0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621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6A6A66"/>
                </a:solidFill>
                <a:latin typeface="Nanum Gothic"/>
                <a:ea typeface="Nanum Gothic"/>
                <a:cs typeface="Nanum Gothic"/>
              </a:rPr>
              <a:t>출동비 + 진단·작업비 + 부품비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E328C7-1D0A-42E4-BE50-F994BE1E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3E6B04-9C31-4026-A315-59EC8CA6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087F78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087F78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1">
                <a:solidFill>
                  <a:srgbClr val="087F78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2777C8-C26C-474E-B267-80B09D2A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813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rPr>
              <a:t>시즌패스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756D67-490B-4C97-B257-2564B597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194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6A6A66"/>
                </a:solidFill>
                <a:latin typeface="Nanum Gothic"/>
                <a:ea typeface="Nanum Gothic"/>
                <a:cs typeface="Nanum Gothic"/>
              </a:rPr>
              <a:t>사전점검 + 우선출동 + 소모품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6E2728-F4F3-41A3-A6FA-A7FA4524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290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D625B3-546C-41C0-A5A5-A7F51B48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14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087F78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087F78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1">
                <a:solidFill>
                  <a:srgbClr val="087F78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2FA42E-B8FC-4A89-BDCB-18703100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386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rPr>
              <a:t>파트너 모델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89D31A-358C-48A2-86BA-D7F8E138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767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6A6A66"/>
                </a:solidFill>
                <a:latin typeface="Nanum Gothic"/>
                <a:ea typeface="Nanum Gothic"/>
                <a:cs typeface="Nanum Gothic"/>
              </a:rPr>
              <a:t>PV5 모듈 + 재고·정비 시스템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D36747-041B-41B0-B8B9-BE4790B8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00035A-713A-4FE6-8F22-78F6E615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rPr>
              <a:t>핵심 지표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CD0DF7-C0F4-4670-90F2-8EE5DC9A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35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71717"/>
                </a:solidFill>
                <a:latin typeface="Nanum Gothic"/>
                <a:ea typeface="Nanum Gothic"/>
                <a:cs typeface="Nanum Gothic"/>
              </a:rPr>
              <a:t>첫 방문 복구율  ·  평균 다운타임  ·  재계약률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AF6CB3-5156-4916-B1F2-35DEC24C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1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750" b="1">
                <a:solidFill>
                  <a:srgbClr val="6A6A66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6A6A66"/>
                </a:solidFill>
                <a:latin typeface="Nanum Gothic"/>
                <a:ea typeface="Nanum Gothic"/>
                <a:cs typeface="Nanum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396816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633891-4D6B-4007-AD7C-39E2ECFA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C14F2B-029C-4B24-A7E7-AC7A3FAA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A7A23D-0AC6-4E8F-9A4C-0F111C4A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"/>
            <a:ext cx="590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다음 단계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D8A9FB-4AB1-43C8-9FF8-48E06FF2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30건의 현장 실증으로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가치를 증명한다.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923A68-D49C-4642-B912-72CAB52F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>
                <a:solidFill>
                  <a:srgbClr val="087F78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825" b="1">
                <a:solidFill>
                  <a:srgbClr val="087F78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87F78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DAD052-C005-4F3E-BB8A-95BD7924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09875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E5E5E1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350" b="1">
                <a:solidFill>
                  <a:srgbClr val="E5E5E1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E5E5E1"/>
                </a:solidFill>
                <a:latin typeface="Nanum Gothic"/>
                <a:ea typeface="Nanum Gothic"/>
                <a:cs typeface="Nanum Gothic"/>
              </a:rPr>
              <a:t>접수부터 현장 도착까지 걸린 시간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BA95DB-C794-4193-BF1B-0ADE5400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00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>
                <a:solidFill>
                  <a:srgbClr val="087F78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825" b="1">
                <a:solidFill>
                  <a:srgbClr val="087F78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87F78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BF0412-9617-431F-BF6A-1B1DAC6B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5280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E5E5E1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350" b="1">
                <a:solidFill>
                  <a:srgbClr val="E5E5E1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E5E5E1"/>
                </a:solidFill>
                <a:latin typeface="Nanum Gothic"/>
                <a:ea typeface="Nanum Gothic"/>
                <a:cs typeface="Nanum Gothic"/>
              </a:rPr>
              <a:t>첫 방문에서 복구한 비율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06FE05-1B23-4D75-B39F-6E7E0038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433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>
                <a:solidFill>
                  <a:srgbClr val="087F78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825" b="1">
                <a:solidFill>
                  <a:srgbClr val="087F78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87F78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1770C1-8B07-4024-9C15-CDA2B5E2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95725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E5E5E1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350" b="1">
                <a:solidFill>
                  <a:srgbClr val="E5E5E1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E5E5E1"/>
                </a:solidFill>
                <a:latin typeface="Nanum Gothic"/>
                <a:ea typeface="Nanum Gothic"/>
                <a:cs typeface="Nanum Gothic"/>
              </a:rPr>
              <a:t>수리·모듈 교환에 걸린 시간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356A67-FB26-4419-A2BC-539CFBEC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862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>
                <a:solidFill>
                  <a:srgbClr val="087F78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825" b="1">
                <a:solidFill>
                  <a:srgbClr val="087F78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87F78"/>
                </a:solidFill>
                <a:latin typeface="Nanum Gothic"/>
                <a:ea typeface="Nanum Gothic"/>
                <a:cs typeface="Nanum Gothic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B3A433-1EF8-47A9-B33C-5373D48A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3865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E5E5E1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350" b="1">
                <a:solidFill>
                  <a:srgbClr val="E5E5E1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E5E5E1"/>
                </a:solidFill>
                <a:latin typeface="Nanum Gothic"/>
                <a:ea typeface="Nanum Gothic"/>
                <a:cs typeface="Nanum Gothic"/>
              </a:rPr>
              <a:t>고객이 실제 지불한 금액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FFEAA2-1361-4533-A51F-17604CCC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292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>
                <a:solidFill>
                  <a:srgbClr val="087F78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825" b="1">
                <a:solidFill>
                  <a:srgbClr val="087F78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087F78"/>
                </a:solidFill>
                <a:latin typeface="Nanum Gothic"/>
                <a:ea typeface="Nanum Gothic"/>
                <a:cs typeface="Nanum Gothic"/>
              </a:rPr>
              <a:t>05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987800-7664-42D3-8ADA-10EBDFDA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81575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E5E5E1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350" b="1">
                <a:solidFill>
                  <a:srgbClr val="E5E5E1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E5E5E1"/>
                </a:solidFill>
                <a:latin typeface="Nanum Gothic"/>
                <a:ea typeface="Nanum Gothic"/>
                <a:cs typeface="Nanum Gothic"/>
              </a:rPr>
              <a:t>30일 안에 같은 고장이 반복됐는가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969FF3-71A9-4EA5-98DD-BA92EFC3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123950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AF7C35-1DF5-4661-809D-1911BB5B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28750"/>
            <a:ext cx="3810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buNone/>
              <a:defRPr sz="23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23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드론이 멈췄을 때,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3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23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현장은 왜 기다려야 할까?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38CE5D-D0CB-4FCC-B3E9-1FB7FE5E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95600"/>
            <a:ext cx="41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05DAFF-1583-425D-AC45-4A1CC77B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14700"/>
            <a:ext cx="3714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D4D4C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23000"/>
              </a:lnSpc>
              <a:buNone/>
              <a:defRPr sz="1575" b="0">
                <a:solidFill>
                  <a:srgbClr val="D4D4CF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D4D4CF"/>
                </a:solidFill>
                <a:latin typeface="Nanum Gothic"/>
                <a:ea typeface="Nanum Gothic"/>
                <a:cs typeface="Nanum Gothic"/>
              </a:rPr>
              <a:t>PV5 Drone Pit은 필요한 부품과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  <a:defRPr sz="1575" b="0">
                <a:solidFill>
                  <a:srgbClr val="D4D4CF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D4D4CF"/>
                </a:solidFill>
                <a:latin typeface="Nanum Gothic"/>
                <a:ea typeface="Nanum Gothic"/>
                <a:cs typeface="Nanum Gothic"/>
              </a:rPr>
              <a:t>정비 환경을 현장으로 가져가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  <a:defRPr sz="1575" b="0">
                <a:solidFill>
                  <a:srgbClr val="D4D4CF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D4D4CF"/>
                </a:solidFill>
                <a:latin typeface="Nanum Gothic"/>
                <a:ea typeface="Nanum Gothic"/>
                <a:cs typeface="Nanum Gothic"/>
              </a:rPr>
              <a:t>드론의 가동시간을 되돌린다.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8D8C5B-B85F-4A22-AEA3-7DD577DB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816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087F78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087F78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087F78"/>
                </a:solidFill>
                <a:latin typeface="Nanum Gothic"/>
                <a:ea typeface="Nanum Gothic"/>
                <a:cs typeface="Nanum Gothic"/>
              </a:rPr>
              <a:t>DRONE BACK TO WORK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A4DECE-B308-4B8A-BA83-306B4858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1">
                <a:solidFill>
                  <a:srgbClr val="BDBDB8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750" b="1">
                <a:solidFill>
                  <a:srgbClr val="BDBDB8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>
                <a:solidFill>
                  <a:srgbClr val="BDBDB8"/>
                </a:solidFill>
                <a:latin typeface="Nanum Gothic"/>
                <a:ea typeface="Nanum Gothic"/>
                <a:cs typeface="Nanum 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688612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2026-10-10T11:44:48.4800000Z</dcterms:created>
  <dcterms:modified xsi:type="dcterms:W3CDTF">2026-10-10T11:44:48.4800000Z</dcterms:modified>
</coreProperties>
</file>