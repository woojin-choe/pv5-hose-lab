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1" r:id="rId22"/>
    <p:sldId id="261" r:id="rId12"/>
    <p:sldId id="262" r:id="rId13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16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48.jpg"/><Relationship Id="rId5" Type="http://schemas.openxmlformats.org/officeDocument/2006/relationships/image" Target="../media/image5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9.jp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png"/><Relationship Id="rId7" Type="http://schemas.openxmlformats.org/officeDocument/2006/relationships/image" Target="../media/image12.jpg"/><Relationship Id="rId8" Type="http://schemas.openxmlformats.org/officeDocument/2006/relationships/image" Target="../media/image13.png"/><Relationship Id="rId9" Type="http://schemas.openxmlformats.org/officeDocument/2006/relationships/image" Target="../media/image14.jpg"/><Relationship Id="rId10" Type="http://schemas.openxmlformats.org/officeDocument/2006/relationships/image" Target="../media/image15.png"/><Relationship Id="rId11" Type="http://schemas.openxmlformats.org/officeDocument/2006/relationships/image" Target="../media/image6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5.png"/><Relationship Id="rId14" Type="http://schemas.openxmlformats.org/officeDocument/2006/relationships/image" Target="../media/image6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jp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4.png"/><Relationship Id="rId6" Type="http://schemas.openxmlformats.org/officeDocument/2006/relationships/image" Target="../media/image67.jpg"/><Relationship Id="rId7" Type="http://schemas.openxmlformats.org/officeDocument/2006/relationships/image" Target="../media/image68.jpg"/><Relationship Id="rId8" Type="http://schemas.openxmlformats.org/officeDocument/2006/relationships/image" Target="../media/image6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54.png"/><Relationship Id="rId4" Type="http://schemas.openxmlformats.org/officeDocument/2006/relationships/image" Target="../media/image44.png"/><Relationship Id="rId5" Type="http://schemas.openxmlformats.org/officeDocument/2006/relationships/image" Target="../media/image6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" name="사진 1" descr="p01_i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사진 2" descr="p01_i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50609" y="6468915"/>
            <a:ext cx="566255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2026. 10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123" y="1918569"/>
            <a:ext cx="277699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제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5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회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기아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PBV 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아이디어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공모전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제안서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550" y="2260922"/>
            <a:ext cx="1634894" cy="809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5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3034161"/>
            <a:ext cx="3699454" cy="666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GroundWatch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170" y="3797196"/>
            <a:ext cx="2552671" cy="365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300" b="1">
                <a:solidFill>
                  <a:srgbClr val="D7DEE8"/>
                </a:solidFill>
                <a:latin typeface="Pretendard"/>
                <a:ea typeface="Pretendard"/>
                <a:cs typeface="Pretendard"/>
              </a:rPr>
              <a:t>PV5 </a:t>
            </a:r>
            <a:r>
              <a:rPr sz="2300" b="1">
                <a:solidFill>
                  <a:srgbClr val="D7DEE8"/>
                </a:solidFill>
                <a:latin typeface="Pretendard"/>
                <a:ea typeface="Pretendard"/>
                <a:cs typeface="Pretendard"/>
              </a:rPr>
              <a:t>지하안전</a:t>
            </a:r>
            <a:r>
              <a:rPr sz="2300" b="1">
                <a:solidFill>
                  <a:srgbClr val="D7DEE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300" b="1">
                <a:solidFill>
                  <a:srgbClr val="D7DEE8"/>
                </a:solidFill>
                <a:latin typeface="Pretendard"/>
                <a:ea typeface="Pretendard"/>
                <a:cs typeface="Pretendard"/>
              </a:rPr>
              <a:t>순찰차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381500"/>
            <a:ext cx="457200" cy="28575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1599" y="4588935"/>
            <a:ext cx="2057082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길을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반복해서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보고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599" y="4893735"/>
            <a:ext cx="27992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구멍이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되기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전의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변화를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찾습니다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266" y="5792365"/>
            <a:ext cx="46584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218" y="6042937"/>
            <a:ext cx="2316368" cy="269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명이라도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살릴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있다면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3810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51816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pic>
        <p:nvPicPr>
          <p:cNvPr id="8" name="사진 1" descr="p01_i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9" name="사진 2" descr="p01_i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17976"/>
            <a:ext cx="6092952" cy="324002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8629015" y="2915285"/>
            <a:ext cx="1028700" cy="1028700"/>
          </a:xfrm>
          <a:prstGeom prst="ellipse">
            <a:avLst/>
          </a:prstGeom>
          <a:solidFill>
            <a:srgbClr val="E5484D">
              <a:alpha val="1412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876665" y="3162935"/>
            <a:ext cx="533400" cy="533400"/>
          </a:xfrm>
          <a:prstGeom prst="ellipse">
            <a:avLst/>
          </a:prstGeom>
          <a:solidFill>
            <a:srgbClr val="E5484D">
              <a:alpha val="3216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067165" y="3353435"/>
            <a:ext cx="152400" cy="152400"/>
          </a:xfrm>
          <a:prstGeom prst="ellipse">
            <a:avLst/>
          </a:prstGeom>
          <a:solidFill>
            <a:srgbClr val="FF5A5F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771640" y="2334260"/>
            <a:ext cx="2038350" cy="514350"/>
          </a:xfrm>
          <a:prstGeom prst="roundRect">
            <a:avLst>
              <a:gd name="adj" fmla="val 7407"/>
            </a:avLst>
          </a:prstGeom>
          <a:solidFill>
            <a:srgbClr val="0B1E3C">
              <a:alpha val="902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4" name="Connector 13"/>
          <p:cNvCxnSpPr/>
          <p:nvPr/>
        </p:nvCxnSpPr>
        <p:spPr>
          <a:xfrm>
            <a:off x="8809990" y="2753360"/>
            <a:ext cx="190500" cy="514350"/>
          </a:xfrm>
          <a:prstGeom prst="line">
            <a:avLst/>
          </a:prstGeom>
          <a:ln w="11430">
            <a:solidFill>
              <a:srgbClr val="FFFFFF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465570" y="5190132"/>
            <a:ext cx="1731031" cy="365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평범한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도로가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5570" y="5607708"/>
            <a:ext cx="3985148" cy="365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사람의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마지막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길이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되었습니다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3400" y="3295650"/>
            <a:ext cx="5181600" cy="0"/>
          </a:xfrm>
          <a:prstGeom prst="line">
            <a:avLst/>
          </a:prstGeom>
          <a:ln w="9525">
            <a:solidFill>
              <a:srgbClr val="D5DAE1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533400" y="3962400"/>
            <a:ext cx="5181600" cy="0"/>
          </a:xfrm>
          <a:prstGeom prst="line">
            <a:avLst/>
          </a:prstGeom>
          <a:ln w="9525">
            <a:solidFill>
              <a:srgbClr val="D5DAE1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533400" y="4629150"/>
            <a:ext cx="5181600" cy="0"/>
          </a:xfrm>
          <a:prstGeom prst="line">
            <a:avLst/>
          </a:prstGeom>
          <a:ln w="9525">
            <a:solidFill>
              <a:srgbClr val="D5DAE1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533400" y="5200650"/>
            <a:ext cx="5181600" cy="0"/>
          </a:xfrm>
          <a:prstGeom prst="line">
            <a:avLst/>
          </a:prstGeom>
          <a:ln w="9525">
            <a:solidFill>
              <a:srgbClr val="D5DAE1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533400" y="5448300"/>
            <a:ext cx="38100" cy="5524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6280" y="5475797"/>
            <a:ext cx="1908894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붕괴는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갑자기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보였지만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280" y="5768404"/>
            <a:ext cx="2777914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위험은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지하에서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먼저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시작됐습니다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9600" y="256540"/>
            <a:ext cx="3835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866900" y="266700"/>
            <a:ext cx="448121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981200" y="308907"/>
            <a:ext cx="295689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4242" y="296821"/>
            <a:ext cx="842986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현재 문제상황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09561" y="6615112"/>
            <a:ext cx="39983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02 / 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050" y="1278595"/>
            <a:ext cx="2673092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2024. 8. 29 · 서울 서대문구 연희동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160" y="1600838"/>
            <a:ext cx="4866231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5월 GPR 탐사 후 무너지기까지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250" y="1986032"/>
            <a:ext cx="2712346" cy="1143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72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3개월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9430" y="3389696"/>
            <a:ext cx="1635258" cy="428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6m × 4m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98045" y="3538581"/>
            <a:ext cx="162108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함몰 규모 (가로 × 세로)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430" y="4053906"/>
            <a:ext cx="1027639" cy="428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2.5m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35972" y="4202791"/>
            <a:ext cx="384395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깊이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9430" y="4720656"/>
            <a:ext cx="2124180" cy="428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사망 1 · 부상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09158" y="4869541"/>
            <a:ext cx="710963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인명 피해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320" y="6326726"/>
            <a:ext cx="5179441" cy="1206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75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출처: 경향신문(2024.8.29, 서울시 "5월 GPR 탐사 때 공동 없었다") · 아주경제(2024.9.4, 서울시 복합 원인 발표) · MBC(2025.9.24)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98640" y="2419753"/>
            <a:ext cx="1393128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2024. 8. 29 사고 지점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99910" y="2623609"/>
            <a:ext cx="1803309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C9D2E0"/>
                </a:solidFill>
                <a:latin typeface="Pretendard"/>
                <a:ea typeface="Pretendard"/>
                <a:cs typeface="Pretendard"/>
              </a:rPr>
              <a:t>성산로 궁동공원 앞 · 성산대교 방향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1920" y="6405056"/>
            <a:ext cx="514215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서울 서대문구 연희동 · 지도 데이터 © OpenStreetMap contributors · 위치: 연합뉴스 그래픽(2024.8.29) 기준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2780" y="308399"/>
            <a:ext cx="119362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66900" y="266700"/>
            <a:ext cx="3810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981200" y="308399"/>
            <a:ext cx="295689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4430" y="296313"/>
            <a:ext cx="139563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땅꺼짐 유형과 대응 대상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18160" y="780417"/>
            <a:ext cx="6592161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땅꺼짐은 깊이에 따라 막는 방법이 다릅니다</a:t>
            </a:r>
          </a:p>
        </p:txBody>
      </p:sp>
      <p:pic>
        <p:nvPicPr>
          <p:cNvPr id="10" name="사진 1" descr="p01_i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200" y="1866900"/>
            <a:ext cx="5207000" cy="325822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346200" y="2260074"/>
            <a:ext cx="38100" cy="680363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8514" y="2359052"/>
            <a:ext cx="721268" cy="166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5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차량형 GPR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629" y="2548938"/>
            <a:ext cx="519550" cy="1508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정기 순찰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016" y="2714038"/>
            <a:ext cx="378115" cy="1508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약 2m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46200" y="2974627"/>
            <a:ext cx="38100" cy="765836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3762" y="3116341"/>
            <a:ext cx="606054" cy="166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5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수동 GPR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629" y="3306227"/>
            <a:ext cx="519550" cy="1508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변한 지점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083" y="3471327"/>
            <a:ext cx="728033" cy="1508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저주파 재탐사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46200" y="3774652"/>
            <a:ext cx="38100" cy="132311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1370" y="4195007"/>
            <a:ext cx="578507" cy="166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5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계측·조사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629" y="4384893"/>
            <a:ext cx="519550" cy="1508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심부 지층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356" y="4549993"/>
            <a:ext cx="623792" cy="1508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공사장 영역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7790" y="1951385"/>
            <a:ext cx="925512" cy="241300"/>
          </a:xfrm>
          <a:prstGeom prst="roundRect">
            <a:avLst>
              <a:gd name="adj" fmla="val 50000"/>
            </a:avLst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3451290" y="1989485"/>
            <a:ext cx="165100" cy="16510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497340" y="2005170"/>
            <a:ext cx="14158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5290" y="1996894"/>
            <a:ext cx="544355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노면 침하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47737" y="2771923"/>
            <a:ext cx="925512" cy="241300"/>
          </a:xfrm>
          <a:prstGeom prst="roundRect">
            <a:avLst>
              <a:gd name="adj" fmla="val 50000"/>
            </a:avLst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2211237" y="2810023"/>
            <a:ext cx="165100" cy="16510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258906" y="2825708"/>
            <a:ext cx="13834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5237" y="2817432"/>
            <a:ext cx="544355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공동 형성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20300" y="3346300"/>
            <a:ext cx="1035273" cy="241300"/>
          </a:xfrm>
          <a:prstGeom prst="roundRect">
            <a:avLst>
              <a:gd name="adj" fmla="val 50000"/>
            </a:avLst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4483800" y="3384400"/>
            <a:ext cx="165100" cy="16510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39561" y="3400085"/>
            <a:ext cx="12215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7800" y="3391809"/>
            <a:ext cx="65408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하수관 누수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52737" y="4139487"/>
            <a:ext cx="1226468" cy="241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E3C"/>
            </a:solidFill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179737" y="4184996"/>
            <a:ext cx="104829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터널·깊은 지층 결함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8950" y="1444501"/>
            <a:ext cx="1729112" cy="571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45.4%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91339" y="1531981"/>
            <a:ext cx="2124548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지반침하 원인 1위 · 하수관 손상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1339" y="1784753"/>
            <a:ext cx="2179853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전국 867건 중 394건 (2020~2024)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58000" y="2082800"/>
            <a:ext cx="4800600" cy="0"/>
          </a:xfrm>
          <a:prstGeom prst="line">
            <a:avLst/>
          </a:prstGeom>
          <a:ln w="9525">
            <a:solidFill>
              <a:srgbClr val="D5DAE1"/>
            </a:solidFill>
          </a:ln>
        </p:spPr>
      </p:cxnSp>
      <p:sp>
        <p:nvSpPr>
          <p:cNvPr id="41" name="Rectangle 40"/>
          <p:cNvSpPr/>
          <p:nvPr/>
        </p:nvSpPr>
        <p:spPr>
          <a:xfrm>
            <a:off x="7391400" y="2235200"/>
            <a:ext cx="4267200" cy="482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543800" y="2293981"/>
            <a:ext cx="85030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얕은 공동형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2508039"/>
            <a:ext cx="111509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GroundWatch 대상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91400" y="2717800"/>
            <a:ext cx="4267200" cy="584200"/>
          </a:xfrm>
          <a:prstGeom prst="rect">
            <a:avLst/>
          </a:prstGeom>
          <a:solidFill>
            <a:srgbClr val="FDF3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858000" y="2826153"/>
            <a:ext cx="325258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2820110"/>
            <a:ext cx="752194" cy="1825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하수관 손상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3023310"/>
            <a:ext cx="1087671" cy="1825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→ 흙이 쓸려 나감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391400" y="3302000"/>
            <a:ext cx="4267200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49" name="Rectangle 48"/>
          <p:cNvSpPr/>
          <p:nvPr/>
        </p:nvSpPr>
        <p:spPr>
          <a:xfrm>
            <a:off x="7391400" y="3302000"/>
            <a:ext cx="4267200" cy="584200"/>
          </a:xfrm>
          <a:prstGeom prst="rect">
            <a:avLst/>
          </a:prstGeom>
          <a:solidFill>
            <a:srgbClr val="FDF3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858000" y="3410353"/>
            <a:ext cx="325258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징후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3404310"/>
            <a:ext cx="1038160" cy="1825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공동이 먼저 생김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3800" y="3607510"/>
            <a:ext cx="1539256" cy="1825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→ 함몰 전에 찾을 수 있음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0" y="4038600"/>
            <a:ext cx="4800600" cy="1409700"/>
          </a:xfrm>
          <a:prstGeom prst="rect">
            <a:avLst/>
          </a:prstGeom>
          <a:solidFill>
            <a:srgbClr val="FDF8E6"/>
          </a:solidFill>
          <a:ln w="9525">
            <a:solidFill>
              <a:srgbClr val="F5B700"/>
            </a:solidFill>
          </a:ln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035800" y="4160267"/>
            <a:ext cx="2554566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GroundWatch가 얕은 공동을 찾는 방법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35800" y="4457700"/>
            <a:ext cx="1363133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150100" y="4591453"/>
            <a:ext cx="755616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차량형 GPR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50100" y="4781953"/>
            <a:ext cx="59879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정기 순찰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50100" y="5009325"/>
            <a:ext cx="91580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같은 길을 회차마다</a:t>
            </a:r>
          </a:p>
        </p:txBody>
      </p:sp>
      <p:pic>
        <p:nvPicPr>
          <p:cNvPr id="59" name="Picture 58" descr="p01_v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713" y="4786630"/>
            <a:ext cx="142239" cy="18034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8576733" y="4457700"/>
            <a:ext cx="1363133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691033" y="4591453"/>
            <a:ext cx="99302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이전 회차와 비교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91033" y="4781953"/>
            <a:ext cx="59879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변화 감지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91033" y="5009325"/>
            <a:ext cx="1004726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 후보 · 전문가 승인</a:t>
            </a:r>
          </a:p>
        </p:txBody>
      </p:sp>
      <p:pic>
        <p:nvPicPr>
          <p:cNvPr id="64" name="Picture 63" descr="p01_v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7647" y="4786630"/>
            <a:ext cx="142239" cy="180340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10117667" y="4457700"/>
            <a:ext cx="1363133" cy="8382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0231967" y="4591453"/>
            <a:ext cx="719493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변한 지점만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31967" y="4781953"/>
            <a:ext cx="102906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수동 GPR 재탐사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31967" y="5009325"/>
            <a:ext cx="114188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저주파 안테나로 더 깊게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3400" y="5600700"/>
            <a:ext cx="11125200" cy="4953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54380" y="5722283"/>
            <a:ext cx="6020037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번의 탐사가 아니라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회차 사이의 변화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로, 얕은 공동을 함몰 전에 찾습니다.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8320" y="6221254"/>
            <a:ext cx="5897104" cy="1190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75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출처: 국토교통부 지반침하 원인 통계(2020~2024, 867건 중 하수관 손상 394건) · 국토교통부 지하안전관리 강화 대책(2016: 공동은 지반침하의 초기 단계)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8320" y="6341904"/>
            <a:ext cx="5087097" cy="1190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75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차량형 GPR 탐사 깊이 약 2m(서울시) · 수동 GPR 저주파 안테나 탐사 깊이는 실증 필요 · 단면도는 원리 설명용 3D 도식(깊이 비례 아님)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306101" y="6614606"/>
            <a:ext cx="42058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3810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pic>
        <p:nvPicPr>
          <p:cNvPr id="8" name="사진 1" descr="p04_i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41450"/>
            <a:ext cx="4953000" cy="2832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8638" y="4329113"/>
            <a:ext cx="336248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수동형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탐사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장비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The Charles Machine Works, CC BY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SA 2.0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3400" y="4686300"/>
            <a:ext cx="4953000" cy="0"/>
          </a:xfrm>
          <a:prstGeom prst="line">
            <a:avLst/>
          </a:prstGeom>
          <a:ln w="19050">
            <a:solidFill>
              <a:srgbClr val="0B1E3C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21970" y="4827420"/>
            <a:ext cx="1530577" cy="365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33,129km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85" y="5219341"/>
            <a:ext cx="119515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누적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차량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탐사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85" y="5411365"/>
            <a:ext cx="950558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2014~2025.9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8395" y="4827420"/>
            <a:ext cx="1213522" cy="365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7,760</a:t>
            </a:r>
            <a:r>
              <a:rPr sz="2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110" y="5219341"/>
            <a:ext cx="60619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110" y="5411365"/>
            <a:ext cx="72843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발견한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공동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495" y="4827420"/>
            <a:ext cx="1535104" cy="365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16,423km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6210" y="5219341"/>
            <a:ext cx="110308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2026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년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탐사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6210" y="5411365"/>
            <a:ext cx="135231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인력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9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명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→ 19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7123" y="1479657"/>
            <a:ext cx="102439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현재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업무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0" y="1819275"/>
            <a:ext cx="228600" cy="228600"/>
          </a:xfrm>
          <a:prstGeom prst="ellipse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028531" y="1860339"/>
            <a:ext cx="13573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9261" y="1830283"/>
            <a:ext cx="3181345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민원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노후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관로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공사구간으로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조사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대상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선정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0" y="2162175"/>
            <a:ext cx="228600" cy="228600"/>
          </a:xfrm>
          <a:prstGeom prst="ellipse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19800" y="2201715"/>
            <a:ext cx="153715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9261" y="2174707"/>
            <a:ext cx="4215557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차량형 GPR이 도로를 넓게 스캔 (서울시 장비 1회 약 3m 폭)</a:t>
            </a:r>
          </a:p>
        </p:txBody>
      </p:sp>
      <p:sp>
        <p:nvSpPr>
          <p:cNvPr id="27" name="Oval 26"/>
          <p:cNvSpPr/>
          <p:nvPr/>
        </p:nvSpPr>
        <p:spPr>
          <a:xfrm>
            <a:off x="5943600" y="2505075"/>
            <a:ext cx="228600" cy="228600"/>
          </a:xfrm>
          <a:prstGeom prst="ellipse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018212" y="2546139"/>
            <a:ext cx="15731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9261" y="2516083"/>
            <a:ext cx="2668583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분석자가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판독해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공동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의심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지점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선별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0" y="2847975"/>
            <a:ext cx="228600" cy="228600"/>
          </a:xfrm>
          <a:prstGeom prst="ellipse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16624" y="2887515"/>
            <a:ext cx="159668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9261" y="2860507"/>
            <a:ext cx="2347908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작업자가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수동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GPR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로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다시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조사</a:t>
            </a:r>
          </a:p>
        </p:txBody>
      </p:sp>
      <p:sp>
        <p:nvSpPr>
          <p:cNvPr id="33" name="Oval 32"/>
          <p:cNvSpPr/>
          <p:nvPr/>
        </p:nvSpPr>
        <p:spPr>
          <a:xfrm>
            <a:off x="5943600" y="3190875"/>
            <a:ext cx="228600" cy="228600"/>
          </a:xfrm>
          <a:prstGeom prst="ellipse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019006" y="3231939"/>
            <a:ext cx="15582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9261" y="3201883"/>
            <a:ext cx="2824158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승인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교통통제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후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천공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내시경으로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36" name="Oval 35"/>
          <p:cNvSpPr/>
          <p:nvPr/>
        </p:nvSpPr>
        <p:spPr>
          <a:xfrm>
            <a:off x="5943600" y="3533775"/>
            <a:ext cx="228600" cy="228600"/>
          </a:xfrm>
          <a:prstGeom prst="ellipse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018212" y="3573315"/>
            <a:ext cx="157807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9261" y="3546307"/>
            <a:ext cx="2109783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공동이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확인되면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복구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재포장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7123" y="4033881"/>
            <a:ext cx="259969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그 사이의 공백 · 2024년 연희동 성산로</a:t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6915150" y="4629150"/>
            <a:ext cx="4391025" cy="133350"/>
          </a:xfrm>
          <a:prstGeom prst="rect">
            <a:avLst/>
          </a:prstGeom>
          <a:solidFill>
            <a:srgbClr val="F5B700">
              <a:alpha val="2784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1" name="Connector 40"/>
          <p:cNvCxnSpPr/>
          <p:nvPr/>
        </p:nvCxnSpPr>
        <p:spPr>
          <a:xfrm>
            <a:off x="6286500" y="4695825"/>
            <a:ext cx="5143500" cy="0"/>
          </a:xfrm>
          <a:prstGeom prst="line">
            <a:avLst/>
          </a:prstGeom>
          <a:ln w="19050">
            <a:solidFill>
              <a:srgbClr val="9AA3AF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6195219" y="4832139"/>
            <a:ext cx="26057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5</a:t>
            </a: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1723" y="4832139"/>
            <a:ext cx="26216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6</a:t>
            </a: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12994" y="4832139"/>
            <a:ext cx="25422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7</a:t>
            </a: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94898" y="4832139"/>
            <a:ext cx="26216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8</a:t>
            </a: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4150" y="4619625"/>
            <a:ext cx="381000" cy="152400"/>
          </a:xfrm>
          <a:prstGeom prst="roundRect">
            <a:avLst>
              <a:gd name="adj" fmla="val 18750"/>
            </a:avLst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528435" y="4381141"/>
            <a:ext cx="1855986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5월 정기 GPR 탐사 · 공동 미발견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8" name="Oval 47"/>
          <p:cNvSpPr/>
          <p:nvPr/>
        </p:nvSpPr>
        <p:spPr>
          <a:xfrm>
            <a:off x="11220450" y="4610100"/>
            <a:ext cx="171450" cy="1714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957142" y="4381141"/>
            <a:ext cx="151478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8.29 함몰 · 사망 1 · 부상 1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71883" y="5061057"/>
            <a:ext cx="4349366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5월 이후 사고까지 이 구간을 다시 탐사한 기록은 확인되지 않습니다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13153" y="5335165"/>
            <a:ext cx="479364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사고 뒤 서울시가 정한 성산로 월 1회 탐사도 계약 절차로 반년 넘게 시행되지 못했습니다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533400" y="5715000"/>
            <a:ext cx="11125200" cy="4953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28638" y="6328601"/>
            <a:ext cx="921835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출처: 경향신문(2025.10.19) 서울시 GPR 누적 탐사 · 서울시 지반침하 관리 강화(2026.3.23) · 경향신문(2024.8.29) 연희동 5월 탐사 · 경향신문(2025.3.28) 성산로 월 1회 탐사 지연 · MBC(2025.9.24)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3999" y="5844711"/>
            <a:ext cx="9326562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GPR 기술은 그대로,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바꾸는 것은 탐사 방식입니다.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한 번 재고 끝나는 조사를 회차 간 비교와 현장 재확인으로 잇습니다.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79600" y="256540"/>
            <a:ext cx="3835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866900" y="266700"/>
            <a:ext cx="696912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981200" y="308907"/>
            <a:ext cx="544355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기존 방식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73033" y="296821"/>
            <a:ext cx="87791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기존 조사 방식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8160" y="780417"/>
            <a:ext cx="8438009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탐사와 탐사 사이 3개월, 그 길을 다시 본 기록은 없습니다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05319" y="6615112"/>
            <a:ext cx="40408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3810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26161" y="1373083"/>
            <a:ext cx="6407497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같은 길을 회차마다 다시 보고, 이전 회차와 달라진 곳만 골라 같은 차에서 바로 재확인합니다.</a:t>
            </a:r>
          </a:p>
        </p:txBody>
      </p:sp>
      <p:pic>
        <p:nvPicPr>
          <p:cNvPr id="9" name="사진 1" descr="p05_i0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1720850"/>
            <a:ext cx="2609850" cy="1638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8066" y="3524653"/>
            <a:ext cx="59701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256" y="3726562"/>
            <a:ext cx="977664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측정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0273" y="4091793"/>
            <a:ext cx="163716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위험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정기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순찰구간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등록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44386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60273" y="4356969"/>
            <a:ext cx="1819729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새벽에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경로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주행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47053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0273" y="4625193"/>
            <a:ext cx="152604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GPR·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카메라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동시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pic>
        <p:nvPicPr>
          <p:cNvPr id="18" name="Picture 17" descr="p05_v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125" y="2520950"/>
            <a:ext cx="187325" cy="9842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371850" y="1733550"/>
            <a:ext cx="2609850" cy="1619250"/>
          </a:xfrm>
          <a:prstGeom prst="rect">
            <a:avLst/>
          </a:prstGeom>
          <a:solidFill>
            <a:srgbClr val="2A2E33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0" name="사진 2" descr="p05_i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850" y="1733550"/>
            <a:ext cx="2647743" cy="790575"/>
          </a:xfrm>
          <a:prstGeom prst="rect">
            <a:avLst/>
          </a:prstGeom>
        </p:spPr>
      </p:pic>
      <p:pic>
        <p:nvPicPr>
          <p:cNvPr id="21" name="사진 3" descr="p05_i0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1850" y="2562225"/>
            <a:ext cx="2647743" cy="790575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429000" y="1790700"/>
            <a:ext cx="590550" cy="190500"/>
          </a:xfrm>
          <a:prstGeom prst="roundRect">
            <a:avLst>
              <a:gd name="adj" fmla="val 15000"/>
            </a:avLst>
          </a:prstGeom>
          <a:solidFill>
            <a:srgbClr val="0B1E3C">
              <a:alpha val="851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94088" y="1811572"/>
            <a:ext cx="538386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이전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2619375"/>
            <a:ext cx="590550" cy="190500"/>
          </a:xfrm>
          <a:prstGeom prst="roundRect">
            <a:avLst>
              <a:gd name="adj" fmla="val 15000"/>
            </a:avLst>
          </a:prstGeom>
          <a:solidFill>
            <a:srgbClr val="0B1E3C">
              <a:alpha val="851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494088" y="2640627"/>
            <a:ext cx="538386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이번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9600" y="2733675"/>
            <a:ext cx="1352550" cy="552450"/>
          </a:xfrm>
          <a:prstGeom prst="rect">
            <a:avLst/>
          </a:prstGeom>
          <a:noFill/>
          <a:ln w="23812">
            <a:solidFill>
              <a:srgbClr val="F5B700"/>
            </a:solidFill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366516" y="3524653"/>
            <a:ext cx="61679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STEP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2706" y="3726562"/>
            <a:ext cx="977664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변화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감지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7185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498723" y="4091793"/>
            <a:ext cx="1891166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위치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깊이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시간으로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4D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71850" y="44386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98723" y="4356969"/>
            <a:ext cx="182290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가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이전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회차와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변화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선별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71850" y="47053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498723" y="4625193"/>
            <a:ext cx="191974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전문가가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원시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데이터로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승인</a:t>
            </a:r>
          </a:p>
        </p:txBody>
      </p:sp>
      <p:pic>
        <p:nvPicPr>
          <p:cNvPr id="35" name="Picture 34" descr="p05_v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7575" y="2520950"/>
            <a:ext cx="187325" cy="98425"/>
          </a:xfrm>
          <a:prstGeom prst="rect">
            <a:avLst/>
          </a:prstGeom>
        </p:spPr>
      </p:pic>
      <p:pic>
        <p:nvPicPr>
          <p:cNvPr id="36" name="사진 4" descr="p05_i0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1720850"/>
            <a:ext cx="2609850" cy="1638300"/>
          </a:xfrm>
          <a:prstGeom prst="rect">
            <a:avLst/>
          </a:prstGeom>
        </p:spPr>
      </p:pic>
      <p:pic>
        <p:nvPicPr>
          <p:cNvPr id="37" name="Picture 36" descr="p05_v0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1525" y="2616200"/>
            <a:ext cx="949325" cy="377825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267450" y="1790700"/>
            <a:ext cx="990600" cy="190500"/>
          </a:xfrm>
          <a:prstGeom prst="roundRect">
            <a:avLst>
              <a:gd name="adj" fmla="val 15000"/>
            </a:avLst>
          </a:prstGeom>
          <a:solidFill>
            <a:srgbClr val="0B1E3C">
              <a:alpha val="851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380161" y="1811572"/>
            <a:ext cx="843185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AR 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재탐사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범위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04966" y="3524653"/>
            <a:ext cx="620753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STEP 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1156" y="3726562"/>
            <a:ext cx="1174512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현장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재확인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030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337173" y="4091793"/>
            <a:ext cx="200229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앱이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지점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안전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정차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위치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안내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0300" y="44386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337173" y="4356969"/>
            <a:ext cx="205468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AR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글래스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+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수동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재탐사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0300" y="47053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337173" y="4625193"/>
            <a:ext cx="167844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필요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천공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내시경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요청</a:t>
            </a:r>
          </a:p>
        </p:txBody>
      </p:sp>
      <p:pic>
        <p:nvPicPr>
          <p:cNvPr id="48" name="Picture 47" descr="p05_v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025" y="2520950"/>
            <a:ext cx="187325" cy="98425"/>
          </a:xfrm>
          <a:prstGeom prst="rect">
            <a:avLst/>
          </a:prstGeom>
        </p:spPr>
      </p:pic>
      <p:pic>
        <p:nvPicPr>
          <p:cNvPr id="49" name="사진 5" descr="p05_i0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4346" y="1733550"/>
            <a:ext cx="2750604" cy="16192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043416" y="3524653"/>
            <a:ext cx="62334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STEP 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39606" y="3726562"/>
            <a:ext cx="977665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결과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축적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4875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175623" y="4091793"/>
            <a:ext cx="196101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확인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보수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이력을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지도에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48750" y="44386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175623" y="4356969"/>
            <a:ext cx="1819729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다음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회차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순찰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경로에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반영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48750" y="47053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175623" y="4625193"/>
            <a:ext cx="149905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데이터로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축적</a:t>
            </a:r>
          </a:p>
        </p:txBody>
      </p:sp>
      <p:pic>
        <p:nvPicPr>
          <p:cNvPr id="58" name="Picture 57" descr="p05_v0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18481" y="4978400"/>
            <a:ext cx="8555038" cy="299244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4476750" y="5114925"/>
            <a:ext cx="3238500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4960143" y="5158593"/>
            <a:ext cx="237219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확인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결과가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다음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순찰로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돌아갑니다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3400" y="5600700"/>
            <a:ext cx="11125200" cy="4953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53999" y="5722790"/>
            <a:ext cx="6327656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는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검토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순서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정하고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판정은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전문가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확인은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천공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내시경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맡습니다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8638" y="6234112"/>
            <a:ext cx="623697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B-scan 비교는 설명용 예시 · STEP 01: 콘셉트 이미지(생성 AI) · 도로 장면은 연출 이미지 · 지도 데이터 © OpenStreetMap contributors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1879600" y="256540"/>
            <a:ext cx="3835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1866900" y="266700"/>
            <a:ext cx="557882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981200" y="308907"/>
            <a:ext cx="405417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솔루션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34002" y="296821"/>
            <a:ext cx="186503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GroundWatch 운영 파이프라인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8160" y="780417"/>
            <a:ext cx="8084157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반복 순찰이 탐사 결과를 다음 현장 업무로 연결합니다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308445" y="6615112"/>
            <a:ext cx="40095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2780" y="308399"/>
            <a:ext cx="119362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66900" y="266700"/>
            <a:ext cx="557882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981200" y="308399"/>
            <a:ext cx="405417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솔루션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1312" y="296313"/>
            <a:ext cx="111931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기존 탐사와의 차이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18160" y="780417"/>
            <a:ext cx="9937721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같은 GPR이라도, 회차를 비교하고 바로 재확인하는 것이 다릅니다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06547" y="6614606"/>
            <a:ext cx="40285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06 / 16</a:t>
            </a:r>
          </a:p>
        </p:txBody>
      </p:sp>
      <p:sp>
        <p:nvSpPr>
          <p:cNvPr id="55" name="Text 8"/>
          <p:cNvSpPr txBox="1"/>
          <p:nvPr/>
        </p:nvSpPr>
        <p:spPr>
          <a:xfrm>
            <a:off x="530352" y="1417320"/>
            <a:ext cx="11128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GPR 탐사</a:t>
            </a:r>
            <a:pPr indent="0" marL="0">
              <a:buNone/>
            </a:pPr>
            <a:r>
              <a:rPr lang="ko-KR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서울시도 공사장 주변은 주 1회·월 1회 반복합니다. 다만 결과가 회차마다 끊깁니다.</a:t>
            </a:r>
            <a:endParaRPr lang="ko-KR" sz="1500" dirty="0"/>
          </a:p>
        </p:txBody>
      </p:sp>
      <p:sp>
        <p:nvSpPr>
          <p:cNvPr id="56" name="Shape 9"/>
          <p:cNvSpPr/>
          <p:nvPr/>
        </p:nvSpPr>
        <p:spPr>
          <a:xfrm>
            <a:off x="530352" y="1755648"/>
            <a:ext cx="1965960" cy="1115568"/>
          </a:xfrm>
          <a:prstGeom prst="roundRect">
            <a:avLst>
              <a:gd name="adj" fmla="val 491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p/>
        </p:txBody>
      </p:sp>
      <p:pic>
        <p:nvPicPr>
          <p:cNvPr id="5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911096"/>
            <a:ext cx="274320" cy="274320"/>
          </a:xfrm>
          <a:prstGeom prst="rect">
            <a:avLst/>
          </a:prstGeom>
        </p:spPr>
      </p:pic>
      <p:sp>
        <p:nvSpPr>
          <p:cNvPr id="58" name="Text 10"/>
          <p:cNvSpPr txBox="1"/>
          <p:nvPr/>
        </p:nvSpPr>
        <p:spPr>
          <a:xfrm>
            <a:off x="1024128" y="1874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탐사</a:t>
            </a:r>
            <a:endParaRPr lang="ko-KR" sz="1500" dirty="0"/>
          </a:p>
        </p:txBody>
      </p:sp>
      <p:sp>
        <p:nvSpPr>
          <p:cNvPr id="59" name="Text 11"/>
          <p:cNvSpPr txBox="1"/>
          <p:nvPr/>
        </p:nvSpPr>
        <p:spPr>
          <a:xfrm>
            <a:off x="676656" y="2304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점검 구간은 5개년 계획 주기</a:t>
            </a:r>
            <a:endParaRPr lang="ko-KR" sz="1200" dirty="0"/>
          </a:p>
        </p:txBody>
      </p:sp>
      <p:sp>
        <p:nvSpPr>
          <p:cNvPr id="60" name="Shape 12"/>
          <p:cNvSpPr/>
          <p:nvPr/>
        </p:nvSpPr>
        <p:spPr>
          <a:xfrm>
            <a:off x="2820924" y="1755648"/>
            <a:ext cx="1965960" cy="1115568"/>
          </a:xfrm>
          <a:prstGeom prst="roundRect">
            <a:avLst>
              <a:gd name="adj" fmla="val 491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p/>
        </p:txBody>
      </p:sp>
      <p:pic>
        <p:nvPicPr>
          <p:cNvPr id="6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228" y="1911096"/>
            <a:ext cx="274320" cy="274320"/>
          </a:xfrm>
          <a:prstGeom prst="rect">
            <a:avLst/>
          </a:prstGeom>
        </p:spPr>
      </p:pic>
      <p:sp>
        <p:nvSpPr>
          <p:cNvPr id="62" name="Text 13"/>
          <p:cNvSpPr txBox="1"/>
          <p:nvPr/>
        </p:nvSpPr>
        <p:spPr>
          <a:xfrm>
            <a:off x="3314700" y="1874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회차별 판독</a:t>
            </a:r>
            <a:endParaRPr lang="ko-KR" sz="1500" dirty="0"/>
          </a:p>
        </p:txBody>
      </p:sp>
      <p:sp>
        <p:nvSpPr>
          <p:cNvPr id="63" name="Text 14"/>
          <p:cNvSpPr txBox="1"/>
          <p:nvPr/>
        </p:nvSpPr>
        <p:spPr>
          <a:xfrm>
            <a:off x="2967228" y="2304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회차 데이터만 보고 사람이 선별</a:t>
            </a:r>
            <a:endParaRPr lang="ko-KR" sz="1200" dirty="0"/>
          </a:p>
        </p:txBody>
      </p:sp>
      <p:sp>
        <p:nvSpPr>
          <p:cNvPr id="64" name="Shape 15"/>
          <p:cNvSpPr/>
          <p:nvPr/>
        </p:nvSpPr>
        <p:spPr>
          <a:xfrm>
            <a:off x="5111496" y="1755648"/>
            <a:ext cx="1965960" cy="1115568"/>
          </a:xfrm>
          <a:prstGeom prst="roundRect">
            <a:avLst>
              <a:gd name="adj" fmla="val 491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p/>
        </p:txBody>
      </p:sp>
      <p:pic>
        <p:nvPicPr>
          <p:cNvPr id="6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911096"/>
            <a:ext cx="274320" cy="274320"/>
          </a:xfrm>
          <a:prstGeom prst="rect">
            <a:avLst/>
          </a:prstGeom>
        </p:spPr>
      </p:pic>
      <p:sp>
        <p:nvSpPr>
          <p:cNvPr id="66" name="Text 16"/>
          <p:cNvSpPr txBox="1"/>
          <p:nvPr/>
        </p:nvSpPr>
        <p:spPr>
          <a:xfrm>
            <a:off x="5605272" y="1874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 확인</a:t>
            </a:r>
            <a:endParaRPr lang="ko-KR" sz="1500" dirty="0"/>
          </a:p>
        </p:txBody>
      </p:sp>
      <p:sp>
        <p:nvSpPr>
          <p:cNvPr id="67" name="Text 17"/>
          <p:cNvSpPr txBox="1"/>
          <p:nvPr/>
        </p:nvSpPr>
        <p:spPr>
          <a:xfrm>
            <a:off x="5257800" y="2304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확인·복구 주체가 나뉨</a:t>
            </a:r>
            <a:endParaRPr lang="ko-KR" sz="1200" dirty="0"/>
          </a:p>
        </p:txBody>
      </p:sp>
      <p:sp>
        <p:nvSpPr>
          <p:cNvPr id="68" name="Shape 18"/>
          <p:cNvSpPr/>
          <p:nvPr/>
        </p:nvSpPr>
        <p:spPr>
          <a:xfrm>
            <a:off x="7402068" y="1755648"/>
            <a:ext cx="1965960" cy="1115568"/>
          </a:xfrm>
          <a:prstGeom prst="roundRect">
            <a:avLst>
              <a:gd name="adj" fmla="val 491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p/>
        </p:txBody>
      </p:sp>
      <p:pic>
        <p:nvPicPr>
          <p:cNvPr id="6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8372" y="1911096"/>
            <a:ext cx="274320" cy="274320"/>
          </a:xfrm>
          <a:prstGeom prst="rect">
            <a:avLst/>
          </a:prstGeom>
        </p:spPr>
      </p:pic>
      <p:sp>
        <p:nvSpPr>
          <p:cNvPr id="70" name="Text 19"/>
          <p:cNvSpPr txBox="1"/>
          <p:nvPr/>
        </p:nvSpPr>
        <p:spPr>
          <a:xfrm>
            <a:off x="7895844" y="1874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보고서</a:t>
            </a:r>
            <a:endParaRPr lang="ko-KR" sz="1500" dirty="0"/>
          </a:p>
        </p:txBody>
      </p:sp>
      <p:sp>
        <p:nvSpPr>
          <p:cNvPr id="71" name="Text 20"/>
          <p:cNvSpPr txBox="1"/>
          <p:nvPr/>
        </p:nvSpPr>
        <p:spPr>
          <a:xfrm>
            <a:off x="7548372" y="23042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 단위 탐사지도로 공개</a:t>
            </a:r>
            <a:endParaRPr lang="ko-KR" sz="1200" dirty="0"/>
          </a:p>
        </p:txBody>
      </p:sp>
      <p:sp>
        <p:nvSpPr>
          <p:cNvPr id="72" name="Shape 21"/>
          <p:cNvSpPr/>
          <p:nvPr/>
        </p:nvSpPr>
        <p:spPr>
          <a:xfrm>
            <a:off x="9692640" y="1755648"/>
            <a:ext cx="1965960" cy="1115568"/>
          </a:xfrm>
          <a:prstGeom prst="roundRect">
            <a:avLst>
              <a:gd name="adj" fmla="val 4918"/>
            </a:avLst>
          </a:prstGeom>
          <a:solidFill>
            <a:srgbClr val="FDECEC"/>
          </a:solidFill>
          <a:ln w="9525">
            <a:solidFill>
              <a:srgbClr val="F4C7C7"/>
            </a:solidFill>
            <a:prstDash val="solid"/>
          </a:ln>
        </p:spPr>
        <p:txBody>
          <a:bodyPr/>
          <a:p/>
        </p:txBody>
      </p:sp>
      <p:pic>
        <p:nvPicPr>
          <p:cNvPr id="7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944" y="1911096"/>
            <a:ext cx="274320" cy="274320"/>
          </a:xfrm>
          <a:prstGeom prst="rect">
            <a:avLst/>
          </a:prstGeom>
        </p:spPr>
      </p:pic>
      <p:sp>
        <p:nvSpPr>
          <p:cNvPr id="74" name="Text 22"/>
          <p:cNvSpPr txBox="1"/>
          <p:nvPr/>
        </p:nvSpPr>
        <p:spPr>
          <a:xfrm>
            <a:off x="10186416" y="1874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C62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끊김</a:t>
            </a:r>
            <a:endParaRPr lang="ko-KR" sz="1500" dirty="0"/>
          </a:p>
        </p:txBody>
      </p:sp>
      <p:sp>
        <p:nvSpPr>
          <p:cNvPr id="75" name="Text 23"/>
          <p:cNvSpPr txBox="1"/>
          <p:nvPr/>
        </p:nvSpPr>
        <p:spPr>
          <a:xfrm>
            <a:off x="9838944" y="224942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2100" b="1" dirty="0">
                <a:solidFill>
                  <a:srgbClr val="C62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301곳</a:t>
            </a:r>
            <a:endParaRPr lang="ko-KR" sz="2100" dirty="0"/>
          </a:p>
        </p:txBody>
      </p:sp>
      <p:sp>
        <p:nvSpPr>
          <p:cNvPr id="76" name="Text 24"/>
          <p:cNvSpPr txBox="1"/>
          <p:nvPr/>
        </p:nvSpPr>
        <p:spPr>
          <a:xfrm>
            <a:off x="9838944" y="2578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0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미복구 공동 (2021~25)</a:t>
            </a:r>
            <a:endParaRPr lang="ko-KR" sz="1050" dirty="0"/>
          </a:p>
        </p:txBody>
      </p:sp>
      <p:pic>
        <p:nvPicPr>
          <p:cNvPr id="7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9746" y="2194560"/>
            <a:ext cx="237744" cy="237744"/>
          </a:xfrm>
          <a:prstGeom prst="rect">
            <a:avLst/>
          </a:prstGeom>
        </p:spPr>
      </p:pic>
      <p:pic>
        <p:nvPicPr>
          <p:cNvPr id="7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0318" y="2194560"/>
            <a:ext cx="237744" cy="237744"/>
          </a:xfrm>
          <a:prstGeom prst="rect">
            <a:avLst/>
          </a:prstGeom>
        </p:spPr>
      </p:pic>
      <p:pic>
        <p:nvPicPr>
          <p:cNvPr id="79" name="Image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0890" y="2194560"/>
            <a:ext cx="237744" cy="237744"/>
          </a:xfrm>
          <a:prstGeom prst="rect">
            <a:avLst/>
          </a:prstGeom>
        </p:spPr>
      </p:pic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1462" y="2194560"/>
            <a:ext cx="237744" cy="237744"/>
          </a:xfrm>
          <a:prstGeom prst="rect">
            <a:avLst/>
          </a:prstGeom>
        </p:spPr>
      </p:pic>
      <p:sp>
        <p:nvSpPr>
          <p:cNvPr id="81" name="Text 25"/>
          <p:cNvSpPr txBox="1"/>
          <p:nvPr/>
        </p:nvSpPr>
        <p:spPr>
          <a:xfrm>
            <a:off x="530352" y="3127248"/>
            <a:ext cx="11128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GroundWatch</a:t>
            </a:r>
            <a:pPr indent="0" marL="0">
              <a:buNone/>
            </a:pPr>
            <a:r>
              <a:rPr lang="ko-KR" sz="12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비교 · 재확인 · 복구 추적이 한 흐름으로 이어집니다.</a:t>
            </a:r>
            <a:endParaRPr lang="ko-KR" sz="1500" dirty="0"/>
          </a:p>
        </p:txBody>
      </p:sp>
      <p:sp>
        <p:nvSpPr>
          <p:cNvPr id="82" name="Shape 26"/>
          <p:cNvSpPr/>
          <p:nvPr/>
        </p:nvSpPr>
        <p:spPr>
          <a:xfrm>
            <a:off x="530352" y="3465576"/>
            <a:ext cx="1965960" cy="1115568"/>
          </a:xfrm>
          <a:prstGeom prst="roundRect">
            <a:avLst>
              <a:gd name="adj" fmla="val 4918"/>
            </a:avLst>
          </a:prstGeom>
          <a:solidFill>
            <a:srgbClr val="0B1E3C"/>
          </a:solidFill>
          <a:ln w="12700">
            <a:solidFill>
              <a:srgbClr val="0B1E3C"/>
            </a:solidFill>
            <a:prstDash val="solid"/>
          </a:ln>
        </p:spPr>
        <p:txBody>
          <a:bodyPr/>
          <a:p/>
        </p:txBody>
      </p:sp>
      <p:pic>
        <p:nvPicPr>
          <p:cNvPr id="83" name="Image 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" y="3621024"/>
            <a:ext cx="274320" cy="274320"/>
          </a:xfrm>
          <a:prstGeom prst="rect">
            <a:avLst/>
          </a:prstGeom>
        </p:spPr>
      </p:pic>
      <p:sp>
        <p:nvSpPr>
          <p:cNvPr id="84" name="Text 27"/>
          <p:cNvSpPr txBox="1"/>
          <p:nvPr/>
        </p:nvSpPr>
        <p:spPr>
          <a:xfrm>
            <a:off x="1024128" y="3584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순찰</a:t>
            </a:r>
            <a:endParaRPr lang="ko-KR" sz="1500" dirty="0"/>
          </a:p>
        </p:txBody>
      </p:sp>
      <p:sp>
        <p:nvSpPr>
          <p:cNvPr id="85" name="Text 28"/>
          <p:cNvSpPr txBox="1"/>
          <p:nvPr/>
        </p:nvSpPr>
        <p:spPr>
          <a:xfrm>
            <a:off x="676656" y="401421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200" dirty="0">
                <a:solidFill>
                  <a:srgbClr val="C9D1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매일~분기 · 집중호우 뒤 긴급 회차</a:t>
            </a:r>
            <a:endParaRPr lang="ko-KR" sz="1200" dirty="0"/>
          </a:p>
        </p:txBody>
      </p:sp>
      <p:pic>
        <p:nvPicPr>
          <p:cNvPr id="86" name="Image 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9746" y="3904488"/>
            <a:ext cx="237744" cy="237744"/>
          </a:xfrm>
          <a:prstGeom prst="rect">
            <a:avLst/>
          </a:prstGeom>
        </p:spPr>
      </p:pic>
      <p:sp>
        <p:nvSpPr>
          <p:cNvPr id="87" name="Shape 29"/>
          <p:cNvSpPr/>
          <p:nvPr/>
        </p:nvSpPr>
        <p:spPr>
          <a:xfrm>
            <a:off x="2820924" y="3465576"/>
            <a:ext cx="1965960" cy="1115568"/>
          </a:xfrm>
          <a:prstGeom prst="roundRect">
            <a:avLst>
              <a:gd name="adj" fmla="val 4918"/>
            </a:avLst>
          </a:prstGeom>
          <a:solidFill>
            <a:srgbClr val="0B1E3C"/>
          </a:solidFill>
          <a:ln w="12700">
            <a:solidFill>
              <a:srgbClr val="0B1E3C"/>
            </a:solidFill>
            <a:prstDash val="solid"/>
          </a:ln>
        </p:spPr>
        <p:txBody>
          <a:bodyPr/>
          <a:p/>
        </p:txBody>
      </p:sp>
      <p:pic>
        <p:nvPicPr>
          <p:cNvPr id="88" name="Image 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67228" y="3621024"/>
            <a:ext cx="274320" cy="274320"/>
          </a:xfrm>
          <a:prstGeom prst="rect">
            <a:avLst/>
          </a:prstGeom>
        </p:spPr>
      </p:pic>
      <p:sp>
        <p:nvSpPr>
          <p:cNvPr id="89" name="Text 30"/>
          <p:cNvSpPr txBox="1"/>
          <p:nvPr/>
        </p:nvSpPr>
        <p:spPr>
          <a:xfrm>
            <a:off x="3314700" y="3584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회차 비교</a:t>
            </a:r>
            <a:endParaRPr lang="ko-KR" sz="1500" dirty="0"/>
          </a:p>
        </p:txBody>
      </p:sp>
      <p:sp>
        <p:nvSpPr>
          <p:cNvPr id="90" name="Text 31"/>
          <p:cNvSpPr txBox="1"/>
          <p:nvPr/>
        </p:nvSpPr>
        <p:spPr>
          <a:xfrm>
            <a:off x="2967228" y="401421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200" dirty="0">
                <a:solidFill>
                  <a:srgbClr val="C9D1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달라진 곳만 AI 후보 → 전문가 승인</a:t>
            </a:r>
            <a:endParaRPr lang="ko-KR" sz="1200" dirty="0"/>
          </a:p>
        </p:txBody>
      </p:sp>
      <p:pic>
        <p:nvPicPr>
          <p:cNvPr id="91" name="Image 12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0318" y="3904488"/>
            <a:ext cx="237744" cy="237744"/>
          </a:xfrm>
          <a:prstGeom prst="rect">
            <a:avLst/>
          </a:prstGeom>
        </p:spPr>
      </p:pic>
      <p:sp>
        <p:nvSpPr>
          <p:cNvPr id="92" name="Shape 32"/>
          <p:cNvSpPr/>
          <p:nvPr/>
        </p:nvSpPr>
        <p:spPr>
          <a:xfrm>
            <a:off x="5111496" y="3465576"/>
            <a:ext cx="1965960" cy="1115568"/>
          </a:xfrm>
          <a:prstGeom prst="roundRect">
            <a:avLst>
              <a:gd name="adj" fmla="val 4918"/>
            </a:avLst>
          </a:prstGeom>
          <a:solidFill>
            <a:srgbClr val="0B1E3C"/>
          </a:solidFill>
          <a:ln w="12700">
            <a:solidFill>
              <a:srgbClr val="0B1E3C"/>
            </a:solidFill>
            <a:prstDash val="solid"/>
          </a:ln>
        </p:spPr>
        <p:txBody>
          <a:bodyPr/>
          <a:p/>
        </p:txBody>
      </p:sp>
      <p:pic>
        <p:nvPicPr>
          <p:cNvPr id="93" name="Image 13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7800" y="3621024"/>
            <a:ext cx="274320" cy="274320"/>
          </a:xfrm>
          <a:prstGeom prst="rect">
            <a:avLst/>
          </a:prstGeom>
        </p:spPr>
      </p:pic>
      <p:sp>
        <p:nvSpPr>
          <p:cNvPr id="94" name="Text 33"/>
          <p:cNvSpPr txBox="1"/>
          <p:nvPr/>
        </p:nvSpPr>
        <p:spPr>
          <a:xfrm>
            <a:off x="5605272" y="3584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재확인</a:t>
            </a:r>
            <a:endParaRPr lang="ko-KR" sz="1500" dirty="0"/>
          </a:p>
        </p:txBody>
      </p:sp>
      <p:sp>
        <p:nvSpPr>
          <p:cNvPr id="95" name="Text 34"/>
          <p:cNvSpPr txBox="1"/>
          <p:nvPr/>
        </p:nvSpPr>
        <p:spPr>
          <a:xfrm>
            <a:off x="5257800" y="401421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200" dirty="0">
                <a:solidFill>
                  <a:srgbClr val="C9D1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PV5의 수동 GPR·AR [실증 필요]</a:t>
            </a:r>
            <a:endParaRPr lang="ko-KR" sz="1200" dirty="0"/>
          </a:p>
        </p:txBody>
      </p:sp>
      <p:pic>
        <p:nvPicPr>
          <p:cNvPr id="96" name="Image 14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0890" y="3904488"/>
            <a:ext cx="237744" cy="237744"/>
          </a:xfrm>
          <a:prstGeom prst="rect">
            <a:avLst/>
          </a:prstGeom>
        </p:spPr>
      </p:pic>
      <p:sp>
        <p:nvSpPr>
          <p:cNvPr id="97" name="Shape 35"/>
          <p:cNvSpPr/>
          <p:nvPr/>
        </p:nvSpPr>
        <p:spPr>
          <a:xfrm>
            <a:off x="7402068" y="3465576"/>
            <a:ext cx="1965960" cy="1115568"/>
          </a:xfrm>
          <a:prstGeom prst="roundRect">
            <a:avLst>
              <a:gd name="adj" fmla="val 4918"/>
            </a:avLst>
          </a:prstGeom>
          <a:solidFill>
            <a:srgbClr val="0B1E3C"/>
          </a:solidFill>
          <a:ln w="12700">
            <a:solidFill>
              <a:srgbClr val="0B1E3C"/>
            </a:solidFill>
            <a:prstDash val="solid"/>
          </a:ln>
        </p:spPr>
        <p:txBody>
          <a:bodyPr/>
          <a:p/>
        </p:txBody>
      </p:sp>
      <p:pic>
        <p:nvPicPr>
          <p:cNvPr id="98" name="Image 15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8372" y="3621024"/>
            <a:ext cx="274320" cy="274320"/>
          </a:xfrm>
          <a:prstGeom prst="rect">
            <a:avLst/>
          </a:prstGeom>
        </p:spPr>
      </p:pic>
      <p:sp>
        <p:nvSpPr>
          <p:cNvPr id="99" name="Text 36"/>
          <p:cNvSpPr txBox="1"/>
          <p:nvPr/>
        </p:nvSpPr>
        <p:spPr>
          <a:xfrm>
            <a:off x="7895844" y="3584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4D 누적</a:t>
            </a:r>
            <a:endParaRPr lang="ko-KR" sz="1500" dirty="0"/>
          </a:p>
        </p:txBody>
      </p:sp>
      <p:sp>
        <p:nvSpPr>
          <p:cNvPr id="100" name="Text 37"/>
          <p:cNvSpPr txBox="1"/>
          <p:nvPr/>
        </p:nvSpPr>
        <p:spPr>
          <a:xfrm>
            <a:off x="7548372" y="401421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200" dirty="0">
                <a:solidFill>
                  <a:srgbClr val="C9D1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위치·깊이·시간에 보수 이력까지</a:t>
            </a:r>
            <a:endParaRPr lang="ko-KR" sz="1200" dirty="0"/>
          </a:p>
        </p:txBody>
      </p:sp>
      <p:pic>
        <p:nvPicPr>
          <p:cNvPr id="101" name="Image 1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1462" y="3904488"/>
            <a:ext cx="237744" cy="237744"/>
          </a:xfrm>
          <a:prstGeom prst="rect">
            <a:avLst/>
          </a:prstGeom>
        </p:spPr>
      </p:pic>
      <p:sp>
        <p:nvSpPr>
          <p:cNvPr id="102" name="Shape 38"/>
          <p:cNvSpPr/>
          <p:nvPr/>
        </p:nvSpPr>
        <p:spPr>
          <a:xfrm>
            <a:off x="9692640" y="3465576"/>
            <a:ext cx="1965960" cy="1115568"/>
          </a:xfrm>
          <a:prstGeom prst="roundRect">
            <a:avLst>
              <a:gd name="adj" fmla="val 4918"/>
            </a:avLst>
          </a:prstGeom>
          <a:solidFill>
            <a:srgbClr val="0B1E3C"/>
          </a:solidFill>
          <a:ln w="12700">
            <a:solidFill>
              <a:srgbClr val="0B1E3C"/>
            </a:solidFill>
            <a:prstDash val="solid"/>
          </a:ln>
        </p:spPr>
        <p:txBody>
          <a:bodyPr/>
          <a:p/>
        </p:txBody>
      </p:sp>
      <p:pic>
        <p:nvPicPr>
          <p:cNvPr id="103" name="Image 17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38944" y="3621024"/>
            <a:ext cx="274320" cy="274320"/>
          </a:xfrm>
          <a:prstGeom prst="rect">
            <a:avLst/>
          </a:prstGeom>
        </p:spPr>
      </p:pic>
      <p:sp>
        <p:nvSpPr>
          <p:cNvPr id="104" name="Text 39"/>
          <p:cNvSpPr txBox="1"/>
          <p:nvPr/>
        </p:nvSpPr>
        <p:spPr>
          <a:xfrm>
            <a:off x="10186416" y="3584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복구 추적</a:t>
            </a:r>
            <a:endParaRPr lang="ko-KR" sz="1500" dirty="0"/>
          </a:p>
        </p:txBody>
      </p:sp>
      <p:sp>
        <p:nvSpPr>
          <p:cNvPr id="105" name="Text 40"/>
          <p:cNvSpPr txBox="1"/>
          <p:nvPr/>
        </p:nvSpPr>
        <p:spPr>
          <a:xfrm>
            <a:off x="9838944" y="401421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200" dirty="0">
                <a:solidFill>
                  <a:srgbClr val="C9D1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재확인 → 복구 요청 → 재검증</a:t>
            </a:r>
            <a:endParaRPr lang="ko-KR" sz="1200" dirty="0"/>
          </a:p>
        </p:txBody>
      </p:sp>
      <p:sp>
        <p:nvSpPr>
          <p:cNvPr id="106" name="Shape 41"/>
          <p:cNvSpPr/>
          <p:nvPr/>
        </p:nvSpPr>
        <p:spPr>
          <a:xfrm>
            <a:off x="10675620" y="4581144"/>
            <a:ext cx="0" cy="274320"/>
          </a:xfrm>
          <a:prstGeom prst="line">
            <a:avLst/>
          </a:prstGeom>
          <a:noFill/>
          <a:ln w="22225">
            <a:solidFill>
              <a:srgbClr val="F5B700"/>
            </a:solidFill>
            <a:prstDash val="dash"/>
          </a:ln>
        </p:spPr>
        <p:txBody>
          <a:bodyPr/>
          <a:p/>
        </p:txBody>
      </p:sp>
      <p:sp>
        <p:nvSpPr>
          <p:cNvPr id="107" name="Shape 42"/>
          <p:cNvSpPr/>
          <p:nvPr/>
        </p:nvSpPr>
        <p:spPr>
          <a:xfrm>
            <a:off x="1513332" y="4855464"/>
            <a:ext cx="9162288" cy="0"/>
          </a:xfrm>
          <a:prstGeom prst="line">
            <a:avLst/>
          </a:prstGeom>
          <a:noFill/>
          <a:ln w="22225">
            <a:solidFill>
              <a:srgbClr val="F5B700"/>
            </a:solidFill>
            <a:prstDash val="dash"/>
          </a:ln>
        </p:spPr>
        <p:txBody>
          <a:bodyPr/>
          <a:p/>
        </p:txBody>
      </p:sp>
      <p:sp>
        <p:nvSpPr>
          <p:cNvPr id="108" name="Shape 43"/>
          <p:cNvSpPr/>
          <p:nvPr/>
        </p:nvSpPr>
        <p:spPr>
          <a:xfrm>
            <a:off x="1513332" y="4581144"/>
            <a:ext cx="0" cy="274320"/>
          </a:xfrm>
          <a:prstGeom prst="line">
            <a:avLst/>
          </a:prstGeom>
          <a:noFill/>
          <a:ln w="22225">
            <a:solidFill>
              <a:srgbClr val="F5B700"/>
            </a:solidFill>
            <a:prstDash val="dash"/>
            <a:headEnd type="triangle"/>
          </a:ln>
        </p:spPr>
        <p:txBody>
          <a:bodyPr/>
          <a:p/>
        </p:txBody>
      </p:sp>
      <p:sp>
        <p:nvSpPr>
          <p:cNvPr id="109" name="Shape 44"/>
          <p:cNvSpPr/>
          <p:nvPr/>
        </p:nvSpPr>
        <p:spPr>
          <a:xfrm>
            <a:off x="4206240" y="4709160"/>
            <a:ext cx="377647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0" name="Text 45"/>
          <p:cNvSpPr txBox="1"/>
          <p:nvPr/>
        </p:nvSpPr>
        <p:spPr>
          <a:xfrm>
            <a:off x="4206240" y="4709160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sz="125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결과가 다음 회차 순찰 경로로 돌아갑니다</a:t>
            </a:r>
            <a:endParaRPr lang="ko-KR" sz="1250" dirty="0"/>
          </a:p>
        </p:txBody>
      </p:sp>
      <p:sp>
        <p:nvSpPr>
          <p:cNvPr id="111" name="Shape 46"/>
          <p:cNvSpPr/>
          <p:nvPr/>
        </p:nvSpPr>
        <p:spPr>
          <a:xfrm>
            <a:off x="530352" y="5577840"/>
            <a:ext cx="11128248" cy="512064"/>
          </a:xfrm>
          <a:prstGeom prst="rect">
            <a:avLst/>
          </a:prstGeom>
          <a:solidFill>
            <a:srgbClr val="0B1E3C"/>
          </a:solidFill>
          <a:ln w="12700">
            <a:solidFill>
              <a:srgbClr val="0B1E3C"/>
            </a:solidFill>
            <a:prstDash val="solid"/>
          </a:ln>
        </p:spPr>
        <p:txBody>
          <a:bodyPr/>
          <a:p/>
        </p:txBody>
      </p:sp>
      <p:sp>
        <p:nvSpPr>
          <p:cNvPr id="112" name="Text 47"/>
          <p:cNvSpPr txBox="1"/>
          <p:nvPr/>
        </p:nvSpPr>
        <p:spPr>
          <a:xfrm>
            <a:off x="749808" y="557784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차별점은 '반복'이 아니라, </a:t>
            </a:r>
            <a:pPr indent="0" marL="0">
              <a:buNone/>
            </a:pPr>
            <a:r>
              <a:rPr lang="ko-KR" sz="1600" b="1" dirty="0">
                <a:solidFill>
                  <a:srgbClr val="F5B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회차 간 비교와 현장 재확인을 한 흐름으로</a:t>
            </a:r>
            <a:pPr indent="0" marL="0">
              <a:buNone/>
            </a:pPr>
            <a:r>
              <a:rPr 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잇는 것입니다.</a:t>
            </a:r>
            <a:endParaRPr lang="ko-KR" sz="1600" dirty="0"/>
          </a:p>
        </p:txBody>
      </p:sp>
      <p:sp>
        <p:nvSpPr>
          <p:cNvPr id="113" name="Text 48"/>
          <p:cNvSpPr txBox="1"/>
          <p:nvPr/>
        </p:nvSpPr>
        <p:spPr>
          <a:xfrm>
            <a:off x="530352" y="6217920"/>
            <a:ext cx="10424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서울시 지반침하 관리 강화(2026.3.23) · 서울시 보도참고자료(2024.8.29: 공동조사 5개년 계획) · 시사저널(2026.8.20: 공동 1,090곳 중 301곳 미복구) · 서울안전누리 GPR 탐사지도</a:t>
            </a:r>
            <a:endParaRPr lang="ko-KR" sz="800" dirty="0"/>
          </a:p>
        </p:txBody>
      </p:sp>
      <p:sp>
        <p:nvSpPr>
          <p:cNvPr id="114" name="Text 49"/>
          <p:cNvSpPr txBox="1"/>
          <p:nvPr/>
        </p:nvSpPr>
        <p:spPr>
          <a:xfrm>
            <a:off x="530352" y="6364224"/>
            <a:ext cx="10424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GroundWatch 항목은 설계안이며 재확인 소요시간·정확도는 실증으로 확인 [가설]</a:t>
            </a:r>
            <a:endParaRPr lang="ko-KR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4953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pic>
        <p:nvPicPr>
          <p:cNvPr id="8" name="Picture 7" descr="p06_v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600" y="2616200"/>
            <a:ext cx="1692275" cy="1873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23023" y="1461369"/>
            <a:ext cx="84500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화물실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구성</a:t>
            </a:r>
          </a:p>
        </p:txBody>
      </p:sp>
      <p:sp>
        <p:nvSpPr>
          <p:cNvPr id="10" name="Oval 9"/>
          <p:cNvSpPr/>
          <p:nvPr/>
        </p:nvSpPr>
        <p:spPr>
          <a:xfrm>
            <a:off x="7429500" y="1828800"/>
            <a:ext cx="266700" cy="26670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12050" y="1884829"/>
            <a:ext cx="184093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2499" y="1836590"/>
            <a:ext cx="1531032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화물실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전방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4023" y="2138025"/>
            <a:ext cx="2981779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Edge Gateway ·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엣지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컴퓨터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GPR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제어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4023" y="2354433"/>
            <a:ext cx="315640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저장장치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보안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네트워크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RTK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수신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전원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분배</a:t>
            </a:r>
          </a:p>
        </p:txBody>
      </p:sp>
      <p:sp>
        <p:nvSpPr>
          <p:cNvPr id="15" name="Oval 14"/>
          <p:cNvSpPr/>
          <p:nvPr/>
        </p:nvSpPr>
        <p:spPr>
          <a:xfrm>
            <a:off x="7429500" y="2743200"/>
            <a:ext cx="266700" cy="26670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7606" y="2799229"/>
            <a:ext cx="172770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2499" y="2750990"/>
            <a:ext cx="1704078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화물실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측면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재검증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4023" y="3052425"/>
            <a:ext cx="278334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지면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밀착형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수동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GPR ·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산업용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AR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글래스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4023" y="3268833"/>
            <a:ext cx="299448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AR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충전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보관함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RTK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이동국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교체형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안테나</a:t>
            </a:r>
          </a:p>
        </p:txBody>
      </p:sp>
      <p:sp>
        <p:nvSpPr>
          <p:cNvPr id="20" name="Oval 19"/>
          <p:cNvSpPr/>
          <p:nvPr/>
        </p:nvSpPr>
        <p:spPr>
          <a:xfrm>
            <a:off x="7429500" y="3657600"/>
            <a:ext cx="266700" cy="26670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1256" y="3713629"/>
            <a:ext cx="18491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2499" y="3665390"/>
            <a:ext cx="1531032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화물실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후방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안전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4023" y="3966825"/>
            <a:ext cx="309768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관로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내시경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작업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조명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라바콘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개인보호장비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29500" y="4438650"/>
            <a:ext cx="4229100" cy="0"/>
          </a:xfrm>
          <a:prstGeom prst="line">
            <a:avLst/>
          </a:prstGeom>
          <a:ln w="9525">
            <a:solidFill>
              <a:srgbClr val="D5DAE1"/>
            </a:solidFill>
          </a:ln>
        </p:spPr>
      </p:cxnSp>
      <p:pic>
        <p:nvPicPr>
          <p:cNvPr id="25" name="사진 1" descr="p06_i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4591050"/>
            <a:ext cx="1809750" cy="10287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424035" y="5322973"/>
            <a:ext cx="2047118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[중앙·후방 위치는 간섭 시험 후 결정]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3400" y="5753100"/>
            <a:ext cx="11125200" cy="0"/>
          </a:xfrm>
          <a:prstGeom prst="line">
            <a:avLst/>
          </a:prstGeom>
          <a:ln w="19050">
            <a:solidFill>
              <a:srgbClr val="0B1E3C"/>
            </a:solidFill>
          </a:ln>
        </p:spPr>
      </p:cxnSp>
      <p:pic>
        <p:nvPicPr>
          <p:cNvPr id="29" name="사진 2" descr="p06_i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409700"/>
            <a:ext cx="6343650" cy="4229100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3151787" y="3366108"/>
            <a:ext cx="323850" cy="323850"/>
          </a:xfrm>
          <a:prstGeom prst="ellipse">
            <a:avLst/>
          </a:prstGeom>
          <a:solidFill>
            <a:srgbClr val="F5B700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259017" y="3437610"/>
            <a:ext cx="20082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32" name="Oval 31"/>
          <p:cNvSpPr/>
          <p:nvPr/>
        </p:nvSpPr>
        <p:spPr>
          <a:xfrm>
            <a:off x="4381176" y="2723042"/>
            <a:ext cx="323850" cy="323850"/>
          </a:xfrm>
          <a:prstGeom prst="ellipse">
            <a:avLst/>
          </a:prstGeom>
          <a:solidFill>
            <a:srgbClr val="F5B700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494583" y="2794545"/>
            <a:ext cx="188476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B</a:t>
            </a:r>
          </a:p>
        </p:txBody>
      </p:sp>
      <p:sp>
        <p:nvSpPr>
          <p:cNvPr id="34" name="Oval 33"/>
          <p:cNvSpPr/>
          <p:nvPr/>
        </p:nvSpPr>
        <p:spPr>
          <a:xfrm>
            <a:off x="5534911" y="2950007"/>
            <a:ext cx="323850" cy="323850"/>
          </a:xfrm>
          <a:prstGeom prst="ellipse">
            <a:avLst/>
          </a:prstGeom>
          <a:solidFill>
            <a:srgbClr val="F5B700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41695" y="3021509"/>
            <a:ext cx="201722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9600" y="256540"/>
            <a:ext cx="4978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1866900" y="266700"/>
            <a:ext cx="557882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981200" y="308907"/>
            <a:ext cx="405417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솔루션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34002" y="296821"/>
            <a:ext cx="113565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PV5 이동형 탐사실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22511" y="4631395"/>
            <a:ext cx="1657955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차체 하부 다채널 GPR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24035" y="4914541"/>
            <a:ext cx="1671970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화물실 바닥 아래 차체 하부에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4035" y="5118757"/>
            <a:ext cx="181949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다채널 GPR 모듈을 장착하는 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3400" y="5825195"/>
            <a:ext cx="1119475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적재·전력 예산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3400" y="6070696"/>
            <a:ext cx="928684" cy="166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[가설] 실증 필요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1000" y="5820687"/>
            <a:ext cx="1803722" cy="269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약 250kg / 600kg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1000" y="6083703"/>
            <a:ext cx="1866218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장비 합계 · 최대 적재의 절반 이하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5500" y="5820687"/>
            <a:ext cx="1851347" cy="269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약 1.5kW / 3.6kW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5500" y="6083703"/>
            <a:ext cx="162656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장비 소비전력 · V2L 최대 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0000" y="5820687"/>
            <a:ext cx="2137109" cy="269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약 10kWh / 71.2kWh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90000" y="6083703"/>
            <a:ext cx="1973868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하루 주행+장비 · 배터리의 약 15%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8320" y="6297454"/>
            <a:ext cx="7725849" cy="1190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75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[실증 필요] 적재중량·총중량·축하중·전자파 간섭·구조변경 승인 · 장비 배치도: 콘셉트 이미지(생성 AI), 실제 장착 설계 아님 · 출처: 기아 PV5 카고 제원(적재 600kg·V2L 3.6kW·배터리 71.2kWh), 현대차그룹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8320" y="6418104"/>
            <a:ext cx="4712043" cy="1190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75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예산 가정값: 수동 GPR 카트 27~34kg(GSSI UtilityScan Pro 유통사 제원) · 하루 3시간·시속 10km 순찰 · 장비 1.5kW 이하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8160" y="780417"/>
            <a:ext cx="8262465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PV5 한 대가 측정 장비와 재검증 장비를 함께 싣습니다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13579" y="6615113"/>
            <a:ext cx="39582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4953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8" name="Rounded Rectangle 7"/>
          <p:cNvSpPr/>
          <p:nvPr/>
        </p:nvSpPr>
        <p:spPr>
          <a:xfrm>
            <a:off x="533400" y="1428750"/>
            <a:ext cx="1905000" cy="552450"/>
          </a:xfrm>
          <a:prstGeom prst="roundRect">
            <a:avLst>
              <a:gd name="adj" fmla="val 13793"/>
            </a:avLst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52475" y="1500887"/>
            <a:ext cx="1557456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GroundWatch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732" y="1744515"/>
            <a:ext cx="1254348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4D 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지도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· AI 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분석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경로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8450" y="1428750"/>
            <a:ext cx="1905000" cy="552450"/>
          </a:xfrm>
          <a:prstGeom prst="roundRect">
            <a:avLst>
              <a:gd name="adj" fmla="val 13793"/>
            </a:avLst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344862" y="1500887"/>
            <a:ext cx="98356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Patrol </a:t>
            </a: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차량</a:t>
            </a: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5349" y="1744515"/>
            <a:ext cx="78921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업무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경로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0" y="1428750"/>
            <a:ext cx="1905000" cy="552450"/>
          </a:xfrm>
          <a:prstGeom prst="roundRect">
            <a:avLst>
              <a:gd name="adj" fmla="val 13793"/>
            </a:avLst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577680" y="1500887"/>
            <a:ext cx="112779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Edge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2600" y="1744515"/>
            <a:ext cx="1144809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센서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동기화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로컬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통신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8550" y="1428750"/>
            <a:ext cx="1905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8" name="Picture 17" descr="p07_v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0" y="1397000"/>
            <a:ext cx="1968500" cy="615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82755" y="1500887"/>
            <a:ext cx="72798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AR </a:t>
            </a: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글래스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1625" y="1744515"/>
            <a:ext cx="103686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위치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정합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탐사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안내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3600" y="1428750"/>
            <a:ext cx="1905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2" name="Picture 21" descr="p07_v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850" y="1397000"/>
            <a:ext cx="1968500" cy="6159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05269" y="1500887"/>
            <a:ext cx="692592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수동</a:t>
            </a: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GPR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34600" y="1744515"/>
            <a:ext cx="122101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다른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방향으로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교차검증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06650" y="2070651"/>
            <a:ext cx="54156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보안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통신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6780" y="2070651"/>
            <a:ext cx="51043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로컬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8650" y="2070651"/>
            <a:ext cx="616620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보안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Wi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Fi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1800" y="2070651"/>
            <a:ext cx="54156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작업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안내</a:t>
            </a:r>
          </a:p>
        </p:txBody>
      </p:sp>
      <p:pic>
        <p:nvPicPr>
          <p:cNvPr id="29" name="Picture 28" descr="p07_v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4275" y="1628775"/>
            <a:ext cx="7283450" cy="1524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33400" y="2381250"/>
            <a:ext cx="5295900" cy="3143250"/>
          </a:xfrm>
          <a:prstGeom prst="rect">
            <a:avLst/>
          </a:prstGeom>
          <a:solidFill>
            <a:srgbClr val="2B3A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628650" y="2476500"/>
            <a:ext cx="1219200" cy="209550"/>
          </a:xfrm>
          <a:prstGeom prst="roundRect">
            <a:avLst>
              <a:gd name="adj" fmla="val 13636"/>
            </a:avLst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8831" y="2518601"/>
            <a:ext cx="92777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]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운행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542" y="5621995"/>
            <a:ext cx="2520945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운전석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 GroundWatch Patrol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앱</a:t>
            </a:r>
          </a:p>
        </p:txBody>
      </p:sp>
      <p:pic>
        <p:nvPicPr>
          <p:cNvPr id="34" name="사진 1" descr="p07_i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381250"/>
            <a:ext cx="5562600" cy="3149600"/>
          </a:xfrm>
          <a:prstGeom prst="rect">
            <a:avLst/>
          </a:prstGeom>
        </p:spPr>
      </p:pic>
      <p:pic>
        <p:nvPicPr>
          <p:cNvPr id="35" name="Picture 34" descr="p07_v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9738" y="4135438"/>
            <a:ext cx="1968498" cy="739774"/>
          </a:xfrm>
          <a:prstGeom prst="rect">
            <a:avLst/>
          </a:prstGeom>
        </p:spPr>
      </p:pic>
      <p:cxnSp>
        <p:nvCxnSpPr>
          <p:cNvPr id="36" name="Connector 35"/>
          <p:cNvCxnSpPr/>
          <p:nvPr/>
        </p:nvCxnSpPr>
        <p:spPr>
          <a:xfrm>
            <a:off x="8515350" y="4343400"/>
            <a:ext cx="1057275" cy="0"/>
          </a:xfrm>
          <a:prstGeom prst="line">
            <a:avLst/>
          </a:prstGeom>
          <a:ln w="14288">
            <a:solidFill>
              <a:srgbClr val="F5B700"/>
            </a:solidFill>
            <a:prstDash val="dash"/>
          </a:ln>
        </p:spPr>
      </p:cxnSp>
      <p:cxnSp>
        <p:nvCxnSpPr>
          <p:cNvPr id="37" name="Connector 36"/>
          <p:cNvCxnSpPr/>
          <p:nvPr/>
        </p:nvCxnSpPr>
        <p:spPr>
          <a:xfrm>
            <a:off x="8372475" y="4514850"/>
            <a:ext cx="1343025" cy="0"/>
          </a:xfrm>
          <a:prstGeom prst="line">
            <a:avLst/>
          </a:prstGeom>
          <a:ln w="14288">
            <a:solidFill>
              <a:srgbClr val="F5B700"/>
            </a:solidFill>
            <a:prstDash val="dash"/>
          </a:ln>
        </p:spPr>
      </p:cxnSp>
      <p:cxnSp>
        <p:nvCxnSpPr>
          <p:cNvPr id="38" name="Connector 37"/>
          <p:cNvCxnSpPr/>
          <p:nvPr/>
        </p:nvCxnSpPr>
        <p:spPr>
          <a:xfrm>
            <a:off x="8229600" y="4686300"/>
            <a:ext cx="1628775" cy="0"/>
          </a:xfrm>
          <a:prstGeom prst="line">
            <a:avLst/>
          </a:prstGeom>
          <a:ln w="14288">
            <a:solidFill>
              <a:srgbClr val="F5B700"/>
            </a:solidFill>
            <a:prstDash val="dash"/>
          </a:ln>
        </p:spPr>
      </p:cxnSp>
      <p:pic>
        <p:nvPicPr>
          <p:cNvPr id="39" name="Picture 38" descr="p07_v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7338" y="4897438"/>
            <a:ext cx="1939923" cy="701674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9906000" y="5086350"/>
            <a:ext cx="1066800" cy="209550"/>
          </a:xfrm>
          <a:prstGeom prst="roundRect">
            <a:avLst>
              <a:gd name="adj" fmla="val 13635"/>
            </a:avLst>
          </a:prstGeom>
          <a:solidFill>
            <a:srgbClr val="0B1E3C">
              <a:alpha val="851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109994" y="5130737"/>
            <a:ext cx="72775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기준점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 ·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맨홀</a:t>
            </a:r>
          </a:p>
        </p:txBody>
      </p:sp>
      <p:pic>
        <p:nvPicPr>
          <p:cNvPr id="42" name="Picture 41" descr="p07_v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1063" y="4668838"/>
            <a:ext cx="206373" cy="206374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286500" y="4362450"/>
            <a:ext cx="1181100" cy="209550"/>
          </a:xfrm>
          <a:prstGeom prst="roundRect">
            <a:avLst>
              <a:gd name="adj" fmla="val 13635"/>
            </a:avLst>
          </a:prstGeom>
          <a:solidFill>
            <a:srgbClr val="0B1E3C">
              <a:alpha val="851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490494" y="4405313"/>
            <a:ext cx="84205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기준점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 ·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경계석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6000" y="2381250"/>
            <a:ext cx="5562600" cy="228600"/>
          </a:xfrm>
          <a:prstGeom prst="rect">
            <a:avLst/>
          </a:prstGeom>
          <a:solidFill>
            <a:srgbClr val="C62828">
              <a:alpha val="9216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83436" y="2433258"/>
            <a:ext cx="345681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기반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추정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위치입니다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굴착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정밀조사와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관계기관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승인이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필요합니다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48400" y="2724150"/>
            <a:ext cx="2381250" cy="666750"/>
          </a:xfrm>
          <a:prstGeom prst="roundRect">
            <a:avLst>
              <a:gd name="adj" fmla="val 8571"/>
            </a:avLst>
          </a:prstGeom>
          <a:solidFill>
            <a:srgbClr val="0B1E3C">
              <a:alpha val="851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395085" y="2820565"/>
            <a:ext cx="192540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재확인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0427 · 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재탐사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 / 4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95847" y="3030772"/>
            <a:ext cx="1954124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추정</a:t>
            </a:r>
            <a:r>
              <a:rPr sz="10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깊이</a:t>
            </a:r>
            <a:r>
              <a:rPr sz="10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0.9~1.3m · AI </a:t>
            </a:r>
            <a:r>
              <a:rPr sz="10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신뢰도</a:t>
            </a:r>
            <a:r>
              <a:rPr sz="10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84%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6038" y="3216487"/>
            <a:ext cx="1340979" cy="127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화면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예시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] 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위치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오차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충족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9142" y="5621995"/>
            <a:ext cx="3201735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차량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밖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산업용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AR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글래스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정차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후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작업자만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9904" y="5880863"/>
            <a:ext cx="419349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맨홀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차선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경계석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·RTK 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중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2~3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개로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위치를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맞추고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재탐사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범위만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표시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8638" y="6215825"/>
            <a:ext cx="728253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차량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화면의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단순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미러링이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아닌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보안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Wi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Fi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작업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연동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AR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공동의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모양이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아니라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수동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GPR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확인할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범위를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안내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운전자는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주행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중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AR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쓰지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않음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8638" y="6392610"/>
            <a:ext cx="807725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앱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배포와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차량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접근은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기아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PBV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파트너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승인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공식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API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범위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확인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필요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도로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장면은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연출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이미지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화면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수치는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예시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· 실내 사진: Alexander Migl, CC BY-SA 4.0(화면 합성)</a:t>
            </a:r>
          </a:p>
        </p:txBody>
      </p:sp>
      <p:pic>
        <p:nvPicPr>
          <p:cNvPr id="56" name="사진 2" descr="p07_i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381616"/>
            <a:ext cx="5295900" cy="3142518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628650" y="2476500"/>
            <a:ext cx="1219200" cy="20955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08990" y="2520125"/>
            <a:ext cx="92768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[화면 예시] 운행 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79600" y="256540"/>
            <a:ext cx="4978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1866900" y="266700"/>
            <a:ext cx="557882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981200" y="308907"/>
            <a:ext cx="405417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솔루션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34002" y="296821"/>
            <a:ext cx="148490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차량 앱과 AR 현장 재확인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7304" y="5880863"/>
            <a:ext cx="3672727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순찰경로·재확인 지점·장비 상태, 도착 전 안전 정차 위치 안내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8160" y="780417"/>
            <a:ext cx="8654894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차량에서 만든 재확인 업무가 작업자 시야까지 이어집니다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07328" y="6615113"/>
            <a:ext cx="40207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2780" y="308399"/>
            <a:ext cx="119362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66900" y="266700"/>
            <a:ext cx="557882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981200" y="308399"/>
            <a:ext cx="405417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솔루션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1312" y="296313"/>
            <a:ext cx="101495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왜 지금 PV5인가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18160" y="780417"/>
            <a:ext cx="8613366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다음 탐사 차량을 늘린다면, 조건에 맞는 차는 PV5입니다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6547" y="6614606"/>
            <a:ext cx="40285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09 / 16</a:t>
            </a:r>
          </a:p>
        </p:txBody>
      </p:sp>
      <p:sp>
        <p:nvSpPr>
          <p:cNvPr id="11" name="Shape 8"/>
          <p:cNvSpPr/>
          <p:nvPr/>
        </p:nvSpPr>
        <p:spPr>
          <a:xfrm>
            <a:off x="530352" y="1417320"/>
            <a:ext cx="11128248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49808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4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조건</a:t>
            </a:r>
            <a:endParaRPr lang="ko-KR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1764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전기 밴이면 충족</a:t>
            </a:r>
            <a:endParaRPr lang="ko-KR" sz="1100" dirty="0"/>
          </a:p>
        </p:txBody>
      </p:sp>
      <p:sp>
        <p:nvSpPr>
          <p:cNvPr id="14" name="Shape 11"/>
          <p:cNvSpPr/>
          <p:nvPr/>
        </p:nvSpPr>
        <p:spPr>
          <a:xfrm>
            <a:off x="2331720" y="1600200"/>
            <a:ext cx="274320" cy="274320"/>
          </a:xfrm>
          <a:prstGeom prst="ellipse">
            <a:avLst/>
          </a:prstGeom>
          <a:solidFill>
            <a:srgbClr val="0B1E3C"/>
          </a:solidFill>
          <a:ln w="12700">
            <a:solidFill>
              <a:srgbClr val="0B1E3C"/>
            </a:solidFill>
            <a:prstDash val="solid"/>
          </a:ln>
        </p:spPr>
        <p:txBody>
          <a:bodyPr/>
          <a:p/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6584" y="1655064"/>
            <a:ext cx="164592" cy="16459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715768" y="14904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공회전 0</a:t>
            </a:r>
            <a:endParaRPr lang="ko-KR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715768" y="17647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1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정차 중에도 배출 없이 장비 운용</a:t>
            </a:r>
            <a:endParaRPr lang="ko-KR" sz="1150" dirty="0"/>
          </a:p>
        </p:txBody>
      </p:sp>
      <p:sp>
        <p:nvSpPr>
          <p:cNvPr id="18" name="Shape 14"/>
          <p:cNvSpPr/>
          <p:nvPr/>
        </p:nvSpPr>
        <p:spPr>
          <a:xfrm>
            <a:off x="5458968" y="1600200"/>
            <a:ext cx="274320" cy="274320"/>
          </a:xfrm>
          <a:prstGeom prst="ellipse">
            <a:avLst/>
          </a:prstGeom>
          <a:solidFill>
            <a:srgbClr val="0B1E3C"/>
          </a:solidFill>
          <a:ln w="12700">
            <a:solidFill>
              <a:srgbClr val="0B1E3C"/>
            </a:solidFill>
            <a:prstDash val="solid"/>
          </a:ln>
        </p:spPr>
        <p:txBody>
          <a:bodyPr/>
          <a:p/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32" y="1655064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843016" y="14904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 무공해차 의무구매</a:t>
            </a:r>
            <a:endParaRPr lang="ko-KR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843016" y="17647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1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공공 신차 94.6%가 전기·수소</a:t>
            </a:r>
            <a:endParaRPr lang="ko-KR" sz="1150" dirty="0"/>
          </a:p>
        </p:txBody>
      </p:sp>
      <p:sp>
        <p:nvSpPr>
          <p:cNvPr id="22" name="Shape 17"/>
          <p:cNvSpPr/>
          <p:nvPr/>
        </p:nvSpPr>
        <p:spPr>
          <a:xfrm>
            <a:off x="8586216" y="1600200"/>
            <a:ext cx="274320" cy="274320"/>
          </a:xfrm>
          <a:prstGeom prst="ellipse">
            <a:avLst/>
          </a:prstGeom>
          <a:solidFill>
            <a:srgbClr val="0B1E3C"/>
          </a:solidFill>
          <a:ln w="12700">
            <a:solidFill>
              <a:srgbClr val="0B1E3C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655064"/>
            <a:ext cx="164592" cy="16459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970264" y="14904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새벽 저소음 · V2L 3.6kW</a:t>
            </a:r>
            <a:endParaRPr lang="ko-KR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970264" y="17647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1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시동을 끈 채 장비 구동</a:t>
            </a:r>
            <a:endParaRPr lang="ko-KR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530352" y="2212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PV5만의 특징</a:t>
            </a:r>
            <a:endParaRPr lang="ko-KR" sz="1500" dirty="0"/>
          </a:p>
        </p:txBody>
      </p:sp>
      <p:sp>
        <p:nvSpPr>
          <p:cNvPr id="27" name="Shape 21"/>
          <p:cNvSpPr/>
          <p:nvPr/>
        </p:nvSpPr>
        <p:spPr>
          <a:xfrm>
            <a:off x="530352" y="2606040"/>
            <a:ext cx="3526841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/tmp/claude-0/-home-claude/a4e80ea0-615e-5d37-bfbe-a051a1f47f79/scratchpad/mock/c9_app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2606040"/>
            <a:ext cx="3526841" cy="15087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31520" y="42611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100" b="1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731520" y="4462272"/>
            <a:ext cx="31610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20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마켓</a:t>
            </a:r>
            <a:endParaRPr lang="ko-KR" sz="2000" dirty="0"/>
          </a:p>
        </p:txBody>
      </p:sp>
      <p:sp>
        <p:nvSpPr>
          <p:cNvPr id="31" name="Text 24"/>
          <p:cNvSpPr txBox="1"/>
          <p:nvPr/>
        </p:nvSpPr>
        <p:spPr>
          <a:xfrm>
            <a:off x="731520" y="4846320"/>
            <a:ext cx="31610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화면에 Patrol 앱 설치</a:t>
            </a:r>
            <a:endParaRPr lang="ko-KR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731520" y="5120640"/>
            <a:ext cx="31610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1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AAOS 12.9인치 · 현대차그룹 최초 적용</a:t>
            </a:r>
            <a:endParaRPr lang="ko-KR" sz="1150" dirty="0"/>
          </a:p>
        </p:txBody>
      </p:sp>
      <p:sp>
        <p:nvSpPr>
          <p:cNvPr id="33" name="Shape 26"/>
          <p:cNvSpPr/>
          <p:nvPr/>
        </p:nvSpPr>
        <p:spPr>
          <a:xfrm>
            <a:off x="4331513" y="2606040"/>
            <a:ext cx="3526841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  <p:txBody>
          <a:bodyPr/>
          <a:p/>
        </p:txBody>
      </p:sp>
      <p:pic>
        <p:nvPicPr>
          <p:cNvPr id="34" name="Image 4" descr="/tmp/claude-0/-home-claude/a4e80ea0-615e-5d37-bfbe-a051a1f47f79/scratchpad/mock/c9_floor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1513" y="2606040"/>
            <a:ext cx="3526841" cy="150876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532681" y="42611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100" b="1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4532681" y="4462272"/>
            <a:ext cx="31610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20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낮고 평탄한 바닥</a:t>
            </a:r>
            <a:endParaRPr lang="ko-KR" sz="2000" dirty="0"/>
          </a:p>
        </p:txBody>
      </p:sp>
      <p:sp>
        <p:nvSpPr>
          <p:cNvPr id="37" name="Text 29"/>
          <p:cNvSpPr txBox="1"/>
          <p:nvPr/>
        </p:nvSpPr>
        <p:spPr>
          <a:xfrm>
            <a:off x="4532681" y="4846320"/>
            <a:ext cx="31610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정차 즉시 수동 GPR 카트 하차</a:t>
            </a:r>
            <a:endParaRPr lang="ko-KR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4532681" y="5120640"/>
            <a:ext cx="31610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1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적재고 419mm · PBV 전용 플랫폼</a:t>
            </a:r>
            <a:endParaRPr lang="ko-KR" sz="1150" dirty="0"/>
          </a:p>
        </p:txBody>
      </p:sp>
      <p:sp>
        <p:nvSpPr>
          <p:cNvPr id="39" name="Shape 31"/>
          <p:cNvSpPr/>
          <p:nvPr/>
        </p:nvSpPr>
        <p:spPr>
          <a:xfrm>
            <a:off x="8132674" y="2606040"/>
            <a:ext cx="3526841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  <p:txBody>
          <a:bodyPr/>
          <a:p/>
        </p:txBody>
      </p:sp>
      <p:pic>
        <p:nvPicPr>
          <p:cNvPr id="40" name="Image 5" descr="/tmp/claude-0/-home-claude/a4e80ea0-615e-5d37-bfbe-a051a1f47f79/scratchpad/mock/c9_kit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2674" y="2606040"/>
            <a:ext cx="3526841" cy="150876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333842" y="42611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100" b="1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100" dirty="0"/>
          </a:p>
        </p:txBody>
      </p:sp>
      <p:sp>
        <p:nvSpPr>
          <p:cNvPr id="42" name="Text 33"/>
          <p:cNvSpPr txBox="1"/>
          <p:nvPr/>
        </p:nvSpPr>
        <p:spPr>
          <a:xfrm>
            <a:off x="8333842" y="4462272"/>
            <a:ext cx="31610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20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플렉시블 바디</a:t>
            </a:r>
            <a:endParaRPr lang="ko-KR" sz="2000" dirty="0"/>
          </a:p>
        </p:txBody>
      </p:sp>
      <p:sp>
        <p:nvSpPr>
          <p:cNvPr id="43" name="Text 34"/>
          <p:cNvSpPr txBox="1"/>
          <p:nvPr/>
        </p:nvSpPr>
        <p:spPr>
          <a:xfrm>
            <a:off x="8333842" y="4846320"/>
            <a:ext cx="31610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GPR 탐사형을 표준 키트로 복제</a:t>
            </a:r>
            <a:endParaRPr lang="ko-KR" sz="1400" dirty="0"/>
          </a:p>
        </p:txBody>
      </p:sp>
      <p:sp>
        <p:nvSpPr>
          <p:cNvPr id="44" name="Text 35"/>
          <p:cNvSpPr txBox="1"/>
          <p:nvPr/>
        </p:nvSpPr>
        <p:spPr>
          <a:xfrm>
            <a:off x="8333842" y="5120640"/>
            <a:ext cx="31610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1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모듈 조립형 차체 · 바디 최대 16종</a:t>
            </a:r>
            <a:endParaRPr lang="ko-KR" sz="1150" dirty="0"/>
          </a:p>
        </p:txBody>
      </p:sp>
      <p:sp>
        <p:nvSpPr>
          <p:cNvPr id="45" name="Shape 36"/>
          <p:cNvSpPr/>
          <p:nvPr/>
        </p:nvSpPr>
        <p:spPr>
          <a:xfrm>
            <a:off x="530352" y="5577840"/>
            <a:ext cx="11128248" cy="512064"/>
          </a:xfrm>
          <a:prstGeom prst="rect">
            <a:avLst/>
          </a:prstGeom>
          <a:solidFill>
            <a:srgbClr val="0B1E3C"/>
          </a:solidFill>
          <a:ln w="12700">
            <a:solidFill>
              <a:srgbClr val="0B1E3C"/>
            </a:solidFill>
            <a:prstDash val="solid"/>
          </a:ln>
        </p:spPr>
        <p:txBody>
          <a:bodyPr/>
          <a:p/>
        </p:txBody>
      </p:sp>
      <p:sp>
        <p:nvSpPr>
          <p:cNvPr id="46" name="Text 37"/>
          <p:cNvSpPr txBox="1"/>
          <p:nvPr/>
        </p:nvSpPr>
        <p:spPr>
          <a:xfrm>
            <a:off x="749808" y="557784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PV5는 </a:t>
            </a:r>
            <a:pPr indent="0" marL="0">
              <a:buNone/>
            </a:pPr>
            <a:r>
              <a:rPr lang="ko-KR" sz="1600" b="1" dirty="0">
                <a:solidFill>
                  <a:srgbClr val="F5B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조용히 다니고, 지금 공공이 살 수 있고, 반복 탐사만큼 늘릴 수 있는</a:t>
            </a:r>
            <a:pPr indent="0" marL="0">
              <a:buNone/>
            </a:pPr>
            <a:r>
              <a:rPr 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탐사 차량입니다.</a:t>
            </a:r>
            <a:endParaRPr lang="ko-KR" sz="1600" dirty="0"/>
          </a:p>
        </p:txBody>
      </p:sp>
      <p:sp>
        <p:nvSpPr>
          <p:cNvPr id="47" name="Text 38"/>
          <p:cNvSpPr txBox="1"/>
          <p:nvPr/>
        </p:nvSpPr>
        <p:spPr>
          <a:xfrm>
            <a:off x="530352" y="6217920"/>
            <a:ext cx="10424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서울특별시 자동차 공회전 제한 조례 · 공공부문 무공해차 구매 실적(2026.6.30) · 기아 PV5 카고 카탈로그(2026.9) · 기아 「더 기아 PV5 계약 개시」 · 현대차그룹 PV5 테크 데이(2025.7.23)</a:t>
            </a:r>
            <a:endParaRPr lang="ko-KR" sz="800" dirty="0"/>
          </a:p>
        </p:txBody>
      </p:sp>
      <p:sp>
        <p:nvSpPr>
          <p:cNvPr id="48" name="Text 39"/>
          <p:cNvSpPr txBox="1"/>
          <p:nvPr/>
        </p:nvSpPr>
        <p:spPr>
          <a:xfrm>
            <a:off x="530352" y="6364224"/>
            <a:ext cx="10424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위치·속도 연동은 기아 PBV 파트너 제휴 시 · 사진: 01 실내 사진 Alexander Migl, CC BY-SA 4.0(화면 합성) · 02·03 콘셉트 이미지(생성 AI)</a:t>
            </a:r>
            <a:endParaRPr lang="ko-KR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866900" y="266700"/>
            <a:ext cx="448121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780" y="308907"/>
            <a:ext cx="119362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08907"/>
            <a:ext cx="295689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4242" y="296821"/>
            <a:ext cx="87791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기술 검증 현황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18160" y="780417"/>
            <a:ext cx="9181055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상용 기술을 결합하고, 차량 통합 성능은 실증으로 확인합니다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" y="1372575"/>
            <a:ext cx="7163193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기반 기술은 이미 있습니다. 한 차량 안에서 반복 가능한 정확도로 묶이는지, 네 가지를 먼저 실증합니다.</a:t>
            </a:r>
          </a:p>
        </p:txBody>
      </p:sp>
      <p:pic>
        <p:nvPicPr>
          <p:cNvPr id="12" name="사진 1" descr="p10_i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52" y="1673860"/>
            <a:ext cx="2607945" cy="173863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9600" y="1750060"/>
            <a:ext cx="1045394" cy="1905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3100" y="1771439"/>
            <a:ext cx="994008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 구동계 × GPR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524653"/>
            <a:ext cx="51503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실증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3727071"/>
            <a:ext cx="1177349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전자파 간섭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6750" y="4092301"/>
            <a:ext cx="1564695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EV 구동계·인버터 잡음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443738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6750" y="4357731"/>
            <a:ext cx="184024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주행·정차·V2L 상태별 비교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470281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6750" y="4623161"/>
            <a:ext cx="1506745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크면 차량형 측정 불가</a:t>
            </a:r>
          </a:p>
        </p:txBody>
      </p:sp>
      <p:pic>
        <p:nvPicPr>
          <p:cNvPr id="23" name="사진 2" descr="p10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802" y="1673860"/>
            <a:ext cx="2607945" cy="173863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3448050" y="1750060"/>
            <a:ext cx="844104" cy="1905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511550" y="1771439"/>
            <a:ext cx="79302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경로 반복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71850" y="3524653"/>
            <a:ext cx="53482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실증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71850" y="3727071"/>
            <a:ext cx="1624948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회차별 위치 정합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7185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505200" y="4092301"/>
            <a:ext cx="1690666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같은 경로 반복 주행 오차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71850" y="443738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505200" y="4357731"/>
            <a:ext cx="1722530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RTK·IMU·휠 인코더 보정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71850" y="470281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505200" y="4623161"/>
            <a:ext cx="164939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어긋나면 변화 비교 불가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0300" y="1673860"/>
            <a:ext cx="2609850" cy="17386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5" name="사진 3" descr="p10_i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673860"/>
            <a:ext cx="2609850" cy="173863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6286500" y="1750060"/>
            <a:ext cx="1108025" cy="1905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50000" y="1771439"/>
            <a:ext cx="105667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AI가 고른 변화 후보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0300" y="3524653"/>
            <a:ext cx="53877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실증 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0300" y="3727071"/>
            <a:ext cx="1466299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AI 탐지·오탐률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030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343650" y="4092301"/>
            <a:ext cx="164939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공동 모사체 구간 탐지율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0300" y="443738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343650" y="4357731"/>
            <a:ext cx="136459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기존·신규 신호 구분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0300" y="470281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343650" y="4623161"/>
            <a:ext cx="164939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오탐 많으면 재확인 증가</a:t>
            </a:r>
          </a:p>
        </p:txBody>
      </p:sp>
      <p:pic>
        <p:nvPicPr>
          <p:cNvPr id="46" name="사진 4" descr="p10_i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9702" y="1673860"/>
            <a:ext cx="2607945" cy="173863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9124950" y="1750060"/>
            <a:ext cx="705073" cy="1905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188450" y="1771439"/>
            <a:ext cx="65408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야간 기준점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48750" y="3524653"/>
            <a:ext cx="541370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실증 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48750" y="3727071"/>
            <a:ext cx="1788169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야간 AR 위치 오차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4875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182100" y="4092301"/>
            <a:ext cx="1649886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맨홀·경계석 기준점 인식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48750" y="443738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182100" y="4357731"/>
            <a:ext cx="169116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야간·우천 조건 위치 오차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48750" y="470281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182100" y="4623161"/>
            <a:ext cx="1690666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크면 수동 탐색 범위 확대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33400" y="5003800"/>
            <a:ext cx="11125200" cy="0"/>
          </a:xfrm>
          <a:prstGeom prst="line">
            <a:avLst/>
          </a:prstGeom>
          <a:ln w="9525">
            <a:solidFill>
              <a:srgbClr val="E2E6EC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533400" y="5092796"/>
            <a:ext cx="7267935" cy="166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50" b="1">
                <a:solidFill>
                  <a:srgbClr val="8A5A00"/>
                </a:solidFill>
                <a:latin typeface="Pretendard"/>
                <a:ea typeface="Pretendard"/>
                <a:cs typeface="Pretendard"/>
              </a:rPr>
              <a:t>함께 확인  </a:t>
            </a:r>
            <a:r>
              <a:rPr sz="10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장비 고정 상태 반복 측정 일관성 · 적재중량·축하중·제동 안정성 · V2L 포함 실제 소비전력 · 차량 앱 배포 절차·접근 가능한 데이터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5308696"/>
            <a:ext cx="7348477" cy="166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5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이미 상용  </a:t>
            </a:r>
            <a:r>
              <a:rPr sz="105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차량형·수동 GPR · RTK-GNSS·IMU·휠 인코더 · 노면 카메라 · 엣지 컴퓨터 · GIS 이력 관리 · AAOS 앱 생태계 · 산업용 AR 글래스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3400" y="5600700"/>
            <a:ext cx="11125200" cy="4953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54380" y="5722283"/>
            <a:ext cx="6629507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핵심은 기술의 존재가 아니라,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한 차량에서 반복 가능한 정확도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 연결되는가입니다.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8320" y="6221254"/>
            <a:ext cx="4624494" cy="1190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75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이미지: 콘셉트 이미지(생성 AI)·설명용 예시 · B-scan 비교는 설명용 예시 · 지도 데이터 © OpenStreetMap contributors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26527" y="6615113"/>
            <a:ext cx="38287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4953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26161" y="1373083"/>
            <a:ext cx="5857299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장비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안정성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길의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일관성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도로에서의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효용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순서로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검증합니다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685" y="3582565"/>
            <a:ext cx="135549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폐쇄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시험장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장비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단위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3810000"/>
            <a:ext cx="2667000" cy="17526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8566" y="3963565"/>
            <a:ext cx="382350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sz="1100" b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518" y="4174513"/>
            <a:ext cx="1316251" cy="269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장비</a:t>
            </a: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통합</a:t>
            </a: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시험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" y="4561079"/>
            <a:ext cx="176938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장착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구조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진동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전력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사용량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" y="4789679"/>
            <a:ext cx="176938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전자파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간섭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통신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지연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7085" y="3058309"/>
            <a:ext cx="100465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통제된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시험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구간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2800" y="3286125"/>
            <a:ext cx="2667000" cy="2276475"/>
          </a:xfrm>
          <a:prstGeom prst="rect">
            <a:avLst/>
          </a:prstGeom>
          <a:solidFill>
            <a:srgbClr val="C9D3E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537966" y="3439309"/>
            <a:ext cx="40140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sz="1100" b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4918" y="3653304"/>
            <a:ext cx="1497225" cy="269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통제된</a:t>
            </a: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주행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7204" y="4036823"/>
            <a:ext cx="169318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공동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모사체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구간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측정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7204" y="4265423"/>
            <a:ext cx="1561418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위치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정합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오차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회차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편차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7204" y="4494023"/>
            <a:ext cx="156459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의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기존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신규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신호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6485" y="2534053"/>
            <a:ext cx="112689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도로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위험구간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762250"/>
            <a:ext cx="2667000" cy="2800350"/>
          </a:xfrm>
          <a:prstGeom prst="rect">
            <a:avLst/>
          </a:prstGeom>
          <a:solidFill>
            <a:srgbClr val="2E4A7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57366" y="2915053"/>
            <a:ext cx="406163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C9D3E2"/>
                </a:solidFill>
                <a:latin typeface="Pretendard"/>
                <a:ea typeface="Pretendard"/>
                <a:cs typeface="Pretendard"/>
              </a:rPr>
              <a:t>3</a:t>
            </a:r>
            <a:r>
              <a:rPr sz="1100" b="1">
                <a:solidFill>
                  <a:srgbClr val="C9D3E2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4318" y="3129049"/>
            <a:ext cx="1497218" cy="269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도로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6604" y="3512567"/>
            <a:ext cx="178684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지자체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조사기업과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구간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선정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6604" y="3741167"/>
            <a:ext cx="169318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기존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전문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장비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결과와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비교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6604" y="3969767"/>
            <a:ext cx="165508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전문가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판독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천공으로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5885" y="2009797"/>
            <a:ext cx="88241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운영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환경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91600" y="2238375"/>
            <a:ext cx="2667000" cy="3324225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76766" y="2390797"/>
            <a:ext cx="40775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3718" y="2604793"/>
            <a:ext cx="1087650" cy="269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운영성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6004" y="2988311"/>
            <a:ext cx="1221698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새벽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순찰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소요시간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6004" y="3216911"/>
            <a:ext cx="187098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재확인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생성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현장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도착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6004" y="3445511"/>
            <a:ext cx="131853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AR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위치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보정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성공률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6004" y="3674111"/>
            <a:ext cx="165508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재방문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수작업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입력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감소량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400" y="5753100"/>
            <a:ext cx="11125200" cy="457200"/>
          </a:xfrm>
          <a:prstGeom prst="rect">
            <a:avLst/>
          </a:prstGeom>
          <a:solidFill>
            <a:srgbClr val="FFF6D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33400" y="5753100"/>
            <a:ext cx="47625" cy="4572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55142" y="5868883"/>
            <a:ext cx="7365654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정량 목표치는 파일럿 설계 때 발주기관과 확정합니다.</a:t>
            </a:r>
            <a:r>
              <a:rPr sz="14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지금은 근거 없는 정확도 수치를 제시하지 않습니다.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79600" y="256540"/>
            <a:ext cx="4978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1866900" y="266700"/>
            <a:ext cx="448121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981200" y="308907"/>
            <a:ext cx="295689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4242" y="296821"/>
            <a:ext cx="99861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단계별 실증 계획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8160" y="780417"/>
            <a:ext cx="8742524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폐쇄 구간에서 시작해 실제 도로까지 검증 범위를 넓힙니다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44498" y="6615112"/>
            <a:ext cx="36490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3810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pic>
        <p:nvPicPr>
          <p:cNvPr id="8" name="사진 1" descr="p12_i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20" y="1428750"/>
            <a:ext cx="6485496" cy="364807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7700" y="1543050"/>
            <a:ext cx="2400300" cy="228600"/>
          </a:xfrm>
          <a:prstGeom prst="roundRect">
            <a:avLst>
              <a:gd name="adj" fmla="val 12500"/>
            </a:avLst>
          </a:prstGeom>
          <a:solidFill>
            <a:srgbClr val="0B1E3C">
              <a:alpha val="851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7047" y="1582972"/>
            <a:ext cx="190867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위험도별 순찰 경로 예시 · 설명용 지도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5257800"/>
            <a:ext cx="209550" cy="57150"/>
          </a:xfrm>
          <a:prstGeom prst="rect">
            <a:avLst/>
          </a:prstGeom>
          <a:solidFill>
            <a:srgbClr val="E031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4766" y="5191909"/>
            <a:ext cx="122531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집중관리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매일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~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주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81250" y="5257800"/>
            <a:ext cx="209550" cy="5715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642616" y="5191909"/>
            <a:ext cx="143963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노후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하수관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공사장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주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33900" y="5257800"/>
            <a:ext cx="209550" cy="57150"/>
          </a:xfrm>
          <a:prstGeom prst="rect">
            <a:avLst/>
          </a:prstGeom>
          <a:solidFill>
            <a:srgbClr val="4E8F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95266" y="5191909"/>
            <a:ext cx="79351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역세권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월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5505450"/>
            <a:ext cx="209550" cy="57150"/>
          </a:xfrm>
          <a:prstGeom prst="rect">
            <a:avLst/>
          </a:prstGeom>
          <a:solidFill>
            <a:srgbClr val="3BA55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94766" y="5438797"/>
            <a:ext cx="116657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일반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관리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분기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~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반기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81250" y="5505450"/>
            <a:ext cx="209550" cy="571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642616" y="5438797"/>
            <a:ext cx="1347550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집중호우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이후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긴급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조사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8566" y="5438797"/>
            <a:ext cx="1668133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주기는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발주기관과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합의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예시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43800" y="1733550"/>
            <a:ext cx="0" cy="3352800"/>
          </a:xfrm>
          <a:prstGeom prst="line">
            <a:avLst/>
          </a:prstGeom>
          <a:ln w="19050">
            <a:solidFill>
              <a:srgbClr val="C9D3E2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7400925" y="1533525"/>
            <a:ext cx="285750" cy="285750"/>
          </a:xfrm>
          <a:prstGeom prst="ellipse">
            <a:avLst/>
          </a:prstGeom>
          <a:solidFill>
            <a:srgbClr val="E8EC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462" y="1592221"/>
            <a:ext cx="14930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7400925" y="2371725"/>
            <a:ext cx="285750" cy="285750"/>
          </a:xfrm>
          <a:prstGeom prst="ellipse">
            <a:avLst/>
          </a:prstGeom>
          <a:solidFill>
            <a:srgbClr val="C9D3E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00144" y="2430421"/>
            <a:ext cx="169086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7" name="Oval 26"/>
          <p:cNvSpPr/>
          <p:nvPr/>
        </p:nvSpPr>
        <p:spPr>
          <a:xfrm>
            <a:off x="7400925" y="3209925"/>
            <a:ext cx="285750" cy="285750"/>
          </a:xfrm>
          <a:prstGeom prst="ellipse">
            <a:avLst/>
          </a:prstGeom>
          <a:solidFill>
            <a:srgbClr val="2E4A7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556" y="3268621"/>
            <a:ext cx="17304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9" name="Oval 28"/>
          <p:cNvSpPr/>
          <p:nvPr/>
        </p:nvSpPr>
        <p:spPr>
          <a:xfrm>
            <a:off x="7400925" y="4048125"/>
            <a:ext cx="285750" cy="285750"/>
          </a:xfrm>
          <a:prstGeom prst="ellipse">
            <a:avLst/>
          </a:prstGeom>
          <a:solidFill>
            <a:srgbClr val="1C2F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96967" y="4106821"/>
            <a:ext cx="17563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1" name="Oval 30"/>
          <p:cNvSpPr/>
          <p:nvPr/>
        </p:nvSpPr>
        <p:spPr>
          <a:xfrm>
            <a:off x="7400925" y="4886325"/>
            <a:ext cx="285750" cy="285750"/>
          </a:xfrm>
          <a:prstGeom prst="ellipse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99348" y="4945021"/>
            <a:ext cx="17140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21549" y="1547030"/>
            <a:ext cx="643628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파일럿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23073" y="1842369"/>
            <a:ext cx="211342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노후 하수관·정기 점검 구간 주변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21549" y="2397423"/>
            <a:ext cx="1427845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자치구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정기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순찰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3073" y="2680569"/>
            <a:ext cx="242615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위험도별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주기로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길을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21549" y="3235623"/>
            <a:ext cx="130402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PV5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플릿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3073" y="3518769"/>
            <a:ext cx="275000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여러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대가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권역을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나눠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기준으로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순찰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1549" y="4073823"/>
            <a:ext cx="1427845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지하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결합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3073" y="4356969"/>
            <a:ext cx="256744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하수관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굴착공사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지하수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강우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보수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이력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21549" y="4912023"/>
            <a:ext cx="1919985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4D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도시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지하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변화지도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3073" y="5195169"/>
            <a:ext cx="220231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계약기관이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접근권한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안에서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활용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7304" y="5862575"/>
            <a:ext cx="653368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확장</a:t>
            </a: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대상</a:t>
            </a:r>
          </a:p>
        </p:txBody>
      </p:sp>
      <p:pic>
        <p:nvPicPr>
          <p:cNvPr id="44" name="Picture 43" descr="p12_v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275" y="5788025"/>
            <a:ext cx="1911352" cy="34925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620044" y="5877709"/>
            <a:ext cx="137613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서울시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자치구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도로관리</a:t>
            </a:r>
          </a:p>
        </p:txBody>
      </p:sp>
      <p:pic>
        <p:nvPicPr>
          <p:cNvPr id="46" name="Picture 45" descr="p12_v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2475" y="5788025"/>
            <a:ext cx="1816100" cy="3492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554412" y="5877709"/>
            <a:ext cx="137454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도시철도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공사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영향구간</a:t>
            </a:r>
          </a:p>
        </p:txBody>
      </p:sp>
      <p:pic>
        <p:nvPicPr>
          <p:cNvPr id="48" name="Picture 47" descr="p12_v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8425" y="5788025"/>
            <a:ext cx="1568450" cy="34925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456238" y="5877709"/>
            <a:ext cx="109514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상하수도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관리기관</a:t>
            </a:r>
          </a:p>
        </p:txBody>
      </p:sp>
      <p:pic>
        <p:nvPicPr>
          <p:cNvPr id="50" name="Picture 49" descr="p12_v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6725" y="5788025"/>
            <a:ext cx="2292350" cy="3492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115173" y="5877709"/>
            <a:ext cx="177776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대형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굴착공사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발주기관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시공사</a:t>
            </a:r>
          </a:p>
        </p:txBody>
      </p:sp>
      <p:pic>
        <p:nvPicPr>
          <p:cNvPr id="52" name="Picture 51" descr="p12_v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8925" y="5788025"/>
            <a:ext cx="1739900" cy="3492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446419" y="5877709"/>
            <a:ext cx="128723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집중호우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후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긴급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탐사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7685" y="6267853"/>
            <a:ext cx="783951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지하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데이터는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판매하지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않습니다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.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계약기관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내부의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접근제어형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관제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서비스로만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제공합니다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지도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© OpenStreetMap contributors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79600" y="256540"/>
            <a:ext cx="3835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866900" y="266700"/>
            <a:ext cx="448121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981200" y="308907"/>
            <a:ext cx="295689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확장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4242" y="296821"/>
            <a:ext cx="72228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확장 가능성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8160" y="780417"/>
            <a:ext cx="8742524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한 대의 반복 순찰차에서 도시 지하 안전망으로 확장합니다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27532" y="6615112"/>
            <a:ext cx="38186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3810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8160" y="1502794"/>
            <a:ext cx="658006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C9D3E2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8156" y="1516762"/>
            <a:ext cx="1620602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파일럿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탐사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0823" y="1842369"/>
            <a:ext cx="2850016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위험구간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공사구간의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거리와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회차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계약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0823" y="2070969"/>
            <a:ext cx="275000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기존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조사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결과와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비교한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실증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보고서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제공</a:t>
            </a:r>
          </a:p>
        </p:txBody>
      </p:sp>
      <p:pic>
        <p:nvPicPr>
          <p:cNvPr id="12" name="Picture 11" descr="p13_v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2044700"/>
            <a:ext cx="98425" cy="520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8160" y="2645794"/>
            <a:ext cx="711956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2E4A7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8156" y="2659762"/>
            <a:ext cx="1817452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연간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반복관제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계약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0823" y="2985369"/>
            <a:ext cx="321515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정기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순찰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변화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감지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재확인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업무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기관용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0823" y="3213969"/>
            <a:ext cx="242615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집중호우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민원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발생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긴급조사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옵션</a:t>
            </a:r>
          </a:p>
        </p:txBody>
      </p:sp>
      <p:pic>
        <p:nvPicPr>
          <p:cNvPr id="17" name="Picture 16" descr="p13_v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562" y="2678112"/>
            <a:ext cx="1120776" cy="2825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94125" y="2735221"/>
            <a:ext cx="844313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8A5A00"/>
                </a:solidFill>
                <a:latin typeface="Pretendard"/>
                <a:ea typeface="Pretendard"/>
                <a:cs typeface="Pretendard"/>
              </a:rPr>
              <a:t>핵심</a:t>
            </a:r>
            <a:r>
              <a:rPr sz="1100" b="1">
                <a:solidFill>
                  <a:srgbClr val="8A5A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8A5A00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sz="1100" b="1">
                <a:solidFill>
                  <a:srgbClr val="8A5A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8A5A00"/>
                </a:solidFill>
                <a:latin typeface="Pretendard"/>
                <a:ea typeface="Pretendard"/>
                <a:cs typeface="Pretendard"/>
              </a:rPr>
              <a:t>매출</a:t>
            </a:r>
          </a:p>
        </p:txBody>
      </p:sp>
      <p:pic>
        <p:nvPicPr>
          <p:cNvPr id="19" name="Picture 18" descr="p13_v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3187700"/>
            <a:ext cx="98425" cy="520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8160" y="3788794"/>
            <a:ext cx="722746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8156" y="3802762"/>
            <a:ext cx="2223849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차량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소프트웨어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패키지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0823" y="4128369"/>
            <a:ext cx="391547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이후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PV5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컨버전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차량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센서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·Patrol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앱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·Edge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0823" y="4356969"/>
            <a:ext cx="332150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분석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관제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대시보드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·AR·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교육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유지보수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일괄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제공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9000" y="1428750"/>
            <a:ext cx="4419600" cy="3429000"/>
          </a:xfrm>
          <a:prstGeom prst="roundRect">
            <a:avLst>
              <a:gd name="adj" fmla="val 2777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61885" y="1637941"/>
            <a:ext cx="44903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구매자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123" y="1860657"/>
            <a:ext cx="220232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서울시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자치구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도시철도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발주기관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123" y="2089257"/>
            <a:ext cx="127205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공공시설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관리기관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67600" y="2476500"/>
            <a:ext cx="3962400" cy="0"/>
          </a:xfrm>
          <a:prstGeom prst="line">
            <a:avLst/>
          </a:prstGeom>
          <a:ln w="9525">
            <a:solidFill>
              <a:srgbClr val="D5DAE1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7461885" y="2646829"/>
            <a:ext cx="72684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사용자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1123" y="2872593"/>
            <a:ext cx="173718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지하안전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도로관리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담당자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1123" y="3101193"/>
            <a:ext cx="199118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판독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전문가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현장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조사원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67600" y="3486150"/>
            <a:ext cx="3962400" cy="0"/>
          </a:xfrm>
          <a:prstGeom prst="line">
            <a:avLst/>
          </a:prstGeom>
          <a:ln w="9525">
            <a:solidFill>
              <a:srgbClr val="D5DAE1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7461885" y="3658765"/>
            <a:ext cx="44903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협력사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1123" y="3881481"/>
            <a:ext cx="196737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전문기업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·PV5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특장업체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1123" y="4110081"/>
            <a:ext cx="213564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GIS·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클라우드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사업자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·AR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장비사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3400" y="5600700"/>
            <a:ext cx="11125200" cy="4953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4380" y="5722283"/>
            <a:ext cx="8474075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수요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근거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서울시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2026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년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계획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GPR 탐사 16,423km · 인력 9명 → 19명 = PV5 약 4~5대 분량 [가설]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7304" y="5061967"/>
            <a:ext cx="716688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조달</a:t>
            </a: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접근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첫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계약은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기존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조사기관과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공동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수행해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실적과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신뢰를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확보하고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위험구간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입증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후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인접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구역으로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확장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7304" y="5290567"/>
            <a:ext cx="873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규모·가격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경기도 2025 GPR 사업 21.6억 원 ÷ 1,080km = km당 약 200만 원 · PV5 1대 연 약 3,750km 처리 [가설] → 기존 단가 수준에서 시작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8638" y="6233605"/>
            <a:ext cx="859561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출처: 서울시 지반침하 관리 강화(2026.3.23) · 경기도 GPR 지반탐사 시군 지원사업(2025, 21.6억 원·1,080km) · 처리량 가정: 하루 30km ÷ 차로당 2회 × 연 250일 ≈ 대당 3,750km [가설]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67600" y="4470400"/>
            <a:ext cx="3962400" cy="0"/>
          </a:xfrm>
          <a:prstGeom prst="line">
            <a:avLst/>
          </a:prstGeom>
          <a:ln w="9525">
            <a:solidFill>
              <a:srgbClr val="D5DAE1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7461250" y="4578753"/>
            <a:ext cx="325258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기아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4560624"/>
            <a:ext cx="2800865" cy="1984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PV5 컨버전 플릿 판매 · 앱 마켓 공공 업무 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9600" y="256540"/>
            <a:ext cx="3835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866900" y="266700"/>
            <a:ext cx="696912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981200" y="308907"/>
            <a:ext cx="544355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사업 모델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73033" y="296821"/>
            <a:ext cx="114515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B2G 비즈니스 모델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8160" y="780417"/>
            <a:ext cx="8654894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지자체 탐사 용역으로 시작해 연간 반복관제로 전환합니다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24072" y="6615112"/>
            <a:ext cx="38532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866900" y="266700"/>
            <a:ext cx="696912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780" y="308907"/>
            <a:ext cx="119362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08907"/>
            <a:ext cx="544355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사업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3033" y="296821"/>
            <a:ext cx="1274938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초기 고객과 확장 전략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18160" y="780417"/>
            <a:ext cx="7678010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이미 GPR 탐사를 발주하는 지자체에서 시작합니다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23290" y="6615113"/>
            <a:ext cx="38611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14 / 16</a:t>
            </a:r>
          </a:p>
        </p:txBody>
      </p:sp>
      <p:sp>
        <p:nvSpPr>
          <p:cNvPr id="13" name="Shape 8"/>
          <p:cNvSpPr/>
          <p:nvPr/>
        </p:nvSpPr>
        <p:spPr>
          <a:xfrm>
            <a:off x="530352" y="1417320"/>
            <a:ext cx="11128248" cy="914400"/>
          </a:xfrm>
          <a:prstGeom prst="rect">
            <a:avLst/>
          </a:prstGeom>
          <a:solidFill>
            <a:srgbClr val="0B1E3C"/>
          </a:solidFill>
          <a:ln w="12700">
            <a:solidFill>
              <a:srgbClr val="0B1E3C"/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 txBox="1"/>
          <p:nvPr/>
        </p:nvSpPr>
        <p:spPr>
          <a:xfrm>
            <a:off x="777240" y="14173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3200" b="1" dirty="0">
                <a:solidFill>
                  <a:srgbClr val="F5B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4,558만~1.8억 원</a:t>
            </a:r>
            <a:endParaRPr lang="ko-KR" sz="3200" dirty="0"/>
          </a:p>
        </p:txBody>
      </p:sp>
      <p:sp>
        <p:nvSpPr>
          <p:cNvPr id="15" name="Text 10"/>
          <p:cNvSpPr txBox="1"/>
          <p:nvPr/>
        </p:nvSpPr>
        <p:spPr>
          <a:xfrm>
            <a:off x="4937760" y="155448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시 단위 GPR 탐사 용역 · 이미 발주 중</a:t>
            </a:r>
            <a:endParaRPr lang="ko-KR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937760" y="19019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250" dirty="0">
                <a:solidFill>
                  <a:srgbClr val="C9D1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안양 8,522만 · 보령 4,558만 · 용인 기흥 1억 8,455만 원 (개찰 결과)</a:t>
            </a:r>
            <a:endParaRPr lang="ko-KR" sz="1250" dirty="0"/>
          </a:p>
        </p:txBody>
      </p:sp>
      <p:sp>
        <p:nvSpPr>
          <p:cNvPr id="17" name="Shape 12"/>
          <p:cNvSpPr/>
          <p:nvPr/>
        </p:nvSpPr>
        <p:spPr>
          <a:xfrm>
            <a:off x="731520" y="2816352"/>
            <a:ext cx="8476488" cy="0"/>
          </a:xfrm>
          <a:prstGeom prst="line">
            <a:avLst/>
          </a:prstGeom>
          <a:noFill/>
          <a:ln w="25400">
            <a:solidFill>
              <a:srgbClr val="D5DAE1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530352" y="2615184"/>
            <a:ext cx="402336" cy="402336"/>
          </a:xfrm>
          <a:prstGeom prst="ellipse">
            <a:avLst/>
          </a:prstGeom>
          <a:solidFill>
            <a:srgbClr val="0B1E3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 txBox="1"/>
          <p:nvPr/>
        </p:nvSpPr>
        <p:spPr>
          <a:xfrm>
            <a:off x="530352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ko-KR" sz="1500" dirty="0"/>
          </a:p>
        </p:txBody>
      </p:sp>
      <p:sp>
        <p:nvSpPr>
          <p:cNvPr id="20" name="Shape 15"/>
          <p:cNvSpPr/>
          <p:nvPr/>
        </p:nvSpPr>
        <p:spPr>
          <a:xfrm>
            <a:off x="987552" y="2670048"/>
            <a:ext cx="1417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060704" y="26517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 · 0~1년</a:t>
            </a:r>
            <a:endParaRPr lang="ko-KR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30352" y="316382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22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실증 레퍼런스</a:t>
            </a:r>
            <a:endParaRPr lang="ko-KR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530352" y="362102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테스트베드서울로</a:t>
            </a:r>
            <a:endParaRPr lang="ko-KR" sz="1400" dirty="0"/>
          </a:p>
          <a:p>
            <a:pPr indent="0" marL="0">
              <a:lnSpc>
                <a:spcPct val="110000"/>
              </a:lnSpc>
              <a:buNone/>
            </a:pPr>
            <a:r>
              <a:rPr lang="ko-KR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공사구간 1곳 파일럿</a:t>
            </a:r>
            <a:endParaRPr lang="ko-KR" sz="1400" dirty="0"/>
          </a:p>
        </p:txBody>
      </p:sp>
      <p:sp>
        <p:nvSpPr>
          <p:cNvPr id="24" name="Shape 19"/>
          <p:cNvSpPr/>
          <p:nvPr/>
        </p:nvSpPr>
        <p:spPr>
          <a:xfrm>
            <a:off x="530352" y="4352544"/>
            <a:ext cx="2651760" cy="658368"/>
          </a:xfrm>
          <a:prstGeom prst="rect">
            <a:avLst/>
          </a:prstGeom>
          <a:solidFill>
            <a:srgbClr val="FDF6DC"/>
          </a:solidFill>
          <a:ln w="12700">
            <a:solidFill>
              <a:srgbClr val="FDF6DC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676656" y="4425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100" b="1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 조건</a:t>
            </a:r>
            <a:endParaRPr lang="ko-KR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676656" y="4654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3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장비와 같은 공동 탐지</a:t>
            </a:r>
            <a:endParaRPr lang="ko-KR" sz="1350" dirty="0"/>
          </a:p>
        </p:txBody>
      </p:sp>
      <p:sp>
        <p:nvSpPr>
          <p:cNvPr id="27" name="Shape 22"/>
          <p:cNvSpPr/>
          <p:nvPr/>
        </p:nvSpPr>
        <p:spPr>
          <a:xfrm>
            <a:off x="3355848" y="2615184"/>
            <a:ext cx="402336" cy="402336"/>
          </a:xfrm>
          <a:prstGeom prst="ellipse">
            <a:avLst/>
          </a:prstGeom>
          <a:solidFill>
            <a:srgbClr val="0B1E3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3"/>
          <p:cNvSpPr txBox="1"/>
          <p:nvPr/>
        </p:nvSpPr>
        <p:spPr>
          <a:xfrm>
            <a:off x="3355848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ko-KR" sz="1500" dirty="0"/>
          </a:p>
        </p:txBody>
      </p:sp>
      <p:sp>
        <p:nvSpPr>
          <p:cNvPr id="29" name="Shape 24"/>
          <p:cNvSpPr/>
          <p:nvPr/>
        </p:nvSpPr>
        <p:spPr>
          <a:xfrm>
            <a:off x="3813048" y="2670048"/>
            <a:ext cx="1417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5"/>
          <p:cNvSpPr txBox="1"/>
          <p:nvPr/>
        </p:nvSpPr>
        <p:spPr>
          <a:xfrm>
            <a:off x="3886200" y="26517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· 1~2년</a:t>
            </a:r>
            <a:endParaRPr lang="ko-KR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3355848" y="316382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22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용역 수주</a:t>
            </a:r>
            <a:endParaRPr lang="ko-KR" sz="2200" dirty="0"/>
          </a:p>
        </p:txBody>
      </p:sp>
      <p:sp>
        <p:nvSpPr>
          <p:cNvPr id="32" name="Text 27"/>
          <p:cNvSpPr txBox="1"/>
          <p:nvPr/>
        </p:nvSpPr>
        <p:spPr>
          <a:xfrm>
            <a:off x="3355848" y="362102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조사기관과 컨소시엄으로</a:t>
            </a:r>
            <a:endParaRPr lang="ko-KR" sz="1400" dirty="0"/>
          </a:p>
          <a:p>
            <a:pPr indent="0" marL="0">
              <a:lnSpc>
                <a:spcPct val="110000"/>
              </a:lnSpc>
              <a:buNone/>
            </a:pPr>
            <a:r>
              <a:rPr lang="ko-KR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시·군 용역 입찰</a:t>
            </a:r>
            <a:endParaRPr lang="ko-KR" sz="1400" dirty="0"/>
          </a:p>
        </p:txBody>
      </p:sp>
      <p:sp>
        <p:nvSpPr>
          <p:cNvPr id="33" name="Shape 28"/>
          <p:cNvSpPr/>
          <p:nvPr/>
        </p:nvSpPr>
        <p:spPr>
          <a:xfrm>
            <a:off x="3355848" y="4352544"/>
            <a:ext cx="2651760" cy="658368"/>
          </a:xfrm>
          <a:prstGeom prst="rect">
            <a:avLst/>
          </a:prstGeom>
          <a:solidFill>
            <a:srgbClr val="FDF6DC"/>
          </a:solidFill>
          <a:ln w="12700">
            <a:solidFill>
              <a:srgbClr val="FDF6DC"/>
            </a:solidFill>
            <a:prstDash val="solid"/>
          </a:ln>
        </p:spPr>
        <p:txBody>
          <a:bodyPr/>
          <a:p/>
        </p:txBody>
      </p:sp>
      <p:sp>
        <p:nvSpPr>
          <p:cNvPr id="34" name="Text 29"/>
          <p:cNvSpPr txBox="1"/>
          <p:nvPr/>
        </p:nvSpPr>
        <p:spPr>
          <a:xfrm>
            <a:off x="3502152" y="4425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100" b="1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 조건</a:t>
            </a:r>
            <a:endParaRPr lang="ko-KR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3502152" y="4654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3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실증확인서 · 용역 실적</a:t>
            </a:r>
            <a:endParaRPr lang="ko-KR" sz="1350" dirty="0"/>
          </a:p>
        </p:txBody>
      </p:sp>
      <p:sp>
        <p:nvSpPr>
          <p:cNvPr id="36" name="Shape 31"/>
          <p:cNvSpPr/>
          <p:nvPr/>
        </p:nvSpPr>
        <p:spPr>
          <a:xfrm>
            <a:off x="6181344" y="2615184"/>
            <a:ext cx="402336" cy="402336"/>
          </a:xfrm>
          <a:prstGeom prst="ellipse">
            <a:avLst/>
          </a:prstGeom>
          <a:solidFill>
            <a:srgbClr val="0B1E3C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2"/>
          <p:cNvSpPr txBox="1"/>
          <p:nvPr/>
        </p:nvSpPr>
        <p:spPr>
          <a:xfrm>
            <a:off x="6181344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ko-KR" sz="1500" dirty="0"/>
          </a:p>
        </p:txBody>
      </p:sp>
      <p:sp>
        <p:nvSpPr>
          <p:cNvPr id="38" name="Shape 33"/>
          <p:cNvSpPr/>
          <p:nvPr/>
        </p:nvSpPr>
        <p:spPr>
          <a:xfrm>
            <a:off x="6638544" y="2670048"/>
            <a:ext cx="1417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4"/>
          <p:cNvSpPr txBox="1"/>
          <p:nvPr/>
        </p:nvSpPr>
        <p:spPr>
          <a:xfrm>
            <a:off x="6711696" y="26517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 · 2~3년</a:t>
            </a:r>
            <a:endParaRPr lang="ko-KR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6181344" y="316382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22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반복관제 전환</a:t>
            </a:r>
            <a:endParaRPr lang="ko-KR" sz="2200" dirty="0"/>
          </a:p>
        </p:txBody>
      </p:sp>
      <p:sp>
        <p:nvSpPr>
          <p:cNvPr id="41" name="Text 36"/>
          <p:cNvSpPr txBox="1"/>
          <p:nvPr/>
        </p:nvSpPr>
        <p:spPr>
          <a:xfrm>
            <a:off x="6181344" y="362102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조달청 혁신제품 지정 →</a:t>
            </a:r>
            <a:endParaRPr lang="ko-KR" sz="1400" dirty="0"/>
          </a:p>
          <a:p>
            <a:pPr indent="0" marL="0">
              <a:lnSpc>
                <a:spcPct val="110000"/>
              </a:lnSpc>
              <a:buNone/>
            </a:pPr>
            <a:r>
              <a:rPr lang="ko-KR" sz="14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6년</a:t>
            </a:r>
            <a:pPr indent="0" marL="0">
              <a:lnSpc>
                <a:spcPct val="110000"/>
              </a:lnSpc>
              <a:buNone/>
            </a:pPr>
            <a:r>
              <a:rPr lang="ko-KR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수의계약</a:t>
            </a:r>
            <a:endParaRPr lang="ko-KR" sz="1400" dirty="0"/>
          </a:p>
        </p:txBody>
      </p:sp>
      <p:sp>
        <p:nvSpPr>
          <p:cNvPr id="42" name="Shape 37"/>
          <p:cNvSpPr/>
          <p:nvPr/>
        </p:nvSpPr>
        <p:spPr>
          <a:xfrm>
            <a:off x="6181344" y="4352544"/>
            <a:ext cx="2651760" cy="658368"/>
          </a:xfrm>
          <a:prstGeom prst="rect">
            <a:avLst/>
          </a:prstGeom>
          <a:solidFill>
            <a:srgbClr val="FDF6DC"/>
          </a:solidFill>
          <a:ln w="12700">
            <a:solidFill>
              <a:srgbClr val="FDF6DC"/>
            </a:solidFill>
            <a:prstDash val="solid"/>
          </a:ln>
        </p:spPr>
        <p:txBody>
          <a:bodyPr/>
          <a:p/>
        </p:txBody>
      </p:sp>
      <p:sp>
        <p:nvSpPr>
          <p:cNvPr id="43" name="Text 38"/>
          <p:cNvSpPr txBox="1"/>
          <p:nvPr/>
        </p:nvSpPr>
        <p:spPr>
          <a:xfrm>
            <a:off x="6327648" y="4425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100" b="1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 조건 [목표]</a:t>
            </a:r>
            <a:endParaRPr lang="ko-KR" sz="1100" dirty="0"/>
          </a:p>
        </p:txBody>
      </p:sp>
      <p:sp>
        <p:nvSpPr>
          <p:cNvPr id="44" name="Text 39"/>
          <p:cNvSpPr txBox="1"/>
          <p:nvPr/>
        </p:nvSpPr>
        <p:spPr>
          <a:xfrm>
            <a:off x="6327648" y="4654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3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자치구 2곳 연간 계약</a:t>
            </a:r>
            <a:endParaRPr lang="ko-KR" sz="1350" dirty="0"/>
          </a:p>
        </p:txBody>
      </p:sp>
      <p:sp>
        <p:nvSpPr>
          <p:cNvPr id="45" name="Shape 40"/>
          <p:cNvSpPr/>
          <p:nvPr/>
        </p:nvSpPr>
        <p:spPr>
          <a:xfrm>
            <a:off x="9006840" y="2615184"/>
            <a:ext cx="402336" cy="402336"/>
          </a:xfrm>
          <a:prstGeom prst="ellipse">
            <a:avLst/>
          </a:prstGeom>
          <a:solidFill>
            <a:srgbClr val="F5B700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 txBox="1"/>
          <p:nvPr/>
        </p:nvSpPr>
        <p:spPr>
          <a:xfrm>
            <a:off x="9006840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sz="15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ko-KR" sz="1500" dirty="0"/>
          </a:p>
        </p:txBody>
      </p:sp>
      <p:sp>
        <p:nvSpPr>
          <p:cNvPr id="47" name="Shape 42"/>
          <p:cNvSpPr/>
          <p:nvPr/>
        </p:nvSpPr>
        <p:spPr>
          <a:xfrm>
            <a:off x="9464040" y="2670048"/>
            <a:ext cx="1417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Text 43"/>
          <p:cNvSpPr txBox="1"/>
          <p:nvPr/>
        </p:nvSpPr>
        <p:spPr>
          <a:xfrm>
            <a:off x="9537192" y="26517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 · 3년~</a:t>
            </a:r>
            <a:endParaRPr lang="ko-KR" sz="1200" dirty="0"/>
          </a:p>
        </p:txBody>
      </p:sp>
      <p:sp>
        <p:nvSpPr>
          <p:cNvPr id="49" name="Text 44"/>
          <p:cNvSpPr txBox="1"/>
          <p:nvPr/>
        </p:nvSpPr>
        <p:spPr>
          <a:xfrm>
            <a:off x="9006840" y="316382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22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확장</a:t>
            </a:r>
            <a:endParaRPr lang="ko-KR" sz="2200" dirty="0"/>
          </a:p>
        </p:txBody>
      </p:sp>
      <p:sp>
        <p:nvSpPr>
          <p:cNvPr id="50" name="Text 45"/>
          <p:cNvSpPr txBox="1"/>
          <p:nvPr/>
        </p:nvSpPr>
        <p:spPr>
          <a:xfrm>
            <a:off x="9006840" y="362102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차량형 GPR </a:t>
            </a:r>
            <a:pPr indent="0" marL="0">
              <a:lnSpc>
                <a:spcPct val="110000"/>
              </a:lnSpc>
              <a:buNone/>
            </a:pPr>
            <a:r>
              <a:rPr lang="ko-KR" sz="14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0대</a:t>
            </a:r>
            <a:pPr indent="0" marL="0">
              <a:lnSpc>
                <a:spcPct val="110000"/>
              </a:lnSpc>
              <a:buNone/>
            </a:pPr>
            <a:r>
              <a:rPr lang="ko-KR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</a:t>
            </a:r>
            <a:endParaRPr lang="ko-KR" sz="1400" dirty="0"/>
          </a:p>
          <a:p>
            <a:pPr indent="0" marL="0">
              <a:lnSpc>
                <a:spcPct val="110000"/>
              </a:lnSpc>
              <a:buNone/>
            </a:pPr>
            <a:r>
              <a:rPr lang="ko-KR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경기 시·군 운영 대행</a:t>
            </a:r>
            <a:endParaRPr lang="ko-KR" sz="1400" dirty="0"/>
          </a:p>
        </p:txBody>
      </p:sp>
      <p:sp>
        <p:nvSpPr>
          <p:cNvPr id="51" name="Shape 46"/>
          <p:cNvSpPr/>
          <p:nvPr/>
        </p:nvSpPr>
        <p:spPr>
          <a:xfrm>
            <a:off x="9006840" y="4352544"/>
            <a:ext cx="2651760" cy="658368"/>
          </a:xfrm>
          <a:prstGeom prst="rect">
            <a:avLst/>
          </a:prstGeom>
          <a:solidFill>
            <a:srgbClr val="FDF6DC"/>
          </a:solidFill>
          <a:ln w="12700">
            <a:solidFill>
              <a:srgbClr val="FDF6DC"/>
            </a:solidFill>
            <a:prstDash val="solid"/>
          </a:ln>
        </p:spPr>
        <p:txBody>
          <a:bodyPr/>
          <a:p/>
        </p:txBody>
      </p:sp>
      <p:sp>
        <p:nvSpPr>
          <p:cNvPr id="52" name="Text 47"/>
          <p:cNvSpPr txBox="1"/>
          <p:nvPr/>
        </p:nvSpPr>
        <p:spPr>
          <a:xfrm>
            <a:off x="9153144" y="4425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100" b="1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ko-KR" sz="1100" dirty="0"/>
          </a:p>
        </p:txBody>
      </p:sp>
      <p:sp>
        <p:nvSpPr>
          <p:cNvPr id="53" name="Text 48"/>
          <p:cNvSpPr txBox="1"/>
          <p:nvPr/>
        </p:nvSpPr>
        <p:spPr>
          <a:xfrm>
            <a:off x="9153144" y="4654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35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권역별 PV5 플릿 운영</a:t>
            </a:r>
            <a:endParaRPr lang="ko-KR" sz="1350" dirty="0"/>
          </a:p>
        </p:txBody>
      </p:sp>
      <p:sp>
        <p:nvSpPr>
          <p:cNvPr id="54" name="Shape 49"/>
          <p:cNvSpPr/>
          <p:nvPr/>
        </p:nvSpPr>
        <p:spPr>
          <a:xfrm>
            <a:off x="530352" y="5577840"/>
            <a:ext cx="11128248" cy="512064"/>
          </a:xfrm>
          <a:prstGeom prst="rect">
            <a:avLst/>
          </a:prstGeom>
          <a:solidFill>
            <a:srgbClr val="0B1E3C"/>
          </a:solidFill>
          <a:ln w="12700">
            <a:solidFill>
              <a:srgbClr val="0B1E3C"/>
            </a:solidFill>
            <a:prstDash val="solid"/>
          </a:ln>
        </p:spPr>
        <p:txBody>
          <a:bodyPr/>
          <a:p/>
        </p:txBody>
      </p:sp>
      <p:sp>
        <p:nvSpPr>
          <p:cNvPr id="55" name="Text 50"/>
          <p:cNvSpPr txBox="1"/>
          <p:nvPr/>
        </p:nvSpPr>
        <p:spPr>
          <a:xfrm>
            <a:off x="749808" y="557784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예산이 아니라, </a:t>
            </a:r>
            <a:pPr indent="0" marL="0">
              <a:buNone/>
            </a:pPr>
            <a:r>
              <a:rPr lang="ko-KR" sz="1600" b="1" dirty="0">
                <a:solidFill>
                  <a:srgbClr val="F5B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지자체가 이미 쓰는 GPR 탐사 예산</a:t>
            </a:r>
            <a:pPr indent="0" marL="0">
              <a:buNone/>
            </a:pPr>
            <a:r>
              <a:rPr 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첫 계약을 만듭니다.</a:t>
            </a:r>
            <a:endParaRPr lang="ko-KR" sz="1600" dirty="0"/>
          </a:p>
        </p:txBody>
      </p:sp>
      <p:sp>
        <p:nvSpPr>
          <p:cNvPr id="56" name="Text 51"/>
          <p:cNvSpPr txBox="1"/>
          <p:nvPr/>
        </p:nvSpPr>
        <p:spPr>
          <a:xfrm>
            <a:off x="530352" y="6217920"/>
            <a:ext cx="10424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2026년 GPR 탐사 용역 개찰 결과(입찰정보 산군) · 시사저널(2025.4.25, 경기도 GPR: '0대'는 당시 기준) · 서울시 테스트베드서울 2.0(과제당 최대 2억 원) · 조달청 혁신제품 지정제도(최대 6년 수의계약)</a:t>
            </a:r>
            <a:endParaRPr lang="ko-KR" sz="800" dirty="0"/>
          </a:p>
        </p:txBody>
      </p:sp>
      <p:sp>
        <p:nvSpPr>
          <p:cNvPr id="57" name="Text 52"/>
          <p:cNvSpPr txBox="1"/>
          <p:nvPr/>
        </p:nvSpPr>
        <p:spPr>
          <a:xfrm>
            <a:off x="530352" y="6364224"/>
            <a:ext cx="10424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기간은 목표 [가설] · 첫 계약은 기존 GPR 조사기관과 공동 수행</a:t>
            </a:r>
            <a:endParaRPr lang="ko-KR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3810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8160" y="780417"/>
            <a:ext cx="8044532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측정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결과가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다음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행동으로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이어지는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지하안전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관리체계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9600" y="256540"/>
            <a:ext cx="3835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866900" y="266700"/>
            <a:ext cx="696912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981200" y="308907"/>
            <a:ext cx="51911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개선 지표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3033" y="296821"/>
            <a:ext cx="1242616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기존 문제와 개선 지표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623" y="6584739"/>
            <a:ext cx="434777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15 / 16</a:t>
            </a:r>
          </a:p>
        </p:txBody>
      </p:sp>
      <p:sp>
        <p:nvSpPr>
          <p:cNvPr id="23" name="Text 8"/>
          <p:cNvSpPr txBox="1"/>
          <p:nvPr/>
        </p:nvSpPr>
        <p:spPr>
          <a:xfrm>
            <a:off x="297180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200" b="1" dirty="0">
                <a:solidFill>
                  <a:srgbClr val="C628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</a:t>
            </a:r>
            <a:endParaRPr lang="ko-KR" sz="1200" dirty="0"/>
          </a:p>
        </p:txBody>
      </p:sp>
      <p:sp>
        <p:nvSpPr>
          <p:cNvPr id="24" name="Text 9"/>
          <p:cNvSpPr txBox="1"/>
          <p:nvPr/>
        </p:nvSpPr>
        <p:spPr>
          <a:xfrm>
            <a:off x="61722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2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GroundWatch</a:t>
            </a:r>
            <a:endParaRPr lang="ko-KR" sz="1200" dirty="0"/>
          </a:p>
        </p:txBody>
      </p:sp>
      <p:sp>
        <p:nvSpPr>
          <p:cNvPr id="25" name="Text 10"/>
          <p:cNvSpPr txBox="1"/>
          <p:nvPr/>
        </p:nvSpPr>
        <p:spPr>
          <a:xfrm>
            <a:off x="928116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2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지표 · 파일럿 목표</a:t>
            </a:r>
            <a:endParaRPr lang="ko-KR" sz="1200" dirty="0"/>
          </a:p>
        </p:txBody>
      </p:sp>
      <p:sp>
        <p:nvSpPr>
          <p:cNvPr id="26" name="Shape 11"/>
          <p:cNvSpPr/>
          <p:nvPr/>
        </p:nvSpPr>
        <p:spPr>
          <a:xfrm>
            <a:off x="530352" y="1737360"/>
            <a:ext cx="11128248" cy="0"/>
          </a:xfrm>
          <a:prstGeom prst="line">
            <a:avLst/>
          </a:prstGeom>
          <a:noFill/>
          <a:ln w="15875">
            <a:solidFill>
              <a:srgbClr val="0B1E3C"/>
            </a:solidFill>
            <a:prstDash val="solid"/>
          </a:ln>
        </p:spPr>
        <p:txBody>
          <a:bodyPr/>
          <a:p/>
        </p:txBody>
      </p:sp>
      <p:sp>
        <p:nvSpPr>
          <p:cNvPr id="27" name="Shape 12"/>
          <p:cNvSpPr/>
          <p:nvPr/>
        </p:nvSpPr>
        <p:spPr>
          <a:xfrm>
            <a:off x="530352" y="2057400"/>
            <a:ext cx="475488" cy="475488"/>
          </a:xfrm>
          <a:prstGeom prst="ellipse">
            <a:avLst/>
          </a:prstGeom>
          <a:solidFill>
            <a:srgbClr val="0B1E3C"/>
          </a:solidFill>
          <a:ln w="12700">
            <a:solidFill>
              <a:srgbClr val="0B1E3C"/>
            </a:solidFill>
            <a:prstDash val="solid"/>
          </a:ln>
        </p:spPr>
        <p:txBody>
          <a:bodyPr/>
          <a:p/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176272"/>
            <a:ext cx="237744" cy="237744"/>
          </a:xfrm>
          <a:prstGeom prst="rect">
            <a:avLst/>
          </a:prstGeom>
        </p:spPr>
      </p:pic>
      <p:sp>
        <p:nvSpPr>
          <p:cNvPr id="29" name="Text 13"/>
          <p:cNvSpPr txBox="1"/>
          <p:nvPr/>
        </p:nvSpPr>
        <p:spPr>
          <a:xfrm>
            <a:off x="1152144" y="20025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20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빨리 찾는다</a:t>
            </a:r>
            <a:endParaRPr lang="ko-KR" sz="2000" dirty="0"/>
          </a:p>
        </p:txBody>
      </p:sp>
      <p:sp>
        <p:nvSpPr>
          <p:cNvPr id="30" name="Text 14"/>
          <p:cNvSpPr txBox="1"/>
          <p:nvPr/>
        </p:nvSpPr>
        <p:spPr>
          <a:xfrm>
            <a:off x="1152144" y="238658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 · 선별</a:t>
            </a:r>
            <a:endParaRPr lang="ko-KR" sz="1100" dirty="0"/>
          </a:p>
        </p:txBody>
      </p:sp>
      <p:sp>
        <p:nvSpPr>
          <p:cNvPr id="31" name="Text 15"/>
          <p:cNvSpPr txBox="1"/>
          <p:nvPr/>
        </p:nvSpPr>
        <p:spPr>
          <a:xfrm>
            <a:off x="2971800" y="1874520"/>
            <a:ext cx="2606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시점별 파일로 남고,</a:t>
            </a:r>
            <a:endParaRPr lang="ko-KR" sz="1400" dirty="0"/>
          </a:p>
          <a:p>
            <a:pPr indent="0" marL="0">
              <a:buNone/>
            </a:pPr>
            <a:r>
              <a:rPr lang="ko-KR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달라진 곳은 사람이 다시 찾음</a:t>
            </a:r>
            <a:endParaRPr lang="ko-KR" sz="14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286000"/>
            <a:ext cx="256032" cy="256032"/>
          </a:xfrm>
          <a:prstGeom prst="rect">
            <a:avLst/>
          </a:prstGeom>
        </p:spPr>
      </p:pic>
      <p:sp>
        <p:nvSpPr>
          <p:cNvPr id="33" name="Shape 16"/>
          <p:cNvSpPr/>
          <p:nvPr/>
        </p:nvSpPr>
        <p:spPr>
          <a:xfrm>
            <a:off x="5989320" y="1965960"/>
            <a:ext cx="3063240" cy="896112"/>
          </a:xfrm>
          <a:prstGeom prst="roundRect">
            <a:avLst>
              <a:gd name="adj" fmla="val 612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4" name="Text 17"/>
          <p:cNvSpPr txBox="1"/>
          <p:nvPr/>
        </p:nvSpPr>
        <p:spPr>
          <a:xfrm>
            <a:off x="6172200" y="1965960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회차를 비교해 AI가 후보 선별,</a:t>
            </a:r>
            <a:endParaRPr lang="ko-KR" sz="1500" dirty="0"/>
          </a:p>
          <a:p>
            <a:pPr indent="0" marL="0">
              <a:buNone/>
            </a:pPr>
            <a:r>
              <a:rPr lang="ko-KR" sz="15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승인</a:t>
            </a:r>
            <a:endParaRPr lang="ko-KR" sz="1500" dirty="0"/>
          </a:p>
        </p:txBody>
      </p:sp>
      <p:sp>
        <p:nvSpPr>
          <p:cNvPr id="35" name="Text 18"/>
          <p:cNvSpPr txBox="1"/>
          <p:nvPr/>
        </p:nvSpPr>
        <p:spPr>
          <a:xfrm>
            <a:off x="9281160" y="20391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검토시간</a:t>
            </a:r>
            <a:endParaRPr lang="ko-KR" sz="1500" dirty="0"/>
          </a:p>
        </p:txBody>
      </p:sp>
      <p:sp>
        <p:nvSpPr>
          <p:cNvPr id="36" name="Text 19"/>
          <p:cNvSpPr txBox="1"/>
          <p:nvPr/>
        </p:nvSpPr>
        <p:spPr>
          <a:xfrm>
            <a:off x="9281160" y="23865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200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○○ → 목표 ○○</a:t>
            </a:r>
            <a:endParaRPr lang="ko-KR" sz="1200" dirty="0"/>
          </a:p>
          <a:p>
            <a:pPr indent="0" marL="0">
              <a:buNone/>
            </a:pPr>
            <a:r>
              <a:rPr lang="ko-KR" sz="1200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[파일럿에서 확정]</a:t>
            </a:r>
            <a:endParaRPr lang="ko-KR" sz="1200" dirty="0"/>
          </a:p>
        </p:txBody>
      </p:sp>
      <p:sp>
        <p:nvSpPr>
          <p:cNvPr id="37" name="Shape 20"/>
          <p:cNvSpPr/>
          <p:nvPr/>
        </p:nvSpPr>
        <p:spPr>
          <a:xfrm>
            <a:off x="530352" y="3035808"/>
            <a:ext cx="11128248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  <p:txBody>
          <a:bodyPr/>
          <a:p/>
        </p:txBody>
      </p:sp>
      <p:sp>
        <p:nvSpPr>
          <p:cNvPr id="38" name="Shape 21"/>
          <p:cNvSpPr/>
          <p:nvPr/>
        </p:nvSpPr>
        <p:spPr>
          <a:xfrm>
            <a:off x="530352" y="3300984"/>
            <a:ext cx="475488" cy="475488"/>
          </a:xfrm>
          <a:prstGeom prst="ellipse">
            <a:avLst/>
          </a:prstGeom>
          <a:solidFill>
            <a:srgbClr val="0B1E3C"/>
          </a:solidFill>
          <a:ln w="12700">
            <a:solidFill>
              <a:srgbClr val="0B1E3C"/>
            </a:solidFill>
            <a:prstDash val="solid"/>
          </a:ln>
        </p:spPr>
        <p:txBody>
          <a:bodyPr/>
          <a:p/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419856"/>
            <a:ext cx="237744" cy="237744"/>
          </a:xfrm>
          <a:prstGeom prst="rect">
            <a:avLst/>
          </a:prstGeom>
        </p:spPr>
      </p:pic>
      <p:sp>
        <p:nvSpPr>
          <p:cNvPr id="40" name="Text 22"/>
          <p:cNvSpPr txBox="1"/>
          <p:nvPr/>
        </p:nvSpPr>
        <p:spPr>
          <a:xfrm>
            <a:off x="1152144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20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간다</a:t>
            </a:r>
            <a:endParaRPr lang="ko-KR" sz="2000" dirty="0"/>
          </a:p>
        </p:txBody>
      </p:sp>
      <p:sp>
        <p:nvSpPr>
          <p:cNvPr id="41" name="Text 23"/>
          <p:cNvSpPr txBox="1"/>
          <p:nvPr/>
        </p:nvSpPr>
        <p:spPr>
          <a:xfrm>
            <a:off x="1152144" y="36301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우선순위 · 현장 위치</a:t>
            </a:r>
            <a:endParaRPr lang="ko-KR" sz="1100" dirty="0"/>
          </a:p>
          <a:p>
            <a:pPr indent="0" marL="0">
              <a:buNone/>
            </a:pPr>
            <a:r>
              <a:rPr lang="ko-KR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연결</a:t>
            </a:r>
            <a:endParaRPr lang="ko-KR" sz="1100" dirty="0"/>
          </a:p>
        </p:txBody>
      </p:sp>
      <p:sp>
        <p:nvSpPr>
          <p:cNvPr id="42" name="Text 24"/>
          <p:cNvSpPr txBox="1"/>
          <p:nvPr/>
        </p:nvSpPr>
        <p:spPr>
          <a:xfrm>
            <a:off x="2971800" y="3118104"/>
            <a:ext cx="2606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우선순위는 경험에 의존,</a:t>
            </a:r>
            <a:endParaRPr lang="ko-KR" sz="1400" dirty="0"/>
          </a:p>
          <a:p>
            <a:pPr indent="0" marL="0">
              <a:buNone/>
            </a:pPr>
            <a:r>
              <a:rPr lang="ko-KR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 위치는 찾기 어려움</a:t>
            </a:r>
            <a:endParaRPr lang="ko-KR" sz="140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529584"/>
            <a:ext cx="256032" cy="256032"/>
          </a:xfrm>
          <a:prstGeom prst="rect">
            <a:avLst/>
          </a:prstGeom>
        </p:spPr>
      </p:pic>
      <p:sp>
        <p:nvSpPr>
          <p:cNvPr id="44" name="Shape 25"/>
          <p:cNvSpPr/>
          <p:nvPr/>
        </p:nvSpPr>
        <p:spPr>
          <a:xfrm>
            <a:off x="5989320" y="3209544"/>
            <a:ext cx="3063240" cy="896112"/>
          </a:xfrm>
          <a:prstGeom prst="roundRect">
            <a:avLst>
              <a:gd name="adj" fmla="val 612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5" name="Text 26"/>
          <p:cNvSpPr txBox="1"/>
          <p:nvPr/>
        </p:nvSpPr>
        <p:spPr>
          <a:xfrm>
            <a:off x="6172200" y="3209544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재확인 업무 즉시 생성,</a:t>
            </a:r>
            <a:endParaRPr lang="ko-KR" sz="1500" dirty="0"/>
          </a:p>
          <a:p>
            <a:pPr indent="0" marL="0">
              <a:buNone/>
            </a:pPr>
            <a:r>
              <a:rPr lang="ko-KR" sz="15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AR로 재탐사 범위 안내</a:t>
            </a:r>
            <a:endParaRPr lang="ko-KR" sz="1500" dirty="0"/>
          </a:p>
        </p:txBody>
      </p:sp>
      <p:sp>
        <p:nvSpPr>
          <p:cNvPr id="46" name="Text 27"/>
          <p:cNvSpPr txBox="1"/>
          <p:nvPr/>
        </p:nvSpPr>
        <p:spPr>
          <a:xfrm>
            <a:off x="9281160" y="32826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재확인 소요시간</a:t>
            </a:r>
            <a:endParaRPr lang="ko-KR" sz="1500" dirty="0"/>
          </a:p>
        </p:txBody>
      </p:sp>
      <p:sp>
        <p:nvSpPr>
          <p:cNvPr id="47" name="Text 28"/>
          <p:cNvSpPr txBox="1"/>
          <p:nvPr/>
        </p:nvSpPr>
        <p:spPr>
          <a:xfrm>
            <a:off x="9281160" y="3630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200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○○ → 목표 ○○</a:t>
            </a:r>
            <a:endParaRPr lang="ko-KR" sz="1200" dirty="0"/>
          </a:p>
          <a:p>
            <a:pPr indent="0" marL="0">
              <a:buNone/>
            </a:pPr>
            <a:r>
              <a:rPr lang="ko-KR" sz="1200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[파일럿에서 확정]</a:t>
            </a:r>
            <a:endParaRPr lang="ko-KR" sz="1200" dirty="0"/>
          </a:p>
        </p:txBody>
      </p:sp>
      <p:sp>
        <p:nvSpPr>
          <p:cNvPr id="48" name="Shape 29"/>
          <p:cNvSpPr/>
          <p:nvPr/>
        </p:nvSpPr>
        <p:spPr>
          <a:xfrm>
            <a:off x="530352" y="4279392"/>
            <a:ext cx="11128248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  <p:txBody>
          <a:bodyPr/>
          <a:p/>
        </p:txBody>
      </p:sp>
      <p:sp>
        <p:nvSpPr>
          <p:cNvPr id="49" name="Shape 30"/>
          <p:cNvSpPr/>
          <p:nvPr/>
        </p:nvSpPr>
        <p:spPr>
          <a:xfrm>
            <a:off x="530352" y="4544568"/>
            <a:ext cx="475488" cy="475488"/>
          </a:xfrm>
          <a:prstGeom prst="ellipse">
            <a:avLst/>
          </a:prstGeom>
          <a:solidFill>
            <a:srgbClr val="0B1E3C"/>
          </a:solidFill>
          <a:ln w="12700">
            <a:solidFill>
              <a:srgbClr val="0B1E3C"/>
            </a:solidFill>
            <a:prstDash val="solid"/>
          </a:ln>
        </p:spPr>
        <p:txBody>
          <a:bodyPr/>
          <a:p/>
        </p:txBody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663440"/>
            <a:ext cx="237744" cy="237744"/>
          </a:xfrm>
          <a:prstGeom prst="rect">
            <a:avLst/>
          </a:prstGeom>
        </p:spPr>
      </p:pic>
      <p:sp>
        <p:nvSpPr>
          <p:cNvPr id="51" name="Text 31"/>
          <p:cNvSpPr txBox="1"/>
          <p:nvPr/>
        </p:nvSpPr>
        <p:spPr>
          <a:xfrm>
            <a:off x="1152144" y="4489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20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쓴다</a:t>
            </a:r>
            <a:endParaRPr lang="ko-KR" sz="2000" dirty="0"/>
          </a:p>
        </p:txBody>
      </p:sp>
      <p:sp>
        <p:nvSpPr>
          <p:cNvPr id="52" name="Text 32"/>
          <p:cNvSpPr txBox="1"/>
          <p:nvPr/>
        </p:nvSpPr>
        <p:spPr>
          <a:xfrm>
            <a:off x="1152144" y="48737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 환류</a:t>
            </a:r>
            <a:endParaRPr lang="ko-KR" sz="1100" dirty="0"/>
          </a:p>
        </p:txBody>
      </p:sp>
      <p:sp>
        <p:nvSpPr>
          <p:cNvPr id="53" name="Text 33"/>
          <p:cNvSpPr txBox="1"/>
          <p:nvPr/>
        </p:nvSpPr>
        <p:spPr>
          <a:xfrm>
            <a:off x="2971800" y="4361688"/>
            <a:ext cx="2606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복구 결과가</a:t>
            </a:r>
            <a:endParaRPr lang="ko-KR" sz="1400" dirty="0"/>
          </a:p>
          <a:p>
            <a:pPr indent="0" marL="0">
              <a:buNone/>
            </a:pPr>
            <a:r>
              <a:rPr lang="ko-KR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조사에 덜 반영됨</a:t>
            </a:r>
            <a:endParaRPr lang="ko-KR" sz="1400" dirty="0"/>
          </a:p>
        </p:txBody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4773168"/>
            <a:ext cx="256032" cy="256032"/>
          </a:xfrm>
          <a:prstGeom prst="rect">
            <a:avLst/>
          </a:prstGeom>
        </p:spPr>
      </p:pic>
      <p:sp>
        <p:nvSpPr>
          <p:cNvPr id="55" name="Shape 34"/>
          <p:cNvSpPr/>
          <p:nvPr/>
        </p:nvSpPr>
        <p:spPr>
          <a:xfrm>
            <a:off x="5989320" y="4453128"/>
            <a:ext cx="3063240" cy="896112"/>
          </a:xfrm>
          <a:prstGeom prst="roundRect">
            <a:avLst>
              <a:gd name="adj" fmla="val 612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6" name="Text 35"/>
          <p:cNvSpPr txBox="1"/>
          <p:nvPr/>
        </p:nvSpPr>
        <p:spPr>
          <a:xfrm>
            <a:off x="6172200" y="4453128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보수 이력이</a:t>
            </a:r>
            <a:endParaRPr lang="ko-KR" sz="1500" dirty="0"/>
          </a:p>
          <a:p>
            <a:pPr indent="0" marL="0">
              <a:buNone/>
            </a:pPr>
            <a:r>
              <a:rPr lang="ko-KR" sz="1500" b="1" dirty="0">
                <a:solidFill>
                  <a:srgbClr val="0B1E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순찰 경로로 돌아감</a:t>
            </a:r>
            <a:endParaRPr lang="ko-KR" sz="1500" dirty="0"/>
          </a:p>
        </p:txBody>
      </p:sp>
      <p:sp>
        <p:nvSpPr>
          <p:cNvPr id="57" name="Text 36"/>
          <p:cNvSpPr txBox="1"/>
          <p:nvPr/>
        </p:nvSpPr>
        <p:spPr>
          <a:xfrm>
            <a:off x="9281160" y="4526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보수구간 재검증률</a:t>
            </a:r>
            <a:endParaRPr lang="ko-KR" sz="1500" dirty="0"/>
          </a:p>
        </p:txBody>
      </p:sp>
      <p:sp>
        <p:nvSpPr>
          <p:cNvPr id="58" name="Text 37"/>
          <p:cNvSpPr txBox="1"/>
          <p:nvPr/>
        </p:nvSpPr>
        <p:spPr>
          <a:xfrm>
            <a:off x="9281160" y="4873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200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○○ → 목표 ○○</a:t>
            </a:r>
            <a:endParaRPr lang="ko-KR" sz="1200" dirty="0"/>
          </a:p>
          <a:p>
            <a:pPr indent="0" marL="0">
              <a:buNone/>
            </a:pPr>
            <a:r>
              <a:rPr lang="ko-KR" sz="1200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[파일럿에서 확정]</a:t>
            </a:r>
            <a:endParaRPr lang="ko-KR" sz="1200" dirty="0"/>
          </a:p>
        </p:txBody>
      </p:sp>
      <p:sp>
        <p:nvSpPr>
          <p:cNvPr id="59" name="Shape 38"/>
          <p:cNvSpPr/>
          <p:nvPr/>
        </p:nvSpPr>
        <p:spPr>
          <a:xfrm>
            <a:off x="530352" y="5577840"/>
            <a:ext cx="11128248" cy="512064"/>
          </a:xfrm>
          <a:prstGeom prst="rect">
            <a:avLst/>
          </a:prstGeom>
          <a:solidFill>
            <a:srgbClr val="0B1E3C"/>
          </a:solidFill>
          <a:ln w="12700">
            <a:solidFill>
              <a:srgbClr val="0B1E3C"/>
            </a:solidFill>
            <a:prstDash val="solid"/>
          </a:ln>
        </p:spPr>
        <p:txBody>
          <a:bodyPr/>
          <a:p/>
        </p:txBody>
      </p:sp>
      <p:sp>
        <p:nvSpPr>
          <p:cNvPr id="60" name="Text 39"/>
          <p:cNvSpPr txBox="1"/>
          <p:nvPr/>
        </p:nvSpPr>
        <p:spPr>
          <a:xfrm>
            <a:off x="749808" y="557784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GroundWatch의 가치는 지도가 아니라, </a:t>
            </a:r>
            <a:pPr indent="0" marL="0">
              <a:buNone/>
            </a:pPr>
            <a:r>
              <a:rPr lang="ko-KR" sz="1600" b="1" dirty="0">
                <a:solidFill>
                  <a:srgbClr val="F5B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번의 측정을 다음 판단과 현장 행동으로 잇는 것</a:t>
            </a:r>
            <a:pPr indent="0" marL="0">
              <a:buNone/>
            </a:pPr>
            <a:r>
              <a:rPr 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</a:t>
            </a:r>
            <a:endParaRPr lang="ko-KR" sz="1600" dirty="0"/>
          </a:p>
        </p:txBody>
      </p:sp>
      <p:sp>
        <p:nvSpPr>
          <p:cNvPr id="61" name="Text 40"/>
          <p:cNvSpPr txBox="1"/>
          <p:nvPr/>
        </p:nvSpPr>
        <p:spPr>
          <a:xfrm>
            <a:off x="530352" y="6217920"/>
            <a:ext cx="10424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지표의 현재값·목표치는 파일럿 설계 때 발주기관과 확정 [가설]</a:t>
            </a:r>
            <a:endParaRPr lang="ko-KR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tmp/claude-0/-home-claude/a4e80ea0-615e-5d37-bfbe-a051a1f47f79/scratchpad/mock/c16_b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claude/a4e80ea0-615e-5d37-bfbe-a051a1f47f79/scratchpad/mock/c16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00" b="1" dirty="0">
                <a:solidFill>
                  <a:srgbClr val="F5B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PV5 GroundWatch</a:t>
            </a:r>
            <a:endParaRPr lang="ko-KR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3977640"/>
            <a:ext cx="7315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번의 조기 발견이,</a:t>
            </a:r>
            <a:endParaRPr lang="ko-KR" sz="4000" dirty="0"/>
          </a:p>
          <a:p>
            <a:pPr indent="0" marL="0">
              <a:lnSpc>
                <a:spcPct val="105000"/>
              </a:lnSpc>
              <a:buNone/>
            </a:pPr>
            <a:r>
              <a:rPr lang="ko-KR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사람의 무사 귀가가 되도록.</a:t>
            </a:r>
            <a:endParaRPr lang="ko-KR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00" dirty="0">
                <a:solidFill>
                  <a:srgbClr val="C9D1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 한 명이라도 살릴 수 있다면</a:t>
            </a:r>
            <a:endParaRPr lang="ko-KR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8778240" y="64922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sz="800" dirty="0">
                <a:solidFill>
                  <a:srgbClr val="C9D1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사진: Alexander Migl, CC BY-SA 4.0(편집)</a:t>
            </a:r>
            <a:endParaRPr lang="ko-KR" sz="800" dirty="0"/>
          </a:p>
        </p:txBody>
      </p:sp>
      <p:sp>
        <p:nvSpPr>
          <p:cNvPr id="8" name="Text 4"/>
          <p:cNvSpPr txBox="1"/>
          <p:nvPr/>
        </p:nvSpPr>
        <p:spPr>
          <a:xfrm>
            <a:off x="10881360" y="64922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sz="900" b="1" dirty="0">
                <a:solidFill>
                  <a:srgbClr val="F5B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16</a:t>
            </a:r>
            <a:endParaRPr lang="ko-K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