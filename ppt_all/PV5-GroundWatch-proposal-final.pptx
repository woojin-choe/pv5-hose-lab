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62a22742e04792" /><Relationship Type="http://schemas.openxmlformats.org/officeDocument/2006/relationships/extended-properties" Target="/docProps/app.xml" Id="R702c071d2b774c19" /><Relationship Type="http://schemas.openxmlformats.org/officeDocument/2006/relationships/officeDocument" Target="/ppt/presentation.xml" Id="R7d25e8aa40ee4b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023f97d12f44b3"/>
  </p:sldMasterIdLst>
  <p:notesMasterIdLst>
    <p:notesMasterId xmlns:r="http://schemas.openxmlformats.org/officeDocument/2006/relationships" r:id="R0586d4aaea3d432d"/>
  </p:notesMasterIdLst>
  <p:sldIdLst>
    <p:sldId xmlns:r="http://schemas.openxmlformats.org/officeDocument/2006/relationships" id="256" r:id="R316d7d27930a45cb"/>
    <p:sldId xmlns:r="http://schemas.openxmlformats.org/officeDocument/2006/relationships" id="257" r:id="R4bfc14da23644f8a"/>
    <p:sldId xmlns:r="http://schemas.openxmlformats.org/officeDocument/2006/relationships" id="258" r:id="R25bf7e3d32664a47"/>
    <p:sldId xmlns:r="http://schemas.openxmlformats.org/officeDocument/2006/relationships" id="259" r:id="R21d3aa0ade3f4bff"/>
    <p:sldId xmlns:r="http://schemas.openxmlformats.org/officeDocument/2006/relationships" id="260" r:id="Rcd4ab6852eb84729"/>
    <p:sldId xmlns:r="http://schemas.openxmlformats.org/officeDocument/2006/relationships" id="261" r:id="R6fee5b7650bd4df4"/>
    <p:sldId xmlns:r="http://schemas.openxmlformats.org/officeDocument/2006/relationships" id="262" r:id="R57547d75ba714e7a"/>
    <p:sldId xmlns:r="http://schemas.openxmlformats.org/officeDocument/2006/relationships" id="263" r:id="Rea76c101c2a140dc"/>
    <p:sldId xmlns:r="http://schemas.openxmlformats.org/officeDocument/2006/relationships" id="264" r:id="Rb927c06347644911"/>
    <p:sldId xmlns:r="http://schemas.openxmlformats.org/officeDocument/2006/relationships" id="265" r:id="Rdf1db68738004e77"/>
    <p:sldId xmlns:r="http://schemas.openxmlformats.org/officeDocument/2006/relationships" id="266" r:id="Re507e065f352441c"/>
    <p:sldId xmlns:r="http://schemas.openxmlformats.org/officeDocument/2006/relationships" id="267" r:id="R8fc01be5ea184f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d6352e07464bb1" /><Relationship Type="http://schemas.openxmlformats.org/officeDocument/2006/relationships/slideMaster" Target="/ppt/slideMasters/slideMaster1.xml" Id="Rd3023f97d12f44b3" /><Relationship Type="http://schemas.openxmlformats.org/officeDocument/2006/relationships/notesMaster" Target="/ppt/notesMasters/notesMaster1.xml" Id="R0586d4aaea3d432d" /><Relationship Type="http://schemas.openxmlformats.org/officeDocument/2006/relationships/presProps" Target="/ppt/presProps.xml" Id="R4d72750ba2174db2" /><Relationship Type="http://schemas.openxmlformats.org/officeDocument/2006/relationships/tableStyles" Target="/ppt/tableStyles.xml" Id="Rc0cfaa517ac74ff1" /><Relationship Type="http://schemas.openxmlformats.org/officeDocument/2006/relationships/slide" Target="/ppt/slides/slide1.xml" Id="R316d7d27930a45cb" /><Relationship Type="http://schemas.openxmlformats.org/officeDocument/2006/relationships/slide" Target="/ppt/slides/slide2.xml" Id="R4bfc14da23644f8a" /><Relationship Type="http://schemas.openxmlformats.org/officeDocument/2006/relationships/slide" Target="/ppt/slides/slide3.xml" Id="R25bf7e3d32664a47" /><Relationship Type="http://schemas.openxmlformats.org/officeDocument/2006/relationships/slide" Target="/ppt/slides/slide4.xml" Id="R21d3aa0ade3f4bff" /><Relationship Type="http://schemas.openxmlformats.org/officeDocument/2006/relationships/slide" Target="/ppt/slides/slide5.xml" Id="Rcd4ab6852eb84729" /><Relationship Type="http://schemas.openxmlformats.org/officeDocument/2006/relationships/slide" Target="/ppt/slides/slide6.xml" Id="R6fee5b7650bd4df4" /><Relationship Type="http://schemas.openxmlformats.org/officeDocument/2006/relationships/slide" Target="/ppt/slides/slide7.xml" Id="R57547d75ba714e7a" /><Relationship Type="http://schemas.openxmlformats.org/officeDocument/2006/relationships/slide" Target="/ppt/slides/slide8.xml" Id="Rea76c101c2a140dc" /><Relationship Type="http://schemas.openxmlformats.org/officeDocument/2006/relationships/slide" Target="/ppt/slides/slide9.xml" Id="Rb927c06347644911" /><Relationship Type="http://schemas.openxmlformats.org/officeDocument/2006/relationships/slide" Target="/ppt/slides/slide10.xml" Id="Rdf1db68738004e77" /><Relationship Type="http://schemas.openxmlformats.org/officeDocument/2006/relationships/slide" Target="/ppt/slides/slide11.xml" Id="Re507e065f352441c" /><Relationship Type="http://schemas.openxmlformats.org/officeDocument/2006/relationships/slide" Target="/ppt/slides/slide12.xml" Id="R8fc01be5ea184f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0f183f837047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92cc7534fb41ba" /><Relationship Type="http://schemas.openxmlformats.org/officeDocument/2006/relationships/notesMaster" Target="/ppt/notesMasters/notesMaster1.xml" Id="Rdfce0ff623594a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37b796a8d14abf" /><Relationship Type="http://schemas.openxmlformats.org/officeDocument/2006/relationships/notesMaster" Target="/ppt/notesMasters/notesMaster1.xml" Id="R86657260b9a343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7ac53caf8f4201" /><Relationship Type="http://schemas.openxmlformats.org/officeDocument/2006/relationships/notesMaster" Target="/ppt/notesMasters/notesMaster1.xml" Id="R0529a12919fc42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cec25e2b074b43" /><Relationship Type="http://schemas.openxmlformats.org/officeDocument/2006/relationships/notesMaster" Target="/ppt/notesMasters/notesMaster1.xml" Id="R02fa79c4eaf74f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77d8e8e23e49f7" /><Relationship Type="http://schemas.openxmlformats.org/officeDocument/2006/relationships/notesMaster" Target="/ppt/notesMasters/notesMaster1.xml" Id="R633a6dd2675e49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d50d622f884df0" /><Relationship Type="http://schemas.openxmlformats.org/officeDocument/2006/relationships/notesMaster" Target="/ppt/notesMasters/notesMaster1.xml" Id="Red3d2001932f46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cf24f0b35a42a5" /><Relationship Type="http://schemas.openxmlformats.org/officeDocument/2006/relationships/notesMaster" Target="/ppt/notesMasters/notesMaster1.xml" Id="Rbc410b0b51a94f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29538ce3b94707" /><Relationship Type="http://schemas.openxmlformats.org/officeDocument/2006/relationships/notesMaster" Target="/ppt/notesMasters/notesMaster1.xml" Id="Ree96a40415a34f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0674fecdce4653" /><Relationship Type="http://schemas.openxmlformats.org/officeDocument/2006/relationships/notesMaster" Target="/ppt/notesMasters/notesMaster1.xml" Id="R2465ac396c7d4a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8e8f13f07d4270" /><Relationship Type="http://schemas.openxmlformats.org/officeDocument/2006/relationships/notesMaster" Target="/ppt/notesMasters/notesMaster1.xml" Id="R8e2ea4a8ee624b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709d05b2cb497f" /><Relationship Type="http://schemas.openxmlformats.org/officeDocument/2006/relationships/notesMaster" Target="/ppt/notesMasters/notesMaster1.xml" Id="Rf70dd00469b14f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4439f1e84a4d52" /><Relationship Type="http://schemas.openxmlformats.org/officeDocument/2006/relationships/notesMaster" Target="/ppt/notesMasters/notesMaster1.xml" Id="R6ab818366ddb4a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표지의 PV5 이미지는 GroundWatch 운영 장면을 설명하기 위해 생성한 콘셉트 이미지입니다. 실제 차량 장착 설계가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연합뉴스, 2025년 3월 24일 서울 강동구 대명초 앞 도로에서 발생한 대형 땅꺼짐 현장. 사고 규모와 인명피해는 국토교통부 중앙지하사고조사위원회 2025년 12월 발표 기준. https://m.korea.kr/briefing/policyBriefingView.do?newsId=156732996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연합뉴스, 서울 명일동 땅꺼짐 사고 조사 결과, 2025-12-03. https://www.yna.co.kr/view/AKR20251203094551003 . 직접 원인과 간접 원인은 국토교통부 중앙지하사고조사위원회 조사 결과를 요약했습니다. GroundWatch가 명일동 사고의 모든 원인을 탐지할 수 있었다는 의미가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서울시 내 손안에 서울, '우리가 딛는 땅, 안전하게! 지하매설물 조사·탐사장비 보강', 2024-09-05. https://mediahub.seoul.go.kr/archives/2012160 . 사진: 서울시 GPR 탐사 차량 내부.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운영 주기는 위험도에 따라 매일, 주간, 월간 또는 분기로 설정합니다. AI는 공동을 확정하지 않고 변화 후보를 선별하며 전문가가 원시 GPR 데이터를 검토합니다.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차량 투시도는 콘셉트 이미지입니다. 실제 제작 전 적재중량, 차량총중량, 전후축 하중, 장비 고정, 전자파 간섭, 전원 안정성, 구조변경 승인을 검토해야 합니다. Kia PV5 Cargo 공식 특징: https://www.kia.com/kr/vehicles/pv5-cargo/features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PV5 인포테인먼트 앱 배포와 차량 데이터 접근은 기아 PBV 파트너 승인과 공식 API 범위를 확인해야 합니다. 단순 화면 미러링이 아니라 Edge Gateway와 보안 Wi-Fi를 이용한 작업 데이터 연동 구조입니다. 주행 중 AR 글래스 사용은 금지합니다.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GPR은 토양 수분, 점토, 금속 구조물, 안테나 주파수에 따라 탐지 성능이 달라집니다. GroundWatch의 주요 감시 대상은 도로 표면에서 약 2m 내외의 얕은 공동입니다. 참고: FHWA GPR 기술 설명 https://infotechnology.fhwa.dot.gov/gpr-ground-penetrating-radar-utility-general/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실증 KPI 후보: 위치 정합 오차, 반복 데이터 편차, 변화 후보 탐지율과 오탐률, 전문가 검토시간, 재확인 소요시간, AR 기준점 정합 성공률, 재방문 횟수. 목표값은 파트너와 시험환경이 확정된 뒤 설정합니다.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확장 대상: 서울시와 자치구 도로관리, 도시철도 공사 영향구간, 상하수도 관리기관, 대형 굴착공사 발주기관, 집중호우 이후 긴급 탐사. 4D 지도는 X·Y 위치, 깊이 Z, 시간 T를 결합한 변화 이력입니다.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서울특별시 보도자료, '제2의 명일동 사고 막는다', 2026-03-23. 조사 범위는 9,595km에서 16,423km로 확대, 인력 9명에서 19명으로 확대, 장비는 차량형 6대·전동형 1대·핸드형 3대. https://www.seoul.go.kr/news/news_report.do?nttNo=454742 . 가격은 일일 조사거리, 인력, 장비 감가, 분석시간을 확인한 뒤 산정해야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제시한 개선효과는 아직 성과 수치가 아니라 파일럿에서 확인할 KPI입니다. GroundWatch의 가치는 지도를 만드는 데서 끝나지 않고 한 번의 측정을 다음 판단과 현장 행동으로 연결하는 데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8c271450b44d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ec01b5cb748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fc6f4eb8b44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ca72c666684a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ee715a29724d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746757950845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42ADD7-72C4-4076-9538-A61B7D03B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69894A-49CD-4C2F-956B-EAA79BC02C1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33EAEE-B989-460C-BD15-3502D1734E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88372F-B502-4AA4-95C7-950CD02CDE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8DEDE3-0905-4452-965C-B12F4ED11F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D96C15-C7BE-46FD-9743-0469000F21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34AB5D-B8BA-42A0-99AA-B3F9E61204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B5FD3CD-EB68-41DC-A2A5-670DD6A95D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52F4AB-B61A-4C56-88BA-FB75D6CECC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BDAC6E-4761-486C-827C-99616FA81B1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03c653f41d4941" /><Relationship Type="http://schemas.openxmlformats.org/officeDocument/2006/relationships/slideLayout" Target="/ppt/slideLayouts/slideLayout1.xml" Id="R2ae3dbdb104943c8" /><Relationship Type="http://schemas.openxmlformats.org/officeDocument/2006/relationships/slideLayout" Target="/ppt/slideLayouts/slideLayout2.xml" Id="R1233bfdc39264823" /><Relationship Type="http://schemas.openxmlformats.org/officeDocument/2006/relationships/slideLayout" Target="/ppt/slideLayouts/slideLayout3.xml" Id="R8c0aaa5d529047f0" /><Relationship Type="http://schemas.openxmlformats.org/officeDocument/2006/relationships/slideLayout" Target="/ppt/slideLayouts/slideLayout4.xml" Id="Rac179dbc50794ae5" /><Relationship Type="http://schemas.openxmlformats.org/officeDocument/2006/relationships/slideLayout" Target="/ppt/slideLayouts/slideLayout5.xml" Id="R497828c577f741ad" /><Relationship Type="http://schemas.openxmlformats.org/officeDocument/2006/relationships/slideLayout" Target="/ppt/slideLayouts/slideLayout6.xml" Id="Rfaf0b32cd71b4c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e3dbdb104943c8"/>
    <p:sldLayoutId xmlns:r="http://schemas.openxmlformats.org/officeDocument/2006/relationships" id="2147483650" r:id="R1233bfdc39264823"/>
    <p:sldLayoutId xmlns:r="http://schemas.openxmlformats.org/officeDocument/2006/relationships" id="2147483651" r:id="R8c0aaa5d529047f0"/>
    <p:sldLayoutId xmlns:r="http://schemas.openxmlformats.org/officeDocument/2006/relationships" id="2147483652" r:id="Rac179dbc50794ae5"/>
    <p:sldLayoutId xmlns:r="http://schemas.openxmlformats.org/officeDocument/2006/relationships" id="2147483653" r:id="R497828c577f741ad"/>
    <p:sldLayoutId xmlns:r="http://schemas.openxmlformats.org/officeDocument/2006/relationships" id="2147483654" r:id="Rfaf0b32cd71b4c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9ccca8e82c4514" /><Relationship Type="http://schemas.openxmlformats.org/officeDocument/2006/relationships/image" Target="/ppt/media/image.png" Id="R65b0627a875e43f1" /><Relationship Type="http://schemas.openxmlformats.org/officeDocument/2006/relationships/notesSlide" Target="/ppt/notesSlides/notesSlide1.xml" Id="R34adfc87c58a46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3695ee4d3c4169" /><Relationship Type="http://schemas.openxmlformats.org/officeDocument/2006/relationships/image" Target="/ppt/media/image2.png" Id="Re4f52a6e0bd64fd1" /><Relationship Type="http://schemas.openxmlformats.org/officeDocument/2006/relationships/notesSlide" Target="/ppt/notesSlides/notesSlide2.xml" Id="R6f0c6f69eb684d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d5a1e1c56844a2" /><Relationship Type="http://schemas.openxmlformats.org/officeDocument/2006/relationships/image" Target="/ppt/media/image3.png" Id="Ra0dd464108f441fb" /><Relationship Type="http://schemas.openxmlformats.org/officeDocument/2006/relationships/notesSlide" Target="/ppt/notesSlides/notesSlide3.xml" Id="Rcc5280bb3bc84c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97ddb2decf4a43" /><Relationship Type="http://schemas.openxmlformats.org/officeDocument/2006/relationships/image" Target="/ppt/media/image4.png" Id="R4926c2352db44dd3" /><Relationship Type="http://schemas.openxmlformats.org/officeDocument/2006/relationships/notesSlide" Target="/ppt/notesSlides/notesSlide4.xml" Id="R8a726bc89dfb4b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9b8c8975fc42aa" /><Relationship Type="http://schemas.openxmlformats.org/officeDocument/2006/relationships/notesSlide" Target="/ppt/notesSlides/notesSlide5.xml" Id="Rde9a0ca1bc0548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664e91316c4c3a" /><Relationship Type="http://schemas.openxmlformats.org/officeDocument/2006/relationships/image" Target="/ppt/media/image5.png" Id="Rb6a705eb2e77457d" /><Relationship Type="http://schemas.openxmlformats.org/officeDocument/2006/relationships/notesSlide" Target="/ppt/notesSlides/notesSlide6.xml" Id="R195d61c1b2954b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a3df53713a44d1" /><Relationship Type="http://schemas.openxmlformats.org/officeDocument/2006/relationships/notesSlide" Target="/ppt/notesSlides/notesSlide7.xml" Id="Rf41d751c8b7043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3fa285462d4a2e" /><Relationship Type="http://schemas.openxmlformats.org/officeDocument/2006/relationships/notesSlide" Target="/ppt/notesSlides/notesSlide8.xml" Id="R6a9568590ea844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536a0f8ee349ec" /><Relationship Type="http://schemas.openxmlformats.org/officeDocument/2006/relationships/notesSlide" Target="/ppt/notesSlides/notesSlide9.xml" Id="R9b7844fde7084c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eea3713a5b4ff2" /><Relationship Type="http://schemas.openxmlformats.org/officeDocument/2006/relationships/notesSlide" Target="/ppt/notesSlides/notesSlide10.xml" Id="Rb410e676653648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745cd82ef143f5" /><Relationship Type="http://schemas.openxmlformats.org/officeDocument/2006/relationships/image" Target="/ppt/media/image6.png" Id="Rb3aa616514a644b5" /><Relationship Type="http://schemas.openxmlformats.org/officeDocument/2006/relationships/notesSlide" Target="/ppt/notesSlides/notesSlide11.xml" Id="Rdbceb4875c694b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01c1ec877f4617" /><Relationship Type="http://schemas.openxmlformats.org/officeDocument/2006/relationships/notesSlide" Target="/ppt/notesSlides/notesSlide12.xml" Id="R38377c4265a045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98DC4-D35D-4027-A74F-EF1F751597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0627a875e43f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B55E8-E7E2-431A-9683-08F74FB7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86C9D-C665-4B95-A3E4-283C7A9C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F291B-CC5A-41A4-9AB6-BA7DA804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239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7505A-DD9D-444C-BEA0-4691472C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57275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3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33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33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PV5 GroundWatch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E0B40-6DD5-489B-A684-5E65E4FE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D7E8E6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D7E8E6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D7E8E6"/>
                </a:solidFill>
                <a:latin typeface="Nanum Gothic"/>
                <a:ea typeface="Nanum Gothic"/>
                <a:cs typeface="Nanum Gothic"/>
              </a:rPr>
              <a:t>PV5 지하안전 순찰차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12EFA-3A79-439C-A267-120C3ADF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7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같은 길을 반복 측정해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7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7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지하의 변화를 찾습니다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81321-D3E9-407A-AACD-0F7850A9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3829050" cy="552450"/>
          </a:xfrm>
          <a:prstGeom xmlns:a="http://schemas.openxmlformats.org/drawingml/2006/main" prst="roundRect">
            <a:avLst>
              <a:gd name="adj" fmla="val 20690"/>
            </a:avLst>
          </a:prstGeom>
          <a:ln xmlns:a="http://schemas.openxmlformats.org/drawingml/2006/main" w="9525">
            <a:solidFill>
              <a:srgbClr val="9BCB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7A7BF-2013-4F68-AA3D-6C03F6B4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TEAM  한 명이라도 살릴 수 있다면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04194-CD9A-4620-A3F7-8B08E635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674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750" b="0">
                <a:solidFill>
                  <a:srgbClr val="C6D3D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750" b="0">
                <a:solidFill>
                  <a:srgbClr val="C6D3DA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0">
                <a:solidFill>
                  <a:srgbClr val="C6D3DA"/>
                </a:solidFill>
                <a:latin typeface="Nanum Gothic"/>
                <a:ea typeface="Nanum Gothic"/>
                <a:cs typeface="Nanum Gothic"/>
              </a:rPr>
              <a:t>Concept Proposal</a:t>
            </a:r>
          </a:p>
        </p:txBody>
      </p:sp>
    </p:spTree>
    <p:extLst>
      <p:ext uri="{BB962C8B-B14F-4D97-AF65-F5344CB8AC3E}">
        <p14:creationId xmlns:p14="http://schemas.microsoft.com/office/powerpoint/2010/main" val="13234244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BD6D4F-C3D6-4AFB-88B9-2A05BE6E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59773-8958-4353-A242-E6FAC13C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2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A1D6B-35EB-4DB1-A74A-B43C6CB4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05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PV5 GroundWatch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C43F7-11CB-4256-8FF2-A20AB771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038DD-05B2-415D-A619-3EAF8ABB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05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2p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EEA31-202A-4D9C-9FB6-EC72EF90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현재 문제상황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4DC0E-537A-476C-BF1C-5ED8AF63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지반침하는 평범한 이동 중에도 생명을 위협합니다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A050A-F2D4-4DF5-BD2B-A39A0807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57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9D82E0-4B14-443F-929D-195E1640DA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52a6e0bd64fd1"/>
          <a:srcRect xmlns:a="http://schemas.openxmlformats.org/drawingml/2006/main" l="0" t="2210" r="0" b="22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723900"/>
            <a:ext cx="7239000" cy="4953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6E7B5-975A-4DA7-805D-FC9F9CB5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723900"/>
            <a:ext cx="476250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F2FAE-2318-4E42-B2D9-A4389A5D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000125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9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도로가 무너지기까지,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C13F7-40F5-4011-A010-B738526F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428750"/>
            <a:ext cx="350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650" b="1">
                <a:solidFill>
                  <a:srgbClr val="D9474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4650" b="1">
                <a:solidFill>
                  <a:srgbClr val="D94747"/>
                </a:solidFill>
                <a:latin typeface="Nanum Gothic"/>
                <a:ea typeface="Nanum Gothic"/>
                <a:cs typeface="Nanum Gothic"/>
              </a:defRPr>
            </a:pPr>
            <a:r>
              <a:rPr sz="4650" b="1">
                <a:solidFill>
                  <a:srgbClr val="D94747"/>
                </a:solidFill>
                <a:latin typeface="Nanum Gothic"/>
                <a:ea typeface="Nanum Gothic"/>
                <a:cs typeface="Nanum Gothic"/>
              </a:rPr>
              <a:t>1~2분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8D7ACF-7F1A-401C-A485-BBAC630B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2025.03.24  서울 명일동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970C0-FEBF-4F52-BA7A-9CD448F2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76550"/>
            <a:ext cx="36004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E6A52F-F5D6-456B-808E-D3893A6A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22m × 18m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0080D-23B9-4613-AE9E-1F964EC0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289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82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도로 붕괴 범위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60034-6737-451C-940F-539918F6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57600"/>
            <a:ext cx="36004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B15006-76FE-4329-A15F-53FC6D02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719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깊이 16m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C567A5-2C49-433A-A853-B1969567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100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82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최종 조사 규모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20C69B-BE22-4C7F-A909-FF0E4201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38650"/>
            <a:ext cx="36004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DD9C6B-4C22-4229-AC4D-8BBD65BF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529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D9474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D94747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D94747"/>
                </a:solidFill>
                <a:latin typeface="Nanum Gothic"/>
                <a:ea typeface="Nanum Gothic"/>
                <a:cs typeface="Nanum Gothic"/>
              </a:rPr>
              <a:t>사망 1명 · 부상 1명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9CDE7-78C9-4773-9252-A3E00E59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91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82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82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인명피해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267A2-F87C-44A4-9413-83F371C1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5305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평범한 도로가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한 사람의 마지막 길이 되었습니다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341B8A-E9E3-49B5-9B98-7F25486F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627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한 명이라도 살릴 수 있다면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BBAE08-3E8F-45E9-9100-D640D98A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1901090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5E40C1-FBD5-48D6-B4F6-9B6DFF06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F4649-5F34-49AE-BD61-D07DBCB2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2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C71DA-D53B-4EE7-BAA9-45743503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05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PV5 GroundWatch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92FE2-917C-4BC6-9EEF-4822689F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75BA5-EF74-46A6-8B6B-324C434E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05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2p-2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463EC-3119-431F-82E1-C583341C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사고 발생 과정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508A1-D1A3-4440-93B0-D0A4AC58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붕괴는 갑자기 보였지만 위험요인은 지하에서 누적됐습니다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58C084-12DC-44DD-9055-1BC75F6B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57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24B55-7127-4D35-B839-C9C325CB64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d464108f441fb"/>
          <a:stretch xmlns:a="http://schemas.openxmlformats.org/drawingml/2006/main"/>
        </p:blipFill>
        <p:spPr>
          <a:xfrm xmlns:a="http://schemas.openxmlformats.org/drawingml/2006/main">
            <a:off x="704624" y="742950"/>
            <a:ext cx="3296102" cy="53721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74C4A8-10D3-4232-80A8-04BBA02B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8763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보이지 않는 변화가 겹치며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도로 붕괴로 이어진다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43F85-E2BF-4359-9406-0361E5EA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52750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13A05B-FE4F-43EA-A4E6-2A99EABF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771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1C77A-DE12-4949-B23B-7233D43E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352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취약 지질구조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38530-7AB0-4221-98BF-30066ED84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77190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불연속면이 만든 쐐기형 토체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2373B-0FBC-4030-A19F-6BCF3169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71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6263D-C60B-42DA-9CE0-E2F49D3B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52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지하수위 저하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0380B-6CB3-43E0-8AA9-F801C0C4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7190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지반의 안정성 저하와 교란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68E45-BD0E-4F61-A8CB-81AAE5B7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71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9F0F75-D2F0-4EC9-9500-D46C69AA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352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노후관 장기 누수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562DF-9171-454F-A453-EA3979B6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77190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지반 연약화와 토사 이동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C0348-2ABB-4355-84D8-924701AE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771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7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FDF49B-D888-4F94-920E-6794BF06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3528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터널 상부 토사 유실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478AC6-57B4-41FD-A19B-CF00BF20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77190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도로 중앙부 붕괴와 급속 확대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301E69-F528-4728-99A7-0ACF3576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95850"/>
            <a:ext cx="63436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FD3ACC-1CC5-4B59-AABA-79138112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05400"/>
            <a:ext cx="573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눈에 보이는 균열만 기다리지 않고,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같은 지점의 지하 변화를 계속 기록해야 합니다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1A0D7C-6CAB-4334-90B2-6CF4ED1E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627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한 명이라도 살릴 수 있다면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08BF80-A79A-4601-9B0D-52EE7ECD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17610418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431CB8-C35D-4B35-8A71-36F6B947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ED369-B6E5-4537-942B-39DC2247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2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BF0C8-C054-4209-A85E-BA112A79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05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PV5 GroundWatch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07CE8-FAC5-4197-AA2B-C4224B6E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1F0DB-70FD-4359-BEF8-93ED100A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05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3p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98F65-3A8C-4D3F-8F76-7C32710C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기존 조사 방식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54673-833C-4383-83D8-57099107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현재 체계를 존중하고 측정 사이의 공백을 연결합니다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4F937-6E50-46F1-927C-69437975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57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BE6453-7393-4927-A425-CFF95D9D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21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현재는 넓게 탐사하고, 의심 지점을 정밀 확인합니다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AF3668-53BA-4FD9-B079-5D1D48D505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6c2352db44dd3"/>
          <a:srcRect xmlns:a="http://schemas.openxmlformats.org/drawingml/2006/main" l="0" t="4174" r="0" b="4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390650"/>
            <a:ext cx="470535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C3024-F807-4303-9558-B8801C5E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98564-2D89-4AAD-B065-BA689337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실제 서울시 GPR 탐사 차량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302A3-2813-43A4-99A1-B619546C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85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F7D3F-6FC7-4605-98BE-56B33DDB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09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차량형 GPR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8446F5-FCC4-4D9D-B0C1-647D6792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넓은 구간 탐사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29C60-DBD6-4EA0-BC65-1E4D7D05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8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AD251E-2DCA-4FC5-93D4-9012090C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C36C3-7760-492D-A1B0-C0956073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05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전문가 판독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EFA0E-C241-4891-999D-C2877D40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공동 의심지 선별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454F6-2B58-40CF-99BE-3EFFE889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0350"/>
            <a:ext cx="28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AEDD85-1E52-4734-84B3-BC7AF2AB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31B9DC-28E1-409E-ABC3-E1FD0534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수동 GPR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708C7C-C143-4AD0-A4F7-A5571AA0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현장 재탐사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388E9E-FEC6-4506-92CE-1CBE119C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95700"/>
            <a:ext cx="285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F68794-B558-405C-A11A-88E3CAFB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7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56152F-BF58-4C87-923A-44626729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천공·내시경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55BAC6-58E8-4634-8D68-88518045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96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최종 확인과 복구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8393B2-5D57-4536-A7DF-E2E6A5B7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09700"/>
            <a:ext cx="2476500" cy="34861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903B5-CE61-4963-AC27-87AC9293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57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D9474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D94747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D94747"/>
                </a:solidFill>
                <a:latin typeface="Nanum Gothic"/>
                <a:ea typeface="Nanum Gothic"/>
                <a:cs typeface="Nanum Gothic"/>
              </a:rPr>
              <a:t>현재의 공백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BEA076-3CED-4B4C-96C0-EA02372D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0D0316-F224-4E38-94E2-D938FB68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336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시점별 데이터가 분리됨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AB286E-1A21-453D-991F-FD67314E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62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A5B044-18B9-4BDB-893A-03847330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860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다음 조사 우선순위 판단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FD992A-EA63-4614-A451-A9C3565B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7C30F8-1558-49CA-8CEA-B096911B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385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현장 위치 재탐색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8769EE-C346-4864-8F47-99C8D55D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DF9C21-F79D-46D1-BCBC-41426DD1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909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조사와 보수이력의 단절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EB673A-B0F5-40CB-B903-9B3F30AE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10680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5C67B4-BA69-4B70-91EA-A51F2C52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387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기존 GPR을 대체하지 않습니다. 반복 측정과 현장 업무를 하나의 이력으로 연결합니다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52382D-D526-4739-8F82-76F9E70D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627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한 명이라도 살릴 수 있다면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D1F88F-9F22-475B-B786-98ADF269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16084463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22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3D031B-ADCE-4328-8E51-6B988053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01192-FD42-479D-BC65-85E00F60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2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93BFB-57CE-4AAC-B497-7B146A5E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05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PV5 GroundWatch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CE638-C1E6-476B-ACF9-FC83C658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9CA69-C051-47F5-B232-E917CD82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05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4p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4B297-1B23-472C-87BB-E2D4E1B7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GroundWatch 파이프라인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69001-9808-4315-86F4-E2B067A8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순찰 결과가 다음 현장 업무로 이어지는 폐쇄형 운영 구조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557BC-1265-458E-BE8A-2C336B9E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57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6C288-C8B8-4FE1-91C4-DE3CE89B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1085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같은 길을 반복해서 보고, 달라진 지점을 다시 확인합니다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4F381-D5A1-469E-97F4-4B903361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3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33CEF-C506-4AAB-9CE8-E269E2AE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19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8422C-FC88-40B9-B858-06A068DD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48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경로 등록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BD0F0-BC4C-43EC-A3B9-6DE8E20D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rPr>
              <a:t>위험구간과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rPr>
              <a:t>정기 순찰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DBFACF-D56D-4450-9D98-8D7520A5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19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50178-8797-4950-9C05-71B41128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48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새벽 주행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00ACE-9E0A-466C-BB89-C725ADFA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90525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rPr>
              <a:t>GPR·카메라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rPr>
              <a:t>동시 수집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32A01-83FA-4AF6-946F-41415204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19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8A18D7-327F-43D0-97D2-EFF24D75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48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4D 저장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32683B-42EA-4D5A-BFF7-F7DAA75C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90525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rPr>
              <a:t>위치·깊이·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rPr>
              <a:t>측정시점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D98D6-AF67-4CAA-94CA-ED75FDC9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19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0FCD1-2720-4ABD-AE31-E8F10FFE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48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AI 선별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A53B27-C9A7-4022-864C-775ABC45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0525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rPr>
              <a:t>이전 회차와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rPr>
              <a:t>변화 비교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C32528-2E79-4976-8E75-70FC2B4C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819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66E250-4183-4079-9F31-79574FF0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48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전문가 승인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C9145A-0B60-4F03-9FCF-5C993E5C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0525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rPr>
              <a:t>원시 데이터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rPr>
              <a:t>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ACDA94-7686-4911-87C3-9C224EFC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819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7FE5DA-D877-4642-B703-F1764245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48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현장 재확인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0D693E-F783-433B-966F-CC21975F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0525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rPr>
              <a:t>AR·수동 GPR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rPr>
              <a:t>교차검증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95C3FF-23D4-411F-902D-EEB532C8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819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55921A-F7C4-44DA-9365-66B87127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48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결과 축적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0444A8-E284-4319-86AF-17DD93B3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90525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rPr>
              <a:t>정밀조사·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C9D6DE"/>
                </a:solidFill>
                <a:latin typeface="Nanum Gothic"/>
                <a:ea typeface="Nanum Gothic"/>
                <a:cs typeface="Nanum Gothic"/>
              </a:rPr>
              <a:t>보수 이력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47F2A7-270E-49D2-BDBB-9D9DCCD7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99822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A819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7F2BA7-EFC9-420E-A6E5-1676E613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91150"/>
            <a:ext cx="9220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7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반복 측정    변화 감지    현장 재확인    결과 축적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7FDD5D-1013-4511-A6D1-2377E602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627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>
                <a:solidFill>
                  <a:srgbClr val="CFD8D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675" b="1">
                <a:solidFill>
                  <a:srgbClr val="CFD8DF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CFD8DF"/>
                </a:solidFill>
                <a:latin typeface="Nanum Gothic"/>
                <a:ea typeface="Nanum Gothic"/>
                <a:cs typeface="Nanum Gothic"/>
              </a:rPr>
              <a:t>한 명이라도 살릴 수 있다면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B4F2E9-A00E-4B3F-9EEC-DF7150B5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>
                <a:solidFill>
                  <a:srgbClr val="CFD8D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675" b="1">
                <a:solidFill>
                  <a:srgbClr val="CFD8DF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CFD8DF"/>
                </a:solidFill>
                <a:latin typeface="Nanum Gothic"/>
                <a:ea typeface="Nanum Gothic"/>
                <a:cs typeface="Nanum Gothic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11518182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511337-CFDC-4CE2-B39A-3059CB0C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BA115-57BF-45AB-8451-DB2D6C83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2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87585-7BB8-44A9-B051-367B79EF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05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PV5 GroundWatch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8957A1-811C-4089-9872-3A63E39D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ED559-7DED-47AC-9D8B-12B32CCA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05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4p-2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B596C-E134-4D3C-9745-E1505E27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PV5 이동형 탐사실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297F5-3381-469D-9DA7-983E0282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측정 장비와 현장 재검증 장비를 한 차량에 고정합니다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3F6CE-EC01-46E1-9698-9CD0404A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57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8E4E2-BB4D-44C8-9D35-9C1167C51D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705eb2e77457d"/>
          <a:stretch xmlns:a="http://schemas.openxmlformats.org/drawingml/2006/main"/>
        </p:blipFill>
        <p:spPr>
          <a:xfrm xmlns:a="http://schemas.openxmlformats.org/drawingml/2006/main">
            <a:off x="2254176" y="1028700"/>
            <a:ext cx="7683648" cy="4324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77AFA-A413-4B2F-ABF8-413D73D4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33475"/>
            <a:ext cx="18669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E12F4-D3D0-4FEE-8BCE-59EF28CB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47775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AAOS 업무 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C3A40-236D-45B2-B34B-B1FC886B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800100"/>
            <a:ext cx="2057400" cy="723900"/>
          </a:xfrm>
          <a:prstGeom xmlns:a="http://schemas.openxmlformats.org/drawingml/2006/main" prst="roundRect">
            <a:avLst>
              <a:gd name="adj" fmla="val 15789"/>
            </a:avLst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E0437-7A3A-402C-AE61-799BC929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914400"/>
            <a:ext cx="1866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Edge Gateway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GPR 제어·저장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D9F34-7324-41ED-8874-848B6CFE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800100"/>
            <a:ext cx="1809750" cy="723900"/>
          </a:xfrm>
          <a:prstGeom xmlns:a="http://schemas.openxmlformats.org/drawingml/2006/main" prst="roundRect">
            <a:avLst>
              <a:gd name="adj" fmla="val 15789"/>
            </a:avLst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9C593-70A2-4AF6-AD19-BFA28936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91440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수동 GPR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AR·RTK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BCDAC-20F6-455F-B736-3B2EE129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219200"/>
            <a:ext cx="1771650" cy="723900"/>
          </a:xfrm>
          <a:prstGeom xmlns:a="http://schemas.openxmlformats.org/drawingml/2006/main" prst="roundRect">
            <a:avLst>
              <a:gd name="adj" fmla="val 15789"/>
            </a:avLst>
          </a:prstGeom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5535E-0A5E-44ED-9E44-EA2BB644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333500"/>
            <a:ext cx="1581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내시경·조명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안전장비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0F5046-C0E2-47D5-A0CA-2F7DF1AD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81625"/>
            <a:ext cx="247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9D9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FED95-238E-4BFC-96EF-C048D081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959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차량형 다채널 GPR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24B98-F454-4A82-9AC4-9B968F1D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81700"/>
            <a:ext cx="11049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4D82CD-99D8-480C-9A13-5451421B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12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PV5가 제공하는 가치: 저소음 새벽 순찰 · 장비 고정 · V2L 보조전원 · 플릿 확장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C84699-B3DF-4CDA-9DBC-9C43B42A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627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한 명이라도 살릴 수 있다면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1A7CB4-CE2D-42C3-9213-080C089E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6535998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A30B71-7A8A-4C97-82E9-DC011AFD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7939B-363E-45F8-9AF6-DAD92C5D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2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83E4E-DACE-4C2B-A0C8-DF6A8ACF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05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PV5 GroundWatch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CEEC5-FB02-4BBE-86E0-E498E5F9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A5270-029A-4501-A318-1A808634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05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4p-3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6CD36-1E01-4391-BE27-36A6DF62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차량 앱과 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6B7F1-16AB-48EA-A339-A097F943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재확인 업무가 차량 디스플레이에서 작업자의 시야까지 이어집니다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88F75-1187-43EE-8BB5-1C7422E1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57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E0EB2-E1D3-4445-95DE-F0993170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차량에서 만든 재확인 업무를 현장 작업자에게 전달합니다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37CA4-111B-4969-9F6C-0BBEC9ED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38350"/>
            <a:ext cx="20383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25AFF-D9D8-469F-A63B-540E71F8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28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F2C94C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F2C94C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2C94C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9FD2E-E0F9-4DE5-A187-12588EE0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GroundWatch Cloud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01C19-6ADB-494C-B1D3-42CCD49B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rPr>
              <a:t>4D 지도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rPr>
              <a:t>변화 후보·작업이력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42635-61FC-48D1-9FF4-BD37AC1D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575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B0F75-0F1A-4ABB-B0AA-4AEB52CE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0035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F6204-3B2B-404D-822A-880D2F12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38350"/>
            <a:ext cx="20383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875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CD16EC-1AEE-4367-AB7E-4020B5BE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28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F2C94C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F2C94C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2C94C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BE735-CA39-4A2F-8B94-63AC8E35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479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Patrol 차량 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C1766A-EA71-478A-84FC-34D177DF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432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rPr>
              <a:t>순찰경로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rPr>
              <a:t>안전 정차 위치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FB0953-5CB9-48E2-B331-DD7B0452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4F12E0-BE18-4EFA-BADC-543B0ECF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0035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18C5A3-85DA-4159-8C26-B9316CDA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38350"/>
            <a:ext cx="20383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CC209D-BAD5-43D8-85DA-502FB478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28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620EB-9EBB-4F12-8D1D-19F89A2A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479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Edge Gateway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BE6FFB-21A2-4221-AD9F-496A6CE3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432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rPr>
              <a:t>좌표·시간 정합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rPr>
              <a:t>작업 패키지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49FB84-B26B-42CE-8651-8FE00BC4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575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972FAA-520D-4A59-A61D-D03F2F93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D2626-7644-4D9A-B027-96DCE823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38350"/>
            <a:ext cx="20383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4E87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500667-089F-4965-92B8-5D3E2E82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28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F2C94C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F2C94C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2C94C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A40F4F-7CC9-4A56-B0E6-DF117C9C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479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AR Glasses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CC15A3-668F-44FA-A444-3272725F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432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rPr>
              <a:t>검색범위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rPr>
              <a:t>이동방향·음성메모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DBCB9A-97E9-4A3C-A1F6-42C9A627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036873-9557-4E36-A2B8-10037286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0035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F6B81E-BEB5-44A6-9DEC-D4A6DE3B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38350"/>
            <a:ext cx="20383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63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A959E5-332B-4B25-8196-DD3B9B04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228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F2C94C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F2C94C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2C94C"/>
                </a:solidFill>
                <a:latin typeface="Nanum Gothic"/>
                <a:ea typeface="Nanum Gothic"/>
                <a:cs typeface="Nanum Gothic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59A329-729C-4BA2-9C87-4332E04F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4795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수동 GPR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A124E5-9F10-441C-A4F9-520E9843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143250"/>
            <a:ext cx="1657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rPr>
              <a:t>서로 다른 방향의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E7EFF1"/>
                </a:solidFill>
                <a:latin typeface="Nanum Gothic"/>
                <a:ea typeface="Nanum Gothic"/>
                <a:cs typeface="Nanum Gothic"/>
              </a:rPr>
              <a:t>교차검증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2A4C19-9E1D-4423-8278-762648A1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1078230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5FF0BD-B143-4FA8-9804-41665AEA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D9474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D94747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D94747"/>
                </a:solidFill>
                <a:latin typeface="Nanum Gothic"/>
                <a:ea typeface="Nanum Gothic"/>
                <a:cs typeface="Nanum Gothic"/>
              </a:rPr>
              <a:t>AR 운용 원칙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260CC0-04F7-4347-9708-A5501B85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86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CEC308-6350-47EA-B4AD-BB2A0BC0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101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차량 정차 후 외부 작업자만 착용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0A1D1D-A657-4D4A-BEA0-9195912A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10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DD8F9C-30BD-4DEC-B7D2-DE45CC73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339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맨홀·차선·경계석과 RTK 중 2~3개 기준점 결합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428BFF-B67A-4DD2-AD3E-61AE8BA3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334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6FB706-E8AA-4957-B6D3-FD00800A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578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공동의 실제 모양 대신 수동 GPR 검색범위 표시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97BDB9-D245-44C0-9CB0-39BBB5AF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627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한 명이라도 살릴 수 있다면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3DB527-D72A-40C4-B02B-B63AA6EE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3683637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C42CD5-5206-4ED2-A3A6-C4431F75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47327-2C8E-49A6-BBC9-FAD6B4DF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2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7F404-7F74-4824-A99D-D540417C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05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PV5 GroundWatch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20D63-7DFA-4A42-99EF-590758B5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9CA45-30E0-447C-9B3F-A8B382EE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05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5p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8DEE7-B480-4BA4-B7AA-22D5126D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기술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1F056-B592-4F69-B680-310FB10A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상용 기술과 차량 통합 실증 항목을 구분합니다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151D2-D52C-49D2-A8FA-EB519476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57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3C5A0-FFC1-42BD-8E89-3776EEA0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1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210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개별 기술의 존재보다 한 차량에서 반복 가능한 정확도로 연결되는지가 핵심입니다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8C942-581F-4D82-A4E0-46BD3C33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2387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7B902-EAAF-4D6E-B35B-B6596DA3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52387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FF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3E29E-22CE-419E-940A-982230E7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rPr>
              <a:t>사용 가능한 기반 기술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9C970-FC5D-4365-84AC-4A973928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716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9B6B00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9B6B00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9B6B00"/>
                </a:solidFill>
                <a:latin typeface="Nanum Gothic"/>
                <a:ea typeface="Nanum Gothic"/>
                <a:cs typeface="Nanum Gothic"/>
              </a:rPr>
              <a:t>반드시 실증할 항목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AC95ED-1CE5-41F0-81B4-7E26596C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CB4CA-5759-4CCA-92FC-79160167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24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차량형·수동 GPR 공동 탐사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16686-2BE2-4EBF-989E-C5ACD378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9C5A2-7320-4AE2-9985-31576899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527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RTK·IMU·휠 인코더 위치 보정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C58BD-9FE4-40C4-800B-D9A467DE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602F98-11EE-41F7-A259-990D9F19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카메라 기반 노면 변화 기록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A16ED6-427E-4532-9C5B-DACAA053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44C9D-B08F-4713-9B21-66E23472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099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엣지 컴퓨터 현장 처리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300F22-F5F9-44F9-A194-DD3626D9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02006D-302D-453F-8516-8B930B2B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GIS 탐사 이력 관리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330C97-68AB-4987-B0C8-EC6E3A96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AC158E-D965-40AA-983D-B7CFC647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67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AAOS 기반 PBV 앱 생태계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85C924-4DEF-40C3-889A-B3DE00AF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72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F1ED90-44A8-4B5E-9D1F-405113CE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AR 글래스 작업 안내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1769A2-EB69-45FC-82EA-241B3DEB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00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C923F1-2EFC-46B0-AE53-BAFC28A4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24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EV 구동계와 GPR 전자파 간섭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44C112-6BC8-4484-8899-47819F98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28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7FA8A2-6C04-4AEC-BA1B-B4965E14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527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반복 측정 데이터의 일관성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27AA5D-4BAF-4CA6-B7B4-5E0EC229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EB801A-24A4-467C-A516-C00EFD11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81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적재중량·축하중·제동 안정성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AE98C2-8C1E-41DD-80F7-9BD68B1F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861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F3BB3B-4969-41C3-9567-87320850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099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실제 소비전력과 전원 안정성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6E9904-E421-4870-A3B2-781E1689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662F4F-7303-4CDA-BBD8-B390E4E3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386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시점별 GPR 정합 정확도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771779-FC6E-445A-A35F-D7703907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43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F1D115-4B4F-456D-A30F-FC2AD4AB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467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AI 탐지율과 오탐률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A7F01A-5F35-4853-9E50-E4CBF66C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5A2DF6-E3BD-4197-BF25-544E1227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95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야간 AR 인식과 위치 오차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C484E1-D242-45B9-ACEB-1EA6C8EE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11252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4EB658-192D-4F04-B73A-BFC11F62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76950"/>
            <a:ext cx="1055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AI는 공동을 확정하지 않습니다. 변화 후보를 선별하고 전문가 판독과 정밀조사로 확인합니다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C73239-3AD0-48DD-A0B3-EC782B1F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627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한 명이라도 살릴 수 있다면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8EEE4D-12EE-4449-BE0F-5265415B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20136380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C33C5A-C2B8-4BE8-AF4B-1C2659BD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AD7FC-892F-4BB8-9E71-99FB7B5F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2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6838A-AE9D-4BD7-8945-4C245C3C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05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PV5 GroundWatch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5E085-672C-42DF-9CB2-E275C273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414A0-51D5-4D9F-955F-CA8F5231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05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5p-2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0FE32-2D6B-4C42-A4A8-946B014D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단계별 실증 계획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4EE14-BD7B-4F16-95EE-5D47B6DF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폐쇄 구간에서 실제 도로 운영까지 검증 범위를 넓힙니다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FAC93-5164-418C-B163-3EDE8EB2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57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5EF34-7E22-4DCC-891D-F2D45EB0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검증은 장비 통합, 반복성, 실제 도로, 운영성 순서로 진행합니다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A4F68-8BC2-4128-A30F-6E69F3C5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10680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D7E0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BE78E-C17F-4F1D-8698-478D3781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383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09D92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009D92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09D92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05E2F-295D-4EEB-A893-4ED198D3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907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장비 통합 시험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7FBBC9-8772-42A8-A6B5-160E5B9D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71650"/>
            <a:ext cx="2000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06A872-266D-4290-BBCF-40AB1612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954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진동·고정 구조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1015AA-7794-4A4D-8FB2-3A745B3E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71650"/>
            <a:ext cx="2000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CEF7C-B945-4CDA-88DC-AF1E6642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954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전력·전자파 간섭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03266-FD6C-424B-A2F3-52233E6F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71650"/>
            <a:ext cx="2000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FBCF5-6DB6-4F34-A690-72201773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954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통신 지연·누락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EA2C6C-5EAB-44C3-9136-0BA5B015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90800"/>
            <a:ext cx="110680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D7E0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603826-A960-4CFA-B126-07B3CDCF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09D92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009D92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09D92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0F1A25-9514-4061-9BEC-23163918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813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통제 구간 반복 주행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02B23-63E3-40BB-94DB-9D064936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62250"/>
            <a:ext cx="2000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109410-435F-4C75-A781-3A4C766E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860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동일 경로·속도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A8ABE8-E1F0-4D29-AD57-B1C7250E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62250"/>
            <a:ext cx="2000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D1722D-28D2-4CD2-B32C-36A3B841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860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회차별 데이터 편차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92F155-AC37-49F9-A1EB-B1A31489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62250"/>
            <a:ext cx="2000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8E28A8-4824-432C-8331-4B6A1F0C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860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위치 정합 오차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A72CC9-54C8-477C-BCC6-B1CA5BF2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110680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D7E0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9E322E-193D-46B9-AC11-F80B39CF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09D92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009D92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09D92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4CDA84-6847-45B0-AC5C-95430630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719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실제 도로 파일럿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2557BE-9801-4214-9ACE-EAE847D3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2000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FE225A-437F-4FA8-A1E3-91BFF81F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766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전문 장비 비교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DA6C5C-2AFD-4C01-94CC-C6CA48F1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52850"/>
            <a:ext cx="2000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B41BBF-66A9-4687-95CA-EBD3C330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766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전문가 판독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38937D-A997-4EE4-9435-60D7A3AF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52850"/>
            <a:ext cx="2000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7B5AF9-F9F8-49A5-9B12-D0FFA513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766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천공·내시경 결과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7E1C0A-BE6B-42B4-9461-0201B9CB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110680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9525">
            <a:solidFill>
              <a:srgbClr val="0B223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97070D-B8E1-4F2A-A198-D885F71B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F2C94C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F2C94C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2C94C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E0645F-AC4B-444C-85DA-DBE65F44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625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운영성 검증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D4F0A9-4AB1-4BF0-8F06-1ECCF3D4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43450"/>
            <a:ext cx="2000250" cy="457200"/>
          </a:xfrm>
          <a:prstGeom xmlns:a="http://schemas.openxmlformats.org/drawingml/2006/main" prst="roundRect">
            <a:avLst>
              <a:gd name="adj" fmla="val 25000"/>
            </a:avLst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118561-CBFC-4451-AF8C-CB816F31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672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새벽 순찰시간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8C5769-8621-4CB3-8084-EBB414DD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743450"/>
            <a:ext cx="2000250" cy="457200"/>
          </a:xfrm>
          <a:prstGeom xmlns:a="http://schemas.openxmlformats.org/drawingml/2006/main" prst="roundRect">
            <a:avLst>
              <a:gd name="adj" fmla="val 25000"/>
            </a:avLst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E97D4E-803D-4DCC-8774-EBBAAFFF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672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AR 정합 성공률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B578BD-E2EF-4E3C-A19C-31C6FD63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43450"/>
            <a:ext cx="2000250" cy="457200"/>
          </a:xfrm>
          <a:prstGeom xmlns:a="http://schemas.openxmlformats.org/drawingml/2006/main" prst="roundRect">
            <a:avLst>
              <a:gd name="adj" fmla="val 25000"/>
            </a:avLst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365788-35F0-4DEB-8040-8EE6D2E5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67275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재방문·수작업 감소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1CF02C-B3FC-4AAF-B4ED-65EB2044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110680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4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9C856F-38F2-4714-911B-422BD30D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200" b="1">
                <a:solidFill>
                  <a:srgbClr val="755100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200" b="1">
                <a:solidFill>
                  <a:srgbClr val="755100"/>
                </a:solidFill>
                <a:latin typeface="Nanum Gothic"/>
                <a:ea typeface="Nanum Gothic"/>
                <a:cs typeface="Nanum Gothic"/>
              </a:defRPr>
            </a:pPr>
            <a:r>
              <a:rPr sz="1200" b="1">
                <a:solidFill>
                  <a:srgbClr val="755100"/>
                </a:solidFill>
                <a:latin typeface="Nanum Gothic"/>
                <a:ea typeface="Nanum Gothic"/>
                <a:cs typeface="Nanum Gothic"/>
              </a:rPr>
              <a:t>정량 목표는 파일럿 설계에서 확정합니다. 발표 단계에서는 임의의 정확도 수치를 만들지 않습니다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04E43E-C4B7-428D-B0FE-3F28CB54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627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한 명이라도 살릴 수 있다면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E4EBBB-29CB-466D-86FE-F655F638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18245296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8B758F-D8B2-4CF2-A1E3-B4828A79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0CBE2-3E94-47C9-9038-425F3A58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2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18C2E-95D3-4298-8AD5-43EF4A5C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05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PV5 GroundWatch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BAAA6-E5CD-4370-80CB-42EB2808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6208A-DEC4-49CC-872A-C6E70630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05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6p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914F7-E0BD-4B4E-94D9-B7C46B2A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확장 가능성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74E06-477A-4507-A9C1-E2727DB0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한 대의 순찰차에서 도시 지하 안전망으로 확장합니다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C4100-305F-4823-8056-79C302BC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57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90A0E-AFF4-4F7B-B143-1E06BE41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측정구간이 늘수록 도시가 같은 길의 변화를 기억합니다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7EBA1-548E-47AF-98DA-D34E4A77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943100" cy="2000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D7E0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A5CB5-47DF-496D-B314-AE8DAC8D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09D92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009D92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009D92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0D8A8-9193-4903-9AB9-ECD1AFF7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6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파일럿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9E7F3-3AE3-4984-AF2C-40108A20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지하철 공사구간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노후 하수관 주변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C0050-ADA2-4DD8-B9EB-A92EB710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71775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9A499-704E-4F26-8671-954DA125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146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19547-BB44-48C1-8CE2-8AB81E64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52650"/>
            <a:ext cx="1943100" cy="2000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D7E0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B1354-9EB5-49C4-9C46-5A70912C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622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09D92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009D92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009D92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E1CE37-4557-4EA6-B5F3-675C89D8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38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6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자치구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03B43-A92C-4E61-AD20-C15D5858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528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위험도별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정기 순찰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CE73A-26CE-4524-8804-BEC1B155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33725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D374C-9091-4C33-ABEB-556DF8DF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7657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F16C63-03F5-4196-966A-26DE2E58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14600"/>
            <a:ext cx="1943100" cy="2000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D7E0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407560-6F71-4305-860B-12752BA2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241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09D92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009D92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009D92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26D9AC-AE92-4D36-9F94-B7CD1FD3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004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6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PV5 플릿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02DA68-73E3-4EF8-8F31-919F90FE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권역 분담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통합 관제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2EB121-4222-42A0-AE7C-76195171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95675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60D841-9761-46B3-8289-9AE36A01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3852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80DD0A-0D2D-4D3A-A816-62112713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1943100" cy="2000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8F4F2"/>
          </a:solidFill>
          <a:ln xmlns:a="http://schemas.openxmlformats.org/drawingml/2006/main" w="9525">
            <a:solidFill>
              <a:srgbClr val="D7E0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FCF611-B15C-47BB-9C33-911983FE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86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09D92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009D92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009D92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3A908-5644-46E5-A043-A71BA7CB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623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6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데이터 결합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E660C7-58A7-4028-B870-4942D2D9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767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하수관·공사·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지하수·강우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C9084F-20DA-4E90-9DCE-6C7A59A2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57625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6F6A3F-2128-4856-9502-7CBB3FFE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00475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65C425-2F4F-4C27-9590-1A1D6891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38500"/>
            <a:ext cx="1943100" cy="2000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9525">
            <a:solidFill>
              <a:srgbClr val="0B223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5DE62C-6C8A-4267-AEF7-D3775C20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48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F2C94C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F2C94C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2C94C"/>
                </a:solidFill>
                <a:latin typeface="Nanum Gothic"/>
                <a:ea typeface="Nanum Gothic"/>
                <a:cs typeface="Nanum Gothic"/>
              </a:rPr>
              <a:t>05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EE38F9-9008-402B-909D-5F762F58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24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6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4D 변화지도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176AAE-9FC2-4FA8-A348-CA8561EC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3865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050" b="0">
                <a:solidFill>
                  <a:srgbClr val="DDE7EC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DDE7EC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DDE7EC"/>
                </a:solidFill>
                <a:latin typeface="Nanum Gothic"/>
                <a:ea typeface="Nanum Gothic"/>
                <a:cs typeface="Nanum Gothic"/>
              </a:rPr>
              <a:t>기관 내부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050" b="0">
                <a:solidFill>
                  <a:srgbClr val="DDE7EC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0">
                <a:solidFill>
                  <a:srgbClr val="DDE7EC"/>
                </a:solidFill>
                <a:latin typeface="Nanum Gothic"/>
                <a:ea typeface="Nanum Gothic"/>
                <a:cs typeface="Nanum Gothic"/>
              </a:rPr>
              <a:t>접근제어 서비스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736591-2254-43A9-9D88-3EDE900C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05450"/>
            <a:ext cx="10001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A94B09-41AF-43B3-A332-CB66A624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86425"/>
            <a:ext cx="939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민감한 지하 데이터는 외부 판매 대신 계약기관의 접근권한 안에서 관리합니다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69A052-BD79-4190-B868-0850F69E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627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한 명이라도 살릴 수 있다면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33CEC3-F6B1-4346-9911-1156E0B0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2664581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178F64-F61B-4CB4-97F8-E98A6A0E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EF5B9-F31A-4CC9-A537-DC9F7D0C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2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F7013-73C8-4895-8B9C-478CD6C8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05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PV5 GroundWatch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57EA8-3155-4B9D-A17F-B0686FD9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06FA6-A10C-4AFC-B35B-311E6C45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05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7p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44F6C-95AC-4793-867F-7B12D748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B2G 비즈니스 모델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B5E3B-F386-4FA1-8552-AC00C99E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탐사 용역으로 시작해 연간 반복관제로 전환합니다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30A6D-DF26-4E24-86E0-EAF3B131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57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BDBEF-FC8D-4C4A-A8E2-D6751D6B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서울시는 이미 GPR 조사 범위와 인력을 확대하고 있습니다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A1C89-ADB9-4B1D-B3C6-DD61E8E02D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a616514a644b5"/>
          <a:stretch xmlns:a="http://schemas.openxmlformats.org/drawingml/2006/main"/>
        </p:blipFill>
        <p:spPr>
          <a:xfrm xmlns:a="http://schemas.openxmlformats.org/drawingml/2006/main">
            <a:off x="514350" y="1611681"/>
            <a:ext cx="5162550" cy="291073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0812B-CAFA-49BE-9E37-E9734DF7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04950"/>
            <a:ext cx="1581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602D47-A3E2-4935-9666-7830FDC1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24025"/>
            <a:ext cx="139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16,423km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FB4B9-1F7F-4D99-B7EF-03C9786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>
                <a:solidFill>
                  <a:srgbClr val="E4F5F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825" b="1">
                <a:solidFill>
                  <a:srgbClr val="E4F5F3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E4F5F3"/>
                </a:solidFill>
                <a:latin typeface="Nanum Gothic"/>
                <a:ea typeface="Nanum Gothic"/>
                <a:cs typeface="Nanum Gothic"/>
              </a:rPr>
              <a:t>연간 GPR 조사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722BB-F174-468E-AB82-E5B8A4F6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04950"/>
            <a:ext cx="1581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C91B9-F18E-4A9A-A511-9D68E495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24025"/>
            <a:ext cx="139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02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202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19명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FAA12-BB39-44C6-8488-83B0B4FA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717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825" b="1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GPR 탐사 인력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39F0A2-CB4F-4AE7-9D8A-98E32E70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04950"/>
            <a:ext cx="15811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A3667-1A8B-46EC-A708-1FE0357C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24025"/>
            <a:ext cx="1390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202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202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10대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B5039-AD3E-49F3-92C5-B70085D8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717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825" b="1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825" b="1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825" b="1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차량형·전동형·핸드형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32D20-38B8-4149-B6D5-744DEA1F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계약 구조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E4ED2F-F388-4C45-8EF9-B8868FF9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52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AF231-32F9-4545-97C1-CFD6F12B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956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파일럿 탐사 용역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EADC64-D4D9-456C-A8CD-3754337D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90925"/>
            <a:ext cx="398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거리·회차 기준 실증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08DE2C-8697-4DBC-A76E-95E14BC3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AED363-B74B-4C1E-9566-4B92DD75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연간 반복관제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B5A01D-9447-43F2-BA90-1D77BBEB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19575"/>
            <a:ext cx="398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정기 순찰·변화 감지·대시보드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11DE74-A823-4AF1-BC98-ABEA05D3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10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F971AF-AC68-4E0C-B986-FA6AA6B3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3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차량·SW 패키지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0FC886-CCC0-434B-AE08-8BF5334A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48225"/>
            <a:ext cx="398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검증 후 차량·교육·유지보수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63E2DC-653D-4A5B-94F9-EFFB6BCC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10934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5A35F1-C6AD-4E54-A31E-A364E466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첫 계약은 기존 GPR 조사기관과 공동 수행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3519E2-7900-4975-9F63-02C01DFF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391150"/>
            <a:ext cx="531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275" b="1">
                <a:solidFill>
                  <a:srgbClr val="DDE8EC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1275" b="1">
                <a:solidFill>
                  <a:srgbClr val="DDE8EC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DDE8EC"/>
                </a:solidFill>
                <a:latin typeface="Nanum Gothic"/>
                <a:ea typeface="Nanum Gothic"/>
                <a:cs typeface="Nanum Gothic"/>
              </a:rPr>
              <a:t>한 개 위험구간의 실증에서 연간 계약과 인접 구역으로 확장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6936A8-60C1-40E3-9017-E1F8533C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627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한 명이라도 살릴 수 있다면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E6F572-2CED-494D-8ACA-C57047F5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8932914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CB03D9-A37B-47E5-94B9-82037424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25497-532A-49A0-BF69-19C0097D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524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029FE-8D4C-4821-A902-1FE79894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05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PV5 GroundWatch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B551B-1B6A-4BDC-AAD9-4C062D24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5240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347C9-65F6-45F8-967F-296772F3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050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ctr">
              <a:lnSpc>
                <a:spcPct val="104000"/>
              </a:lnSpc>
              <a:buNone/>
              <a:def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900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8p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C3607-B8E0-498A-BBA3-E238F4BF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8097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개선 결과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780E4-674C-4368-BA92-799F482A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0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측정 결과가 다음 판단과 현장 행동으로 이어집니다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0797A-2037-47B2-92E4-EA19AD72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85775"/>
            <a:ext cx="1158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189BE-29A7-4755-A8AC-437B3617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기존의 공백을 반복 측정과 현장 재확인으로 연결합니다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D6C0A-B5D3-4843-864C-3FDEFB2E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D94747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D94747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D94747"/>
                </a:solidFill>
                <a:latin typeface="Nanum Gothic"/>
                <a:ea typeface="Nanum Gothic"/>
                <a:cs typeface="Nanum Gothic"/>
              </a:rPr>
              <a:t>기존 문제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4DCB0-661B-4F1A-BDC7-31DB5F26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43050"/>
            <a:ext cx="335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8756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08756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8756F"/>
                </a:solidFill>
                <a:latin typeface="Nanum Gothic"/>
                <a:ea typeface="Nanum Gothic"/>
                <a:cs typeface="Nanum Gothic"/>
              </a:rPr>
              <a:t>GroundWatch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66D41-3C97-4068-9EAD-D881E95A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43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0B2239"/>
                </a:solidFill>
                <a:latin typeface="Nanum Gothic"/>
                <a:ea typeface="Nanum Gothic"/>
                <a:cs typeface="Nanum Gothic"/>
              </a:rPr>
              <a:t>실증 지표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E3137-EE88-484E-B29C-0B422531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095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BC88E-228C-41A7-BB5E-3FEB927C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050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시점별 파일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4017D-D876-4A85-AAB1-18316902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05025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rPr>
              <a:t>위치·시간 기준으로 누적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FD73C-2EE4-4433-A64E-F11CBD26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0502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시점 비교 가능한 도로 비율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2E0A4B-45A0-4632-BDCC-D5032534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095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D7E0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FC8AE-60B0-47B3-8ADC-A87C47CC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908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변화지점 수작업 탐색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241101-959D-495F-9EF1-51FDDB75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90825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rPr>
              <a:t>AI 선별 후 전문가 승인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86ADD3-13F9-434E-8DF1-A0211279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9082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검토시간·후보 적중률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63AB92-4B13-4E03-B420-BEBC917A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14700"/>
            <a:ext cx="1095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4E7143-CFC0-4A1E-B785-1EA8D832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경험에 의존한 우선순위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273168-5E92-4FE5-AC1B-4DEF6104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76625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rPr>
              <a:t>변화량·신뢰도·주변 위험요인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D35E0-0870-44CB-A472-F6DABCDA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7662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고위험 구간 재확인 시간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A6AF2E-A153-4EB2-BE6E-EC9366D6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095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2F6F5"/>
          </a:solidFill>
          <a:ln xmlns:a="http://schemas.openxmlformats.org/drawingml/2006/main" w="9525">
            <a:solidFill>
              <a:srgbClr val="D7E0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316DCE-E5AA-4A6C-9DB8-028FC00D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624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현장 위치 재탐색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28B3D6-06D8-487F-ABA7-33E55A66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62425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rPr>
              <a:t>RTK·기준점 기반 AR 범위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0756F4-577A-4F5D-92BC-C7FE5307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6242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위치 오차·탐색시간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6424B5-0395-47A7-B284-7B1E86B2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10953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D61CCA-48CF-460F-B544-1A8ECE9F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4822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3202B"/>
                </a:solidFill>
                <a:latin typeface="Nanum Gothic"/>
                <a:ea typeface="Nanum Gothic"/>
                <a:cs typeface="Nanum Gothic"/>
              </a:rPr>
              <a:t>조사와 보수이력 단절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5E625A-90E2-40B0-B22A-C86DFE44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48225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08756F"/>
                </a:solidFill>
                <a:latin typeface="Nanum Gothic"/>
                <a:ea typeface="Nanum Gothic"/>
                <a:cs typeface="Nanum Gothic"/>
              </a:rPr>
              <a:t>4D 지도에 확인·보수 결과 저장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CCC0E7-5CA6-43F5-9906-FB730D57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48225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5F6B73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5F6B73"/>
                </a:solidFill>
                <a:latin typeface="Nanum Gothic"/>
                <a:ea typeface="Nanum Gothic"/>
                <a:cs typeface="Nanum Gothic"/>
              </a:rPr>
              <a:t>보수구간 재검증 완료율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06CA5B-8F00-436C-A4A9-1E9C3397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57850"/>
            <a:ext cx="10953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B22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E27EB8-F786-4541-B340-AA53EEBA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18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1">
                <a:solidFill>
                  <a:srgbClr val="FFFFFF"/>
                </a:solidFill>
                <a:latin typeface="Nanum Gothic"/>
                <a:ea typeface="Nanum Gothic"/>
                <a:cs typeface="Nanum Gothic"/>
              </a:rPr>
              <a:t>한 번의 조기 발견이, 한 사람의 무사 귀가가 되도록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DDFD59-6785-46A6-939E-EC397CD5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89597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975" b="1">
                <a:solidFill>
                  <a:srgbClr val="F2C94C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975" b="1">
                <a:solidFill>
                  <a:srgbClr val="F2C94C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F2C94C"/>
                </a:solidFill>
                <a:latin typeface="Nanum Gothic"/>
                <a:ea typeface="Nanum Gothic"/>
                <a:cs typeface="Nanum Gothic"/>
              </a:rPr>
              <a:t>한 명이라도 살릴 수 있다면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39C431-5556-4F61-8133-559C4D4B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627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한 명이라도 살릴 수 있다면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DA5A99-FF4C-4657-8D40-1807418F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627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defPPr>
          </a:lstStyle>
          <a:p xmlns:a="http://schemas.openxmlformats.org/drawingml/2006/main">
            <a:pPr algn="r">
              <a:lnSpc>
                <a:spcPct val="104000"/>
              </a:lnSpc>
              <a:buNone/>
              <a:def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defRPr>
            </a:pPr>
            <a:r>
              <a:rPr sz="675" b="1">
                <a:solidFill>
                  <a:srgbClr val="78858A"/>
                </a:solidFill>
                <a:latin typeface="Nanum Gothic"/>
                <a:ea typeface="Nanum Gothic"/>
                <a:cs typeface="Nanum Gothic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19795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2026-10-10T13:39:54.0720000Z</dcterms:created>
  <dcterms:modified xsi:type="dcterms:W3CDTF">2026-10-10T13:39:54.0730000Z</dcterms:modified>
</coreProperties>
</file>