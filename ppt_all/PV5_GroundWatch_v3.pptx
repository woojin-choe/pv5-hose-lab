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jpg" ContentType="image/jpg"/>
  <Override PartName="/ppt/media/image22.jpg" ContentType="image/jpg"/>
  <Override PartName="/ppt/media/image34.jpg" ContentType="image/jpg"/>
  <Override PartName="/ppt/media/image44.jpg" ContentType="image/jpg"/>
  <Override PartName="/ppt/media/image8.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83" r:id="rId34"/>
    <p:sldId id="294" r:id="rId45"/>
    <p:sldId id="259" r:id="rId5"/>
    <p:sldId id="260" r:id="rId6"/>
    <p:sldId id="292" r:id="rId43"/>
    <p:sldId id="285" r:id="rId36"/>
    <p:sldId id="286" r:id="rId37"/>
    <p:sldId id="263" r:id="rId9"/>
    <p:sldId id="264" r:id="rId10"/>
    <p:sldId id="265" r:id="rId11"/>
    <p:sldId id="267" r:id="rId13"/>
    <p:sldId id="270" r:id="rId16"/>
    <p:sldId id="287" r:id="rId38"/>
    <p:sldId id="295" r:id="rId46"/>
    <p:sldId id="289" r:id="rId40"/>
    <p:sldId id="290" r:id="rId41"/>
    <p:sldId id="296" r:id="rId47"/>
    <p:sldId id="281" r:id="rId27"/>
    <p:sldId id="297" r:id="rId48"/>
    <p:sldId id="291" r:id="rId42"/>
    <p:sldId id="278" r:id="rId24"/>
    <p:sldId id="279" r:id="rId25"/>
    <p:sldId id="282" r:id="rId28"/>
    <p:sldId id="293" r:id="rId44"/>
    <p:sldId id="298"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3BCC788C-5710-7EA1-A420-CFBD5910AF5F}">
          <p14:sldIdLst>
            <p14:sldId id="256"/>
            <p14:sldId id="257"/>
            <p14:sldId id="258"/>
            <p14:sldId id="259"/>
            <p14:sldId id="260"/>
          </p14:sldIdLst>
        </p14:section>
        <p14:section name="운영 모델" id="{02AFF424-3FC3-E3B5-93BA-335A9AA3FDB8}">
          <p14:sldIdLst>
            <p14:sldId id="261"/>
            <p14:sldId id="262"/>
            <p14:sldId id="263"/>
            <p14:sldId id="264"/>
            <p14:sldId id="265"/>
            <p14:sldId id="266"/>
            <p14:sldId id="267"/>
            <p14:sldId id="268"/>
            <p14:sldId id="269"/>
            <p14:sldId id="270"/>
            <p14:sldId id="271"/>
            <p14:sldId id="272"/>
          </p14:sldIdLst>
        </p14:section>
        <p14:section name="확장" id="{F8FBA481-802C-60FF-E45F-8B12257A1EFC}">
          <p14:sldIdLst>
            <p14:sldId id="273"/>
            <p14:sldId id="274"/>
            <p14:sldId id="275"/>
            <p14:sldId id="276"/>
            <p14:sldId id="277"/>
            <p14:sldId id="278"/>
          </p14:sldIdLst>
        </p14:section>
        <p14:section name="부록" id="{263FAE7E-7ECA-E49F-A02E-C62E34396863}">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333"/>
    <p:restoredTop sz="94610"/>
  </p:normalViewPr>
  <p:slideViewPr>
    <p:cSldViewPr snapToGrid="0" snapToObjects="1">
      <p:cViewPr varScale="1">
        <p:scale>
          <a:sx n="47" d="100"/>
          <a:sy n="47" d="100"/>
        </p:scale>
        <p:origin x="224" y="18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4.xml"/><Relationship Id="rId6" Type="http://schemas.openxmlformats.org/officeDocument/2006/relationships/slide" Target="slides/slide5.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3.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6.xml"/><Relationship Id="rId27" Type="http://schemas.openxmlformats.org/officeDocument/2006/relationships/slide" Target="slides/slide19.xml"/><Relationship Id="rId28" Type="http://schemas.openxmlformats.org/officeDocument/2006/relationships/slide" Target="slides/slide24.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xml"/><Relationship Id="rId36"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14.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21.xml"/><Relationship Id="rId43" Type="http://schemas.openxmlformats.org/officeDocument/2006/relationships/slide" Target="slides/slide6.xml"/><Relationship Id="rId44" Type="http://schemas.openxmlformats.org/officeDocument/2006/relationships/slide" Target="slides/slide25.xml"/><Relationship Id="rId45" Type="http://schemas.openxmlformats.org/officeDocument/2006/relationships/slide" Target="slides/slide3.xml"/><Relationship Id="rId46" Type="http://schemas.openxmlformats.org/officeDocument/2006/relationships/slide" Target="slides/slide15.xml"/><Relationship Id="rId47" Type="http://schemas.openxmlformats.org/officeDocument/2006/relationships/slide" Target="slides/slide18.xml"/><Relationship Id="rId4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1828"/>
                </a:solidFill>
              </a:rPr>
              <a:t>서울시 연간 GPR 탐사 거리(km)</a:t>
            </a:r>
          </a:p>
        </c:rich>
      </c:tx>
      <c:layout/>
      <c:overlay val="0"/>
    </c:title>
    <c:autoTitleDeleted val="0"/>
    <c:plotArea>
      <c:barChart>
        <c:barDir val="col"/>
        <c:grouping val="clustered"/>
        <c:ser>
          <c:idx val="0"/>
          <c:order val="0"/>
          <c:tx>
            <c:strRef>
              <c:f>Sheet1!$B$1</c:f>
              <c:strCache>
                <c:ptCount val="1"/>
                <c:pt idx="0">
                  <c:v>탐사 거리(km)</c:v>
                </c:pt>
              </c:strCache>
            </c:strRef>
          </c:tx>
          <c:dPt>
            <c:idx val="0"/>
            <c:spPr>
              <a:solidFill>
                <a:srgbClr val="0B1F3A"/>
              </a:solidFill>
            </c:spPr>
          </c:dPt>
          <c:dPt>
            <c:idx val="1"/>
            <c:spPr>
              <a:solidFill>
                <a:srgbClr val="0B1F3A"/>
              </a:solidFill>
            </c:spPr>
          </c:dPt>
          <c:dPt>
            <c:idx val="2"/>
            <c:spPr>
              <a:solidFill>
                <a:srgbClr val="F5B400"/>
              </a:solidFill>
            </c:spPr>
          </c:dPt>
          <c:cat>
            <c:strRef>
              <c:f>Sheet1!$A$2:$A$4</c:f>
              <c:strCache>
                <c:ptCount val="3"/>
                <c:pt idx="0">
                  <c:v>2015</c:v>
                </c:pt>
                <c:pt idx="1">
                  <c:v>2025</c:v>
                </c:pt>
                <c:pt idx="2">
                  <c:v>2026 계획</c:v>
                </c:pt>
              </c:strCache>
            </c:strRef>
          </c:cat>
          <c:val>
            <c:numRef>
              <c:f>Sheet1!$B$2:$B$4</c:f>
              <c:numCache>
                <c:formatCode>General</c:formatCode>
                <c:ptCount val="3"/>
                <c:pt idx="0">
                  <c:v>614</c:v>
                </c:pt>
                <c:pt idx="1">
                  <c:v>9595</c:v>
                </c:pt>
                <c:pt idx="2">
                  <c:v>16423</c:v>
                </c:pt>
              </c:numCache>
            </c:numRef>
          </c:val>
        </c:ser>
        <c:dLbls>
          <c:numFmt formatCode="#,##0" sourceLinked="0"/>
          <c:txPr>
            <a:bodyPr/>
            <a:lstStyle/>
            <a:p>
              <a:pPr>
                <a:defRPr sz="1200" b="1">
                  <a:solidFill>
                    <a:srgbClr val="101828"/>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CE1E8"/>
            </a:solidFill>
          </a:ln>
        </c:spPr>
        <c:txPr>
          <a:bodyPr/>
          <a:lstStyle/>
          <a:p>
            <a:pPr>
              <a:defRPr sz="1200">
                <a:solidFill>
                  <a:srgbClr val="5B6573"/>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18400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팀 「한 명이라도 살릴 수 있다면」입니다. PV5 지하안전 순찰차, PV5 GroundWatch를 제안합니다.</a:t>
            </a:r>
          </a:p>
          <a:p/>
          <a:p>
            <a:r>
              <a:t>표지에는 프로젝트명과 팀명만 둡니다(제작 지침 1p).</a:t>
            </a:r>
          </a:p>
          <a:p>
            <a:r>
              <a:t>배경: 해외 야간 도로 사진(PattayaPatrol, CC BY-SA 4.0)에 노면 아래 공동 단면을 합성한 개념 이미지입니다. 사고 현장 사진이 아닙니다.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a:t>
            </a:r>
          </a:p>
          <a:p>
            <a:r>
              <a:t>이것이 GPR 탐사의 실패라는 뜻은 아닙니다. 지하는 변하고, 한 시점의 결과는 그 시점만 말해 준다는 뜻입니다.</a:t>
            </a:r>
          </a:p>
          <a:p/>
          <a:p>
            <a:r>
              <a:t>출처: https://www.newsis.com/view/NISX20240830_0002869815 , https://www.etoday.co.kr/news/view/2397645 , https://mediahub.seoul.go.kr/archives/2012160</a:t>
            </a:r>
          </a:p>
          <a:p>
            <a:r>
              <a:t>연희동 함몰 규모는 공식 자료가 없습니다. 보도로는 가로 6m, 세로 4m, 깊이 2.5m(2024.8.30, 서울시·서대문구 인용)이지만, 공식 수치가 아니라 화면에는 쓰지 않았습니다. https://www.etoday.co.kr/news/view/2395932</a:t>
            </a:r>
          </a:p>
          <a:p/>
          <a:p>
            <a:r>
              <a:t>현재 서울시는 차량형 GPR로 넓게 선별하고, 수동 GPR과 천공·내시경으로 확인합니다. 누적 33,129km를 탐사해 공동 7,760개를 찾았고(2014~2025.9), 2026년에는 16,423km를 탐사합니다. 그런데 결과가 회차마다 따로 남아 변화를 이어 보기 어렵습니다.</a:t>
            </a:r>
          </a:p>
          <a:p>
            <a:r>
              <a:t>현장의 목소리(가상 페르소나): 판독 분석자는 같은 지점이 커졌는지 비교하기 어렵고, 현장 조사원은 지난 측정 위치를 다시 찾기 어렵고, 도로관리 담당자는 모든 구간을 짧은 주기로 다시 볼 인력과 장비가 부족하다고 말할 것이라 가정합니다. [가설] 인터뷰로 검증합니다.</a:t>
            </a:r>
          </a:p>
          <a:p>
            <a:r>
              <a:t>결론: 기존 GPR을 대체하는 것이 아니라, 측정 사이의 시간과 현장 업무를 연결해야 합니다.</a:t>
            </a:r>
          </a:p>
          <a:p>
            <a:r>
              <a:t>출처: https://www.khan.co.kr/article/202510191122011 , https://www.seoul.go.kr/news/news_report.do?nttNo=454742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새벽은 주차 차량과 보행자가 가장 적은 시간이라 같은 경로를 같은 조건으로 반복 주행하기 좋습니다. PV5는 전기차라 엔진 공회전 소음과 배기가스 없이 주택가를 저속으로 오래 달릴 수 있습니다.</a:t>
            </a:r>
          </a:p>
          <a:p>
            <a:r>
              <a:t>[실증 필요] 저속 장시간 운행 시 배터리 소모와 주행거리 영향, 실제 소음 수준.</a:t>
            </a:r>
          </a:p>
          <a:p/>
          <a:p>
            <a:r>
              <a:t>PV5를 센서를 실어 나르는 차가 아니라, 탐사하고 차 안에서 분석하고 내려서 검증하는 이동형 플랫폼으로 정의합니다. 운전석의 12.9인치 PBV 전용 인포테인먼트에서 순찰 앱을 띄웁니다.</a:t>
            </a:r>
          </a:p>
          <a:p>
            <a:r>
              <a:t>[사실] V2L은 카고에서 유틸리티 패키지(선택 사양)입니다. 경광등은 긴급자동차가 아닌 차에 부착할 수 없어(도로교통법 제49조 제1항 제4호) 장비에서 뺐고, 작업 표시 방식은 관계기관과 협의합니다.</a:t>
            </a:r>
          </a:p>
          <a:p>
            <a:r>
              <a:t>[사실] PV5 카고 롱 카고룸 2,255×1,565×1,520mm(4,420L), 적재고 419mm, 실내·실외 V2L 220V(최대 3.6kW). https://www.kia.com/kr/vehicles/pv5-cargo/specification , https://www.hyundaimotorgroup.com/ko/story/CONT0000000000178473</a:t>
            </a:r>
          </a:p>
          <a:p>
            <a:r>
              <a:t>[설계 판단] PV5 하부는 배터리 팩이므로 GPR 안테나는 후방 오버행 하부에 다는 것을 기본안으로 하고, 배터리 케이스와 차체 금속의 간섭을 시험합니다.</a:t>
            </a:r>
          </a:p>
          <a:p>
            <a:r>
              <a:t>[실증 필요] 적재중량, 차량총중량, 전후축 하중, 전자파 간섭, 구조변경 승인.</a:t>
            </a:r>
          </a:p>
          <a:p>
            <a:r>
              <a:t>사진: Kia PV5 Cargo IMG 7825, Alexander Migl, CC BY-SA 4.0, https://commons.wikimedia.org/wiki/File:Kia_PV5_Cargo_IMG_7825.jpg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AI의 역할은 결론이 아니라 우선순위입니다. 수많은 GPR 데이터 가운데 이전 회차와 달라진 부분을 먼저 찾아 전문가가 볼 순서를 정합니다.</a:t>
            </a:r>
          </a:p>
          <a:p>
            <a:r>
              <a:t>결과에는 위험등급, 변화량, 신뢰도, 위치 오차, 권장 후속조치, 전문가 승인 여부를 함께 표시하고, AI 결과와 전문가 판정을 구분합니다.</a:t>
            </a:r>
          </a:p>
          <a:p>
            <a:r>
              <a:t>참고 연구: https://www.researchgate.net/publication/332081634</a:t>
            </a:r>
          </a:p>
          <a:p>
            <a:r>
              <a:t>[실증 필요] 실제 탐지율, 오탐률, 미탐률은 천공 확인 결과로 측정합니다.</a:t>
            </a:r>
          </a:p>
          <a:p/>
          <a:p>
            <a:r>
              <a:t>AI가 찾은 후보는 바로 현장 업무가 되지 않습니다. 전문가가 원시 GPR 데이터와 함께 검토해 승인한 지점만 재확인 대기열에 들어가고, 다음 순찰 경로에 자동으로 반영됩니다.</a:t>
            </a:r>
          </a:p>
          <a:p>
            <a:r>
              <a:t>[예시] 표의 지점 번호와 등급은 설명용입니다.</a:t>
            </a:r>
          </a:p>
          <a:p>
            <a:r>
              <a:t>집중호우 뒤에는 대기열과 별도로 긴급 조사 경로를 만듭니다.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PV5는 안드로이드 오토모티브(AAOS) 기반 12.9인치 PBV 전용 인포테인먼트와, 서드파티 앱을 설치할 수 있는 앱 마켓을 갖췄습니다. GroundWatch Patrol은 이 환경에서 돌아가는 B2B 업무용 앱을 목표로 합니다. 완전한 독자 OS라고 표현하지 않습니다.</a:t>
            </a:r>
          </a:p>
          <a:p>
            <a:r>
              <a:t>배포는 Pleos 앱 마켓 심사·등록을 전제로 하며(현대차그룹 개발자 포털 Pleos Playground에서 SDK·API와 앱 제출 절차 제공, PV5 지원 범위는 [추가 확인 필요]), 사이드로딩이나 ADB 활성화는 가정하지 않습니다.</a:t>
            </a:r>
          </a:p>
          <a:p>
            <a:r>
              <a:t>활용 후보 데이터: 차량 위치, 주행·주차 상태, 배터리 잔량, 충전 상태, 운행거리, 내비게이션 목적지 전달, 업무 상태.</a:t>
            </a:r>
          </a:p>
          <a:p>
            <a:r>
              <a:t>기아와 추가 협의가 필요한 데이터: 조향각, 세부 차량 제어, ADAS 원시 데이터, 차량 카메라 원시 영상, 안전 관련 ECU 데이터.</a:t>
            </a:r>
          </a:p>
          <a:p>
            <a:r>
              <a:t>출처: 현대차그룹 뉴스룸 「기아, 더 기아 PV5 계약 개시」(2025.6.9) https://www.hyundaimotorgroup.com/ko/news/CONT0000000000178271 , https://eu-www.kia.com/uk/pbv/solutions/software/ , https://www.kia.com/kr/pbv/solution/software , PIM 제어기 https://www.hyundaimotorgroup.com/ko/news/CONT0000000000201311 (패신저 도너모델 기준, 카고 적용은 [추가 확인 필요])</a:t>
            </a:r>
          </a:p>
          <a:p>
            <a:r>
              <a:t>앱 마켓 명칭: 2025.7.23 테크 데이 보도는 "플레오스 앱 마켓(Pleos App Market)", 2025.6.9 보도는 "앱 마켓". https://www.hyundaimotorgroup.com/ko/news/CONT0000000000181628 , https://pleos.ai/playground</a:t>
            </a:r>
          </a:p>
          <a:p>
            <a:r>
              <a:t>차량 API 일부가 제한돼도 GPR·AR 작업은 계속됩니다(아래 장애 대응).</a:t>
            </a:r>
          </a:p>
          <a:p/>
          <a:p>
            <a:r>
              <a:t>구조는 Cloud와 PV5 Patrol 앱 사이는 보안 통신, 앱과 Edge Gateway 사이는 로컬 API, 게이트웨이와 AR 글래스 사이는 차량 내부 보안 Wi-Fi입니다.</a:t>
            </a:r>
          </a:p>
          <a:p>
            <a:r>
              <a:t>차량 앱은 업무와 경로, 게이트웨이는 센서 데이터와 로컬 통신, AR 글래스는 현장 위치 정합과 수동 탐사 안내를 맡습니다. 이렇게 나누면 차량 API 접근이 일부 막혀도 GPR과 AR 기능 전체가 멈추지 않습니다.</a:t>
            </a:r>
          </a:p>
          <a:p>
            <a:r>
              <a:t>[실증 필요] 앱, 게이트웨이, 글래스 사이 통신 지연과 네트워크 단절 시 오프라인 동작.</a:t>
            </a:r>
          </a:p>
          <a:p>
            <a:r>
              <a:t>장애 대응: 차량 API가 제한되면 게이트웨이가 GPR·AR 작업을 독립 처리하고, 통신이 끊기면 게이트웨이에 저장했다가 복구 뒤 동기화합니다. AR 글래스 장애에 대비한 유지보수용 보조 단말만 선택 장비로 둡니다(태블릿은 핵심 장비가 아님).</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 글래스는 차량이 안전하게 정차한 뒤 차 밖에서 작업자만 씁니다. 차량 안 멀미 보정은 핵심 기능에서 빼고, 글래스가 차 밖에서 독립적으로 위치를 추적합니다.</a:t>
            </a:r>
          </a:p>
          <a:p>
            <a:r>
              <a:t>위치는 맨홀 하나로 확정하지 않고 맨홀, 차선 모서리, 경계석, RTK 좌표 중 2~3개를 결합해 보정합니다.</a:t>
            </a:r>
          </a:p>
          <a:p>
            <a:r>
              <a:t>[실증 필요] AR 위치 정확도, 야간 기준점 인식 성능.</a:t>
            </a:r>
          </a:p>
          <a:p/>
          <a:p>
            <a:r>
              <a:t>작업자는 AR이 도로 위에 그린 검색 범위를 따라 양손으로 수동 GPR을 밉니다. 시작점과 종료점, 진행 방향, 반복 횟수가 보이고, 사진, 메모, 이상 위치 표시는 음성으로 처리합니다.</a:t>
            </a:r>
          </a:p>
          <a:p>
            <a:r>
              <a:t>AR은 공동의 실제 모양을 보여주지 않습니다. 화면 아래에는 늘 '굴착 전 정밀조사와 관계기관 승인이 필요하다'는 경고를 띄웁니다.</a:t>
            </a:r>
          </a:p>
          <a:p/>
          <a:p>
            <a:r>
              <a:t>차량형 다채널 GPR은 넓게 선별하고, 지면 밀착형 수동 GPR은 좁은 범위를 다른 주파수와 방향으로 다시 봅니다. 수동 GPR이 늘 더 깊게 본다고 말하지 않습니다.</a:t>
            </a:r>
          </a:p>
          <a:p>
            <a:r>
              <a:t>참고: https://infotechnology.fhwa.dot.gov/gpr-ground-penetrating-radar-utility-general/</a:t>
            </a:r>
          </a:p>
          <a:p/>
          <a:p>
            <a:r>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a:t>
            </a:r>
          </a:p>
          <a:p>
            <a:r>
              <a:t>승인 절차는 관할 기관 기준을 따릅니다.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GPR의 한계를 먼저 밝힙니다.</a:t>
            </a:r>
          </a:p>
          <a:p>
            <a:r>
              <a:t>- FHWA: 저주파는 깊고 해상도가 낮으며, 고주파는 얕고 정밀합니다. 400MHz 안테나는 최대 약 12ft. 수분과 점토가 많은 흙은 전자파를 감쇠시킵니다. 금속은 들어오는 전자파를 모두 반사해 그 아래를 가립니다. https://infotechnology.fhwa.dot.gov/gpr-ground-penetrating-radar-utility-general/</a:t>
            </a:r>
          </a:p>
          <a:p>
            <a:r>
              <a:t>- 서울시: 고주파 GPR 탐지 깊이 약 2m, 2026년부터 지하 5~40m 복합탐사를 굴착공사장 2곳에 시범 도입. https://v.daum.net/v/20251230143011653</a:t>
            </a:r>
          </a:p>
          <a:p>
            <a:r>
              <a:t>GroundWatch는 지하철 구조 안전 검사가 아니라 역세권 도로와 공사 영향구간의 얕은 공동 감시입니다.</a:t>
            </a:r>
          </a:p>
          <a:p>
            <a:r>
              <a:t>AI는 검토 순서를, 전문가는 판정을, 천공과 내시경은 확인을 맡습니다.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이 제안서에 쓴 공개 자료 목록입니다. 슬라이드 하단 출처의 전체 주소를 여기에 모았습니다.</a:t>
            </a:r>
          </a:p>
          <a:p>
            <a:r>
              <a:t>[팀 확인] 38~39번 사진의 원본 파일 주소는 images/photos/CREDITS.md와 대조해 채웁니다.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p>
          <a:p>
            <a:r>
              <a:t>첫 고객을 좁힙니다. 서울시는 2026년부터 도시철도 등 대형 굴착공사장 주변을 주 1회 이상 GPR 탐사합니다. 같은 구간을 짧은 주기로 반복해서 봐야 하는 이 발주기관과 자치구가 첫 고객입니다. 그 뒤 서울시·자치구 도로관리, 상하수도 등 공공시설 관리기관으로 넓힙니다. 구매자와 사용자도 나눕니다. 실제 사용자는 지하안전·도로관리 담당자, 판독 전문가, 현장 조사원입니다. 협력사는 GPR 전문기업, PV5 특장업체, GIS·클라우드 사업자, AR 장비사입니다.</a:t>
            </a:r>
          </a:p>
          <a:p>
            <a:r>
              <a:t>공공 조달 접근: 첫 계약은 기존 GPR 조사기관과 공동 수행해 실적과 신뢰를 확보하고, 위험구간 한 곳에서 성능을 입증한 뒤 연간 계약과 인접 구역으로 확장합니다.</a:t>
            </a:r>
          </a:p>
          <a:p>
            <a:r>
              <a:t>비용과 실행 구조: 서울시는 2025년 15억 원을 들여 차량형 GPR 3대를 추가 도입해 7대를 운영한다고 밝혔습니다(경향신문 2025.4.23, https://www.khan.co.kr/article/202504231504001/). 단순 계산하면 대당 약 5억 원이지만, 장비 구성에 따라 달라 화면에는 총액만 썼습니다. 장비와 판독 자격은 탐사 전문업체가, 반복 순찰 운영 설계와 변화 비교 소프트웨어는 팀이 맡습니다. PV5 패키지 가격은 장비를 고른 뒤 원가로 산정합니다 [실증 필요].</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출처 전체 목록은 부록 4(26장)에 있습니다. 작성 기준일 2026.10.17.</a:t>
            </a:r>
          </a:p>
          <a:p>
            <a:r>
              <a:t>[추가 확인 필요]로 남긴 항목: PIM 제어기의 카고 적용, 축하중, 후방 GPR 거치대의 튜닝 승인 대상 여부, GPR 전파 기술기준, 지반탐사업 등록기준 도입 여부, 작업차량 표시 방식, Pleos Playground의 PV5 지원 범위, 기관 FMS 연동 범위.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이 숫자 뒤에는 집으로 돌아가지 못한 한 사람이 있습니다. GroundWatch는 모든 사고를 예측한다고 말하지 않습니다. 같은 길을 반복해서 보고, 달라진 신호를 한 번이라도 더 일찍 찾으려 합니다.</a:t>
            </a:r>
          </a:p>
          <a:p/>
          <a:p>
            <a:r>
              <a:t>[사실] 2025.3.24 18:28경 서울 강동구 명일동. 붕괴 시작 후 약 1~2분 만에 길이 22m, 폭 18m, 깊이 16m로 확대. 사망 1명, 부상 1명.</a:t>
            </a:r>
          </a:p>
          <a:p>
            <a:r>
              <a:t>출처: 국토교통부 정책브리핑 '땅꺼짐 사고 조사결과 발표'(2025.12.3) https://m.korea.kr/briefing/policyBriefingView.do?newsId=156732996</a:t>
            </a:r>
          </a:p>
          <a:p>
            <a:r>
              <a:t>최종보고서: https://www.molit.go.kr/USR/policyData/m_34681/dtl.jsp?id=4872</a:t>
            </a:r>
          </a:p>
          <a:p/>
          <a:p>
            <a:r>
              <a:t>표현 원칙: 희생자 이름, 얼굴, 구조 장면은 쓰지 않습니다. 특정 기관 책임을 단정하지 않습니다. 사진은 명일동 현장이 아닌 해외 포장 함몰 사례(Famartin, CC BY-SA 4.0)입니다.</a:t>
            </a:r>
          </a:p>
          <a:p/>
          <a:p>
            <a:r>
              <a:t>[참고] 사고조사위원회가 밝힌 원인: 직접 원인은 심층풍화대 불연속면이 만든 쐐기형 토체의 미끄러짐, 간접 원인은 인접 고속도로 터널공사로 지하수위가 약 3m에서 26m까지 낮아진 것, 노후 하수관의 장기 누수, 강관보강 그라우팅의 지보 성능 한계입니다. 깊은 지질구조와 터널공사가 얽힌 사고라 GroundWatch(약 2m 안팎의 얕은 공동 감시)가 막을 수 있었다고 말하지 않습니다. 이 사례는 지반침하가 시민의 일상에 닿은 위험이라는 점을 보여주는 데만 씁니다.</a:t>
            </a:r>
          </a:p>
          <a:p>
            <a:r>
              <a:t>[화면 추가 문장] 명일동은 깊은 지질구조와 터널공사가 겹친 사고라 GroundWatch(고주파 GPR 약 2m)로 막을 수 있었다고 말하지 않습니다. 이 장은 지반침하가 시민의 일상에 닿은 위험이라는 점을 보여주고, GroundWatch가 겨냥하는 얕은 공동의 사례는 다음 장의 연희동입니다.</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GroundWatch가 맞서는 상대는 다른 공모전 수상작이 아니라 지금 현장에서 쓰는 탐사 방식입니다.</a:t>
            </a:r>
          </a:p>
          <a:p>
            <a:r>
              <a:t>대형 차량형 GPR은 빠르고 넓지만 결과가 회차별 보고서로 나뉘고, 손수레형은 어디든 들어가지만 느리고, 로봇 GPR은 연구·시연 단계로 운반·충전 수단이 필요하며, 기존 용역은 탐사와 판독 사이에 시차가 있습니다.</a:t>
            </a:r>
          </a:p>
          <a:p>
            <a:r>
              <a:t>서울시는 탐사 결과와 공동 위치를 서울안전누리 GPR 탐사지도로 공개하고 있으므로, 새로운 점은 반복 관측 자체가 아니라 회차 간 변화 비교와 재확인 업무 연결입니다.</a:t>
            </a:r>
          </a:p>
          <a:p>
            <a:r>
              <a:t>출처: https://m.go.seoul.co.kr/news/2025/10/19/20251019500046 , https://kidd.co.kr/news/238718</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질문을 바꿨습니다. "GPR을 달 수 있는 차인가"가 아니라 "새벽 주택가를 조용히 달리며, 차 안에서 판독까지 하고, 같은 사양으로 여러 대를 복제할 수 있는 차인가"입니다. 판독실(밀폐 카고룸), 전원(V2L), 앱 연동(앱 마켓·PIM)을 한 차에서 모두 갖춘 것은 비교한 차 가운데 PV5뿐입니다.</a:t>
            </a:r>
          </a:p>
          <a:p>
            <a:r>
              <a:t>PV5 카고 롱(차체) · 롱레인지(배터리): 전장 4,695mm, 전폭 1,895mm, 1회 충전 377km(71.2kWh), 카고룸 2,255×1,565×1,520mm(4,420L, VDA 기준), 적재고 419mm, 최대 적재량 600kg(3도어)·550kg(4도어), 회전반경 5.5m(2025.7.23 테크 데이 보도). 실내·실외 V2L 최대 3.6kW는 카고에서 유틸리티 패키지(선택 사양)입니다.</a:t>
            </a:r>
          </a:p>
          <a:p>
            <a:r>
              <a:t>포터 II 일렉트릭(5,105×1,740mm)과 봉고 III EV(5,115×1,740mm)는 1회 충전 217km입니다. 기본은 개방 적재함이고, 밀폐형은 내장탑·윙바디 같은 공식 특장차로 출고됩니다. 두 차종 공식 사양에는 V2L과 앱 마켓이 없습니다.</a:t>
            </a:r>
          </a:p>
          <a:p>
            <a:r>
              <a:t>더 뉴 스타리아 카고(5,255×1,995mm)는 LPG, 1.6 터보 하이브리드, 전기(84kWh, 복합 387km)가 있고, 전기 모델은 실내·실외 V2L을 갖췄습니다. 주행거리는 스타리아 전기가 더 깁니다. PV5는 전장 560mm, 전폭 100mm 작고, PBV 전용 앱 마켓과 컨버전 체계(화성 PBV 컨버전 센터, PBV 컨버전 파트너십)가 있습니다.</a:t>
            </a:r>
          </a:p>
          <a:p>
            <a:r>
              <a:t>불리한 점: 포터·봉고보다 전폭이 155mm 넓습니다. PV5가 작아서 모든 골목에 들어간다고 주장하지 않습니다. 대상 지자체 도로 대장으로 진입 가능 구간을 실제로 비교합니다.</a:t>
            </a:r>
          </a:p>
          <a:p>
            <a:r>
              <a:t>PIM(원문 표기 PBV Interface Moduler) 제어기는 IVI를 통해 차량 데이터를 주고받고 외부 전장을 제어하는 장치로, 2026.1.28 패신저 도너모델 기준으로 공개됐습니다. 카고 적용은 [추가 확인 필요].</a:t>
            </a:r>
          </a:p>
          <a:p>
            <a:r>
              <a:t>[실증 필요] 저속 장시간 운행 시 실제 소음(가상 엔진 사운드 포함)과 배터리 소모.</a:t>
            </a:r>
          </a:p>
          <a:p>
            <a:r>
              <a:t>기아 PBV 컨버전 포털(conversions.kia.com)은 특장사에 PBV 3D CAD 데이터, 바디빌더 매뉴얼(차량 안전·구조 변경 지침), 국토부 제원관리번호·자동차 제원표·환경부 소음 및 배출가스 인증서를 제공합니다. 컨버전 파트너십에 참여하면 현대차그룹 R&amp;D센터 핫라인으로 기술 상담을 받을 수 있습니다. https://www.kia.com/kr/pbv/kia-pbv/conversion_portal</a:t>
            </a:r>
          </a:p>
          <a:p>
            <a:r>
              <a:t>그래서 GPR 브래킷·랙 설계와 구조변경 서류 준비를 처음부터 하지 않아도 되고, 화성 PBV 컨버전 센터와 파트너 특장사가 같은 사양을 반복 제작할 수 있습니다. 차를 고르는 기준이 "GPR을 달 수 있나"에서 "같은 사양으로 늘리고 운영할 수 있나"로 바뀌는 이유입니다.</a:t>
            </a:r>
          </a:p>
          <a:p>
            <a:r>
              <a:t>출처: 부록 4의 19~32번.</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기술적 완성도는 장비가 실제로 차에 들어가고, 전력과 무게가 한도 안에 드는지에서 시작합니다.</a:t>
            </a:r>
          </a:p>
          <a:p>
            <a:r>
              <a:t>탐사 기준값: 시속 5~30km는 서울 차량형 GPR을 현장에서 취재한 보도 수치이고 서울시 공식 운영 기준은 아닙니다(엔지니어링데일리 2025.1.22). 1회 통과 폭은 서울시 2015년 탐사용역 장비 설명의 "폭 3m 이내"입니다. GPR 탐지 깊이 약 2m는 서울시 설명 인용 보도입니다.</a:t>
            </a:r>
          </a:p>
          <a:p>
            <a:r>
              <a:t>차량 한도: V2L 실내·실외 최대 3.6kW(카고는 유틸리티 패키지 선택 사양), 카고룸 4,420L, 적재고 419mm, 1회 충전 377km. 최대 적재량은 롱레인지 3도어 600kg, 4도어 550kg(기본 기준, 순정 액세서리 적용 시 550kg), 제작허용총중량 2,680kg(기아 가격표). 축하중은 공식 자료에 없어 [추가 확인 필요].</a:t>
            </a:r>
          </a:p>
          <a:p>
            <a:r>
              <a:t>장비별 소비전력과 무게는 장비 선정 뒤 실측해 채웁니다. 근거 없는 수치는 넣지 않았습니다([실증 목표값 입력]).</a:t>
            </a:r>
          </a:p>
          <a:p>
            <a:r>
              <a:t>[설계 판단] PV5 하부는 배터리 팩이므로 GPR 안테나는 후방 오버행 하부 장착을 기본안으로 하고, 배터리 케이스와 차체 금속 간섭을 시험합니다.</a:t>
            </a:r>
          </a:p>
          <a:p>
            <a:r>
              <a:t>출처: https://www.kia.com/kr/vehicles/pv5-cargo/specification , https://www.kia.com/content/dam/kwp/kr/ko/vehicles/pdf/price/price_pv5-cargo.pdf , https://www.hyundaimotorgroup.com/ko/story/CONT0000000000178473 , https://www.engdaily.com/news/articleView.html?idxno=18908 , https://news.seoul.go.kr/safe/archives/41339 , https://www.safetimes.co.kr/news/articleView.html?idxno=231486</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실증은 0단계 수요 검증 뒤 네 단계로 넓힙니다. 1단계 장비 통합 시험(장착, 진동, 전력, 전자파, 통신), 2단계 공동 모사체가 있는 시험구간 반복 주행, 3단계 지자체·전문 조사기업과 실제 위험구간 파일럿, 4단계 운영성 검증입니다.</a:t>
            </a:r>
          </a:p>
          <a:p>
            <a:r>
              <a:t>KPI는 km당 탐사 시간, 구간 스캔 완료율, 확인 공동 비율, 위치·깊이 오차, km당 판독 시간, 1일 탐사 연장과 배터리 소모, 사고·아차사고, km당 원가입니다.</a:t>
            </a:r>
          </a:p>
          <a:p>
            <a:r>
              <a:t>[가설] 기간은 팀 제안치입니다. 목표값은 기존 방식 기준선을 측정한 뒤 합의합니다([실증 목표값 입력]).</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시장 실현성의 근거는 이미 집행되는 예산입니다.</a:t>
            </a:r>
          </a:p>
          <a:p>
            <a:r>
              <a:t>전국 지반침하는 2015~2024년 2,119건이고(국토부 집계, 국회입법조사처 보고서 인용 보도), 상·하수도관 손상에 따른 누수가 1,144건(54.0%)으로 절반 이상입니다(국회입법조사처 보고서 인용 보도, 매일신문 2025.5.30). 국토부는 2025년 지자체 지반탐사 4,360km를 국비로 지원합니다.</a:t>
            </a:r>
          </a:p>
          <a:p>
            <a:r>
              <a:t>서울시는 2026년 탐사를 16,423km로 전년(9,595km)의 약 1.7배로 늘리고, GPR 장비 10대(차량형 6·전동형 1·핸드형 3, 지자체 최대)를 운영합니다. 2015년 탐사 거리는 614km였습니다. 서울시는 2026년부터 굴착공사장 주변 GPR 탐사도 늘려, 지하안전평가 대상 공사장은 연 1회에서 월 1회 이상, 도시철도 등 대형 굴착공사장은 주 1회 이상 탐사합니다(서울시 2026.3.23).</a:t>
            </a:r>
          </a:p>
          <a:p>
            <a:r>
              <a:t>국토안전관리원은 GPR 13대를 보유하고 2029년까지 30대로 확충할 계획입니다(헤럴드경제 2025.5.27).</a:t>
            </a:r>
          </a:p>
          <a:p>
            <a:r>
              <a:t>경기도는 2025년 21억 6,000만 원(국비 10억 8,000만 원 포함)으로 16개 시군 약 1,080km를 탐사합니다. km당 약 200만 원(계산값)을 국비 지원 4,360km에 단순 적용하면 연 약 87억 원 규모입니다([가설]).</a:t>
            </a:r>
          </a:p>
          <a:p>
            <a:r>
              <a:t>출처: 부록 4의 4~7, 13~18번.</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확장은 다섯 단계입니다. 파일럿, 자치구 정기 순찰, 여러 대의 PV5 플릿, 다른 지하 데이터와의 결합, 기관용 4D 도시 지하 변화지도입니다.</a:t>
            </a:r>
          </a:p>
          <a:p>
            <a:r>
              <a:t>민감한 지하 데이터를 외부에 판매하는 모델은 제외하고, 계약기관 내부의 접근제어형 관제 서비스로 확장합니다.</a:t>
            </a:r>
          </a:p>
          <a:p/>
          <a:p>
            <a:r>
              <a:t>위험도가 높은 구간일수록 순찰 주기를 짧게 잡습니다. 표의 주기는 예시이며 발주기관과 합의해 정합니다. 서울시도 2026년부터 굴착공사장 주변 GPR 탐사를 지하안전평가 대상은 연 1회에서 월 1회 이상, 대형 굴착공사장은 주 1회 이상으로 늘렸습니다.</a:t>
            </a:r>
          </a:p>
          <a:p>
            <a:r>
              <a:t>출처: https://www.seoul.go.kr/news/news_report.do?nttNo=454742</a:t>
            </a:r>
          </a:p>
          <a:p>
            <a:r>
              <a:t>여러 대의 PV5가 권역을 나눠 운영하면 관제센터가 차량별 순찰거리, 재확인 업무, 배터리 상태를 한 화면에서 봅니다. 같은 사양의 차량이어야 권역이 달라도 데이터를 같은 기준으로 비교할 수 있습니다.</a:t>
            </a:r>
          </a:p>
          <a:p>
            <a:r>
              <a:t>Pleos Fleet은 PV5 카고 특징 페이지에 차량관제 솔루션으로 나옵니다. 기관 FMS와의 연동 범위는 공개되지 않아 [추가 확인 필요]. 출처: https://www.kia.com/kr/vehicles/pv5-cargo/features</a:t>
            </a:r>
          </a:p>
          <a:p>
            <a:r>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a:t>
            </a:r>
          </a:p>
          <a:p>
            <a:r>
              <a:t>지하정보는 보안 문제가 있어 팔지 않고 계약기관 대상 접근제어형 서비스로 제공합니다.</a:t>
            </a:r>
          </a:p>
          <a:p>
            <a:r>
              <a:t>참고: https://www.ogc.org/standards/muddi/</a:t>
            </a:r>
          </a:p>
          <a:p>
            <a:r>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왼쪽은 지금의 문제, 가운데는 GroundWatch의 개입, 오른쪽은 실증에서 측정할 개선 지표입니다.</a:t>
            </a:r>
          </a:p>
          <a:p>
            <a:r>
              <a:t>GroundWatch의 가치는 지도를 만드는 데서 끝나지 않습니다. 한 번의 측정을 다음 판단과 현장 행동으로 연결합니다.</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외부 사진은 모두 Wikimedia Commons의 CC 라이선스 사진입니다. 저작자, 라이선스, 변경 내용을 해당 장 하단과 이 표에 표시했습니다.</a:t>
            </a:r>
          </a:p>
          <a:p>
            <a:r>
              <a:t>아이콘: 인물 아이콘은 Font Awesome Free(CC BY 4.0), 기능 아이콘은 Lucide(ISC License)를 색만 바꿔 썼습니다.</a:t>
            </a:r>
          </a:p>
          <a:p>
            <a:r>
              <a:t>PV5 사진 원본: https://commons.wikimedia.org/wiki/File:Kia_PV5_Cargo_IMG_7825.jpg</a:t>
            </a:r>
          </a:p>
          <a:p>
            <a:r>
              <a:t>[팀 확인] PattayaPatrol, Famartin, Immanuelle 사진의 원본 파일 주소를 images/photos/CREDITS.md에서 옮겨 부록 4의 38~39번에 넣어야 합니다.</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한 장으로 요약합니다. 문제는 GPR 탐사가 한 시점의 결과라는 점입니다. 연희동 도로는 5월 탐사에서 공동이 없었지만 8월에 꺼졌습니다.</a:t>
            </a:r>
          </a:p>
          <a:p>
            <a:r>
              <a:t>해결은 PV5가 새벽에 같은 길을 같은 장비로 반복 주행하고, AI가 이전 회차와 달라진 지점을 찾아 전문가 승인 뒤 현장에서 다시 확인하는 것입니다.</a:t>
            </a:r>
          </a:p>
          <a:p>
            <a:r>
              <a:t>새로운 점은 세 가지입니다. 회차 간 변화 비교, 승인된 지점이 다음 순찰과 AR 현장 재확인으로 바로 이어지는 운영, 그리고 안 본 구간까지 표시하는 투명성입니다.</a:t>
            </a:r>
          </a:p>
          <a:p>
            <a:r>
              <a:t>PV5를 쓰는 이유는 새벽 저소음 운행, 차 안 판독실, V2L 전원(유틸리티 패키지 선택 사양), 같은 사양 복제입니다. 구매자는 지자체와 공공기관이고, 기아는 공공 장비 수요를 PV5 판매로 연결할 수 있습니다.</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 전에 확인할 규제와 현장 안전 원칙입니다.</a:t>
            </a:r>
          </a:p>
          <a:p>
            <a:r>
              <a:t>차량: 자동차관리법 제34조와 시행규칙 제55조에 따라 구조·장치를 바꾸려면 한국교통안전공단의 튜닝 승인을 받아야 하고, 국토부가 고시한 경미한 구조·장치는 제외됩니다. 후방 GPR 거치대와 루프 장비가 승인 대상인지는 [추가 확인 필요]. 기아 컨버전 포털이 제원관리번호·제원표·인증서와 바디빌더 매뉴얼을 제공하므로 서류와 설계 기준을 여기서 시작합니다. 적재중량, 총중량, 축하중도 함께 봅니다.</a:t>
            </a:r>
          </a:p>
          <a:p>
            <a:r>
              <a:t>전파: 전파법 제58조의2에 따라 방송통신기자재는 적합성평가를 받아야 합니다. GPR에 적용되는 세부 기술기준은 [추가 확인 필요].</a:t>
            </a:r>
          </a:p>
          <a:p>
            <a:r>
              <a:t>지하안전: 국토부는 2025.5.27 "지반탐사업 관리 체계화를 위해 등록기준 마련을 검토한다"고 발표했습니다. 2026.10 기준 도입 여부는 확인하지 못했습니다 [추가 확인 필요]. 초기에는 전문업체와 공동 수행합니다.</a:t>
            </a:r>
          </a:p>
          <a:p>
            <a:r>
              <a:t>도로 작업: 긴급자동차가 아닌 차에 경광등을 달면 도로교통법 제49조 제1항 제4호 위반입니다. 작업 표시 방식은 국토부 도로공사장 교통관리지침과 관계기관 협의로 정합니다 [추가 확인 필요].</a:t>
            </a:r>
          </a:p>
          <a:p>
            <a:r>
              <a:t>개인정보: 개인정보보호법 제25조의2(이동형 영상정보처리기기, 2023.9.15 시행)에 따라 촬영 사실을 표시하고, 저장·공유 전에 얼굴과 번호판을 가립니다.</a:t>
            </a:r>
          </a:p>
          <a:p>
            <a:r>
              <a:t>현장 안전: 초기 2인 1조, 주행 중 AR 사용 금지, 정차 확인 후 작업 모드, 천공·내시경은 도로관리기관 승인과 교통통제 뒤.</a:t>
            </a:r>
          </a:p>
          <a:p>
            <a:r>
              <a:t>참고: 국토부 굴착공사장 안전관리 강화방안(2025.5.27) https://www.korea.kr/news/policyFocusView.do?newsId=148943731 , 찾기쉬운 생활법령(자동차 부착 금지 물건) https://www.easylaw.go.kr</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한 대의 PV5가 1년에 볼 수 있는 도로를 가정을 밝혀 계산했습니다. 새벽 3시간, 평균 시속 10km, 연 200일이면 대당 연간 약 6,000km입니다([가설]).</a:t>
            </a:r>
          </a:p>
          <a:p>
            <a:r>
              <a:t>같은 구간을 월 1회 반복하면 한 대가 약 500km를 상시 관리합니다. 서울시 2026 계획 16,423km를 한 번 덮으려면 약 3대, 국비 지원 4,360km를 분기마다 반복하려면 약 3대가 필요합니다.</a:t>
            </a:r>
          </a:p>
          <a:p>
            <a:r>
              <a:t>2차로 이상 도로의 왕복 탐사, 주차 차량, 회차, 정차 재스캔 시간은 빠져 있어 실제 값은 더 작을 수 있습니다. 파일럿의 1일 탐사 연장 KPI로 바로잡습니다.</a:t>
            </a:r>
          </a:p>
          <a:p>
            <a:r>
              <a:t>출처: https://www.engdaily.com/news/articleView.html?idxno=18908 , https://www.seoul.go.kr/news/news_report.do?nttNo=454742 , https://www.codil.or.kr/filebank/files/202505/helpdesk/BBS_202505290920333590.pdf</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기아가 얻는 것: 공공기관의 GPR 장비 확충 수요를 PV5 컨버전 차량 판매로 연결하고, 화성 PBV 컨버전 센터에서 같은 사양을 반복 제작하고, PBV 앱 마켓에 공공 업무용 앱 사례를 더하고, Pleos Fleet 관제 고객을 얻고, PV5가 시민 안전을 지키는 사례를 얻습니다.</a:t>
            </a:r>
          </a:p>
          <a:p>
            <a:r>
              <a:t>기아와 함께 할 일: 시범 차량 1대, PIM 제어기의 카고 적용과 데이터 범위 협의, 컨버전 포털·파트너십을 통한 장착 설계, 앱 마켓 등록(개발자 포털 Pleos Playground, PV5 지원 범위 [추가 확인 필요]), 지자체 실증 연결입니다.</a:t>
            </a:r>
          </a:p>
          <a:p>
            <a:r>
              <a:t>[가설] 판매 대수는 실증 결과와 발주기관 수요 조사 뒤 산정합니다.</a:t>
            </a:r>
          </a:p>
          <a:p>
            <a:r>
              <a:t>출처: https://biz.heraldcorp.com/article/10496703 , https://www.hyundaimotorgroup.com/ko/news/CONT0000000000201311</a:t>
            </a:r>
          </a:p>
          <a:p>
            <a:r>
              <a:t>판매 규모 근거: 2025.3 기준 지자체가 자체 보유한 GPR은 서울 7대, 부산 1대뿐이고 나머지 15개 시·도는 없었습니다(서울경제 2025.3.28, https://v.daum.net/v/20250328164433619). 국토안전관리원은 13대에서 2029년 30대로 늘립니다. 이 수요를 같은 사양의 PV5로 묶는 것이 제안입니다 [가설].</a:t>
            </a:r>
          </a:p>
          <a:p>
            <a:r>
              <a:t>컨버전 포털: 3D CAD, 바디빌더 매뉴얼, 제원·인증 서류를 제공하고, 파트너십 참여 시 R&amp;D센터 핫라인 상담이 가능합니다. https://www.kia.com/kr/pbv/kia-pbv/conversion_portal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txBody>
          <a:bodyPr/>
          <a:lstStyle/>
          <a:p>
            <a:endParaRPr lang="ko-KR" altLang="en-US"/>
          </a:p>
        </p:txBody>
      </p:sp>
      <p:sp>
        <p:nvSpPr>
          <p:cNvPr id="3" name="Text 1"/>
          <p:cNvSpPr/>
          <p:nvPr/>
        </p:nvSpPr>
        <p:spPr>
          <a:xfrm>
            <a:off x="548640" y="384048"/>
            <a:ext cx="17830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retendard" pitchFamily="34" charset="0"/>
                <a:ea typeface="Pretendard" pitchFamily="34" charset="-122"/>
                <a:cs typeface="Pretendard" pitchFamily="34" charset="-120"/>
              </a:rPr>
              <a:t>PV5 GroundWatch</a:t>
            </a:r>
            <a:endParaRPr lang="en-US" sz="13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rtlCol="0"/>
          <a:lstStyle>
            <a:lvl1pPr marL="0" indent="0">
              <a:buNone/>
              <a:defRPr lang="en-US" sz="1900" b="1" dirty="0">
                <a:solidFill>
                  <a:srgbClr val="101828"/>
                </a:solidFill>
                <a:latin typeface="Pretendard" pitchFamily="34" charset="0"/>
                <a:ea typeface="Pretendard" pitchFamily="34" charset="-122"/>
                <a:cs typeface="Pretendard" pitchFamily="34" charset="-120"/>
              </a:defRPr>
            </a:lvl1pPr>
          </a:lstStyle>
          <a:p>
            <a:pPr marL="0" indent="0">
              <a:buNone/>
            </a:pPr>
            <a:endParaRPr lang="en-US" sz="19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DIVIDER">
    <p:bg>
      <p:bgPr>
        <a:solidFill>
          <a:srgbClr val="0A1628"/>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05840"/>
            <a:ext cx="11094415" cy="822960"/>
          </a:xfrm>
          <a:prstGeom prst="rect">
            <a:avLst/>
          </a:prstGeom>
          <a:noFill/>
          <a:ln/>
        </p:spPr>
        <p:txBody>
          <a:bodyPr wrap="square" rtlCol="0"/>
          <a:lstStyle>
            <a:lvl1pPr marL="0" indent="0" algn="ctr">
              <a:buNone/>
              <a:defRPr lang="en-US" sz="4000" b="1" dirty="0">
                <a:solidFill>
                  <a:srgbClr val="FFFFFF"/>
                </a:solidFill>
                <a:latin typeface="Pretendard" pitchFamily="34" charset="0"/>
                <a:ea typeface="Pretendard" pitchFamily="34" charset="-122"/>
                <a:cs typeface="Pretendard" pitchFamily="34" charset="-120"/>
              </a:defRPr>
            </a:lvl1pPr>
          </a:lstStyle>
          <a:p>
            <a:pPr marL="0" indent="0" algn="ctr">
              <a:buNone/>
            </a:pPr>
            <a:endParaRPr lang="en-US" sz="4000" dirty="0"/>
          </a:p>
        </p:txBody>
      </p:sp>
      <p:sp>
        <p:nvSpPr>
          <p:cNvPr id="3" name="Text 0"/>
          <p:cNvSpPr>
            <a:spLocks noGrp="1"/>
          </p:cNvSpPr>
          <p:nvPr>
            <p:ph type="body" idx="101" hasCustomPrompt="1"/>
          </p:nvPr>
        </p:nvSpPr>
        <p:spPr>
          <a:xfrm>
            <a:off x="3108960" y="1965960"/>
            <a:ext cx="5971032" cy="548640"/>
          </a:xfrm>
          <a:prstGeom prst="rect">
            <a:avLst/>
          </a:prstGeom>
          <a:noFill/>
          <a:ln/>
        </p:spPr>
        <p:txBody>
          <a:bodyPr wrap="square" rtlCol="0"/>
          <a:lstStyle>
            <a:lvl1pPr marL="0" indent="0" algn="ctr">
              <a:buNone/>
              <a:defRPr lang="en-US" sz="2200" b="1" dirty="0">
                <a:solidFill>
                  <a:srgbClr val="101828"/>
                </a:solidFill>
                <a:latin typeface="Pretendard" pitchFamily="34" charset="0"/>
                <a:ea typeface="Pretendard" pitchFamily="34" charset="-122"/>
                <a:cs typeface="Pretendard" pitchFamily="34" charset="-120"/>
              </a:defRPr>
            </a:lvl1pPr>
          </a:lstStyle>
          <a:p>
            <a:pPr marL="0" indent="0" algn="ctr">
              <a:buNone/>
            </a:pPr>
            <a:endParaRPr lang="en-US" sz="22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jp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4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4.jp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 Id="rId3" Type="http://schemas.openxmlformats.org/officeDocument/2006/relationships/notesSlide" Target="../notesSlides/notesSlide3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3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4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_cover" descr="/Users/seohogyun/Documents/git_workspace/pv5-hose-lab/groundwatch/images/ph_cover.jpg"/>
          <p:cNvPicPr>
            <a:picLocks noChangeAspect="1"/>
          </p:cNvPicPr>
          <p:nvPr/>
        </p:nvPicPr>
        <p:blipFill>
          <a:blip r:embed="rId3"/>
          <a:stretch>
            <a:fillRect/>
          </a:stretch>
        </p:blipFill>
        <p:spPr>
          <a:xfrm>
            <a:off x="0" y="0"/>
            <a:ext cx="12191695" cy="6858000"/>
          </a:xfrm>
          <a:prstGeom prst="rect">
            <a:avLst/>
          </a:prstGeom>
        </p:spPr>
      </p:pic>
      <p:sp>
        <p:nvSpPr>
          <p:cNvPr id="11" name="Text 8"/>
          <p:cNvSpPr txBox="1"/>
          <p:nvPr/>
        </p:nvSpPr>
        <p:spPr>
          <a:xfrm>
            <a:off x="640080" y="1905000"/>
            <a:ext cx="6400800" cy="812800"/>
          </a:xfrm>
          <a:prstGeom prst="rect">
            <a:avLst/>
          </a:prstGeom>
          <a:noFill/>
          <a:ln/>
        </p:spPr>
        <p:txBody>
          <a:bodyPr wrap="square" lIns="0" tIns="0" rIns="0" bIns="0" rtlCol="0" anchor="ctr"/>
          <a:lstStyle/>
          <a:p>
            <a:pPr marL="0" indent="0">
              <a:buNone/>
            </a:pPr>
            <a:r>
              <a:rPr lang="en-US" sz="4800" b="1" dirty="0">
                <a:solidFill>
                  <a:srgbClr val="FFFFFF"/>
                </a:solidFill>
              </a:rPr>
              <a:t>PV5 GroundWatch</a:t>
            </a:r>
            <a:endParaRPr lang="en-US" sz="2800" dirty="0"/>
          </a:p>
        </p:txBody>
      </p:sp>
      <p:sp>
        <p:nvSpPr>
          <p:cNvPr id="12" name="Text 9"/>
          <p:cNvSpPr txBox="1"/>
          <p:nvPr/>
        </p:nvSpPr>
        <p:spPr>
          <a:xfrm>
            <a:off x="640080" y="2794000"/>
            <a:ext cx="7315200" cy="457200"/>
          </a:xfrm>
          <a:prstGeom prst="rect">
            <a:avLst/>
          </a:prstGeom>
          <a:noFill/>
          <a:ln/>
        </p:spPr>
        <p:txBody>
          <a:bodyPr wrap="square" lIns="0" tIns="0" rIns="0" bIns="0" rtlCol="0" anchor="ctr"/>
          <a:lstStyle/>
          <a:p>
            <a:pPr marL="0" indent="0">
              <a:buNone/>
            </a:pPr>
            <a:r>
              <a:rPr lang="en-US" sz="2400" dirty="0">
                <a:solidFill>
                  <a:srgbClr val="C9D3E0"/>
                </a:solidFill>
              </a:rPr>
              <a:t>PV5 지하안전 순찰차</a:t>
            </a:r>
            <a:endParaRPr lang="en-US" sz="1600" dirty="0"/>
          </a:p>
        </p:txBody>
      </p:sp>
      <p:sp>
        <p:nvSpPr>
          <p:cNvPr id="13" name="Text 10"/>
          <p:cNvSpPr txBox="1"/>
          <p:nvPr/>
        </p:nvSpPr>
        <p:spPr>
          <a:xfrm>
            <a:off x="640080" y="4318000"/>
            <a:ext cx="6400800" cy="381000"/>
          </a:xfrm>
          <a:prstGeom prst="rect">
            <a:avLst/>
          </a:prstGeom>
          <a:noFill/>
          <a:ln/>
        </p:spPr>
        <p:txBody>
          <a:bodyPr wrap="square" lIns="0" tIns="0" rIns="0" bIns="0" rtlCol="0" anchor="ctr"/>
          <a:lstStyle/>
          <a:p>
            <a:pPr marL="0" indent="0">
              <a:buNone/>
            </a:pPr>
            <a:r>
              <a:rPr lang="en-US" sz="1800" b="1" dirty="0">
                <a:solidFill>
                  <a:srgbClr val="F5B400"/>
                </a:solidFill>
              </a:rPr>
              <a:t>팀 한 명이라도 살릴 수 있다면</a:t>
            </a:r>
            <a:endParaRPr lang="en-US" sz="1500" dirty="0"/>
          </a:p>
        </p:txBody>
      </p:sp>
      <p:sp>
        <p:nvSpPr>
          <p:cNvPr id="15" name="source"/>
          <p:cNvSpPr txBox="1"/>
          <p:nvPr/>
        </p:nvSpPr>
        <p:spPr>
          <a:xfrm>
            <a:off x="546100" y="6350000"/>
            <a:ext cx="6350000" cy="304800"/>
          </a:xfrm>
          <a:prstGeom prst="rect">
            <a:avLst/>
          </a:prstGeom>
          <a:noFill/>
          <a:ln/>
        </p:spPr>
        <p:txBody>
          <a:bodyPr wrap="square" lIns="0" tIns="0" rIns="0" bIns="0" rtlCol="0" anchor="ctr"/>
          <a:lstStyle/>
          <a:p>
            <a:pPr marL="0" indent="0">
              <a:buNone/>
            </a:pPr>
            <a:r>
              <a:rPr lang="en-US" sz="1000" dirty="0">
                <a:solidFill>
                  <a:srgbClr val="D8DEE6"/>
                </a:solidFill>
              </a:rPr>
              <a:t>배경: PattayaPatrol, CC BY-SA 4.0 사진에 단면 합성</a:t>
            </a:r>
            <a:endParaRPr lang="en-US" sz="1000" dirty="0"/>
          </a:p>
        </p:txBody>
      </p:sp>
      <p:sp>
        <p:nvSpPr>
          <p:cNvPr id="16" name="cover keywords"/>
          <p:cNvSpPr txBox="1"/>
          <p:nvPr/>
        </p:nvSpPr>
        <p:spPr>
          <a:xfrm>
            <a:off x="635000" y="4876800"/>
            <a:ext cx="7112000" cy="330200"/>
          </a:xfrm>
          <a:prstGeom prst="rect">
            <a:avLst/>
          </a:prstGeom>
          <a:noFill/>
          <a:ln>
            <a:noFill/>
          </a:ln>
        </p:spPr>
        <p:txBody>
          <a:bodyPr wrap="square" lIns="0" tIns="0" rIns="0" bIns="0" rtlCol="0" anchor="t"/>
          <a:lstStyle/>
          <a:p>
            <a:pPr marL="0" indent="0">
              <a:buNone/>
            </a:pPr>
            <a:r>
              <a:rPr lang="en-US" sz="1500" dirty="0">
                <a:solidFill>
                  <a:srgbClr val="C9CED6"/>
                </a:solidFill>
              </a:rPr>
              <a:t>반복 순찰   ·   변화 감지   ·   현장 재확인</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solidFill>
            <a:srgbClr val="0A1628"/>
          </a:solidFill>
          <a:ln>
            <a:noFill/>
          </a:ln>
        </p:spPr>
        <p:txBody>
          <a:bodyPr/>
          <a:lstStyle/>
          <a:p>
            <a:endParaRPr lang="ko-KR" altLang="en-US"/>
          </a:p>
        </p:txBody>
      </p:sp>
      <p:pic>
        <p:nvPicPr>
          <p:cNvPr id="3" name="ph_crack" descr="image.jpg"/>
          <p:cNvPicPr>
            <a:picLocks noChangeAspect="1"/>
          </p:cNvPicPr>
          <p:nvPr/>
        </p:nvPicPr>
        <p:blipFill>
          <a:blip r:embed="rId2"/>
          <a:srcRect l="1020" r="1020"/>
          <a:stretch>
            <a:fillRect/>
          </a:stretch>
        </p:blipFill>
        <p:spPr>
          <a:xfrm>
            <a:off x="0" y="0"/>
            <a:ext cx="8128000" cy="6223000"/>
          </a:xfrm>
          <a:prstGeom prst="rect">
            <a:avLst/>
          </a:prstGeom>
        </p:spPr>
      </p:pic>
      <p:sp>
        <p:nvSpPr>
          <p:cNvPr id="4" name="date"/>
          <p:cNvSpPr txBox="1"/>
          <p:nvPr/>
        </p:nvSpPr>
        <p:spPr>
          <a:xfrm>
            <a:off x="8483600" y="508000"/>
            <a:ext cx="3403600" cy="279400"/>
          </a:xfrm>
          <a:prstGeom prst="rect">
            <a:avLst/>
          </a:prstGeom>
          <a:noFill/>
          <a:ln>
            <a:noFill/>
          </a:ln>
        </p:spPr>
        <p:txBody>
          <a:bodyPr wrap="square" lIns="0" tIns="0" rIns="0" bIns="0" rtlCol="0" anchor="t"/>
          <a:lstStyle/>
          <a:p>
            <a:pPr marL="0" indent="0">
              <a:buNone/>
            </a:pPr>
            <a:r>
              <a:rPr lang="en-US" sz="1300" dirty="0">
                <a:solidFill>
                  <a:srgbClr val="C9D3E0"/>
                </a:solidFill>
              </a:rPr>
              <a:t>2025.3.24 · 서울 강동구 명일동</a:t>
            </a:r>
            <a:endParaRPr lang="en-US" sz="1300" dirty="0"/>
          </a:p>
        </p:txBody>
      </p:sp>
      <p:sp>
        <p:nvSpPr>
          <p:cNvPr id="5" name="headline"/>
          <p:cNvSpPr txBox="1"/>
          <p:nvPr/>
        </p:nvSpPr>
        <p:spPr>
          <a:xfrm>
            <a:off x="8483600" y="812800"/>
            <a:ext cx="3403600" cy="1168400"/>
          </a:xfrm>
          <a:prstGeom prst="rect">
            <a:avLst/>
          </a:prstGeom>
          <a:noFill/>
          <a:ln>
            <a:noFill/>
          </a:ln>
        </p:spPr>
        <p:txBody>
          <a:bodyPr wrap="square" lIns="0" tIns="0" rIns="0" bIns="0" rtlCol="0" anchor="t"/>
          <a:lstStyle/>
          <a:p>
            <a:pPr marL="0" indent="0">
              <a:buNone/>
            </a:pPr>
            <a:r>
              <a:rPr lang="en-US" sz="3000" b="1" dirty="0">
                <a:solidFill>
                  <a:srgbClr val="FFFFFF"/>
                </a:solidFill>
              </a:rPr>
              <a:t>도로가 무너지기까지,</a:t>
            </a:r>
            <a:endParaRPr lang="en-US" sz="3000" dirty="0"/>
          </a:p>
          <a:p>
            <a:pPr marL="0" indent="0">
              <a:buNone/>
            </a:pPr>
            <a:r>
              <a:rPr lang="en-US" sz="3000" b="1" dirty="0">
                <a:solidFill>
                  <a:srgbClr val="FFFFFF"/>
                </a:solidFill>
              </a:rPr>
              <a:t>1~2분.</a:t>
            </a:r>
            <a:endParaRPr lang="en-US" sz="3000" dirty="0"/>
          </a:p>
        </p:txBody>
      </p:sp>
      <p:sp>
        <p:nvSpPr>
          <p:cNvPr id="6" name="stat"/>
          <p:cNvSpPr txBox="1"/>
          <p:nvPr/>
        </p:nvSpPr>
        <p:spPr>
          <a:xfrm>
            <a:off x="8483600" y="2184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22m × 18m</a:t>
            </a:r>
            <a:endParaRPr lang="en-US" sz="2600" dirty="0"/>
          </a:p>
        </p:txBody>
      </p:sp>
      <p:sp>
        <p:nvSpPr>
          <p:cNvPr id="7" name="stat label"/>
          <p:cNvSpPr txBox="1"/>
          <p:nvPr/>
        </p:nvSpPr>
        <p:spPr>
          <a:xfrm>
            <a:off x="8483600" y="2603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붕괴 범위(길이, 폭)</a:t>
            </a:r>
            <a:endParaRPr lang="en-US" sz="1200" dirty="0"/>
          </a:p>
        </p:txBody>
      </p:sp>
      <p:sp>
        <p:nvSpPr>
          <p:cNvPr id="8" name="stat"/>
          <p:cNvSpPr txBox="1"/>
          <p:nvPr/>
        </p:nvSpPr>
        <p:spPr>
          <a:xfrm>
            <a:off x="8483600" y="2946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깊이 16m</a:t>
            </a:r>
            <a:endParaRPr lang="en-US" sz="2600" dirty="0"/>
          </a:p>
        </p:txBody>
      </p:sp>
      <p:sp>
        <p:nvSpPr>
          <p:cNvPr id="9" name="stat label"/>
          <p:cNvSpPr txBox="1"/>
          <p:nvPr/>
        </p:nvSpPr>
        <p:spPr>
          <a:xfrm>
            <a:off x="8483600" y="3365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약 1~2분 만에 확대</a:t>
            </a:r>
            <a:endParaRPr lang="en-US" sz="1200" dirty="0"/>
          </a:p>
        </p:txBody>
      </p:sp>
      <p:sp>
        <p:nvSpPr>
          <p:cNvPr id="10" name="stat"/>
          <p:cNvSpPr txBox="1"/>
          <p:nvPr/>
        </p:nvSpPr>
        <p:spPr>
          <a:xfrm>
            <a:off x="8483600" y="3708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사망 1 · 부상 1</a:t>
            </a:r>
            <a:endParaRPr lang="en-US" sz="2600" dirty="0"/>
          </a:p>
        </p:txBody>
      </p:sp>
      <p:sp>
        <p:nvSpPr>
          <p:cNvPr id="11" name="stat label"/>
          <p:cNvSpPr txBox="1"/>
          <p:nvPr/>
        </p:nvSpPr>
        <p:spPr>
          <a:xfrm>
            <a:off x="8483600" y="4127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인명 피해</a:t>
            </a:r>
            <a:endParaRPr lang="en-US" sz="1200" dirty="0"/>
          </a:p>
        </p:txBody>
      </p:sp>
      <p:sp>
        <p:nvSpPr>
          <p:cNvPr id="12" name="core"/>
          <p:cNvSpPr txBox="1"/>
          <p:nvPr/>
        </p:nvSpPr>
        <p:spPr>
          <a:xfrm>
            <a:off x="8483600" y="4521200"/>
            <a:ext cx="3403600" cy="609600"/>
          </a:xfrm>
          <a:prstGeom prst="rect">
            <a:avLst/>
          </a:prstGeom>
          <a:noFill/>
          <a:ln>
            <a:noFill/>
          </a:ln>
        </p:spPr>
        <p:txBody>
          <a:bodyPr wrap="square" lIns="0" tIns="0" rIns="0" bIns="0" rtlCol="0" anchor="t"/>
          <a:lstStyle/>
          <a:p>
            <a:pPr marL="0" indent="0">
              <a:buNone/>
            </a:pPr>
            <a:r>
              <a:rPr lang="en-US" sz="1600" b="1" dirty="0">
                <a:solidFill>
                  <a:srgbClr val="FFFFFF"/>
                </a:solidFill>
              </a:rPr>
              <a:t>평범한 도로가 한 사람의 마지막 길이 되었습니다.</a:t>
            </a:r>
            <a:endParaRPr lang="en-US" sz="1600" dirty="0"/>
          </a:p>
        </p:txBody>
      </p:sp>
      <p:sp>
        <p:nvSpPr>
          <p:cNvPr id="13" name="bridge"/>
          <p:cNvSpPr txBox="1"/>
          <p:nvPr/>
        </p:nvSpPr>
        <p:spPr>
          <a:xfrm>
            <a:off x="8483600" y="5130800"/>
            <a:ext cx="3403600" cy="558800"/>
          </a:xfrm>
          <a:prstGeom prst="rect">
            <a:avLst/>
          </a:prstGeom>
          <a:noFill/>
          <a:ln>
            <a:noFill/>
          </a:ln>
        </p:spPr>
        <p:txBody>
          <a:bodyPr wrap="square" lIns="0" tIns="0" rIns="0" bIns="0" rtlCol="0" anchor="t"/>
          <a:lstStyle/>
          <a:p>
            <a:pPr marL="0" indent="0">
              <a:buNone/>
            </a:pPr>
            <a:r>
              <a:rPr lang="en-US" sz="1300" dirty="0">
                <a:solidFill>
                  <a:srgbClr val="C9D3E0"/>
                </a:solidFill>
              </a:rPr>
              <a:t>붕괴는 갑자기 보였지만, 위험은 지하에서 먼저 시작됐습니다.</a:t>
            </a:r>
            <a:endParaRPr lang="en-US" sz="1300" dirty="0"/>
          </a:p>
        </p:txBody>
      </p:sp>
      <p:sp>
        <p:nvSpPr>
          <p:cNvPr id="14" name="source"/>
          <p:cNvSpPr txBox="1"/>
          <p:nvPr/>
        </p:nvSpPr>
        <p:spPr>
          <a:xfrm>
            <a:off x="304800" y="6311900"/>
            <a:ext cx="11430000" cy="431800"/>
          </a:xfrm>
          <a:prstGeom prst="rect">
            <a:avLst/>
          </a:prstGeom>
          <a:noFill/>
          <a:ln>
            <a:noFill/>
          </a:ln>
        </p:spPr>
        <p:txBody>
          <a:bodyPr wrap="square" lIns="0" tIns="0" rIns="0" bIns="0" rtlCol="0" anchor="t"/>
          <a:lstStyle/>
          <a:p>
            <a:pPr marL="0" indent="0">
              <a:buNone/>
            </a:pPr>
            <a:r>
              <a:rPr lang="en-US" sz="1000" dirty="0">
                <a:solidFill>
                  <a:srgbClr val="9AA8BC"/>
                </a:solidFill>
              </a:rPr>
              <a:t>출처: 국토교통부, 중앙지하사고조사위원회 「서울 명일동 땅꺼짐 사고 조사결과」(2025.12.3).</a:t>
            </a:r>
            <a:endParaRPr lang="en-US" sz="1000" dirty="0"/>
          </a:p>
          <a:p>
            <a:pPr marL="0" indent="0">
              <a:buNone/>
            </a:pPr>
            <a:r>
              <a:rPr lang="en-US" sz="1000" dirty="0">
                <a:solidFill>
                  <a:srgbClr val="9AA8BC"/>
                </a:solidFill>
              </a:rPr>
              <a:t>사진: 포장 함몰 해외 사례(명일동 현장 아님), Famartin, CC BY-SA 4.0</a:t>
            </a:r>
            <a:endParaRPr lang="en-US" sz="1000" dirty="0"/>
          </a:p>
        </p:txBody>
      </p:sp>
      <p:sp>
        <p:nvSpPr>
          <p:cNvPr id="15" name="scope note"/>
          <p:cNvSpPr txBox="1"/>
          <p:nvPr/>
        </p:nvSpPr>
        <p:spPr>
          <a:xfrm>
            <a:off x="8483600" y="5689600"/>
            <a:ext cx="3403600" cy="508000"/>
          </a:xfrm>
          <a:prstGeom prst="rect">
            <a:avLst/>
          </a:prstGeom>
          <a:noFill/>
          <a:ln>
            <a:noFill/>
          </a:ln>
        </p:spPr>
        <p:txBody>
          <a:bodyPr wrap="square" lIns="0" tIns="0" rIns="0" bIns="0" rtlCol="0" anchor="t"/>
          <a:lstStyle/>
          <a:p>
            <a:pPr marL="0" indent="0">
              <a:buNone/>
            </a:pPr>
            <a:r>
              <a:rPr lang="en-US" sz="1000" dirty="0">
                <a:solidFill>
                  <a:srgbClr val="9AA8BC"/>
                </a:solidFill>
              </a:rPr>
              <a:t>명일동은 깊은 지질구조와 터널공사가 겹친 사고였습니다. GroundWatch는 연희동처럼 얕은 곳에서 커지는 공동을 먼저 찾습니다.</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ag"/>
          <p:cNvSpPr txBox="1"/>
          <p:nvPr/>
        </p:nvSpPr>
        <p:spPr>
          <a:xfrm>
            <a:off x="2387600" y="381000"/>
            <a:ext cx="1866900" cy="381000"/>
          </a:xfrm>
          <a:prstGeom prst="rect">
            <a:avLst/>
          </a:prstGeom>
          <a:solidFill>
            <a:srgbClr val="F5B400"/>
          </a:solidFill>
          <a:ln w="12700">
            <a:solidFill>
              <a:srgbClr val="F5B400"/>
            </a:solidFill>
          </a:ln>
        </p:spPr>
        <p:txBody>
          <a:bodyPr wrap="square" lIns="0" tIns="0" rIns="0" bIns="0" rtlCol="0" anchor="ctr"/>
          <a:lstStyle/>
          <a:p>
            <a:pPr marL="0" indent="0" algn="ctr">
              <a:buNone/>
            </a:pPr>
            <a:r>
              <a:rPr lang="en-US" sz="1400" b="1" dirty="0">
                <a:solidFill>
                  <a:srgbClr val="101828"/>
                </a:solidFill>
              </a:rPr>
              <a:t>한 장 요약</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같은 길을 반복해서 보고, 달라진 곳을 먼저 찾는다</a:t>
            </a:r>
            <a:endParaRPr lang="en-US" sz="1900" dirty="0"/>
          </a:p>
        </p:txBody>
      </p:sp>
      <p:sp>
        <p:nvSpPr>
          <p:cNvPr id="4"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sp>
        <p:nvSpPr>
          <p:cNvPr id="5" name="problem box"/>
          <p:cNvSpPr txBox="1"/>
          <p:nvPr/>
        </p:nvSpPr>
        <p:spPr>
          <a:xfrm>
            <a:off x="546100" y="1016000"/>
            <a:ext cx="5346700" cy="1168400"/>
          </a:xfrm>
          <a:prstGeom prst="rect">
            <a:avLst/>
          </a:prstGeom>
          <a:solidFill>
            <a:srgbClr val="F2F4F7"/>
          </a:solidFill>
          <a:ln>
            <a:noFill/>
          </a:ln>
        </p:spPr>
        <p:txBody>
          <a:bodyPr wrap="square" lIns="152400" tIns="152400" rIns="152400" bIns="152400" rtlCol="0" anchor="t"/>
          <a:lstStyle/>
          <a:p>
            <a:pPr marL="0" indent="0">
              <a:spcAft>
                <a:spcPts val="400"/>
              </a:spcAft>
              <a:buNone/>
            </a:pPr>
            <a:r>
              <a:rPr lang="en-US" sz="1300" b="1" dirty="0">
                <a:solidFill>
                  <a:srgbClr val="D93025"/>
                </a:solidFill>
              </a:rPr>
              <a:t>문제</a:t>
            </a:r>
            <a:endParaRPr lang="en-US" sz="1300" dirty="0"/>
          </a:p>
          <a:p>
            <a:pPr marL="0" indent="0">
              <a:spcAft>
                <a:spcPts val="400"/>
              </a:spcAft>
              <a:buNone/>
            </a:pPr>
            <a:r>
              <a:rPr lang="en-US" sz="1400" dirty="0">
                <a:solidFill>
                  <a:srgbClr val="101828"/>
                </a:solidFill>
              </a:rPr>
              <a:t>GPR 탐사는 한 시점의 결과입니다. 연희동 도로는 5월 정기 탐사에서 공동이 없었지만 8월에 꺼졌습니다.</a:t>
            </a:r>
            <a:endParaRPr lang="en-US" sz="1400" dirty="0"/>
          </a:p>
        </p:txBody>
      </p:sp>
      <p:sp>
        <p:nvSpPr>
          <p:cNvPr id="6" name="solution box"/>
          <p:cNvSpPr txBox="1"/>
          <p:nvPr/>
        </p:nvSpPr>
        <p:spPr>
          <a:xfrm>
            <a:off x="6121400" y="1016000"/>
            <a:ext cx="5511800" cy="1168400"/>
          </a:xfrm>
          <a:prstGeom prst="rect">
            <a:avLst/>
          </a:prstGeom>
          <a:solidFill>
            <a:srgbClr val="0B1F3A"/>
          </a:solidFill>
          <a:ln>
            <a:noFill/>
          </a:ln>
        </p:spPr>
        <p:txBody>
          <a:bodyPr wrap="square" lIns="152400" tIns="152400" rIns="152400" bIns="152400" rtlCol="0" anchor="t"/>
          <a:lstStyle/>
          <a:p>
            <a:pPr marL="0" indent="0">
              <a:spcAft>
                <a:spcPts val="400"/>
              </a:spcAft>
              <a:buNone/>
            </a:pPr>
            <a:r>
              <a:rPr lang="en-US" sz="1300" b="1" dirty="0">
                <a:solidFill>
                  <a:srgbClr val="F5B400"/>
                </a:solidFill>
              </a:rPr>
              <a:t>해결</a:t>
            </a:r>
            <a:endParaRPr lang="en-US" sz="1300" dirty="0"/>
          </a:p>
          <a:p>
            <a:pPr marL="0" indent="0">
              <a:spcAft>
                <a:spcPts val="400"/>
              </a:spcAft>
              <a:buNone/>
            </a:pPr>
            <a:r>
              <a:rPr lang="en-US" sz="1400" dirty="0">
                <a:solidFill>
                  <a:srgbClr val="FFFFFF"/>
                </a:solidFill>
              </a:rPr>
              <a:t>PV5가 새벽에 같은 길을 같은 장비로 반복 주행하고, AI가 이전 회차와 달라진 지점을 찾아 전문가 승인 뒤 현장에서 다시 확인합니다.</a:t>
            </a:r>
            <a:endParaRPr lang="en-US" sz="1400" dirty="0"/>
          </a:p>
        </p:txBody>
      </p:sp>
      <p:sp>
        <p:nvSpPr>
          <p:cNvPr id="7" name="head"/>
          <p:cNvSpPr txBox="1"/>
          <p:nvPr/>
        </p:nvSpPr>
        <p:spPr>
          <a:xfrm>
            <a:off x="546100" y="2336800"/>
            <a:ext cx="11087100" cy="279400"/>
          </a:xfrm>
          <a:prstGeom prst="rect">
            <a:avLst/>
          </a:prstGeom>
          <a:noFill/>
          <a:ln>
            <a:noFill/>
          </a:ln>
        </p:spPr>
        <p:txBody>
          <a:bodyPr wrap="square" lIns="0" tIns="0" rIns="0" bIns="0" rtlCol="0" anchor="t"/>
          <a:lstStyle/>
          <a:p>
            <a:pPr marL="0" indent="0">
              <a:buNone/>
            </a:pPr>
            <a:r>
              <a:rPr lang="en-US" sz="1500" b="1" dirty="0">
                <a:solidFill>
                  <a:srgbClr val="101828"/>
                </a:solidFill>
              </a:rPr>
              <a:t>무엇이 새로운가</a:t>
            </a:r>
            <a:endParaRPr lang="en-US" sz="1500" dirty="0"/>
          </a:p>
        </p:txBody>
      </p:sp>
      <p:sp>
        <p:nvSpPr>
          <p:cNvPr id="8" name="diff card"/>
          <p:cNvSpPr/>
          <p:nvPr/>
        </p:nvSpPr>
        <p:spPr>
          <a:xfrm>
            <a:off x="546100" y="2667000"/>
            <a:ext cx="3594100" cy="1168400"/>
          </a:xfrm>
          <a:prstGeom prst="roundRect">
            <a:avLst>
              <a:gd name="adj" fmla="val 6000"/>
            </a:avLst>
          </a:prstGeom>
          <a:solidFill>
            <a:srgbClr val="FFFFFF"/>
          </a:solidFill>
          <a:ln w="12700">
            <a:solidFill>
              <a:srgbClr val="DCE1E8"/>
            </a:solidFill>
          </a:ln>
        </p:spPr>
        <p:txBody>
          <a:bodyPr/>
          <a:lstStyle/>
          <a:p>
            <a:endParaRPr lang="ko-KR" altLang="en-US"/>
          </a:p>
        </p:txBody>
      </p:sp>
      <p:sp>
        <p:nvSpPr>
          <p:cNvPr id="9" name="diff no"/>
          <p:cNvSpPr txBox="1"/>
          <p:nvPr/>
        </p:nvSpPr>
        <p:spPr>
          <a:xfrm>
            <a:off x="698500" y="279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1</a:t>
            </a:r>
            <a:endParaRPr lang="en-US" sz="1200" dirty="0"/>
          </a:p>
        </p:txBody>
      </p:sp>
      <p:sp>
        <p:nvSpPr>
          <p:cNvPr id="10" name="diff title"/>
          <p:cNvSpPr txBox="1"/>
          <p:nvPr/>
        </p:nvSpPr>
        <p:spPr>
          <a:xfrm>
            <a:off x="1079500" y="2794000"/>
            <a:ext cx="2946400" cy="304800"/>
          </a:xfrm>
          <a:prstGeom prst="rect">
            <a:avLst/>
          </a:prstGeom>
          <a:noFill/>
          <a:ln>
            <a:noFill/>
          </a:ln>
        </p:spPr>
        <p:txBody>
          <a:bodyPr wrap="square" lIns="0" tIns="0" rIns="0" bIns="0" rtlCol="0" anchor="ctr"/>
          <a:lstStyle/>
          <a:p>
            <a:pPr marL="0" indent="0">
              <a:buNone/>
            </a:pPr>
            <a:r>
              <a:rPr lang="en-US" sz="1500" b="1" dirty="0">
                <a:solidFill>
                  <a:srgbClr val="101828"/>
                </a:solidFill>
              </a:rPr>
              <a:t>회차 간 변화 비교</a:t>
            </a:r>
            <a:endParaRPr lang="en-US" sz="1500" dirty="0"/>
          </a:p>
        </p:txBody>
      </p:sp>
      <p:sp>
        <p:nvSpPr>
          <p:cNvPr id="11" name="diff body"/>
          <p:cNvSpPr txBox="1"/>
          <p:nvPr/>
        </p:nvSpPr>
        <p:spPr>
          <a:xfrm>
            <a:off x="698500" y="3175000"/>
            <a:ext cx="3302000" cy="609600"/>
          </a:xfrm>
          <a:prstGeom prst="rect">
            <a:avLst/>
          </a:prstGeom>
          <a:noFill/>
          <a:ln>
            <a:noFill/>
          </a:ln>
        </p:spPr>
        <p:txBody>
          <a:bodyPr wrap="square" lIns="0" tIns="0" rIns="0" bIns="0" rtlCol="0" anchor="t"/>
          <a:lstStyle/>
          <a:p>
            <a:pPr marL="0" indent="0">
              <a:buNone/>
            </a:pPr>
            <a:r>
              <a:rPr lang="en-US" sz="1300" dirty="0">
                <a:solidFill>
                  <a:srgbClr val="5B6573"/>
                </a:solidFill>
              </a:rPr>
              <a:t>같은 길·같은 장비·같은 속도로 재서, 새로 생기거나 커진 신호를 찾습니다</a:t>
            </a:r>
            <a:endParaRPr lang="en-US" sz="1300" dirty="0"/>
          </a:p>
        </p:txBody>
      </p:sp>
      <p:sp>
        <p:nvSpPr>
          <p:cNvPr id="12" name="diff card"/>
          <p:cNvSpPr/>
          <p:nvPr/>
        </p:nvSpPr>
        <p:spPr>
          <a:xfrm>
            <a:off x="4292600" y="2667000"/>
            <a:ext cx="3594100" cy="1168400"/>
          </a:xfrm>
          <a:prstGeom prst="roundRect">
            <a:avLst>
              <a:gd name="adj" fmla="val 6000"/>
            </a:avLst>
          </a:prstGeom>
          <a:solidFill>
            <a:srgbClr val="FFFFFF"/>
          </a:solidFill>
          <a:ln w="12700">
            <a:solidFill>
              <a:srgbClr val="DCE1E8"/>
            </a:solidFill>
          </a:ln>
        </p:spPr>
        <p:txBody>
          <a:bodyPr/>
          <a:lstStyle/>
          <a:p>
            <a:endParaRPr lang="ko-KR" altLang="en-US"/>
          </a:p>
        </p:txBody>
      </p:sp>
      <p:sp>
        <p:nvSpPr>
          <p:cNvPr id="13" name="diff no"/>
          <p:cNvSpPr txBox="1"/>
          <p:nvPr/>
        </p:nvSpPr>
        <p:spPr>
          <a:xfrm>
            <a:off x="4445000" y="279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2</a:t>
            </a:r>
            <a:endParaRPr lang="en-US" sz="1200" dirty="0"/>
          </a:p>
        </p:txBody>
      </p:sp>
      <p:sp>
        <p:nvSpPr>
          <p:cNvPr id="14" name="diff title"/>
          <p:cNvSpPr txBox="1"/>
          <p:nvPr/>
        </p:nvSpPr>
        <p:spPr>
          <a:xfrm>
            <a:off x="4826000" y="2794000"/>
            <a:ext cx="2946400" cy="304800"/>
          </a:xfrm>
          <a:prstGeom prst="rect">
            <a:avLst/>
          </a:prstGeom>
          <a:noFill/>
          <a:ln>
            <a:noFill/>
          </a:ln>
        </p:spPr>
        <p:txBody>
          <a:bodyPr wrap="square" lIns="0" tIns="0" rIns="0" bIns="0" rtlCol="0" anchor="ctr"/>
          <a:lstStyle/>
          <a:p>
            <a:pPr marL="0" indent="0">
              <a:buNone/>
            </a:pPr>
            <a:r>
              <a:rPr lang="en-US" sz="1500" b="1" dirty="0">
                <a:solidFill>
                  <a:srgbClr val="101828"/>
                </a:solidFill>
              </a:rPr>
              <a:t>재확인 업무로 바로 연결</a:t>
            </a:r>
            <a:endParaRPr lang="en-US" sz="1500" dirty="0"/>
          </a:p>
        </p:txBody>
      </p:sp>
      <p:sp>
        <p:nvSpPr>
          <p:cNvPr id="15" name="diff body"/>
          <p:cNvSpPr txBox="1"/>
          <p:nvPr/>
        </p:nvSpPr>
        <p:spPr>
          <a:xfrm>
            <a:off x="4445000" y="3175000"/>
            <a:ext cx="3302000" cy="609600"/>
          </a:xfrm>
          <a:prstGeom prst="rect">
            <a:avLst/>
          </a:prstGeom>
          <a:noFill/>
          <a:ln>
            <a:noFill/>
          </a:ln>
        </p:spPr>
        <p:txBody>
          <a:bodyPr wrap="square" lIns="0" tIns="0" rIns="0" bIns="0" rtlCol="0" anchor="t"/>
          <a:lstStyle/>
          <a:p>
            <a:pPr marL="0" indent="0">
              <a:buNone/>
            </a:pPr>
            <a:r>
              <a:rPr lang="en-US" sz="1300" dirty="0">
                <a:solidFill>
                  <a:srgbClr val="5B6573"/>
                </a:solidFill>
              </a:rPr>
              <a:t>승인된 지점이 다음 순찰 경로와 AR 검색 범위로 이어집니다</a:t>
            </a:r>
            <a:endParaRPr lang="en-US" sz="1300" dirty="0"/>
          </a:p>
        </p:txBody>
      </p:sp>
      <p:sp>
        <p:nvSpPr>
          <p:cNvPr id="16" name="diff card"/>
          <p:cNvSpPr/>
          <p:nvPr/>
        </p:nvSpPr>
        <p:spPr>
          <a:xfrm>
            <a:off x="8039100" y="2667000"/>
            <a:ext cx="3594100" cy="1168400"/>
          </a:xfrm>
          <a:prstGeom prst="roundRect">
            <a:avLst>
              <a:gd name="adj" fmla="val 6000"/>
            </a:avLst>
          </a:prstGeom>
          <a:solidFill>
            <a:srgbClr val="FFFFFF"/>
          </a:solidFill>
          <a:ln w="12700">
            <a:solidFill>
              <a:srgbClr val="DCE1E8"/>
            </a:solidFill>
          </a:ln>
        </p:spPr>
        <p:txBody>
          <a:bodyPr/>
          <a:lstStyle/>
          <a:p>
            <a:endParaRPr lang="ko-KR" altLang="en-US"/>
          </a:p>
        </p:txBody>
      </p:sp>
      <p:sp>
        <p:nvSpPr>
          <p:cNvPr id="17" name="diff no"/>
          <p:cNvSpPr txBox="1"/>
          <p:nvPr/>
        </p:nvSpPr>
        <p:spPr>
          <a:xfrm>
            <a:off x="8191500" y="279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3</a:t>
            </a:r>
            <a:endParaRPr lang="en-US" sz="1200" dirty="0"/>
          </a:p>
        </p:txBody>
      </p:sp>
      <p:sp>
        <p:nvSpPr>
          <p:cNvPr id="18" name="diff title"/>
          <p:cNvSpPr txBox="1"/>
          <p:nvPr/>
        </p:nvSpPr>
        <p:spPr>
          <a:xfrm>
            <a:off x="8572500" y="2794000"/>
            <a:ext cx="2946400" cy="304800"/>
          </a:xfrm>
          <a:prstGeom prst="rect">
            <a:avLst/>
          </a:prstGeom>
          <a:noFill/>
          <a:ln>
            <a:noFill/>
          </a:ln>
        </p:spPr>
        <p:txBody>
          <a:bodyPr wrap="square" lIns="0" tIns="0" rIns="0" bIns="0" rtlCol="0" anchor="ctr"/>
          <a:lstStyle/>
          <a:p>
            <a:pPr marL="0" indent="0">
              <a:buNone/>
            </a:pPr>
            <a:r>
              <a:rPr lang="en-US" sz="1500" b="1" dirty="0">
                <a:solidFill>
                  <a:srgbClr val="101828"/>
                </a:solidFill>
              </a:rPr>
              <a:t>안 본 구간까지 표시</a:t>
            </a:r>
            <a:endParaRPr lang="en-US" sz="1500" dirty="0"/>
          </a:p>
        </p:txBody>
      </p:sp>
      <p:sp>
        <p:nvSpPr>
          <p:cNvPr id="19" name="diff body"/>
          <p:cNvSpPr txBox="1"/>
          <p:nvPr/>
        </p:nvSpPr>
        <p:spPr>
          <a:xfrm>
            <a:off x="8191500" y="3175000"/>
            <a:ext cx="3302000" cy="609600"/>
          </a:xfrm>
          <a:prstGeom prst="rect">
            <a:avLst/>
          </a:prstGeom>
          <a:noFill/>
          <a:ln>
            <a:noFill/>
          </a:ln>
        </p:spPr>
        <p:txBody>
          <a:bodyPr wrap="square" lIns="0" tIns="0" rIns="0" bIns="0" rtlCol="0" anchor="t"/>
          <a:lstStyle/>
          <a:p>
            <a:pPr marL="0" indent="0">
              <a:buNone/>
            </a:pPr>
            <a:r>
              <a:rPr lang="en-US" sz="1300" dirty="0">
                <a:solidFill>
                  <a:srgbClr val="5B6573"/>
                </a:solidFill>
              </a:rPr>
              <a:t>미조사·저신뢰 구간을 따로 표시해 ‘이상 없음’과 구분합니다</a:t>
            </a:r>
            <a:endParaRPr lang="en-US" sz="1300" dirty="0"/>
          </a:p>
        </p:txBody>
      </p:sp>
      <p:sp>
        <p:nvSpPr>
          <p:cNvPr id="20" name="head"/>
          <p:cNvSpPr txBox="1"/>
          <p:nvPr/>
        </p:nvSpPr>
        <p:spPr>
          <a:xfrm>
            <a:off x="546100" y="4013200"/>
            <a:ext cx="5346700" cy="279400"/>
          </a:xfrm>
          <a:prstGeom prst="rect">
            <a:avLst/>
          </a:prstGeom>
          <a:noFill/>
          <a:ln>
            <a:noFill/>
          </a:ln>
        </p:spPr>
        <p:txBody>
          <a:bodyPr wrap="square" lIns="0" tIns="0" rIns="0" bIns="0" rtlCol="0" anchor="t"/>
          <a:lstStyle/>
          <a:p>
            <a:pPr marL="0" indent="0">
              <a:buNone/>
            </a:pPr>
            <a:r>
              <a:rPr lang="en-US" sz="1500" b="1" dirty="0">
                <a:solidFill>
                  <a:srgbClr val="101828"/>
                </a:solidFill>
              </a:rPr>
              <a:t>왜 PV5인가</a:t>
            </a:r>
            <a:endParaRPr lang="en-US" sz="1500" dirty="0"/>
          </a:p>
        </p:txBody>
      </p:sp>
      <p:sp>
        <p:nvSpPr>
          <p:cNvPr id="21" name="why list"/>
          <p:cNvSpPr txBox="1"/>
          <p:nvPr/>
        </p:nvSpPr>
        <p:spPr>
          <a:xfrm>
            <a:off x="546100" y="4343400"/>
            <a:ext cx="5346700" cy="1422400"/>
          </a:xfrm>
          <a:prstGeom prst="rect">
            <a:avLst/>
          </a:prstGeom>
          <a:noFill/>
          <a:ln>
            <a:noFill/>
          </a:ln>
        </p:spPr>
        <p:txBody>
          <a:bodyPr wrap="square" lIns="0" tIns="0" rIns="0" bIns="0" rtlCol="0" anchor="t"/>
          <a:lstStyle/>
          <a:p>
            <a:pPr marL="171450" indent="-171450">
              <a:spcAft>
                <a:spcPts val="400"/>
              </a:spcAft>
              <a:buFont typeface="Arial"/>
              <a:buChar char="•"/>
            </a:pPr>
            <a:r>
              <a:rPr lang="en-US" sz="1300" dirty="0">
                <a:solidFill>
                  <a:srgbClr val="5B6573"/>
                </a:solidFill>
              </a:rPr>
              <a:t>조용한 전기차, 1회 충전 377km·회전반경 5.5m</a:t>
            </a:r>
            <a:endParaRPr lang="en-US" sz="1300" dirty="0"/>
          </a:p>
          <a:p>
            <a:pPr marL="171450" indent="-171450">
              <a:spcAft>
                <a:spcPts val="400"/>
              </a:spcAft>
              <a:buFont typeface="Arial"/>
              <a:buChar char="•"/>
            </a:pPr>
            <a:r>
              <a:rPr lang="en-US" sz="1300" dirty="0">
                <a:solidFill>
                  <a:srgbClr val="5B6573"/>
                </a:solidFill>
              </a:rPr>
              <a:t>카고룸 4,420L가 그대로 차 안 판독실</a:t>
            </a:r>
            <a:endParaRPr lang="en-US" sz="1300" dirty="0"/>
          </a:p>
          <a:p>
            <a:pPr marL="171450" indent="-171450">
              <a:spcAft>
                <a:spcPts val="400"/>
              </a:spcAft>
              <a:buFont typeface="Arial"/>
              <a:buChar char="•"/>
            </a:pPr>
            <a:r>
              <a:rPr lang="en-US" sz="1300" dirty="0">
                <a:solidFill>
                  <a:srgbClr val="5B6573"/>
                </a:solidFill>
              </a:rPr>
              <a:t>실내·실외 V2L 3.6kW(선택 사양)로 발전기 없이 장비 운용</a:t>
            </a:r>
            <a:endParaRPr lang="en-US" sz="1300" dirty="0"/>
          </a:p>
          <a:p>
            <a:pPr marL="171450" indent="-171450">
              <a:spcAft>
                <a:spcPts val="400"/>
              </a:spcAft>
              <a:buFont typeface="Arial"/>
              <a:buChar char="•"/>
            </a:pPr>
            <a:r>
              <a:rPr lang="en-US" sz="1300" dirty="0">
                <a:solidFill>
                  <a:srgbClr val="5B6573"/>
                </a:solidFill>
              </a:rPr>
              <a:t>컨버전 포털(3D CAD·인증 서류)과 화성 센터로 같은 사양 복제</a:t>
            </a:r>
            <a:endParaRPr lang="en-US" sz="1300" dirty="0"/>
          </a:p>
        </p:txBody>
      </p:sp>
      <p:sp>
        <p:nvSpPr>
          <p:cNvPr id="22" name="head"/>
          <p:cNvSpPr txBox="1"/>
          <p:nvPr/>
        </p:nvSpPr>
        <p:spPr>
          <a:xfrm>
            <a:off x="6121400" y="4013200"/>
            <a:ext cx="5511800" cy="279400"/>
          </a:xfrm>
          <a:prstGeom prst="rect">
            <a:avLst/>
          </a:prstGeom>
          <a:noFill/>
          <a:ln>
            <a:noFill/>
          </a:ln>
        </p:spPr>
        <p:txBody>
          <a:bodyPr wrap="square" lIns="0" tIns="0" rIns="0" bIns="0" rtlCol="0" anchor="t"/>
          <a:lstStyle/>
          <a:p>
            <a:pPr marL="0" indent="0">
              <a:buNone/>
            </a:pPr>
            <a:r>
              <a:rPr lang="en-US" sz="1500" b="1" dirty="0">
                <a:solidFill>
                  <a:srgbClr val="101828"/>
                </a:solidFill>
              </a:rPr>
              <a:t>누가 사고, 기아는 무엇을 얻나</a:t>
            </a:r>
            <a:endParaRPr lang="en-US" sz="1500" dirty="0"/>
          </a:p>
        </p:txBody>
      </p:sp>
      <p:sp>
        <p:nvSpPr>
          <p:cNvPr id="23" name="who list"/>
          <p:cNvSpPr txBox="1"/>
          <p:nvPr/>
        </p:nvSpPr>
        <p:spPr>
          <a:xfrm>
            <a:off x="6121400" y="4343400"/>
            <a:ext cx="5511800" cy="1422400"/>
          </a:xfrm>
          <a:prstGeom prst="rect">
            <a:avLst/>
          </a:prstGeom>
          <a:noFill/>
          <a:ln>
            <a:noFill/>
          </a:ln>
        </p:spPr>
        <p:txBody>
          <a:bodyPr wrap="square" lIns="0" tIns="0" rIns="0" bIns="0" rtlCol="0" anchor="t"/>
          <a:lstStyle/>
          <a:p>
            <a:pPr marL="0" indent="0">
              <a:spcAft>
                <a:spcPts val="600"/>
              </a:spcAft>
              <a:buNone/>
            </a:pPr>
            <a:r>
              <a:rPr lang="en-US" sz="1300" b="1" dirty="0">
                <a:solidFill>
                  <a:srgbClr val="101828"/>
                </a:solidFill>
              </a:rPr>
              <a:t>구매자  </a:t>
            </a:r>
            <a:r>
              <a:rPr lang="en-US" sz="1300" dirty="0">
                <a:solidFill>
                  <a:srgbClr val="5B6573"/>
                </a:solidFill>
              </a:rPr>
              <a:t>지자체 도로관리, 도시철도 발주기관, 공공시설 관리기관</a:t>
            </a:r>
            <a:endParaRPr lang="en-US" sz="1300" dirty="0"/>
          </a:p>
          <a:p>
            <a:pPr marL="0" indent="0">
              <a:spcAft>
                <a:spcPts val="600"/>
              </a:spcAft>
              <a:buNone/>
            </a:pPr>
            <a:r>
              <a:rPr lang="en-US" sz="1300" b="1" dirty="0">
                <a:solidFill>
                  <a:srgbClr val="101828"/>
                </a:solidFill>
              </a:rPr>
              <a:t>시장  </a:t>
            </a:r>
            <a:r>
              <a:rPr lang="en-US" sz="1300" dirty="0">
                <a:solidFill>
                  <a:srgbClr val="5B6573"/>
                </a:solidFill>
              </a:rPr>
              <a:t>2025 국비 지원 지반탐사 4,360km, 서울시 2026 탐사 16,423km</a:t>
            </a:r>
            <a:endParaRPr lang="en-US" sz="1300" dirty="0"/>
          </a:p>
          <a:p>
            <a:pPr marL="0" indent="0">
              <a:spcAft>
                <a:spcPts val="600"/>
              </a:spcAft>
              <a:buNone/>
            </a:pPr>
            <a:r>
              <a:rPr lang="en-US" sz="1300" b="1" dirty="0">
                <a:solidFill>
                  <a:srgbClr val="101828"/>
                </a:solidFill>
              </a:rPr>
              <a:t>기아  </a:t>
            </a:r>
            <a:r>
              <a:rPr lang="en-US" sz="1300" dirty="0">
                <a:solidFill>
                  <a:srgbClr val="5B6573"/>
                </a:solidFill>
              </a:rPr>
              <a:t>GPR이 없던 15개 시·도까지 PV5 표준 사양 수요로, Pleos 앱 마켓·Fleet 고객</a:t>
            </a:r>
            <a:endParaRPr lang="en-US" sz="1300" dirty="0"/>
          </a:p>
        </p:txBody>
      </p:sp>
      <p:sp>
        <p:nvSpPr>
          <p:cNvPr id="24" name="summary bar"/>
          <p:cNvSpPr txBox="1"/>
          <p:nvPr/>
        </p:nvSpPr>
        <p:spPr>
          <a:xfrm>
            <a:off x="546100" y="5867400"/>
            <a:ext cx="11087100" cy="381000"/>
          </a:xfrm>
          <a:prstGeom prst="rect">
            <a:avLst/>
          </a:prstGeom>
          <a:solidFill>
            <a:srgbClr val="0B1F3A"/>
          </a:solidFill>
          <a:ln>
            <a:noFill/>
          </a:ln>
        </p:spPr>
        <p:txBody>
          <a:bodyPr wrap="square" lIns="0" tIns="0" rIns="0" bIns="0" rtlCol="0" anchor="ctr"/>
          <a:lstStyle/>
          <a:p>
            <a:pPr marL="0" indent="0" algn="ctr">
              <a:buNone/>
            </a:pPr>
            <a:r>
              <a:rPr lang="en-US" sz="1500" b="1" dirty="0">
                <a:solidFill>
                  <a:srgbClr val="FFFFFF"/>
                </a:solidFill>
              </a:rPr>
              <a:t>한 번의 탐사가 아니라, 반복 관측과 변화 관리로 지반침하 위험을 먼저 찾습니다.</a:t>
            </a:r>
            <a:endParaRPr lang="en-US" sz="1500" dirty="0"/>
          </a:p>
        </p:txBody>
      </p:sp>
      <p:sp>
        <p:nvSpPr>
          <p:cNvPr id="25"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세부 근거: 4장(탐사 사이의 공백), 7장(차별점), 8장(왜 PV5), 17장(시장), 20장(기아와 함께).</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D93025"/>
          </a:solidFill>
          <a:ln>
            <a:solidFill>
              <a:srgbClr val="D93025"/>
            </a:solidFill>
          </a:ln>
        </p:spPr>
        <p:txBody>
          <a:bodyPr wrap="square" lIns="0" tIns="0" rIns="0" bIns="0" rtlCol="0" anchor="ctr"/>
          <a:lstStyle/>
          <a:p>
            <a:pPr marL="0" indent="0" algn="ctr">
              <a:buNone/>
            </a:pPr>
            <a:r>
              <a:rPr lang="en-US" sz="1400" b="1" dirty="0">
                <a:solidFill>
                  <a:srgbClr val="FFFFFF"/>
                </a:solidFill>
              </a:rPr>
              <a:t>현재 방식의 공백</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탐사와 탐사 사이, 지하의 변화는 기록되지 않는다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2024년 연희동 성산로는 5월 정기 GPR 탐사에서 공동이 발견되지 않았고, 8월 29일 도로가 함몰됐습니다.</a:t>
            </a:r>
            <a:endParaRPr lang="en-US" sz="1600" dirty="0"/>
          </a:p>
        </p:txBody>
      </p:sp>
      <p:pic>
        <p:nvPicPr>
          <p:cNvPr id="5" name="gap_timeline" descr="/Users/seohogyun/Documents/git_workspace/pv5-hose-lab/groundwatch/images/gap_timeline.png"/>
          <p:cNvPicPr>
            <a:picLocks noChangeAspect="1"/>
          </p:cNvPicPr>
          <p:nvPr/>
        </p:nvPicPr>
        <p:blipFill>
          <a:blip r:embed="rId3"/>
          <a:stretch>
            <a:fillRect/>
          </a:stretch>
        </p:blipFill>
        <p:spPr>
          <a:xfrm>
            <a:off x="1257300" y="1447800"/>
            <a:ext cx="9664700" cy="2387600"/>
          </a:xfrm>
          <a:prstGeom prst="rect">
            <a:avLst/>
          </a:prstGeom>
        </p:spPr>
      </p:pic>
      <p:sp>
        <p:nvSpPr>
          <p:cNvPr id="8" name="bubble"/>
          <p:cNvSpPr txBox="1"/>
          <p:nvPr/>
        </p:nvSpPr>
        <p:spPr>
          <a:xfrm>
            <a:off x="4470400" y="1498600"/>
            <a:ext cx="3238500" cy="495300"/>
          </a:xfrm>
          <a:prstGeom prst="wedgeRectCallout">
            <a:avLst/>
          </a:prstGeom>
          <a:solidFill>
            <a:srgbClr val="D93025"/>
          </a:solidFill>
          <a:ln>
            <a:solidFill>
              <a:srgbClr val="D93025"/>
            </a:solidFill>
          </a:ln>
        </p:spPr>
        <p:txBody>
          <a:bodyPr wrap="square" lIns="76200" tIns="76200" rIns="76200" bIns="76200" rtlCol="0" anchor="ctr"/>
          <a:lstStyle/>
          <a:p>
            <a:pPr marL="0" indent="0" algn="ctr">
              <a:buNone/>
            </a:pPr>
            <a:r>
              <a:rPr lang="en-US" sz="1500" b="1" dirty="0">
                <a:solidFill>
                  <a:srgbClr val="FFFFFF"/>
                </a:solidFill>
              </a:rPr>
              <a:t>5월엔 없었고, 8월엔 무너졌습니다.</a:t>
            </a:r>
            <a:endParaRPr lang="en-US" sz="15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출처: 뉴시스 2024.8.30(서울시 설명: 5.7~5.16 GPR 탐사차량 2대, 인력 16명 투입, 당시 빈 공간 미발견), 이투데이 2024.9. 연희동 함몰 규모는 공식 확인 전이라 쓰지 않았습니다.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4</a:t>
            </a:fld>
            <a:endParaRPr lang="en-US"/>
          </a:p>
        </p:txBody>
      </p:sp>
      <p:sp>
        <p:nvSpPr>
          <p:cNvPr id="26" name="persona circle"/>
          <p:cNvSpPr/>
          <p:nvPr/>
        </p:nvSpPr>
        <p:spPr>
          <a:xfrm>
            <a:off x="546100" y="4114800"/>
            <a:ext cx="635000" cy="635000"/>
          </a:xfrm>
          <a:prstGeom prst="ellipse">
            <a:avLst/>
          </a:prstGeom>
          <a:solidFill>
            <a:srgbClr val="0B1F3A"/>
          </a:solidFill>
          <a:ln>
            <a:noFill/>
          </a:ln>
        </p:spPr>
        <p:txBody>
          <a:bodyPr/>
          <a:lstStyle/>
          <a:p>
            <a:endParaRPr lang="ko-KR" altLang="en-US"/>
          </a:p>
        </p:txBody>
      </p:sp>
      <p:pic>
        <p:nvPicPr>
          <p:cNvPr id="27" name="persona icon" descr="image.png"/>
          <p:cNvPicPr>
            <a:picLocks noChangeAspect="1"/>
          </p:cNvPicPr>
          <p:nvPr/>
        </p:nvPicPr>
        <p:blipFill>
          <a:blip r:embed="rId5"/>
          <a:stretch>
            <a:fillRect/>
          </a:stretch>
        </p:blipFill>
        <p:spPr>
          <a:xfrm>
            <a:off x="698500" y="4267200"/>
            <a:ext cx="330200" cy="330200"/>
          </a:xfrm>
          <a:prstGeom prst="rect">
            <a:avLst/>
          </a:prstGeom>
        </p:spPr>
      </p:pic>
      <p:sp>
        <p:nvSpPr>
          <p:cNvPr id="28" name="persona name"/>
          <p:cNvSpPr txBox="1"/>
          <p:nvPr/>
        </p:nvSpPr>
        <p:spPr>
          <a:xfrm>
            <a:off x="419100" y="4800600"/>
            <a:ext cx="889000" cy="381000"/>
          </a:xfrm>
          <a:prstGeom prst="rect">
            <a:avLst/>
          </a:prstGeom>
          <a:noFill/>
          <a:ln>
            <a:noFill/>
          </a:ln>
        </p:spPr>
        <p:txBody>
          <a:bodyPr wrap="square" lIns="0" tIns="0" rIns="0" bIns="0" rtlCol="0" anchor="t"/>
          <a:lstStyle/>
          <a:p>
            <a:pPr marL="0" indent="0" algn="ctr">
              <a:buNone/>
            </a:pPr>
            <a:r>
              <a:rPr lang="en-US" sz="1100" b="1" dirty="0">
                <a:solidFill>
                  <a:srgbClr val="101828"/>
                </a:solidFill>
              </a:rPr>
              <a:t>판독 분석자</a:t>
            </a:r>
            <a:endParaRPr lang="en-US" sz="1100" dirty="0"/>
          </a:p>
        </p:txBody>
      </p:sp>
      <p:sp>
        <p:nvSpPr>
          <p:cNvPr id="29" name="persona bubble"/>
          <p:cNvSpPr txBox="1"/>
          <p:nvPr/>
        </p:nvSpPr>
        <p:spPr>
          <a:xfrm>
            <a:off x="1409700" y="4013200"/>
            <a:ext cx="2667000" cy="990600"/>
          </a:xfrm>
          <a:prstGeom prst="wedgeRoundRectCallout">
            <a:avLst>
              <a:gd name="adj1" fmla="val -60000"/>
              <a:gd name="adj2" fmla="val 12000"/>
              <a:gd name="adj3" fmla="val 16667"/>
            </a:avLst>
          </a:prstGeom>
          <a:solidFill>
            <a:srgbClr val="FFFFFF"/>
          </a:solidFill>
          <a:ln w="12700">
            <a:solidFill>
              <a:srgbClr val="DCE1E8"/>
            </a:solidFill>
          </a:ln>
        </p:spPr>
        <p:txBody>
          <a:bodyPr wrap="square" lIns="101600" tIns="101600" rIns="101600" bIns="101600" rtlCol="0" anchor="ctr"/>
          <a:lstStyle/>
          <a:p>
            <a:pPr marL="0" indent="0">
              <a:buNone/>
            </a:pPr>
            <a:r>
              <a:rPr lang="en-US" sz="1300" dirty="0">
                <a:solidFill>
                  <a:srgbClr val="101828"/>
                </a:solidFill>
              </a:rPr>
              <a:t>“회차마다 결과가 파일로 따로 남아서, 같은 지점이 커졌는지 비교하기 어려워요.”</a:t>
            </a:r>
            <a:endParaRPr lang="en-US" sz="1300" dirty="0"/>
          </a:p>
        </p:txBody>
      </p:sp>
      <p:sp>
        <p:nvSpPr>
          <p:cNvPr id="30" name="persona circle"/>
          <p:cNvSpPr/>
          <p:nvPr/>
        </p:nvSpPr>
        <p:spPr>
          <a:xfrm>
            <a:off x="4330700" y="4114800"/>
            <a:ext cx="635000" cy="635000"/>
          </a:xfrm>
          <a:prstGeom prst="ellipse">
            <a:avLst/>
          </a:prstGeom>
          <a:solidFill>
            <a:srgbClr val="0B1F3A"/>
          </a:solidFill>
          <a:ln>
            <a:noFill/>
          </a:ln>
        </p:spPr>
        <p:txBody>
          <a:bodyPr/>
          <a:lstStyle/>
          <a:p>
            <a:endParaRPr lang="ko-KR" altLang="en-US"/>
          </a:p>
        </p:txBody>
      </p:sp>
      <p:pic>
        <p:nvPicPr>
          <p:cNvPr id="31" name="persona icon" descr="image.png"/>
          <p:cNvPicPr>
            <a:picLocks noChangeAspect="1"/>
          </p:cNvPicPr>
          <p:nvPr/>
        </p:nvPicPr>
        <p:blipFill>
          <a:blip r:embed="rId6"/>
          <a:stretch>
            <a:fillRect/>
          </a:stretch>
        </p:blipFill>
        <p:spPr>
          <a:xfrm>
            <a:off x="4483100" y="4267200"/>
            <a:ext cx="330200" cy="330200"/>
          </a:xfrm>
          <a:prstGeom prst="rect">
            <a:avLst/>
          </a:prstGeom>
        </p:spPr>
      </p:pic>
      <p:sp>
        <p:nvSpPr>
          <p:cNvPr id="32" name="persona name"/>
          <p:cNvSpPr txBox="1"/>
          <p:nvPr/>
        </p:nvSpPr>
        <p:spPr>
          <a:xfrm>
            <a:off x="4203700" y="4800600"/>
            <a:ext cx="889000" cy="381000"/>
          </a:xfrm>
          <a:prstGeom prst="rect">
            <a:avLst/>
          </a:prstGeom>
          <a:noFill/>
          <a:ln>
            <a:noFill/>
          </a:ln>
        </p:spPr>
        <p:txBody>
          <a:bodyPr wrap="square" lIns="0" tIns="0" rIns="0" bIns="0" rtlCol="0" anchor="t"/>
          <a:lstStyle/>
          <a:p>
            <a:pPr marL="0" indent="0" algn="ctr">
              <a:buNone/>
            </a:pPr>
            <a:r>
              <a:rPr lang="en-US" sz="1100" b="1" dirty="0">
                <a:solidFill>
                  <a:srgbClr val="101828"/>
                </a:solidFill>
              </a:rPr>
              <a:t>현장 조사원</a:t>
            </a:r>
            <a:endParaRPr lang="en-US" sz="1100" dirty="0"/>
          </a:p>
        </p:txBody>
      </p:sp>
      <p:sp>
        <p:nvSpPr>
          <p:cNvPr id="33" name="persona bubble"/>
          <p:cNvSpPr txBox="1"/>
          <p:nvPr/>
        </p:nvSpPr>
        <p:spPr>
          <a:xfrm>
            <a:off x="5194300" y="4013200"/>
            <a:ext cx="2667000" cy="990600"/>
          </a:xfrm>
          <a:prstGeom prst="wedgeRoundRectCallout">
            <a:avLst>
              <a:gd name="adj1" fmla="val -60000"/>
              <a:gd name="adj2" fmla="val 12000"/>
              <a:gd name="adj3" fmla="val 16667"/>
            </a:avLst>
          </a:prstGeom>
          <a:solidFill>
            <a:srgbClr val="FFFFFF"/>
          </a:solidFill>
          <a:ln w="12700">
            <a:solidFill>
              <a:srgbClr val="DCE1E8"/>
            </a:solidFill>
          </a:ln>
        </p:spPr>
        <p:txBody>
          <a:bodyPr wrap="square" lIns="101600" tIns="101600" rIns="101600" bIns="101600" rtlCol="0" anchor="ctr"/>
          <a:lstStyle/>
          <a:p>
            <a:pPr marL="0" indent="0">
              <a:buNone/>
            </a:pPr>
            <a:r>
              <a:rPr lang="en-US" sz="1300" dirty="0">
                <a:solidFill>
                  <a:srgbClr val="101828"/>
                </a:solidFill>
              </a:rPr>
              <a:t>“도로 위에서 지난번 측정 위치를 다시 찾는 데 시간이 걸려요.”</a:t>
            </a:r>
            <a:endParaRPr lang="en-US" sz="1300" dirty="0"/>
          </a:p>
        </p:txBody>
      </p:sp>
      <p:sp>
        <p:nvSpPr>
          <p:cNvPr id="34" name="persona circle"/>
          <p:cNvSpPr/>
          <p:nvPr/>
        </p:nvSpPr>
        <p:spPr>
          <a:xfrm>
            <a:off x="8115300" y="4114800"/>
            <a:ext cx="635000" cy="635000"/>
          </a:xfrm>
          <a:prstGeom prst="ellipse">
            <a:avLst/>
          </a:prstGeom>
          <a:solidFill>
            <a:srgbClr val="0B1F3A"/>
          </a:solidFill>
          <a:ln>
            <a:noFill/>
          </a:ln>
        </p:spPr>
        <p:txBody>
          <a:bodyPr/>
          <a:lstStyle/>
          <a:p>
            <a:endParaRPr lang="ko-KR" altLang="en-US"/>
          </a:p>
        </p:txBody>
      </p:sp>
      <p:pic>
        <p:nvPicPr>
          <p:cNvPr id="35" name="persona icon" descr="image.png"/>
          <p:cNvPicPr>
            <a:picLocks noChangeAspect="1"/>
          </p:cNvPicPr>
          <p:nvPr/>
        </p:nvPicPr>
        <p:blipFill>
          <a:blip r:embed="rId7"/>
          <a:stretch>
            <a:fillRect/>
          </a:stretch>
        </p:blipFill>
        <p:spPr>
          <a:xfrm>
            <a:off x="8267700" y="4267200"/>
            <a:ext cx="330200" cy="330200"/>
          </a:xfrm>
          <a:prstGeom prst="rect">
            <a:avLst/>
          </a:prstGeom>
        </p:spPr>
      </p:pic>
      <p:sp>
        <p:nvSpPr>
          <p:cNvPr id="36" name="persona name"/>
          <p:cNvSpPr txBox="1"/>
          <p:nvPr/>
        </p:nvSpPr>
        <p:spPr>
          <a:xfrm>
            <a:off x="7988300" y="4800600"/>
            <a:ext cx="889000" cy="381000"/>
          </a:xfrm>
          <a:prstGeom prst="rect">
            <a:avLst/>
          </a:prstGeom>
          <a:noFill/>
          <a:ln>
            <a:noFill/>
          </a:ln>
        </p:spPr>
        <p:txBody>
          <a:bodyPr wrap="square" lIns="0" tIns="0" rIns="0" bIns="0" rtlCol="0" anchor="t"/>
          <a:lstStyle/>
          <a:p>
            <a:pPr marL="0" indent="0" algn="ctr">
              <a:buNone/>
            </a:pPr>
            <a:r>
              <a:rPr lang="en-US" sz="1100" b="1" dirty="0">
                <a:solidFill>
                  <a:srgbClr val="101828"/>
                </a:solidFill>
              </a:rPr>
              <a:t>도로관리 담당자</a:t>
            </a:r>
            <a:endParaRPr lang="en-US" sz="1100" dirty="0"/>
          </a:p>
        </p:txBody>
      </p:sp>
      <p:sp>
        <p:nvSpPr>
          <p:cNvPr id="37" name="persona bubble"/>
          <p:cNvSpPr txBox="1"/>
          <p:nvPr/>
        </p:nvSpPr>
        <p:spPr>
          <a:xfrm>
            <a:off x="8978900" y="4013200"/>
            <a:ext cx="2667000" cy="990600"/>
          </a:xfrm>
          <a:prstGeom prst="wedgeRoundRectCallout">
            <a:avLst>
              <a:gd name="adj1" fmla="val -60000"/>
              <a:gd name="adj2" fmla="val 12000"/>
              <a:gd name="adj3" fmla="val 16667"/>
            </a:avLst>
          </a:prstGeom>
          <a:solidFill>
            <a:srgbClr val="FFFFFF"/>
          </a:solidFill>
          <a:ln w="12700">
            <a:solidFill>
              <a:srgbClr val="DCE1E8"/>
            </a:solidFill>
          </a:ln>
        </p:spPr>
        <p:txBody>
          <a:bodyPr wrap="square" lIns="101600" tIns="101600" rIns="101600" bIns="101600" rtlCol="0" anchor="ctr"/>
          <a:lstStyle/>
          <a:p>
            <a:pPr marL="0" indent="0">
              <a:buNone/>
            </a:pPr>
            <a:r>
              <a:rPr lang="en-US" sz="1300" dirty="0">
                <a:solidFill>
                  <a:srgbClr val="101828"/>
                </a:solidFill>
              </a:rPr>
              <a:t>“모든 구간을 짧은 주기로 다시 보기에는 인력과 장비가 부족해요.”</a:t>
            </a:r>
            <a:endParaRPr lang="en-US" sz="1300" dirty="0"/>
          </a:p>
        </p:txBody>
      </p:sp>
      <p:sp>
        <p:nvSpPr>
          <p:cNvPr id="38" name="persona note"/>
          <p:cNvSpPr txBox="1"/>
          <p:nvPr/>
        </p:nvSpPr>
        <p:spPr>
          <a:xfrm>
            <a:off x="546100" y="5232400"/>
            <a:ext cx="11087100" cy="228600"/>
          </a:xfrm>
          <a:prstGeom prst="rect">
            <a:avLst/>
          </a:prstGeom>
          <a:noFill/>
          <a:ln>
            <a:noFill/>
          </a:ln>
        </p:spPr>
        <p:txBody>
          <a:bodyPr wrap="square" lIns="0" tIns="0" rIns="0" bIns="0" rtlCol="0" anchor="t"/>
          <a:lstStyle/>
          <a:p>
            <a:pPr marL="0" indent="0">
              <a:buNone/>
            </a:pPr>
            <a:r>
              <a:rPr lang="en-US" sz="1100" dirty="0">
                <a:solidFill>
                  <a:srgbClr val="8A94A3"/>
                </a:solidFill>
              </a:rPr>
              <a:t>[가설] 가상 페르소나의 발언입니다. 지자체·탐사업체 인터뷰로 검증합니다.</a:t>
            </a:r>
            <a:endParaRPr lang="en-US" sz="1100" dirty="0"/>
          </a:p>
        </p:txBody>
      </p:sp>
      <p:sp>
        <p:nvSpPr>
          <p:cNvPr id="39" name="conclusion"/>
          <p:cNvSpPr txBox="1"/>
          <p:nvPr/>
        </p:nvSpPr>
        <p:spPr>
          <a:xfrm>
            <a:off x="546100" y="5562600"/>
            <a:ext cx="11087100" cy="558800"/>
          </a:xfrm>
          <a:prstGeom prst="rect">
            <a:avLst/>
          </a:prstGeom>
          <a:solidFill>
            <a:srgbClr val="0B1F3A"/>
          </a:solidFill>
          <a:ln>
            <a:noFill/>
          </a:ln>
        </p:spPr>
        <p:txBody>
          <a:bodyPr wrap="square" lIns="0" tIns="0" rIns="0" bIns="0" rtlCol="0" anchor="ctr"/>
          <a:lstStyle/>
          <a:p>
            <a:pPr marL="0" indent="0" algn="ctr">
              <a:buNone/>
            </a:pPr>
            <a:r>
              <a:rPr lang="en-US" sz="1600" b="1" dirty="0">
                <a:solidFill>
                  <a:srgbClr val="FFFFFF"/>
                </a:solidFill>
              </a:rPr>
              <a:t>기존 GPR을 대체하는 것이 아니라, 측정 사이의 시간과 현장 업무를 연결해야 합니다.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솔루션 개요</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같은 길을 반복해서 보고, 달라진 곳만 다시 확인한다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순찰, 비교, 현장 재확인이 한 바퀴를 돌 때마다 같은 도로의 기록이 한 겹씩 쌓입니다.</a:t>
            </a:r>
            <a:endParaRPr lang="en-US" sz="1600" dirty="0"/>
          </a:p>
        </p:txBody>
      </p:sp>
      <p:pic>
        <p:nvPicPr>
          <p:cNvPr id="5" name="ph_pv5_ov" descr="/Users/seohogyun/Documents/git_workspace/pv5-hose-lab/groundwatch/images/ph_pv5_ov.jpg"/>
          <p:cNvPicPr>
            <a:picLocks noChangeAspect="1"/>
          </p:cNvPicPr>
          <p:nvPr/>
        </p:nvPicPr>
        <p:blipFill>
          <a:blip r:embed="rId3"/>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marL="0" indent="0">
              <a:buNone/>
            </a:pPr>
            <a:r>
              <a:rPr lang="en-US" sz="1700" b="1" dirty="0">
                <a:solidFill>
                  <a:srgbClr val="101828"/>
                </a:solidFill>
              </a:rPr>
              <a:t>1  새벽 순찰</a:t>
            </a:r>
            <a:endParaRPr lang="en-US" sz="17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marL="0" indent="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txBody>
          <a:bodyPr/>
          <a:lstStyle/>
          <a:p>
            <a:endParaRPr lang="ko-KR" altLang="en-US"/>
          </a:p>
        </p:txBody>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txBody>
          <a:bodyPr/>
          <a:lstStyle/>
          <a:p>
            <a:endParaRPr lang="ko-KR" altLang="en-US"/>
          </a:p>
        </p:txBody>
      </p:sp>
      <p:pic>
        <p:nvPicPr>
          <p:cNvPr id="10" name="icon_radar_w" descr="/Users/seohogyun/Documents/git_workspace/pv5-hose-lab/groundwatch/images/ico_radar_w.png"/>
          <p:cNvPicPr>
            <a:picLocks noChangeAspect="1"/>
          </p:cNvPicPr>
          <p:nvPr/>
        </p:nvPicPr>
        <p:blipFill>
          <a:blip r:embed="rId4"/>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marL="0" indent="0">
              <a:buNone/>
            </a:pPr>
            <a:r>
              <a:rPr lang="en-US" sz="1500" b="1" dirty="0">
                <a:solidFill>
                  <a:srgbClr val="FFFFFF"/>
                </a:solidFill>
              </a:rPr>
              <a:t>GPR, 카메라 수집</a:t>
            </a:r>
            <a:endParaRPr lang="en-US" sz="1500" dirty="0"/>
          </a:p>
        </p:txBody>
      </p:sp>
      <p:pic>
        <p:nvPicPr>
          <p:cNvPr id="12" name="icon_map_w" descr="/Users/seohogyun/Documents/git_workspace/pv5-hose-lab/groundwatch/images/ico_map_w.png"/>
          <p:cNvPicPr>
            <a:picLocks noChangeAspect="1"/>
          </p:cNvPicPr>
          <p:nvPr/>
        </p:nvPicPr>
        <p:blipFill>
          <a:blip r:embed="rId5"/>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marL="0" indent="0">
              <a:buNone/>
            </a:pPr>
            <a:r>
              <a:rPr lang="en-US" sz="1500" b="1" dirty="0">
                <a:solidFill>
                  <a:srgbClr val="FFFFFF"/>
                </a:solidFill>
              </a:rPr>
              <a:t>위치, 깊이, 시간 기록</a:t>
            </a:r>
            <a:endParaRPr lang="en-US" sz="1500" dirty="0"/>
          </a:p>
        </p:txBody>
      </p:sp>
      <p:pic>
        <p:nvPicPr>
          <p:cNvPr id="14" name="icon_brain_a" descr="/Users/seohogyun/Documents/git_workspace/pv5-hose-lab/groundwatch/images/ico_brain_a.png"/>
          <p:cNvPicPr>
            <a:picLocks noChangeAspect="1"/>
          </p:cNvPicPr>
          <p:nvPr/>
        </p:nvPicPr>
        <p:blipFill>
          <a:blip r:embed="rId6"/>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marL="0" indent="0">
              <a:buNone/>
            </a:pPr>
            <a:r>
              <a:rPr lang="en-US" sz="1500" b="1" dirty="0">
                <a:solidFill>
                  <a:srgbClr val="F5B400"/>
                </a:solidFill>
              </a:rPr>
              <a:t>이전 회차와 비교</a:t>
            </a:r>
            <a:endParaRPr lang="en-US" sz="1500" dirty="0"/>
          </a:p>
        </p:txBody>
      </p:sp>
      <p:pic>
        <p:nvPicPr>
          <p:cNvPr id="16" name="icon_layers_w" descr="/Users/seohogyun/Documents/git_workspace/pv5-hose-lab/groundwatch/images/ico_layers_w.png"/>
          <p:cNvPicPr>
            <a:picLocks noChangeAspect="1"/>
          </p:cNvPicPr>
          <p:nvPr/>
        </p:nvPicPr>
        <p:blipFill>
          <a:blip r:embed="rId7"/>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marL="0" indent="0">
              <a:buNone/>
            </a:pPr>
            <a:r>
              <a:rPr lang="en-US" sz="1500" b="1" dirty="0">
                <a:solidFill>
                  <a:srgbClr val="FFFFFF"/>
                </a:solidFill>
              </a:rPr>
              <a:t>4D 지하 변화지도</a:t>
            </a:r>
            <a:endParaRPr lang="en-US" sz="15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marL="0" indent="0">
              <a:buNone/>
            </a:pPr>
            <a:r>
              <a:rPr lang="en-US" sz="1700" b="1" dirty="0">
                <a:solidFill>
                  <a:srgbClr val="101828"/>
                </a:solidFill>
              </a:rPr>
              <a:t>2  기록과 비교</a:t>
            </a:r>
            <a:endParaRPr lang="en-US" sz="17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marL="0" indent="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txBody>
          <a:bodyPr/>
          <a:lstStyle/>
          <a:p>
            <a:endParaRPr lang="ko-KR" altLang="en-US"/>
          </a:p>
        </p:txBody>
      </p:sp>
      <p:pic>
        <p:nvPicPr>
          <p:cNvPr id="21" name="icon_server" descr="/Users/seohogyun/Documents/git_workspace/pv5-hose-lab/groundwatch/images/ico_server.png"/>
          <p:cNvPicPr>
            <a:picLocks noChangeAspect="1"/>
          </p:cNvPicPr>
          <p:nvPr/>
        </p:nvPicPr>
        <p:blipFill>
          <a:blip r:embed="rId8"/>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marL="0" indent="0">
              <a:buNone/>
            </a:pPr>
            <a:r>
              <a:rPr lang="en-US" sz="1500" b="1" dirty="0">
                <a:solidFill>
                  <a:srgbClr val="101828"/>
                </a:solidFill>
              </a:rPr>
              <a:t>차량 앱과 Edge Gateway</a:t>
            </a:r>
            <a:endParaRPr lang="en-US" sz="1500" dirty="0"/>
          </a:p>
        </p:txBody>
      </p:sp>
      <p:pic>
        <p:nvPicPr>
          <p:cNvPr id="23" name="icon_glasses" descr="/Users/seohogyun/Documents/git_workspace/pv5-hose-lab/groundwatch/images/ico_glasses.png"/>
          <p:cNvPicPr>
            <a:picLocks noChangeAspect="1"/>
          </p:cNvPicPr>
          <p:nvPr/>
        </p:nvPicPr>
        <p:blipFill>
          <a:blip r:embed="rId9"/>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marL="0" indent="0">
              <a:buNone/>
            </a:pPr>
            <a:r>
              <a:rPr lang="en-US" sz="1500" b="1" dirty="0">
                <a:solidFill>
                  <a:srgbClr val="101828"/>
                </a:solidFill>
              </a:rPr>
              <a:t>AR 글래스</a:t>
            </a:r>
            <a:endParaRPr lang="en-US" sz="1500" dirty="0"/>
          </a:p>
        </p:txBody>
      </p:sp>
      <p:pic>
        <p:nvPicPr>
          <p:cNvPr id="25" name="icon_scan" descr="/Users/seohogyun/Documents/git_workspace/pv5-hose-lab/groundwatch/images/ico_scan.png"/>
          <p:cNvPicPr>
            <a:picLocks noChangeAspect="1"/>
          </p:cNvPicPr>
          <p:nvPr/>
        </p:nvPicPr>
        <p:blipFill>
          <a:blip r:embed="rId10"/>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marL="0" indent="0">
              <a:buNone/>
            </a:pPr>
            <a:r>
              <a:rPr lang="en-US" sz="1500" b="1" dirty="0">
                <a:solidFill>
                  <a:srgbClr val="101828"/>
                </a:solidFill>
              </a:rPr>
              <a:t>수동 GPR 재탐사</a:t>
            </a:r>
            <a:endParaRPr lang="en-US" sz="15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marL="0" indent="0">
              <a:buNone/>
            </a:pPr>
            <a:r>
              <a:rPr lang="en-US" sz="1700" b="1" dirty="0">
                <a:solidFill>
                  <a:srgbClr val="101828"/>
                </a:solidFill>
              </a:rPr>
              <a:t>3  현장 재확인</a:t>
            </a:r>
            <a:endParaRPr lang="en-US" sz="17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marL="0" indent="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txBody>
          <a:bodyPr/>
          <a:lstStyle/>
          <a:p>
            <a:endParaRPr lang="ko-KR" altLang="en-US"/>
          </a:p>
        </p:txBody>
      </p:sp>
      <p:sp>
        <p:nvSpPr>
          <p:cNvPr id="30" name="loop"/>
          <p:cNvSpPr/>
          <p:nvPr/>
        </p:nvSpPr>
        <p:spPr>
          <a:xfrm>
            <a:off x="2423160" y="5897880"/>
            <a:ext cx="7818120" cy="0"/>
          </a:xfrm>
          <a:prstGeom prst="line">
            <a:avLst/>
          </a:prstGeom>
          <a:noFill/>
          <a:ln w="25400">
            <a:solidFill>
              <a:srgbClr val="F5B400"/>
            </a:solidFill>
            <a:prstDash val="solid"/>
          </a:ln>
        </p:spPr>
        <p:txBody>
          <a:bodyPr/>
          <a:lstStyle/>
          <a:p>
            <a:endParaRPr lang="ko-KR" altLang="en-US"/>
          </a:p>
        </p:txBody>
      </p:sp>
      <p:sp>
        <p:nvSpPr>
          <p:cNvPr id="31" name="arrow"/>
          <p:cNvSpPr/>
          <p:nvPr/>
        </p:nvSpPr>
        <p:spPr>
          <a:xfrm flipV="1">
            <a:off x="2423160" y="5440680"/>
            <a:ext cx="914" cy="457200"/>
          </a:xfrm>
          <a:prstGeom prst="line">
            <a:avLst/>
          </a:prstGeom>
          <a:noFill/>
          <a:ln w="25400">
            <a:solidFill>
              <a:srgbClr val="F5B400"/>
            </a:solidFill>
            <a:prstDash val="solid"/>
            <a:tailEnd type="triangle"/>
          </a:ln>
        </p:spPr>
        <p:txBody>
          <a:bodyPr/>
          <a:lstStyle/>
          <a:p>
            <a:endParaRPr lang="ko-KR" altLang="en-US"/>
          </a:p>
        </p:txBody>
      </p:sp>
      <p:sp>
        <p:nvSpPr>
          <p:cNvPr id="32" name="Text 22"/>
          <p:cNvSpPr txBox="1"/>
          <p:nvPr/>
        </p:nvSpPr>
        <p:spPr>
          <a:xfrm>
            <a:off x="2743200" y="5943600"/>
            <a:ext cx="7132320" cy="347472"/>
          </a:xfrm>
          <a:prstGeom prst="rect">
            <a:avLst/>
          </a:prstGeom>
          <a:noFill/>
          <a:ln/>
        </p:spPr>
        <p:txBody>
          <a:bodyPr wrap="square" lIns="0" tIns="0" rIns="0" bIns="0" rtlCol="0" anchor="ctr"/>
          <a:lstStyle/>
          <a:p>
            <a:pPr marL="0" indent="0" algn="ctr">
              <a:buNone/>
            </a:pPr>
            <a:r>
              <a:rPr lang="en-US" sz="1500" b="1" dirty="0">
                <a:solidFill>
                  <a:srgbClr val="0B1F3A"/>
                </a:solidFill>
              </a:rPr>
              <a:t>4  확인 결과가 다음 순찰과 AI 개선으로 돌아갑니다</a:t>
            </a:r>
            <a:endParaRPr lang="en-US" sz="1500" dirty="0"/>
          </a:p>
        </p:txBody>
      </p:sp>
      <p:sp>
        <p:nvSpPr>
          <p:cNvPr id="33"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구성은 제안안이며 장비 사양과 통신 구조는 실증 단계에서 확정합니다. 사진: Alexander Migl, CC BY-SA 4.0, Wikimedia Commons</a:t>
            </a:r>
            <a:endParaRPr lang="en-US" sz="1000" dirty="0"/>
          </a:p>
        </p:txBody>
      </p:sp>
      <p:sp>
        <p:nvSpPr>
          <p:cNvPr id="34"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F5B400"/>
          </a:solidFill>
          <a:ln w="12700">
            <a:solidFill>
              <a:srgbClr val="F5B400"/>
            </a:solidFill>
          </a:ln>
        </p:spPr>
        <p:txBody>
          <a:bodyPr wrap="square" lIns="0" tIns="0" rIns="0" bIns="0" rtlCol="0" anchor="ctr"/>
          <a:lstStyle/>
          <a:p>
            <a:pPr marL="0" indent="0" algn="ctr">
              <a:buNone/>
            </a:pPr>
            <a:r>
              <a:rPr lang="en-US" sz="1400" b="1" dirty="0">
                <a:solidFill>
                  <a:srgbClr val="101828"/>
                </a:solidFill>
              </a:rPr>
              <a:t>문제와 해결</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측정 결과가 다음 행동으로 이어지는 지하안전 관리체계</a:t>
            </a:r>
            <a:endParaRPr lang="en-US" sz="19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6" name="table"/>
          <p:cNvGraphicFramePr>
            <a:graphicFrameLocks noGrp="1"/>
          </p:cNvGraphicFramePr>
          <p:nvPr/>
        </p:nvGraphicFramePr>
        <p:xfrm>
          <a:off x="546100" y="1041400"/>
          <a:ext cx="11087100" cy="3429000"/>
        </p:xfrm>
        <a:graphic>
          <a:graphicData uri="http://schemas.openxmlformats.org/drawingml/2006/table">
            <a:tbl>
              <a:tblPr/>
              <a:tblGrid>
                <a:gridCol w="3492500"/>
                <a:gridCol w="4229100"/>
                <a:gridCol w="3365500"/>
              </a:tblGrid>
              <a:tr h="381000">
                <a:tc>
                  <a:txBody>
                    <a:bodyPr/>
                    <a:lstStyle/>
                    <a:p>
                      <a:pPr marL="0" indent="0">
                        <a:buNone/>
                      </a:pPr>
                      <a:r>
                        <a:rPr lang="en-US" sz="1300" b="1" dirty="0">
                          <a:solidFill>
                            <a:srgbClr val="5B6573"/>
                          </a:solidFill>
                        </a:rPr>
                        <a:t>기존 문제</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300" b="1" dirty="0">
                          <a:solidFill>
                            <a:srgbClr val="5B6573"/>
                          </a:solidFill>
                        </a:rPr>
                        <a:t>GroundWatch의 해결 방식</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300" b="1" dirty="0">
                          <a:solidFill>
                            <a:srgbClr val="5B6573"/>
                          </a:solidFill>
                        </a:rPr>
                        <a:t>확인할 개선 지표</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508000">
                <a:tc>
                  <a:txBody>
                    <a:bodyPr/>
                    <a:lstStyle/>
                    <a:p>
                      <a:pPr marL="0" indent="0">
                        <a:buNone/>
                      </a:pPr>
                      <a:r>
                        <a:rPr lang="en-US" sz="1300" b="1" dirty="0">
                          <a:solidFill>
                            <a:srgbClr val="101828"/>
                          </a:solidFill>
                        </a:rPr>
                        <a:t>조사 결과가 시점별 파일로 남는다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같은 경로의 데이터를 위치와 시간 기준으로 누적한다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시점별 비교가 가능한 도로 비율</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508000">
                <a:tc>
                  <a:txBody>
                    <a:bodyPr/>
                    <a:lstStyle/>
                    <a:p>
                      <a:pPr marL="0" indent="0">
                        <a:buNone/>
                      </a:pPr>
                      <a:r>
                        <a:rPr lang="en-US" sz="1300" b="1" dirty="0">
                          <a:solidFill>
                            <a:srgbClr val="101828"/>
                          </a:solidFill>
                        </a:rPr>
                        <a:t>변화가 생긴 구간을 사람이 다시 찾아야 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AI가 변화 후보를 선별하고 전문가가 승인한다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전문가 검토시간과 후보 적중률</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508000">
                <a:tc>
                  <a:txBody>
                    <a:bodyPr/>
                    <a:lstStyle/>
                    <a:p>
                      <a:pPr marL="0" indent="0">
                        <a:buNone/>
                      </a:pPr>
                      <a:r>
                        <a:rPr lang="en-US" sz="1300" b="1" dirty="0">
                          <a:solidFill>
                            <a:srgbClr val="101828"/>
                          </a:solidFill>
                        </a:rPr>
                        <a:t>다음 조사 우선순위가 경험에 의존한다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변화량, 신뢰도, 주변 위험요인을 함께 표시한다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고위험 구간 재확인 소요시간</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508000">
                <a:tc>
                  <a:txBody>
                    <a:bodyPr/>
                    <a:lstStyle/>
                    <a:p>
                      <a:pPr marL="0" indent="0">
                        <a:buNone/>
                      </a:pPr>
                      <a:r>
                        <a:rPr lang="en-US" sz="1300" b="1" dirty="0">
                          <a:solidFill>
                            <a:srgbClr val="101828"/>
                          </a:solidFill>
                        </a:rPr>
                        <a:t>현장에서 과거 측정 위치를 찾기 어렵다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RTK와 현장 기준점으로 AR 검색 범위를 표시한다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현장 위치 오차와 탐색시간</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508000">
                <a:tc>
                  <a:txBody>
                    <a:bodyPr/>
                    <a:lstStyle/>
                    <a:p>
                      <a:pPr marL="0" indent="0">
                        <a:buNone/>
                      </a:pPr>
                      <a:r>
                        <a:rPr lang="en-US" sz="1300" b="1" dirty="0">
                          <a:solidFill>
                            <a:srgbClr val="101828"/>
                          </a:solidFill>
                        </a:rPr>
                        <a:t>넓은 탐사와 정밀조사가 분리된다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차량형 GPR 결과를 수동 GPR 작업으로 바로 전환한다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재방문 횟수와 업무 인계시간</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508000">
                <a:tc>
                  <a:txBody>
                    <a:bodyPr/>
                    <a:lstStyle/>
                    <a:p>
                      <a:pPr marL="0" indent="0">
                        <a:buNone/>
                      </a:pPr>
                      <a:r>
                        <a:rPr lang="en-US" sz="1300" b="1" dirty="0">
                          <a:solidFill>
                            <a:srgbClr val="101828"/>
                          </a:solidFill>
                        </a:rPr>
                        <a:t>복구 결과가 다음 조사에 충분히 반영되지 않는다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300" b="1" dirty="0">
                          <a:solidFill>
                            <a:srgbClr val="101828"/>
                          </a:solidFill>
                        </a:rPr>
                        <a:t>확인·보수 이력을 4D 지도에 다시 저장한다</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300" dirty="0">
                          <a:solidFill>
                            <a:srgbClr val="5B6573"/>
                          </a:solidFill>
                        </a:rPr>
                        <a:t>보수구간 재검증 완료율</a:t>
                      </a:r>
                      <a:endParaRPr lang="en-US" sz="13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bl>
          </a:graphicData>
        </a:graphic>
      </p:graphicFrame>
      <p:sp>
        <p:nvSpPr>
          <p:cNvPr id="7" name="conclusion"/>
          <p:cNvSpPr txBox="1"/>
          <p:nvPr/>
        </p:nvSpPr>
        <p:spPr>
          <a:xfrm>
            <a:off x="546100" y="4826000"/>
            <a:ext cx="11087100" cy="711200"/>
          </a:xfrm>
          <a:prstGeom prst="rect">
            <a:avLst/>
          </a:prstGeom>
          <a:solidFill>
            <a:srgbClr val="0B1F3A"/>
          </a:solidFill>
          <a:ln>
            <a:noFill/>
          </a:ln>
        </p:spPr>
        <p:txBody>
          <a:bodyPr wrap="square" lIns="0" tIns="0" rIns="0" bIns="0" rtlCol="0" anchor="ctr"/>
          <a:lstStyle/>
          <a:p>
            <a:pPr marL="0" indent="0" algn="ctr">
              <a:buNone/>
            </a:pPr>
            <a:r>
              <a:rPr lang="en-US" sz="1600" b="1" dirty="0">
                <a:solidFill>
                  <a:srgbClr val="FFFFFF"/>
                </a:solidFill>
              </a:rPr>
              <a:t>GroundWatch의 가치는 지도를 만드는 데서 끝나지 않습니다.</a:t>
            </a:r>
            <a:endParaRPr lang="en-US" sz="1600" dirty="0"/>
          </a:p>
          <a:p>
            <a:pPr marL="0" indent="0" algn="ctr">
              <a:buNone/>
            </a:pPr>
            <a:r>
              <a:rPr lang="en-US" sz="1600" b="1" dirty="0">
                <a:solidFill>
                  <a:srgbClr val="FFFFFF"/>
                </a:solidFill>
              </a:rPr>
              <a:t>한 번의 측정을 다음 판단과 현장 행동으로 연결합니다.</a:t>
            </a:r>
            <a:endParaRPr lang="en-US" sz="1600" dirty="0"/>
          </a:p>
        </p:txBody>
      </p:sp>
      <p:sp>
        <p:nvSpPr>
          <p:cNvPr id="8"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개선 지표는 실증에서 측정할 항목입니다. 목표값은 기존 방식 기준선을 측정한 뒤 발주기관과 합의합니다.</a:t>
            </a:r>
            <a:endParaRPr lang="en-US" sz="10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F5B400"/>
          </a:solidFill>
          <a:ln w="12700">
            <a:solidFill>
              <a:srgbClr val="F5B400"/>
            </a:solidFill>
          </a:ln>
        </p:spPr>
        <p:txBody>
          <a:bodyPr wrap="square" lIns="0" tIns="0" rIns="0" bIns="0" rtlCol="0" anchor="ctr"/>
          <a:lstStyle/>
          <a:p>
            <a:pPr marL="0" indent="0" algn="ctr">
              <a:buNone/>
            </a:pPr>
            <a:r>
              <a:rPr lang="en-US" sz="1400" b="1" dirty="0">
                <a:solidFill>
                  <a:srgbClr val="101828"/>
                </a:solidFill>
              </a:rPr>
              <a:t>차별점</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새로운 점은 반복 관측 자체가 아니라, 변화를 다음 행동으로 잇는 것</a:t>
            </a:r>
            <a:endParaRPr lang="en-US" sz="1900" dirty="0"/>
          </a:p>
        </p:txBody>
      </p:sp>
      <p:sp>
        <p:nvSpPr>
          <p:cNvPr id="6"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7" name="table"/>
          <p:cNvGraphicFramePr>
            <a:graphicFrameLocks noGrp="1"/>
          </p:cNvGraphicFramePr>
          <p:nvPr/>
        </p:nvGraphicFramePr>
        <p:xfrm>
          <a:off x="546100" y="1524000"/>
          <a:ext cx="11087100" cy="2933700"/>
        </p:xfrm>
        <a:graphic>
          <a:graphicData uri="http://schemas.openxmlformats.org/drawingml/2006/table">
            <a:tbl>
              <a:tblPr/>
              <a:tblGrid>
                <a:gridCol w="2133600"/>
                <a:gridCol w="2489200"/>
                <a:gridCol w="2997200"/>
                <a:gridCol w="3467100"/>
              </a:tblGrid>
              <a:tr h="330200">
                <a:tc>
                  <a:txBody>
                    <a:bodyPr/>
                    <a:lstStyle/>
                    <a:p>
                      <a:pPr marL="0" indent="0">
                        <a:buNone/>
                      </a:pPr>
                      <a:r>
                        <a:rPr lang="en-US" sz="1200" b="1" dirty="0">
                          <a:solidFill>
                            <a:srgbClr val="5B6573"/>
                          </a:solidFill>
                        </a:rPr>
                        <a:t>비교 대상</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그 방식의 강점</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그 방식의 빈틈</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GroundWatch의 보완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520700">
                <a:tc>
                  <a:txBody>
                    <a:bodyPr/>
                    <a:lstStyle/>
                    <a:p>
                      <a:pPr marL="0" indent="0">
                        <a:buNone/>
                      </a:pPr>
                      <a:r>
                        <a:rPr lang="en-US" sz="1200" b="1" dirty="0">
                          <a:solidFill>
                            <a:srgbClr val="101828"/>
                          </a:solidFill>
                        </a:rPr>
                        <a:t>대형 차량형 GPR</a:t>
                      </a:r>
                      <a:endParaRPr lang="en-US" sz="1200" dirty="0"/>
                    </a:p>
                    <a:p>
                      <a:pPr marL="0" indent="0">
                        <a:buNone/>
                      </a:pPr>
                      <a:r>
                        <a:rPr lang="en-US" sz="1200" b="1" dirty="0">
                          <a:solidFill>
                            <a:srgbClr val="101828"/>
                          </a:solidFill>
                        </a:rPr>
                        <a:t>(주요 도로)</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빠른 속도, 넓은 탐사 폭,</a:t>
                      </a:r>
                      <a:endParaRPr lang="en-US" sz="1200" dirty="0"/>
                    </a:p>
                    <a:p>
                      <a:pPr marL="0" indent="0">
                        <a:buNone/>
                      </a:pPr>
                      <a:r>
                        <a:rPr lang="en-US" sz="1200" dirty="0">
                          <a:solidFill>
                            <a:srgbClr val="5B6573"/>
                          </a:solidFill>
                        </a:rPr>
                        <a:t>검증된 운영</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회차별 결과가 보고서 단위로</a:t>
                      </a:r>
                      <a:endParaRPr lang="en-US" sz="1200" dirty="0"/>
                    </a:p>
                    <a:p>
                      <a:pPr marL="0" indent="0">
                        <a:buNone/>
                      </a:pPr>
                      <a:r>
                        <a:rPr lang="en-US" sz="1200" dirty="0">
                          <a:solidFill>
                            <a:srgbClr val="5B6573"/>
                          </a:solidFill>
                        </a:rPr>
                        <a:t>나뉘어 변화 추적이 어려움</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같은 경로 반복 측정을</a:t>
                      </a:r>
                      <a:endParaRPr lang="en-US" sz="1200" dirty="0"/>
                    </a:p>
                    <a:p>
                      <a:pPr marL="0" indent="0">
                        <a:buNone/>
                      </a:pPr>
                      <a:r>
                        <a:rPr lang="en-US" sz="1200" b="1" dirty="0">
                          <a:solidFill>
                            <a:srgbClr val="101828"/>
                          </a:solidFill>
                        </a:rPr>
                        <a:t>위치·깊이·시간으로 누적</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r>
              <a:tr h="520700">
                <a:tc>
                  <a:txBody>
                    <a:bodyPr/>
                    <a:lstStyle/>
                    <a:p>
                      <a:pPr marL="0" indent="0">
                        <a:buNone/>
                      </a:pPr>
                      <a:r>
                        <a:rPr lang="en-US" sz="1200" b="1" dirty="0">
                          <a:solidFill>
                            <a:srgbClr val="101828"/>
                          </a:solidFill>
                        </a:rPr>
                        <a:t>손수레형 GPR</a:t>
                      </a:r>
                      <a:endParaRPr lang="en-US" sz="1200" dirty="0"/>
                    </a:p>
                    <a:p>
                      <a:pPr marL="0" indent="0">
                        <a:buNone/>
                      </a:pPr>
                      <a:r>
                        <a:rPr lang="en-US" sz="1200" b="1" dirty="0">
                          <a:solidFill>
                            <a:srgbClr val="101828"/>
                          </a:solidFill>
                        </a:rPr>
                        <a:t>(골목·보도)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차량이 못 가는 곳도 진입</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넓은 구간에는 시간과</a:t>
                      </a:r>
                      <a:endParaRPr lang="en-US" sz="1200" dirty="0"/>
                    </a:p>
                    <a:p>
                      <a:pPr marL="0" indent="0">
                        <a:buNone/>
                      </a:pPr>
                      <a:r>
                        <a:rPr lang="en-US" sz="1200" dirty="0">
                          <a:solidFill>
                            <a:srgbClr val="5B6573"/>
                          </a:solidFill>
                        </a:rPr>
                        <a:t>인력이 많이 듦</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차로는 차량으로 선별, 수동 GPR은</a:t>
                      </a:r>
                      <a:endParaRPr lang="en-US" sz="1200" dirty="0"/>
                    </a:p>
                    <a:p>
                      <a:pPr marL="0" indent="0">
                        <a:buNone/>
                      </a:pPr>
                      <a:r>
                        <a:rPr lang="en-US" sz="1200" b="1" dirty="0">
                          <a:solidFill>
                            <a:srgbClr val="101828"/>
                          </a:solidFill>
                        </a:rPr>
                        <a:t>승인된 재확인 지점에 집중</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r>
              <a:tr h="520700">
                <a:tc>
                  <a:txBody>
                    <a:bodyPr/>
                    <a:lstStyle/>
                    <a:p>
                      <a:pPr marL="0" indent="0">
                        <a:buNone/>
                      </a:pPr>
                      <a:r>
                        <a:rPr lang="en-US" sz="1200" b="1" dirty="0">
                          <a:solidFill>
                            <a:srgbClr val="101828"/>
                          </a:solidFill>
                        </a:rPr>
                        <a:t>자율주행 로봇 GPR</a:t>
                      </a:r>
                      <a:endParaRPr lang="en-US" sz="1200" dirty="0"/>
                    </a:p>
                    <a:p>
                      <a:pPr marL="0" indent="0">
                        <a:buNone/>
                      </a:pPr>
                      <a:r>
                        <a:rPr lang="en-US" sz="1200" b="1" dirty="0">
                          <a:solidFill>
                            <a:srgbClr val="101828"/>
                          </a:solidFill>
                        </a:rPr>
                        <a:t>(연구·시연 단계)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인력 절감,</a:t>
                      </a:r>
                      <a:endParaRPr lang="en-US" sz="1200" dirty="0"/>
                    </a:p>
                    <a:p>
                      <a:pPr marL="0" indent="0">
                        <a:buNone/>
                      </a:pPr>
                      <a:r>
                        <a:rPr lang="en-US" sz="1200" dirty="0">
                          <a:solidFill>
                            <a:srgbClr val="5B6573"/>
                          </a:solidFill>
                        </a:rPr>
                        <a:t>정해진 경로 자동 탐사</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현장 이동·충전·보관 수단 필요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PV5가 운반·충전 거점이 되는</a:t>
                      </a:r>
                      <a:endParaRPr lang="en-US" sz="1200" dirty="0"/>
                    </a:p>
                    <a:p>
                      <a:pPr marL="0" indent="0">
                        <a:buNone/>
                      </a:pPr>
                      <a:r>
                        <a:rPr lang="en-US" sz="1200" b="1" dirty="0">
                          <a:solidFill>
                            <a:srgbClr val="101828"/>
                          </a:solidFill>
                        </a:rPr>
                        <a:t>확장 방향 [가설]</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r>
              <a:tr h="520700">
                <a:tc>
                  <a:txBody>
                    <a:bodyPr/>
                    <a:lstStyle/>
                    <a:p>
                      <a:pPr marL="0" indent="0">
                        <a:buNone/>
                      </a:pPr>
                      <a:r>
                        <a:rPr lang="en-US" sz="1200" b="1" dirty="0">
                          <a:solidFill>
                            <a:srgbClr val="101828"/>
                          </a:solidFill>
                        </a:rPr>
                        <a:t>기존 탐사 용역</a:t>
                      </a:r>
                      <a:endParaRPr lang="en-US" sz="1200" dirty="0"/>
                    </a:p>
                    <a:p>
                      <a:pPr marL="0" indent="0">
                        <a:buNone/>
                      </a:pPr>
                      <a:r>
                        <a:rPr lang="en-US" sz="1200" b="1" dirty="0">
                          <a:solidFill>
                            <a:srgbClr val="101828"/>
                          </a:solidFill>
                        </a:rPr>
                        <a:t>(사무실 판독)</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전문 판독 인력의 품질</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탐사와 판독 사이 시차,</a:t>
                      </a:r>
                      <a:endParaRPr lang="en-US" sz="1200" dirty="0"/>
                    </a:p>
                    <a:p>
                      <a:pPr marL="0" indent="0">
                        <a:buNone/>
                      </a:pPr>
                      <a:r>
                        <a:rPr lang="en-US" sz="1200" dirty="0">
                          <a:solidFill>
                            <a:srgbClr val="5B6573"/>
                          </a:solidFill>
                        </a:rPr>
                        <a:t>현장 재확인 지연</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AI가 변화 후보를 정렬하고,</a:t>
                      </a:r>
                      <a:endParaRPr lang="en-US" sz="1200" dirty="0"/>
                    </a:p>
                    <a:p>
                      <a:pPr marL="0" indent="0">
                        <a:buNone/>
                      </a:pPr>
                      <a:r>
                        <a:rPr lang="en-US" sz="1200" b="1" dirty="0">
                          <a:solidFill>
                            <a:srgbClr val="101828"/>
                          </a:solidFill>
                        </a:rPr>
                        <a:t>승인 지점은 다음 순찰에 자동 반영</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r>
              <a:tr h="520700">
                <a:tc>
                  <a:txBody>
                    <a:bodyPr/>
                    <a:lstStyle/>
                    <a:p>
                      <a:pPr marL="0" indent="0">
                        <a:buNone/>
                      </a:pPr>
                      <a:r>
                        <a:rPr lang="en-US" sz="1200" b="1" dirty="0">
                          <a:solidFill>
                            <a:srgbClr val="101828"/>
                          </a:solidFill>
                        </a:rPr>
                        <a:t>회차별 보고서 관리</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발주기관 보고 요건 충족</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‘이상 없음’과 ‘안 봤음’이</a:t>
                      </a:r>
                      <a:endParaRPr lang="en-US" sz="1200" dirty="0"/>
                    </a:p>
                    <a:p>
                      <a:pPr marL="0" indent="0">
                        <a:buNone/>
                      </a:pPr>
                      <a:r>
                        <a:rPr lang="en-US" sz="1200" dirty="0">
                          <a:solidFill>
                            <a:srgbClr val="5B6573"/>
                          </a:solidFill>
                        </a:rPr>
                        <a:t>구분되지 않음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미조사·저신뢰 구간을</a:t>
                      </a:r>
                      <a:endParaRPr lang="en-US" sz="1200" dirty="0"/>
                    </a:p>
                    <a:p>
                      <a:pPr marL="0" indent="0">
                        <a:buNone/>
                      </a:pPr>
                      <a:r>
                        <a:rPr lang="en-US" sz="1200" b="1" dirty="0">
                          <a:solidFill>
                            <a:srgbClr val="101828"/>
                          </a:solidFill>
                        </a:rPr>
                        <a:t>지도에 따로 표시</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r>
            </a:tbl>
          </a:graphicData>
        </a:graphic>
      </p:graphicFrame>
      <p:sp>
        <p:nvSpPr>
          <p:cNvPr id="8" name="diff panel"/>
          <p:cNvSpPr txBox="1"/>
          <p:nvPr/>
        </p:nvSpPr>
        <p:spPr>
          <a:xfrm>
            <a:off x="546100" y="4673600"/>
            <a:ext cx="11087100" cy="838200"/>
          </a:xfrm>
          <a:prstGeom prst="rect">
            <a:avLst/>
          </a:prstGeom>
          <a:solidFill>
            <a:srgbClr val="0B1F3A"/>
          </a:solidFill>
          <a:ln>
            <a:noFill/>
          </a:ln>
        </p:spPr>
        <p:txBody>
          <a:bodyPr wrap="square" lIns="152400" tIns="152400" rIns="152400" bIns="152400" rtlCol="0" anchor="ctr"/>
          <a:lstStyle/>
          <a:p>
            <a:pPr marL="0" indent="0">
              <a:buNone/>
            </a:pPr>
            <a:r>
              <a:rPr lang="en-US" sz="1400" dirty="0">
                <a:solidFill>
                  <a:srgbClr val="C9D3E0"/>
                </a:solidFill>
              </a:rPr>
              <a:t>서울시는 이미 탐사 결과와 공동 위치를 서울안전누리 GPR 탐사지도로 공개합니다.</a:t>
            </a:r>
            <a:endParaRPr lang="en-US" sz="1400" dirty="0"/>
          </a:p>
          <a:p>
            <a:pPr marL="0" indent="0">
              <a:buNone/>
            </a:pPr>
            <a:r>
              <a:rPr lang="en-US" sz="1500" b="1" dirty="0">
                <a:solidFill>
                  <a:srgbClr val="FFFFFF"/>
                </a:solidFill>
              </a:rPr>
              <a:t>GroundWatch가 더하는 것은 회차 간 변화 비교와, 그 결과를 재확인 업무로 바로 잇는 운영 체계입니다.</a:t>
            </a:r>
            <a:endParaRPr lang="en-US" sz="1500" dirty="0"/>
          </a:p>
        </p:txBody>
      </p:sp>
      <p:sp>
        <p:nvSpPr>
          <p:cNvPr id="9" name="note"/>
          <p:cNvSpPr txBox="1"/>
          <p:nvPr/>
        </p:nvSpPr>
        <p:spPr>
          <a:xfrm>
            <a:off x="546100" y="5588000"/>
            <a:ext cx="11087100" cy="254000"/>
          </a:xfrm>
          <a:prstGeom prst="rect">
            <a:avLst/>
          </a:prstGeom>
          <a:noFill/>
          <a:ln>
            <a:noFill/>
          </a:ln>
        </p:spPr>
        <p:txBody>
          <a:bodyPr wrap="square" lIns="0" tIns="0" rIns="0" bIns="0" rtlCol="0" anchor="t"/>
          <a:lstStyle/>
          <a:p>
            <a:pPr marL="0" indent="0">
              <a:buNone/>
            </a:pPr>
            <a:r>
              <a:rPr lang="en-US" sz="1100" dirty="0">
                <a:solidFill>
                  <a:srgbClr val="8A94A3"/>
                </a:solidFill>
              </a:rPr>
              <a:t>[가설] 현장의 회차 비교 방식과 재확인 업무 인계 방식은 지자체·탐사업체 인터뷰로 확인합니다.</a:t>
            </a:r>
            <a:endParaRPr lang="en-US" sz="1100" dirty="0"/>
          </a:p>
        </p:txBody>
      </p:sp>
      <p:sp>
        <p:nvSpPr>
          <p:cNvPr id="10"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참고: 서울신문 2025.10.19(서울안전누리 GPR 탐사지도·공동 밀집도 공개), 한국지질자원연구원 로봇 GPR(KIDD 보도).</a:t>
            </a:r>
            <a:endParaRPr lang="en-US" sz="1000" dirty="0"/>
          </a:p>
        </p:txBody>
      </p:sp>
      <p:sp>
        <p:nvSpPr>
          <p:cNvPr id="11" name="diff chip"/>
          <p:cNvSpPr txBox="1"/>
          <p:nvPr/>
        </p:nvSpPr>
        <p:spPr>
          <a:xfrm>
            <a:off x="546100" y="965200"/>
            <a:ext cx="3619500" cy="431800"/>
          </a:xfrm>
          <a:prstGeom prst="rect">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1   회차 간 변화 비교</a:t>
            </a:r>
            <a:endParaRPr lang="en-US" sz="1400" dirty="0"/>
          </a:p>
        </p:txBody>
      </p:sp>
      <p:sp>
        <p:nvSpPr>
          <p:cNvPr id="12" name="diff chip"/>
          <p:cNvSpPr txBox="1"/>
          <p:nvPr/>
        </p:nvSpPr>
        <p:spPr>
          <a:xfrm>
            <a:off x="4279900" y="965200"/>
            <a:ext cx="3619500" cy="431800"/>
          </a:xfrm>
          <a:prstGeom prst="rect">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2   측정 → 재확인 업무 자동 연결</a:t>
            </a:r>
            <a:endParaRPr lang="en-US" sz="1400" dirty="0"/>
          </a:p>
        </p:txBody>
      </p:sp>
      <p:sp>
        <p:nvSpPr>
          <p:cNvPr id="13" name="diff chip"/>
          <p:cNvSpPr txBox="1"/>
          <p:nvPr/>
        </p:nvSpPr>
        <p:spPr>
          <a:xfrm>
            <a:off x="8013700" y="965200"/>
            <a:ext cx="3619500" cy="431800"/>
          </a:xfrm>
          <a:prstGeom prst="rect">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3   ‘안 본 구간’까지 표시</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F5B400"/>
          </a:solidFill>
          <a:ln w="12700">
            <a:solidFill>
              <a:srgbClr val="F5B400"/>
            </a:solidFill>
          </a:ln>
        </p:spPr>
        <p:txBody>
          <a:bodyPr wrap="square" lIns="0" tIns="0" rIns="0" bIns="0" rtlCol="0" anchor="ctr"/>
          <a:lstStyle/>
          <a:p>
            <a:pPr marL="0" indent="0" algn="ctr">
              <a:buNone/>
            </a:pPr>
            <a:r>
              <a:rPr lang="en-US" sz="1400" b="1" dirty="0">
                <a:solidFill>
                  <a:srgbClr val="101828"/>
                </a:solidFill>
              </a:rPr>
              <a:t>왜 PV5인가</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조용히 오래 달리고, 차 안에서 분석하고, 같은 사양으로 늘릴 수 있는 차</a:t>
            </a:r>
            <a:endParaRPr lang="en-US" sz="1900" dirty="0"/>
          </a:p>
        </p:txBody>
      </p:sp>
      <p:sp>
        <p:nvSpPr>
          <p:cNvPr id="5" name="lead"/>
          <p:cNvSpPr txBox="1"/>
          <p:nvPr/>
        </p:nvSpPr>
        <p:spPr>
          <a:xfrm>
            <a:off x="546100" y="977900"/>
            <a:ext cx="11087100" cy="546100"/>
          </a:xfrm>
          <a:prstGeom prst="rect">
            <a:avLst/>
          </a:prstGeom>
          <a:noFill/>
          <a:ln>
            <a:noFill/>
          </a:ln>
        </p:spPr>
        <p:txBody>
          <a:bodyPr wrap="square" lIns="0" tIns="0" rIns="0" bIns="0" rtlCol="0" anchor="t"/>
          <a:lstStyle/>
          <a:p>
            <a:pPr marL="0" indent="0">
              <a:buNone/>
            </a:pPr>
            <a:r>
              <a:rPr lang="en-US" sz="1600" dirty="0">
                <a:solidFill>
                  <a:srgbClr val="5B6573"/>
                </a:solidFill>
              </a:rPr>
              <a:t>GPR은 어느 차에나 달 수 있습니다. PV5는 개조 설계 자료, 생산 거점, 앱·관제까지 기아가 함께 제공해 같은 사양으로 늘릴 수 있습니다.</a:t>
            </a:r>
            <a:endParaRPr lang="en-US" sz="1600" dirty="0"/>
          </a:p>
        </p:txBody>
      </p:sp>
      <p:sp>
        <p:nvSpPr>
          <p:cNvPr id="6"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7" name="table"/>
          <p:cNvGraphicFramePr>
            <a:graphicFrameLocks noGrp="1"/>
          </p:cNvGraphicFramePr>
          <p:nvPr/>
        </p:nvGraphicFramePr>
        <p:xfrm>
          <a:off x="546100" y="1524000"/>
          <a:ext cx="11087100" cy="2286000"/>
        </p:xfrm>
        <a:graphic>
          <a:graphicData uri="http://schemas.openxmlformats.org/drawingml/2006/table">
            <a:tbl>
              <a:tblPr/>
              <a:tblGrid>
                <a:gridCol w="1905000"/>
                <a:gridCol w="2819400"/>
                <a:gridCol w="2120900"/>
                <a:gridCol w="2120900"/>
                <a:gridCol w="2120900"/>
              </a:tblGrid>
              <a:tr h="304800">
                <a:tc>
                  <a:txBody>
                    <a:bodyPr/>
                    <a:lstStyle/>
                    <a:p>
                      <a:pPr marL="0" indent="0">
                        <a:buNone/>
                      </a:pPr>
                      <a:r>
                        <a:rPr lang="en-US" sz="1200" b="1" dirty="0">
                          <a:solidFill>
                            <a:srgbClr val="5B6573"/>
                          </a:solidFill>
                        </a:rPr>
                        <a:t>항목</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PV5 카고 롱·롱레인지</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포터 II 일렉트릭</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봉고 III EV</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스타리아 카고</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30200">
                <a:tc>
                  <a:txBody>
                    <a:bodyPr/>
                    <a:lstStyle/>
                    <a:p>
                      <a:pPr marL="0" indent="0">
                        <a:buNone/>
                      </a:pPr>
                      <a:r>
                        <a:rPr lang="en-US" sz="1200" b="1" dirty="0">
                          <a:solidFill>
                            <a:srgbClr val="101828"/>
                          </a:solidFill>
                        </a:rPr>
                        <a:t>전장 × 전폭</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4,695 × 1,895mm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5,105 × 1,740mm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5,115 × 1,740mm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5,255 × 1,995mm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30200">
                <a:tc>
                  <a:txBody>
                    <a:bodyPr/>
                    <a:lstStyle/>
                    <a:p>
                      <a:pPr marL="0" indent="0">
                        <a:buNone/>
                      </a:pPr>
                      <a:r>
                        <a:rPr lang="en-US" sz="1200" b="1" dirty="0">
                          <a:solidFill>
                            <a:srgbClr val="101828"/>
                          </a:solidFill>
                        </a:rPr>
                        <a:t>동력, 1회 충전 주행거리</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전기, 377km(71.2kWh)</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전기, 217km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전기, 217km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LPG·HEV, 전기 387km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30200">
                <a:tc>
                  <a:txBody>
                    <a:bodyPr/>
                    <a:lstStyle/>
                    <a:p>
                      <a:pPr marL="0" indent="0">
                        <a:buNone/>
                      </a:pPr>
                      <a:r>
                        <a:rPr lang="en-US" sz="1200" b="1" dirty="0">
                          <a:solidFill>
                            <a:srgbClr val="101828"/>
                          </a:solidFill>
                        </a:rPr>
                        <a:t>밀폐 작업공간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카고룸 4,420L, 높이 1,520mm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개방 적재함(탑차는 특장)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개방 적재함(탑차는 특장)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밀폐</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30200">
                <a:tc>
                  <a:txBody>
                    <a:bodyPr/>
                    <a:lstStyle/>
                    <a:p>
                      <a:pPr marL="0" indent="0">
                        <a:buNone/>
                      </a:pPr>
                      <a:r>
                        <a:rPr lang="en-US" sz="1200" b="1" dirty="0">
                          <a:solidFill>
                            <a:srgbClr val="101828"/>
                          </a:solidFill>
                        </a:rPr>
                        <a:t>실내·실외 220V 전원</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V2L 최대 3.6kW(선택 사양)</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공식 사양에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공식 사양에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전기 모델만 V2L</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30200">
                <a:tc>
                  <a:txBody>
                    <a:bodyPr/>
                    <a:lstStyle/>
                    <a:p>
                      <a:pPr marL="0" indent="0">
                        <a:buNone/>
                      </a:pPr>
                      <a:r>
                        <a:rPr lang="en-US" sz="1200" b="1" dirty="0">
                          <a:solidFill>
                            <a:srgbClr val="101828"/>
                          </a:solidFill>
                        </a:rPr>
                        <a:t>앱·전장 연동</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AAOS·Pleos 앱 마켓, PIM*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공식 사양에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공식 사양에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공식 사양에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30200">
                <a:tc>
                  <a:txBody>
                    <a:bodyPr/>
                    <a:lstStyle/>
                    <a:p>
                      <a:pPr marL="0" indent="0">
                        <a:buNone/>
                      </a:pPr>
                      <a:r>
                        <a:rPr lang="en-US" sz="1200" b="1" dirty="0">
                          <a:solidFill>
                            <a:srgbClr val="101828"/>
                          </a:solidFill>
                        </a:rPr>
                        <a:t>제조사 컨버전 체계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컨버전 포털·화성 컨버전 센터</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6D6"/>
                    </a:solidFill>
                  </a:tcPr>
                </a:tc>
                <a:tc>
                  <a:txBody>
                    <a:bodyPr/>
                    <a:lstStyle/>
                    <a:p>
                      <a:pPr marL="0" indent="0">
                        <a:buNone/>
                      </a:pPr>
                      <a:r>
                        <a:rPr lang="en-US" sz="1200" dirty="0">
                          <a:solidFill>
                            <a:srgbClr val="5B6573"/>
                          </a:solidFill>
                        </a:rPr>
                        <a:t>일반 특장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일반 특장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일반 특장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bl>
          </a:graphicData>
        </a:graphic>
      </p:graphicFrame>
      <p:sp>
        <p:nvSpPr>
          <p:cNvPr id="8" name="reason card"/>
          <p:cNvSpPr/>
          <p:nvPr/>
        </p:nvSpPr>
        <p:spPr>
          <a:xfrm>
            <a:off x="546100" y="3962400"/>
            <a:ext cx="2692400" cy="1320800"/>
          </a:xfrm>
          <a:prstGeom prst="roundRect">
            <a:avLst>
              <a:gd name="adj" fmla="val 7000"/>
            </a:avLst>
          </a:prstGeom>
          <a:solidFill>
            <a:srgbClr val="F2F4F7"/>
          </a:solidFill>
          <a:ln>
            <a:noFill/>
          </a:ln>
        </p:spPr>
        <p:txBody>
          <a:bodyPr/>
          <a:lstStyle/>
          <a:p>
            <a:endParaRPr lang="ko-KR" altLang="en-US"/>
          </a:p>
        </p:txBody>
      </p:sp>
      <p:sp>
        <p:nvSpPr>
          <p:cNvPr id="9" name="reason no"/>
          <p:cNvSpPr txBox="1"/>
          <p:nvPr/>
        </p:nvSpPr>
        <p:spPr>
          <a:xfrm>
            <a:off x="698500" y="406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1</a:t>
            </a:r>
            <a:endParaRPr lang="en-US" sz="1200" dirty="0"/>
          </a:p>
        </p:txBody>
      </p:sp>
      <p:sp>
        <p:nvSpPr>
          <p:cNvPr id="10" name="reason title"/>
          <p:cNvSpPr txBox="1"/>
          <p:nvPr/>
        </p:nvSpPr>
        <p:spPr>
          <a:xfrm>
            <a:off x="1079500" y="4064000"/>
            <a:ext cx="20828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새벽 저소음, 작은 회전반경</a:t>
            </a:r>
            <a:endParaRPr lang="en-US" sz="1400" dirty="0"/>
          </a:p>
        </p:txBody>
      </p:sp>
      <p:sp>
        <p:nvSpPr>
          <p:cNvPr id="11" name="reason body"/>
          <p:cNvSpPr txBox="1"/>
          <p:nvPr/>
        </p:nvSpPr>
        <p:spPr>
          <a:xfrm>
            <a:off x="698500" y="4445000"/>
            <a:ext cx="2413000" cy="787400"/>
          </a:xfrm>
          <a:prstGeom prst="rect">
            <a:avLst/>
          </a:prstGeom>
          <a:noFill/>
          <a:ln>
            <a:noFill/>
          </a:ln>
        </p:spPr>
        <p:txBody>
          <a:bodyPr wrap="square" lIns="0" tIns="0" rIns="0" bIns="0" rtlCol="0" anchor="t"/>
          <a:lstStyle/>
          <a:p>
            <a:pPr marL="0" indent="0">
              <a:buNone/>
            </a:pPr>
            <a:r>
              <a:rPr lang="en-US" sz="1200" dirty="0">
                <a:solidFill>
                  <a:srgbClr val="5B6573"/>
                </a:solidFill>
              </a:rPr>
              <a:t>엔진 소음 없이 주택가를 저속 순찰. 1회 충전 377km, 회전반경 5.5m</a:t>
            </a:r>
            <a:endParaRPr lang="en-US" sz="1200" dirty="0"/>
          </a:p>
        </p:txBody>
      </p:sp>
      <p:sp>
        <p:nvSpPr>
          <p:cNvPr id="12" name="reason card"/>
          <p:cNvSpPr/>
          <p:nvPr/>
        </p:nvSpPr>
        <p:spPr>
          <a:xfrm>
            <a:off x="3340100" y="3962400"/>
            <a:ext cx="2692400" cy="1320800"/>
          </a:xfrm>
          <a:prstGeom prst="roundRect">
            <a:avLst>
              <a:gd name="adj" fmla="val 7000"/>
            </a:avLst>
          </a:prstGeom>
          <a:solidFill>
            <a:srgbClr val="F2F4F7"/>
          </a:solidFill>
          <a:ln>
            <a:noFill/>
          </a:ln>
        </p:spPr>
        <p:txBody>
          <a:bodyPr/>
          <a:lstStyle/>
          <a:p>
            <a:endParaRPr lang="ko-KR" altLang="en-US"/>
          </a:p>
        </p:txBody>
      </p:sp>
      <p:sp>
        <p:nvSpPr>
          <p:cNvPr id="13" name="reason no"/>
          <p:cNvSpPr txBox="1"/>
          <p:nvPr/>
        </p:nvSpPr>
        <p:spPr>
          <a:xfrm>
            <a:off x="3492500" y="406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2</a:t>
            </a:r>
            <a:endParaRPr lang="en-US" sz="1200" dirty="0"/>
          </a:p>
        </p:txBody>
      </p:sp>
      <p:sp>
        <p:nvSpPr>
          <p:cNvPr id="14" name="reason title"/>
          <p:cNvSpPr txBox="1"/>
          <p:nvPr/>
        </p:nvSpPr>
        <p:spPr>
          <a:xfrm>
            <a:off x="3873500" y="4064000"/>
            <a:ext cx="20828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차가 곧 판독실</a:t>
            </a:r>
            <a:endParaRPr lang="en-US" sz="1400" dirty="0"/>
          </a:p>
        </p:txBody>
      </p:sp>
      <p:sp>
        <p:nvSpPr>
          <p:cNvPr id="15" name="reason body"/>
          <p:cNvSpPr txBox="1"/>
          <p:nvPr/>
        </p:nvSpPr>
        <p:spPr>
          <a:xfrm>
            <a:off x="3492500" y="4445000"/>
            <a:ext cx="2413000" cy="787400"/>
          </a:xfrm>
          <a:prstGeom prst="rect">
            <a:avLst/>
          </a:prstGeom>
          <a:noFill/>
          <a:ln>
            <a:noFill/>
          </a:ln>
        </p:spPr>
        <p:txBody>
          <a:bodyPr wrap="square" lIns="0" tIns="0" rIns="0" bIns="0" rtlCol="0" anchor="t"/>
          <a:lstStyle/>
          <a:p>
            <a:pPr marL="0" indent="0">
              <a:buNone/>
            </a:pPr>
            <a:r>
              <a:rPr lang="en-US" sz="1200" dirty="0">
                <a:solidFill>
                  <a:srgbClr val="5B6573"/>
                </a:solidFill>
              </a:rPr>
              <a:t>높이 1,520mm 밀폐 카고룸에서 앉아서 원시 데이터를 확인</a:t>
            </a:r>
            <a:endParaRPr lang="en-US" sz="1200" dirty="0"/>
          </a:p>
        </p:txBody>
      </p:sp>
      <p:sp>
        <p:nvSpPr>
          <p:cNvPr id="16" name="reason card"/>
          <p:cNvSpPr/>
          <p:nvPr/>
        </p:nvSpPr>
        <p:spPr>
          <a:xfrm>
            <a:off x="6134100" y="3962400"/>
            <a:ext cx="2692400" cy="1320800"/>
          </a:xfrm>
          <a:prstGeom prst="roundRect">
            <a:avLst>
              <a:gd name="adj" fmla="val 7000"/>
            </a:avLst>
          </a:prstGeom>
          <a:solidFill>
            <a:srgbClr val="F2F4F7"/>
          </a:solidFill>
          <a:ln>
            <a:noFill/>
          </a:ln>
        </p:spPr>
        <p:txBody>
          <a:bodyPr/>
          <a:lstStyle/>
          <a:p>
            <a:endParaRPr lang="ko-KR" altLang="en-US"/>
          </a:p>
        </p:txBody>
      </p:sp>
      <p:sp>
        <p:nvSpPr>
          <p:cNvPr id="17" name="reason no"/>
          <p:cNvSpPr txBox="1"/>
          <p:nvPr/>
        </p:nvSpPr>
        <p:spPr>
          <a:xfrm>
            <a:off x="6286500" y="406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3</a:t>
            </a:r>
            <a:endParaRPr lang="en-US" sz="1200" dirty="0"/>
          </a:p>
        </p:txBody>
      </p:sp>
      <p:sp>
        <p:nvSpPr>
          <p:cNvPr id="18" name="reason title"/>
          <p:cNvSpPr txBox="1"/>
          <p:nvPr/>
        </p:nvSpPr>
        <p:spPr>
          <a:xfrm>
            <a:off x="6667500" y="4064000"/>
            <a:ext cx="20828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발전기 없는 전원</a:t>
            </a:r>
            <a:endParaRPr lang="en-US" sz="1400" dirty="0"/>
          </a:p>
        </p:txBody>
      </p:sp>
      <p:sp>
        <p:nvSpPr>
          <p:cNvPr id="19" name="reason body"/>
          <p:cNvSpPr txBox="1"/>
          <p:nvPr/>
        </p:nvSpPr>
        <p:spPr>
          <a:xfrm>
            <a:off x="6286500" y="4445000"/>
            <a:ext cx="2413000" cy="787400"/>
          </a:xfrm>
          <a:prstGeom prst="rect">
            <a:avLst/>
          </a:prstGeom>
          <a:noFill/>
          <a:ln>
            <a:noFill/>
          </a:ln>
        </p:spPr>
        <p:txBody>
          <a:bodyPr wrap="square" lIns="0" tIns="0" rIns="0" bIns="0" rtlCol="0" anchor="t"/>
          <a:lstStyle/>
          <a:p>
            <a:pPr marL="0" indent="0">
              <a:buNone/>
            </a:pPr>
            <a:r>
              <a:rPr lang="en-US" sz="1200" dirty="0">
                <a:solidFill>
                  <a:srgbClr val="5B6573"/>
                </a:solidFill>
              </a:rPr>
              <a:t>실내·실외 V2L 3.6kW(선택 사양)로 GPR, 엣지 PC, 충전 장비 운용</a:t>
            </a:r>
            <a:endParaRPr lang="en-US" sz="1200" dirty="0"/>
          </a:p>
        </p:txBody>
      </p:sp>
      <p:sp>
        <p:nvSpPr>
          <p:cNvPr id="20" name="reason card"/>
          <p:cNvSpPr/>
          <p:nvPr/>
        </p:nvSpPr>
        <p:spPr>
          <a:xfrm>
            <a:off x="8928100" y="3962400"/>
            <a:ext cx="2692400" cy="1320800"/>
          </a:xfrm>
          <a:prstGeom prst="roundRect">
            <a:avLst>
              <a:gd name="adj" fmla="val 7000"/>
            </a:avLst>
          </a:prstGeom>
          <a:solidFill>
            <a:srgbClr val="F2F4F7"/>
          </a:solidFill>
          <a:ln>
            <a:noFill/>
          </a:ln>
        </p:spPr>
        <p:txBody>
          <a:bodyPr/>
          <a:lstStyle/>
          <a:p>
            <a:endParaRPr lang="ko-KR" altLang="en-US"/>
          </a:p>
        </p:txBody>
      </p:sp>
      <p:sp>
        <p:nvSpPr>
          <p:cNvPr id="21" name="reason no"/>
          <p:cNvSpPr txBox="1"/>
          <p:nvPr/>
        </p:nvSpPr>
        <p:spPr>
          <a:xfrm>
            <a:off x="9080500" y="4064000"/>
            <a:ext cx="304800" cy="304800"/>
          </a:xfrm>
          <a:prstGeom prst="ellipse">
            <a:avLst/>
          </a:prstGeom>
          <a:solidFill>
            <a:srgbClr val="F5B400"/>
          </a:solidFill>
          <a:ln>
            <a:noFill/>
          </a:ln>
        </p:spPr>
        <p:txBody>
          <a:bodyPr wrap="square" lIns="0" tIns="0" rIns="0" bIns="0" rtlCol="0" anchor="ctr"/>
          <a:lstStyle/>
          <a:p>
            <a:pPr marL="0" indent="0" algn="ctr">
              <a:buNone/>
            </a:pPr>
            <a:r>
              <a:rPr lang="en-US" sz="1200" b="1" dirty="0">
                <a:solidFill>
                  <a:srgbClr val="101828"/>
                </a:solidFill>
              </a:rPr>
              <a:t>4</a:t>
            </a:r>
            <a:endParaRPr lang="en-US" sz="1200" dirty="0"/>
          </a:p>
        </p:txBody>
      </p:sp>
      <p:sp>
        <p:nvSpPr>
          <p:cNvPr id="22" name="reason title"/>
          <p:cNvSpPr txBox="1"/>
          <p:nvPr/>
        </p:nvSpPr>
        <p:spPr>
          <a:xfrm>
            <a:off x="9461500" y="4064000"/>
            <a:ext cx="20828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같은 사양으로 복제</a:t>
            </a:r>
            <a:endParaRPr lang="en-US" sz="1400" dirty="0"/>
          </a:p>
        </p:txBody>
      </p:sp>
      <p:sp>
        <p:nvSpPr>
          <p:cNvPr id="23" name="reason body"/>
          <p:cNvSpPr txBox="1"/>
          <p:nvPr/>
        </p:nvSpPr>
        <p:spPr>
          <a:xfrm>
            <a:off x="9080500" y="4445000"/>
            <a:ext cx="2413000" cy="787400"/>
          </a:xfrm>
          <a:prstGeom prst="rect">
            <a:avLst/>
          </a:prstGeom>
          <a:noFill/>
          <a:ln>
            <a:noFill/>
          </a:ln>
        </p:spPr>
        <p:txBody>
          <a:bodyPr wrap="square" lIns="0" tIns="0" rIns="0" bIns="0" rtlCol="0" anchor="t"/>
          <a:lstStyle/>
          <a:p>
            <a:pPr marL="0" indent="0">
              <a:buNone/>
            </a:pPr>
            <a:r>
              <a:rPr lang="en-US" sz="1200" dirty="0">
                <a:solidFill>
                  <a:srgbClr val="5B6573"/>
                </a:solidFill>
              </a:rPr>
              <a:t>컨버전 포털의 3D CAD·바디빌더 매뉴얼·인증 서류로 설계하고, 화성 센터에서 같은 사양으로 제작</a:t>
            </a:r>
            <a:endParaRPr lang="en-US" sz="1200" dirty="0"/>
          </a:p>
        </p:txBody>
      </p:sp>
      <p:sp>
        <p:nvSpPr>
          <p:cNvPr id="24" name="honest note"/>
          <p:cNvSpPr txBox="1"/>
          <p:nvPr/>
        </p:nvSpPr>
        <p:spPr>
          <a:xfrm>
            <a:off x="546100" y="5384800"/>
            <a:ext cx="11087100" cy="660400"/>
          </a:xfrm>
          <a:prstGeom prst="rect">
            <a:avLst/>
          </a:prstGeom>
          <a:noFill/>
          <a:ln>
            <a:noFill/>
          </a:ln>
        </p:spPr>
        <p:txBody>
          <a:bodyPr wrap="square" lIns="0" tIns="0" rIns="0" bIns="0" rtlCol="0" anchor="t"/>
          <a:lstStyle/>
          <a:p>
            <a:pPr marL="0" indent="0">
              <a:spcAft>
                <a:spcPts val="300"/>
              </a:spcAft>
              <a:buNone/>
            </a:pPr>
            <a:r>
              <a:rPr lang="en-US" sz="1200" b="1" dirty="0">
                <a:solidFill>
                  <a:srgbClr val="101828"/>
                </a:solidFill>
              </a:rPr>
              <a:t>불리한 점도 밝힙니다  </a:t>
            </a:r>
            <a:r>
              <a:rPr lang="en-US" sz="1200" dirty="0">
                <a:solidFill>
                  <a:srgbClr val="5B6573"/>
                </a:solidFill>
              </a:rPr>
              <a:t>스타리아 전기 카고는 주행거리(387km)가 더 길고 밀폐 적재공간·V2L도 있습니다. PV5는 전장 560mm·전폭 100mm 작고 PBV 앱 마켓이 있습니다. 포터·봉고 EV보다는 전폭이 155mm 넓습니다 </a:t>
            </a:r>
            <a:r>
              <a:rPr lang="en-US" sz="1200" b="1" dirty="0">
                <a:solidFill>
                  <a:srgbClr val="D93025"/>
                </a:solidFill>
              </a:rPr>
              <a:t>[실증 필요]</a:t>
            </a:r>
            <a:endParaRPr lang="en-US" sz="1200" dirty="0"/>
          </a:p>
          <a:p>
            <a:pPr marL="0" indent="0">
              <a:spcAft>
                <a:spcPts val="300"/>
              </a:spcAft>
              <a:buNone/>
            </a:pPr>
            <a:r>
              <a:rPr lang="en-US" sz="1200" dirty="0">
                <a:solidFill>
                  <a:srgbClr val="5B6573"/>
                </a:solidFill>
              </a:rPr>
              <a:t>*PIM 제어기(차량 데이터 송수신·외부 전장 제어)는 패신저 도너모델 기준으로 공개됐고(2026.1), 카고 적용은 </a:t>
            </a:r>
            <a:r>
              <a:rPr lang="en-US" sz="1200" b="1" dirty="0">
                <a:solidFill>
                  <a:srgbClr val="D93025"/>
                </a:solidFill>
              </a:rPr>
              <a:t>[추가 확인 필요]</a:t>
            </a:r>
            <a:endParaRPr lang="en-US" sz="1200" dirty="0"/>
          </a:p>
        </p:txBody>
      </p:sp>
      <p:sp>
        <p:nvSpPr>
          <p:cNvPr id="25"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출처: 기아 PV5 카고 제원·가격표, 현대차 포터 II 일렉트릭·더 뉴 스타리아 카탈로그, 기아 봉고 III EV 제원, 현대차그룹 뉴스룸(2025.6.9, 7.23, 11.14, 2026.1.28). 기아 컨버전 포털. 목록은 부록 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#1 이동형 탐사실</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PV5는 센서 운반차가 아니라 이동형 탐사·분석·검증 플랫폼</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새벽에 같은 경로를 같은 장비로 반복 주행하고, 차 안에서 분석하고, 내려서 검증합니다.</a:t>
            </a:r>
            <a:endParaRPr lang="en-US" sz="1600" dirty="0"/>
          </a:p>
        </p:txBody>
      </p:sp>
      <p:pic>
        <p:nvPicPr>
          <p:cNvPr id="5" name="ph_pv5" descr="/Users/seohogyun/Documents/git_workspace/pv5-hose-lab/groundwatch/images/ph_pv5.jpg"/>
          <p:cNvPicPr>
            <a:picLocks noChangeAspect="1"/>
          </p:cNvPicPr>
          <p:nvPr/>
        </p:nvPicPr>
        <p:blipFill>
          <a:blip r:embed="rId3"/>
          <a:stretch>
            <a:fillRect/>
          </a:stretch>
        </p:blipFill>
        <p:spPr>
          <a:xfrm>
            <a:off x="548640" y="1508760"/>
            <a:ext cx="6903720" cy="4599432"/>
          </a:xfrm>
          <a:prstGeom prst="rect">
            <a:avLst/>
          </a:prstGeom>
        </p:spPr>
      </p:pic>
      <p:sp>
        <p:nvSpPr>
          <p:cNvPr id="6" name="leader"/>
          <p:cNvSpPr/>
          <p:nvPr/>
        </p:nvSpPr>
        <p:spPr>
          <a:xfrm flipV="1">
            <a:off x="5312207" y="1783080"/>
            <a:ext cx="265633" cy="484586"/>
          </a:xfrm>
          <a:prstGeom prst="line">
            <a:avLst/>
          </a:prstGeom>
          <a:noFill/>
          <a:ln w="19050">
            <a:solidFill>
              <a:srgbClr val="F5B400"/>
            </a:solidFill>
            <a:prstDash val="solid"/>
          </a:ln>
        </p:spPr>
        <p:txBody>
          <a:bodyPr/>
          <a:lstStyle/>
          <a:p>
            <a:endParaRPr lang="ko-KR" altLang="en-US"/>
          </a:p>
        </p:txBody>
      </p:sp>
      <p:sp>
        <p:nvSpPr>
          <p:cNvPr id="7" name="pin"/>
          <p:cNvSpPr/>
          <p:nvPr/>
        </p:nvSpPr>
        <p:spPr>
          <a:xfrm>
            <a:off x="5229911" y="2185370"/>
            <a:ext cx="164592" cy="164592"/>
          </a:xfrm>
          <a:prstGeom prst="ellipse">
            <a:avLst/>
          </a:prstGeom>
          <a:solidFill>
            <a:srgbClr val="F5B400"/>
          </a:solidFill>
          <a:ln w="19050">
            <a:solidFill>
              <a:srgbClr val="FFFFFF"/>
            </a:solidFill>
            <a:prstDash val="solid"/>
          </a:ln>
        </p:spPr>
        <p:txBody>
          <a:bodyPr/>
          <a:lstStyle/>
          <a:p>
            <a:endParaRPr lang="ko-KR" altLang="en-US"/>
          </a:p>
        </p:txBody>
      </p:sp>
      <p:sp>
        <p:nvSpPr>
          <p:cNvPr id="8" name="calloutLabel"/>
          <p:cNvSpPr txBox="1"/>
          <p:nvPr/>
        </p:nvSpPr>
        <p:spPr>
          <a:xfrm>
            <a:off x="5219700" y="1609344"/>
            <a:ext cx="2222500" cy="347472"/>
          </a:xfrm>
          <a:prstGeom prst="rect">
            <a:avLst/>
          </a:prstGeom>
          <a:solidFill>
            <a:srgbClr val="0A1628">
              <a:alpha val="92000"/>
            </a:srgbClr>
          </a:solidFill>
          <a:ln>
            <a:solidFill>
              <a:srgbClr val="0A1628"/>
            </a:solidFill>
          </a:ln>
        </p:spPr>
        <p:txBody>
          <a:bodyPr wrap="square" lIns="0" tIns="76200" rIns="76200" bIns="0" rtlCol="0" anchor="ctr"/>
          <a:lstStyle/>
          <a:p>
            <a:pPr marL="0" indent="0" algn="l">
              <a:buNone/>
            </a:pPr>
            <a:r>
              <a:rPr lang="en-US" sz="1200" b="1" dirty="0">
                <a:solidFill>
                  <a:srgbClr val="F5B400"/>
                </a:solidFill>
              </a:rPr>
              <a:t>1  </a:t>
            </a:r>
            <a:r>
              <a:rPr lang="en-US" sz="1200" b="1" dirty="0">
                <a:solidFill>
                  <a:srgbClr val="FFFFFF"/>
                </a:solidFill>
              </a:rPr>
              <a:t>루프: RTK, 카메라</a:t>
            </a:r>
            <a:endParaRPr lang="en-US" sz="1200" dirty="0"/>
          </a:p>
        </p:txBody>
      </p:sp>
      <p:sp>
        <p:nvSpPr>
          <p:cNvPr id="9" name="leader"/>
          <p:cNvSpPr/>
          <p:nvPr/>
        </p:nvSpPr>
        <p:spPr>
          <a:xfrm flipH="1" flipV="1">
            <a:off x="2697480" y="1828800"/>
            <a:ext cx="336499" cy="1059790"/>
          </a:xfrm>
          <a:prstGeom prst="line">
            <a:avLst/>
          </a:prstGeom>
          <a:noFill/>
          <a:ln w="19050">
            <a:solidFill>
              <a:srgbClr val="F5B400"/>
            </a:solidFill>
            <a:prstDash val="solid"/>
          </a:ln>
        </p:spPr>
        <p:txBody>
          <a:bodyPr/>
          <a:lstStyle/>
          <a:p>
            <a:endParaRPr lang="ko-KR" altLang="en-US"/>
          </a:p>
        </p:txBody>
      </p:sp>
      <p:sp>
        <p:nvSpPr>
          <p:cNvPr id="10" name="pin"/>
          <p:cNvSpPr/>
          <p:nvPr/>
        </p:nvSpPr>
        <p:spPr>
          <a:xfrm>
            <a:off x="2951683" y="2806294"/>
            <a:ext cx="164592" cy="164592"/>
          </a:xfrm>
          <a:prstGeom prst="ellipse">
            <a:avLst/>
          </a:prstGeom>
          <a:solidFill>
            <a:srgbClr val="F5B400"/>
          </a:solidFill>
          <a:ln w="19050">
            <a:solidFill>
              <a:srgbClr val="FFFFFF"/>
            </a:solidFill>
            <a:prstDash val="solid"/>
          </a:ln>
        </p:spPr>
        <p:txBody>
          <a:bodyPr/>
          <a:lstStyle/>
          <a:p>
            <a:endParaRPr lang="ko-KR" altLang="en-US"/>
          </a:p>
        </p:txBody>
      </p:sp>
      <p:sp>
        <p:nvSpPr>
          <p:cNvPr id="11" name="calloutLabel"/>
          <p:cNvSpPr txBox="1"/>
          <p:nvPr/>
        </p:nvSpPr>
        <p:spPr>
          <a:xfrm>
            <a:off x="822960" y="165506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marL="0" indent="0" algn="l">
              <a:buNone/>
            </a:pPr>
            <a:r>
              <a:rPr lang="en-US" sz="1200" b="1" dirty="0">
                <a:solidFill>
                  <a:srgbClr val="F5B400"/>
                </a:solidFill>
              </a:rPr>
              <a:t>2  </a:t>
            </a:r>
            <a:r>
              <a:rPr lang="en-US" sz="1200" b="1" dirty="0">
                <a:solidFill>
                  <a:srgbClr val="FFFFFF"/>
                </a:solidFill>
              </a:rPr>
              <a:t>운전석: 12.9인치 IVI</a:t>
            </a:r>
            <a:endParaRPr lang="en-US" sz="1200" dirty="0"/>
          </a:p>
        </p:txBody>
      </p:sp>
      <p:sp>
        <p:nvSpPr>
          <p:cNvPr id="12" name="leader"/>
          <p:cNvSpPr/>
          <p:nvPr/>
        </p:nvSpPr>
        <p:spPr>
          <a:xfrm flipH="1" flipV="1">
            <a:off x="5577840" y="3017520"/>
            <a:ext cx="493776" cy="239024"/>
          </a:xfrm>
          <a:prstGeom prst="line">
            <a:avLst/>
          </a:prstGeom>
          <a:noFill/>
          <a:ln w="19050">
            <a:solidFill>
              <a:srgbClr val="F5B400"/>
            </a:solidFill>
            <a:prstDash val="solid"/>
          </a:ln>
        </p:spPr>
        <p:txBody>
          <a:bodyPr/>
          <a:lstStyle/>
          <a:p>
            <a:endParaRPr lang="ko-KR" altLang="en-US"/>
          </a:p>
        </p:txBody>
      </p:sp>
      <p:sp>
        <p:nvSpPr>
          <p:cNvPr id="13" name="pin"/>
          <p:cNvSpPr/>
          <p:nvPr/>
        </p:nvSpPr>
        <p:spPr>
          <a:xfrm>
            <a:off x="5989320" y="3174248"/>
            <a:ext cx="164592" cy="164592"/>
          </a:xfrm>
          <a:prstGeom prst="ellipse">
            <a:avLst/>
          </a:prstGeom>
          <a:solidFill>
            <a:srgbClr val="F5B400"/>
          </a:solidFill>
          <a:ln w="19050">
            <a:solidFill>
              <a:srgbClr val="FFFFFF"/>
            </a:solidFill>
            <a:prstDash val="solid"/>
          </a:ln>
        </p:spPr>
        <p:txBody>
          <a:bodyPr/>
          <a:lstStyle/>
          <a:p>
            <a:endParaRPr lang="ko-KR" altLang="en-US"/>
          </a:p>
        </p:txBody>
      </p:sp>
      <p:sp>
        <p:nvSpPr>
          <p:cNvPr id="14" name="calloutLabel"/>
          <p:cNvSpPr txBox="1"/>
          <p:nvPr/>
        </p:nvSpPr>
        <p:spPr>
          <a:xfrm>
            <a:off x="3340100" y="2843784"/>
            <a:ext cx="2222500" cy="347472"/>
          </a:xfrm>
          <a:prstGeom prst="rect">
            <a:avLst/>
          </a:prstGeom>
          <a:solidFill>
            <a:srgbClr val="0A1628">
              <a:alpha val="92000"/>
            </a:srgbClr>
          </a:solidFill>
          <a:ln>
            <a:solidFill>
              <a:srgbClr val="0A1628"/>
            </a:solidFill>
          </a:ln>
        </p:spPr>
        <p:txBody>
          <a:bodyPr wrap="square" lIns="0" tIns="76200" rIns="76200" bIns="0" rtlCol="0" anchor="ctr"/>
          <a:lstStyle/>
          <a:p>
            <a:pPr marL="0" indent="0" algn="l">
              <a:buNone/>
            </a:pPr>
            <a:r>
              <a:rPr lang="en-US" sz="1200" b="1" dirty="0">
                <a:solidFill>
                  <a:srgbClr val="F5B400"/>
                </a:solidFill>
              </a:rPr>
              <a:t>3  </a:t>
            </a:r>
            <a:r>
              <a:rPr lang="en-US" sz="1200" b="1" dirty="0">
                <a:solidFill>
                  <a:srgbClr val="FFFFFF"/>
                </a:solidFill>
              </a:rPr>
              <a:t>화물실: 엣지·수동 GPR</a:t>
            </a:r>
            <a:endParaRPr lang="en-US" sz="1200" dirty="0"/>
          </a:p>
        </p:txBody>
      </p:sp>
      <p:sp>
        <p:nvSpPr>
          <p:cNvPr id="15" name="leader"/>
          <p:cNvSpPr/>
          <p:nvPr/>
        </p:nvSpPr>
        <p:spPr>
          <a:xfrm flipH="1" flipV="1">
            <a:off x="5577840" y="4297680"/>
            <a:ext cx="1460297" cy="246705"/>
          </a:xfrm>
          <a:prstGeom prst="line">
            <a:avLst/>
          </a:prstGeom>
          <a:noFill/>
          <a:ln w="19050">
            <a:solidFill>
              <a:srgbClr val="F5B400"/>
            </a:solidFill>
            <a:prstDash val="solid"/>
          </a:ln>
        </p:spPr>
        <p:txBody>
          <a:bodyPr/>
          <a:lstStyle/>
          <a:p>
            <a:endParaRPr lang="ko-KR" altLang="en-US"/>
          </a:p>
        </p:txBody>
      </p:sp>
      <p:sp>
        <p:nvSpPr>
          <p:cNvPr id="16" name="pin"/>
          <p:cNvSpPr/>
          <p:nvPr/>
        </p:nvSpPr>
        <p:spPr>
          <a:xfrm>
            <a:off x="6955841" y="4462089"/>
            <a:ext cx="164592" cy="164592"/>
          </a:xfrm>
          <a:prstGeom prst="ellipse">
            <a:avLst/>
          </a:prstGeom>
          <a:solidFill>
            <a:srgbClr val="F5B400"/>
          </a:solidFill>
          <a:ln w="19050">
            <a:solidFill>
              <a:srgbClr val="FFFFFF"/>
            </a:solidFill>
            <a:prstDash val="solid"/>
          </a:ln>
        </p:spPr>
        <p:txBody>
          <a:bodyPr/>
          <a:lstStyle/>
          <a:p>
            <a:endParaRPr lang="ko-KR" altLang="en-US"/>
          </a:p>
        </p:txBody>
      </p:sp>
      <p:sp>
        <p:nvSpPr>
          <p:cNvPr id="17" name="calloutLabel"/>
          <p:cNvSpPr txBox="1"/>
          <p:nvPr/>
        </p:nvSpPr>
        <p:spPr>
          <a:xfrm>
            <a:off x="3703320" y="412394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marL="0" indent="0" algn="l">
              <a:buNone/>
            </a:pPr>
            <a:r>
              <a:rPr lang="en-US" sz="1200" b="1" dirty="0">
                <a:solidFill>
                  <a:srgbClr val="F5B400"/>
                </a:solidFill>
              </a:rPr>
              <a:t>4  </a:t>
            </a:r>
            <a:r>
              <a:rPr lang="en-US" sz="1200" b="1" dirty="0">
                <a:solidFill>
                  <a:srgbClr val="FFFFFF"/>
                </a:solidFill>
              </a:rPr>
              <a:t>후방 하부: 다채널 GPR</a:t>
            </a:r>
            <a:endParaRPr lang="en-US" sz="1200" dirty="0"/>
          </a:p>
        </p:txBody>
      </p:sp>
      <p:sp>
        <p:nvSpPr>
          <p:cNvPr id="18" name="leader"/>
          <p:cNvSpPr/>
          <p:nvPr/>
        </p:nvSpPr>
        <p:spPr>
          <a:xfrm>
            <a:off x="2412644" y="4360408"/>
            <a:ext cx="56236" cy="760232"/>
          </a:xfrm>
          <a:prstGeom prst="line">
            <a:avLst/>
          </a:prstGeom>
          <a:noFill/>
          <a:ln w="19050">
            <a:solidFill>
              <a:srgbClr val="F5B400"/>
            </a:solidFill>
            <a:prstDash val="solid"/>
          </a:ln>
        </p:spPr>
        <p:txBody>
          <a:bodyPr/>
          <a:lstStyle/>
          <a:p>
            <a:endParaRPr lang="ko-KR" altLang="en-US"/>
          </a:p>
        </p:txBody>
      </p:sp>
      <p:sp>
        <p:nvSpPr>
          <p:cNvPr id="19" name="pin"/>
          <p:cNvSpPr/>
          <p:nvPr/>
        </p:nvSpPr>
        <p:spPr>
          <a:xfrm>
            <a:off x="2330348" y="4278112"/>
            <a:ext cx="164592" cy="164592"/>
          </a:xfrm>
          <a:prstGeom prst="ellipse">
            <a:avLst/>
          </a:prstGeom>
          <a:solidFill>
            <a:srgbClr val="F5B400"/>
          </a:solidFill>
          <a:ln w="19050">
            <a:solidFill>
              <a:srgbClr val="FFFFFF"/>
            </a:solidFill>
            <a:prstDash val="solid"/>
          </a:ln>
        </p:spPr>
        <p:txBody>
          <a:bodyPr/>
          <a:lstStyle/>
          <a:p>
            <a:endParaRPr lang="ko-KR" altLang="en-US"/>
          </a:p>
        </p:txBody>
      </p:sp>
      <p:sp>
        <p:nvSpPr>
          <p:cNvPr id="20" name="calloutLabel"/>
          <p:cNvSpPr txBox="1"/>
          <p:nvPr/>
        </p:nvSpPr>
        <p:spPr>
          <a:xfrm>
            <a:off x="2468880" y="4946904"/>
            <a:ext cx="1874520" cy="347472"/>
          </a:xfrm>
          <a:prstGeom prst="rect">
            <a:avLst/>
          </a:prstGeom>
          <a:solidFill>
            <a:srgbClr val="0A1628">
              <a:alpha val="92000"/>
            </a:srgbClr>
          </a:solidFill>
          <a:ln>
            <a:solidFill>
              <a:srgbClr val="0A1628"/>
            </a:solidFill>
          </a:ln>
        </p:spPr>
        <p:txBody>
          <a:bodyPr wrap="square" lIns="0" tIns="76200" rIns="76200" bIns="0" rtlCol="0" anchor="ctr"/>
          <a:lstStyle/>
          <a:p>
            <a:pPr marL="0" indent="0" algn="l">
              <a:buNone/>
            </a:pPr>
            <a:r>
              <a:rPr lang="en-US" sz="1200" b="1" dirty="0">
                <a:solidFill>
                  <a:srgbClr val="F5B400"/>
                </a:solidFill>
              </a:rPr>
              <a:t>5  </a:t>
            </a:r>
            <a:r>
              <a:rPr lang="en-US" sz="1200" b="1" dirty="0">
                <a:solidFill>
                  <a:srgbClr val="FFFFFF"/>
                </a:solidFill>
              </a:rPr>
              <a:t>전방: 카메라, 거리 센서</a:t>
            </a:r>
            <a:endParaRPr lang="en-US" sz="1200" dirty="0"/>
          </a:p>
        </p:txBody>
      </p:sp>
      <p:sp>
        <p:nvSpPr>
          <p:cNvPr id="21" name="dot"/>
          <p:cNvSpPr/>
          <p:nvPr/>
        </p:nvSpPr>
        <p:spPr>
          <a:xfrm>
            <a:off x="7726680" y="1591056"/>
            <a:ext cx="137160" cy="137160"/>
          </a:xfrm>
          <a:prstGeom prst="ellipse">
            <a:avLst/>
          </a:prstGeom>
          <a:solidFill>
            <a:srgbClr val="101828"/>
          </a:solidFill>
          <a:ln w="12700">
            <a:solidFill>
              <a:srgbClr val="101828"/>
            </a:solidFill>
            <a:prstDash val="solid"/>
          </a:ln>
        </p:spPr>
        <p:txBody>
          <a:bodyPr/>
          <a:lstStyle/>
          <a:p>
            <a:endParaRPr lang="ko-KR" altLang="en-US"/>
          </a:p>
        </p:txBody>
      </p:sp>
      <p:sp>
        <p:nvSpPr>
          <p:cNvPr id="22" name="Text 19"/>
          <p:cNvSpPr txBox="1"/>
          <p:nvPr/>
        </p:nvSpPr>
        <p:spPr>
          <a:xfrm>
            <a:off x="7973568" y="1508760"/>
            <a:ext cx="3657600" cy="292608"/>
          </a:xfrm>
          <a:prstGeom prst="rect">
            <a:avLst/>
          </a:prstGeom>
          <a:noFill/>
          <a:ln/>
        </p:spPr>
        <p:txBody>
          <a:bodyPr wrap="square" lIns="0" tIns="0" rIns="0" bIns="0" rtlCol="0" anchor="ctr"/>
          <a:lstStyle/>
          <a:p>
            <a:pPr marL="0" indent="0">
              <a:buNone/>
            </a:pPr>
            <a:r>
              <a:rPr lang="en-US" sz="1400" b="1" dirty="0">
                <a:solidFill>
                  <a:srgbClr val="101828"/>
                </a:solidFill>
              </a:rPr>
              <a:t>외부</a:t>
            </a:r>
            <a:endParaRPr lang="en-US" sz="1400" dirty="0"/>
          </a:p>
        </p:txBody>
      </p:sp>
      <p:sp>
        <p:nvSpPr>
          <p:cNvPr id="23" name="Text 20"/>
          <p:cNvSpPr txBox="1"/>
          <p:nvPr/>
        </p:nvSpPr>
        <p:spPr>
          <a:xfrm>
            <a:off x="7973568" y="1783080"/>
            <a:ext cx="3657600" cy="457200"/>
          </a:xfrm>
          <a:prstGeom prst="rect">
            <a:avLst/>
          </a:prstGeom>
          <a:noFill/>
          <a:ln/>
        </p:spPr>
        <p:txBody>
          <a:bodyPr wrap="square" lIns="0" tIns="0" rIns="0" bIns="0" rtlCol="0" anchor="t"/>
          <a:lstStyle/>
          <a:p>
            <a:pPr marL="0" indent="0">
              <a:buNone/>
            </a:pPr>
            <a:r>
              <a:rPr lang="en-US" sz="1100" dirty="0">
                <a:solidFill>
                  <a:srgbClr val="5B6573"/>
                </a:solidFill>
              </a:rPr>
              <a:t>후방 하부 다채널 GPR, 전방·좌우·후방 카메라, RTK-GNSS, IMU, 휠 인코더, 거리 센서, 노면 조명, 작업 표지</a:t>
            </a:r>
            <a:endParaRPr lang="en-US" sz="1100" dirty="0"/>
          </a:p>
        </p:txBody>
      </p:sp>
      <p:sp>
        <p:nvSpPr>
          <p:cNvPr id="24" name="dot"/>
          <p:cNvSpPr/>
          <p:nvPr/>
        </p:nvSpPr>
        <p:spPr>
          <a:xfrm>
            <a:off x="7726680" y="2322576"/>
            <a:ext cx="137160" cy="137160"/>
          </a:xfrm>
          <a:prstGeom prst="ellipse">
            <a:avLst/>
          </a:prstGeom>
          <a:solidFill>
            <a:srgbClr val="1C64B5"/>
          </a:solidFill>
          <a:ln w="12700">
            <a:solidFill>
              <a:srgbClr val="1C64B5"/>
            </a:solidFill>
            <a:prstDash val="solid"/>
          </a:ln>
        </p:spPr>
        <p:txBody>
          <a:bodyPr/>
          <a:lstStyle/>
          <a:p>
            <a:endParaRPr lang="ko-KR" altLang="en-US"/>
          </a:p>
        </p:txBody>
      </p:sp>
      <p:sp>
        <p:nvSpPr>
          <p:cNvPr id="25" name="Text 22"/>
          <p:cNvSpPr txBox="1"/>
          <p:nvPr/>
        </p:nvSpPr>
        <p:spPr>
          <a:xfrm>
            <a:off x="7973568" y="2240280"/>
            <a:ext cx="3657600" cy="292608"/>
          </a:xfrm>
          <a:prstGeom prst="rect">
            <a:avLst/>
          </a:prstGeom>
          <a:noFill/>
          <a:ln/>
        </p:spPr>
        <p:txBody>
          <a:bodyPr wrap="square" lIns="0" tIns="0" rIns="0" bIns="0" rtlCol="0" anchor="ctr"/>
          <a:lstStyle/>
          <a:p>
            <a:pPr marL="0" indent="0">
              <a:buNone/>
            </a:pPr>
            <a:r>
              <a:rPr lang="en-US" sz="1400" b="1" dirty="0">
                <a:solidFill>
                  <a:srgbClr val="101828"/>
                </a:solidFill>
              </a:rPr>
              <a:t>화물실 전방</a:t>
            </a:r>
            <a:endParaRPr lang="en-US" sz="1400" dirty="0"/>
          </a:p>
        </p:txBody>
      </p:sp>
      <p:sp>
        <p:nvSpPr>
          <p:cNvPr id="26" name="Text 23"/>
          <p:cNvSpPr txBox="1"/>
          <p:nvPr/>
        </p:nvSpPr>
        <p:spPr>
          <a:xfrm>
            <a:off x="7973568" y="2514600"/>
            <a:ext cx="3657600" cy="457200"/>
          </a:xfrm>
          <a:prstGeom prst="rect">
            <a:avLst/>
          </a:prstGeom>
          <a:noFill/>
          <a:ln/>
        </p:spPr>
        <p:txBody>
          <a:bodyPr wrap="square" lIns="0" tIns="0" rIns="0" bIns="0" rtlCol="0" anchor="t"/>
          <a:lstStyle/>
          <a:p>
            <a:pPr marL="0" indent="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27" name="dot"/>
          <p:cNvSpPr/>
          <p:nvPr/>
        </p:nvSpPr>
        <p:spPr>
          <a:xfrm>
            <a:off x="7726680" y="3054096"/>
            <a:ext cx="137160" cy="137160"/>
          </a:xfrm>
          <a:prstGeom prst="ellipse">
            <a:avLst/>
          </a:prstGeom>
          <a:solidFill>
            <a:srgbClr val="0B1F3A"/>
          </a:solidFill>
          <a:ln w="12700">
            <a:solidFill>
              <a:srgbClr val="0B1F3A"/>
            </a:solidFill>
            <a:prstDash val="solid"/>
          </a:ln>
        </p:spPr>
        <p:txBody>
          <a:bodyPr/>
          <a:lstStyle/>
          <a:p>
            <a:endParaRPr lang="ko-KR" altLang="en-US"/>
          </a:p>
        </p:txBody>
      </p:sp>
      <p:sp>
        <p:nvSpPr>
          <p:cNvPr id="28" name="Text 25"/>
          <p:cNvSpPr txBox="1"/>
          <p:nvPr/>
        </p:nvSpPr>
        <p:spPr>
          <a:xfrm>
            <a:off x="7973568" y="2971800"/>
            <a:ext cx="3657600" cy="292608"/>
          </a:xfrm>
          <a:prstGeom prst="rect">
            <a:avLst/>
          </a:prstGeom>
          <a:noFill/>
          <a:ln/>
        </p:spPr>
        <p:txBody>
          <a:bodyPr wrap="square" lIns="0" tIns="0" rIns="0" bIns="0" rtlCol="0" anchor="ctr"/>
          <a:lstStyle/>
          <a:p>
            <a:pPr marL="0" indent="0">
              <a:buNone/>
            </a:pPr>
            <a:r>
              <a:rPr lang="en-US" sz="1400" b="1" dirty="0">
                <a:solidFill>
                  <a:srgbClr val="101828"/>
                </a:solidFill>
              </a:rPr>
              <a:t>화물실 측면</a:t>
            </a:r>
            <a:endParaRPr lang="en-US" sz="1400" dirty="0"/>
          </a:p>
        </p:txBody>
      </p:sp>
      <p:sp>
        <p:nvSpPr>
          <p:cNvPr id="29" name="Text 26"/>
          <p:cNvSpPr txBox="1"/>
          <p:nvPr/>
        </p:nvSpPr>
        <p:spPr>
          <a:xfrm>
            <a:off x="7973568" y="3246120"/>
            <a:ext cx="3657600" cy="457200"/>
          </a:xfrm>
          <a:prstGeom prst="rect">
            <a:avLst/>
          </a:prstGeom>
          <a:noFill/>
          <a:ln/>
        </p:spPr>
        <p:txBody>
          <a:bodyPr wrap="square" lIns="0" tIns="0" rIns="0" bIns="0" rtlCol="0" anchor="t"/>
          <a:lstStyle/>
          <a:p>
            <a:pPr marL="0" indent="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0" name="dot"/>
          <p:cNvSpPr/>
          <p:nvPr/>
        </p:nvSpPr>
        <p:spPr>
          <a:xfrm>
            <a:off x="7726680" y="3785616"/>
            <a:ext cx="137160" cy="137160"/>
          </a:xfrm>
          <a:prstGeom prst="ellipse">
            <a:avLst/>
          </a:prstGeom>
          <a:solidFill>
            <a:srgbClr val="B4232A"/>
          </a:solidFill>
          <a:ln w="12700">
            <a:solidFill>
              <a:srgbClr val="B4232A"/>
            </a:solidFill>
            <a:prstDash val="solid"/>
          </a:ln>
        </p:spPr>
        <p:txBody>
          <a:bodyPr/>
          <a:lstStyle/>
          <a:p>
            <a:endParaRPr lang="ko-KR" altLang="en-US"/>
          </a:p>
        </p:txBody>
      </p:sp>
      <p:sp>
        <p:nvSpPr>
          <p:cNvPr id="31" name="Text 28"/>
          <p:cNvSpPr txBox="1"/>
          <p:nvPr/>
        </p:nvSpPr>
        <p:spPr>
          <a:xfrm>
            <a:off x="7973568" y="3703320"/>
            <a:ext cx="3657600" cy="292608"/>
          </a:xfrm>
          <a:prstGeom prst="rect">
            <a:avLst/>
          </a:prstGeom>
          <a:noFill/>
          <a:ln/>
        </p:spPr>
        <p:txBody>
          <a:bodyPr wrap="square" lIns="0" tIns="0" rIns="0" bIns="0" rtlCol="0" anchor="ctr"/>
          <a:lstStyle/>
          <a:p>
            <a:pPr marL="0" indent="0">
              <a:buNone/>
            </a:pPr>
            <a:r>
              <a:rPr lang="en-US" sz="1400" b="1" dirty="0">
                <a:solidFill>
                  <a:srgbClr val="101828"/>
                </a:solidFill>
              </a:rPr>
              <a:t>화물실 후방</a:t>
            </a:r>
            <a:endParaRPr lang="en-US" sz="1400" dirty="0"/>
          </a:p>
        </p:txBody>
      </p:sp>
      <p:sp>
        <p:nvSpPr>
          <p:cNvPr id="32" name="Text 29"/>
          <p:cNvSpPr txBox="1"/>
          <p:nvPr/>
        </p:nvSpPr>
        <p:spPr>
          <a:xfrm>
            <a:off x="7973568" y="3977640"/>
            <a:ext cx="3657600" cy="457200"/>
          </a:xfrm>
          <a:prstGeom prst="rect">
            <a:avLst/>
          </a:prstGeom>
          <a:noFill/>
          <a:ln/>
        </p:spPr>
        <p:txBody>
          <a:bodyPr wrap="square" lIns="0" tIns="0" rIns="0" bIns="0" rtlCol="0" anchor="t"/>
          <a:lstStyle/>
          <a:p>
            <a:pPr marL="0" indent="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3" name="rule"/>
          <p:cNvSpPr/>
          <p:nvPr/>
        </p:nvSpPr>
        <p:spPr>
          <a:xfrm>
            <a:off x="7726680" y="4526280"/>
            <a:ext cx="3913632" cy="0"/>
          </a:xfrm>
          <a:prstGeom prst="line">
            <a:avLst/>
          </a:prstGeom>
          <a:noFill/>
          <a:ln w="12700">
            <a:solidFill>
              <a:srgbClr val="DCE1E8"/>
            </a:solidFill>
            <a:prstDash val="solid"/>
          </a:ln>
        </p:spPr>
        <p:txBody>
          <a:bodyPr/>
          <a:lstStyle/>
          <a:p>
            <a:endParaRPr lang="ko-KR" altLang="en-US"/>
          </a:p>
        </p:txBody>
      </p:sp>
      <p:sp>
        <p:nvSpPr>
          <p:cNvPr id="34" name="Text 31"/>
          <p:cNvSpPr txBox="1"/>
          <p:nvPr/>
        </p:nvSpPr>
        <p:spPr>
          <a:xfrm>
            <a:off x="7726680" y="4590288"/>
            <a:ext cx="2148840" cy="347472"/>
          </a:xfrm>
          <a:prstGeom prst="rect">
            <a:avLst/>
          </a:prstGeom>
          <a:noFill/>
          <a:ln/>
        </p:spPr>
        <p:txBody>
          <a:bodyPr wrap="square" lIns="0" tIns="0" rIns="0" bIns="0" rtlCol="0" anchor="ctr"/>
          <a:lstStyle/>
          <a:p>
            <a:pPr marL="0" indent="0">
              <a:buNone/>
            </a:pPr>
            <a:r>
              <a:rPr lang="en-US" sz="1400" b="1" dirty="0">
                <a:solidFill>
                  <a:srgbClr val="0B1F3A"/>
                </a:solidFill>
              </a:rPr>
              <a:t>2,255×1,565×1,520mm</a:t>
            </a:r>
            <a:endParaRPr lang="en-US" sz="1400" dirty="0"/>
          </a:p>
        </p:txBody>
      </p:sp>
      <p:sp>
        <p:nvSpPr>
          <p:cNvPr id="35" name="Text 32"/>
          <p:cNvSpPr txBox="1"/>
          <p:nvPr/>
        </p:nvSpPr>
        <p:spPr>
          <a:xfrm>
            <a:off x="9875520" y="4590288"/>
            <a:ext cx="1764792" cy="347472"/>
          </a:xfrm>
          <a:prstGeom prst="rect">
            <a:avLst/>
          </a:prstGeom>
          <a:noFill/>
          <a:ln/>
        </p:spPr>
        <p:txBody>
          <a:bodyPr wrap="square" lIns="0" tIns="0" rIns="0" bIns="0" rtlCol="0" anchor="ctr"/>
          <a:lstStyle/>
          <a:p>
            <a:pPr marL="0" indent="0">
              <a:buNone/>
            </a:pPr>
            <a:r>
              <a:rPr lang="en-US" sz="1100" dirty="0">
                <a:solidFill>
                  <a:srgbClr val="5B6573"/>
                </a:solidFill>
              </a:rPr>
              <a:t>카고룸 길이, 폭, 높이(4,420L)</a:t>
            </a:r>
            <a:endParaRPr lang="en-US" sz="1100" dirty="0"/>
          </a:p>
        </p:txBody>
      </p:sp>
      <p:sp>
        <p:nvSpPr>
          <p:cNvPr id="36" name="Text 33"/>
          <p:cNvSpPr txBox="1"/>
          <p:nvPr/>
        </p:nvSpPr>
        <p:spPr>
          <a:xfrm>
            <a:off x="7726680" y="4956048"/>
            <a:ext cx="2148840" cy="347472"/>
          </a:xfrm>
          <a:prstGeom prst="rect">
            <a:avLst/>
          </a:prstGeom>
          <a:noFill/>
          <a:ln/>
        </p:spPr>
        <p:txBody>
          <a:bodyPr wrap="square" lIns="0" tIns="0" rIns="0" bIns="0" rtlCol="0" anchor="ctr"/>
          <a:lstStyle/>
          <a:p>
            <a:pPr marL="0" indent="0">
              <a:buNone/>
            </a:pPr>
            <a:r>
              <a:rPr lang="en-US" sz="1600" b="1" dirty="0">
                <a:solidFill>
                  <a:srgbClr val="0B1F3A"/>
                </a:solidFill>
              </a:rPr>
              <a:t>419mm</a:t>
            </a:r>
            <a:endParaRPr lang="en-US" sz="1600" dirty="0"/>
          </a:p>
        </p:txBody>
      </p:sp>
      <p:sp>
        <p:nvSpPr>
          <p:cNvPr id="37" name="Text 34"/>
          <p:cNvSpPr txBox="1"/>
          <p:nvPr/>
        </p:nvSpPr>
        <p:spPr>
          <a:xfrm>
            <a:off x="9875520" y="4956048"/>
            <a:ext cx="1764792" cy="347472"/>
          </a:xfrm>
          <a:prstGeom prst="rect">
            <a:avLst/>
          </a:prstGeom>
          <a:noFill/>
          <a:ln/>
        </p:spPr>
        <p:txBody>
          <a:bodyPr wrap="square" lIns="0" tIns="0" rIns="0" bIns="0" rtlCol="0" anchor="ctr"/>
          <a:lstStyle/>
          <a:p>
            <a:pPr marL="0" indent="0">
              <a:buNone/>
            </a:pPr>
            <a:r>
              <a:rPr lang="en-US" sz="1100" dirty="0">
                <a:solidFill>
                  <a:srgbClr val="5B6573"/>
                </a:solidFill>
              </a:rPr>
              <a:t>적재고, 장비 상하차</a:t>
            </a:r>
            <a:endParaRPr lang="en-US" sz="1100" dirty="0"/>
          </a:p>
        </p:txBody>
      </p:sp>
      <p:sp>
        <p:nvSpPr>
          <p:cNvPr id="38" name="Text 35"/>
          <p:cNvSpPr txBox="1"/>
          <p:nvPr/>
        </p:nvSpPr>
        <p:spPr>
          <a:xfrm>
            <a:off x="7726680" y="5321808"/>
            <a:ext cx="2148840" cy="347472"/>
          </a:xfrm>
          <a:prstGeom prst="rect">
            <a:avLst/>
          </a:prstGeom>
          <a:noFill/>
          <a:ln/>
        </p:spPr>
        <p:txBody>
          <a:bodyPr wrap="square" lIns="0" tIns="0" rIns="0" bIns="0" rtlCol="0" anchor="ctr"/>
          <a:lstStyle/>
          <a:p>
            <a:pPr marL="0" indent="0">
              <a:buNone/>
            </a:pPr>
            <a:r>
              <a:rPr lang="en-US" sz="1600" b="1" dirty="0">
                <a:solidFill>
                  <a:srgbClr val="0B1F3A"/>
                </a:solidFill>
              </a:rPr>
              <a:t>최대 3.6kW</a:t>
            </a:r>
            <a:endParaRPr lang="en-US" sz="1600" dirty="0"/>
          </a:p>
        </p:txBody>
      </p:sp>
      <p:sp>
        <p:nvSpPr>
          <p:cNvPr id="39" name="Text 36"/>
          <p:cNvSpPr txBox="1"/>
          <p:nvPr/>
        </p:nvSpPr>
        <p:spPr>
          <a:xfrm>
            <a:off x="9875520" y="5321808"/>
            <a:ext cx="1764792" cy="347472"/>
          </a:xfrm>
          <a:prstGeom prst="rect">
            <a:avLst/>
          </a:prstGeom>
          <a:noFill/>
          <a:ln/>
        </p:spPr>
        <p:txBody>
          <a:bodyPr wrap="square" lIns="0" tIns="0" rIns="0" bIns="0" rtlCol="0" anchor="ctr"/>
          <a:lstStyle/>
          <a:p>
            <a:pPr marL="0" indent="0">
              <a:buNone/>
            </a:pPr>
            <a:r>
              <a:rPr lang="en-US" sz="1100" dirty="0">
                <a:solidFill>
                  <a:srgbClr val="5B6573"/>
                </a:solidFill>
              </a:rPr>
              <a:t>실내·실외 V2L(선택)</a:t>
            </a:r>
            <a:endParaRPr lang="en-US" sz="1100" dirty="0"/>
          </a:p>
        </p:txBody>
      </p:sp>
      <p:sp>
        <p:nvSpPr>
          <p:cNvPr id="40" name="Text 37"/>
          <p:cNvSpPr txBox="1"/>
          <p:nvPr/>
        </p:nvSpPr>
        <p:spPr>
          <a:xfrm>
            <a:off x="7726680" y="5715000"/>
            <a:ext cx="3913632" cy="660400"/>
          </a:xfrm>
          <a:prstGeom prst="rect">
            <a:avLst/>
          </a:prstGeom>
          <a:noFill/>
          <a:ln/>
        </p:spPr>
        <p:txBody>
          <a:bodyPr wrap="square" lIns="0" tIns="0" rIns="0" bIns="0" rtlCol="0" anchor="t"/>
          <a:lstStyle/>
          <a:p>
            <a:pPr marL="0" indent="0">
              <a:buNone/>
            </a:pPr>
            <a:r>
              <a:rPr lang="en-US" sz="1100" b="1" dirty="0">
                <a:solidFill>
                  <a:srgbClr val="D93025"/>
                </a:solidFill>
              </a:rPr>
              <a:t>[실증 필요] </a:t>
            </a:r>
            <a:r>
              <a:rPr lang="en-US" sz="1100" dirty="0">
                <a:solidFill>
                  <a:srgbClr val="101828"/>
                </a:solidFill>
              </a:rPr>
              <a:t>애프터마켓 장비를 달면 적재중량, 차량총중량, 전후축 하중, 전자파 간섭, 구조변경 승인을 검토해야 합니다. 태블릿은 핵심 장비에서 뺍니다.</a:t>
            </a:r>
            <a:endParaRPr lang="en-US" sz="1100" dirty="0"/>
          </a:p>
        </p:txBody>
      </p:sp>
      <p:sp>
        <p:nvSpPr>
          <p:cNvPr id="41"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출처: 기아 PV5 카고 롱 제원·특징·가격표(kia.com), 현대차그룹 「PV5의 모든 것」(V2L 최대 3.6kW). 장비 구성은 제안안입니다. 사진: Alexander Migl, CC BY-SA 4.0</a:t>
            </a:r>
            <a:endParaRPr lang="en-US" sz="1000" dirty="0"/>
          </a:p>
        </p:txBody>
      </p:sp>
      <p:sp>
        <p:nvSpPr>
          <p:cNvPr id="42"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#2 4D 변화지도</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실제로 달린 도로만, 위치·깊이·시간으로 기록합니다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PV5가 실제로 측정한 도로만 X·Y 위치, Z 깊이, T 시간으로 쌓고, 측정하지 않은 구간은 비워 둡니다.</a:t>
            </a:r>
            <a:endParaRPr lang="en-US" sz="1600" dirty="0"/>
          </a:p>
        </p:txBody>
      </p:sp>
      <p:pic>
        <p:nvPicPr>
          <p:cNvPr id="5" name="map4d" descr="/Users/seohogyun/Documents/git_workspace/pv5-hose-lab/groundwatch/images/map4d.png"/>
          <p:cNvPicPr>
            <a:picLocks noChangeAspect="1"/>
          </p:cNvPicPr>
          <p:nvPr/>
        </p:nvPicPr>
        <p:blipFill>
          <a:blip r:embed="rId3"/>
          <a:stretch>
            <a:fillRect/>
          </a:stretch>
        </p:blipFill>
        <p:spPr>
          <a:xfrm>
            <a:off x="548640" y="1555556"/>
            <a:ext cx="7543800" cy="3993776"/>
          </a:xfrm>
          <a:prstGeom prst="rect">
            <a:avLst/>
          </a:prstGeom>
        </p:spPr>
      </p:pic>
      <p:sp>
        <p:nvSpPr>
          <p:cNvPr id="6" name="Text 3"/>
          <p:cNvSpPr txBox="1"/>
          <p:nvPr/>
        </p:nvSpPr>
        <p:spPr>
          <a:xfrm>
            <a:off x="8366760" y="1554480"/>
            <a:ext cx="3273552" cy="347472"/>
          </a:xfrm>
          <a:prstGeom prst="rect">
            <a:avLst/>
          </a:prstGeom>
          <a:noFill/>
          <a:ln/>
        </p:spPr>
        <p:txBody>
          <a:bodyPr wrap="square" lIns="0" tIns="0" rIns="0" bIns="0" rtlCol="0" anchor="ctr"/>
          <a:lstStyle/>
          <a:p>
            <a:pPr marL="0" indent="0">
              <a:buNone/>
            </a:pPr>
            <a:r>
              <a:rPr lang="en-US" sz="1600" b="1" dirty="0">
                <a:solidFill>
                  <a:srgbClr val="101828"/>
                </a:solidFill>
              </a:rPr>
              <a:t>구간마다 남기는 정보</a:t>
            </a:r>
            <a:endParaRPr lang="en-US" sz="1600" dirty="0"/>
          </a:p>
        </p:txBody>
      </p:sp>
      <p:sp>
        <p:nvSpPr>
          <p:cNvPr id="7" name="Text 4"/>
          <p:cNvSpPr txBox="1"/>
          <p:nvPr/>
        </p:nvSpPr>
        <p:spPr>
          <a:xfrm>
            <a:off x="8366760" y="1965960"/>
            <a:ext cx="3273552"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5B6573"/>
                </a:solidFill>
              </a:rPr>
              <a:t>마지막 조사일과 반복 조사 횟수</a:t>
            </a:r>
            <a:endParaRPr lang="en-US" sz="1400" dirty="0"/>
          </a:p>
          <a:p>
            <a:pPr marL="342900" indent="-342900">
              <a:spcAft>
                <a:spcPts val="600"/>
              </a:spcAft>
              <a:buSzPct val="100000"/>
              <a:buChar char="•"/>
            </a:pPr>
            <a:r>
              <a:rPr lang="en-US" sz="1400" dirty="0">
                <a:solidFill>
                  <a:srgbClr val="5B6573"/>
                </a:solidFill>
              </a:rPr>
              <a:t>탐사 가능 깊이와 이상 신호 추정 깊이</a:t>
            </a:r>
            <a:endParaRPr lang="en-US" sz="1400" dirty="0"/>
          </a:p>
          <a:p>
            <a:pPr marL="342900" indent="-342900">
              <a:spcAft>
                <a:spcPts val="600"/>
              </a:spcAft>
              <a:buSzPct val="100000"/>
              <a:buChar char="•"/>
            </a:pPr>
            <a:r>
              <a:rPr lang="en-US" sz="1400" dirty="0">
                <a:solidFill>
                  <a:srgbClr val="5B6573"/>
                </a:solidFill>
              </a:rPr>
              <a:t>이전 회차 대비 변화량</a:t>
            </a:r>
            <a:endParaRPr lang="en-US" sz="1400" dirty="0"/>
          </a:p>
          <a:p>
            <a:pPr marL="342900" indent="-342900">
              <a:spcAft>
                <a:spcPts val="600"/>
              </a:spcAft>
              <a:buSzPct val="100000"/>
              <a:buChar char="•"/>
            </a:pPr>
            <a:r>
              <a:rPr lang="en-US" sz="1400" dirty="0">
                <a:solidFill>
                  <a:srgbClr val="5B6573"/>
                </a:solidFill>
              </a:rPr>
              <a:t>AI 위험점수, 신뢰도, 위치 오차</a:t>
            </a:r>
            <a:endParaRPr lang="en-US" sz="1400" dirty="0"/>
          </a:p>
          <a:p>
            <a:pPr marL="342900" indent="-342900">
              <a:spcAft>
                <a:spcPts val="600"/>
              </a:spcAft>
              <a:buSzPct val="100000"/>
              <a:buChar char="•"/>
            </a:pPr>
            <a:r>
              <a:rPr lang="en-US" sz="1400" dirty="0">
                <a:solidFill>
                  <a:srgbClr val="5B6573"/>
                </a:solidFill>
              </a:rPr>
              <a:t>전문가 검토와 정밀조사 결과</a:t>
            </a:r>
            <a:endParaRPr lang="en-US" sz="1400" dirty="0"/>
          </a:p>
          <a:p>
            <a:pPr marL="342900" indent="-342900">
              <a:spcAft>
                <a:spcPts val="600"/>
              </a:spcAft>
              <a:buSzPct val="100000"/>
              <a:buChar char="•"/>
            </a:pPr>
            <a:r>
              <a:rPr lang="en-US" sz="1400" dirty="0">
                <a:solidFill>
                  <a:srgbClr val="5B6573"/>
                </a:solidFill>
              </a:rPr>
              <a:t>보수 완료 여부</a:t>
            </a:r>
            <a:endParaRPr lang="en-US" sz="1400" dirty="0"/>
          </a:p>
        </p:txBody>
      </p:sp>
      <p:sp>
        <p:nvSpPr>
          <p:cNvPr id="8" name="bubble"/>
          <p:cNvSpPr txBox="1"/>
          <p:nvPr/>
        </p:nvSpPr>
        <p:spPr>
          <a:xfrm>
            <a:off x="8366760" y="4251960"/>
            <a:ext cx="3273552" cy="777240"/>
          </a:xfrm>
          <a:prstGeom prst="wedgeRectCallout">
            <a:avLst/>
          </a:prstGeom>
          <a:solidFill>
            <a:srgbClr val="F5B400"/>
          </a:solidFill>
          <a:ln>
            <a:solidFill>
              <a:srgbClr val="F5B400"/>
            </a:solidFill>
          </a:ln>
        </p:spPr>
        <p:txBody>
          <a:bodyPr wrap="square" lIns="76200" tIns="76200" rIns="76200" bIns="76200" rtlCol="0" anchor="ctr"/>
          <a:lstStyle/>
          <a:p>
            <a:pPr marL="0" indent="0" algn="ctr">
              <a:buNone/>
            </a:pPr>
            <a:r>
              <a:rPr lang="en-US" sz="1400" b="1" dirty="0">
                <a:solidFill>
                  <a:srgbClr val="101828"/>
                </a:solidFill>
              </a:rPr>
              <a:t>지난 조사보다 이상 반사 면적이 17% 늘었습니다</a:t>
            </a:r>
            <a:endParaRPr lang="en-US" sz="1400" dirty="0"/>
          </a:p>
        </p:txBody>
      </p:sp>
      <p:sp>
        <p:nvSpPr>
          <p:cNvPr id="9" name="Text 6"/>
          <p:cNvSpPr txBox="1"/>
          <p:nvPr/>
        </p:nvSpPr>
        <p:spPr>
          <a:xfrm>
            <a:off x="8366760" y="5120640"/>
            <a:ext cx="3273552" cy="292608"/>
          </a:xfrm>
          <a:prstGeom prst="rect">
            <a:avLst/>
          </a:prstGeom>
          <a:noFill/>
          <a:ln/>
        </p:spPr>
        <p:txBody>
          <a:bodyPr wrap="square" lIns="0" tIns="0" rIns="0" bIns="0" rtlCol="0" anchor="ctr"/>
          <a:lstStyle/>
          <a:p>
            <a:pPr marL="0" indent="0">
              <a:buNone/>
            </a:pPr>
            <a:r>
              <a:rPr lang="en-US" sz="1200" dirty="0">
                <a:solidFill>
                  <a:srgbClr val="8A94A3"/>
                </a:solidFill>
              </a:rPr>
              <a:t>[예시] 화면의 수치는 설명용입니다.</a:t>
            </a:r>
            <a:endParaRPr lang="en-US" sz="1200" dirty="0"/>
          </a:p>
        </p:txBody>
      </p:sp>
      <p:sp>
        <p:nvSpPr>
          <p:cNvPr id="10" name="Text 7"/>
          <p:cNvSpPr txBox="1"/>
          <p:nvPr/>
        </p:nvSpPr>
        <p:spPr>
          <a:xfrm>
            <a:off x="548640" y="5669280"/>
            <a:ext cx="11094415" cy="594360"/>
          </a:xfrm>
          <a:prstGeom prst="rect">
            <a:avLst/>
          </a:prstGeom>
          <a:noFill/>
          <a:ln/>
        </p:spPr>
        <p:txBody>
          <a:bodyPr wrap="square" lIns="0" tIns="0" rIns="0" bIns="0" rtlCol="0" anchor="t"/>
          <a:lstStyle/>
          <a:p>
            <a:pPr marL="0" indent="0">
              <a:buNone/>
            </a:pPr>
            <a:r>
              <a:rPr lang="en-US" sz="15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500" dirty="0"/>
          </a:p>
        </p:txBody>
      </p:sp>
      <p:sp>
        <p:nvSpPr>
          <p:cNvPr id="11"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목업 화면. 회색 미조사, 초록 변화 없음, 노랑 새 이상 신호, 주황 확대 의심, 빨강 정밀 재탐사, 점선 신뢰도 낮음</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#3 AI 변화 감지</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AI가 변화를 찾고, 전문가가 승인한 곳만 다시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같은 위치의 이전 회차와 현재 회차 GPR 신호를 비교해, 새로 생기거나 커진 신호를 먼저 찾습니다.</a:t>
            </a:r>
            <a:endParaRPr lang="en-US" sz="1600" dirty="0"/>
          </a:p>
        </p:txBody>
      </p:sp>
      <p:pic>
        <p:nvPicPr>
          <p:cNvPr id="5" name="ai_compare" descr="/Users/seohogyun/Documents/git_workspace/pv5-hose-lab/groundwatch/images/ai_compare.png"/>
          <p:cNvPicPr>
            <a:picLocks noChangeAspect="1"/>
          </p:cNvPicPr>
          <p:nvPr/>
        </p:nvPicPr>
        <p:blipFill>
          <a:blip r:embed="rId3"/>
          <a:stretch>
            <a:fillRect/>
          </a:stretch>
        </p:blipFill>
        <p:spPr>
          <a:xfrm>
            <a:off x="548640" y="1554749"/>
            <a:ext cx="7589520" cy="2678654"/>
          </a:xfrm>
          <a:prstGeom prst="rect">
            <a:avLst/>
          </a:prstGeom>
        </p:spPr>
      </p:pic>
      <p:pic>
        <p:nvPicPr>
          <p:cNvPr id="6" name="surface_crack" descr="/Users/seohogyun/Documents/git_workspace/pv5-hose-lab/groundwatch/images/surface_crack.png"/>
          <p:cNvPicPr>
            <a:picLocks noChangeAspect="1"/>
          </p:cNvPicPr>
          <p:nvPr/>
        </p:nvPicPr>
        <p:blipFill>
          <a:blip r:embed="rId4"/>
          <a:stretch>
            <a:fillRect/>
          </a:stretch>
        </p:blipFill>
        <p:spPr>
          <a:xfrm>
            <a:off x="8412480" y="1555394"/>
            <a:ext cx="3227832" cy="1936699"/>
          </a:xfrm>
          <a:prstGeom prst="rect">
            <a:avLst/>
          </a:prstGeom>
        </p:spPr>
      </p:pic>
      <p:sp>
        <p:nvSpPr>
          <p:cNvPr id="7" name="Text 3"/>
          <p:cNvSpPr txBox="1"/>
          <p:nvPr/>
        </p:nvSpPr>
        <p:spPr>
          <a:xfrm>
            <a:off x="8412480" y="3566160"/>
            <a:ext cx="3227832" cy="640080"/>
          </a:xfrm>
          <a:prstGeom prst="rect">
            <a:avLst/>
          </a:prstGeom>
          <a:noFill/>
          <a:ln/>
        </p:spPr>
        <p:txBody>
          <a:bodyPr wrap="square" lIns="0" tIns="0" rIns="0" bIns="0" rtlCol="0" anchor="t"/>
          <a:lstStyle/>
          <a:p>
            <a:pPr marL="0" indent="0">
              <a:buNone/>
            </a:pPr>
            <a:r>
              <a:rPr lang="en-US" sz="1200" dirty="0">
                <a:solidFill>
                  <a:srgbClr val="5B6573"/>
                </a:solidFill>
              </a:rPr>
              <a:t>지상 카메라도 함께 봅니다. 균열, 단차, 맨홀 주변 침하, 물 고임 [예시]</a:t>
            </a:r>
            <a:endParaRPr lang="en-US" sz="1200" dirty="0"/>
          </a:p>
        </p:txBody>
      </p:sp>
      <p:sp>
        <p:nvSpPr>
          <p:cNvPr id="8" name="rule"/>
          <p:cNvSpPr/>
          <p:nvPr/>
        </p:nvSpPr>
        <p:spPr>
          <a:xfrm>
            <a:off x="548640" y="4434840"/>
            <a:ext cx="11094415" cy="0"/>
          </a:xfrm>
          <a:prstGeom prst="line">
            <a:avLst/>
          </a:prstGeom>
          <a:noFill/>
          <a:ln w="12700">
            <a:solidFill>
              <a:srgbClr val="DCE1E8"/>
            </a:solidFill>
            <a:prstDash val="solid"/>
          </a:ln>
        </p:spPr>
        <p:txBody>
          <a:bodyPr/>
          <a:lstStyle/>
          <a:p>
            <a:endParaRPr lang="ko-KR" altLang="en-US"/>
          </a:p>
        </p:txBody>
      </p:sp>
      <p:sp>
        <p:nvSpPr>
          <p:cNvPr id="16"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참고: 3D GPR 딥러닝 공동 탐지 연구. 탐지율과 오탐률은 [실증 필요]</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10</a:t>
            </a:fld>
            <a:endParaRPr lang="en-US"/>
          </a:p>
        </p:txBody>
      </p:sp>
      <p:sp>
        <p:nvSpPr>
          <p:cNvPr id="26" name="flow card"/>
          <p:cNvSpPr/>
          <p:nvPr/>
        </p:nvSpPr>
        <p:spPr>
          <a:xfrm>
            <a:off x="546100" y="4572000"/>
            <a:ext cx="2616200" cy="736600"/>
          </a:xfrm>
          <a:prstGeom prst="roundRect">
            <a:avLst>
              <a:gd name="adj" fmla="val 8000"/>
            </a:avLst>
          </a:prstGeom>
          <a:solidFill>
            <a:srgbClr val="F2F4F7"/>
          </a:solidFill>
          <a:ln>
            <a:noFill/>
          </a:ln>
        </p:spPr>
        <p:txBody>
          <a:bodyPr/>
          <a:lstStyle/>
          <a:p>
            <a:endParaRPr lang="ko-KR" altLang="en-US"/>
          </a:p>
        </p:txBody>
      </p:sp>
      <p:sp>
        <p:nvSpPr>
          <p:cNvPr id="27" name="flow no"/>
          <p:cNvSpPr txBox="1"/>
          <p:nvPr/>
        </p:nvSpPr>
        <p:spPr>
          <a:xfrm>
            <a:off x="673100" y="4673600"/>
            <a:ext cx="279400" cy="2794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1</a:t>
            </a:r>
            <a:endParaRPr lang="en-US" sz="1100" dirty="0"/>
          </a:p>
        </p:txBody>
      </p:sp>
      <p:sp>
        <p:nvSpPr>
          <p:cNvPr id="28" name="flow title"/>
          <p:cNvSpPr txBox="1"/>
          <p:nvPr/>
        </p:nvSpPr>
        <p:spPr>
          <a:xfrm>
            <a:off x="1028700" y="4648200"/>
            <a:ext cx="20574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AI 후보 등록</a:t>
            </a:r>
            <a:endParaRPr lang="en-US" sz="1400" dirty="0"/>
          </a:p>
        </p:txBody>
      </p:sp>
      <p:sp>
        <p:nvSpPr>
          <p:cNvPr id="29" name="flow desc"/>
          <p:cNvSpPr txBox="1"/>
          <p:nvPr/>
        </p:nvSpPr>
        <p:spPr>
          <a:xfrm>
            <a:off x="673100" y="4991100"/>
            <a:ext cx="2413000" cy="279400"/>
          </a:xfrm>
          <a:prstGeom prst="rect">
            <a:avLst/>
          </a:prstGeom>
          <a:noFill/>
          <a:ln>
            <a:noFill/>
          </a:ln>
        </p:spPr>
        <p:txBody>
          <a:bodyPr wrap="square" lIns="0" tIns="0" rIns="0" bIns="0" rtlCol="0" anchor="t"/>
          <a:lstStyle/>
          <a:p>
            <a:pPr marL="0" indent="0">
              <a:buNone/>
            </a:pPr>
            <a:r>
              <a:rPr lang="en-US" sz="1200" dirty="0">
                <a:solidFill>
                  <a:srgbClr val="5B6573"/>
                </a:solidFill>
              </a:rPr>
              <a:t>이전 회차 대비 새 신호와 커진 신호</a:t>
            </a:r>
            <a:endParaRPr lang="en-US" sz="1200" dirty="0"/>
          </a:p>
        </p:txBody>
      </p:sp>
      <p:sp>
        <p:nvSpPr>
          <p:cNvPr id="30" name="arrow"/>
          <p:cNvSpPr/>
          <p:nvPr/>
        </p:nvSpPr>
        <p:spPr>
          <a:xfrm>
            <a:off x="3175000" y="4940300"/>
            <a:ext cx="177800" cy="914"/>
          </a:xfrm>
          <a:prstGeom prst="line">
            <a:avLst/>
          </a:prstGeom>
          <a:noFill/>
          <a:ln w="19050">
            <a:solidFill>
              <a:srgbClr val="8A94A3"/>
            </a:solidFill>
            <a:prstDash val="solid"/>
            <a:tailEnd type="triangle"/>
          </a:ln>
        </p:spPr>
        <p:txBody>
          <a:bodyPr/>
          <a:lstStyle/>
          <a:p>
            <a:endParaRPr lang="ko-KR" altLang="en-US"/>
          </a:p>
        </p:txBody>
      </p:sp>
      <p:sp>
        <p:nvSpPr>
          <p:cNvPr id="31" name="flow card"/>
          <p:cNvSpPr/>
          <p:nvPr/>
        </p:nvSpPr>
        <p:spPr>
          <a:xfrm>
            <a:off x="3365500" y="4572000"/>
            <a:ext cx="2616200" cy="736600"/>
          </a:xfrm>
          <a:prstGeom prst="roundRect">
            <a:avLst>
              <a:gd name="adj" fmla="val 8000"/>
            </a:avLst>
          </a:prstGeom>
          <a:solidFill>
            <a:srgbClr val="F2F4F7"/>
          </a:solidFill>
          <a:ln>
            <a:noFill/>
          </a:ln>
        </p:spPr>
        <p:txBody>
          <a:bodyPr/>
          <a:lstStyle/>
          <a:p>
            <a:endParaRPr lang="ko-KR" altLang="en-US"/>
          </a:p>
        </p:txBody>
      </p:sp>
      <p:sp>
        <p:nvSpPr>
          <p:cNvPr id="32" name="flow no"/>
          <p:cNvSpPr txBox="1"/>
          <p:nvPr/>
        </p:nvSpPr>
        <p:spPr>
          <a:xfrm>
            <a:off x="3492500" y="4673600"/>
            <a:ext cx="279400" cy="2794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33" name="flow title"/>
          <p:cNvSpPr txBox="1"/>
          <p:nvPr/>
        </p:nvSpPr>
        <p:spPr>
          <a:xfrm>
            <a:off x="3848100" y="4648200"/>
            <a:ext cx="20574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전문가 검토</a:t>
            </a:r>
            <a:endParaRPr lang="en-US" sz="1400" dirty="0"/>
          </a:p>
        </p:txBody>
      </p:sp>
      <p:sp>
        <p:nvSpPr>
          <p:cNvPr id="34" name="flow desc"/>
          <p:cNvSpPr txBox="1"/>
          <p:nvPr/>
        </p:nvSpPr>
        <p:spPr>
          <a:xfrm>
            <a:off x="3492500" y="4991100"/>
            <a:ext cx="2413000" cy="279400"/>
          </a:xfrm>
          <a:prstGeom prst="rect">
            <a:avLst/>
          </a:prstGeom>
          <a:noFill/>
          <a:ln>
            <a:noFill/>
          </a:ln>
        </p:spPr>
        <p:txBody>
          <a:bodyPr wrap="square" lIns="0" tIns="0" rIns="0" bIns="0" rtlCol="0" anchor="t"/>
          <a:lstStyle/>
          <a:p>
            <a:pPr marL="0" indent="0">
              <a:buNone/>
            </a:pPr>
            <a:r>
              <a:rPr lang="en-US" sz="1200" dirty="0">
                <a:solidFill>
                  <a:srgbClr val="5B6573"/>
                </a:solidFill>
              </a:rPr>
              <a:t>AI 결과와 원시 GPR을 함께 확인</a:t>
            </a:r>
            <a:endParaRPr lang="en-US" sz="1200" dirty="0"/>
          </a:p>
        </p:txBody>
      </p:sp>
      <p:sp>
        <p:nvSpPr>
          <p:cNvPr id="35" name="arrow"/>
          <p:cNvSpPr/>
          <p:nvPr/>
        </p:nvSpPr>
        <p:spPr>
          <a:xfrm>
            <a:off x="5994400" y="4940300"/>
            <a:ext cx="177800" cy="914"/>
          </a:xfrm>
          <a:prstGeom prst="line">
            <a:avLst/>
          </a:prstGeom>
          <a:noFill/>
          <a:ln w="19050">
            <a:solidFill>
              <a:srgbClr val="8A94A3"/>
            </a:solidFill>
            <a:prstDash val="solid"/>
            <a:tailEnd type="triangle"/>
          </a:ln>
        </p:spPr>
        <p:txBody>
          <a:bodyPr/>
          <a:lstStyle/>
          <a:p>
            <a:endParaRPr lang="ko-KR" altLang="en-US"/>
          </a:p>
        </p:txBody>
      </p:sp>
      <p:sp>
        <p:nvSpPr>
          <p:cNvPr id="36" name="flow card"/>
          <p:cNvSpPr/>
          <p:nvPr/>
        </p:nvSpPr>
        <p:spPr>
          <a:xfrm>
            <a:off x="6184900" y="4572000"/>
            <a:ext cx="2616200" cy="736600"/>
          </a:xfrm>
          <a:prstGeom prst="roundRect">
            <a:avLst>
              <a:gd name="adj" fmla="val 8000"/>
            </a:avLst>
          </a:prstGeom>
          <a:solidFill>
            <a:srgbClr val="F2F4F7"/>
          </a:solidFill>
          <a:ln>
            <a:noFill/>
          </a:ln>
        </p:spPr>
        <p:txBody>
          <a:bodyPr/>
          <a:lstStyle/>
          <a:p>
            <a:endParaRPr lang="ko-KR" altLang="en-US"/>
          </a:p>
        </p:txBody>
      </p:sp>
      <p:sp>
        <p:nvSpPr>
          <p:cNvPr id="37" name="flow no"/>
          <p:cNvSpPr txBox="1"/>
          <p:nvPr/>
        </p:nvSpPr>
        <p:spPr>
          <a:xfrm>
            <a:off x="6311900" y="4673600"/>
            <a:ext cx="279400" cy="2794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38" name="flow title"/>
          <p:cNvSpPr txBox="1"/>
          <p:nvPr/>
        </p:nvSpPr>
        <p:spPr>
          <a:xfrm>
            <a:off x="6667500" y="4648200"/>
            <a:ext cx="20574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재확인 대기열</a:t>
            </a:r>
            <a:endParaRPr lang="en-US" sz="1400" dirty="0"/>
          </a:p>
        </p:txBody>
      </p:sp>
      <p:sp>
        <p:nvSpPr>
          <p:cNvPr id="39" name="flow desc"/>
          <p:cNvSpPr txBox="1"/>
          <p:nvPr/>
        </p:nvSpPr>
        <p:spPr>
          <a:xfrm>
            <a:off x="6311900" y="4991100"/>
            <a:ext cx="2413000" cy="279400"/>
          </a:xfrm>
          <a:prstGeom prst="rect">
            <a:avLst/>
          </a:prstGeom>
          <a:noFill/>
          <a:ln>
            <a:noFill/>
          </a:ln>
        </p:spPr>
        <p:txBody>
          <a:bodyPr wrap="square" lIns="0" tIns="0" rIns="0" bIns="0" rtlCol="0" anchor="t"/>
          <a:lstStyle/>
          <a:p>
            <a:pPr marL="0" indent="0">
              <a:buNone/>
            </a:pPr>
            <a:r>
              <a:rPr lang="en-US" sz="1200" dirty="0">
                <a:solidFill>
                  <a:srgbClr val="5B6573"/>
                </a:solidFill>
              </a:rPr>
              <a:t>위험도와 변화량 순으로 정렬</a:t>
            </a:r>
            <a:endParaRPr lang="en-US" sz="1200" dirty="0"/>
          </a:p>
        </p:txBody>
      </p:sp>
      <p:sp>
        <p:nvSpPr>
          <p:cNvPr id="40" name="arrow"/>
          <p:cNvSpPr/>
          <p:nvPr/>
        </p:nvSpPr>
        <p:spPr>
          <a:xfrm>
            <a:off x="8813800" y="4940300"/>
            <a:ext cx="177800" cy="914"/>
          </a:xfrm>
          <a:prstGeom prst="line">
            <a:avLst/>
          </a:prstGeom>
          <a:noFill/>
          <a:ln w="19050">
            <a:solidFill>
              <a:srgbClr val="8A94A3"/>
            </a:solidFill>
            <a:prstDash val="solid"/>
            <a:tailEnd type="triangle"/>
          </a:ln>
        </p:spPr>
        <p:txBody>
          <a:bodyPr/>
          <a:lstStyle/>
          <a:p>
            <a:endParaRPr lang="ko-KR" altLang="en-US"/>
          </a:p>
        </p:txBody>
      </p:sp>
      <p:sp>
        <p:nvSpPr>
          <p:cNvPr id="41" name="flow card"/>
          <p:cNvSpPr/>
          <p:nvPr/>
        </p:nvSpPr>
        <p:spPr>
          <a:xfrm>
            <a:off x="9004300" y="4572000"/>
            <a:ext cx="2616200" cy="736600"/>
          </a:xfrm>
          <a:prstGeom prst="roundRect">
            <a:avLst>
              <a:gd name="adj" fmla="val 8000"/>
            </a:avLst>
          </a:prstGeom>
          <a:solidFill>
            <a:srgbClr val="F2F4F7"/>
          </a:solidFill>
          <a:ln>
            <a:noFill/>
          </a:ln>
        </p:spPr>
        <p:txBody>
          <a:bodyPr/>
          <a:lstStyle/>
          <a:p>
            <a:endParaRPr lang="ko-KR" altLang="en-US"/>
          </a:p>
        </p:txBody>
      </p:sp>
      <p:sp>
        <p:nvSpPr>
          <p:cNvPr id="42" name="flow no"/>
          <p:cNvSpPr txBox="1"/>
          <p:nvPr/>
        </p:nvSpPr>
        <p:spPr>
          <a:xfrm>
            <a:off x="9131300" y="4673600"/>
            <a:ext cx="279400" cy="2794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4</a:t>
            </a:r>
            <a:endParaRPr lang="en-US" sz="1100" dirty="0"/>
          </a:p>
        </p:txBody>
      </p:sp>
      <p:sp>
        <p:nvSpPr>
          <p:cNvPr id="43" name="flow title"/>
          <p:cNvSpPr txBox="1"/>
          <p:nvPr/>
        </p:nvSpPr>
        <p:spPr>
          <a:xfrm>
            <a:off x="9486900" y="4648200"/>
            <a:ext cx="2057400" cy="304800"/>
          </a:xfrm>
          <a:prstGeom prst="rect">
            <a:avLst/>
          </a:prstGeom>
          <a:noFill/>
          <a:ln>
            <a:noFill/>
          </a:ln>
        </p:spPr>
        <p:txBody>
          <a:bodyPr wrap="square" lIns="0" tIns="0" rIns="0" bIns="0" rtlCol="0" anchor="ctr"/>
          <a:lstStyle/>
          <a:p>
            <a:pPr marL="0" indent="0">
              <a:buNone/>
            </a:pPr>
            <a:r>
              <a:rPr lang="en-US" sz="1400" b="1" dirty="0">
                <a:solidFill>
                  <a:srgbClr val="101828"/>
                </a:solidFill>
              </a:rPr>
              <a:t>다음 순찰 업무</a:t>
            </a:r>
            <a:endParaRPr lang="en-US" sz="1400" dirty="0"/>
          </a:p>
        </p:txBody>
      </p:sp>
      <p:sp>
        <p:nvSpPr>
          <p:cNvPr id="44" name="flow desc"/>
          <p:cNvSpPr txBox="1"/>
          <p:nvPr/>
        </p:nvSpPr>
        <p:spPr>
          <a:xfrm>
            <a:off x="9131300" y="4991100"/>
            <a:ext cx="2413000" cy="279400"/>
          </a:xfrm>
          <a:prstGeom prst="rect">
            <a:avLst/>
          </a:prstGeom>
          <a:noFill/>
          <a:ln>
            <a:noFill/>
          </a:ln>
        </p:spPr>
        <p:txBody>
          <a:bodyPr wrap="square" lIns="0" tIns="0" rIns="0" bIns="0" rtlCol="0" anchor="t"/>
          <a:lstStyle/>
          <a:p>
            <a:pPr marL="0" indent="0">
              <a:buNone/>
            </a:pPr>
            <a:r>
              <a:rPr lang="en-US" sz="1200" dirty="0">
                <a:solidFill>
                  <a:srgbClr val="5B6573"/>
                </a:solidFill>
              </a:rPr>
              <a:t>차량 앱 경로에 자동 반영</a:t>
            </a:r>
            <a:endParaRPr lang="en-US" sz="1200" dirty="0"/>
          </a:p>
        </p:txBody>
      </p:sp>
      <p:sp>
        <p:nvSpPr>
          <p:cNvPr id="45" name="ai detail"/>
          <p:cNvSpPr txBox="1"/>
          <p:nvPr/>
        </p:nvSpPr>
        <p:spPr>
          <a:xfrm>
            <a:off x="546100" y="5435600"/>
            <a:ext cx="7112000" cy="812800"/>
          </a:xfrm>
          <a:prstGeom prst="rect">
            <a:avLst/>
          </a:prstGeom>
          <a:noFill/>
          <a:ln>
            <a:noFill/>
          </a:ln>
        </p:spPr>
        <p:txBody>
          <a:bodyPr wrap="square" lIns="0" tIns="0" rIns="0" bIns="0" rtlCol="0" anchor="t"/>
          <a:lstStyle/>
          <a:p>
            <a:pPr marL="0" indent="0">
              <a:spcAft>
                <a:spcPts val="500"/>
              </a:spcAft>
              <a:buNone/>
            </a:pPr>
            <a:r>
              <a:rPr lang="en-US" sz="1200" b="1" dirty="0">
                <a:solidFill>
                  <a:srgbClr val="101828"/>
                </a:solidFill>
              </a:rPr>
              <a:t>AI 결과에 함께 표시  </a:t>
            </a:r>
            <a:r>
              <a:rPr lang="en-US" sz="1200" dirty="0">
                <a:solidFill>
                  <a:srgbClr val="5B6573"/>
                </a:solidFill>
              </a:rPr>
              <a:t>위험등급, 변화량, 신뢰도, 위치 오차, 권장 후속조치, 전문가 승인 여부</a:t>
            </a:r>
            <a:endParaRPr lang="en-US" sz="1200" dirty="0"/>
          </a:p>
          <a:p>
            <a:pPr marL="0" indent="0">
              <a:spcAft>
                <a:spcPts val="500"/>
              </a:spcAft>
              <a:buNone/>
            </a:pPr>
            <a:r>
              <a:rPr lang="en-US" sz="1200" b="1" dirty="0">
                <a:solidFill>
                  <a:srgbClr val="101828"/>
                </a:solidFill>
              </a:rPr>
              <a:t>비교 데이터  </a:t>
            </a:r>
            <a:r>
              <a:rPr lang="en-US" sz="1200" dirty="0">
                <a:solidFill>
                  <a:srgbClr val="5B6573"/>
                </a:solidFill>
              </a:rPr>
              <a:t>GPR 신호와 면적, 추정 깊이, 굴착·재포장 흔적, 강우·공사 이력</a:t>
            </a:r>
            <a:endParaRPr lang="en-US" sz="1200" dirty="0"/>
          </a:p>
        </p:txBody>
      </p:sp>
      <p:sp>
        <p:nvSpPr>
          <p:cNvPr id="46" name="ai panel"/>
          <p:cNvSpPr txBox="1"/>
          <p:nvPr/>
        </p:nvSpPr>
        <p:spPr>
          <a:xfrm>
            <a:off x="7874000" y="5435600"/>
            <a:ext cx="3759200" cy="812800"/>
          </a:xfrm>
          <a:prstGeom prst="rect">
            <a:avLst/>
          </a:prstGeom>
          <a:solidFill>
            <a:srgbClr val="0B1F3A"/>
          </a:solidFill>
          <a:ln>
            <a:noFill/>
          </a:ln>
        </p:spPr>
        <p:txBody>
          <a:bodyPr wrap="square" lIns="152400" tIns="152400" rIns="152400" bIns="152400" rtlCol="0" anchor="ctr"/>
          <a:lstStyle/>
          <a:p>
            <a:pPr marL="0" indent="0">
              <a:spcAft>
                <a:spcPts val="200"/>
              </a:spcAft>
              <a:buNone/>
            </a:pPr>
            <a:r>
              <a:rPr lang="en-US" sz="1500" b="1" dirty="0">
                <a:solidFill>
                  <a:srgbClr val="FFFFFF"/>
                </a:solidFill>
              </a:rPr>
              <a:t>최종 판정은 전문가가 합니다</a:t>
            </a:r>
            <a:endParaRPr lang="en-US" sz="1500" dirty="0"/>
          </a:p>
          <a:p>
            <a:pPr marL="0" indent="0">
              <a:spcAft>
                <a:spcPts val="200"/>
              </a:spcAft>
              <a:buNone/>
            </a:pPr>
            <a:r>
              <a:rPr lang="en-US" sz="1200" dirty="0">
                <a:solidFill>
                  <a:srgbClr val="C9D3E0"/>
                </a:solidFill>
              </a:rPr>
              <a:t>승인한 지점만 다음 순찰 업무가 됩니다</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#4 Patrol 앱 연동</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PV5의 디스플레이가 새벽 순찰의 업무 화면이 된다</a:t>
            </a:r>
            <a:endParaRPr lang="en-US" sz="1900" dirty="0"/>
          </a:p>
        </p:txBody>
      </p:sp>
      <p:sp>
        <p:nvSpPr>
          <p:cNvPr id="4" name="lead"/>
          <p:cNvSpPr txBox="1"/>
          <p:nvPr/>
        </p:nvSpPr>
        <p:spPr>
          <a:xfrm>
            <a:off x="548640" y="987552"/>
            <a:ext cx="11094415" cy="548640"/>
          </a:xfrm>
          <a:prstGeom prst="rect">
            <a:avLst/>
          </a:prstGeom>
          <a:noFill/>
          <a:ln/>
        </p:spPr>
        <p:txBody>
          <a:bodyPr wrap="square" lIns="0" tIns="0" rIns="0" bIns="0" rtlCol="0" anchor="t"/>
          <a:lstStyle/>
          <a:p>
            <a:pPr marL="0" indent="0">
              <a:buNone/>
            </a:pPr>
            <a:r>
              <a:rPr lang="en-US" sz="1600" dirty="0">
                <a:solidFill>
                  <a:srgbClr val="5B6573"/>
                </a:solidFill>
              </a:rPr>
              <a:t>PV5의 AAOS 기반 12.9인치 인포테인먼트에 순찰 앱을 올리고, 엣지 게이트웨이가 장비와 AR 글래스를 잇습니다. 차량 API 일부가 제한돼도 GPR·AR 작업은 계속됩니다.</a:t>
            </a:r>
            <a:endParaRPr lang="en-US" sz="1600" dirty="0"/>
          </a:p>
        </p:txBody>
      </p:sp>
      <p:pic>
        <p:nvPicPr>
          <p:cNvPr id="26" name="dashboard" descr="dashboard.png"/>
          <p:cNvPicPr>
            <a:picLocks noChangeAspect="1"/>
          </p:cNvPicPr>
          <p:nvPr/>
        </p:nvPicPr>
        <p:blipFill>
          <a:blip r:embed="rId6"/>
          <a:stretch>
            <a:fillRect/>
          </a:stretch>
        </p:blipFill>
        <p:spPr>
          <a:xfrm>
            <a:off x="546100" y="1638300"/>
            <a:ext cx="6667500" cy="2971800"/>
          </a:xfrm>
          <a:prstGeom prst="rect">
            <a:avLst/>
          </a:prstGeom>
        </p:spPr>
      </p:pic>
      <p:pic>
        <p:nvPicPr>
          <p:cNvPr id="27" name="ivi_pre" descr="image.png"/>
          <p:cNvPicPr>
            <a:picLocks noChangeAspect="1"/>
          </p:cNvPicPr>
          <p:nvPr/>
        </p:nvPicPr>
        <p:blipFill>
          <a:blip r:embed="rId3"/>
          <a:stretch>
            <a:fillRect/>
          </a:stretch>
        </p:blipFill>
        <p:spPr>
          <a:xfrm>
            <a:off x="2108200" y="1943100"/>
            <a:ext cx="3530600" cy="1358900"/>
          </a:xfrm>
          <a:prstGeom prst="rect">
            <a:avLst/>
          </a:prstGeom>
        </p:spPr>
      </p:pic>
      <p:sp>
        <p:nvSpPr>
          <p:cNvPr id="6" name="Text 3"/>
          <p:cNvSpPr txBox="1"/>
          <p:nvPr/>
        </p:nvSpPr>
        <p:spPr>
          <a:xfrm>
            <a:off x="548640" y="4673600"/>
            <a:ext cx="6675120" cy="320040"/>
          </a:xfrm>
          <a:prstGeom prst="rect">
            <a:avLst/>
          </a:prstGeom>
          <a:noFill/>
          <a:ln/>
        </p:spPr>
        <p:txBody>
          <a:bodyPr wrap="square" lIns="0" tIns="0" rIns="0" bIns="0" rtlCol="0" anchor="ctr"/>
          <a:lstStyle/>
          <a:p>
            <a:pPr marL="0" indent="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icPr>
            <a:picLocks noChangeAspect="1"/>
          </p:cNvPicPr>
          <p:nvPr/>
        </p:nvPicPr>
        <p:blipFill>
          <a:blip r:embed="rId4"/>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marL="0" indent="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icPr>
            <a:picLocks noChangeAspect="1"/>
          </p:cNvPicPr>
          <p:nvPr/>
        </p:nvPicPr>
        <p:blipFill>
          <a:blip r:embed="rId5"/>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marL="0" indent="0">
              <a:buNone/>
            </a:pPr>
            <a:r>
              <a:rPr lang="en-US" sz="1200" dirty="0">
                <a:solidFill>
                  <a:srgbClr val="5B6573"/>
                </a:solidFill>
              </a:rPr>
              <a:t>정차 후: 위험등급, 변화량, 안전 정차, AR 연결</a:t>
            </a:r>
            <a:endParaRPr lang="en-US" sz="1200" dirty="0"/>
          </a:p>
        </p:txBody>
      </p:sp>
      <p:sp>
        <p:nvSpPr>
          <p:cNvPr id="11" name="bubble"/>
          <p:cNvSpPr txBox="1"/>
          <p:nvPr/>
        </p:nvSpPr>
        <p:spPr>
          <a:xfrm>
            <a:off x="548640" y="5118100"/>
            <a:ext cx="6675120" cy="495300"/>
          </a:xfrm>
          <a:prstGeom prst="wedgeRectCallout">
            <a:avLst/>
          </a:prstGeom>
          <a:solidFill>
            <a:srgbClr val="0B1F3A"/>
          </a:solidFill>
          <a:ln>
            <a:solidFill>
              <a:srgbClr val="0B1F3A"/>
            </a:solidFill>
          </a:ln>
        </p:spPr>
        <p:txBody>
          <a:bodyPr wrap="square" lIns="76200" tIns="76200" rIns="76200" bIns="76200" rtlCol="0" anchor="ctr"/>
          <a:lstStyle/>
          <a:p>
            <a:pPr marL="0" indent="0" algn="ctr">
              <a:buNone/>
            </a:pPr>
            <a:r>
              <a:rPr lang="en-US" sz="1400" b="1" dirty="0">
                <a:solidFill>
                  <a:srgbClr val="FFFFFF"/>
                </a:solidFill>
              </a:rPr>
              <a:t>분석과 조작은 정차한 뒤에만 합니다</a:t>
            </a:r>
            <a:endParaRPr lang="en-US" sz="1400" dirty="0"/>
          </a:p>
        </p:txBody>
      </p:sp>
      <p:sp>
        <p:nvSpPr>
          <p:cNvPr id="14"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출처: 현대차그룹 뉴스룸(2025.6.9 계약 개시, 2025.7.23 테크 데이). 배포는 Pleos 앱 마켓 심사 전제, 데이터는 공식 API 범위 안. 화면은 목업.</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12</a:t>
            </a:fld>
            <a:endParaRPr lang="en-US"/>
          </a:p>
        </p:txBody>
      </p:sp>
      <p:sp>
        <p:nvSpPr>
          <p:cNvPr id="28" name="chain node"/>
          <p:cNvSpPr txBox="1"/>
          <p:nvPr/>
        </p:nvSpPr>
        <p:spPr>
          <a:xfrm>
            <a:off x="546100" y="5715000"/>
            <a:ext cx="2413000" cy="533400"/>
          </a:xfrm>
          <a:prstGeom prst="roundRect">
            <a:avLst>
              <a:gd name="adj" fmla="val 16000"/>
            </a:avLst>
          </a:prstGeom>
          <a:solidFill>
            <a:srgbClr val="F2F4F7"/>
          </a:solidFill>
          <a:ln>
            <a:noFill/>
          </a:ln>
        </p:spPr>
        <p:txBody>
          <a:bodyPr wrap="square" lIns="38100" tIns="38100" rIns="38100" bIns="38100" rtlCol="0" anchor="ctr"/>
          <a:lstStyle/>
          <a:p>
            <a:pPr marL="0" indent="0" algn="ctr">
              <a:buNone/>
            </a:pPr>
            <a:r>
              <a:rPr lang="en-US" sz="1200" b="1" dirty="0">
                <a:solidFill>
                  <a:srgbClr val="101828"/>
                </a:solidFill>
              </a:rPr>
              <a:t>GroundWatch Cloud</a:t>
            </a:r>
            <a:endParaRPr lang="en-US" sz="1200" dirty="0"/>
          </a:p>
          <a:p>
            <a:pPr marL="0" indent="0" algn="ctr">
              <a:buNone/>
            </a:pPr>
            <a:r>
              <a:rPr lang="en-US" sz="1050" dirty="0">
                <a:solidFill>
                  <a:srgbClr val="5B6573"/>
                </a:solidFill>
              </a:rPr>
              <a:t>4D 지도, AI, 경로, 권한</a:t>
            </a:r>
            <a:endParaRPr lang="en-US" sz="1050" dirty="0"/>
          </a:p>
        </p:txBody>
      </p:sp>
      <p:sp>
        <p:nvSpPr>
          <p:cNvPr id="29" name="arrow"/>
          <p:cNvSpPr/>
          <p:nvPr/>
        </p:nvSpPr>
        <p:spPr>
          <a:xfrm>
            <a:off x="2997200" y="5981700"/>
            <a:ext cx="406400" cy="914"/>
          </a:xfrm>
          <a:prstGeom prst="line">
            <a:avLst/>
          </a:prstGeom>
          <a:noFill/>
          <a:ln w="19050">
            <a:solidFill>
              <a:srgbClr val="8A94A3"/>
            </a:solidFill>
            <a:prstDash val="solid"/>
            <a:tailEnd type="triangle"/>
          </a:ln>
        </p:spPr>
        <p:txBody>
          <a:bodyPr/>
          <a:lstStyle/>
          <a:p>
            <a:endParaRPr lang="ko-KR" altLang="en-US"/>
          </a:p>
        </p:txBody>
      </p:sp>
      <p:sp>
        <p:nvSpPr>
          <p:cNvPr id="30" name="chain node"/>
          <p:cNvSpPr txBox="1"/>
          <p:nvPr/>
        </p:nvSpPr>
        <p:spPr>
          <a:xfrm>
            <a:off x="3437509" y="5715000"/>
            <a:ext cx="2413000" cy="533400"/>
          </a:xfrm>
          <a:prstGeom prst="roundRect">
            <a:avLst>
              <a:gd name="adj" fmla="val 16000"/>
            </a:avLst>
          </a:prstGeom>
          <a:solidFill>
            <a:srgbClr val="0B1F3A"/>
          </a:solidFill>
          <a:ln>
            <a:noFill/>
          </a:ln>
        </p:spPr>
        <p:txBody>
          <a:bodyPr wrap="square" lIns="38100" tIns="38100" rIns="38100" bIns="38100" rtlCol="0" anchor="ctr"/>
          <a:lstStyle/>
          <a:p>
            <a:pPr marL="0" indent="0" algn="ctr">
              <a:buNone/>
            </a:pPr>
            <a:r>
              <a:rPr lang="en-US" sz="1200" b="1" dirty="0">
                <a:solidFill>
                  <a:srgbClr val="FFFFFF"/>
                </a:solidFill>
              </a:rPr>
              <a:t>PV5 Patrol 앱</a:t>
            </a:r>
            <a:endParaRPr lang="en-US" sz="1200" dirty="0"/>
          </a:p>
          <a:p>
            <a:pPr marL="0" indent="0" algn="ctr">
              <a:buNone/>
            </a:pPr>
            <a:r>
              <a:rPr lang="en-US" sz="1050" dirty="0">
                <a:solidFill>
                  <a:srgbClr val="C9D3E0"/>
                </a:solidFill>
              </a:rPr>
              <a:t>업무와 경로 관리</a:t>
            </a:r>
            <a:endParaRPr lang="en-US" sz="1050" dirty="0"/>
          </a:p>
        </p:txBody>
      </p:sp>
      <p:sp>
        <p:nvSpPr>
          <p:cNvPr id="31" name="arrow"/>
          <p:cNvSpPr/>
          <p:nvPr/>
        </p:nvSpPr>
        <p:spPr>
          <a:xfrm>
            <a:off x="5888609" y="5981700"/>
            <a:ext cx="406400" cy="914"/>
          </a:xfrm>
          <a:prstGeom prst="line">
            <a:avLst/>
          </a:prstGeom>
          <a:noFill/>
          <a:ln w="19050">
            <a:solidFill>
              <a:srgbClr val="8A94A3"/>
            </a:solidFill>
            <a:prstDash val="solid"/>
            <a:tailEnd type="triangle"/>
          </a:ln>
        </p:spPr>
        <p:txBody>
          <a:bodyPr/>
          <a:lstStyle/>
          <a:p>
            <a:endParaRPr lang="ko-KR" altLang="en-US"/>
          </a:p>
        </p:txBody>
      </p:sp>
      <p:sp>
        <p:nvSpPr>
          <p:cNvPr id="32" name="chain node"/>
          <p:cNvSpPr txBox="1"/>
          <p:nvPr/>
        </p:nvSpPr>
        <p:spPr>
          <a:xfrm>
            <a:off x="6328918" y="5715000"/>
            <a:ext cx="2413000" cy="533400"/>
          </a:xfrm>
          <a:prstGeom prst="roundRect">
            <a:avLst>
              <a:gd name="adj" fmla="val 16000"/>
            </a:avLst>
          </a:prstGeom>
          <a:solidFill>
            <a:srgbClr val="F2F4F7"/>
          </a:solidFill>
          <a:ln>
            <a:noFill/>
          </a:ln>
        </p:spPr>
        <p:txBody>
          <a:bodyPr wrap="square" lIns="38100" tIns="38100" rIns="38100" bIns="38100" rtlCol="0" anchor="ctr"/>
          <a:lstStyle/>
          <a:p>
            <a:pPr marL="0" indent="0" algn="ctr">
              <a:buNone/>
            </a:pPr>
            <a:r>
              <a:rPr lang="en-US" sz="1200" b="1" dirty="0">
                <a:solidFill>
                  <a:srgbClr val="101828"/>
                </a:solidFill>
              </a:rPr>
              <a:t>Edge Gateway</a:t>
            </a:r>
            <a:endParaRPr lang="en-US" sz="1200" dirty="0"/>
          </a:p>
          <a:p>
            <a:pPr marL="0" indent="0" algn="ctr">
              <a:buNone/>
            </a:pPr>
            <a:r>
              <a:rPr lang="en-US" sz="1050" dirty="0">
                <a:solidFill>
                  <a:srgbClr val="5B6573"/>
                </a:solidFill>
              </a:rPr>
              <a:t>센서 데이터와 로컬 통신</a:t>
            </a:r>
            <a:endParaRPr lang="en-US" sz="1050" dirty="0"/>
          </a:p>
        </p:txBody>
      </p:sp>
      <p:sp>
        <p:nvSpPr>
          <p:cNvPr id="33" name="arrow"/>
          <p:cNvSpPr/>
          <p:nvPr/>
        </p:nvSpPr>
        <p:spPr>
          <a:xfrm>
            <a:off x="8780018" y="5981700"/>
            <a:ext cx="406400" cy="914"/>
          </a:xfrm>
          <a:prstGeom prst="line">
            <a:avLst/>
          </a:prstGeom>
          <a:noFill/>
          <a:ln w="19050">
            <a:solidFill>
              <a:srgbClr val="8A94A3"/>
            </a:solidFill>
            <a:prstDash val="solid"/>
            <a:tailEnd type="triangle"/>
          </a:ln>
        </p:spPr>
        <p:txBody>
          <a:bodyPr/>
          <a:lstStyle/>
          <a:p>
            <a:endParaRPr lang="ko-KR" altLang="en-US"/>
          </a:p>
        </p:txBody>
      </p:sp>
      <p:sp>
        <p:nvSpPr>
          <p:cNvPr id="34" name="chain node"/>
          <p:cNvSpPr txBox="1"/>
          <p:nvPr/>
        </p:nvSpPr>
        <p:spPr>
          <a:xfrm>
            <a:off x="9220327" y="5715000"/>
            <a:ext cx="2413000" cy="533400"/>
          </a:xfrm>
          <a:prstGeom prst="roundRect">
            <a:avLst>
              <a:gd name="adj" fmla="val 16000"/>
            </a:avLst>
          </a:prstGeom>
          <a:solidFill>
            <a:srgbClr val="F2F4F7"/>
          </a:solidFill>
          <a:ln>
            <a:noFill/>
          </a:ln>
        </p:spPr>
        <p:txBody>
          <a:bodyPr wrap="square" lIns="38100" tIns="38100" rIns="38100" bIns="38100" rtlCol="0" anchor="ctr"/>
          <a:lstStyle/>
          <a:p>
            <a:pPr marL="0" indent="0" algn="ctr">
              <a:buNone/>
            </a:pPr>
            <a:r>
              <a:rPr lang="en-US" sz="1200" b="1" dirty="0">
                <a:solidFill>
                  <a:srgbClr val="101828"/>
                </a:solidFill>
              </a:rPr>
              <a:t>AR 글래스</a:t>
            </a:r>
            <a:endParaRPr lang="en-US" sz="1200" dirty="0"/>
          </a:p>
          <a:p>
            <a:pPr marL="0" indent="0" algn="ctr">
              <a:buNone/>
            </a:pPr>
            <a:r>
              <a:rPr lang="en-US" sz="1050" dirty="0">
                <a:solidFill>
                  <a:srgbClr val="5B6573"/>
                </a:solidFill>
              </a:rPr>
              <a:t>위치 정합과 수동 탐사 안내</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#5 AR 현장 재확인</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AR로 재확인 범위를 찾고, 수동 GPR로 다시 본다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PV5가 정차한 뒤 작업자가 AR 글래스로 검색 범위를 보고, 양손으로 수동 GPR을 조작합니다.</a:t>
            </a:r>
            <a:endParaRPr lang="en-US" sz="1600" dirty="0"/>
          </a:p>
        </p:txBody>
      </p:sp>
      <p:pic>
        <p:nvPicPr>
          <p:cNvPr id="5" name="ar_scan" descr="/Users/seohogyun/Documents/git_workspace/pv5-hose-lab/groundwatch/images/ar_scan.jpg"/>
          <p:cNvPicPr>
            <a:picLocks noChangeAspect="1"/>
          </p:cNvPicPr>
          <p:nvPr/>
        </p:nvPicPr>
        <p:blipFill>
          <a:blip r:embed="rId3"/>
          <a:stretch>
            <a:fillRect/>
          </a:stretch>
        </p:blipFill>
        <p:spPr>
          <a:xfrm>
            <a:off x="548640" y="1556632"/>
            <a:ext cx="7315200" cy="3872753"/>
          </a:xfrm>
          <a:prstGeom prst="rect">
            <a:avLst/>
          </a:prstGeom>
        </p:spPr>
      </p:pic>
      <p:sp>
        <p:nvSpPr>
          <p:cNvPr id="13"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AR 화면 수치는 설명용 예시입니다. 검색 범위는 공동의 모양이 아니라 재탐사 영역입니다. 실사 위 합성 목업, 사진: PattayaPatrol, CC BY-SA 4.0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15</a:t>
            </a:fld>
            <a:endParaRPr lang="en-US"/>
          </a:p>
        </p:txBody>
      </p:sp>
      <p:sp>
        <p:nvSpPr>
          <p:cNvPr id="26" name="ar head"/>
          <p:cNvSpPr txBox="1"/>
          <p:nvPr/>
        </p:nvSpPr>
        <p:spPr>
          <a:xfrm>
            <a:off x="8089900" y="1549400"/>
            <a:ext cx="3543300" cy="279400"/>
          </a:xfrm>
          <a:prstGeom prst="rect">
            <a:avLst/>
          </a:prstGeom>
          <a:noFill/>
          <a:ln>
            <a:noFill/>
          </a:ln>
        </p:spPr>
        <p:txBody>
          <a:bodyPr wrap="square" lIns="0" tIns="0" rIns="0" bIns="0" rtlCol="0" anchor="t"/>
          <a:lstStyle/>
          <a:p>
            <a:pPr marL="0" indent="0">
              <a:buNone/>
            </a:pPr>
            <a:r>
              <a:rPr lang="en-US" sz="1500" b="1" dirty="0">
                <a:solidFill>
                  <a:srgbClr val="101828"/>
                </a:solidFill>
              </a:rPr>
              <a:t>위치 맞추기</a:t>
            </a:r>
            <a:endParaRPr lang="en-US" sz="1500" dirty="0"/>
          </a:p>
        </p:txBody>
      </p:sp>
      <p:sp>
        <p:nvSpPr>
          <p:cNvPr id="27" name="ar body"/>
          <p:cNvSpPr txBox="1"/>
          <p:nvPr/>
        </p:nvSpPr>
        <p:spPr>
          <a:xfrm>
            <a:off x="8089900" y="1879600"/>
            <a:ext cx="3543300" cy="838200"/>
          </a:xfrm>
          <a:prstGeom prst="rect">
            <a:avLst/>
          </a:prstGeom>
          <a:noFill/>
          <a:ln>
            <a:noFill/>
          </a:ln>
        </p:spPr>
        <p:txBody>
          <a:bodyPr wrap="square" lIns="0" tIns="0" rIns="0" bIns="0" rtlCol="0" anchor="t"/>
          <a:lstStyle/>
          <a:p>
            <a:pPr marL="0" indent="0">
              <a:buNone/>
            </a:pPr>
            <a:r>
              <a:rPr lang="en-US" sz="1300" dirty="0">
                <a:solidFill>
                  <a:srgbClr val="5B6573"/>
                </a:solidFill>
              </a:rPr>
              <a:t>맨홀, 경계석, 차선, RTK 중 2~3개를 결합해 검색 범위를 도로 위에 맞춥니다.</a:t>
            </a:r>
            <a:endParaRPr lang="en-US" sz="1300" dirty="0"/>
          </a:p>
        </p:txBody>
      </p:sp>
      <p:sp>
        <p:nvSpPr>
          <p:cNvPr id="28" name="ar head"/>
          <p:cNvSpPr txBox="1"/>
          <p:nvPr/>
        </p:nvSpPr>
        <p:spPr>
          <a:xfrm>
            <a:off x="8089900" y="2844800"/>
            <a:ext cx="3543300" cy="279400"/>
          </a:xfrm>
          <a:prstGeom prst="rect">
            <a:avLst/>
          </a:prstGeom>
          <a:noFill/>
          <a:ln>
            <a:noFill/>
          </a:ln>
        </p:spPr>
        <p:txBody>
          <a:bodyPr wrap="square" lIns="0" tIns="0" rIns="0" bIns="0" rtlCol="0" anchor="t"/>
          <a:lstStyle/>
          <a:p>
            <a:pPr marL="0" indent="0">
              <a:buNone/>
            </a:pPr>
            <a:r>
              <a:rPr lang="en-US" sz="1500" b="1" dirty="0">
                <a:solidFill>
                  <a:srgbClr val="101828"/>
                </a:solidFill>
              </a:rPr>
              <a:t>교차검증</a:t>
            </a:r>
            <a:endParaRPr lang="en-US" sz="1500" dirty="0"/>
          </a:p>
        </p:txBody>
      </p:sp>
      <p:sp>
        <p:nvSpPr>
          <p:cNvPr id="29" name="ar body"/>
          <p:cNvSpPr txBox="1"/>
          <p:nvPr/>
        </p:nvSpPr>
        <p:spPr>
          <a:xfrm>
            <a:off x="8089900" y="3175000"/>
            <a:ext cx="3543300" cy="838200"/>
          </a:xfrm>
          <a:prstGeom prst="rect">
            <a:avLst/>
          </a:prstGeom>
          <a:noFill/>
          <a:ln>
            <a:noFill/>
          </a:ln>
        </p:spPr>
        <p:txBody>
          <a:bodyPr wrap="square" lIns="0" tIns="0" rIns="0" bIns="0" rtlCol="0" anchor="t"/>
          <a:lstStyle/>
          <a:p>
            <a:pPr marL="0" indent="0">
              <a:buNone/>
            </a:pPr>
            <a:r>
              <a:rPr lang="en-US" sz="1300" dirty="0">
                <a:solidFill>
                  <a:srgbClr val="5B6573"/>
                </a:solidFill>
              </a:rPr>
              <a:t>차량형은 넓게 선별하고, 수동 GPR은 좁은 범위를 다른 주파수와 방향으로 다시 봅니다.</a:t>
            </a:r>
            <a:endParaRPr lang="en-US" sz="1300" dirty="0"/>
          </a:p>
        </p:txBody>
      </p:sp>
      <p:sp>
        <p:nvSpPr>
          <p:cNvPr id="30" name="ar head"/>
          <p:cNvSpPr txBox="1"/>
          <p:nvPr/>
        </p:nvSpPr>
        <p:spPr>
          <a:xfrm>
            <a:off x="8089900" y="4140200"/>
            <a:ext cx="3543300" cy="279400"/>
          </a:xfrm>
          <a:prstGeom prst="rect">
            <a:avLst/>
          </a:prstGeom>
          <a:noFill/>
          <a:ln>
            <a:noFill/>
          </a:ln>
        </p:spPr>
        <p:txBody>
          <a:bodyPr wrap="square" lIns="0" tIns="0" rIns="0" bIns="0" rtlCol="0" anchor="t"/>
          <a:lstStyle/>
          <a:p>
            <a:pPr marL="0" indent="0">
              <a:buNone/>
            </a:pPr>
            <a:r>
              <a:rPr lang="en-US" sz="1500" b="1" dirty="0">
                <a:solidFill>
                  <a:srgbClr val="101828"/>
                </a:solidFill>
              </a:rPr>
              <a:t>음성으로 기록</a:t>
            </a:r>
            <a:endParaRPr lang="en-US" sz="1500" dirty="0"/>
          </a:p>
        </p:txBody>
      </p:sp>
      <p:sp>
        <p:nvSpPr>
          <p:cNvPr id="31" name="ar body"/>
          <p:cNvSpPr txBox="1"/>
          <p:nvPr/>
        </p:nvSpPr>
        <p:spPr>
          <a:xfrm>
            <a:off x="8089900" y="4470400"/>
            <a:ext cx="3543300" cy="838200"/>
          </a:xfrm>
          <a:prstGeom prst="rect">
            <a:avLst/>
          </a:prstGeom>
          <a:noFill/>
          <a:ln>
            <a:noFill/>
          </a:ln>
        </p:spPr>
        <p:txBody>
          <a:bodyPr wrap="square" lIns="0" tIns="0" rIns="0" bIns="0" rtlCol="0" anchor="t"/>
          <a:lstStyle/>
          <a:p>
            <a:pPr marL="0" indent="0">
              <a:buNone/>
            </a:pPr>
            <a:r>
              <a:rPr lang="en-US" sz="1300" dirty="0">
                <a:solidFill>
                  <a:srgbClr val="5B6573"/>
                </a:solidFill>
              </a:rPr>
              <a:t>사진, 메모, 이상 위치 표시를 손을 쓰지 않고 남깁니다.</a:t>
            </a:r>
            <a:endParaRPr lang="en-US" sz="1300" dirty="0"/>
          </a:p>
        </p:txBody>
      </p:sp>
      <p:sp>
        <p:nvSpPr>
          <p:cNvPr id="32" name="steps label"/>
          <p:cNvSpPr txBox="1"/>
          <p:nvPr/>
        </p:nvSpPr>
        <p:spPr>
          <a:xfrm>
            <a:off x="546100" y="5562600"/>
            <a:ext cx="1016000" cy="457200"/>
          </a:xfrm>
          <a:prstGeom prst="rect">
            <a:avLst/>
          </a:prstGeom>
          <a:noFill/>
          <a:ln>
            <a:noFill/>
          </a:ln>
        </p:spPr>
        <p:txBody>
          <a:bodyPr wrap="square" lIns="0" tIns="0" rIns="0" bIns="0" rtlCol="0" anchor="ctr"/>
          <a:lstStyle/>
          <a:p>
            <a:pPr marL="0" indent="0">
              <a:buNone/>
            </a:pPr>
            <a:r>
              <a:rPr lang="en-US" sz="1300" b="1" dirty="0">
                <a:solidFill>
                  <a:srgbClr val="101828"/>
                </a:solidFill>
              </a:rPr>
              <a:t>확인 절차</a:t>
            </a:r>
            <a:endParaRPr lang="en-US" sz="1300" dirty="0"/>
          </a:p>
        </p:txBody>
      </p:sp>
      <p:sp>
        <p:nvSpPr>
          <p:cNvPr id="33" name="step chip"/>
          <p:cNvSpPr txBox="1"/>
          <p:nvPr/>
        </p:nvSpPr>
        <p:spPr>
          <a:xfrm>
            <a:off x="1625600" y="5562600"/>
            <a:ext cx="1346200" cy="457200"/>
          </a:xfrm>
          <a:prstGeom prst="roundRect">
            <a:avLst>
              <a:gd name="adj" fmla="val 12000"/>
            </a:avLst>
          </a:prstGeom>
          <a:solidFill>
            <a:srgbClr val="F2F4F7"/>
          </a:solidFill>
          <a:ln>
            <a:noFill/>
          </a:ln>
        </p:spPr>
        <p:txBody>
          <a:bodyPr wrap="square" lIns="25400" tIns="25400" rIns="25400" bIns="25400" rtlCol="0" anchor="ctr"/>
          <a:lstStyle/>
          <a:p>
            <a:pPr marL="0" indent="0" algn="ctr">
              <a:buNone/>
            </a:pPr>
            <a:r>
              <a:rPr lang="en-US" sz="1100" b="1" dirty="0">
                <a:solidFill>
                  <a:srgbClr val="101828"/>
                </a:solidFill>
              </a:rPr>
              <a:t>수동 GPR 재확인</a:t>
            </a:r>
            <a:endParaRPr lang="en-US" sz="1100" dirty="0"/>
          </a:p>
        </p:txBody>
      </p:sp>
      <p:sp>
        <p:nvSpPr>
          <p:cNvPr id="34" name="step chip"/>
          <p:cNvSpPr txBox="1"/>
          <p:nvPr/>
        </p:nvSpPr>
        <p:spPr>
          <a:xfrm>
            <a:off x="3060700" y="5562600"/>
            <a:ext cx="1346200" cy="457200"/>
          </a:xfrm>
          <a:prstGeom prst="roundRect">
            <a:avLst>
              <a:gd name="adj" fmla="val 12000"/>
            </a:avLst>
          </a:prstGeom>
          <a:solidFill>
            <a:srgbClr val="F2F4F7"/>
          </a:solidFill>
          <a:ln>
            <a:noFill/>
          </a:ln>
        </p:spPr>
        <p:txBody>
          <a:bodyPr wrap="square" lIns="25400" tIns="25400" rIns="25400" bIns="25400" rtlCol="0" anchor="ctr"/>
          <a:lstStyle/>
          <a:p>
            <a:pPr marL="0" indent="0" algn="ctr">
              <a:buNone/>
            </a:pPr>
            <a:r>
              <a:rPr lang="en-US" sz="1100" b="1" dirty="0">
                <a:solidFill>
                  <a:srgbClr val="101828"/>
                </a:solidFill>
              </a:rPr>
              <a:t>공동 가능성 상향</a:t>
            </a:r>
            <a:endParaRPr lang="en-US" sz="1100" dirty="0"/>
          </a:p>
        </p:txBody>
      </p:sp>
      <p:sp>
        <p:nvSpPr>
          <p:cNvPr id="35" name="step chip"/>
          <p:cNvSpPr txBox="1"/>
          <p:nvPr/>
        </p:nvSpPr>
        <p:spPr>
          <a:xfrm>
            <a:off x="4495800" y="5562600"/>
            <a:ext cx="1346200" cy="457200"/>
          </a:xfrm>
          <a:prstGeom prst="roundRect">
            <a:avLst>
              <a:gd name="adj" fmla="val 12000"/>
            </a:avLst>
          </a:prstGeom>
          <a:solidFill>
            <a:srgbClr val="F2F4F7"/>
          </a:solidFill>
          <a:ln>
            <a:noFill/>
          </a:ln>
        </p:spPr>
        <p:txBody>
          <a:bodyPr wrap="square" lIns="25400" tIns="25400" rIns="25400" bIns="25400" rtlCol="0" anchor="ctr"/>
          <a:lstStyle/>
          <a:p>
            <a:pPr marL="0" indent="0" algn="ctr">
              <a:buNone/>
            </a:pPr>
            <a:r>
              <a:rPr lang="en-US" sz="1100" b="1" dirty="0">
                <a:solidFill>
                  <a:srgbClr val="101828"/>
                </a:solidFill>
              </a:rPr>
              <a:t>정밀조사 요청</a:t>
            </a:r>
            <a:endParaRPr lang="en-US" sz="1100" dirty="0"/>
          </a:p>
        </p:txBody>
      </p:sp>
      <p:sp>
        <p:nvSpPr>
          <p:cNvPr id="36" name="step chip"/>
          <p:cNvSpPr txBox="1"/>
          <p:nvPr/>
        </p:nvSpPr>
        <p:spPr>
          <a:xfrm>
            <a:off x="5930900" y="5562600"/>
            <a:ext cx="1346200" cy="457200"/>
          </a:xfrm>
          <a:prstGeom prst="roundRect">
            <a:avLst>
              <a:gd name="adj" fmla="val 12000"/>
            </a:avLst>
          </a:prstGeom>
          <a:solidFill>
            <a:srgbClr val="0B1F3A"/>
          </a:solidFill>
          <a:ln>
            <a:noFill/>
          </a:ln>
        </p:spPr>
        <p:txBody>
          <a:bodyPr wrap="square" lIns="25400" tIns="25400" rIns="25400" bIns="25400" rtlCol="0" anchor="ctr"/>
          <a:lstStyle/>
          <a:p>
            <a:pPr marL="0" indent="0" algn="ctr">
              <a:buNone/>
            </a:pPr>
            <a:r>
              <a:rPr lang="en-US" sz="1100" b="1" dirty="0">
                <a:solidFill>
                  <a:srgbClr val="FFFFFF"/>
                </a:solidFill>
              </a:rPr>
              <a:t>도로관리기관 승인</a:t>
            </a:r>
            <a:endParaRPr lang="en-US" sz="1100" dirty="0"/>
          </a:p>
        </p:txBody>
      </p:sp>
      <p:sp>
        <p:nvSpPr>
          <p:cNvPr id="37" name="step chip"/>
          <p:cNvSpPr txBox="1"/>
          <p:nvPr/>
        </p:nvSpPr>
        <p:spPr>
          <a:xfrm>
            <a:off x="7366000" y="5562600"/>
            <a:ext cx="1346200" cy="457200"/>
          </a:xfrm>
          <a:prstGeom prst="roundRect">
            <a:avLst>
              <a:gd name="adj" fmla="val 12000"/>
            </a:avLst>
          </a:prstGeom>
          <a:solidFill>
            <a:srgbClr val="0B1F3A"/>
          </a:solidFill>
          <a:ln>
            <a:noFill/>
          </a:ln>
        </p:spPr>
        <p:txBody>
          <a:bodyPr wrap="square" lIns="25400" tIns="25400" rIns="25400" bIns="25400" rtlCol="0" anchor="ctr"/>
          <a:lstStyle/>
          <a:p>
            <a:pPr marL="0" indent="0" algn="ctr">
              <a:buNone/>
            </a:pPr>
            <a:r>
              <a:rPr lang="en-US" sz="1100" b="1" dirty="0">
                <a:solidFill>
                  <a:srgbClr val="FFFFFF"/>
                </a:solidFill>
              </a:rPr>
              <a:t>교통통제·천공</a:t>
            </a:r>
            <a:endParaRPr lang="en-US" sz="1100" dirty="0"/>
          </a:p>
        </p:txBody>
      </p:sp>
      <p:sp>
        <p:nvSpPr>
          <p:cNvPr id="38" name="step chip"/>
          <p:cNvSpPr txBox="1"/>
          <p:nvPr/>
        </p:nvSpPr>
        <p:spPr>
          <a:xfrm>
            <a:off x="8801100" y="5562600"/>
            <a:ext cx="1346200" cy="457200"/>
          </a:xfrm>
          <a:prstGeom prst="roundRect">
            <a:avLst>
              <a:gd name="adj" fmla="val 12000"/>
            </a:avLst>
          </a:prstGeom>
          <a:solidFill>
            <a:srgbClr val="F2F4F7"/>
          </a:solidFill>
          <a:ln>
            <a:noFill/>
          </a:ln>
        </p:spPr>
        <p:txBody>
          <a:bodyPr wrap="square" lIns="25400" tIns="25400" rIns="25400" bIns="25400" rtlCol="0" anchor="ctr"/>
          <a:lstStyle/>
          <a:p>
            <a:pPr marL="0" indent="0" algn="ctr">
              <a:buNone/>
            </a:pPr>
            <a:r>
              <a:rPr lang="en-US" sz="1100" b="1" dirty="0">
                <a:solidFill>
                  <a:srgbClr val="101828"/>
                </a:solidFill>
              </a:rPr>
              <a:t>내시경 확인</a:t>
            </a:r>
            <a:endParaRPr lang="en-US" sz="1100" dirty="0"/>
          </a:p>
        </p:txBody>
      </p:sp>
      <p:sp>
        <p:nvSpPr>
          <p:cNvPr id="39" name="step chip"/>
          <p:cNvSpPr txBox="1"/>
          <p:nvPr/>
        </p:nvSpPr>
        <p:spPr>
          <a:xfrm>
            <a:off x="10236200" y="5562600"/>
            <a:ext cx="1346200" cy="457200"/>
          </a:xfrm>
          <a:prstGeom prst="roundRect">
            <a:avLst>
              <a:gd name="adj" fmla="val 12000"/>
            </a:avLst>
          </a:prstGeom>
          <a:solidFill>
            <a:srgbClr val="F2F4F7"/>
          </a:solidFill>
          <a:ln>
            <a:noFill/>
          </a:ln>
        </p:spPr>
        <p:txBody>
          <a:bodyPr wrap="square" lIns="25400" tIns="25400" rIns="25400" bIns="25400" rtlCol="0" anchor="ctr"/>
          <a:lstStyle/>
          <a:p>
            <a:pPr marL="0" indent="0" algn="ctr">
              <a:buNone/>
            </a:pPr>
            <a:r>
              <a:rPr lang="en-US" sz="1100" b="1" dirty="0">
                <a:solidFill>
                  <a:srgbClr val="101828"/>
                </a:solidFill>
              </a:rPr>
              <a:t>복구·지속 관찰</a:t>
            </a:r>
            <a:endParaRPr lang="en-US" sz="1100" dirty="0"/>
          </a:p>
        </p:txBody>
      </p:sp>
      <p:sp>
        <p:nvSpPr>
          <p:cNvPr id="40" name="steps note"/>
          <p:cNvSpPr txBox="1"/>
          <p:nvPr/>
        </p:nvSpPr>
        <p:spPr>
          <a:xfrm>
            <a:off x="1625600" y="6070600"/>
            <a:ext cx="10007600" cy="228600"/>
          </a:xfrm>
          <a:prstGeom prst="rect">
            <a:avLst/>
          </a:prstGeom>
          <a:noFill/>
          <a:ln>
            <a:noFill/>
          </a:ln>
        </p:spPr>
        <p:txBody>
          <a:bodyPr wrap="square" lIns="0" tIns="0" rIns="0" bIns="0" rtlCol="0" anchor="t"/>
          <a:lstStyle/>
          <a:p>
            <a:pPr marL="0" indent="0">
              <a:buNone/>
            </a:pPr>
            <a:r>
              <a:rPr lang="en-US" sz="1100" dirty="0">
                <a:solidFill>
                  <a:srgbClr val="5B6573"/>
                </a:solidFill>
              </a:rPr>
              <a:t>천공·내시경은 관계기관 승인과 교통통제 뒤에만 합니다. 확인 결과는 4D 지도와 AI 검증 데이터로 돌아갑니다.</a:t>
            </a:r>
            <a:endParaRPr lang="en-US" sz="11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기술 검증</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장비를 모두 실어도 차량 한도 안에 들어오는지 먼저 확인한다</a:t>
            </a:r>
            <a:endParaRPr lang="en-US" sz="1900" dirty="0"/>
          </a:p>
        </p:txBody>
      </p:sp>
      <p:sp>
        <p:nvSpPr>
          <p:cNvPr id="5"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공개된 기준값과 차량 제원으로 설계 범위를 잡고, 실제 수치는 시험으로 채웁니다.</a:t>
            </a:r>
            <a:endParaRPr lang="en-US" sz="1600" dirty="0"/>
          </a:p>
        </p:txBody>
      </p:sp>
      <p:sp>
        <p:nvSpPr>
          <p:cNvPr id="6"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pic>
        <p:nvPicPr>
          <p:cNvPr id="7" name="cutaway" descr="cutaway.png"/>
          <p:cNvPicPr>
            <a:picLocks noChangeAspect="1"/>
          </p:cNvPicPr>
          <p:nvPr/>
        </p:nvPicPr>
        <p:blipFill>
          <a:blip r:embed="rId2"/>
          <a:stretch>
            <a:fillRect/>
          </a:stretch>
        </p:blipFill>
        <p:spPr>
          <a:xfrm>
            <a:off x="546100" y="1498600"/>
            <a:ext cx="5461000" cy="2438400"/>
          </a:xfrm>
          <a:prstGeom prst="rect">
            <a:avLst/>
          </a:prstGeom>
        </p:spPr>
      </p:pic>
      <p:sp>
        <p:nvSpPr>
          <p:cNvPr id="8" name="caption"/>
          <p:cNvSpPr txBox="1"/>
          <p:nvPr/>
        </p:nvSpPr>
        <p:spPr>
          <a:xfrm>
            <a:off x="546100" y="3962400"/>
            <a:ext cx="5461000" cy="228600"/>
          </a:xfrm>
          <a:prstGeom prst="rect">
            <a:avLst/>
          </a:prstGeom>
          <a:noFill/>
          <a:ln>
            <a:noFill/>
          </a:ln>
        </p:spPr>
        <p:txBody>
          <a:bodyPr wrap="square" lIns="0" tIns="0" rIns="0" bIns="0" rtlCol="0" anchor="t"/>
          <a:lstStyle/>
          <a:p>
            <a:pPr marL="0" indent="0">
              <a:buNone/>
            </a:pPr>
            <a:r>
              <a:rPr lang="en-US" sz="1100" dirty="0">
                <a:solidFill>
                  <a:srgbClr val="8A94A3"/>
                </a:solidFill>
              </a:rPr>
              <a:t>장비 배치 개념도(제안안, 팀 자체 제작 일러스트)</a:t>
            </a:r>
            <a:endParaRPr lang="en-US" sz="1100" dirty="0"/>
          </a:p>
        </p:txBody>
      </p:sp>
      <p:sp>
        <p:nvSpPr>
          <p:cNvPr id="9" name="head"/>
          <p:cNvSpPr txBox="1"/>
          <p:nvPr/>
        </p:nvSpPr>
        <p:spPr>
          <a:xfrm>
            <a:off x="546100" y="4318000"/>
            <a:ext cx="5461000" cy="279400"/>
          </a:xfrm>
          <a:prstGeom prst="rect">
            <a:avLst/>
          </a:prstGeom>
          <a:noFill/>
          <a:ln>
            <a:noFill/>
          </a:ln>
        </p:spPr>
        <p:txBody>
          <a:bodyPr wrap="square" lIns="0" tIns="0" rIns="0" bIns="0" rtlCol="0" anchor="t"/>
          <a:lstStyle/>
          <a:p>
            <a:pPr marL="0" indent="0">
              <a:buNone/>
            </a:pPr>
            <a:r>
              <a:rPr lang="en-US" sz="1500" b="1" dirty="0">
                <a:solidFill>
                  <a:srgbClr val="101828"/>
                </a:solidFill>
              </a:rPr>
              <a:t>차량 한도(기아 공개 제원, PV5 카고 롱·롱레인지)</a:t>
            </a:r>
            <a:endParaRPr lang="en-US" sz="1500" dirty="0"/>
          </a:p>
        </p:txBody>
      </p:sp>
      <p:sp>
        <p:nvSpPr>
          <p:cNvPr id="10" name="limits"/>
          <p:cNvSpPr txBox="1"/>
          <p:nvPr/>
        </p:nvSpPr>
        <p:spPr>
          <a:xfrm>
            <a:off x="546100" y="4648200"/>
            <a:ext cx="5461000" cy="1397000"/>
          </a:xfrm>
          <a:prstGeom prst="rect">
            <a:avLst/>
          </a:prstGeom>
          <a:noFill/>
          <a:ln>
            <a:noFill/>
          </a:ln>
        </p:spPr>
        <p:txBody>
          <a:bodyPr wrap="square" lIns="0" tIns="0" rIns="0" bIns="0" rtlCol="0" anchor="t"/>
          <a:lstStyle/>
          <a:p>
            <a:pPr marL="171450" indent="-171450">
              <a:spcAft>
                <a:spcPts val="400"/>
              </a:spcAft>
              <a:buFont typeface="Arial"/>
              <a:buChar char="•"/>
            </a:pPr>
            <a:r>
              <a:rPr lang="en-US" sz="1300" dirty="0">
                <a:solidFill>
                  <a:srgbClr val="5B6573"/>
                </a:solidFill>
              </a:rPr>
              <a:t>실내·실외 220V V2L 최대 3.6kW(선택 사양)</a:t>
            </a:r>
            <a:endParaRPr lang="en-US" sz="1300" dirty="0"/>
          </a:p>
          <a:p>
            <a:pPr marL="171450" indent="-171450">
              <a:spcAft>
                <a:spcPts val="400"/>
              </a:spcAft>
              <a:buFont typeface="Arial"/>
              <a:buChar char="•"/>
            </a:pPr>
            <a:r>
              <a:rPr lang="en-US" sz="1300" dirty="0">
                <a:solidFill>
                  <a:srgbClr val="5B6573"/>
                </a:solidFill>
              </a:rPr>
              <a:t>카고룸 2,255×1,565×1,520mm(4,420L), 적재고 419mm</a:t>
            </a:r>
            <a:endParaRPr lang="en-US" sz="1300" dirty="0"/>
          </a:p>
          <a:p>
            <a:pPr marL="171450" indent="-171450">
              <a:spcAft>
                <a:spcPts val="400"/>
              </a:spcAft>
              <a:buFont typeface="Arial"/>
              <a:buChar char="•"/>
            </a:pPr>
            <a:r>
              <a:rPr lang="en-US" sz="1300" dirty="0">
                <a:solidFill>
                  <a:srgbClr val="5B6573"/>
                </a:solidFill>
              </a:rPr>
              <a:t>1회 충전 주행거리 377km(71.2kWh)</a:t>
            </a:r>
            <a:endParaRPr lang="en-US" sz="1300" dirty="0"/>
          </a:p>
          <a:p>
            <a:pPr marL="171450" indent="-171450">
              <a:spcAft>
                <a:spcPts val="400"/>
              </a:spcAft>
              <a:buFont typeface="Arial"/>
              <a:buChar char="•"/>
            </a:pPr>
            <a:r>
              <a:rPr lang="en-US" sz="1300" dirty="0">
                <a:solidFill>
                  <a:srgbClr val="5B6573"/>
                </a:solidFill>
              </a:rPr>
              <a:t>최대 적재량 600kg(3도어)·550kg(4도어), 제작허용총중량 2,680kg</a:t>
            </a:r>
            <a:endParaRPr lang="en-US" sz="1300" dirty="0"/>
          </a:p>
          <a:p>
            <a:pPr marL="171450" indent="-171450">
              <a:spcAft>
                <a:spcPts val="400"/>
              </a:spcAft>
              <a:buFont typeface="Arial"/>
              <a:buChar char="•"/>
            </a:pPr>
            <a:r>
              <a:rPr lang="en-US" sz="1300" dirty="0">
                <a:solidFill>
                  <a:srgbClr val="5B6573"/>
                </a:solidFill>
              </a:rPr>
              <a:t>축하중은 공식 자료에 없음 </a:t>
            </a:r>
            <a:r>
              <a:rPr lang="en-US" sz="1300" b="1" dirty="0">
                <a:solidFill>
                  <a:srgbClr val="D93025"/>
                </a:solidFill>
              </a:rPr>
              <a:t>[추가 확인 필요]</a:t>
            </a:r>
            <a:endParaRPr lang="en-US" sz="1300" dirty="0"/>
          </a:p>
        </p:txBody>
      </p:sp>
      <p:sp>
        <p:nvSpPr>
          <p:cNvPr id="11" name="head"/>
          <p:cNvSpPr txBox="1"/>
          <p:nvPr/>
        </p:nvSpPr>
        <p:spPr>
          <a:xfrm>
            <a:off x="6350000" y="1498600"/>
            <a:ext cx="5283200" cy="279400"/>
          </a:xfrm>
          <a:prstGeom prst="rect">
            <a:avLst/>
          </a:prstGeom>
          <a:noFill/>
          <a:ln>
            <a:noFill/>
          </a:ln>
        </p:spPr>
        <p:txBody>
          <a:bodyPr wrap="square" lIns="0" tIns="0" rIns="0" bIns="0" rtlCol="0" anchor="t"/>
          <a:lstStyle/>
          <a:p>
            <a:pPr marL="0" indent="0">
              <a:buNone/>
            </a:pPr>
            <a:r>
              <a:rPr lang="en-US" sz="1500" b="1" dirty="0">
                <a:solidFill>
                  <a:srgbClr val="101828"/>
                </a:solidFill>
              </a:rPr>
              <a:t>탐사 기준값(공개 자료)</a:t>
            </a:r>
            <a:endParaRPr lang="en-US" sz="1500" dirty="0"/>
          </a:p>
        </p:txBody>
      </p:sp>
      <p:sp>
        <p:nvSpPr>
          <p:cNvPr id="12" name="baseline"/>
          <p:cNvSpPr txBox="1"/>
          <p:nvPr/>
        </p:nvSpPr>
        <p:spPr>
          <a:xfrm>
            <a:off x="6350000" y="1828800"/>
            <a:ext cx="5283200" cy="1066800"/>
          </a:xfrm>
          <a:prstGeom prst="rect">
            <a:avLst/>
          </a:prstGeom>
          <a:noFill/>
          <a:ln>
            <a:noFill/>
          </a:ln>
        </p:spPr>
        <p:txBody>
          <a:bodyPr wrap="square" lIns="0" tIns="0" rIns="0" bIns="0" rtlCol="0" anchor="t"/>
          <a:lstStyle/>
          <a:p>
            <a:pPr marL="171450" indent="-171450">
              <a:spcAft>
                <a:spcPts val="300"/>
              </a:spcAft>
              <a:buFont typeface="Arial"/>
              <a:buChar char="•"/>
            </a:pPr>
            <a:r>
              <a:rPr lang="en-US" sz="1300" dirty="0">
                <a:solidFill>
                  <a:srgbClr val="5B6573"/>
                </a:solidFill>
              </a:rPr>
              <a:t>탐사 속도 시속 5~30km(서울 차량형 GPR 현장 보도)</a:t>
            </a:r>
            <a:endParaRPr lang="en-US" sz="1300" dirty="0"/>
          </a:p>
          <a:p>
            <a:pPr marL="171450" indent="-171450">
              <a:spcAft>
                <a:spcPts val="300"/>
              </a:spcAft>
              <a:buFont typeface="Arial"/>
              <a:buChar char="•"/>
            </a:pPr>
            <a:r>
              <a:rPr lang="en-US" sz="1300" dirty="0">
                <a:solidFill>
                  <a:srgbClr val="5B6573"/>
                </a:solidFill>
              </a:rPr>
              <a:t>1회 통과 탐사 폭 3m 이내(서울시 2015 탐사용역)</a:t>
            </a:r>
            <a:endParaRPr lang="en-US" sz="1300" dirty="0"/>
          </a:p>
          <a:p>
            <a:pPr marL="171450" indent="-171450">
              <a:spcAft>
                <a:spcPts val="300"/>
              </a:spcAft>
              <a:buFont typeface="Arial"/>
              <a:buChar char="•"/>
            </a:pPr>
            <a:r>
              <a:rPr lang="en-US" sz="1300" dirty="0">
                <a:solidFill>
                  <a:srgbClr val="5B6573"/>
                </a:solidFill>
              </a:rPr>
              <a:t>탐지 깊이 약 2m 안팎(고주파 GPR)</a:t>
            </a:r>
            <a:endParaRPr lang="en-US" sz="1300" dirty="0"/>
          </a:p>
          <a:p>
            <a:pPr marL="171450" indent="-171450">
              <a:spcAft>
                <a:spcPts val="300"/>
              </a:spcAft>
              <a:buFont typeface="Arial"/>
              <a:buChar char="•"/>
            </a:pPr>
            <a:r>
              <a:rPr lang="en-US" sz="1300" dirty="0">
                <a:solidFill>
                  <a:srgbClr val="5B6573"/>
                </a:solidFill>
              </a:rPr>
              <a:t>위치: RTK-GNSS, IMU, 휠 인코더 결합</a:t>
            </a:r>
            <a:endParaRPr lang="en-US" sz="1300" dirty="0"/>
          </a:p>
        </p:txBody>
      </p:sp>
      <p:sp>
        <p:nvSpPr>
          <p:cNvPr id="13" name="head"/>
          <p:cNvSpPr txBox="1"/>
          <p:nvPr/>
        </p:nvSpPr>
        <p:spPr>
          <a:xfrm>
            <a:off x="6350000" y="2997200"/>
            <a:ext cx="5283200" cy="279400"/>
          </a:xfrm>
          <a:prstGeom prst="rect">
            <a:avLst/>
          </a:prstGeom>
          <a:noFill/>
          <a:ln>
            <a:noFill/>
          </a:ln>
        </p:spPr>
        <p:txBody>
          <a:bodyPr wrap="square" lIns="0" tIns="0" rIns="0" bIns="0" rtlCol="0" anchor="t"/>
          <a:lstStyle/>
          <a:p>
            <a:pPr marL="0" indent="0">
              <a:buNone/>
            </a:pPr>
            <a:r>
              <a:rPr lang="en-US" sz="1500" b="1" dirty="0">
                <a:solidFill>
                  <a:srgbClr val="101828"/>
                </a:solidFill>
              </a:rPr>
              <a:t>설계 통과 기준</a:t>
            </a:r>
            <a:endParaRPr lang="en-US" sz="1500" dirty="0"/>
          </a:p>
        </p:txBody>
      </p:sp>
      <p:sp>
        <p:nvSpPr>
          <p:cNvPr id="14" name="check no"/>
          <p:cNvSpPr txBox="1"/>
          <p:nvPr/>
        </p:nvSpPr>
        <p:spPr>
          <a:xfrm>
            <a:off x="6350000" y="3352800"/>
            <a:ext cx="279400" cy="279400"/>
          </a:xfrm>
          <a:prstGeom prst="ellipse">
            <a:avLst/>
          </a:prstGeom>
          <a:solidFill>
            <a:srgbClr val="0B1F3A"/>
          </a:solidFill>
          <a:ln>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15" name="check"/>
          <p:cNvSpPr txBox="1"/>
          <p:nvPr/>
        </p:nvSpPr>
        <p:spPr>
          <a:xfrm>
            <a:off x="6731000" y="3327400"/>
            <a:ext cx="4902200" cy="508000"/>
          </a:xfrm>
          <a:prstGeom prst="rect">
            <a:avLst/>
          </a:prstGeom>
          <a:noFill/>
          <a:ln>
            <a:noFill/>
          </a:ln>
        </p:spPr>
        <p:txBody>
          <a:bodyPr wrap="square" lIns="0" tIns="0" rIns="0" bIns="0" rtlCol="0" anchor="t"/>
          <a:lstStyle/>
          <a:p>
            <a:pPr marL="0" indent="0">
              <a:buNone/>
            </a:pPr>
            <a:r>
              <a:rPr lang="en-US" sz="1300" dirty="0">
                <a:solidFill>
                  <a:srgbClr val="101828"/>
                </a:solidFill>
              </a:rPr>
              <a:t>장비 소비전력 합계가 V2L 3.6kW 안에서 여유를 남긴다</a:t>
            </a:r>
            <a:endParaRPr lang="en-US" sz="1300" dirty="0"/>
          </a:p>
          <a:p>
            <a:pPr marL="0" indent="0">
              <a:buNone/>
            </a:pPr>
            <a:r>
              <a:rPr lang="en-US" sz="1100" b="1" dirty="0">
                <a:solidFill>
                  <a:srgbClr val="D93025"/>
                </a:solidFill>
              </a:rPr>
              <a:t>[실증 목표값 입력]</a:t>
            </a:r>
            <a:endParaRPr lang="en-US" sz="1300" dirty="0"/>
          </a:p>
        </p:txBody>
      </p:sp>
      <p:sp>
        <p:nvSpPr>
          <p:cNvPr id="16" name="check no"/>
          <p:cNvSpPr txBox="1"/>
          <p:nvPr/>
        </p:nvSpPr>
        <p:spPr>
          <a:xfrm>
            <a:off x="6350000" y="3898900"/>
            <a:ext cx="279400" cy="279400"/>
          </a:xfrm>
          <a:prstGeom prst="ellipse">
            <a:avLst/>
          </a:prstGeom>
          <a:solidFill>
            <a:srgbClr val="0B1F3A"/>
          </a:solidFill>
          <a:ln>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17" name="check"/>
          <p:cNvSpPr txBox="1"/>
          <p:nvPr/>
        </p:nvSpPr>
        <p:spPr>
          <a:xfrm>
            <a:off x="6731000" y="3873500"/>
            <a:ext cx="4902200" cy="508000"/>
          </a:xfrm>
          <a:prstGeom prst="rect">
            <a:avLst/>
          </a:prstGeom>
          <a:noFill/>
          <a:ln>
            <a:noFill/>
          </a:ln>
        </p:spPr>
        <p:txBody>
          <a:bodyPr wrap="square" lIns="0" tIns="0" rIns="0" bIns="0" rtlCol="0" anchor="t"/>
          <a:lstStyle/>
          <a:p>
            <a:pPr marL="0" indent="0">
              <a:buNone/>
            </a:pPr>
            <a:r>
              <a:rPr lang="en-US" sz="1300" dirty="0">
                <a:solidFill>
                  <a:srgbClr val="101828"/>
                </a:solidFill>
              </a:rPr>
              <a:t>장비 총중량이 적재 한도(550~600kg)와 축하중 안에 든다</a:t>
            </a:r>
            <a:endParaRPr lang="en-US" sz="1300" dirty="0"/>
          </a:p>
          <a:p>
            <a:pPr marL="0" indent="0">
              <a:buNone/>
            </a:pPr>
            <a:r>
              <a:rPr lang="en-US" sz="1100" b="1" dirty="0">
                <a:solidFill>
                  <a:srgbClr val="D93025"/>
                </a:solidFill>
              </a:rPr>
              <a:t>[실증 필요]</a:t>
            </a:r>
            <a:endParaRPr lang="en-US" sz="1300" dirty="0"/>
          </a:p>
        </p:txBody>
      </p:sp>
      <p:sp>
        <p:nvSpPr>
          <p:cNvPr id="18" name="check no"/>
          <p:cNvSpPr txBox="1"/>
          <p:nvPr/>
        </p:nvSpPr>
        <p:spPr>
          <a:xfrm>
            <a:off x="6350000" y="4445000"/>
            <a:ext cx="279400" cy="279400"/>
          </a:xfrm>
          <a:prstGeom prst="ellipse">
            <a:avLst/>
          </a:prstGeom>
          <a:solidFill>
            <a:srgbClr val="0B1F3A"/>
          </a:solidFill>
          <a:ln>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19" name="check"/>
          <p:cNvSpPr txBox="1"/>
          <p:nvPr/>
        </p:nvSpPr>
        <p:spPr>
          <a:xfrm>
            <a:off x="6731000" y="4419600"/>
            <a:ext cx="4902200" cy="508000"/>
          </a:xfrm>
          <a:prstGeom prst="rect">
            <a:avLst/>
          </a:prstGeom>
          <a:noFill/>
          <a:ln>
            <a:noFill/>
          </a:ln>
        </p:spPr>
        <p:txBody>
          <a:bodyPr wrap="square" lIns="0" tIns="0" rIns="0" bIns="0" rtlCol="0" anchor="t"/>
          <a:lstStyle/>
          <a:p>
            <a:pPr marL="0" indent="0">
              <a:buNone/>
            </a:pPr>
            <a:r>
              <a:rPr lang="en-US" sz="1300" dirty="0">
                <a:solidFill>
                  <a:srgbClr val="101828"/>
                </a:solidFill>
              </a:rPr>
              <a:t>하루 순찰 뒤에도 복귀·충전에 필요한 배터리가 남는다</a:t>
            </a:r>
            <a:endParaRPr lang="en-US" sz="1300" dirty="0"/>
          </a:p>
          <a:p>
            <a:pPr marL="0" indent="0">
              <a:buNone/>
            </a:pPr>
            <a:r>
              <a:rPr lang="en-US" sz="1100" b="1" dirty="0">
                <a:solidFill>
                  <a:srgbClr val="D93025"/>
                </a:solidFill>
              </a:rPr>
              <a:t>[실증 목표값 입력]</a:t>
            </a:r>
            <a:endParaRPr lang="en-US" sz="1300" dirty="0"/>
          </a:p>
        </p:txBody>
      </p:sp>
      <p:sp>
        <p:nvSpPr>
          <p:cNvPr id="20" name="check no"/>
          <p:cNvSpPr txBox="1"/>
          <p:nvPr/>
        </p:nvSpPr>
        <p:spPr>
          <a:xfrm>
            <a:off x="6350000" y="4991100"/>
            <a:ext cx="279400" cy="279400"/>
          </a:xfrm>
          <a:prstGeom prst="ellipse">
            <a:avLst/>
          </a:prstGeom>
          <a:solidFill>
            <a:srgbClr val="0B1F3A"/>
          </a:solidFill>
          <a:ln>
            <a:noFill/>
          </a:ln>
        </p:spPr>
        <p:txBody>
          <a:bodyPr wrap="square" lIns="0" tIns="0" rIns="0" bIns="0" rtlCol="0" anchor="ctr"/>
          <a:lstStyle/>
          <a:p>
            <a:pPr marL="0" indent="0" algn="ctr">
              <a:buNone/>
            </a:pPr>
            <a:r>
              <a:rPr lang="en-US" sz="1200" b="1" dirty="0">
                <a:solidFill>
                  <a:srgbClr val="FFFFFF"/>
                </a:solidFill>
              </a:rPr>
              <a:t>4</a:t>
            </a:r>
            <a:endParaRPr lang="en-US" sz="1200" dirty="0"/>
          </a:p>
        </p:txBody>
      </p:sp>
      <p:sp>
        <p:nvSpPr>
          <p:cNvPr id="21" name="check"/>
          <p:cNvSpPr txBox="1"/>
          <p:nvPr/>
        </p:nvSpPr>
        <p:spPr>
          <a:xfrm>
            <a:off x="6731000" y="4965700"/>
            <a:ext cx="4902200" cy="508000"/>
          </a:xfrm>
          <a:prstGeom prst="rect">
            <a:avLst/>
          </a:prstGeom>
          <a:noFill/>
          <a:ln>
            <a:noFill/>
          </a:ln>
        </p:spPr>
        <p:txBody>
          <a:bodyPr wrap="square" lIns="0" tIns="0" rIns="0" bIns="0" rtlCol="0" anchor="t"/>
          <a:lstStyle/>
          <a:p>
            <a:pPr marL="0" indent="0">
              <a:buNone/>
            </a:pPr>
            <a:r>
              <a:rPr lang="en-US" sz="1300" dirty="0">
                <a:solidFill>
                  <a:srgbClr val="101828"/>
                </a:solidFill>
              </a:rPr>
              <a:t>후방 안테나가 과속방지턱·경사로를 지나도 닿지 않는다</a:t>
            </a:r>
            <a:endParaRPr lang="en-US" sz="1300" dirty="0"/>
          </a:p>
          <a:p>
            <a:pPr marL="0" indent="0">
              <a:buNone/>
            </a:pPr>
            <a:r>
              <a:rPr lang="en-US" sz="1100" b="1" dirty="0">
                <a:solidFill>
                  <a:srgbClr val="D93025"/>
                </a:solidFill>
              </a:rPr>
              <a:t>[실증 필요]</a:t>
            </a:r>
            <a:endParaRPr lang="en-US" sz="1300" dirty="0"/>
          </a:p>
        </p:txBody>
      </p:sp>
      <p:sp>
        <p:nvSpPr>
          <p:cNvPr id="22" name="check no"/>
          <p:cNvSpPr txBox="1"/>
          <p:nvPr/>
        </p:nvSpPr>
        <p:spPr>
          <a:xfrm>
            <a:off x="6350000" y="5537200"/>
            <a:ext cx="279400" cy="279400"/>
          </a:xfrm>
          <a:prstGeom prst="ellipse">
            <a:avLst/>
          </a:prstGeom>
          <a:solidFill>
            <a:srgbClr val="0B1F3A"/>
          </a:solidFill>
          <a:ln>
            <a:noFill/>
          </a:ln>
        </p:spPr>
        <p:txBody>
          <a:bodyPr wrap="square" lIns="0" tIns="0" rIns="0" bIns="0" rtlCol="0" anchor="ctr"/>
          <a:lstStyle/>
          <a:p>
            <a:pPr marL="0" indent="0" algn="ctr">
              <a:buNone/>
            </a:pPr>
            <a:r>
              <a:rPr lang="en-US" sz="1200" b="1" dirty="0">
                <a:solidFill>
                  <a:srgbClr val="FFFFFF"/>
                </a:solidFill>
              </a:rPr>
              <a:t>5</a:t>
            </a:r>
            <a:endParaRPr lang="en-US" sz="1200" dirty="0"/>
          </a:p>
        </p:txBody>
      </p:sp>
      <p:sp>
        <p:nvSpPr>
          <p:cNvPr id="23" name="check"/>
          <p:cNvSpPr txBox="1"/>
          <p:nvPr/>
        </p:nvSpPr>
        <p:spPr>
          <a:xfrm>
            <a:off x="6731000" y="5511800"/>
            <a:ext cx="4902200" cy="508000"/>
          </a:xfrm>
          <a:prstGeom prst="rect">
            <a:avLst/>
          </a:prstGeom>
          <a:noFill/>
          <a:ln>
            <a:noFill/>
          </a:ln>
        </p:spPr>
        <p:txBody>
          <a:bodyPr wrap="square" lIns="0" tIns="0" rIns="0" bIns="0" rtlCol="0" anchor="t"/>
          <a:lstStyle/>
          <a:p>
            <a:pPr marL="0" indent="0">
              <a:buNone/>
            </a:pPr>
            <a:r>
              <a:rPr lang="en-US" sz="1300" dirty="0">
                <a:solidFill>
                  <a:srgbClr val="101828"/>
                </a:solidFill>
              </a:rPr>
              <a:t>전파법상 적합성평가를 받은 GPR 장비만 쓴다</a:t>
            </a:r>
            <a:endParaRPr lang="en-US" sz="1300" dirty="0"/>
          </a:p>
          <a:p>
            <a:pPr marL="0" indent="0">
              <a:buNone/>
            </a:pPr>
            <a:r>
              <a:rPr lang="en-US" sz="1100" b="1" dirty="0">
                <a:solidFill>
                  <a:srgbClr val="D93025"/>
                </a:solidFill>
              </a:rPr>
              <a:t>[실증 필요]</a:t>
            </a:r>
            <a:endParaRPr lang="en-US" sz="1300" dirty="0"/>
          </a:p>
        </p:txBody>
      </p:sp>
      <p:sp>
        <p:nvSpPr>
          <p:cNvPr id="24"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출처: 기아 PV5 카고 제원·가격표(적재량·총중량·V2L), 현대차그룹 「PV5의 모든 것」, 엔지니어링데일리(현장 보도), 서울시(2015), 세이프타임즈(약 2m).</a:t>
            </a:r>
            <a:endParaRPr lang="en-US" sz="10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규제와 안전</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실증 전에 확인할 규제 요건과 현장 안전 원칙</a:t>
            </a:r>
            <a:endParaRPr lang="en-US" sz="1900" dirty="0"/>
          </a:p>
        </p:txBody>
      </p:sp>
      <p:sp>
        <p:nvSpPr>
          <p:cNvPr id="4"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PV5에 장비를 달고 새벽 도로에서 일하려면 차량, 전파, 지하안전, 도로 작업, 정보 보호 요건을 먼저 확인해야 합니다.</a:t>
            </a:r>
            <a:endParaRPr lang="en-US" sz="16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6" name="table"/>
          <p:cNvGraphicFramePr>
            <a:graphicFrameLocks noGrp="1"/>
          </p:cNvGraphicFramePr>
          <p:nvPr/>
        </p:nvGraphicFramePr>
        <p:xfrm>
          <a:off x="546100" y="1498600"/>
          <a:ext cx="11087100" cy="3352800"/>
        </p:xfrm>
        <a:graphic>
          <a:graphicData uri="http://schemas.openxmlformats.org/drawingml/2006/table">
            <a:tbl>
              <a:tblPr/>
              <a:tblGrid>
                <a:gridCol w="1422400"/>
                <a:gridCol w="3810000"/>
                <a:gridCol w="4521200"/>
                <a:gridCol w="1333500"/>
              </a:tblGrid>
              <a:tr h="330200">
                <a:tc>
                  <a:txBody>
                    <a:bodyPr/>
                    <a:lstStyle/>
                    <a:p>
                      <a:pPr marL="0" indent="0">
                        <a:buNone/>
                      </a:pPr>
                      <a:r>
                        <a:rPr lang="en-US" sz="1200" b="1" dirty="0">
                          <a:solidFill>
                            <a:srgbClr val="5B6573"/>
                          </a:solidFill>
                        </a:rPr>
                        <a:t>영역</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확인할 것</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대응</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상태</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1800">
                <a:tc>
                  <a:txBody>
                    <a:bodyPr/>
                    <a:lstStyle/>
                    <a:p>
                      <a:pPr marL="0" indent="0">
                        <a:buNone/>
                      </a:pPr>
                      <a:r>
                        <a:rPr lang="en-US" sz="1200" b="1" dirty="0">
                          <a:solidFill>
                            <a:srgbClr val="101828"/>
                          </a:solidFill>
                        </a:rPr>
                        <a:t>차량 구조변경</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후방 안테나·루프 장비가 튜닝 승인 대상인지(자동차관리법 제34조)</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한국교통안전공단 승인 대상인지 확인(경미한 변경은 고시로 제외), 컨버전 포털의 제원·인증 서류로 준비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D93025"/>
                          </a:solidFill>
                        </a:rPr>
                        <a:t>[추가 확인 필요]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전파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GPR은 전파를 내보내는 장비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전파법상 적합성평가를 받은 장비만 사용, GPR 적용 기준 확인</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D93025"/>
                          </a:solidFill>
                        </a:rPr>
                        <a:t>[추가 확인 필요]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지하안전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지하안전법상 지반탐사 수행 요건, 지반탐사업 등록기준(국토부 2025.5 검토 발표)</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초기에는 지반탐사 전문업체와 공동 수행</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D93025"/>
                          </a:solidFill>
                        </a:rPr>
                        <a:t>[추가 확인 필요]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도로 작업</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저속 탐사, 정차 재탐사, 천공</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경광등은 일반 차량 부착 금지(도로교통법 제49조). 작업 표시는 관계기관과 협의, 천공은 승인·교통통제 뒤</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D93025"/>
                          </a:solidFill>
                        </a:rPr>
                        <a:t>[추가 확인 필요]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개인정보</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노면·전방 영상의 얼굴과 차량번호</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촬영 사실 표시, 저장·공유 전 얼굴·번호판 비식별화</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운영 원칙</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지하정보 보안</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지하시설물과 공동 위치 정보</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발주기관 지침대로 접근권한·저장 위치 관리, 외부 판매 없음</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운영 원칙</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인력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새벽 도로에서 운전·장비·교통 확인을 한 명이 다 하기 어려움</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초기 2인 1조(운전·안전 / 장비·판독), 주행 중 AR 사용 금지</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운영 원칙</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bl>
          </a:graphicData>
        </a:graphic>
      </p:graphicFrame>
      <p:sp>
        <p:nvSpPr>
          <p:cNvPr id="7" name="head"/>
          <p:cNvSpPr txBox="1"/>
          <p:nvPr/>
        </p:nvSpPr>
        <p:spPr>
          <a:xfrm>
            <a:off x="546100" y="5029200"/>
            <a:ext cx="11087100" cy="279400"/>
          </a:xfrm>
          <a:prstGeom prst="rect">
            <a:avLst/>
          </a:prstGeom>
          <a:noFill/>
          <a:ln>
            <a:noFill/>
          </a:ln>
        </p:spPr>
        <p:txBody>
          <a:bodyPr wrap="square" lIns="0" tIns="0" rIns="0" bIns="0" rtlCol="0" anchor="t"/>
          <a:lstStyle/>
          <a:p>
            <a:pPr marL="0" indent="0">
              <a:buNone/>
            </a:pPr>
            <a:r>
              <a:rPr lang="en-US" sz="1500" b="1" dirty="0">
                <a:solidFill>
                  <a:srgbClr val="101828"/>
                </a:solidFill>
              </a:rPr>
              <a:t>가장 먼저 확인할 세 가지</a:t>
            </a:r>
            <a:endParaRPr lang="en-US" sz="1500" dirty="0"/>
          </a:p>
        </p:txBody>
      </p:sp>
      <p:sp>
        <p:nvSpPr>
          <p:cNvPr id="8" name="first check"/>
          <p:cNvSpPr txBox="1"/>
          <p:nvPr/>
        </p:nvSpPr>
        <p:spPr>
          <a:xfrm>
            <a:off x="546100" y="5359400"/>
            <a:ext cx="3594100" cy="660400"/>
          </a:xfrm>
          <a:prstGeom prst="roundRect">
            <a:avLst>
              <a:gd name="adj" fmla="val 8000"/>
            </a:avLst>
          </a:prstGeom>
          <a:solidFill>
            <a:srgbClr val="F2F4F7"/>
          </a:solidFill>
          <a:ln>
            <a:noFill/>
          </a:ln>
        </p:spPr>
        <p:txBody>
          <a:bodyPr wrap="square" lIns="127000" tIns="127000" rIns="127000" bIns="127000" rtlCol="0" anchor="t"/>
          <a:lstStyle/>
          <a:p>
            <a:pPr marL="0" indent="0">
              <a:spcAft>
                <a:spcPts val="200"/>
              </a:spcAft>
              <a:buNone/>
            </a:pPr>
            <a:r>
              <a:rPr lang="en-US" sz="1400" b="1" dirty="0">
                <a:solidFill>
                  <a:srgbClr val="101828"/>
                </a:solidFill>
              </a:rPr>
              <a:t>튜닝 승인 대상 확인</a:t>
            </a:r>
            <a:endParaRPr lang="en-US" sz="1400" dirty="0"/>
          </a:p>
          <a:p>
            <a:pPr marL="0" indent="0">
              <a:spcAft>
                <a:spcPts val="200"/>
              </a:spcAft>
              <a:buNone/>
            </a:pPr>
            <a:r>
              <a:rPr lang="en-US" sz="1200" dirty="0">
                <a:solidFill>
                  <a:srgbClr val="5B6573"/>
                </a:solidFill>
              </a:rPr>
              <a:t>안테나 위치와 돌출 길이를 정하기 전에</a:t>
            </a:r>
            <a:endParaRPr lang="en-US" sz="1200" dirty="0"/>
          </a:p>
        </p:txBody>
      </p:sp>
      <p:sp>
        <p:nvSpPr>
          <p:cNvPr id="9" name="first check"/>
          <p:cNvSpPr txBox="1"/>
          <p:nvPr/>
        </p:nvSpPr>
        <p:spPr>
          <a:xfrm>
            <a:off x="4292600" y="5359400"/>
            <a:ext cx="3594100" cy="660400"/>
          </a:xfrm>
          <a:prstGeom prst="roundRect">
            <a:avLst>
              <a:gd name="adj" fmla="val 8000"/>
            </a:avLst>
          </a:prstGeom>
          <a:solidFill>
            <a:srgbClr val="F2F4F7"/>
          </a:solidFill>
          <a:ln>
            <a:noFill/>
          </a:ln>
        </p:spPr>
        <p:txBody>
          <a:bodyPr wrap="square" lIns="127000" tIns="127000" rIns="127000" bIns="127000" rtlCol="0" anchor="t"/>
          <a:lstStyle/>
          <a:p>
            <a:pPr marL="0" indent="0">
              <a:spcAft>
                <a:spcPts val="200"/>
              </a:spcAft>
              <a:buNone/>
            </a:pPr>
            <a:r>
              <a:rPr lang="en-US" sz="1400" b="1" dirty="0">
                <a:solidFill>
                  <a:srgbClr val="101828"/>
                </a:solidFill>
              </a:rPr>
              <a:t>GPR 장비 적합성평가</a:t>
            </a:r>
            <a:endParaRPr lang="en-US" sz="1400" dirty="0"/>
          </a:p>
          <a:p>
            <a:pPr marL="0" indent="0">
              <a:spcAft>
                <a:spcPts val="200"/>
              </a:spcAft>
              <a:buNone/>
            </a:pPr>
            <a:r>
              <a:rPr lang="en-US" sz="1200" dirty="0">
                <a:solidFill>
                  <a:srgbClr val="5B6573"/>
                </a:solidFill>
              </a:rPr>
              <a:t>장비 선정 단계에서 인증 여부 확인</a:t>
            </a:r>
            <a:endParaRPr lang="en-US" sz="1200" dirty="0"/>
          </a:p>
        </p:txBody>
      </p:sp>
      <p:sp>
        <p:nvSpPr>
          <p:cNvPr id="10" name="first check"/>
          <p:cNvSpPr txBox="1"/>
          <p:nvPr/>
        </p:nvSpPr>
        <p:spPr>
          <a:xfrm>
            <a:off x="8039100" y="5359400"/>
            <a:ext cx="3594100" cy="660400"/>
          </a:xfrm>
          <a:prstGeom prst="roundRect">
            <a:avLst>
              <a:gd name="adj" fmla="val 8000"/>
            </a:avLst>
          </a:prstGeom>
          <a:solidFill>
            <a:srgbClr val="F2F4F7"/>
          </a:solidFill>
          <a:ln>
            <a:noFill/>
          </a:ln>
        </p:spPr>
        <p:txBody>
          <a:bodyPr wrap="square" lIns="127000" tIns="127000" rIns="127000" bIns="127000" rtlCol="0" anchor="t"/>
          <a:lstStyle/>
          <a:p>
            <a:pPr marL="0" indent="0">
              <a:spcAft>
                <a:spcPts val="200"/>
              </a:spcAft>
              <a:buNone/>
            </a:pPr>
            <a:r>
              <a:rPr lang="en-US" sz="1400" b="1" dirty="0">
                <a:solidFill>
                  <a:srgbClr val="101828"/>
                </a:solidFill>
              </a:rPr>
              <a:t>지반탐사 수행 자격</a:t>
            </a:r>
            <a:endParaRPr lang="en-US" sz="1400" dirty="0"/>
          </a:p>
          <a:p>
            <a:pPr marL="0" indent="0">
              <a:spcAft>
                <a:spcPts val="200"/>
              </a:spcAft>
              <a:buNone/>
            </a:pPr>
            <a:r>
              <a:rPr lang="en-US" sz="1200" dirty="0">
                <a:solidFill>
                  <a:srgbClr val="5B6573"/>
                </a:solidFill>
              </a:rPr>
              <a:t>전문업체 공동 수행 범위와 책임 분담</a:t>
            </a:r>
            <a:endParaRPr lang="en-US" sz="1200" dirty="0"/>
          </a:p>
        </p:txBody>
      </p:sp>
      <p:sp>
        <p:nvSpPr>
          <p:cNvPr id="11"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실제 운영 전 자동차 구조변경, 전파, 지하안전, 도로교통, 산업안전보건, 개인정보보호, 공간정보 보안 관련 전문가 검토가 필요합니다.</a:t>
            </a:r>
            <a:endParaRPr lang="en-US" sz="10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실증 계획</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폐쇄 구간에서 시작해 실제 도로 운영까지 검증 범위를 넓힌다</a:t>
            </a:r>
            <a:endParaRPr lang="en-US" sz="19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sp>
        <p:nvSpPr>
          <p:cNvPr id="6" name="stage0"/>
          <p:cNvSpPr txBox="1"/>
          <p:nvPr/>
        </p:nvSpPr>
        <p:spPr>
          <a:xfrm>
            <a:off x="546100" y="1016000"/>
            <a:ext cx="11087100" cy="330200"/>
          </a:xfrm>
          <a:prstGeom prst="rect">
            <a:avLst/>
          </a:prstGeom>
          <a:solidFill>
            <a:srgbClr val="F2F4F7"/>
          </a:solidFill>
          <a:ln>
            <a:noFill/>
          </a:ln>
        </p:spPr>
        <p:txBody>
          <a:bodyPr wrap="square" lIns="101600" tIns="101600" rIns="101600" bIns="101600" rtlCol="0" anchor="ctr"/>
          <a:lstStyle/>
          <a:p>
            <a:pPr marL="0" indent="0">
              <a:buNone/>
            </a:pPr>
            <a:r>
              <a:rPr lang="en-US" sz="1300" b="1" dirty="0">
                <a:solidFill>
                  <a:srgbClr val="101828"/>
                </a:solidFill>
              </a:rPr>
              <a:t>0단계 수요 검증(0~4주)  </a:t>
            </a:r>
            <a:r>
              <a:rPr lang="en-US" sz="1300" dirty="0">
                <a:solidFill>
                  <a:srgbClr val="5B6573"/>
                </a:solidFill>
              </a:rPr>
              <a:t>지자체·탐사업체 인터뷰, 반복 탐사와 재확인 업무 현황, 단가 조사</a:t>
            </a:r>
            <a:endParaRPr lang="en-US" sz="1300" dirty="0"/>
          </a:p>
        </p:txBody>
      </p:sp>
      <p:sp>
        <p:nvSpPr>
          <p:cNvPr id="7" name="stage card"/>
          <p:cNvSpPr/>
          <p:nvPr/>
        </p:nvSpPr>
        <p:spPr>
          <a:xfrm>
            <a:off x="546100" y="1473200"/>
            <a:ext cx="2692400" cy="2489200"/>
          </a:xfrm>
          <a:prstGeom prst="roundRect">
            <a:avLst>
              <a:gd name="adj" fmla="val 5000"/>
            </a:avLst>
          </a:prstGeom>
          <a:solidFill>
            <a:srgbClr val="FFFFFF"/>
          </a:solidFill>
          <a:ln w="12700">
            <a:solidFill>
              <a:srgbClr val="DCE1E8"/>
            </a:solidFill>
          </a:ln>
        </p:spPr>
        <p:txBody>
          <a:bodyPr/>
          <a:lstStyle/>
          <a:p>
            <a:endParaRPr lang="ko-KR" altLang="en-US"/>
          </a:p>
        </p:txBody>
      </p:sp>
      <p:sp>
        <p:nvSpPr>
          <p:cNvPr id="8" name="stage no"/>
          <p:cNvSpPr txBox="1"/>
          <p:nvPr/>
        </p:nvSpPr>
        <p:spPr>
          <a:xfrm>
            <a:off x="698500" y="1600200"/>
            <a:ext cx="330200" cy="330200"/>
          </a:xfrm>
          <a:prstGeom prst="ellipse">
            <a:avLst/>
          </a:prstGeom>
          <a:solidFill>
            <a:srgbClr val="F5B400"/>
          </a:solidFill>
          <a:ln>
            <a:noFill/>
          </a:ln>
        </p:spPr>
        <p:txBody>
          <a:bodyPr wrap="square" lIns="0" tIns="0" rIns="0" bIns="0" rtlCol="0" anchor="ctr"/>
          <a:lstStyle/>
          <a:p>
            <a:pPr marL="0" indent="0" algn="ctr">
              <a:buNone/>
            </a:pPr>
            <a:r>
              <a:rPr lang="en-US" sz="1300" b="1" dirty="0">
                <a:solidFill>
                  <a:srgbClr val="101828"/>
                </a:solidFill>
              </a:rPr>
              <a:t>1</a:t>
            </a:r>
            <a:endParaRPr lang="en-US" sz="1300" dirty="0"/>
          </a:p>
        </p:txBody>
      </p:sp>
      <p:sp>
        <p:nvSpPr>
          <p:cNvPr id="9" name="stage title"/>
          <p:cNvSpPr txBox="1"/>
          <p:nvPr/>
        </p:nvSpPr>
        <p:spPr>
          <a:xfrm>
            <a:off x="1104900" y="1600200"/>
            <a:ext cx="2032000" cy="330200"/>
          </a:xfrm>
          <a:prstGeom prst="rect">
            <a:avLst/>
          </a:prstGeom>
          <a:noFill/>
          <a:ln>
            <a:noFill/>
          </a:ln>
        </p:spPr>
        <p:txBody>
          <a:bodyPr wrap="square" lIns="0" tIns="0" rIns="0" bIns="0" rtlCol="0" anchor="ctr"/>
          <a:lstStyle/>
          <a:p>
            <a:pPr marL="0" indent="0">
              <a:buNone/>
            </a:pPr>
            <a:r>
              <a:rPr lang="en-US" sz="1500" b="1" dirty="0">
                <a:solidFill>
                  <a:srgbClr val="101828"/>
                </a:solidFill>
              </a:rPr>
              <a:t>장비 통합 시험</a:t>
            </a:r>
            <a:endParaRPr lang="en-US" sz="1500" dirty="0"/>
          </a:p>
        </p:txBody>
      </p:sp>
      <p:sp>
        <p:nvSpPr>
          <p:cNvPr id="10" name="stage period"/>
          <p:cNvSpPr txBox="1"/>
          <p:nvPr/>
        </p:nvSpPr>
        <p:spPr>
          <a:xfrm>
            <a:off x="698500" y="1993900"/>
            <a:ext cx="2387600" cy="228600"/>
          </a:xfrm>
          <a:prstGeom prst="rect">
            <a:avLst/>
          </a:prstGeom>
          <a:noFill/>
          <a:ln>
            <a:noFill/>
          </a:ln>
        </p:spPr>
        <p:txBody>
          <a:bodyPr wrap="square" lIns="0" tIns="0" rIns="0" bIns="0" rtlCol="0" anchor="t"/>
          <a:lstStyle/>
          <a:p>
            <a:pPr marL="0" indent="0">
              <a:buNone/>
            </a:pPr>
            <a:r>
              <a:rPr lang="en-US" sz="1100" dirty="0">
                <a:solidFill>
                  <a:srgbClr val="8A94A3"/>
                </a:solidFill>
              </a:rPr>
              <a:t>[가설] 5~12주</a:t>
            </a:r>
            <a:endParaRPr lang="en-US" sz="1100" dirty="0"/>
          </a:p>
        </p:txBody>
      </p:sp>
      <p:sp>
        <p:nvSpPr>
          <p:cNvPr id="11" name="stage items"/>
          <p:cNvSpPr txBox="1"/>
          <p:nvPr/>
        </p:nvSpPr>
        <p:spPr>
          <a:xfrm>
            <a:off x="698500" y="2286000"/>
            <a:ext cx="2438400" cy="1625600"/>
          </a:xfrm>
          <a:prstGeom prst="rect">
            <a:avLst/>
          </a:prstGeom>
          <a:noFill/>
          <a:ln>
            <a:noFill/>
          </a:ln>
        </p:spPr>
        <p:txBody>
          <a:bodyPr wrap="square" lIns="0" tIns="0" rIns="0" bIns="0" rtlCol="0" anchor="t"/>
          <a:lstStyle/>
          <a:p>
            <a:pPr marL="171450" indent="-171450">
              <a:spcAft>
                <a:spcPts val="300"/>
              </a:spcAft>
              <a:buFont typeface="Arial"/>
              <a:buChar char="•"/>
            </a:pPr>
            <a:r>
              <a:rPr lang="en-US" sz="1200" dirty="0">
                <a:solidFill>
                  <a:srgbClr val="5B6573"/>
                </a:solidFill>
              </a:rPr>
              <a:t>장착 구조와 진동</a:t>
            </a:r>
            <a:endParaRPr lang="en-US" sz="1200" dirty="0"/>
          </a:p>
          <a:p>
            <a:pPr marL="171450" indent="-171450">
              <a:spcAft>
                <a:spcPts val="300"/>
              </a:spcAft>
              <a:buFont typeface="Arial"/>
              <a:buChar char="•"/>
            </a:pPr>
            <a:r>
              <a:rPr lang="en-US" sz="1200" dirty="0">
                <a:solidFill>
                  <a:srgbClr val="5B6573"/>
                </a:solidFill>
              </a:rPr>
              <a:t>전력 사용량</a:t>
            </a:r>
            <a:endParaRPr lang="en-US" sz="1200" dirty="0"/>
          </a:p>
          <a:p>
            <a:pPr marL="171450" indent="-171450">
              <a:spcAft>
                <a:spcPts val="300"/>
              </a:spcAft>
              <a:buFont typeface="Arial"/>
              <a:buChar char="•"/>
            </a:pPr>
            <a:r>
              <a:rPr lang="en-US" sz="1200" dirty="0">
                <a:solidFill>
                  <a:srgbClr val="5B6573"/>
                </a:solidFill>
              </a:rPr>
              <a:t>전자파 간섭</a:t>
            </a:r>
            <a:endParaRPr lang="en-US" sz="1200" dirty="0"/>
          </a:p>
          <a:p>
            <a:pPr marL="171450" indent="-171450">
              <a:spcAft>
                <a:spcPts val="300"/>
              </a:spcAft>
              <a:buFont typeface="Arial"/>
              <a:buChar char="•"/>
            </a:pPr>
            <a:r>
              <a:rPr lang="en-US" sz="1200" dirty="0">
                <a:solidFill>
                  <a:srgbClr val="5B6573"/>
                </a:solidFill>
              </a:rPr>
              <a:t>통신 지연과 데이터 누락</a:t>
            </a:r>
            <a:endParaRPr lang="en-US" sz="1200" dirty="0"/>
          </a:p>
        </p:txBody>
      </p:sp>
      <p:sp>
        <p:nvSpPr>
          <p:cNvPr id="12" name="arrow"/>
          <p:cNvSpPr/>
          <p:nvPr/>
        </p:nvSpPr>
        <p:spPr>
          <a:xfrm>
            <a:off x="3251200" y="2717800"/>
            <a:ext cx="76200" cy="914"/>
          </a:xfrm>
          <a:prstGeom prst="line">
            <a:avLst/>
          </a:prstGeom>
          <a:noFill/>
          <a:ln w="19050">
            <a:solidFill>
              <a:srgbClr val="8A94A3"/>
            </a:solidFill>
            <a:prstDash val="solid"/>
            <a:tailEnd type="triangle"/>
          </a:ln>
        </p:spPr>
        <p:txBody>
          <a:bodyPr/>
          <a:lstStyle/>
          <a:p>
            <a:endParaRPr lang="ko-KR" altLang="en-US"/>
          </a:p>
        </p:txBody>
      </p:sp>
      <p:sp>
        <p:nvSpPr>
          <p:cNvPr id="13" name="stage card"/>
          <p:cNvSpPr/>
          <p:nvPr/>
        </p:nvSpPr>
        <p:spPr>
          <a:xfrm>
            <a:off x="3340100" y="1473200"/>
            <a:ext cx="2692400" cy="2489200"/>
          </a:xfrm>
          <a:prstGeom prst="roundRect">
            <a:avLst>
              <a:gd name="adj" fmla="val 5000"/>
            </a:avLst>
          </a:prstGeom>
          <a:solidFill>
            <a:srgbClr val="FFFFFF"/>
          </a:solidFill>
          <a:ln w="12700">
            <a:solidFill>
              <a:srgbClr val="DCE1E8"/>
            </a:solidFill>
          </a:ln>
        </p:spPr>
        <p:txBody>
          <a:bodyPr/>
          <a:lstStyle/>
          <a:p>
            <a:endParaRPr lang="ko-KR" altLang="en-US"/>
          </a:p>
        </p:txBody>
      </p:sp>
      <p:sp>
        <p:nvSpPr>
          <p:cNvPr id="14" name="stage no"/>
          <p:cNvSpPr txBox="1"/>
          <p:nvPr/>
        </p:nvSpPr>
        <p:spPr>
          <a:xfrm>
            <a:off x="3492500" y="1600200"/>
            <a:ext cx="330200" cy="330200"/>
          </a:xfrm>
          <a:prstGeom prst="ellipse">
            <a:avLst/>
          </a:prstGeom>
          <a:solidFill>
            <a:srgbClr val="F5B400"/>
          </a:solidFill>
          <a:ln>
            <a:noFill/>
          </a:ln>
        </p:spPr>
        <p:txBody>
          <a:bodyPr wrap="square" lIns="0" tIns="0" rIns="0" bIns="0" rtlCol="0" anchor="ctr"/>
          <a:lstStyle/>
          <a:p>
            <a:pPr marL="0" indent="0" algn="ctr">
              <a:buNone/>
            </a:pPr>
            <a:r>
              <a:rPr lang="en-US" sz="1300" b="1" dirty="0">
                <a:solidFill>
                  <a:srgbClr val="101828"/>
                </a:solidFill>
              </a:rPr>
              <a:t>2</a:t>
            </a:r>
            <a:endParaRPr lang="en-US" sz="1300" dirty="0"/>
          </a:p>
        </p:txBody>
      </p:sp>
      <p:sp>
        <p:nvSpPr>
          <p:cNvPr id="15" name="stage title"/>
          <p:cNvSpPr txBox="1"/>
          <p:nvPr/>
        </p:nvSpPr>
        <p:spPr>
          <a:xfrm>
            <a:off x="3898900" y="1600200"/>
            <a:ext cx="2032000" cy="330200"/>
          </a:xfrm>
          <a:prstGeom prst="rect">
            <a:avLst/>
          </a:prstGeom>
          <a:noFill/>
          <a:ln>
            <a:noFill/>
          </a:ln>
        </p:spPr>
        <p:txBody>
          <a:bodyPr wrap="square" lIns="0" tIns="0" rIns="0" bIns="0" rtlCol="0" anchor="ctr"/>
          <a:lstStyle/>
          <a:p>
            <a:pPr marL="0" indent="0">
              <a:buNone/>
            </a:pPr>
            <a:r>
              <a:rPr lang="en-US" sz="1500" b="1" dirty="0">
                <a:solidFill>
                  <a:srgbClr val="101828"/>
                </a:solidFill>
              </a:rPr>
              <a:t>통제된 반복 주행</a:t>
            </a:r>
            <a:endParaRPr lang="en-US" sz="1500" dirty="0"/>
          </a:p>
        </p:txBody>
      </p:sp>
      <p:sp>
        <p:nvSpPr>
          <p:cNvPr id="16" name="stage period"/>
          <p:cNvSpPr txBox="1"/>
          <p:nvPr/>
        </p:nvSpPr>
        <p:spPr>
          <a:xfrm>
            <a:off x="3492500" y="1993900"/>
            <a:ext cx="2387600" cy="228600"/>
          </a:xfrm>
          <a:prstGeom prst="rect">
            <a:avLst/>
          </a:prstGeom>
          <a:noFill/>
          <a:ln>
            <a:noFill/>
          </a:ln>
        </p:spPr>
        <p:txBody>
          <a:bodyPr wrap="square" lIns="0" tIns="0" rIns="0" bIns="0" rtlCol="0" anchor="t"/>
          <a:lstStyle/>
          <a:p>
            <a:pPr marL="0" indent="0">
              <a:buNone/>
            </a:pPr>
            <a:r>
              <a:rPr lang="en-US" sz="1100" dirty="0">
                <a:solidFill>
                  <a:srgbClr val="8A94A3"/>
                </a:solidFill>
              </a:rPr>
              <a:t>[가설] 10~16주</a:t>
            </a:r>
            <a:endParaRPr lang="en-US" sz="1100" dirty="0"/>
          </a:p>
        </p:txBody>
      </p:sp>
      <p:sp>
        <p:nvSpPr>
          <p:cNvPr id="17" name="stage items"/>
          <p:cNvSpPr txBox="1"/>
          <p:nvPr/>
        </p:nvSpPr>
        <p:spPr>
          <a:xfrm>
            <a:off x="3492500" y="2286000"/>
            <a:ext cx="2438400" cy="1625600"/>
          </a:xfrm>
          <a:prstGeom prst="rect">
            <a:avLst/>
          </a:prstGeom>
          <a:noFill/>
          <a:ln>
            <a:noFill/>
          </a:ln>
        </p:spPr>
        <p:txBody>
          <a:bodyPr wrap="square" lIns="0" tIns="0" rIns="0" bIns="0" rtlCol="0" anchor="t"/>
          <a:lstStyle/>
          <a:p>
            <a:pPr marL="171450" indent="-171450">
              <a:spcAft>
                <a:spcPts val="300"/>
              </a:spcAft>
              <a:buFont typeface="Arial"/>
              <a:buChar char="•"/>
            </a:pPr>
            <a:r>
              <a:rPr lang="en-US" sz="1200" dirty="0">
                <a:solidFill>
                  <a:srgbClr val="5B6573"/>
                </a:solidFill>
              </a:rPr>
              <a:t>공동 모사체 시험구간 반복 측정</a:t>
            </a:r>
            <a:endParaRPr lang="en-US" sz="1200" dirty="0"/>
          </a:p>
          <a:p>
            <a:pPr marL="171450" indent="-171450">
              <a:spcAft>
                <a:spcPts val="300"/>
              </a:spcAft>
              <a:buFont typeface="Arial"/>
              <a:buChar char="•"/>
            </a:pPr>
            <a:r>
              <a:rPr lang="en-US" sz="1200" dirty="0">
                <a:solidFill>
                  <a:srgbClr val="5B6573"/>
                </a:solidFill>
              </a:rPr>
              <a:t>위치 정합 오차, 회차별 편차</a:t>
            </a:r>
            <a:endParaRPr lang="en-US" sz="1200" dirty="0"/>
          </a:p>
          <a:p>
            <a:pPr marL="171450" indent="-171450">
              <a:spcAft>
                <a:spcPts val="300"/>
              </a:spcAft>
              <a:buFont typeface="Arial"/>
              <a:buChar char="•"/>
            </a:pPr>
            <a:r>
              <a:rPr lang="en-US" sz="1200" dirty="0">
                <a:solidFill>
                  <a:srgbClr val="5B6573"/>
                </a:solidFill>
              </a:rPr>
              <a:t>AI의 기존·새 신호 구분 평가</a:t>
            </a:r>
            <a:endParaRPr lang="en-US" sz="1200" dirty="0"/>
          </a:p>
        </p:txBody>
      </p:sp>
      <p:sp>
        <p:nvSpPr>
          <p:cNvPr id="18" name="arrow"/>
          <p:cNvSpPr/>
          <p:nvPr/>
        </p:nvSpPr>
        <p:spPr>
          <a:xfrm>
            <a:off x="6045200" y="2717800"/>
            <a:ext cx="76200" cy="914"/>
          </a:xfrm>
          <a:prstGeom prst="line">
            <a:avLst/>
          </a:prstGeom>
          <a:noFill/>
          <a:ln w="19050">
            <a:solidFill>
              <a:srgbClr val="8A94A3"/>
            </a:solidFill>
            <a:prstDash val="solid"/>
            <a:tailEnd type="triangle"/>
          </a:ln>
        </p:spPr>
        <p:txBody>
          <a:bodyPr/>
          <a:lstStyle/>
          <a:p>
            <a:endParaRPr lang="ko-KR" altLang="en-US"/>
          </a:p>
        </p:txBody>
      </p:sp>
      <p:sp>
        <p:nvSpPr>
          <p:cNvPr id="19" name="stage card"/>
          <p:cNvSpPr/>
          <p:nvPr/>
        </p:nvSpPr>
        <p:spPr>
          <a:xfrm>
            <a:off x="6134100" y="1473200"/>
            <a:ext cx="2692400" cy="2489200"/>
          </a:xfrm>
          <a:prstGeom prst="roundRect">
            <a:avLst>
              <a:gd name="adj" fmla="val 5000"/>
            </a:avLst>
          </a:prstGeom>
          <a:solidFill>
            <a:srgbClr val="FFFFFF"/>
          </a:solidFill>
          <a:ln w="12700">
            <a:solidFill>
              <a:srgbClr val="DCE1E8"/>
            </a:solidFill>
          </a:ln>
        </p:spPr>
        <p:txBody>
          <a:bodyPr/>
          <a:lstStyle/>
          <a:p>
            <a:endParaRPr lang="ko-KR" altLang="en-US"/>
          </a:p>
        </p:txBody>
      </p:sp>
      <p:sp>
        <p:nvSpPr>
          <p:cNvPr id="20" name="stage no"/>
          <p:cNvSpPr txBox="1"/>
          <p:nvPr/>
        </p:nvSpPr>
        <p:spPr>
          <a:xfrm>
            <a:off x="6286500" y="1600200"/>
            <a:ext cx="330200" cy="330200"/>
          </a:xfrm>
          <a:prstGeom prst="ellipse">
            <a:avLst/>
          </a:prstGeom>
          <a:solidFill>
            <a:srgbClr val="F5B400"/>
          </a:solidFill>
          <a:ln>
            <a:noFill/>
          </a:ln>
        </p:spPr>
        <p:txBody>
          <a:bodyPr wrap="square" lIns="0" tIns="0" rIns="0" bIns="0" rtlCol="0" anchor="ctr"/>
          <a:lstStyle/>
          <a:p>
            <a:pPr marL="0" indent="0" algn="ctr">
              <a:buNone/>
            </a:pPr>
            <a:r>
              <a:rPr lang="en-US" sz="1300" b="1" dirty="0">
                <a:solidFill>
                  <a:srgbClr val="101828"/>
                </a:solidFill>
              </a:rPr>
              <a:t>3</a:t>
            </a:r>
            <a:endParaRPr lang="en-US" sz="1300" dirty="0"/>
          </a:p>
        </p:txBody>
      </p:sp>
      <p:sp>
        <p:nvSpPr>
          <p:cNvPr id="21" name="stage title"/>
          <p:cNvSpPr txBox="1"/>
          <p:nvPr/>
        </p:nvSpPr>
        <p:spPr>
          <a:xfrm>
            <a:off x="6692900" y="1600200"/>
            <a:ext cx="2032000" cy="330200"/>
          </a:xfrm>
          <a:prstGeom prst="rect">
            <a:avLst/>
          </a:prstGeom>
          <a:noFill/>
          <a:ln>
            <a:noFill/>
          </a:ln>
        </p:spPr>
        <p:txBody>
          <a:bodyPr wrap="square" lIns="0" tIns="0" rIns="0" bIns="0" rtlCol="0" anchor="ctr"/>
          <a:lstStyle/>
          <a:p>
            <a:pPr marL="0" indent="0">
              <a:buNone/>
            </a:pPr>
            <a:r>
              <a:rPr lang="en-US" sz="1500" b="1" dirty="0">
                <a:solidFill>
                  <a:srgbClr val="101828"/>
                </a:solidFill>
              </a:rPr>
              <a:t>실제 도로 파일럿</a:t>
            </a:r>
            <a:endParaRPr lang="en-US" sz="1500" dirty="0"/>
          </a:p>
        </p:txBody>
      </p:sp>
      <p:sp>
        <p:nvSpPr>
          <p:cNvPr id="22" name="stage period"/>
          <p:cNvSpPr txBox="1"/>
          <p:nvPr/>
        </p:nvSpPr>
        <p:spPr>
          <a:xfrm>
            <a:off x="6286500" y="1993900"/>
            <a:ext cx="2387600" cy="228600"/>
          </a:xfrm>
          <a:prstGeom prst="rect">
            <a:avLst/>
          </a:prstGeom>
          <a:noFill/>
          <a:ln>
            <a:noFill/>
          </a:ln>
        </p:spPr>
        <p:txBody>
          <a:bodyPr wrap="square" lIns="0" tIns="0" rIns="0" bIns="0" rtlCol="0" anchor="t"/>
          <a:lstStyle/>
          <a:p>
            <a:pPr marL="0" indent="0">
              <a:buNone/>
            </a:pPr>
            <a:r>
              <a:rPr lang="en-US" sz="1100" dirty="0">
                <a:solidFill>
                  <a:srgbClr val="8A94A3"/>
                </a:solidFill>
              </a:rPr>
              <a:t>[가설] 17~28주</a:t>
            </a:r>
            <a:endParaRPr lang="en-US" sz="1100" dirty="0"/>
          </a:p>
        </p:txBody>
      </p:sp>
      <p:sp>
        <p:nvSpPr>
          <p:cNvPr id="23" name="stage items"/>
          <p:cNvSpPr txBox="1"/>
          <p:nvPr/>
        </p:nvSpPr>
        <p:spPr>
          <a:xfrm>
            <a:off x="6286500" y="2286000"/>
            <a:ext cx="2438400" cy="1625600"/>
          </a:xfrm>
          <a:prstGeom prst="rect">
            <a:avLst/>
          </a:prstGeom>
          <a:noFill/>
          <a:ln>
            <a:noFill/>
          </a:ln>
        </p:spPr>
        <p:txBody>
          <a:bodyPr wrap="square" lIns="0" tIns="0" rIns="0" bIns="0" rtlCol="0" anchor="t"/>
          <a:lstStyle/>
          <a:p>
            <a:pPr marL="171450" indent="-171450">
              <a:spcAft>
                <a:spcPts val="300"/>
              </a:spcAft>
              <a:buFont typeface="Arial"/>
              <a:buChar char="•"/>
            </a:pPr>
            <a:r>
              <a:rPr lang="en-US" sz="1200" dirty="0">
                <a:solidFill>
                  <a:srgbClr val="5B6573"/>
                </a:solidFill>
              </a:rPr>
              <a:t>지자체·전문 조사기업과 위험구간 선정</a:t>
            </a:r>
            <a:endParaRPr lang="en-US" sz="1200" dirty="0"/>
          </a:p>
          <a:p>
            <a:pPr marL="171450" indent="-171450">
              <a:spcAft>
                <a:spcPts val="300"/>
              </a:spcAft>
              <a:buFont typeface="Arial"/>
              <a:buChar char="•"/>
            </a:pPr>
            <a:r>
              <a:rPr lang="en-US" sz="1200" dirty="0">
                <a:solidFill>
                  <a:srgbClr val="5B6573"/>
                </a:solidFill>
              </a:rPr>
              <a:t>기존 전문 장비 결과와 비교</a:t>
            </a:r>
            <a:endParaRPr lang="en-US" sz="1200" dirty="0"/>
          </a:p>
          <a:p>
            <a:pPr marL="171450" indent="-171450">
              <a:spcAft>
                <a:spcPts val="300"/>
              </a:spcAft>
              <a:buFont typeface="Arial"/>
              <a:buChar char="•"/>
            </a:pPr>
            <a:r>
              <a:rPr lang="en-US" sz="1200" dirty="0">
                <a:solidFill>
                  <a:srgbClr val="5B6573"/>
                </a:solidFill>
              </a:rPr>
              <a:t>판독·천공·내시경으로 정확도 검증</a:t>
            </a:r>
            <a:endParaRPr lang="en-US" sz="1200" dirty="0"/>
          </a:p>
        </p:txBody>
      </p:sp>
      <p:sp>
        <p:nvSpPr>
          <p:cNvPr id="24" name="arrow"/>
          <p:cNvSpPr/>
          <p:nvPr/>
        </p:nvSpPr>
        <p:spPr>
          <a:xfrm>
            <a:off x="8839200" y="2717800"/>
            <a:ext cx="76200" cy="914"/>
          </a:xfrm>
          <a:prstGeom prst="line">
            <a:avLst/>
          </a:prstGeom>
          <a:noFill/>
          <a:ln w="19050">
            <a:solidFill>
              <a:srgbClr val="8A94A3"/>
            </a:solidFill>
            <a:prstDash val="solid"/>
            <a:tailEnd type="triangle"/>
          </a:ln>
        </p:spPr>
        <p:txBody>
          <a:bodyPr/>
          <a:lstStyle/>
          <a:p>
            <a:endParaRPr lang="ko-KR" altLang="en-US"/>
          </a:p>
        </p:txBody>
      </p:sp>
      <p:sp>
        <p:nvSpPr>
          <p:cNvPr id="25" name="stage card"/>
          <p:cNvSpPr/>
          <p:nvPr/>
        </p:nvSpPr>
        <p:spPr>
          <a:xfrm>
            <a:off x="8928100" y="1473200"/>
            <a:ext cx="2692400" cy="2489200"/>
          </a:xfrm>
          <a:prstGeom prst="roundRect">
            <a:avLst>
              <a:gd name="adj" fmla="val 5000"/>
            </a:avLst>
          </a:prstGeom>
          <a:solidFill>
            <a:srgbClr val="FFFFFF"/>
          </a:solidFill>
          <a:ln w="12700">
            <a:solidFill>
              <a:srgbClr val="DCE1E8"/>
            </a:solidFill>
          </a:ln>
        </p:spPr>
        <p:txBody>
          <a:bodyPr/>
          <a:lstStyle/>
          <a:p>
            <a:endParaRPr lang="ko-KR" altLang="en-US"/>
          </a:p>
        </p:txBody>
      </p:sp>
      <p:sp>
        <p:nvSpPr>
          <p:cNvPr id="26" name="stage no"/>
          <p:cNvSpPr txBox="1"/>
          <p:nvPr/>
        </p:nvSpPr>
        <p:spPr>
          <a:xfrm>
            <a:off x="9080500" y="1600200"/>
            <a:ext cx="330200" cy="330200"/>
          </a:xfrm>
          <a:prstGeom prst="ellipse">
            <a:avLst/>
          </a:prstGeom>
          <a:solidFill>
            <a:srgbClr val="F5B400"/>
          </a:solidFill>
          <a:ln>
            <a:noFill/>
          </a:ln>
        </p:spPr>
        <p:txBody>
          <a:bodyPr wrap="square" lIns="0" tIns="0" rIns="0" bIns="0" rtlCol="0" anchor="ctr"/>
          <a:lstStyle/>
          <a:p>
            <a:pPr marL="0" indent="0" algn="ctr">
              <a:buNone/>
            </a:pPr>
            <a:r>
              <a:rPr lang="en-US" sz="1300" b="1" dirty="0">
                <a:solidFill>
                  <a:srgbClr val="101828"/>
                </a:solidFill>
              </a:rPr>
              <a:t>4</a:t>
            </a:r>
            <a:endParaRPr lang="en-US" sz="1300" dirty="0"/>
          </a:p>
        </p:txBody>
      </p:sp>
      <p:sp>
        <p:nvSpPr>
          <p:cNvPr id="27" name="stage title"/>
          <p:cNvSpPr txBox="1"/>
          <p:nvPr/>
        </p:nvSpPr>
        <p:spPr>
          <a:xfrm>
            <a:off x="9486900" y="1600200"/>
            <a:ext cx="2032000" cy="330200"/>
          </a:xfrm>
          <a:prstGeom prst="rect">
            <a:avLst/>
          </a:prstGeom>
          <a:noFill/>
          <a:ln>
            <a:noFill/>
          </a:ln>
        </p:spPr>
        <p:txBody>
          <a:bodyPr wrap="square" lIns="0" tIns="0" rIns="0" bIns="0" rtlCol="0" anchor="ctr"/>
          <a:lstStyle/>
          <a:p>
            <a:pPr marL="0" indent="0">
              <a:buNone/>
            </a:pPr>
            <a:r>
              <a:rPr lang="en-US" sz="1500" b="1" dirty="0">
                <a:solidFill>
                  <a:srgbClr val="101828"/>
                </a:solidFill>
              </a:rPr>
              <a:t>운영성 검증</a:t>
            </a:r>
            <a:endParaRPr lang="en-US" sz="1500" dirty="0"/>
          </a:p>
        </p:txBody>
      </p:sp>
      <p:sp>
        <p:nvSpPr>
          <p:cNvPr id="28" name="stage period"/>
          <p:cNvSpPr txBox="1"/>
          <p:nvPr/>
        </p:nvSpPr>
        <p:spPr>
          <a:xfrm>
            <a:off x="9080500" y="1993900"/>
            <a:ext cx="2387600" cy="228600"/>
          </a:xfrm>
          <a:prstGeom prst="rect">
            <a:avLst/>
          </a:prstGeom>
          <a:noFill/>
          <a:ln>
            <a:noFill/>
          </a:ln>
        </p:spPr>
        <p:txBody>
          <a:bodyPr wrap="square" lIns="0" tIns="0" rIns="0" bIns="0" rtlCol="0" anchor="t"/>
          <a:lstStyle/>
          <a:p>
            <a:pPr marL="0" indent="0">
              <a:buNone/>
            </a:pPr>
            <a:r>
              <a:rPr lang="en-US" sz="1100" dirty="0">
                <a:solidFill>
                  <a:srgbClr val="8A94A3"/>
                </a:solidFill>
              </a:rPr>
              <a:t>[가설] 파일럿과 병행</a:t>
            </a:r>
            <a:endParaRPr lang="en-US" sz="1100" dirty="0"/>
          </a:p>
        </p:txBody>
      </p:sp>
      <p:sp>
        <p:nvSpPr>
          <p:cNvPr id="29" name="stage items"/>
          <p:cNvSpPr txBox="1"/>
          <p:nvPr/>
        </p:nvSpPr>
        <p:spPr>
          <a:xfrm>
            <a:off x="9080500" y="2286000"/>
            <a:ext cx="2438400" cy="1625600"/>
          </a:xfrm>
          <a:prstGeom prst="rect">
            <a:avLst/>
          </a:prstGeom>
          <a:noFill/>
          <a:ln>
            <a:noFill/>
          </a:ln>
        </p:spPr>
        <p:txBody>
          <a:bodyPr wrap="square" lIns="0" tIns="0" rIns="0" bIns="0" rtlCol="0" anchor="t"/>
          <a:lstStyle/>
          <a:p>
            <a:pPr marL="171450" indent="-171450">
              <a:spcAft>
                <a:spcPts val="300"/>
              </a:spcAft>
              <a:buFont typeface="Arial"/>
              <a:buChar char="•"/>
            </a:pPr>
            <a:r>
              <a:rPr lang="en-US" sz="1200" dirty="0">
                <a:solidFill>
                  <a:srgbClr val="5B6573"/>
                </a:solidFill>
              </a:rPr>
              <a:t>새벽 순찰 소요시간</a:t>
            </a:r>
            <a:endParaRPr lang="en-US" sz="1200" dirty="0"/>
          </a:p>
          <a:p>
            <a:pPr marL="171450" indent="-171450">
              <a:spcAft>
                <a:spcPts val="300"/>
              </a:spcAft>
              <a:buFont typeface="Arial"/>
              <a:buChar char="•"/>
            </a:pPr>
            <a:r>
              <a:rPr lang="en-US" sz="1200" dirty="0">
                <a:solidFill>
                  <a:srgbClr val="5B6573"/>
                </a:solidFill>
              </a:rPr>
              <a:t>재확인 업무 생성→현장 도착 시간</a:t>
            </a:r>
            <a:endParaRPr lang="en-US" sz="1200" dirty="0"/>
          </a:p>
          <a:p>
            <a:pPr marL="171450" indent="-171450">
              <a:spcAft>
                <a:spcPts val="300"/>
              </a:spcAft>
              <a:buFont typeface="Arial"/>
              <a:buChar char="•"/>
            </a:pPr>
            <a:r>
              <a:rPr lang="en-US" sz="1200" dirty="0">
                <a:solidFill>
                  <a:srgbClr val="5B6573"/>
                </a:solidFill>
              </a:rPr>
              <a:t>AR 위치 보정 성공률</a:t>
            </a:r>
            <a:endParaRPr lang="en-US" sz="1200" dirty="0"/>
          </a:p>
          <a:p>
            <a:pPr marL="171450" indent="-171450">
              <a:spcAft>
                <a:spcPts val="300"/>
              </a:spcAft>
              <a:buFont typeface="Arial"/>
              <a:buChar char="•"/>
            </a:pPr>
            <a:r>
              <a:rPr lang="en-US" sz="1200" dirty="0">
                <a:solidFill>
                  <a:srgbClr val="5B6573"/>
                </a:solidFill>
              </a:rPr>
              <a:t>재방문·수작업 입력 감소량</a:t>
            </a:r>
            <a:endParaRPr lang="en-US" sz="1200" dirty="0"/>
          </a:p>
        </p:txBody>
      </p:sp>
      <p:sp>
        <p:nvSpPr>
          <p:cNvPr id="30" name="head"/>
          <p:cNvSpPr txBox="1"/>
          <p:nvPr/>
        </p:nvSpPr>
        <p:spPr>
          <a:xfrm>
            <a:off x="546100" y="4089400"/>
            <a:ext cx="11087100" cy="279400"/>
          </a:xfrm>
          <a:prstGeom prst="rect">
            <a:avLst/>
          </a:prstGeom>
          <a:noFill/>
          <a:ln>
            <a:noFill/>
          </a:ln>
        </p:spPr>
        <p:txBody>
          <a:bodyPr wrap="square" lIns="0" tIns="0" rIns="0" bIns="0" rtlCol="0" anchor="t"/>
          <a:lstStyle/>
          <a:p>
            <a:pPr marL="0" indent="0">
              <a:buNone/>
            </a:pPr>
            <a:r>
              <a:rPr lang="en-US" sz="1500" b="1" dirty="0">
                <a:solidFill>
                  <a:srgbClr val="101828"/>
                </a:solidFill>
              </a:rPr>
              <a:t>측정 KPI</a:t>
            </a:r>
            <a:endParaRPr lang="en-US" sz="1500" dirty="0"/>
          </a:p>
        </p:txBody>
      </p:sp>
      <p:sp>
        <p:nvSpPr>
          <p:cNvPr id="31" name="kpi chip"/>
          <p:cNvSpPr/>
          <p:nvPr/>
        </p:nvSpPr>
        <p:spPr>
          <a:xfrm>
            <a:off x="546100" y="4419600"/>
            <a:ext cx="2692400" cy="584200"/>
          </a:xfrm>
          <a:prstGeom prst="roundRect">
            <a:avLst>
              <a:gd name="adj" fmla="val 8000"/>
            </a:avLst>
          </a:prstGeom>
          <a:solidFill>
            <a:srgbClr val="F2F4F7"/>
          </a:solidFill>
          <a:ln>
            <a:noFill/>
          </a:ln>
        </p:spPr>
        <p:txBody>
          <a:bodyPr/>
          <a:lstStyle/>
          <a:p>
            <a:endParaRPr lang="ko-KR" altLang="en-US"/>
          </a:p>
        </p:txBody>
      </p:sp>
      <p:sp>
        <p:nvSpPr>
          <p:cNvPr id="32" name="kpi name"/>
          <p:cNvSpPr txBox="1"/>
          <p:nvPr/>
        </p:nvSpPr>
        <p:spPr>
          <a:xfrm>
            <a:off x="673100" y="44577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km당 탐사 시간</a:t>
            </a:r>
            <a:endParaRPr lang="en-US" sz="1300" dirty="0"/>
          </a:p>
        </p:txBody>
      </p:sp>
      <p:sp>
        <p:nvSpPr>
          <p:cNvPr id="33" name="kpi def"/>
          <p:cNvSpPr txBox="1"/>
          <p:nvPr/>
        </p:nvSpPr>
        <p:spPr>
          <a:xfrm>
            <a:off x="673100" y="47117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순수 스캔 시간 ÷ 탐사 km</a:t>
            </a:r>
            <a:endParaRPr lang="en-US" sz="1100" dirty="0"/>
          </a:p>
        </p:txBody>
      </p:sp>
      <p:sp>
        <p:nvSpPr>
          <p:cNvPr id="34" name="kpi chip"/>
          <p:cNvSpPr/>
          <p:nvPr/>
        </p:nvSpPr>
        <p:spPr>
          <a:xfrm>
            <a:off x="3340100" y="4419600"/>
            <a:ext cx="2692400" cy="584200"/>
          </a:xfrm>
          <a:prstGeom prst="roundRect">
            <a:avLst>
              <a:gd name="adj" fmla="val 8000"/>
            </a:avLst>
          </a:prstGeom>
          <a:solidFill>
            <a:srgbClr val="F2F4F7"/>
          </a:solidFill>
          <a:ln>
            <a:noFill/>
          </a:ln>
        </p:spPr>
        <p:txBody>
          <a:bodyPr/>
          <a:lstStyle/>
          <a:p>
            <a:endParaRPr lang="ko-KR" altLang="en-US"/>
          </a:p>
        </p:txBody>
      </p:sp>
      <p:sp>
        <p:nvSpPr>
          <p:cNvPr id="35" name="kpi name"/>
          <p:cNvSpPr txBox="1"/>
          <p:nvPr/>
        </p:nvSpPr>
        <p:spPr>
          <a:xfrm>
            <a:off x="3467100" y="44577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구간 스캔 완료율</a:t>
            </a:r>
            <a:endParaRPr lang="en-US" sz="1300" dirty="0"/>
          </a:p>
        </p:txBody>
      </p:sp>
      <p:sp>
        <p:nvSpPr>
          <p:cNvPr id="36" name="kpi def"/>
          <p:cNvSpPr txBox="1"/>
          <p:nvPr/>
        </p:nvSpPr>
        <p:spPr>
          <a:xfrm>
            <a:off x="3467100" y="47117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계획 구간 중 실제 스캔 비율</a:t>
            </a:r>
            <a:endParaRPr lang="en-US" sz="1100" dirty="0"/>
          </a:p>
        </p:txBody>
      </p:sp>
      <p:sp>
        <p:nvSpPr>
          <p:cNvPr id="37" name="kpi chip"/>
          <p:cNvSpPr/>
          <p:nvPr/>
        </p:nvSpPr>
        <p:spPr>
          <a:xfrm>
            <a:off x="6134100" y="4419600"/>
            <a:ext cx="2692400" cy="584200"/>
          </a:xfrm>
          <a:prstGeom prst="roundRect">
            <a:avLst>
              <a:gd name="adj" fmla="val 8000"/>
            </a:avLst>
          </a:prstGeom>
          <a:solidFill>
            <a:srgbClr val="F2F4F7"/>
          </a:solidFill>
          <a:ln>
            <a:noFill/>
          </a:ln>
        </p:spPr>
        <p:txBody>
          <a:bodyPr/>
          <a:lstStyle/>
          <a:p>
            <a:endParaRPr lang="ko-KR" altLang="en-US"/>
          </a:p>
        </p:txBody>
      </p:sp>
      <p:sp>
        <p:nvSpPr>
          <p:cNvPr id="38" name="kpi name"/>
          <p:cNvSpPr txBox="1"/>
          <p:nvPr/>
        </p:nvSpPr>
        <p:spPr>
          <a:xfrm>
            <a:off x="6261100" y="44577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확인 공동 비율</a:t>
            </a:r>
            <a:endParaRPr lang="en-US" sz="1300" dirty="0"/>
          </a:p>
        </p:txBody>
      </p:sp>
      <p:sp>
        <p:nvSpPr>
          <p:cNvPr id="39" name="kpi def"/>
          <p:cNvSpPr txBox="1"/>
          <p:nvPr/>
        </p:nvSpPr>
        <p:spPr>
          <a:xfrm>
            <a:off x="6261100" y="47117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후보 중 천공·내시경으로 확인된 비율</a:t>
            </a:r>
            <a:endParaRPr lang="en-US" sz="1100" dirty="0"/>
          </a:p>
        </p:txBody>
      </p:sp>
      <p:sp>
        <p:nvSpPr>
          <p:cNvPr id="40" name="kpi chip"/>
          <p:cNvSpPr/>
          <p:nvPr/>
        </p:nvSpPr>
        <p:spPr>
          <a:xfrm>
            <a:off x="8928100" y="4419600"/>
            <a:ext cx="2692400" cy="584200"/>
          </a:xfrm>
          <a:prstGeom prst="roundRect">
            <a:avLst>
              <a:gd name="adj" fmla="val 8000"/>
            </a:avLst>
          </a:prstGeom>
          <a:solidFill>
            <a:srgbClr val="F2F4F7"/>
          </a:solidFill>
          <a:ln>
            <a:noFill/>
          </a:ln>
        </p:spPr>
        <p:txBody>
          <a:bodyPr/>
          <a:lstStyle/>
          <a:p>
            <a:endParaRPr lang="ko-KR" altLang="en-US"/>
          </a:p>
        </p:txBody>
      </p:sp>
      <p:sp>
        <p:nvSpPr>
          <p:cNvPr id="41" name="kpi name"/>
          <p:cNvSpPr txBox="1"/>
          <p:nvPr/>
        </p:nvSpPr>
        <p:spPr>
          <a:xfrm>
            <a:off x="9055100" y="44577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위치·깊이 오차</a:t>
            </a:r>
            <a:endParaRPr lang="en-US" sz="1300" dirty="0"/>
          </a:p>
        </p:txBody>
      </p:sp>
      <p:sp>
        <p:nvSpPr>
          <p:cNvPr id="42" name="kpi def"/>
          <p:cNvSpPr txBox="1"/>
          <p:nvPr/>
        </p:nvSpPr>
        <p:spPr>
          <a:xfrm>
            <a:off x="9055100" y="47117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확인된 공동과 판독값의 차이</a:t>
            </a:r>
            <a:endParaRPr lang="en-US" sz="1100" dirty="0"/>
          </a:p>
        </p:txBody>
      </p:sp>
      <p:sp>
        <p:nvSpPr>
          <p:cNvPr id="43" name="kpi chip"/>
          <p:cNvSpPr/>
          <p:nvPr/>
        </p:nvSpPr>
        <p:spPr>
          <a:xfrm>
            <a:off x="546100" y="5080000"/>
            <a:ext cx="2692400" cy="584200"/>
          </a:xfrm>
          <a:prstGeom prst="roundRect">
            <a:avLst>
              <a:gd name="adj" fmla="val 8000"/>
            </a:avLst>
          </a:prstGeom>
          <a:solidFill>
            <a:srgbClr val="F2F4F7"/>
          </a:solidFill>
          <a:ln>
            <a:noFill/>
          </a:ln>
        </p:spPr>
        <p:txBody>
          <a:bodyPr/>
          <a:lstStyle/>
          <a:p>
            <a:endParaRPr lang="ko-KR" altLang="en-US"/>
          </a:p>
        </p:txBody>
      </p:sp>
      <p:sp>
        <p:nvSpPr>
          <p:cNvPr id="44" name="kpi name"/>
          <p:cNvSpPr txBox="1"/>
          <p:nvPr/>
        </p:nvSpPr>
        <p:spPr>
          <a:xfrm>
            <a:off x="673100" y="51181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km당 판독 시간</a:t>
            </a:r>
            <a:endParaRPr lang="en-US" sz="1300" dirty="0"/>
          </a:p>
        </p:txBody>
      </p:sp>
      <p:sp>
        <p:nvSpPr>
          <p:cNvPr id="45" name="kpi def"/>
          <p:cNvSpPr txBox="1"/>
          <p:nvPr/>
        </p:nvSpPr>
        <p:spPr>
          <a:xfrm>
            <a:off x="673100" y="53721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AI 보조 유무별 작업 시간</a:t>
            </a:r>
            <a:endParaRPr lang="en-US" sz="1100" dirty="0"/>
          </a:p>
        </p:txBody>
      </p:sp>
      <p:sp>
        <p:nvSpPr>
          <p:cNvPr id="46" name="kpi chip"/>
          <p:cNvSpPr/>
          <p:nvPr/>
        </p:nvSpPr>
        <p:spPr>
          <a:xfrm>
            <a:off x="3340100" y="5080000"/>
            <a:ext cx="2692400" cy="584200"/>
          </a:xfrm>
          <a:prstGeom prst="roundRect">
            <a:avLst>
              <a:gd name="adj" fmla="val 8000"/>
            </a:avLst>
          </a:prstGeom>
          <a:solidFill>
            <a:srgbClr val="F2F4F7"/>
          </a:solidFill>
          <a:ln>
            <a:noFill/>
          </a:ln>
        </p:spPr>
        <p:txBody>
          <a:bodyPr/>
          <a:lstStyle/>
          <a:p>
            <a:endParaRPr lang="ko-KR" altLang="en-US"/>
          </a:p>
        </p:txBody>
      </p:sp>
      <p:sp>
        <p:nvSpPr>
          <p:cNvPr id="47" name="kpi name"/>
          <p:cNvSpPr txBox="1"/>
          <p:nvPr/>
        </p:nvSpPr>
        <p:spPr>
          <a:xfrm>
            <a:off x="3467100" y="51181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1일 탐사 연장·배터리</a:t>
            </a:r>
            <a:endParaRPr lang="en-US" sz="1300" dirty="0"/>
          </a:p>
        </p:txBody>
      </p:sp>
      <p:sp>
        <p:nvSpPr>
          <p:cNvPr id="48" name="kpi def"/>
          <p:cNvSpPr txBox="1"/>
          <p:nvPr/>
        </p:nvSpPr>
        <p:spPr>
          <a:xfrm>
            <a:off x="3467100" y="53721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차량 1대 운영 원가 산출용</a:t>
            </a:r>
            <a:endParaRPr lang="en-US" sz="1100" dirty="0"/>
          </a:p>
        </p:txBody>
      </p:sp>
      <p:sp>
        <p:nvSpPr>
          <p:cNvPr id="49" name="kpi chip"/>
          <p:cNvSpPr/>
          <p:nvPr/>
        </p:nvSpPr>
        <p:spPr>
          <a:xfrm>
            <a:off x="6134100" y="5080000"/>
            <a:ext cx="2692400" cy="584200"/>
          </a:xfrm>
          <a:prstGeom prst="roundRect">
            <a:avLst>
              <a:gd name="adj" fmla="val 8000"/>
            </a:avLst>
          </a:prstGeom>
          <a:solidFill>
            <a:srgbClr val="F2F4F7"/>
          </a:solidFill>
          <a:ln>
            <a:noFill/>
          </a:ln>
        </p:spPr>
        <p:txBody>
          <a:bodyPr/>
          <a:lstStyle/>
          <a:p>
            <a:endParaRPr lang="ko-KR" altLang="en-US"/>
          </a:p>
        </p:txBody>
      </p:sp>
      <p:sp>
        <p:nvSpPr>
          <p:cNvPr id="50" name="kpi name"/>
          <p:cNvSpPr txBox="1"/>
          <p:nvPr/>
        </p:nvSpPr>
        <p:spPr>
          <a:xfrm>
            <a:off x="6261100" y="51181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사고·아차사고</a:t>
            </a:r>
            <a:endParaRPr lang="en-US" sz="1300" dirty="0"/>
          </a:p>
        </p:txBody>
      </p:sp>
      <p:sp>
        <p:nvSpPr>
          <p:cNvPr id="51" name="kpi def"/>
          <p:cNvSpPr txBox="1"/>
          <p:nvPr/>
        </p:nvSpPr>
        <p:spPr>
          <a:xfrm>
            <a:off x="6261100" y="53721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저속 탐사·정차 작업 중 전수 기록</a:t>
            </a:r>
            <a:endParaRPr lang="en-US" sz="1100" dirty="0"/>
          </a:p>
        </p:txBody>
      </p:sp>
      <p:sp>
        <p:nvSpPr>
          <p:cNvPr id="52" name="kpi chip"/>
          <p:cNvSpPr/>
          <p:nvPr/>
        </p:nvSpPr>
        <p:spPr>
          <a:xfrm>
            <a:off x="8928100" y="5080000"/>
            <a:ext cx="2692400" cy="584200"/>
          </a:xfrm>
          <a:prstGeom prst="roundRect">
            <a:avLst>
              <a:gd name="adj" fmla="val 8000"/>
            </a:avLst>
          </a:prstGeom>
          <a:solidFill>
            <a:srgbClr val="F2F4F7"/>
          </a:solidFill>
          <a:ln>
            <a:noFill/>
          </a:ln>
        </p:spPr>
        <p:txBody>
          <a:bodyPr/>
          <a:lstStyle/>
          <a:p>
            <a:endParaRPr lang="ko-KR" altLang="en-US"/>
          </a:p>
        </p:txBody>
      </p:sp>
      <p:sp>
        <p:nvSpPr>
          <p:cNvPr id="53" name="kpi name"/>
          <p:cNvSpPr txBox="1"/>
          <p:nvPr/>
        </p:nvSpPr>
        <p:spPr>
          <a:xfrm>
            <a:off x="9055100" y="5118100"/>
            <a:ext cx="2489200" cy="254000"/>
          </a:xfrm>
          <a:prstGeom prst="rect">
            <a:avLst/>
          </a:prstGeom>
          <a:noFill/>
          <a:ln>
            <a:noFill/>
          </a:ln>
        </p:spPr>
        <p:txBody>
          <a:bodyPr wrap="square" lIns="0" tIns="0" rIns="0" bIns="0" rtlCol="0" anchor="t"/>
          <a:lstStyle/>
          <a:p>
            <a:pPr marL="0" indent="0">
              <a:buNone/>
            </a:pPr>
            <a:r>
              <a:rPr lang="en-US" sz="1300" b="1" dirty="0">
                <a:solidFill>
                  <a:srgbClr val="101828"/>
                </a:solidFill>
              </a:rPr>
              <a:t>km당 원가</a:t>
            </a:r>
            <a:endParaRPr lang="en-US" sz="1300" dirty="0"/>
          </a:p>
        </p:txBody>
      </p:sp>
      <p:sp>
        <p:nvSpPr>
          <p:cNvPr id="54" name="kpi def"/>
          <p:cNvSpPr txBox="1"/>
          <p:nvPr/>
        </p:nvSpPr>
        <p:spPr>
          <a:xfrm>
            <a:off x="9055100" y="5372100"/>
            <a:ext cx="2489200" cy="254000"/>
          </a:xfrm>
          <a:prstGeom prst="rect">
            <a:avLst/>
          </a:prstGeom>
          <a:noFill/>
          <a:ln>
            <a:noFill/>
          </a:ln>
        </p:spPr>
        <p:txBody>
          <a:bodyPr wrap="square" lIns="0" tIns="0" rIns="0" bIns="0" rtlCol="0" anchor="t"/>
          <a:lstStyle/>
          <a:p>
            <a:pPr marL="0" indent="0">
              <a:buNone/>
            </a:pPr>
            <a:r>
              <a:rPr lang="en-US" sz="1100" dirty="0">
                <a:solidFill>
                  <a:srgbClr val="5B6573"/>
                </a:solidFill>
              </a:rPr>
              <a:t>인건비·차량·장비 감가 기준</a:t>
            </a:r>
            <a:endParaRPr lang="en-US" sz="1100" dirty="0"/>
          </a:p>
        </p:txBody>
      </p:sp>
      <p:sp>
        <p:nvSpPr>
          <p:cNvPr id="55" name="kpi note"/>
          <p:cNvSpPr txBox="1"/>
          <p:nvPr/>
        </p:nvSpPr>
        <p:spPr>
          <a:xfrm>
            <a:off x="546100" y="5791200"/>
            <a:ext cx="11087100" cy="457200"/>
          </a:xfrm>
          <a:prstGeom prst="rect">
            <a:avLst/>
          </a:prstGeom>
          <a:noFill/>
          <a:ln>
            <a:noFill/>
          </a:ln>
        </p:spPr>
        <p:txBody>
          <a:bodyPr wrap="square" lIns="0" tIns="0" rIns="0" bIns="0" rtlCol="0" anchor="t"/>
          <a:lstStyle/>
          <a:p>
            <a:pPr marL="0" indent="0">
              <a:buNone/>
            </a:pPr>
            <a:r>
              <a:rPr lang="en-US" sz="1200" dirty="0">
                <a:solidFill>
                  <a:srgbClr val="5B6573"/>
                </a:solidFill>
              </a:rPr>
              <a:t>목표값은 기존 방식 기준선을 먼저 측정한 뒤 발주기관·판독 책임 업체와 합의합니다 </a:t>
            </a:r>
            <a:r>
              <a:rPr lang="en-US" sz="1200" b="1" dirty="0">
                <a:solidFill>
                  <a:srgbClr val="D93025"/>
                </a:solidFill>
              </a:rPr>
              <a:t>[실증 목표값 입력]</a:t>
            </a:r>
            <a:endParaRPr lang="en-US" sz="1200" dirty="0"/>
          </a:p>
          <a:p>
            <a:pPr marL="0" indent="0">
              <a:buNone/>
            </a:pPr>
            <a:r>
              <a:rPr lang="en-US" sz="1200" dirty="0">
                <a:solidFill>
                  <a:srgbClr val="5B6573"/>
                </a:solidFill>
              </a:rPr>
              <a:t>기간은 장비 조달·인증·발주기관 일정에 따라 조정합니다.</a:t>
            </a:r>
            <a:endParaRPr lang="en-US" sz="1200" dirty="0"/>
          </a:p>
        </p:txBody>
      </p:sp>
      <p:sp>
        <p:nvSpPr>
          <p:cNvPr id="56"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기간과 KPI는 팀 제안치입니다. 성공 수치는 기존 방식 기준선을 잰 뒤 발주기관과 함께 정합니다.</a:t>
            </a:r>
            <a:endParaRPr lang="en-US" sz="10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사업성 1</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이미 예산이 집행되고 있는 시장에서 시작한다</a:t>
            </a:r>
            <a:endParaRPr lang="en-US" sz="1900" dirty="0"/>
          </a:p>
        </p:txBody>
      </p:sp>
      <p:sp>
        <p:nvSpPr>
          <p:cNvPr id="5"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탐사 예산과 장비가 늘고 있고, 서울시는 대형 굴착공사장 주변을 주 1회 이상 탐사합니다.</a:t>
            </a:r>
            <a:endParaRPr lang="en-US" sz="1600" dirty="0"/>
          </a:p>
        </p:txBody>
      </p:sp>
      <p:sp>
        <p:nvSpPr>
          <p:cNvPr id="6"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7" name="seoul chart"/>
          <p:cNvGraphicFramePr>
            <a:graphicFrameLocks noGrp="1"/>
          </p:cNvGraphicFramePr>
          <p:nvPr/>
        </p:nvGraphicFramePr>
        <p:xfrm>
          <a:off x="546100" y="1498600"/>
          <a:ext cx="5080000" cy="3048000"/>
        </p:xfrm>
        <a:graphic>
          <a:graphicData uri="http://schemas.openxmlformats.org/drawingml/2006/chart">
            <c:chart xmlns:c="http://schemas.openxmlformats.org/drawingml/2006/chart" r:id="rId2"/>
          </a:graphicData>
        </a:graphic>
      </p:graphicFrame>
      <p:sp>
        <p:nvSpPr>
          <p:cNvPr id="8" name="stat tile"/>
          <p:cNvSpPr/>
          <p:nvPr/>
        </p:nvSpPr>
        <p:spPr>
          <a:xfrm>
            <a:off x="5918200" y="1498600"/>
            <a:ext cx="2794000" cy="1447800"/>
          </a:xfrm>
          <a:prstGeom prst="roundRect">
            <a:avLst>
              <a:gd name="adj" fmla="val 6000"/>
            </a:avLst>
          </a:prstGeom>
          <a:solidFill>
            <a:srgbClr val="F2F4F7"/>
          </a:solidFill>
          <a:ln>
            <a:noFill/>
          </a:ln>
        </p:spPr>
        <p:txBody>
          <a:bodyPr/>
          <a:lstStyle/>
          <a:p>
            <a:endParaRPr lang="ko-KR" altLang="en-US"/>
          </a:p>
        </p:txBody>
      </p:sp>
      <p:sp>
        <p:nvSpPr>
          <p:cNvPr id="9" name="stat"/>
          <p:cNvSpPr txBox="1"/>
          <p:nvPr/>
        </p:nvSpPr>
        <p:spPr>
          <a:xfrm>
            <a:off x="6096000" y="1625600"/>
            <a:ext cx="2489200" cy="508000"/>
          </a:xfrm>
          <a:prstGeom prst="rect">
            <a:avLst/>
          </a:prstGeom>
          <a:noFill/>
          <a:ln>
            <a:noFill/>
          </a:ln>
        </p:spPr>
        <p:txBody>
          <a:bodyPr wrap="square" lIns="0" tIns="0" rIns="0" bIns="0" rtlCol="0" anchor="t"/>
          <a:lstStyle/>
          <a:p>
            <a:pPr marL="0" indent="0">
              <a:buNone/>
            </a:pPr>
            <a:r>
              <a:rPr lang="en-US" sz="2800" b="1" dirty="0">
                <a:solidFill>
                  <a:srgbClr val="0B1F3A"/>
                </a:solidFill>
              </a:rPr>
              <a:t>2,119건</a:t>
            </a:r>
            <a:endParaRPr lang="en-US" sz="2800" dirty="0"/>
          </a:p>
        </p:txBody>
      </p:sp>
      <p:sp>
        <p:nvSpPr>
          <p:cNvPr id="10" name="stat label"/>
          <p:cNvSpPr txBox="1"/>
          <p:nvPr/>
        </p:nvSpPr>
        <p:spPr>
          <a:xfrm>
            <a:off x="6096000" y="2184400"/>
            <a:ext cx="2489200" cy="279400"/>
          </a:xfrm>
          <a:prstGeom prst="rect">
            <a:avLst/>
          </a:prstGeom>
          <a:noFill/>
          <a:ln>
            <a:noFill/>
          </a:ln>
        </p:spPr>
        <p:txBody>
          <a:bodyPr wrap="square" lIns="0" tIns="0" rIns="0" bIns="0" rtlCol="0" anchor="t"/>
          <a:lstStyle/>
          <a:p>
            <a:pPr marL="0" indent="0">
              <a:buNone/>
            </a:pPr>
            <a:r>
              <a:rPr lang="en-US" sz="1300" b="1" dirty="0">
                <a:solidFill>
                  <a:srgbClr val="101828"/>
                </a:solidFill>
              </a:rPr>
              <a:t>전국 지반침하(2015~2024)</a:t>
            </a:r>
            <a:endParaRPr lang="en-US" sz="1300" dirty="0"/>
          </a:p>
        </p:txBody>
      </p:sp>
      <p:sp>
        <p:nvSpPr>
          <p:cNvPr id="11" name="stat sub"/>
          <p:cNvSpPr txBox="1"/>
          <p:nvPr/>
        </p:nvSpPr>
        <p:spPr>
          <a:xfrm>
            <a:off x="6096000" y="2476500"/>
            <a:ext cx="2489200" cy="381000"/>
          </a:xfrm>
          <a:prstGeom prst="rect">
            <a:avLst/>
          </a:prstGeom>
          <a:noFill/>
          <a:ln>
            <a:noFill/>
          </a:ln>
        </p:spPr>
        <p:txBody>
          <a:bodyPr wrap="square" lIns="0" tIns="0" rIns="0" bIns="0" rtlCol="0" anchor="t"/>
          <a:lstStyle/>
          <a:p>
            <a:pPr marL="0" indent="0">
              <a:buNone/>
            </a:pPr>
            <a:r>
              <a:rPr lang="en-US" sz="1100" dirty="0">
                <a:solidFill>
                  <a:srgbClr val="5B6573"/>
                </a:solidFill>
              </a:rPr>
              <a:t>원인 절반 이상이 상·하수관로</a:t>
            </a:r>
            <a:endParaRPr lang="en-US" sz="1100" dirty="0"/>
          </a:p>
        </p:txBody>
      </p:sp>
      <p:sp>
        <p:nvSpPr>
          <p:cNvPr id="12" name="stat tile"/>
          <p:cNvSpPr/>
          <p:nvPr/>
        </p:nvSpPr>
        <p:spPr>
          <a:xfrm>
            <a:off x="8813800" y="1498600"/>
            <a:ext cx="2794000" cy="1447800"/>
          </a:xfrm>
          <a:prstGeom prst="roundRect">
            <a:avLst>
              <a:gd name="adj" fmla="val 6000"/>
            </a:avLst>
          </a:prstGeom>
          <a:solidFill>
            <a:srgbClr val="F2F4F7"/>
          </a:solidFill>
          <a:ln>
            <a:noFill/>
          </a:ln>
        </p:spPr>
        <p:txBody>
          <a:bodyPr/>
          <a:lstStyle/>
          <a:p>
            <a:endParaRPr lang="ko-KR" altLang="en-US"/>
          </a:p>
        </p:txBody>
      </p:sp>
      <p:sp>
        <p:nvSpPr>
          <p:cNvPr id="13" name="stat"/>
          <p:cNvSpPr txBox="1"/>
          <p:nvPr/>
        </p:nvSpPr>
        <p:spPr>
          <a:xfrm>
            <a:off x="8991600" y="1625600"/>
            <a:ext cx="2489200" cy="508000"/>
          </a:xfrm>
          <a:prstGeom prst="rect">
            <a:avLst/>
          </a:prstGeom>
          <a:noFill/>
          <a:ln>
            <a:noFill/>
          </a:ln>
        </p:spPr>
        <p:txBody>
          <a:bodyPr wrap="square" lIns="0" tIns="0" rIns="0" bIns="0" rtlCol="0" anchor="t"/>
          <a:lstStyle/>
          <a:p>
            <a:pPr marL="0" indent="0">
              <a:buNone/>
            </a:pPr>
            <a:r>
              <a:rPr lang="en-US" sz="2800" b="1" dirty="0">
                <a:solidFill>
                  <a:srgbClr val="0B1F3A"/>
                </a:solidFill>
              </a:rPr>
              <a:t>4,360km</a:t>
            </a:r>
            <a:endParaRPr lang="en-US" sz="2800" dirty="0"/>
          </a:p>
        </p:txBody>
      </p:sp>
      <p:sp>
        <p:nvSpPr>
          <p:cNvPr id="14" name="stat label"/>
          <p:cNvSpPr txBox="1"/>
          <p:nvPr/>
        </p:nvSpPr>
        <p:spPr>
          <a:xfrm>
            <a:off x="8991600" y="2184400"/>
            <a:ext cx="2489200" cy="279400"/>
          </a:xfrm>
          <a:prstGeom prst="rect">
            <a:avLst/>
          </a:prstGeom>
          <a:noFill/>
          <a:ln>
            <a:noFill/>
          </a:ln>
        </p:spPr>
        <p:txBody>
          <a:bodyPr wrap="square" lIns="0" tIns="0" rIns="0" bIns="0" rtlCol="0" anchor="t"/>
          <a:lstStyle/>
          <a:p>
            <a:pPr marL="0" indent="0">
              <a:buNone/>
            </a:pPr>
            <a:r>
              <a:rPr lang="en-US" sz="1300" b="1" dirty="0">
                <a:solidFill>
                  <a:srgbClr val="101828"/>
                </a:solidFill>
              </a:rPr>
              <a:t>2025 국비 지원 지자체 지반탐사</a:t>
            </a:r>
            <a:endParaRPr lang="en-US" sz="1300" dirty="0"/>
          </a:p>
        </p:txBody>
      </p:sp>
      <p:sp>
        <p:nvSpPr>
          <p:cNvPr id="15" name="stat sub"/>
          <p:cNvSpPr txBox="1"/>
          <p:nvPr/>
        </p:nvSpPr>
        <p:spPr>
          <a:xfrm>
            <a:off x="8991600" y="2476500"/>
            <a:ext cx="2489200" cy="381000"/>
          </a:xfrm>
          <a:prstGeom prst="rect">
            <a:avLst/>
          </a:prstGeom>
          <a:noFill/>
          <a:ln>
            <a:noFill/>
          </a:ln>
        </p:spPr>
        <p:txBody>
          <a:bodyPr wrap="square" lIns="0" tIns="0" rIns="0" bIns="0" rtlCol="0" anchor="t"/>
          <a:lstStyle/>
          <a:p>
            <a:pPr marL="0" indent="0">
              <a:buNone/>
            </a:pPr>
            <a:r>
              <a:rPr lang="en-US" sz="1100" dirty="0">
                <a:solidFill>
                  <a:srgbClr val="5B6573"/>
                </a:solidFill>
              </a:rPr>
              <a:t>국토부가 탐사 예산 지원</a:t>
            </a:r>
            <a:endParaRPr lang="en-US" sz="1100" dirty="0"/>
          </a:p>
        </p:txBody>
      </p:sp>
      <p:sp>
        <p:nvSpPr>
          <p:cNvPr id="16" name="stat tile"/>
          <p:cNvSpPr/>
          <p:nvPr/>
        </p:nvSpPr>
        <p:spPr>
          <a:xfrm>
            <a:off x="5918200" y="3048000"/>
            <a:ext cx="2794000" cy="1447800"/>
          </a:xfrm>
          <a:prstGeom prst="roundRect">
            <a:avLst>
              <a:gd name="adj" fmla="val 6000"/>
            </a:avLst>
          </a:prstGeom>
          <a:solidFill>
            <a:srgbClr val="F2F4F7"/>
          </a:solidFill>
          <a:ln>
            <a:noFill/>
          </a:ln>
        </p:spPr>
        <p:txBody>
          <a:bodyPr/>
          <a:lstStyle/>
          <a:p>
            <a:endParaRPr lang="ko-KR" altLang="en-US"/>
          </a:p>
        </p:txBody>
      </p:sp>
      <p:sp>
        <p:nvSpPr>
          <p:cNvPr id="17" name="stat"/>
          <p:cNvSpPr txBox="1"/>
          <p:nvPr/>
        </p:nvSpPr>
        <p:spPr>
          <a:xfrm>
            <a:off x="6096000" y="3175000"/>
            <a:ext cx="2489200" cy="508000"/>
          </a:xfrm>
          <a:prstGeom prst="rect">
            <a:avLst/>
          </a:prstGeom>
          <a:noFill/>
          <a:ln>
            <a:noFill/>
          </a:ln>
        </p:spPr>
        <p:txBody>
          <a:bodyPr wrap="square" lIns="0" tIns="0" rIns="0" bIns="0" rtlCol="0" anchor="t"/>
          <a:lstStyle/>
          <a:p>
            <a:pPr marL="0" indent="0">
              <a:buNone/>
            </a:pPr>
            <a:r>
              <a:rPr lang="en-US" sz="2800" b="1" dirty="0">
                <a:solidFill>
                  <a:srgbClr val="0B1F3A"/>
                </a:solidFill>
              </a:rPr>
              <a:t>10대</a:t>
            </a:r>
            <a:endParaRPr lang="en-US" sz="2800" dirty="0"/>
          </a:p>
        </p:txBody>
      </p:sp>
      <p:sp>
        <p:nvSpPr>
          <p:cNvPr id="18" name="stat label"/>
          <p:cNvSpPr txBox="1"/>
          <p:nvPr/>
        </p:nvSpPr>
        <p:spPr>
          <a:xfrm>
            <a:off x="6096000" y="3733800"/>
            <a:ext cx="2489200" cy="279400"/>
          </a:xfrm>
          <a:prstGeom prst="rect">
            <a:avLst/>
          </a:prstGeom>
          <a:noFill/>
          <a:ln>
            <a:noFill/>
          </a:ln>
        </p:spPr>
        <p:txBody>
          <a:bodyPr wrap="square" lIns="0" tIns="0" rIns="0" bIns="0" rtlCol="0" anchor="t"/>
          <a:lstStyle/>
          <a:p>
            <a:pPr marL="0" indent="0">
              <a:buNone/>
            </a:pPr>
            <a:r>
              <a:rPr lang="en-US" sz="1300" b="1" dirty="0">
                <a:solidFill>
                  <a:srgbClr val="101828"/>
                </a:solidFill>
              </a:rPr>
              <a:t>서울시 GPR 장비</a:t>
            </a:r>
            <a:endParaRPr lang="en-US" sz="1300" dirty="0"/>
          </a:p>
        </p:txBody>
      </p:sp>
      <p:sp>
        <p:nvSpPr>
          <p:cNvPr id="19" name="stat sub"/>
          <p:cNvSpPr txBox="1"/>
          <p:nvPr/>
        </p:nvSpPr>
        <p:spPr>
          <a:xfrm>
            <a:off x="6096000" y="4025900"/>
            <a:ext cx="2489200" cy="381000"/>
          </a:xfrm>
          <a:prstGeom prst="rect">
            <a:avLst/>
          </a:prstGeom>
          <a:noFill/>
          <a:ln>
            <a:noFill/>
          </a:ln>
        </p:spPr>
        <p:txBody>
          <a:bodyPr wrap="square" lIns="0" tIns="0" rIns="0" bIns="0" rtlCol="0" anchor="t"/>
          <a:lstStyle/>
          <a:p>
            <a:pPr marL="0" indent="0">
              <a:buNone/>
            </a:pPr>
            <a:r>
              <a:rPr lang="en-US" sz="1100" dirty="0">
                <a:solidFill>
                  <a:srgbClr val="5B6573"/>
                </a:solidFill>
              </a:rPr>
              <a:t>차량형 6·전동형 1·핸드형 3, 지자체 최대</a:t>
            </a:r>
            <a:endParaRPr lang="en-US" sz="1100" dirty="0"/>
          </a:p>
        </p:txBody>
      </p:sp>
      <p:sp>
        <p:nvSpPr>
          <p:cNvPr id="20" name="stat tile"/>
          <p:cNvSpPr/>
          <p:nvPr/>
        </p:nvSpPr>
        <p:spPr>
          <a:xfrm>
            <a:off x="8813800" y="3048000"/>
            <a:ext cx="2794000" cy="1447800"/>
          </a:xfrm>
          <a:prstGeom prst="roundRect">
            <a:avLst>
              <a:gd name="adj" fmla="val 6000"/>
            </a:avLst>
          </a:prstGeom>
          <a:solidFill>
            <a:srgbClr val="F2F4F7"/>
          </a:solidFill>
          <a:ln>
            <a:noFill/>
          </a:ln>
        </p:spPr>
        <p:txBody>
          <a:bodyPr/>
          <a:lstStyle/>
          <a:p>
            <a:endParaRPr lang="ko-KR" altLang="en-US"/>
          </a:p>
        </p:txBody>
      </p:sp>
      <p:sp>
        <p:nvSpPr>
          <p:cNvPr id="21" name="stat"/>
          <p:cNvSpPr txBox="1"/>
          <p:nvPr/>
        </p:nvSpPr>
        <p:spPr>
          <a:xfrm>
            <a:off x="8991600" y="3175000"/>
            <a:ext cx="2489200" cy="508000"/>
          </a:xfrm>
          <a:prstGeom prst="rect">
            <a:avLst/>
          </a:prstGeom>
          <a:noFill/>
          <a:ln>
            <a:noFill/>
          </a:ln>
        </p:spPr>
        <p:txBody>
          <a:bodyPr wrap="square" lIns="0" tIns="0" rIns="0" bIns="0" rtlCol="0" anchor="t"/>
          <a:lstStyle/>
          <a:p>
            <a:pPr marL="0" indent="0">
              <a:buNone/>
            </a:pPr>
            <a:r>
              <a:rPr lang="en-US" sz="2800" b="1" dirty="0">
                <a:solidFill>
                  <a:srgbClr val="0B1F3A"/>
                </a:solidFill>
              </a:rPr>
              <a:t>13 → 30대</a:t>
            </a:r>
            <a:endParaRPr lang="en-US" sz="2800" dirty="0"/>
          </a:p>
        </p:txBody>
      </p:sp>
      <p:sp>
        <p:nvSpPr>
          <p:cNvPr id="22" name="stat label"/>
          <p:cNvSpPr txBox="1"/>
          <p:nvPr/>
        </p:nvSpPr>
        <p:spPr>
          <a:xfrm>
            <a:off x="8991600" y="3733800"/>
            <a:ext cx="2489200" cy="279400"/>
          </a:xfrm>
          <a:prstGeom prst="rect">
            <a:avLst/>
          </a:prstGeom>
          <a:noFill/>
          <a:ln>
            <a:noFill/>
          </a:ln>
        </p:spPr>
        <p:txBody>
          <a:bodyPr wrap="square" lIns="0" tIns="0" rIns="0" bIns="0" rtlCol="0" anchor="t"/>
          <a:lstStyle/>
          <a:p>
            <a:pPr marL="0" indent="0">
              <a:buNone/>
            </a:pPr>
            <a:r>
              <a:rPr lang="en-US" sz="1300" b="1" dirty="0">
                <a:solidFill>
                  <a:srgbClr val="101828"/>
                </a:solidFill>
              </a:rPr>
              <a:t>국토안전관리원 GPR 확충 목표</a:t>
            </a:r>
            <a:endParaRPr lang="en-US" sz="1300" dirty="0"/>
          </a:p>
        </p:txBody>
      </p:sp>
      <p:sp>
        <p:nvSpPr>
          <p:cNvPr id="23" name="stat sub"/>
          <p:cNvSpPr txBox="1"/>
          <p:nvPr/>
        </p:nvSpPr>
        <p:spPr>
          <a:xfrm>
            <a:off x="8991600" y="4025900"/>
            <a:ext cx="2489200" cy="381000"/>
          </a:xfrm>
          <a:prstGeom prst="rect">
            <a:avLst/>
          </a:prstGeom>
          <a:noFill/>
          <a:ln>
            <a:noFill/>
          </a:ln>
        </p:spPr>
        <p:txBody>
          <a:bodyPr wrap="square" lIns="0" tIns="0" rIns="0" bIns="0" rtlCol="0" anchor="t"/>
          <a:lstStyle/>
          <a:p>
            <a:pPr marL="0" indent="0">
              <a:buNone/>
            </a:pPr>
            <a:r>
              <a:rPr lang="en-US" sz="1100" dirty="0">
                <a:solidFill>
                  <a:srgbClr val="5B6573"/>
                </a:solidFill>
              </a:rPr>
              <a:t>2029년까지(헤럴드경제 2025.5.27)</a:t>
            </a:r>
            <a:endParaRPr lang="en-US" sz="1100" dirty="0"/>
          </a:p>
        </p:txBody>
      </p:sp>
      <p:sp>
        <p:nvSpPr>
          <p:cNvPr id="24" name="card"/>
          <p:cNvSpPr/>
          <p:nvPr/>
        </p:nvSpPr>
        <p:spPr>
          <a:xfrm>
            <a:off x="546100" y="4699000"/>
            <a:ext cx="5346700" cy="1244600"/>
          </a:xfrm>
          <a:prstGeom prst="roundRect">
            <a:avLst>
              <a:gd name="adj" fmla="val 6000"/>
            </a:avLst>
          </a:prstGeom>
          <a:solidFill>
            <a:srgbClr val="FFFFFF"/>
          </a:solidFill>
          <a:ln w="12700">
            <a:solidFill>
              <a:srgbClr val="DCE1E8"/>
            </a:solidFill>
          </a:ln>
        </p:spPr>
        <p:txBody>
          <a:bodyPr/>
          <a:lstStyle/>
          <a:p>
            <a:endParaRPr lang="ko-KR" altLang="en-US"/>
          </a:p>
        </p:txBody>
      </p:sp>
      <p:sp>
        <p:nvSpPr>
          <p:cNvPr id="25" name="card head"/>
          <p:cNvSpPr txBox="1"/>
          <p:nvPr/>
        </p:nvSpPr>
        <p:spPr>
          <a:xfrm>
            <a:off x="723900" y="4800600"/>
            <a:ext cx="5080000" cy="279400"/>
          </a:xfrm>
          <a:prstGeom prst="rect">
            <a:avLst/>
          </a:prstGeom>
          <a:noFill/>
          <a:ln>
            <a:noFill/>
          </a:ln>
        </p:spPr>
        <p:txBody>
          <a:bodyPr wrap="square" lIns="0" tIns="0" rIns="0" bIns="0" rtlCol="0" anchor="t"/>
          <a:lstStyle/>
          <a:p>
            <a:pPr marL="0" indent="0">
              <a:buNone/>
            </a:pPr>
            <a:r>
              <a:rPr lang="en-US" sz="1400" b="1" dirty="0">
                <a:solidFill>
                  <a:srgbClr val="101828"/>
                </a:solidFill>
              </a:rPr>
              <a:t>km당 사업비 사례(계산값)</a:t>
            </a:r>
            <a:endParaRPr lang="en-US" sz="1400" dirty="0"/>
          </a:p>
        </p:txBody>
      </p:sp>
      <p:sp>
        <p:nvSpPr>
          <p:cNvPr id="26" name="card body"/>
          <p:cNvSpPr txBox="1"/>
          <p:nvPr/>
        </p:nvSpPr>
        <p:spPr>
          <a:xfrm>
            <a:off x="723900" y="5105400"/>
            <a:ext cx="5080000" cy="787400"/>
          </a:xfrm>
          <a:prstGeom prst="rect">
            <a:avLst/>
          </a:prstGeom>
          <a:noFill/>
          <a:ln>
            <a:noFill/>
          </a:ln>
        </p:spPr>
        <p:txBody>
          <a:bodyPr wrap="square" lIns="0" tIns="0" rIns="0" bIns="0" rtlCol="0" anchor="t"/>
          <a:lstStyle/>
          <a:p>
            <a:pPr marL="171450" indent="-171450">
              <a:spcAft>
                <a:spcPts val="200"/>
              </a:spcAft>
              <a:buFont typeface="Arial"/>
              <a:buChar char="•"/>
            </a:pPr>
            <a:r>
              <a:rPr lang="en-US" sz="1200" dirty="0">
                <a:solidFill>
                  <a:srgbClr val="5B6573"/>
                </a:solidFill>
              </a:rPr>
              <a:t>경기도 21억 6,000만 원 ÷ 1,080km ≈ km당 약 200만 원</a:t>
            </a:r>
            <a:endParaRPr lang="en-US" sz="1200" dirty="0"/>
          </a:p>
          <a:p>
            <a:pPr marL="171450" indent="-171450">
              <a:spcAft>
                <a:spcPts val="200"/>
              </a:spcAft>
              <a:buFont typeface="Arial"/>
              <a:buChar char="•"/>
            </a:pPr>
            <a:r>
              <a:rPr lang="en-US" sz="1200" dirty="0">
                <a:solidFill>
                  <a:srgbClr val="5B6573"/>
                </a:solidFill>
              </a:rPr>
              <a:t>사업비를 탐사 연장으로 나눈 계산값(경기도 2025 지원사업)</a:t>
            </a:r>
            <a:endParaRPr lang="en-US" sz="1200" dirty="0"/>
          </a:p>
          <a:p>
            <a:pPr marL="171450" indent="-171450">
              <a:spcAft>
                <a:spcPts val="200"/>
              </a:spcAft>
              <a:buFont typeface="Arial"/>
              <a:buChar char="•"/>
            </a:pPr>
            <a:r>
              <a:rPr lang="en-US" sz="1200" dirty="0">
                <a:solidFill>
                  <a:srgbClr val="5B6573"/>
                </a:solidFill>
              </a:rPr>
              <a:t>사업비에 탐사 외 비용이 포함됐는지는 입찰 설계서로 재확인</a:t>
            </a:r>
            <a:endParaRPr lang="en-US" sz="1200" dirty="0"/>
          </a:p>
        </p:txBody>
      </p:sp>
      <p:sp>
        <p:nvSpPr>
          <p:cNvPr id="27" name="card"/>
          <p:cNvSpPr/>
          <p:nvPr/>
        </p:nvSpPr>
        <p:spPr>
          <a:xfrm>
            <a:off x="6096000" y="4699000"/>
            <a:ext cx="5537200" cy="1244600"/>
          </a:xfrm>
          <a:prstGeom prst="roundRect">
            <a:avLst>
              <a:gd name="adj" fmla="val 6000"/>
            </a:avLst>
          </a:prstGeom>
          <a:solidFill>
            <a:srgbClr val="0B1F3A"/>
          </a:solidFill>
          <a:ln>
            <a:noFill/>
          </a:ln>
        </p:spPr>
        <p:txBody>
          <a:bodyPr/>
          <a:lstStyle/>
          <a:p>
            <a:endParaRPr lang="ko-KR" altLang="en-US"/>
          </a:p>
        </p:txBody>
      </p:sp>
      <p:sp>
        <p:nvSpPr>
          <p:cNvPr id="28" name="card head"/>
          <p:cNvSpPr txBox="1"/>
          <p:nvPr/>
        </p:nvSpPr>
        <p:spPr>
          <a:xfrm>
            <a:off x="6273800" y="4800600"/>
            <a:ext cx="5207000" cy="279400"/>
          </a:xfrm>
          <a:prstGeom prst="rect">
            <a:avLst/>
          </a:prstGeom>
          <a:noFill/>
          <a:ln>
            <a:noFill/>
          </a:ln>
        </p:spPr>
        <p:txBody>
          <a:bodyPr wrap="square" lIns="0" tIns="0" rIns="0" bIns="0" rtlCol="0" anchor="t"/>
          <a:lstStyle/>
          <a:p>
            <a:pPr marL="0" indent="0">
              <a:buNone/>
            </a:pPr>
            <a:r>
              <a:rPr lang="en-US" sz="1400" b="1" dirty="0">
                <a:solidFill>
                  <a:srgbClr val="FFFFFF"/>
                </a:solidFill>
              </a:rPr>
              <a:t>단순 추정 </a:t>
            </a:r>
            <a:r>
              <a:rPr lang="en-US" sz="1400" b="1" dirty="0">
                <a:solidFill>
                  <a:srgbClr val="F5B400"/>
                </a:solidFill>
              </a:rPr>
              <a:t>[가설]</a:t>
            </a:r>
            <a:endParaRPr lang="en-US" sz="1400" dirty="0"/>
          </a:p>
        </p:txBody>
      </p:sp>
      <p:sp>
        <p:nvSpPr>
          <p:cNvPr id="29" name="card body"/>
          <p:cNvSpPr txBox="1"/>
          <p:nvPr/>
        </p:nvSpPr>
        <p:spPr>
          <a:xfrm>
            <a:off x="6273800" y="5105400"/>
            <a:ext cx="5207000" cy="787400"/>
          </a:xfrm>
          <a:prstGeom prst="rect">
            <a:avLst/>
          </a:prstGeom>
          <a:noFill/>
          <a:ln>
            <a:noFill/>
          </a:ln>
        </p:spPr>
        <p:txBody>
          <a:bodyPr wrap="square" lIns="0" tIns="0" rIns="0" bIns="0" rtlCol="0" anchor="t"/>
          <a:lstStyle/>
          <a:p>
            <a:pPr marL="171450" indent="-171450">
              <a:spcAft>
                <a:spcPts val="200"/>
              </a:spcAft>
              <a:buFont typeface="Arial"/>
              <a:buChar char="•"/>
            </a:pPr>
            <a:r>
              <a:rPr lang="en-US" sz="1200" dirty="0">
                <a:solidFill>
                  <a:srgbClr val="C9D3E0"/>
                </a:solidFill>
              </a:rPr>
              <a:t>국비 지원 4,360km × km당 약 200만 원(경기도 사례)</a:t>
            </a:r>
            <a:endParaRPr lang="en-US" sz="1200" dirty="0"/>
          </a:p>
          <a:p>
            <a:pPr marL="171450" indent="-171450">
              <a:spcAft>
                <a:spcPts val="200"/>
              </a:spcAft>
              <a:buFont typeface="Arial"/>
              <a:buChar char="•"/>
            </a:pPr>
            <a:r>
              <a:rPr lang="en-US" sz="1200" dirty="0">
                <a:solidFill>
                  <a:srgbClr val="C9D3E0"/>
                </a:solidFill>
              </a:rPr>
              <a:t>≈ 연 약 87억 원 규모의 탐사 사업</a:t>
            </a:r>
            <a:endParaRPr lang="en-US" sz="1200" dirty="0"/>
          </a:p>
          <a:p>
            <a:pPr marL="171450" indent="-171450">
              <a:spcAft>
                <a:spcPts val="200"/>
              </a:spcAft>
              <a:buFont typeface="Arial"/>
              <a:buChar char="•"/>
            </a:pPr>
            <a:r>
              <a:rPr lang="en-US" sz="1200" dirty="0">
                <a:solidFill>
                  <a:srgbClr val="C9D3E0"/>
                </a:solidFill>
              </a:rPr>
              <a:t>서울시 자체 탐사(16,423km)와 정기 관제 계약은 별도</a:t>
            </a:r>
            <a:endParaRPr lang="en-US" sz="1200" dirty="0"/>
          </a:p>
        </p:txBody>
      </p:sp>
      <p:sp>
        <p:nvSpPr>
          <p:cNvPr id="30" name="source"/>
          <p:cNvSpPr txBox="1"/>
          <p:nvPr/>
        </p:nvSpPr>
        <p:spPr>
          <a:xfrm>
            <a:off x="546100" y="6299200"/>
            <a:ext cx="10414000" cy="381000"/>
          </a:xfrm>
          <a:prstGeom prst="rect">
            <a:avLst/>
          </a:prstGeom>
          <a:noFill/>
          <a:ln>
            <a:noFill/>
          </a:ln>
        </p:spPr>
        <p:txBody>
          <a:bodyPr wrap="square" lIns="0" tIns="0" rIns="0" bIns="0" rtlCol="0" anchor="ctr"/>
          <a:lstStyle/>
          <a:p>
            <a:pPr marL="0" indent="0">
              <a:buNone/>
            </a:pPr>
            <a:r>
              <a:rPr lang="en-US" sz="1000" dirty="0">
                <a:solidFill>
                  <a:srgbClr val="8A94A3"/>
                </a:solidFill>
              </a:rPr>
              <a:t>출처: 이투데이(2025.6.7, 국회입법조사처·국토부 집계), 쿠키뉴스·헤럴드경제(2025.5.27), 서울시·머니투데이(2026.3.23), 서울신문(2025.10.19), 뉴스서울(2025.5.30). 전체 목록은 부록 4.</a:t>
            </a:r>
            <a:endParaRPr 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사업성 2</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PV5 한 대가 1년에 볼 수 있는 도로와 필요한 차량 수</a:t>
            </a:r>
            <a:endParaRPr lang="en-US" sz="1900" dirty="0"/>
          </a:p>
        </p:txBody>
      </p:sp>
      <p:sp>
        <p:nvSpPr>
          <p:cNvPr id="4"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가정을 밝힌 단순 계산입니다. 실제 값은 파일럿의 ‘1일 탐사 연장’ 측정값으로 바꿉니다.</a:t>
            </a:r>
            <a:endParaRPr lang="en-US" sz="16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graphicFrame>
        <p:nvGraphicFramePr>
          <p:cNvPr id="6" name="table"/>
          <p:cNvGraphicFramePr>
            <a:graphicFrameLocks noGrp="1"/>
          </p:cNvGraphicFramePr>
          <p:nvPr/>
        </p:nvGraphicFramePr>
        <p:xfrm>
          <a:off x="546100" y="1498600"/>
          <a:ext cx="5346700" cy="2057400"/>
        </p:xfrm>
        <a:graphic>
          <a:graphicData uri="http://schemas.openxmlformats.org/drawingml/2006/table">
            <a:tbl>
              <a:tblPr/>
              <a:tblGrid>
                <a:gridCol w="1651000"/>
                <a:gridCol w="1397000"/>
                <a:gridCol w="2298700"/>
              </a:tblGrid>
              <a:tr h="330200">
                <a:tc>
                  <a:txBody>
                    <a:bodyPr/>
                    <a:lstStyle/>
                    <a:p>
                      <a:pPr marL="0" indent="0">
                        <a:buNone/>
                      </a:pPr>
                      <a:r>
                        <a:rPr lang="en-US" sz="1200" b="1" dirty="0">
                          <a:solidFill>
                            <a:srgbClr val="5B6573"/>
                          </a:solidFill>
                        </a:rPr>
                        <a:t>가정</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값</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근거</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1800">
                <a:tc>
                  <a:txBody>
                    <a:bodyPr/>
                    <a:lstStyle/>
                    <a:p>
                      <a:pPr marL="0" indent="0">
                        <a:buNone/>
                      </a:pPr>
                      <a:r>
                        <a:rPr lang="en-US" sz="1200" b="1" dirty="0">
                          <a:solidFill>
                            <a:srgbClr val="101828"/>
                          </a:solidFill>
                        </a:rPr>
                        <a:t>새벽 순찰 시간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하루 3시간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D93025"/>
                          </a:solidFill>
                        </a:rPr>
                        <a:t>[가설]</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평균 탐사 속도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시속 10km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서울 차량형 GPR 현장 보도(5~30km)의 낮은 쪽</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연간 운행일</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200일</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주말·우천·정비 제외 [가설]</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31800">
                <a:tc>
                  <a:txBody>
                    <a:bodyPr/>
                    <a:lstStyle/>
                    <a:p>
                      <a:pPr marL="0" indent="0">
                        <a:buNone/>
                      </a:pPr>
                      <a:r>
                        <a:rPr lang="en-US" sz="1200" b="1" dirty="0">
                          <a:solidFill>
                            <a:srgbClr val="101828"/>
                          </a:solidFill>
                        </a:rPr>
                        <a:t>대당 연간 탐사 연장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b="1" dirty="0">
                          <a:solidFill>
                            <a:srgbClr val="101828"/>
                          </a:solidFill>
                        </a:rPr>
                        <a:t>약 6,000km</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3시간 × 10km × 200일</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bl>
          </a:graphicData>
        </a:graphic>
      </p:graphicFrame>
      <p:sp>
        <p:nvSpPr>
          <p:cNvPr id="7" name="result tile"/>
          <p:cNvSpPr/>
          <p:nvPr/>
        </p:nvSpPr>
        <p:spPr>
          <a:xfrm>
            <a:off x="546100" y="3759200"/>
            <a:ext cx="5346700" cy="1778000"/>
          </a:xfrm>
          <a:prstGeom prst="roundRect">
            <a:avLst>
              <a:gd name="adj" fmla="val 6000"/>
            </a:avLst>
          </a:prstGeom>
          <a:solidFill>
            <a:srgbClr val="0B1F3A"/>
          </a:solidFill>
          <a:ln>
            <a:noFill/>
          </a:ln>
        </p:spPr>
        <p:txBody>
          <a:bodyPr/>
          <a:lstStyle/>
          <a:p>
            <a:endParaRPr lang="ko-KR" altLang="en-US"/>
          </a:p>
        </p:txBody>
      </p:sp>
      <p:sp>
        <p:nvSpPr>
          <p:cNvPr id="8" name="result"/>
          <p:cNvSpPr txBox="1"/>
          <p:nvPr/>
        </p:nvSpPr>
        <p:spPr>
          <a:xfrm>
            <a:off x="774700" y="3886200"/>
            <a:ext cx="4889500" cy="711200"/>
          </a:xfrm>
          <a:prstGeom prst="rect">
            <a:avLst/>
          </a:prstGeom>
          <a:noFill/>
          <a:ln>
            <a:noFill/>
          </a:ln>
        </p:spPr>
        <p:txBody>
          <a:bodyPr wrap="square" lIns="0" tIns="0" rIns="0" bIns="0" rtlCol="0" anchor="t"/>
          <a:lstStyle/>
          <a:p>
            <a:pPr marL="0" indent="0">
              <a:buNone/>
            </a:pPr>
            <a:r>
              <a:rPr lang="en-US" sz="3600" b="1" dirty="0">
                <a:solidFill>
                  <a:srgbClr val="F5B400"/>
                </a:solidFill>
              </a:rPr>
              <a:t>≈ 6,000km</a:t>
            </a:r>
            <a:endParaRPr lang="en-US" sz="3600" dirty="0"/>
          </a:p>
        </p:txBody>
      </p:sp>
      <p:sp>
        <p:nvSpPr>
          <p:cNvPr id="9" name="result label"/>
          <p:cNvSpPr txBox="1"/>
          <p:nvPr/>
        </p:nvSpPr>
        <p:spPr>
          <a:xfrm>
            <a:off x="774700" y="4622800"/>
            <a:ext cx="4889500" cy="304800"/>
          </a:xfrm>
          <a:prstGeom prst="rect">
            <a:avLst/>
          </a:prstGeom>
          <a:noFill/>
          <a:ln>
            <a:noFill/>
          </a:ln>
        </p:spPr>
        <p:txBody>
          <a:bodyPr wrap="square" lIns="0" tIns="0" rIns="0" bIns="0" rtlCol="0" anchor="t"/>
          <a:lstStyle/>
          <a:p>
            <a:pPr marL="0" indent="0">
              <a:buNone/>
            </a:pPr>
            <a:r>
              <a:rPr lang="en-US" sz="1400" b="1" dirty="0">
                <a:solidFill>
                  <a:srgbClr val="FFFFFF"/>
                </a:solidFill>
              </a:rPr>
              <a:t>대당 연간 탐사 연장 [가설]</a:t>
            </a:r>
            <a:endParaRPr lang="en-US" sz="1400" dirty="0"/>
          </a:p>
        </p:txBody>
      </p:sp>
      <p:sp>
        <p:nvSpPr>
          <p:cNvPr id="10" name="result note"/>
          <p:cNvSpPr txBox="1"/>
          <p:nvPr/>
        </p:nvSpPr>
        <p:spPr>
          <a:xfrm>
            <a:off x="774700" y="4978400"/>
            <a:ext cx="4889500" cy="508000"/>
          </a:xfrm>
          <a:prstGeom prst="rect">
            <a:avLst/>
          </a:prstGeom>
          <a:noFill/>
          <a:ln>
            <a:noFill/>
          </a:ln>
        </p:spPr>
        <p:txBody>
          <a:bodyPr wrap="square" lIns="0" tIns="0" rIns="0" bIns="0" rtlCol="0" anchor="t"/>
          <a:lstStyle/>
          <a:p>
            <a:pPr marL="0" indent="0">
              <a:buNone/>
            </a:pPr>
            <a:r>
              <a:rPr lang="en-US" sz="1200" dirty="0">
                <a:solidFill>
                  <a:srgbClr val="C9D3E0"/>
                </a:solidFill>
              </a:rPr>
              <a:t>같은 길을 반복해서 보는 것이 목적이라, 넓이보다 ‘관리할 수 있는 구간의 길이’로 읽습니다.</a:t>
            </a:r>
            <a:endParaRPr lang="en-US" sz="1200" dirty="0"/>
          </a:p>
        </p:txBody>
      </p:sp>
      <p:sp>
        <p:nvSpPr>
          <p:cNvPr id="11" name="head"/>
          <p:cNvSpPr txBox="1"/>
          <p:nvPr/>
        </p:nvSpPr>
        <p:spPr>
          <a:xfrm>
            <a:off x="6121400" y="1498600"/>
            <a:ext cx="5511800" cy="279400"/>
          </a:xfrm>
          <a:prstGeom prst="rect">
            <a:avLst/>
          </a:prstGeom>
          <a:noFill/>
          <a:ln>
            <a:noFill/>
          </a:ln>
        </p:spPr>
        <p:txBody>
          <a:bodyPr wrap="square" lIns="0" tIns="0" rIns="0" bIns="0" rtlCol="0" anchor="t"/>
          <a:lstStyle/>
          <a:p>
            <a:pPr marL="0" indent="0">
              <a:buNone/>
            </a:pPr>
            <a:r>
              <a:rPr lang="en-US" sz="1500" b="1" dirty="0">
                <a:solidFill>
                  <a:srgbClr val="101828"/>
                </a:solidFill>
              </a:rPr>
              <a:t>이 숫자가 말해 주는 것</a:t>
            </a:r>
            <a:endParaRPr lang="en-US" sz="1500" dirty="0"/>
          </a:p>
        </p:txBody>
      </p:sp>
      <p:sp>
        <p:nvSpPr>
          <p:cNvPr id="12" name="imp card"/>
          <p:cNvSpPr/>
          <p:nvPr/>
        </p:nvSpPr>
        <p:spPr>
          <a:xfrm>
            <a:off x="6121400" y="1854200"/>
            <a:ext cx="5511800" cy="1143000"/>
          </a:xfrm>
          <a:prstGeom prst="roundRect">
            <a:avLst>
              <a:gd name="adj" fmla="val 7000"/>
            </a:avLst>
          </a:prstGeom>
          <a:solidFill>
            <a:srgbClr val="F2F4F7"/>
          </a:solidFill>
          <a:ln>
            <a:noFill/>
          </a:ln>
        </p:spPr>
        <p:txBody>
          <a:bodyPr/>
          <a:lstStyle/>
          <a:p>
            <a:endParaRPr lang="ko-KR" altLang="en-US"/>
          </a:p>
        </p:txBody>
      </p:sp>
      <p:sp>
        <p:nvSpPr>
          <p:cNvPr id="13" name="imp num"/>
          <p:cNvSpPr txBox="1"/>
          <p:nvPr/>
        </p:nvSpPr>
        <p:spPr>
          <a:xfrm>
            <a:off x="6299200" y="1955800"/>
            <a:ext cx="1854200" cy="939800"/>
          </a:xfrm>
          <a:prstGeom prst="rect">
            <a:avLst/>
          </a:prstGeom>
          <a:noFill/>
          <a:ln>
            <a:noFill/>
          </a:ln>
        </p:spPr>
        <p:txBody>
          <a:bodyPr wrap="square" lIns="0" tIns="0" rIns="0" bIns="0" rtlCol="0" anchor="ctr"/>
          <a:lstStyle/>
          <a:p>
            <a:pPr marL="0" indent="0">
              <a:buNone/>
            </a:pPr>
            <a:r>
              <a:rPr lang="en-US" sz="2400" b="1" dirty="0">
                <a:solidFill>
                  <a:srgbClr val="0B1F3A"/>
                </a:solidFill>
              </a:rPr>
              <a:t>약 500km</a:t>
            </a:r>
            <a:endParaRPr lang="en-US" sz="2400" dirty="0"/>
          </a:p>
        </p:txBody>
      </p:sp>
      <p:sp>
        <p:nvSpPr>
          <p:cNvPr id="14" name="imp body"/>
          <p:cNvSpPr txBox="1"/>
          <p:nvPr/>
        </p:nvSpPr>
        <p:spPr>
          <a:xfrm>
            <a:off x="8229600" y="1955800"/>
            <a:ext cx="3276600" cy="939800"/>
          </a:xfrm>
          <a:prstGeom prst="rect">
            <a:avLst/>
          </a:prstGeom>
          <a:noFill/>
          <a:ln>
            <a:noFill/>
          </a:ln>
        </p:spPr>
        <p:txBody>
          <a:bodyPr wrap="square" lIns="0" tIns="0" rIns="0" bIns="0" rtlCol="0" anchor="ctr"/>
          <a:lstStyle/>
          <a:p>
            <a:pPr marL="0" indent="0">
              <a:buNone/>
            </a:pPr>
            <a:r>
              <a:rPr lang="en-US" sz="1300" dirty="0">
                <a:solidFill>
                  <a:srgbClr val="5B6573"/>
                </a:solidFill>
              </a:rPr>
              <a:t>같은 구간을 월 1회 반복할 때 한 대가 상시 관리할 수 있는 도로(6,000 ÷ 12)</a:t>
            </a:r>
            <a:endParaRPr lang="en-US" sz="1300" dirty="0"/>
          </a:p>
        </p:txBody>
      </p:sp>
      <p:sp>
        <p:nvSpPr>
          <p:cNvPr id="15" name="imp card"/>
          <p:cNvSpPr/>
          <p:nvPr/>
        </p:nvSpPr>
        <p:spPr>
          <a:xfrm>
            <a:off x="6121400" y="3098800"/>
            <a:ext cx="5511800" cy="1143000"/>
          </a:xfrm>
          <a:prstGeom prst="roundRect">
            <a:avLst>
              <a:gd name="adj" fmla="val 7000"/>
            </a:avLst>
          </a:prstGeom>
          <a:solidFill>
            <a:srgbClr val="F2F4F7"/>
          </a:solidFill>
          <a:ln>
            <a:noFill/>
          </a:ln>
        </p:spPr>
        <p:txBody>
          <a:bodyPr/>
          <a:lstStyle/>
          <a:p>
            <a:endParaRPr lang="ko-KR" altLang="en-US"/>
          </a:p>
        </p:txBody>
      </p:sp>
      <p:sp>
        <p:nvSpPr>
          <p:cNvPr id="16" name="imp num"/>
          <p:cNvSpPr txBox="1"/>
          <p:nvPr/>
        </p:nvSpPr>
        <p:spPr>
          <a:xfrm>
            <a:off x="6299200" y="3200400"/>
            <a:ext cx="1854200" cy="939800"/>
          </a:xfrm>
          <a:prstGeom prst="rect">
            <a:avLst/>
          </a:prstGeom>
          <a:noFill/>
          <a:ln>
            <a:noFill/>
          </a:ln>
        </p:spPr>
        <p:txBody>
          <a:bodyPr wrap="square" lIns="0" tIns="0" rIns="0" bIns="0" rtlCol="0" anchor="ctr"/>
          <a:lstStyle/>
          <a:p>
            <a:pPr marL="0" indent="0">
              <a:buNone/>
            </a:pPr>
            <a:r>
              <a:rPr lang="en-US" sz="2400" b="1" dirty="0">
                <a:solidFill>
                  <a:srgbClr val="0B1F3A"/>
                </a:solidFill>
              </a:rPr>
              <a:t>약 3대</a:t>
            </a:r>
            <a:endParaRPr lang="en-US" sz="2400" dirty="0"/>
          </a:p>
        </p:txBody>
      </p:sp>
      <p:sp>
        <p:nvSpPr>
          <p:cNvPr id="17" name="imp body"/>
          <p:cNvSpPr txBox="1"/>
          <p:nvPr/>
        </p:nvSpPr>
        <p:spPr>
          <a:xfrm>
            <a:off x="8229600" y="3200400"/>
            <a:ext cx="3276600" cy="939800"/>
          </a:xfrm>
          <a:prstGeom prst="rect">
            <a:avLst/>
          </a:prstGeom>
          <a:noFill/>
          <a:ln>
            <a:noFill/>
          </a:ln>
        </p:spPr>
        <p:txBody>
          <a:bodyPr wrap="square" lIns="0" tIns="0" rIns="0" bIns="0" rtlCol="0" anchor="ctr"/>
          <a:lstStyle/>
          <a:p>
            <a:pPr marL="0" indent="0">
              <a:buNone/>
            </a:pPr>
            <a:r>
              <a:rPr lang="en-US" sz="1300" dirty="0">
                <a:solidFill>
                  <a:srgbClr val="5B6573"/>
                </a:solidFill>
              </a:rPr>
              <a:t>서울시 2026 탐사 계획 16,423km를 같은 조건으로 한 번 덮는 데 필요한 차량(16,423 ÷ 6,000)</a:t>
            </a:r>
            <a:endParaRPr lang="en-US" sz="1300" dirty="0"/>
          </a:p>
        </p:txBody>
      </p:sp>
      <p:sp>
        <p:nvSpPr>
          <p:cNvPr id="18" name="imp card"/>
          <p:cNvSpPr/>
          <p:nvPr/>
        </p:nvSpPr>
        <p:spPr>
          <a:xfrm>
            <a:off x="6121400" y="4343400"/>
            <a:ext cx="5511800" cy="1143000"/>
          </a:xfrm>
          <a:prstGeom prst="roundRect">
            <a:avLst>
              <a:gd name="adj" fmla="val 7000"/>
            </a:avLst>
          </a:prstGeom>
          <a:solidFill>
            <a:srgbClr val="F2F4F7"/>
          </a:solidFill>
          <a:ln>
            <a:noFill/>
          </a:ln>
        </p:spPr>
        <p:txBody>
          <a:bodyPr/>
          <a:lstStyle/>
          <a:p>
            <a:endParaRPr lang="ko-KR" altLang="en-US"/>
          </a:p>
        </p:txBody>
      </p:sp>
      <p:sp>
        <p:nvSpPr>
          <p:cNvPr id="19" name="imp num"/>
          <p:cNvSpPr txBox="1"/>
          <p:nvPr/>
        </p:nvSpPr>
        <p:spPr>
          <a:xfrm>
            <a:off x="6299200" y="4445000"/>
            <a:ext cx="1854200" cy="939800"/>
          </a:xfrm>
          <a:prstGeom prst="rect">
            <a:avLst/>
          </a:prstGeom>
          <a:noFill/>
          <a:ln>
            <a:noFill/>
          </a:ln>
        </p:spPr>
        <p:txBody>
          <a:bodyPr wrap="square" lIns="0" tIns="0" rIns="0" bIns="0" rtlCol="0" anchor="ctr"/>
          <a:lstStyle/>
          <a:p>
            <a:pPr marL="0" indent="0">
              <a:buNone/>
            </a:pPr>
            <a:r>
              <a:rPr lang="en-US" sz="2400" b="1" dirty="0">
                <a:solidFill>
                  <a:srgbClr val="0B1F3A"/>
                </a:solidFill>
              </a:rPr>
              <a:t>약 3대</a:t>
            </a:r>
            <a:endParaRPr lang="en-US" sz="2400" dirty="0"/>
          </a:p>
        </p:txBody>
      </p:sp>
      <p:sp>
        <p:nvSpPr>
          <p:cNvPr id="20" name="imp body"/>
          <p:cNvSpPr txBox="1"/>
          <p:nvPr/>
        </p:nvSpPr>
        <p:spPr>
          <a:xfrm>
            <a:off x="8229600" y="4445000"/>
            <a:ext cx="3276600" cy="939800"/>
          </a:xfrm>
          <a:prstGeom prst="rect">
            <a:avLst/>
          </a:prstGeom>
          <a:noFill/>
          <a:ln>
            <a:noFill/>
          </a:ln>
        </p:spPr>
        <p:txBody>
          <a:bodyPr wrap="square" lIns="0" tIns="0" rIns="0" bIns="0" rtlCol="0" anchor="ctr"/>
          <a:lstStyle/>
          <a:p>
            <a:pPr marL="0" indent="0">
              <a:buNone/>
            </a:pPr>
            <a:r>
              <a:rPr lang="en-US" sz="1300" dirty="0">
                <a:solidFill>
                  <a:srgbClr val="5B6573"/>
                </a:solidFill>
              </a:rPr>
              <a:t>국비 지원 탐사 4,360km를 분기마다 반복하는 데 필요한 차량(4,360 × 4 ÷ 6,000)</a:t>
            </a:r>
            <a:endParaRPr lang="en-US" sz="1300" dirty="0"/>
          </a:p>
        </p:txBody>
      </p:sp>
      <p:sp>
        <p:nvSpPr>
          <p:cNvPr id="21" name="caveat"/>
          <p:cNvSpPr txBox="1"/>
          <p:nvPr/>
        </p:nvSpPr>
        <p:spPr>
          <a:xfrm>
            <a:off x="546100" y="5664200"/>
            <a:ext cx="11087100" cy="584200"/>
          </a:xfrm>
          <a:prstGeom prst="rect">
            <a:avLst/>
          </a:prstGeom>
          <a:noFill/>
          <a:ln>
            <a:noFill/>
          </a:ln>
        </p:spPr>
        <p:txBody>
          <a:bodyPr wrap="square" lIns="0" tIns="0" rIns="0" bIns="0" rtlCol="0" anchor="t"/>
          <a:lstStyle/>
          <a:p>
            <a:pPr marL="0" indent="0">
              <a:buNone/>
            </a:pPr>
            <a:r>
              <a:rPr lang="en-US" sz="1200" b="1" dirty="0">
                <a:solidFill>
                  <a:srgbClr val="101828"/>
                </a:solidFill>
              </a:rPr>
              <a:t>빠진 것  </a:t>
            </a:r>
            <a:r>
              <a:rPr lang="en-US" sz="1200" dirty="0">
                <a:solidFill>
                  <a:srgbClr val="5B6573"/>
                </a:solidFill>
              </a:rPr>
              <a:t>2차로 이상 도로의 왕복 탐사, 주차 차량·회차·정차 재스캔 시간, 판독 인력. </a:t>
            </a:r>
            <a:r>
              <a:rPr lang="en-US" sz="1200" dirty="0">
                <a:solidFill>
                  <a:srgbClr val="5B6573"/>
                </a:solidFill>
              </a:rPr>
              <a:t>규모를 가늠하기 위한 계산이며 파일럿 KPI로 바로잡습니다 </a:t>
            </a:r>
            <a:r>
              <a:rPr lang="en-US" sz="1200" b="1" dirty="0">
                <a:solidFill>
                  <a:srgbClr val="D93025"/>
                </a:solidFill>
              </a:rPr>
              <a:t>[가설]</a:t>
            </a:r>
            <a:endParaRPr lang="en-US" sz="1200" dirty="0"/>
          </a:p>
        </p:txBody>
      </p:sp>
      <p:sp>
        <p:nvSpPr>
          <p:cNvPr id="22"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기준값: 서울 차량형 GPR 현장 보도 5~30km/h(엔지니어링데일리), 서울시 2026 탐사 계획 16,423km(서울시 2026.3), 국비 지원 4,360km(국토부 2025.5.27).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en-US" sz="1400" b="1" dirty="0">
                <a:solidFill>
                  <a:srgbClr val="FFFFFF"/>
                </a:solidFill>
              </a:rPr>
              <a:t>사업성 3 사업 모델</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탐사 용역에서 시작해 연간 관제 계약과 패키지로 넓힌다</a:t>
            </a:r>
            <a:endParaRPr lang="en-US" sz="19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marL="0" indent="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marL="0" indent="0">
              <a:buNone/>
            </a:pPr>
            <a:r>
              <a:rPr lang="en-US" sz="2200" b="1" dirty="0">
                <a:solidFill>
                  <a:srgbClr val="0B1F3A"/>
                </a:solidFill>
              </a:rPr>
              <a:t>탐사 용역</a:t>
            </a:r>
            <a:endParaRPr lang="en-US" sz="2200" dirty="0"/>
          </a:p>
        </p:txBody>
      </p:sp>
      <p:sp>
        <p:nvSpPr>
          <p:cNvPr id="6" name="rule"/>
          <p:cNvSpPr/>
          <p:nvPr/>
        </p:nvSpPr>
        <p:spPr>
          <a:xfrm>
            <a:off x="548640" y="1828800"/>
            <a:ext cx="3520440" cy="0"/>
          </a:xfrm>
          <a:prstGeom prst="line">
            <a:avLst/>
          </a:prstGeom>
          <a:noFill/>
          <a:ln w="12700">
            <a:solidFill>
              <a:srgbClr val="101828"/>
            </a:solidFill>
            <a:prstDash val="solid"/>
          </a:ln>
        </p:spPr>
        <p:txBody>
          <a:bodyPr/>
          <a:lstStyle/>
          <a:p>
            <a:endParaRPr lang="ko-KR" altLang="en-US"/>
          </a:p>
        </p:txBody>
      </p:sp>
      <p:sp>
        <p:nvSpPr>
          <p:cNvPr id="7" name="Text 5"/>
          <p:cNvSpPr txBox="1"/>
          <p:nvPr/>
        </p:nvSpPr>
        <p:spPr>
          <a:xfrm>
            <a:off x="54864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주행 거리 기반 과금</a:t>
            </a:r>
            <a:endParaRPr lang="en-US" sz="1500" dirty="0"/>
          </a:p>
          <a:p>
            <a:pPr marL="342900" indent="-342900">
              <a:spcAft>
                <a:spcPts val="700"/>
              </a:spcAft>
              <a:buSzPct val="100000"/>
              <a:buChar char="•"/>
            </a:pPr>
            <a:r>
              <a:rPr lang="en-US" sz="1500" dirty="0">
                <a:solidFill>
                  <a:srgbClr val="101828"/>
                </a:solidFill>
              </a:rPr>
              <a:t>위험지역 집중 탐사</a:t>
            </a:r>
            <a:endParaRPr lang="en-US" sz="1500" dirty="0"/>
          </a:p>
          <a:p>
            <a:pPr marL="342900" indent="-342900">
              <a:spcAft>
                <a:spcPts val="700"/>
              </a:spcAft>
              <a:buSzPct val="100000"/>
              <a:buChar char="•"/>
            </a:pPr>
            <a:r>
              <a:rPr lang="en-US" sz="1500" dirty="0">
                <a:solidFill>
                  <a:srgbClr val="101828"/>
                </a:solidFill>
              </a:rPr>
              <a:t>공사 전후 비교 탐사</a:t>
            </a:r>
            <a:endParaRPr lang="en-US" sz="1500" dirty="0"/>
          </a:p>
          <a:p>
            <a:pPr marL="342900" indent="-342900">
              <a:spcAft>
                <a:spcPts val="700"/>
              </a:spcAft>
              <a:buSzPct val="100000"/>
              <a:buChar char="•"/>
            </a:pPr>
            <a:r>
              <a:rPr lang="en-US" sz="1500" dirty="0">
                <a:solidFill>
                  <a:srgbClr val="101828"/>
                </a:solidFill>
              </a:rPr>
              <a:t>집중호우 후 긴급 탐사</a:t>
            </a:r>
            <a:endParaRPr lang="en-US" sz="1500" dirty="0"/>
          </a:p>
          <a:p>
            <a:pPr marL="342900" indent="-342900">
              <a:spcAft>
                <a:spcPts val="700"/>
              </a:spcAft>
              <a:buSzPct val="100000"/>
              <a:buChar char="•"/>
            </a:pPr>
            <a:r>
              <a:rPr lang="en-US" sz="1500" dirty="0">
                <a:solidFill>
                  <a:srgbClr val="101828"/>
                </a:solidFill>
              </a:rPr>
              <a:t>정밀 재탐사</a:t>
            </a:r>
            <a:endParaRPr lang="en-US" sz="15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txBody>
          <a:bodyPr/>
          <a:lstStyle/>
          <a:p>
            <a:endParaRPr lang="ko-KR" altLang="en-US"/>
          </a:p>
        </p:txBody>
      </p:sp>
      <p:sp>
        <p:nvSpPr>
          <p:cNvPr id="9" name="Text 7"/>
          <p:cNvSpPr txBox="1"/>
          <p:nvPr/>
        </p:nvSpPr>
        <p:spPr>
          <a:xfrm>
            <a:off x="4343400" y="1005840"/>
            <a:ext cx="3520440" cy="292608"/>
          </a:xfrm>
          <a:prstGeom prst="rect">
            <a:avLst/>
          </a:prstGeom>
          <a:noFill/>
          <a:ln/>
        </p:spPr>
        <p:txBody>
          <a:bodyPr wrap="square" lIns="0" tIns="0" rIns="0" bIns="0" rtlCol="0" anchor="ctr"/>
          <a:lstStyle/>
          <a:p>
            <a:pPr marL="0" indent="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marL="0" indent="0">
              <a:buNone/>
            </a:pPr>
            <a:r>
              <a:rPr lang="en-US" sz="2200" b="1" dirty="0">
                <a:solidFill>
                  <a:srgbClr val="0B1F3A"/>
                </a:solidFill>
              </a:rPr>
              <a:t>연간 관제 계약</a:t>
            </a:r>
            <a:endParaRPr lang="en-US" sz="2200" dirty="0"/>
          </a:p>
        </p:txBody>
      </p:sp>
      <p:sp>
        <p:nvSpPr>
          <p:cNvPr id="11" name="rule"/>
          <p:cNvSpPr/>
          <p:nvPr/>
        </p:nvSpPr>
        <p:spPr>
          <a:xfrm>
            <a:off x="4343400" y="1828800"/>
            <a:ext cx="3520440" cy="0"/>
          </a:xfrm>
          <a:prstGeom prst="line">
            <a:avLst/>
          </a:prstGeom>
          <a:noFill/>
          <a:ln w="12700">
            <a:solidFill>
              <a:srgbClr val="101828"/>
            </a:solidFill>
            <a:prstDash val="solid"/>
          </a:ln>
        </p:spPr>
        <p:txBody>
          <a:bodyPr/>
          <a:lstStyle/>
          <a:p>
            <a:endParaRPr lang="ko-KR" altLang="en-US"/>
          </a:p>
        </p:txBody>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정기 순찰과 4D 변화지도</a:t>
            </a:r>
            <a:endParaRPr lang="en-US" sz="1500" dirty="0"/>
          </a:p>
          <a:p>
            <a:pPr marL="342900" indent="-342900">
              <a:spcAft>
                <a:spcPts val="700"/>
              </a:spcAft>
              <a:buSzPct val="100000"/>
              <a:buChar char="•"/>
            </a:pPr>
            <a:r>
              <a:rPr lang="en-US" sz="1500" dirty="0">
                <a:solidFill>
                  <a:srgbClr val="101828"/>
                </a:solidFill>
              </a:rPr>
              <a:t>AI 변화 감지와 GIS 대시보드</a:t>
            </a:r>
            <a:endParaRPr lang="en-US" sz="1500" dirty="0"/>
          </a:p>
          <a:p>
            <a:pPr marL="342900" indent="-342900">
              <a:spcAft>
                <a:spcPts val="700"/>
              </a:spcAft>
              <a:buSzPct val="100000"/>
              <a:buChar char="•"/>
            </a:pPr>
            <a:r>
              <a:rPr lang="en-US" sz="1500" dirty="0">
                <a:solidFill>
                  <a:srgbClr val="101828"/>
                </a:solidFill>
              </a:rPr>
              <a:t>정기 보고서와 우선순위</a:t>
            </a:r>
            <a:endParaRPr lang="en-US" sz="1500" dirty="0"/>
          </a:p>
          <a:p>
            <a:pPr marL="342900" indent="-342900">
              <a:spcAft>
                <a:spcPts val="700"/>
              </a:spcAft>
              <a:buSzPct val="100000"/>
              <a:buChar char="•"/>
            </a:pPr>
            <a:r>
              <a:rPr lang="en-US" sz="1500" dirty="0">
                <a:solidFill>
                  <a:srgbClr val="101828"/>
                </a:solidFill>
              </a:rPr>
              <a:t>이력 관리와 보수 후 재검증</a:t>
            </a:r>
            <a:endParaRPr lang="en-US" sz="1500" dirty="0"/>
          </a:p>
          <a:p>
            <a:pPr marL="342900" indent="-342900">
              <a:spcAft>
                <a:spcPts val="700"/>
              </a:spcAft>
              <a:buSzPct val="100000"/>
              <a:buChar char="•"/>
            </a:pPr>
            <a:r>
              <a:rPr lang="en-US" sz="1500" dirty="0">
                <a:solidFill>
                  <a:srgbClr val="101828"/>
                </a:solidFill>
              </a:rPr>
              <a:t>공공기관 연간 구독</a:t>
            </a:r>
            <a:endParaRPr lang="en-US" sz="15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txBody>
          <a:bodyPr/>
          <a:lstStyle/>
          <a:p>
            <a:endParaRPr lang="ko-KR" altLang="en-US"/>
          </a:p>
        </p:txBody>
      </p:sp>
      <p:sp>
        <p:nvSpPr>
          <p:cNvPr id="14" name="Text 12"/>
          <p:cNvSpPr txBox="1"/>
          <p:nvPr/>
        </p:nvSpPr>
        <p:spPr>
          <a:xfrm>
            <a:off x="8138160" y="1005840"/>
            <a:ext cx="3520440" cy="292608"/>
          </a:xfrm>
          <a:prstGeom prst="rect">
            <a:avLst/>
          </a:prstGeom>
          <a:noFill/>
          <a:ln/>
        </p:spPr>
        <p:txBody>
          <a:bodyPr wrap="square" lIns="0" tIns="0" rIns="0" bIns="0" rtlCol="0" anchor="ctr"/>
          <a:lstStyle/>
          <a:p>
            <a:pPr marL="0" indent="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marL="0" indent="0">
              <a:buNone/>
            </a:pPr>
            <a:r>
              <a:rPr lang="en-US" sz="2200" b="1" dirty="0">
                <a:solidFill>
                  <a:srgbClr val="0B1F3A"/>
                </a:solidFill>
              </a:rPr>
              <a:t>차량·소프트웨어 패키지</a:t>
            </a:r>
            <a:endParaRPr lang="en-US" sz="2200" dirty="0"/>
          </a:p>
        </p:txBody>
      </p:sp>
      <p:sp>
        <p:nvSpPr>
          <p:cNvPr id="16" name="rule"/>
          <p:cNvSpPr/>
          <p:nvPr/>
        </p:nvSpPr>
        <p:spPr>
          <a:xfrm>
            <a:off x="8138160" y="1828800"/>
            <a:ext cx="3520440" cy="0"/>
          </a:xfrm>
          <a:prstGeom prst="line">
            <a:avLst/>
          </a:prstGeom>
          <a:noFill/>
          <a:ln w="12700">
            <a:solidFill>
              <a:srgbClr val="101828"/>
            </a:solidFill>
            <a:prstDash val="solid"/>
          </a:ln>
        </p:spPr>
        <p:txBody>
          <a:bodyPr/>
          <a:lstStyle/>
          <a:p>
            <a:endParaRPr lang="ko-KR" altLang="en-US"/>
          </a:p>
        </p:txBody>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01828"/>
                </a:solidFill>
              </a:rPr>
              <a:t>PV5 GroundWatch 컨버전 차량</a:t>
            </a:r>
            <a:endParaRPr lang="en-US" sz="1500" dirty="0"/>
          </a:p>
          <a:p>
            <a:pPr marL="342900" indent="-342900">
              <a:spcAft>
                <a:spcPts val="700"/>
              </a:spcAft>
              <a:buSzPct val="100000"/>
              <a:buChar char="•"/>
            </a:pPr>
            <a:r>
              <a:rPr lang="en-US" sz="1500" dirty="0">
                <a:solidFill>
                  <a:srgbClr val="101828"/>
                </a:solidFill>
              </a:rPr>
              <a:t>GPR·카메라 센서 패키지</a:t>
            </a:r>
            <a:endParaRPr lang="en-US" sz="1500" dirty="0"/>
          </a:p>
          <a:p>
            <a:pPr marL="342900" indent="-342900">
              <a:spcAft>
                <a:spcPts val="700"/>
              </a:spcAft>
              <a:buSzPct val="100000"/>
              <a:buChar char="•"/>
            </a:pPr>
            <a:r>
              <a:rPr lang="en-US" sz="1500" dirty="0">
                <a:solidFill>
                  <a:srgbClr val="101828"/>
                </a:solidFill>
              </a:rPr>
              <a:t>Patrol 앱, Edge Gateway, AR</a:t>
            </a:r>
            <a:endParaRPr lang="en-US" sz="1500" dirty="0"/>
          </a:p>
          <a:p>
            <a:pPr marL="342900" indent="-342900">
              <a:spcAft>
                <a:spcPts val="700"/>
              </a:spcAft>
              <a:buSzPct val="100000"/>
              <a:buChar char="•"/>
            </a:pPr>
            <a:r>
              <a:rPr lang="en-US" sz="1500" dirty="0">
                <a:solidFill>
                  <a:srgbClr val="101828"/>
                </a:solidFill>
              </a:rPr>
              <a:t>AI 분석 SW와 관제 대시보드</a:t>
            </a:r>
            <a:endParaRPr lang="en-US" sz="1500" dirty="0"/>
          </a:p>
          <a:p>
            <a:pPr marL="342900" indent="-342900">
              <a:spcAft>
                <a:spcPts val="700"/>
              </a:spcAft>
              <a:buSzPct val="100000"/>
              <a:buChar char="•"/>
            </a:pPr>
            <a:r>
              <a:rPr lang="en-US" sz="1500" dirty="0">
                <a:solidFill>
                  <a:srgbClr val="101828"/>
                </a:solidFill>
              </a:rPr>
              <a:t>유지보수와 교육</a:t>
            </a:r>
            <a:endParaRPr lang="en-US" sz="1500" dirty="0"/>
          </a:p>
        </p:txBody>
      </p:sp>
      <p:sp>
        <p:nvSpPr>
          <p:cNvPr id="18" name="rule"/>
          <p:cNvSpPr/>
          <p:nvPr/>
        </p:nvSpPr>
        <p:spPr>
          <a:xfrm>
            <a:off x="548640" y="4434840"/>
            <a:ext cx="11094415" cy="0"/>
          </a:xfrm>
          <a:prstGeom prst="line">
            <a:avLst/>
          </a:prstGeom>
          <a:noFill/>
          <a:ln w="12700">
            <a:solidFill>
              <a:srgbClr val="DCE1E8"/>
            </a:solidFill>
            <a:prstDash val="solid"/>
          </a:ln>
        </p:spPr>
        <p:txBody>
          <a:bodyPr/>
          <a:lstStyle/>
          <a:p>
            <a:endParaRPr lang="ko-KR" altLang="en-US"/>
          </a:p>
        </p:txBody>
      </p:sp>
      <p:sp>
        <p:nvSpPr>
          <p:cNvPr id="21" name="Text 19"/>
          <p:cNvSpPr txBox="1"/>
          <p:nvPr/>
        </p:nvSpPr>
        <p:spPr>
          <a:xfrm>
            <a:off x="548640" y="5765800"/>
            <a:ext cx="11094415" cy="508000"/>
          </a:xfrm>
          <a:prstGeom prst="rect">
            <a:avLst/>
          </a:prstGeom>
          <a:noFill/>
          <a:ln/>
        </p:spPr>
        <p:txBody>
          <a:bodyPr wrap="square" lIns="0" tIns="0" rIns="0" bIns="0" rtlCol="0" anchor="t"/>
          <a:lstStyle/>
          <a:p>
            <a:pPr marL="0" indent="0">
              <a:buNone/>
            </a:pPr>
            <a:r>
              <a:rPr lang="en-US" sz="1200" b="1" dirty="0">
                <a:solidFill>
                  <a:srgbClr val="D93025"/>
                </a:solidFill>
              </a:rPr>
              <a:t>[가설] </a:t>
            </a:r>
            <a:r>
              <a:rPr lang="en-US" sz="12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첫 고객 근거: 서울시 대형 굴착공사장 주 1회 이상 GPR 탐사(서울시 2026.3.23). B2G 중심, B2B 확장. 단가와 계약 형태는 실증 단계에서 확정합니다.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26</a:t>
            </a:fld>
            <a:endParaRPr lang="en-US"/>
          </a:p>
        </p:txBody>
      </p:sp>
      <p:sp>
        <p:nvSpPr>
          <p:cNvPr id="26" name="buyer head"/>
          <p:cNvSpPr txBox="1"/>
          <p:nvPr/>
        </p:nvSpPr>
        <p:spPr>
          <a:xfrm>
            <a:off x="546100" y="4533900"/>
            <a:ext cx="3517900" cy="279400"/>
          </a:xfrm>
          <a:prstGeom prst="rect">
            <a:avLst/>
          </a:prstGeom>
          <a:noFill/>
          <a:ln>
            <a:noFill/>
          </a:ln>
        </p:spPr>
        <p:txBody>
          <a:bodyPr wrap="square" lIns="0" tIns="0" rIns="0" bIns="0" rtlCol="0" anchor="t"/>
          <a:lstStyle/>
          <a:p>
            <a:pPr marL="0" indent="0">
              <a:buNone/>
            </a:pPr>
            <a:r>
              <a:rPr lang="en-US" sz="1400" b="1" dirty="0">
                <a:solidFill>
                  <a:srgbClr val="101828"/>
                </a:solidFill>
              </a:rPr>
              <a:t>첫 고객</a:t>
            </a:r>
            <a:endParaRPr lang="en-US" sz="1400" dirty="0"/>
          </a:p>
        </p:txBody>
      </p:sp>
      <p:sp>
        <p:nvSpPr>
          <p:cNvPr id="27" name="buyer body"/>
          <p:cNvSpPr txBox="1"/>
          <p:nvPr/>
        </p:nvSpPr>
        <p:spPr>
          <a:xfrm>
            <a:off x="546100" y="4826000"/>
            <a:ext cx="3517900" cy="482600"/>
          </a:xfrm>
          <a:prstGeom prst="rect">
            <a:avLst/>
          </a:prstGeom>
          <a:noFill/>
          <a:ln>
            <a:noFill/>
          </a:ln>
        </p:spPr>
        <p:txBody>
          <a:bodyPr wrap="square" lIns="0" tIns="0" rIns="0" bIns="0" rtlCol="0" anchor="t"/>
          <a:lstStyle/>
          <a:p>
            <a:pPr marL="0" indent="0">
              <a:buNone/>
            </a:pPr>
            <a:r>
              <a:rPr lang="en-US" sz="1200" dirty="0">
                <a:solidFill>
                  <a:srgbClr val="5B6573"/>
                </a:solidFill>
              </a:rPr>
              <a:t>대형 굴착공사장 주변을 주 1회 이상 탐사해야 하는 발주기관·자치구</a:t>
            </a:r>
            <a:endParaRPr lang="en-US" sz="1200" dirty="0"/>
          </a:p>
        </p:txBody>
      </p:sp>
      <p:sp>
        <p:nvSpPr>
          <p:cNvPr id="28" name="buyer head"/>
          <p:cNvSpPr txBox="1"/>
          <p:nvPr/>
        </p:nvSpPr>
        <p:spPr>
          <a:xfrm>
            <a:off x="4343400" y="4533900"/>
            <a:ext cx="3517900" cy="279400"/>
          </a:xfrm>
          <a:prstGeom prst="rect">
            <a:avLst/>
          </a:prstGeom>
          <a:noFill/>
          <a:ln>
            <a:noFill/>
          </a:ln>
        </p:spPr>
        <p:txBody>
          <a:bodyPr wrap="square" lIns="0" tIns="0" rIns="0" bIns="0" rtlCol="0" anchor="t"/>
          <a:lstStyle/>
          <a:p>
            <a:pPr marL="0" indent="0">
              <a:buNone/>
            </a:pPr>
            <a:r>
              <a:rPr lang="en-US" sz="1400" b="1" dirty="0">
                <a:solidFill>
                  <a:srgbClr val="101828"/>
                </a:solidFill>
              </a:rPr>
              <a:t>실제 사용자</a:t>
            </a:r>
            <a:endParaRPr lang="en-US" sz="1400" dirty="0"/>
          </a:p>
        </p:txBody>
      </p:sp>
      <p:sp>
        <p:nvSpPr>
          <p:cNvPr id="29" name="buyer body"/>
          <p:cNvSpPr txBox="1"/>
          <p:nvPr/>
        </p:nvSpPr>
        <p:spPr>
          <a:xfrm>
            <a:off x="4343400" y="4826000"/>
            <a:ext cx="3517900" cy="482600"/>
          </a:xfrm>
          <a:prstGeom prst="rect">
            <a:avLst/>
          </a:prstGeom>
          <a:noFill/>
          <a:ln>
            <a:noFill/>
          </a:ln>
        </p:spPr>
        <p:txBody>
          <a:bodyPr wrap="square" lIns="0" tIns="0" rIns="0" bIns="0" rtlCol="0" anchor="t"/>
          <a:lstStyle/>
          <a:p>
            <a:pPr marL="0" indent="0">
              <a:buNone/>
            </a:pPr>
            <a:r>
              <a:rPr lang="en-US" sz="1200" dirty="0">
                <a:solidFill>
                  <a:srgbClr val="5B6573"/>
                </a:solidFill>
              </a:rPr>
              <a:t>지하안전·도로관리 담당자, GPR 판독 전문가, 현장 조사원</a:t>
            </a:r>
            <a:endParaRPr lang="en-US" sz="1200" dirty="0"/>
          </a:p>
        </p:txBody>
      </p:sp>
      <p:sp>
        <p:nvSpPr>
          <p:cNvPr id="30" name="buyer head"/>
          <p:cNvSpPr txBox="1"/>
          <p:nvPr/>
        </p:nvSpPr>
        <p:spPr>
          <a:xfrm>
            <a:off x="8140700" y="4533900"/>
            <a:ext cx="3517900" cy="279400"/>
          </a:xfrm>
          <a:prstGeom prst="rect">
            <a:avLst/>
          </a:prstGeom>
          <a:noFill/>
          <a:ln>
            <a:noFill/>
          </a:ln>
        </p:spPr>
        <p:txBody>
          <a:bodyPr wrap="square" lIns="0" tIns="0" rIns="0" bIns="0" rtlCol="0" anchor="t"/>
          <a:lstStyle/>
          <a:p>
            <a:pPr marL="0" indent="0">
              <a:buNone/>
            </a:pPr>
            <a:r>
              <a:rPr lang="en-US" sz="1400" b="1" dirty="0">
                <a:solidFill>
                  <a:srgbClr val="101828"/>
                </a:solidFill>
              </a:rPr>
              <a:t>협력사</a:t>
            </a:r>
            <a:endParaRPr lang="en-US" sz="1400" dirty="0"/>
          </a:p>
        </p:txBody>
      </p:sp>
      <p:sp>
        <p:nvSpPr>
          <p:cNvPr id="31" name="buyer body"/>
          <p:cNvSpPr txBox="1"/>
          <p:nvPr/>
        </p:nvSpPr>
        <p:spPr>
          <a:xfrm>
            <a:off x="8140700" y="4826000"/>
            <a:ext cx="3517900" cy="482600"/>
          </a:xfrm>
          <a:prstGeom prst="rect">
            <a:avLst/>
          </a:prstGeom>
          <a:noFill/>
          <a:ln>
            <a:noFill/>
          </a:ln>
        </p:spPr>
        <p:txBody>
          <a:bodyPr wrap="square" lIns="0" tIns="0" rIns="0" bIns="0" rtlCol="0" anchor="t"/>
          <a:lstStyle/>
          <a:p>
            <a:pPr marL="0" indent="0">
              <a:buNone/>
            </a:pPr>
            <a:r>
              <a:rPr lang="en-US" sz="1200" dirty="0">
                <a:solidFill>
                  <a:srgbClr val="5B6573"/>
                </a:solidFill>
              </a:rPr>
              <a:t>GPR 전문기업, PV5 특장업체, GIS·클라우드 사업자, AR 장비사</a:t>
            </a:r>
            <a:endParaRPr lang="en-US" sz="1200" dirty="0"/>
          </a:p>
        </p:txBody>
      </p:sp>
      <p:sp>
        <p:nvSpPr>
          <p:cNvPr id="32" name="procurement"/>
          <p:cNvSpPr txBox="1"/>
          <p:nvPr/>
        </p:nvSpPr>
        <p:spPr>
          <a:xfrm>
            <a:off x="546100" y="5384800"/>
            <a:ext cx="11087100" cy="304800"/>
          </a:xfrm>
          <a:prstGeom prst="rect">
            <a:avLst/>
          </a:prstGeom>
          <a:noFill/>
          <a:ln>
            <a:noFill/>
          </a:ln>
        </p:spPr>
        <p:txBody>
          <a:bodyPr wrap="square" lIns="0" tIns="0" rIns="0" bIns="0" rtlCol="0" anchor="ctr"/>
          <a:lstStyle/>
          <a:p>
            <a:pPr marL="0" indent="0">
              <a:buNone/>
            </a:pPr>
            <a:r>
              <a:rPr lang="en-US" sz="1200" b="1" dirty="0">
                <a:solidFill>
                  <a:srgbClr val="101828"/>
                </a:solidFill>
              </a:rPr>
              <a:t>공공 조달 접근  </a:t>
            </a:r>
            <a:r>
              <a:rPr lang="en-US" sz="1200" dirty="0">
                <a:solidFill>
                  <a:srgbClr val="5B6573"/>
                </a:solidFill>
              </a:rPr>
              <a:t>기존 GPR 조사기관과 공동 수행 → 위험구간 1곳에서 성능 입증 → 연간 계약·인접 구역 확대 → 검증된 사양을 기아 컨버전 표준 사양으로 공급</a:t>
            </a:r>
            <a:endParaRPr lang="en-US" sz="1200" dirty="0"/>
          </a:p>
        </p:txBody>
      </p:sp>
      <p:sp>
        <p:nvSpPr>
          <p:cNvPr id="33" name="cost structure"/>
          <p:cNvSpPr txBox="1"/>
          <p:nvPr/>
        </p:nvSpPr>
        <p:spPr>
          <a:xfrm>
            <a:off x="546100" y="3708400"/>
            <a:ext cx="11099800" cy="558800"/>
          </a:xfrm>
          <a:prstGeom prst="rect">
            <a:avLst/>
          </a:prstGeom>
          <a:noFill/>
          <a:ln>
            <a:noFill/>
          </a:ln>
        </p:spPr>
        <p:txBody>
          <a:bodyPr wrap="square" lIns="0" tIns="0" rIns="0" bIns="0" rtlCol="0" anchor="t"/>
          <a:lstStyle/>
          <a:p>
            <a:pPr marL="0" indent="0">
              <a:buNone/>
            </a:pPr>
            <a:r>
              <a:rPr lang="en-US" sz="1200" b="1" dirty="0">
                <a:solidFill>
                  <a:srgbClr val="101828"/>
                </a:solidFill>
              </a:rPr>
              <a:t>비용과 실행 구조  </a:t>
            </a:r>
            <a:r>
              <a:rPr lang="en-US" sz="1200" dirty="0">
                <a:solidFill>
                  <a:srgbClr val="5B6573"/>
                </a:solidFill>
              </a:rPr>
              <a:t>서울시는 차량형 GPR 3대 도입에 15억 원을 썼습니다(경향신문 2025.4.23). 장비 부담이 커서 1단계는 장비와 판독 자격을 가진 탐사 전문업체가 수행하고, 팀은 반복 순찰 운영과 변화 비교 소프트웨어를 맡습니다.</a:t>
            </a:r>
            <a:endParaRPr lang="en-US" sz="1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ag"/>
          <p:cNvSpPr txBox="1"/>
          <p:nvPr/>
        </p:nvSpPr>
        <p:spPr>
          <a:xfrm>
            <a:off x="2387600" y="381000"/>
            <a:ext cx="1866900" cy="381000"/>
          </a:xfrm>
          <a:prstGeom prst="rect">
            <a:avLst/>
          </a:prstGeom>
          <a:solidFill>
            <a:srgbClr val="F5B400"/>
          </a:solidFill>
          <a:ln w="12700">
            <a:solidFill>
              <a:srgbClr val="F5B400"/>
            </a:solidFill>
          </a:ln>
        </p:spPr>
        <p:txBody>
          <a:bodyPr wrap="square" lIns="0" tIns="0" rIns="0" bIns="0" rtlCol="0" anchor="ctr"/>
          <a:lstStyle/>
          <a:p>
            <a:pPr marL="0" indent="0" algn="ctr">
              <a:buNone/>
            </a:pPr>
            <a:r>
              <a:rPr lang="en-US" sz="1400" b="1" dirty="0">
                <a:solidFill>
                  <a:srgbClr val="101828"/>
                </a:solidFill>
              </a:rPr>
              <a:t>기아와 함께</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기아가 얻는 것과, 기아와 함께 할 일</a:t>
            </a:r>
            <a:endParaRPr lang="en-US" sz="1900" dirty="0"/>
          </a:p>
        </p:txBody>
      </p:sp>
      <p:sp>
        <p:nvSpPr>
          <p:cNvPr id="4"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GroundWatch는 기아 PV5를 공공 안전 장비로 표준화하는 제안입니다.</a:t>
            </a:r>
            <a:endParaRPr lang="en-US" sz="16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sp>
        <p:nvSpPr>
          <p:cNvPr id="6" name="col head"/>
          <p:cNvSpPr txBox="1"/>
          <p:nvPr/>
        </p:nvSpPr>
        <p:spPr>
          <a:xfrm>
            <a:off x="546100" y="1498600"/>
            <a:ext cx="5435600" cy="381000"/>
          </a:xfrm>
          <a:prstGeom prst="rect">
            <a:avLst/>
          </a:prstGeom>
          <a:solidFill>
            <a:srgbClr val="0B1F3A"/>
          </a:solidFill>
          <a:ln>
            <a:noFill/>
          </a:ln>
        </p:spPr>
        <p:txBody>
          <a:bodyPr wrap="square" lIns="127000" tIns="127000" rIns="127000" bIns="127000" rtlCol="0" anchor="ctr"/>
          <a:lstStyle/>
          <a:p>
            <a:pPr marL="0" indent="0">
              <a:buNone/>
            </a:pPr>
            <a:r>
              <a:rPr lang="en-US" sz="1500" b="1" dirty="0">
                <a:solidFill>
                  <a:srgbClr val="FFFFFF"/>
                </a:solidFill>
              </a:rPr>
              <a:t>기아가 얻는 것</a:t>
            </a:r>
            <a:endParaRPr lang="en-US" sz="1500" dirty="0"/>
          </a:p>
        </p:txBody>
      </p:sp>
      <p:sp>
        <p:nvSpPr>
          <p:cNvPr id="7" name="row"/>
          <p:cNvSpPr/>
          <p:nvPr/>
        </p:nvSpPr>
        <p:spPr>
          <a:xfrm>
            <a:off x="546100" y="1955800"/>
            <a:ext cx="5435600" cy="635000"/>
          </a:xfrm>
          <a:prstGeom prst="roundRect">
            <a:avLst>
              <a:gd name="adj" fmla="val 8000"/>
            </a:avLst>
          </a:prstGeom>
          <a:solidFill>
            <a:srgbClr val="F2F4F7"/>
          </a:solidFill>
          <a:ln>
            <a:noFill/>
          </a:ln>
        </p:spPr>
        <p:txBody>
          <a:bodyPr/>
          <a:lstStyle/>
          <a:p>
            <a:endParaRPr lang="ko-KR" altLang="en-US"/>
          </a:p>
        </p:txBody>
      </p:sp>
      <p:sp>
        <p:nvSpPr>
          <p:cNvPr id="8" name="row no"/>
          <p:cNvSpPr txBox="1"/>
          <p:nvPr/>
        </p:nvSpPr>
        <p:spPr>
          <a:xfrm>
            <a:off x="673100" y="2120900"/>
            <a:ext cx="304800" cy="3048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9" name="row title"/>
          <p:cNvSpPr txBox="1"/>
          <p:nvPr/>
        </p:nvSpPr>
        <p:spPr>
          <a:xfrm>
            <a:off x="1079500" y="20066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PV5 공공 판매</a:t>
            </a:r>
            <a:endParaRPr lang="en-US" sz="1400" dirty="0"/>
          </a:p>
        </p:txBody>
      </p:sp>
      <p:sp>
        <p:nvSpPr>
          <p:cNvPr id="10" name="row body"/>
          <p:cNvSpPr txBox="1"/>
          <p:nvPr/>
        </p:nvSpPr>
        <p:spPr>
          <a:xfrm>
            <a:off x="1079500" y="22733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GPR이 없던 15개 시·도와 국토안전관리원 확충 수요를 PV5로 [가설]</a:t>
            </a:r>
            <a:endParaRPr lang="en-US" sz="1150" dirty="0"/>
          </a:p>
        </p:txBody>
      </p:sp>
      <p:sp>
        <p:nvSpPr>
          <p:cNvPr id="11" name="row"/>
          <p:cNvSpPr/>
          <p:nvPr/>
        </p:nvSpPr>
        <p:spPr>
          <a:xfrm>
            <a:off x="546100" y="2667000"/>
            <a:ext cx="5435600" cy="635000"/>
          </a:xfrm>
          <a:prstGeom prst="roundRect">
            <a:avLst>
              <a:gd name="adj" fmla="val 8000"/>
            </a:avLst>
          </a:prstGeom>
          <a:solidFill>
            <a:srgbClr val="F2F4F7"/>
          </a:solidFill>
          <a:ln>
            <a:noFill/>
          </a:ln>
        </p:spPr>
        <p:txBody>
          <a:bodyPr/>
          <a:lstStyle/>
          <a:p>
            <a:endParaRPr lang="ko-KR" altLang="en-US"/>
          </a:p>
        </p:txBody>
      </p:sp>
      <p:sp>
        <p:nvSpPr>
          <p:cNvPr id="12" name="row no"/>
          <p:cNvSpPr txBox="1"/>
          <p:nvPr/>
        </p:nvSpPr>
        <p:spPr>
          <a:xfrm>
            <a:off x="673100" y="2832100"/>
            <a:ext cx="304800" cy="3048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3" name="row title"/>
          <p:cNvSpPr txBox="1"/>
          <p:nvPr/>
        </p:nvSpPr>
        <p:spPr>
          <a:xfrm>
            <a:off x="1079500" y="27178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컨버전 표준 사양</a:t>
            </a:r>
            <a:endParaRPr lang="en-US" sz="1400" dirty="0"/>
          </a:p>
        </p:txBody>
      </p:sp>
      <p:sp>
        <p:nvSpPr>
          <p:cNvPr id="14" name="row body"/>
          <p:cNvSpPr txBox="1"/>
          <p:nvPr/>
        </p:nvSpPr>
        <p:spPr>
          <a:xfrm>
            <a:off x="1079500" y="29845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화성 PBV 컨버전 센터에서 같은 사양을 반복 제작</a:t>
            </a:r>
            <a:endParaRPr lang="en-US" sz="1150" dirty="0"/>
          </a:p>
        </p:txBody>
      </p:sp>
      <p:sp>
        <p:nvSpPr>
          <p:cNvPr id="15" name="row"/>
          <p:cNvSpPr/>
          <p:nvPr/>
        </p:nvSpPr>
        <p:spPr>
          <a:xfrm>
            <a:off x="546100" y="3378200"/>
            <a:ext cx="5435600" cy="635000"/>
          </a:xfrm>
          <a:prstGeom prst="roundRect">
            <a:avLst>
              <a:gd name="adj" fmla="val 8000"/>
            </a:avLst>
          </a:prstGeom>
          <a:solidFill>
            <a:srgbClr val="F2F4F7"/>
          </a:solidFill>
          <a:ln>
            <a:noFill/>
          </a:ln>
        </p:spPr>
        <p:txBody>
          <a:bodyPr/>
          <a:lstStyle/>
          <a:p>
            <a:endParaRPr lang="ko-KR" altLang="en-US"/>
          </a:p>
        </p:txBody>
      </p:sp>
      <p:sp>
        <p:nvSpPr>
          <p:cNvPr id="16" name="row no"/>
          <p:cNvSpPr txBox="1"/>
          <p:nvPr/>
        </p:nvSpPr>
        <p:spPr>
          <a:xfrm>
            <a:off x="673100" y="3543300"/>
            <a:ext cx="304800" cy="3048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17" name="row title"/>
          <p:cNvSpPr txBox="1"/>
          <p:nvPr/>
        </p:nvSpPr>
        <p:spPr>
          <a:xfrm>
            <a:off x="1079500" y="34290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앱 마켓 B2B 사례</a:t>
            </a:r>
            <a:endParaRPr lang="en-US" sz="1400" dirty="0"/>
          </a:p>
        </p:txBody>
      </p:sp>
      <p:sp>
        <p:nvSpPr>
          <p:cNvPr id="18" name="row body"/>
          <p:cNvSpPr txBox="1"/>
          <p:nvPr/>
        </p:nvSpPr>
        <p:spPr>
          <a:xfrm>
            <a:off x="1079500" y="36957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공공 업무용 앱이 Pleos 앱 마켓에 올라가는 사례</a:t>
            </a:r>
            <a:endParaRPr lang="en-US" sz="1150" dirty="0"/>
          </a:p>
        </p:txBody>
      </p:sp>
      <p:sp>
        <p:nvSpPr>
          <p:cNvPr id="19" name="row"/>
          <p:cNvSpPr/>
          <p:nvPr/>
        </p:nvSpPr>
        <p:spPr>
          <a:xfrm>
            <a:off x="546100" y="4089400"/>
            <a:ext cx="5435600" cy="635000"/>
          </a:xfrm>
          <a:prstGeom prst="roundRect">
            <a:avLst>
              <a:gd name="adj" fmla="val 8000"/>
            </a:avLst>
          </a:prstGeom>
          <a:solidFill>
            <a:srgbClr val="F2F4F7"/>
          </a:solidFill>
          <a:ln>
            <a:noFill/>
          </a:ln>
        </p:spPr>
        <p:txBody>
          <a:bodyPr/>
          <a:lstStyle/>
          <a:p>
            <a:endParaRPr lang="ko-KR" altLang="en-US"/>
          </a:p>
        </p:txBody>
      </p:sp>
      <p:sp>
        <p:nvSpPr>
          <p:cNvPr id="20" name="row no"/>
          <p:cNvSpPr txBox="1"/>
          <p:nvPr/>
        </p:nvSpPr>
        <p:spPr>
          <a:xfrm>
            <a:off x="673100" y="4254500"/>
            <a:ext cx="304800" cy="3048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4</a:t>
            </a:r>
            <a:endParaRPr lang="en-US" sz="1100" dirty="0"/>
          </a:p>
        </p:txBody>
      </p:sp>
      <p:sp>
        <p:nvSpPr>
          <p:cNvPr id="21" name="row title"/>
          <p:cNvSpPr txBox="1"/>
          <p:nvPr/>
        </p:nvSpPr>
        <p:spPr>
          <a:xfrm>
            <a:off x="1079500" y="41402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Pleos Fleet 고객</a:t>
            </a:r>
            <a:endParaRPr lang="en-US" sz="1400" dirty="0"/>
          </a:p>
        </p:txBody>
      </p:sp>
      <p:sp>
        <p:nvSpPr>
          <p:cNvPr id="22" name="row body"/>
          <p:cNvSpPr txBox="1"/>
          <p:nvPr/>
        </p:nvSpPr>
        <p:spPr>
          <a:xfrm>
            <a:off x="1079500" y="44069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여러 대 순찰차의 배터리·위치·업무 관제</a:t>
            </a:r>
            <a:endParaRPr lang="en-US" sz="1150" dirty="0"/>
          </a:p>
        </p:txBody>
      </p:sp>
      <p:sp>
        <p:nvSpPr>
          <p:cNvPr id="23" name="row"/>
          <p:cNvSpPr/>
          <p:nvPr/>
        </p:nvSpPr>
        <p:spPr>
          <a:xfrm>
            <a:off x="546100" y="4800600"/>
            <a:ext cx="5435600" cy="635000"/>
          </a:xfrm>
          <a:prstGeom prst="roundRect">
            <a:avLst>
              <a:gd name="adj" fmla="val 8000"/>
            </a:avLst>
          </a:prstGeom>
          <a:solidFill>
            <a:srgbClr val="F2F4F7"/>
          </a:solidFill>
          <a:ln>
            <a:noFill/>
          </a:ln>
        </p:spPr>
        <p:txBody>
          <a:bodyPr/>
          <a:lstStyle/>
          <a:p>
            <a:endParaRPr lang="ko-KR" altLang="en-US"/>
          </a:p>
        </p:txBody>
      </p:sp>
      <p:sp>
        <p:nvSpPr>
          <p:cNvPr id="24" name="row no"/>
          <p:cNvSpPr txBox="1"/>
          <p:nvPr/>
        </p:nvSpPr>
        <p:spPr>
          <a:xfrm>
            <a:off x="673100" y="4965700"/>
            <a:ext cx="304800" cy="304800"/>
          </a:xfrm>
          <a:prstGeom prst="ellipse">
            <a:avLst/>
          </a:prstGeom>
          <a:solidFill>
            <a:srgbClr val="0B1F3A"/>
          </a:solidFill>
          <a:ln>
            <a:noFill/>
          </a:ln>
        </p:spPr>
        <p:txBody>
          <a:bodyPr wrap="square" lIns="0" tIns="0" rIns="0" bIns="0" rtlCol="0" anchor="ctr"/>
          <a:lstStyle/>
          <a:p>
            <a:pPr marL="0" indent="0" algn="ctr">
              <a:buNone/>
            </a:pPr>
            <a:r>
              <a:rPr lang="en-US" sz="1100" b="1" dirty="0">
                <a:solidFill>
                  <a:srgbClr val="FFFFFF"/>
                </a:solidFill>
              </a:rPr>
              <a:t>5</a:t>
            </a:r>
            <a:endParaRPr lang="en-US" sz="1100" dirty="0"/>
          </a:p>
        </p:txBody>
      </p:sp>
      <p:sp>
        <p:nvSpPr>
          <p:cNvPr id="25" name="row title"/>
          <p:cNvSpPr txBox="1"/>
          <p:nvPr/>
        </p:nvSpPr>
        <p:spPr>
          <a:xfrm>
            <a:off x="1079500" y="48514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공공 안전 이미지</a:t>
            </a:r>
            <a:endParaRPr lang="en-US" sz="1400" dirty="0"/>
          </a:p>
        </p:txBody>
      </p:sp>
      <p:sp>
        <p:nvSpPr>
          <p:cNvPr id="26" name="row body"/>
          <p:cNvSpPr txBox="1"/>
          <p:nvPr/>
        </p:nvSpPr>
        <p:spPr>
          <a:xfrm>
            <a:off x="1079500" y="51181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PV5가 시민의 무사 귀가를 지키는 사례</a:t>
            </a:r>
            <a:endParaRPr lang="en-US" sz="1150" dirty="0"/>
          </a:p>
        </p:txBody>
      </p:sp>
      <p:sp>
        <p:nvSpPr>
          <p:cNvPr id="27" name="col head"/>
          <p:cNvSpPr txBox="1"/>
          <p:nvPr/>
        </p:nvSpPr>
        <p:spPr>
          <a:xfrm>
            <a:off x="6197600" y="1498600"/>
            <a:ext cx="5435600" cy="381000"/>
          </a:xfrm>
          <a:prstGeom prst="rect">
            <a:avLst/>
          </a:prstGeom>
          <a:solidFill>
            <a:srgbClr val="F5B400"/>
          </a:solidFill>
          <a:ln>
            <a:noFill/>
          </a:ln>
        </p:spPr>
        <p:txBody>
          <a:bodyPr wrap="square" lIns="127000" tIns="127000" rIns="127000" bIns="127000" rtlCol="0" anchor="ctr"/>
          <a:lstStyle/>
          <a:p>
            <a:pPr marL="0" indent="0">
              <a:buNone/>
            </a:pPr>
            <a:r>
              <a:rPr lang="en-US" sz="1500" b="1" dirty="0">
                <a:solidFill>
                  <a:srgbClr val="101828"/>
                </a:solidFill>
              </a:rPr>
              <a:t>기아와 함께 할 일</a:t>
            </a:r>
            <a:endParaRPr lang="en-US" sz="1500" dirty="0"/>
          </a:p>
        </p:txBody>
      </p:sp>
      <p:sp>
        <p:nvSpPr>
          <p:cNvPr id="28" name="row"/>
          <p:cNvSpPr/>
          <p:nvPr/>
        </p:nvSpPr>
        <p:spPr>
          <a:xfrm>
            <a:off x="6197600" y="1955800"/>
            <a:ext cx="5435600" cy="635000"/>
          </a:xfrm>
          <a:prstGeom prst="roundRect">
            <a:avLst>
              <a:gd name="adj" fmla="val 8000"/>
            </a:avLst>
          </a:prstGeom>
          <a:solidFill>
            <a:srgbClr val="F2F4F7"/>
          </a:solidFill>
          <a:ln>
            <a:noFill/>
          </a:ln>
        </p:spPr>
        <p:txBody>
          <a:bodyPr/>
          <a:lstStyle/>
          <a:p>
            <a:endParaRPr lang="ko-KR" altLang="en-US"/>
          </a:p>
        </p:txBody>
      </p:sp>
      <p:sp>
        <p:nvSpPr>
          <p:cNvPr id="29" name="row no"/>
          <p:cNvSpPr txBox="1"/>
          <p:nvPr/>
        </p:nvSpPr>
        <p:spPr>
          <a:xfrm>
            <a:off x="6324600" y="2120900"/>
            <a:ext cx="304800" cy="3048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1</a:t>
            </a:r>
            <a:endParaRPr lang="en-US" sz="1100" dirty="0"/>
          </a:p>
        </p:txBody>
      </p:sp>
      <p:sp>
        <p:nvSpPr>
          <p:cNvPr id="30" name="row title"/>
          <p:cNvSpPr txBox="1"/>
          <p:nvPr/>
        </p:nvSpPr>
        <p:spPr>
          <a:xfrm>
            <a:off x="6731000" y="20066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시범 차량 1대</a:t>
            </a:r>
            <a:endParaRPr lang="en-US" sz="1400" dirty="0"/>
          </a:p>
        </p:txBody>
      </p:sp>
      <p:sp>
        <p:nvSpPr>
          <p:cNvPr id="31" name="row body"/>
          <p:cNvSpPr txBox="1"/>
          <p:nvPr/>
        </p:nvSpPr>
        <p:spPr>
          <a:xfrm>
            <a:off x="6731000" y="22733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장비 통합 시험과 시험장 반복 주행용</a:t>
            </a:r>
            <a:endParaRPr lang="en-US" sz="1150" dirty="0"/>
          </a:p>
        </p:txBody>
      </p:sp>
      <p:sp>
        <p:nvSpPr>
          <p:cNvPr id="32" name="row"/>
          <p:cNvSpPr/>
          <p:nvPr/>
        </p:nvSpPr>
        <p:spPr>
          <a:xfrm>
            <a:off x="6197600" y="2667000"/>
            <a:ext cx="5435600" cy="635000"/>
          </a:xfrm>
          <a:prstGeom prst="roundRect">
            <a:avLst>
              <a:gd name="adj" fmla="val 8000"/>
            </a:avLst>
          </a:prstGeom>
          <a:solidFill>
            <a:srgbClr val="F2F4F7"/>
          </a:solidFill>
          <a:ln>
            <a:noFill/>
          </a:ln>
        </p:spPr>
        <p:txBody>
          <a:bodyPr/>
          <a:lstStyle/>
          <a:p>
            <a:endParaRPr lang="ko-KR" altLang="en-US"/>
          </a:p>
        </p:txBody>
      </p:sp>
      <p:sp>
        <p:nvSpPr>
          <p:cNvPr id="33" name="row no"/>
          <p:cNvSpPr txBox="1"/>
          <p:nvPr/>
        </p:nvSpPr>
        <p:spPr>
          <a:xfrm>
            <a:off x="6324600" y="2832100"/>
            <a:ext cx="304800" cy="3048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2</a:t>
            </a:r>
            <a:endParaRPr lang="en-US" sz="1100" dirty="0"/>
          </a:p>
        </p:txBody>
      </p:sp>
      <p:sp>
        <p:nvSpPr>
          <p:cNvPr id="34" name="row title"/>
          <p:cNvSpPr txBox="1"/>
          <p:nvPr/>
        </p:nvSpPr>
        <p:spPr>
          <a:xfrm>
            <a:off x="6731000" y="27178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PIM 제어기·데이터 범위</a:t>
            </a:r>
            <a:endParaRPr lang="en-US" sz="1400" dirty="0"/>
          </a:p>
        </p:txBody>
      </p:sp>
      <p:sp>
        <p:nvSpPr>
          <p:cNvPr id="35" name="row body"/>
          <p:cNvSpPr txBox="1"/>
          <p:nvPr/>
        </p:nvSpPr>
        <p:spPr>
          <a:xfrm>
            <a:off x="6731000" y="29845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카고 적용 여부와 앱이 받을 차량 데이터 협의</a:t>
            </a:r>
            <a:endParaRPr lang="en-US" sz="1150" dirty="0"/>
          </a:p>
        </p:txBody>
      </p:sp>
      <p:sp>
        <p:nvSpPr>
          <p:cNvPr id="36" name="row"/>
          <p:cNvSpPr/>
          <p:nvPr/>
        </p:nvSpPr>
        <p:spPr>
          <a:xfrm>
            <a:off x="6197600" y="3378200"/>
            <a:ext cx="5435600" cy="635000"/>
          </a:xfrm>
          <a:prstGeom prst="roundRect">
            <a:avLst>
              <a:gd name="adj" fmla="val 8000"/>
            </a:avLst>
          </a:prstGeom>
          <a:solidFill>
            <a:srgbClr val="F2F4F7"/>
          </a:solidFill>
          <a:ln>
            <a:noFill/>
          </a:ln>
        </p:spPr>
        <p:txBody>
          <a:bodyPr/>
          <a:lstStyle/>
          <a:p>
            <a:endParaRPr lang="ko-KR" altLang="en-US"/>
          </a:p>
        </p:txBody>
      </p:sp>
      <p:sp>
        <p:nvSpPr>
          <p:cNvPr id="37" name="row no"/>
          <p:cNvSpPr txBox="1"/>
          <p:nvPr/>
        </p:nvSpPr>
        <p:spPr>
          <a:xfrm>
            <a:off x="6324600" y="3543300"/>
            <a:ext cx="304800" cy="3048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3</a:t>
            </a:r>
            <a:endParaRPr lang="en-US" sz="1100" dirty="0"/>
          </a:p>
        </p:txBody>
      </p:sp>
      <p:sp>
        <p:nvSpPr>
          <p:cNvPr id="38" name="row title"/>
          <p:cNvSpPr txBox="1"/>
          <p:nvPr/>
        </p:nvSpPr>
        <p:spPr>
          <a:xfrm>
            <a:off x="6731000" y="34290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컨버전 포털·파트너십</a:t>
            </a:r>
            <a:endParaRPr lang="en-US" sz="1400" dirty="0"/>
          </a:p>
        </p:txBody>
      </p:sp>
      <p:sp>
        <p:nvSpPr>
          <p:cNvPr id="39" name="row body"/>
          <p:cNvSpPr txBox="1"/>
          <p:nvPr/>
        </p:nvSpPr>
        <p:spPr>
          <a:xfrm>
            <a:off x="6731000" y="36957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3D CAD·바디빌더 매뉴얼로 브래킷 설계, R&amp;D 핫라인 상담</a:t>
            </a:r>
            <a:endParaRPr lang="en-US" sz="1150" dirty="0"/>
          </a:p>
        </p:txBody>
      </p:sp>
      <p:sp>
        <p:nvSpPr>
          <p:cNvPr id="40" name="row"/>
          <p:cNvSpPr/>
          <p:nvPr/>
        </p:nvSpPr>
        <p:spPr>
          <a:xfrm>
            <a:off x="6197600" y="4089400"/>
            <a:ext cx="5435600" cy="635000"/>
          </a:xfrm>
          <a:prstGeom prst="roundRect">
            <a:avLst>
              <a:gd name="adj" fmla="val 8000"/>
            </a:avLst>
          </a:prstGeom>
          <a:solidFill>
            <a:srgbClr val="F2F4F7"/>
          </a:solidFill>
          <a:ln>
            <a:noFill/>
          </a:ln>
        </p:spPr>
        <p:txBody>
          <a:bodyPr/>
          <a:lstStyle/>
          <a:p>
            <a:endParaRPr lang="ko-KR" altLang="en-US"/>
          </a:p>
        </p:txBody>
      </p:sp>
      <p:sp>
        <p:nvSpPr>
          <p:cNvPr id="41" name="row no"/>
          <p:cNvSpPr txBox="1"/>
          <p:nvPr/>
        </p:nvSpPr>
        <p:spPr>
          <a:xfrm>
            <a:off x="6324600" y="4254500"/>
            <a:ext cx="304800" cy="3048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4</a:t>
            </a:r>
            <a:endParaRPr lang="en-US" sz="1100" dirty="0"/>
          </a:p>
        </p:txBody>
      </p:sp>
      <p:sp>
        <p:nvSpPr>
          <p:cNvPr id="42" name="row title"/>
          <p:cNvSpPr txBox="1"/>
          <p:nvPr/>
        </p:nvSpPr>
        <p:spPr>
          <a:xfrm>
            <a:off x="6731000" y="41402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앱 마켓 등록</a:t>
            </a:r>
            <a:endParaRPr lang="en-US" sz="1400" dirty="0"/>
          </a:p>
        </p:txBody>
      </p:sp>
      <p:sp>
        <p:nvSpPr>
          <p:cNvPr id="43" name="row body"/>
          <p:cNvSpPr txBox="1"/>
          <p:nvPr/>
        </p:nvSpPr>
        <p:spPr>
          <a:xfrm>
            <a:off x="6731000" y="44069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Pleos Playground로 개발, 배포 경로·API 범위 확정</a:t>
            </a:r>
            <a:endParaRPr lang="en-US" sz="1150" dirty="0"/>
          </a:p>
        </p:txBody>
      </p:sp>
      <p:sp>
        <p:nvSpPr>
          <p:cNvPr id="44" name="row"/>
          <p:cNvSpPr/>
          <p:nvPr/>
        </p:nvSpPr>
        <p:spPr>
          <a:xfrm>
            <a:off x="6197600" y="4800600"/>
            <a:ext cx="5435600" cy="635000"/>
          </a:xfrm>
          <a:prstGeom prst="roundRect">
            <a:avLst>
              <a:gd name="adj" fmla="val 8000"/>
            </a:avLst>
          </a:prstGeom>
          <a:solidFill>
            <a:srgbClr val="F2F4F7"/>
          </a:solidFill>
          <a:ln>
            <a:noFill/>
          </a:ln>
        </p:spPr>
        <p:txBody>
          <a:bodyPr/>
          <a:lstStyle/>
          <a:p>
            <a:endParaRPr lang="ko-KR" altLang="en-US"/>
          </a:p>
        </p:txBody>
      </p:sp>
      <p:sp>
        <p:nvSpPr>
          <p:cNvPr id="45" name="row no"/>
          <p:cNvSpPr txBox="1"/>
          <p:nvPr/>
        </p:nvSpPr>
        <p:spPr>
          <a:xfrm>
            <a:off x="6324600" y="4965700"/>
            <a:ext cx="304800" cy="304800"/>
          </a:xfrm>
          <a:prstGeom prst="ellipse">
            <a:avLst/>
          </a:prstGeom>
          <a:solidFill>
            <a:srgbClr val="F5B400"/>
          </a:solidFill>
          <a:ln>
            <a:noFill/>
          </a:ln>
        </p:spPr>
        <p:txBody>
          <a:bodyPr wrap="square" lIns="0" tIns="0" rIns="0" bIns="0" rtlCol="0" anchor="ctr"/>
          <a:lstStyle/>
          <a:p>
            <a:pPr marL="0" indent="0" algn="ctr">
              <a:buNone/>
            </a:pPr>
            <a:r>
              <a:rPr lang="en-US" sz="1100" b="1" dirty="0">
                <a:solidFill>
                  <a:srgbClr val="101828"/>
                </a:solidFill>
              </a:rPr>
              <a:t>5</a:t>
            </a:r>
            <a:endParaRPr lang="en-US" sz="1100" dirty="0"/>
          </a:p>
        </p:txBody>
      </p:sp>
      <p:sp>
        <p:nvSpPr>
          <p:cNvPr id="46" name="row title"/>
          <p:cNvSpPr txBox="1"/>
          <p:nvPr/>
        </p:nvSpPr>
        <p:spPr>
          <a:xfrm>
            <a:off x="6731000" y="4851400"/>
            <a:ext cx="4826000" cy="254000"/>
          </a:xfrm>
          <a:prstGeom prst="rect">
            <a:avLst/>
          </a:prstGeom>
          <a:noFill/>
          <a:ln>
            <a:noFill/>
          </a:ln>
        </p:spPr>
        <p:txBody>
          <a:bodyPr wrap="square" lIns="0" tIns="0" rIns="0" bIns="0" rtlCol="0" anchor="t"/>
          <a:lstStyle/>
          <a:p>
            <a:pPr marL="0" indent="0">
              <a:buNone/>
            </a:pPr>
            <a:r>
              <a:rPr lang="en-US" sz="1400" b="1" dirty="0">
                <a:solidFill>
                  <a:srgbClr val="101828"/>
                </a:solidFill>
              </a:rPr>
              <a:t>지자체 실증 연결</a:t>
            </a:r>
            <a:endParaRPr lang="en-US" sz="1400" dirty="0"/>
          </a:p>
        </p:txBody>
      </p:sp>
      <p:sp>
        <p:nvSpPr>
          <p:cNvPr id="47" name="row body"/>
          <p:cNvSpPr txBox="1"/>
          <p:nvPr/>
        </p:nvSpPr>
        <p:spPr>
          <a:xfrm>
            <a:off x="6731000" y="5118100"/>
            <a:ext cx="4826000" cy="279400"/>
          </a:xfrm>
          <a:prstGeom prst="rect">
            <a:avLst/>
          </a:prstGeom>
          <a:noFill/>
          <a:ln>
            <a:noFill/>
          </a:ln>
        </p:spPr>
        <p:txBody>
          <a:bodyPr wrap="square" lIns="0" tIns="0" rIns="0" bIns="0" rtlCol="0" anchor="t"/>
          <a:lstStyle/>
          <a:p>
            <a:pPr marL="0" indent="0">
              <a:buNone/>
            </a:pPr>
            <a:r>
              <a:rPr lang="en-US" sz="1150" dirty="0">
                <a:solidFill>
                  <a:srgbClr val="5B6573"/>
                </a:solidFill>
              </a:rPr>
              <a:t>파일럿 지자체·탐사업체와 공동 실증</a:t>
            </a:r>
            <a:endParaRPr lang="en-US" sz="1150" dirty="0"/>
          </a:p>
        </p:txBody>
      </p:sp>
      <p:sp>
        <p:nvSpPr>
          <p:cNvPr id="48" name="kia bar"/>
          <p:cNvSpPr txBox="1"/>
          <p:nvPr/>
        </p:nvSpPr>
        <p:spPr>
          <a:xfrm>
            <a:off x="546100" y="5588000"/>
            <a:ext cx="11087100" cy="558800"/>
          </a:xfrm>
          <a:prstGeom prst="rect">
            <a:avLst/>
          </a:prstGeom>
          <a:solidFill>
            <a:srgbClr val="0B1F3A"/>
          </a:solidFill>
          <a:ln>
            <a:noFill/>
          </a:ln>
        </p:spPr>
        <p:txBody>
          <a:bodyPr wrap="square" lIns="0" tIns="0" rIns="0" bIns="0" rtlCol="0" anchor="ctr"/>
          <a:lstStyle/>
          <a:p>
            <a:pPr marL="0" indent="0" algn="ctr">
              <a:buNone/>
            </a:pPr>
            <a:r>
              <a:rPr lang="en-US" sz="1600" b="1" dirty="0">
                <a:solidFill>
                  <a:srgbClr val="FFFFFF"/>
                </a:solidFill>
              </a:rPr>
              <a:t>한 대의 시제품이 아니라, 기아 컨버전 체계로 복제할 수 있는 공공 안전 PBV를 함께 만듭니다.</a:t>
            </a:r>
            <a:endParaRPr lang="en-US" sz="1600" dirty="0"/>
          </a:p>
        </p:txBody>
      </p:sp>
      <p:sp>
        <p:nvSpPr>
          <p:cNvPr id="49"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지자체 GPR 보유(서울 7·부산 1대): 서울경제(2025.3.28). 장비 확충: 헤럴드경제(2025.5.27). PIM: 뉴스룸(2026.1.28), 카고 적용 [추가 확인 필요].</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D93025"/>
          </a:solidFill>
          <a:ln w="12700">
            <a:solidFill>
              <a:srgbClr val="D93025"/>
            </a:solidFill>
          </a:ln>
        </p:spPr>
        <p:txBody>
          <a:bodyPr wrap="square" lIns="0" tIns="0" rIns="0" bIns="0" rtlCol="0" anchor="ctr"/>
          <a:lstStyle/>
          <a:p>
            <a:pPr marL="0" indent="0" algn="ctr">
              <a:buNone/>
            </a:pPr>
            <a:r>
              <a:rPr lang="en-US" sz="1400" b="1" dirty="0">
                <a:solidFill>
                  <a:srgbClr val="FFFFFF"/>
                </a:solidFill>
              </a:rPr>
              <a:t>확장 로드맵</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한 대의 반복 순찰차에서 도시 지하 안전망으로 확장한다</a:t>
            </a:r>
            <a:endParaRPr lang="en-US" sz="1900" dirty="0"/>
          </a:p>
        </p:txBody>
      </p:sp>
      <p:sp>
        <p:nvSpPr>
          <p:cNvPr id="5" name="lead"/>
          <p:cNvSpPr txBox="1"/>
          <p:nvPr/>
        </p:nvSpPr>
        <p:spPr>
          <a:xfrm>
            <a:off x="546100" y="977900"/>
            <a:ext cx="11087100" cy="457200"/>
          </a:xfrm>
          <a:prstGeom prst="rect">
            <a:avLst/>
          </a:prstGeom>
          <a:noFill/>
          <a:ln>
            <a:noFill/>
          </a:ln>
        </p:spPr>
        <p:txBody>
          <a:bodyPr wrap="square" lIns="0" tIns="0" rIns="0" bIns="0" rtlCol="0" anchor="t"/>
          <a:lstStyle/>
          <a:p>
            <a:pPr marL="0" indent="0">
              <a:buNone/>
            </a:pPr>
            <a:r>
              <a:rPr lang="en-US" sz="1600" dirty="0">
                <a:solidFill>
                  <a:srgbClr val="5B6573"/>
                </a:solidFill>
              </a:rPr>
              <a:t>검증된 운영 모델을 같은 기준으로 복제하며 범위를 넓힙니다.</a:t>
            </a:r>
            <a:endParaRPr lang="en-US" sz="1600" dirty="0"/>
          </a:p>
        </p:txBody>
      </p:sp>
      <p:sp>
        <p:nvSpPr>
          <p:cNvPr id="6"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sp>
        <p:nvSpPr>
          <p:cNvPr id="7" name="road step"/>
          <p:cNvSpPr txBox="1"/>
          <p:nvPr/>
        </p:nvSpPr>
        <p:spPr>
          <a:xfrm>
            <a:off x="546100" y="1549400"/>
            <a:ext cx="2159000" cy="508000"/>
          </a:xfrm>
          <a:prstGeom prst="homePlate">
            <a:avLst>
              <a:gd name="adj" fmla="val 22000"/>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1  파일럿</a:t>
            </a:r>
            <a:endParaRPr lang="en-US" sz="1400" dirty="0"/>
          </a:p>
        </p:txBody>
      </p:sp>
      <p:sp>
        <p:nvSpPr>
          <p:cNvPr id="8" name="road desc"/>
          <p:cNvSpPr txBox="1"/>
          <p:nvPr/>
        </p:nvSpPr>
        <p:spPr>
          <a:xfrm>
            <a:off x="647700" y="2133600"/>
            <a:ext cx="1981200" cy="685800"/>
          </a:xfrm>
          <a:prstGeom prst="rect">
            <a:avLst/>
          </a:prstGeom>
          <a:noFill/>
          <a:ln>
            <a:noFill/>
          </a:ln>
        </p:spPr>
        <p:txBody>
          <a:bodyPr wrap="square" lIns="0" tIns="0" rIns="0" bIns="0" rtlCol="0" anchor="t"/>
          <a:lstStyle/>
          <a:p>
            <a:pPr marL="0" indent="0">
              <a:buNone/>
            </a:pPr>
            <a:r>
              <a:rPr lang="en-US" sz="1200" dirty="0">
                <a:solidFill>
                  <a:srgbClr val="5B6573"/>
                </a:solidFill>
              </a:rPr>
              <a:t>지하철 공사구간과 노후 하수관 주변</a:t>
            </a:r>
            <a:endParaRPr lang="en-US" sz="1200" dirty="0"/>
          </a:p>
        </p:txBody>
      </p:sp>
      <p:sp>
        <p:nvSpPr>
          <p:cNvPr id="9" name="road step"/>
          <p:cNvSpPr txBox="1"/>
          <p:nvPr/>
        </p:nvSpPr>
        <p:spPr>
          <a:xfrm>
            <a:off x="2768600" y="1549400"/>
            <a:ext cx="2159000" cy="508000"/>
          </a:xfrm>
          <a:prstGeom prst="chevron">
            <a:avLst>
              <a:gd name="adj" fmla="val 22000"/>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2  정기 순찰</a:t>
            </a:r>
            <a:endParaRPr lang="en-US" sz="1400" dirty="0"/>
          </a:p>
        </p:txBody>
      </p:sp>
      <p:sp>
        <p:nvSpPr>
          <p:cNvPr id="10" name="road desc"/>
          <p:cNvSpPr txBox="1"/>
          <p:nvPr/>
        </p:nvSpPr>
        <p:spPr>
          <a:xfrm>
            <a:off x="2870200" y="2133600"/>
            <a:ext cx="1981200" cy="685800"/>
          </a:xfrm>
          <a:prstGeom prst="rect">
            <a:avLst/>
          </a:prstGeom>
          <a:noFill/>
          <a:ln>
            <a:noFill/>
          </a:ln>
        </p:spPr>
        <p:txBody>
          <a:bodyPr wrap="square" lIns="0" tIns="0" rIns="0" bIns="0" rtlCol="0" anchor="t"/>
          <a:lstStyle/>
          <a:p>
            <a:pPr marL="0" indent="0">
              <a:buNone/>
            </a:pPr>
            <a:r>
              <a:rPr lang="en-US" sz="1200" dirty="0">
                <a:solidFill>
                  <a:srgbClr val="5B6573"/>
                </a:solidFill>
              </a:rPr>
              <a:t>위험도별 주기로 정기 순찰(집중관리 주 1회~일반 분기)</a:t>
            </a:r>
            <a:endParaRPr lang="en-US" sz="1200" dirty="0"/>
          </a:p>
        </p:txBody>
      </p:sp>
      <p:sp>
        <p:nvSpPr>
          <p:cNvPr id="11" name="road step"/>
          <p:cNvSpPr txBox="1"/>
          <p:nvPr/>
        </p:nvSpPr>
        <p:spPr>
          <a:xfrm>
            <a:off x="4991100" y="1549400"/>
            <a:ext cx="2159000" cy="508000"/>
          </a:xfrm>
          <a:prstGeom prst="chevron">
            <a:avLst>
              <a:gd name="adj" fmla="val 22000"/>
            </a:avLst>
          </a:prstGeom>
          <a:solidFill>
            <a:srgbClr val="0B1F3A"/>
          </a:solidFill>
          <a:ln>
            <a:noFill/>
          </a:ln>
        </p:spPr>
        <p:txBody>
          <a:bodyPr wrap="square" lIns="0" tIns="0" rIns="0" bIns="0" rtlCol="0" anchor="ctr"/>
          <a:lstStyle/>
          <a:p>
            <a:pPr marL="0" indent="0" algn="ctr">
              <a:buNone/>
            </a:pPr>
            <a:r>
              <a:rPr lang="en-US" sz="1400" b="1" dirty="0">
                <a:solidFill>
                  <a:srgbClr val="FFFFFF"/>
                </a:solidFill>
              </a:rPr>
              <a:t>3  플릿 운영</a:t>
            </a:r>
            <a:endParaRPr lang="en-US" sz="1400" dirty="0"/>
          </a:p>
        </p:txBody>
      </p:sp>
      <p:sp>
        <p:nvSpPr>
          <p:cNvPr id="12" name="road desc"/>
          <p:cNvSpPr txBox="1"/>
          <p:nvPr/>
        </p:nvSpPr>
        <p:spPr>
          <a:xfrm>
            <a:off x="5092700" y="2133600"/>
            <a:ext cx="1981200" cy="685800"/>
          </a:xfrm>
          <a:prstGeom prst="rect">
            <a:avLst/>
          </a:prstGeom>
          <a:noFill/>
          <a:ln>
            <a:noFill/>
          </a:ln>
        </p:spPr>
        <p:txBody>
          <a:bodyPr wrap="square" lIns="0" tIns="0" rIns="0" bIns="0" rtlCol="0" anchor="t"/>
          <a:lstStyle/>
          <a:p>
            <a:pPr marL="0" indent="0">
              <a:buNone/>
            </a:pPr>
            <a:r>
              <a:rPr lang="en-US" sz="1200" dirty="0">
                <a:solidFill>
                  <a:srgbClr val="5B6573"/>
                </a:solidFill>
              </a:rPr>
              <a:t>같은 사양 PV5 여러 대가 권역을 나눠 순찰</a:t>
            </a:r>
            <a:endParaRPr lang="en-US" sz="1200" dirty="0"/>
          </a:p>
        </p:txBody>
      </p:sp>
      <p:sp>
        <p:nvSpPr>
          <p:cNvPr id="13" name="road step"/>
          <p:cNvSpPr txBox="1"/>
          <p:nvPr/>
        </p:nvSpPr>
        <p:spPr>
          <a:xfrm>
            <a:off x="7213600" y="1549400"/>
            <a:ext cx="2159000" cy="508000"/>
          </a:xfrm>
          <a:prstGeom prst="chevron">
            <a:avLst>
              <a:gd name="adj" fmla="val 22000"/>
            </a:avLst>
          </a:prstGeom>
          <a:solidFill>
            <a:srgbClr val="1C3A63"/>
          </a:solidFill>
          <a:ln>
            <a:noFill/>
          </a:ln>
        </p:spPr>
        <p:txBody>
          <a:bodyPr wrap="square" lIns="0" tIns="0" rIns="0" bIns="0" rtlCol="0" anchor="ctr"/>
          <a:lstStyle/>
          <a:p>
            <a:pPr marL="0" indent="0" algn="ctr">
              <a:buNone/>
            </a:pPr>
            <a:r>
              <a:rPr lang="en-US" sz="1400" b="1" dirty="0">
                <a:solidFill>
                  <a:srgbClr val="FFFFFF"/>
                </a:solidFill>
              </a:rPr>
              <a:t>4  데이터 결합</a:t>
            </a:r>
            <a:endParaRPr lang="en-US" sz="1400" dirty="0"/>
          </a:p>
        </p:txBody>
      </p:sp>
      <p:sp>
        <p:nvSpPr>
          <p:cNvPr id="14" name="road desc"/>
          <p:cNvSpPr txBox="1"/>
          <p:nvPr/>
        </p:nvSpPr>
        <p:spPr>
          <a:xfrm>
            <a:off x="7315200" y="2133600"/>
            <a:ext cx="1981200" cy="685800"/>
          </a:xfrm>
          <a:prstGeom prst="rect">
            <a:avLst/>
          </a:prstGeom>
          <a:noFill/>
          <a:ln>
            <a:noFill/>
          </a:ln>
        </p:spPr>
        <p:txBody>
          <a:bodyPr wrap="square" lIns="0" tIns="0" rIns="0" bIns="0" rtlCol="0" anchor="t"/>
          <a:lstStyle/>
          <a:p>
            <a:pPr marL="0" indent="0">
              <a:buNone/>
            </a:pPr>
            <a:r>
              <a:rPr lang="en-US" sz="1200" dirty="0">
                <a:solidFill>
                  <a:srgbClr val="5B6573"/>
                </a:solidFill>
              </a:rPr>
              <a:t>하수관·굴착·지하수·강우·보수 이력과 결합</a:t>
            </a:r>
            <a:endParaRPr lang="en-US" sz="1200" dirty="0"/>
          </a:p>
        </p:txBody>
      </p:sp>
      <p:sp>
        <p:nvSpPr>
          <p:cNvPr id="15" name="road step"/>
          <p:cNvSpPr txBox="1"/>
          <p:nvPr/>
        </p:nvSpPr>
        <p:spPr>
          <a:xfrm>
            <a:off x="9436100" y="1549400"/>
            <a:ext cx="2159000" cy="508000"/>
          </a:xfrm>
          <a:prstGeom prst="chevron">
            <a:avLst>
              <a:gd name="adj" fmla="val 22000"/>
            </a:avLst>
          </a:prstGeom>
          <a:solidFill>
            <a:srgbClr val="1C3A63"/>
          </a:solidFill>
          <a:ln>
            <a:noFill/>
          </a:ln>
        </p:spPr>
        <p:txBody>
          <a:bodyPr wrap="square" lIns="0" tIns="0" rIns="0" bIns="0" rtlCol="0" anchor="ctr"/>
          <a:lstStyle/>
          <a:p>
            <a:pPr marL="0" indent="0" algn="ctr">
              <a:buNone/>
            </a:pPr>
            <a:r>
              <a:rPr lang="en-US" sz="1400" b="1" dirty="0">
                <a:solidFill>
                  <a:srgbClr val="FFFFFF"/>
                </a:solidFill>
              </a:rPr>
              <a:t>5  4D 변화지도</a:t>
            </a:r>
            <a:endParaRPr lang="en-US" sz="1400" dirty="0"/>
          </a:p>
        </p:txBody>
      </p:sp>
      <p:sp>
        <p:nvSpPr>
          <p:cNvPr id="16" name="road desc"/>
          <p:cNvSpPr txBox="1"/>
          <p:nvPr/>
        </p:nvSpPr>
        <p:spPr>
          <a:xfrm>
            <a:off x="9537700" y="2133600"/>
            <a:ext cx="1981200" cy="685800"/>
          </a:xfrm>
          <a:prstGeom prst="rect">
            <a:avLst/>
          </a:prstGeom>
          <a:noFill/>
          <a:ln>
            <a:noFill/>
          </a:ln>
        </p:spPr>
        <p:txBody>
          <a:bodyPr wrap="square" lIns="0" tIns="0" rIns="0" bIns="0" rtlCol="0" anchor="t"/>
          <a:lstStyle/>
          <a:p>
            <a:pPr marL="0" indent="0">
              <a:buNone/>
            </a:pPr>
            <a:r>
              <a:rPr lang="en-US" sz="1200" dirty="0">
                <a:solidFill>
                  <a:srgbClr val="5B6573"/>
                </a:solidFill>
              </a:rPr>
              <a:t>공사 전후 비교, 재난 대응, 유지관리 계획에 쓰는 지도</a:t>
            </a:r>
            <a:endParaRPr lang="en-US" sz="1200" dirty="0"/>
          </a:p>
        </p:txBody>
      </p:sp>
      <p:pic>
        <p:nvPicPr>
          <p:cNvPr id="17" name="patrol_net" descr="image.png"/>
          <p:cNvPicPr>
            <a:picLocks noChangeAspect="1"/>
          </p:cNvPicPr>
          <p:nvPr/>
        </p:nvPicPr>
        <p:blipFill>
          <a:blip r:embed="rId2"/>
          <a:stretch>
            <a:fillRect/>
          </a:stretch>
        </p:blipFill>
        <p:spPr>
          <a:xfrm>
            <a:off x="546100" y="2997200"/>
            <a:ext cx="5080000" cy="2857500"/>
          </a:xfrm>
          <a:prstGeom prst="rect">
            <a:avLst/>
          </a:prstGeom>
        </p:spPr>
      </p:pic>
      <p:sp>
        <p:nvSpPr>
          <p:cNvPr id="18" name="head"/>
          <p:cNvSpPr txBox="1"/>
          <p:nvPr/>
        </p:nvSpPr>
        <p:spPr>
          <a:xfrm>
            <a:off x="5969000" y="3022600"/>
            <a:ext cx="5664200" cy="279400"/>
          </a:xfrm>
          <a:prstGeom prst="rect">
            <a:avLst/>
          </a:prstGeom>
          <a:noFill/>
          <a:ln>
            <a:noFill/>
          </a:ln>
        </p:spPr>
        <p:txBody>
          <a:bodyPr wrap="square" lIns="0" tIns="0" rIns="0" bIns="0" rtlCol="0" anchor="t"/>
          <a:lstStyle/>
          <a:p>
            <a:pPr marL="0" indent="0">
              <a:buNone/>
            </a:pPr>
            <a:r>
              <a:rPr lang="en-US" sz="1500" b="1" dirty="0">
                <a:solidFill>
                  <a:srgbClr val="101828"/>
                </a:solidFill>
              </a:rPr>
              <a:t>확장 대상</a:t>
            </a:r>
            <a:endParaRPr lang="en-US" sz="1500" dirty="0"/>
          </a:p>
        </p:txBody>
      </p:sp>
      <p:sp>
        <p:nvSpPr>
          <p:cNvPr id="19" name="targets"/>
          <p:cNvSpPr txBox="1"/>
          <p:nvPr/>
        </p:nvSpPr>
        <p:spPr>
          <a:xfrm>
            <a:off x="5969000" y="3352800"/>
            <a:ext cx="5664200" cy="1524000"/>
          </a:xfrm>
          <a:prstGeom prst="rect">
            <a:avLst/>
          </a:prstGeom>
          <a:noFill/>
          <a:ln>
            <a:noFill/>
          </a:ln>
        </p:spPr>
        <p:txBody>
          <a:bodyPr wrap="square" lIns="0" tIns="0" rIns="0" bIns="0" rtlCol="0" anchor="t"/>
          <a:lstStyle/>
          <a:p>
            <a:pPr marL="171450" indent="-171450">
              <a:spcAft>
                <a:spcPts val="300"/>
              </a:spcAft>
              <a:buFont typeface="Arial"/>
              <a:buChar char="•"/>
            </a:pPr>
            <a:r>
              <a:rPr lang="en-US" sz="1300" dirty="0">
                <a:solidFill>
                  <a:srgbClr val="5B6573"/>
                </a:solidFill>
              </a:rPr>
              <a:t>서울시와 자치구 도로관리</a:t>
            </a:r>
            <a:endParaRPr lang="en-US" sz="1300" dirty="0"/>
          </a:p>
          <a:p>
            <a:pPr marL="171450" indent="-171450">
              <a:spcAft>
                <a:spcPts val="300"/>
              </a:spcAft>
              <a:buFont typeface="Arial"/>
              <a:buChar char="•"/>
            </a:pPr>
            <a:r>
              <a:rPr lang="en-US" sz="1300" dirty="0">
                <a:solidFill>
                  <a:srgbClr val="5B6573"/>
                </a:solidFill>
              </a:rPr>
              <a:t>도시철도 공사 영향구간</a:t>
            </a:r>
            <a:endParaRPr lang="en-US" sz="1300" dirty="0"/>
          </a:p>
          <a:p>
            <a:pPr marL="171450" indent="-171450">
              <a:spcAft>
                <a:spcPts val="300"/>
              </a:spcAft>
              <a:buFont typeface="Arial"/>
              <a:buChar char="•"/>
            </a:pPr>
            <a:r>
              <a:rPr lang="en-US" sz="1300" dirty="0">
                <a:solidFill>
                  <a:srgbClr val="5B6573"/>
                </a:solidFill>
              </a:rPr>
              <a:t>상하수도 관리기관</a:t>
            </a:r>
            <a:endParaRPr lang="en-US" sz="1300" dirty="0"/>
          </a:p>
          <a:p>
            <a:pPr marL="171450" indent="-171450">
              <a:spcAft>
                <a:spcPts val="300"/>
              </a:spcAft>
              <a:buFont typeface="Arial"/>
              <a:buChar char="•"/>
            </a:pPr>
            <a:r>
              <a:rPr lang="en-US" sz="1300" dirty="0">
                <a:solidFill>
                  <a:srgbClr val="5B6573"/>
                </a:solidFill>
              </a:rPr>
              <a:t>대형 굴착공사 발주기관과 시공사</a:t>
            </a:r>
            <a:endParaRPr lang="en-US" sz="1300" dirty="0"/>
          </a:p>
          <a:p>
            <a:pPr marL="171450" indent="-171450">
              <a:spcAft>
                <a:spcPts val="300"/>
              </a:spcAft>
              <a:buFont typeface="Arial"/>
              <a:buChar char="•"/>
            </a:pPr>
            <a:r>
              <a:rPr lang="en-US" sz="1300" dirty="0">
                <a:solidFill>
                  <a:srgbClr val="5B6573"/>
                </a:solidFill>
              </a:rPr>
              <a:t>집중호우 이후 긴급 탐사</a:t>
            </a:r>
            <a:endParaRPr lang="en-US" sz="1300" dirty="0"/>
          </a:p>
        </p:txBody>
      </p:sp>
      <p:sp>
        <p:nvSpPr>
          <p:cNvPr id="20" name="rule panel"/>
          <p:cNvSpPr txBox="1"/>
          <p:nvPr/>
        </p:nvSpPr>
        <p:spPr>
          <a:xfrm>
            <a:off x="5969000" y="5054600"/>
            <a:ext cx="5664200" cy="787400"/>
          </a:xfrm>
          <a:prstGeom prst="rect">
            <a:avLst/>
          </a:prstGeom>
          <a:solidFill>
            <a:srgbClr val="F2F4F7"/>
          </a:solidFill>
          <a:ln>
            <a:noFill/>
          </a:ln>
        </p:spPr>
        <p:txBody>
          <a:bodyPr wrap="square" lIns="127000" tIns="127000" rIns="127000" bIns="127000" rtlCol="0" anchor="ctr"/>
          <a:lstStyle/>
          <a:p>
            <a:pPr marL="0" indent="0">
              <a:buNone/>
            </a:pPr>
            <a:r>
              <a:rPr lang="en-US" sz="1300" b="1" dirty="0">
                <a:solidFill>
                  <a:srgbClr val="101828"/>
                </a:solidFill>
              </a:rPr>
              <a:t>지하 데이터는 외부에 팔지 않고, 계약기관 내부의 접근제어형 관제 서비스로만 확장합니다.</a:t>
            </a:r>
            <a:endParaRPr lang="en-US" sz="1300" dirty="0"/>
          </a:p>
        </p:txBody>
      </p:sp>
      <p:sp>
        <p:nvSpPr>
          <p:cNvPr id="21"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지도는 가상 도시 예시입니다. 단계와 대상은 제안안이며, 각 단계는 앞 단계의 실증 결과를 확인한 뒤 진행합니다.</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h_closing" descr="/Users/seohogyun/Documents/git_workspace/pv5-hose-lab/groundwatch/images/ph_closing.jpg"/>
          <p:cNvPicPr>
            <a:picLocks noChangeAspect="1"/>
          </p:cNvPicPr>
          <p:nvPr/>
        </p:nvPicPr>
        <p:blipFill>
          <a:blip r:embed="rId3"/>
          <a:stretch>
            <a:fillRect/>
          </a:stretch>
        </p:blipFill>
        <p:spPr>
          <a:xfrm>
            <a:off x="0" y="0"/>
            <a:ext cx="12191695" cy="6858000"/>
          </a:xfrm>
          <a:prstGeom prst="rect">
            <a:avLst/>
          </a:prstGeom>
        </p:spPr>
      </p:pic>
      <p:sp>
        <p:nvSpPr>
          <p:cNvPr id="3" name="Text 0"/>
          <p:cNvSpPr txBox="1"/>
          <p:nvPr/>
        </p:nvSpPr>
        <p:spPr>
          <a:xfrm>
            <a:off x="1097280" y="868680"/>
            <a:ext cx="9994392" cy="1600200"/>
          </a:xfrm>
          <a:prstGeom prst="rect">
            <a:avLst/>
          </a:prstGeom>
          <a:noFill/>
          <a:ln/>
        </p:spPr>
        <p:txBody>
          <a:bodyPr wrap="square" lIns="0" tIns="0" rIns="0" bIns="0" rtlCol="0" anchor="ctr"/>
          <a:lstStyle/>
          <a:p>
            <a:pPr marL="0" indent="0" algn="ctr">
              <a:buNone/>
            </a:pPr>
            <a:r>
              <a:rPr lang="en-US" sz="4000" b="1" dirty="0">
                <a:solidFill>
                  <a:srgbClr val="FFFFFF"/>
                </a:solidFill>
              </a:rPr>
              <a:t>한 번의 조기 발견이,</a:t>
            </a:r>
            <a:endParaRPr lang="en-US" sz="4000" dirty="0"/>
          </a:p>
          <a:p>
            <a:pPr marL="0" indent="0" algn="ctr">
              <a:buNone/>
            </a:pPr>
            <a:r>
              <a:rPr lang="en-US" sz="4000" b="1" dirty="0">
                <a:solidFill>
                  <a:srgbClr val="FFFFFF"/>
                </a:solidFill>
              </a:rPr>
              <a:t>한 사람의 무사 귀가가 되도록.</a:t>
            </a:r>
            <a:endParaRPr lang="en-US" sz="4000" dirty="0"/>
          </a:p>
        </p:txBody>
      </p:sp>
      <p:sp>
        <p:nvSpPr>
          <p:cNvPr id="4" name="Text 1"/>
          <p:cNvSpPr txBox="1"/>
          <p:nvPr/>
        </p:nvSpPr>
        <p:spPr>
          <a:xfrm>
            <a:off x="1097280" y="2606040"/>
            <a:ext cx="9994392" cy="457200"/>
          </a:xfrm>
          <a:prstGeom prst="rect">
            <a:avLst/>
          </a:prstGeom>
          <a:noFill/>
          <a:ln/>
        </p:spPr>
        <p:txBody>
          <a:bodyPr wrap="square" lIns="0" tIns="0" rIns="0" bIns="0" rtlCol="0" anchor="ctr"/>
          <a:lstStyle/>
          <a:p>
            <a:pPr marL="0" indent="0" algn="ctr">
              <a:buNone/>
            </a:pPr>
            <a:r>
              <a:rPr lang="en-US" sz="2200" b="1" dirty="0">
                <a:solidFill>
                  <a:srgbClr val="F5B400"/>
                </a:solidFill>
              </a:rPr>
              <a:t>PV5 GroundWatch</a:t>
            </a:r>
            <a:endParaRPr lang="en-US" sz="2200" dirty="0"/>
          </a:p>
        </p:txBody>
      </p:sp>
      <p:sp>
        <p:nvSpPr>
          <p:cNvPr id="5" name="Text 2"/>
          <p:cNvSpPr txBox="1"/>
          <p:nvPr/>
        </p:nvSpPr>
        <p:spPr>
          <a:xfrm>
            <a:off x="1097280" y="3090672"/>
            <a:ext cx="9994392" cy="384048"/>
          </a:xfrm>
          <a:prstGeom prst="rect">
            <a:avLst/>
          </a:prstGeom>
          <a:noFill/>
          <a:ln/>
        </p:spPr>
        <p:txBody>
          <a:bodyPr wrap="square" lIns="0" tIns="0" rIns="0" bIns="0" rtlCol="0" anchor="ctr"/>
          <a:lstStyle/>
          <a:p>
            <a:pPr marL="0" indent="0" algn="ctr">
              <a:buNone/>
            </a:pPr>
            <a:r>
              <a:rPr lang="en-US" sz="1500" dirty="0">
                <a:solidFill>
                  <a:srgbClr val="DCE3EC"/>
                </a:solidFill>
              </a:rPr>
              <a:t>팀 한 명이라도 살릴 수 있다면</a:t>
            </a:r>
            <a:endParaRPr lang="en-US" sz="1500" dirty="0"/>
          </a:p>
        </p:txBody>
      </p:sp>
      <p:sp>
        <p:nvSpPr>
          <p:cNvPr id="6" name="Text 3"/>
          <p:cNvSpPr txBox="1"/>
          <p:nvPr/>
        </p:nvSpPr>
        <p:spPr>
          <a:xfrm>
            <a:off x="548640" y="6400800"/>
            <a:ext cx="5486400" cy="256032"/>
          </a:xfrm>
          <a:prstGeom prst="rect">
            <a:avLst/>
          </a:prstGeom>
          <a:noFill/>
          <a:ln/>
        </p:spPr>
        <p:txBody>
          <a:bodyPr wrap="square" lIns="0" tIns="0" rIns="0" bIns="0" rtlCol="0" anchor="ctr"/>
          <a:lstStyle/>
          <a:p>
            <a:pPr marL="0" indent="0">
              <a:buNone/>
            </a:pPr>
            <a:r>
              <a:rPr lang="en-US" sz="900" dirty="0">
                <a:solidFill>
                  <a:srgbClr val="C9D3E0"/>
                </a:solidFill>
              </a:rPr>
              <a:t>사진: Immanuelle, CC BY 4.0, Wikimedia Commons</a:t>
            </a:r>
            <a:endParaRPr lang="en-US" sz="900" dirty="0"/>
          </a:p>
        </p:txBody>
      </p:sp>
      <p:sp>
        <p:nvSpPr>
          <p:cNvPr id="7" name="Text 4"/>
          <p:cNvSpPr txBox="1"/>
          <p:nvPr/>
        </p:nvSpPr>
        <p:spPr>
          <a:xfrm>
            <a:off x="8778240" y="6355080"/>
            <a:ext cx="2862072" cy="329184"/>
          </a:xfrm>
          <a:prstGeom prst="rect">
            <a:avLst/>
          </a:prstGeom>
          <a:noFill/>
          <a:ln/>
        </p:spPr>
        <p:txBody>
          <a:bodyPr wrap="square" lIns="0" tIns="0" rIns="0" bIns="0" rtlCol="0" anchor="ctr"/>
          <a:lstStyle/>
          <a:p>
            <a:pPr marL="0" indent="0" algn="r">
              <a:buNone/>
            </a:pPr>
            <a:r>
              <a:rPr lang="en-US" sz="1300" dirty="0">
                <a:solidFill>
                  <a:srgbClr val="E6EBF2"/>
                </a:solidFill>
              </a:rPr>
              <a:t>감사합니다</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en-US" sz="1400" b="1" dirty="0">
                <a:solidFill>
                  <a:srgbClr val="FFFFFF"/>
                </a:solidFill>
              </a:rPr>
              <a:t>부록 1 GPR 한계</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GPR은 만능이 아니다. 깊이, 토질, 금속의 한계를 먼저 밝힌다</a:t>
            </a:r>
            <a:endParaRPr lang="en-US" sz="1900" dirty="0"/>
          </a:p>
        </p:txBody>
      </p:sp>
      <p:pic>
        <p:nvPicPr>
          <p:cNvPr id="4" name="freq_depth" descr="/Users/seohogyun/Documents/git_workspace/pv5-hose-lab/groundwatch/images/freq_depth.png"/>
          <p:cNvPicPr>
            <a:picLocks noChangeAspect="1"/>
          </p:cNvPicPr>
          <p:nvPr/>
        </p:nvPicPr>
        <p:blipFill>
          <a:blip r:embed="rId3"/>
          <a:stretch>
            <a:fillRect/>
          </a:stretch>
        </p:blipFill>
        <p:spPr>
          <a:xfrm>
            <a:off x="548640" y="1005840"/>
            <a:ext cx="5760720" cy="2880360"/>
          </a:xfrm>
          <a:prstGeom prst="rect">
            <a:avLst/>
          </a:prstGeom>
        </p:spPr>
      </p:pic>
      <p:sp>
        <p:nvSpPr>
          <p:cNvPr id="5" name="Text 2"/>
          <p:cNvSpPr txBox="1"/>
          <p:nvPr/>
        </p:nvSpPr>
        <p:spPr>
          <a:xfrm>
            <a:off x="6583680" y="1005840"/>
            <a:ext cx="1508760" cy="530352"/>
          </a:xfrm>
          <a:prstGeom prst="rect">
            <a:avLst/>
          </a:prstGeom>
          <a:noFill/>
          <a:ln/>
        </p:spPr>
        <p:txBody>
          <a:bodyPr wrap="square" lIns="0" tIns="0" rIns="0" bIns="0" rtlCol="0" anchor="t"/>
          <a:lstStyle/>
          <a:p>
            <a:pPr marL="0" indent="0">
              <a:buNone/>
            </a:pPr>
            <a:r>
              <a:rPr lang="en-US" sz="1400" b="1" dirty="0">
                <a:solidFill>
                  <a:srgbClr val="101828"/>
                </a:solidFill>
              </a:rPr>
              <a:t>탐사 깊이</a:t>
            </a:r>
            <a:endParaRPr lang="en-US" sz="1400" dirty="0"/>
          </a:p>
        </p:txBody>
      </p:sp>
      <p:sp>
        <p:nvSpPr>
          <p:cNvPr id="6" name="Text 3"/>
          <p:cNvSpPr txBox="1"/>
          <p:nvPr/>
        </p:nvSpPr>
        <p:spPr>
          <a:xfrm>
            <a:off x="8138160" y="1005840"/>
            <a:ext cx="3502152" cy="548640"/>
          </a:xfrm>
          <a:prstGeom prst="rect">
            <a:avLst/>
          </a:prstGeom>
          <a:noFill/>
          <a:ln/>
        </p:spPr>
        <p:txBody>
          <a:bodyPr wrap="square" lIns="0" tIns="0" rIns="0" bIns="0" rtlCol="0" anchor="t"/>
          <a:lstStyle/>
          <a:p>
            <a:pPr marL="0" indent="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7" name="Text 4"/>
          <p:cNvSpPr txBox="1"/>
          <p:nvPr/>
        </p:nvSpPr>
        <p:spPr>
          <a:xfrm>
            <a:off x="6583680" y="1591056"/>
            <a:ext cx="1508760" cy="530352"/>
          </a:xfrm>
          <a:prstGeom prst="rect">
            <a:avLst/>
          </a:prstGeom>
          <a:noFill/>
          <a:ln/>
        </p:spPr>
        <p:txBody>
          <a:bodyPr wrap="square" lIns="0" tIns="0" rIns="0" bIns="0" rtlCol="0" anchor="t"/>
          <a:lstStyle/>
          <a:p>
            <a:pPr marL="0" indent="0">
              <a:buNone/>
            </a:pPr>
            <a:r>
              <a:rPr lang="en-US" sz="1400" b="1" dirty="0">
                <a:solidFill>
                  <a:srgbClr val="101828"/>
                </a:solidFill>
              </a:rPr>
              <a:t>주파수와 해상도</a:t>
            </a:r>
            <a:endParaRPr lang="en-US" sz="1400" dirty="0"/>
          </a:p>
        </p:txBody>
      </p:sp>
      <p:sp>
        <p:nvSpPr>
          <p:cNvPr id="8" name="Text 5"/>
          <p:cNvSpPr txBox="1"/>
          <p:nvPr/>
        </p:nvSpPr>
        <p:spPr>
          <a:xfrm>
            <a:off x="8138160" y="1591056"/>
            <a:ext cx="3502152" cy="548640"/>
          </a:xfrm>
          <a:prstGeom prst="rect">
            <a:avLst/>
          </a:prstGeom>
          <a:noFill/>
          <a:ln/>
        </p:spPr>
        <p:txBody>
          <a:bodyPr wrap="square" lIns="0" tIns="0" rIns="0" bIns="0" rtlCol="0" anchor="t"/>
          <a:lstStyle/>
          <a:p>
            <a:pPr marL="0" indent="0">
              <a:buNone/>
            </a:pPr>
            <a:r>
              <a:rPr lang="en-US" sz="1200" dirty="0">
                <a:solidFill>
                  <a:srgbClr val="5B6573"/>
                </a:solidFill>
              </a:rPr>
              <a:t>저주파는 깊지만 흐릿하고, 고주파는 얕지만 정밀합니다(FHWA).</a:t>
            </a:r>
            <a:endParaRPr lang="en-US" sz="1200" dirty="0"/>
          </a:p>
        </p:txBody>
      </p:sp>
      <p:sp>
        <p:nvSpPr>
          <p:cNvPr id="9" name="Text 6"/>
          <p:cNvSpPr txBox="1"/>
          <p:nvPr/>
        </p:nvSpPr>
        <p:spPr>
          <a:xfrm>
            <a:off x="6583680" y="2176272"/>
            <a:ext cx="1508760" cy="530352"/>
          </a:xfrm>
          <a:prstGeom prst="rect">
            <a:avLst/>
          </a:prstGeom>
          <a:noFill/>
          <a:ln/>
        </p:spPr>
        <p:txBody>
          <a:bodyPr wrap="square" lIns="0" tIns="0" rIns="0" bIns="0" rtlCol="0" anchor="t"/>
          <a:lstStyle/>
          <a:p>
            <a:pPr marL="0" indent="0">
              <a:buNone/>
            </a:pPr>
            <a:r>
              <a:rPr lang="en-US" sz="1400" b="1" dirty="0">
                <a:solidFill>
                  <a:srgbClr val="101828"/>
                </a:solidFill>
              </a:rPr>
              <a:t>수분과 점토</a:t>
            </a:r>
            <a:endParaRPr lang="en-US" sz="1400" dirty="0"/>
          </a:p>
        </p:txBody>
      </p:sp>
      <p:sp>
        <p:nvSpPr>
          <p:cNvPr id="10" name="Text 7"/>
          <p:cNvSpPr txBox="1"/>
          <p:nvPr/>
        </p:nvSpPr>
        <p:spPr>
          <a:xfrm>
            <a:off x="8138160" y="2176272"/>
            <a:ext cx="3502152" cy="548640"/>
          </a:xfrm>
          <a:prstGeom prst="rect">
            <a:avLst/>
          </a:prstGeom>
          <a:noFill/>
          <a:ln/>
        </p:spPr>
        <p:txBody>
          <a:bodyPr wrap="square" lIns="0" tIns="0" rIns="0" bIns="0" rtlCol="0" anchor="t"/>
          <a:lstStyle/>
          <a:p>
            <a:pPr marL="0" indent="0">
              <a:buNone/>
            </a:pPr>
            <a:r>
              <a:rPr lang="en-US" sz="1200" dirty="0">
                <a:solidFill>
                  <a:srgbClr val="5B6573"/>
                </a:solidFill>
              </a:rPr>
              <a:t>수분과 점토가 많은 흙은 전자파를 약하게 만듭니다(FHWA).</a:t>
            </a:r>
            <a:endParaRPr lang="en-US" sz="1200" dirty="0"/>
          </a:p>
        </p:txBody>
      </p:sp>
      <p:sp>
        <p:nvSpPr>
          <p:cNvPr id="11" name="Text 8"/>
          <p:cNvSpPr txBox="1"/>
          <p:nvPr/>
        </p:nvSpPr>
        <p:spPr>
          <a:xfrm>
            <a:off x="6583680" y="2761488"/>
            <a:ext cx="1508760" cy="530352"/>
          </a:xfrm>
          <a:prstGeom prst="rect">
            <a:avLst/>
          </a:prstGeom>
          <a:noFill/>
          <a:ln/>
        </p:spPr>
        <p:txBody>
          <a:bodyPr wrap="square" lIns="0" tIns="0" rIns="0" bIns="0" rtlCol="0" anchor="t"/>
          <a:lstStyle/>
          <a:p>
            <a:pPr marL="0" indent="0">
              <a:buNone/>
            </a:pPr>
            <a:r>
              <a:rPr lang="en-US" sz="1400" b="1" dirty="0">
                <a:solidFill>
                  <a:srgbClr val="101828"/>
                </a:solidFill>
              </a:rPr>
              <a:t>금속 간섭</a:t>
            </a:r>
            <a:endParaRPr lang="en-US" sz="1400" dirty="0"/>
          </a:p>
        </p:txBody>
      </p:sp>
      <p:sp>
        <p:nvSpPr>
          <p:cNvPr id="12" name="Text 9"/>
          <p:cNvSpPr txBox="1"/>
          <p:nvPr/>
        </p:nvSpPr>
        <p:spPr>
          <a:xfrm>
            <a:off x="8138160" y="2761488"/>
            <a:ext cx="3502152" cy="548640"/>
          </a:xfrm>
          <a:prstGeom prst="rect">
            <a:avLst/>
          </a:prstGeom>
          <a:noFill/>
          <a:ln/>
        </p:spPr>
        <p:txBody>
          <a:bodyPr wrap="square" lIns="0" tIns="0" rIns="0" bIns="0" rtlCol="0" anchor="t"/>
          <a:lstStyle/>
          <a:p>
            <a:pPr marL="0" indent="0">
              <a:buNone/>
            </a:pPr>
            <a:r>
              <a:rPr lang="en-US" sz="1200" dirty="0">
                <a:solidFill>
                  <a:srgbClr val="5B6573"/>
                </a:solidFill>
              </a:rPr>
              <a:t>금속 관로는 강하게 반사하고 그 아래를 가립니다(FHWA).</a:t>
            </a:r>
            <a:endParaRPr lang="en-US" sz="1200" dirty="0"/>
          </a:p>
        </p:txBody>
      </p:sp>
      <p:sp>
        <p:nvSpPr>
          <p:cNvPr id="13" name="Text 10"/>
          <p:cNvSpPr txBox="1"/>
          <p:nvPr/>
        </p:nvSpPr>
        <p:spPr>
          <a:xfrm>
            <a:off x="6583680" y="3346704"/>
            <a:ext cx="1508760" cy="530352"/>
          </a:xfrm>
          <a:prstGeom prst="rect">
            <a:avLst/>
          </a:prstGeom>
          <a:noFill/>
          <a:ln/>
        </p:spPr>
        <p:txBody>
          <a:bodyPr wrap="square" lIns="0" tIns="0" rIns="0" bIns="0" rtlCol="0" anchor="t"/>
          <a:lstStyle/>
          <a:p>
            <a:pPr marL="0" indent="0">
              <a:buNone/>
            </a:pPr>
            <a:r>
              <a:rPr lang="en-US" sz="1400" b="1" dirty="0">
                <a:solidFill>
                  <a:srgbClr val="101828"/>
                </a:solidFill>
              </a:rPr>
              <a:t>깊은 지반과 터널</a:t>
            </a:r>
            <a:endParaRPr lang="en-US" sz="1400" dirty="0"/>
          </a:p>
        </p:txBody>
      </p:sp>
      <p:sp>
        <p:nvSpPr>
          <p:cNvPr id="14" name="Text 11"/>
          <p:cNvSpPr txBox="1"/>
          <p:nvPr/>
        </p:nvSpPr>
        <p:spPr>
          <a:xfrm>
            <a:off x="8138160" y="3346704"/>
            <a:ext cx="3502152" cy="548640"/>
          </a:xfrm>
          <a:prstGeom prst="rect">
            <a:avLst/>
          </a:prstGeom>
          <a:noFill/>
          <a:ln/>
        </p:spPr>
        <p:txBody>
          <a:bodyPr wrap="square" lIns="0" tIns="0" rIns="0" bIns="0" rtlCol="0" anchor="t"/>
          <a:lstStyle/>
          <a:p>
            <a:pPr marL="0" indent="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5" name="rule"/>
          <p:cNvSpPr/>
          <p:nvPr/>
        </p:nvSpPr>
        <p:spPr>
          <a:xfrm>
            <a:off x="548640" y="4114800"/>
            <a:ext cx="11094415" cy="0"/>
          </a:xfrm>
          <a:prstGeom prst="line">
            <a:avLst/>
          </a:prstGeom>
          <a:noFill/>
          <a:ln w="12700">
            <a:solidFill>
              <a:srgbClr val="DCE1E8"/>
            </a:solidFill>
            <a:prstDash val="solid"/>
          </a:ln>
        </p:spPr>
        <p:txBody>
          <a:bodyPr/>
          <a:lstStyle/>
          <a:p>
            <a:endParaRPr lang="ko-KR" altLang="en-US"/>
          </a:p>
        </p:txBody>
      </p:sp>
      <p:sp>
        <p:nvSpPr>
          <p:cNvPr id="16" name="Text 13"/>
          <p:cNvSpPr txBox="1"/>
          <p:nvPr/>
        </p:nvSpPr>
        <p:spPr>
          <a:xfrm>
            <a:off x="548640" y="4251960"/>
            <a:ext cx="11094415" cy="384048"/>
          </a:xfrm>
          <a:prstGeom prst="rect">
            <a:avLst/>
          </a:prstGeom>
          <a:noFill/>
          <a:ln/>
        </p:spPr>
        <p:txBody>
          <a:bodyPr wrap="square" lIns="0" tIns="0" rIns="0" bIns="0" rtlCol="0" anchor="ctr"/>
          <a:lstStyle/>
          <a:p>
            <a:pPr marL="0" indent="0">
              <a:buNone/>
            </a:pPr>
            <a:r>
              <a:rPr lang="en-US" sz="1800" b="1" dirty="0">
                <a:solidFill>
                  <a:srgbClr val="D93025"/>
                </a:solidFill>
              </a:rPr>
              <a:t>AI가 공동을 최종 확정하지 않는 이유</a:t>
            </a:r>
            <a:endParaRPr lang="en-US" sz="1800" dirty="0"/>
          </a:p>
        </p:txBody>
      </p:sp>
      <p:sp>
        <p:nvSpPr>
          <p:cNvPr id="17" name="Text 14"/>
          <p:cNvSpPr txBox="1"/>
          <p:nvPr/>
        </p:nvSpPr>
        <p:spPr>
          <a:xfrm>
            <a:off x="548640" y="4709160"/>
            <a:ext cx="3566160" cy="347472"/>
          </a:xfrm>
          <a:prstGeom prst="rect">
            <a:avLst/>
          </a:prstGeom>
          <a:noFill/>
          <a:ln/>
        </p:spPr>
        <p:txBody>
          <a:bodyPr wrap="square" lIns="0" tIns="0" rIns="0" bIns="0" rtlCol="0" anchor="t"/>
          <a:lstStyle/>
          <a:p>
            <a:pPr marL="0" indent="0">
              <a:buNone/>
            </a:pPr>
            <a:r>
              <a:rPr lang="en-US" sz="1500" b="1" dirty="0">
                <a:solidFill>
                  <a:srgbClr val="101828"/>
                </a:solidFill>
              </a:rPr>
              <a:t>신호가 비슷합니다</a:t>
            </a:r>
            <a:endParaRPr lang="en-US" sz="1500" dirty="0"/>
          </a:p>
        </p:txBody>
      </p:sp>
      <p:sp>
        <p:nvSpPr>
          <p:cNvPr id="18" name="Text 15"/>
          <p:cNvSpPr txBox="1"/>
          <p:nvPr/>
        </p:nvSpPr>
        <p:spPr>
          <a:xfrm>
            <a:off x="548640" y="5093208"/>
            <a:ext cx="3566160" cy="914400"/>
          </a:xfrm>
          <a:prstGeom prst="rect">
            <a:avLst/>
          </a:prstGeom>
          <a:noFill/>
          <a:ln/>
        </p:spPr>
        <p:txBody>
          <a:bodyPr wrap="square" lIns="0" tIns="0" rIns="0" bIns="0" rtlCol="0" anchor="t"/>
          <a:lstStyle/>
          <a:p>
            <a:pPr marL="0" indent="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19" name="Text 16"/>
          <p:cNvSpPr txBox="1"/>
          <p:nvPr/>
        </p:nvSpPr>
        <p:spPr>
          <a:xfrm>
            <a:off x="4343400" y="4709160"/>
            <a:ext cx="3566160" cy="347472"/>
          </a:xfrm>
          <a:prstGeom prst="rect">
            <a:avLst/>
          </a:prstGeom>
          <a:noFill/>
          <a:ln/>
        </p:spPr>
        <p:txBody>
          <a:bodyPr wrap="square" lIns="0" tIns="0" rIns="0" bIns="0" rtlCol="0" anchor="t"/>
          <a:lstStyle/>
          <a:p>
            <a:pPr marL="0" indent="0">
              <a:buNone/>
            </a:pPr>
            <a:r>
              <a:rPr lang="en-US" sz="1500" b="1" dirty="0">
                <a:solidFill>
                  <a:srgbClr val="101828"/>
                </a:solidFill>
              </a:rPr>
              <a:t>검증 데이터가 아직 없습니다</a:t>
            </a:r>
            <a:endParaRPr lang="en-US" sz="1500" dirty="0"/>
          </a:p>
        </p:txBody>
      </p:sp>
      <p:sp>
        <p:nvSpPr>
          <p:cNvPr id="20" name="Text 17"/>
          <p:cNvSpPr txBox="1"/>
          <p:nvPr/>
        </p:nvSpPr>
        <p:spPr>
          <a:xfrm>
            <a:off x="4343400" y="5093208"/>
            <a:ext cx="3566160" cy="914400"/>
          </a:xfrm>
          <a:prstGeom prst="rect">
            <a:avLst/>
          </a:prstGeom>
          <a:noFill/>
          <a:ln/>
        </p:spPr>
        <p:txBody>
          <a:bodyPr wrap="square" lIns="0" tIns="0" rIns="0" bIns="0" rtlCol="0" anchor="t"/>
          <a:lstStyle/>
          <a:p>
            <a:pPr marL="0" indent="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1" name="Text 18"/>
          <p:cNvSpPr txBox="1"/>
          <p:nvPr/>
        </p:nvSpPr>
        <p:spPr>
          <a:xfrm>
            <a:off x="8138160" y="4709160"/>
            <a:ext cx="3566160" cy="347472"/>
          </a:xfrm>
          <a:prstGeom prst="rect">
            <a:avLst/>
          </a:prstGeom>
          <a:noFill/>
          <a:ln/>
        </p:spPr>
        <p:txBody>
          <a:bodyPr wrap="square" lIns="0" tIns="0" rIns="0" bIns="0" rtlCol="0" anchor="t"/>
          <a:lstStyle/>
          <a:p>
            <a:pPr marL="0" indent="0">
              <a:buNone/>
            </a:pPr>
            <a:r>
              <a:rPr lang="en-US" sz="1500" b="1" dirty="0">
                <a:solidFill>
                  <a:srgbClr val="101828"/>
                </a:solidFill>
              </a:rPr>
              <a:t>책임 주체가 필요합니다</a:t>
            </a:r>
            <a:endParaRPr lang="en-US" sz="1500" dirty="0"/>
          </a:p>
        </p:txBody>
      </p:sp>
      <p:sp>
        <p:nvSpPr>
          <p:cNvPr id="22" name="Text 19"/>
          <p:cNvSpPr txBox="1"/>
          <p:nvPr/>
        </p:nvSpPr>
        <p:spPr>
          <a:xfrm>
            <a:off x="8138160" y="5093208"/>
            <a:ext cx="3566160" cy="914400"/>
          </a:xfrm>
          <a:prstGeom prst="rect">
            <a:avLst/>
          </a:prstGeom>
          <a:noFill/>
          <a:ln/>
        </p:spPr>
        <p:txBody>
          <a:bodyPr wrap="square" lIns="0" tIns="0" rIns="0" bIns="0" rtlCol="0" anchor="t"/>
          <a:lstStyle/>
          <a:p>
            <a:pPr marL="0" indent="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3"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출처: FHWA GPR 기술 설명, 서울시 설명 인용 보도(고주파 GPR 약 2m), 서울시 복합탐사(지하 5~40m) 시범 도입 보도(2025.12.30)</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24</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0B1F3A"/>
          </a:solidFill>
          <a:ln>
            <a:solidFill>
              <a:srgbClr val="0B1F3A"/>
            </a:solidFill>
          </a:ln>
        </p:spPr>
        <p:txBody>
          <a:bodyPr wrap="square" lIns="0" tIns="0" rIns="0" bIns="0" rtlCol="0" anchor="ctr"/>
          <a:lstStyle/>
          <a:p>
            <a:pPr marL="0" indent="0" algn="ctr">
              <a:buNone/>
            </a:pPr>
            <a:r>
              <a:rPr lang="en-US" sz="1400" b="1" dirty="0">
                <a:solidFill>
                  <a:srgbClr val="FFFFFF"/>
                </a:solidFill>
              </a:rPr>
              <a:t>부록 2 근거와 검증</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확인된 사실과 검증할 가설을 나눠 관리한다</a:t>
            </a:r>
            <a:endParaRPr lang="en-US" sz="19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marL="0" indent="0">
              <a:buNone/>
            </a:pPr>
            <a:r>
              <a:rPr lang="en-US" sz="1600" b="1" dirty="0">
                <a:solidFill>
                  <a:srgbClr val="101828"/>
                </a:solidFill>
              </a:rPr>
              <a:t>확정 데이터와 출처</a:t>
            </a:r>
            <a:endParaRPr lang="en-US" sz="16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5B6573"/>
                          </a:solidFill>
                        </a:rPr>
                        <a:t>항목</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300" b="1" dirty="0">
                          <a:solidFill>
                            <a:srgbClr val="5B6573"/>
                          </a:solidFill>
                        </a:rPr>
                        <a:t>출처</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extLst>
                  <a:ext uri="{0D108BD9-81ED-4DB2-BD59-A6C34878D82A}">
                    <a16:rowId xmlns:a16="http://schemas.microsoft.com/office/drawing/2014/main" val="10000"/>
                  </a:ext>
                </a:extLst>
              </a:tr>
              <a:tr h="384048">
                <a:tc>
                  <a:txBody>
                    <a:bodyPr/>
                    <a:lstStyle/>
                    <a:p>
                      <a:pPr marL="0" indent="0">
                        <a:buNone/>
                      </a:pPr>
                      <a:r>
                        <a:rPr lang="en-US" sz="1300" dirty="0">
                          <a:solidFill>
                            <a:srgbClr val="101828"/>
                          </a:solidFill>
                        </a:rPr>
                        <a:t>명일동 사고 규모와 원인</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국토부 조사결과(2025.12.3)</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300" dirty="0">
                          <a:solidFill>
                            <a:srgbClr val="101828"/>
                          </a:solidFill>
                        </a:rPr>
                        <a:t>연희동 5월 탐사 미발견</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서울시 설명(뉴시스 2024.8.30)</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300" dirty="0">
                          <a:solidFill>
                            <a:srgbClr val="101828"/>
                          </a:solidFill>
                        </a:rPr>
                        <a:t>서울시 탐사 실적과 계획</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서울시 보도자료, 경향신문</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300" dirty="0">
                          <a:solidFill>
                            <a:srgbClr val="101828"/>
                          </a:solidFill>
                        </a:rPr>
                        <a:t>고주파 GPR 약 2m</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서울시 설명 인용 보도</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300" dirty="0">
                          <a:solidFill>
                            <a:srgbClr val="101828"/>
                          </a:solidFill>
                        </a:rPr>
                        <a:t>PV5 제원과 V2L 3.6kW</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기아, 현대차그룹</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300" dirty="0">
                          <a:solidFill>
                            <a:srgbClr val="101828"/>
                          </a:solidFill>
                        </a:rPr>
                        <a:t>IVI·앱 마켓, 회전반경</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현대차그룹 뉴스룸(2025.6.9, 7.23)</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300" dirty="0">
                          <a:solidFill>
                            <a:srgbClr val="101828"/>
                          </a:solidFill>
                        </a:rPr>
                        <a:t>GPR 원리와 한계</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marL="0" indent="0">
                        <a:buNone/>
                      </a:pPr>
                      <a:r>
                        <a:rPr lang="en-US" sz="1300" dirty="0">
                          <a:solidFill>
                            <a:srgbClr val="101828"/>
                          </a:solidFill>
                        </a:rPr>
                        <a:t>FHWA</a:t>
                      </a:r>
                      <a:endParaRPr lang="en-US" sz="1300" dirty="0"/>
                    </a:p>
                  </a:txBody>
                  <a:tcPr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marL="0" indent="0">
              <a:buNone/>
            </a:pPr>
            <a:r>
              <a:rPr lang="en-US" sz="1600" b="1" dirty="0">
                <a:solidFill>
                  <a:srgbClr val="D93025"/>
                </a:solidFill>
              </a:rPr>
              <a:t>실증이 필요한 항목</a:t>
            </a:r>
            <a:endParaRPr lang="en-US" sz="16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01828"/>
                </a:solidFill>
              </a:rPr>
              <a:t>GPR와 전기차 전자파 간섭, 배터리팩 영향</a:t>
            </a:r>
            <a:endParaRPr lang="en-US" sz="1400" dirty="0"/>
          </a:p>
          <a:p>
            <a:pPr marL="342900" indent="-342900">
              <a:spcAft>
                <a:spcPts val="500"/>
              </a:spcAft>
              <a:buSzPct val="100000"/>
              <a:buChar char="•"/>
            </a:pPr>
            <a:r>
              <a:rPr lang="en-US" sz="1400" dirty="0">
                <a:solidFill>
                  <a:srgbClr val="101828"/>
                </a:solidFill>
              </a:rPr>
              <a:t>장비 소비전력과 V2L 운용, 주행거리 영향</a:t>
            </a:r>
            <a:endParaRPr lang="en-US" sz="1400" dirty="0"/>
          </a:p>
          <a:p>
            <a:pPr marL="342900" indent="-342900">
              <a:spcAft>
                <a:spcPts val="500"/>
              </a:spcAft>
              <a:buSzPct val="100000"/>
              <a:buChar char="•"/>
            </a:pPr>
            <a:r>
              <a:rPr lang="en-US" sz="1400" dirty="0">
                <a:solidFill>
                  <a:srgbClr val="101828"/>
                </a:solidFill>
              </a:rPr>
              <a:t>적재중량, 차량총중량, 축하중, 구조변경</a:t>
            </a:r>
            <a:endParaRPr lang="en-US" sz="1400" dirty="0"/>
          </a:p>
          <a:p>
            <a:pPr marL="342900" indent="-342900">
              <a:spcAft>
                <a:spcPts val="500"/>
              </a:spcAft>
              <a:buSzPct val="100000"/>
              <a:buChar char="•"/>
            </a:pPr>
            <a:r>
              <a:rPr lang="en-US" sz="1400" dirty="0">
                <a:solidFill>
                  <a:srgbClr val="101828"/>
                </a:solidFill>
              </a:rPr>
              <a:t>AR 위치 정확도와 야간 기준점 인식</a:t>
            </a:r>
            <a:endParaRPr lang="en-US" sz="1400" dirty="0"/>
          </a:p>
          <a:p>
            <a:pPr marL="342900" indent="-342900">
              <a:spcAft>
                <a:spcPts val="500"/>
              </a:spcAft>
              <a:buSzPct val="100000"/>
              <a:buChar char="•"/>
            </a:pPr>
            <a:r>
              <a:rPr lang="en-US" sz="1400" dirty="0">
                <a:solidFill>
                  <a:srgbClr val="101828"/>
                </a:solidFill>
              </a:rPr>
              <a:t>차량 앱 배포 경로와 공식 API 범위</a:t>
            </a:r>
            <a:endParaRPr lang="en-US" sz="1400" dirty="0"/>
          </a:p>
          <a:p>
            <a:pPr marL="342900" indent="-342900">
              <a:spcAft>
                <a:spcPts val="500"/>
              </a:spcAft>
              <a:buSzPct val="100000"/>
              <a:buChar char="•"/>
            </a:pPr>
            <a:r>
              <a:rPr lang="en-US" sz="1400" dirty="0">
                <a:solidFill>
                  <a:srgbClr val="101828"/>
                </a:solidFill>
              </a:rPr>
              <a:t>앱, 게이트웨이, 글래스 통신 지연과 단절 대응</a:t>
            </a:r>
            <a:endParaRPr lang="en-US" sz="1400" dirty="0"/>
          </a:p>
          <a:p>
            <a:pPr marL="342900" indent="-342900">
              <a:spcAft>
                <a:spcPts val="500"/>
              </a:spcAft>
              <a:buSzPct val="100000"/>
              <a:buChar char="•"/>
            </a:pPr>
            <a:r>
              <a:rPr lang="en-US" sz="1400" dirty="0">
                <a:solidFill>
                  <a:srgbClr val="101828"/>
                </a:solidFill>
              </a:rPr>
              <a:t>AI 탐지율, 오탐률, 미탐률(천공 확인 기준)</a:t>
            </a:r>
            <a:endParaRPr lang="en-US" sz="1400" dirty="0"/>
          </a:p>
          <a:p>
            <a:pPr marL="342900" indent="-3429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txBody>
          <a:bodyPr/>
          <a:lstStyle/>
          <a:p>
            <a:endParaRPr lang="ko-KR" altLang="en-US"/>
          </a:p>
        </p:txBody>
      </p:sp>
      <p:sp>
        <p:nvSpPr>
          <p:cNvPr id="9" name="Text 6"/>
          <p:cNvSpPr txBox="1"/>
          <p:nvPr/>
        </p:nvSpPr>
        <p:spPr>
          <a:xfrm>
            <a:off x="548640" y="4846320"/>
            <a:ext cx="2651760" cy="329184"/>
          </a:xfrm>
          <a:prstGeom prst="rect">
            <a:avLst/>
          </a:prstGeom>
          <a:noFill/>
          <a:ln/>
        </p:spPr>
        <p:txBody>
          <a:bodyPr wrap="square" lIns="0" tIns="0" rIns="0" bIns="0" rtlCol="0" anchor="ctr"/>
          <a:lstStyle/>
          <a:p>
            <a:pPr marL="0" indent="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marL="0" indent="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marL="0" indent="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marL="0" indent="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marL="0" indent="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marL="0" indent="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marL="0" indent="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marL="0" indent="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marL="0" indent="0">
              <a:buNone/>
            </a:pPr>
            <a:r>
              <a:rPr lang="en-US" sz="1300" b="1" dirty="0">
                <a:solidFill>
                  <a:srgbClr val="101828"/>
                </a:solidFill>
              </a:rPr>
              <a:t>작성 기준일 2026.10.17. 링크 전체는 부록 4 출처 목록에 있습니다.</a:t>
            </a:r>
            <a:endParaRPr lang="en-US" sz="1300" dirty="0"/>
          </a:p>
        </p:txBody>
      </p:sp>
      <p:sp>
        <p:nvSpPr>
          <p:cNvPr id="18"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공식 자료를 우선했고, 보도로만 확인한 값은 출처에 보도라고 밝혔습니다. 값이 다르면 공식 수치를 채택했습니다(서울시 2026 탐사 16,423km).</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27</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부록 3 이미지 출처</a:t>
            </a:r>
            <a:endParaRPr lang="en-US" sz="14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외부 사진의 출처, 라이선스, 변경 사항을 함께 밝힌다</a:t>
            </a:r>
            <a:endParaRPr lang="en-US" sz="1900" dirty="0"/>
          </a:p>
        </p:txBody>
      </p:sp>
      <p:sp>
        <p:nvSpPr>
          <p:cNvPr id="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sp>
        <p:nvSpPr>
          <p:cNvPr id="8" name="source"/>
          <p:cNvSpPr txBox="1"/>
          <p:nvPr/>
        </p:nvSpPr>
        <p:spPr>
          <a:xfrm>
            <a:off x="546100" y="6400800"/>
            <a:ext cx="10414000" cy="254000"/>
          </a:xfrm>
          <a:prstGeom prst="rect">
            <a:avLst/>
          </a:prstGeom>
          <a:noFill/>
          <a:ln>
            <a:noFill/>
          </a:ln>
        </p:spPr>
        <p:txBody>
          <a:bodyPr wrap="square" lIns="0" tIns="0" rIns="0" bIns="0" rtlCol="0" anchor="ctr"/>
          <a:lstStyle/>
          <a:p>
            <a:pPr marL="0" indent="0">
              <a:buNone/>
            </a:pPr>
            <a:r>
              <a:rPr lang="en-US" sz="1000" dirty="0">
                <a:solidFill>
                  <a:srgbClr val="8A94A3"/>
                </a:solidFill>
              </a:rPr>
              <a:t>라이선스: creativecommons.org/licenses/by-sa/4.0, by/4.0 · Lucide ISC License · 사진은 모두 Wikimedia Commons에서 가져왔습니다.</a:t>
            </a:r>
            <a:endParaRPr lang="en-US" sz="1000" dirty="0"/>
          </a:p>
        </p:txBody>
      </p:sp>
      <p:graphicFrame>
        <p:nvGraphicFramePr>
          <p:cNvPr id="9" name="table"/>
          <p:cNvGraphicFramePr>
            <a:graphicFrameLocks noGrp="1"/>
          </p:cNvGraphicFramePr>
          <p:nvPr/>
        </p:nvGraphicFramePr>
        <p:xfrm>
          <a:off x="546100" y="1041400"/>
          <a:ext cx="11087100" cy="2692400"/>
        </p:xfrm>
        <a:graphic>
          <a:graphicData uri="http://schemas.openxmlformats.org/drawingml/2006/table">
            <a:tbl>
              <a:tblPr/>
              <a:tblGrid>
                <a:gridCol w="889000"/>
                <a:gridCol w="3022600"/>
                <a:gridCol w="2032000"/>
                <a:gridCol w="1333500"/>
                <a:gridCol w="3810000"/>
              </a:tblGrid>
              <a:tr h="355600">
                <a:tc>
                  <a:txBody>
                    <a:bodyPr/>
                    <a:lstStyle/>
                    <a:p>
                      <a:pPr marL="0" indent="0">
                        <a:buNone/>
                      </a:pPr>
                      <a:r>
                        <a:rPr lang="en-US" sz="1200" b="1" dirty="0">
                          <a:solidFill>
                            <a:srgbClr val="5B6573"/>
                          </a:solidFill>
                        </a:rPr>
                        <a:t>쓰인 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내용</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저작자</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라이선스</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marL="0" indent="0">
                        <a:buNone/>
                      </a:pPr>
                      <a:r>
                        <a:rPr lang="en-US" sz="1200" b="1" dirty="0">
                          <a:solidFill>
                            <a:srgbClr val="5B6573"/>
                          </a:solidFill>
                        </a:rPr>
                        <a:t>변경 표시</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06400">
                <a:tc>
                  <a:txBody>
                    <a:bodyPr/>
                    <a:lstStyle/>
                    <a:p>
                      <a:pPr marL="0" indent="0">
                        <a:buNone/>
                      </a:pPr>
                      <a:r>
                        <a:rPr lang="en-US" sz="1200" b="1" dirty="0">
                          <a:solidFill>
                            <a:srgbClr val="101828"/>
                          </a:solidFill>
                        </a:rPr>
                        <a:t>1, 13</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해외 야간 도로 사진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PattayaPatrol</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CC BY-SA 4.0</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공동 단면 합성(1장), AR 화면 목업 합성(13장)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81000">
                <a:tc>
                  <a:txBody>
                    <a:bodyPr/>
                    <a:lstStyle/>
                    <a:p>
                      <a:pPr marL="0" indent="0">
                        <a:buNone/>
                      </a:pPr>
                      <a:r>
                        <a:rPr lang="en-US" sz="1200" b="1" dirty="0">
                          <a:solidFill>
                            <a:srgbClr val="101828"/>
                          </a:solidFill>
                        </a:rPr>
                        <a:t>2</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포장 함몰 사진(해외 사례)</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Famartin</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CC BY-SA 4.0</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양옆 일부 자름</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406400">
                <a:tc>
                  <a:txBody>
                    <a:bodyPr/>
                    <a:lstStyle/>
                    <a:p>
                      <a:pPr marL="0" indent="0">
                        <a:buNone/>
                      </a:pPr>
                      <a:r>
                        <a:rPr lang="en-US" sz="1200" b="1" dirty="0">
                          <a:solidFill>
                            <a:srgbClr val="101828"/>
                          </a:solidFill>
                        </a:rPr>
                        <a:t>5, 9</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PV5 카고 사진(Kia PV5 Cargo IMG 7825)</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Alexander Migl</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CC BY-SA 4.0</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자름(5장), 장비 위치 번호 표시(9장)</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81000">
                <a:tc>
                  <a:txBody>
                    <a:bodyPr/>
                    <a:lstStyle/>
                    <a:p>
                      <a:pPr marL="0" indent="0">
                        <a:buNone/>
                      </a:pPr>
                      <a:r>
                        <a:rPr lang="en-US" sz="1200" b="1" dirty="0">
                          <a:solidFill>
                            <a:srgbClr val="101828"/>
                          </a:solidFill>
                        </a:rPr>
                        <a:t>22</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서울 도로 야경</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Immanuelle</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CC BY 4.0</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어둡게 보정</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81000">
                <a:tc>
                  <a:txBody>
                    <a:bodyPr/>
                    <a:lstStyle/>
                    <a:p>
                      <a:pPr marL="0" indent="0">
                        <a:buNone/>
                      </a:pPr>
                      <a:r>
                        <a:rPr lang="en-US" sz="1200" b="1" dirty="0">
                          <a:solidFill>
                            <a:srgbClr val="101828"/>
                          </a:solidFill>
                        </a:rPr>
                        <a:t>4</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인물 아이콘</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Font Awesome Free</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CC BY 4.0</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색 변경</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r h="381000">
                <a:tc>
                  <a:txBody>
                    <a:bodyPr/>
                    <a:lstStyle/>
                    <a:p>
                      <a:pPr marL="0" indent="0">
                        <a:buNone/>
                      </a:pPr>
                      <a:r>
                        <a:rPr lang="en-US" sz="1200" b="1" dirty="0">
                          <a:solidFill>
                            <a:srgbClr val="101828"/>
                          </a:solidFill>
                        </a:rPr>
                        <a:t>5</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기능 아이콘</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Lucide</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ISC</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c>
                  <a:txBody>
                    <a:bodyPr/>
                    <a:lstStyle/>
                    <a:p>
                      <a:pPr marL="0" indent="0">
                        <a:buNone/>
                      </a:pPr>
                      <a:r>
                        <a:rPr lang="en-US" sz="1200" dirty="0">
                          <a:solidFill>
                            <a:srgbClr val="5B6573"/>
                          </a:solidFill>
                        </a:rPr>
                        <a:t>색 변경</a:t>
                      </a:r>
                      <a:endParaRPr lang="en-US" sz="1200" dirty="0"/>
                    </a:p>
                  </a:txBody>
                  <a:tcPr marL="63500" marR="63500" marT="25400" marB="2540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FFFFF"/>
                    </a:solidFill>
                  </a:tcPr>
                </a:tc>
              </a:tr>
            </a:tbl>
          </a:graphicData>
        </a:graphic>
      </p:graphicFrame>
      <p:sp>
        <p:nvSpPr>
          <p:cNvPr id="10" name="credit notes"/>
          <p:cNvSpPr txBox="1"/>
          <p:nvPr/>
        </p:nvSpPr>
        <p:spPr>
          <a:xfrm>
            <a:off x="546100" y="3987800"/>
            <a:ext cx="11087100" cy="1143000"/>
          </a:xfrm>
          <a:prstGeom prst="rect">
            <a:avLst/>
          </a:prstGeom>
          <a:noFill/>
          <a:ln>
            <a:noFill/>
          </a:ln>
        </p:spPr>
        <p:txBody>
          <a:bodyPr wrap="square" lIns="0" tIns="0" rIns="0" bIns="0" rtlCol="0" anchor="t"/>
          <a:lstStyle/>
          <a:p>
            <a:pPr marL="171450" indent="-171450">
              <a:spcAft>
                <a:spcPts val="500"/>
              </a:spcAft>
              <a:buFont typeface="Arial"/>
              <a:buChar char="•"/>
            </a:pPr>
            <a:r>
              <a:rPr lang="en-US" sz="1300" dirty="0">
                <a:solidFill>
                  <a:srgbClr val="5B6573"/>
                </a:solidFill>
              </a:rPr>
              <a:t>모든 사진은 슬라이드 크기에 맞춰 크기를 조정했습니다. 그 밖의 일러스트와 앱·지도·AR 화면 목업은 팀이 직접 만들었습니다.</a:t>
            </a:r>
            <a:endParaRPr lang="en-US" sz="1300" dirty="0"/>
          </a:p>
          <a:p>
            <a:pPr marL="171450" indent="-171450">
              <a:spcAft>
                <a:spcPts val="500"/>
              </a:spcAft>
              <a:buFont typeface="Arial"/>
              <a:buChar char="•"/>
            </a:pPr>
            <a:r>
              <a:rPr lang="en-US" sz="1300" dirty="0">
                <a:solidFill>
                  <a:srgbClr val="5B6573"/>
                </a:solidFill>
              </a:rPr>
              <a:t>CC BY-SA 사진을 고친 이미지(합성·표시 포함)는 원 저작물과 같은 CC BY-SA 4.0 조건으로 이용할 수 있습니다.</a:t>
            </a:r>
            <a:endParaRPr lang="en-US" sz="1300" dirty="0"/>
          </a:p>
          <a:p>
            <a:pPr marL="171450" indent="-171450">
              <a:spcAft>
                <a:spcPts val="500"/>
              </a:spcAft>
              <a:buFont typeface="Arial"/>
              <a:buChar char="•"/>
            </a:pPr>
            <a:r>
              <a:rPr lang="en-US" sz="1300" dirty="0">
                <a:solidFill>
                  <a:srgbClr val="5B6573"/>
                </a:solidFill>
              </a:rPr>
              <a:t>PV5 사진 원본 주소는 부록 4 출처 목록에 있습니다.</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ag"/>
          <p:cNvSpPr txBox="1"/>
          <p:nvPr/>
        </p:nvSpPr>
        <p:spPr>
          <a:xfrm>
            <a:off x="2387600" y="381000"/>
            <a:ext cx="1866900" cy="381000"/>
          </a:xfrm>
          <a:prstGeom prst="rect">
            <a:avLst/>
          </a:prstGeom>
          <a:solidFill>
            <a:srgbClr val="0B1F3A"/>
          </a:solidFill>
          <a:ln w="12700">
            <a:solidFill>
              <a:srgbClr val="0B1F3A"/>
            </a:solidFill>
          </a:ln>
        </p:spPr>
        <p:txBody>
          <a:bodyPr wrap="square" lIns="0" tIns="0" rIns="0" bIns="0" rtlCol="0" anchor="ctr"/>
          <a:lstStyle/>
          <a:p>
            <a:pPr marL="0" indent="0" algn="ctr">
              <a:buNone/>
            </a:pPr>
            <a:r>
              <a:rPr lang="en-US" sz="1400" b="1" dirty="0">
                <a:solidFill>
                  <a:srgbClr val="FFFFFF"/>
                </a:solidFill>
              </a:rPr>
              <a:t>부록 4 출처 목록</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이 제안서에 쓴 자료</a:t>
            </a:r>
            <a:endParaRPr lang="en-US" sz="1900" dirty="0"/>
          </a:p>
        </p:txBody>
      </p:sp>
      <p:sp>
        <p:nvSpPr>
          <p:cNvPr id="4"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4</a:t>
            </a:fld>
            <a:endParaRPr lang="en-US"/>
          </a:p>
        </p:txBody>
      </p:sp>
      <p:sp>
        <p:nvSpPr>
          <p:cNvPr id="5" name="source list"/>
          <p:cNvSpPr txBox="1"/>
          <p:nvPr/>
        </p:nvSpPr>
        <p:spPr>
          <a:xfrm>
            <a:off x="546100" y="939800"/>
            <a:ext cx="5435600" cy="5410200"/>
          </a:xfrm>
          <a:prstGeom prst="rect">
            <a:avLst/>
          </a:prstGeom>
          <a:noFill/>
          <a:ln>
            <a:noFill/>
          </a:ln>
        </p:spPr>
        <p:txBody>
          <a:bodyPr wrap="square" lIns="0" tIns="0" rIns="0" bIns="0" rtlCol="0" anchor="t"/>
          <a:lstStyle/>
          <a:p>
            <a:pPr marL="0" indent="0">
              <a:spcAft>
                <a:spcPts val="100"/>
              </a:spcAft>
              <a:buNone/>
            </a:pPr>
            <a:r>
              <a:rPr lang="en-US" sz="1050" b="1" dirty="0">
                <a:solidFill>
                  <a:srgbClr val="101828"/>
                </a:solidFill>
              </a:rPr>
              <a:t>사고·지반침하</a:t>
            </a:r>
            <a:endParaRPr lang="en-US" sz="1050" dirty="0"/>
          </a:p>
          <a:p>
            <a:pPr marL="0" indent="0">
              <a:spcAft>
                <a:spcPts val="150"/>
              </a:spcAft>
              <a:buNone/>
            </a:pPr>
            <a:r>
              <a:rPr lang="en-US" sz="900" dirty="0">
                <a:solidFill>
                  <a:srgbClr val="101828"/>
                </a:solidFill>
              </a:rPr>
              <a:t>1. 국토교통부 정책브리핑, 땅꺼짐 사고 조사결과(2025.12.3)</a:t>
            </a:r>
            <a:r>
              <a:rPr lang="en-US" sz="900" dirty="0">
                <a:solidFill>
                  <a:srgbClr val="8A94A3"/>
                </a:solidFill>
              </a:rPr>
              <a:t>  m.korea.kr/briefing/policyBriefingView.do?newsId=156732996</a:t>
            </a:r>
            <a:endParaRPr lang="en-US" sz="900" dirty="0"/>
          </a:p>
          <a:p>
            <a:pPr marL="0" indent="0">
              <a:spcAft>
                <a:spcPts val="150"/>
              </a:spcAft>
              <a:buNone/>
            </a:pPr>
            <a:r>
              <a:rPr lang="en-US" sz="900" dirty="0">
                <a:solidFill>
                  <a:srgbClr val="101828"/>
                </a:solidFill>
              </a:rPr>
              <a:t>2. 뉴시스(2024.8.30), 연희동 성산로 함몰</a:t>
            </a:r>
            <a:r>
              <a:rPr lang="en-US" sz="900" dirty="0">
                <a:solidFill>
                  <a:srgbClr val="8A94A3"/>
                </a:solidFill>
              </a:rPr>
              <a:t>  newsis.com/view/NISX20240830_0002869815</a:t>
            </a:r>
            <a:endParaRPr lang="en-US" sz="900" dirty="0"/>
          </a:p>
          <a:p>
            <a:pPr marL="0" indent="0">
              <a:spcAft>
                <a:spcPts val="150"/>
              </a:spcAft>
              <a:buNone/>
            </a:pPr>
            <a:r>
              <a:rPr lang="en-US" sz="900" dirty="0">
                <a:solidFill>
                  <a:srgbClr val="101828"/>
                </a:solidFill>
              </a:rPr>
              <a:t>3. 이투데이(2024.9), 연희동 함몰 이후</a:t>
            </a:r>
            <a:r>
              <a:rPr lang="en-US" sz="900" dirty="0">
                <a:solidFill>
                  <a:srgbClr val="8A94A3"/>
                </a:solidFill>
              </a:rPr>
              <a:t>  etoday.co.kr/news/view/2397645</a:t>
            </a:r>
            <a:endParaRPr lang="en-US" sz="900" dirty="0"/>
          </a:p>
          <a:p>
            <a:pPr marL="0" indent="0">
              <a:spcAft>
                <a:spcPts val="150"/>
              </a:spcAft>
              <a:buNone/>
            </a:pPr>
            <a:r>
              <a:rPr lang="en-US" sz="900" dirty="0">
                <a:solidFill>
                  <a:srgbClr val="101828"/>
                </a:solidFill>
              </a:rPr>
              <a:t>4. 이투데이(2025.6.7), 지반침하 2,119건</a:t>
            </a:r>
            <a:r>
              <a:rPr lang="en-US" sz="900" dirty="0">
                <a:solidFill>
                  <a:srgbClr val="8A94A3"/>
                </a:solidFill>
              </a:rPr>
              <a:t>  etoday.co.kr/news/view/2476584</a:t>
            </a:r>
            <a:endParaRPr lang="en-US" sz="900" dirty="0"/>
          </a:p>
          <a:p>
            <a:pPr marL="0" indent="0">
              <a:spcAft>
                <a:spcPts val="100"/>
              </a:spcAft>
              <a:buNone/>
            </a:pPr>
            <a:r>
              <a:rPr lang="en-US" sz="1050" b="1" dirty="0">
                <a:solidFill>
                  <a:srgbClr val="101828"/>
                </a:solidFill>
              </a:rPr>
              <a:t>서울시 GPR 탐사</a:t>
            </a:r>
            <a:endParaRPr lang="en-US" sz="1050" dirty="0"/>
          </a:p>
          <a:p>
            <a:pPr marL="0" indent="0">
              <a:spcAft>
                <a:spcPts val="150"/>
              </a:spcAft>
              <a:buNone/>
            </a:pPr>
            <a:r>
              <a:rPr lang="en-US" sz="900" dirty="0">
                <a:solidFill>
                  <a:srgbClr val="101828"/>
                </a:solidFill>
              </a:rPr>
              <a:t>5. 서울시 보도자료(2026.3.23), 탐사 16,423km·장비·공사장 탐사 주기</a:t>
            </a:r>
            <a:r>
              <a:rPr lang="en-US" sz="900" dirty="0">
                <a:solidFill>
                  <a:srgbClr val="8A94A3"/>
                </a:solidFill>
              </a:rPr>
              <a:t>  seoul.go.kr/news/news_report.do?nttNo=454742</a:t>
            </a:r>
            <a:endParaRPr lang="en-US" sz="900" dirty="0"/>
          </a:p>
          <a:p>
            <a:pPr marL="0" indent="0">
              <a:spcAft>
                <a:spcPts val="150"/>
              </a:spcAft>
              <a:buNone/>
            </a:pPr>
            <a:r>
              <a:rPr lang="en-US" sz="900" dirty="0">
                <a:solidFill>
                  <a:srgbClr val="101828"/>
                </a:solidFill>
              </a:rPr>
              <a:t>6. 머니투데이(2026.3.23), 탐사 16,423km·장비 10대</a:t>
            </a:r>
            <a:r>
              <a:rPr lang="en-US" sz="900" dirty="0">
                <a:solidFill>
                  <a:srgbClr val="8A94A3"/>
                </a:solidFill>
              </a:rPr>
              <a:t>  mt.co.kr/estate/2026/03/23/2026032311394354905</a:t>
            </a:r>
            <a:endParaRPr lang="en-US" sz="900" dirty="0"/>
          </a:p>
          <a:p>
            <a:pPr marL="0" indent="0">
              <a:spcAft>
                <a:spcPts val="150"/>
              </a:spcAft>
              <a:buNone/>
            </a:pPr>
            <a:r>
              <a:rPr lang="en-US" sz="900" dirty="0">
                <a:solidFill>
                  <a:srgbClr val="101828"/>
                </a:solidFill>
              </a:rPr>
              <a:t>7. 서울신문(2025.10.19), 614km·GPR 탐사지도</a:t>
            </a:r>
            <a:r>
              <a:rPr lang="en-US" sz="900" dirty="0">
                <a:solidFill>
                  <a:srgbClr val="8A94A3"/>
                </a:solidFill>
              </a:rPr>
              <a:t>  m.go.seoul.co.kr/news/2025/10/19/20251019500046</a:t>
            </a:r>
            <a:endParaRPr lang="en-US" sz="900" dirty="0"/>
          </a:p>
          <a:p>
            <a:pPr marL="0" indent="0">
              <a:spcAft>
                <a:spcPts val="150"/>
              </a:spcAft>
              <a:buNone/>
            </a:pPr>
            <a:r>
              <a:rPr lang="en-US" sz="900" dirty="0">
                <a:solidFill>
                  <a:srgbClr val="101828"/>
                </a:solidFill>
              </a:rPr>
              <a:t>8. 경향신문(2025.10.19), 누적 탐사와 공동</a:t>
            </a:r>
            <a:r>
              <a:rPr lang="en-US" sz="900" dirty="0">
                <a:solidFill>
                  <a:srgbClr val="8A94A3"/>
                </a:solidFill>
              </a:rPr>
              <a:t>  khan.co.kr/article/202510191122011</a:t>
            </a:r>
            <a:endParaRPr lang="en-US" sz="900" dirty="0"/>
          </a:p>
          <a:p>
            <a:pPr marL="0" indent="0">
              <a:spcAft>
                <a:spcPts val="150"/>
              </a:spcAft>
              <a:buNone/>
            </a:pPr>
            <a:r>
              <a:rPr lang="en-US" sz="900" dirty="0">
                <a:solidFill>
                  <a:srgbClr val="101828"/>
                </a:solidFill>
              </a:rPr>
              <a:t>9. 서울시(2015), 차량탑재형 GPR 용역(폭 3m 이내)</a:t>
            </a:r>
            <a:r>
              <a:rPr lang="en-US" sz="900" dirty="0">
                <a:solidFill>
                  <a:srgbClr val="8A94A3"/>
                </a:solidFill>
              </a:rPr>
              <a:t>  news.seoul.go.kr/safe/archives/41339</a:t>
            </a:r>
            <a:endParaRPr lang="en-US" sz="900" dirty="0"/>
          </a:p>
          <a:p>
            <a:pPr marL="0" indent="0">
              <a:spcAft>
                <a:spcPts val="150"/>
              </a:spcAft>
              <a:buNone/>
            </a:pPr>
            <a:r>
              <a:rPr lang="en-US" sz="900" dirty="0">
                <a:solidFill>
                  <a:srgbClr val="101828"/>
                </a:solidFill>
              </a:rPr>
              <a:t>10. 엔지니어링데일리(2025.1.22), 현장 보도(시속 5~30km)</a:t>
            </a:r>
            <a:r>
              <a:rPr lang="en-US" sz="900" dirty="0">
                <a:solidFill>
                  <a:srgbClr val="8A94A3"/>
                </a:solidFill>
              </a:rPr>
              <a:t>  engdaily.com/news/articleView.html?idxno=18908</a:t>
            </a:r>
            <a:endParaRPr lang="en-US" sz="900" dirty="0"/>
          </a:p>
          <a:p>
            <a:pPr marL="0" indent="0">
              <a:spcAft>
                <a:spcPts val="150"/>
              </a:spcAft>
              <a:buNone/>
            </a:pPr>
            <a:r>
              <a:rPr lang="en-US" sz="900" dirty="0">
                <a:solidFill>
                  <a:srgbClr val="101828"/>
                </a:solidFill>
              </a:rPr>
              <a:t>11. 세이프타임즈, GPR 탐지 깊이 약 2m</a:t>
            </a:r>
            <a:r>
              <a:rPr lang="en-US" sz="900" dirty="0">
                <a:solidFill>
                  <a:srgbClr val="8A94A3"/>
                </a:solidFill>
              </a:rPr>
              <a:t>  safetimes.co.kr/news/articleView.html?idxno=231486</a:t>
            </a:r>
            <a:endParaRPr lang="en-US" sz="900" dirty="0"/>
          </a:p>
          <a:p>
            <a:pPr marL="0" indent="0">
              <a:spcAft>
                <a:spcPts val="150"/>
              </a:spcAft>
              <a:buNone/>
            </a:pPr>
            <a:r>
              <a:rPr lang="en-US" sz="900" dirty="0">
                <a:solidFill>
                  <a:srgbClr val="101828"/>
                </a:solidFill>
              </a:rPr>
              <a:t>12. 다음뉴스(2025.12.30), 서울시 복합탐사</a:t>
            </a:r>
            <a:r>
              <a:rPr lang="en-US" sz="900" dirty="0">
                <a:solidFill>
                  <a:srgbClr val="8A94A3"/>
                </a:solidFill>
              </a:rPr>
              <a:t>  v.daum.net/v/20251230143011653</a:t>
            </a:r>
            <a:endParaRPr lang="en-US" sz="900" dirty="0"/>
          </a:p>
          <a:p>
            <a:pPr marL="0" indent="0">
              <a:spcAft>
                <a:spcPts val="100"/>
              </a:spcAft>
              <a:buNone/>
            </a:pPr>
            <a:r>
              <a:rPr lang="en-US" sz="1050" b="1" dirty="0">
                <a:solidFill>
                  <a:srgbClr val="101828"/>
                </a:solidFill>
              </a:rPr>
              <a:t>정책·시장</a:t>
            </a:r>
            <a:endParaRPr lang="en-US" sz="1050" dirty="0"/>
          </a:p>
          <a:p>
            <a:pPr marL="0" indent="0">
              <a:spcAft>
                <a:spcPts val="150"/>
              </a:spcAft>
              <a:buNone/>
            </a:pPr>
            <a:r>
              <a:rPr lang="en-US" sz="900" dirty="0">
                <a:solidFill>
                  <a:srgbClr val="101828"/>
                </a:solidFill>
              </a:rPr>
              <a:t>13. 국토교통부, 굴착공사 지하안전 강화(2025.5.27)</a:t>
            </a:r>
            <a:r>
              <a:rPr lang="en-US" sz="900" dirty="0">
                <a:solidFill>
                  <a:srgbClr val="8A94A3"/>
                </a:solidFill>
              </a:rPr>
              <a:t>  korea.kr/news/policyFocusView.do?newsId=148943731</a:t>
            </a:r>
            <a:endParaRPr lang="en-US" sz="900" dirty="0"/>
          </a:p>
          <a:p>
            <a:pPr marL="0" indent="0">
              <a:spcAft>
                <a:spcPts val="150"/>
              </a:spcAft>
              <a:buNone/>
            </a:pPr>
            <a:r>
              <a:rPr lang="en-US" sz="900" dirty="0">
                <a:solidFill>
                  <a:srgbClr val="101828"/>
                </a:solidFill>
              </a:rPr>
              <a:t>14. 쿠키뉴스(2025.5.27), 국비 지원 지반탐사 4,360km</a:t>
            </a:r>
            <a:r>
              <a:rPr lang="en-US" sz="900" dirty="0">
                <a:solidFill>
                  <a:srgbClr val="8A94A3"/>
                </a:solidFill>
              </a:rPr>
              <a:t>  kukinews.com/article/view/kuk202505270150</a:t>
            </a:r>
            <a:endParaRPr lang="en-US" sz="900" dirty="0"/>
          </a:p>
          <a:p>
            <a:pPr marL="0" indent="0">
              <a:spcAft>
                <a:spcPts val="150"/>
              </a:spcAft>
              <a:buNone/>
            </a:pPr>
            <a:r>
              <a:rPr lang="en-US" sz="900" dirty="0">
                <a:solidFill>
                  <a:srgbClr val="101828"/>
                </a:solidFill>
              </a:rPr>
              <a:t>15. 헤럴드경제(2025.5.27), 국토안전관리원 GPR 13→30대</a:t>
            </a:r>
            <a:r>
              <a:rPr lang="en-US" sz="900" dirty="0">
                <a:solidFill>
                  <a:srgbClr val="8A94A3"/>
                </a:solidFill>
              </a:rPr>
              <a:t>  biz.heraldcorp.com/article/10496703</a:t>
            </a:r>
            <a:endParaRPr lang="en-US" sz="900" dirty="0"/>
          </a:p>
          <a:p>
            <a:pPr marL="0" indent="0">
              <a:spcAft>
                <a:spcPts val="150"/>
              </a:spcAft>
              <a:buNone/>
            </a:pPr>
            <a:r>
              <a:rPr lang="en-US" sz="900" dirty="0">
                <a:solidFill>
                  <a:srgbClr val="101828"/>
                </a:solidFill>
              </a:rPr>
              <a:t>16. 뉴스서울(2025.5.30), 경기도 21억 6천만 원·1,080km</a:t>
            </a:r>
            <a:r>
              <a:rPr lang="en-US" sz="900" dirty="0">
                <a:solidFill>
                  <a:srgbClr val="8A94A3"/>
                </a:solidFill>
              </a:rPr>
              <a:t>  newsseoul.co.kr/news/view/1065567029758695</a:t>
            </a:r>
            <a:endParaRPr lang="en-US" sz="900" dirty="0"/>
          </a:p>
          <a:p>
            <a:pPr marL="0" indent="0">
              <a:spcAft>
                <a:spcPts val="150"/>
              </a:spcAft>
              <a:buNone/>
            </a:pPr>
            <a:r>
              <a:rPr lang="en-US" sz="900" dirty="0">
                <a:solidFill>
                  <a:srgbClr val="101828"/>
                </a:solidFill>
              </a:rPr>
              <a:t>17. 서울경제(2025.3.28), 지자체 GPR 보유 8대</a:t>
            </a:r>
            <a:r>
              <a:rPr lang="en-US" sz="900" dirty="0">
                <a:solidFill>
                  <a:srgbClr val="8A94A3"/>
                </a:solidFill>
              </a:rPr>
              <a:t>  v.daum.net/v/20250328164433619</a:t>
            </a:r>
            <a:endParaRPr lang="en-US" sz="900" dirty="0"/>
          </a:p>
          <a:p>
            <a:pPr marL="0" indent="0">
              <a:spcAft>
                <a:spcPts val="150"/>
              </a:spcAft>
              <a:buNone/>
            </a:pPr>
            <a:r>
              <a:rPr lang="en-US" sz="900" dirty="0">
                <a:solidFill>
                  <a:srgbClr val="101828"/>
                </a:solidFill>
              </a:rPr>
              <a:t>18. 경향신문(2025.4.23), 서울시 차량형 GPR 3대 15억 원</a:t>
            </a:r>
            <a:r>
              <a:rPr lang="en-US" sz="900" dirty="0">
                <a:solidFill>
                  <a:srgbClr val="8A94A3"/>
                </a:solidFill>
              </a:rPr>
              <a:t>  khan.co.kr/article/202504231504001</a:t>
            </a:r>
            <a:endParaRPr lang="en-US" sz="900" dirty="0"/>
          </a:p>
        </p:txBody>
      </p:sp>
      <p:sp>
        <p:nvSpPr>
          <p:cNvPr id="6" name="source list"/>
          <p:cNvSpPr txBox="1"/>
          <p:nvPr/>
        </p:nvSpPr>
        <p:spPr>
          <a:xfrm>
            <a:off x="6197600" y="939800"/>
            <a:ext cx="5435600" cy="5410200"/>
          </a:xfrm>
          <a:prstGeom prst="rect">
            <a:avLst/>
          </a:prstGeom>
          <a:noFill/>
          <a:ln>
            <a:noFill/>
          </a:ln>
        </p:spPr>
        <p:txBody>
          <a:bodyPr wrap="square" lIns="0" tIns="0" rIns="0" bIns="0" rtlCol="0" anchor="t"/>
          <a:lstStyle/>
          <a:p>
            <a:pPr marL="0" indent="0">
              <a:spcAft>
                <a:spcPts val="100"/>
              </a:spcAft>
              <a:buNone/>
            </a:pPr>
            <a:r>
              <a:rPr lang="en-US" sz="1050" b="1" dirty="0">
                <a:solidFill>
                  <a:srgbClr val="101828"/>
                </a:solidFill>
              </a:rPr>
              <a:t>비교 차종</a:t>
            </a:r>
            <a:endParaRPr lang="en-US" sz="1050" dirty="0"/>
          </a:p>
          <a:p>
            <a:pPr marL="0" indent="0">
              <a:spcAft>
                <a:spcPts val="150"/>
              </a:spcAft>
              <a:buNone/>
            </a:pPr>
            <a:r>
              <a:rPr lang="en-US" sz="900" dirty="0">
                <a:solidFill>
                  <a:srgbClr val="101828"/>
                </a:solidFill>
              </a:rPr>
              <a:t>19. 현대자동차, 포터 II 일렉트릭 카탈로그</a:t>
            </a:r>
            <a:r>
              <a:rPr lang="en-US" sz="900" dirty="0">
                <a:solidFill>
                  <a:srgbClr val="8A94A3"/>
                </a:solidFill>
              </a:rPr>
              <a:t>  hyundai.com/contents/repn-car/catalog/porter2-electric_catalog.pdf</a:t>
            </a:r>
            <a:endParaRPr lang="en-US" sz="900" dirty="0"/>
          </a:p>
          <a:p>
            <a:pPr marL="0" indent="0">
              <a:spcAft>
                <a:spcPts val="150"/>
              </a:spcAft>
              <a:buNone/>
            </a:pPr>
            <a:r>
              <a:rPr lang="en-US" sz="900" dirty="0">
                <a:solidFill>
                  <a:srgbClr val="101828"/>
                </a:solidFill>
              </a:rPr>
              <a:t>20. 기아, 봉고 III EV 제원</a:t>
            </a:r>
            <a:r>
              <a:rPr lang="en-US" sz="900" dirty="0">
                <a:solidFill>
                  <a:srgbClr val="8A94A3"/>
                </a:solidFill>
              </a:rPr>
              <a:t>  kia.com/kr/vehicles/bongo3-ev/specification</a:t>
            </a:r>
            <a:endParaRPr lang="en-US" sz="900" dirty="0"/>
          </a:p>
          <a:p>
            <a:pPr marL="0" indent="0">
              <a:spcAft>
                <a:spcPts val="150"/>
              </a:spcAft>
              <a:buNone/>
            </a:pPr>
            <a:r>
              <a:rPr lang="en-US" sz="900" dirty="0">
                <a:solidFill>
                  <a:srgbClr val="101828"/>
                </a:solidFill>
              </a:rPr>
              <a:t>21. 현대자동차, 더 뉴 스타리아 카탈로그</a:t>
            </a:r>
            <a:r>
              <a:rPr lang="en-US" sz="900" dirty="0">
                <a:solidFill>
                  <a:srgbClr val="8A94A3"/>
                </a:solidFill>
              </a:rPr>
              <a:t>  hyundai.com/contents/repn-car/catalog/the-new-staria_catalog.pdf</a:t>
            </a:r>
            <a:endParaRPr lang="en-US" sz="900" dirty="0"/>
          </a:p>
          <a:p>
            <a:pPr marL="0" indent="0">
              <a:spcAft>
                <a:spcPts val="100"/>
              </a:spcAft>
              <a:buNone/>
            </a:pPr>
            <a:r>
              <a:rPr lang="en-US" sz="1050" b="1" dirty="0">
                <a:solidFill>
                  <a:srgbClr val="101828"/>
                </a:solidFill>
              </a:rPr>
              <a:t>PV5·기아</a:t>
            </a:r>
            <a:endParaRPr lang="en-US" sz="1050" dirty="0"/>
          </a:p>
          <a:p>
            <a:pPr marL="0" indent="0">
              <a:spcAft>
                <a:spcPts val="150"/>
              </a:spcAft>
              <a:buNone/>
            </a:pPr>
            <a:r>
              <a:rPr lang="en-US" sz="900" dirty="0">
                <a:solidFill>
                  <a:srgbClr val="101828"/>
                </a:solidFill>
              </a:rPr>
              <a:t>22. 기아, PV5 카고 제원</a:t>
            </a:r>
            <a:r>
              <a:rPr lang="en-US" sz="900" dirty="0">
                <a:solidFill>
                  <a:srgbClr val="8A94A3"/>
                </a:solidFill>
              </a:rPr>
              <a:t>  kia.com/kr/vehicles/pv5-cargo/specification</a:t>
            </a:r>
            <a:endParaRPr lang="en-US" sz="900" dirty="0"/>
          </a:p>
          <a:p>
            <a:pPr marL="0" indent="0">
              <a:spcAft>
                <a:spcPts val="150"/>
              </a:spcAft>
              <a:buNone/>
            </a:pPr>
            <a:r>
              <a:rPr lang="en-US" sz="900" dirty="0">
                <a:solidFill>
                  <a:srgbClr val="101828"/>
                </a:solidFill>
              </a:rPr>
              <a:t>23. 기아, PV5 카고 특징</a:t>
            </a:r>
            <a:r>
              <a:rPr lang="en-US" sz="900" dirty="0">
                <a:solidFill>
                  <a:srgbClr val="8A94A3"/>
                </a:solidFill>
              </a:rPr>
              <a:t>  kia.com/kr/vehicles/pv5-cargo/features</a:t>
            </a:r>
            <a:endParaRPr lang="en-US" sz="900" dirty="0"/>
          </a:p>
          <a:p>
            <a:pPr marL="0" indent="0">
              <a:spcAft>
                <a:spcPts val="150"/>
              </a:spcAft>
              <a:buNone/>
            </a:pPr>
            <a:r>
              <a:rPr lang="en-US" sz="900" dirty="0">
                <a:solidFill>
                  <a:srgbClr val="101828"/>
                </a:solidFill>
              </a:rPr>
              <a:t>24. 기아, PV5 카고 가격표(V2L 패키지·총중량)</a:t>
            </a:r>
            <a:r>
              <a:rPr lang="en-US" sz="900" dirty="0">
                <a:solidFill>
                  <a:srgbClr val="8A94A3"/>
                </a:solidFill>
              </a:rPr>
              <a:t>  kia.com/content/dam/kwp/kr/ko/vehicles/pdf/price/price_pv5-cargo.pdf</a:t>
            </a:r>
            <a:endParaRPr lang="en-US" sz="900" dirty="0"/>
          </a:p>
          <a:p>
            <a:pPr marL="0" indent="0">
              <a:spcAft>
                <a:spcPts val="150"/>
              </a:spcAft>
              <a:buNone/>
            </a:pPr>
            <a:r>
              <a:rPr lang="en-US" sz="900" dirty="0">
                <a:solidFill>
                  <a:srgbClr val="101828"/>
                </a:solidFill>
              </a:rPr>
              <a:t>25. 현대차그룹, 기아 PV5의 모든 것</a:t>
            </a:r>
            <a:r>
              <a:rPr lang="en-US" sz="900" dirty="0">
                <a:solidFill>
                  <a:srgbClr val="8A94A3"/>
                </a:solidFill>
              </a:rPr>
              <a:t>  hyundaimotorgroup.com/ko/story/CONT0000000000178473</a:t>
            </a:r>
            <a:endParaRPr lang="en-US" sz="900" dirty="0"/>
          </a:p>
          <a:p>
            <a:pPr marL="0" indent="0">
              <a:spcAft>
                <a:spcPts val="150"/>
              </a:spcAft>
              <a:buNone/>
            </a:pPr>
            <a:r>
              <a:rPr lang="en-US" sz="900" dirty="0">
                <a:solidFill>
                  <a:srgbClr val="101828"/>
                </a:solidFill>
              </a:rPr>
              <a:t>26. 뉴스룸(2025.6.9), PV5 계약 개시</a:t>
            </a:r>
            <a:r>
              <a:rPr lang="en-US" sz="900" dirty="0">
                <a:solidFill>
                  <a:srgbClr val="8A94A3"/>
                </a:solidFill>
              </a:rPr>
              <a:t>  hyundaimotorgroup.com/ko/news/CONT0000000000178271</a:t>
            </a:r>
            <a:endParaRPr lang="en-US" sz="900" dirty="0"/>
          </a:p>
          <a:p>
            <a:pPr marL="0" indent="0">
              <a:spcAft>
                <a:spcPts val="150"/>
              </a:spcAft>
              <a:buNone/>
            </a:pPr>
            <a:r>
              <a:rPr lang="en-US" sz="900" dirty="0">
                <a:solidFill>
                  <a:srgbClr val="101828"/>
                </a:solidFill>
              </a:rPr>
              <a:t>27. 뉴스룸(2025.7.23), PV5 테크 데이(회전반경·앱 마켓)</a:t>
            </a:r>
            <a:r>
              <a:rPr lang="en-US" sz="900" dirty="0">
                <a:solidFill>
                  <a:srgbClr val="8A94A3"/>
                </a:solidFill>
              </a:rPr>
              <a:t>  hyundaimotorgroup.com/ko/news/CONT0000000000181628</a:t>
            </a:r>
            <a:endParaRPr lang="en-US" sz="900" dirty="0"/>
          </a:p>
          <a:p>
            <a:pPr marL="0" indent="0">
              <a:spcAft>
                <a:spcPts val="150"/>
              </a:spcAft>
              <a:buNone/>
            </a:pPr>
            <a:r>
              <a:rPr lang="en-US" sz="900" dirty="0">
                <a:solidFill>
                  <a:srgbClr val="101828"/>
                </a:solidFill>
              </a:rPr>
              <a:t>28. 뉴스룸(2026.1.28), 도너모델·PIM 제어기</a:t>
            </a:r>
            <a:r>
              <a:rPr lang="en-US" sz="900" dirty="0">
                <a:solidFill>
                  <a:srgbClr val="8A94A3"/>
                </a:solidFill>
              </a:rPr>
              <a:t>  hyundaimotorgroup.com/ko/news/CONT0000000000201311</a:t>
            </a:r>
            <a:endParaRPr lang="en-US" sz="900" dirty="0"/>
          </a:p>
          <a:p>
            <a:pPr marL="0" indent="0">
              <a:spcAft>
                <a:spcPts val="150"/>
              </a:spcAft>
              <a:buNone/>
            </a:pPr>
            <a:r>
              <a:rPr lang="en-US" sz="900" dirty="0">
                <a:solidFill>
                  <a:srgbClr val="101828"/>
                </a:solidFill>
              </a:rPr>
              <a:t>29. 뉴스룸(2025.11.14), PBV 컨버전 센터</a:t>
            </a:r>
            <a:r>
              <a:rPr lang="en-US" sz="900" dirty="0">
                <a:solidFill>
                  <a:srgbClr val="8A94A3"/>
                </a:solidFill>
              </a:rPr>
              <a:t>  hyundaimotorgroup.com/ko/news/kia-hwaseong-evo-plant-east-completion-west-groundbreaking</a:t>
            </a:r>
            <a:endParaRPr lang="en-US" sz="900" dirty="0"/>
          </a:p>
          <a:p>
            <a:pPr marL="0" indent="0">
              <a:spcAft>
                <a:spcPts val="150"/>
              </a:spcAft>
              <a:buNone/>
            </a:pPr>
            <a:r>
              <a:rPr lang="en-US" sz="900" dirty="0">
                <a:solidFill>
                  <a:srgbClr val="101828"/>
                </a:solidFill>
              </a:rPr>
              <a:t>30. 기아, PBV 컨버전 포털</a:t>
            </a:r>
            <a:r>
              <a:rPr lang="en-US" sz="900" dirty="0">
                <a:solidFill>
                  <a:srgbClr val="8A94A3"/>
                </a:solidFill>
              </a:rPr>
              <a:t>  kia.com/kr/pbv/kia-pbv/conversion_portal</a:t>
            </a:r>
            <a:endParaRPr lang="en-US" sz="900" dirty="0"/>
          </a:p>
          <a:p>
            <a:pPr marL="0" indent="0">
              <a:spcAft>
                <a:spcPts val="150"/>
              </a:spcAft>
              <a:buNone/>
            </a:pPr>
            <a:r>
              <a:rPr lang="en-US" sz="900" dirty="0">
                <a:solidFill>
                  <a:srgbClr val="101828"/>
                </a:solidFill>
              </a:rPr>
              <a:t>31. 기아, PBV 소프트웨어 솔루션</a:t>
            </a:r>
            <a:r>
              <a:rPr lang="en-US" sz="900" dirty="0">
                <a:solidFill>
                  <a:srgbClr val="8A94A3"/>
                </a:solidFill>
              </a:rPr>
              <a:t>  kia.com/kr/pbv/solution/software</a:t>
            </a:r>
            <a:endParaRPr lang="en-US" sz="900" dirty="0"/>
          </a:p>
          <a:p>
            <a:pPr marL="0" indent="0">
              <a:spcAft>
                <a:spcPts val="150"/>
              </a:spcAft>
              <a:buNone/>
            </a:pPr>
            <a:r>
              <a:rPr lang="en-US" sz="900" dirty="0">
                <a:solidFill>
                  <a:srgbClr val="101828"/>
                </a:solidFill>
              </a:rPr>
              <a:t>32. 현대차그룹 개발자 포털 Pleos Playground</a:t>
            </a:r>
            <a:r>
              <a:rPr lang="en-US" sz="900" dirty="0">
                <a:solidFill>
                  <a:srgbClr val="8A94A3"/>
                </a:solidFill>
              </a:rPr>
              <a:t>  pleos.ai/playground</a:t>
            </a:r>
            <a:endParaRPr lang="en-US" sz="900" dirty="0"/>
          </a:p>
          <a:p>
            <a:pPr marL="0" indent="0">
              <a:spcAft>
                <a:spcPts val="100"/>
              </a:spcAft>
              <a:buNone/>
            </a:pPr>
            <a:r>
              <a:rPr lang="en-US" sz="1050" b="1" dirty="0">
                <a:solidFill>
                  <a:srgbClr val="101828"/>
                </a:solidFill>
              </a:rPr>
              <a:t>기술·법규</a:t>
            </a:r>
            <a:endParaRPr lang="en-US" sz="1050" dirty="0"/>
          </a:p>
          <a:p>
            <a:pPr marL="0" indent="0">
              <a:spcAft>
                <a:spcPts val="150"/>
              </a:spcAft>
              <a:buNone/>
            </a:pPr>
            <a:r>
              <a:rPr lang="en-US" sz="900" dirty="0">
                <a:solidFill>
                  <a:srgbClr val="101828"/>
                </a:solidFill>
              </a:rPr>
              <a:t>33. FHWA, GPR 기술 설명</a:t>
            </a:r>
            <a:r>
              <a:rPr lang="en-US" sz="900" dirty="0">
                <a:solidFill>
                  <a:srgbClr val="8A94A3"/>
                </a:solidFill>
              </a:rPr>
              <a:t>  infotechnology.fhwa.dot.gov/gpr-ground-penetrating-radar-utility-general/</a:t>
            </a:r>
            <a:endParaRPr lang="en-US" sz="900" dirty="0"/>
          </a:p>
          <a:p>
            <a:pPr marL="0" indent="0">
              <a:spcAft>
                <a:spcPts val="150"/>
              </a:spcAft>
              <a:buNone/>
            </a:pPr>
            <a:r>
              <a:rPr lang="en-US" sz="900" dirty="0">
                <a:solidFill>
                  <a:srgbClr val="101828"/>
                </a:solidFill>
              </a:rPr>
              <a:t>34. Kang 외(2019), 3D GPR 딥러닝 공동 탐지</a:t>
            </a:r>
            <a:r>
              <a:rPr lang="en-US" sz="900" dirty="0">
                <a:solidFill>
                  <a:srgbClr val="8A94A3"/>
                </a:solidFill>
              </a:rPr>
              <a:t>  researchgate.net/publication/332081634</a:t>
            </a:r>
            <a:endParaRPr lang="en-US" sz="900" dirty="0"/>
          </a:p>
          <a:p>
            <a:pPr marL="0" indent="0">
              <a:spcAft>
                <a:spcPts val="150"/>
              </a:spcAft>
              <a:buNone/>
            </a:pPr>
            <a:r>
              <a:rPr lang="en-US" sz="900" dirty="0">
                <a:solidFill>
                  <a:srgbClr val="101828"/>
                </a:solidFill>
              </a:rPr>
              <a:t>35. KIDD, 한국지질자원연구원 로봇 GPR</a:t>
            </a:r>
            <a:r>
              <a:rPr lang="en-US" sz="900" dirty="0">
                <a:solidFill>
                  <a:srgbClr val="8A94A3"/>
                </a:solidFill>
              </a:rPr>
              <a:t>  kidd.co.kr/news/238718</a:t>
            </a:r>
            <a:endParaRPr lang="en-US" sz="900" dirty="0"/>
          </a:p>
          <a:p>
            <a:pPr marL="0" indent="0">
              <a:spcAft>
                <a:spcPts val="150"/>
              </a:spcAft>
              <a:buNone/>
            </a:pPr>
            <a:r>
              <a:rPr lang="en-US" sz="900" dirty="0">
                <a:solidFill>
                  <a:srgbClr val="101828"/>
                </a:solidFill>
              </a:rPr>
              <a:t>36. OGC MUDDI 지하공간 데이터 표준</a:t>
            </a:r>
            <a:r>
              <a:rPr lang="en-US" sz="900" dirty="0">
                <a:solidFill>
                  <a:srgbClr val="8A94A3"/>
                </a:solidFill>
              </a:rPr>
              <a:t>  ogc.org/standards/muddi/</a:t>
            </a:r>
            <a:endParaRPr lang="en-US" sz="900" dirty="0"/>
          </a:p>
          <a:p>
            <a:pPr marL="0" indent="0">
              <a:spcAft>
                <a:spcPts val="150"/>
              </a:spcAft>
              <a:buNone/>
            </a:pPr>
            <a:r>
              <a:rPr lang="en-US" sz="900" dirty="0">
                <a:solidFill>
                  <a:srgbClr val="101828"/>
                </a:solidFill>
              </a:rPr>
              <a:t>37. 찾기쉬운 생활법령, 자동차 부착 금지 물건(도로교통법 제49조)</a:t>
            </a:r>
            <a:r>
              <a:rPr lang="en-US" sz="900" dirty="0">
                <a:solidFill>
                  <a:srgbClr val="8A94A3"/>
                </a:solidFill>
              </a:rPr>
              <a:t>  easylaw.go.kr</a:t>
            </a:r>
            <a:endParaRPr lang="en-US" sz="900" dirty="0"/>
          </a:p>
          <a:p>
            <a:pPr marL="0" indent="0">
              <a:spcAft>
                <a:spcPts val="100"/>
              </a:spcAft>
              <a:buNone/>
            </a:pPr>
            <a:r>
              <a:rPr lang="en-US" sz="1050" b="1" dirty="0">
                <a:solidFill>
                  <a:srgbClr val="101828"/>
                </a:solidFill>
              </a:rPr>
              <a:t>사진</a:t>
            </a:r>
            <a:endParaRPr lang="en-US" sz="1050" dirty="0"/>
          </a:p>
          <a:p>
            <a:pPr marL="0" indent="0">
              <a:spcAft>
                <a:spcPts val="150"/>
              </a:spcAft>
              <a:buNone/>
            </a:pPr>
            <a:r>
              <a:rPr lang="en-US" sz="900" dirty="0">
                <a:solidFill>
                  <a:srgbClr val="101828"/>
                </a:solidFill>
              </a:rPr>
              <a:t>38. Kia PV5 Cargo IMG 7825(Alexander Migl)</a:t>
            </a:r>
            <a:r>
              <a:rPr lang="en-US" sz="900" dirty="0">
                <a:solidFill>
                  <a:srgbClr val="8A94A3"/>
                </a:solidFill>
              </a:rPr>
              <a:t>  commons.wikimedia.org/wiki/File:Kia_PV5_Cargo_IMG_7825.jpg</a:t>
            </a:r>
            <a:endParaRPr lang="en-US" sz="900" dirty="0"/>
          </a:p>
          <a:p>
            <a:pPr marL="0" indent="0">
              <a:spcAft>
                <a:spcPts val="150"/>
              </a:spcAft>
              <a:buNone/>
            </a:pPr>
            <a:r>
              <a:rPr lang="en-US" sz="900" dirty="0">
                <a:solidFill>
                  <a:srgbClr val="101828"/>
                </a:solidFill>
              </a:rPr>
              <a:t>39. PattayaPatrol, Famartin, Immanuelle 사진: Wikimedia Commons(부록 3)</a:t>
            </a:r>
            <a:endParaRPr lang="en-US" sz="900" dirty="0"/>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5890</Words>
  <Application>Microsoft Macintosh PowerPoint</Application>
  <PresentationFormat>와이드스크린</PresentationFormat>
  <Paragraphs>541</Paragraphs>
  <Slides>27</Slides>
  <Notes>27</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27</vt:i4>
      </vt:variant>
    </vt:vector>
  </HeadingPairs>
  <TitlesOfParts>
    <vt:vector size="30" baseType="lpstr">
      <vt:lpstr>Pretendard</vt:lpstr>
      <vt:lpstr>Arial</vt:lpstr>
      <vt:lpstr>GroundWatch</vt:lpstr>
      <vt:lpstr>PowerPoint 프레젠테이션</vt:lpstr>
      <vt:lpstr>붕괴는 갑자기 보였지만, 원인은 지하에서 쌓이고 있었다</vt:lpstr>
      <vt:lpstr>서울시는 이미 GPR로 도로 아래를 탐사하고 있다</vt:lpstr>
      <vt:lpstr>탐사와 탐사 사이, 지하의 변화는 기록되지 않는다</vt:lpstr>
      <vt:lpstr>같은 길을 반복해서 보고, 달라진 곳만 다시 확인한다</vt:lpstr>
      <vt:lpstr>PV5 GroundWatch</vt:lpstr>
      <vt:lpstr>교통량이 적은 시간에 도로 아래 변화를 기록합니다</vt:lpstr>
      <vt:lpstr>PV5는 센서 운반차가 아니라 이동형 탐사·분석·검증 플랫폼</vt:lpstr>
      <vt:lpstr>실제로 달린 도로만, 위치·깊이·시간으로 기록합니다</vt:lpstr>
      <vt:lpstr>AI는 공동을 확정하지 않고, 달라진 곳의 검토 순서를 정합니다</vt:lpstr>
      <vt:lpstr>전문가가 승인한 지점만 다음 순찰의 재확인 업무가 됩니다</vt:lpstr>
      <vt:lpstr>PV5의 디스플레이가 새벽 순찰의 업무 화면이 된다</vt:lpstr>
      <vt:lpstr>차량 앱과 엣지 게이트웨이가 AR 글래스에 작업정보를 전달한다</vt:lpstr>
      <vt:lpstr>작업자는 고정된 기준점을 인식해 지하 데이터의 위치를 맞춘다</vt:lpstr>
      <vt:lpstr>AR이 표시한 검색 범위를 따라 양손으로 수동 GPR을 조작한다</vt:lpstr>
      <vt:lpstr>넓게 선별하고, 좁게 다른 방향으로 다시 본다</vt:lpstr>
      <vt:lpstr>확인 결과는 지도와 AI로 돌아가 다음 판단을 더 정확하게 만든다</vt:lpstr>
      <vt:lpstr>PV5 GroundWatch</vt:lpstr>
      <vt:lpstr>위험한 곳은 더 자주, 비가 온 뒤에는 바로</vt:lpstr>
      <vt:lpstr>여러 대의 PV5가 권역을 나눠 같은 기준으로 순찰한다</vt:lpstr>
      <vt:lpstr>GPR 변화 신호를 도시의 다른 지하 데이터와 겹쳐 본다</vt:lpstr>
      <vt:lpstr>시간이 쌓이면, 도로 아래가 변하는 모습이 보인다</vt:lpstr>
      <vt:lpstr>PowerPoint 프레젠테이션</vt:lpstr>
      <vt:lpstr>GPR은 만능이 아니다. 깊이, 토질, 금속의 한계를 먼저 밝힌다</vt:lpstr>
      <vt:lpstr>새벽 도로 작업은 사람이 먼저 안전해야 한다</vt:lpstr>
      <vt:lpstr>탐사 용역에서 시작해 연간 관제 계약과 패키지로 넓힌다</vt:lpstr>
      <vt:lpstr>확인된 사실과 검증할 가설을 나눠 관리한다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서호균</cp:lastModifiedBy>
  <cp:revision>1</cp:revision>
  <dcterms:created xsi:type="dcterms:W3CDTF">2026-10-10T13:54:32Z</dcterms:created>
  <dcterms:modified xsi:type="dcterms:W3CDTF">2026-10-10T13:56:20Z</dcterms:modified>
</cp:coreProperties>
</file>