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 GroundWatch, PV5 지하안전 순찰차를 제안합니다. 저희 팀 이름은 한 명이라도 살릴 수 있다면입니다. 같은 길을 반복해서 보고, 구멍이 되기 전의 변화를 찾는 것이 이 제안의 전부입니다. 표지 사진은 실제 PV5 카고 사진을 바탕으로 경광등과 GNSS 안테나를 얹어 편집한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2025년 3월 24일 저녁, 서울 강동구 명일동의 평범한 도로가 불과 1~2분 만에 길이 22m, 폭 18m, 깊이 16m로 무너졌습니다. 오토바이 운전자 한 분이 숨지고 한 분이 다쳤습니다. 붕괴는 갑자기 보였지만 위험은 지하에서 먼저 시작됐습니다. GroundWatch는 이 사고를 막을 수 있었다고 말하지 않습니다. 같은 길을 반복해서 보고 달라진 신호를 한 번이라도 더 일찍 찾으려는 시스템입니다. 오른쪽 사진은 사고 현장이 아닌 일반 야간 도로(PattayaPatrol, CC BY-SA 4.0)입니다. 출처는 국토교통부 땅꺼짐 사고 조사결과 발표(2025.12.3, https://m.korea.kr/briefing/policyBriefingView.do?newsId=156732996)와 최종보고서(https://www.molit.go.kr/USR/policyData/m_34681/dtl.jsp?id=4872)입니다.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도로 붕괴는 물이 고여서 생기는 단순한 현상이 아닙니다. 노후 하수관과 약한 지층이 있고, 누수와 지하수위 변화가 흙을 약하게 만들고, 흙이 쓸려 나간 자리에 공동이 생기며, 차량 하중과 굴착·터널 공사의 영향이 겹칠 때 상부 도로가 내려앉습니다. 명일동 사고조사위원회는 심층풍화대 내부 불연속면이 만든 쐐기형 토체를 직접 원인으로, 터널공사에 따른 지하수위 최대 26m 저하와 노후 하수관의 장기 누수, 강관보강 그라우팅의 지보 성능 한계를 간접 원인으로 밝혔습니다. 이 사고는 깊은 지질구조가 얽힌 사고이고 차량형 GPR은 약 2m 안팎의 얕은 공동을 주로 보기 때문에, 이 사례는 단발성 점검을 반복 관측으로 바꿔야 하는 이유로만 씁니다. 단면도는 원리 설명용 3D 도식입니다.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체계를 갖추고 있습니다. 2015년 국내 처음 차량탑재형 GPR을 도입했고 한 번 지나가며 약 3m 폭을 탐사합니다. 2014년부터 2025년 9월까지 누적 33,129km를 탐사해 공동 7,760개를 찾았고, 2026년에는 16,423km를 탐사하며 GPR 인력을 9명에서 19명으로 늘립니다. 그런데 2024년 연희동 성산로는 5월 7일부터 16일까지 정기 GPR 탐사에서 공동이 발견되지 않았고, 8월 29일 도로가 함몰됐습니다. 탐사의 실패가 아니라 한 시점의 결과는 그 시점만 말해 준다는 뜻입니다. 그래서 GroundWatch는 기존 GPR을 대체하지 않고, 측정과 측정 사이의 시간과 현장 업무를 연결합니다. 출처는 경향신문 2025.10.19(https://www.khan.co.kr/article/202510191122011), 서울시 지반침하 예방체계 강화(https://www.seoul.go.kr/news/news_report.do?nttNo=454742), 서울시 차량탑재형 GPR(https://news.seoul.go.kr/safe/archives/41339), 뉴시스 2024.8.30(https://www.newsis.com/view/NISX20240830_0002869815)입니다.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반복 주행하며 GPR과 카메라 데이터를 함께 모으고, 위치·깊이·시간 기준으로 4D 지도에 저장합니다. AI가 이전 회차와 달라진 곳을 고르면 전문가가 원시 데이터를 보고 승인하고, 승인된 지점만 다음 순찰에서 AR 글래스와 수동 GPR로 다시 확인합니다. 확인과 보수 결과는 다시 지도에 저장돼 다음 순찰과 AI 검증에 쓰입니다. AI는 검토 순서를 정할 뿐 공동을 확정하지 않습니다. B-scan 비교 화면은 설명용 예시입니다.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PV5를 센서를 실어 나르는 차가 아니라 탐사하고, 차 안에서 분석하고, 내려서 재검증하는 이동형 플랫폼으로 씁니다. 화물실 전방에는 Edge Gateway와 엣지 AI 컴퓨터, GPR 제어장치를, 측면에는 수동 GPR과 AR 글래스, RTK 이동국을, 후방에는 내시경과 안전 장비를 둡니다. 롱 카고룸은 2,255×1,565×1,520mm(4,420L), 적재고는 419mm이고, 실내·실외 V2L 220V(최대 3.6kW)를 장비 전원 보조로 씁니다. 하부는 배터리 팩이므로 GPR 안테나는 후방 오버행 하부 장착을 기본안으로 하고 간섭을 시험합니다. 적재중량, 축하중, 전자파 간섭, 구조변경 승인은 실증이 필요합니다. 출처는 기아 PV5 카고 제원(https://www.kia.com/kr/vehicles/pv5-cargo/specification)과 현대차그룹 PV5의 모든 것(https://www.hyundaimotorgroup.com/ko/story/CONT0000000000178473)이며, 사진은 실차 사진(Alexander Migl, CC BY-SA 4.0)을 바탕으로 장비 배치를 편집한 이미지입니다.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 업무는 클라우드, PV5 Patrol 앱, Edge Gateway, AR 글래스, 수동 GPR로 이어집니다. 차량 앱은 업무와 경로를, 게이트웨이는 센서 동기화와 로컬 통신을, AR 글래스는 현장 위치 정합과 탐사 안내를 맡습니다. 이렇게 나누면 차량 API 접근이 일부 막혀도 GPR과 AR 기능 전체가 멈추지 않습니다. AR 글래스는 차량이 정차한 뒤 차 밖의 작업자만 쓰고, 맨홀·차선·경계석·RTK 중 두세 가지로 위치를 맞춘 뒤 공동의 모양이 아니라 수동 GPR로 다시 볼 범위만 표시합니다. PV5는 Android Automotive OS 기반 PBV 전용 인포테인먼트와 Pleos App Market을 지원하며, 앱 배포와 차량 데이터 접근은 기아 PBV 파트너 승인과 공식 API 범위 확인이 필요합니다. 출처는 Kia PBV 소프트웨어(https://eu-www.kia.com/uk/pbv/solutions/software/)이고, 도로 사진은 PattayaPatrol(CC BY-SA 4.0), 화면 수치는 예시입니다.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GPR 공동 탐사, RTK·IMU 위치 보정, 카메라 노면 기록, 엣지 처리, GIS 이력 관리, AAOS 앱 생태계, 산업용 AR은 모두 지금 쓸 수 있는 기술입니다. 반면 EV 구동계와 GPR 사이의 전자파 간섭, 반복 측정 일관성, 적재와 축하중, 실제 소비전력, 회차별 정합 정확도, AI 탐지율과 오탐률, 야간 AR 위치 오차, 앱 배포 절차는 반드시 실증해야 합니다. 핵심은 기술의 존재가 아니라 한 차량에서 반복 가능한 정확도로 연결되는가입니다. GPR 원리와 한계는 FHWA 자료(https://infotechnology.fhwa.dot.gov/gpr-ground-penetrating-radar-utility-general/)를 참고했습니다.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실증은 네 단계로 넓힙니다. 폐쇄 시험장에서 장착 구조와 전력, 전자파 간섭, 통신 누락을 확인하고, 공동 모사체가 있는 통제 구간을 같은 속도와 경로로 반복 측정해 정합 오차와 AI의 신호 구분 능력을 봅니다. 이후 지자체와 조사기업이 고른 실제 위험구간에서 기존 전문 장비, 전문가 판독, 천공 결과와 비교하고, 마지막으로 새벽 순찰 시간과 재확인부터 현장 도착까지 걸린 시간, AR 보정 성공률, 재방문 감소량을 측정합니다. 정량 목표치는 파일럿 설계 때 발주기관과 확정하며 지금은 임의 수치를 제시하지 않습니다.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대의 순찰차로 지하철 공사구간과 노후 하수관 주변 파일럿을 시작해, 자치구 단위 정기 순찰, 여러 대의 PV5가 권역을 나누는 플릿 운영, 하수관·굴착공사·지하수·강우·보수 이력과의 데이터 결합, 계약기관이 쓰는 4D 도시 지하 변화지도로 넓힙니다. 위험도가 높은 구간일수록 순찰 주기를 짧게 잡으며, 지도의 주기는 예시로 발주기관과 합의해 정합니다. 서울시도 명일동 사고 이후 굴착공사장 점검을 연 1회에서 월·주 단위로 강화했습니다. 지하 데이터는 판매하지 않고 계약기관 내부의 접근제어형 관제 서비스로만 제공합니다. 지도 데이터는 OpenStreetMap contributors이며 지하공간 데이터 표준 OGC MUDDI(https://www.ogc.org/standards/muddi/)를 참고합니다.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서울시가 2026년 GPR 탐사를 16,423km로, 전담 인력을 9명에서 19명으로 늘리는 것이 반복 탐사 수요의 근거입니다. 첫 계약은 기존 GPR 조사기관과 공동 수행하고, 가격은 일일 조사거리와 인력, 장비 감가, 분석시간을 확인한 뒤 산정합니다. 출처는 서울시 보도자료(https://www.seoul.go.kr/news/news_report.do?nttNo=454742)입니다.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조사 결과가 시점별 파일로 남고, 변화 구간을 사람이 다시 찾아야 하고, 현장에서 과거 위치를 찾기 어려웠던 문제를 같은 경로의 데이터 누적, AI 후보 선별과 전문가 승인, RTK와 기준점 기반 AR 검색 범위로 바꿉니다. 각 변화는 비교 가능한 도로 비율, 검토시간, 재확인 소요시간, 위치 오차 같은 지표로 확인합니다. GroundWatch의 가치는 지도를 만드는 데서 끝나지 않고, 한 번의 측정을 다음 판단과 현장 행동으로 연결하는 데 있습니다. 한 번의 조기 발견이 한 사람의 무사 귀가가 되도록, PV5 GroundWatch를 제안합니다. 감사합니다.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3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5bc060d85d3377.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c1b44b685cccb8f.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c9c445fbc8c70d4.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07f31730e47894.jpg"/>
  <Relationship Id="rId3" Type="http://schemas.openxmlformats.org/officeDocument/2006/relationships/image" Target="../media/image_2c16b89a98ad91c5.png"/>
  <Relationship Id="rId4" Type="http://schemas.openxmlformats.org/officeDocument/2006/relationships/image" Target="../media/image_0ba21e85bd198504.png"/>
  <Relationship Id="rId5" Type="http://schemas.openxmlformats.org/officeDocument/2006/relationships/image" Target="../media/image_8bda1932b0bc0f52.jpg"/>
  <Relationship Id="rId6" Type="http://schemas.openxmlformats.org/officeDocument/2006/relationships/image" Target="../media/image_0c24997d7a0ba7b3.png"/>
  <Relationship Id="rId7"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c4b58d3333f8db3.jpg"/>
  <Relationship Id="rId3" Type="http://schemas.openxmlformats.org/officeDocument/2006/relationships/image" Target="../media/image_4bbca7e9a76de6a7.jp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b23e77d420d7b90.png"/>
  <Relationship Id="rId3" Type="http://schemas.openxmlformats.org/officeDocument/2006/relationships/image" Target="../media/image_8bda1932b0bc0f52.jp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c24997d7a0ba7b3.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9244a9ee8f3b83d.jpg"/>
  <Relationship Id="rId3"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0" t="26" r="0" b="27"/>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0B1E3C">
                  <a:alpha val="94000"/>
                </a:srgbClr>
              </a:gs>
              <a:gs pos="42000">
                <a:srgbClr val="0B1E3C">
                  <a:alpha val="72000"/>
                </a:srgbClr>
              </a:gs>
              <a:gs pos="70000">
                <a:srgbClr val="0B1E3C">
                  <a:alpha val="0"/>
                </a:srgbClr>
              </a:gs>
            </a:gsLst>
            <a:lin ang="0" scaled="1"/>
          </a:gradFill>
          <a:ln>
            <a:noFill/>
          </a:ln>
        </p:spPr>
      </p:sp>
      <p:grpSp>
        <p:nvGrpSpPr>
          <p:cNvPr id="5" name="cover-date"/>
          <p:cNvGrpSpPr/>
          <p:nvPr/>
        </p:nvGrpSpPr>
        <p:grpSpPr>
          <a:xfrm>
            <a:off x="11182347" y="6477000"/>
            <a:ext cx="557406" cy="191643"/>
            <a:chOff x="11182347" y="6477000"/>
            <a:chExt cx="557406" cy="191643"/>
          </a:xfrm>
        </p:grpSpPr>
        <p:sp>
          <p:nvSpPr>
            <p:cNvPr id="4" name="TextBox 4"/>
            <p:cNvSpPr txBox="1"/>
            <p:nvPr/>
          </p:nvSpPr>
          <p:spPr>
            <a:xfrm>
              <a:off x="11182347" y="6477000"/>
              <a:ext cx="557406" cy="191643"/>
            </a:xfrm>
            <a:prstGeom prst="rect">
              <a:avLst/>
            </a:prstGeom>
            <a:noFill/>
            <a:ln>
              <a:noFill/>
            </a:ln>
          </p:spPr>
          <p:txBody>
            <a:bodyPr wrap="none" lIns="0" tIns="0" rIns="0" bIns="0" anchor="t" anchorCtr="0">
              <a:spAutoFit/>
            </a:bodyPr>
            <a:lstStyle/>
            <a:p>
              <a:pPr algn="r"/>
              <a:r>
                <a:rPr lang="ko-KR" sz="980" dirty="0">
                  <a:solidFill>
                    <a:srgbClr val="C3CCD9"/>
                  </a:solidFill>
                  <a:latin typeface="+mn-lt"/>
                  <a:ea typeface="+mn-ea"/>
                  <a:cs typeface="+mn-cs"/>
                </a:rPr>
                <a:t>2026. 10</a:t>
              </a:r>
            </a:p>
          </p:txBody>
        </p:sp>
      </p:grpSp>
      <p:grpSp>
        <p:nvGrpSpPr>
          <p:cNvPr id="7" name="cover-kicker"/>
          <p:cNvGrpSpPr/>
          <p:nvPr/>
        </p:nvGrpSpPr>
        <p:grpSpPr>
          <a:xfrm>
            <a:off x="603123" y="1924050"/>
            <a:ext cx="2773198" cy="250317"/>
            <a:chOff x="603123" y="1924050"/>
            <a:chExt cx="2773198" cy="250317"/>
          </a:xfrm>
        </p:grpSpPr>
        <p:sp>
          <p:nvSpPr>
            <p:cNvPr id="6" name="TextBox 6"/>
            <p:cNvSpPr txBox="1"/>
            <p:nvPr/>
          </p:nvSpPr>
          <p:spPr>
            <a:xfrm>
              <a:off x="603123" y="1924050"/>
              <a:ext cx="277319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기아 PBV 아이디어 공모전 · 제안서</a:t>
              </a:r>
            </a:p>
          </p:txBody>
        </p:sp>
      </p:grpSp>
      <p:grpSp>
        <p:nvGrpSpPr>
          <p:cNvPr id="10" name="cover-title"/>
          <p:cNvGrpSpPr/>
          <p:nvPr/>
        </p:nvGrpSpPr>
        <p:grpSpPr>
          <a:xfrm>
            <a:off x="590550" y="2254250"/>
            <a:ext cx="3634424" cy="1600200"/>
            <a:chOff x="590550" y="2254250"/>
            <a:chExt cx="3634424" cy="1600200"/>
          </a:xfrm>
        </p:grpSpPr>
        <p:sp>
          <p:nvSpPr>
            <p:cNvPr id="8" name="TextBox 8"/>
            <p:cNvSpPr txBox="1"/>
            <p:nvPr/>
          </p:nvSpPr>
          <p:spPr>
            <a:xfrm>
              <a:off x="590550" y="2254250"/>
              <a:ext cx="1263035" cy="990600"/>
            </a:xfrm>
            <a:prstGeom prst="rect">
              <a:avLst/>
            </a:prstGeom>
            <a:noFill/>
            <a:ln>
              <a:noFill/>
            </a:ln>
          </p:spPr>
          <p:txBody>
            <a:bodyPr wrap="none" lIns="0" tIns="0" rIns="0" bIns="0" anchor="t" anchorCtr="0">
              <a:spAutoFit/>
            </a:bodyPr>
            <a:lstStyle/>
            <a:p>
              <a:pPr algn="l"/>
              <a:r>
                <a:rPr lang="en-US" sz="5100" b="1" spc="-112" dirty="0">
                  <a:solidFill>
                    <a:srgbClr val="FFFFFF"/>
                  </a:solidFill>
                  <a:latin typeface="+mn-lt"/>
                  <a:ea typeface="+mn-ea"/>
                  <a:cs typeface="+mn-cs"/>
                </a:rPr>
                <a:t>PV5</a:t>
              </a:r>
            </a:p>
          </p:txBody>
        </p:sp>
        <p:sp>
          <p:nvSpPr>
            <p:cNvPr id="9" name="TextBox 9"/>
            <p:cNvSpPr txBox="1"/>
            <p:nvPr/>
          </p:nvSpPr>
          <p:spPr>
            <a:xfrm>
              <a:off x="590550" y="3035300"/>
              <a:ext cx="3634424" cy="819150"/>
            </a:xfrm>
            <a:prstGeom prst="rect">
              <a:avLst/>
            </a:prstGeom>
            <a:noFill/>
            <a:ln>
              <a:noFill/>
            </a:ln>
          </p:spPr>
          <p:txBody>
            <a:bodyPr wrap="none" lIns="0" tIns="0" rIns="0" bIns="0" anchor="t" anchorCtr="0">
              <a:spAutoFit/>
            </a:bodyPr>
            <a:lstStyle/>
            <a:p>
              <a:pPr algn="l"/>
              <a:r>
                <a:rPr lang="en-US" sz="4200" b="1" spc="-112" dirty="0">
                  <a:solidFill>
                    <a:srgbClr val="FFFFFF"/>
                  </a:solidFill>
                  <a:latin typeface="+mn-lt"/>
                  <a:ea typeface="+mn-ea"/>
                  <a:cs typeface="+mn-cs"/>
                </a:rPr>
                <a:t>GroundWatch</a:t>
              </a:r>
            </a:p>
          </p:txBody>
        </p:sp>
      </p:grpSp>
      <p:grpSp>
        <p:nvGrpSpPr>
          <p:cNvPr id="12" name="cover-subtitle"/>
          <p:cNvGrpSpPr/>
          <p:nvPr/>
        </p:nvGrpSpPr>
        <p:grpSpPr>
          <a:xfrm>
            <a:off x="598170" y="3797300"/>
            <a:ext cx="2837548" cy="440055"/>
            <a:chOff x="598170" y="3797300"/>
            <a:chExt cx="2837548" cy="440055"/>
          </a:xfrm>
        </p:grpSpPr>
        <p:sp>
          <p:nvSpPr>
            <p:cNvPr id="11" name="TextBox 11"/>
            <p:cNvSpPr txBox="1"/>
            <p:nvPr/>
          </p:nvSpPr>
          <p:spPr>
            <a:xfrm>
              <a:off x="598170" y="3797300"/>
              <a:ext cx="2837548" cy="440055"/>
            </a:xfrm>
            <a:prstGeom prst="rect">
              <a:avLst/>
            </a:prstGeom>
            <a:noFill/>
            <a:ln>
              <a:noFill/>
            </a:ln>
          </p:spPr>
          <p:txBody>
            <a:bodyPr wrap="none" lIns="0" tIns="0" rIns="0" bIns="0" anchor="t" anchorCtr="0">
              <a:spAutoFit/>
            </a:bodyPr>
            <a:lstStyle/>
            <a:p>
              <a:pPr algn="l"/>
              <a:r>
                <a:rPr lang="ko-KR" sz="2250" b="1" spc="-38" dirty="0">
                  <a:solidFill>
                    <a:srgbClr val="D7DEE8"/>
                  </a:solidFill>
                  <a:latin typeface="+mn-lt"/>
                  <a:ea typeface="+mn-ea"/>
                  <a:cs typeface="+mn-cs"/>
                </a:rPr>
                <a:t>PV5 지하안전 순찰차</a:t>
              </a:r>
            </a:p>
          </p:txBody>
        </p:sp>
      </p:grpSp>
      <p:grpSp>
        <p:nvGrpSpPr>
          <p:cNvPr id="15" name="cover-tagline"/>
          <p:cNvGrpSpPr/>
          <p:nvPr/>
        </p:nvGrpSpPr>
        <p:grpSpPr>
          <a:xfrm>
            <a:off x="601599" y="4381500"/>
            <a:ext cx="3176397" cy="785241"/>
            <a:chOff x="601599" y="4381500"/>
            <a:chExt cx="3176397" cy="785241"/>
          </a:xfrm>
        </p:grpSpPr>
        <p:sp>
          <p:nvSpPr>
            <p:cNvPr id="13" name="Rectangle 13"/>
            <p:cNvSpPr/>
            <p:nvPr/>
          </p:nvSpPr>
          <p:spPr>
            <a:xfrm>
              <a:off x="609600" y="4381500"/>
              <a:ext cx="457200" cy="28575"/>
            </a:xfrm>
            <a:prstGeom prst="rect">
              <a:avLst/>
            </a:prstGeom>
            <a:solidFill>
              <a:srgbClr val="F5B700"/>
            </a:solidFill>
            <a:ln>
              <a:noFill/>
            </a:ln>
          </p:spPr>
        </p:sp>
        <p:sp>
          <p:nvSpPr>
            <p:cNvPr id="14" name="TextBox 14"/>
            <p:cNvSpPr txBox="1"/>
            <p:nvPr/>
          </p:nvSpPr>
          <p:spPr>
            <a:xfrm>
              <a:off x="601599" y="4552950"/>
              <a:ext cx="3176397" cy="613791"/>
            </a:xfrm>
            <a:prstGeom prst="rect">
              <a:avLst/>
            </a:prstGeom>
            <a:noFill/>
            <a:ln>
              <a:noFill/>
            </a:ln>
          </p:spPr>
          <p:txBody>
            <a:bodyPr wrap="none" lIns="0" tIns="0" rIns="0" bIns="0" anchor="t" anchorCtr="0">
              <a:spAutoFit/>
            </a:bodyPr>
            <a:lstStyle/>
            <a:p>
              <a:pPr algn="l">
                <a:lnSpc>
                  <a:spcPts val="2400"/>
                </a:lnSpc>
              </a:pPr>
              <a:r>
                <a:rPr lang="ko-KR" sz="1580" dirty="0">
                  <a:solidFill>
                    <a:srgbClr val="C3CCD9"/>
                  </a:solidFill>
                  <a:latin typeface="+mn-lt"/>
                  <a:ea typeface="+mn-ea"/>
                  <a:cs typeface="+mn-cs"/>
                </a:rPr>
                <a:t>같은 길을 반복해서 보고,</a:t>
              </a:r>
              <a:br>
                <a:rPr lang="ko-KR" sz="1580" dirty="0">
                  <a:solidFill>
                    <a:srgbClr val="C3CCD9"/>
                  </a:solidFill>
                  <a:latin typeface="+mn-lt"/>
                  <a:ea typeface="+mn-ea"/>
                  <a:cs typeface="+mn-cs"/>
                </a:rPr>
              </a:br>
              <a:r>
                <a:rPr lang="ko-KR" sz="1580" dirty="0">
                  <a:solidFill>
                    <a:srgbClr val="C3CCD9"/>
                  </a:solidFill>
                  <a:latin typeface="+mn-lt"/>
                  <a:ea typeface="+mn-ea"/>
                  <a:cs typeface="+mn-cs"/>
                </a:rPr>
                <a:t>구멍이 되기 전의 변화를 찾습니다.</a:t>
              </a:r>
            </a:p>
          </p:txBody>
        </p:sp>
      </p:grpSp>
      <p:grpSp>
        <p:nvGrpSpPr>
          <p:cNvPr id="18" name="cover-team"/>
          <p:cNvGrpSpPr/>
          <p:nvPr/>
        </p:nvGrpSpPr>
        <p:grpSpPr>
          <a:xfrm>
            <a:off x="601218" y="5797550"/>
            <a:ext cx="2739992" cy="570357"/>
            <a:chOff x="601218" y="5797550"/>
            <a:chExt cx="2739992" cy="570357"/>
          </a:xfrm>
        </p:grpSpPr>
        <p:sp>
          <p:nvSpPr>
            <p:cNvPr id="16" name="TextBox 16"/>
            <p:cNvSpPr txBox="1"/>
            <p:nvPr/>
          </p:nvSpPr>
          <p:spPr>
            <a:xfrm>
              <a:off x="604266" y="5797550"/>
              <a:ext cx="387035" cy="205359"/>
            </a:xfrm>
            <a:prstGeom prst="rect">
              <a:avLst/>
            </a:prstGeom>
            <a:noFill/>
            <a:ln>
              <a:noFill/>
            </a:ln>
          </p:spPr>
          <p:txBody>
            <a:bodyPr wrap="none" lIns="0" tIns="0" rIns="0" bIns="0" anchor="t" anchorCtr="0">
              <a:spAutoFit/>
            </a:bodyPr>
            <a:lstStyle/>
            <a:p>
              <a:pPr algn="l"/>
              <a:r>
                <a:rPr lang="en-US" sz="1050" b="1" dirty="0">
                  <a:solidFill>
                    <a:srgbClr val="F5B700"/>
                  </a:solidFill>
                  <a:latin typeface="+mn-lt"/>
                  <a:ea typeface="+mn-ea"/>
                  <a:cs typeface="+mn-cs"/>
                </a:rPr>
                <a:t>TEAM</a:t>
              </a:r>
            </a:p>
          </p:txBody>
        </p:sp>
        <p:sp>
          <p:nvSpPr>
            <p:cNvPr id="17" name="TextBox 17"/>
            <p:cNvSpPr txBox="1"/>
            <p:nvPr/>
          </p:nvSpPr>
          <p:spPr>
            <a:xfrm>
              <a:off x="601218" y="6045200"/>
              <a:ext cx="273999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한 명이라도 살릴 수 있다면</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5181600" cy="333375"/>
            <a:chOff x="533400" y="266700"/>
            <a:chExt cx="51816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2p</a:t>
              </a:r>
            </a:p>
          </p:txBody>
        </p:sp>
        <p:sp>
          <p:nvSpPr>
            <p:cNvPr id="6" name="TextBox 6"/>
            <p:cNvSpPr txBox="1"/>
            <p:nvPr/>
          </p:nvSpPr>
          <p:spPr>
            <a:xfrm>
              <a:off x="2356866" y="301625"/>
              <a:ext cx="901179"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현재 문제상황</a:t>
              </a:r>
            </a:p>
          </p:txBody>
        </p:sp>
        <p:sp>
          <p:nvSpPr>
            <p:cNvPr id="7" name="Line 7"/>
            <p:cNvSpPr/>
            <p:nvPr/>
          </p:nvSpPr>
          <p:spPr>
            <a:xfrm>
              <a:off x="533400" y="590550"/>
              <a:ext cx="5181600" cy="9525"/>
            </a:xfrm>
            <a:custGeom>
              <a:avLst/>
              <a:gdLst/>
              <a:ahLst/>
              <a:cxnLst/>
              <a:rect l="l" t="t" r="r" b="b"/>
              <a:pathLst>
                <a:path w="5181600" h="9525">
                  <a:moveTo>
                    <a:pt x="0" y="0"/>
                  </a:moveTo>
                  <a:lnTo>
                    <a:pt x="5181600" y="0"/>
                  </a:lnTo>
                </a:path>
              </a:pathLst>
            </a:custGeom>
            <a:noFill/>
            <a:ln w="9525">
              <a:solidFill>
                <a:srgbClr val="0B1E3C"/>
              </a:solidFill>
            </a:ln>
          </p:spPr>
        </p:sp>
      </p:grpSp>
      <p:grpSp>
        <p:nvGrpSpPr>
          <p:cNvPr id="20" name="incident-map"/>
          <p:cNvGrpSpPr/>
          <p:nvPr/>
        </p:nvGrpSpPr>
        <p:grpSpPr>
          <a:xfrm>
            <a:off x="6096000" y="0"/>
            <a:ext cx="6096000" cy="6858000"/>
            <a:chOff x="6096000" y="0"/>
            <a:chExt cx="6096000" cy="6858000"/>
          </a:xfrm>
        </p:grpSpPr>
        <p:pic>
          <p:nvPicPr>
            <p:cNvPr id="9" name="Image 9"/>
            <p:cNvPicPr>
              <a:picLocks noChangeAspect="1"/>
            </p:cNvPicPr>
            <p:nvPr/>
          </p:nvPicPr>
          <p:blipFill>
            <a:blip r:embed="rId2"/>
            <a:stretch>
              <a:fillRect/>
            </a:stretch>
          </p:blipFill>
          <p:spPr>
            <a:xfrm>
              <a:off x="6096000" y="0"/>
              <a:ext cx="6096000" cy="6858000"/>
            </a:xfrm>
            <a:prstGeom prst="rect">
              <a:avLst/>
            </a:prstGeom>
          </p:spPr>
        </p:pic>
        <p:sp>
          <p:nvSpPr>
            <p:cNvPr id="10" name="Rectangle 10"/>
            <p:cNvSpPr/>
            <p:nvPr/>
          </p:nvSpPr>
          <p:spPr>
            <a:xfrm>
              <a:off x="6096000" y="3619500"/>
              <a:ext cx="6096000" cy="3238500"/>
            </a:xfrm>
            <a:prstGeom prst="rect">
              <a:avLst/>
            </a:prstGeom>
            <a:gradFill>
              <a:gsLst>
                <a:gs pos="0">
                  <a:srgbClr val="05070B">
                    <a:alpha val="0"/>
                  </a:srgbClr>
                </a:gs>
                <a:gs pos="100000">
                  <a:srgbClr val="05070B">
                    <a:alpha val="82000"/>
                  </a:srgbClr>
                </a:gs>
              </a:gsLst>
              <a:lin ang="5400000" scaled="1"/>
            </a:gradFill>
            <a:ln>
              <a:noFill/>
            </a:ln>
          </p:spPr>
        </p:sp>
        <p:sp>
          <p:nvSpPr>
            <p:cNvPr id="11" name="Ellipse 11"/>
            <p:cNvSpPr/>
            <p:nvPr/>
          </p:nvSpPr>
          <p:spPr>
            <a:xfrm>
              <a:off x="9972675" y="3590925"/>
              <a:ext cx="1028700" cy="1028700"/>
            </a:xfrm>
            <a:prstGeom prst="ellipse">
              <a:avLst/>
            </a:prstGeom>
            <a:solidFill>
              <a:srgbClr val="E5484D">
                <a:alpha val="14000"/>
              </a:srgbClr>
            </a:solidFill>
            <a:ln>
              <a:noFill/>
            </a:ln>
          </p:spPr>
        </p:sp>
        <p:sp>
          <p:nvSpPr>
            <p:cNvPr id="12" name="Ellipse 12"/>
            <p:cNvSpPr/>
            <p:nvPr/>
          </p:nvSpPr>
          <p:spPr>
            <a:xfrm>
              <a:off x="10220325" y="3838575"/>
              <a:ext cx="533400" cy="533400"/>
            </a:xfrm>
            <a:prstGeom prst="ellipse">
              <a:avLst/>
            </a:prstGeom>
            <a:solidFill>
              <a:srgbClr val="E5484D">
                <a:alpha val="32000"/>
              </a:srgbClr>
            </a:solidFill>
            <a:ln>
              <a:noFill/>
            </a:ln>
          </p:spPr>
        </p:sp>
        <p:sp>
          <p:nvSpPr>
            <p:cNvPr id="13" name="Ellipse 13"/>
            <p:cNvSpPr/>
            <p:nvPr/>
          </p:nvSpPr>
          <p:spPr>
            <a:xfrm>
              <a:off x="10410825" y="4029075"/>
              <a:ext cx="152400" cy="152400"/>
            </a:xfrm>
            <a:prstGeom prst="ellipse">
              <a:avLst/>
            </a:prstGeom>
            <a:solidFill>
              <a:srgbClr val="FF5A5F"/>
            </a:solidFill>
            <a:ln w="19050">
              <a:solidFill>
                <a:srgbClr val="FFFFFF"/>
              </a:solidFill>
            </a:ln>
          </p:spPr>
        </p:sp>
        <p:sp>
          <p:nvSpPr>
            <p:cNvPr id="14" name="Rectangle 14"/>
            <p:cNvSpPr/>
            <p:nvPr/>
          </p:nvSpPr>
          <p:spPr>
            <a:xfrm>
              <a:off x="8115300" y="3009900"/>
              <a:ext cx="2038350" cy="514350"/>
            </a:xfrm>
            <a:prstGeom prst="roundRect">
              <a:avLst>
                <a:gd name="adj" fmla="val 7407"/>
              </a:avLst>
            </a:prstGeom>
            <a:solidFill>
              <a:srgbClr val="0B1E3C">
                <a:alpha val="90000"/>
              </a:srgbClr>
            </a:solidFill>
            <a:ln>
              <a:noFill/>
            </a:ln>
          </p:spPr>
        </p:sp>
        <p:sp>
          <p:nvSpPr>
            <p:cNvPr id="15" name="TextBox 15"/>
            <p:cNvSpPr txBox="1"/>
            <p:nvPr/>
          </p:nvSpPr>
          <p:spPr>
            <a:xfrm>
              <a:off x="8242935" y="3089275"/>
              <a:ext cx="1588153"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2025. 3. 24 사고 지점</a:t>
              </a:r>
            </a:p>
          </p:txBody>
        </p:sp>
        <p:sp>
          <p:nvSpPr>
            <p:cNvPr id="16" name="TextBox 16"/>
            <p:cNvSpPr txBox="1"/>
            <p:nvPr/>
          </p:nvSpPr>
          <p:spPr>
            <a:xfrm>
              <a:off x="8243697" y="3305175"/>
              <a:ext cx="1711772" cy="191643"/>
            </a:xfrm>
            <a:prstGeom prst="rect">
              <a:avLst/>
            </a:prstGeom>
            <a:noFill/>
            <a:ln>
              <a:noFill/>
            </a:ln>
          </p:spPr>
          <p:txBody>
            <a:bodyPr wrap="none" lIns="0" tIns="0" rIns="0" bIns="0" anchor="t" anchorCtr="0">
              <a:spAutoFit/>
            </a:bodyPr>
            <a:lstStyle/>
            <a:p>
              <a:pPr algn="l"/>
              <a:r>
                <a:rPr lang="ko-KR" sz="980" dirty="0">
                  <a:solidFill>
                    <a:srgbClr val="C9D2E0"/>
                  </a:solidFill>
                  <a:latin typeface="+mn-lt"/>
                  <a:ea typeface="+mn-ea"/>
                  <a:cs typeface="+mn-cs"/>
                </a:rPr>
                <a:t>동남로 대명초교 사거리 인근</a:t>
              </a:r>
            </a:p>
          </p:txBody>
        </p:sp>
        <p:sp>
          <p:nvSpPr>
            <p:cNvPr id="17" name="Line 17"/>
            <p:cNvSpPr/>
            <p:nvPr/>
          </p:nvSpPr>
          <p:spPr>
            <a:xfrm>
              <a:off x="10153650" y="3429000"/>
              <a:ext cx="190500" cy="514350"/>
            </a:xfrm>
            <a:custGeom>
              <a:avLst/>
              <a:gdLst/>
              <a:ahLst/>
              <a:cxnLst/>
              <a:rect l="l" t="t" r="r" b="b"/>
              <a:pathLst>
                <a:path w="190500" h="514350">
                  <a:moveTo>
                    <a:pt x="0" y="0"/>
                  </a:moveTo>
                  <a:lnTo>
                    <a:pt x="190500" y="514350"/>
                  </a:lnTo>
                </a:path>
              </a:pathLst>
            </a:custGeom>
            <a:noFill/>
            <a:ln w="11430">
              <a:solidFill>
                <a:srgbClr val="FFFFFF"/>
              </a:solidFill>
            </a:ln>
          </p:spPr>
        </p:sp>
        <p:sp>
          <p:nvSpPr>
            <p:cNvPr id="18" name="TextBox 18"/>
            <p:cNvSpPr txBox="1"/>
            <p:nvPr/>
          </p:nvSpPr>
          <p:spPr>
            <a:xfrm>
              <a:off x="6465570" y="5149850"/>
              <a:ext cx="4548426" cy="859155"/>
            </a:xfrm>
            <a:prstGeom prst="rect">
              <a:avLst/>
            </a:prstGeom>
            <a:noFill/>
            <a:ln>
              <a:noFill/>
            </a:ln>
          </p:spPr>
          <p:txBody>
            <a:bodyPr wrap="none" lIns="0" tIns="0" rIns="0" bIns="0" anchor="t" anchorCtr="0">
              <a:spAutoFit/>
            </a:bodyPr>
            <a:lstStyle/>
            <a:p>
              <a:pPr algn="l">
                <a:lnSpc>
                  <a:spcPts val="3300"/>
                </a:lnSpc>
              </a:pPr>
              <a:r>
                <a:rPr lang="ko-KR" sz="2250" b="1" dirty="0">
                  <a:solidFill>
                    <a:srgbClr val="FFFFFF"/>
                  </a:solidFill>
                  <a:latin typeface="+mn-lt"/>
                  <a:ea typeface="+mn-ea"/>
                  <a:cs typeface="+mn-cs"/>
                </a:rPr>
                <a:t>평범한 도로가</a:t>
              </a:r>
              <a:br>
                <a:rPr lang="ko-KR" sz="2250" b="1" dirty="0">
                  <a:solidFill>
                    <a:srgbClr val="FFFFFF"/>
                  </a:solidFill>
                  <a:latin typeface="+mn-lt"/>
                  <a:ea typeface="+mn-ea"/>
                  <a:cs typeface="+mn-cs"/>
                </a:rPr>
              </a:br>
              <a:r>
                <a:rPr lang="ko-KR" sz="2250" b="1" dirty="0">
                  <a:solidFill>
                    <a:srgbClr val="FFFFFF"/>
                  </a:solidFill>
                  <a:latin typeface="+mn-lt"/>
                  <a:ea typeface="+mn-ea"/>
                  <a:cs typeface="+mn-cs"/>
                </a:rPr>
                <a:t>한 사람의 마지막 길이 되었습니다.</a:t>
              </a:r>
            </a:p>
          </p:txBody>
        </p:sp>
        <p:sp>
          <p:nvSpPr>
            <p:cNvPr id="19" name="TextBox 19"/>
            <p:cNvSpPr txBox="1"/>
            <p:nvPr/>
          </p:nvSpPr>
          <p:spPr>
            <a:xfrm>
              <a:off x="6472238" y="6400800"/>
              <a:ext cx="5602430" cy="176212"/>
            </a:xfrm>
            <a:prstGeom prst="rect">
              <a:avLst/>
            </a:prstGeom>
            <a:noFill/>
            <a:ln>
              <a:noFill/>
            </a:ln>
          </p:spPr>
          <p:txBody>
            <a:bodyPr wrap="none" lIns="0" tIns="0" rIns="0" bIns="0" anchor="t" anchorCtr="0">
              <a:spAutoFit/>
            </a:bodyPr>
            <a:lstStyle/>
            <a:p>
              <a:pPr algn="l"/>
              <a:r>
                <a:rPr lang="ko-KR" sz="900" dirty="0">
                  <a:solidFill>
                    <a:srgbClr val="AEB6C2"/>
                  </a:solidFill>
                  <a:latin typeface="+mn-lt"/>
                  <a:ea typeface="+mn-ea"/>
                  <a:cs typeface="+mn-cs"/>
                </a:rPr>
                <a:t>서울 강동구 명일동 일대 · 지도 데이터 © OpenStreetMap contributors · 위치는 보도 기준 인근 표시</a:t>
              </a:r>
            </a:p>
          </p:txBody>
        </p:sp>
      </p:grpSp>
      <p:grpSp>
        <p:nvGrpSpPr>
          <p:cNvPr id="22" name="incident-date"/>
          <p:cNvGrpSpPr/>
          <p:nvPr/>
        </p:nvGrpSpPr>
        <p:grpSpPr>
          <a:xfrm>
            <a:off x="526542" y="1282700"/>
            <a:ext cx="2860626" cy="264033"/>
            <a:chOff x="526542" y="1282700"/>
            <a:chExt cx="2860626" cy="264033"/>
          </a:xfrm>
        </p:grpSpPr>
        <p:sp>
          <p:nvSpPr>
            <p:cNvPr id="21" name="TextBox 21"/>
            <p:cNvSpPr txBox="1"/>
            <p:nvPr/>
          </p:nvSpPr>
          <p:spPr>
            <a:xfrm>
              <a:off x="526542" y="1282700"/>
              <a:ext cx="2860626"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2025. 3. 24 · 서울 강동구 명일동</a:t>
              </a:r>
            </a:p>
          </p:txBody>
        </p:sp>
      </p:grpSp>
      <p:grpSp>
        <p:nvGrpSpPr>
          <p:cNvPr id="25" name="title"/>
          <p:cNvGrpSpPr/>
          <p:nvPr/>
        </p:nvGrpSpPr>
        <p:grpSpPr>
          <a:xfrm>
            <a:off x="476250" y="1593850"/>
            <a:ext cx="3744620" cy="1778000"/>
            <a:chOff x="476250" y="1593850"/>
            <a:chExt cx="3744620" cy="1778000"/>
          </a:xfrm>
        </p:grpSpPr>
        <p:sp>
          <p:nvSpPr>
            <p:cNvPr id="23" name="TextBox 23"/>
            <p:cNvSpPr txBox="1"/>
            <p:nvPr/>
          </p:nvSpPr>
          <p:spPr>
            <a:xfrm>
              <a:off x="518160" y="1593850"/>
              <a:ext cx="370271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도로가 무너지기까지</a:t>
              </a:r>
            </a:p>
          </p:txBody>
        </p:sp>
        <p:sp>
          <p:nvSpPr>
            <p:cNvPr id="24" name="TextBox 24"/>
            <p:cNvSpPr txBox="1"/>
            <p:nvPr/>
          </p:nvSpPr>
          <p:spPr>
            <a:xfrm>
              <a:off x="476250" y="1981200"/>
              <a:ext cx="2597460" cy="1390650"/>
            </a:xfrm>
            <a:prstGeom prst="rect">
              <a:avLst/>
            </a:prstGeom>
            <a:noFill/>
            <a:ln>
              <a:noFill/>
            </a:ln>
          </p:spPr>
          <p:txBody>
            <a:bodyPr wrap="none" lIns="0" tIns="0" rIns="0" bIns="0" anchor="t" anchorCtr="0">
              <a:spAutoFit/>
            </a:bodyPr>
            <a:lstStyle/>
            <a:p>
              <a:pPr algn="l"/>
              <a:r>
                <a:rPr lang="ko-KR" sz="7200" b="1" spc="-225" dirty="0">
                  <a:solidFill>
                    <a:srgbClr val="C62828"/>
                  </a:solidFill>
                  <a:latin typeface="+mn-lt"/>
                  <a:ea typeface="+mn-ea"/>
                  <a:cs typeface="+mn-cs"/>
                </a:rPr>
                <a:t>1~2분</a:t>
              </a:r>
            </a:p>
          </p:txBody>
        </p:sp>
      </p:grpSp>
      <p:grpSp>
        <p:nvGrpSpPr>
          <p:cNvPr id="29" name="fact-size"/>
          <p:cNvGrpSpPr/>
          <p:nvPr/>
        </p:nvGrpSpPr>
        <p:grpSpPr>
          <a:xfrm>
            <a:off x="519684" y="3295650"/>
            <a:ext cx="5201793" cy="616966"/>
            <a:chOff x="519684" y="3295650"/>
            <a:chExt cx="5201793" cy="616966"/>
          </a:xfrm>
        </p:grpSpPr>
        <p:sp>
          <p:nvSpPr>
            <p:cNvPr id="26" name="Line 26"/>
            <p:cNvSpPr/>
            <p:nvPr/>
          </p:nvSpPr>
          <p:spPr>
            <a:xfrm>
              <a:off x="533400" y="329565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27" name="TextBox 27"/>
            <p:cNvSpPr txBox="1"/>
            <p:nvPr/>
          </p:nvSpPr>
          <p:spPr>
            <a:xfrm>
              <a:off x="519684" y="3384550"/>
              <a:ext cx="1878423"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mn-lt"/>
                  <a:ea typeface="+mn-ea"/>
                  <a:cs typeface="+mn-cs"/>
                </a:rPr>
                <a:t>22m × 18m</a:t>
              </a:r>
            </a:p>
          </p:txBody>
        </p:sp>
        <p:sp>
          <p:nvSpPr>
            <p:cNvPr id="28" name="TextBox 28"/>
            <p:cNvSpPr txBox="1"/>
            <p:nvPr/>
          </p:nvSpPr>
          <p:spPr>
            <a:xfrm>
              <a:off x="4011234" y="3543300"/>
              <a:ext cx="1710243" cy="250317"/>
            </a:xfrm>
            <a:prstGeom prst="rect">
              <a:avLst/>
            </a:prstGeom>
            <a:noFill/>
            <a:ln>
              <a:noFill/>
            </a:ln>
          </p:spPr>
          <p:txBody>
            <a:bodyPr wrap="none" lIns="0" tIns="0" rIns="0" bIns="0" anchor="t" anchorCtr="0">
              <a:spAutoFit/>
            </a:bodyPr>
            <a:lstStyle/>
            <a:p>
              <a:pPr algn="r"/>
              <a:r>
                <a:rPr lang="ko-KR" sz="1280" dirty="0">
                  <a:solidFill>
                    <a:srgbClr val="4B5563"/>
                  </a:solidFill>
                  <a:latin typeface="+mn-lt"/>
                  <a:ea typeface="+mn-ea"/>
                  <a:cs typeface="+mn-cs"/>
                </a:rPr>
                <a:t>붕괴 규모 (길이 × 폭)</a:t>
              </a:r>
            </a:p>
          </p:txBody>
        </p:sp>
      </p:grpSp>
      <p:grpSp>
        <p:nvGrpSpPr>
          <p:cNvPr id="33" name="fact-depth"/>
          <p:cNvGrpSpPr/>
          <p:nvPr/>
        </p:nvGrpSpPr>
        <p:grpSpPr>
          <a:xfrm>
            <a:off x="519684" y="3962400"/>
            <a:ext cx="5201793" cy="616966"/>
            <a:chOff x="519684" y="3962400"/>
            <a:chExt cx="5201793" cy="616966"/>
          </a:xfrm>
        </p:grpSpPr>
        <p:sp>
          <p:nvSpPr>
            <p:cNvPr id="30" name="Line 30"/>
            <p:cNvSpPr/>
            <p:nvPr/>
          </p:nvSpPr>
          <p:spPr>
            <a:xfrm>
              <a:off x="533400" y="396240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31" name="TextBox 31"/>
            <p:cNvSpPr txBox="1"/>
            <p:nvPr/>
          </p:nvSpPr>
          <p:spPr>
            <a:xfrm>
              <a:off x="519684" y="4051300"/>
              <a:ext cx="733480"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mn-lt"/>
                  <a:ea typeface="+mn-ea"/>
                  <a:cs typeface="+mn-cs"/>
                </a:rPr>
                <a:t>16m</a:t>
              </a:r>
            </a:p>
          </p:txBody>
        </p:sp>
        <p:sp>
          <p:nvSpPr>
            <p:cNvPr id="32" name="TextBox 32"/>
            <p:cNvSpPr txBox="1"/>
            <p:nvPr/>
          </p:nvSpPr>
          <p:spPr>
            <a:xfrm>
              <a:off x="5363896" y="4197350"/>
              <a:ext cx="357581" cy="250317"/>
            </a:xfrm>
            <a:prstGeom prst="rect">
              <a:avLst/>
            </a:prstGeom>
            <a:noFill/>
            <a:ln>
              <a:noFill/>
            </a:ln>
          </p:spPr>
          <p:txBody>
            <a:bodyPr wrap="none" lIns="0" tIns="0" rIns="0" bIns="0" anchor="t" anchorCtr="0">
              <a:spAutoFit/>
            </a:bodyPr>
            <a:lstStyle/>
            <a:p>
              <a:pPr algn="r"/>
              <a:r>
                <a:rPr lang="ko-KR" sz="1280" dirty="0">
                  <a:solidFill>
                    <a:srgbClr val="4B5563"/>
                  </a:solidFill>
                  <a:latin typeface="+mn-lt"/>
                  <a:ea typeface="+mn-ea"/>
                  <a:cs typeface="+mn-cs"/>
                </a:rPr>
                <a:t>깊이</a:t>
              </a:r>
            </a:p>
          </p:txBody>
        </p:sp>
      </p:grpSp>
      <p:grpSp>
        <p:nvGrpSpPr>
          <p:cNvPr id="38" name="fact-casualty"/>
          <p:cNvGrpSpPr/>
          <p:nvPr/>
        </p:nvGrpSpPr>
        <p:grpSpPr>
          <a:xfrm>
            <a:off x="519684" y="4629150"/>
            <a:ext cx="5201793" cy="616966"/>
            <a:chOff x="519684" y="4629150"/>
            <a:chExt cx="5201793" cy="616966"/>
          </a:xfrm>
        </p:grpSpPr>
        <p:sp>
          <p:nvSpPr>
            <p:cNvPr id="34" name="Line 34"/>
            <p:cNvSpPr/>
            <p:nvPr/>
          </p:nvSpPr>
          <p:spPr>
            <a:xfrm>
              <a:off x="533400" y="462915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35" name="TextBox 35"/>
            <p:cNvSpPr txBox="1"/>
            <p:nvPr/>
          </p:nvSpPr>
          <p:spPr>
            <a:xfrm>
              <a:off x="519684" y="4718050"/>
              <a:ext cx="2569024" cy="528066"/>
            </a:xfrm>
            <a:prstGeom prst="rect">
              <a:avLst/>
            </a:prstGeom>
            <a:noFill/>
            <a:ln>
              <a:noFill/>
            </a:ln>
          </p:spPr>
          <p:txBody>
            <a:bodyPr wrap="none" lIns="0" tIns="0" rIns="0" bIns="0" anchor="t" anchorCtr="0">
              <a:spAutoFit/>
            </a:bodyPr>
            <a:lstStyle/>
            <a:p>
              <a:pPr algn="l"/>
              <a:r>
                <a:rPr lang="ko-KR" sz="2700" b="1" dirty="0">
                  <a:solidFill>
                    <a:srgbClr val="111827"/>
                  </a:solidFill>
                  <a:latin typeface="+mn-lt"/>
                  <a:ea typeface="+mn-ea"/>
                  <a:cs typeface="+mn-cs"/>
                </a:rPr>
                <a:t>사망 1 · 부상 1</a:t>
              </a:r>
            </a:p>
          </p:txBody>
        </p:sp>
        <p:sp>
          <p:nvSpPr>
            <p:cNvPr id="36" name="TextBox 36"/>
            <p:cNvSpPr txBox="1"/>
            <p:nvPr/>
          </p:nvSpPr>
          <p:spPr>
            <a:xfrm>
              <a:off x="4967575" y="4876800"/>
              <a:ext cx="753902" cy="250317"/>
            </a:xfrm>
            <a:prstGeom prst="rect">
              <a:avLst/>
            </a:prstGeom>
            <a:noFill/>
            <a:ln>
              <a:noFill/>
            </a:ln>
          </p:spPr>
          <p:txBody>
            <a:bodyPr wrap="none" lIns="0" tIns="0" rIns="0" bIns="0" anchor="t" anchorCtr="0">
              <a:spAutoFit/>
            </a:bodyPr>
            <a:lstStyle/>
            <a:p>
              <a:pPr algn="r"/>
              <a:r>
                <a:rPr lang="ko-KR" sz="1280" dirty="0">
                  <a:solidFill>
                    <a:srgbClr val="4B5563"/>
                  </a:solidFill>
                  <a:latin typeface="+mn-lt"/>
                  <a:ea typeface="+mn-ea"/>
                  <a:cs typeface="+mn-cs"/>
                </a:rPr>
                <a:t>인명 피해</a:t>
              </a:r>
            </a:p>
          </p:txBody>
        </p:sp>
        <p:sp>
          <p:nvSpPr>
            <p:cNvPr id="37" name="Line 37"/>
            <p:cNvSpPr/>
            <p:nvPr/>
          </p:nvSpPr>
          <p:spPr>
            <a:xfrm>
              <a:off x="533400" y="5200650"/>
              <a:ext cx="5181600" cy="9525"/>
            </a:xfrm>
            <a:custGeom>
              <a:avLst/>
              <a:gdLst/>
              <a:ahLst/>
              <a:cxnLst/>
              <a:rect l="l" t="t" r="r" b="b"/>
              <a:pathLst>
                <a:path w="5181600" h="9525">
                  <a:moveTo>
                    <a:pt x="0" y="0"/>
                  </a:moveTo>
                  <a:lnTo>
                    <a:pt x="5181600" y="0"/>
                  </a:lnTo>
                </a:path>
              </a:pathLst>
            </a:custGeom>
            <a:noFill/>
            <a:ln w="9525">
              <a:solidFill>
                <a:srgbClr val="D5DAE1"/>
              </a:solidFill>
            </a:ln>
          </p:spPr>
        </p:sp>
      </p:grpSp>
      <p:grpSp>
        <p:nvGrpSpPr>
          <p:cNvPr id="41" name="bridge-line"/>
          <p:cNvGrpSpPr/>
          <p:nvPr/>
        </p:nvGrpSpPr>
        <p:grpSpPr>
          <a:xfrm>
            <a:off x="533400" y="5441950"/>
            <a:ext cx="3345656" cy="579120"/>
            <a:chOff x="533400" y="5441950"/>
            <a:chExt cx="3345656" cy="579120"/>
          </a:xfrm>
        </p:grpSpPr>
        <p:sp>
          <p:nvSpPr>
            <p:cNvPr id="39" name="Rectangle 39"/>
            <p:cNvSpPr/>
            <p:nvPr/>
          </p:nvSpPr>
          <p:spPr>
            <a:xfrm>
              <a:off x="533400" y="5448300"/>
              <a:ext cx="38100" cy="552450"/>
            </a:xfrm>
            <a:prstGeom prst="rect">
              <a:avLst/>
            </a:prstGeom>
            <a:solidFill>
              <a:srgbClr val="F5B700"/>
            </a:solidFill>
            <a:ln>
              <a:noFill/>
            </a:ln>
          </p:spPr>
        </p:sp>
        <p:sp>
          <p:nvSpPr>
            <p:cNvPr id="40" name="TextBox 40"/>
            <p:cNvSpPr txBox="1"/>
            <p:nvPr/>
          </p:nvSpPr>
          <p:spPr>
            <a:xfrm>
              <a:off x="716280" y="5441950"/>
              <a:ext cx="3162776" cy="579120"/>
            </a:xfrm>
            <a:prstGeom prst="rect">
              <a:avLst/>
            </a:prstGeom>
            <a:noFill/>
            <a:ln>
              <a:noFill/>
            </a:ln>
          </p:spPr>
          <p:txBody>
            <a:bodyPr wrap="none" lIns="0" tIns="0" rIns="0" bIns="0" anchor="t" anchorCtr="0">
              <a:spAutoFit/>
            </a:bodyPr>
            <a:lstStyle/>
            <a:p>
              <a:pPr algn="l">
                <a:lnSpc>
                  <a:spcPts val="2250"/>
                </a:lnSpc>
              </a:pPr>
              <a:r>
                <a:rPr lang="ko-KR" sz="1500" b="1" dirty="0">
                  <a:solidFill>
                    <a:srgbClr val="0B1E3C"/>
                  </a:solidFill>
                  <a:latin typeface="+mn-lt"/>
                  <a:ea typeface="+mn-ea"/>
                  <a:cs typeface="+mn-cs"/>
                </a:rPr>
                <a:t>붕괴는 갑자기 보였지만,</a:t>
              </a:r>
              <a:br>
                <a:rPr lang="ko-KR" sz="1500" b="1" dirty="0">
                  <a:solidFill>
                    <a:srgbClr val="0B1E3C"/>
                  </a:solidFill>
                  <a:latin typeface="+mn-lt"/>
                  <a:ea typeface="+mn-ea"/>
                  <a:cs typeface="+mn-cs"/>
                </a:rPr>
              </a:br>
              <a:r>
                <a:rPr lang="ko-KR" sz="1500" b="1" dirty="0">
                  <a:solidFill>
                    <a:srgbClr val="0B1E3C"/>
                  </a:solidFill>
                  <a:latin typeface="+mn-lt"/>
                  <a:ea typeface="+mn-ea"/>
                  <a:cs typeface="+mn-cs"/>
                </a:rPr>
                <a:t>위험은 지하에서 먼저 시작됐습니다.</a:t>
              </a:r>
            </a:p>
          </p:txBody>
        </p:sp>
      </p:grpSp>
      <p:grpSp>
        <p:nvGrpSpPr>
          <p:cNvPr id="43" name="source"/>
          <p:cNvGrpSpPr/>
          <p:nvPr/>
        </p:nvGrpSpPr>
        <p:grpSpPr>
          <a:xfrm>
            <a:off x="528638" y="6305550"/>
            <a:ext cx="5043640" cy="176212"/>
            <a:chOff x="528638" y="6305550"/>
            <a:chExt cx="5043640" cy="176212"/>
          </a:xfrm>
        </p:grpSpPr>
        <p:sp>
          <p:nvSpPr>
            <p:cNvPr id="42" name="TextBox 42"/>
            <p:cNvSpPr txBox="1"/>
            <p:nvPr/>
          </p:nvSpPr>
          <p:spPr>
            <a:xfrm>
              <a:off x="528638" y="6305550"/>
              <a:ext cx="5043640"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출처: 국토교통부 「땅꺼짐 사고 조사결과 발표」(2025.12.3), 명일동 사고조사 최종보고서</a:t>
              </a:r>
            </a:p>
          </p:txBody>
        </p:sp>
      </p:grpSp>
      <p:grpSp>
        <p:nvGrpSpPr>
          <p:cNvPr id="46" name="footer"/>
          <p:cNvGrpSpPr/>
          <p:nvPr/>
        </p:nvGrpSpPr>
        <p:grpSpPr>
          <a:xfrm>
            <a:off x="528638" y="6610350"/>
            <a:ext cx="5191124" cy="176212"/>
            <a:chOff x="528638" y="6610350"/>
            <a:chExt cx="5191124" cy="176212"/>
          </a:xfrm>
        </p:grpSpPr>
        <p:sp>
          <p:nvSpPr>
            <p:cNvPr id="44" name="TextBox 44"/>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45" name="TextBox 45"/>
            <p:cNvSpPr txBox="1"/>
            <p:nvPr/>
          </p:nvSpPr>
          <p:spPr>
            <a:xfrm>
              <a:off x="53043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02 / 12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1C2B47"/>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95300" cy="228600"/>
            </a:xfrm>
            <a:prstGeom prst="rect">
              <a:avLst/>
            </a:prstGeom>
            <a:solidFill>
              <a:srgbClr val="F5B700"/>
            </a:solidFill>
            <a:ln>
              <a:noFill/>
            </a:ln>
          </p:spPr>
        </p:sp>
        <p:sp>
          <p:nvSpPr>
            <p:cNvPr id="5" name="TextBox 5"/>
            <p:cNvSpPr txBox="1"/>
            <p:nvPr/>
          </p:nvSpPr>
          <p:spPr>
            <a:xfrm>
              <a:off x="1957221" y="314325"/>
              <a:ext cx="314659"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2p-2</a:t>
              </a:r>
            </a:p>
          </p:txBody>
        </p:sp>
        <p:sp>
          <p:nvSpPr>
            <p:cNvPr id="6" name="TextBox 6"/>
            <p:cNvSpPr txBox="1"/>
            <p:nvPr/>
          </p:nvSpPr>
          <p:spPr>
            <a:xfrm>
              <a:off x="2471166" y="301625"/>
              <a:ext cx="1367638" cy="205359"/>
            </a:xfrm>
            <a:prstGeom prst="rect">
              <a:avLst/>
            </a:prstGeom>
            <a:noFill/>
            <a:ln>
              <a:noFill/>
            </a:ln>
          </p:spPr>
          <p:txBody>
            <a:bodyPr wrap="none" lIns="0" tIns="0" rIns="0" bIns="0" anchor="t" anchorCtr="0">
              <a:spAutoFit/>
            </a:bodyPr>
            <a:lstStyle/>
            <a:p>
              <a:pPr algn="l"/>
              <a:r>
                <a:rPr lang="ko-KR" sz="1050" dirty="0">
                  <a:solidFill>
                    <a:srgbClr val="AEB6C2"/>
                  </a:solidFill>
                  <a:latin typeface="+mn-lt"/>
                  <a:ea typeface="+mn-ea"/>
                  <a:cs typeface="+mn-cs"/>
                </a:rPr>
                <a:t>사고가 발생하는 과정</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3A4558"/>
              </a:solidFill>
            </a:ln>
          </p:spPr>
        </p:sp>
      </p:grpSp>
      <p:grpSp>
        <p:nvGrpSpPr>
          <p:cNvPr id="10" name="title"/>
          <p:cNvGrpSpPr/>
          <p:nvPr/>
        </p:nvGrpSpPr>
        <p:grpSpPr>
          <a:xfrm>
            <a:off x="518160" y="774700"/>
            <a:ext cx="8625421" cy="586740"/>
            <a:chOff x="518160" y="774700"/>
            <a:chExt cx="8625421" cy="586740"/>
          </a:xfrm>
        </p:grpSpPr>
        <p:sp>
          <p:nvSpPr>
            <p:cNvPr id="9" name="TextBox 9"/>
            <p:cNvSpPr txBox="1"/>
            <p:nvPr/>
          </p:nvSpPr>
          <p:spPr>
            <a:xfrm>
              <a:off x="518160" y="774700"/>
              <a:ext cx="8625421" cy="586740"/>
            </a:xfrm>
            <a:prstGeom prst="rect">
              <a:avLst/>
            </a:prstGeom>
            <a:noFill/>
            <a:ln>
              <a:noFill/>
            </a:ln>
          </p:spPr>
          <p:txBody>
            <a:bodyPr wrap="none" lIns="0" tIns="0" rIns="0" bIns="0" anchor="t" anchorCtr="0">
              <a:spAutoFit/>
            </a:bodyPr>
            <a:lstStyle/>
            <a:p>
              <a:pPr algn="l"/>
              <a:r>
                <a:rPr lang="ko-KR" sz="3000" b="1" spc="-75" dirty="0">
                  <a:solidFill>
                    <a:srgbClr val="FFFFFF"/>
                  </a:solidFill>
                  <a:latin typeface="+mn-lt"/>
                  <a:ea typeface="+mn-ea"/>
                  <a:cs typeface="+mn-cs"/>
                </a:rPr>
                <a:t>보이지 않는 변화가 겹치며 도로 붕괴로 이어진다</a:t>
              </a:r>
            </a:p>
          </p:txBody>
        </p:sp>
      </p:grpSp>
      <p:grpSp>
        <p:nvGrpSpPr>
          <p:cNvPr id="33" name="section-figure"/>
          <p:cNvGrpSpPr/>
          <p:nvPr/>
        </p:nvGrpSpPr>
        <p:grpSpPr>
          <a:xfrm>
            <a:off x="381000" y="1371600"/>
            <a:ext cx="6286500" cy="4029075"/>
            <a:chOff x="381000" y="1371600"/>
            <a:chExt cx="6286500" cy="4029075"/>
          </a:xfrm>
        </p:grpSpPr>
        <p:pic>
          <p:nvPicPr>
            <p:cNvPr id="11" name="Image 11"/>
            <p:cNvPicPr>
              <a:picLocks noChangeAspect="1"/>
            </p:cNvPicPr>
            <p:nvPr/>
          </p:nvPicPr>
          <p:blipFill>
            <a:blip r:embed="rId2"/>
            <a:stretch>
              <a:fillRect/>
            </a:stretch>
          </p:blipFill>
          <p:spPr>
            <a:xfrm>
              <a:off x="381000" y="1371600"/>
              <a:ext cx="6286500" cy="4029075"/>
            </a:xfrm>
            <a:prstGeom prst="rect">
              <a:avLst/>
            </a:prstGeom>
          </p:spPr>
        </p:pic>
        <p:grpSp>
          <p:nvGrpSpPr>
            <p:cNvPr id="32" name="Group 32"/>
            <p:cNvGrpSpPr/>
            <p:nvPr/>
          </p:nvGrpSpPr>
          <p:grpSpPr>
            <a:xfrm>
              <a:off x="771525" y="2181225"/>
              <a:ext cx="4017006" cy="2314575"/>
              <a:chOff x="771525" y="2181225"/>
              <a:chExt cx="4017006" cy="2314575"/>
            </a:xfrm>
          </p:grpSpPr>
          <p:sp>
            <p:nvSpPr>
              <p:cNvPr id="12" name="Ellipse 12"/>
              <p:cNvSpPr/>
              <p:nvPr/>
            </p:nvSpPr>
            <p:spPr>
              <a:xfrm>
                <a:off x="2886075" y="2181225"/>
                <a:ext cx="285750" cy="285750"/>
              </a:xfrm>
              <a:prstGeom prst="ellipse">
                <a:avLst/>
              </a:prstGeom>
              <a:solidFill>
                <a:srgbClr val="F5B700"/>
              </a:solidFill>
              <a:ln>
                <a:noFill/>
              </a:ln>
            </p:spPr>
          </p:sp>
          <p:sp>
            <p:nvSpPr>
              <p:cNvPr id="13" name="TextBox 13"/>
              <p:cNvSpPr txBox="1"/>
              <p:nvPr/>
            </p:nvSpPr>
            <p:spPr>
              <a:xfrm>
                <a:off x="2979699" y="22415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5</a:t>
                </a:r>
              </a:p>
            </p:txBody>
          </p:sp>
          <p:sp>
            <p:nvSpPr>
              <p:cNvPr id="14" name="Rectangle 14"/>
              <p:cNvSpPr/>
              <p:nvPr/>
            </p:nvSpPr>
            <p:spPr>
              <a:xfrm>
                <a:off x="3238500" y="2209800"/>
                <a:ext cx="742950" cy="228600"/>
              </a:xfrm>
              <a:prstGeom prst="roundRect">
                <a:avLst>
                  <a:gd name="adj" fmla="val 16667"/>
                </a:avLst>
              </a:prstGeom>
              <a:solidFill>
                <a:srgbClr val="000000">
                  <a:alpha val="62000"/>
                </a:srgbClr>
              </a:solidFill>
              <a:ln>
                <a:noFill/>
              </a:ln>
            </p:spPr>
          </p:sp>
          <p:sp>
            <p:nvSpPr>
              <p:cNvPr id="15" name="TextBox 15"/>
              <p:cNvSpPr txBox="1"/>
              <p:nvPr/>
            </p:nvSpPr>
            <p:spPr>
              <a:xfrm>
                <a:off x="3328035" y="22415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도로 침하</a:t>
                </a:r>
              </a:p>
            </p:txBody>
          </p:sp>
          <p:sp>
            <p:nvSpPr>
              <p:cNvPr id="16" name="Ellipse 16"/>
              <p:cNvSpPr/>
              <p:nvPr/>
            </p:nvSpPr>
            <p:spPr>
              <a:xfrm>
                <a:off x="2886075" y="2771775"/>
                <a:ext cx="285750" cy="285750"/>
              </a:xfrm>
              <a:prstGeom prst="ellipse">
                <a:avLst/>
              </a:prstGeom>
              <a:solidFill>
                <a:srgbClr val="F5B700"/>
              </a:solidFill>
              <a:ln>
                <a:noFill/>
              </a:ln>
            </p:spPr>
          </p:sp>
          <p:sp>
            <p:nvSpPr>
              <p:cNvPr id="17" name="TextBox 17"/>
              <p:cNvSpPr txBox="1"/>
              <p:nvPr/>
            </p:nvSpPr>
            <p:spPr>
              <a:xfrm>
                <a:off x="2979699" y="283210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3</a:t>
                </a:r>
              </a:p>
            </p:txBody>
          </p:sp>
          <p:sp>
            <p:nvSpPr>
              <p:cNvPr id="18" name="Rectangle 18"/>
              <p:cNvSpPr/>
              <p:nvPr/>
            </p:nvSpPr>
            <p:spPr>
              <a:xfrm>
                <a:off x="2152650" y="2800350"/>
                <a:ext cx="704850" cy="228600"/>
              </a:xfrm>
              <a:prstGeom prst="roundRect">
                <a:avLst>
                  <a:gd name="adj" fmla="val 16667"/>
                </a:avLst>
              </a:prstGeom>
              <a:solidFill>
                <a:srgbClr val="000000">
                  <a:alpha val="62000"/>
                </a:srgbClr>
              </a:solidFill>
              <a:ln>
                <a:noFill/>
              </a:ln>
            </p:spPr>
          </p:sp>
          <p:sp>
            <p:nvSpPr>
              <p:cNvPr id="19" name="TextBox 19"/>
              <p:cNvSpPr txBox="1"/>
              <p:nvPr/>
            </p:nvSpPr>
            <p:spPr>
              <a:xfrm>
                <a:off x="2242185" y="283210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공동 형성</a:t>
                </a:r>
              </a:p>
            </p:txBody>
          </p:sp>
          <p:sp>
            <p:nvSpPr>
              <p:cNvPr id="20" name="Ellipse 20"/>
              <p:cNvSpPr/>
              <p:nvPr/>
            </p:nvSpPr>
            <p:spPr>
              <a:xfrm>
                <a:off x="3524250" y="3305175"/>
                <a:ext cx="285750" cy="285750"/>
              </a:xfrm>
              <a:prstGeom prst="ellipse">
                <a:avLst/>
              </a:prstGeom>
              <a:solidFill>
                <a:srgbClr val="F5B700"/>
              </a:solidFill>
              <a:ln>
                <a:noFill/>
              </a:ln>
            </p:spPr>
          </p:sp>
          <p:sp>
            <p:nvSpPr>
              <p:cNvPr id="21" name="TextBox 21"/>
              <p:cNvSpPr txBox="1"/>
              <p:nvPr/>
            </p:nvSpPr>
            <p:spPr>
              <a:xfrm>
                <a:off x="3617874" y="336550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1</a:t>
                </a:r>
              </a:p>
            </p:txBody>
          </p:sp>
          <p:sp>
            <p:nvSpPr>
              <p:cNvPr id="22" name="Rectangle 22"/>
              <p:cNvSpPr/>
              <p:nvPr/>
            </p:nvSpPr>
            <p:spPr>
              <a:xfrm>
                <a:off x="3886200" y="3333750"/>
                <a:ext cx="895350" cy="228600"/>
              </a:xfrm>
              <a:prstGeom prst="roundRect">
                <a:avLst>
                  <a:gd name="adj" fmla="val 16667"/>
                </a:avLst>
              </a:prstGeom>
              <a:solidFill>
                <a:srgbClr val="000000">
                  <a:alpha val="62000"/>
                </a:srgbClr>
              </a:solidFill>
              <a:ln>
                <a:noFill/>
              </a:ln>
            </p:spPr>
          </p:sp>
          <p:sp>
            <p:nvSpPr>
              <p:cNvPr id="23" name="TextBox 23"/>
              <p:cNvSpPr txBox="1"/>
              <p:nvPr/>
            </p:nvSpPr>
            <p:spPr>
              <a:xfrm>
                <a:off x="3975735" y="3365500"/>
                <a:ext cx="812796"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노후 하수관</a:t>
                </a:r>
              </a:p>
            </p:txBody>
          </p:sp>
          <p:sp>
            <p:nvSpPr>
              <p:cNvPr id="24" name="Ellipse 24"/>
              <p:cNvSpPr/>
              <p:nvPr/>
            </p:nvSpPr>
            <p:spPr>
              <a:xfrm>
                <a:off x="771525" y="3667125"/>
                <a:ext cx="285750" cy="285750"/>
              </a:xfrm>
              <a:prstGeom prst="ellipse">
                <a:avLst/>
              </a:prstGeom>
              <a:solidFill>
                <a:srgbClr val="F5B700"/>
              </a:solidFill>
              <a:ln>
                <a:noFill/>
              </a:ln>
            </p:spPr>
          </p:sp>
          <p:sp>
            <p:nvSpPr>
              <p:cNvPr id="25" name="TextBox 25"/>
              <p:cNvSpPr txBox="1"/>
              <p:nvPr/>
            </p:nvSpPr>
            <p:spPr>
              <a:xfrm>
                <a:off x="865149" y="37274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2</a:t>
                </a:r>
              </a:p>
            </p:txBody>
          </p:sp>
          <p:sp>
            <p:nvSpPr>
              <p:cNvPr id="26" name="Rectangle 26"/>
              <p:cNvSpPr/>
              <p:nvPr/>
            </p:nvSpPr>
            <p:spPr>
              <a:xfrm>
                <a:off x="1123950" y="3695700"/>
                <a:ext cx="1181100" cy="228600"/>
              </a:xfrm>
              <a:prstGeom prst="roundRect">
                <a:avLst>
                  <a:gd name="adj" fmla="val 16667"/>
                </a:avLst>
              </a:prstGeom>
              <a:solidFill>
                <a:srgbClr val="000000">
                  <a:alpha val="62000"/>
                </a:srgbClr>
              </a:solidFill>
              <a:ln>
                <a:noFill/>
              </a:ln>
            </p:spPr>
          </p:sp>
          <p:sp>
            <p:nvSpPr>
              <p:cNvPr id="27" name="TextBox 27"/>
              <p:cNvSpPr txBox="1"/>
              <p:nvPr/>
            </p:nvSpPr>
            <p:spPr>
              <a:xfrm>
                <a:off x="1213485" y="3727450"/>
                <a:ext cx="1201417"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누수·지하수 변화</a:t>
                </a:r>
              </a:p>
            </p:txBody>
          </p:sp>
          <p:sp>
            <p:nvSpPr>
              <p:cNvPr id="28" name="Ellipse 28"/>
              <p:cNvSpPr/>
              <p:nvPr/>
            </p:nvSpPr>
            <p:spPr>
              <a:xfrm>
                <a:off x="1638300" y="4210050"/>
                <a:ext cx="285750" cy="285750"/>
              </a:xfrm>
              <a:prstGeom prst="ellipse">
                <a:avLst/>
              </a:prstGeom>
              <a:solidFill>
                <a:srgbClr val="F5B700"/>
              </a:solidFill>
              <a:ln>
                <a:noFill/>
              </a:ln>
            </p:spPr>
          </p:sp>
          <p:sp>
            <p:nvSpPr>
              <p:cNvPr id="29" name="TextBox 29"/>
              <p:cNvSpPr txBox="1"/>
              <p:nvPr/>
            </p:nvSpPr>
            <p:spPr>
              <a:xfrm>
                <a:off x="1731924" y="4270375"/>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4</a:t>
                </a:r>
              </a:p>
            </p:txBody>
          </p:sp>
          <p:sp>
            <p:nvSpPr>
              <p:cNvPr id="30" name="Rectangle 30"/>
              <p:cNvSpPr/>
              <p:nvPr/>
            </p:nvSpPr>
            <p:spPr>
              <a:xfrm>
                <a:off x="2000250" y="4238625"/>
                <a:ext cx="895350" cy="228600"/>
              </a:xfrm>
              <a:prstGeom prst="roundRect">
                <a:avLst>
                  <a:gd name="adj" fmla="val 16667"/>
                </a:avLst>
              </a:prstGeom>
              <a:solidFill>
                <a:srgbClr val="000000">
                  <a:alpha val="62000"/>
                </a:srgbClr>
              </a:solidFill>
              <a:ln>
                <a:noFill/>
              </a:ln>
            </p:spPr>
          </p:sp>
          <p:sp>
            <p:nvSpPr>
              <p:cNvPr id="31" name="TextBox 31"/>
              <p:cNvSpPr txBox="1"/>
              <p:nvPr/>
            </p:nvSpPr>
            <p:spPr>
              <a:xfrm>
                <a:off x="2089785" y="4270375"/>
                <a:ext cx="1003149"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터널·굴착공사</a:t>
                </a:r>
              </a:p>
            </p:txBody>
          </p:sp>
        </p:grpSp>
      </p:grpSp>
      <p:grpSp>
        <p:nvGrpSpPr>
          <p:cNvPr id="63" name="steps"/>
          <p:cNvGrpSpPr/>
          <p:nvPr/>
        </p:nvGrpSpPr>
        <p:grpSpPr>
          <a:xfrm>
            <a:off x="7067550" y="1504950"/>
            <a:ext cx="4154348" cy="3622167"/>
            <a:chOff x="7067550" y="1504950"/>
            <a:chExt cx="4154348" cy="3622167"/>
          </a:xfrm>
        </p:grpSpPr>
        <p:grpSp>
          <p:nvGrpSpPr>
            <p:cNvPr id="38" name="step-1"/>
            <p:cNvGrpSpPr/>
            <p:nvPr/>
          </p:nvGrpSpPr>
          <p:grpSpPr>
            <a:xfrm>
              <a:off x="7067550" y="1504950"/>
              <a:ext cx="3766642" cy="574167"/>
              <a:chOff x="7067550" y="1504950"/>
              <a:chExt cx="3766642" cy="574167"/>
            </a:xfrm>
          </p:grpSpPr>
          <p:sp>
            <p:nvSpPr>
              <p:cNvPr id="34" name="Ellipse 34"/>
              <p:cNvSpPr/>
              <p:nvPr/>
            </p:nvSpPr>
            <p:spPr>
              <a:xfrm>
                <a:off x="7067550" y="1504950"/>
                <a:ext cx="266700" cy="266700"/>
              </a:xfrm>
              <a:prstGeom prst="ellipse">
                <a:avLst/>
              </a:prstGeom>
              <a:solidFill>
                <a:srgbClr val="F5B700"/>
              </a:solidFill>
              <a:ln>
                <a:noFill/>
              </a:ln>
            </p:spPr>
          </p:sp>
          <p:sp>
            <p:nvSpPr>
              <p:cNvPr id="35" name="TextBox 35"/>
              <p:cNvSpPr txBox="1"/>
              <p:nvPr/>
            </p:nvSpPr>
            <p:spPr>
              <a:xfrm>
                <a:off x="7151649" y="15557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1</a:t>
                </a:r>
              </a:p>
            </p:txBody>
          </p:sp>
          <p:sp>
            <p:nvSpPr>
              <p:cNvPr id="36" name="TextBox 36"/>
              <p:cNvSpPr txBox="1"/>
              <p:nvPr/>
            </p:nvSpPr>
            <p:spPr>
              <a:xfrm>
                <a:off x="7459599" y="1524000"/>
                <a:ext cx="2556699"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노후 시설물과 취약한 지질</a:t>
                </a:r>
              </a:p>
            </p:txBody>
          </p:sp>
          <p:sp>
            <p:nvSpPr>
              <p:cNvPr id="37" name="TextBox 37"/>
              <p:cNvSpPr txBox="1"/>
              <p:nvPr/>
            </p:nvSpPr>
            <p:spPr>
              <a:xfrm>
                <a:off x="7461123" y="1828800"/>
                <a:ext cx="3373069" cy="250317"/>
              </a:xfrm>
              <a:prstGeom prst="rect">
                <a:avLst/>
              </a:prstGeom>
              <a:noFill/>
              <a:ln>
                <a:noFill/>
              </a:ln>
            </p:spPr>
            <p:txBody>
              <a:bodyPr wrap="none" lIns="0" tIns="0" rIns="0" bIns="0" anchor="t" anchorCtr="0">
                <a:spAutoFit/>
              </a:bodyPr>
              <a:lstStyle/>
              <a:p>
                <a:pPr algn="l"/>
                <a:r>
                  <a:rPr lang="ko-KR" sz="1280" dirty="0">
                    <a:solidFill>
                      <a:srgbClr val="AEB6C2"/>
                    </a:solidFill>
                    <a:latin typeface="+mn-lt"/>
                    <a:ea typeface="+mn-ea"/>
                    <a:cs typeface="+mn-cs"/>
                  </a:rPr>
                  <a:t>오래된 하수관과 약한 지층이 먼저 있습니다</a:t>
                </a:r>
              </a:p>
            </p:txBody>
          </p:sp>
        </p:grpSp>
        <p:grpSp>
          <p:nvGrpSpPr>
            <p:cNvPr id="43" name="step-2"/>
            <p:cNvGrpSpPr/>
            <p:nvPr/>
          </p:nvGrpSpPr>
          <p:grpSpPr>
            <a:xfrm>
              <a:off x="7067550" y="2266950"/>
              <a:ext cx="3766642" cy="574167"/>
              <a:chOff x="7067550" y="2266950"/>
              <a:chExt cx="3766642" cy="574167"/>
            </a:xfrm>
          </p:grpSpPr>
          <p:sp>
            <p:nvSpPr>
              <p:cNvPr id="39" name="Ellipse 39"/>
              <p:cNvSpPr/>
              <p:nvPr/>
            </p:nvSpPr>
            <p:spPr>
              <a:xfrm>
                <a:off x="7067550" y="2266950"/>
                <a:ext cx="266700" cy="266700"/>
              </a:xfrm>
              <a:prstGeom prst="ellipse">
                <a:avLst/>
              </a:prstGeom>
              <a:solidFill>
                <a:srgbClr val="F5B700"/>
              </a:solidFill>
              <a:ln>
                <a:noFill/>
              </a:ln>
            </p:spPr>
          </p:sp>
          <p:sp>
            <p:nvSpPr>
              <p:cNvPr id="40" name="TextBox 40"/>
              <p:cNvSpPr txBox="1"/>
              <p:nvPr/>
            </p:nvSpPr>
            <p:spPr>
              <a:xfrm>
                <a:off x="7151649" y="23177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2</a:t>
                </a:r>
              </a:p>
            </p:txBody>
          </p:sp>
          <p:sp>
            <p:nvSpPr>
              <p:cNvPr id="41" name="TextBox 41"/>
              <p:cNvSpPr txBox="1"/>
              <p:nvPr/>
            </p:nvSpPr>
            <p:spPr>
              <a:xfrm>
                <a:off x="7459599" y="2286000"/>
                <a:ext cx="2064299"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누수와 지하수위 변화</a:t>
                </a:r>
              </a:p>
            </p:txBody>
          </p:sp>
          <p:sp>
            <p:nvSpPr>
              <p:cNvPr id="42" name="TextBox 42"/>
              <p:cNvSpPr txBox="1"/>
              <p:nvPr/>
            </p:nvSpPr>
            <p:spPr>
              <a:xfrm>
                <a:off x="7461123" y="2590800"/>
                <a:ext cx="3373069" cy="250317"/>
              </a:xfrm>
              <a:prstGeom prst="rect">
                <a:avLst/>
              </a:prstGeom>
              <a:noFill/>
              <a:ln>
                <a:noFill/>
              </a:ln>
            </p:spPr>
            <p:txBody>
              <a:bodyPr wrap="none" lIns="0" tIns="0" rIns="0" bIns="0" anchor="t" anchorCtr="0">
                <a:spAutoFit/>
              </a:bodyPr>
              <a:lstStyle/>
              <a:p>
                <a:pPr algn="l"/>
                <a:r>
                  <a:rPr lang="ko-KR" sz="1280" dirty="0">
                    <a:solidFill>
                      <a:srgbClr val="AEB6C2"/>
                    </a:solidFill>
                    <a:latin typeface="+mn-lt"/>
                    <a:ea typeface="+mn-ea"/>
                    <a:cs typeface="+mn-cs"/>
                  </a:rPr>
                  <a:t>물이 새거나 빠지면서 주변 흙이 약해집니다</a:t>
                </a:r>
              </a:p>
            </p:txBody>
          </p:sp>
        </p:grpSp>
        <p:grpSp>
          <p:nvGrpSpPr>
            <p:cNvPr id="48" name="step-3"/>
            <p:cNvGrpSpPr/>
            <p:nvPr/>
          </p:nvGrpSpPr>
          <p:grpSpPr>
            <a:xfrm>
              <a:off x="7067550" y="3028950"/>
              <a:ext cx="3646023" cy="574167"/>
              <a:chOff x="7067550" y="3028950"/>
              <a:chExt cx="3646023" cy="574167"/>
            </a:xfrm>
          </p:grpSpPr>
          <p:sp>
            <p:nvSpPr>
              <p:cNvPr id="44" name="Ellipse 44"/>
              <p:cNvSpPr/>
              <p:nvPr/>
            </p:nvSpPr>
            <p:spPr>
              <a:xfrm>
                <a:off x="7067550" y="3028950"/>
                <a:ext cx="266700" cy="266700"/>
              </a:xfrm>
              <a:prstGeom prst="ellipse">
                <a:avLst/>
              </a:prstGeom>
              <a:solidFill>
                <a:srgbClr val="F5B700"/>
              </a:solidFill>
              <a:ln>
                <a:noFill/>
              </a:ln>
            </p:spPr>
          </p:sp>
          <p:sp>
            <p:nvSpPr>
              <p:cNvPr id="45" name="TextBox 45"/>
              <p:cNvSpPr txBox="1"/>
              <p:nvPr/>
            </p:nvSpPr>
            <p:spPr>
              <a:xfrm>
                <a:off x="7151649" y="30797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3</a:t>
                </a:r>
              </a:p>
            </p:txBody>
          </p:sp>
          <p:sp>
            <p:nvSpPr>
              <p:cNvPr id="46" name="TextBox 46"/>
              <p:cNvSpPr txBox="1"/>
              <p:nvPr/>
            </p:nvSpPr>
            <p:spPr>
              <a:xfrm>
                <a:off x="7459599" y="3048000"/>
                <a:ext cx="2131300"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토사 유실과 공동 형성</a:t>
                </a:r>
              </a:p>
            </p:txBody>
          </p:sp>
          <p:sp>
            <p:nvSpPr>
              <p:cNvPr id="47" name="TextBox 47"/>
              <p:cNvSpPr txBox="1"/>
              <p:nvPr/>
            </p:nvSpPr>
            <p:spPr>
              <a:xfrm>
                <a:off x="7461123" y="3352800"/>
                <a:ext cx="3252450" cy="250317"/>
              </a:xfrm>
              <a:prstGeom prst="rect">
                <a:avLst/>
              </a:prstGeom>
              <a:noFill/>
              <a:ln>
                <a:noFill/>
              </a:ln>
            </p:spPr>
            <p:txBody>
              <a:bodyPr wrap="none" lIns="0" tIns="0" rIns="0" bIns="0" anchor="t" anchorCtr="0">
                <a:spAutoFit/>
              </a:bodyPr>
              <a:lstStyle/>
              <a:p>
                <a:pPr algn="l"/>
                <a:r>
                  <a:rPr lang="ko-KR" sz="1280" dirty="0">
                    <a:solidFill>
                      <a:srgbClr val="AEB6C2"/>
                    </a:solidFill>
                    <a:latin typeface="+mn-lt"/>
                    <a:ea typeface="+mn-ea"/>
                    <a:cs typeface="+mn-cs"/>
                  </a:rPr>
                  <a:t>흙이 쓸려 나간 자리에 빈 공간이 생깁니다</a:t>
                </a:r>
              </a:p>
            </p:txBody>
          </p:sp>
        </p:grpSp>
        <p:grpSp>
          <p:nvGrpSpPr>
            <p:cNvPr id="53" name="step-4"/>
            <p:cNvGrpSpPr/>
            <p:nvPr/>
          </p:nvGrpSpPr>
          <p:grpSpPr>
            <a:xfrm>
              <a:off x="7067550" y="3790950"/>
              <a:ext cx="3637407" cy="574167"/>
              <a:chOff x="7067550" y="3790950"/>
              <a:chExt cx="3637407" cy="574167"/>
            </a:xfrm>
          </p:grpSpPr>
          <p:sp>
            <p:nvSpPr>
              <p:cNvPr id="49" name="Ellipse 49"/>
              <p:cNvSpPr/>
              <p:nvPr/>
            </p:nvSpPr>
            <p:spPr>
              <a:xfrm>
                <a:off x="7067550" y="3790950"/>
                <a:ext cx="266700" cy="266700"/>
              </a:xfrm>
              <a:prstGeom prst="ellipse">
                <a:avLst/>
              </a:prstGeom>
              <a:solidFill>
                <a:srgbClr val="F5B700"/>
              </a:solidFill>
              <a:ln>
                <a:noFill/>
              </a:ln>
            </p:spPr>
          </p:sp>
          <p:sp>
            <p:nvSpPr>
              <p:cNvPr id="50" name="TextBox 50"/>
              <p:cNvSpPr txBox="1"/>
              <p:nvPr/>
            </p:nvSpPr>
            <p:spPr>
              <a:xfrm>
                <a:off x="7151649" y="3841750"/>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4</a:t>
                </a:r>
              </a:p>
            </p:txBody>
          </p:sp>
          <p:sp>
            <p:nvSpPr>
              <p:cNvPr id="51" name="TextBox 51"/>
              <p:cNvSpPr txBox="1"/>
              <p:nvPr/>
            </p:nvSpPr>
            <p:spPr>
              <a:xfrm>
                <a:off x="7459599" y="3810000"/>
                <a:ext cx="2131300"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차량 하중과 공사 영향</a:t>
                </a:r>
              </a:p>
            </p:txBody>
          </p:sp>
          <p:sp>
            <p:nvSpPr>
              <p:cNvPr id="52" name="TextBox 52"/>
              <p:cNvSpPr txBox="1"/>
              <p:nvPr/>
            </p:nvSpPr>
            <p:spPr>
              <a:xfrm>
                <a:off x="7461123" y="4114800"/>
                <a:ext cx="3243834" cy="250317"/>
              </a:xfrm>
              <a:prstGeom prst="rect">
                <a:avLst/>
              </a:prstGeom>
              <a:noFill/>
              <a:ln>
                <a:noFill/>
              </a:ln>
            </p:spPr>
            <p:txBody>
              <a:bodyPr wrap="none" lIns="0" tIns="0" rIns="0" bIns="0" anchor="t" anchorCtr="0">
                <a:spAutoFit/>
              </a:bodyPr>
              <a:lstStyle/>
              <a:p>
                <a:pPr algn="l"/>
                <a:r>
                  <a:rPr lang="ko-KR" sz="1280" dirty="0">
                    <a:solidFill>
                      <a:srgbClr val="AEB6C2"/>
                    </a:solidFill>
                    <a:latin typeface="+mn-lt"/>
                    <a:ea typeface="+mn-ea"/>
                    <a:cs typeface="+mn-cs"/>
                  </a:rPr>
                  <a:t>하중과 굴착·터널 공사의 영향이 겹칩니다</a:t>
                </a:r>
              </a:p>
            </p:txBody>
          </p:sp>
        </p:grpSp>
        <p:grpSp>
          <p:nvGrpSpPr>
            <p:cNvPr id="58" name="step-5"/>
            <p:cNvGrpSpPr/>
            <p:nvPr/>
          </p:nvGrpSpPr>
          <p:grpSpPr>
            <a:xfrm>
              <a:off x="7067550" y="4552950"/>
              <a:ext cx="4154348" cy="574167"/>
              <a:chOff x="7067550" y="4552950"/>
              <a:chExt cx="4154348" cy="574167"/>
            </a:xfrm>
          </p:grpSpPr>
          <p:sp>
            <p:nvSpPr>
              <p:cNvPr id="54" name="Ellipse 54"/>
              <p:cNvSpPr/>
              <p:nvPr/>
            </p:nvSpPr>
            <p:spPr>
              <a:xfrm>
                <a:off x="7067550" y="4552950"/>
                <a:ext cx="266700" cy="266700"/>
              </a:xfrm>
              <a:prstGeom prst="ellipse">
                <a:avLst/>
              </a:prstGeom>
              <a:solidFill>
                <a:srgbClr val="C62828"/>
              </a:solidFill>
              <a:ln>
                <a:noFill/>
              </a:ln>
            </p:spPr>
          </p:sp>
          <p:sp>
            <p:nvSpPr>
              <p:cNvPr id="55" name="TextBox 55"/>
              <p:cNvSpPr txBox="1"/>
              <p:nvPr/>
            </p:nvSpPr>
            <p:spPr>
              <a:xfrm>
                <a:off x="7151649" y="4603750"/>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5</a:t>
                </a:r>
              </a:p>
            </p:txBody>
          </p:sp>
          <p:sp>
            <p:nvSpPr>
              <p:cNvPr id="56" name="TextBox 56"/>
              <p:cNvSpPr txBox="1"/>
              <p:nvPr/>
            </p:nvSpPr>
            <p:spPr>
              <a:xfrm>
                <a:off x="7459599" y="4572000"/>
                <a:ext cx="1426200"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도로 표면 붕괴</a:t>
                </a:r>
              </a:p>
            </p:txBody>
          </p:sp>
          <p:sp>
            <p:nvSpPr>
              <p:cNvPr id="57" name="TextBox 57"/>
              <p:cNvSpPr txBox="1"/>
              <p:nvPr/>
            </p:nvSpPr>
            <p:spPr>
              <a:xfrm>
                <a:off x="7461123" y="4876800"/>
                <a:ext cx="3760775" cy="250317"/>
              </a:xfrm>
              <a:prstGeom prst="rect">
                <a:avLst/>
              </a:prstGeom>
              <a:noFill/>
              <a:ln>
                <a:noFill/>
              </a:ln>
            </p:spPr>
            <p:txBody>
              <a:bodyPr wrap="none" lIns="0" tIns="0" rIns="0" bIns="0" anchor="t" anchorCtr="0">
                <a:spAutoFit/>
              </a:bodyPr>
              <a:lstStyle/>
              <a:p>
                <a:pPr algn="l"/>
                <a:r>
                  <a:rPr lang="ko-KR" sz="1280" dirty="0">
                    <a:solidFill>
                      <a:srgbClr val="AEB6C2"/>
                    </a:solidFill>
                    <a:latin typeface="+mn-lt"/>
                    <a:ea typeface="+mn-ea"/>
                    <a:cs typeface="+mn-cs"/>
                  </a:rPr>
                  <a:t>상부가 버티지 못하고 차량·보행자가 노출됩니다</a:t>
                </a:r>
              </a:p>
            </p:txBody>
          </p:sp>
        </p:grpSp>
        <p:sp>
          <p:nvSpPr>
            <p:cNvPr id="59" name="Line 59"/>
            <p:cNvSpPr/>
            <p:nvPr/>
          </p:nvSpPr>
          <p:spPr>
            <a:xfrm>
              <a:off x="7200900" y="1790700"/>
              <a:ext cx="9525" cy="457200"/>
            </a:xfrm>
            <a:custGeom>
              <a:avLst/>
              <a:gdLst/>
              <a:ahLst/>
              <a:cxnLst/>
              <a:rect l="l" t="t" r="r" b="b"/>
              <a:pathLst>
                <a:path w="9525" h="457200">
                  <a:moveTo>
                    <a:pt x="0" y="0"/>
                  </a:moveTo>
                  <a:lnTo>
                    <a:pt x="0" y="457200"/>
                  </a:lnTo>
                </a:path>
              </a:pathLst>
            </a:custGeom>
            <a:noFill/>
            <a:ln w="19050">
              <a:solidFill>
                <a:srgbClr val="4A5568"/>
              </a:solidFill>
            </a:ln>
          </p:spPr>
        </p:sp>
        <p:sp>
          <p:nvSpPr>
            <p:cNvPr id="60" name="Line 60"/>
            <p:cNvSpPr/>
            <p:nvPr/>
          </p:nvSpPr>
          <p:spPr>
            <a:xfrm>
              <a:off x="7200900" y="2552700"/>
              <a:ext cx="9525" cy="457200"/>
            </a:xfrm>
            <a:custGeom>
              <a:avLst/>
              <a:gdLst/>
              <a:ahLst/>
              <a:cxnLst/>
              <a:rect l="l" t="t" r="r" b="b"/>
              <a:pathLst>
                <a:path w="9525" h="457200">
                  <a:moveTo>
                    <a:pt x="0" y="0"/>
                  </a:moveTo>
                  <a:lnTo>
                    <a:pt x="0" y="457200"/>
                  </a:lnTo>
                </a:path>
              </a:pathLst>
            </a:custGeom>
            <a:noFill/>
            <a:ln w="19050">
              <a:solidFill>
                <a:srgbClr val="4A5568"/>
              </a:solidFill>
            </a:ln>
          </p:spPr>
        </p:sp>
        <p:sp>
          <p:nvSpPr>
            <p:cNvPr id="61" name="Line 61"/>
            <p:cNvSpPr/>
            <p:nvPr/>
          </p:nvSpPr>
          <p:spPr>
            <a:xfrm>
              <a:off x="7200900" y="3314700"/>
              <a:ext cx="9525" cy="457200"/>
            </a:xfrm>
            <a:custGeom>
              <a:avLst/>
              <a:gdLst/>
              <a:ahLst/>
              <a:cxnLst/>
              <a:rect l="l" t="t" r="r" b="b"/>
              <a:pathLst>
                <a:path w="9525" h="457200">
                  <a:moveTo>
                    <a:pt x="0" y="0"/>
                  </a:moveTo>
                  <a:lnTo>
                    <a:pt x="0" y="457200"/>
                  </a:lnTo>
                </a:path>
              </a:pathLst>
            </a:custGeom>
            <a:noFill/>
            <a:ln w="19050">
              <a:solidFill>
                <a:srgbClr val="4A5568"/>
              </a:solidFill>
            </a:ln>
          </p:spPr>
        </p:sp>
        <p:sp>
          <p:nvSpPr>
            <p:cNvPr id="62" name="Line 62"/>
            <p:cNvSpPr/>
            <p:nvPr/>
          </p:nvSpPr>
          <p:spPr>
            <a:xfrm>
              <a:off x="7200900" y="4076700"/>
              <a:ext cx="9525" cy="457200"/>
            </a:xfrm>
            <a:custGeom>
              <a:avLst/>
              <a:gdLst/>
              <a:ahLst/>
              <a:cxnLst/>
              <a:rect l="l" t="t" r="r" b="b"/>
              <a:pathLst>
                <a:path w="9525" h="457200">
                  <a:moveTo>
                    <a:pt x="0" y="0"/>
                  </a:moveTo>
                  <a:lnTo>
                    <a:pt x="0" y="457200"/>
                  </a:lnTo>
                </a:path>
              </a:pathLst>
            </a:custGeom>
            <a:noFill/>
            <a:ln w="19050">
              <a:solidFill>
                <a:srgbClr val="4A5568"/>
              </a:solidFill>
            </a:ln>
          </p:spPr>
        </p:sp>
      </p:grpSp>
      <p:grpSp>
        <p:nvGrpSpPr>
          <p:cNvPr id="70" name="cause-band"/>
          <p:cNvGrpSpPr/>
          <p:nvPr/>
        </p:nvGrpSpPr>
        <p:grpSpPr>
          <a:xfrm>
            <a:off x="533400" y="5562600"/>
            <a:ext cx="11125200" cy="810133"/>
            <a:chOff x="533400" y="5562600"/>
            <a:chExt cx="11125200" cy="810133"/>
          </a:xfrm>
        </p:grpSpPr>
        <p:sp>
          <p:nvSpPr>
            <p:cNvPr id="64" name="Rectangle 64"/>
            <p:cNvSpPr/>
            <p:nvPr/>
          </p:nvSpPr>
          <p:spPr>
            <a:xfrm>
              <a:off x="533400" y="5562600"/>
              <a:ext cx="11125200" cy="800100"/>
            </a:xfrm>
            <a:prstGeom prst="roundRect">
              <a:avLst>
                <a:gd name="adj" fmla="val 9524"/>
              </a:avLst>
            </a:prstGeom>
            <a:solidFill>
              <a:srgbClr val="111827"/>
            </a:solidFill>
            <a:ln>
              <a:noFill/>
            </a:ln>
          </p:spPr>
        </p:sp>
        <p:sp>
          <p:nvSpPr>
            <p:cNvPr id="65" name="TextBox 65"/>
            <p:cNvSpPr txBox="1"/>
            <p:nvPr/>
          </p:nvSpPr>
          <p:spPr>
            <a:xfrm>
              <a:off x="756285" y="5689600"/>
              <a:ext cx="1463387"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명일동 사고조사 결과</a:t>
              </a:r>
            </a:p>
          </p:txBody>
        </p:sp>
        <p:sp>
          <p:nvSpPr>
            <p:cNvPr id="66" name="TextBox 66"/>
            <p:cNvSpPr txBox="1"/>
            <p:nvPr/>
          </p:nvSpPr>
          <p:spPr>
            <a:xfrm>
              <a:off x="756285" y="5937250"/>
              <a:ext cx="3798129" cy="220028"/>
            </a:xfrm>
            <a:prstGeom prst="rect">
              <a:avLst/>
            </a:prstGeom>
            <a:noFill/>
            <a:ln>
              <a:noFill/>
            </a:ln>
          </p:spPr>
          <p:txBody>
            <a:bodyPr wrap="none" lIns="0" tIns="0" rIns="0" bIns="0" anchor="t" anchorCtr="0">
              <a:spAutoFit/>
            </a:bodyPr>
            <a:lstStyle/>
            <a:p>
              <a:pPr algn="l"/>
              <a:r>
                <a:rPr lang="ko-KR" sz="1120" b="1" dirty="0">
                  <a:solidFill>
                    <a:srgbClr val="E5E9F0"/>
                  </a:solidFill>
                  <a:latin typeface="+mn-lt"/>
                  <a:ea typeface="+mn-ea"/>
                  <a:cs typeface="+mn-cs"/>
                </a:rPr>
                <a:t>직접 원인</a:t>
              </a:r>
              <a:r>
                <a:rPr lang="ko-KR" sz="1120" dirty="0">
                  <a:solidFill>
                    <a:srgbClr val="E5E9F0"/>
                  </a:solidFill>
                  <a:latin typeface="+mn-lt"/>
                  <a:ea typeface="+mn-ea"/>
                  <a:cs typeface="+mn-cs"/>
                </a:rPr>
                <a:t xml:space="preserve"> 심층풍화대 내부 불연속면이 만든 쐐기형 토체</a:t>
              </a:r>
            </a:p>
          </p:txBody>
        </p:sp>
        <p:sp>
          <p:nvSpPr>
            <p:cNvPr id="67" name="TextBox 67"/>
            <p:cNvSpPr txBox="1"/>
            <p:nvPr/>
          </p:nvSpPr>
          <p:spPr>
            <a:xfrm>
              <a:off x="756285" y="6146800"/>
              <a:ext cx="5961742" cy="220028"/>
            </a:xfrm>
            <a:prstGeom prst="rect">
              <a:avLst/>
            </a:prstGeom>
            <a:noFill/>
            <a:ln>
              <a:noFill/>
            </a:ln>
          </p:spPr>
          <p:txBody>
            <a:bodyPr wrap="none" lIns="0" tIns="0" rIns="0" bIns="0" anchor="t" anchorCtr="0">
              <a:spAutoFit/>
            </a:bodyPr>
            <a:lstStyle/>
            <a:p>
              <a:pPr algn="l"/>
              <a:r>
                <a:rPr lang="ko-KR" sz="1120" b="1" dirty="0">
                  <a:solidFill>
                    <a:srgbClr val="E5E9F0"/>
                  </a:solidFill>
                  <a:latin typeface="+mn-lt"/>
                  <a:ea typeface="+mn-ea"/>
                  <a:cs typeface="+mn-cs"/>
                </a:rPr>
                <a:t>간접 원인</a:t>
              </a:r>
              <a:r>
                <a:rPr lang="ko-KR" sz="1120" dirty="0">
                  <a:solidFill>
                    <a:srgbClr val="E5E9F0"/>
                  </a:solidFill>
                  <a:latin typeface="+mn-lt"/>
                  <a:ea typeface="+mn-ea"/>
                  <a:cs typeface="+mn-cs"/>
                </a:rPr>
                <a:t xml:space="preserve"> 터널공사로 지하수위 최대 26m 저하 · 노후 하수관 장기 누수 · 지보 성능 한계</a:t>
              </a:r>
            </a:p>
          </p:txBody>
        </p:sp>
        <p:sp>
          <p:nvSpPr>
            <p:cNvPr id="68" name="Line 68"/>
            <p:cNvSpPr/>
            <p:nvPr/>
          </p:nvSpPr>
          <p:spPr>
            <a:xfrm>
              <a:off x="7867650" y="5715000"/>
              <a:ext cx="9525" cy="495300"/>
            </a:xfrm>
            <a:custGeom>
              <a:avLst/>
              <a:gdLst/>
              <a:ahLst/>
              <a:cxnLst/>
              <a:rect l="l" t="t" r="r" b="b"/>
              <a:pathLst>
                <a:path w="9525" h="495300">
                  <a:moveTo>
                    <a:pt x="0" y="0"/>
                  </a:moveTo>
                  <a:lnTo>
                    <a:pt x="0" y="495300"/>
                  </a:lnTo>
                </a:path>
              </a:pathLst>
            </a:custGeom>
            <a:noFill/>
            <a:ln w="9525">
              <a:solidFill>
                <a:srgbClr val="3A4558"/>
              </a:solidFill>
            </a:ln>
          </p:spPr>
        </p:sp>
        <p:sp>
          <p:nvSpPr>
            <p:cNvPr id="69" name="TextBox 69"/>
            <p:cNvSpPr txBox="1"/>
            <p:nvPr/>
          </p:nvSpPr>
          <p:spPr>
            <a:xfrm>
              <a:off x="8089392" y="5651500"/>
              <a:ext cx="2233136" cy="721233"/>
            </a:xfrm>
            <a:prstGeom prst="rect">
              <a:avLst/>
            </a:prstGeom>
            <a:noFill/>
            <a:ln>
              <a:noFill/>
            </a:ln>
          </p:spPr>
          <p:txBody>
            <a:bodyPr wrap="none" lIns="0" tIns="0" rIns="0" bIns="0" anchor="t" anchorCtr="0">
              <a:spAutoFit/>
            </a:bodyPr>
            <a:lstStyle/>
            <a:p>
              <a:pPr algn="l">
                <a:lnSpc>
                  <a:spcPts val="1800"/>
                </a:lnSpc>
              </a:pPr>
              <a:r>
                <a:rPr lang="ko-KR" sz="1350" b="1" dirty="0">
                  <a:solidFill>
                    <a:srgbClr val="FFFFFF"/>
                  </a:solidFill>
                  <a:latin typeface="+mn-lt"/>
                  <a:ea typeface="+mn-ea"/>
                  <a:cs typeface="+mn-cs"/>
                </a:rPr>
                <a:t>보이는 균열만 기다리지 말고</a:t>
              </a:r>
              <a:br>
                <a:rPr lang="ko-KR" sz="1350" b="1" dirty="0">
                  <a:solidFill>
                    <a:srgbClr val="FFFFFF"/>
                  </a:solidFill>
                  <a:latin typeface="+mn-lt"/>
                  <a:ea typeface="+mn-ea"/>
                  <a:cs typeface="+mn-cs"/>
                </a:rPr>
              </a:br>
              <a:r>
                <a:rPr lang="ko-KR" sz="1350" b="1" dirty="0">
                  <a:solidFill>
                    <a:srgbClr val="FFFFFF"/>
                  </a:solidFill>
                  <a:latin typeface="+mn-lt"/>
                  <a:ea typeface="+mn-ea"/>
                  <a:cs typeface="+mn-cs"/>
                </a:rPr>
                <a:t>같은 지점의 지하 변화를</a:t>
              </a:r>
              <a:br>
                <a:rPr lang="ko-KR" sz="1350" b="1" dirty="0">
                  <a:solidFill>
                    <a:srgbClr val="FFFFFF"/>
                  </a:solidFill>
                  <a:latin typeface="+mn-lt"/>
                  <a:ea typeface="+mn-ea"/>
                  <a:cs typeface="+mn-cs"/>
                </a:rPr>
              </a:br>
              <a:r>
                <a:rPr lang="ko-KR" sz="1350" b="1" dirty="0">
                  <a:solidFill>
                    <a:srgbClr val="FFFFFF"/>
                  </a:solidFill>
                  <a:latin typeface="+mn-lt"/>
                  <a:ea typeface="+mn-ea"/>
                  <a:cs typeface="+mn-cs"/>
                </a:rPr>
                <a:t>계속 기록해야 합니다.</a:t>
              </a:r>
            </a:p>
          </p:txBody>
        </p:sp>
      </p:grpSp>
      <p:grpSp>
        <p:nvGrpSpPr>
          <p:cNvPr id="73" name="footer"/>
          <p:cNvGrpSpPr/>
          <p:nvPr/>
        </p:nvGrpSpPr>
        <p:grpSpPr>
          <a:xfrm>
            <a:off x="528638" y="6610350"/>
            <a:ext cx="11134724" cy="176212"/>
            <a:chOff x="528638" y="6610350"/>
            <a:chExt cx="11134724" cy="176212"/>
          </a:xfrm>
        </p:grpSpPr>
        <p:sp>
          <p:nvSpPr>
            <p:cNvPr id="71" name="TextBox 71"/>
            <p:cNvSpPr txBox="1"/>
            <p:nvPr/>
          </p:nvSpPr>
          <p:spPr>
            <a:xfrm>
              <a:off x="528638" y="6610350"/>
              <a:ext cx="6793916"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출처: 국토교통부 「땅꺼짐 사고 조사결과 발표」(2025.12.3) · 단면도는 원리 설명용 3D 도식 · 한 명이라도 살릴 수 있다면</a:t>
              </a:r>
            </a:p>
          </p:txBody>
        </p:sp>
        <p:sp>
          <p:nvSpPr>
            <p:cNvPr id="72" name="TextBox 7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03 / 12</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3p</a:t>
              </a:r>
            </a:p>
          </p:txBody>
        </p:sp>
        <p:sp>
          <p:nvSpPr>
            <p:cNvPr id="6" name="TextBox 6"/>
            <p:cNvSpPr txBox="1"/>
            <p:nvPr/>
          </p:nvSpPr>
          <p:spPr>
            <a:xfrm>
              <a:off x="2356866" y="301625"/>
              <a:ext cx="94358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기존 조사 방식</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10148106" cy="586740"/>
            <a:chOff x="518160" y="774700"/>
            <a:chExt cx="10148106" cy="586740"/>
          </a:xfrm>
        </p:grpSpPr>
        <p:sp>
          <p:nvSpPr>
            <p:cNvPr id="9" name="TextBox 9"/>
            <p:cNvSpPr txBox="1"/>
            <p:nvPr/>
          </p:nvSpPr>
          <p:spPr>
            <a:xfrm>
              <a:off x="518160" y="774700"/>
              <a:ext cx="1014810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서울시는 이미 넓게 탐사하고, 의심 지점을 다시 확인한다</a:t>
              </a:r>
            </a:p>
          </p:txBody>
        </p:sp>
      </p:grpSp>
      <p:grpSp>
        <p:nvGrpSpPr>
          <p:cNvPr id="13" name="gpr-photo"/>
          <p:cNvGrpSpPr/>
          <p:nvPr/>
        </p:nvGrpSpPr>
        <p:grpSpPr>
          <a:xfrm>
            <a:off x="528638" y="1447800"/>
            <a:ext cx="4957762" cy="3052762"/>
            <a:chOff x="528638" y="1447800"/>
            <a:chExt cx="4957762" cy="3052762"/>
          </a:xfrm>
        </p:grpSpPr>
        <p:pic>
          <p:nvPicPr>
            <p:cNvPr id="11" name="Image 11"/>
            <p:cNvPicPr>
              <a:picLocks noChangeAspect="1"/>
            </p:cNvPicPr>
            <p:nvPr/>
          </p:nvPicPr>
          <p:blipFill>
            <a:blip r:embed="rId2"/>
            <a:srcRect l="0" t="12052" r="0" b="12051"/>
            <a:stretch>
              <a:fillRect/>
            </a:stretch>
          </p:blipFill>
          <p:spPr>
            <a:xfrm>
              <a:off x="533400" y="1447800"/>
              <a:ext cx="4953000" cy="2819400"/>
            </a:xfrm>
            <a:prstGeom prst="rect">
              <a:avLst/>
            </a:prstGeom>
          </p:spPr>
        </p:pic>
        <p:sp>
          <p:nvSpPr>
            <p:cNvPr id="12" name="TextBox 12"/>
            <p:cNvSpPr txBox="1"/>
            <p:nvPr/>
          </p:nvSpPr>
          <p:spPr>
            <a:xfrm>
              <a:off x="528638" y="4324350"/>
              <a:ext cx="3777767"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수동형 GPR 탐사 장비 · The Charles Machine Works, CC BY-SA 2.0</a:t>
              </a:r>
            </a:p>
          </p:txBody>
        </p:sp>
      </p:grpSp>
      <p:grpSp>
        <p:nvGrpSpPr>
          <p:cNvPr id="21" name="seoul-kpis"/>
          <p:cNvGrpSpPr/>
          <p:nvPr/>
        </p:nvGrpSpPr>
        <p:grpSpPr>
          <a:xfrm>
            <a:off x="521970" y="4686300"/>
            <a:ext cx="4964430" cy="937578"/>
            <a:chOff x="521970" y="4686300"/>
            <a:chExt cx="4964430" cy="937578"/>
          </a:xfrm>
        </p:grpSpPr>
        <p:sp>
          <p:nvSpPr>
            <p:cNvPr id="14" name="Line 14"/>
            <p:cNvSpPr/>
            <p:nvPr/>
          </p:nvSpPr>
          <p:spPr>
            <a:xfrm>
              <a:off x="533400" y="4686300"/>
              <a:ext cx="4953000" cy="9525"/>
            </a:xfrm>
            <a:custGeom>
              <a:avLst/>
              <a:gdLst/>
              <a:ahLst/>
              <a:cxnLst/>
              <a:rect l="l" t="t" r="r" b="b"/>
              <a:pathLst>
                <a:path w="4953000" h="9525">
                  <a:moveTo>
                    <a:pt x="0" y="0"/>
                  </a:moveTo>
                  <a:lnTo>
                    <a:pt x="4953000" y="0"/>
                  </a:lnTo>
                </a:path>
              </a:pathLst>
            </a:custGeom>
            <a:noFill/>
            <a:ln w="19050">
              <a:solidFill>
                <a:srgbClr val="0B1E3C"/>
              </a:solidFill>
            </a:ln>
          </p:spPr>
        </p:sp>
        <p:sp>
          <p:nvSpPr>
            <p:cNvPr id="15" name="TextBox 15"/>
            <p:cNvSpPr txBox="1"/>
            <p:nvPr/>
          </p:nvSpPr>
          <p:spPr>
            <a:xfrm>
              <a:off x="521970" y="4826000"/>
              <a:ext cx="1485843" cy="440055"/>
            </a:xfrm>
            <a:prstGeom prst="rect">
              <a:avLst/>
            </a:prstGeom>
            <a:noFill/>
            <a:ln>
              <a:noFill/>
            </a:ln>
          </p:spPr>
          <p:txBody>
            <a:bodyPr wrap="none" lIns="0" tIns="0" rIns="0" bIns="0" anchor="t" anchorCtr="0">
              <a:spAutoFit/>
            </a:bodyPr>
            <a:lstStyle/>
            <a:p>
              <a:pPr algn="l"/>
              <a:r>
                <a:rPr lang="en-US" sz="2250" b="1" dirty="0">
                  <a:solidFill>
                    <a:srgbClr val="0B1E3C"/>
                  </a:solidFill>
                  <a:latin typeface="+mn-lt"/>
                  <a:ea typeface="+mn-ea"/>
                  <a:cs typeface="+mn-cs"/>
                </a:rPr>
                <a:t>33,129km</a:t>
              </a:r>
            </a:p>
          </p:txBody>
        </p:sp>
        <p:sp>
          <p:nvSpPr>
            <p:cNvPr id="16" name="TextBox 16"/>
            <p:cNvSpPr txBox="1"/>
            <p:nvPr/>
          </p:nvSpPr>
          <p:spPr>
            <a:xfrm>
              <a:off x="527685" y="5213350"/>
              <a:ext cx="122758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4B5563"/>
                  </a:solidFill>
                  <a:latin typeface="+mn-lt"/>
                  <a:ea typeface="+mn-ea"/>
                  <a:cs typeface="+mn-cs"/>
                </a:rPr>
                <a:t>누적 차량 GPR 탐사</a:t>
              </a:r>
              <a:br>
                <a:rPr lang="ko-KR" sz="1120" dirty="0">
                  <a:solidFill>
                    <a:srgbClr val="4B5563"/>
                  </a:solidFill>
                  <a:latin typeface="+mn-lt"/>
                  <a:ea typeface="+mn-ea"/>
                  <a:cs typeface="+mn-cs"/>
                </a:rPr>
              </a:br>
              <a:r>
                <a:rPr lang="ko-KR" sz="1120" dirty="0">
                  <a:solidFill>
                    <a:srgbClr val="4B5563"/>
                  </a:solidFill>
                  <a:latin typeface="+mn-lt"/>
                  <a:ea typeface="+mn-ea"/>
                  <a:cs typeface="+mn-cs"/>
                </a:rPr>
                <a:t>2014~2025.9</a:t>
              </a:r>
            </a:p>
          </p:txBody>
        </p:sp>
        <p:sp>
          <p:nvSpPr>
            <p:cNvPr id="17" name="TextBox 17"/>
            <p:cNvSpPr txBox="1"/>
            <p:nvPr/>
          </p:nvSpPr>
          <p:spPr>
            <a:xfrm>
              <a:off x="2398395" y="4826000"/>
              <a:ext cx="1200364" cy="440055"/>
            </a:xfrm>
            <a:prstGeom prst="rect">
              <a:avLst/>
            </a:prstGeom>
            <a:noFill/>
            <a:ln>
              <a:noFill/>
            </a:ln>
          </p:spPr>
          <p:txBody>
            <a:bodyPr wrap="none" lIns="0" tIns="0" rIns="0" bIns="0" anchor="t" anchorCtr="0">
              <a:spAutoFit/>
            </a:bodyPr>
            <a:lstStyle/>
            <a:p>
              <a:pPr algn="l"/>
              <a:r>
                <a:rPr lang="ko-KR" sz="2250" b="1" dirty="0">
                  <a:solidFill>
                    <a:srgbClr val="0B1E3C"/>
                  </a:solidFill>
                  <a:latin typeface="+mn-lt"/>
                  <a:ea typeface="+mn-ea"/>
                  <a:cs typeface="+mn-cs"/>
                </a:rPr>
                <a:t>7,760개</a:t>
              </a:r>
            </a:p>
          </p:txBody>
        </p:sp>
        <p:sp>
          <p:nvSpPr>
            <p:cNvPr id="18" name="TextBox 18"/>
            <p:cNvSpPr txBox="1"/>
            <p:nvPr/>
          </p:nvSpPr>
          <p:spPr>
            <a:xfrm>
              <a:off x="2404110" y="5213350"/>
              <a:ext cx="76530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4B5563"/>
                  </a:solidFill>
                  <a:latin typeface="+mn-lt"/>
                  <a:ea typeface="+mn-ea"/>
                  <a:cs typeface="+mn-cs"/>
                </a:rPr>
                <a:t>같은 기간</a:t>
              </a:r>
              <a:br>
                <a:rPr lang="ko-KR" sz="1120" dirty="0">
                  <a:solidFill>
                    <a:srgbClr val="4B5563"/>
                  </a:solidFill>
                  <a:latin typeface="+mn-lt"/>
                  <a:ea typeface="+mn-ea"/>
                  <a:cs typeface="+mn-cs"/>
                </a:rPr>
              </a:br>
              <a:r>
                <a:rPr lang="ko-KR" sz="1120" dirty="0">
                  <a:solidFill>
                    <a:srgbClr val="4B5563"/>
                  </a:solidFill>
                  <a:latin typeface="+mn-lt"/>
                  <a:ea typeface="+mn-ea"/>
                  <a:cs typeface="+mn-cs"/>
                </a:rPr>
                <a:t>발견한 공동</a:t>
              </a:r>
            </a:p>
          </p:txBody>
        </p:sp>
        <p:sp>
          <p:nvSpPr>
            <p:cNvPr id="19" name="TextBox 19"/>
            <p:cNvSpPr txBox="1"/>
            <p:nvPr/>
          </p:nvSpPr>
          <p:spPr>
            <a:xfrm>
              <a:off x="3960495" y="4826000"/>
              <a:ext cx="1485843" cy="440055"/>
            </a:xfrm>
            <a:prstGeom prst="rect">
              <a:avLst/>
            </a:prstGeom>
            <a:noFill/>
            <a:ln>
              <a:noFill/>
            </a:ln>
          </p:spPr>
          <p:txBody>
            <a:bodyPr wrap="none" lIns="0" tIns="0" rIns="0" bIns="0" anchor="t" anchorCtr="0">
              <a:spAutoFit/>
            </a:bodyPr>
            <a:lstStyle/>
            <a:p>
              <a:pPr algn="l"/>
              <a:r>
                <a:rPr lang="en-US" sz="2250" b="1" dirty="0">
                  <a:solidFill>
                    <a:srgbClr val="0B1E3C"/>
                  </a:solidFill>
                  <a:latin typeface="+mn-lt"/>
                  <a:ea typeface="+mn-ea"/>
                  <a:cs typeface="+mn-cs"/>
                </a:rPr>
                <a:t>16,423km</a:t>
              </a:r>
            </a:p>
          </p:txBody>
        </p:sp>
        <p:sp>
          <p:nvSpPr>
            <p:cNvPr id="20" name="TextBox 20"/>
            <p:cNvSpPr txBox="1"/>
            <p:nvPr/>
          </p:nvSpPr>
          <p:spPr>
            <a:xfrm>
              <a:off x="3966210" y="5213350"/>
              <a:ext cx="129870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4B5563"/>
                  </a:solidFill>
                  <a:latin typeface="+mn-lt"/>
                  <a:ea typeface="+mn-ea"/>
                  <a:cs typeface="+mn-cs"/>
                </a:rPr>
                <a:t>2026년 탐사 계획</a:t>
              </a:r>
              <a:br>
                <a:rPr lang="ko-KR" sz="1120" dirty="0">
                  <a:solidFill>
                    <a:srgbClr val="4B5563"/>
                  </a:solidFill>
                  <a:latin typeface="+mn-lt"/>
                  <a:ea typeface="+mn-ea"/>
                  <a:cs typeface="+mn-cs"/>
                </a:rPr>
              </a:br>
              <a:r>
                <a:rPr lang="ko-KR" sz="1120" dirty="0">
                  <a:solidFill>
                    <a:srgbClr val="4B5563"/>
                  </a:solidFill>
                  <a:latin typeface="+mn-lt"/>
                  <a:ea typeface="+mn-ea"/>
                  <a:cs typeface="+mn-cs"/>
                </a:rPr>
                <a:t>GPR 인력 9명 → 19명</a:t>
              </a:r>
            </a:p>
          </p:txBody>
        </p:sp>
      </p:grpSp>
      <p:grpSp>
        <p:nvGrpSpPr>
          <p:cNvPr id="42" name="current-flow"/>
          <p:cNvGrpSpPr/>
          <p:nvPr/>
        </p:nvGrpSpPr>
        <p:grpSpPr>
          <a:xfrm>
            <a:off x="5937123" y="1485900"/>
            <a:ext cx="4392084" cy="2329752"/>
            <a:chOff x="5937123" y="1485900"/>
            <a:chExt cx="4392084" cy="2329752"/>
          </a:xfrm>
        </p:grpSpPr>
        <p:sp>
          <p:nvSpPr>
            <p:cNvPr id="22" name="TextBox 22"/>
            <p:cNvSpPr txBox="1"/>
            <p:nvPr/>
          </p:nvSpPr>
          <p:spPr>
            <a:xfrm>
              <a:off x="5937123" y="148590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현재 업무 흐름</a:t>
              </a:r>
            </a:p>
          </p:txBody>
        </p:sp>
        <p:grpSp>
          <p:nvGrpSpPr>
            <p:cNvPr id="41" name="Group 41"/>
            <p:cNvGrpSpPr/>
            <p:nvPr/>
          </p:nvGrpSpPr>
          <p:grpSpPr>
            <a:xfrm>
              <a:off x="5943600" y="1819275"/>
              <a:ext cx="4385607" cy="1996377"/>
              <a:chOff x="5943600" y="1819275"/>
              <a:chExt cx="4385607" cy="1996377"/>
            </a:xfrm>
          </p:grpSpPr>
          <p:sp>
            <p:nvSpPr>
              <p:cNvPr id="23" name="Ellipse 23"/>
              <p:cNvSpPr/>
              <p:nvPr/>
            </p:nvSpPr>
            <p:spPr>
              <a:xfrm>
                <a:off x="5943600" y="1819275"/>
                <a:ext cx="228600" cy="228600"/>
              </a:xfrm>
              <a:prstGeom prst="ellipse">
                <a:avLst/>
              </a:prstGeom>
              <a:solidFill>
                <a:srgbClr val="0B1E3C"/>
              </a:solidFill>
              <a:ln>
                <a:noFill/>
              </a:ln>
            </p:spPr>
          </p:sp>
          <p:sp>
            <p:nvSpPr>
              <p:cNvPr id="24" name="TextBox 24"/>
              <p:cNvSpPr txBox="1"/>
              <p:nvPr/>
            </p:nvSpPr>
            <p:spPr>
              <a:xfrm>
                <a:off x="6014853" y="18669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1</a:t>
                </a:r>
              </a:p>
            </p:txBody>
          </p:sp>
          <p:sp>
            <p:nvSpPr>
              <p:cNvPr id="25" name="TextBox 25"/>
              <p:cNvSpPr txBox="1"/>
              <p:nvPr/>
            </p:nvSpPr>
            <p:spPr>
              <a:xfrm>
                <a:off x="6279261" y="1822450"/>
                <a:ext cx="3895034"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민원·노후 관로·공사구간으로 조사 대상 선정</a:t>
                </a:r>
              </a:p>
            </p:txBody>
          </p:sp>
          <p:sp>
            <p:nvSpPr>
              <p:cNvPr id="26" name="Ellipse 26"/>
              <p:cNvSpPr/>
              <p:nvPr/>
            </p:nvSpPr>
            <p:spPr>
              <a:xfrm>
                <a:off x="5943600" y="2162175"/>
                <a:ext cx="228600" cy="228600"/>
              </a:xfrm>
              <a:prstGeom prst="ellipse">
                <a:avLst/>
              </a:prstGeom>
              <a:solidFill>
                <a:srgbClr val="0B1E3C"/>
              </a:solidFill>
              <a:ln>
                <a:noFill/>
              </a:ln>
            </p:spPr>
          </p:sp>
          <p:sp>
            <p:nvSpPr>
              <p:cNvPr id="27" name="TextBox 27"/>
              <p:cNvSpPr txBox="1"/>
              <p:nvPr/>
            </p:nvSpPr>
            <p:spPr>
              <a:xfrm>
                <a:off x="6014853" y="22098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2</a:t>
                </a:r>
              </a:p>
            </p:txBody>
          </p:sp>
          <p:sp>
            <p:nvSpPr>
              <p:cNvPr id="28" name="TextBox 28"/>
              <p:cNvSpPr txBox="1"/>
              <p:nvPr/>
            </p:nvSpPr>
            <p:spPr>
              <a:xfrm>
                <a:off x="6279261" y="2165350"/>
                <a:ext cx="4049946"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차량형 GPR이 도로를 넓게 스캔 (1회 약 3m 폭)</a:t>
                </a:r>
              </a:p>
            </p:txBody>
          </p:sp>
          <p:sp>
            <p:nvSpPr>
              <p:cNvPr id="29" name="Ellipse 29"/>
              <p:cNvSpPr/>
              <p:nvPr/>
            </p:nvSpPr>
            <p:spPr>
              <a:xfrm>
                <a:off x="5943600" y="2505075"/>
                <a:ext cx="228600" cy="228600"/>
              </a:xfrm>
              <a:prstGeom prst="ellipse">
                <a:avLst/>
              </a:prstGeom>
              <a:solidFill>
                <a:srgbClr val="0B1E3C"/>
              </a:solidFill>
              <a:ln>
                <a:noFill/>
              </a:ln>
            </p:spPr>
          </p:sp>
          <p:sp>
            <p:nvSpPr>
              <p:cNvPr id="30" name="TextBox 30"/>
              <p:cNvSpPr txBox="1"/>
              <p:nvPr/>
            </p:nvSpPr>
            <p:spPr>
              <a:xfrm>
                <a:off x="6014853" y="25527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3</a:t>
                </a:r>
              </a:p>
            </p:txBody>
          </p:sp>
          <p:sp>
            <p:nvSpPr>
              <p:cNvPr id="31" name="TextBox 31"/>
              <p:cNvSpPr txBox="1"/>
              <p:nvPr/>
            </p:nvSpPr>
            <p:spPr>
              <a:xfrm>
                <a:off x="6279261" y="2508250"/>
                <a:ext cx="3168625"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분석자가 판독해 공동 의심 지점 선별</a:t>
                </a:r>
              </a:p>
            </p:txBody>
          </p:sp>
          <p:sp>
            <p:nvSpPr>
              <p:cNvPr id="32" name="Ellipse 32"/>
              <p:cNvSpPr/>
              <p:nvPr/>
            </p:nvSpPr>
            <p:spPr>
              <a:xfrm>
                <a:off x="5943600" y="2847975"/>
                <a:ext cx="228600" cy="228600"/>
              </a:xfrm>
              <a:prstGeom prst="ellipse">
                <a:avLst/>
              </a:prstGeom>
              <a:solidFill>
                <a:srgbClr val="0B1E3C"/>
              </a:solidFill>
              <a:ln>
                <a:noFill/>
              </a:ln>
            </p:spPr>
          </p:sp>
          <p:sp>
            <p:nvSpPr>
              <p:cNvPr id="33" name="TextBox 33"/>
              <p:cNvSpPr txBox="1"/>
              <p:nvPr/>
            </p:nvSpPr>
            <p:spPr>
              <a:xfrm>
                <a:off x="6014853" y="28956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4</a:t>
                </a:r>
              </a:p>
            </p:txBody>
          </p:sp>
          <p:sp>
            <p:nvSpPr>
              <p:cNvPr id="34" name="TextBox 34"/>
              <p:cNvSpPr txBox="1"/>
              <p:nvPr/>
            </p:nvSpPr>
            <p:spPr>
              <a:xfrm>
                <a:off x="6279261" y="2851150"/>
                <a:ext cx="2683149"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작업자가 수동 GPR로 다시 조사</a:t>
                </a:r>
              </a:p>
            </p:txBody>
          </p:sp>
          <p:sp>
            <p:nvSpPr>
              <p:cNvPr id="35" name="Ellipse 35"/>
              <p:cNvSpPr/>
              <p:nvPr/>
            </p:nvSpPr>
            <p:spPr>
              <a:xfrm>
                <a:off x="5943600" y="3190875"/>
                <a:ext cx="228600" cy="228600"/>
              </a:xfrm>
              <a:prstGeom prst="ellipse">
                <a:avLst/>
              </a:prstGeom>
              <a:solidFill>
                <a:srgbClr val="0B1E3C"/>
              </a:solidFill>
              <a:ln>
                <a:noFill/>
              </a:ln>
            </p:spPr>
          </p:sp>
          <p:sp>
            <p:nvSpPr>
              <p:cNvPr id="36" name="TextBox 36"/>
              <p:cNvSpPr txBox="1"/>
              <p:nvPr/>
            </p:nvSpPr>
            <p:spPr>
              <a:xfrm>
                <a:off x="6014853" y="32385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5</a:t>
                </a:r>
              </a:p>
            </p:txBody>
          </p:sp>
          <p:sp>
            <p:nvSpPr>
              <p:cNvPr id="37" name="TextBox 37"/>
              <p:cNvSpPr txBox="1"/>
              <p:nvPr/>
            </p:nvSpPr>
            <p:spPr>
              <a:xfrm>
                <a:off x="6279261" y="3194050"/>
                <a:ext cx="3455365"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승인·교통통제 후 천공·내시경으로 확인</a:t>
                </a:r>
              </a:p>
            </p:txBody>
          </p:sp>
          <p:sp>
            <p:nvSpPr>
              <p:cNvPr id="38" name="Ellipse 38"/>
              <p:cNvSpPr/>
              <p:nvPr/>
            </p:nvSpPr>
            <p:spPr>
              <a:xfrm>
                <a:off x="5943600" y="3533775"/>
                <a:ext cx="228600" cy="228600"/>
              </a:xfrm>
              <a:prstGeom prst="ellipse">
                <a:avLst/>
              </a:prstGeom>
              <a:solidFill>
                <a:srgbClr val="0B1E3C"/>
              </a:solidFill>
              <a:ln>
                <a:noFill/>
              </a:ln>
            </p:spPr>
          </p:sp>
          <p:sp>
            <p:nvSpPr>
              <p:cNvPr id="39" name="TextBox 39"/>
              <p:cNvSpPr txBox="1"/>
              <p:nvPr/>
            </p:nvSpPr>
            <p:spPr>
              <a:xfrm>
                <a:off x="6014853" y="35814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6</a:t>
                </a:r>
              </a:p>
            </p:txBody>
          </p:sp>
          <p:sp>
            <p:nvSpPr>
              <p:cNvPr id="40" name="TextBox 40"/>
              <p:cNvSpPr txBox="1"/>
              <p:nvPr/>
            </p:nvSpPr>
            <p:spPr>
              <a:xfrm>
                <a:off x="6279261" y="3536950"/>
                <a:ext cx="2528237"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공동이 확인되면 복구·재포장</a:t>
                </a:r>
              </a:p>
            </p:txBody>
          </p:sp>
        </p:grpSp>
      </p:grpSp>
      <p:grpSp>
        <p:nvGrpSpPr>
          <p:cNvPr id="57" name="gap-timeline"/>
          <p:cNvGrpSpPr/>
          <p:nvPr/>
        </p:nvGrpSpPr>
        <p:grpSpPr>
          <a:xfrm>
            <a:off x="5937123" y="4038600"/>
            <a:ext cx="5628346" cy="1509078"/>
            <a:chOff x="5937123" y="4038600"/>
            <a:chExt cx="5628346" cy="1509078"/>
          </a:xfrm>
        </p:grpSpPr>
        <p:sp>
          <p:nvSpPr>
            <p:cNvPr id="43" name="TextBox 43"/>
            <p:cNvSpPr txBox="1"/>
            <p:nvPr/>
          </p:nvSpPr>
          <p:spPr>
            <a:xfrm>
              <a:off x="5937123" y="4038600"/>
              <a:ext cx="3076259" cy="250317"/>
            </a:xfrm>
            <a:prstGeom prst="rect">
              <a:avLst/>
            </a:prstGeom>
            <a:noFill/>
            <a:ln>
              <a:noFill/>
            </a:ln>
          </p:spPr>
          <p:txBody>
            <a:bodyPr wrap="none" lIns="0" tIns="0" rIns="0" bIns="0" anchor="t" anchorCtr="0">
              <a:spAutoFit/>
            </a:bodyPr>
            <a:lstStyle/>
            <a:p>
              <a:pPr algn="l"/>
              <a:r>
                <a:rPr lang="ko-KR" sz="1280" b="1" dirty="0">
                  <a:solidFill>
                    <a:srgbClr val="C62828"/>
                  </a:solidFill>
                  <a:latin typeface="+mn-lt"/>
                  <a:ea typeface="+mn-ea"/>
                  <a:cs typeface="+mn-cs"/>
                </a:rPr>
                <a:t>그 사이의 공백 · 2024년 연희동 성산로</a:t>
              </a:r>
            </a:p>
          </p:txBody>
        </p:sp>
        <p:sp>
          <p:nvSpPr>
            <p:cNvPr id="44" name="Rectangle 44"/>
            <p:cNvSpPr/>
            <p:nvPr/>
          </p:nvSpPr>
          <p:spPr>
            <a:xfrm>
              <a:off x="6915150" y="4629150"/>
              <a:ext cx="4391025" cy="133350"/>
            </a:xfrm>
            <a:prstGeom prst="rect">
              <a:avLst/>
            </a:prstGeom>
            <a:solidFill>
              <a:srgbClr val="F5B700">
                <a:alpha val="28000"/>
              </a:srgbClr>
            </a:solidFill>
            <a:ln>
              <a:noFill/>
            </a:ln>
          </p:spPr>
        </p:sp>
        <p:sp>
          <p:nvSpPr>
            <p:cNvPr id="45" name="Line 45"/>
            <p:cNvSpPr/>
            <p:nvPr/>
          </p:nvSpPr>
          <p:spPr>
            <a:xfrm>
              <a:off x="6286500" y="4695825"/>
              <a:ext cx="5143500" cy="9525"/>
            </a:xfrm>
            <a:custGeom>
              <a:avLst/>
              <a:gdLst/>
              <a:ahLst/>
              <a:cxnLst/>
              <a:rect l="l" t="t" r="r" b="b"/>
              <a:pathLst>
                <a:path w="5143500" h="9525">
                  <a:moveTo>
                    <a:pt x="0" y="0"/>
                  </a:moveTo>
                  <a:lnTo>
                    <a:pt x="5143500" y="0"/>
                  </a:lnTo>
                </a:path>
              </a:pathLst>
            </a:custGeom>
            <a:noFill/>
            <a:ln w="19050">
              <a:solidFill>
                <a:srgbClr val="9AA3AF"/>
              </a:solidFill>
            </a:ln>
          </p:spPr>
        </p:sp>
        <p:grpSp>
          <p:nvGrpSpPr>
            <p:cNvPr id="50" name="Group 50"/>
            <p:cNvGrpSpPr/>
            <p:nvPr/>
          </p:nvGrpSpPr>
          <p:grpSpPr>
            <a:xfrm>
              <a:off x="6179303" y="4838700"/>
              <a:ext cx="4014869" cy="191643"/>
              <a:chOff x="6179303" y="4838700"/>
              <a:chExt cx="4014869" cy="191643"/>
            </a:xfrm>
          </p:grpSpPr>
          <p:sp>
            <p:nvSpPr>
              <p:cNvPr id="46" name="TextBox 46"/>
              <p:cNvSpPr txBox="1"/>
              <p:nvPr/>
            </p:nvSpPr>
            <p:spPr>
              <a:xfrm>
                <a:off x="6179303" y="4838700"/>
                <a:ext cx="214394" cy="191643"/>
              </a:xfrm>
              <a:prstGeom prst="rect">
                <a:avLst/>
              </a:prstGeom>
              <a:noFill/>
              <a:ln>
                <a:noFill/>
              </a:ln>
            </p:spPr>
            <p:txBody>
              <a:bodyPr wrap="none" lIns="0" tIns="0" rIns="0" bIns="0" anchor="t" anchorCtr="0">
                <a:spAutoFit/>
              </a:bodyPr>
              <a:lstStyle/>
              <a:p>
                <a:pPr algn="ctr"/>
                <a:r>
                  <a:rPr lang="ko-KR" sz="980" dirty="0">
                    <a:solidFill>
                      <a:srgbClr val="6B7280"/>
                    </a:solidFill>
                    <a:latin typeface="+mn-lt"/>
                    <a:ea typeface="+mn-ea"/>
                    <a:cs typeface="+mn-cs"/>
                  </a:rPr>
                  <a:t>5월</a:t>
                </a:r>
              </a:p>
            </p:txBody>
          </p:sp>
          <p:sp>
            <p:nvSpPr>
              <p:cNvPr id="47" name="TextBox 47"/>
              <p:cNvSpPr txBox="1"/>
              <p:nvPr/>
            </p:nvSpPr>
            <p:spPr>
              <a:xfrm>
                <a:off x="7436603" y="4838700"/>
                <a:ext cx="214394" cy="191643"/>
              </a:xfrm>
              <a:prstGeom prst="rect">
                <a:avLst/>
              </a:prstGeom>
              <a:noFill/>
              <a:ln>
                <a:noFill/>
              </a:ln>
            </p:spPr>
            <p:txBody>
              <a:bodyPr wrap="none" lIns="0" tIns="0" rIns="0" bIns="0" anchor="t" anchorCtr="0">
                <a:spAutoFit/>
              </a:bodyPr>
              <a:lstStyle/>
              <a:p>
                <a:pPr algn="ctr"/>
                <a:r>
                  <a:rPr lang="ko-KR" sz="980" dirty="0">
                    <a:solidFill>
                      <a:srgbClr val="6B7280"/>
                    </a:solidFill>
                    <a:latin typeface="+mn-lt"/>
                    <a:ea typeface="+mn-ea"/>
                    <a:cs typeface="+mn-cs"/>
                  </a:rPr>
                  <a:t>6월</a:t>
                </a:r>
              </a:p>
            </p:txBody>
          </p:sp>
          <p:sp>
            <p:nvSpPr>
              <p:cNvPr id="48" name="TextBox 48"/>
              <p:cNvSpPr txBox="1"/>
              <p:nvPr/>
            </p:nvSpPr>
            <p:spPr>
              <a:xfrm>
                <a:off x="8693903" y="4838700"/>
                <a:ext cx="214394" cy="191643"/>
              </a:xfrm>
              <a:prstGeom prst="rect">
                <a:avLst/>
              </a:prstGeom>
              <a:noFill/>
              <a:ln>
                <a:noFill/>
              </a:ln>
            </p:spPr>
            <p:txBody>
              <a:bodyPr wrap="none" lIns="0" tIns="0" rIns="0" bIns="0" anchor="t" anchorCtr="0">
                <a:spAutoFit/>
              </a:bodyPr>
              <a:lstStyle/>
              <a:p>
                <a:pPr algn="ctr"/>
                <a:r>
                  <a:rPr lang="ko-KR" sz="980" dirty="0">
                    <a:solidFill>
                      <a:srgbClr val="6B7280"/>
                    </a:solidFill>
                    <a:latin typeface="+mn-lt"/>
                    <a:ea typeface="+mn-ea"/>
                    <a:cs typeface="+mn-cs"/>
                  </a:rPr>
                  <a:t>7월</a:t>
                </a:r>
              </a:p>
            </p:txBody>
          </p:sp>
          <p:sp>
            <p:nvSpPr>
              <p:cNvPr id="49" name="TextBox 49"/>
              <p:cNvSpPr txBox="1"/>
              <p:nvPr/>
            </p:nvSpPr>
            <p:spPr>
              <a:xfrm>
                <a:off x="9979778" y="4838700"/>
                <a:ext cx="214394" cy="191643"/>
              </a:xfrm>
              <a:prstGeom prst="rect">
                <a:avLst/>
              </a:prstGeom>
              <a:noFill/>
              <a:ln>
                <a:noFill/>
              </a:ln>
            </p:spPr>
            <p:txBody>
              <a:bodyPr wrap="none" lIns="0" tIns="0" rIns="0" bIns="0" anchor="t" anchorCtr="0">
                <a:spAutoFit/>
              </a:bodyPr>
              <a:lstStyle/>
              <a:p>
                <a:pPr algn="ctr"/>
                <a:r>
                  <a:rPr lang="ko-KR" sz="980" dirty="0">
                    <a:solidFill>
                      <a:srgbClr val="6B7280"/>
                    </a:solidFill>
                    <a:latin typeface="+mn-lt"/>
                    <a:ea typeface="+mn-ea"/>
                    <a:cs typeface="+mn-cs"/>
                  </a:rPr>
                  <a:t>8월</a:t>
                </a:r>
              </a:p>
            </p:txBody>
          </p:sp>
        </p:grpSp>
        <p:sp>
          <p:nvSpPr>
            <p:cNvPr id="51" name="Rectangle 51"/>
            <p:cNvSpPr/>
            <p:nvPr/>
          </p:nvSpPr>
          <p:spPr>
            <a:xfrm>
              <a:off x="6534150" y="4619625"/>
              <a:ext cx="381000" cy="152400"/>
            </a:xfrm>
            <a:prstGeom prst="roundRect">
              <a:avLst>
                <a:gd name="adj" fmla="val 18750"/>
              </a:avLst>
            </a:prstGeom>
            <a:solidFill>
              <a:srgbClr val="0B1E3C"/>
            </a:solidFill>
            <a:ln>
              <a:noFill/>
            </a:ln>
          </p:spPr>
        </p:sp>
        <p:sp>
          <p:nvSpPr>
            <p:cNvPr id="52" name="TextBox 52"/>
            <p:cNvSpPr txBox="1"/>
            <p:nvPr/>
          </p:nvSpPr>
          <p:spPr>
            <a:xfrm>
              <a:off x="6528435" y="4375150"/>
              <a:ext cx="2544248"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5.7~16 정기 GPR 탐사 · 공동 미발견</a:t>
              </a:r>
            </a:p>
          </p:txBody>
        </p:sp>
        <p:sp>
          <p:nvSpPr>
            <p:cNvPr id="53" name="Ellipse 53"/>
            <p:cNvSpPr/>
            <p:nvPr/>
          </p:nvSpPr>
          <p:spPr>
            <a:xfrm>
              <a:off x="11220450" y="4610100"/>
              <a:ext cx="171450" cy="171450"/>
            </a:xfrm>
            <a:prstGeom prst="ellipse">
              <a:avLst/>
            </a:prstGeom>
            <a:solidFill>
              <a:srgbClr val="C62828"/>
            </a:solidFill>
            <a:ln>
              <a:noFill/>
            </a:ln>
          </p:spPr>
        </p:sp>
        <p:sp>
          <p:nvSpPr>
            <p:cNvPr id="54" name="TextBox 54"/>
            <p:cNvSpPr txBox="1"/>
            <p:nvPr/>
          </p:nvSpPr>
          <p:spPr>
            <a:xfrm>
              <a:off x="10425405" y="4375150"/>
              <a:ext cx="1010310" cy="220028"/>
            </a:xfrm>
            <a:prstGeom prst="rect">
              <a:avLst/>
            </a:prstGeom>
            <a:noFill/>
            <a:ln>
              <a:noFill/>
            </a:ln>
          </p:spPr>
          <p:txBody>
            <a:bodyPr wrap="none" lIns="0" tIns="0" rIns="0" bIns="0" anchor="t" anchorCtr="0">
              <a:spAutoFit/>
            </a:bodyPr>
            <a:lstStyle/>
            <a:p>
              <a:pPr algn="r"/>
              <a:r>
                <a:rPr lang="ko-KR" sz="1120" b="1" dirty="0">
                  <a:solidFill>
                    <a:srgbClr val="C62828"/>
                  </a:solidFill>
                  <a:latin typeface="+mn-lt"/>
                  <a:ea typeface="+mn-ea"/>
                  <a:cs typeface="+mn-cs"/>
                </a:rPr>
                <a:t>8.29 도로함몰</a:t>
              </a:r>
            </a:p>
          </p:txBody>
        </p:sp>
        <p:sp>
          <p:nvSpPr>
            <p:cNvPr id="55" name="TextBox 55"/>
            <p:cNvSpPr txBox="1"/>
            <p:nvPr/>
          </p:nvSpPr>
          <p:spPr>
            <a:xfrm>
              <a:off x="7041137" y="5067300"/>
              <a:ext cx="4129526" cy="250317"/>
            </a:xfrm>
            <a:prstGeom prst="rect">
              <a:avLst/>
            </a:prstGeom>
            <a:noFill/>
            <a:ln>
              <a:noFill/>
            </a:ln>
          </p:spPr>
          <p:txBody>
            <a:bodyPr wrap="none" lIns="0" tIns="0" rIns="0" bIns="0" anchor="t" anchorCtr="0">
              <a:spAutoFit/>
            </a:bodyPr>
            <a:lstStyle/>
            <a:p>
              <a:pPr algn="ctr"/>
              <a:r>
                <a:rPr lang="ko-KR" sz="1280" b="1" dirty="0">
                  <a:solidFill>
                    <a:srgbClr val="0B1E3C"/>
                  </a:solidFill>
                  <a:latin typeface="+mn-lt"/>
                  <a:ea typeface="+mn-ea"/>
                  <a:cs typeface="+mn-cs"/>
                </a:rPr>
                <a:t>이 사이의 지하 변화는 어디에도 기록되지 않았습니다</a:t>
              </a:r>
            </a:p>
          </p:txBody>
        </p:sp>
        <p:sp>
          <p:nvSpPr>
            <p:cNvPr id="56" name="TextBox 56"/>
            <p:cNvSpPr txBox="1"/>
            <p:nvPr/>
          </p:nvSpPr>
          <p:spPr>
            <a:xfrm>
              <a:off x="6646332" y="5327650"/>
              <a:ext cx="4919137"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탐사의 실패가 아니라, 한 시점의 결과는 그 시점만 말해 준다는 뜻입니다</a:t>
              </a:r>
            </a:p>
          </p:txBody>
        </p:sp>
      </p:grpSp>
      <p:grpSp>
        <p:nvGrpSpPr>
          <p:cNvPr id="60" name="conclusion"/>
          <p:cNvGrpSpPr/>
          <p:nvPr/>
        </p:nvGrpSpPr>
        <p:grpSpPr>
          <a:xfrm>
            <a:off x="533400" y="5715000"/>
            <a:ext cx="11125200" cy="495300"/>
            <a:chOff x="533400" y="5715000"/>
            <a:chExt cx="11125200" cy="495300"/>
          </a:xfrm>
        </p:grpSpPr>
        <p:sp>
          <p:nvSpPr>
            <p:cNvPr id="58" name="Rectangle 58"/>
            <p:cNvSpPr/>
            <p:nvPr/>
          </p:nvSpPr>
          <p:spPr>
            <a:xfrm>
              <a:off x="533400" y="5715000"/>
              <a:ext cx="11125200" cy="495300"/>
            </a:xfrm>
            <a:prstGeom prst="rect">
              <a:avLst/>
            </a:prstGeom>
            <a:solidFill>
              <a:srgbClr val="0B1E3C"/>
            </a:solidFill>
            <a:ln>
              <a:noFill/>
            </a:ln>
          </p:spPr>
        </p:sp>
        <p:sp>
          <p:nvSpPr>
            <p:cNvPr id="59" name="TextBox 59"/>
            <p:cNvSpPr txBox="1"/>
            <p:nvPr/>
          </p:nvSpPr>
          <p:spPr>
            <a:xfrm>
              <a:off x="753999" y="5848350"/>
              <a:ext cx="8746448"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 xml:space="preserve">기존 GPR을 대체하지 않습니다. </a:t>
              </a:r>
              <a:r>
                <a:rPr lang="ko-KR" sz="1580" b="1" dirty="0">
                  <a:solidFill>
                    <a:srgbClr val="F5B700"/>
                  </a:solidFill>
                  <a:latin typeface="+mn-lt"/>
                  <a:ea typeface="+mn-ea"/>
                  <a:cs typeface="+mn-cs"/>
                </a:rPr>
                <a:t>측정과 측정 사이의 시간</a:t>
              </a:r>
              <a:r>
                <a:rPr lang="ko-KR" sz="1580" b="1" dirty="0">
                  <a:solidFill>
                    <a:srgbClr val="FFFFFF"/>
                  </a:solidFill>
                  <a:latin typeface="+mn-lt"/>
                  <a:ea typeface="+mn-ea"/>
                  <a:cs typeface="+mn-cs"/>
                </a:rPr>
                <a:t>, 그리고 현장 업무를 연결합니다.</a:t>
              </a:r>
            </a:p>
          </p:txBody>
        </p:sp>
      </p:grpSp>
      <p:grpSp>
        <p:nvGrpSpPr>
          <p:cNvPr id="62" name="source"/>
          <p:cNvGrpSpPr/>
          <p:nvPr/>
        </p:nvGrpSpPr>
        <p:grpSpPr>
          <a:xfrm>
            <a:off x="528638" y="6324600"/>
            <a:ext cx="8230438" cy="176212"/>
            <a:chOff x="528638" y="6324600"/>
            <a:chExt cx="8230438" cy="176212"/>
          </a:xfrm>
        </p:grpSpPr>
        <p:sp>
          <p:nvSpPr>
            <p:cNvPr id="61" name="TextBox 61"/>
            <p:cNvSpPr txBox="1"/>
            <p:nvPr/>
          </p:nvSpPr>
          <p:spPr>
            <a:xfrm>
              <a:off x="528638" y="6324600"/>
              <a:ext cx="8230438"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출처: 경향신문(2025.10.19) 서울시 GPR 탐사 · 서울시 지반침하 예방체계 강화 보도자료 · 서울시 차량탑재형 GPR · 뉴시스(2024.8.30) 연희동 함몰</a:t>
              </a:r>
            </a:p>
          </p:txBody>
        </p:sp>
      </p:grpSp>
      <p:grpSp>
        <p:nvGrpSpPr>
          <p:cNvPr id="65" name="footer"/>
          <p:cNvGrpSpPr/>
          <p:nvPr/>
        </p:nvGrpSpPr>
        <p:grpSpPr>
          <a:xfrm>
            <a:off x="528638" y="6610350"/>
            <a:ext cx="11134724" cy="176212"/>
            <a:chOff x="528638" y="6610350"/>
            <a:chExt cx="11134724" cy="176212"/>
          </a:xfrm>
        </p:grpSpPr>
        <p:sp>
          <p:nvSpPr>
            <p:cNvPr id="63" name="TextBox 63"/>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64" name="TextBox 6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04 / 12</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4p</a:t>
              </a:r>
            </a:p>
          </p:txBody>
        </p:sp>
        <p:sp>
          <p:nvSpPr>
            <p:cNvPr id="6" name="TextBox 6"/>
            <p:cNvSpPr txBox="1"/>
            <p:nvPr/>
          </p:nvSpPr>
          <p:spPr>
            <a:xfrm>
              <a:off x="2356866" y="301625"/>
              <a:ext cx="197790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GroundWatch 운영 파이프라인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137447" cy="586740"/>
            <a:chOff x="518160" y="774700"/>
            <a:chExt cx="9137447" cy="586740"/>
          </a:xfrm>
        </p:grpSpPr>
        <p:sp>
          <p:nvSpPr>
            <p:cNvPr id="9" name="TextBox 9"/>
            <p:cNvSpPr txBox="1"/>
            <p:nvPr/>
          </p:nvSpPr>
          <p:spPr>
            <a:xfrm>
              <a:off x="518160" y="774700"/>
              <a:ext cx="9137447"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반복 순찰이 탐사 결과를 다음 현장 업무로 연결한다</a:t>
              </a:r>
            </a:p>
          </p:txBody>
        </p:sp>
      </p:grpSp>
      <p:grpSp>
        <p:nvGrpSpPr>
          <p:cNvPr id="12" name="lead"/>
          <p:cNvGrpSpPr/>
          <p:nvPr/>
        </p:nvGrpSpPr>
        <p:grpSpPr>
          <a:xfrm>
            <a:off x="526161" y="1365250"/>
            <a:ext cx="8043215" cy="278702"/>
            <a:chOff x="526161" y="1365250"/>
            <a:chExt cx="8043215" cy="278702"/>
          </a:xfrm>
        </p:grpSpPr>
        <p:sp>
          <p:nvSpPr>
            <p:cNvPr id="11" name="TextBox 11"/>
            <p:cNvSpPr txBox="1"/>
            <p:nvPr/>
          </p:nvSpPr>
          <p:spPr>
            <a:xfrm>
              <a:off x="526161" y="1365250"/>
              <a:ext cx="8043215" cy="278702"/>
            </a:xfrm>
            <a:prstGeom prst="rect">
              <a:avLst/>
            </a:prstGeom>
            <a:noFill/>
            <a:ln>
              <a:noFill/>
            </a:ln>
          </p:spPr>
          <p:txBody>
            <a:bodyPr wrap="none" lIns="0" tIns="0" rIns="0" bIns="0" anchor="t" anchorCtr="0">
              <a:spAutoFit/>
            </a:bodyPr>
            <a:lstStyle/>
            <a:p>
              <a:pPr algn="l"/>
              <a:r>
                <a:rPr lang="ko-KR" sz="1420" dirty="0">
                  <a:solidFill>
                    <a:srgbClr val="4B5563"/>
                  </a:solidFill>
                  <a:latin typeface="+mn-lt"/>
                  <a:ea typeface="+mn-ea"/>
                  <a:cs typeface="+mn-cs"/>
                </a:rPr>
                <a:t>한 번의 탐사로 끝내지 않고, 같은 길을 회차마다 다시 보며 달라진 곳만 현장에서 확인합니다.</a:t>
              </a:r>
            </a:p>
          </p:txBody>
        </p:sp>
      </p:grpSp>
      <p:grpSp>
        <p:nvGrpSpPr>
          <p:cNvPr id="23" name="stage-1"/>
          <p:cNvGrpSpPr/>
          <p:nvPr/>
        </p:nvGrpSpPr>
        <p:grpSpPr>
          <a:xfrm>
            <a:off x="524256" y="1733550"/>
            <a:ext cx="2618994" cy="3145917"/>
            <a:chOff x="524256" y="1733550"/>
            <a:chExt cx="2618994" cy="3145917"/>
          </a:xfrm>
        </p:grpSpPr>
        <p:pic>
          <p:nvPicPr>
            <p:cNvPr id="13" name="Image 13"/>
            <p:cNvPicPr>
              <a:picLocks noChangeAspect="1"/>
            </p:cNvPicPr>
            <p:nvPr/>
          </p:nvPicPr>
          <p:blipFill>
            <a:blip r:embed="rId2"/>
            <a:srcRect l="0" t="3467" r="0" b="3467"/>
            <a:stretch>
              <a:fillRect/>
            </a:stretch>
          </p:blipFill>
          <p:spPr>
            <a:xfrm>
              <a:off x="533400" y="1733550"/>
              <a:ext cx="2609850" cy="1619250"/>
            </a:xfrm>
            <a:prstGeom prst="rect">
              <a:avLst/>
            </a:prstGeom>
          </p:spPr>
        </p:pic>
        <p:sp>
          <p:nvSpPr>
            <p:cNvPr id="14" name="TextBox 14"/>
            <p:cNvSpPr txBox="1"/>
            <p:nvPr/>
          </p:nvSpPr>
          <p:spPr>
            <a:xfrm>
              <a:off x="528066" y="3530600"/>
              <a:ext cx="575219" cy="205359"/>
            </a:xfrm>
            <a:prstGeom prst="rect">
              <a:avLst/>
            </a:prstGeom>
            <a:noFill/>
            <a:ln>
              <a:noFill/>
            </a:ln>
          </p:spPr>
          <p:txBody>
            <a:bodyPr wrap="none" lIns="0" tIns="0" rIns="0" bIns="0" anchor="t" anchorCtr="0">
              <a:spAutoFit/>
            </a:bodyPr>
            <a:lstStyle/>
            <a:p>
              <a:pPr algn="l"/>
              <a:r>
                <a:rPr lang="en-US" sz="1050" b="1" dirty="0">
                  <a:solidFill>
                    <a:srgbClr val="6B7280"/>
                  </a:solidFill>
                  <a:latin typeface="+mn-lt"/>
                  <a:ea typeface="+mn-ea"/>
                  <a:cs typeface="+mn-cs"/>
                </a:rPr>
                <a:t>STEP 01</a:t>
              </a:r>
            </a:p>
          </p:txBody>
        </p:sp>
        <p:sp>
          <p:nvSpPr>
            <p:cNvPr id="15" name="TextBox 15"/>
            <p:cNvSpPr txBox="1"/>
            <p:nvPr/>
          </p:nvSpPr>
          <p:spPr>
            <a:xfrm>
              <a:off x="52425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반복 측정</a:t>
              </a:r>
            </a:p>
          </p:txBody>
        </p:sp>
        <p:grpSp>
          <p:nvGrpSpPr>
            <p:cNvPr id="22" name="Group 22"/>
            <p:cNvGrpSpPr/>
            <p:nvPr/>
          </p:nvGrpSpPr>
          <p:grpSpPr>
            <a:xfrm>
              <a:off x="533400" y="4095750"/>
              <a:ext cx="2242053" cy="783717"/>
              <a:chOff x="533400" y="4095750"/>
              <a:chExt cx="2242053" cy="783717"/>
            </a:xfrm>
          </p:grpSpPr>
          <p:sp>
            <p:nvSpPr>
              <p:cNvPr id="16" name="Rectangle 16"/>
              <p:cNvSpPr/>
              <p:nvPr/>
            </p:nvSpPr>
            <p:spPr>
              <a:xfrm>
                <a:off x="533400" y="4171950"/>
                <a:ext cx="57150" cy="57150"/>
              </a:xfrm>
              <a:prstGeom prst="rect">
                <a:avLst/>
              </a:prstGeom>
              <a:solidFill>
                <a:srgbClr val="F5B700"/>
              </a:solidFill>
              <a:ln>
                <a:noFill/>
              </a:ln>
            </p:spPr>
          </p:sp>
          <p:sp>
            <p:nvSpPr>
              <p:cNvPr id="17" name="TextBox 17"/>
              <p:cNvSpPr txBox="1"/>
              <p:nvPr/>
            </p:nvSpPr>
            <p:spPr>
              <a:xfrm>
                <a:off x="660273" y="4095750"/>
                <a:ext cx="193425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위험·정기 순찰구간 등록</a:t>
                </a:r>
              </a:p>
            </p:txBody>
          </p:sp>
          <p:sp>
            <p:nvSpPr>
              <p:cNvPr id="18" name="Rectangle 18"/>
              <p:cNvSpPr/>
              <p:nvPr/>
            </p:nvSpPr>
            <p:spPr>
              <a:xfrm>
                <a:off x="533400" y="4438650"/>
                <a:ext cx="57150" cy="57150"/>
              </a:xfrm>
              <a:prstGeom prst="rect">
                <a:avLst/>
              </a:prstGeom>
              <a:solidFill>
                <a:srgbClr val="F5B700"/>
              </a:solidFill>
              <a:ln>
                <a:noFill/>
              </a:ln>
            </p:spPr>
          </p:sp>
          <p:sp>
            <p:nvSpPr>
              <p:cNvPr id="19" name="TextBox 19"/>
              <p:cNvSpPr txBox="1"/>
              <p:nvPr/>
            </p:nvSpPr>
            <p:spPr>
              <a:xfrm>
                <a:off x="660273" y="4362450"/>
                <a:ext cx="21151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새벽에 같은 경로 반복 주행</a:t>
                </a:r>
              </a:p>
            </p:txBody>
          </p:sp>
          <p:sp>
            <p:nvSpPr>
              <p:cNvPr id="20" name="Rectangle 20"/>
              <p:cNvSpPr/>
              <p:nvPr/>
            </p:nvSpPr>
            <p:spPr>
              <a:xfrm>
                <a:off x="533400" y="4705350"/>
                <a:ext cx="57150" cy="57150"/>
              </a:xfrm>
              <a:prstGeom prst="rect">
                <a:avLst/>
              </a:prstGeom>
              <a:solidFill>
                <a:srgbClr val="F5B700"/>
              </a:solidFill>
              <a:ln>
                <a:noFill/>
              </a:ln>
            </p:spPr>
          </p:sp>
          <p:sp>
            <p:nvSpPr>
              <p:cNvPr id="21" name="TextBox 21"/>
              <p:cNvSpPr txBox="1"/>
              <p:nvPr/>
            </p:nvSpPr>
            <p:spPr>
              <a:xfrm>
                <a:off x="660273" y="4629150"/>
                <a:ext cx="1723085"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GPR·카메라 동시 수집</a:t>
                </a:r>
              </a:p>
            </p:txBody>
          </p:sp>
        </p:grpSp>
      </p:grpSp>
      <p:grpSp>
        <p:nvGrpSpPr>
          <p:cNvPr id="25" name="arrow-12"/>
          <p:cNvGrpSpPr/>
          <p:nvPr/>
        </p:nvGrpSpPr>
        <p:grpSpPr>
          <a:xfrm>
            <a:off x="3171825" y="2543175"/>
            <a:ext cx="161925" cy="1"/>
            <a:chOff x="3171825" y="2543175"/>
            <a:chExt cx="161925" cy="1"/>
          </a:xfrm>
        </p:grpSpPr>
        <p:sp>
          <p:nvSpPr>
            <p:cNvPr id="24" name="Line 24"/>
            <p:cNvSpPr/>
            <p:nvPr/>
          </p:nvSpPr>
          <p:spPr>
            <a:xfrm>
              <a:off x="3171825" y="2543175"/>
              <a:ext cx="161925" cy="1"/>
            </a:xfrm>
            <a:prstGeom prst="line">
              <a:avLst/>
            </a:prstGeom>
            <a:noFill/>
            <a:ln w="19050">
              <a:solidFill>
                <a:srgbClr val="0B1E3C"/>
              </a:solidFill>
              <a:tailEnd type="triangle" w="lg" len="lg"/>
            </a:ln>
          </p:spPr>
        </p:sp>
      </p:grpSp>
      <p:grpSp>
        <p:nvGrpSpPr>
          <p:cNvPr id="43" name="stage-2"/>
          <p:cNvGrpSpPr/>
          <p:nvPr/>
        </p:nvGrpSpPr>
        <p:grpSpPr>
          <a:xfrm>
            <a:off x="3362706" y="1733550"/>
            <a:ext cx="2618994" cy="3145917"/>
            <a:chOff x="3362706" y="1733550"/>
            <a:chExt cx="2618994" cy="3145917"/>
          </a:xfrm>
        </p:grpSpPr>
        <p:sp>
          <p:nvSpPr>
            <p:cNvPr id="26" name="Rectangle 26"/>
            <p:cNvSpPr/>
            <p:nvPr/>
          </p:nvSpPr>
          <p:spPr>
            <a:xfrm>
              <a:off x="3371850" y="1733550"/>
              <a:ext cx="2609850" cy="1619250"/>
            </a:xfrm>
            <a:prstGeom prst="rect">
              <a:avLst/>
            </a:prstGeom>
            <a:solidFill>
              <a:srgbClr val="2A2E33"/>
            </a:solidFill>
            <a:ln>
              <a:noFill/>
            </a:ln>
          </p:spPr>
        </p:sp>
        <p:pic>
          <p:nvPicPr>
            <p:cNvPr id="27" name="Image 27"/>
            <p:cNvPicPr>
              <a:picLocks noChangeAspect="1"/>
            </p:cNvPicPr>
            <p:nvPr/>
          </p:nvPicPr>
          <p:blipFill>
            <a:blip r:embed="rId3"/>
            <a:srcRect l="1410" t="0" r="1411" b="0"/>
            <a:stretch>
              <a:fillRect/>
            </a:stretch>
          </p:blipFill>
          <p:spPr>
            <a:xfrm>
              <a:off x="3371850" y="1733550"/>
              <a:ext cx="2609850" cy="790575"/>
            </a:xfrm>
            <a:prstGeom prst="rect">
              <a:avLst/>
            </a:prstGeom>
          </p:spPr>
        </p:pic>
        <p:pic>
          <p:nvPicPr>
            <p:cNvPr id="28" name="Image 28"/>
            <p:cNvPicPr>
              <a:picLocks noChangeAspect="1"/>
            </p:cNvPicPr>
            <p:nvPr/>
          </p:nvPicPr>
          <p:blipFill>
            <a:blip r:embed="rId4"/>
            <a:srcRect l="1410" t="0" r="1411" b="0"/>
            <a:stretch>
              <a:fillRect/>
            </a:stretch>
          </p:blipFill>
          <p:spPr>
            <a:xfrm>
              <a:off x="3371850" y="2562225"/>
              <a:ext cx="2609850" cy="790575"/>
            </a:xfrm>
            <a:prstGeom prst="rect">
              <a:avLst/>
            </a:prstGeom>
          </p:spPr>
        </p:pic>
        <p:sp>
          <p:nvSpPr>
            <p:cNvPr id="29" name="Rectangle 29"/>
            <p:cNvSpPr/>
            <p:nvPr/>
          </p:nvSpPr>
          <p:spPr>
            <a:xfrm>
              <a:off x="3429000" y="1790700"/>
              <a:ext cx="590550" cy="190500"/>
            </a:xfrm>
            <a:prstGeom prst="roundRect">
              <a:avLst>
                <a:gd name="adj" fmla="val 15000"/>
              </a:avLst>
            </a:prstGeom>
            <a:solidFill>
              <a:srgbClr val="0B1E3C">
                <a:alpha val="85000"/>
              </a:srgbClr>
            </a:solidFill>
            <a:ln>
              <a:noFill/>
            </a:ln>
          </p:spPr>
        </p:sp>
        <p:sp>
          <p:nvSpPr>
            <p:cNvPr id="30" name="TextBox 30"/>
            <p:cNvSpPr txBox="1"/>
            <p:nvPr/>
          </p:nvSpPr>
          <p:spPr>
            <a:xfrm>
              <a:off x="3434688" y="1819275"/>
              <a:ext cx="57917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이전 회차</a:t>
              </a:r>
            </a:p>
          </p:txBody>
        </p:sp>
        <p:sp>
          <p:nvSpPr>
            <p:cNvPr id="31" name="Rectangle 31"/>
            <p:cNvSpPr/>
            <p:nvPr/>
          </p:nvSpPr>
          <p:spPr>
            <a:xfrm>
              <a:off x="3429000" y="2619375"/>
              <a:ext cx="590550" cy="190500"/>
            </a:xfrm>
            <a:prstGeom prst="roundRect">
              <a:avLst>
                <a:gd name="adj" fmla="val 15000"/>
              </a:avLst>
            </a:prstGeom>
            <a:solidFill>
              <a:srgbClr val="0B1E3C">
                <a:alpha val="85000"/>
              </a:srgbClr>
            </a:solidFill>
            <a:ln>
              <a:noFill/>
            </a:ln>
          </p:spPr>
        </p:sp>
        <p:sp>
          <p:nvSpPr>
            <p:cNvPr id="32" name="TextBox 32"/>
            <p:cNvSpPr txBox="1"/>
            <p:nvPr/>
          </p:nvSpPr>
          <p:spPr>
            <a:xfrm>
              <a:off x="3434688" y="2647950"/>
              <a:ext cx="57917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이번 회차</a:t>
              </a:r>
            </a:p>
          </p:txBody>
        </p:sp>
        <p:sp>
          <p:nvSpPr>
            <p:cNvPr id="33" name="Rectangle 33"/>
            <p:cNvSpPr/>
            <p:nvPr/>
          </p:nvSpPr>
          <p:spPr>
            <a:xfrm>
              <a:off x="4419600" y="2733675"/>
              <a:ext cx="1352550" cy="552450"/>
            </a:xfrm>
            <a:prstGeom prst="rect">
              <a:avLst/>
            </a:prstGeom>
            <a:noFill/>
            <a:ln w="23812">
              <a:solidFill>
                <a:srgbClr val="F5B700"/>
              </a:solidFill>
            </a:ln>
          </p:spPr>
        </p:sp>
        <p:sp>
          <p:nvSpPr>
            <p:cNvPr id="34" name="TextBox 34"/>
            <p:cNvSpPr txBox="1"/>
            <p:nvPr/>
          </p:nvSpPr>
          <p:spPr>
            <a:xfrm>
              <a:off x="3366516" y="3530600"/>
              <a:ext cx="575219" cy="205359"/>
            </a:xfrm>
            <a:prstGeom prst="rect">
              <a:avLst/>
            </a:prstGeom>
            <a:noFill/>
            <a:ln>
              <a:noFill/>
            </a:ln>
          </p:spPr>
          <p:txBody>
            <a:bodyPr wrap="none" lIns="0" tIns="0" rIns="0" bIns="0" anchor="t" anchorCtr="0">
              <a:spAutoFit/>
            </a:bodyPr>
            <a:lstStyle/>
            <a:p>
              <a:pPr algn="l"/>
              <a:r>
                <a:rPr lang="en-US" sz="1050" b="1" dirty="0">
                  <a:solidFill>
                    <a:srgbClr val="6B7280"/>
                  </a:solidFill>
                  <a:latin typeface="+mn-lt"/>
                  <a:ea typeface="+mn-ea"/>
                  <a:cs typeface="+mn-cs"/>
                </a:rPr>
                <a:t>STEP 02</a:t>
              </a:r>
            </a:p>
          </p:txBody>
        </p:sp>
        <p:sp>
          <p:nvSpPr>
            <p:cNvPr id="35" name="TextBox 35"/>
            <p:cNvSpPr txBox="1"/>
            <p:nvPr/>
          </p:nvSpPr>
          <p:spPr>
            <a:xfrm>
              <a:off x="336270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변화 감지</a:t>
              </a:r>
            </a:p>
          </p:txBody>
        </p:sp>
        <p:grpSp>
          <p:nvGrpSpPr>
            <p:cNvPr id="42" name="Group 42"/>
            <p:cNvGrpSpPr/>
            <p:nvPr/>
          </p:nvGrpSpPr>
          <p:grpSpPr>
            <a:xfrm>
              <a:off x="3371850" y="4095750"/>
              <a:ext cx="2362672" cy="783717"/>
              <a:chOff x="3371850" y="4095750"/>
              <a:chExt cx="2362672" cy="783717"/>
            </a:xfrm>
          </p:grpSpPr>
          <p:sp>
            <p:nvSpPr>
              <p:cNvPr id="36" name="Rectangle 36"/>
              <p:cNvSpPr/>
              <p:nvPr/>
            </p:nvSpPr>
            <p:spPr>
              <a:xfrm>
                <a:off x="3371850" y="4171950"/>
                <a:ext cx="57150" cy="57150"/>
              </a:xfrm>
              <a:prstGeom prst="rect">
                <a:avLst/>
              </a:prstGeom>
              <a:solidFill>
                <a:srgbClr val="F5B700"/>
              </a:solidFill>
              <a:ln>
                <a:noFill/>
              </a:ln>
            </p:spPr>
          </p:sp>
          <p:sp>
            <p:nvSpPr>
              <p:cNvPr id="37" name="TextBox 37"/>
              <p:cNvSpPr txBox="1"/>
              <p:nvPr/>
            </p:nvSpPr>
            <p:spPr>
              <a:xfrm>
                <a:off x="3498723" y="4095750"/>
                <a:ext cx="223514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위치·깊이·시간으로 4D 저장</a:t>
                </a:r>
              </a:p>
            </p:txBody>
          </p:sp>
          <p:sp>
            <p:nvSpPr>
              <p:cNvPr id="38" name="Rectangle 38"/>
              <p:cNvSpPr/>
              <p:nvPr/>
            </p:nvSpPr>
            <p:spPr>
              <a:xfrm>
                <a:off x="3371850" y="4438650"/>
                <a:ext cx="57150" cy="57150"/>
              </a:xfrm>
              <a:prstGeom prst="rect">
                <a:avLst/>
              </a:prstGeom>
              <a:solidFill>
                <a:srgbClr val="F5B700"/>
              </a:solidFill>
              <a:ln>
                <a:noFill/>
              </a:ln>
            </p:spPr>
          </p:sp>
          <p:sp>
            <p:nvSpPr>
              <p:cNvPr id="39" name="TextBox 39"/>
              <p:cNvSpPr txBox="1"/>
              <p:nvPr/>
            </p:nvSpPr>
            <p:spPr>
              <a:xfrm>
                <a:off x="3498723" y="4362450"/>
                <a:ext cx="2097623"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AI가 이전 회차와 변화 선별</a:t>
                </a:r>
              </a:p>
            </p:txBody>
          </p:sp>
          <p:sp>
            <p:nvSpPr>
              <p:cNvPr id="40" name="Rectangle 40"/>
              <p:cNvSpPr/>
              <p:nvPr/>
            </p:nvSpPr>
            <p:spPr>
              <a:xfrm>
                <a:off x="3371850" y="4705350"/>
                <a:ext cx="57150" cy="57150"/>
              </a:xfrm>
              <a:prstGeom prst="rect">
                <a:avLst/>
              </a:prstGeom>
              <a:solidFill>
                <a:srgbClr val="F5B700"/>
              </a:solidFill>
              <a:ln>
                <a:noFill/>
              </a:ln>
            </p:spPr>
          </p:sp>
          <p:sp>
            <p:nvSpPr>
              <p:cNvPr id="41" name="TextBox 41"/>
              <p:cNvSpPr txBox="1"/>
              <p:nvPr/>
            </p:nvSpPr>
            <p:spPr>
              <a:xfrm>
                <a:off x="3498723" y="4629150"/>
                <a:ext cx="223579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전문가가 원시 데이터로 승인</a:t>
                </a:r>
              </a:p>
            </p:txBody>
          </p:sp>
        </p:grpSp>
      </p:grpSp>
      <p:grpSp>
        <p:nvGrpSpPr>
          <p:cNvPr id="45" name="arrow-23"/>
          <p:cNvGrpSpPr/>
          <p:nvPr/>
        </p:nvGrpSpPr>
        <p:grpSpPr>
          <a:xfrm>
            <a:off x="6010275" y="2543175"/>
            <a:ext cx="161925" cy="1"/>
            <a:chOff x="6010275" y="2543175"/>
            <a:chExt cx="161925" cy="1"/>
          </a:xfrm>
        </p:grpSpPr>
        <p:sp>
          <p:nvSpPr>
            <p:cNvPr id="44" name="Line 44"/>
            <p:cNvSpPr/>
            <p:nvPr/>
          </p:nvSpPr>
          <p:spPr>
            <a:xfrm>
              <a:off x="6010275" y="2543175"/>
              <a:ext cx="161925" cy="1"/>
            </a:xfrm>
            <a:prstGeom prst="line">
              <a:avLst/>
            </a:prstGeom>
            <a:noFill/>
            <a:ln w="19050">
              <a:solidFill>
                <a:srgbClr val="0B1E3C"/>
              </a:solidFill>
              <a:tailEnd type="triangle" w="lg" len="lg"/>
            </a:ln>
          </p:spPr>
        </p:sp>
      </p:grpSp>
      <p:grpSp>
        <p:nvGrpSpPr>
          <p:cNvPr id="59" name="stage-3"/>
          <p:cNvGrpSpPr/>
          <p:nvPr/>
        </p:nvGrpSpPr>
        <p:grpSpPr>
          <a:xfrm>
            <a:off x="6201156" y="1733550"/>
            <a:ext cx="2618994" cy="3145917"/>
            <a:chOff x="6201156" y="1733550"/>
            <a:chExt cx="2618994" cy="3145917"/>
          </a:xfrm>
        </p:grpSpPr>
        <p:pic>
          <p:nvPicPr>
            <p:cNvPr id="46" name="Image 46"/>
            <p:cNvPicPr>
              <a:picLocks noChangeAspect="1"/>
            </p:cNvPicPr>
            <p:nvPr/>
          </p:nvPicPr>
          <p:blipFill>
            <a:blip r:embed="rId5"/>
            <a:srcRect l="0" t="3380" r="0" b="3379"/>
            <a:stretch>
              <a:fillRect/>
            </a:stretch>
          </p:blipFill>
          <p:spPr>
            <a:xfrm>
              <a:off x="6210300" y="1733550"/>
              <a:ext cx="2609850" cy="1619250"/>
            </a:xfrm>
            <a:prstGeom prst="rect">
              <a:avLst/>
            </a:prstGeom>
          </p:spPr>
        </p:pic>
        <p:sp>
          <p:nvSpPr>
            <p:cNvPr id="47" name="Polygon 47"/>
            <p:cNvSpPr/>
            <p:nvPr/>
          </p:nvSpPr>
          <p:spPr>
            <a:xfrm>
              <a:off x="7172325" y="2714625"/>
              <a:ext cx="981075" cy="381000"/>
            </a:xfrm>
            <a:custGeom>
              <a:avLst/>
              <a:gdLst/>
              <a:ahLst/>
              <a:cxnLst/>
              <a:rect l="l" t="t" r="r" b="b"/>
              <a:pathLst>
                <a:path w="981075" h="381000">
                  <a:moveTo>
                    <a:pt x="0" y="0"/>
                  </a:moveTo>
                  <a:lnTo>
                    <a:pt x="190500" y="0"/>
                  </a:lnTo>
                  <a:lnTo>
                    <a:pt x="981075" y="381000"/>
                  </a:lnTo>
                  <a:lnTo>
                    <a:pt x="0" y="381000"/>
                  </a:lnTo>
                  <a:close/>
                </a:path>
              </a:pathLst>
            </a:custGeom>
            <a:solidFill>
              <a:srgbClr val="F5B700">
                <a:alpha val="30000"/>
              </a:srgbClr>
            </a:solidFill>
            <a:ln w="19050">
              <a:solidFill>
                <a:srgbClr val="F5B700"/>
              </a:solidFill>
            </a:ln>
          </p:spPr>
        </p:sp>
        <p:sp>
          <p:nvSpPr>
            <p:cNvPr id="48" name="Rectangle 48"/>
            <p:cNvSpPr/>
            <p:nvPr/>
          </p:nvSpPr>
          <p:spPr>
            <a:xfrm>
              <a:off x="6267450" y="1790700"/>
              <a:ext cx="990600" cy="190500"/>
            </a:xfrm>
            <a:prstGeom prst="roundRect">
              <a:avLst>
                <a:gd name="adj" fmla="val 15000"/>
              </a:avLst>
            </a:prstGeom>
            <a:solidFill>
              <a:srgbClr val="0B1E3C">
                <a:alpha val="85000"/>
              </a:srgbClr>
            </a:solidFill>
            <a:ln>
              <a:noFill/>
            </a:ln>
          </p:spPr>
        </p:sp>
        <p:sp>
          <p:nvSpPr>
            <p:cNvPr id="49" name="TextBox 49"/>
            <p:cNvSpPr txBox="1"/>
            <p:nvPr/>
          </p:nvSpPr>
          <p:spPr>
            <a:xfrm>
              <a:off x="6304744" y="1819275"/>
              <a:ext cx="916012"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AR 재탐사 범위</a:t>
              </a:r>
            </a:p>
          </p:txBody>
        </p:sp>
        <p:sp>
          <p:nvSpPr>
            <p:cNvPr id="50" name="TextBox 50"/>
            <p:cNvSpPr txBox="1"/>
            <p:nvPr/>
          </p:nvSpPr>
          <p:spPr>
            <a:xfrm>
              <a:off x="6204966" y="3530600"/>
              <a:ext cx="575219" cy="205359"/>
            </a:xfrm>
            <a:prstGeom prst="rect">
              <a:avLst/>
            </a:prstGeom>
            <a:noFill/>
            <a:ln>
              <a:noFill/>
            </a:ln>
          </p:spPr>
          <p:txBody>
            <a:bodyPr wrap="none" lIns="0" tIns="0" rIns="0" bIns="0" anchor="t" anchorCtr="0">
              <a:spAutoFit/>
            </a:bodyPr>
            <a:lstStyle/>
            <a:p>
              <a:pPr algn="l"/>
              <a:r>
                <a:rPr lang="en-US" sz="1050" b="1" dirty="0">
                  <a:solidFill>
                    <a:srgbClr val="6B7280"/>
                  </a:solidFill>
                  <a:latin typeface="+mn-lt"/>
                  <a:ea typeface="+mn-ea"/>
                  <a:cs typeface="+mn-cs"/>
                </a:rPr>
                <a:t>STEP 03</a:t>
              </a:r>
            </a:p>
          </p:txBody>
        </p:sp>
        <p:sp>
          <p:nvSpPr>
            <p:cNvPr id="51" name="TextBox 51"/>
            <p:cNvSpPr txBox="1"/>
            <p:nvPr/>
          </p:nvSpPr>
          <p:spPr>
            <a:xfrm>
              <a:off x="6201156" y="3727450"/>
              <a:ext cx="1306198"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현장 재확인</a:t>
              </a:r>
            </a:p>
          </p:txBody>
        </p:sp>
        <p:grpSp>
          <p:nvGrpSpPr>
            <p:cNvPr id="58" name="Group 58"/>
            <p:cNvGrpSpPr/>
            <p:nvPr/>
          </p:nvGrpSpPr>
          <p:grpSpPr>
            <a:xfrm>
              <a:off x="6210300" y="4095750"/>
              <a:ext cx="2509139" cy="783717"/>
              <a:chOff x="6210300" y="4095750"/>
              <a:chExt cx="2509139" cy="783717"/>
            </a:xfrm>
          </p:grpSpPr>
          <p:sp>
            <p:nvSpPr>
              <p:cNvPr id="52" name="Rectangle 52"/>
              <p:cNvSpPr/>
              <p:nvPr/>
            </p:nvSpPr>
            <p:spPr>
              <a:xfrm>
                <a:off x="6210300" y="4171950"/>
                <a:ext cx="57150" cy="57150"/>
              </a:xfrm>
              <a:prstGeom prst="rect">
                <a:avLst/>
              </a:prstGeom>
              <a:solidFill>
                <a:srgbClr val="F5B700"/>
              </a:solidFill>
              <a:ln>
                <a:noFill/>
              </a:ln>
            </p:spPr>
          </p:sp>
          <p:sp>
            <p:nvSpPr>
              <p:cNvPr id="53" name="TextBox 53"/>
              <p:cNvSpPr txBox="1"/>
              <p:nvPr/>
            </p:nvSpPr>
            <p:spPr>
              <a:xfrm>
                <a:off x="6337173" y="4095750"/>
                <a:ext cx="2382266"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앱이 지점·안전 정차 위치 안내</a:t>
                </a:r>
              </a:p>
            </p:txBody>
          </p:sp>
          <p:sp>
            <p:nvSpPr>
              <p:cNvPr id="54" name="Rectangle 54"/>
              <p:cNvSpPr/>
              <p:nvPr/>
            </p:nvSpPr>
            <p:spPr>
              <a:xfrm>
                <a:off x="6210300" y="4438650"/>
                <a:ext cx="57150" cy="57150"/>
              </a:xfrm>
              <a:prstGeom prst="rect">
                <a:avLst/>
              </a:prstGeom>
              <a:solidFill>
                <a:srgbClr val="F5B700"/>
              </a:solidFill>
              <a:ln>
                <a:noFill/>
              </a:ln>
            </p:spPr>
          </p:sp>
          <p:sp>
            <p:nvSpPr>
              <p:cNvPr id="55" name="TextBox 55"/>
              <p:cNvSpPr txBox="1"/>
              <p:nvPr/>
            </p:nvSpPr>
            <p:spPr>
              <a:xfrm>
                <a:off x="6337173" y="4362450"/>
                <a:ext cx="225416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AR 글래스 + 수동 GPR 재탐사</a:t>
                </a:r>
              </a:p>
            </p:txBody>
          </p:sp>
          <p:sp>
            <p:nvSpPr>
              <p:cNvPr id="56" name="Rectangle 56"/>
              <p:cNvSpPr/>
              <p:nvPr/>
            </p:nvSpPr>
            <p:spPr>
              <a:xfrm>
                <a:off x="6210300" y="4705350"/>
                <a:ext cx="57150" cy="57150"/>
              </a:xfrm>
              <a:prstGeom prst="rect">
                <a:avLst/>
              </a:prstGeom>
              <a:solidFill>
                <a:srgbClr val="F5B700"/>
              </a:solidFill>
              <a:ln>
                <a:noFill/>
              </a:ln>
            </p:spPr>
          </p:sp>
          <p:sp>
            <p:nvSpPr>
              <p:cNvPr id="57" name="TextBox 57"/>
              <p:cNvSpPr txBox="1"/>
              <p:nvPr/>
            </p:nvSpPr>
            <p:spPr>
              <a:xfrm>
                <a:off x="6337173" y="4629150"/>
                <a:ext cx="1985945"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필요 시 천공·내시경 요청</a:t>
                </a:r>
              </a:p>
            </p:txBody>
          </p:sp>
        </p:grpSp>
      </p:grpSp>
      <p:grpSp>
        <p:nvGrpSpPr>
          <p:cNvPr id="61" name="arrow-34"/>
          <p:cNvGrpSpPr/>
          <p:nvPr/>
        </p:nvGrpSpPr>
        <p:grpSpPr>
          <a:xfrm>
            <a:off x="8848725" y="2543175"/>
            <a:ext cx="161925" cy="1"/>
            <a:chOff x="8848725" y="2543175"/>
            <a:chExt cx="161925" cy="1"/>
          </a:xfrm>
        </p:grpSpPr>
        <p:sp>
          <p:nvSpPr>
            <p:cNvPr id="60" name="Line 60"/>
            <p:cNvSpPr/>
            <p:nvPr/>
          </p:nvSpPr>
          <p:spPr>
            <a:xfrm>
              <a:off x="8848725" y="2543175"/>
              <a:ext cx="161925" cy="1"/>
            </a:xfrm>
            <a:prstGeom prst="line">
              <a:avLst/>
            </a:prstGeom>
            <a:noFill/>
            <a:ln w="19050">
              <a:solidFill>
                <a:srgbClr val="0B1E3C"/>
              </a:solidFill>
              <a:tailEnd type="triangle" w="lg" len="lg"/>
            </a:ln>
          </p:spPr>
        </p:sp>
      </p:grpSp>
      <p:grpSp>
        <p:nvGrpSpPr>
          <p:cNvPr id="72" name="stage-4"/>
          <p:cNvGrpSpPr/>
          <p:nvPr/>
        </p:nvGrpSpPr>
        <p:grpSpPr>
          <a:xfrm>
            <a:off x="9039606" y="1733550"/>
            <a:ext cx="2618994" cy="3145917"/>
            <a:chOff x="9039606" y="1733550"/>
            <a:chExt cx="2618994" cy="3145917"/>
          </a:xfrm>
        </p:grpSpPr>
        <p:pic>
          <p:nvPicPr>
            <p:cNvPr id="62" name="Image 62"/>
            <p:cNvPicPr>
              <a:picLocks noChangeAspect="1"/>
            </p:cNvPicPr>
            <p:nvPr/>
          </p:nvPicPr>
          <p:blipFill>
            <a:blip r:embed="rId6"/>
            <a:srcRect l="4669" t="0" r="4669" b="0"/>
            <a:stretch>
              <a:fillRect/>
            </a:stretch>
          </p:blipFill>
          <p:spPr>
            <a:xfrm>
              <a:off x="9048750" y="1733550"/>
              <a:ext cx="2609850" cy="1619250"/>
            </a:xfrm>
            <a:prstGeom prst="rect">
              <a:avLst/>
            </a:prstGeom>
          </p:spPr>
        </p:pic>
        <p:sp>
          <p:nvSpPr>
            <p:cNvPr id="63" name="TextBox 63"/>
            <p:cNvSpPr txBox="1"/>
            <p:nvPr/>
          </p:nvSpPr>
          <p:spPr>
            <a:xfrm>
              <a:off x="9043416" y="3530600"/>
              <a:ext cx="575219" cy="205359"/>
            </a:xfrm>
            <a:prstGeom prst="rect">
              <a:avLst/>
            </a:prstGeom>
            <a:noFill/>
            <a:ln>
              <a:noFill/>
            </a:ln>
          </p:spPr>
          <p:txBody>
            <a:bodyPr wrap="none" lIns="0" tIns="0" rIns="0" bIns="0" anchor="t" anchorCtr="0">
              <a:spAutoFit/>
            </a:bodyPr>
            <a:lstStyle/>
            <a:p>
              <a:pPr algn="l"/>
              <a:r>
                <a:rPr lang="en-US" sz="1050" b="1" dirty="0">
                  <a:solidFill>
                    <a:srgbClr val="6B7280"/>
                  </a:solidFill>
                  <a:latin typeface="+mn-lt"/>
                  <a:ea typeface="+mn-ea"/>
                  <a:cs typeface="+mn-cs"/>
                </a:rPr>
                <a:t>STEP 04</a:t>
              </a:r>
            </a:p>
          </p:txBody>
        </p:sp>
        <p:sp>
          <p:nvSpPr>
            <p:cNvPr id="64" name="TextBox 64"/>
            <p:cNvSpPr txBox="1"/>
            <p:nvPr/>
          </p:nvSpPr>
          <p:spPr>
            <a:xfrm>
              <a:off x="903960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결과 축적</a:t>
              </a:r>
            </a:p>
          </p:txBody>
        </p:sp>
        <p:grpSp>
          <p:nvGrpSpPr>
            <p:cNvPr id="71" name="Group 71"/>
            <p:cNvGrpSpPr/>
            <p:nvPr/>
          </p:nvGrpSpPr>
          <p:grpSpPr>
            <a:xfrm>
              <a:off x="9048750" y="4095750"/>
              <a:ext cx="2457445" cy="783717"/>
              <a:chOff x="9048750" y="4095750"/>
              <a:chExt cx="2457445" cy="783717"/>
            </a:xfrm>
          </p:grpSpPr>
          <p:sp>
            <p:nvSpPr>
              <p:cNvPr id="65" name="Rectangle 65"/>
              <p:cNvSpPr/>
              <p:nvPr/>
            </p:nvSpPr>
            <p:spPr>
              <a:xfrm>
                <a:off x="9048750" y="4171950"/>
                <a:ext cx="57150" cy="57150"/>
              </a:xfrm>
              <a:prstGeom prst="rect">
                <a:avLst/>
              </a:prstGeom>
              <a:solidFill>
                <a:srgbClr val="F5B700"/>
              </a:solidFill>
              <a:ln>
                <a:noFill/>
              </a:ln>
            </p:spPr>
          </p:sp>
          <p:sp>
            <p:nvSpPr>
              <p:cNvPr id="66" name="TextBox 66"/>
              <p:cNvSpPr txBox="1"/>
              <p:nvPr/>
            </p:nvSpPr>
            <p:spPr>
              <a:xfrm>
                <a:off x="9175623" y="40957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확인·보수 이력을 지도에 저장</a:t>
                </a:r>
              </a:p>
            </p:txBody>
          </p:sp>
          <p:sp>
            <p:nvSpPr>
              <p:cNvPr id="67" name="Rectangle 67"/>
              <p:cNvSpPr/>
              <p:nvPr/>
            </p:nvSpPr>
            <p:spPr>
              <a:xfrm>
                <a:off x="9048750" y="4438650"/>
                <a:ext cx="57150" cy="57150"/>
              </a:xfrm>
              <a:prstGeom prst="rect">
                <a:avLst/>
              </a:prstGeom>
              <a:solidFill>
                <a:srgbClr val="F5B700"/>
              </a:solidFill>
              <a:ln>
                <a:noFill/>
              </a:ln>
            </p:spPr>
          </p:sp>
          <p:sp>
            <p:nvSpPr>
              <p:cNvPr id="68" name="TextBox 68"/>
              <p:cNvSpPr txBox="1"/>
              <p:nvPr/>
            </p:nvSpPr>
            <p:spPr>
              <a:xfrm>
                <a:off x="9175623" y="4362450"/>
                <a:ext cx="21151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다음 회차 순찰 경로에 반영</a:t>
                </a:r>
              </a:p>
            </p:txBody>
          </p:sp>
          <p:sp>
            <p:nvSpPr>
              <p:cNvPr id="69" name="Rectangle 69"/>
              <p:cNvSpPr/>
              <p:nvPr/>
            </p:nvSpPr>
            <p:spPr>
              <a:xfrm>
                <a:off x="9048750" y="4705350"/>
                <a:ext cx="57150" cy="57150"/>
              </a:xfrm>
              <a:prstGeom prst="rect">
                <a:avLst/>
              </a:prstGeom>
              <a:solidFill>
                <a:srgbClr val="F5B700"/>
              </a:solidFill>
              <a:ln>
                <a:noFill/>
              </a:ln>
            </p:spPr>
          </p:sp>
          <p:sp>
            <p:nvSpPr>
              <p:cNvPr id="70" name="TextBox 70"/>
              <p:cNvSpPr txBox="1"/>
              <p:nvPr/>
            </p:nvSpPr>
            <p:spPr>
              <a:xfrm>
                <a:off x="9175623" y="4629150"/>
                <a:ext cx="17042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AI 검증 데이터로 축적</a:t>
                </a:r>
              </a:p>
            </p:txBody>
          </p:sp>
        </p:grpSp>
      </p:grpSp>
      <p:grpSp>
        <p:nvGrpSpPr>
          <p:cNvPr id="76" name="return-loop"/>
          <p:cNvGrpSpPr/>
          <p:nvPr/>
        </p:nvGrpSpPr>
        <p:grpSpPr>
          <a:xfrm>
            <a:off x="1838325" y="4991100"/>
            <a:ext cx="8515350" cy="421767"/>
            <a:chOff x="1838325" y="4991100"/>
            <a:chExt cx="8515350" cy="421767"/>
          </a:xfrm>
        </p:grpSpPr>
        <p:sp>
          <p:nvSpPr>
            <p:cNvPr id="73" name="Freeform 73"/>
            <p:cNvSpPr/>
            <p:nvPr/>
          </p:nvSpPr>
          <p:spPr>
            <a:xfrm>
              <a:off x="1838325" y="4991100"/>
              <a:ext cx="8515350" cy="266700"/>
            </a:xfrm>
            <a:custGeom>
              <a:avLst/>
              <a:gdLst/>
              <a:ahLst/>
              <a:cxnLst/>
              <a:rect l="l" t="t" r="r" b="b"/>
              <a:pathLst>
                <a:path w="8515350" h="266700">
                  <a:moveTo>
                    <a:pt x="8515350" y="0"/>
                  </a:moveTo>
                  <a:lnTo>
                    <a:pt x="8515350" y="266700"/>
                  </a:lnTo>
                  <a:lnTo>
                    <a:pt x="0" y="266700"/>
                  </a:lnTo>
                  <a:lnTo>
                    <a:pt x="0" y="57150"/>
                  </a:lnTo>
                </a:path>
              </a:pathLst>
            </a:custGeom>
            <a:noFill/>
            <a:ln w="14288">
              <a:solidFill>
                <a:srgbClr val="6B7280"/>
              </a:solidFill>
              <a:custDash>
                <a:ds d="333333" sp="333333"/>
              </a:custDash>
              <a:tailEnd type="triangle" w="lg" len="lg"/>
            </a:ln>
          </p:spPr>
        </p:sp>
        <p:sp>
          <p:nvSpPr>
            <p:cNvPr id="74" name="Rectangle 74"/>
            <p:cNvSpPr/>
            <p:nvPr/>
          </p:nvSpPr>
          <p:spPr>
            <a:xfrm>
              <a:off x="4476750" y="5114925"/>
              <a:ext cx="3238500" cy="285750"/>
            </a:xfrm>
            <a:prstGeom prst="rect">
              <a:avLst/>
            </a:prstGeom>
            <a:solidFill>
              <a:srgbClr val="FFFFFF"/>
            </a:solidFill>
            <a:ln>
              <a:noFill/>
            </a:ln>
          </p:spPr>
        </p:sp>
        <p:sp>
          <p:nvSpPr>
            <p:cNvPr id="75" name="TextBox 75"/>
            <p:cNvSpPr txBox="1"/>
            <p:nvPr/>
          </p:nvSpPr>
          <p:spPr>
            <a:xfrm>
              <a:off x="4688613" y="5162550"/>
              <a:ext cx="2814773" cy="250317"/>
            </a:xfrm>
            <a:prstGeom prst="rect">
              <a:avLst/>
            </a:prstGeom>
            <a:noFill/>
            <a:ln>
              <a:noFill/>
            </a:ln>
          </p:spPr>
          <p:txBody>
            <a:bodyPr wrap="none" lIns="0" tIns="0" rIns="0" bIns="0" anchor="t" anchorCtr="0">
              <a:spAutoFit/>
            </a:bodyPr>
            <a:lstStyle/>
            <a:p>
              <a:pPr algn="ctr"/>
              <a:r>
                <a:rPr lang="ko-KR" sz="1280" b="1" dirty="0">
                  <a:solidFill>
                    <a:srgbClr val="0B1E3C"/>
                  </a:solidFill>
                  <a:latin typeface="+mn-lt"/>
                  <a:ea typeface="+mn-ea"/>
                  <a:cs typeface="+mn-cs"/>
                </a:rPr>
                <a:t>확인 결과가 다음 순찰로 돌아갑니다</a:t>
              </a:r>
            </a:p>
          </p:txBody>
        </p:sp>
      </p:grpSp>
      <p:grpSp>
        <p:nvGrpSpPr>
          <p:cNvPr id="79" name="role-band"/>
          <p:cNvGrpSpPr/>
          <p:nvPr/>
        </p:nvGrpSpPr>
        <p:grpSpPr>
          <a:xfrm>
            <a:off x="533400" y="5600700"/>
            <a:ext cx="11125200" cy="495300"/>
            <a:chOff x="533400" y="5600700"/>
            <a:chExt cx="11125200" cy="495300"/>
          </a:xfrm>
        </p:grpSpPr>
        <p:sp>
          <p:nvSpPr>
            <p:cNvPr id="77" name="Rectangle 77"/>
            <p:cNvSpPr/>
            <p:nvPr/>
          </p:nvSpPr>
          <p:spPr>
            <a:xfrm>
              <a:off x="533400" y="5600700"/>
              <a:ext cx="11125200" cy="495300"/>
            </a:xfrm>
            <a:prstGeom prst="rect">
              <a:avLst/>
            </a:prstGeom>
            <a:solidFill>
              <a:srgbClr val="0B1E3C"/>
            </a:solidFill>
            <a:ln>
              <a:noFill/>
            </a:ln>
          </p:spPr>
        </p:sp>
        <p:sp>
          <p:nvSpPr>
            <p:cNvPr id="78" name="TextBox 78"/>
            <p:cNvSpPr txBox="1"/>
            <p:nvPr/>
          </p:nvSpPr>
          <p:spPr>
            <a:xfrm>
              <a:off x="753999" y="5724525"/>
              <a:ext cx="7904609"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 xml:space="preserve">AI는 </a:t>
              </a:r>
              <a:r>
                <a:rPr lang="ko-KR" sz="1580" b="1" dirty="0">
                  <a:solidFill>
                    <a:srgbClr val="F5B700"/>
                  </a:solidFill>
                  <a:latin typeface="+mn-lt"/>
                  <a:ea typeface="+mn-ea"/>
                  <a:cs typeface="+mn-cs"/>
                </a:rPr>
                <a:t>검토 순서</a:t>
              </a:r>
              <a:r>
                <a:rPr lang="ko-KR" sz="1580" b="1" dirty="0">
                  <a:solidFill>
                    <a:srgbClr val="FFFFFF"/>
                  </a:solidFill>
                  <a:latin typeface="+mn-lt"/>
                  <a:ea typeface="+mn-ea"/>
                  <a:cs typeface="+mn-cs"/>
                </a:rPr>
                <a:t xml:space="preserve">를 정하고, 판정은 </a:t>
              </a:r>
              <a:r>
                <a:rPr lang="ko-KR" sz="1580" b="1" dirty="0">
                  <a:solidFill>
                    <a:srgbClr val="F5B700"/>
                  </a:solidFill>
                  <a:latin typeface="+mn-lt"/>
                  <a:ea typeface="+mn-ea"/>
                  <a:cs typeface="+mn-cs"/>
                </a:rPr>
                <a:t>전문가</a:t>
              </a:r>
              <a:r>
                <a:rPr lang="ko-KR" sz="1580" b="1" dirty="0">
                  <a:solidFill>
                    <a:srgbClr val="FFFFFF"/>
                  </a:solidFill>
                  <a:latin typeface="+mn-lt"/>
                  <a:ea typeface="+mn-ea"/>
                  <a:cs typeface="+mn-cs"/>
                </a:rPr>
                <a:t xml:space="preserve">가, 최종 확인은 </a:t>
              </a:r>
              <a:r>
                <a:rPr lang="ko-KR" sz="1580" b="1" dirty="0">
                  <a:solidFill>
                    <a:srgbClr val="F5B700"/>
                  </a:solidFill>
                  <a:latin typeface="+mn-lt"/>
                  <a:ea typeface="+mn-ea"/>
                  <a:cs typeface="+mn-cs"/>
                </a:rPr>
                <a:t>천공·내시경</a:t>
              </a:r>
              <a:r>
                <a:rPr lang="ko-KR" sz="1580" b="1" dirty="0">
                  <a:solidFill>
                    <a:srgbClr val="FFFFFF"/>
                  </a:solidFill>
                  <a:latin typeface="+mn-lt"/>
                  <a:ea typeface="+mn-ea"/>
                  <a:cs typeface="+mn-cs"/>
                </a:rPr>
                <a:t>이 맡습니다.</a:t>
              </a:r>
            </a:p>
          </p:txBody>
        </p:sp>
      </p:grpSp>
      <p:grpSp>
        <p:nvGrpSpPr>
          <p:cNvPr id="81" name="source"/>
          <p:cNvGrpSpPr/>
          <p:nvPr/>
        </p:nvGrpSpPr>
        <p:grpSpPr>
          <a:xfrm>
            <a:off x="528638" y="6229350"/>
            <a:ext cx="8578955" cy="176212"/>
            <a:chOff x="528638" y="6229350"/>
            <a:chExt cx="8578955" cy="176212"/>
          </a:xfrm>
        </p:grpSpPr>
        <p:sp>
          <p:nvSpPr>
            <p:cNvPr id="80" name="TextBox 80"/>
            <p:cNvSpPr txBox="1"/>
            <p:nvPr/>
          </p:nvSpPr>
          <p:spPr>
            <a:xfrm>
              <a:off x="528638" y="6229350"/>
              <a:ext cx="8578955"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B-scan 비교는 설명용 예시 · PV5: 실차 사진 기반 편집 이미지 · 도로 사진: PattayaPatrol, CC BY-SA 4.0 · 지도 데이터 © OpenStreetMap contributors</a:t>
              </a:r>
            </a:p>
          </p:txBody>
        </p:sp>
      </p:grpSp>
      <p:grpSp>
        <p:nvGrpSpPr>
          <p:cNvPr id="84" name="footer"/>
          <p:cNvGrpSpPr/>
          <p:nvPr/>
        </p:nvGrpSpPr>
        <p:grpSpPr>
          <a:xfrm>
            <a:off x="528638" y="6610350"/>
            <a:ext cx="11134724" cy="176212"/>
            <a:chOff x="528638" y="6610350"/>
            <a:chExt cx="11134724" cy="176212"/>
          </a:xfrm>
        </p:grpSpPr>
        <p:sp>
          <p:nvSpPr>
            <p:cNvPr id="82" name="TextBox 82"/>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83" name="TextBox 8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05 / 12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95300" cy="228600"/>
            </a:xfrm>
            <a:prstGeom prst="rect">
              <a:avLst/>
            </a:prstGeom>
            <a:solidFill>
              <a:srgbClr val="F5B700"/>
            </a:solidFill>
            <a:ln>
              <a:noFill/>
            </a:ln>
          </p:spPr>
        </p:sp>
        <p:sp>
          <p:nvSpPr>
            <p:cNvPr id="5" name="TextBox 5"/>
            <p:cNvSpPr txBox="1"/>
            <p:nvPr/>
          </p:nvSpPr>
          <p:spPr>
            <a:xfrm>
              <a:off x="1957221" y="314325"/>
              <a:ext cx="314659"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4p-2</a:t>
              </a:r>
            </a:p>
          </p:txBody>
        </p:sp>
        <p:sp>
          <p:nvSpPr>
            <p:cNvPr id="6" name="TextBox 6"/>
            <p:cNvSpPr txBox="1"/>
            <p:nvPr/>
          </p:nvSpPr>
          <p:spPr>
            <a:xfrm>
              <a:off x="2471166" y="301625"/>
              <a:ext cx="119241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PV5 이동형 탐사실</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182100" cy="586740"/>
            <a:chOff x="518160" y="774700"/>
            <a:chExt cx="9182100" cy="586740"/>
          </a:xfrm>
        </p:grpSpPr>
        <p:sp>
          <p:nvSpPr>
            <p:cNvPr id="9" name="TextBox 9"/>
            <p:cNvSpPr txBox="1"/>
            <p:nvPr/>
          </p:nvSpPr>
          <p:spPr>
            <a:xfrm>
              <a:off x="518160" y="774700"/>
              <a:ext cx="918210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PV5 한 대가 측정 장비와 재검증 장비를 함께 싣는다</a:t>
              </a:r>
            </a:p>
          </p:txBody>
        </p:sp>
      </p:grpSp>
      <p:grpSp>
        <p:nvGrpSpPr>
          <p:cNvPr id="19" name="cargo-photo"/>
          <p:cNvGrpSpPr/>
          <p:nvPr/>
        </p:nvGrpSpPr>
        <p:grpSpPr>
          <a:xfrm>
            <a:off x="533400" y="1409700"/>
            <a:ext cx="6343650" cy="4229100"/>
            <a:chOff x="533400" y="1409700"/>
            <a:chExt cx="6343650" cy="4229100"/>
          </a:xfrm>
        </p:grpSpPr>
        <p:pic>
          <p:nvPicPr>
            <p:cNvPr id="11" name="Image 11"/>
            <p:cNvPicPr>
              <a:picLocks noChangeAspect="1"/>
            </p:cNvPicPr>
            <p:nvPr/>
          </p:nvPicPr>
          <p:blipFill>
            <a:blip r:embed="rId2"/>
            <a:stretch>
              <a:fillRect/>
            </a:stretch>
          </p:blipFill>
          <p:spPr>
            <a:xfrm>
              <a:off x="533400" y="1409700"/>
              <a:ext cx="6343650" cy="4229100"/>
            </a:xfrm>
            <a:prstGeom prst="rect">
              <a:avLst/>
            </a:prstGeom>
          </p:spPr>
        </p:pic>
        <p:grpSp>
          <p:nvGrpSpPr>
            <p:cNvPr id="18" name="Group 18"/>
            <p:cNvGrpSpPr/>
            <p:nvPr/>
          </p:nvGrpSpPr>
          <p:grpSpPr>
            <a:xfrm>
              <a:off x="2800350" y="2647950"/>
              <a:ext cx="1628775" cy="1809750"/>
              <a:chOff x="2800350" y="2647950"/>
              <a:chExt cx="1628775" cy="1809750"/>
            </a:xfrm>
          </p:grpSpPr>
          <p:sp>
            <p:nvSpPr>
              <p:cNvPr id="12" name="Ellipse 12"/>
              <p:cNvSpPr/>
              <p:nvPr/>
            </p:nvSpPr>
            <p:spPr>
              <a:xfrm>
                <a:off x="2800350" y="2647950"/>
                <a:ext cx="323850" cy="323850"/>
              </a:xfrm>
              <a:prstGeom prst="ellipse">
                <a:avLst/>
              </a:prstGeom>
              <a:solidFill>
                <a:srgbClr val="F5B700"/>
              </a:solidFill>
              <a:ln w="19050">
                <a:solidFill>
                  <a:srgbClr val="0B1E3C"/>
                </a:solidFill>
              </a:ln>
            </p:spPr>
          </p:sp>
          <p:sp>
            <p:nvSpPr>
              <p:cNvPr id="13" name="TextBox 13"/>
              <p:cNvSpPr txBox="1"/>
              <p:nvPr/>
            </p:nvSpPr>
            <p:spPr>
              <a:xfrm>
                <a:off x="2906893" y="2714625"/>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14" name="Ellipse 14"/>
              <p:cNvSpPr/>
              <p:nvPr/>
            </p:nvSpPr>
            <p:spPr>
              <a:xfrm>
                <a:off x="4105275" y="2647950"/>
                <a:ext cx="323850" cy="323850"/>
              </a:xfrm>
              <a:prstGeom prst="ellipse">
                <a:avLst/>
              </a:prstGeom>
              <a:solidFill>
                <a:srgbClr val="F5B700"/>
              </a:solidFill>
              <a:ln w="19050">
                <a:solidFill>
                  <a:srgbClr val="0B1E3C"/>
                </a:solidFill>
              </a:ln>
            </p:spPr>
          </p:sp>
          <p:sp>
            <p:nvSpPr>
              <p:cNvPr id="15" name="TextBox 15"/>
              <p:cNvSpPr txBox="1"/>
              <p:nvPr/>
            </p:nvSpPr>
            <p:spPr>
              <a:xfrm>
                <a:off x="4211818" y="2714625"/>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16" name="Ellipse 16"/>
              <p:cNvSpPr/>
              <p:nvPr/>
            </p:nvSpPr>
            <p:spPr>
              <a:xfrm>
                <a:off x="3714750" y="4133850"/>
                <a:ext cx="323850" cy="323850"/>
              </a:xfrm>
              <a:prstGeom prst="ellipse">
                <a:avLst/>
              </a:prstGeom>
              <a:solidFill>
                <a:srgbClr val="F5B700"/>
              </a:solidFill>
              <a:ln w="19050">
                <a:solidFill>
                  <a:srgbClr val="0B1E3C"/>
                </a:solidFill>
              </a:ln>
            </p:spPr>
          </p:sp>
          <p:sp>
            <p:nvSpPr>
              <p:cNvPr id="17" name="TextBox 17"/>
              <p:cNvSpPr txBox="1"/>
              <p:nvPr/>
            </p:nvSpPr>
            <p:spPr>
              <a:xfrm>
                <a:off x="3821293" y="4200525"/>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grpSp>
      </p:grpSp>
      <p:grpSp>
        <p:nvGrpSpPr>
          <p:cNvPr id="33" name="zone-legend"/>
          <p:cNvGrpSpPr/>
          <p:nvPr/>
        </p:nvGrpSpPr>
        <p:grpSpPr>
          <a:xfrm>
            <a:off x="7423023" y="1466850"/>
            <a:ext cx="4193469" cy="2755392"/>
            <a:chOff x="7423023" y="1466850"/>
            <a:chExt cx="4193469" cy="2755392"/>
          </a:xfrm>
        </p:grpSpPr>
        <p:sp>
          <p:nvSpPr>
            <p:cNvPr id="20" name="TextBox 20"/>
            <p:cNvSpPr txBox="1"/>
            <p:nvPr/>
          </p:nvSpPr>
          <p:spPr>
            <a:xfrm>
              <a:off x="7423023" y="1466850"/>
              <a:ext cx="92880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화물실 구성</a:t>
              </a:r>
            </a:p>
          </p:txBody>
        </p:sp>
        <p:sp>
          <p:nvSpPr>
            <p:cNvPr id="21" name="Ellipse 21"/>
            <p:cNvSpPr/>
            <p:nvPr/>
          </p:nvSpPr>
          <p:spPr>
            <a:xfrm>
              <a:off x="7429500" y="1828800"/>
              <a:ext cx="266700" cy="266700"/>
            </a:xfrm>
            <a:prstGeom prst="ellipse">
              <a:avLst/>
            </a:prstGeom>
            <a:solidFill>
              <a:srgbClr val="F5B700"/>
            </a:solidFill>
            <a:ln>
              <a:noFill/>
            </a:ln>
          </p:spPr>
        </p:sp>
        <p:sp>
          <p:nvSpPr>
            <p:cNvPr id="22" name="TextBox 22"/>
            <p:cNvSpPr txBox="1"/>
            <p:nvPr/>
          </p:nvSpPr>
          <p:spPr>
            <a:xfrm>
              <a:off x="7511135" y="187960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A</a:t>
              </a:r>
            </a:p>
          </p:txBody>
        </p:sp>
        <p:sp>
          <p:nvSpPr>
            <p:cNvPr id="23" name="TextBox 23"/>
            <p:cNvSpPr txBox="1"/>
            <p:nvPr/>
          </p:nvSpPr>
          <p:spPr>
            <a:xfrm>
              <a:off x="7802499" y="1838325"/>
              <a:ext cx="18287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전방 · 분석</a:t>
              </a:r>
            </a:p>
          </p:txBody>
        </p:sp>
        <p:sp>
          <p:nvSpPr>
            <p:cNvPr id="24" name="TextBox 24"/>
            <p:cNvSpPr txBox="1"/>
            <p:nvPr/>
          </p:nvSpPr>
          <p:spPr>
            <a:xfrm>
              <a:off x="7804023" y="2130425"/>
              <a:ext cx="3589274" cy="459867"/>
            </a:xfrm>
            <a:prstGeom prst="rect">
              <a:avLst/>
            </a:prstGeom>
            <a:noFill/>
            <a:ln>
              <a:noFill/>
            </a:ln>
          </p:spPr>
          <p:txBody>
            <a:bodyPr wrap="none" lIns="0" tIns="0" rIns="0" bIns="0" anchor="t" anchorCtr="0">
              <a:spAutoFit/>
            </a:bodyPr>
            <a:lstStyle/>
            <a:p>
              <a:pPr algn="l">
                <a:lnSpc>
                  <a:spcPts val="1650"/>
                </a:lnSpc>
              </a:pPr>
              <a:r>
                <a:rPr lang="ko-KR" sz="1280" dirty="0">
                  <a:solidFill>
                    <a:srgbClr val="4B5563"/>
                  </a:solidFill>
                  <a:latin typeface="+mn-lt"/>
                  <a:ea typeface="+mn-ea"/>
                  <a:cs typeface="+mn-cs"/>
                </a:rPr>
                <a:t>Edge Gateway · 엣지 AI 컴퓨터 · GPR 제어</a:t>
              </a:r>
              <a:br>
                <a:rPr lang="ko-KR" sz="1280" dirty="0">
                  <a:solidFill>
                    <a:srgbClr val="4B5563"/>
                  </a:solidFill>
                  <a:latin typeface="+mn-lt"/>
                  <a:ea typeface="+mn-ea"/>
                  <a:cs typeface="+mn-cs"/>
                </a:rPr>
              </a:br>
              <a:r>
                <a:rPr lang="ko-KR" sz="1280" dirty="0">
                  <a:solidFill>
                    <a:srgbClr val="4B5563"/>
                  </a:solidFill>
                  <a:latin typeface="+mn-lt"/>
                  <a:ea typeface="+mn-ea"/>
                  <a:cs typeface="+mn-cs"/>
                </a:rPr>
                <a:t>저장장치 · 보안 네트워크 · RTK 수신 · 전원 분배</a:t>
              </a:r>
            </a:p>
          </p:txBody>
        </p:sp>
        <p:sp>
          <p:nvSpPr>
            <p:cNvPr id="25" name="Ellipse 25"/>
            <p:cNvSpPr/>
            <p:nvPr/>
          </p:nvSpPr>
          <p:spPr>
            <a:xfrm>
              <a:off x="7429500" y="2743200"/>
              <a:ext cx="266700" cy="266700"/>
            </a:xfrm>
            <a:prstGeom prst="ellipse">
              <a:avLst/>
            </a:prstGeom>
            <a:solidFill>
              <a:srgbClr val="F5B700"/>
            </a:solidFill>
            <a:ln>
              <a:noFill/>
            </a:ln>
          </p:spPr>
        </p:sp>
        <p:sp>
          <p:nvSpPr>
            <p:cNvPr id="26" name="TextBox 26"/>
            <p:cNvSpPr txBox="1"/>
            <p:nvPr/>
          </p:nvSpPr>
          <p:spPr>
            <a:xfrm>
              <a:off x="7511135" y="279400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B</a:t>
              </a:r>
            </a:p>
          </p:txBody>
        </p:sp>
        <p:sp>
          <p:nvSpPr>
            <p:cNvPr id="27" name="TextBox 27"/>
            <p:cNvSpPr txBox="1"/>
            <p:nvPr/>
          </p:nvSpPr>
          <p:spPr>
            <a:xfrm>
              <a:off x="7802499" y="2752725"/>
              <a:ext cx="20414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측면 · 재검증</a:t>
              </a:r>
            </a:p>
          </p:txBody>
        </p:sp>
        <p:sp>
          <p:nvSpPr>
            <p:cNvPr id="28" name="TextBox 28"/>
            <p:cNvSpPr txBox="1"/>
            <p:nvPr/>
          </p:nvSpPr>
          <p:spPr>
            <a:xfrm>
              <a:off x="7804023" y="3044825"/>
              <a:ext cx="3345434" cy="459867"/>
            </a:xfrm>
            <a:prstGeom prst="rect">
              <a:avLst/>
            </a:prstGeom>
            <a:noFill/>
            <a:ln>
              <a:noFill/>
            </a:ln>
          </p:spPr>
          <p:txBody>
            <a:bodyPr wrap="none" lIns="0" tIns="0" rIns="0" bIns="0" anchor="t" anchorCtr="0">
              <a:spAutoFit/>
            </a:bodyPr>
            <a:lstStyle/>
            <a:p>
              <a:pPr algn="l">
                <a:lnSpc>
                  <a:spcPts val="1650"/>
                </a:lnSpc>
              </a:pPr>
              <a:r>
                <a:rPr lang="ko-KR" sz="1280" dirty="0">
                  <a:solidFill>
                    <a:srgbClr val="4B5563"/>
                  </a:solidFill>
                  <a:latin typeface="+mn-lt"/>
                  <a:ea typeface="+mn-ea"/>
                  <a:cs typeface="+mn-cs"/>
                </a:rPr>
                <a:t>지면 밀착형 수동 GPR · 산업용 AR 글래스</a:t>
              </a:r>
              <a:br>
                <a:rPr lang="ko-KR" sz="1280" dirty="0">
                  <a:solidFill>
                    <a:srgbClr val="4B5563"/>
                  </a:solidFill>
                  <a:latin typeface="+mn-lt"/>
                  <a:ea typeface="+mn-ea"/>
                  <a:cs typeface="+mn-cs"/>
                </a:rPr>
              </a:br>
              <a:r>
                <a:rPr lang="ko-KR" sz="1280" dirty="0">
                  <a:solidFill>
                    <a:srgbClr val="4B5563"/>
                  </a:solidFill>
                  <a:latin typeface="+mn-lt"/>
                  <a:ea typeface="+mn-ea"/>
                  <a:cs typeface="+mn-cs"/>
                </a:rPr>
                <a:t>AR 충전·보관함 · RTK 이동국 · 교체형 안테나</a:t>
              </a:r>
            </a:p>
          </p:txBody>
        </p:sp>
        <p:sp>
          <p:nvSpPr>
            <p:cNvPr id="29" name="Ellipse 29"/>
            <p:cNvSpPr/>
            <p:nvPr/>
          </p:nvSpPr>
          <p:spPr>
            <a:xfrm>
              <a:off x="7429500" y="3657600"/>
              <a:ext cx="266700" cy="266700"/>
            </a:xfrm>
            <a:prstGeom prst="ellipse">
              <a:avLst/>
            </a:prstGeom>
            <a:solidFill>
              <a:srgbClr val="F5B700"/>
            </a:solidFill>
            <a:ln>
              <a:noFill/>
            </a:ln>
          </p:spPr>
        </p:sp>
        <p:sp>
          <p:nvSpPr>
            <p:cNvPr id="30" name="TextBox 30"/>
            <p:cNvSpPr txBox="1"/>
            <p:nvPr/>
          </p:nvSpPr>
          <p:spPr>
            <a:xfrm>
              <a:off x="7511135" y="370840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C</a:t>
              </a:r>
            </a:p>
          </p:txBody>
        </p:sp>
        <p:sp>
          <p:nvSpPr>
            <p:cNvPr id="31" name="TextBox 31"/>
            <p:cNvSpPr txBox="1"/>
            <p:nvPr/>
          </p:nvSpPr>
          <p:spPr>
            <a:xfrm>
              <a:off x="7802499" y="3667125"/>
              <a:ext cx="18287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후방 · 안전</a:t>
              </a:r>
            </a:p>
          </p:txBody>
        </p:sp>
        <p:sp>
          <p:nvSpPr>
            <p:cNvPr id="32" name="TextBox 32"/>
            <p:cNvSpPr txBox="1"/>
            <p:nvPr/>
          </p:nvSpPr>
          <p:spPr>
            <a:xfrm>
              <a:off x="7804023" y="3971925"/>
              <a:ext cx="3812469"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관로 내시경 · 작업 조명 · 라바콘 · 개인보호장비</a:t>
              </a:r>
            </a:p>
          </p:txBody>
        </p:sp>
      </p:grpSp>
      <p:grpSp>
        <p:nvGrpSpPr>
          <p:cNvPr id="38" name="rear-gpr"/>
          <p:cNvGrpSpPr/>
          <p:nvPr/>
        </p:nvGrpSpPr>
        <p:grpSpPr>
          <a:xfrm>
            <a:off x="7429500" y="4438650"/>
            <a:ext cx="4229100" cy="1181100"/>
            <a:chOff x="7429500" y="4438650"/>
            <a:chExt cx="4229100" cy="1181100"/>
          </a:xfrm>
        </p:grpSpPr>
        <p:sp>
          <p:nvSpPr>
            <p:cNvPr id="34" name="Line 34"/>
            <p:cNvSpPr/>
            <p:nvPr/>
          </p:nvSpPr>
          <p:spPr>
            <a:xfrm>
              <a:off x="7429500" y="4438650"/>
              <a:ext cx="4229100" cy="9525"/>
            </a:xfrm>
            <a:custGeom>
              <a:avLst/>
              <a:gdLst/>
              <a:ahLst/>
              <a:cxnLst/>
              <a:rect l="l" t="t" r="r" b="b"/>
              <a:pathLst>
                <a:path w="4229100" h="9525">
                  <a:moveTo>
                    <a:pt x="0" y="0"/>
                  </a:moveTo>
                  <a:lnTo>
                    <a:pt x="4229100" y="0"/>
                  </a:lnTo>
                </a:path>
              </a:pathLst>
            </a:custGeom>
            <a:noFill/>
            <a:ln w="9525">
              <a:solidFill>
                <a:srgbClr val="D5DAE1"/>
              </a:solidFill>
            </a:ln>
          </p:spPr>
        </p:sp>
        <p:pic>
          <p:nvPicPr>
            <p:cNvPr id="35" name="Image 35"/>
            <p:cNvPicPr>
              <a:picLocks noChangeAspect="1"/>
            </p:cNvPicPr>
            <p:nvPr/>
          </p:nvPicPr>
          <p:blipFill>
            <a:blip r:embed="rId3"/>
            <a:srcRect l="0" t="263" r="0" b="263"/>
            <a:stretch>
              <a:fillRect/>
            </a:stretch>
          </p:blipFill>
          <p:spPr>
            <a:xfrm>
              <a:off x="7429500" y="4591050"/>
              <a:ext cx="1809750" cy="1028700"/>
            </a:xfrm>
            <a:prstGeom prst="rect">
              <a:avLst/>
            </a:prstGeom>
          </p:spPr>
        </p:pic>
        <p:sp>
          <p:nvSpPr>
            <p:cNvPr id="36" name="TextBox 36"/>
            <p:cNvSpPr txBox="1"/>
            <p:nvPr/>
          </p:nvSpPr>
          <p:spPr>
            <a:xfrm>
              <a:off x="9422511" y="4622800"/>
              <a:ext cx="1886588" cy="278702"/>
            </a:xfrm>
            <a:prstGeom prst="rect">
              <a:avLst/>
            </a:prstGeom>
            <a:noFill/>
            <a:ln>
              <a:noFill/>
            </a:ln>
          </p:spPr>
          <p:txBody>
            <a:bodyPr wrap="none" lIns="0" tIns="0" rIns="0" bIns="0" anchor="t" anchorCtr="0">
              <a:spAutoFit/>
            </a:bodyPr>
            <a:lstStyle/>
            <a:p>
              <a:pPr algn="l"/>
              <a:r>
                <a:rPr lang="ko-KR" sz="1420" b="1" dirty="0">
                  <a:solidFill>
                    <a:srgbClr val="111827"/>
                  </a:solidFill>
                  <a:latin typeface="+mn-lt"/>
                  <a:ea typeface="+mn-ea"/>
                  <a:cs typeface="+mn-cs"/>
                </a:rPr>
                <a:t>후방 하부 다채널 GPR</a:t>
              </a:r>
            </a:p>
          </p:txBody>
        </p:sp>
        <p:sp>
          <p:nvSpPr>
            <p:cNvPr id="37" name="TextBox 37"/>
            <p:cNvSpPr txBox="1"/>
            <p:nvPr/>
          </p:nvSpPr>
          <p:spPr>
            <a:xfrm>
              <a:off x="9424035" y="4895850"/>
              <a:ext cx="1881886" cy="620078"/>
            </a:xfrm>
            <a:prstGeom prst="rect">
              <a:avLst/>
            </a:prstGeom>
            <a:noFill/>
            <a:ln>
              <a:noFill/>
            </a:ln>
          </p:spPr>
          <p:txBody>
            <a:bodyPr wrap="none" lIns="0" tIns="0" rIns="0" bIns="0" anchor="t" anchorCtr="0">
              <a:spAutoFit/>
            </a:bodyPr>
            <a:lstStyle/>
            <a:p>
              <a:pPr algn="l">
                <a:lnSpc>
                  <a:spcPts val="1575"/>
                </a:lnSpc>
              </a:pPr>
              <a:r>
                <a:rPr lang="ko-KR" sz="1120" dirty="0">
                  <a:solidFill>
                    <a:srgbClr val="4B5563"/>
                  </a:solidFill>
                  <a:latin typeface="+mn-lt"/>
                  <a:ea typeface="+mn-ea"/>
                  <a:cs typeface="+mn-cs"/>
                </a:rPr>
                <a:t>하부 배터리 팩을 피해</a:t>
              </a:r>
              <a:br>
                <a:rPr lang="ko-KR" sz="1120" dirty="0">
                  <a:solidFill>
                    <a:srgbClr val="4B5563"/>
                  </a:solidFill>
                  <a:latin typeface="+mn-lt"/>
                  <a:ea typeface="+mn-ea"/>
                  <a:cs typeface="+mn-cs"/>
                </a:rPr>
              </a:br>
              <a:r>
                <a:rPr lang="ko-KR" sz="1120" dirty="0">
                  <a:solidFill>
                    <a:srgbClr val="4B5563"/>
                  </a:solidFill>
                  <a:latin typeface="+mn-lt"/>
                  <a:ea typeface="+mn-ea"/>
                  <a:cs typeface="+mn-cs"/>
                </a:rPr>
                <a:t>후방 오버행에 장착하는 안</a:t>
              </a:r>
              <a:br>
                <a:rPr lang="ko-KR" sz="1120" dirty="0">
                  <a:solidFill>
                    <a:srgbClr val="4B5563"/>
                  </a:solidFill>
                  <a:latin typeface="+mn-lt"/>
                  <a:ea typeface="+mn-ea"/>
                  <a:cs typeface="+mn-cs"/>
                </a:rPr>
              </a:br>
              <a:r>
                <a:rPr lang="ko-KR" sz="1120" dirty="0">
                  <a:solidFill>
                    <a:srgbClr val="6B7280"/>
                  </a:solidFill>
                  <a:latin typeface="+mn-lt"/>
                  <a:ea typeface="+mn-ea"/>
                  <a:cs typeface="+mn-cs"/>
                </a:rPr>
                <a:t>[설계 판단 · 간섭 시험 필요]</a:t>
              </a:r>
            </a:p>
          </p:txBody>
        </p:sp>
      </p:grpSp>
      <p:grpSp>
        <p:nvGrpSpPr>
          <p:cNvPr id="48" name="spec-strip"/>
          <p:cNvGrpSpPr/>
          <p:nvPr/>
        </p:nvGrpSpPr>
        <p:grpSpPr>
          <a:xfrm>
            <a:off x="525018" y="5753100"/>
            <a:ext cx="11133582" cy="535559"/>
            <a:chOff x="525018" y="5753100"/>
            <a:chExt cx="11133582" cy="535559"/>
          </a:xfrm>
        </p:grpSpPr>
        <p:sp>
          <p:nvSpPr>
            <p:cNvPr id="39" name="Line 39"/>
            <p:cNvSpPr/>
            <p:nvPr/>
          </p:nvSpPr>
          <p:spPr>
            <a:xfrm>
              <a:off x="533400" y="5753100"/>
              <a:ext cx="11125200" cy="9525"/>
            </a:xfrm>
            <a:custGeom>
              <a:avLst/>
              <a:gdLst/>
              <a:ahLst/>
              <a:cxnLst/>
              <a:rect l="l" t="t" r="r" b="b"/>
              <a:pathLst>
                <a:path w="11125200" h="9525">
                  <a:moveTo>
                    <a:pt x="0" y="0"/>
                  </a:moveTo>
                  <a:lnTo>
                    <a:pt x="11125200" y="0"/>
                  </a:lnTo>
                </a:path>
              </a:pathLst>
            </a:custGeom>
            <a:noFill/>
            <a:ln w="19050">
              <a:solidFill>
                <a:srgbClr val="0B1E3C"/>
              </a:solidFill>
            </a:ln>
          </p:spPr>
        </p:sp>
        <p:sp>
          <p:nvSpPr>
            <p:cNvPr id="40" name="TextBox 40"/>
            <p:cNvSpPr txBox="1"/>
            <p:nvPr/>
          </p:nvSpPr>
          <p:spPr>
            <a:xfrm>
              <a:off x="525018" y="5816600"/>
              <a:ext cx="2827175" cy="322707"/>
            </a:xfrm>
            <a:prstGeom prst="rect">
              <a:avLst/>
            </a:prstGeom>
            <a:noFill/>
            <a:ln>
              <a:noFill/>
            </a:ln>
          </p:spPr>
          <p:txBody>
            <a:bodyPr wrap="none" lIns="0" tIns="0" rIns="0" bIns="0" anchor="t" anchorCtr="0">
              <a:spAutoFit/>
            </a:bodyPr>
            <a:lstStyle/>
            <a:p>
              <a:pPr algn="l"/>
              <a:r>
                <a:rPr lang="en-US" sz="1650" b="1" dirty="0">
                  <a:solidFill>
                    <a:srgbClr val="0B1E3C"/>
                  </a:solidFill>
                  <a:latin typeface="+mn-lt"/>
                  <a:ea typeface="+mn-ea"/>
                  <a:cs typeface="+mn-cs"/>
                </a:rPr>
                <a:t>2,255 × 1,565 × 1,520mm</a:t>
              </a:r>
            </a:p>
          </p:txBody>
        </p:sp>
        <p:sp>
          <p:nvSpPr>
            <p:cNvPr id="41" name="TextBox 41"/>
            <p:cNvSpPr txBox="1"/>
            <p:nvPr/>
          </p:nvSpPr>
          <p:spPr>
            <a:xfrm>
              <a:off x="528066" y="6083300"/>
              <a:ext cx="222507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롱 카고룸 길이·폭·높이 (4,420L)</a:t>
              </a:r>
            </a:p>
          </p:txBody>
        </p:sp>
        <p:sp>
          <p:nvSpPr>
            <p:cNvPr id="42" name="TextBox 42"/>
            <p:cNvSpPr txBox="1"/>
            <p:nvPr/>
          </p:nvSpPr>
          <p:spPr>
            <a:xfrm>
              <a:off x="3992118" y="5816600"/>
              <a:ext cx="751436" cy="322707"/>
            </a:xfrm>
            <a:prstGeom prst="rect">
              <a:avLst/>
            </a:prstGeom>
            <a:noFill/>
            <a:ln>
              <a:noFill/>
            </a:ln>
          </p:spPr>
          <p:txBody>
            <a:bodyPr wrap="none" lIns="0" tIns="0" rIns="0" bIns="0" anchor="t" anchorCtr="0">
              <a:spAutoFit/>
            </a:bodyPr>
            <a:lstStyle/>
            <a:p>
              <a:pPr algn="l"/>
              <a:r>
                <a:rPr lang="en-US" sz="1650" b="1" dirty="0">
                  <a:solidFill>
                    <a:srgbClr val="0B1E3C"/>
                  </a:solidFill>
                  <a:latin typeface="+mn-lt"/>
                  <a:ea typeface="+mn-ea"/>
                  <a:cs typeface="+mn-cs"/>
                </a:rPr>
                <a:t>419mm</a:t>
              </a:r>
            </a:p>
          </p:txBody>
        </p:sp>
        <p:sp>
          <p:nvSpPr>
            <p:cNvPr id="43" name="TextBox 43"/>
            <p:cNvSpPr txBox="1"/>
            <p:nvPr/>
          </p:nvSpPr>
          <p:spPr>
            <a:xfrm>
              <a:off x="3995166" y="6083300"/>
              <a:ext cx="1240422"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적재고 (낮은 바닥)</a:t>
              </a:r>
            </a:p>
          </p:txBody>
        </p:sp>
        <p:sp>
          <p:nvSpPr>
            <p:cNvPr id="44" name="TextBox 44"/>
            <p:cNvSpPr txBox="1"/>
            <p:nvPr/>
          </p:nvSpPr>
          <p:spPr>
            <a:xfrm>
              <a:off x="5897118" y="5816600"/>
              <a:ext cx="2546541"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V2L 220V · 최대 3.6kW</a:t>
              </a:r>
            </a:p>
          </p:txBody>
        </p:sp>
        <p:sp>
          <p:nvSpPr>
            <p:cNvPr id="45" name="TextBox 45"/>
            <p:cNvSpPr txBox="1"/>
            <p:nvPr/>
          </p:nvSpPr>
          <p:spPr>
            <a:xfrm>
              <a:off x="5900166" y="6083300"/>
              <a:ext cx="1629137"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실내·실외 장비 전원 보조</a:t>
              </a:r>
            </a:p>
          </p:txBody>
        </p:sp>
        <p:sp>
          <p:nvSpPr>
            <p:cNvPr id="46" name="TextBox 46"/>
            <p:cNvSpPr txBox="1"/>
            <p:nvPr/>
          </p:nvSpPr>
          <p:spPr>
            <a:xfrm>
              <a:off x="9040368" y="5816600"/>
              <a:ext cx="974114"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12.9인치</a:t>
              </a:r>
            </a:p>
          </p:txBody>
        </p:sp>
        <p:sp>
          <p:nvSpPr>
            <p:cNvPr id="47" name="TextBox 47"/>
            <p:cNvSpPr txBox="1"/>
            <p:nvPr/>
          </p:nvSpPr>
          <p:spPr>
            <a:xfrm>
              <a:off x="9043416" y="6083300"/>
              <a:ext cx="1933442"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PBV 인포테인먼트 · Patrol 앱</a:t>
              </a:r>
            </a:p>
          </p:txBody>
        </p:sp>
      </p:grpSp>
      <p:grpSp>
        <p:nvGrpSpPr>
          <p:cNvPr id="50" name="source"/>
          <p:cNvGrpSpPr/>
          <p:nvPr/>
        </p:nvGrpSpPr>
        <p:grpSpPr>
          <a:xfrm>
            <a:off x="528638" y="6343650"/>
            <a:ext cx="9100531" cy="176212"/>
            <a:chOff x="528638" y="6343650"/>
            <a:chExt cx="9100531" cy="176212"/>
          </a:xfrm>
        </p:grpSpPr>
        <p:sp>
          <p:nvSpPr>
            <p:cNvPr id="49" name="TextBox 49"/>
            <p:cNvSpPr txBox="1"/>
            <p:nvPr/>
          </p:nvSpPr>
          <p:spPr>
            <a:xfrm>
              <a:off x="528638" y="6343650"/>
              <a:ext cx="9100531"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[실증 필요] 적재중량·총중량·축하중·전자파 간섭·구조변경 승인 · 출처: 기아 PV5 카고 제원, 현대차그룹 · 사진: 실차 사진 기반 편집(원본 A. Migl, CC BY-SA 4.0)</a:t>
              </a:r>
            </a:p>
          </p:txBody>
        </p:sp>
      </p:grpSp>
      <p:grpSp>
        <p:nvGrpSpPr>
          <p:cNvPr id="53" name="footer"/>
          <p:cNvGrpSpPr/>
          <p:nvPr/>
        </p:nvGrpSpPr>
        <p:grpSpPr>
          <a:xfrm>
            <a:off x="528638" y="6610350"/>
            <a:ext cx="11134724" cy="176212"/>
            <a:chOff x="528638" y="6610350"/>
            <a:chExt cx="11134724" cy="176212"/>
          </a:xfrm>
        </p:grpSpPr>
        <p:sp>
          <p:nvSpPr>
            <p:cNvPr id="51" name="TextBox 51"/>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52" name="TextBox 5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06 / 12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95300" cy="228600"/>
            </a:xfrm>
            <a:prstGeom prst="rect">
              <a:avLst/>
            </a:prstGeom>
            <a:solidFill>
              <a:srgbClr val="F5B700"/>
            </a:solidFill>
            <a:ln>
              <a:noFill/>
            </a:ln>
          </p:spPr>
        </p:sp>
        <p:sp>
          <p:nvSpPr>
            <p:cNvPr id="5" name="TextBox 5"/>
            <p:cNvSpPr txBox="1"/>
            <p:nvPr/>
          </p:nvSpPr>
          <p:spPr>
            <a:xfrm>
              <a:off x="1957221" y="314325"/>
              <a:ext cx="314659"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4p-3</a:t>
              </a:r>
            </a:p>
          </p:txBody>
        </p:sp>
        <p:sp>
          <p:nvSpPr>
            <p:cNvPr id="6" name="TextBox 6"/>
            <p:cNvSpPr txBox="1"/>
            <p:nvPr/>
          </p:nvSpPr>
          <p:spPr>
            <a:xfrm>
              <a:off x="2471166" y="301625"/>
              <a:ext cx="162153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차량 앱과 AR 현장 재확인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806711" cy="586740"/>
            <a:chOff x="518160" y="774700"/>
            <a:chExt cx="9806711" cy="586740"/>
          </a:xfrm>
        </p:grpSpPr>
        <p:sp>
          <p:nvSpPr>
            <p:cNvPr id="9" name="TextBox 9"/>
            <p:cNvSpPr txBox="1"/>
            <p:nvPr/>
          </p:nvSpPr>
          <p:spPr>
            <a:xfrm>
              <a:off x="518160" y="774700"/>
              <a:ext cx="980671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차량에서 만든 재확인 업무가 작업자 시야까지 이어진다</a:t>
              </a:r>
            </a:p>
          </p:txBody>
        </p:sp>
      </p:grpSp>
      <p:grpSp>
        <p:nvGrpSpPr>
          <p:cNvPr id="37" name="system-chain"/>
          <p:cNvGrpSpPr/>
          <p:nvPr/>
        </p:nvGrpSpPr>
        <p:grpSpPr>
          <a:xfrm>
            <a:off x="533400" y="1428750"/>
            <a:ext cx="11125200" cy="839343"/>
            <a:chOff x="533400" y="1428750"/>
            <a:chExt cx="11125200" cy="839343"/>
          </a:xfrm>
        </p:grpSpPr>
        <p:grpSp>
          <p:nvGrpSpPr>
            <p:cNvPr id="31" name="Group 31"/>
            <p:cNvGrpSpPr/>
            <p:nvPr/>
          </p:nvGrpSpPr>
          <p:grpSpPr>
            <a:xfrm>
              <a:off x="533400" y="1428750"/>
              <a:ext cx="11125200" cy="839343"/>
              <a:chOff x="533400" y="1428750"/>
              <a:chExt cx="11125200" cy="839343"/>
            </a:xfrm>
          </p:grpSpPr>
          <p:sp>
            <p:nvSpPr>
              <p:cNvPr id="11" name="Rectangle 11"/>
              <p:cNvSpPr/>
              <p:nvPr/>
            </p:nvSpPr>
            <p:spPr>
              <a:xfrm>
                <a:off x="533400" y="1428750"/>
                <a:ext cx="1905000" cy="552450"/>
              </a:xfrm>
              <a:prstGeom prst="roundRect">
                <a:avLst>
                  <a:gd name="adj" fmla="val 13793"/>
                </a:avLst>
              </a:prstGeom>
              <a:solidFill>
                <a:srgbClr val="0B1E3C"/>
              </a:solidFill>
              <a:ln>
                <a:noFill/>
              </a:ln>
            </p:spPr>
          </p:sp>
          <p:sp>
            <p:nvSpPr>
              <p:cNvPr id="12" name="TextBox 12"/>
              <p:cNvSpPr txBox="1"/>
              <p:nvPr/>
            </p:nvSpPr>
            <p:spPr>
              <a:xfrm>
                <a:off x="704122" y="1504950"/>
                <a:ext cx="1563556"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GroundWatch Cloud</a:t>
                </a:r>
              </a:p>
            </p:txBody>
          </p:sp>
          <p:sp>
            <p:nvSpPr>
              <p:cNvPr id="13" name="TextBox 13"/>
              <p:cNvSpPr txBox="1"/>
              <p:nvPr/>
            </p:nvSpPr>
            <p:spPr>
              <a:xfrm>
                <a:off x="751425" y="1752600"/>
                <a:ext cx="1468951" cy="191643"/>
              </a:xfrm>
              <a:prstGeom prst="rect">
                <a:avLst/>
              </a:prstGeom>
              <a:noFill/>
              <a:ln>
                <a:noFill/>
              </a:ln>
            </p:spPr>
            <p:txBody>
              <a:bodyPr wrap="none" lIns="0" tIns="0" rIns="0" bIns="0" anchor="t" anchorCtr="0">
                <a:spAutoFit/>
              </a:bodyPr>
              <a:lstStyle/>
              <a:p>
                <a:pPr algn="ctr"/>
                <a:r>
                  <a:rPr lang="ko-KR" sz="980" dirty="0">
                    <a:solidFill>
                      <a:srgbClr val="C3CCD9"/>
                    </a:solidFill>
                    <a:latin typeface="+mn-lt"/>
                    <a:ea typeface="+mn-ea"/>
                    <a:cs typeface="+mn-cs"/>
                  </a:rPr>
                  <a:t>4D 지도 · AI 분석 · 경로</a:t>
                </a:r>
              </a:p>
            </p:txBody>
          </p:sp>
          <p:sp>
            <p:nvSpPr>
              <p:cNvPr id="14" name="Rectangle 14"/>
              <p:cNvSpPr/>
              <p:nvPr/>
            </p:nvSpPr>
            <p:spPr>
              <a:xfrm>
                <a:off x="2838450" y="1428750"/>
                <a:ext cx="1905000" cy="552450"/>
              </a:xfrm>
              <a:prstGeom prst="roundRect">
                <a:avLst>
                  <a:gd name="adj" fmla="val 13793"/>
                </a:avLst>
              </a:prstGeom>
              <a:solidFill>
                <a:srgbClr val="0B1E3C"/>
              </a:solidFill>
              <a:ln>
                <a:noFill/>
              </a:ln>
            </p:spPr>
          </p:sp>
          <p:sp>
            <p:nvSpPr>
              <p:cNvPr id="15" name="TextBox 15"/>
              <p:cNvSpPr txBox="1"/>
              <p:nvPr/>
            </p:nvSpPr>
            <p:spPr>
              <a:xfrm>
                <a:off x="3230299" y="1504950"/>
                <a:ext cx="1121302" cy="234696"/>
              </a:xfrm>
              <a:prstGeom prst="rect">
                <a:avLst/>
              </a:prstGeom>
              <a:noFill/>
              <a:ln>
                <a:noFill/>
              </a:ln>
            </p:spPr>
            <p:txBody>
              <a:bodyPr wrap="none" lIns="0" tIns="0" rIns="0" bIns="0" anchor="t" anchorCtr="0">
                <a:spAutoFit/>
              </a:bodyPr>
              <a:lstStyle/>
              <a:p>
                <a:pPr algn="ctr"/>
                <a:r>
                  <a:rPr lang="ko-KR" sz="1200" b="1" dirty="0">
                    <a:solidFill>
                      <a:srgbClr val="FFFFFF"/>
                    </a:solidFill>
                    <a:latin typeface="+mn-lt"/>
                    <a:ea typeface="+mn-ea"/>
                    <a:cs typeface="+mn-cs"/>
                  </a:rPr>
                  <a:t>Patrol 차량 앱</a:t>
                </a:r>
              </a:p>
            </p:txBody>
          </p:sp>
          <p:sp>
            <p:nvSpPr>
              <p:cNvPr id="16" name="TextBox 16"/>
              <p:cNvSpPr txBox="1"/>
              <p:nvPr/>
            </p:nvSpPr>
            <p:spPr>
              <a:xfrm>
                <a:off x="3334145" y="1752600"/>
                <a:ext cx="913610" cy="191643"/>
              </a:xfrm>
              <a:prstGeom prst="rect">
                <a:avLst/>
              </a:prstGeom>
              <a:noFill/>
              <a:ln>
                <a:noFill/>
              </a:ln>
            </p:spPr>
            <p:txBody>
              <a:bodyPr wrap="none" lIns="0" tIns="0" rIns="0" bIns="0" anchor="t" anchorCtr="0">
                <a:spAutoFit/>
              </a:bodyPr>
              <a:lstStyle/>
              <a:p>
                <a:pPr algn="ctr"/>
                <a:r>
                  <a:rPr lang="ko-KR" sz="980" dirty="0">
                    <a:solidFill>
                      <a:srgbClr val="C3CCD9"/>
                    </a:solidFill>
                    <a:latin typeface="+mn-lt"/>
                    <a:ea typeface="+mn-ea"/>
                    <a:cs typeface="+mn-cs"/>
                  </a:rPr>
                  <a:t>업무·경로 관리</a:t>
                </a:r>
              </a:p>
            </p:txBody>
          </p:sp>
          <p:sp>
            <p:nvSpPr>
              <p:cNvPr id="17" name="Rectangle 17"/>
              <p:cNvSpPr/>
              <p:nvPr/>
            </p:nvSpPr>
            <p:spPr>
              <a:xfrm>
                <a:off x="5143500" y="1428750"/>
                <a:ext cx="1905000" cy="552450"/>
              </a:xfrm>
              <a:prstGeom prst="roundRect">
                <a:avLst>
                  <a:gd name="adj" fmla="val 13793"/>
                </a:avLst>
              </a:prstGeom>
              <a:solidFill>
                <a:srgbClr val="0B1E3C"/>
              </a:solidFill>
              <a:ln>
                <a:noFill/>
              </a:ln>
            </p:spPr>
          </p:sp>
          <p:sp>
            <p:nvSpPr>
              <p:cNvPr id="18" name="TextBox 18"/>
              <p:cNvSpPr txBox="1"/>
              <p:nvPr/>
            </p:nvSpPr>
            <p:spPr>
              <a:xfrm>
                <a:off x="5528677" y="1504950"/>
                <a:ext cx="113464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Edge Gateway</a:t>
                </a:r>
              </a:p>
            </p:txBody>
          </p:sp>
          <p:sp>
            <p:nvSpPr>
              <p:cNvPr id="19" name="TextBox 19"/>
              <p:cNvSpPr txBox="1"/>
              <p:nvPr/>
            </p:nvSpPr>
            <p:spPr>
              <a:xfrm>
                <a:off x="5421514" y="1752600"/>
                <a:ext cx="1348971" cy="191643"/>
              </a:xfrm>
              <a:prstGeom prst="rect">
                <a:avLst/>
              </a:prstGeom>
              <a:noFill/>
              <a:ln>
                <a:noFill/>
              </a:ln>
            </p:spPr>
            <p:txBody>
              <a:bodyPr wrap="none" lIns="0" tIns="0" rIns="0" bIns="0" anchor="t" anchorCtr="0">
                <a:spAutoFit/>
              </a:bodyPr>
              <a:lstStyle/>
              <a:p>
                <a:pPr algn="ctr"/>
                <a:r>
                  <a:rPr lang="ko-KR" sz="980" dirty="0">
                    <a:solidFill>
                      <a:srgbClr val="C3CCD9"/>
                    </a:solidFill>
                    <a:latin typeface="+mn-lt"/>
                    <a:ea typeface="+mn-ea"/>
                    <a:cs typeface="+mn-cs"/>
                  </a:rPr>
                  <a:t>센서 동기화·로컬 통신</a:t>
                </a:r>
              </a:p>
            </p:txBody>
          </p:sp>
          <p:sp>
            <p:nvSpPr>
              <p:cNvPr id="20" name="Rectangle 20"/>
              <p:cNvSpPr/>
              <p:nvPr/>
            </p:nvSpPr>
            <p:spPr>
              <a:xfrm>
                <a:off x="7448550" y="1428750"/>
                <a:ext cx="1905000" cy="552450"/>
              </a:xfrm>
              <a:prstGeom prst="roundRect">
                <a:avLst>
                  <a:gd name="adj" fmla="val 13793"/>
                </a:avLst>
              </a:prstGeom>
              <a:solidFill>
                <a:srgbClr val="FFFFFF"/>
              </a:solidFill>
              <a:ln w="19050">
                <a:solidFill>
                  <a:srgbClr val="0B1E3C"/>
                </a:solidFill>
              </a:ln>
            </p:spPr>
          </p:sp>
          <p:sp>
            <p:nvSpPr>
              <p:cNvPr id="21" name="TextBox 21"/>
              <p:cNvSpPr txBox="1"/>
              <p:nvPr/>
            </p:nvSpPr>
            <p:spPr>
              <a:xfrm>
                <a:off x="8027182" y="1504950"/>
                <a:ext cx="747735"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AR 글래스</a:t>
                </a:r>
              </a:p>
            </p:txBody>
          </p:sp>
          <p:sp>
            <p:nvSpPr>
              <p:cNvPr id="22" name="TextBox 22"/>
              <p:cNvSpPr txBox="1"/>
              <p:nvPr/>
            </p:nvSpPr>
            <p:spPr>
              <a:xfrm>
                <a:off x="7792528" y="1752600"/>
                <a:ext cx="1217044"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위치 정합·탐사 안내</a:t>
                </a:r>
              </a:p>
            </p:txBody>
          </p:sp>
          <p:sp>
            <p:nvSpPr>
              <p:cNvPr id="23" name="Rectangle 23"/>
              <p:cNvSpPr/>
              <p:nvPr/>
            </p:nvSpPr>
            <p:spPr>
              <a:xfrm>
                <a:off x="9753600" y="1428750"/>
                <a:ext cx="1905000" cy="552450"/>
              </a:xfrm>
              <a:prstGeom prst="roundRect">
                <a:avLst>
                  <a:gd name="adj" fmla="val 13793"/>
                </a:avLst>
              </a:prstGeom>
              <a:solidFill>
                <a:srgbClr val="FFFFFF"/>
              </a:solidFill>
              <a:ln w="19050">
                <a:solidFill>
                  <a:srgbClr val="0B1E3C"/>
                </a:solidFill>
              </a:ln>
            </p:spPr>
          </p:sp>
          <p:sp>
            <p:nvSpPr>
              <p:cNvPr id="24" name="TextBox 24"/>
              <p:cNvSpPr txBox="1"/>
              <p:nvPr/>
            </p:nvSpPr>
            <p:spPr>
              <a:xfrm>
                <a:off x="10363718" y="1504950"/>
                <a:ext cx="684764"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수동 GPR</a:t>
                </a:r>
              </a:p>
            </p:txBody>
          </p:sp>
          <p:sp>
            <p:nvSpPr>
              <p:cNvPr id="25" name="TextBox 25"/>
              <p:cNvSpPr txBox="1"/>
              <p:nvPr/>
            </p:nvSpPr>
            <p:spPr>
              <a:xfrm>
                <a:off x="10001931" y="1752600"/>
                <a:ext cx="1408339"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다른 방향으로 교차검증</a:t>
                </a:r>
              </a:p>
            </p:txBody>
          </p:sp>
          <p:grpSp>
            <p:nvGrpSpPr>
              <p:cNvPr id="30" name="Group 30"/>
              <p:cNvGrpSpPr/>
              <p:nvPr/>
            </p:nvGrpSpPr>
            <p:grpSpPr>
              <a:xfrm>
                <a:off x="2349828" y="2076450"/>
                <a:ext cx="7492345" cy="191643"/>
                <a:chOff x="2349828" y="2076450"/>
                <a:chExt cx="7492345" cy="191643"/>
              </a:xfrm>
            </p:grpSpPr>
            <p:sp>
              <p:nvSpPr>
                <p:cNvPr id="26" name="TextBox 26"/>
                <p:cNvSpPr txBox="1"/>
                <p:nvPr/>
              </p:nvSpPr>
              <p:spPr>
                <a:xfrm>
                  <a:off x="2349828" y="2076450"/>
                  <a:ext cx="577195"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보안 통신</a:t>
                  </a:r>
                </a:p>
              </p:txBody>
            </p:sp>
            <p:sp>
              <p:nvSpPr>
                <p:cNvPr id="27" name="TextBox 27"/>
                <p:cNvSpPr txBox="1"/>
                <p:nvPr/>
              </p:nvSpPr>
              <p:spPr>
                <a:xfrm>
                  <a:off x="4688108" y="2076450"/>
                  <a:ext cx="510733"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로컬 API</a:t>
                  </a:r>
                </a:p>
              </p:txBody>
            </p:sp>
            <p:sp>
              <p:nvSpPr>
                <p:cNvPr id="28" name="TextBox 28"/>
                <p:cNvSpPr txBox="1"/>
                <p:nvPr/>
              </p:nvSpPr>
              <p:spPr>
                <a:xfrm>
                  <a:off x="6925110" y="2076450"/>
                  <a:ext cx="646830"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보안 Wi-Fi</a:t>
                  </a:r>
                </a:p>
              </p:txBody>
            </p:sp>
            <p:sp>
              <p:nvSpPr>
                <p:cNvPr id="29" name="TextBox 29"/>
                <p:cNvSpPr txBox="1"/>
                <p:nvPr/>
              </p:nvSpPr>
              <p:spPr>
                <a:xfrm>
                  <a:off x="9264978" y="2076450"/>
                  <a:ext cx="577195"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작업 안내</a:t>
                  </a:r>
                </a:p>
              </p:txBody>
            </p:sp>
          </p:grpSp>
        </p:grpSp>
        <p:grpSp>
          <p:nvGrpSpPr>
            <p:cNvPr id="36" name="Group 36"/>
            <p:cNvGrpSpPr/>
            <p:nvPr/>
          </p:nvGrpSpPr>
          <p:grpSpPr>
            <a:xfrm>
              <a:off x="2466975" y="1704975"/>
              <a:ext cx="7258050" cy="1"/>
              <a:chOff x="2466975" y="1704975"/>
              <a:chExt cx="7258050" cy="1"/>
            </a:xfrm>
          </p:grpSpPr>
          <p:sp>
            <p:nvSpPr>
              <p:cNvPr id="32" name="Line 32"/>
              <p:cNvSpPr/>
              <p:nvPr/>
            </p:nvSpPr>
            <p:spPr>
              <a:xfrm>
                <a:off x="2466975" y="1704975"/>
                <a:ext cx="342900" cy="1"/>
              </a:xfrm>
              <a:prstGeom prst="line">
                <a:avLst/>
              </a:prstGeom>
              <a:noFill/>
              <a:ln w="19050">
                <a:solidFill>
                  <a:srgbClr val="0B1E3C"/>
                </a:solidFill>
                <a:headEnd type="triangle" w="lg" len="lg"/>
                <a:tailEnd type="triangle" w="lg" len="lg"/>
              </a:ln>
            </p:spPr>
          </p:sp>
          <p:sp>
            <p:nvSpPr>
              <p:cNvPr id="33" name="Line 33"/>
              <p:cNvSpPr/>
              <p:nvPr/>
            </p:nvSpPr>
            <p:spPr>
              <a:xfrm>
                <a:off x="4772025" y="1704975"/>
                <a:ext cx="342900" cy="1"/>
              </a:xfrm>
              <a:prstGeom prst="line">
                <a:avLst/>
              </a:prstGeom>
              <a:noFill/>
              <a:ln w="19050">
                <a:solidFill>
                  <a:srgbClr val="0B1E3C"/>
                </a:solidFill>
                <a:headEnd type="triangle" w="lg" len="lg"/>
                <a:tailEnd type="triangle" w="lg" len="lg"/>
              </a:ln>
            </p:spPr>
          </p:sp>
          <p:sp>
            <p:nvSpPr>
              <p:cNvPr id="34" name="Line 34"/>
              <p:cNvSpPr/>
              <p:nvPr/>
            </p:nvSpPr>
            <p:spPr>
              <a:xfrm>
                <a:off x="7077075" y="1704975"/>
                <a:ext cx="342900" cy="1"/>
              </a:xfrm>
              <a:prstGeom prst="line">
                <a:avLst/>
              </a:prstGeom>
              <a:noFill/>
              <a:ln w="19050">
                <a:solidFill>
                  <a:srgbClr val="0B1E3C"/>
                </a:solidFill>
                <a:headEnd type="triangle" w="lg" len="lg"/>
                <a:tailEnd type="triangle" w="lg" len="lg"/>
              </a:ln>
            </p:spPr>
          </p:sp>
          <p:sp>
            <p:nvSpPr>
              <p:cNvPr id="35" name="Line 35"/>
              <p:cNvSpPr/>
              <p:nvPr/>
            </p:nvSpPr>
            <p:spPr>
              <a:xfrm>
                <a:off x="9382125" y="1704975"/>
                <a:ext cx="342900" cy="1"/>
              </a:xfrm>
              <a:prstGeom prst="line">
                <a:avLst/>
              </a:prstGeom>
              <a:noFill/>
              <a:ln w="19050">
                <a:solidFill>
                  <a:srgbClr val="0B1E3C"/>
                </a:solidFill>
                <a:headEnd type="triangle" w="lg" len="lg"/>
                <a:tailEnd type="triangle" w="lg" len="lg"/>
              </a:ln>
            </p:spPr>
          </p:sp>
        </p:grpSp>
      </p:grpSp>
      <p:grpSp>
        <p:nvGrpSpPr>
          <p:cNvPr id="44" name="cabin-panel"/>
          <p:cNvGrpSpPr/>
          <p:nvPr/>
        </p:nvGrpSpPr>
        <p:grpSpPr>
          <a:xfrm>
            <a:off x="526542" y="2381250"/>
            <a:ext cx="5302758" cy="3739896"/>
            <a:chOff x="526542" y="2381250"/>
            <a:chExt cx="5302758" cy="3739896"/>
          </a:xfrm>
        </p:grpSpPr>
        <p:sp>
          <p:nvSpPr>
            <p:cNvPr id="38" name="Rectangle 38"/>
            <p:cNvSpPr/>
            <p:nvPr/>
          </p:nvSpPr>
          <p:spPr>
            <a:xfrm>
              <a:off x="533400" y="2381250"/>
              <a:ext cx="5295900" cy="3143250"/>
            </a:xfrm>
            <a:prstGeom prst="rect">
              <a:avLst/>
            </a:prstGeom>
            <a:solidFill>
              <a:srgbClr val="2B3A52"/>
            </a:solidFill>
            <a:ln>
              <a:noFill/>
            </a:ln>
          </p:spPr>
        </p:sp>
        <p:pic>
          <p:nvPicPr>
            <p:cNvPr id="39" name="Image 39"/>
            <p:cNvPicPr>
              <a:picLocks noChangeAspect="1"/>
            </p:cNvPicPr>
            <p:nvPr/>
          </p:nvPicPr>
          <p:blipFill>
            <a:blip r:embed="rId2"/>
            <a:stretch>
              <a:fillRect/>
            </a:stretch>
          </p:blipFill>
          <p:spPr>
            <a:xfrm>
              <a:off x="628650" y="2790825"/>
              <a:ext cx="5105400" cy="2324100"/>
            </a:xfrm>
            <a:prstGeom prst="rect">
              <a:avLst/>
            </a:prstGeom>
          </p:spPr>
        </p:pic>
        <p:sp>
          <p:nvSpPr>
            <p:cNvPr id="40" name="Rectangle 40"/>
            <p:cNvSpPr/>
            <p:nvPr/>
          </p:nvSpPr>
          <p:spPr>
            <a:xfrm>
              <a:off x="628650" y="2476500"/>
              <a:ext cx="1219200" cy="209550"/>
            </a:xfrm>
            <a:prstGeom prst="roundRect">
              <a:avLst>
                <a:gd name="adj" fmla="val 13636"/>
              </a:avLst>
            </a:prstGeom>
            <a:solidFill>
              <a:srgbClr val="0B1E3C"/>
            </a:solidFill>
            <a:ln>
              <a:noFill/>
            </a:ln>
          </p:spPr>
        </p:sp>
        <p:sp>
          <p:nvSpPr>
            <p:cNvPr id="41" name="TextBox 41"/>
            <p:cNvSpPr txBox="1"/>
            <p:nvPr/>
          </p:nvSpPr>
          <p:spPr>
            <a:xfrm>
              <a:off x="682219" y="2514600"/>
              <a:ext cx="1112063"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[화면 예시] 운행 전</a:t>
              </a:r>
            </a:p>
          </p:txBody>
        </p:sp>
        <p:sp>
          <p:nvSpPr>
            <p:cNvPr id="42" name="TextBox 42"/>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3" name="TextBox 43"/>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정차 후 안전 정차 위치 안내</a:t>
              </a:r>
            </a:p>
          </p:txBody>
        </p:sp>
      </p:grpSp>
      <p:grpSp>
        <p:nvGrpSpPr>
          <p:cNvPr id="65" name="ar-panel"/>
          <p:cNvGrpSpPr/>
          <p:nvPr/>
        </p:nvGrpSpPr>
        <p:grpSpPr>
          <a:xfrm>
            <a:off x="6089142" y="2381250"/>
            <a:ext cx="5569458" cy="3739896"/>
            <a:chOff x="6089142" y="2381250"/>
            <a:chExt cx="5569458" cy="3739896"/>
          </a:xfrm>
        </p:grpSpPr>
        <p:pic>
          <p:nvPicPr>
            <p:cNvPr id="45" name="Image 45"/>
            <p:cNvPicPr>
              <a:picLocks noChangeAspect="1"/>
            </p:cNvPicPr>
            <p:nvPr/>
          </p:nvPicPr>
          <p:blipFill>
            <a:blip r:embed="rId3"/>
            <a:srcRect l="0" t="7540" r="0" b="7541"/>
            <a:stretch>
              <a:fillRect/>
            </a:stretch>
          </p:blipFill>
          <p:spPr>
            <a:xfrm>
              <a:off x="6096000" y="2381250"/>
              <a:ext cx="5562600" cy="3143250"/>
            </a:xfrm>
            <a:prstGeom prst="rect">
              <a:avLst/>
            </a:prstGeom>
          </p:spPr>
        </p:pic>
        <p:sp>
          <p:nvSpPr>
            <p:cNvPr id="46" name="Polygon 46"/>
            <p:cNvSpPr/>
            <p:nvPr/>
          </p:nvSpPr>
          <p:spPr>
            <a:xfrm>
              <a:off x="8153400" y="4324350"/>
              <a:ext cx="2095500" cy="809625"/>
            </a:xfrm>
            <a:custGeom>
              <a:avLst/>
              <a:gdLst/>
              <a:ahLst/>
              <a:cxnLst/>
              <a:rect l="l" t="t" r="r" b="b"/>
              <a:pathLst>
                <a:path w="2095500" h="809625">
                  <a:moveTo>
                    <a:pt x="0" y="0"/>
                  </a:moveTo>
                  <a:lnTo>
                    <a:pt x="390525" y="0"/>
                  </a:lnTo>
                  <a:lnTo>
                    <a:pt x="2095500" y="809625"/>
                  </a:lnTo>
                  <a:lnTo>
                    <a:pt x="0" y="809625"/>
                  </a:lnTo>
                  <a:close/>
                </a:path>
              </a:pathLst>
            </a:custGeom>
            <a:solidFill>
              <a:srgbClr val="F5B700">
                <a:alpha val="26000"/>
              </a:srgbClr>
            </a:solidFill>
            <a:ln w="23812">
              <a:solidFill>
                <a:srgbClr val="F5B700"/>
              </a:solidFill>
            </a:ln>
          </p:spPr>
        </p:sp>
        <p:grpSp>
          <p:nvGrpSpPr>
            <p:cNvPr id="50" name="Group 50"/>
            <p:cNvGrpSpPr/>
            <p:nvPr/>
          </p:nvGrpSpPr>
          <p:grpSpPr>
            <a:xfrm>
              <a:off x="8153400" y="4524375"/>
              <a:ext cx="1666875" cy="419100"/>
              <a:chOff x="8153400" y="4524375"/>
              <a:chExt cx="1666875" cy="419100"/>
            </a:xfrm>
          </p:grpSpPr>
          <p:sp>
            <p:nvSpPr>
              <p:cNvPr id="47" name="Line 47"/>
              <p:cNvSpPr/>
              <p:nvPr/>
            </p:nvSpPr>
            <p:spPr>
              <a:xfrm>
                <a:off x="8153400" y="4524375"/>
                <a:ext cx="809625" cy="9525"/>
              </a:xfrm>
              <a:custGeom>
                <a:avLst/>
                <a:gdLst/>
                <a:ahLst/>
                <a:cxnLst/>
                <a:rect l="l" t="t" r="r" b="b"/>
                <a:pathLst>
                  <a:path w="809625" h="9525">
                    <a:moveTo>
                      <a:pt x="0" y="0"/>
                    </a:moveTo>
                    <a:lnTo>
                      <a:pt x="809625" y="0"/>
                    </a:lnTo>
                  </a:path>
                </a:pathLst>
              </a:custGeom>
              <a:noFill/>
              <a:ln w="14288">
                <a:solidFill>
                  <a:srgbClr val="F5B700"/>
                </a:solidFill>
                <a:custDash>
                  <a:ds d="400000" sp="266667"/>
                </a:custDash>
              </a:ln>
            </p:spPr>
          </p:sp>
          <p:sp>
            <p:nvSpPr>
              <p:cNvPr id="48" name="Line 48"/>
              <p:cNvSpPr/>
              <p:nvPr/>
            </p:nvSpPr>
            <p:spPr>
              <a:xfrm>
                <a:off x="8153400" y="4733925"/>
                <a:ext cx="1247775" cy="9525"/>
              </a:xfrm>
              <a:custGeom>
                <a:avLst/>
                <a:gdLst/>
                <a:ahLst/>
                <a:cxnLst/>
                <a:rect l="l" t="t" r="r" b="b"/>
                <a:pathLst>
                  <a:path w="1247775" h="9525">
                    <a:moveTo>
                      <a:pt x="0" y="0"/>
                    </a:moveTo>
                    <a:lnTo>
                      <a:pt x="1247775" y="0"/>
                    </a:lnTo>
                  </a:path>
                </a:pathLst>
              </a:custGeom>
              <a:noFill/>
              <a:ln w="14288">
                <a:solidFill>
                  <a:srgbClr val="F5B700"/>
                </a:solidFill>
                <a:custDash>
                  <a:ds d="400000" sp="266667"/>
                </a:custDash>
              </a:ln>
            </p:spPr>
          </p:sp>
          <p:sp>
            <p:nvSpPr>
              <p:cNvPr id="49" name="Line 49"/>
              <p:cNvSpPr/>
              <p:nvPr/>
            </p:nvSpPr>
            <p:spPr>
              <a:xfrm>
                <a:off x="8153400" y="4933950"/>
                <a:ext cx="1666875" cy="9525"/>
              </a:xfrm>
              <a:custGeom>
                <a:avLst/>
                <a:gdLst/>
                <a:ahLst/>
                <a:cxnLst/>
                <a:rect l="l" t="t" r="r" b="b"/>
                <a:pathLst>
                  <a:path w="1666875" h="9525">
                    <a:moveTo>
                      <a:pt x="0" y="0"/>
                    </a:moveTo>
                    <a:lnTo>
                      <a:pt x="1666875" y="0"/>
                    </a:lnTo>
                  </a:path>
                </a:pathLst>
              </a:custGeom>
              <a:noFill/>
              <a:ln w="14288">
                <a:solidFill>
                  <a:srgbClr val="F5B700"/>
                </a:solidFill>
                <a:custDash>
                  <a:ds d="400000" sp="266667"/>
                </a:custDash>
              </a:ln>
            </p:spPr>
          </p:sp>
        </p:grpSp>
        <p:sp>
          <p:nvSpPr>
            <p:cNvPr id="51" name="Ellipse 51"/>
            <p:cNvSpPr/>
            <p:nvPr/>
          </p:nvSpPr>
          <p:spPr>
            <a:xfrm>
              <a:off x="7381875" y="4438650"/>
              <a:ext cx="209550" cy="209550"/>
            </a:xfrm>
            <a:prstGeom prst="ellipse">
              <a:avLst/>
            </a:prstGeom>
            <a:noFill/>
            <a:ln w="23812">
              <a:solidFill>
                <a:srgbClr val="FFFFFF"/>
              </a:solidFill>
            </a:ln>
          </p:spPr>
        </p:sp>
        <p:sp>
          <p:nvSpPr>
            <p:cNvPr id="52" name="Rectangle 52"/>
            <p:cNvSpPr/>
            <p:nvPr/>
          </p:nvSpPr>
          <p:spPr>
            <a:xfrm>
              <a:off x="6572250" y="4686300"/>
              <a:ext cx="1066800" cy="209550"/>
            </a:xfrm>
            <a:prstGeom prst="roundRect">
              <a:avLst>
                <a:gd name="adj" fmla="val 13636"/>
              </a:avLst>
            </a:prstGeom>
            <a:solidFill>
              <a:srgbClr val="0B1E3C">
                <a:alpha val="85000"/>
              </a:srgbClr>
            </a:solidFill>
            <a:ln>
              <a:noFill/>
            </a:ln>
          </p:spPr>
        </p:sp>
        <p:sp>
          <p:nvSpPr>
            <p:cNvPr id="53" name="TextBox 53"/>
            <p:cNvSpPr txBox="1"/>
            <p:nvPr/>
          </p:nvSpPr>
          <p:spPr>
            <a:xfrm>
              <a:off x="6670777" y="472440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4" name="Ellipse 54"/>
            <p:cNvSpPr/>
            <p:nvPr/>
          </p:nvSpPr>
          <p:spPr>
            <a:xfrm>
              <a:off x="7953375" y="5000625"/>
              <a:ext cx="133350" cy="133350"/>
            </a:xfrm>
            <a:prstGeom prst="ellipse">
              <a:avLst/>
            </a:prstGeom>
            <a:noFill/>
            <a:ln w="23812">
              <a:solidFill>
                <a:srgbClr val="FFFFFF"/>
              </a:solidFill>
            </a:ln>
          </p:spPr>
        </p:sp>
        <p:sp>
          <p:nvSpPr>
            <p:cNvPr id="55" name="Rectangle 55"/>
            <p:cNvSpPr/>
            <p:nvPr/>
          </p:nvSpPr>
          <p:spPr>
            <a:xfrm>
              <a:off x="6572250" y="4991100"/>
              <a:ext cx="1276350" cy="209550"/>
            </a:xfrm>
            <a:prstGeom prst="roundRect">
              <a:avLst>
                <a:gd name="adj" fmla="val 13636"/>
              </a:avLst>
            </a:prstGeom>
            <a:solidFill>
              <a:srgbClr val="0B1E3C">
                <a:alpha val="85000"/>
              </a:srgbClr>
            </a:solidFill>
            <a:ln>
              <a:noFill/>
            </a:ln>
          </p:spPr>
        </p:sp>
        <p:sp>
          <p:nvSpPr>
            <p:cNvPr id="56" name="TextBox 56"/>
            <p:cNvSpPr txBox="1"/>
            <p:nvPr/>
          </p:nvSpPr>
          <p:spPr>
            <a:xfrm>
              <a:off x="6574732" y="5029200"/>
              <a:ext cx="1271386"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차선 모서리</a:t>
              </a:r>
            </a:p>
          </p:txBody>
        </p:sp>
        <p:sp>
          <p:nvSpPr>
            <p:cNvPr id="57" name="Rectangle 57"/>
            <p:cNvSpPr/>
            <p:nvPr/>
          </p:nvSpPr>
          <p:spPr>
            <a:xfrm>
              <a:off x="6248400" y="2514600"/>
              <a:ext cx="2381250" cy="666750"/>
            </a:xfrm>
            <a:prstGeom prst="roundRect">
              <a:avLst>
                <a:gd name="adj" fmla="val 8571"/>
              </a:avLst>
            </a:prstGeom>
            <a:solidFill>
              <a:srgbClr val="0B1E3C">
                <a:alpha val="85000"/>
              </a:srgbClr>
            </a:solidFill>
            <a:ln>
              <a:noFill/>
            </a:ln>
          </p:spPr>
        </p:sp>
        <p:sp>
          <p:nvSpPr>
            <p:cNvPr id="58" name="TextBox 58"/>
            <p:cNvSpPr txBox="1"/>
            <p:nvPr/>
          </p:nvSpPr>
          <p:spPr>
            <a:xfrm>
              <a:off x="6395085" y="260350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59" name="TextBox 59"/>
            <p:cNvSpPr txBox="1"/>
            <p:nvPr/>
          </p:nvSpPr>
          <p:spPr>
            <a:xfrm>
              <a:off x="6395847" y="2828925"/>
              <a:ext cx="2242345"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AI 신뢰도 84%</a:t>
              </a:r>
            </a:p>
          </p:txBody>
        </p:sp>
        <p:sp>
          <p:nvSpPr>
            <p:cNvPr id="60" name="TextBox 60"/>
            <p:cNvSpPr txBox="1"/>
            <p:nvPr/>
          </p:nvSpPr>
          <p:spPr>
            <a:xfrm>
              <a:off x="6396038" y="3003550"/>
              <a:ext cx="1621196" cy="161925"/>
            </a:xfrm>
            <a:prstGeom prst="rect">
              <a:avLst/>
            </a:prstGeom>
            <a:noFill/>
            <a:ln>
              <a:noFill/>
            </a:ln>
          </p:spPr>
          <p:txBody>
            <a:bodyPr wrap="none" lIns="0" tIns="0" rIns="0" bIns="0" anchor="t" anchorCtr="0">
              <a:spAutoFit/>
            </a:bodyPr>
            <a:lstStyle/>
            <a:p>
              <a:pPr algn="l"/>
              <a:r>
                <a:rPr lang="ko-KR" sz="820" dirty="0">
                  <a:solidFill>
                    <a:srgbClr val="AEB6C2"/>
                  </a:solidFill>
                  <a:latin typeface="+mn-lt"/>
                  <a:ea typeface="+mn-ea"/>
                  <a:cs typeface="+mn-cs"/>
                </a:rPr>
                <a:t>[화면 예시] 위치 오차 기준 충족</a:t>
              </a:r>
            </a:p>
          </p:txBody>
        </p:sp>
        <p:sp>
          <p:nvSpPr>
            <p:cNvPr id="61" name="Rectangle 61"/>
            <p:cNvSpPr/>
            <p:nvPr/>
          </p:nvSpPr>
          <p:spPr>
            <a:xfrm>
              <a:off x="6096000" y="5295900"/>
              <a:ext cx="5562600" cy="228600"/>
            </a:xfrm>
            <a:prstGeom prst="rect">
              <a:avLst/>
            </a:prstGeom>
            <a:solidFill>
              <a:srgbClr val="C62828">
                <a:alpha val="92000"/>
              </a:srgbClr>
            </a:solidFill>
            <a:ln>
              <a:noFill/>
            </a:ln>
          </p:spPr>
        </p:sp>
        <p:sp>
          <p:nvSpPr>
            <p:cNvPr id="62" name="TextBox 62"/>
            <p:cNvSpPr txBox="1"/>
            <p:nvPr/>
          </p:nvSpPr>
          <p:spPr>
            <a:xfrm>
              <a:off x="6762062" y="534352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63" name="TextBox 63"/>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4" name="TextBox 64"/>
            <p:cNvSpPr txBox="1"/>
            <p:nvPr/>
          </p:nvSpPr>
          <p:spPr>
            <a:xfrm>
              <a:off x="6089904" y="5886450"/>
              <a:ext cx="5050993"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맨홀·차선·경계석·RTK 중 2~3개로 위치를 맞추고 재탐사 범위만 표시</a:t>
              </a:r>
            </a:p>
          </p:txBody>
        </p:sp>
      </p:grpSp>
      <p:grpSp>
        <p:nvGrpSpPr>
          <p:cNvPr id="67" name="source"/>
          <p:cNvGrpSpPr/>
          <p:nvPr/>
        </p:nvGrpSpPr>
        <p:grpSpPr>
          <a:xfrm>
            <a:off x="528638" y="6184900"/>
            <a:ext cx="8296275" cy="347662"/>
            <a:chOff x="528638" y="6184900"/>
            <a:chExt cx="8296275" cy="347662"/>
          </a:xfrm>
        </p:grpSpPr>
        <p:sp>
          <p:nvSpPr>
            <p:cNvPr id="66" name="TextBox 66"/>
            <p:cNvSpPr txBox="1"/>
            <p:nvPr/>
          </p:nvSpPr>
          <p:spPr>
            <a:xfrm>
              <a:off x="528638" y="6184900"/>
              <a:ext cx="8296275" cy="347662"/>
            </a:xfrm>
            <a:prstGeom prst="rect">
              <a:avLst/>
            </a:prstGeom>
            <a:noFill/>
            <a:ln>
              <a:noFill/>
            </a:ln>
          </p:spPr>
          <p:txBody>
            <a:bodyPr wrap="none" lIns="0" tIns="0" rIns="0" bIns="0" anchor="t" anchorCtr="0">
              <a:spAutoFit/>
            </a:bodyPr>
            <a:lstStyle/>
            <a:p>
              <a:pPr algn="l">
                <a:lnSpc>
                  <a:spcPts val="1350"/>
                </a:lnSpc>
              </a:pPr>
              <a:r>
                <a:rPr lang="ko-KR" sz="900" dirty="0">
                  <a:solidFill>
                    <a:srgbClr val="6B7280"/>
                  </a:solidFill>
                  <a:latin typeface="+mn-lt"/>
                  <a:ea typeface="+mn-ea"/>
                  <a:cs typeface="+mn-cs"/>
                </a:rPr>
                <a:t>차량 화면의 단순 미러링이 아닌 보안 Wi-Fi 작업 데이터 연동 · AR은 공동의 실제 모양이 아니라 수동 GPR로 확인할 범위를 안내 · 운전자는 주행 중 AR을 쓰지 않음</a:t>
              </a:r>
              <a:br>
                <a:rPr lang="ko-KR" sz="900" dirty="0">
                  <a:solidFill>
                    <a:srgbClr val="6B7280"/>
                  </a:solidFill>
                  <a:latin typeface="+mn-lt"/>
                  <a:ea typeface="+mn-ea"/>
                  <a:cs typeface="+mn-cs"/>
                </a:rPr>
              </a:br>
              <a:r>
                <a:rPr lang="ko-KR" sz="900" dirty="0">
                  <a:solidFill>
                    <a:srgbClr val="6B7280"/>
                  </a:solidFill>
                  <a:latin typeface="+mn-lt"/>
                  <a:ea typeface="+mn-ea"/>
                  <a:cs typeface="+mn-cs"/>
                </a:rPr>
                <a:t>앱 배포와 차량 데이터 접근은 기아 PBV 파트너 승인·공식 API 범위 확인 필요 · 도로 사진: PattayaPatrol, CC BY-SA 4.0 · 화면 수치는 예시</a:t>
              </a:r>
            </a:p>
          </p:txBody>
        </p:sp>
      </p:grpSp>
      <p:grpSp>
        <p:nvGrpSpPr>
          <p:cNvPr id="70" name="footer"/>
          <p:cNvGrpSpPr/>
          <p:nvPr/>
        </p:nvGrpSpPr>
        <p:grpSpPr>
          <a:xfrm>
            <a:off x="528638" y="6629400"/>
            <a:ext cx="11134724" cy="176212"/>
            <a:chOff x="528638" y="6629400"/>
            <a:chExt cx="11134724" cy="176212"/>
          </a:xfrm>
        </p:grpSpPr>
        <p:sp>
          <p:nvSpPr>
            <p:cNvPr id="68" name="TextBox 68"/>
            <p:cNvSpPr txBox="1"/>
            <p:nvPr/>
          </p:nvSpPr>
          <p:spPr>
            <a:xfrm>
              <a:off x="528638" y="662940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69" name="TextBox 69"/>
            <p:cNvSpPr txBox="1"/>
            <p:nvPr/>
          </p:nvSpPr>
          <p:spPr>
            <a:xfrm>
              <a:off x="11247958" y="662940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07 / 12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5p</a:t>
              </a:r>
            </a:p>
          </p:txBody>
        </p:sp>
        <p:sp>
          <p:nvSpPr>
            <p:cNvPr id="6" name="TextBox 6"/>
            <p:cNvSpPr txBox="1"/>
            <p:nvPr/>
          </p:nvSpPr>
          <p:spPr>
            <a:xfrm>
              <a:off x="2356866" y="301625"/>
              <a:ext cx="94358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기술 검증 현황</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10541870" cy="586740"/>
            <a:chOff x="518160" y="774700"/>
            <a:chExt cx="10541870" cy="586740"/>
          </a:xfrm>
        </p:grpSpPr>
        <p:sp>
          <p:nvSpPr>
            <p:cNvPr id="9" name="TextBox 9"/>
            <p:cNvSpPr txBox="1"/>
            <p:nvPr/>
          </p:nvSpPr>
          <p:spPr>
            <a:xfrm>
              <a:off x="518160" y="774700"/>
              <a:ext cx="1054187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상용 기술을 결합하고, 차량 통합 성능은 실증으로 확인한다</a:t>
              </a:r>
            </a:p>
          </p:txBody>
        </p:sp>
      </p:grpSp>
      <p:grpSp>
        <p:nvGrpSpPr>
          <p:cNvPr id="28" name="available"/>
          <p:cNvGrpSpPr/>
          <p:nvPr/>
        </p:nvGrpSpPr>
        <p:grpSpPr>
          <a:xfrm>
            <a:off x="525780" y="1593850"/>
            <a:ext cx="5341620" cy="3893820"/>
            <a:chOff x="525780" y="1593850"/>
            <a:chExt cx="5341620" cy="3893820"/>
          </a:xfrm>
        </p:grpSpPr>
        <p:sp>
          <p:nvSpPr>
            <p:cNvPr id="11" name="Freeform 11"/>
            <p:cNvSpPr/>
            <p:nvPr/>
          </p:nvSpPr>
          <p:spPr>
            <a:xfrm>
              <a:off x="592931" y="1664494"/>
              <a:ext cx="178594" cy="119062"/>
            </a:xfrm>
            <a:custGeom>
              <a:avLst/>
              <a:gdLst/>
              <a:ahLst/>
              <a:cxnLst/>
              <a:rect l="l" t="t" r="r" b="b"/>
              <a:pathLst>
                <a:path w="178594" h="119062">
                  <a:moveTo>
                    <a:pt x="0" y="59531"/>
                  </a:moveTo>
                  <a:lnTo>
                    <a:pt x="59531" y="119062"/>
                  </a:lnTo>
                  <a:lnTo>
                    <a:pt x="178594" y="0"/>
                  </a:lnTo>
                </a:path>
              </a:pathLst>
            </a:custGeom>
            <a:noFill/>
            <a:ln w="23812">
              <a:solidFill>
                <a:srgbClr val="0B1E3C"/>
              </a:solidFill>
            </a:ln>
          </p:spPr>
        </p:sp>
        <p:sp>
          <p:nvSpPr>
            <p:cNvPr id="12" name="TextBox 12"/>
            <p:cNvSpPr txBox="1"/>
            <p:nvPr/>
          </p:nvSpPr>
          <p:spPr>
            <a:xfrm>
              <a:off x="905637" y="1593850"/>
              <a:ext cx="2697676"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지금 쓸 수 있는 기반 기술</a:t>
              </a:r>
            </a:p>
          </p:txBody>
        </p:sp>
        <p:sp>
          <p:nvSpPr>
            <p:cNvPr id="13" name="Line 13"/>
            <p:cNvSpPr/>
            <p:nvPr/>
          </p:nvSpPr>
          <p:spPr>
            <a:xfrm>
              <a:off x="533400" y="2038350"/>
              <a:ext cx="5334000" cy="9525"/>
            </a:xfrm>
            <a:custGeom>
              <a:avLst/>
              <a:gdLst/>
              <a:ahLst/>
              <a:cxnLst/>
              <a:rect l="l" t="t" r="r" b="b"/>
              <a:pathLst>
                <a:path w="5334000" h="9525">
                  <a:moveTo>
                    <a:pt x="0" y="0"/>
                  </a:moveTo>
                  <a:lnTo>
                    <a:pt x="5334000" y="0"/>
                  </a:lnTo>
                </a:path>
              </a:pathLst>
            </a:custGeom>
            <a:noFill/>
            <a:ln w="19050">
              <a:solidFill>
                <a:srgbClr val="0B1E3C"/>
              </a:solidFill>
            </a:ln>
          </p:spPr>
        </p:sp>
        <p:grpSp>
          <p:nvGrpSpPr>
            <p:cNvPr id="27" name="Group 27"/>
            <p:cNvGrpSpPr/>
            <p:nvPr/>
          </p:nvGrpSpPr>
          <p:grpSpPr>
            <a:xfrm>
              <a:off x="525780" y="2222500"/>
              <a:ext cx="5341620" cy="3265170"/>
              <a:chOff x="525780" y="2222500"/>
              <a:chExt cx="5341620" cy="3265170"/>
            </a:xfrm>
          </p:grpSpPr>
          <p:sp>
            <p:nvSpPr>
              <p:cNvPr id="14" name="TextBox 14"/>
              <p:cNvSpPr txBox="1"/>
              <p:nvPr/>
            </p:nvSpPr>
            <p:spPr>
              <a:xfrm>
                <a:off x="525780" y="2222500"/>
                <a:ext cx="3813620"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차량형·수동 GPR을 이용한 도로 공동 탐사</a:t>
                </a:r>
              </a:p>
            </p:txBody>
          </p:sp>
          <p:sp>
            <p:nvSpPr>
              <p:cNvPr id="15" name="Line 15"/>
              <p:cNvSpPr/>
              <p:nvPr/>
            </p:nvSpPr>
            <p:spPr>
              <a:xfrm>
                <a:off x="533400" y="25717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16" name="TextBox 16"/>
              <p:cNvSpPr txBox="1"/>
              <p:nvPr/>
            </p:nvSpPr>
            <p:spPr>
              <a:xfrm>
                <a:off x="525780" y="2717800"/>
                <a:ext cx="3327273"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RTK-GNSS·IMU·휠 인코더 위치 보정</a:t>
                </a:r>
              </a:p>
            </p:txBody>
          </p:sp>
          <p:sp>
            <p:nvSpPr>
              <p:cNvPr id="17" name="Line 17"/>
              <p:cNvSpPr/>
              <p:nvPr/>
            </p:nvSpPr>
            <p:spPr>
              <a:xfrm>
                <a:off x="533400" y="30670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18" name="TextBox 18"/>
              <p:cNvSpPr txBox="1"/>
              <p:nvPr/>
            </p:nvSpPr>
            <p:spPr>
              <a:xfrm>
                <a:off x="525780" y="3213100"/>
                <a:ext cx="2478786"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카메라 기반 노면 변화 기록</a:t>
                </a:r>
              </a:p>
            </p:txBody>
          </p:sp>
          <p:sp>
            <p:nvSpPr>
              <p:cNvPr id="19" name="Line 19"/>
              <p:cNvSpPr/>
              <p:nvPr/>
            </p:nvSpPr>
            <p:spPr>
              <a:xfrm>
                <a:off x="533400" y="35623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0" name="TextBox 20"/>
              <p:cNvSpPr txBox="1"/>
              <p:nvPr/>
            </p:nvSpPr>
            <p:spPr>
              <a:xfrm>
                <a:off x="525780" y="3708400"/>
                <a:ext cx="3145155"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엣지 컴퓨터 기반 현장 데이터 처리</a:t>
                </a:r>
              </a:p>
            </p:txBody>
          </p:sp>
          <p:sp>
            <p:nvSpPr>
              <p:cNvPr id="21" name="Line 21"/>
              <p:cNvSpPr/>
              <p:nvPr/>
            </p:nvSpPr>
            <p:spPr>
              <a:xfrm>
                <a:off x="533400" y="40576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2" name="TextBox 22"/>
              <p:cNvSpPr txBox="1"/>
              <p:nvPr/>
            </p:nvSpPr>
            <p:spPr>
              <a:xfrm>
                <a:off x="525780" y="4203700"/>
                <a:ext cx="2175129"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GIS 기반 탐사 이력 관리</a:t>
                </a:r>
              </a:p>
            </p:txBody>
          </p:sp>
          <p:sp>
            <p:nvSpPr>
              <p:cNvPr id="23" name="Line 23"/>
              <p:cNvSpPr/>
              <p:nvPr/>
            </p:nvSpPr>
            <p:spPr>
              <a:xfrm>
                <a:off x="533400" y="45529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4" name="TextBox 24"/>
              <p:cNvSpPr txBox="1"/>
              <p:nvPr/>
            </p:nvSpPr>
            <p:spPr>
              <a:xfrm>
                <a:off x="525780" y="4699000"/>
                <a:ext cx="3817620"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AAOS 기반 PBV 인포테인먼트와 앱 생태계</a:t>
                </a:r>
              </a:p>
            </p:txBody>
          </p:sp>
          <p:sp>
            <p:nvSpPr>
              <p:cNvPr id="25" name="Line 25"/>
              <p:cNvSpPr/>
              <p:nvPr/>
            </p:nvSpPr>
            <p:spPr>
              <a:xfrm>
                <a:off x="533400" y="50482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6" name="TextBox 26"/>
              <p:cNvSpPr txBox="1"/>
              <p:nvPr/>
            </p:nvSpPr>
            <p:spPr>
              <a:xfrm>
                <a:off x="525780" y="5194300"/>
                <a:ext cx="3699701"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산업용 AR 글래스의 공간 인식·작업 안내</a:t>
                </a:r>
              </a:p>
            </p:txBody>
          </p:sp>
        </p:grpSp>
      </p:grpSp>
      <p:grpSp>
        <p:nvGrpSpPr>
          <p:cNvPr id="52" name="to-verify"/>
          <p:cNvGrpSpPr/>
          <p:nvPr/>
        </p:nvGrpSpPr>
        <p:grpSpPr>
          <a:xfrm>
            <a:off x="6134100" y="1428750"/>
            <a:ext cx="5524500" cy="4133850"/>
            <a:chOff x="6134100" y="1428750"/>
            <a:chExt cx="5524500" cy="4133850"/>
          </a:xfrm>
        </p:grpSpPr>
        <p:sp>
          <p:nvSpPr>
            <p:cNvPr id="29" name="Rectangle 29"/>
            <p:cNvSpPr/>
            <p:nvPr/>
          </p:nvSpPr>
          <p:spPr>
            <a:xfrm>
              <a:off x="6134100" y="1428750"/>
              <a:ext cx="5524500" cy="4133850"/>
            </a:xfrm>
            <a:prstGeom prst="roundRect">
              <a:avLst>
                <a:gd name="adj" fmla="val 2304"/>
              </a:avLst>
            </a:prstGeom>
            <a:solidFill>
              <a:srgbClr val="FFF6DC"/>
            </a:solidFill>
            <a:ln>
              <a:noFill/>
            </a:ln>
          </p:spPr>
        </p:sp>
        <p:grpSp>
          <p:nvGrpSpPr>
            <p:cNvPr id="33" name="Group 33"/>
            <p:cNvGrpSpPr/>
            <p:nvPr/>
          </p:nvGrpSpPr>
          <p:grpSpPr>
            <a:xfrm>
              <a:off x="6432973" y="1616869"/>
              <a:ext cx="145204" cy="214312"/>
              <a:chOff x="6432973" y="1616869"/>
              <a:chExt cx="145204" cy="214312"/>
            </a:xfrm>
          </p:grpSpPr>
          <p:sp>
            <p:nvSpPr>
              <p:cNvPr id="30" name="Freeform 30"/>
              <p:cNvSpPr/>
              <p:nvPr/>
            </p:nvSpPr>
            <p:spPr>
              <a:xfrm>
                <a:off x="6469856" y="1616869"/>
                <a:ext cx="71438" cy="9525"/>
              </a:xfrm>
              <a:custGeom>
                <a:avLst/>
                <a:gdLst/>
                <a:ahLst/>
                <a:cxnLst/>
                <a:rect l="l" t="t" r="r" b="b"/>
                <a:pathLst>
                  <a:path w="71438" h="9525">
                    <a:moveTo>
                      <a:pt x="0" y="0"/>
                    </a:moveTo>
                    <a:lnTo>
                      <a:pt x="71438" y="0"/>
                    </a:lnTo>
                  </a:path>
                </a:pathLst>
              </a:custGeom>
              <a:noFill/>
              <a:ln w="23812">
                <a:solidFill>
                  <a:srgbClr val="8A5A00"/>
                </a:solidFill>
              </a:ln>
            </p:spPr>
          </p:sp>
          <p:sp>
            <p:nvSpPr>
              <p:cNvPr id="31" name="Freeform 31"/>
              <p:cNvSpPr/>
              <p:nvPr/>
            </p:nvSpPr>
            <p:spPr>
              <a:xfrm>
                <a:off x="6481762" y="1688306"/>
                <a:ext cx="47625" cy="9525"/>
              </a:xfrm>
              <a:custGeom>
                <a:avLst/>
                <a:gdLst/>
                <a:ahLst/>
                <a:cxnLst/>
                <a:rect l="l" t="t" r="r" b="b"/>
                <a:pathLst>
                  <a:path w="47625" h="9525">
                    <a:moveTo>
                      <a:pt x="0" y="0"/>
                    </a:moveTo>
                    <a:lnTo>
                      <a:pt x="47625" y="0"/>
                    </a:lnTo>
                  </a:path>
                </a:pathLst>
              </a:custGeom>
              <a:noFill/>
              <a:ln w="23812">
                <a:solidFill>
                  <a:srgbClr val="8A5A00"/>
                </a:solidFill>
              </a:ln>
            </p:spPr>
          </p:sp>
          <p:sp>
            <p:nvSpPr>
              <p:cNvPr id="32" name="Freeform 32"/>
              <p:cNvSpPr/>
              <p:nvPr/>
            </p:nvSpPr>
            <p:spPr>
              <a:xfrm>
                <a:off x="6432973" y="1616869"/>
                <a:ext cx="145204" cy="214312"/>
              </a:xfrm>
              <a:custGeom>
                <a:avLst/>
                <a:gdLst/>
                <a:ahLst/>
                <a:cxnLst/>
                <a:rect l="l" t="t" r="r" b="b"/>
                <a:pathLst>
                  <a:path w="145204" h="214312">
                    <a:moveTo>
                      <a:pt x="48790" y="0"/>
                    </a:moveTo>
                    <a:lnTo>
                      <a:pt x="48790" y="71438"/>
                    </a:lnTo>
                    <a:lnTo>
                      <a:pt x="1165" y="202406"/>
                    </a:lnTo>
                    <a:cubicBezTo>
                      <a:pt x="0" y="204749"/>
                      <a:pt x="3" y="207503"/>
                      <a:pt x="1173" y="209843"/>
                    </a:cubicBezTo>
                    <a:cubicBezTo>
                      <a:pt x="2343" y="212184"/>
                      <a:pt x="4545" y="213838"/>
                      <a:pt x="7118" y="214312"/>
                    </a:cubicBezTo>
                    <a:lnTo>
                      <a:pt x="138087" y="214312"/>
                    </a:lnTo>
                    <a:cubicBezTo>
                      <a:pt x="140660" y="213838"/>
                      <a:pt x="142861" y="212184"/>
                      <a:pt x="144031" y="209843"/>
                    </a:cubicBezTo>
                    <a:cubicBezTo>
                      <a:pt x="145201" y="207503"/>
                      <a:pt x="145204" y="204749"/>
                      <a:pt x="144040" y="202406"/>
                    </a:cubicBezTo>
                    <a:lnTo>
                      <a:pt x="96415" y="71438"/>
                    </a:lnTo>
                    <a:lnTo>
                      <a:pt x="96415" y="0"/>
                    </a:lnTo>
                  </a:path>
                </a:pathLst>
              </a:custGeom>
              <a:noFill/>
              <a:ln w="23812">
                <a:solidFill>
                  <a:srgbClr val="8A5A00"/>
                </a:solidFill>
              </a:ln>
            </p:spPr>
          </p:sp>
        </p:grpSp>
        <p:sp>
          <p:nvSpPr>
            <p:cNvPr id="34" name="TextBox 34"/>
            <p:cNvSpPr txBox="1"/>
            <p:nvPr/>
          </p:nvSpPr>
          <p:spPr>
            <a:xfrm>
              <a:off x="6734937" y="1593850"/>
              <a:ext cx="2015771"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반드시 실증할 항목</a:t>
              </a:r>
            </a:p>
          </p:txBody>
        </p:sp>
        <p:sp>
          <p:nvSpPr>
            <p:cNvPr id="35" name="Line 35"/>
            <p:cNvSpPr/>
            <p:nvPr/>
          </p:nvSpPr>
          <p:spPr>
            <a:xfrm>
              <a:off x="6362700" y="2038350"/>
              <a:ext cx="5067300" cy="9525"/>
            </a:xfrm>
            <a:custGeom>
              <a:avLst/>
              <a:gdLst/>
              <a:ahLst/>
              <a:cxnLst/>
              <a:rect l="l" t="t" r="r" b="b"/>
              <a:pathLst>
                <a:path w="5067300" h="9525">
                  <a:moveTo>
                    <a:pt x="0" y="0"/>
                  </a:moveTo>
                  <a:lnTo>
                    <a:pt x="5067300" y="0"/>
                  </a:lnTo>
                </a:path>
              </a:pathLst>
            </a:custGeom>
            <a:noFill/>
            <a:ln w="19050">
              <a:solidFill>
                <a:srgbClr val="C99600"/>
              </a:solidFill>
            </a:ln>
          </p:spPr>
        </p:sp>
        <p:grpSp>
          <p:nvGrpSpPr>
            <p:cNvPr id="44" name="Group 44"/>
            <p:cNvGrpSpPr/>
            <p:nvPr/>
          </p:nvGrpSpPr>
          <p:grpSpPr>
            <a:xfrm>
              <a:off x="6355080" y="2203450"/>
              <a:ext cx="4074033" cy="3293745"/>
              <a:chOff x="6355080" y="2203450"/>
              <a:chExt cx="4074033" cy="3293745"/>
            </a:xfrm>
          </p:grpSpPr>
          <p:sp>
            <p:nvSpPr>
              <p:cNvPr id="36" name="TextBox 36"/>
              <p:cNvSpPr txBox="1"/>
              <p:nvPr/>
            </p:nvSpPr>
            <p:spPr>
              <a:xfrm>
                <a:off x="6355080" y="2203450"/>
                <a:ext cx="3338322"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EV 구동계와 GPR 사이의 전자파 간섭</a:t>
                </a:r>
              </a:p>
            </p:txBody>
          </p:sp>
          <p:sp>
            <p:nvSpPr>
              <p:cNvPr id="37" name="TextBox 37"/>
              <p:cNvSpPr txBox="1"/>
              <p:nvPr/>
            </p:nvSpPr>
            <p:spPr>
              <a:xfrm>
                <a:off x="6355080" y="2632075"/>
                <a:ext cx="3811524"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장비 고정 상태 반복 측정 데이터의 일관성</a:t>
                </a:r>
              </a:p>
            </p:txBody>
          </p:sp>
          <p:sp>
            <p:nvSpPr>
              <p:cNvPr id="38" name="TextBox 38"/>
              <p:cNvSpPr txBox="1"/>
              <p:nvPr/>
            </p:nvSpPr>
            <p:spPr>
              <a:xfrm>
                <a:off x="6355080" y="3060700"/>
                <a:ext cx="3185541"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적재중량·전후축 하중·제동 안정성</a:t>
                </a:r>
              </a:p>
            </p:txBody>
          </p:sp>
          <p:sp>
            <p:nvSpPr>
              <p:cNvPr id="39" name="TextBox 39"/>
              <p:cNvSpPr txBox="1"/>
              <p:nvPr/>
            </p:nvSpPr>
            <p:spPr>
              <a:xfrm>
                <a:off x="6355080" y="3489325"/>
                <a:ext cx="3493389"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V2L·보조전원을 포함한 실제 소비전력</a:t>
                </a:r>
              </a:p>
            </p:txBody>
          </p:sp>
          <p:sp>
            <p:nvSpPr>
              <p:cNvPr id="40" name="TextBox 40"/>
              <p:cNvSpPr txBox="1"/>
              <p:nvPr/>
            </p:nvSpPr>
            <p:spPr>
              <a:xfrm>
                <a:off x="6355080" y="3917950"/>
                <a:ext cx="3302127"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같은 도로의 회차별 GPR 정합 정확도</a:t>
                </a:r>
              </a:p>
            </p:txBody>
          </p:sp>
          <p:sp>
            <p:nvSpPr>
              <p:cNvPr id="41" name="TextBox 41"/>
              <p:cNvSpPr txBox="1"/>
              <p:nvPr/>
            </p:nvSpPr>
            <p:spPr>
              <a:xfrm>
                <a:off x="6355080" y="4346575"/>
                <a:ext cx="2865501"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AI 변화 감지의 탐지율과 오탐률</a:t>
                </a:r>
              </a:p>
            </p:txBody>
          </p:sp>
          <p:sp>
            <p:nvSpPr>
              <p:cNvPr id="42" name="TextBox 42"/>
              <p:cNvSpPr txBox="1"/>
              <p:nvPr/>
            </p:nvSpPr>
            <p:spPr>
              <a:xfrm>
                <a:off x="6355080" y="4775200"/>
                <a:ext cx="2982849"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야간 AR 기준점 인식과 위치 오차</a:t>
                </a:r>
              </a:p>
            </p:txBody>
          </p:sp>
          <p:sp>
            <p:nvSpPr>
              <p:cNvPr id="43" name="TextBox 43"/>
              <p:cNvSpPr txBox="1"/>
              <p:nvPr/>
            </p:nvSpPr>
            <p:spPr>
              <a:xfrm>
                <a:off x="6355080" y="5203825"/>
                <a:ext cx="4074033" cy="293370"/>
              </a:xfrm>
              <a:prstGeom prst="rect">
                <a:avLst/>
              </a:prstGeom>
              <a:noFill/>
              <a:ln>
                <a:noFill/>
              </a:ln>
            </p:spPr>
            <p:txBody>
              <a:bodyPr wrap="none" lIns="0" tIns="0" rIns="0" bIns="0" anchor="t" anchorCtr="0">
                <a:spAutoFit/>
              </a:bodyPr>
              <a:lstStyle/>
              <a:p>
                <a:pPr algn="l"/>
                <a:r>
                  <a:rPr lang="ko-KR" sz="1500" dirty="0">
                    <a:solidFill>
                      <a:srgbClr val="111827"/>
                    </a:solidFill>
                    <a:latin typeface="+mn-lt"/>
                    <a:ea typeface="+mn-ea"/>
                    <a:cs typeface="+mn-cs"/>
                  </a:rPr>
                  <a:t>차량 앱 배포 절차와 접근 가능한 차량 데이터</a:t>
                </a:r>
              </a:p>
            </p:txBody>
          </p:sp>
        </p:grpSp>
        <p:sp>
          <p:nvSpPr>
            <p:cNvPr id="45" name="Line 45"/>
            <p:cNvSpPr/>
            <p:nvPr/>
          </p:nvSpPr>
          <p:spPr>
            <a:xfrm>
              <a:off x="6362700" y="2552700"/>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46" name="Line 46"/>
            <p:cNvSpPr/>
            <p:nvPr/>
          </p:nvSpPr>
          <p:spPr>
            <a:xfrm>
              <a:off x="6362700" y="2981325"/>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47" name="Line 47"/>
            <p:cNvSpPr/>
            <p:nvPr/>
          </p:nvSpPr>
          <p:spPr>
            <a:xfrm>
              <a:off x="6362700" y="3409950"/>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48" name="Line 48"/>
            <p:cNvSpPr/>
            <p:nvPr/>
          </p:nvSpPr>
          <p:spPr>
            <a:xfrm>
              <a:off x="6362700" y="3838575"/>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49" name="Line 49"/>
            <p:cNvSpPr/>
            <p:nvPr/>
          </p:nvSpPr>
          <p:spPr>
            <a:xfrm>
              <a:off x="6362700" y="4267200"/>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50" name="Line 50"/>
            <p:cNvSpPr/>
            <p:nvPr/>
          </p:nvSpPr>
          <p:spPr>
            <a:xfrm>
              <a:off x="6362700" y="4695825"/>
              <a:ext cx="5067300" cy="9525"/>
            </a:xfrm>
            <a:custGeom>
              <a:avLst/>
              <a:gdLst/>
              <a:ahLst/>
              <a:cxnLst/>
              <a:rect l="l" t="t" r="r" b="b"/>
              <a:pathLst>
                <a:path w="5067300" h="9525">
                  <a:moveTo>
                    <a:pt x="0" y="0"/>
                  </a:moveTo>
                  <a:lnTo>
                    <a:pt x="5067300" y="0"/>
                  </a:lnTo>
                </a:path>
              </a:pathLst>
            </a:custGeom>
            <a:noFill/>
            <a:ln w="9525">
              <a:solidFill>
                <a:srgbClr val="EAD9A8"/>
              </a:solidFill>
            </a:ln>
          </p:spPr>
        </p:sp>
        <p:sp>
          <p:nvSpPr>
            <p:cNvPr id="51" name="Line 51"/>
            <p:cNvSpPr/>
            <p:nvPr/>
          </p:nvSpPr>
          <p:spPr>
            <a:xfrm>
              <a:off x="6362700" y="5124450"/>
              <a:ext cx="5067300" cy="9525"/>
            </a:xfrm>
            <a:custGeom>
              <a:avLst/>
              <a:gdLst/>
              <a:ahLst/>
              <a:cxnLst/>
              <a:rect l="l" t="t" r="r" b="b"/>
              <a:pathLst>
                <a:path w="5067300" h="9525">
                  <a:moveTo>
                    <a:pt x="0" y="0"/>
                  </a:moveTo>
                  <a:lnTo>
                    <a:pt x="5067300" y="0"/>
                  </a:lnTo>
                </a:path>
              </a:pathLst>
            </a:custGeom>
            <a:noFill/>
            <a:ln w="9525">
              <a:solidFill>
                <a:srgbClr val="EAD9A8"/>
              </a:solidFill>
            </a:ln>
          </p:spPr>
        </p:sp>
      </p:grpSp>
      <p:grpSp>
        <p:nvGrpSpPr>
          <p:cNvPr id="55" name="conclusion"/>
          <p:cNvGrpSpPr/>
          <p:nvPr/>
        </p:nvGrpSpPr>
        <p:grpSpPr>
          <a:xfrm>
            <a:off x="533400" y="5715000"/>
            <a:ext cx="11125200" cy="533400"/>
            <a:chOff x="533400" y="5715000"/>
            <a:chExt cx="11125200" cy="533400"/>
          </a:xfrm>
        </p:grpSpPr>
        <p:sp>
          <p:nvSpPr>
            <p:cNvPr id="53" name="Rectangle 53"/>
            <p:cNvSpPr/>
            <p:nvPr/>
          </p:nvSpPr>
          <p:spPr>
            <a:xfrm>
              <a:off x="533400" y="5715000"/>
              <a:ext cx="11125200" cy="533400"/>
            </a:xfrm>
            <a:prstGeom prst="rect">
              <a:avLst/>
            </a:prstGeom>
            <a:solidFill>
              <a:srgbClr val="0B1E3C"/>
            </a:solidFill>
            <a:ln>
              <a:noFill/>
            </a:ln>
          </p:spPr>
        </p:sp>
        <p:sp>
          <p:nvSpPr>
            <p:cNvPr id="54" name="TextBox 54"/>
            <p:cNvSpPr txBox="1"/>
            <p:nvPr/>
          </p:nvSpPr>
          <p:spPr>
            <a:xfrm>
              <a:off x="753999" y="5867400"/>
              <a:ext cx="9081259"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 xml:space="preserve">핵심 검증 대상은 기술의 존재가 아니라, </a:t>
              </a:r>
              <a:r>
                <a:rPr lang="ko-KR" sz="1580" b="1" dirty="0">
                  <a:solidFill>
                    <a:srgbClr val="F5B700"/>
                  </a:solidFill>
                  <a:latin typeface="+mn-lt"/>
                  <a:ea typeface="+mn-ea"/>
                  <a:cs typeface="+mn-cs"/>
                </a:rPr>
                <a:t>한 차량에서 반복 가능한 정확도</a:t>
              </a:r>
              <a:r>
                <a:rPr lang="ko-KR" sz="1580" b="1" dirty="0">
                  <a:solidFill>
                    <a:srgbClr val="FFFFFF"/>
                  </a:solidFill>
                  <a:latin typeface="+mn-lt"/>
                  <a:ea typeface="+mn-ea"/>
                  <a:cs typeface="+mn-cs"/>
                </a:rPr>
                <a:t>로 연결되는가입니다.</a:t>
              </a:r>
            </a:p>
          </p:txBody>
        </p:sp>
      </p:grpSp>
      <p:grpSp>
        <p:nvGrpSpPr>
          <p:cNvPr id="58" name="footer"/>
          <p:cNvGrpSpPr/>
          <p:nvPr/>
        </p:nvGrpSpPr>
        <p:grpSpPr>
          <a:xfrm>
            <a:off x="528638" y="6610350"/>
            <a:ext cx="11134724" cy="176212"/>
            <a:chOff x="528638" y="6610350"/>
            <a:chExt cx="11134724" cy="176212"/>
          </a:xfrm>
        </p:grpSpPr>
        <p:sp>
          <p:nvSpPr>
            <p:cNvPr id="56" name="TextBox 5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57" name="TextBox 5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08 / 12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95300" cy="228600"/>
            </a:xfrm>
            <a:prstGeom prst="rect">
              <a:avLst/>
            </a:prstGeom>
            <a:solidFill>
              <a:srgbClr val="F5B700"/>
            </a:solidFill>
            <a:ln>
              <a:noFill/>
            </a:ln>
          </p:spPr>
        </p:sp>
        <p:sp>
          <p:nvSpPr>
            <p:cNvPr id="5" name="TextBox 5"/>
            <p:cNvSpPr txBox="1"/>
            <p:nvPr/>
          </p:nvSpPr>
          <p:spPr>
            <a:xfrm>
              <a:off x="1957221" y="314325"/>
              <a:ext cx="314659"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5p-2</a:t>
              </a:r>
            </a:p>
          </p:txBody>
        </p:sp>
        <p:sp>
          <p:nvSpPr>
            <p:cNvPr id="6" name="TextBox 6"/>
            <p:cNvSpPr txBox="1"/>
            <p:nvPr/>
          </p:nvSpPr>
          <p:spPr>
            <a:xfrm>
              <a:off x="2471166" y="301625"/>
              <a:ext cx="108493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단계별 실증 계획</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924974" cy="586740"/>
            <a:chOff x="518160" y="774700"/>
            <a:chExt cx="9924974" cy="586740"/>
          </a:xfrm>
        </p:grpSpPr>
        <p:sp>
          <p:nvSpPr>
            <p:cNvPr id="9" name="TextBox 9"/>
            <p:cNvSpPr txBox="1"/>
            <p:nvPr/>
          </p:nvSpPr>
          <p:spPr>
            <a:xfrm>
              <a:off x="518160" y="774700"/>
              <a:ext cx="9924974"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폐쇄 구간에서 시작해 실제 도로까지 검증 범위를 넓힌다</a:t>
              </a:r>
            </a:p>
          </p:txBody>
        </p:sp>
      </p:grpSp>
      <p:grpSp>
        <p:nvGrpSpPr>
          <p:cNvPr id="12" name="lead"/>
          <p:cNvGrpSpPr/>
          <p:nvPr/>
        </p:nvGrpSpPr>
        <p:grpSpPr>
          <a:xfrm>
            <a:off x="526161" y="1365250"/>
            <a:ext cx="6944043" cy="278702"/>
            <a:chOff x="526161" y="1365250"/>
            <a:chExt cx="6944043" cy="278702"/>
          </a:xfrm>
        </p:grpSpPr>
        <p:sp>
          <p:nvSpPr>
            <p:cNvPr id="11" name="TextBox 11"/>
            <p:cNvSpPr txBox="1"/>
            <p:nvPr/>
          </p:nvSpPr>
          <p:spPr>
            <a:xfrm>
              <a:off x="526161" y="1365250"/>
              <a:ext cx="6944043" cy="278702"/>
            </a:xfrm>
            <a:prstGeom prst="rect">
              <a:avLst/>
            </a:prstGeom>
            <a:noFill/>
            <a:ln>
              <a:noFill/>
            </a:ln>
          </p:spPr>
          <p:txBody>
            <a:bodyPr wrap="none" lIns="0" tIns="0" rIns="0" bIns="0" anchor="t" anchorCtr="0">
              <a:spAutoFit/>
            </a:bodyPr>
            <a:lstStyle/>
            <a:p>
              <a:pPr algn="l"/>
              <a:r>
                <a:rPr lang="ko-KR" sz="1420" dirty="0">
                  <a:solidFill>
                    <a:srgbClr val="4B5563"/>
                  </a:solidFill>
                  <a:latin typeface="+mn-lt"/>
                  <a:ea typeface="+mn-ea"/>
                  <a:cs typeface="+mn-cs"/>
                </a:rPr>
                <a:t>장비 안정성 → 같은 길의 반복 일관성 → 실제 도로에서의 효용 순서로 검증합니다.</a:t>
              </a:r>
            </a:p>
          </p:txBody>
        </p:sp>
      </p:grpSp>
      <p:grpSp>
        <p:nvGrpSpPr>
          <p:cNvPr id="18" name="stage-1"/>
          <p:cNvGrpSpPr/>
          <p:nvPr/>
        </p:nvGrpSpPr>
        <p:grpSpPr>
          <a:xfrm>
            <a:off x="527685" y="3575050"/>
            <a:ext cx="2672715" cy="1987550"/>
            <a:chOff x="527685" y="3575050"/>
            <a:chExt cx="2672715" cy="1987550"/>
          </a:xfrm>
        </p:grpSpPr>
        <p:sp>
          <p:nvSpPr>
            <p:cNvPr id="13" name="TextBox 13"/>
            <p:cNvSpPr txBox="1"/>
            <p:nvPr/>
          </p:nvSpPr>
          <p:spPr>
            <a:xfrm>
              <a:off x="527685" y="3575050"/>
              <a:ext cx="1645448" cy="220028"/>
            </a:xfrm>
            <a:prstGeom prst="rect">
              <a:avLst/>
            </a:prstGeom>
            <a:noFill/>
            <a:ln>
              <a:noFill/>
            </a:ln>
          </p:spPr>
          <p:txBody>
            <a:bodyPr wrap="none" lIns="0" tIns="0" rIns="0" bIns="0" anchor="t" anchorCtr="0">
              <a:spAutoFit/>
            </a:bodyPr>
            <a:lstStyle/>
            <a:p>
              <a:pPr algn="l"/>
              <a:r>
                <a:rPr lang="ko-KR" sz="1120" b="1" dirty="0">
                  <a:solidFill>
                    <a:srgbClr val="6B7280"/>
                  </a:solidFill>
                  <a:latin typeface="+mn-lt"/>
                  <a:ea typeface="+mn-ea"/>
                  <a:cs typeface="+mn-cs"/>
                </a:rPr>
                <a:t>폐쇄 시험장 · 장비 단위</a:t>
              </a:r>
            </a:p>
          </p:txBody>
        </p:sp>
        <p:sp>
          <p:nvSpPr>
            <p:cNvPr id="14" name="Rectangle 14"/>
            <p:cNvSpPr/>
            <p:nvPr/>
          </p:nvSpPr>
          <p:spPr>
            <a:xfrm>
              <a:off x="533400" y="3810000"/>
              <a:ext cx="2667000" cy="1752600"/>
            </a:xfrm>
            <a:prstGeom prst="rect">
              <a:avLst/>
            </a:prstGeom>
            <a:solidFill>
              <a:srgbClr val="E8ECF2"/>
            </a:solidFill>
            <a:ln>
              <a:noFill/>
            </a:ln>
          </p:spPr>
        </p:sp>
        <p:sp>
          <p:nvSpPr>
            <p:cNvPr id="15" name="TextBox 15"/>
            <p:cNvSpPr txBox="1"/>
            <p:nvPr/>
          </p:nvSpPr>
          <p:spPr>
            <a:xfrm>
              <a:off x="718566" y="3968750"/>
              <a:ext cx="37500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1단계</a:t>
              </a:r>
            </a:p>
          </p:txBody>
        </p:sp>
        <p:sp>
          <p:nvSpPr>
            <p:cNvPr id="16" name="TextBox 16"/>
            <p:cNvSpPr txBox="1"/>
            <p:nvPr/>
          </p:nvSpPr>
          <p:spPr>
            <a:xfrm>
              <a:off x="715518" y="4178300"/>
              <a:ext cx="1489439"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장비 통합 시험</a:t>
              </a:r>
            </a:p>
          </p:txBody>
        </p:sp>
        <p:sp>
          <p:nvSpPr>
            <p:cNvPr id="17" name="TextBox 17"/>
            <p:cNvSpPr txBox="1"/>
            <p:nvPr/>
          </p:nvSpPr>
          <p:spPr>
            <a:xfrm>
              <a:off x="717804" y="4527550"/>
              <a:ext cx="203911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장착 구조·진동 · 전력 사용량</a:t>
              </a:r>
              <a:br>
                <a:rPr lang="ko-KR" sz="1200" dirty="0">
                  <a:solidFill>
                    <a:srgbClr val="111827"/>
                  </a:solidFill>
                  <a:latin typeface="+mn-lt"/>
                  <a:ea typeface="+mn-ea"/>
                  <a:cs typeface="+mn-cs"/>
                </a:rPr>
              </a:br>
              <a:r>
                <a:rPr lang="ko-KR" sz="1200" dirty="0">
                  <a:solidFill>
                    <a:srgbClr val="111827"/>
                  </a:solidFill>
                  <a:latin typeface="+mn-lt"/>
                  <a:ea typeface="+mn-ea"/>
                  <a:cs typeface="+mn-cs"/>
                </a:rPr>
                <a:t>전자파 간섭 · 통신 지연·누락</a:t>
              </a:r>
            </a:p>
          </p:txBody>
        </p:sp>
      </p:grpSp>
      <p:grpSp>
        <p:nvGrpSpPr>
          <p:cNvPr id="24" name="stage-2"/>
          <p:cNvGrpSpPr/>
          <p:nvPr/>
        </p:nvGrpSpPr>
        <p:grpSpPr>
          <a:xfrm>
            <a:off x="3347085" y="3051175"/>
            <a:ext cx="2672715" cy="2511425"/>
            <a:chOff x="3347085" y="3051175"/>
            <a:chExt cx="2672715" cy="2511425"/>
          </a:xfrm>
        </p:grpSpPr>
        <p:sp>
          <p:nvSpPr>
            <p:cNvPr id="19" name="TextBox 19"/>
            <p:cNvSpPr txBox="1"/>
            <p:nvPr/>
          </p:nvSpPr>
          <p:spPr>
            <a:xfrm>
              <a:off x="3347085" y="3051175"/>
              <a:ext cx="1161839" cy="220028"/>
            </a:xfrm>
            <a:prstGeom prst="rect">
              <a:avLst/>
            </a:prstGeom>
            <a:noFill/>
            <a:ln>
              <a:noFill/>
            </a:ln>
          </p:spPr>
          <p:txBody>
            <a:bodyPr wrap="none" lIns="0" tIns="0" rIns="0" bIns="0" anchor="t" anchorCtr="0">
              <a:spAutoFit/>
            </a:bodyPr>
            <a:lstStyle/>
            <a:p>
              <a:pPr algn="l"/>
              <a:r>
                <a:rPr lang="ko-KR" sz="1120" b="1" dirty="0">
                  <a:solidFill>
                    <a:srgbClr val="6B7280"/>
                  </a:solidFill>
                  <a:latin typeface="+mn-lt"/>
                  <a:ea typeface="+mn-ea"/>
                  <a:cs typeface="+mn-cs"/>
                </a:rPr>
                <a:t>통제된 시험 구간</a:t>
              </a:r>
            </a:p>
          </p:txBody>
        </p:sp>
        <p:sp>
          <p:nvSpPr>
            <p:cNvPr id="20" name="Rectangle 20"/>
            <p:cNvSpPr/>
            <p:nvPr/>
          </p:nvSpPr>
          <p:spPr>
            <a:xfrm>
              <a:off x="3352800" y="3286125"/>
              <a:ext cx="2667000" cy="2276475"/>
            </a:xfrm>
            <a:prstGeom prst="rect">
              <a:avLst/>
            </a:prstGeom>
            <a:solidFill>
              <a:srgbClr val="C9D3E2"/>
            </a:solidFill>
            <a:ln>
              <a:noFill/>
            </a:ln>
          </p:spPr>
        </p:sp>
        <p:sp>
          <p:nvSpPr>
            <p:cNvPr id="21" name="TextBox 21"/>
            <p:cNvSpPr txBox="1"/>
            <p:nvPr/>
          </p:nvSpPr>
          <p:spPr>
            <a:xfrm>
              <a:off x="3537966" y="3444875"/>
              <a:ext cx="37500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2단계</a:t>
              </a:r>
            </a:p>
          </p:txBody>
        </p:sp>
        <p:sp>
          <p:nvSpPr>
            <p:cNvPr id="22" name="TextBox 22"/>
            <p:cNvSpPr txBox="1"/>
            <p:nvPr/>
          </p:nvSpPr>
          <p:spPr>
            <a:xfrm>
              <a:off x="3534918" y="3654425"/>
              <a:ext cx="1711562"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통제된 반복 주행</a:t>
              </a:r>
            </a:p>
          </p:txBody>
        </p:sp>
        <p:sp>
          <p:nvSpPr>
            <p:cNvPr id="23" name="TextBox 23"/>
            <p:cNvSpPr txBox="1"/>
            <p:nvPr/>
          </p:nvSpPr>
          <p:spPr>
            <a:xfrm>
              <a:off x="3537204" y="4003675"/>
              <a:ext cx="187147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공동 모사체 구간 반복 측정</a:t>
              </a:r>
              <a:br>
                <a:rPr lang="ko-KR" sz="1200" dirty="0">
                  <a:solidFill>
                    <a:srgbClr val="111827"/>
                  </a:solidFill>
                  <a:latin typeface="+mn-lt"/>
                  <a:ea typeface="+mn-ea"/>
                  <a:cs typeface="+mn-cs"/>
                </a:rPr>
              </a:br>
              <a:r>
                <a:rPr lang="ko-KR" sz="1200" dirty="0">
                  <a:solidFill>
                    <a:srgbClr val="111827"/>
                  </a:solidFill>
                  <a:latin typeface="+mn-lt"/>
                  <a:ea typeface="+mn-ea"/>
                  <a:cs typeface="+mn-cs"/>
                </a:rPr>
                <a:t>위치 정합 오차·회차 편차</a:t>
              </a:r>
              <a:br>
                <a:rPr lang="ko-KR" sz="1200" dirty="0">
                  <a:solidFill>
                    <a:srgbClr val="111827"/>
                  </a:solidFill>
                  <a:latin typeface="+mn-lt"/>
                  <a:ea typeface="+mn-ea"/>
                  <a:cs typeface="+mn-cs"/>
                </a:rPr>
              </a:br>
              <a:r>
                <a:rPr lang="ko-KR" sz="1200" dirty="0">
                  <a:solidFill>
                    <a:srgbClr val="111827"/>
                  </a:solidFill>
                  <a:latin typeface="+mn-lt"/>
                  <a:ea typeface="+mn-ea"/>
                  <a:cs typeface="+mn-cs"/>
                </a:rPr>
                <a:t>AI의 기존·신규 신호 구분</a:t>
              </a:r>
            </a:p>
          </p:txBody>
        </p:sp>
      </p:grpSp>
      <p:grpSp>
        <p:nvGrpSpPr>
          <p:cNvPr id="30" name="stage-3"/>
          <p:cNvGrpSpPr/>
          <p:nvPr/>
        </p:nvGrpSpPr>
        <p:grpSpPr>
          <a:xfrm>
            <a:off x="6166485" y="2527300"/>
            <a:ext cx="2672715" cy="3035300"/>
            <a:chOff x="6166485" y="2527300"/>
            <a:chExt cx="2672715" cy="3035300"/>
          </a:xfrm>
        </p:grpSpPr>
        <p:sp>
          <p:nvSpPr>
            <p:cNvPr id="25" name="TextBox 25"/>
            <p:cNvSpPr txBox="1"/>
            <p:nvPr/>
          </p:nvSpPr>
          <p:spPr>
            <a:xfrm>
              <a:off x="6166485" y="2527300"/>
              <a:ext cx="1312613" cy="220028"/>
            </a:xfrm>
            <a:prstGeom prst="rect">
              <a:avLst/>
            </a:prstGeom>
            <a:noFill/>
            <a:ln>
              <a:noFill/>
            </a:ln>
          </p:spPr>
          <p:txBody>
            <a:bodyPr wrap="none" lIns="0" tIns="0" rIns="0" bIns="0" anchor="t" anchorCtr="0">
              <a:spAutoFit/>
            </a:bodyPr>
            <a:lstStyle/>
            <a:p>
              <a:pPr algn="l"/>
              <a:r>
                <a:rPr lang="ko-KR" sz="1120" b="1" dirty="0">
                  <a:solidFill>
                    <a:srgbClr val="6B7280"/>
                  </a:solidFill>
                  <a:latin typeface="+mn-lt"/>
                  <a:ea typeface="+mn-ea"/>
                  <a:cs typeface="+mn-cs"/>
                </a:rPr>
                <a:t>실제 도로 위험구간</a:t>
              </a:r>
            </a:p>
          </p:txBody>
        </p:sp>
        <p:sp>
          <p:nvSpPr>
            <p:cNvPr id="26" name="Rectangle 26"/>
            <p:cNvSpPr/>
            <p:nvPr/>
          </p:nvSpPr>
          <p:spPr>
            <a:xfrm>
              <a:off x="6172200" y="2762250"/>
              <a:ext cx="2667000" cy="2800350"/>
            </a:xfrm>
            <a:prstGeom prst="rect">
              <a:avLst/>
            </a:prstGeom>
            <a:solidFill>
              <a:srgbClr val="2E4A78"/>
            </a:solidFill>
            <a:ln>
              <a:noFill/>
            </a:ln>
          </p:spPr>
        </p:sp>
        <p:sp>
          <p:nvSpPr>
            <p:cNvPr id="27" name="TextBox 27"/>
            <p:cNvSpPr txBox="1"/>
            <p:nvPr/>
          </p:nvSpPr>
          <p:spPr>
            <a:xfrm>
              <a:off x="6357366" y="2921000"/>
              <a:ext cx="375000" cy="205359"/>
            </a:xfrm>
            <a:prstGeom prst="rect">
              <a:avLst/>
            </a:prstGeom>
            <a:noFill/>
            <a:ln>
              <a:noFill/>
            </a:ln>
          </p:spPr>
          <p:txBody>
            <a:bodyPr wrap="none" lIns="0" tIns="0" rIns="0" bIns="0" anchor="t" anchorCtr="0">
              <a:spAutoFit/>
            </a:bodyPr>
            <a:lstStyle/>
            <a:p>
              <a:pPr algn="l"/>
              <a:r>
                <a:rPr lang="ko-KR" sz="1050" b="1" dirty="0">
                  <a:solidFill>
                    <a:srgbClr val="C9D3E2"/>
                  </a:solidFill>
                  <a:latin typeface="+mn-lt"/>
                  <a:ea typeface="+mn-ea"/>
                  <a:cs typeface="+mn-cs"/>
                </a:rPr>
                <a:t>3단계</a:t>
              </a:r>
            </a:p>
          </p:txBody>
        </p:sp>
        <p:sp>
          <p:nvSpPr>
            <p:cNvPr id="28" name="TextBox 28"/>
            <p:cNvSpPr txBox="1"/>
            <p:nvPr/>
          </p:nvSpPr>
          <p:spPr>
            <a:xfrm>
              <a:off x="6354318" y="3130550"/>
              <a:ext cx="171156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실제 도로 파일럿</a:t>
              </a:r>
            </a:p>
          </p:txBody>
        </p:sp>
        <p:sp>
          <p:nvSpPr>
            <p:cNvPr id="29" name="TextBox 29"/>
            <p:cNvSpPr txBox="1"/>
            <p:nvPr/>
          </p:nvSpPr>
          <p:spPr>
            <a:xfrm>
              <a:off x="6356604" y="3479800"/>
              <a:ext cx="201625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E5E9F0"/>
                  </a:solidFill>
                  <a:latin typeface="+mn-lt"/>
                  <a:ea typeface="+mn-ea"/>
                  <a:cs typeface="+mn-cs"/>
                </a:rPr>
                <a:t>지자체·조사기업과 구간 선정</a:t>
              </a:r>
              <a:br>
                <a:rPr lang="ko-KR" sz="1200" dirty="0">
                  <a:solidFill>
                    <a:srgbClr val="E5E9F0"/>
                  </a:solidFill>
                  <a:latin typeface="+mn-lt"/>
                  <a:ea typeface="+mn-ea"/>
                  <a:cs typeface="+mn-cs"/>
                </a:rPr>
              </a:br>
              <a:r>
                <a:rPr lang="ko-KR" sz="1200" dirty="0">
                  <a:solidFill>
                    <a:srgbClr val="E5E9F0"/>
                  </a:solidFill>
                  <a:latin typeface="+mn-lt"/>
                  <a:ea typeface="+mn-ea"/>
                  <a:cs typeface="+mn-cs"/>
                </a:rPr>
                <a:t>기존 전문 장비 결과와 비교</a:t>
              </a:r>
              <a:br>
                <a:rPr lang="ko-KR" sz="1200" dirty="0">
                  <a:solidFill>
                    <a:srgbClr val="E5E9F0"/>
                  </a:solidFill>
                  <a:latin typeface="+mn-lt"/>
                  <a:ea typeface="+mn-ea"/>
                  <a:cs typeface="+mn-cs"/>
                </a:rPr>
              </a:br>
              <a:r>
                <a:rPr lang="ko-KR" sz="1200" dirty="0">
                  <a:solidFill>
                    <a:srgbClr val="E5E9F0"/>
                  </a:solidFill>
                  <a:latin typeface="+mn-lt"/>
                  <a:ea typeface="+mn-ea"/>
                  <a:cs typeface="+mn-cs"/>
                </a:rPr>
                <a:t>전문가 판독·천공으로 검증</a:t>
              </a:r>
            </a:p>
          </p:txBody>
        </p:sp>
      </p:grpSp>
      <p:grpSp>
        <p:nvGrpSpPr>
          <p:cNvPr id="36" name="stage-4"/>
          <p:cNvGrpSpPr/>
          <p:nvPr/>
        </p:nvGrpSpPr>
        <p:grpSpPr>
          <a:xfrm>
            <a:off x="8985885" y="2003425"/>
            <a:ext cx="2672715" cy="3559175"/>
            <a:chOff x="8985885" y="2003425"/>
            <a:chExt cx="2672715" cy="3559175"/>
          </a:xfrm>
        </p:grpSpPr>
        <p:sp>
          <p:nvSpPr>
            <p:cNvPr id="31" name="TextBox 31"/>
            <p:cNvSpPr txBox="1"/>
            <p:nvPr/>
          </p:nvSpPr>
          <p:spPr>
            <a:xfrm>
              <a:off x="8985885" y="2003425"/>
              <a:ext cx="1011064" cy="220028"/>
            </a:xfrm>
            <a:prstGeom prst="rect">
              <a:avLst/>
            </a:prstGeom>
            <a:noFill/>
            <a:ln>
              <a:noFill/>
            </a:ln>
          </p:spPr>
          <p:txBody>
            <a:bodyPr wrap="none" lIns="0" tIns="0" rIns="0" bIns="0" anchor="t" anchorCtr="0">
              <a:spAutoFit/>
            </a:bodyPr>
            <a:lstStyle/>
            <a:p>
              <a:pPr algn="l"/>
              <a:r>
                <a:rPr lang="ko-KR" sz="1120" b="1" dirty="0">
                  <a:solidFill>
                    <a:srgbClr val="6B7280"/>
                  </a:solidFill>
                  <a:latin typeface="+mn-lt"/>
                  <a:ea typeface="+mn-ea"/>
                  <a:cs typeface="+mn-cs"/>
                </a:rPr>
                <a:t>실제 운영 환경</a:t>
              </a:r>
            </a:p>
          </p:txBody>
        </p:sp>
        <p:sp>
          <p:nvSpPr>
            <p:cNvPr id="32" name="Rectangle 32"/>
            <p:cNvSpPr/>
            <p:nvPr/>
          </p:nvSpPr>
          <p:spPr>
            <a:xfrm>
              <a:off x="8991600" y="2238375"/>
              <a:ext cx="2667000" cy="3324225"/>
            </a:xfrm>
            <a:prstGeom prst="rect">
              <a:avLst/>
            </a:prstGeom>
            <a:solidFill>
              <a:srgbClr val="0B1E3C"/>
            </a:solidFill>
            <a:ln>
              <a:noFill/>
            </a:ln>
          </p:spPr>
        </p:sp>
        <p:sp>
          <p:nvSpPr>
            <p:cNvPr id="33" name="TextBox 33"/>
            <p:cNvSpPr txBox="1"/>
            <p:nvPr/>
          </p:nvSpPr>
          <p:spPr>
            <a:xfrm>
              <a:off x="9176766" y="2397125"/>
              <a:ext cx="375000"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4단계</a:t>
              </a:r>
            </a:p>
          </p:txBody>
        </p:sp>
        <p:sp>
          <p:nvSpPr>
            <p:cNvPr id="34" name="TextBox 34"/>
            <p:cNvSpPr txBox="1"/>
            <p:nvPr/>
          </p:nvSpPr>
          <p:spPr>
            <a:xfrm>
              <a:off x="9173718" y="2606675"/>
              <a:ext cx="1197348"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운영성 검증</a:t>
              </a:r>
            </a:p>
          </p:txBody>
        </p:sp>
        <p:sp>
          <p:nvSpPr>
            <p:cNvPr id="35" name="TextBox 35"/>
            <p:cNvSpPr txBox="1"/>
            <p:nvPr/>
          </p:nvSpPr>
          <p:spPr>
            <a:xfrm>
              <a:off x="9176004" y="2955925"/>
              <a:ext cx="2001012" cy="920496"/>
            </a:xfrm>
            <a:prstGeom prst="rect">
              <a:avLst/>
            </a:prstGeom>
            <a:noFill/>
            <a:ln>
              <a:noFill/>
            </a:ln>
          </p:spPr>
          <p:txBody>
            <a:bodyPr wrap="none" lIns="0" tIns="0" rIns="0" bIns="0" anchor="t" anchorCtr="0">
              <a:spAutoFit/>
            </a:bodyPr>
            <a:lstStyle/>
            <a:p>
              <a:pPr algn="l">
                <a:lnSpc>
                  <a:spcPts val="1800"/>
                </a:lnSpc>
              </a:pPr>
              <a:r>
                <a:rPr lang="ko-KR" sz="1200" dirty="0">
                  <a:solidFill>
                    <a:srgbClr val="E5E9F0"/>
                  </a:solidFill>
                  <a:latin typeface="+mn-lt"/>
                  <a:ea typeface="+mn-ea"/>
                  <a:cs typeface="+mn-cs"/>
                </a:rPr>
                <a:t>새벽 순찰 소요시간</a:t>
              </a:r>
              <a:br>
                <a:rPr lang="ko-KR" sz="1200" dirty="0">
                  <a:solidFill>
                    <a:srgbClr val="E5E9F0"/>
                  </a:solidFill>
                  <a:latin typeface="+mn-lt"/>
                  <a:ea typeface="+mn-ea"/>
                  <a:cs typeface="+mn-cs"/>
                </a:rPr>
              </a:br>
              <a:r>
                <a:rPr lang="ko-KR" sz="1200" dirty="0">
                  <a:solidFill>
                    <a:srgbClr val="E5E9F0"/>
                  </a:solidFill>
                  <a:latin typeface="+mn-lt"/>
                  <a:ea typeface="+mn-ea"/>
                  <a:cs typeface="+mn-cs"/>
                </a:rPr>
                <a:t>재확인 생성 → 현장 도착 시간</a:t>
              </a:r>
              <a:br>
                <a:rPr lang="ko-KR" sz="1200" dirty="0">
                  <a:solidFill>
                    <a:srgbClr val="E5E9F0"/>
                  </a:solidFill>
                  <a:latin typeface="+mn-lt"/>
                  <a:ea typeface="+mn-ea"/>
                  <a:cs typeface="+mn-cs"/>
                </a:rPr>
              </a:br>
              <a:r>
                <a:rPr lang="ko-KR" sz="1200" dirty="0">
                  <a:solidFill>
                    <a:srgbClr val="E5E9F0"/>
                  </a:solidFill>
                  <a:latin typeface="+mn-lt"/>
                  <a:ea typeface="+mn-ea"/>
                  <a:cs typeface="+mn-cs"/>
                </a:rPr>
                <a:t>AR 위치 보정 성공률</a:t>
              </a:r>
              <a:br>
                <a:rPr lang="ko-KR" sz="1200" dirty="0">
                  <a:solidFill>
                    <a:srgbClr val="E5E9F0"/>
                  </a:solidFill>
                  <a:latin typeface="+mn-lt"/>
                  <a:ea typeface="+mn-ea"/>
                  <a:cs typeface="+mn-cs"/>
                </a:rPr>
              </a:br>
              <a:r>
                <a:rPr lang="ko-KR" sz="1200" dirty="0">
                  <a:solidFill>
                    <a:srgbClr val="E5E9F0"/>
                  </a:solidFill>
                  <a:latin typeface="+mn-lt"/>
                  <a:ea typeface="+mn-ea"/>
                  <a:cs typeface="+mn-cs"/>
                </a:rPr>
                <a:t>재방문·수작업 입력 감소량</a:t>
              </a:r>
            </a:p>
          </p:txBody>
        </p:sp>
      </p:grpSp>
      <p:grpSp>
        <p:nvGrpSpPr>
          <p:cNvPr id="40" name="target-note"/>
          <p:cNvGrpSpPr/>
          <p:nvPr/>
        </p:nvGrpSpPr>
        <p:grpSpPr>
          <a:xfrm>
            <a:off x="533400" y="5753100"/>
            <a:ext cx="11125200" cy="457200"/>
            <a:chOff x="533400" y="5753100"/>
            <a:chExt cx="11125200" cy="457200"/>
          </a:xfrm>
        </p:grpSpPr>
        <p:sp>
          <p:nvSpPr>
            <p:cNvPr id="37" name="Rectangle 37"/>
            <p:cNvSpPr/>
            <p:nvPr/>
          </p:nvSpPr>
          <p:spPr>
            <a:xfrm>
              <a:off x="533400" y="5753100"/>
              <a:ext cx="11125200" cy="457200"/>
            </a:xfrm>
            <a:prstGeom prst="rect">
              <a:avLst/>
            </a:prstGeom>
            <a:solidFill>
              <a:srgbClr val="FFF6DC"/>
            </a:solidFill>
            <a:ln>
              <a:noFill/>
            </a:ln>
          </p:spPr>
        </p:sp>
        <p:sp>
          <p:nvSpPr>
            <p:cNvPr id="38" name="Rectangle 38"/>
            <p:cNvSpPr/>
            <p:nvPr/>
          </p:nvSpPr>
          <p:spPr>
            <a:xfrm>
              <a:off x="533400" y="5753100"/>
              <a:ext cx="47625" cy="457200"/>
            </a:xfrm>
            <a:prstGeom prst="rect">
              <a:avLst/>
            </a:prstGeom>
            <a:solidFill>
              <a:srgbClr val="F5B700"/>
            </a:solidFill>
            <a:ln>
              <a:noFill/>
            </a:ln>
          </p:spPr>
        </p:sp>
        <p:sp>
          <p:nvSpPr>
            <p:cNvPr id="39" name="TextBox 39"/>
            <p:cNvSpPr txBox="1"/>
            <p:nvPr/>
          </p:nvSpPr>
          <p:spPr>
            <a:xfrm>
              <a:off x="755142" y="5873750"/>
              <a:ext cx="10394079"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정량 목표치는 파일럿 설계 때 발주기관과 확정합니다.</a:t>
              </a:r>
              <a:r>
                <a:rPr lang="ko-KR" sz="1350" dirty="0">
                  <a:solidFill>
                    <a:srgbClr val="0B1E3C"/>
                  </a:solidFill>
                  <a:latin typeface="+mn-lt"/>
                  <a:ea typeface="+mn-ea"/>
                  <a:cs typeface="+mn-cs"/>
                </a:rPr>
                <a:t xml:space="preserve"> 지금은 근거 없는 정확도 수치를 제시하지 않습니다. [실증 목표값 입력]</a:t>
              </a:r>
            </a:p>
          </p:txBody>
        </p:sp>
      </p:grpSp>
      <p:grpSp>
        <p:nvGrpSpPr>
          <p:cNvPr id="43" name="footer"/>
          <p:cNvGrpSpPr/>
          <p:nvPr/>
        </p:nvGrpSpPr>
        <p:grpSpPr>
          <a:xfrm>
            <a:off x="528638" y="6610350"/>
            <a:ext cx="11134724" cy="176212"/>
            <a:chOff x="528638" y="6610350"/>
            <a:chExt cx="11134724" cy="176212"/>
          </a:xfrm>
        </p:grpSpPr>
        <p:sp>
          <p:nvSpPr>
            <p:cNvPr id="41" name="TextBox 41"/>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42" name="TextBox 4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09 / 12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6p</a:t>
              </a:r>
            </a:p>
          </p:txBody>
        </p:sp>
        <p:sp>
          <p:nvSpPr>
            <p:cNvPr id="6" name="TextBox 6"/>
            <p:cNvSpPr txBox="1"/>
            <p:nvPr/>
          </p:nvSpPr>
          <p:spPr>
            <a:xfrm>
              <a:off x="2356866" y="301625"/>
              <a:ext cx="75982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확장 가능성</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924974" cy="586740"/>
            <a:chOff x="518160" y="774700"/>
            <a:chExt cx="9924974" cy="586740"/>
          </a:xfrm>
        </p:grpSpPr>
        <p:sp>
          <p:nvSpPr>
            <p:cNvPr id="9" name="TextBox 9"/>
            <p:cNvSpPr txBox="1"/>
            <p:nvPr/>
          </p:nvSpPr>
          <p:spPr>
            <a:xfrm>
              <a:off x="518160" y="774700"/>
              <a:ext cx="9924974"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한 대의 반복 순찰차에서 도시 지하 안전망으로 확장한다</a:t>
              </a:r>
            </a:p>
          </p:txBody>
        </p:sp>
      </p:grpSp>
      <p:grpSp>
        <p:nvGrpSpPr>
          <p:cNvPr id="26" name="patrol-map"/>
          <p:cNvGrpSpPr/>
          <p:nvPr/>
        </p:nvGrpSpPr>
        <p:grpSpPr>
          <a:xfrm>
            <a:off x="533400" y="1428750"/>
            <a:ext cx="6477000" cy="4221734"/>
            <a:chOff x="533400" y="1428750"/>
            <a:chExt cx="6477000" cy="4221734"/>
          </a:xfrm>
        </p:grpSpPr>
        <p:pic>
          <p:nvPicPr>
            <p:cNvPr id="11" name="Image 11"/>
            <p:cNvPicPr>
              <a:picLocks noChangeAspect="1"/>
            </p:cNvPicPr>
            <p:nvPr/>
          </p:nvPicPr>
          <p:blipFill>
            <a:blip r:embed="rId2"/>
            <a:srcRect l="66" t="0" r="65" b="0"/>
            <a:stretch>
              <a:fillRect/>
            </a:stretch>
          </p:blipFill>
          <p:spPr>
            <a:xfrm>
              <a:off x="533400" y="1428750"/>
              <a:ext cx="6477000" cy="3648075"/>
            </a:xfrm>
            <a:prstGeom prst="rect">
              <a:avLst/>
            </a:prstGeom>
          </p:spPr>
        </p:pic>
        <p:sp>
          <p:nvSpPr>
            <p:cNvPr id="12" name="Rectangle 12"/>
            <p:cNvSpPr/>
            <p:nvPr/>
          </p:nvSpPr>
          <p:spPr>
            <a:xfrm>
              <a:off x="647700" y="1543050"/>
              <a:ext cx="2400300" cy="228600"/>
            </a:xfrm>
            <a:prstGeom prst="roundRect">
              <a:avLst>
                <a:gd name="adj" fmla="val 12500"/>
              </a:avLst>
            </a:prstGeom>
            <a:solidFill>
              <a:srgbClr val="0B1E3C">
                <a:alpha val="85000"/>
              </a:srgbClr>
            </a:solidFill>
            <a:ln>
              <a:noFill/>
            </a:ln>
          </p:spPr>
        </p:sp>
        <p:sp>
          <p:nvSpPr>
            <p:cNvPr id="13" name="TextBox 13"/>
            <p:cNvSpPr txBox="1"/>
            <p:nvPr/>
          </p:nvSpPr>
          <p:spPr>
            <a:xfrm>
              <a:off x="757047" y="1590675"/>
              <a:ext cx="2751691" cy="191643"/>
            </a:xfrm>
            <a:prstGeom prst="rect">
              <a:avLst/>
            </a:prstGeom>
            <a:noFill/>
            <a:ln>
              <a:noFill/>
            </a:ln>
          </p:spPr>
          <p:txBody>
            <a:bodyPr wrap="none" lIns="0" tIns="0" rIns="0" bIns="0" anchor="t" anchorCtr="0">
              <a:spAutoFit/>
            </a:bodyPr>
            <a:lstStyle/>
            <a:p>
              <a:pPr algn="l"/>
              <a:r>
                <a:rPr lang="ko-KR" sz="980" b="1" dirty="0">
                  <a:solidFill>
                    <a:srgbClr val="FFFFFF"/>
                  </a:solidFill>
                  <a:latin typeface="+mn-lt"/>
                  <a:ea typeface="+mn-ea"/>
                  <a:cs typeface="+mn-cs"/>
                </a:rPr>
                <a:t>위험도별 순찰 경로 예시 · 강동구 명일동 일대</a:t>
              </a:r>
            </a:p>
          </p:txBody>
        </p:sp>
        <p:grpSp>
          <p:nvGrpSpPr>
            <p:cNvPr id="25" name="Group 25"/>
            <p:cNvGrpSpPr/>
            <p:nvPr/>
          </p:nvGrpSpPr>
          <p:grpSpPr>
            <a:xfrm>
              <a:off x="533400" y="5197475"/>
              <a:ext cx="5984748" cy="453009"/>
              <a:chOff x="533400" y="5197475"/>
              <a:chExt cx="5984748" cy="453009"/>
            </a:xfrm>
          </p:grpSpPr>
          <p:sp>
            <p:nvSpPr>
              <p:cNvPr id="14" name="Rectangle 14"/>
              <p:cNvSpPr/>
              <p:nvPr/>
            </p:nvSpPr>
            <p:spPr>
              <a:xfrm>
                <a:off x="533400" y="5257800"/>
                <a:ext cx="209550" cy="57150"/>
              </a:xfrm>
              <a:prstGeom prst="rect">
                <a:avLst/>
              </a:prstGeom>
              <a:solidFill>
                <a:srgbClr val="E03131"/>
              </a:solidFill>
              <a:ln>
                <a:noFill/>
              </a:ln>
            </p:spPr>
          </p:sp>
          <p:sp>
            <p:nvSpPr>
              <p:cNvPr id="15" name="TextBox 15"/>
              <p:cNvSpPr txBox="1"/>
              <p:nvPr/>
            </p:nvSpPr>
            <p:spPr>
              <a:xfrm>
                <a:off x="794766" y="5197475"/>
                <a:ext cx="1381773"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집중관리 매일~주 1회</a:t>
                </a:r>
              </a:p>
            </p:txBody>
          </p:sp>
          <p:sp>
            <p:nvSpPr>
              <p:cNvPr id="16" name="Rectangle 16"/>
              <p:cNvSpPr/>
              <p:nvPr/>
            </p:nvSpPr>
            <p:spPr>
              <a:xfrm>
                <a:off x="2381250" y="5257800"/>
                <a:ext cx="209550" cy="57150"/>
              </a:xfrm>
              <a:prstGeom prst="rect">
                <a:avLst/>
              </a:prstGeom>
              <a:solidFill>
                <a:srgbClr val="F08C00"/>
              </a:solidFill>
              <a:ln>
                <a:noFill/>
              </a:ln>
            </p:spPr>
          </p:sp>
          <p:sp>
            <p:nvSpPr>
              <p:cNvPr id="17" name="TextBox 17"/>
              <p:cNvSpPr txBox="1"/>
              <p:nvPr/>
            </p:nvSpPr>
            <p:spPr>
              <a:xfrm>
                <a:off x="2642616" y="5197475"/>
                <a:ext cx="1706880"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노후 하수관·공사장 주 1회</a:t>
                </a:r>
              </a:p>
            </p:txBody>
          </p:sp>
          <p:sp>
            <p:nvSpPr>
              <p:cNvPr id="18" name="Rectangle 18"/>
              <p:cNvSpPr/>
              <p:nvPr/>
            </p:nvSpPr>
            <p:spPr>
              <a:xfrm>
                <a:off x="4533900" y="5257800"/>
                <a:ext cx="209550" cy="57150"/>
              </a:xfrm>
              <a:prstGeom prst="rect">
                <a:avLst/>
              </a:prstGeom>
              <a:solidFill>
                <a:srgbClr val="4E8FD9"/>
              </a:solidFill>
              <a:ln>
                <a:noFill/>
              </a:ln>
            </p:spPr>
          </p:sp>
          <p:sp>
            <p:nvSpPr>
              <p:cNvPr id="19" name="TextBox 19"/>
              <p:cNvSpPr txBox="1"/>
              <p:nvPr/>
            </p:nvSpPr>
            <p:spPr>
              <a:xfrm>
                <a:off x="4795266" y="5197475"/>
                <a:ext cx="879977"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역세권 월 1회</a:t>
                </a:r>
              </a:p>
            </p:txBody>
          </p:sp>
          <p:sp>
            <p:nvSpPr>
              <p:cNvPr id="20" name="Rectangle 20"/>
              <p:cNvSpPr/>
              <p:nvPr/>
            </p:nvSpPr>
            <p:spPr>
              <a:xfrm>
                <a:off x="533400" y="5505450"/>
                <a:ext cx="209550" cy="57150"/>
              </a:xfrm>
              <a:prstGeom prst="rect">
                <a:avLst/>
              </a:prstGeom>
              <a:solidFill>
                <a:srgbClr val="3BA55C"/>
              </a:solidFill>
              <a:ln>
                <a:noFill/>
              </a:ln>
            </p:spPr>
          </p:sp>
          <p:sp>
            <p:nvSpPr>
              <p:cNvPr id="21" name="TextBox 21"/>
              <p:cNvSpPr txBox="1"/>
              <p:nvPr/>
            </p:nvSpPr>
            <p:spPr>
              <a:xfrm>
                <a:off x="794766" y="5445125"/>
                <a:ext cx="1304030"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일반 관리 분기~반기</a:t>
                </a:r>
              </a:p>
            </p:txBody>
          </p:sp>
          <p:sp>
            <p:nvSpPr>
              <p:cNvPr id="22" name="Rectangle 22"/>
              <p:cNvSpPr/>
              <p:nvPr/>
            </p:nvSpPr>
            <p:spPr>
              <a:xfrm>
                <a:off x="2381250" y="5505450"/>
                <a:ext cx="209550" cy="57150"/>
              </a:xfrm>
              <a:prstGeom prst="rect">
                <a:avLst/>
              </a:prstGeom>
              <a:solidFill>
                <a:srgbClr val="8B5CF6"/>
              </a:solidFill>
              <a:ln>
                <a:noFill/>
              </a:ln>
            </p:spPr>
          </p:sp>
          <p:sp>
            <p:nvSpPr>
              <p:cNvPr id="23" name="TextBox 23"/>
              <p:cNvSpPr txBox="1"/>
              <p:nvPr/>
            </p:nvSpPr>
            <p:spPr>
              <a:xfrm>
                <a:off x="2642616" y="5445125"/>
                <a:ext cx="1551394"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집중호우 이후 긴급 조사</a:t>
                </a:r>
              </a:p>
            </p:txBody>
          </p:sp>
          <p:sp>
            <p:nvSpPr>
              <p:cNvPr id="24" name="TextBox 24"/>
              <p:cNvSpPr txBox="1"/>
              <p:nvPr/>
            </p:nvSpPr>
            <p:spPr>
              <a:xfrm>
                <a:off x="4528566" y="5445125"/>
                <a:ext cx="1989582" cy="205359"/>
              </a:xfrm>
              <a:prstGeom prst="rect">
                <a:avLst/>
              </a:prstGeom>
              <a:noFill/>
              <a:ln>
                <a:noFill/>
              </a:ln>
            </p:spPr>
            <p:txBody>
              <a:bodyPr wrap="none" lIns="0" tIns="0" rIns="0" bIns="0" anchor="t" anchorCtr="0">
                <a:spAutoFit/>
              </a:bodyPr>
              <a:lstStyle/>
              <a:p>
                <a:pPr algn="l"/>
                <a:r>
                  <a:rPr lang="ko-KR" sz="1050" dirty="0">
                    <a:solidFill>
                      <a:srgbClr val="6B7280"/>
                    </a:solidFill>
                    <a:latin typeface="+mn-lt"/>
                    <a:ea typeface="+mn-ea"/>
                    <a:cs typeface="+mn-cs"/>
                  </a:rPr>
                  <a:t>주기는 발주기관과 합의 [예시]</a:t>
                </a:r>
              </a:p>
            </p:txBody>
          </p:sp>
        </p:grpSp>
      </p:grpSp>
      <p:grpSp>
        <p:nvGrpSpPr>
          <p:cNvPr id="50" name="stages"/>
          <p:cNvGrpSpPr/>
          <p:nvPr/>
        </p:nvGrpSpPr>
        <p:grpSpPr>
          <a:xfrm>
            <a:off x="7400925" y="1533525"/>
            <a:ext cx="3674598" cy="3917442"/>
            <a:chOff x="7400925" y="1533525"/>
            <a:chExt cx="3674598" cy="3917442"/>
          </a:xfrm>
        </p:grpSpPr>
        <p:sp>
          <p:nvSpPr>
            <p:cNvPr id="27" name="Line 27"/>
            <p:cNvSpPr/>
            <p:nvPr/>
          </p:nvSpPr>
          <p:spPr>
            <a:xfrm>
              <a:off x="7543800" y="1733550"/>
              <a:ext cx="9525" cy="3352800"/>
            </a:xfrm>
            <a:custGeom>
              <a:avLst/>
              <a:gdLst/>
              <a:ahLst/>
              <a:cxnLst/>
              <a:rect l="l" t="t" r="r" b="b"/>
              <a:pathLst>
                <a:path w="9525" h="3352800">
                  <a:moveTo>
                    <a:pt x="0" y="0"/>
                  </a:moveTo>
                  <a:lnTo>
                    <a:pt x="0" y="3352800"/>
                  </a:lnTo>
                </a:path>
              </a:pathLst>
            </a:custGeom>
            <a:noFill/>
            <a:ln w="19050">
              <a:solidFill>
                <a:srgbClr val="C9D3E2"/>
              </a:solidFill>
            </a:ln>
          </p:spPr>
        </p:sp>
        <p:grpSp>
          <p:nvGrpSpPr>
            <p:cNvPr id="38" name="Group 38"/>
            <p:cNvGrpSpPr/>
            <p:nvPr/>
          </p:nvGrpSpPr>
          <p:grpSpPr>
            <a:xfrm>
              <a:off x="7400925" y="1533525"/>
              <a:ext cx="285750" cy="3638550"/>
              <a:chOff x="7400925" y="1533525"/>
              <a:chExt cx="285750" cy="3638550"/>
            </a:xfrm>
          </p:grpSpPr>
          <p:sp>
            <p:nvSpPr>
              <p:cNvPr id="28" name="Ellipse 28"/>
              <p:cNvSpPr/>
              <p:nvPr/>
            </p:nvSpPr>
            <p:spPr>
              <a:xfrm>
                <a:off x="7400925" y="1533525"/>
                <a:ext cx="285750" cy="285750"/>
              </a:xfrm>
              <a:prstGeom prst="ellipse">
                <a:avLst/>
              </a:prstGeom>
              <a:solidFill>
                <a:srgbClr val="E8ECF2"/>
              </a:solidFill>
              <a:ln>
                <a:noFill/>
              </a:ln>
            </p:spPr>
          </p:sp>
          <p:sp>
            <p:nvSpPr>
              <p:cNvPr id="29" name="TextBox 29"/>
              <p:cNvSpPr txBox="1"/>
              <p:nvPr/>
            </p:nvSpPr>
            <p:spPr>
              <a:xfrm>
                <a:off x="7494549" y="1584325"/>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1</a:t>
                </a:r>
              </a:p>
            </p:txBody>
          </p:sp>
          <p:sp>
            <p:nvSpPr>
              <p:cNvPr id="30" name="Ellipse 30"/>
              <p:cNvSpPr/>
              <p:nvPr/>
            </p:nvSpPr>
            <p:spPr>
              <a:xfrm>
                <a:off x="7400925" y="2371725"/>
                <a:ext cx="285750" cy="285750"/>
              </a:xfrm>
              <a:prstGeom prst="ellipse">
                <a:avLst/>
              </a:prstGeom>
              <a:solidFill>
                <a:srgbClr val="C9D3E2"/>
              </a:solidFill>
              <a:ln>
                <a:noFill/>
              </a:ln>
            </p:spPr>
          </p:sp>
          <p:sp>
            <p:nvSpPr>
              <p:cNvPr id="31" name="TextBox 31"/>
              <p:cNvSpPr txBox="1"/>
              <p:nvPr/>
            </p:nvSpPr>
            <p:spPr>
              <a:xfrm>
                <a:off x="7494549" y="2422525"/>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2</a:t>
                </a:r>
              </a:p>
            </p:txBody>
          </p:sp>
          <p:sp>
            <p:nvSpPr>
              <p:cNvPr id="32" name="Ellipse 32"/>
              <p:cNvSpPr/>
              <p:nvPr/>
            </p:nvSpPr>
            <p:spPr>
              <a:xfrm>
                <a:off x="7400925" y="3209925"/>
                <a:ext cx="285750" cy="285750"/>
              </a:xfrm>
              <a:prstGeom prst="ellipse">
                <a:avLst/>
              </a:prstGeom>
              <a:solidFill>
                <a:srgbClr val="2E4A78"/>
              </a:solidFill>
              <a:ln>
                <a:noFill/>
              </a:ln>
            </p:spPr>
          </p:sp>
          <p:sp>
            <p:nvSpPr>
              <p:cNvPr id="33" name="TextBox 33"/>
              <p:cNvSpPr txBox="1"/>
              <p:nvPr/>
            </p:nvSpPr>
            <p:spPr>
              <a:xfrm>
                <a:off x="7494549" y="32607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a:t>
                </a:r>
              </a:p>
            </p:txBody>
          </p:sp>
          <p:sp>
            <p:nvSpPr>
              <p:cNvPr id="34" name="Ellipse 34"/>
              <p:cNvSpPr/>
              <p:nvPr/>
            </p:nvSpPr>
            <p:spPr>
              <a:xfrm>
                <a:off x="7400925" y="4048125"/>
                <a:ext cx="285750" cy="285750"/>
              </a:xfrm>
              <a:prstGeom prst="ellipse">
                <a:avLst/>
              </a:prstGeom>
              <a:solidFill>
                <a:srgbClr val="1C2F52"/>
              </a:solidFill>
              <a:ln>
                <a:noFill/>
              </a:ln>
            </p:spPr>
          </p:sp>
          <p:sp>
            <p:nvSpPr>
              <p:cNvPr id="35" name="TextBox 35"/>
              <p:cNvSpPr txBox="1"/>
              <p:nvPr/>
            </p:nvSpPr>
            <p:spPr>
              <a:xfrm>
                <a:off x="7494549" y="40989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4</a:t>
                </a:r>
              </a:p>
            </p:txBody>
          </p:sp>
          <p:sp>
            <p:nvSpPr>
              <p:cNvPr id="36" name="Ellipse 36"/>
              <p:cNvSpPr/>
              <p:nvPr/>
            </p:nvSpPr>
            <p:spPr>
              <a:xfrm>
                <a:off x="7400925" y="4886325"/>
                <a:ext cx="285750" cy="285750"/>
              </a:xfrm>
              <a:prstGeom prst="ellipse">
                <a:avLst/>
              </a:prstGeom>
              <a:solidFill>
                <a:srgbClr val="0B1E3C"/>
              </a:solidFill>
              <a:ln>
                <a:noFill/>
              </a:ln>
            </p:spPr>
          </p:sp>
          <p:sp>
            <p:nvSpPr>
              <p:cNvPr id="37" name="TextBox 37"/>
              <p:cNvSpPr txBox="1"/>
              <p:nvPr/>
            </p:nvSpPr>
            <p:spPr>
              <a:xfrm>
                <a:off x="7494549" y="4937125"/>
                <a:ext cx="98502" cy="220028"/>
              </a:xfrm>
              <a:prstGeom prst="rect">
                <a:avLst/>
              </a:prstGeom>
              <a:noFill/>
              <a:ln>
                <a:noFill/>
              </a:ln>
            </p:spPr>
            <p:txBody>
              <a:bodyPr wrap="none" lIns="0" tIns="0" rIns="0" bIns="0" anchor="t" anchorCtr="0">
                <a:spAutoFit/>
              </a:bodyPr>
              <a:lstStyle/>
              <a:p>
                <a:pPr algn="ctr"/>
                <a:r>
                  <a:rPr lang="ko-KR" sz="1120" b="1" dirty="0">
                    <a:solidFill>
                      <a:srgbClr val="F5B700"/>
                    </a:solidFill>
                    <a:latin typeface="+mn-lt"/>
                    <a:ea typeface="+mn-ea"/>
                    <a:cs typeface="+mn-cs"/>
                  </a:rPr>
                  <a:t>5</a:t>
                </a:r>
              </a:p>
            </p:txBody>
          </p:sp>
        </p:grpSp>
        <p:grpSp>
          <p:nvGrpSpPr>
            <p:cNvPr id="49" name="Group 49"/>
            <p:cNvGrpSpPr/>
            <p:nvPr/>
          </p:nvGrpSpPr>
          <p:grpSpPr>
            <a:xfrm>
              <a:off x="7821549" y="1549400"/>
              <a:ext cx="3253974" cy="3901567"/>
              <a:chOff x="7821549" y="1549400"/>
              <a:chExt cx="3253974" cy="3901567"/>
            </a:xfrm>
          </p:grpSpPr>
          <p:sp>
            <p:nvSpPr>
              <p:cNvPr id="39" name="TextBox 39"/>
              <p:cNvSpPr txBox="1"/>
              <p:nvPr/>
            </p:nvSpPr>
            <p:spPr>
              <a:xfrm>
                <a:off x="7821549" y="1549400"/>
                <a:ext cx="654101"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파일럿</a:t>
                </a:r>
              </a:p>
            </p:txBody>
          </p:sp>
          <p:sp>
            <p:nvSpPr>
              <p:cNvPr id="40" name="TextBox 40"/>
              <p:cNvSpPr txBox="1"/>
              <p:nvPr/>
            </p:nvSpPr>
            <p:spPr>
              <a:xfrm>
                <a:off x="7823073" y="1847850"/>
                <a:ext cx="2675199"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지하철 공사구간·노후 하수관 주변</a:t>
                </a:r>
              </a:p>
            </p:txBody>
          </p:sp>
          <p:sp>
            <p:nvSpPr>
              <p:cNvPr id="41" name="TextBox 41"/>
              <p:cNvSpPr txBox="1"/>
              <p:nvPr/>
            </p:nvSpPr>
            <p:spPr>
              <a:xfrm>
                <a:off x="7821549" y="2400300"/>
                <a:ext cx="1638900"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자치구 정기 순찰</a:t>
                </a:r>
              </a:p>
            </p:txBody>
          </p:sp>
          <p:sp>
            <p:nvSpPr>
              <p:cNvPr id="42" name="TextBox 42"/>
              <p:cNvSpPr txBox="1"/>
              <p:nvPr/>
            </p:nvSpPr>
            <p:spPr>
              <a:xfrm>
                <a:off x="7823073" y="2686050"/>
                <a:ext cx="2856128"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위험도별 주기로 같은 길을 반복 관리</a:t>
                </a:r>
              </a:p>
            </p:txBody>
          </p:sp>
          <p:sp>
            <p:nvSpPr>
              <p:cNvPr id="43" name="TextBox 43"/>
              <p:cNvSpPr txBox="1"/>
              <p:nvPr/>
            </p:nvSpPr>
            <p:spPr>
              <a:xfrm>
                <a:off x="7821549" y="3238500"/>
                <a:ext cx="139395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PV5 플릿 운영</a:t>
                </a:r>
              </a:p>
            </p:txBody>
          </p:sp>
          <p:sp>
            <p:nvSpPr>
              <p:cNvPr id="44" name="TextBox 44"/>
              <p:cNvSpPr txBox="1"/>
              <p:nvPr/>
            </p:nvSpPr>
            <p:spPr>
              <a:xfrm>
                <a:off x="7823073" y="3524250"/>
                <a:ext cx="3252450"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여러 대가 권역을 나눠 같은 기준으로 순찰</a:t>
                </a:r>
              </a:p>
            </p:txBody>
          </p:sp>
          <p:sp>
            <p:nvSpPr>
              <p:cNvPr id="45" name="TextBox 45"/>
              <p:cNvSpPr txBox="1"/>
              <p:nvPr/>
            </p:nvSpPr>
            <p:spPr>
              <a:xfrm>
                <a:off x="7821549" y="4076700"/>
                <a:ext cx="1638900"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지하 데이터 결합</a:t>
                </a:r>
              </a:p>
            </p:txBody>
          </p:sp>
          <p:sp>
            <p:nvSpPr>
              <p:cNvPr id="46" name="TextBox 46"/>
              <p:cNvSpPr txBox="1"/>
              <p:nvPr/>
            </p:nvSpPr>
            <p:spPr>
              <a:xfrm>
                <a:off x="7823073" y="4362450"/>
                <a:ext cx="3200756"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하수관·굴착공사·지하수·강우·보수 이력</a:t>
                </a:r>
              </a:p>
            </p:txBody>
          </p:sp>
          <p:sp>
            <p:nvSpPr>
              <p:cNvPr id="47" name="TextBox 47"/>
              <p:cNvSpPr txBox="1"/>
              <p:nvPr/>
            </p:nvSpPr>
            <p:spPr>
              <a:xfrm>
                <a:off x="7821549" y="4914900"/>
                <a:ext cx="2181966"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4D 도시 지하 변화지도</a:t>
                </a:r>
              </a:p>
            </p:txBody>
          </p:sp>
          <p:sp>
            <p:nvSpPr>
              <p:cNvPr id="48" name="TextBox 48"/>
              <p:cNvSpPr txBox="1"/>
              <p:nvPr/>
            </p:nvSpPr>
            <p:spPr>
              <a:xfrm>
                <a:off x="7823073" y="5200650"/>
                <a:ext cx="2580427"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계약기관이 접근권한 안에서 활용</a:t>
                </a:r>
              </a:p>
            </p:txBody>
          </p:sp>
        </p:grpSp>
      </p:grpSp>
      <p:grpSp>
        <p:nvGrpSpPr>
          <p:cNvPr id="63" name="targets"/>
          <p:cNvGrpSpPr/>
          <p:nvPr/>
        </p:nvGrpSpPr>
        <p:grpSpPr>
          <a:xfrm>
            <a:off x="527304" y="5810250"/>
            <a:ext cx="10369296" cy="304800"/>
            <a:chOff x="527304" y="5810250"/>
            <a:chExt cx="10369296" cy="304800"/>
          </a:xfrm>
        </p:grpSpPr>
        <p:sp>
          <p:nvSpPr>
            <p:cNvPr id="51" name="TextBox 51"/>
            <p:cNvSpPr txBox="1"/>
            <p:nvPr/>
          </p:nvSpPr>
          <p:spPr>
            <a:xfrm>
              <a:off x="527304" y="5867400"/>
              <a:ext cx="70925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확장 대상</a:t>
              </a:r>
            </a:p>
          </p:txBody>
        </p:sp>
        <p:grpSp>
          <p:nvGrpSpPr>
            <p:cNvPr id="62" name="Group 62"/>
            <p:cNvGrpSpPr/>
            <p:nvPr/>
          </p:nvGrpSpPr>
          <p:grpSpPr>
            <a:xfrm>
              <a:off x="1333500" y="5810250"/>
              <a:ext cx="9563100" cy="304800"/>
              <a:chOff x="1333500" y="5810250"/>
              <a:chExt cx="9563100" cy="304800"/>
            </a:xfrm>
          </p:grpSpPr>
          <p:sp>
            <p:nvSpPr>
              <p:cNvPr id="52" name="Rectangle 52"/>
              <p:cNvSpPr/>
              <p:nvPr/>
            </p:nvSpPr>
            <p:spPr>
              <a:xfrm>
                <a:off x="1333500" y="5810250"/>
                <a:ext cx="1866900" cy="304800"/>
              </a:xfrm>
              <a:prstGeom prst="roundRect">
                <a:avLst>
                  <a:gd name="adj" fmla="val 50000"/>
                </a:avLst>
              </a:prstGeom>
              <a:noFill/>
              <a:ln w="9525">
                <a:solidFill>
                  <a:srgbClr val="9AA3AF"/>
                </a:solidFill>
              </a:ln>
            </p:spPr>
          </p:sp>
          <p:sp>
            <p:nvSpPr>
              <p:cNvPr id="53" name="TextBox 53"/>
              <p:cNvSpPr txBox="1"/>
              <p:nvPr/>
            </p:nvSpPr>
            <p:spPr>
              <a:xfrm>
                <a:off x="1443284" y="5870575"/>
                <a:ext cx="1647332"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서울시·자치구 도로관리</a:t>
                </a:r>
              </a:p>
            </p:txBody>
          </p:sp>
          <p:sp>
            <p:nvSpPr>
              <p:cNvPr id="54" name="Rectangle 54"/>
              <p:cNvSpPr/>
              <p:nvPr/>
            </p:nvSpPr>
            <p:spPr>
              <a:xfrm>
                <a:off x="3314700" y="5810250"/>
                <a:ext cx="1771650" cy="304800"/>
              </a:xfrm>
              <a:prstGeom prst="roundRect">
                <a:avLst>
                  <a:gd name="adj" fmla="val 50000"/>
                </a:avLst>
              </a:prstGeom>
              <a:noFill/>
              <a:ln w="9525">
                <a:solidFill>
                  <a:srgbClr val="9AA3AF"/>
                </a:solidFill>
              </a:ln>
            </p:spPr>
          </p:sp>
          <p:sp>
            <p:nvSpPr>
              <p:cNvPr id="55" name="TextBox 55"/>
              <p:cNvSpPr txBox="1"/>
              <p:nvPr/>
            </p:nvSpPr>
            <p:spPr>
              <a:xfrm>
                <a:off x="3395706" y="5870575"/>
                <a:ext cx="1609639"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도시철도 공사 영향구간</a:t>
                </a:r>
              </a:p>
            </p:txBody>
          </p:sp>
          <p:sp>
            <p:nvSpPr>
              <p:cNvPr id="56" name="Rectangle 56"/>
              <p:cNvSpPr/>
              <p:nvPr/>
            </p:nvSpPr>
            <p:spPr>
              <a:xfrm>
                <a:off x="5200650" y="5810250"/>
                <a:ext cx="1524000" cy="304800"/>
              </a:xfrm>
              <a:prstGeom prst="roundRect">
                <a:avLst>
                  <a:gd name="adj" fmla="val 50000"/>
                </a:avLst>
              </a:prstGeom>
              <a:noFill/>
              <a:ln w="9525">
                <a:solidFill>
                  <a:srgbClr val="9AA3AF"/>
                </a:solidFill>
              </a:ln>
            </p:spPr>
          </p:sp>
          <p:sp>
            <p:nvSpPr>
              <p:cNvPr id="57" name="TextBox 57"/>
              <p:cNvSpPr txBox="1"/>
              <p:nvPr/>
            </p:nvSpPr>
            <p:spPr>
              <a:xfrm>
                <a:off x="5331221" y="5870575"/>
                <a:ext cx="1262858"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상하수도 관리기관</a:t>
                </a:r>
              </a:p>
            </p:txBody>
          </p:sp>
          <p:sp>
            <p:nvSpPr>
              <p:cNvPr id="58" name="Rectangle 58"/>
              <p:cNvSpPr/>
              <p:nvPr/>
            </p:nvSpPr>
            <p:spPr>
              <a:xfrm>
                <a:off x="6838950" y="5810250"/>
                <a:ext cx="2247900" cy="304800"/>
              </a:xfrm>
              <a:prstGeom prst="roundRect">
                <a:avLst>
                  <a:gd name="adj" fmla="val 50000"/>
                </a:avLst>
              </a:prstGeom>
              <a:noFill/>
              <a:ln w="9525">
                <a:solidFill>
                  <a:srgbClr val="9AA3AF"/>
                </a:solidFill>
              </a:ln>
            </p:spPr>
          </p:sp>
          <p:sp>
            <p:nvSpPr>
              <p:cNvPr id="59" name="TextBox 59"/>
              <p:cNvSpPr txBox="1"/>
              <p:nvPr/>
            </p:nvSpPr>
            <p:spPr>
              <a:xfrm>
                <a:off x="6890456" y="5870575"/>
                <a:ext cx="2144888"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대형 굴착공사 발주기관·시공사</a:t>
                </a:r>
              </a:p>
            </p:txBody>
          </p:sp>
          <p:sp>
            <p:nvSpPr>
              <p:cNvPr id="60" name="Rectangle 60"/>
              <p:cNvSpPr/>
              <p:nvPr/>
            </p:nvSpPr>
            <p:spPr>
              <a:xfrm>
                <a:off x="9201150" y="5810250"/>
                <a:ext cx="1695450" cy="304800"/>
              </a:xfrm>
              <a:prstGeom prst="roundRect">
                <a:avLst>
                  <a:gd name="adj" fmla="val 50000"/>
                </a:avLst>
              </a:prstGeom>
              <a:noFill/>
              <a:ln w="9525">
                <a:solidFill>
                  <a:srgbClr val="9AA3AF"/>
                </a:solidFill>
              </a:ln>
            </p:spPr>
          </p:sp>
          <p:sp>
            <p:nvSpPr>
              <p:cNvPr id="61" name="TextBox 61"/>
              <p:cNvSpPr txBox="1"/>
              <p:nvPr/>
            </p:nvSpPr>
            <p:spPr>
              <a:xfrm>
                <a:off x="9296827" y="5870575"/>
                <a:ext cx="1504097"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집중호우 후 긴급 탐사</a:t>
                </a:r>
              </a:p>
            </p:txBody>
          </p:sp>
        </p:grpSp>
      </p:grpSp>
      <p:grpSp>
        <p:nvGrpSpPr>
          <p:cNvPr id="65" name="data-policy"/>
          <p:cNvGrpSpPr/>
          <p:nvPr/>
        </p:nvGrpSpPr>
        <p:grpSpPr>
          <a:xfrm>
            <a:off x="527685" y="6261100"/>
            <a:ext cx="9544407" cy="220028"/>
            <a:chOff x="527685" y="6261100"/>
            <a:chExt cx="9544407" cy="220028"/>
          </a:xfrm>
        </p:grpSpPr>
        <p:sp>
          <p:nvSpPr>
            <p:cNvPr id="64" name="TextBox 64"/>
            <p:cNvSpPr txBox="1"/>
            <p:nvPr/>
          </p:nvSpPr>
          <p:spPr>
            <a:xfrm>
              <a:off x="527685" y="6261100"/>
              <a:ext cx="9544407"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지하 데이터는 판매하지 않습니다.</a:t>
              </a:r>
              <a:r>
                <a:rPr lang="ko-KR" sz="1120" dirty="0">
                  <a:solidFill>
                    <a:srgbClr val="4B5563"/>
                  </a:solidFill>
                  <a:latin typeface="+mn-lt"/>
                  <a:ea typeface="+mn-ea"/>
                  <a:cs typeface="+mn-cs"/>
                </a:rPr>
                <a:t xml:space="preserve"> 계약기관 내부의 접근제어형 관제 서비스로만 제공합니다 · 지도 데이터 © OpenStreetMap contributors</a:t>
              </a:r>
            </a:p>
          </p:txBody>
        </p:sp>
      </p:grpSp>
      <p:grpSp>
        <p:nvGrpSpPr>
          <p:cNvPr id="68" name="footer"/>
          <p:cNvGrpSpPr/>
          <p:nvPr/>
        </p:nvGrpSpPr>
        <p:grpSpPr>
          <a:xfrm>
            <a:off x="528638" y="6610350"/>
            <a:ext cx="11134724" cy="176212"/>
            <a:chOff x="528638" y="6610350"/>
            <a:chExt cx="11134724" cy="176212"/>
          </a:xfrm>
        </p:grpSpPr>
        <p:sp>
          <p:nvSpPr>
            <p:cNvPr id="66" name="TextBox 6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67" name="TextBox 6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10 / 12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7p</a:t>
              </a:r>
            </a:p>
          </p:txBody>
        </p:sp>
        <p:sp>
          <p:nvSpPr>
            <p:cNvPr id="6" name="TextBox 6"/>
            <p:cNvSpPr txBox="1"/>
            <p:nvPr/>
          </p:nvSpPr>
          <p:spPr>
            <a:xfrm>
              <a:off x="2356866" y="301625"/>
              <a:ext cx="119241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B2G 비즈니스 모델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806711" cy="586740"/>
            <a:chOff x="518160" y="774700"/>
            <a:chExt cx="9806711" cy="586740"/>
          </a:xfrm>
        </p:grpSpPr>
        <p:sp>
          <p:nvSpPr>
            <p:cNvPr id="9" name="TextBox 9"/>
            <p:cNvSpPr txBox="1"/>
            <p:nvPr/>
          </p:nvSpPr>
          <p:spPr>
            <a:xfrm>
              <a:off x="518160" y="774700"/>
              <a:ext cx="980671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 탐사 용역으로 시작해 연간 반복관제로 전환한다</a:t>
              </a:r>
            </a:p>
          </p:txBody>
        </p:sp>
      </p:grpSp>
      <p:grpSp>
        <p:nvGrpSpPr>
          <p:cNvPr id="27" name="revenue-steps"/>
          <p:cNvGrpSpPr/>
          <p:nvPr/>
        </p:nvGrpSpPr>
        <p:grpSpPr>
          <a:xfrm>
            <a:off x="518160" y="1498600"/>
            <a:ext cx="5037201" cy="3088767"/>
            <a:chOff x="518160" y="1498600"/>
            <a:chExt cx="5037201" cy="3088767"/>
          </a:xfrm>
        </p:grpSpPr>
        <p:grpSp>
          <p:nvGrpSpPr>
            <p:cNvPr id="14" name="rev-1"/>
            <p:cNvGrpSpPr/>
            <p:nvPr/>
          </p:nvGrpSpPr>
          <p:grpSpPr>
            <a:xfrm>
              <a:off x="518160" y="1498600"/>
              <a:ext cx="3956177" cy="802767"/>
              <a:chOff x="518160" y="1498600"/>
              <a:chExt cx="3956177" cy="802767"/>
            </a:xfrm>
          </p:grpSpPr>
          <p:sp>
            <p:nvSpPr>
              <p:cNvPr id="11" name="TextBox 11"/>
              <p:cNvSpPr txBox="1"/>
              <p:nvPr/>
            </p:nvSpPr>
            <p:spPr>
              <a:xfrm>
                <a:off x="518160" y="1498600"/>
                <a:ext cx="496938" cy="586740"/>
              </a:xfrm>
              <a:prstGeom prst="rect">
                <a:avLst/>
              </a:prstGeom>
              <a:noFill/>
              <a:ln>
                <a:noFill/>
              </a:ln>
            </p:spPr>
            <p:txBody>
              <a:bodyPr wrap="none" lIns="0" tIns="0" rIns="0" bIns="0" anchor="t" anchorCtr="0">
                <a:spAutoFit/>
              </a:bodyPr>
              <a:lstStyle/>
              <a:p>
                <a:pPr algn="l"/>
                <a:r>
                  <a:rPr lang="ko-KR" sz="3000" b="1" dirty="0">
                    <a:solidFill>
                      <a:srgbClr val="C9D3E2"/>
                    </a:solidFill>
                    <a:latin typeface="+mn-lt"/>
                    <a:ea typeface="+mn-ea"/>
                    <a:cs typeface="+mn-cs"/>
                  </a:rPr>
                  <a:t>01</a:t>
                </a:r>
              </a:p>
            </p:txBody>
          </p:sp>
          <p:sp>
            <p:nvSpPr>
              <p:cNvPr id="12" name="TextBox 12"/>
              <p:cNvSpPr txBox="1"/>
              <p:nvPr/>
            </p:nvSpPr>
            <p:spPr>
              <a:xfrm>
                <a:off x="1248156" y="1517650"/>
                <a:ext cx="1867159"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파일럿 탐사 용역</a:t>
                </a:r>
              </a:p>
            </p:txBody>
          </p:sp>
          <p:sp>
            <p:nvSpPr>
              <p:cNvPr id="13" name="TextBox 13"/>
              <p:cNvSpPr txBox="1"/>
              <p:nvPr/>
            </p:nvSpPr>
            <p:spPr>
              <a:xfrm>
                <a:off x="1250823" y="1822450"/>
                <a:ext cx="3223514"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위험구간·공사구간의 거리와 회차 기준 계약</a:t>
                </a:r>
                <a:br>
                  <a:rPr lang="ko-KR" sz="1280" dirty="0">
                    <a:solidFill>
                      <a:srgbClr val="4B5563"/>
                    </a:solidFill>
                    <a:latin typeface="+mn-lt"/>
                    <a:ea typeface="+mn-ea"/>
                    <a:cs typeface="+mn-cs"/>
                  </a:rPr>
                </a:br>
                <a:r>
                  <a:rPr lang="ko-KR" sz="1280" dirty="0">
                    <a:solidFill>
                      <a:srgbClr val="4B5563"/>
                    </a:solidFill>
                    <a:latin typeface="+mn-lt"/>
                    <a:ea typeface="+mn-ea"/>
                    <a:cs typeface="+mn-cs"/>
                  </a:rPr>
                  <a:t>기존 조사 결과와 비교한 실증 보고서 제공</a:t>
                </a:r>
              </a:p>
            </p:txBody>
          </p:sp>
        </p:grpSp>
        <p:sp>
          <p:nvSpPr>
            <p:cNvPr id="15" name="Line 15"/>
            <p:cNvSpPr/>
            <p:nvPr/>
          </p:nvSpPr>
          <p:spPr>
            <a:xfrm>
              <a:off x="762000" y="2057400"/>
              <a:ext cx="1" cy="495300"/>
            </a:xfrm>
            <a:prstGeom prst="line">
              <a:avLst/>
            </a:prstGeom>
            <a:noFill/>
            <a:ln w="19050">
              <a:solidFill>
                <a:srgbClr val="9AA3AF"/>
              </a:solidFill>
              <a:tailEnd type="triangle" w="lg" len="lg"/>
            </a:ln>
          </p:spPr>
        </p:sp>
        <p:grpSp>
          <p:nvGrpSpPr>
            <p:cNvPr id="21" name="rev-2"/>
            <p:cNvGrpSpPr/>
            <p:nvPr/>
          </p:nvGrpSpPr>
          <p:grpSpPr>
            <a:xfrm>
              <a:off x="518160" y="2641600"/>
              <a:ext cx="4460113" cy="802767"/>
              <a:chOff x="518160" y="2641600"/>
              <a:chExt cx="4460113" cy="802767"/>
            </a:xfrm>
          </p:grpSpPr>
          <p:sp>
            <p:nvSpPr>
              <p:cNvPr id="16" name="TextBox 16"/>
              <p:cNvSpPr txBox="1"/>
              <p:nvPr/>
            </p:nvSpPr>
            <p:spPr>
              <a:xfrm>
                <a:off x="518160" y="2641600"/>
                <a:ext cx="496938" cy="586740"/>
              </a:xfrm>
              <a:prstGeom prst="rect">
                <a:avLst/>
              </a:prstGeom>
              <a:noFill/>
              <a:ln>
                <a:noFill/>
              </a:ln>
            </p:spPr>
            <p:txBody>
              <a:bodyPr wrap="none" lIns="0" tIns="0" rIns="0" bIns="0" anchor="t" anchorCtr="0">
                <a:spAutoFit/>
              </a:bodyPr>
              <a:lstStyle/>
              <a:p>
                <a:pPr algn="l"/>
                <a:r>
                  <a:rPr lang="ko-KR" sz="3000" b="1" dirty="0">
                    <a:solidFill>
                      <a:srgbClr val="2E4A78"/>
                    </a:solidFill>
                    <a:latin typeface="+mn-lt"/>
                    <a:ea typeface="+mn-ea"/>
                    <a:cs typeface="+mn-cs"/>
                  </a:rPr>
                  <a:t>02</a:t>
                </a:r>
              </a:p>
            </p:txBody>
          </p:sp>
          <p:sp>
            <p:nvSpPr>
              <p:cNvPr id="17" name="TextBox 17"/>
              <p:cNvSpPr txBox="1"/>
              <p:nvPr/>
            </p:nvSpPr>
            <p:spPr>
              <a:xfrm>
                <a:off x="1248156" y="2660650"/>
                <a:ext cx="2109475"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연간 반복관제 계약</a:t>
                </a:r>
              </a:p>
            </p:txBody>
          </p:sp>
          <p:sp>
            <p:nvSpPr>
              <p:cNvPr id="18" name="TextBox 18"/>
              <p:cNvSpPr txBox="1"/>
              <p:nvPr/>
            </p:nvSpPr>
            <p:spPr>
              <a:xfrm>
                <a:off x="1250823" y="2965450"/>
                <a:ext cx="3727450"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정기 순찰·변화 감지·재확인 업무·기관용 대시보드</a:t>
                </a:r>
                <a:br>
                  <a:rPr lang="ko-KR" sz="1280" dirty="0">
                    <a:solidFill>
                      <a:srgbClr val="4B5563"/>
                    </a:solidFill>
                    <a:latin typeface="+mn-lt"/>
                    <a:ea typeface="+mn-ea"/>
                    <a:cs typeface="+mn-cs"/>
                  </a:rPr>
                </a:br>
                <a:r>
                  <a:rPr lang="ko-KR" sz="1280" dirty="0">
                    <a:solidFill>
                      <a:srgbClr val="4B5563"/>
                    </a:solidFill>
                    <a:latin typeface="+mn-lt"/>
                    <a:ea typeface="+mn-ea"/>
                    <a:cs typeface="+mn-cs"/>
                  </a:rPr>
                  <a:t>집중호우·민원 발생 시 긴급조사 옵션</a:t>
                </a:r>
              </a:p>
            </p:txBody>
          </p:sp>
          <p:sp>
            <p:nvSpPr>
              <p:cNvPr id="19" name="Rectangle 19"/>
              <p:cNvSpPr/>
              <p:nvPr/>
            </p:nvSpPr>
            <p:spPr>
              <a:xfrm>
                <a:off x="3638550" y="2705100"/>
                <a:ext cx="1066800" cy="228600"/>
              </a:xfrm>
              <a:prstGeom prst="roundRect">
                <a:avLst>
                  <a:gd name="adj" fmla="val 16667"/>
                </a:avLst>
              </a:prstGeom>
              <a:noFill/>
              <a:ln w="14288">
                <a:solidFill>
                  <a:srgbClr val="C99600"/>
                </a:solidFill>
              </a:ln>
            </p:spPr>
          </p:sp>
          <p:sp>
            <p:nvSpPr>
              <p:cNvPr id="20" name="TextBox 20"/>
              <p:cNvSpPr txBox="1"/>
              <p:nvPr/>
            </p:nvSpPr>
            <p:spPr>
              <a:xfrm>
                <a:off x="3698037" y="2740025"/>
                <a:ext cx="947825" cy="205359"/>
              </a:xfrm>
              <a:prstGeom prst="rect">
                <a:avLst/>
              </a:prstGeom>
              <a:noFill/>
              <a:ln>
                <a:noFill/>
              </a:ln>
            </p:spPr>
            <p:txBody>
              <a:bodyPr wrap="none" lIns="0" tIns="0" rIns="0" bIns="0" anchor="t" anchorCtr="0">
                <a:spAutoFit/>
              </a:bodyPr>
              <a:lstStyle/>
              <a:p>
                <a:pPr algn="ctr"/>
                <a:r>
                  <a:rPr lang="ko-KR" sz="1050" b="1" dirty="0">
                    <a:solidFill>
                      <a:srgbClr val="8A5A00"/>
                    </a:solidFill>
                    <a:latin typeface="+mn-lt"/>
                    <a:ea typeface="+mn-ea"/>
                    <a:cs typeface="+mn-cs"/>
                  </a:rPr>
                  <a:t>핵심 반복 매출</a:t>
                </a:r>
              </a:p>
            </p:txBody>
          </p:sp>
        </p:grpSp>
        <p:sp>
          <p:nvSpPr>
            <p:cNvPr id="22" name="Line 22"/>
            <p:cNvSpPr/>
            <p:nvPr/>
          </p:nvSpPr>
          <p:spPr>
            <a:xfrm>
              <a:off x="762000" y="3200400"/>
              <a:ext cx="1" cy="495300"/>
            </a:xfrm>
            <a:prstGeom prst="line">
              <a:avLst/>
            </a:prstGeom>
            <a:noFill/>
            <a:ln w="19050">
              <a:solidFill>
                <a:srgbClr val="9AA3AF"/>
              </a:solidFill>
              <a:tailEnd type="triangle" w="lg" len="lg"/>
            </a:ln>
          </p:spPr>
        </p:sp>
        <p:grpSp>
          <p:nvGrpSpPr>
            <p:cNvPr id="26" name="rev-3"/>
            <p:cNvGrpSpPr/>
            <p:nvPr/>
          </p:nvGrpSpPr>
          <p:grpSpPr>
            <a:xfrm>
              <a:off x="518160" y="3784600"/>
              <a:ext cx="5037201" cy="802767"/>
              <a:chOff x="518160" y="3784600"/>
              <a:chExt cx="5037201" cy="802767"/>
            </a:xfrm>
          </p:grpSpPr>
          <p:sp>
            <p:nvSpPr>
              <p:cNvPr id="23" name="TextBox 23"/>
              <p:cNvSpPr txBox="1"/>
              <p:nvPr/>
            </p:nvSpPr>
            <p:spPr>
              <a:xfrm>
                <a:off x="518160" y="3784600"/>
                <a:ext cx="496938" cy="586740"/>
              </a:xfrm>
              <a:prstGeom prst="rect">
                <a:avLst/>
              </a:prstGeom>
              <a:noFill/>
              <a:ln>
                <a:noFill/>
              </a:ln>
            </p:spPr>
            <p:txBody>
              <a:bodyPr wrap="none" lIns="0" tIns="0" rIns="0" bIns="0" anchor="t" anchorCtr="0">
                <a:spAutoFit/>
              </a:bodyPr>
              <a:lstStyle/>
              <a:p>
                <a:pPr algn="l"/>
                <a:r>
                  <a:rPr lang="ko-KR" sz="3000" b="1" dirty="0">
                    <a:solidFill>
                      <a:srgbClr val="0B1E3C"/>
                    </a:solidFill>
                    <a:latin typeface="+mn-lt"/>
                    <a:ea typeface="+mn-ea"/>
                    <a:cs typeface="+mn-cs"/>
                  </a:rPr>
                  <a:t>03</a:t>
                </a:r>
              </a:p>
            </p:txBody>
          </p:sp>
          <p:sp>
            <p:nvSpPr>
              <p:cNvPr id="24" name="TextBox 24"/>
              <p:cNvSpPr txBox="1"/>
              <p:nvPr/>
            </p:nvSpPr>
            <p:spPr>
              <a:xfrm>
                <a:off x="1248156" y="3803650"/>
                <a:ext cx="2657715"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차량·소프트웨어 패키지</a:t>
                </a:r>
              </a:p>
            </p:txBody>
          </p:sp>
          <p:sp>
            <p:nvSpPr>
              <p:cNvPr id="25" name="TextBox 25"/>
              <p:cNvSpPr txBox="1"/>
              <p:nvPr/>
            </p:nvSpPr>
            <p:spPr>
              <a:xfrm>
                <a:off x="1250823" y="4108450"/>
                <a:ext cx="4304538"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검증 이후 PV5 컨버전 차량·센서·Patrol 앱·Edge Gateway</a:t>
                </a:r>
                <a:br>
                  <a:rPr lang="ko-KR" sz="1280" dirty="0">
                    <a:solidFill>
                      <a:srgbClr val="4B5563"/>
                    </a:solidFill>
                    <a:latin typeface="+mn-lt"/>
                    <a:ea typeface="+mn-ea"/>
                    <a:cs typeface="+mn-cs"/>
                  </a:rPr>
                </a:br>
                <a:r>
                  <a:rPr lang="ko-KR" sz="1280" dirty="0">
                    <a:solidFill>
                      <a:srgbClr val="4B5563"/>
                    </a:solidFill>
                    <a:latin typeface="+mn-lt"/>
                    <a:ea typeface="+mn-ea"/>
                    <a:cs typeface="+mn-cs"/>
                  </a:rPr>
                  <a:t>AI 분석·관제 대시보드·AR·교육·유지보수 일괄 제공</a:t>
                </a:r>
              </a:p>
            </p:txBody>
          </p:sp>
        </p:grpSp>
      </p:grpSp>
      <p:grpSp>
        <p:nvGrpSpPr>
          <p:cNvPr id="37" name="stakeholders"/>
          <p:cNvGrpSpPr/>
          <p:nvPr/>
        </p:nvGrpSpPr>
        <p:grpSpPr>
          <a:xfrm>
            <a:off x="7239000" y="1428750"/>
            <a:ext cx="4419600" cy="3429000"/>
            <a:chOff x="7239000" y="1428750"/>
            <a:chExt cx="4419600" cy="3429000"/>
          </a:xfrm>
        </p:grpSpPr>
        <p:sp>
          <p:nvSpPr>
            <p:cNvPr id="28" name="Rectangle 28"/>
            <p:cNvSpPr/>
            <p:nvPr/>
          </p:nvSpPr>
          <p:spPr>
            <a:xfrm>
              <a:off x="7239000" y="1428750"/>
              <a:ext cx="4419600" cy="3429000"/>
            </a:xfrm>
            <a:prstGeom prst="roundRect">
              <a:avLst>
                <a:gd name="adj" fmla="val 2778"/>
              </a:avLst>
            </a:prstGeom>
            <a:solidFill>
              <a:srgbClr val="F3F5F8"/>
            </a:solidFill>
            <a:ln>
              <a:noFill/>
            </a:ln>
          </p:spPr>
        </p:sp>
        <p:sp>
          <p:nvSpPr>
            <p:cNvPr id="29" name="TextBox 29"/>
            <p:cNvSpPr txBox="1"/>
            <p:nvPr/>
          </p:nvSpPr>
          <p:spPr>
            <a:xfrm>
              <a:off x="7461885" y="1631950"/>
              <a:ext cx="46375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구매자</a:t>
              </a:r>
            </a:p>
          </p:txBody>
        </p:sp>
        <p:sp>
          <p:nvSpPr>
            <p:cNvPr id="30" name="TextBox 30"/>
            <p:cNvSpPr txBox="1"/>
            <p:nvPr/>
          </p:nvSpPr>
          <p:spPr>
            <a:xfrm>
              <a:off x="7461123" y="1841500"/>
              <a:ext cx="2516378"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서울시·자치구·도시철도 발주기관</a:t>
              </a:r>
              <a:br>
                <a:rPr lang="ko-KR" sz="1280" dirty="0">
                  <a:solidFill>
                    <a:srgbClr val="111827"/>
                  </a:solidFill>
                  <a:latin typeface="+mn-lt"/>
                  <a:ea typeface="+mn-ea"/>
                  <a:cs typeface="+mn-cs"/>
                </a:rPr>
              </a:br>
              <a:r>
                <a:rPr lang="ko-KR" sz="1280" dirty="0">
                  <a:solidFill>
                    <a:srgbClr val="111827"/>
                  </a:solidFill>
                  <a:latin typeface="+mn-lt"/>
                  <a:ea typeface="+mn-ea"/>
                  <a:cs typeface="+mn-cs"/>
                </a:rPr>
                <a:t>공공시설 관리기관</a:t>
              </a:r>
            </a:p>
          </p:txBody>
        </p:sp>
        <p:sp>
          <p:nvSpPr>
            <p:cNvPr id="31" name="Line 31"/>
            <p:cNvSpPr/>
            <p:nvPr/>
          </p:nvSpPr>
          <p:spPr>
            <a:xfrm>
              <a:off x="7467600" y="2476500"/>
              <a:ext cx="3962400" cy="9525"/>
            </a:xfrm>
            <a:custGeom>
              <a:avLst/>
              <a:gdLst/>
              <a:ahLst/>
              <a:cxnLst/>
              <a:rect l="l" t="t" r="r" b="b"/>
              <a:pathLst>
                <a:path w="3962400" h="9525">
                  <a:moveTo>
                    <a:pt x="0" y="0"/>
                  </a:moveTo>
                  <a:lnTo>
                    <a:pt x="3962400" y="0"/>
                  </a:lnTo>
                </a:path>
              </a:pathLst>
            </a:custGeom>
            <a:noFill/>
            <a:ln w="9525">
              <a:solidFill>
                <a:srgbClr val="D5DAE1"/>
              </a:solidFill>
            </a:ln>
          </p:spPr>
        </p:sp>
        <p:sp>
          <p:nvSpPr>
            <p:cNvPr id="32" name="TextBox 32"/>
            <p:cNvSpPr txBox="1"/>
            <p:nvPr/>
          </p:nvSpPr>
          <p:spPr>
            <a:xfrm>
              <a:off x="7461885" y="2641600"/>
              <a:ext cx="812796"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실제 사용자</a:t>
              </a:r>
            </a:p>
          </p:txBody>
        </p:sp>
        <p:sp>
          <p:nvSpPr>
            <p:cNvPr id="33" name="TextBox 33"/>
            <p:cNvSpPr txBox="1"/>
            <p:nvPr/>
          </p:nvSpPr>
          <p:spPr>
            <a:xfrm>
              <a:off x="7461123" y="2851150"/>
              <a:ext cx="2142490"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지하안전·도로관리 담당자</a:t>
              </a:r>
              <a:br>
                <a:rPr lang="ko-KR" sz="1280" dirty="0">
                  <a:solidFill>
                    <a:srgbClr val="111827"/>
                  </a:solidFill>
                  <a:latin typeface="+mn-lt"/>
                  <a:ea typeface="+mn-ea"/>
                  <a:cs typeface="+mn-cs"/>
                </a:rPr>
              </a:br>
              <a:r>
                <a:rPr lang="ko-KR" sz="1280" dirty="0">
                  <a:solidFill>
                    <a:srgbClr val="111827"/>
                  </a:solidFill>
                  <a:latin typeface="+mn-lt"/>
                  <a:ea typeface="+mn-ea"/>
                  <a:cs typeface="+mn-cs"/>
                </a:rPr>
                <a:t>GPR 판독 전문가·현장 조사원</a:t>
              </a:r>
            </a:p>
          </p:txBody>
        </p:sp>
        <p:sp>
          <p:nvSpPr>
            <p:cNvPr id="34" name="Line 34"/>
            <p:cNvSpPr/>
            <p:nvPr/>
          </p:nvSpPr>
          <p:spPr>
            <a:xfrm>
              <a:off x="7467600" y="3486150"/>
              <a:ext cx="3962400" cy="9525"/>
            </a:xfrm>
            <a:custGeom>
              <a:avLst/>
              <a:gdLst/>
              <a:ahLst/>
              <a:cxnLst/>
              <a:rect l="l" t="t" r="r" b="b"/>
              <a:pathLst>
                <a:path w="3962400" h="9525">
                  <a:moveTo>
                    <a:pt x="0" y="0"/>
                  </a:moveTo>
                  <a:lnTo>
                    <a:pt x="3962400" y="0"/>
                  </a:lnTo>
                </a:path>
              </a:pathLst>
            </a:custGeom>
            <a:noFill/>
            <a:ln w="9525">
              <a:solidFill>
                <a:srgbClr val="D5DAE1"/>
              </a:solidFill>
            </a:ln>
          </p:spPr>
        </p:sp>
        <p:sp>
          <p:nvSpPr>
            <p:cNvPr id="35" name="TextBox 35"/>
            <p:cNvSpPr txBox="1"/>
            <p:nvPr/>
          </p:nvSpPr>
          <p:spPr>
            <a:xfrm>
              <a:off x="7461885" y="3651250"/>
              <a:ext cx="46375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협력사</a:t>
              </a:r>
            </a:p>
          </p:txBody>
        </p:sp>
        <p:sp>
          <p:nvSpPr>
            <p:cNvPr id="36" name="TextBox 36"/>
            <p:cNvSpPr txBox="1"/>
            <p:nvPr/>
          </p:nvSpPr>
          <p:spPr>
            <a:xfrm>
              <a:off x="7461123" y="3860800"/>
              <a:ext cx="2321306"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GPR 전문기업·PV5 특장업체</a:t>
              </a:r>
              <a:br>
                <a:rPr lang="ko-KR" sz="1280" dirty="0">
                  <a:solidFill>
                    <a:srgbClr val="111827"/>
                  </a:solidFill>
                  <a:latin typeface="+mn-lt"/>
                  <a:ea typeface="+mn-ea"/>
                  <a:cs typeface="+mn-cs"/>
                </a:rPr>
              </a:br>
              <a:r>
                <a:rPr lang="ko-KR" sz="1280" dirty="0">
                  <a:solidFill>
                    <a:srgbClr val="111827"/>
                  </a:solidFill>
                  <a:latin typeface="+mn-lt"/>
                  <a:ea typeface="+mn-ea"/>
                  <a:cs typeface="+mn-cs"/>
                </a:rPr>
                <a:t>GIS·클라우드 사업자·AR 장비사</a:t>
              </a:r>
            </a:p>
          </p:txBody>
        </p:sp>
      </p:grpSp>
      <p:grpSp>
        <p:nvGrpSpPr>
          <p:cNvPr id="42" name="demand"/>
          <p:cNvGrpSpPr/>
          <p:nvPr/>
        </p:nvGrpSpPr>
        <p:grpSpPr>
          <a:xfrm>
            <a:off x="533400" y="5048250"/>
            <a:ext cx="11125200" cy="671957"/>
            <a:chOff x="533400" y="5048250"/>
            <a:chExt cx="11125200" cy="671957"/>
          </a:xfrm>
        </p:grpSpPr>
        <p:sp>
          <p:nvSpPr>
            <p:cNvPr id="38" name="Rectangle 38"/>
            <p:cNvSpPr/>
            <p:nvPr/>
          </p:nvSpPr>
          <p:spPr>
            <a:xfrm>
              <a:off x="533400" y="5048250"/>
              <a:ext cx="11125200" cy="666750"/>
            </a:xfrm>
            <a:prstGeom prst="rect">
              <a:avLst/>
            </a:prstGeom>
            <a:solidFill>
              <a:srgbClr val="0B1E3C"/>
            </a:solidFill>
            <a:ln>
              <a:noFill/>
            </a:ln>
          </p:spPr>
        </p:sp>
        <p:sp>
          <p:nvSpPr>
            <p:cNvPr id="39" name="TextBox 39"/>
            <p:cNvSpPr txBox="1"/>
            <p:nvPr/>
          </p:nvSpPr>
          <p:spPr>
            <a:xfrm>
              <a:off x="756285" y="5194300"/>
              <a:ext cx="2192005"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수요 근거 · 서울시 2026년 계획</a:t>
              </a:r>
            </a:p>
          </p:txBody>
        </p:sp>
        <p:sp>
          <p:nvSpPr>
            <p:cNvPr id="40" name="TextBox 40"/>
            <p:cNvSpPr txBox="1"/>
            <p:nvPr/>
          </p:nvSpPr>
          <p:spPr>
            <a:xfrm>
              <a:off x="753618" y="5397500"/>
              <a:ext cx="543676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GPR 탐사 16,423km · 전담 인력 9명 → 19명으로 확대</a:t>
              </a:r>
            </a:p>
          </p:txBody>
        </p:sp>
        <p:sp>
          <p:nvSpPr>
            <p:cNvPr id="41" name="TextBox 41"/>
            <p:cNvSpPr txBox="1"/>
            <p:nvPr/>
          </p:nvSpPr>
          <p:spPr>
            <a:xfrm>
              <a:off x="8758428" y="5353050"/>
              <a:ext cx="2677668" cy="234696"/>
            </a:xfrm>
            <a:prstGeom prst="rect">
              <a:avLst/>
            </a:prstGeom>
            <a:noFill/>
            <a:ln>
              <a:noFill/>
            </a:ln>
          </p:spPr>
          <p:txBody>
            <a:bodyPr wrap="none" lIns="0" tIns="0" rIns="0" bIns="0" anchor="t" anchorCtr="0">
              <a:spAutoFit/>
            </a:bodyPr>
            <a:lstStyle/>
            <a:p>
              <a:pPr algn="r"/>
              <a:r>
                <a:rPr lang="ko-KR" sz="1200" dirty="0">
                  <a:solidFill>
                    <a:srgbClr val="C3CCD9"/>
                  </a:solidFill>
                  <a:latin typeface="+mn-lt"/>
                  <a:ea typeface="+mn-ea"/>
                  <a:cs typeface="+mn-cs"/>
                </a:rPr>
                <a:t>반복 탐사 수요가 이미 늘고 있습니다</a:t>
              </a:r>
            </a:p>
          </p:txBody>
        </p:sp>
      </p:grpSp>
      <p:grpSp>
        <p:nvGrpSpPr>
          <p:cNvPr id="45" name="procurement"/>
          <p:cNvGrpSpPr/>
          <p:nvPr/>
        </p:nvGrpSpPr>
        <p:grpSpPr>
          <a:xfrm>
            <a:off x="527304" y="5848350"/>
            <a:ext cx="8693948" cy="463296"/>
            <a:chOff x="527304" y="5848350"/>
            <a:chExt cx="8693948" cy="463296"/>
          </a:xfrm>
        </p:grpSpPr>
        <p:sp>
          <p:nvSpPr>
            <p:cNvPr id="43" name="TextBox 43"/>
            <p:cNvSpPr txBox="1"/>
            <p:nvPr/>
          </p:nvSpPr>
          <p:spPr>
            <a:xfrm>
              <a:off x="527304" y="5848350"/>
              <a:ext cx="8693948"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조달 접근</a:t>
              </a:r>
              <a:r>
                <a:rPr lang="ko-KR" sz="1200" dirty="0">
                  <a:solidFill>
                    <a:srgbClr val="111827"/>
                  </a:solidFill>
                  <a:latin typeface="+mn-lt"/>
                  <a:ea typeface="+mn-ea"/>
                  <a:cs typeface="+mn-cs"/>
                </a:rPr>
                <a:t xml:space="preserve"> 첫 계약은 기존 GPR 조사기관과 공동 수행해 실적과 신뢰를 확보하고, 한 위험구간 입증 후 인접 구역으로 확장</a:t>
              </a:r>
            </a:p>
          </p:txBody>
        </p:sp>
        <p:sp>
          <p:nvSpPr>
            <p:cNvPr id="44" name="TextBox 44"/>
            <p:cNvSpPr txBox="1"/>
            <p:nvPr/>
          </p:nvSpPr>
          <p:spPr>
            <a:xfrm>
              <a:off x="527304" y="6076950"/>
              <a:ext cx="5528920"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가격</a:t>
              </a:r>
              <a:r>
                <a:rPr lang="ko-KR" sz="1200" dirty="0">
                  <a:solidFill>
                    <a:srgbClr val="111827"/>
                  </a:solidFill>
                  <a:latin typeface="+mn-lt"/>
                  <a:ea typeface="+mn-ea"/>
                  <a:cs typeface="+mn-cs"/>
                </a:rPr>
                <a:t xml:space="preserve"> 일일 조사거리·인력·장비 감가·분석시간을 확인한 뒤 산정 </a:t>
              </a:r>
              <a:r>
                <a:rPr lang="ko-KR" sz="1200" dirty="0">
                  <a:solidFill>
                    <a:srgbClr val="6B7280"/>
                  </a:solidFill>
                  <a:latin typeface="+mn-lt"/>
                  <a:ea typeface="+mn-ea"/>
                  <a:cs typeface="+mn-cs"/>
                </a:rPr>
                <a:t>[실증 필요]</a:t>
              </a:r>
            </a:p>
          </p:txBody>
        </p:sp>
      </p:grpSp>
      <p:grpSp>
        <p:nvGrpSpPr>
          <p:cNvPr id="47" name="source"/>
          <p:cNvGrpSpPr/>
          <p:nvPr/>
        </p:nvGrpSpPr>
        <p:grpSpPr>
          <a:xfrm>
            <a:off x="528638" y="6381750"/>
            <a:ext cx="6897357" cy="176212"/>
            <a:chOff x="528638" y="6381750"/>
            <a:chExt cx="6897357" cy="176212"/>
          </a:xfrm>
        </p:grpSpPr>
        <p:sp>
          <p:nvSpPr>
            <p:cNvPr id="46" name="TextBox 46"/>
            <p:cNvSpPr txBox="1"/>
            <p:nvPr/>
          </p:nvSpPr>
          <p:spPr>
            <a:xfrm>
              <a:off x="528638" y="6381750"/>
              <a:ext cx="6897357"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출처: 서울시 보도자료 「지반침하 예방체계 강화」 · 지하정보는 제3자에게 판매하지 않고 계약기관 접근제어형 서비스로 제공</a:t>
              </a:r>
            </a:p>
          </p:txBody>
        </p:sp>
      </p:grpSp>
      <p:grpSp>
        <p:nvGrpSpPr>
          <p:cNvPr id="50" name="footer"/>
          <p:cNvGrpSpPr/>
          <p:nvPr/>
        </p:nvGrpSpPr>
        <p:grpSpPr>
          <a:xfrm>
            <a:off x="528638" y="6610350"/>
            <a:ext cx="11134724" cy="176212"/>
            <a:chOff x="528638" y="6610350"/>
            <a:chExt cx="11134724" cy="176212"/>
          </a:xfrm>
        </p:grpSpPr>
        <p:sp>
          <p:nvSpPr>
            <p:cNvPr id="48" name="TextBox 48"/>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6B7280"/>
                  </a:solidFill>
                  <a:latin typeface="+mn-lt"/>
                  <a:ea typeface="+mn-ea"/>
                  <a:cs typeface="+mn-cs"/>
                </a:rPr>
                <a:t>한 명이라도 살릴 수 있다면</a:t>
              </a:r>
            </a:p>
          </p:txBody>
        </p:sp>
        <p:sp>
          <p:nvSpPr>
            <p:cNvPr id="49" name="TextBox 49"/>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6B7280"/>
                  </a:solidFill>
                  <a:latin typeface="+mn-lt"/>
                  <a:ea typeface="+mn-ea"/>
                  <a:cs typeface="+mn-cs"/>
                </a:rPr>
                <a:t>11 / 12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381000" cy="228600"/>
            </a:xfrm>
            <a:prstGeom prst="rect">
              <a:avLst/>
            </a:prstGeom>
            <a:solidFill>
              <a:srgbClr val="F5B700"/>
            </a:solidFill>
            <a:ln>
              <a:noFill/>
            </a:ln>
          </p:spPr>
        </p:sp>
        <p:sp>
          <p:nvSpPr>
            <p:cNvPr id="5" name="TextBox 5"/>
            <p:cNvSpPr txBox="1"/>
            <p:nvPr/>
          </p:nvSpPr>
          <p:spPr>
            <a:xfrm>
              <a:off x="1976259" y="314325"/>
              <a:ext cx="162282" cy="191643"/>
            </a:xfrm>
            <a:prstGeom prst="rect">
              <a:avLst/>
            </a:prstGeom>
            <a:noFill/>
            <a:ln>
              <a:noFill/>
            </a:ln>
          </p:spPr>
          <p:txBody>
            <a:bodyPr wrap="none" lIns="0" tIns="0" rIns="0" bIns="0" anchor="t" anchorCtr="0">
              <a:spAutoFit/>
            </a:bodyPr>
            <a:lstStyle/>
            <a:p>
              <a:pPr algn="ctr"/>
              <a:r>
                <a:rPr lang="en-US" sz="980" b="1" dirty="0">
                  <a:solidFill>
                    <a:srgbClr val="0B1E3C"/>
                  </a:solidFill>
                  <a:latin typeface="+mn-lt"/>
                  <a:ea typeface="+mn-ea"/>
                  <a:cs typeface="+mn-cs"/>
                </a:rPr>
                <a:t>8p</a:t>
              </a:r>
            </a:p>
          </p:txBody>
        </p:sp>
        <p:sp>
          <p:nvSpPr>
            <p:cNvPr id="6" name="TextBox 6"/>
            <p:cNvSpPr txBox="1"/>
            <p:nvPr/>
          </p:nvSpPr>
          <p:spPr>
            <a:xfrm>
              <a:off x="2356866" y="301625"/>
              <a:ext cx="1410043"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기존 문제와 개선 결과</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160" y="774700"/>
            <a:ext cx="9806711" cy="586740"/>
            <a:chOff x="518160" y="774700"/>
            <a:chExt cx="9806711" cy="586740"/>
          </a:xfrm>
        </p:grpSpPr>
        <p:sp>
          <p:nvSpPr>
            <p:cNvPr id="9" name="TextBox 9"/>
            <p:cNvSpPr txBox="1"/>
            <p:nvPr/>
          </p:nvSpPr>
          <p:spPr>
            <a:xfrm>
              <a:off x="518160" y="774700"/>
              <a:ext cx="980671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측정 결과가 다음 행동으로 이어지는 지하안전 관리체계</a:t>
              </a:r>
            </a:p>
          </p:txBody>
        </p:sp>
      </p:grpSp>
      <p:grpSp>
        <p:nvGrpSpPr>
          <p:cNvPr id="53" name="change-table"/>
          <p:cNvGrpSpPr/>
          <p:nvPr/>
        </p:nvGrpSpPr>
        <p:grpSpPr>
          <a:xfrm>
            <a:off x="526923" y="1441450"/>
            <a:ext cx="11131677" cy="2809367"/>
            <a:chOff x="526923" y="1441450"/>
            <a:chExt cx="11131677" cy="2809367"/>
          </a:xfrm>
        </p:grpSpPr>
        <p:grpSp>
          <p:nvGrpSpPr>
            <p:cNvPr id="14" name="Group 14"/>
            <p:cNvGrpSpPr/>
            <p:nvPr/>
          </p:nvGrpSpPr>
          <p:grpSpPr>
            <a:xfrm>
              <a:off x="527685" y="1441450"/>
              <a:ext cx="9200939" cy="220028"/>
              <a:chOff x="527685" y="1441450"/>
              <a:chExt cx="9200939" cy="220028"/>
            </a:xfrm>
          </p:grpSpPr>
          <p:sp>
            <p:nvSpPr>
              <p:cNvPr id="11" name="TextBox 11"/>
              <p:cNvSpPr txBox="1"/>
              <p:nvPr/>
            </p:nvSpPr>
            <p:spPr>
              <a:xfrm>
                <a:off x="527685" y="1441450"/>
                <a:ext cx="662022"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기존 문제</a:t>
                </a:r>
              </a:p>
            </p:txBody>
          </p:sp>
          <p:sp>
            <p:nvSpPr>
              <p:cNvPr id="12" name="TextBox 12"/>
              <p:cNvSpPr txBox="1"/>
              <p:nvPr/>
            </p:nvSpPr>
            <p:spPr>
              <a:xfrm>
                <a:off x="4375785" y="1441450"/>
                <a:ext cx="1859930"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GroundWatch의 해결 방식</a:t>
                </a:r>
              </a:p>
            </p:txBody>
          </p:sp>
          <p:sp>
            <p:nvSpPr>
              <p:cNvPr id="13" name="TextBox 13"/>
              <p:cNvSpPr txBox="1"/>
              <p:nvPr/>
            </p:nvSpPr>
            <p:spPr>
              <a:xfrm>
                <a:off x="8566785" y="1441450"/>
                <a:ext cx="1161839" cy="220028"/>
              </a:xfrm>
              <a:prstGeom prst="rect">
                <a:avLst/>
              </a:prstGeom>
              <a:noFill/>
              <a:ln>
                <a:noFill/>
              </a:ln>
            </p:spPr>
            <p:txBody>
              <a:bodyPr wrap="none" lIns="0" tIns="0" rIns="0" bIns="0" anchor="t" anchorCtr="0">
                <a:spAutoFit/>
              </a:bodyPr>
              <a:lstStyle/>
              <a:p>
                <a:pPr algn="l"/>
                <a:r>
                  <a:rPr lang="ko-KR" sz="1120" b="1" dirty="0">
                    <a:solidFill>
                      <a:srgbClr val="6B7280"/>
                    </a:solidFill>
                    <a:latin typeface="+mn-lt"/>
                    <a:ea typeface="+mn-ea"/>
                    <a:cs typeface="+mn-cs"/>
                  </a:rPr>
                  <a:t>확인할 개선 지표</a:t>
                </a:r>
              </a:p>
            </p:txBody>
          </p:sp>
        </p:grpSp>
        <p:sp>
          <p:nvSpPr>
            <p:cNvPr id="15" name="Line 15"/>
            <p:cNvSpPr/>
            <p:nvPr/>
          </p:nvSpPr>
          <p:spPr>
            <a:xfrm>
              <a:off x="533400" y="1695450"/>
              <a:ext cx="11125200" cy="9525"/>
            </a:xfrm>
            <a:custGeom>
              <a:avLst/>
              <a:gdLst/>
              <a:ahLst/>
              <a:cxnLst/>
              <a:rect l="l" t="t" r="r" b="b"/>
              <a:pathLst>
                <a:path w="11125200" h="9525">
                  <a:moveTo>
                    <a:pt x="0" y="0"/>
                  </a:moveTo>
                  <a:lnTo>
                    <a:pt x="11125200" y="0"/>
                  </a:lnTo>
                </a:path>
              </a:pathLst>
            </a:custGeom>
            <a:noFill/>
            <a:ln w="19050">
              <a:solidFill>
                <a:srgbClr val="0B1E3C"/>
              </a:solidFill>
            </a:ln>
          </p:spPr>
        </p:sp>
        <p:grpSp>
          <p:nvGrpSpPr>
            <p:cNvPr id="39" name="Group 39"/>
            <p:cNvGrpSpPr/>
            <p:nvPr/>
          </p:nvGrpSpPr>
          <p:grpSpPr>
            <a:xfrm>
              <a:off x="526923" y="1809750"/>
              <a:ext cx="11131677" cy="2441067"/>
              <a:chOff x="526923" y="1809750"/>
              <a:chExt cx="11131677" cy="2441067"/>
            </a:xfrm>
          </p:grpSpPr>
          <p:sp>
            <p:nvSpPr>
              <p:cNvPr id="16" name="TextBox 16"/>
              <p:cNvSpPr txBox="1"/>
              <p:nvPr/>
            </p:nvSpPr>
            <p:spPr>
              <a:xfrm>
                <a:off x="526923" y="1809750"/>
                <a:ext cx="263212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조사 결과가 시점별 파일로 남는다</a:t>
                </a:r>
              </a:p>
            </p:txBody>
          </p:sp>
          <p:sp>
            <p:nvSpPr>
              <p:cNvPr id="17" name="TextBox 17"/>
              <p:cNvSpPr txBox="1"/>
              <p:nvPr/>
            </p:nvSpPr>
            <p:spPr>
              <a:xfrm>
                <a:off x="4375023" y="1809750"/>
                <a:ext cx="348550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경로 데이터를 위치·시간 기준으로 누적</a:t>
                </a:r>
              </a:p>
            </p:txBody>
          </p:sp>
          <p:sp>
            <p:nvSpPr>
              <p:cNvPr id="18" name="TextBox 18"/>
              <p:cNvSpPr txBox="1"/>
              <p:nvPr/>
            </p:nvSpPr>
            <p:spPr>
              <a:xfrm>
                <a:off x="8566023" y="1809750"/>
                <a:ext cx="2459807"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시점별 비교가 가능한 도로 비율</a:t>
                </a:r>
              </a:p>
            </p:txBody>
          </p:sp>
          <p:sp>
            <p:nvSpPr>
              <p:cNvPr id="19" name="Line 19"/>
              <p:cNvSpPr/>
              <p:nvPr/>
            </p:nvSpPr>
            <p:spPr>
              <a:xfrm>
                <a:off x="533400" y="21336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0" name="TextBox 20"/>
              <p:cNvSpPr txBox="1"/>
              <p:nvPr/>
            </p:nvSpPr>
            <p:spPr>
              <a:xfrm>
                <a:off x="526923" y="2247900"/>
                <a:ext cx="28561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변화 구간을 사람이 다시 찾아야 한다</a:t>
                </a:r>
              </a:p>
            </p:txBody>
          </p:sp>
          <p:sp>
            <p:nvSpPr>
              <p:cNvPr id="21" name="TextBox 21"/>
              <p:cNvSpPr txBox="1"/>
              <p:nvPr/>
            </p:nvSpPr>
            <p:spPr>
              <a:xfrm>
                <a:off x="4375023" y="2247900"/>
                <a:ext cx="295874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AI가 변화 후보를 선별, 전문가가 승인</a:t>
                </a:r>
              </a:p>
            </p:txBody>
          </p:sp>
          <p:sp>
            <p:nvSpPr>
              <p:cNvPr id="22" name="TextBox 22"/>
              <p:cNvSpPr txBox="1"/>
              <p:nvPr/>
            </p:nvSpPr>
            <p:spPr>
              <a:xfrm>
                <a:off x="8566023" y="2247900"/>
                <a:ext cx="2278878"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전문가 검토시간·후보 적중률</a:t>
                </a:r>
              </a:p>
            </p:txBody>
          </p:sp>
          <p:sp>
            <p:nvSpPr>
              <p:cNvPr id="23" name="Line 23"/>
              <p:cNvSpPr/>
              <p:nvPr/>
            </p:nvSpPr>
            <p:spPr>
              <a:xfrm>
                <a:off x="533400" y="25717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4" name="TextBox 24"/>
              <p:cNvSpPr txBox="1"/>
              <p:nvPr/>
            </p:nvSpPr>
            <p:spPr>
              <a:xfrm>
                <a:off x="526923" y="2686050"/>
                <a:ext cx="297674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다음 조사 우선순위가 경험에 의존한다</a:t>
                </a:r>
              </a:p>
            </p:txBody>
          </p:sp>
          <p:sp>
            <p:nvSpPr>
              <p:cNvPr id="25" name="TextBox 25"/>
              <p:cNvSpPr txBox="1"/>
              <p:nvPr/>
            </p:nvSpPr>
            <p:spPr>
              <a:xfrm>
                <a:off x="4375023" y="2686050"/>
                <a:ext cx="330414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변화량·신뢰도·주변 위험요인을 함께 표시</a:t>
                </a:r>
              </a:p>
            </p:txBody>
          </p:sp>
          <p:sp>
            <p:nvSpPr>
              <p:cNvPr id="26" name="TextBox 26"/>
              <p:cNvSpPr txBox="1"/>
              <p:nvPr/>
            </p:nvSpPr>
            <p:spPr>
              <a:xfrm>
                <a:off x="8566023" y="2686050"/>
                <a:ext cx="2235799"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고위험 구간 재확인 소요시간</a:t>
                </a:r>
              </a:p>
            </p:txBody>
          </p:sp>
          <p:sp>
            <p:nvSpPr>
              <p:cNvPr id="27" name="Line 27"/>
              <p:cNvSpPr/>
              <p:nvPr/>
            </p:nvSpPr>
            <p:spPr>
              <a:xfrm>
                <a:off x="533400" y="30099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8" name="TextBox 28"/>
              <p:cNvSpPr txBox="1"/>
              <p:nvPr/>
            </p:nvSpPr>
            <p:spPr>
              <a:xfrm>
                <a:off x="526923" y="3124200"/>
                <a:ext cx="302844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현장에서 과거 측정 위치를 찾기 어렵다</a:t>
                </a:r>
              </a:p>
            </p:txBody>
          </p:sp>
          <p:sp>
            <p:nvSpPr>
              <p:cNvPr id="29" name="TextBox 29"/>
              <p:cNvSpPr txBox="1"/>
              <p:nvPr/>
            </p:nvSpPr>
            <p:spPr>
              <a:xfrm>
                <a:off x="4375023" y="3124200"/>
                <a:ext cx="328288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RTK와 현장 기준점으로 AR 검색 범위 표시</a:t>
                </a:r>
              </a:p>
            </p:txBody>
          </p:sp>
          <p:sp>
            <p:nvSpPr>
              <p:cNvPr id="30" name="TextBox 30"/>
              <p:cNvSpPr txBox="1"/>
              <p:nvPr/>
            </p:nvSpPr>
            <p:spPr>
              <a:xfrm>
                <a:off x="8566023" y="3124200"/>
                <a:ext cx="1934251"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현장 위치 오차·탐색시간</a:t>
                </a:r>
              </a:p>
            </p:txBody>
          </p:sp>
          <p:sp>
            <p:nvSpPr>
              <p:cNvPr id="31" name="Line 31"/>
              <p:cNvSpPr/>
              <p:nvPr/>
            </p:nvSpPr>
            <p:spPr>
              <a:xfrm>
                <a:off x="533400" y="34480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2" name="TextBox 32"/>
              <p:cNvSpPr txBox="1"/>
              <p:nvPr/>
            </p:nvSpPr>
            <p:spPr>
              <a:xfrm>
                <a:off x="526923" y="3562350"/>
                <a:ext cx="2580427"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넓은 탐사와 정밀조사가 분리된다</a:t>
                </a:r>
              </a:p>
            </p:txBody>
          </p:sp>
          <p:sp>
            <p:nvSpPr>
              <p:cNvPr id="33" name="TextBox 33"/>
              <p:cNvSpPr txBox="1"/>
              <p:nvPr/>
            </p:nvSpPr>
            <p:spPr>
              <a:xfrm>
                <a:off x="4375023" y="3562350"/>
                <a:ext cx="3793075"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차량형 GPR 결과를 수동 GPR 작업으로 바로 전환</a:t>
                </a:r>
              </a:p>
            </p:txBody>
          </p:sp>
          <p:sp>
            <p:nvSpPr>
              <p:cNvPr id="34" name="TextBox 34"/>
              <p:cNvSpPr txBox="1"/>
              <p:nvPr/>
            </p:nvSpPr>
            <p:spPr>
              <a:xfrm>
                <a:off x="8566023" y="3562350"/>
                <a:ext cx="2106564"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재방문 횟수·업무 인계시간</a:t>
                </a:r>
              </a:p>
            </p:txBody>
          </p:sp>
          <p:sp>
            <p:nvSpPr>
              <p:cNvPr id="35" name="Line 35"/>
              <p:cNvSpPr/>
              <p:nvPr/>
            </p:nvSpPr>
            <p:spPr>
              <a:xfrm>
                <a:off x="533400" y="3886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6" name="TextBox 36"/>
              <p:cNvSpPr txBox="1"/>
              <p:nvPr/>
            </p:nvSpPr>
            <p:spPr>
              <a:xfrm>
                <a:off x="526923" y="4000500"/>
                <a:ext cx="28561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복구 결과가 다음 조사에 덜 반영된다</a:t>
                </a:r>
              </a:p>
            </p:txBody>
          </p:sp>
          <p:sp>
            <p:nvSpPr>
              <p:cNvPr id="37" name="TextBox 37"/>
              <p:cNvSpPr txBox="1"/>
              <p:nvPr/>
            </p:nvSpPr>
            <p:spPr>
              <a:xfrm>
                <a:off x="4375023" y="4000500"/>
                <a:ext cx="3012682"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확인·보수 이력을 4D 지도에 다시 저장</a:t>
                </a:r>
              </a:p>
            </p:txBody>
          </p:sp>
          <p:sp>
            <p:nvSpPr>
              <p:cNvPr id="38" name="TextBox 38"/>
              <p:cNvSpPr txBox="1"/>
              <p:nvPr/>
            </p:nvSpPr>
            <p:spPr>
              <a:xfrm>
                <a:off x="8566023" y="4000500"/>
                <a:ext cx="1839478"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보수구간 재검증 완료율</a:t>
                </a:r>
              </a:p>
            </p:txBody>
          </p:sp>
        </p:grpSp>
        <p:grpSp>
          <p:nvGrpSpPr>
            <p:cNvPr id="52" name="Group 52"/>
            <p:cNvGrpSpPr/>
            <p:nvPr/>
          </p:nvGrpSpPr>
          <p:grpSpPr>
            <a:xfrm>
              <a:off x="3943350" y="1905000"/>
              <a:ext cx="4514850" cy="2190751"/>
              <a:chOff x="3943350" y="1905000"/>
              <a:chExt cx="4514850" cy="2190751"/>
            </a:xfrm>
          </p:grpSpPr>
          <p:sp>
            <p:nvSpPr>
              <p:cNvPr id="40" name="Line 40"/>
              <p:cNvSpPr/>
              <p:nvPr/>
            </p:nvSpPr>
            <p:spPr>
              <a:xfrm>
                <a:off x="3943350" y="1905000"/>
                <a:ext cx="285750" cy="1"/>
              </a:xfrm>
              <a:prstGeom prst="line">
                <a:avLst/>
              </a:prstGeom>
              <a:noFill/>
              <a:ln w="14288">
                <a:solidFill>
                  <a:srgbClr val="9AA3AF"/>
                </a:solidFill>
                <a:tailEnd type="triangle" w="lg" len="lg"/>
              </a:ln>
            </p:spPr>
          </p:sp>
          <p:sp>
            <p:nvSpPr>
              <p:cNvPr id="41" name="Line 41"/>
              <p:cNvSpPr/>
              <p:nvPr/>
            </p:nvSpPr>
            <p:spPr>
              <a:xfrm>
                <a:off x="3943350" y="2343150"/>
                <a:ext cx="285750" cy="1"/>
              </a:xfrm>
              <a:prstGeom prst="line">
                <a:avLst/>
              </a:prstGeom>
              <a:noFill/>
              <a:ln w="14288">
                <a:solidFill>
                  <a:srgbClr val="9AA3AF"/>
                </a:solidFill>
                <a:tailEnd type="triangle" w="lg" len="lg"/>
              </a:ln>
            </p:spPr>
          </p:sp>
          <p:sp>
            <p:nvSpPr>
              <p:cNvPr id="42" name="Line 42"/>
              <p:cNvSpPr/>
              <p:nvPr/>
            </p:nvSpPr>
            <p:spPr>
              <a:xfrm>
                <a:off x="3943350" y="2781300"/>
                <a:ext cx="285750" cy="1"/>
              </a:xfrm>
              <a:prstGeom prst="line">
                <a:avLst/>
              </a:prstGeom>
              <a:noFill/>
              <a:ln w="14288">
                <a:solidFill>
                  <a:srgbClr val="9AA3AF"/>
                </a:solidFill>
                <a:tailEnd type="triangle" w="lg" len="lg"/>
              </a:ln>
            </p:spPr>
          </p:sp>
          <p:sp>
            <p:nvSpPr>
              <p:cNvPr id="43" name="Line 43"/>
              <p:cNvSpPr/>
              <p:nvPr/>
            </p:nvSpPr>
            <p:spPr>
              <a:xfrm>
                <a:off x="3943350" y="3219450"/>
                <a:ext cx="285750" cy="1"/>
              </a:xfrm>
              <a:prstGeom prst="line">
                <a:avLst/>
              </a:prstGeom>
              <a:noFill/>
              <a:ln w="14288">
                <a:solidFill>
                  <a:srgbClr val="9AA3AF"/>
                </a:solidFill>
                <a:tailEnd type="triangle" w="lg" len="lg"/>
              </a:ln>
            </p:spPr>
          </p:sp>
          <p:sp>
            <p:nvSpPr>
              <p:cNvPr id="44" name="Line 44"/>
              <p:cNvSpPr/>
              <p:nvPr/>
            </p:nvSpPr>
            <p:spPr>
              <a:xfrm>
                <a:off x="3943350" y="3657600"/>
                <a:ext cx="285750" cy="1"/>
              </a:xfrm>
              <a:prstGeom prst="line">
                <a:avLst/>
              </a:prstGeom>
              <a:noFill/>
              <a:ln w="14288">
                <a:solidFill>
                  <a:srgbClr val="9AA3AF"/>
                </a:solidFill>
                <a:tailEnd type="triangle" w="lg" len="lg"/>
              </a:ln>
            </p:spPr>
          </p:sp>
          <p:sp>
            <p:nvSpPr>
              <p:cNvPr id="45" name="Line 45"/>
              <p:cNvSpPr/>
              <p:nvPr/>
            </p:nvSpPr>
            <p:spPr>
              <a:xfrm>
                <a:off x="3943350" y="4095750"/>
                <a:ext cx="285750" cy="1"/>
              </a:xfrm>
              <a:prstGeom prst="line">
                <a:avLst/>
              </a:prstGeom>
              <a:noFill/>
              <a:ln w="14288">
                <a:solidFill>
                  <a:srgbClr val="9AA3AF"/>
                </a:solidFill>
                <a:tailEnd type="triangle" w="lg" len="lg"/>
              </a:ln>
            </p:spPr>
          </p:sp>
          <p:sp>
            <p:nvSpPr>
              <p:cNvPr id="46" name="Line 46"/>
              <p:cNvSpPr/>
              <p:nvPr/>
            </p:nvSpPr>
            <p:spPr>
              <a:xfrm>
                <a:off x="8172450" y="1905000"/>
                <a:ext cx="285750" cy="1"/>
              </a:xfrm>
              <a:prstGeom prst="line">
                <a:avLst/>
              </a:prstGeom>
              <a:noFill/>
              <a:ln w="14288">
                <a:solidFill>
                  <a:srgbClr val="9AA3AF"/>
                </a:solidFill>
                <a:tailEnd type="triangle" w="lg" len="lg"/>
              </a:ln>
            </p:spPr>
          </p:sp>
          <p:sp>
            <p:nvSpPr>
              <p:cNvPr id="47" name="Line 47"/>
              <p:cNvSpPr/>
              <p:nvPr/>
            </p:nvSpPr>
            <p:spPr>
              <a:xfrm>
                <a:off x="8172450" y="2343150"/>
                <a:ext cx="285750" cy="1"/>
              </a:xfrm>
              <a:prstGeom prst="line">
                <a:avLst/>
              </a:prstGeom>
              <a:noFill/>
              <a:ln w="14288">
                <a:solidFill>
                  <a:srgbClr val="9AA3AF"/>
                </a:solidFill>
                <a:tailEnd type="triangle" w="lg" len="lg"/>
              </a:ln>
            </p:spPr>
          </p:sp>
          <p:sp>
            <p:nvSpPr>
              <p:cNvPr id="48" name="Line 48"/>
              <p:cNvSpPr/>
              <p:nvPr/>
            </p:nvSpPr>
            <p:spPr>
              <a:xfrm>
                <a:off x="8172450" y="2781300"/>
                <a:ext cx="285750" cy="1"/>
              </a:xfrm>
              <a:prstGeom prst="line">
                <a:avLst/>
              </a:prstGeom>
              <a:noFill/>
              <a:ln w="14288">
                <a:solidFill>
                  <a:srgbClr val="9AA3AF"/>
                </a:solidFill>
                <a:tailEnd type="triangle" w="lg" len="lg"/>
              </a:ln>
            </p:spPr>
          </p:sp>
          <p:sp>
            <p:nvSpPr>
              <p:cNvPr id="49" name="Line 49"/>
              <p:cNvSpPr/>
              <p:nvPr/>
            </p:nvSpPr>
            <p:spPr>
              <a:xfrm>
                <a:off x="8172450" y="3219450"/>
                <a:ext cx="285750" cy="1"/>
              </a:xfrm>
              <a:prstGeom prst="line">
                <a:avLst/>
              </a:prstGeom>
              <a:noFill/>
              <a:ln w="14288">
                <a:solidFill>
                  <a:srgbClr val="9AA3AF"/>
                </a:solidFill>
                <a:tailEnd type="triangle" w="lg" len="lg"/>
              </a:ln>
            </p:spPr>
          </p:sp>
          <p:sp>
            <p:nvSpPr>
              <p:cNvPr id="50" name="Line 50"/>
              <p:cNvSpPr/>
              <p:nvPr/>
            </p:nvSpPr>
            <p:spPr>
              <a:xfrm>
                <a:off x="8172450" y="3657600"/>
                <a:ext cx="285750" cy="1"/>
              </a:xfrm>
              <a:prstGeom prst="line">
                <a:avLst/>
              </a:prstGeom>
              <a:noFill/>
              <a:ln w="14288">
                <a:solidFill>
                  <a:srgbClr val="9AA3AF"/>
                </a:solidFill>
                <a:tailEnd type="triangle" w="lg" len="lg"/>
              </a:ln>
            </p:spPr>
          </p:sp>
          <p:sp>
            <p:nvSpPr>
              <p:cNvPr id="51" name="Line 51"/>
              <p:cNvSpPr/>
              <p:nvPr/>
            </p:nvSpPr>
            <p:spPr>
              <a:xfrm>
                <a:off x="8172450" y="4095750"/>
                <a:ext cx="285750" cy="1"/>
              </a:xfrm>
              <a:prstGeom prst="line">
                <a:avLst/>
              </a:prstGeom>
              <a:noFill/>
              <a:ln w="14288">
                <a:solidFill>
                  <a:srgbClr val="9AA3AF"/>
                </a:solidFill>
                <a:tailEnd type="triangle" w="lg" len="lg"/>
              </a:ln>
            </p:spPr>
          </p:sp>
        </p:grpSp>
      </p:grpSp>
      <p:grpSp>
        <p:nvGrpSpPr>
          <p:cNvPr id="61" name="closing-band"/>
          <p:cNvGrpSpPr/>
          <p:nvPr/>
        </p:nvGrpSpPr>
        <p:grpSpPr>
          <a:xfrm>
            <a:off x="0" y="4572000"/>
            <a:ext cx="12192000" cy="2286000"/>
            <a:chOff x="0" y="4572000"/>
            <a:chExt cx="12192000" cy="2286000"/>
          </a:xfrm>
        </p:grpSpPr>
        <p:sp>
          <p:nvSpPr>
            <p:cNvPr id="54" name="Rectangle 54"/>
            <p:cNvSpPr/>
            <p:nvPr/>
          </p:nvSpPr>
          <p:spPr>
            <a:xfrm>
              <a:off x="0" y="4572000"/>
              <a:ext cx="12192000" cy="2286000"/>
            </a:xfrm>
            <a:prstGeom prst="rect">
              <a:avLst/>
            </a:prstGeom>
            <a:solidFill>
              <a:srgbClr val="0B1E3C"/>
            </a:solidFill>
            <a:ln>
              <a:noFill/>
            </a:ln>
          </p:spPr>
        </p:sp>
        <p:pic>
          <p:nvPicPr>
            <p:cNvPr id="55" name="Image 55"/>
            <p:cNvPicPr>
              <a:picLocks noChangeAspect="1"/>
            </p:cNvPicPr>
            <p:nvPr/>
          </p:nvPicPr>
          <p:blipFill>
            <a:blip r:embed="rId2"/>
            <a:srcRect l="0" t="15384" r="0" b="15385"/>
            <a:stretch>
              <a:fillRect/>
            </a:stretch>
          </p:blipFill>
          <p:spPr>
            <a:xfrm>
              <a:off x="7239000" y="4572000"/>
              <a:ext cx="4953000" cy="2286000"/>
            </a:xfrm>
            <a:prstGeom prst="rect">
              <a:avLst/>
            </a:prstGeom>
          </p:spPr>
        </p:pic>
        <p:sp>
          <p:nvSpPr>
            <p:cNvPr id="56" name="Rectangle 56"/>
            <p:cNvSpPr/>
            <p:nvPr/>
          </p:nvSpPr>
          <p:spPr>
            <a:xfrm>
              <a:off x="7239000" y="4572000"/>
              <a:ext cx="1905000" cy="2286000"/>
            </a:xfrm>
            <a:prstGeom prst="rect">
              <a:avLst/>
            </a:prstGeom>
            <a:gradFill>
              <a:gsLst>
                <a:gs pos="0">
                  <a:srgbClr val="0B1E3C"/>
                </a:gs>
                <a:gs pos="100000">
                  <a:srgbClr val="0B1E3C">
                    <a:alpha val="0"/>
                  </a:srgbClr>
                </a:gs>
              </a:gsLst>
              <a:lin ang="0" scaled="1"/>
            </a:gradFill>
            <a:ln>
              <a:noFill/>
            </a:ln>
          </p:spPr>
        </p:sp>
        <p:sp>
          <p:nvSpPr>
            <p:cNvPr id="57" name="TextBox 57"/>
            <p:cNvSpPr txBox="1"/>
            <p:nvPr/>
          </p:nvSpPr>
          <p:spPr>
            <a:xfrm>
              <a:off x="526923" y="4800600"/>
              <a:ext cx="4499610" cy="497967"/>
            </a:xfrm>
            <a:prstGeom prst="rect">
              <a:avLst/>
            </a:prstGeom>
            <a:noFill/>
            <a:ln>
              <a:noFill/>
            </a:ln>
          </p:spPr>
          <p:txBody>
            <a:bodyPr wrap="none" lIns="0" tIns="0" rIns="0" bIns="0" anchor="t" anchorCtr="0">
              <a:spAutoFit/>
            </a:bodyPr>
            <a:lstStyle/>
            <a:p>
              <a:pPr algn="l">
                <a:lnSpc>
                  <a:spcPts val="1950"/>
                </a:lnSpc>
              </a:pPr>
              <a:r>
                <a:rPr lang="ko-KR" sz="1280" dirty="0">
                  <a:solidFill>
                    <a:srgbClr val="C3CCD9"/>
                  </a:solidFill>
                  <a:latin typeface="+mn-lt"/>
                  <a:ea typeface="+mn-ea"/>
                  <a:cs typeface="+mn-cs"/>
                </a:rPr>
                <a:t>GroundWatch의 가치는 지도를 만드는 데서 끝나지 않습니다.</a:t>
              </a:r>
              <a:br>
                <a:rPr lang="ko-KR" sz="1280" dirty="0">
                  <a:solidFill>
                    <a:srgbClr val="C3CCD9"/>
                  </a:solidFill>
                  <a:latin typeface="+mn-lt"/>
                  <a:ea typeface="+mn-ea"/>
                  <a:cs typeface="+mn-cs"/>
                </a:rPr>
              </a:br>
              <a:r>
                <a:rPr lang="ko-KR" sz="1280" dirty="0">
                  <a:solidFill>
                    <a:srgbClr val="C3CCD9"/>
                  </a:solidFill>
                  <a:latin typeface="+mn-lt"/>
                  <a:ea typeface="+mn-ea"/>
                  <a:cs typeface="+mn-cs"/>
                </a:rPr>
                <a:t>한 번의 측정을 다음 판단과 현장 행동으로 연결합니다.</a:t>
              </a:r>
            </a:p>
          </p:txBody>
        </p:sp>
        <p:sp>
          <p:nvSpPr>
            <p:cNvPr id="58" name="Rectangle 58"/>
            <p:cNvSpPr/>
            <p:nvPr/>
          </p:nvSpPr>
          <p:spPr>
            <a:xfrm>
              <a:off x="533400" y="5448300"/>
              <a:ext cx="457200" cy="28575"/>
            </a:xfrm>
            <a:prstGeom prst="rect">
              <a:avLst/>
            </a:prstGeom>
            <a:solidFill>
              <a:srgbClr val="F5B700"/>
            </a:solidFill>
            <a:ln>
              <a:noFill/>
            </a:ln>
          </p:spPr>
        </p:sp>
        <p:sp>
          <p:nvSpPr>
            <p:cNvPr id="59" name="TextBox 59"/>
            <p:cNvSpPr txBox="1"/>
            <p:nvPr/>
          </p:nvSpPr>
          <p:spPr>
            <a:xfrm>
              <a:off x="520446" y="5594350"/>
              <a:ext cx="4507182" cy="936879"/>
            </a:xfrm>
            <a:prstGeom prst="rect">
              <a:avLst/>
            </a:prstGeom>
            <a:noFill/>
            <a:ln>
              <a:noFill/>
            </a:ln>
          </p:spPr>
          <p:txBody>
            <a:bodyPr wrap="none" lIns="0" tIns="0" rIns="0" bIns="0" anchor="t" anchorCtr="0">
              <a:spAutoFit/>
            </a:bodyPr>
            <a:lstStyle/>
            <a:p>
              <a:pPr algn="l">
                <a:lnSpc>
                  <a:spcPts val="3450"/>
                </a:lnSpc>
              </a:pPr>
              <a:r>
                <a:rPr lang="ko-KR" sz="2550" b="1" dirty="0">
                  <a:solidFill>
                    <a:srgbClr val="FFFFFF"/>
                  </a:solidFill>
                  <a:latin typeface="+mn-lt"/>
                  <a:ea typeface="+mn-ea"/>
                  <a:cs typeface="+mn-cs"/>
                </a:rPr>
                <a:t>한 번의 조기 발견이,</a:t>
              </a:r>
              <a:br>
                <a:rPr lang="ko-KR" sz="2550" b="1" dirty="0">
                  <a:solidFill>
                    <a:srgbClr val="FFFFFF"/>
                  </a:solidFill>
                  <a:latin typeface="+mn-lt"/>
                  <a:ea typeface="+mn-ea"/>
                  <a:cs typeface="+mn-cs"/>
                </a:rPr>
              </a:br>
              <a:r>
                <a:rPr lang="ko-KR" sz="2550" b="1" dirty="0">
                  <a:solidFill>
                    <a:srgbClr val="FFFFFF"/>
                  </a:solidFill>
                  <a:latin typeface="+mn-lt"/>
                  <a:ea typeface="+mn-ea"/>
                  <a:cs typeface="+mn-cs"/>
                </a:rPr>
                <a:t>한 사람의 무사 귀가가 되도록.</a:t>
              </a:r>
            </a:p>
          </p:txBody>
        </p:sp>
        <p:sp>
          <p:nvSpPr>
            <p:cNvPr id="60" name="TextBox 60"/>
            <p:cNvSpPr txBox="1"/>
            <p:nvPr/>
          </p:nvSpPr>
          <p:spPr>
            <a:xfrm>
              <a:off x="9093871" y="6591300"/>
              <a:ext cx="2645882"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TEAM 한 명이라도 살릴 수 있다면 · 12 / 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3">
  <a:themeElements>
    <a:clrScheme name="deck_v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3">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3">
  <a:themeElements>
    <a:clrScheme name="deck_v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3">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2026-10-18T17:08:48Z</dcterms:created>
  <dcterms:modified xsi:type="dcterms:W3CDTF">2026-10-18T17:08:48Z</dcterms:modified>
  <cp:category/>
  <cp:contentStatus/>
</cp:coreProperties>
</file>