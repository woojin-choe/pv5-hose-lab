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1장 / 원본 PDF 1장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공모전 일반 부문: https://www.kiapbvidea.com/page5</a:t>
            </a:r>
          </a:p>
          <a:p>
            <a:r>
              <a:t>일반 부문 지원·차량 대여는 별도 선정·협의 전제입니다. 협력·계약은 미확정입니다.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2장 / 원본 PDF 8장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공모전 일반 부문: https://www.kiapbvidea.com/page5</a:t>
            </a:r>
          </a:p>
          <a:p>
            <a:r>
              <a:t>일반 부문 지원·차량 대여는 별도 선정·협의 전제입니다. 협력·계약은 미확정입니다.</a:t>
            </a:r>
          </a:p>
          <a:p>
            <a:endParaRPr/>
          </a:p>
          <a:p>
            <a:r>
              <a:t>2차 수정본 2장 / 원본 PDF 8장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공모전 일반 부문: https://www.kiapbvidea.com/page5</a:t>
            </a:r>
          </a:p>
          <a:p>
            <a:r>
              <a:t>일반 부문 지원·차량 대여는 별도 선정·협의 전제입니다. 협력·계약은 미확정입니다.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2차 수정본 2장 / 원본 PDF 8장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공모전 일반 부문: https://www.kiapbvidea.com/page5</a:t>
            </a:r>
          </a:p>
          <a:p>
            <a:r>
              <a:t>일반 부문 지원·차량 대여는 별도 선정·협의 전제입니다. 협력·계약은 미확정입니다.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3장 / 원본 PDF 2장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수정본 3장 / 원본 PDF 2장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4장 / 원본 PDF 3장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수정본 4장 / 원본 PDF 3장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5장 / 원본 PDF 4장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수정본 5장 / 원본 PDF 4장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6장 / 원본 PDF 5장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수정본 6장 / 원본 PDF 5장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7장 / 원본 PDF 7장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수정본 7장 / 원본 PDF 7장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8장 / 원본 PDF 9장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endParaRPr/>
          </a:p>
          <a:p>
            <a:r>
              <a:t>2차 수정본 8장 / 원본 PDF 9장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2차 수정본 8장 / 원본 PDF 9장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9장 / 원본 PDF 10장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r>
              <a:t>시뮬레이션 원본 미제공. 18→20cm와 10cm 성장의 실험 조건 불일치. 2.4배의 분모·오탐 요인 목록·반복 횟수·코드·데이터를 확인해야 합니다. 그림은 검증되지 않은 설명용 결과입니다.</a:t>
            </a:r>
          </a:p>
          <a:p>
            <a:endParaRPr/>
          </a:p>
          <a:p>
            <a:r>
              <a:t>2차 수정본 9장 / 원본 PDF 10장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r>
              <a:t>시뮬레이션 원본 미제공. 18→20cm와 10cm 성장의 실험 조건 불일치. 2.4배의 분모·오탐 요인 목록·반복 횟수·코드·데이터를 확인해야 합니다. 그림은 검증되지 않은 설명용 결과입니다.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2차 수정본 9장 / 원본 PDF 10장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r>
              <a:t>시뮬레이션 원본 미제공. 18→20cm와 10cm 성장의 실험 조건 불일치. 2.4배의 분모·오탐 요인 목록·반복 횟수·코드·데이터를 확인해야 합니다. 그림은 검증되지 않은 설명용 결과입니다.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10장 / 원본 PDF 11장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수정본 10장 / 원본 PDF 11장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r>
              <a:t>제안 업무 절차: AI 후보 선별, 조사 전문가의 원시자료·측정조건 검토, 승인 지점 재측정, 도로관리기관 전달 및 정밀조사·안전조치 판단 요청, 관계기관 승인·안전조치 후 정밀조사·보수, 결과 기록과 다음 회차 반영. 기관별 권한·책임은 협의 필요. 기록: 지점ID·위치·측정일·검토상태·현장확인결과·후속조치상태. AR은 보조 안내.</a:t>
            </a:r>
          </a:p>
          <a:p>
            <a:endParaRPr/>
          </a:p>
          <a:p>
            <a:r>
              <a:t>2차 수정본 10장 / 원본 PDF 11장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r>
              <a:t>제안 업무 절차: AI 후보 선별, 조사 전문가의 원시자료·측정조건 검토, 승인 지점 재측정, 도로관리기관 전달 및 정밀조사·안전조치 판단 요청, 관계기관 승인·안전조치 후 정밀조사·보수, 결과 기록과 다음 회차 반영. 기관별 권한·책임은 협의 필요. 기록: 지점ID·위치·측정일·검토상태·현장확인결과·후속조치상태. AR은 보조 안내.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11장 / 원본 PDF 12장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국내 차량 공식 제원 확인일 2026-10-27: https://www.kia.com/kr/vehicles/pv5-cargo/specification</a:t>
            </a:r>
          </a:p>
          <a:p>
            <a:r>
              <a:t>카고 롱 롱레인지 명목 배터리 71.2kWh, 최대적재중량 550kg. 특장 후 중량·축하중은 별도 검증. https://www.kia.com/kr/vehicles/pv5-cargo/features</a:t>
            </a:r>
          </a:p>
          <a:p>
            <a:r>
              <a:t>Pleos 지원 범위: https://www.kiapbvidea.com/page3</a:t>
            </a:r>
          </a:p>
          <a:p>
            <a:r>
              <a:t>V2L 3.6kW 및 4,420L·419mm 해외 사양을 국내 차량의 확정 수치로 사용하지 않음. 1.5kW×6h=9kWh, 9/71.2×100=12.6404%. 소비전력·시간은 가정이며 전력 손실·주행·공조전력 제외.</a:t>
            </a:r>
          </a:p>
          <a:p>
            <a:endParaRPr/>
          </a:p>
          <a:p>
            <a:r>
              <a:t>2차 수정본 11장 / 원본 PDF 12장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국내 차량 공식 제원 확인일 2026-10-27: https://www.kia.com/kr/vehicles/pv5-cargo/specification</a:t>
            </a:r>
          </a:p>
          <a:p>
            <a:r>
              <a:t>카고 롱 롱레인지 명목 배터리 71.2kWh, 최대적재중량 550kg. 특장 후 중량·축하중은 별도 검증. https://www.kia.com/kr/vehicles/pv5-cargo/features</a:t>
            </a:r>
          </a:p>
          <a:p>
            <a:r>
              <a:t>Pleos 지원 범위: https://www.kiapbvidea.com/page3</a:t>
            </a:r>
          </a:p>
          <a:p>
            <a:r>
              <a:t>V2L 3.6kW 및 4,420L·419mm 해외 사양을 국내 차량의 확정 수치로 사용하지 않음. 1.5kW×6h=9kWh, 9/71.2×100=12.6404%. 소비전력·시간은 가정이며 전력 손실·주행·공조전력 제외.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12장 / 원본 PDF 13장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r>
              <a:t>국내 차량 공식 제원 확인일 2026-10-27: https://www.kia.com/kr/vehicles/pv5-cargo/specification</a:t>
            </a:r>
          </a:p>
          <a:p>
            <a:r>
              <a:t>카고 롱 롱레인지 명목 배터리 71.2kWh, 최대적재중량 550kg. 특장 후 중량·축하중은 별도 검증. https://www.kia.com/kr/vehicles/pv5-cargo/features</a:t>
            </a:r>
          </a:p>
          <a:p>
            <a:r>
              <a:t>Pleos 지원 범위: https://www.kiapbvidea.com/page3</a:t>
            </a:r>
          </a:p>
          <a:p>
            <a:r>
              <a:t>V2L 3.6kW 및 4,420L·419mm 해외 사양을 국내 차량의 확정 수치로 사용하지 않음. 1.5kW×6h=9kWh, 9/71.2×100=12.6404%. 소비전력·시간은 가정이며 전력 손실·주행·공조전력 제외.</a:t>
            </a:r>
          </a:p>
          <a:p>
            <a:endParaRPr/>
          </a:p>
          <a:p>
            <a:r>
              <a:t>2차 수정본 12장 / 원본 PDF 13장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r>
              <a:t>국내 차량 공식 제원 확인일 2026-10-27: https://www.kia.com/kr/vehicles/pv5-cargo/specification</a:t>
            </a:r>
          </a:p>
          <a:p>
            <a:r>
              <a:t>카고 롱 롱레인지 명목 배터리 71.2kWh, 최대적재중량 550kg. 특장 후 중량·축하중은 별도 검증. https://www.kia.com/kr/vehicles/pv5-cargo/features</a:t>
            </a:r>
          </a:p>
          <a:p>
            <a:r>
              <a:t>Pleos 지원 범위: https://www.kiapbvidea.com/page3</a:t>
            </a:r>
          </a:p>
          <a:p>
            <a:r>
              <a:t>V2L 3.6kW 및 4,420L·419mm 해외 사양을 국내 차량의 확정 수치로 사용하지 않음. 1.5kW×6h=9kWh, 9/71.2×100=12.6404%. 소비전력·시간은 가정이며 전력 손실·주행·공조전력 제외.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2차 수정본 12장 / 원본 PDF 13장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r>
              <a:t>국내 차량 공식 제원 확인일 2026-10-27: https://www.kia.com/kr/vehicles/pv5-cargo/specification</a:t>
            </a:r>
          </a:p>
          <a:p>
            <a:r>
              <a:t>카고 롱 롱레인지 명목 배터리 71.2kWh, 최대적재중량 550kg. 특장 후 중량·축하중은 별도 검증. https://www.kia.com/kr/vehicles/pv5-cargo/features</a:t>
            </a:r>
          </a:p>
          <a:p>
            <a:r>
              <a:t>Pleos 지원 범위: https://www.kiapbvidea.com/page3</a:t>
            </a:r>
          </a:p>
          <a:p>
            <a:r>
              <a:t>V2L 3.6kW 및 4,420L·419mm 해외 사양을 국내 차량의 확정 수치로 사용하지 않음. 1.5kW×6h=9kWh, 9/71.2×100=12.6404%. 소비전력·시간은 가정이며 전력 손실·주행·공조전력 제외.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13장 / 원본 PDF 14장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endParaRPr/>
          </a:p>
          <a:p>
            <a:r>
              <a:t>2차 수정본 13장 / 원본 PDF 14장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반복 GPR 연구: https://www.mdpi.com/2072-4292/14/7/1593</a:t>
            </a:r>
          </a:p>
          <a:p>
            <a:r>
              <a:t>시계열 정합 연구: https://www.mdpi.com/2072-4292/16/6/1040</a:t>
            </a:r>
          </a:p>
          <a:p>
            <a:r>
              <a:t>반복 측정·차분 분석 자체의 최초 개발을 주장하지 않습니다. PV5 기반 업무 연결과 장착 표준화가 제안 차별점입니다.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14장 / 원본 PDF 6장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92만원/km: 원본 인용 서울시 2024 지반침하 특별점검 공동조사용역 최종보고서. 17억8,090만원/1,930.6km=약92.25만원/km. 원보고서 원문 미제공으로 페이지·업무 범위 대조 필요. 원가와 평균 사업비의 직접 비교·절감률 주장 금지.</a:t>
            </a:r>
          </a:p>
          <a:p>
            <a:r>
              <a:t>반복 모니터링 원가 가정: 309,000,000원/6,600 탐사km=46,818.18원/탐사km. 연6회=280,909.09원. 비용 구성과 판독·현장 재확인·천공·복구 포함 여부 미확인. 기존 정밀조사1회+모니터링6회 추가.</a:t>
            </a:r>
          </a:p>
          <a:p>
            <a:endParaRPr/>
          </a:p>
          <a:p>
            <a:r>
              <a:t>2차 수정본 14장 / 원본 PDF 6장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92만원/km: 원본 인용 서울시 2024 지반침하 특별점검 공동조사용역 최종보고서. 17억8,090만원/1,930.6km=약92.25만원/km. 원보고서 원문 미제공으로 페이지·업무 범위 대조 필요. 원가와 평균 사업비의 직접 비교·절감률 주장 금지.</a:t>
            </a:r>
          </a:p>
          <a:p>
            <a:r>
              <a:t>반복 모니터링 원가 가정: 309,000,000원/6,600 탐사km=46,818.18원/탐사km. 연6회=280,909.09원. 비용 구성과 판독·현장 재확인·천공·복구 포함 여부 미확인. 기존 정밀조사1회+모니터링6회 추가.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15장 / 원본 PDF 15장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92만원/km: 원본 인용 서울시 2024 지반침하 특별점검 공동조사용역 최종보고서. 17억8,090만원/1,930.6km=약92.25만원/km. 원보고서 원문 미제공으로 페이지·업무 범위 대조 필요. 원가와 평균 사업비의 직접 비교·절감률 주장 금지.</a:t>
            </a:r>
          </a:p>
          <a:p>
            <a:r>
              <a:t>반복 모니터링 원가 가정: 309,000,000원/6,600 탐사km=46,818.18원/탐사km. 연6회=280,909.09원. 비용 구성과 판독·현장 재확인·천공·복구 포함 여부 미확인. 기존 정밀조사1회+모니터링6회 추가.</a:t>
            </a:r>
          </a:p>
          <a:p>
            <a:endParaRPr/>
          </a:p>
          <a:p>
            <a:r>
              <a:t>2차 수정본 15장 / 원본 PDF 15장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92만원/km: 원본 인용 서울시 2024 지반침하 특별점검 공동조사용역 최종보고서. 17억8,090만원/1,930.6km=약92.25만원/km. 원보고서 원문 미제공으로 페이지·업무 범위 대조 필요. 원가와 평균 사업비의 직접 비교·절감률 주장 금지.</a:t>
            </a:r>
          </a:p>
          <a:p>
            <a:r>
              <a:t>반복 모니터링 원가 가정: 309,000,000원/6,600 탐사km=46,818.18원/탐사km. 연6회=280,909.09원. 비용 구성과 판독·현장 재확인·천공·복구 포함 여부 미확인. 기존 정밀조사1회+모니터링6회 추가.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r>
              <a:t>본문에서 제거한 미확인 조건부 산술: 약4.7만원/km, 연6회 약28.1만원/km·년. 인력·장비·판독·데이터관리 비용 구성 및 후속조치 포함 여부 미확인. 실측 후 산정 전에는 고객 가격·절감률·확정 원가로 제시하지 않음. 기존 막대 도형은 금액·비율이 없는 비용 항목 구분용으로 재사용.</a:t>
            </a:r>
          </a:p>
          <a:p>
            <a:endParaRPr/>
          </a:p>
          <a:p>
            <a:r>
              <a:t>2차 수정본 15장 / 원본 PDF 15장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92만원/km: 원본 인용 서울시 2024 지반침하 특별점검 공동조사용역 최종보고서. 17억8,090만원/1,930.6km=약92.25만원/km. 원보고서 원문 미제공으로 페이지·업무 범위 대조 필요. 원가와 평균 사업비의 직접 비교·절감률 주장 금지.</a:t>
            </a:r>
          </a:p>
          <a:p>
            <a:r>
              <a:t>반복 모니터링 원가 가정: 309,000,000원/6,600 탐사km=46,818.18원/탐사km. 연6회=280,909.09원. 비용 구성과 판독·현장 재확인·천공·복구 포함 여부 미확인. 기존 정밀조사1회+모니터링6회 추가.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r>
              <a:t>본문에서 제거한 미확인 조건부 산술: 약4.7만원/km, 연6회 약28.1만원/km·년. 인력·장비·판독·데이터관리 비용 구성 및 후속조치 포함 여부 미확인. 실측 후 산정 전에는 고객 가격·절감률·확정 원가로 제시하지 않음. 기존 막대 도형은 금액·비율이 없는 비용 항목 구분용으로 재사용.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16장 / 원본 PDF 16장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도로96,712km와 탐사km는 단위가 달라 현 상태에서 실제 차량 대수를 추정할 수 없음. 단순 시나리오: 96,712/(6,600/6)=87.92대, 올림88대. 88×45,200,000원=3,977,600,000원(39.776억원). 차량단가·도로연장 원출처 미확인. 차로수·탐사폭·회송·정비·가동률 반영 전. 특장·센서·소프트웨어 매출과 구분.</a:t>
            </a:r>
          </a:p>
          <a:p>
            <a:endParaRPr/>
          </a:p>
          <a:p>
            <a:r>
              <a:t>2차 수정본 16장 / 원본 PDF 16장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도로96,712km와 탐사km는 단위가 달라 현 상태에서 실제 차량 대수를 추정할 수 없음. 단순 시나리오: 96,712/(6,600/6)=87.92대, 올림88대. 88×45,200,000원=3,977,600,000원(39.776억원). 차량단가·도로연장 원출처 미확인. 차로수·탐사폭·회송·정비·가동률 반영 전. 특장·센서·소프트웨어 매출과 구분.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r>
              <a:t>본문에서 제거한 미확인 조건부 산술: 88대·약39.8억원. 실제 수요·필요 대수·계약·매출 근거가 아니며 현장 실증 및 도로km/탐사km 환산 검토 전 시장규모로 사용하지 않음.</a:t>
            </a:r>
          </a:p>
          <a:p>
            <a:endParaRPr/>
          </a:p>
          <a:p>
            <a:r>
              <a:t>2차 수정본 16장 / 원본 PDF 16장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도로96,712km와 탐사km는 단위가 달라 현 상태에서 실제 차량 대수를 추정할 수 없음. 단순 시나리오: 96,712/(6,600/6)=87.92대, 올림88대. 88×45,200,000원=3,977,600,000원(39.776억원). 차량단가·도로연장 원출처 미확인. 차로수·탐사폭·회송·정비·가동률 반영 전. 특장·센서·소프트웨어 매출과 구분.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r>
              <a:t>본문에서 제거한 미확인 조건부 산술: 88대·약39.8억원. 실제 수요·필요 대수·계약·매출 근거가 아니며 현장 실증 및 도로km/탐사km 환산 검토 전 시장규모로 사용하지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17장 / 원본 PDF 17장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공모전 일반 부문: https://www.kiapbvidea.com/page5</a:t>
            </a:r>
          </a:p>
          <a:p>
            <a:r>
              <a:t>일반 부문 지원·차량 대여는 별도 선정·협의 전제입니다. 협력·계약은 미확정입니다.</a:t>
            </a:r>
          </a:p>
          <a:p>
            <a:endParaRPr/>
          </a:p>
          <a:p>
            <a:r>
              <a:t>2차 수정본 17장 / 원본 PDF 17장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r>
              <a:t>공모전 일반 부문: https://www.kiapbvidea.com/page5</a:t>
            </a:r>
          </a:p>
          <a:p>
            <a:r>
              <a:t>일반 부문 지원·차량 대여는 별도 선정·협의 전제입니다. 협력·계약은 미확정입니다.</a:t>
            </a:r>
          </a:p>
          <a:p>
            <a:endParaRPr/>
          </a:p>
          <a:p>
            <a:r>
              <a:t>2차 수정 운영 원칙: 연 6회·약 2개월 간격은 초기 실증의 운영 가정. 실제 주기는 위험도·강우·굴착공사 이력·실증 결과를 반영해 발주기관과 협의. 위험 징후·집중호우 시 추가 조사 여부 검토. 기존 정밀조사와 구분. 모든 위험 포착·특정 대응 시간·보수 완료를 보장하지 않음.</a:t>
            </a:r>
          </a:p>
          <a:p>
            <a:endParaRPr/>
          </a:p>
          <a:p>
            <a:r>
              <a:t>3차 편집: 원본 Pretendard Regular/Bold와 제목36pt, 페이지별 강조 크기·본문·보조 색을 대조해 복원. 발표용 본문은 압축하고 2차의 세부 절차·기록 항목·수치 제한·원가 가정은 이 노트에 유지. 10장 네 단계는 기존 여섯 단계 업무를 압축한 표현이며 관계기관 승인·안전조치·역할 협의가 필요함.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수정본 18장 / 원본 PDF 18장</a:t>
            </a:r>
          </a:p>
          <a:p>
            <a:r>
              <a:t>기준 자료: PV5_GroundWatch_10_26.pdf. 사진·배경·기존 도형·유지 문구는 PDF에서 보존한 이미지입니다. 수정 문구는 편집 가능한 텍스트입니다.</a:t>
            </a:r>
          </a:p>
          <a:p>
            <a:r>
              <a:t>원본 PDF에 표시된 사진의 저작자·라이선스 표기는 유지했습니다. 원자료가 없는 기존 수치와 문헌은 별도 검토 메모의 미확인 근거 목록을 참고합니다.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E62091F-9635-4CAA-ACC0-336ADE8B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CCEB71D-A664-40A6-85DC-4FB3DA8C1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41AC6-6442-4D93-8DF2-1FF865261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6827145-0E5C-4E3A-99F6-48FD93C4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C0B259E-D253-4D7D-B156-0A63ACE6E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02A16E0-6A40-42DE-8C2B-B5276FD2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866976C-3BD8-434E-86C9-10E72226E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77938CD-82D1-443B-81F1-198E15F833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7710E54-C519-44BF-8E8F-119838A4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1F0AC2B-4B1E-441A-8602-B54448D56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F1C904-F4DA-460A-AC34-4553C89D3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현재 슬라이드 번호">
            <a:extLst>
              <a:ext uri="{FF2B5EF4-FFF2-40B4-BE49-F238E27FC236}">
                <a16:creationId xmlns:a16="http://schemas.microsoft.com/office/drawing/2014/main" id="{4074CD1E-A45B-49E5-B179-6BBCDCCE44AE}"/>
              </a:ext>
            </a:extLst>
          </p:cNvPr>
          <p:cNvSpPr>
            <a:spLocks noGrp="1"/>
          </p:cNvSpPr>
          <p:nvPr/>
        </p:nvSpPr>
        <p:spPr>
          <a:xfrm>
            <a:off x="9017000" y="6540500"/>
            <a:ext cx="2667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콘셉트 이미지 · 01 / 18</a:t>
            </a:r>
          </a:p>
        </p:txBody>
      </p:sp>
    </p:spTree>
    <p:extLst>
      <p:ext uri="{BB962C8B-B14F-4D97-AF65-F5344CB8AC3E}">
        <p14:creationId xmlns:p14="http://schemas.microsoft.com/office/powerpoint/2010/main" val="131092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1870F27-E680-4B72-86C8-39738E63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같은 도로의 지하 변화를 반복 측정하고,&#10;전문">
            <a:extLst>
              <a:ext uri="{FF2B5EF4-FFF2-40B4-BE49-F238E27FC236}">
                <a16:creationId xmlns:a16="http://schemas.microsoft.com/office/drawing/2014/main" id="{5DDF7A88-D2B6-451F-98A3-4F64D60E4505}"/>
              </a:ext>
            </a:extLst>
          </p:cNvPr>
          <p:cNvSpPr>
            <a:spLocks noGrp="1"/>
          </p:cNvSpPr>
          <p:nvPr/>
        </p:nvSpPr>
        <p:spPr>
          <a:xfrm>
            <a:off x="596900" y="4724400"/>
            <a:ext cx="6223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현재 슬라이드 번호">
            <a:extLst>
              <a:ext uri="{FF2B5EF4-FFF2-40B4-BE49-F238E27FC236}">
                <a16:creationId xmlns:a16="http://schemas.microsoft.com/office/drawing/2014/main" id="{5E6B0D98-8E95-4907-8DC5-16B6EC96C683}"/>
              </a:ext>
            </a:extLst>
          </p:cNvPr>
          <p:cNvSpPr>
            <a:spLocks noGrp="1"/>
          </p:cNvSpPr>
          <p:nvPr/>
        </p:nvSpPr>
        <p:spPr>
          <a:xfrm>
            <a:off x="9017000" y="6540500"/>
            <a:ext cx="2667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같은 도로의 지하 변화를 반복 측정하고,&#10;전문">
            <a:extLst>
              <a:ext uri="{FF2B5EF4-FFF2-40B4-BE49-F238E27FC236}">
                <a16:creationId xmlns:a16="http://schemas.microsoft.com/office/drawing/2014/main" id="{D1D712E2-F953-492C-8B7D-85B1A9E4186A}"/>
              </a:ext>
            </a:extLst>
          </p:cNvPr>
          <p:cNvSpPr>
            <a:spLocks noGrp="1"/>
          </p:cNvSpPr>
          <p:nvPr/>
        </p:nvSpPr>
        <p:spPr>
          <a:xfrm>
            <a:off x="596900" y="4699000"/>
            <a:ext cx="7747000" cy="67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연 6회·약 2개월 간격은 초기 실증 가정입니">
            <a:extLst>
              <a:ext uri="{FF2B5EF4-FFF2-40B4-BE49-F238E27FC236}">
                <a16:creationId xmlns:a16="http://schemas.microsoft.com/office/drawing/2014/main" id="{972A4CAB-6C13-470E-9C7C-5341C200EA37}"/>
              </a:ext>
            </a:extLst>
          </p:cNvPr>
          <p:cNvSpPr>
            <a:spLocks noGrp="1"/>
          </p:cNvSpPr>
          <p:nvPr/>
        </p:nvSpPr>
        <p:spPr>
          <a:xfrm>
            <a:off x="596900" y="5448300"/>
            <a:ext cx="80010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현재 슬라이드 번호">
            <a:extLst>
              <a:ext uri="{FF2B5EF4-FFF2-40B4-BE49-F238E27FC236}">
                <a16:creationId xmlns:a16="http://schemas.microsoft.com/office/drawing/2014/main" id="{EAF1224D-3611-46C6-8A4F-E88B07159C31}"/>
              </a:ext>
            </a:extLst>
          </p:cNvPr>
          <p:cNvSpPr>
            <a:spLocks noGrp="1"/>
          </p:cNvSpPr>
          <p:nvPr/>
        </p:nvSpPr>
        <p:spPr>
          <a:xfrm>
            <a:off x="9017000" y="6540500"/>
            <a:ext cx="2667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같은 도로를 반복 측정하고,&#10;전문가의 현장 재">
            <a:extLst>
              <a:ext uri="{FF2B5EF4-FFF2-40B4-BE49-F238E27FC236}">
                <a16:creationId xmlns:a16="http://schemas.microsoft.com/office/drawing/2014/main" id="{828EAC8D-7819-49A1-9B7E-CD300B9FBC0E}"/>
              </a:ext>
            </a:extLst>
          </p:cNvPr>
          <p:cNvSpPr>
            <a:spLocks noGrp="1"/>
          </p:cNvSpPr>
          <p:nvPr/>
        </p:nvSpPr>
        <p:spPr>
          <a:xfrm>
            <a:off x="596900" y="4622800"/>
            <a:ext cx="774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같은 도로를 반복 측정하고,</a:t>
            </a:r>
          </a:p>
          <a:p>
            <a:pPr algn="l">
              <a:lnSpc>
                <a:spcPct val="125000"/>
              </a:lnSpc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전문가의 현장 재확인으로 연결합니다.</a:t>
            </a:r>
          </a:p>
        </p:txBody>
      </p:sp>
      <p:sp>
        <p:nvSpPr>
          <p:cNvPr id="9" name="현재 슬라이드 번호">
            <a:extLst>
              <a:ext uri="{FF2B5EF4-FFF2-40B4-BE49-F238E27FC236}">
                <a16:creationId xmlns:a16="http://schemas.microsoft.com/office/drawing/2014/main" id="{0B4D1939-FE5C-4F9A-8890-397DDF69EB87}"/>
              </a:ext>
            </a:extLst>
          </p:cNvPr>
          <p:cNvSpPr>
            <a:spLocks noGrp="1"/>
          </p:cNvSpPr>
          <p:nvPr/>
        </p:nvSpPr>
        <p:spPr>
          <a:xfrm>
            <a:off x="9017000" y="6520180"/>
            <a:ext cx="2667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콘셉트 이미지 · 02 / 18</a:t>
            </a:r>
          </a:p>
        </p:txBody>
      </p:sp>
    </p:spTree>
    <p:extLst>
      <p:ext uri="{BB962C8B-B14F-4D97-AF65-F5344CB8AC3E}">
        <p14:creationId xmlns:p14="http://schemas.microsoft.com/office/powerpoint/2010/main" val="129458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A60EB7-39AC-48E1-A069-E1EFBCA156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정기조사 사이의 변화를 더 자주 살펴야 합니다">
            <a:extLst>
              <a:ext uri="{FF2B5EF4-FFF2-40B4-BE49-F238E27FC236}">
                <a16:creationId xmlns:a16="http://schemas.microsoft.com/office/drawing/2014/main" id="{FDF4700A-DC8D-44A9-967A-70F011014B13}"/>
              </a:ext>
            </a:extLst>
          </p:cNvPr>
          <p:cNvSpPr>
            <a:spLocks noGrp="1"/>
          </p:cNvSpPr>
          <p:nvPr/>
        </p:nvSpPr>
        <p:spPr>
          <a:xfrm>
            <a:off x="1778000" y="40386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현재 슬라이드 번호">
            <a:extLst>
              <a:ext uri="{FF2B5EF4-FFF2-40B4-BE49-F238E27FC236}">
                <a16:creationId xmlns:a16="http://schemas.microsoft.com/office/drawing/2014/main" id="{1E6138AC-5402-4711-944D-B0B17AE54EDD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PV5 GroundWatch">
            <a:extLst>
              <a:ext uri="{FF2B5EF4-FFF2-40B4-BE49-F238E27FC236}">
                <a16:creationId xmlns:a16="http://schemas.microsoft.com/office/drawing/2014/main" id="{2F8845A1-B0DC-4A96-B683-6EC41236E641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정기조사 사이의 변화를 더 자주 살펴야 합니다">
            <a:extLst>
              <a:ext uri="{FF2B5EF4-FFF2-40B4-BE49-F238E27FC236}">
                <a16:creationId xmlns:a16="http://schemas.microsoft.com/office/drawing/2014/main" id="{A55D100F-F5E8-40FA-A27E-FFC4BC2883AF}"/>
              </a:ext>
            </a:extLst>
          </p:cNvPr>
          <p:cNvSpPr>
            <a:spLocks noGrp="1"/>
          </p:cNvSpPr>
          <p:nvPr/>
        </p:nvSpPr>
        <p:spPr>
          <a:xfrm>
            <a:off x="1778000" y="400558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3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정기조사 사이의 변화를 더 자주 살펴야 합니다</a:t>
            </a:r>
          </a:p>
        </p:txBody>
      </p:sp>
      <p:sp>
        <p:nvSpPr>
          <p:cNvPr id="7" name="현재 슬라이드 번호">
            <a:extLst>
              <a:ext uri="{FF2B5EF4-FFF2-40B4-BE49-F238E27FC236}">
                <a16:creationId xmlns:a16="http://schemas.microsoft.com/office/drawing/2014/main" id="{2C964EA4-9EB0-496A-880D-21553790D12C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03 / 18</a:t>
            </a:r>
          </a:p>
        </p:txBody>
      </p:sp>
      <p:sp>
        <p:nvSpPr>
          <p:cNvPr id="8" name="PV5 GroundWatch">
            <a:extLst>
              <a:ext uri="{FF2B5EF4-FFF2-40B4-BE49-F238E27FC236}">
                <a16:creationId xmlns:a16="http://schemas.microsoft.com/office/drawing/2014/main" id="{17DCCEB0-D623-4B15-8E95-826124CC5F5D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208831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A7862E0-A5CC-4AED-99CD-6E81299BDB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정기조사 사이의 변화 비교를 보완합니다">
            <a:extLst>
              <a:ext uri="{FF2B5EF4-FFF2-40B4-BE49-F238E27FC236}">
                <a16:creationId xmlns:a16="http://schemas.microsoft.com/office/drawing/2014/main" id="{13190168-3DD0-4FC8-8A91-50E2B98FA46D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596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같은 길의 기록을 연결해&#10;달라진 지점의 검토를">
            <a:extLst>
              <a:ext uri="{FF2B5EF4-FFF2-40B4-BE49-F238E27FC236}">
                <a16:creationId xmlns:a16="http://schemas.microsoft.com/office/drawing/2014/main" id="{D91EFB0A-4B25-417E-88EF-BB84924900C5}"/>
              </a:ext>
            </a:extLst>
          </p:cNvPr>
          <p:cNvSpPr>
            <a:spLocks noGrp="1"/>
          </p:cNvSpPr>
          <p:nvPr/>
        </p:nvSpPr>
        <p:spPr>
          <a:xfrm>
            <a:off x="6769100" y="4813300"/>
            <a:ext cx="4953000" cy="82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현재 슬라이드 번호">
            <a:extLst>
              <a:ext uri="{FF2B5EF4-FFF2-40B4-BE49-F238E27FC236}">
                <a16:creationId xmlns:a16="http://schemas.microsoft.com/office/drawing/2014/main" id="{26F96B31-98F5-4BCA-AD58-357E3952D8D6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PV5 GroundWatch">
            <a:extLst>
              <a:ext uri="{FF2B5EF4-FFF2-40B4-BE49-F238E27FC236}">
                <a16:creationId xmlns:a16="http://schemas.microsoft.com/office/drawing/2014/main" id="{93413B27-76A4-4BB8-A11F-CA039998E5E1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정기조사 사이의 변화 비교를 보완합니다">
            <a:extLst>
              <a:ext uri="{FF2B5EF4-FFF2-40B4-BE49-F238E27FC236}">
                <a16:creationId xmlns:a16="http://schemas.microsoft.com/office/drawing/2014/main" id="{B56E8D9A-8141-48C3-8CAA-47A973D9052C}"/>
              </a:ext>
            </a:extLst>
          </p:cNvPr>
          <p:cNvSpPr>
            <a:spLocks noGrp="1"/>
          </p:cNvSpPr>
          <p:nvPr/>
        </p:nvSpPr>
        <p:spPr>
          <a:xfrm>
            <a:off x="520700" y="77216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정기조사 사이의 변화 비교를 보완합니다</a:t>
            </a:r>
          </a:p>
        </p:txBody>
      </p:sp>
      <p:sp>
        <p:nvSpPr>
          <p:cNvPr id="8" name="같은 길의 기록을 연결해&#10;달라진 지점을 검토합">
            <a:extLst>
              <a:ext uri="{FF2B5EF4-FFF2-40B4-BE49-F238E27FC236}">
                <a16:creationId xmlns:a16="http://schemas.microsoft.com/office/drawing/2014/main" id="{F5A51FA9-CD1F-4E8D-84FF-411CFC18A379}"/>
              </a:ext>
            </a:extLst>
          </p:cNvPr>
          <p:cNvSpPr>
            <a:spLocks noGrp="1"/>
          </p:cNvSpPr>
          <p:nvPr/>
        </p:nvSpPr>
        <p:spPr>
          <a:xfrm>
            <a:off x="6769100" y="4686300"/>
            <a:ext cx="4953000" cy="82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길의 기록을 연결해</a:t>
            </a:r>
          </a:p>
          <a:p>
            <a:pPr algn="l">
              <a:lnSpc>
                <a:spcPct val="125000"/>
              </a:lnSpc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달라진 지점을 검토합니다.</a:t>
            </a:r>
          </a:p>
        </p:txBody>
      </p:sp>
      <p:sp>
        <p:nvSpPr>
          <p:cNvPr id="9" name="현재 슬라이드 번호">
            <a:extLst>
              <a:ext uri="{FF2B5EF4-FFF2-40B4-BE49-F238E27FC236}">
                <a16:creationId xmlns:a16="http://schemas.microsoft.com/office/drawing/2014/main" id="{A737BD91-E286-4D5D-B6A7-43CA4C0FD123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04 / 18</a:t>
            </a:r>
          </a:p>
        </p:txBody>
      </p:sp>
      <p:sp>
        <p:nvSpPr>
          <p:cNvPr id="10" name="PV5 GroundWatch">
            <a:extLst>
              <a:ext uri="{FF2B5EF4-FFF2-40B4-BE49-F238E27FC236}">
                <a16:creationId xmlns:a16="http://schemas.microsoft.com/office/drawing/2014/main" id="{CF883F03-908F-432A-8EAE-E5FEF0F58A9D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745259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111FB3-D4B4-4FEE-A467-7087D74BC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정기조사를 유지하고, 회차 사이의 변화를 추가">
            <a:extLst>
              <a:ext uri="{FF2B5EF4-FFF2-40B4-BE49-F238E27FC236}">
                <a16:creationId xmlns:a16="http://schemas.microsoft.com/office/drawing/2014/main" id="{2E0A401A-4C35-4B1B-A207-FFE5C5C2DC3F}"/>
              </a:ext>
            </a:extLst>
          </p:cNvPr>
          <p:cNvSpPr>
            <a:spLocks noGrp="1"/>
          </p:cNvSpPr>
          <p:nvPr/>
        </p:nvSpPr>
        <p:spPr>
          <a:xfrm>
            <a:off x="711200" y="5461000"/>
            <a:ext cx="10922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현재 슬라이드 번호">
            <a:extLst>
              <a:ext uri="{FF2B5EF4-FFF2-40B4-BE49-F238E27FC236}">
                <a16:creationId xmlns:a16="http://schemas.microsoft.com/office/drawing/2014/main" id="{2C73CA46-CE62-4F1B-A478-1FE1A1ACA6A3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PV5 GroundWatch">
            <a:extLst>
              <a:ext uri="{FF2B5EF4-FFF2-40B4-BE49-F238E27FC236}">
                <a16:creationId xmlns:a16="http://schemas.microsoft.com/office/drawing/2014/main" id="{164EE764-E81A-4AFA-8220-E6933F47A9E9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정기조사를 유지하고, 회차 사이의 변화를 기록">
            <a:extLst>
              <a:ext uri="{FF2B5EF4-FFF2-40B4-BE49-F238E27FC236}">
                <a16:creationId xmlns:a16="http://schemas.microsoft.com/office/drawing/2014/main" id="{49D706DA-D0EA-46E3-ACE1-F6DA46365A1B}"/>
              </a:ext>
            </a:extLst>
          </p:cNvPr>
          <p:cNvSpPr>
            <a:spLocks noGrp="1"/>
          </p:cNvSpPr>
          <p:nvPr/>
        </p:nvSpPr>
        <p:spPr>
          <a:xfrm>
            <a:off x="711200" y="5377180"/>
            <a:ext cx="10922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정기조사를 유지하고, 회차 사이의 변화를 기록합니다.</a:t>
            </a:r>
          </a:p>
        </p:txBody>
      </p:sp>
      <p:sp>
        <p:nvSpPr>
          <p:cNvPr id="7" name="현재 슬라이드 번호">
            <a:extLst>
              <a:ext uri="{FF2B5EF4-FFF2-40B4-BE49-F238E27FC236}">
                <a16:creationId xmlns:a16="http://schemas.microsoft.com/office/drawing/2014/main" id="{59A48C94-98F7-4E09-8E5B-E6DD096F4B54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05 / 18</a:t>
            </a:r>
          </a:p>
        </p:txBody>
      </p:sp>
      <p:sp>
        <p:nvSpPr>
          <p:cNvPr id="8" name="PV5 GroundWatch">
            <a:extLst>
              <a:ext uri="{FF2B5EF4-FFF2-40B4-BE49-F238E27FC236}">
                <a16:creationId xmlns:a16="http://schemas.microsoft.com/office/drawing/2014/main" id="{8C3E9B95-7EB7-4FE9-AF02-CEC47F32B85A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1352464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9F2AB12-1B31-4D57-AEE9-159E5FE5C4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하수관 손상과 얕은 공동, 범위를 구분합니다">
            <a:extLst>
              <a:ext uri="{FF2B5EF4-FFF2-40B4-BE49-F238E27FC236}">
                <a16:creationId xmlns:a16="http://schemas.microsoft.com/office/drawing/2014/main" id="{582412F4-E68D-4398-A254-38A22850871C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심부 굴착·터널 위험은 별도 계측이 필요합니다">
            <a:extLst>
              <a:ext uri="{FF2B5EF4-FFF2-40B4-BE49-F238E27FC236}">
                <a16:creationId xmlns:a16="http://schemas.microsoft.com/office/drawing/2014/main" id="{B1C51DFB-2AD0-4C4E-A95D-F6B80560CAD6}"/>
              </a:ext>
            </a:extLst>
          </p:cNvPr>
          <p:cNvSpPr>
            <a:spLocks noGrp="1"/>
          </p:cNvSpPr>
          <p:nvPr/>
        </p:nvSpPr>
        <p:spPr>
          <a:xfrm>
            <a:off x="7073900" y="4394200"/>
            <a:ext cx="469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원인 통계는 깊이 분포를 뜻하지 않습니다. 약">
            <a:extLst>
              <a:ext uri="{FF2B5EF4-FFF2-40B4-BE49-F238E27FC236}">
                <a16:creationId xmlns:a16="http://schemas.microsoft.com/office/drawing/2014/main" id="{35379F1E-9CF0-4C1A-A871-E98AD18FA16C}"/>
              </a:ext>
            </a:extLst>
          </p:cNvPr>
          <p:cNvSpPr>
            <a:spLocks noGrp="1"/>
          </p:cNvSpPr>
          <p:nvPr/>
        </p:nvSpPr>
        <p:spPr>
          <a:xfrm>
            <a:off x="711200" y="58420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현재 슬라이드 번호">
            <a:extLst>
              <a:ext uri="{FF2B5EF4-FFF2-40B4-BE49-F238E27FC236}">
                <a16:creationId xmlns:a16="http://schemas.microsoft.com/office/drawing/2014/main" id="{A4222C1B-DD24-4A2F-9AE9-A63CF20858A9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PV5 GroundWatch">
            <a:extLst>
              <a:ext uri="{FF2B5EF4-FFF2-40B4-BE49-F238E27FC236}">
                <a16:creationId xmlns:a16="http://schemas.microsoft.com/office/drawing/2014/main" id="{181415C1-FA8B-47B9-8D48-4238CF133F68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원인 통계와 탐사 범위를 구분합니다">
            <a:extLst>
              <a:ext uri="{FF2B5EF4-FFF2-40B4-BE49-F238E27FC236}">
                <a16:creationId xmlns:a16="http://schemas.microsoft.com/office/drawing/2014/main" id="{171C06FE-9410-4545-AC52-6CDE57166BE9}"/>
              </a:ext>
            </a:extLst>
          </p:cNvPr>
          <p:cNvSpPr>
            <a:spLocks noGrp="1"/>
          </p:cNvSpPr>
          <p:nvPr/>
        </p:nvSpPr>
        <p:spPr>
          <a:xfrm>
            <a:off x="520700" y="77216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 통계와 탐사 범위를 구분합니다</a:t>
            </a:r>
          </a:p>
        </p:txBody>
      </p:sp>
      <p:sp>
        <p:nvSpPr>
          <p:cNvPr id="9" name="심부 굴착·터널 위험은 별도 계측이 필요합니다">
            <a:extLst>
              <a:ext uri="{FF2B5EF4-FFF2-40B4-BE49-F238E27FC236}">
                <a16:creationId xmlns:a16="http://schemas.microsoft.com/office/drawing/2014/main" id="{5A5052FD-42D8-4AA6-AD70-58F229683648}"/>
              </a:ext>
            </a:extLst>
          </p:cNvPr>
          <p:cNvSpPr>
            <a:spLocks noGrp="1"/>
          </p:cNvSpPr>
          <p:nvPr/>
        </p:nvSpPr>
        <p:spPr>
          <a:xfrm>
            <a:off x="7073900" y="4358640"/>
            <a:ext cx="469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심부 굴착·터널 위험은 별도 계측이 필요합니다</a:t>
            </a:r>
          </a:p>
        </p:txBody>
      </p:sp>
      <p:sp>
        <p:nvSpPr>
          <p:cNvPr id="10" name="원인 통계는 깊이 분포를 뜻하지 않습니다. 약">
            <a:extLst>
              <a:ext uri="{FF2B5EF4-FFF2-40B4-BE49-F238E27FC236}">
                <a16:creationId xmlns:a16="http://schemas.microsoft.com/office/drawing/2014/main" id="{91DA2DC8-0A68-47A7-BC47-F350D219B5E3}"/>
              </a:ext>
            </a:extLst>
          </p:cNvPr>
          <p:cNvSpPr>
            <a:spLocks noGrp="1"/>
          </p:cNvSpPr>
          <p:nvPr/>
        </p:nvSpPr>
        <p:spPr>
          <a:xfrm>
            <a:off x="711200" y="5796598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 통계는 깊이 분포를 뜻하지 않습니다. 약 2m는 탐사 범위 가정입니다.</a:t>
            </a:r>
          </a:p>
        </p:txBody>
      </p:sp>
      <p:sp>
        <p:nvSpPr>
          <p:cNvPr id="11" name="현재 슬라이드 번호">
            <a:extLst>
              <a:ext uri="{FF2B5EF4-FFF2-40B4-BE49-F238E27FC236}">
                <a16:creationId xmlns:a16="http://schemas.microsoft.com/office/drawing/2014/main" id="{2DE0A565-0CDA-4C25-8F4C-F7CE02CC31F9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06 / 18</a:t>
            </a:r>
          </a:p>
        </p:txBody>
      </p:sp>
      <p:sp>
        <p:nvSpPr>
          <p:cNvPr id="12" name="PV5 GroundWatch">
            <a:extLst>
              <a:ext uri="{FF2B5EF4-FFF2-40B4-BE49-F238E27FC236}">
                <a16:creationId xmlns:a16="http://schemas.microsoft.com/office/drawing/2014/main" id="{872B1EF5-2D1A-4BCB-86A7-A418FB2386A1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879060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418C818-4CFC-4E01-9DF4-AAA81723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정기조사 사이를 반복 모니터링으로 보완하고,">
            <a:extLst>
              <a:ext uri="{FF2B5EF4-FFF2-40B4-BE49-F238E27FC236}">
                <a16:creationId xmlns:a16="http://schemas.microsoft.com/office/drawing/2014/main" id="{54F8CFD8-28C4-450A-A6FC-1DC9EFB9B668}"/>
              </a:ext>
            </a:extLst>
          </p:cNvPr>
          <p:cNvSpPr>
            <a:spLocks noGrp="1"/>
          </p:cNvSpPr>
          <p:nvPr/>
        </p:nvSpPr>
        <p:spPr>
          <a:xfrm>
            <a:off x="596900" y="2184400"/>
            <a:ext cx="1003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사진: 서울연구원 · CC BY 4.0">
            <a:extLst>
              <a:ext uri="{FF2B5EF4-FFF2-40B4-BE49-F238E27FC236}">
                <a16:creationId xmlns:a16="http://schemas.microsoft.com/office/drawing/2014/main" id="{2BEE7D23-0444-4C62-8C58-33EB99AB04A5}"/>
              </a:ext>
            </a:extLst>
          </p:cNvPr>
          <p:cNvSpPr>
            <a:spLocks noGrp="1"/>
          </p:cNvSpPr>
          <p:nvPr/>
        </p:nvSpPr>
        <p:spPr>
          <a:xfrm>
            <a:off x="5969000" y="66421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현재 슬라이드 번호">
            <a:extLst>
              <a:ext uri="{FF2B5EF4-FFF2-40B4-BE49-F238E27FC236}">
                <a16:creationId xmlns:a16="http://schemas.microsoft.com/office/drawing/2014/main" id="{C0A76B85-8E7E-4A74-86B8-CBCF13CDD559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PV5 GroundWatch">
            <a:extLst>
              <a:ext uri="{FF2B5EF4-FFF2-40B4-BE49-F238E27FC236}">
                <a16:creationId xmlns:a16="http://schemas.microsoft.com/office/drawing/2014/main" id="{5316714C-66F2-422B-BF60-6B2D343D3260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정기조사 사이를 반복 모니터링으로 보완하고,">
            <a:extLst>
              <a:ext uri="{FF2B5EF4-FFF2-40B4-BE49-F238E27FC236}">
                <a16:creationId xmlns:a16="http://schemas.microsoft.com/office/drawing/2014/main" id="{787D1FA3-3BE6-4FE0-9E2A-6304B79D026A}"/>
              </a:ext>
            </a:extLst>
          </p:cNvPr>
          <p:cNvSpPr>
            <a:spLocks noGrp="1"/>
          </p:cNvSpPr>
          <p:nvPr/>
        </p:nvSpPr>
        <p:spPr>
          <a:xfrm>
            <a:off x="596900" y="2133600"/>
            <a:ext cx="1003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정기조사 사이를 반복 모니터링으로 보완하고,</a:t>
            </a:r>
          </a:p>
        </p:txBody>
      </p:sp>
      <p:sp>
        <p:nvSpPr>
          <p:cNvPr id="8" name="사진: 서울연구원 · CC BY 4.0">
            <a:extLst>
              <a:ext uri="{FF2B5EF4-FFF2-40B4-BE49-F238E27FC236}">
                <a16:creationId xmlns:a16="http://schemas.microsoft.com/office/drawing/2014/main" id="{F0D2F3DA-89E5-45DB-808E-1B25FBC0EA29}"/>
              </a:ext>
            </a:extLst>
          </p:cNvPr>
          <p:cNvSpPr>
            <a:spLocks noGrp="1"/>
          </p:cNvSpPr>
          <p:nvPr/>
        </p:nvSpPr>
        <p:spPr>
          <a:xfrm>
            <a:off x="5969000" y="662178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사진: 서울연구원 · CC BY 4.0</a:t>
            </a:r>
          </a:p>
        </p:txBody>
      </p:sp>
      <p:sp>
        <p:nvSpPr>
          <p:cNvPr id="9" name="현재 슬라이드 번호">
            <a:extLst>
              <a:ext uri="{FF2B5EF4-FFF2-40B4-BE49-F238E27FC236}">
                <a16:creationId xmlns:a16="http://schemas.microsoft.com/office/drawing/2014/main" id="{E6EE2FAD-71B0-4EF9-9E6F-AF0A6C9536CF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07 / 18</a:t>
            </a:r>
          </a:p>
        </p:txBody>
      </p:sp>
      <p:sp>
        <p:nvSpPr>
          <p:cNvPr id="10" name="PV5 GroundWatch">
            <a:extLst>
              <a:ext uri="{FF2B5EF4-FFF2-40B4-BE49-F238E27FC236}">
                <a16:creationId xmlns:a16="http://schemas.microsoft.com/office/drawing/2014/main" id="{0566C20A-8F04-4C70-BB24-96F1EA9B5EF0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681798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C12473E1-DB20-46B0-83B5-E9F45A03E3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반복 측정에서 전문가 재확인까지">
            <a:extLst>
              <a:ext uri="{FF2B5EF4-FFF2-40B4-BE49-F238E27FC236}">
                <a16:creationId xmlns:a16="http://schemas.microsoft.com/office/drawing/2014/main" id="{64124E62-B2F2-4C2D-841E-692750B09645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연 6회">
            <a:extLst>
              <a:ext uri="{FF2B5EF4-FFF2-40B4-BE49-F238E27FC236}">
                <a16:creationId xmlns:a16="http://schemas.microsoft.com/office/drawing/2014/main" id="{FA0DA458-F2DE-4C63-992A-9A6A699A9C8B}"/>
              </a:ext>
            </a:extLst>
          </p:cNvPr>
          <p:cNvSpPr>
            <a:spLocks noGrp="1"/>
          </p:cNvSpPr>
          <p:nvPr/>
        </p:nvSpPr>
        <p:spPr>
          <a:xfrm>
            <a:off x="520700" y="2362200"/>
            <a:ext cx="3556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동일 위험구간 반복 모니터링">
            <a:extLst>
              <a:ext uri="{FF2B5EF4-FFF2-40B4-BE49-F238E27FC236}">
                <a16:creationId xmlns:a16="http://schemas.microsoft.com/office/drawing/2014/main" id="{6F710324-DB0C-4F80-8108-B9B6DF33D8D7}"/>
              </a:ext>
            </a:extLst>
          </p:cNvPr>
          <p:cNvSpPr>
            <a:spLocks noGrp="1"/>
          </p:cNvSpPr>
          <p:nvPr/>
        </p:nvSpPr>
        <p:spPr>
          <a:xfrm>
            <a:off x="520700" y="32766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약 2개월 간격의 운영 가정">
            <a:extLst>
              <a:ext uri="{FF2B5EF4-FFF2-40B4-BE49-F238E27FC236}">
                <a16:creationId xmlns:a16="http://schemas.microsoft.com/office/drawing/2014/main" id="{56B2C8C4-A28E-43B7-B60A-6FE936C0FB12}"/>
              </a:ext>
            </a:extLst>
          </p:cNvPr>
          <p:cNvSpPr>
            <a:spLocks noGrp="1"/>
          </p:cNvSpPr>
          <p:nvPr/>
        </p:nvSpPr>
        <p:spPr>
          <a:xfrm>
            <a:off x="520700" y="36322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변화 선별">
            <a:extLst>
              <a:ext uri="{FF2B5EF4-FFF2-40B4-BE49-F238E27FC236}">
                <a16:creationId xmlns:a16="http://schemas.microsoft.com/office/drawing/2014/main" id="{E484137C-4625-42BD-A1CF-3AA52A9264BF}"/>
              </a:ext>
            </a:extLst>
          </p:cNvPr>
          <p:cNvSpPr>
            <a:spLocks noGrp="1"/>
          </p:cNvSpPr>
          <p:nvPr/>
        </p:nvSpPr>
        <p:spPr>
          <a:xfrm>
            <a:off x="4508500" y="2362200"/>
            <a:ext cx="3556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위치·측정 조건을 보정한 비교">
            <a:extLst>
              <a:ext uri="{FF2B5EF4-FFF2-40B4-BE49-F238E27FC236}">
                <a16:creationId xmlns:a16="http://schemas.microsoft.com/office/drawing/2014/main" id="{BACC2F3F-4F00-4D06-987B-1E52C8822C07}"/>
              </a:ext>
            </a:extLst>
          </p:cNvPr>
          <p:cNvSpPr>
            <a:spLocks noGrp="1"/>
          </p:cNvSpPr>
          <p:nvPr/>
        </p:nvSpPr>
        <p:spPr>
          <a:xfrm>
            <a:off x="4508500" y="32766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현장 성능은 실증으로 확인">
            <a:extLst>
              <a:ext uri="{FF2B5EF4-FFF2-40B4-BE49-F238E27FC236}">
                <a16:creationId xmlns:a16="http://schemas.microsoft.com/office/drawing/2014/main" id="{4C4A638D-9CB1-4F02-A424-7B905AF0497A}"/>
              </a:ext>
            </a:extLst>
          </p:cNvPr>
          <p:cNvSpPr>
            <a:spLocks noGrp="1"/>
          </p:cNvSpPr>
          <p:nvPr/>
        </p:nvSpPr>
        <p:spPr>
          <a:xfrm>
            <a:off x="4508500" y="36322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전문가 확인">
            <a:extLst>
              <a:ext uri="{FF2B5EF4-FFF2-40B4-BE49-F238E27FC236}">
                <a16:creationId xmlns:a16="http://schemas.microsoft.com/office/drawing/2014/main" id="{9C5B719F-2494-408B-A09B-3E7152C4A5CD}"/>
              </a:ext>
            </a:extLst>
          </p:cNvPr>
          <p:cNvSpPr>
            <a:spLocks noGrp="1"/>
          </p:cNvSpPr>
          <p:nvPr/>
        </p:nvSpPr>
        <p:spPr>
          <a:xfrm>
            <a:off x="8445500" y="2362200"/>
            <a:ext cx="3556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0" name="승인 지점의 수동 GPR 재측정">
            <a:extLst>
              <a:ext uri="{FF2B5EF4-FFF2-40B4-BE49-F238E27FC236}">
                <a16:creationId xmlns:a16="http://schemas.microsoft.com/office/drawing/2014/main" id="{8CC73F0A-3295-41F1-9180-F310F59AD6E5}"/>
              </a:ext>
            </a:extLst>
          </p:cNvPr>
          <p:cNvSpPr>
            <a:spLocks noGrp="1"/>
          </p:cNvSpPr>
          <p:nvPr/>
        </p:nvSpPr>
        <p:spPr>
          <a:xfrm>
            <a:off x="8445500" y="32766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공동 확정은 승인된 정밀조사">
            <a:extLst>
              <a:ext uri="{FF2B5EF4-FFF2-40B4-BE49-F238E27FC236}">
                <a16:creationId xmlns:a16="http://schemas.microsoft.com/office/drawing/2014/main" id="{FDF41F43-038B-4433-8101-A6F4ECDF76E8}"/>
              </a:ext>
            </a:extLst>
          </p:cNvPr>
          <p:cNvSpPr>
            <a:spLocks noGrp="1"/>
          </p:cNvSpPr>
          <p:nvPr/>
        </p:nvSpPr>
        <p:spPr>
          <a:xfrm>
            <a:off x="8445500" y="36322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측정 기록을 쌓고, 달라진 곳을 검토하며, 확">
            <a:extLst>
              <a:ext uri="{FF2B5EF4-FFF2-40B4-BE49-F238E27FC236}">
                <a16:creationId xmlns:a16="http://schemas.microsoft.com/office/drawing/2014/main" id="{41290BF8-0CC6-4ED2-8D9C-A93897088C54}"/>
              </a:ext>
            </a:extLst>
          </p:cNvPr>
          <p:cNvSpPr>
            <a:spLocks noGrp="1"/>
          </p:cNvSpPr>
          <p:nvPr/>
        </p:nvSpPr>
        <p:spPr>
          <a:xfrm>
            <a:off x="711200" y="48895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3" name="운영 주기와 구성은 제안 가정입니다. 탐지 정">
            <a:extLst>
              <a:ext uri="{FF2B5EF4-FFF2-40B4-BE49-F238E27FC236}">
                <a16:creationId xmlns:a16="http://schemas.microsoft.com/office/drawing/2014/main" id="{81A12C12-53A6-4C3E-A6A8-42017662A37C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11176000" cy="21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4" name="현재 슬라이드 번호">
            <a:extLst>
              <a:ext uri="{FF2B5EF4-FFF2-40B4-BE49-F238E27FC236}">
                <a16:creationId xmlns:a16="http://schemas.microsoft.com/office/drawing/2014/main" id="{DFEE0E50-79D9-418E-AB35-C003C8C712F9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PV5 GroundWatch">
            <a:extLst>
              <a:ext uri="{FF2B5EF4-FFF2-40B4-BE49-F238E27FC236}">
                <a16:creationId xmlns:a16="http://schemas.microsoft.com/office/drawing/2014/main" id="{5CB6251F-C5E0-4056-A925-8CC48EFEDE9C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7" name="반복 측정에서 전문가 재확인까지">
            <a:extLst>
              <a:ext uri="{FF2B5EF4-FFF2-40B4-BE49-F238E27FC236}">
                <a16:creationId xmlns:a16="http://schemas.microsoft.com/office/drawing/2014/main" id="{59AE4722-5077-4650-9813-DAA3E246C8DD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8" name="운영 주기와 구성은 제안 가정입니다. 탐지 정">
            <a:extLst>
              <a:ext uri="{FF2B5EF4-FFF2-40B4-BE49-F238E27FC236}">
                <a16:creationId xmlns:a16="http://schemas.microsoft.com/office/drawing/2014/main" id="{A9A23F21-325D-43FA-BB44-BE03758C2093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11176000" cy="21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9" name="연 6회 가정">
            <a:extLst>
              <a:ext uri="{FF2B5EF4-FFF2-40B4-BE49-F238E27FC236}">
                <a16:creationId xmlns:a16="http://schemas.microsoft.com/office/drawing/2014/main" id="{81434F03-3E3F-4585-9168-478EA55F52B2}"/>
              </a:ext>
            </a:extLst>
          </p:cNvPr>
          <p:cNvSpPr>
            <a:spLocks noGrp="1"/>
          </p:cNvSpPr>
          <p:nvPr/>
        </p:nvSpPr>
        <p:spPr>
          <a:xfrm>
            <a:off x="520700" y="2362200"/>
            <a:ext cx="3556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0" name="약 2개월 간격의 초기 실증">
            <a:extLst>
              <a:ext uri="{FF2B5EF4-FFF2-40B4-BE49-F238E27FC236}">
                <a16:creationId xmlns:a16="http://schemas.microsoft.com/office/drawing/2014/main" id="{29B535AE-F964-4599-A243-A7BDB67DC85D}"/>
              </a:ext>
            </a:extLst>
          </p:cNvPr>
          <p:cNvSpPr>
            <a:spLocks noGrp="1"/>
          </p:cNvSpPr>
          <p:nvPr/>
        </p:nvSpPr>
        <p:spPr>
          <a:xfrm>
            <a:off x="520700" y="32766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1" name="기존 정밀조사와 별도 운영">
            <a:extLst>
              <a:ext uri="{FF2B5EF4-FFF2-40B4-BE49-F238E27FC236}">
                <a16:creationId xmlns:a16="http://schemas.microsoft.com/office/drawing/2014/main" id="{C49D0EDC-E1C0-4928-BEF1-88AAFFCD1743}"/>
              </a:ext>
            </a:extLst>
          </p:cNvPr>
          <p:cNvSpPr>
            <a:spLocks noGrp="1"/>
          </p:cNvSpPr>
          <p:nvPr/>
        </p:nvSpPr>
        <p:spPr>
          <a:xfrm>
            <a:off x="520700" y="36322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2" name="변화 선별">
            <a:extLst>
              <a:ext uri="{FF2B5EF4-FFF2-40B4-BE49-F238E27FC236}">
                <a16:creationId xmlns:a16="http://schemas.microsoft.com/office/drawing/2014/main" id="{6283DE4E-9404-4240-918F-51368C6B21D9}"/>
              </a:ext>
            </a:extLst>
          </p:cNvPr>
          <p:cNvSpPr>
            <a:spLocks noGrp="1"/>
          </p:cNvSpPr>
          <p:nvPr/>
        </p:nvSpPr>
        <p:spPr>
          <a:xfrm>
            <a:off x="4508500" y="2362200"/>
            <a:ext cx="3556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3" name="위치·측정 조건을 보정한 비교">
            <a:extLst>
              <a:ext uri="{FF2B5EF4-FFF2-40B4-BE49-F238E27FC236}">
                <a16:creationId xmlns:a16="http://schemas.microsoft.com/office/drawing/2014/main" id="{B63C0564-2D68-4D78-9D9B-CE86B1F41124}"/>
              </a:ext>
            </a:extLst>
          </p:cNvPr>
          <p:cNvSpPr>
            <a:spLocks noGrp="1"/>
          </p:cNvSpPr>
          <p:nvPr/>
        </p:nvSpPr>
        <p:spPr>
          <a:xfrm>
            <a:off x="4508500" y="32766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4" name="현장 성능은 실증으로 확인">
            <a:extLst>
              <a:ext uri="{FF2B5EF4-FFF2-40B4-BE49-F238E27FC236}">
                <a16:creationId xmlns:a16="http://schemas.microsoft.com/office/drawing/2014/main" id="{D2531506-71BD-4032-920A-E01EEE76349D}"/>
              </a:ext>
            </a:extLst>
          </p:cNvPr>
          <p:cNvSpPr>
            <a:spLocks noGrp="1"/>
          </p:cNvSpPr>
          <p:nvPr/>
        </p:nvSpPr>
        <p:spPr>
          <a:xfrm>
            <a:off x="4508500" y="36322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5" name="전문가 확인">
            <a:extLst>
              <a:ext uri="{FF2B5EF4-FFF2-40B4-BE49-F238E27FC236}">
                <a16:creationId xmlns:a16="http://schemas.microsoft.com/office/drawing/2014/main" id="{F76D7CEF-5CA7-4AB8-9540-A2042FFF614D}"/>
              </a:ext>
            </a:extLst>
          </p:cNvPr>
          <p:cNvSpPr>
            <a:spLocks noGrp="1"/>
          </p:cNvSpPr>
          <p:nvPr/>
        </p:nvSpPr>
        <p:spPr>
          <a:xfrm>
            <a:off x="8445500" y="2362200"/>
            <a:ext cx="3556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6" name="승인 지점의 수동 GPR 재측정">
            <a:extLst>
              <a:ext uri="{FF2B5EF4-FFF2-40B4-BE49-F238E27FC236}">
                <a16:creationId xmlns:a16="http://schemas.microsoft.com/office/drawing/2014/main" id="{06A7A0EB-B672-4060-B2D8-C832CF332985}"/>
              </a:ext>
            </a:extLst>
          </p:cNvPr>
          <p:cNvSpPr>
            <a:spLocks noGrp="1"/>
          </p:cNvSpPr>
          <p:nvPr/>
        </p:nvSpPr>
        <p:spPr>
          <a:xfrm>
            <a:off x="8445500" y="32766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7" name="후속 판단은 도로관리기관">
            <a:extLst>
              <a:ext uri="{FF2B5EF4-FFF2-40B4-BE49-F238E27FC236}">
                <a16:creationId xmlns:a16="http://schemas.microsoft.com/office/drawing/2014/main" id="{5737F8C5-2F09-472A-BB36-CEEA2DD8B896}"/>
              </a:ext>
            </a:extLst>
          </p:cNvPr>
          <p:cNvSpPr>
            <a:spLocks noGrp="1"/>
          </p:cNvSpPr>
          <p:nvPr/>
        </p:nvSpPr>
        <p:spPr>
          <a:xfrm>
            <a:off x="8445500" y="3632200"/>
            <a:ext cx="355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8" name="실제 주기는 위험도·강우·굴착공사 이력과 실증">
            <a:extLst>
              <a:ext uri="{FF2B5EF4-FFF2-40B4-BE49-F238E27FC236}">
                <a16:creationId xmlns:a16="http://schemas.microsoft.com/office/drawing/2014/main" id="{B863BABB-8BDE-4600-88EB-A49BB56B30BE}"/>
              </a:ext>
            </a:extLst>
          </p:cNvPr>
          <p:cNvSpPr>
            <a:spLocks noGrp="1"/>
          </p:cNvSpPr>
          <p:nvPr/>
        </p:nvSpPr>
        <p:spPr>
          <a:xfrm>
            <a:off x="711200" y="4813300"/>
            <a:ext cx="10922000" cy="67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9" name="발주기관과 운영 범위를 정하며, 특정 대응 시">
            <a:extLst>
              <a:ext uri="{FF2B5EF4-FFF2-40B4-BE49-F238E27FC236}">
                <a16:creationId xmlns:a16="http://schemas.microsoft.com/office/drawing/2014/main" id="{20C4DD06-56AB-4A85-8DE0-F3AC8C58BB3D}"/>
              </a:ext>
            </a:extLst>
          </p:cNvPr>
          <p:cNvSpPr>
            <a:spLocks noGrp="1"/>
          </p:cNvSpPr>
          <p:nvPr/>
        </p:nvSpPr>
        <p:spPr>
          <a:xfrm>
            <a:off x="711200" y="5626100"/>
            <a:ext cx="1092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0" name="현재 슬라이드 번호">
            <a:extLst>
              <a:ext uri="{FF2B5EF4-FFF2-40B4-BE49-F238E27FC236}">
                <a16:creationId xmlns:a16="http://schemas.microsoft.com/office/drawing/2014/main" id="{54B11AE2-05F6-409C-B6BE-EE1009488564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1" name="PV5 GroundWatch">
            <a:extLst>
              <a:ext uri="{FF2B5EF4-FFF2-40B4-BE49-F238E27FC236}">
                <a16:creationId xmlns:a16="http://schemas.microsoft.com/office/drawing/2014/main" id="{BDEC193E-1505-4736-96CF-EB382D0DD702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2" name="반복 측정에서 전문가 재확인까지">
            <a:extLst>
              <a:ext uri="{FF2B5EF4-FFF2-40B4-BE49-F238E27FC236}">
                <a16:creationId xmlns:a16="http://schemas.microsoft.com/office/drawing/2014/main" id="{23210510-2EA8-48E0-A8C6-794BDCD0731A}"/>
              </a:ext>
            </a:extLst>
          </p:cNvPr>
          <p:cNvSpPr>
            <a:spLocks noGrp="1"/>
          </p:cNvSpPr>
          <p:nvPr/>
        </p:nvSpPr>
        <p:spPr>
          <a:xfrm>
            <a:off x="520700" y="77216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측정에서 전문가 재확인까지</a:t>
            </a:r>
          </a:p>
        </p:txBody>
      </p:sp>
      <p:sp>
        <p:nvSpPr>
          <p:cNvPr id="33" name="반복">
            <a:extLst>
              <a:ext uri="{FF2B5EF4-FFF2-40B4-BE49-F238E27FC236}">
                <a16:creationId xmlns:a16="http://schemas.microsoft.com/office/drawing/2014/main" id="{4E4E8332-067F-41DE-9F52-7B56E970977B}"/>
              </a:ext>
            </a:extLst>
          </p:cNvPr>
          <p:cNvSpPr>
            <a:spLocks noGrp="1"/>
          </p:cNvSpPr>
          <p:nvPr/>
        </p:nvSpPr>
        <p:spPr>
          <a:xfrm>
            <a:off x="520700" y="2209800"/>
            <a:ext cx="3556000" cy="97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</a:t>
            </a:r>
          </a:p>
        </p:txBody>
      </p:sp>
      <p:sp>
        <p:nvSpPr>
          <p:cNvPr id="34" name="연 6회·약 2개월 가정">
            <a:extLst>
              <a:ext uri="{FF2B5EF4-FFF2-40B4-BE49-F238E27FC236}">
                <a16:creationId xmlns:a16="http://schemas.microsoft.com/office/drawing/2014/main" id="{C967568D-7C33-418F-9047-0F5B57FC8F35}"/>
              </a:ext>
            </a:extLst>
          </p:cNvPr>
          <p:cNvSpPr>
            <a:spLocks noGrp="1"/>
          </p:cNvSpPr>
          <p:nvPr/>
        </p:nvSpPr>
        <p:spPr>
          <a:xfrm>
            <a:off x="520700" y="323088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연 6회·약 2개월 가정</a:t>
            </a:r>
          </a:p>
        </p:txBody>
      </p:sp>
      <p:sp>
        <p:nvSpPr>
          <p:cNvPr id="35" name="초기 실증 · 정밀조사와 별도">
            <a:extLst>
              <a:ext uri="{FF2B5EF4-FFF2-40B4-BE49-F238E27FC236}">
                <a16:creationId xmlns:a16="http://schemas.microsoft.com/office/drawing/2014/main" id="{4606F9F6-01F4-45EB-B9A3-BB301E487770}"/>
              </a:ext>
            </a:extLst>
          </p:cNvPr>
          <p:cNvSpPr>
            <a:spLocks noGrp="1"/>
          </p:cNvSpPr>
          <p:nvPr/>
        </p:nvSpPr>
        <p:spPr>
          <a:xfrm>
            <a:off x="520700" y="3596640"/>
            <a:ext cx="355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초기 실증 · 정밀조사와 별도</a:t>
            </a:r>
          </a:p>
        </p:txBody>
      </p:sp>
      <p:sp>
        <p:nvSpPr>
          <p:cNvPr id="36" name="선별">
            <a:extLst>
              <a:ext uri="{FF2B5EF4-FFF2-40B4-BE49-F238E27FC236}">
                <a16:creationId xmlns:a16="http://schemas.microsoft.com/office/drawing/2014/main" id="{3E068737-6548-4B52-937A-2B968D9830D9}"/>
              </a:ext>
            </a:extLst>
          </p:cNvPr>
          <p:cNvSpPr>
            <a:spLocks noGrp="1"/>
          </p:cNvSpPr>
          <p:nvPr/>
        </p:nvSpPr>
        <p:spPr>
          <a:xfrm>
            <a:off x="4508500" y="2209800"/>
            <a:ext cx="3556000" cy="97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선별</a:t>
            </a:r>
          </a:p>
        </p:txBody>
      </p:sp>
      <p:sp>
        <p:nvSpPr>
          <p:cNvPr id="37" name="측정 조건을 맞춘 변화 비교">
            <a:extLst>
              <a:ext uri="{FF2B5EF4-FFF2-40B4-BE49-F238E27FC236}">
                <a16:creationId xmlns:a16="http://schemas.microsoft.com/office/drawing/2014/main" id="{786AE7D7-CA75-49CD-9648-A487F945D999}"/>
              </a:ext>
            </a:extLst>
          </p:cNvPr>
          <p:cNvSpPr>
            <a:spLocks noGrp="1"/>
          </p:cNvSpPr>
          <p:nvPr/>
        </p:nvSpPr>
        <p:spPr>
          <a:xfrm>
            <a:off x="4508500" y="323088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측정 조건을 맞춘 변화 비교</a:t>
            </a:r>
          </a:p>
        </p:txBody>
      </p:sp>
      <p:sp>
        <p:nvSpPr>
          <p:cNvPr id="38" name="현장 성능은 실증으로 확인">
            <a:extLst>
              <a:ext uri="{FF2B5EF4-FFF2-40B4-BE49-F238E27FC236}">
                <a16:creationId xmlns:a16="http://schemas.microsoft.com/office/drawing/2014/main" id="{0B4BC693-CE3F-470C-BF43-B9B678CC5577}"/>
              </a:ext>
            </a:extLst>
          </p:cNvPr>
          <p:cNvSpPr>
            <a:spLocks noGrp="1"/>
          </p:cNvSpPr>
          <p:nvPr/>
        </p:nvSpPr>
        <p:spPr>
          <a:xfrm>
            <a:off x="4508500" y="3596640"/>
            <a:ext cx="355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현장 성능은 실증으로 확인</a:t>
            </a:r>
          </a:p>
        </p:txBody>
      </p:sp>
      <p:sp>
        <p:nvSpPr>
          <p:cNvPr id="39" name="확인">
            <a:extLst>
              <a:ext uri="{FF2B5EF4-FFF2-40B4-BE49-F238E27FC236}">
                <a16:creationId xmlns:a16="http://schemas.microsoft.com/office/drawing/2014/main" id="{F205CE5D-8E27-4C7E-BCDD-497FF3FAB424}"/>
              </a:ext>
            </a:extLst>
          </p:cNvPr>
          <p:cNvSpPr>
            <a:spLocks noGrp="1"/>
          </p:cNvSpPr>
          <p:nvPr/>
        </p:nvSpPr>
        <p:spPr>
          <a:xfrm>
            <a:off x="8445500" y="2209800"/>
            <a:ext cx="3556000" cy="97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40" name="전문가 검토·현장 재확인">
            <a:extLst>
              <a:ext uri="{FF2B5EF4-FFF2-40B4-BE49-F238E27FC236}">
                <a16:creationId xmlns:a16="http://schemas.microsoft.com/office/drawing/2014/main" id="{CCB33A05-1DEE-4FB7-8ABE-5402368A92F9}"/>
              </a:ext>
            </a:extLst>
          </p:cNvPr>
          <p:cNvSpPr>
            <a:spLocks noGrp="1"/>
          </p:cNvSpPr>
          <p:nvPr/>
        </p:nvSpPr>
        <p:spPr>
          <a:xfrm>
            <a:off x="8445500" y="323088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전문가 검토·현장 재확인</a:t>
            </a:r>
          </a:p>
        </p:txBody>
      </p:sp>
      <p:sp>
        <p:nvSpPr>
          <p:cNvPr id="41" name="후속 판단은 도로관리기관">
            <a:extLst>
              <a:ext uri="{FF2B5EF4-FFF2-40B4-BE49-F238E27FC236}">
                <a16:creationId xmlns:a16="http://schemas.microsoft.com/office/drawing/2014/main" id="{876FD0B3-5F2A-4EE6-970E-0082213B494C}"/>
              </a:ext>
            </a:extLst>
          </p:cNvPr>
          <p:cNvSpPr>
            <a:spLocks noGrp="1"/>
          </p:cNvSpPr>
          <p:nvPr/>
        </p:nvSpPr>
        <p:spPr>
          <a:xfrm>
            <a:off x="8445500" y="3596640"/>
            <a:ext cx="355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후속 판단은 도로관리기관</a:t>
            </a:r>
          </a:p>
        </p:txBody>
      </p:sp>
      <p:sp>
        <p:nvSpPr>
          <p:cNvPr id="42" name="실제 주기는 위험도·강우·공사 이력과 실증 결">
            <a:extLst>
              <a:ext uri="{FF2B5EF4-FFF2-40B4-BE49-F238E27FC236}">
                <a16:creationId xmlns:a16="http://schemas.microsoft.com/office/drawing/2014/main" id="{917B1E38-55FB-4CCA-80C3-7EEB9BDFEA86}"/>
              </a:ext>
            </a:extLst>
          </p:cNvPr>
          <p:cNvSpPr>
            <a:spLocks noGrp="1"/>
          </p:cNvSpPr>
          <p:nvPr/>
        </p:nvSpPr>
        <p:spPr>
          <a:xfrm>
            <a:off x="711200" y="4630738"/>
            <a:ext cx="10922000" cy="67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 주기는 위험도·강우·공사 이력과 실증 결과를 반영해 발주기관과 협의합니다.</a:t>
            </a:r>
          </a:p>
          <a:p>
            <a:pPr algn="l">
              <a:lnSpc>
                <a:spcPct val="125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 징후·집중호우가 있으면 추가 조사 여부를 검토합니다.</a:t>
            </a:r>
          </a:p>
        </p:txBody>
      </p:sp>
      <p:sp>
        <p:nvSpPr>
          <p:cNvPr id="43" name="연 6회·약 2개월은 초기 실증 가정입니다. ">
            <a:extLst>
              <a:ext uri="{FF2B5EF4-FFF2-40B4-BE49-F238E27FC236}">
                <a16:creationId xmlns:a16="http://schemas.microsoft.com/office/drawing/2014/main" id="{E4F7ECC3-716A-4E97-A65B-32A9FCC3444E}"/>
              </a:ext>
            </a:extLst>
          </p:cNvPr>
          <p:cNvSpPr>
            <a:spLocks noGrp="1"/>
          </p:cNvSpPr>
          <p:nvPr/>
        </p:nvSpPr>
        <p:spPr>
          <a:xfrm>
            <a:off x="533400" y="6146800"/>
            <a:ext cx="1117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연 6회·약 2개월은 초기 실증 가정입니다. 특정 대응 시간이나 모든 위험의 포착을 보장하지 않습니다.</a:t>
            </a:r>
          </a:p>
        </p:txBody>
      </p:sp>
      <p:sp>
        <p:nvSpPr>
          <p:cNvPr id="44" name="현재 슬라이드 번호">
            <a:extLst>
              <a:ext uri="{FF2B5EF4-FFF2-40B4-BE49-F238E27FC236}">
                <a16:creationId xmlns:a16="http://schemas.microsoft.com/office/drawing/2014/main" id="{C310B4D2-0869-4A77-B219-C191355F68DD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08 / 18</a:t>
            </a:r>
          </a:p>
        </p:txBody>
      </p:sp>
      <p:sp>
        <p:nvSpPr>
          <p:cNvPr id="45" name="PV5 GroundWatch">
            <a:extLst>
              <a:ext uri="{FF2B5EF4-FFF2-40B4-BE49-F238E27FC236}">
                <a16:creationId xmlns:a16="http://schemas.microsoft.com/office/drawing/2014/main" id="{2F115510-3802-428B-943E-49829B2AA263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11633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B0DC98F-9990-44A5-ABE1-F119F4289A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공동 크기 [원본 확인 필요]">
            <a:extLst>
              <a:ext uri="{FF2B5EF4-FFF2-40B4-BE49-F238E27FC236}">
                <a16:creationId xmlns:a16="http://schemas.microsoft.com/office/drawing/2014/main" id="{A76B2386-C8E8-4572-9CCF-7D0EB6F16121}"/>
              </a:ext>
            </a:extLst>
          </p:cNvPr>
          <p:cNvSpPr>
            <a:spLocks noGrp="1"/>
          </p:cNvSpPr>
          <p:nvPr/>
        </p:nvSpPr>
        <p:spPr>
          <a:xfrm>
            <a:off x="533400" y="36068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변화량 [원본 확인 필요]">
            <a:extLst>
              <a:ext uri="{FF2B5EF4-FFF2-40B4-BE49-F238E27FC236}">
                <a16:creationId xmlns:a16="http://schemas.microsoft.com/office/drawing/2014/main" id="{F17EBE05-8361-4878-9E8D-72BB0687D337}"/>
              </a:ext>
            </a:extLst>
          </p:cNvPr>
          <p:cNvSpPr>
            <a:spLocks noGrp="1"/>
          </p:cNvSpPr>
          <p:nvPr/>
        </p:nvSpPr>
        <p:spPr>
          <a:xfrm>
            <a:off x="4368800" y="36068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검증 전">
            <a:extLst>
              <a:ext uri="{FF2B5EF4-FFF2-40B4-BE49-F238E27FC236}">
                <a16:creationId xmlns:a16="http://schemas.microsoft.com/office/drawing/2014/main" id="{0503072A-518C-445A-A00E-9E4955D33D82}"/>
              </a:ext>
            </a:extLst>
          </p:cNvPr>
          <p:cNvSpPr>
            <a:spLocks noGrp="1"/>
          </p:cNvSpPr>
          <p:nvPr/>
        </p:nvSpPr>
        <p:spPr>
          <a:xfrm>
            <a:off x="520700" y="4381500"/>
            <a:ext cx="2641600" cy="77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4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시뮬레이션 수치는 검증이 필요합니다">
            <a:extLst>
              <a:ext uri="{FF2B5EF4-FFF2-40B4-BE49-F238E27FC236}">
                <a16:creationId xmlns:a16="http://schemas.microsoft.com/office/drawing/2014/main" id="{715E8150-A8E3-4CA8-BFE8-D7EAA40F2EE3}"/>
              </a:ext>
            </a:extLst>
          </p:cNvPr>
          <p:cNvSpPr>
            <a:spLocks noGrp="1"/>
          </p:cNvSpPr>
          <p:nvPr/>
        </p:nvSpPr>
        <p:spPr>
          <a:xfrm>
            <a:off x="3187700" y="4419600"/>
            <a:ext cx="8382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성장량·비교 오탐 조건 [원본 확인 필요]&#10;현">
            <a:extLst>
              <a:ext uri="{FF2B5EF4-FFF2-40B4-BE49-F238E27FC236}">
                <a16:creationId xmlns:a16="http://schemas.microsoft.com/office/drawing/2014/main" id="{3598B4F3-8E59-471A-B999-42AAB48D77C9}"/>
              </a:ext>
            </a:extLst>
          </p:cNvPr>
          <p:cNvSpPr>
            <a:spLocks noGrp="1"/>
          </p:cNvSpPr>
          <p:nvPr/>
        </p:nvSpPr>
        <p:spPr>
          <a:xfrm>
            <a:off x="3187700" y="4851400"/>
            <a:ext cx="8382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원본 확인 필요: 성장 조건, 비교한 오탐 요">
            <a:extLst>
              <a:ext uri="{FF2B5EF4-FFF2-40B4-BE49-F238E27FC236}">
                <a16:creationId xmlns:a16="http://schemas.microsoft.com/office/drawing/2014/main" id="{717D3F02-3AC7-4E09-AAA2-0F7755FAEDA7}"/>
              </a:ext>
            </a:extLst>
          </p:cNvPr>
          <p:cNvSpPr>
            <a:spLocks noGrp="1"/>
          </p:cNvSpPr>
          <p:nvPr/>
        </p:nvSpPr>
        <p:spPr>
          <a:xfrm>
            <a:off x="533400" y="6096000"/>
            <a:ext cx="11176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현재 슬라이드 번호">
            <a:extLst>
              <a:ext uri="{FF2B5EF4-FFF2-40B4-BE49-F238E27FC236}">
                <a16:creationId xmlns:a16="http://schemas.microsoft.com/office/drawing/2014/main" id="{B12FCEFA-B26E-4864-85A1-ED3CF5A7EF15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PV5 GroundWatch">
            <a:extLst>
              <a:ext uri="{FF2B5EF4-FFF2-40B4-BE49-F238E27FC236}">
                <a16:creationId xmlns:a16="http://schemas.microsoft.com/office/drawing/2014/main" id="{9ECF81C8-37D1-4CB9-9D16-55E3472501B7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반복 측정에서 실제 변화를 구분할 수 있는지 ">
            <a:extLst>
              <a:ext uri="{FF2B5EF4-FFF2-40B4-BE49-F238E27FC236}">
                <a16:creationId xmlns:a16="http://schemas.microsoft.com/office/drawing/2014/main" id="{5EF81E01-F017-40CB-99CD-FB2C1ABE46EF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동일 구간의 기준 기록">
            <a:extLst>
              <a:ext uri="{FF2B5EF4-FFF2-40B4-BE49-F238E27FC236}">
                <a16:creationId xmlns:a16="http://schemas.microsoft.com/office/drawing/2014/main" id="{E8255609-9C5F-4DD7-8E27-421DA740F275}"/>
              </a:ext>
            </a:extLst>
          </p:cNvPr>
          <p:cNvSpPr>
            <a:spLocks noGrp="1"/>
          </p:cNvSpPr>
          <p:nvPr/>
        </p:nvSpPr>
        <p:spPr>
          <a:xfrm>
            <a:off x="533400" y="3378200"/>
            <a:ext cx="3556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3" name="지난 회차 · 설명용">
            <a:extLst>
              <a:ext uri="{FF2B5EF4-FFF2-40B4-BE49-F238E27FC236}">
                <a16:creationId xmlns:a16="http://schemas.microsoft.com/office/drawing/2014/main" id="{6F73C043-166C-4352-ADA1-571CED2DD147}"/>
              </a:ext>
            </a:extLst>
          </p:cNvPr>
          <p:cNvSpPr>
            <a:spLocks noGrp="1"/>
          </p:cNvSpPr>
          <p:nvPr/>
        </p:nvSpPr>
        <p:spPr>
          <a:xfrm>
            <a:off x="533400" y="3695700"/>
            <a:ext cx="355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4" name="측정 조건을 맞춘 재측정">
            <a:extLst>
              <a:ext uri="{FF2B5EF4-FFF2-40B4-BE49-F238E27FC236}">
                <a16:creationId xmlns:a16="http://schemas.microsoft.com/office/drawing/2014/main" id="{BBE534C9-0939-4427-9788-0C6D88CA8098}"/>
              </a:ext>
            </a:extLst>
          </p:cNvPr>
          <p:cNvSpPr>
            <a:spLocks noGrp="1"/>
          </p:cNvSpPr>
          <p:nvPr/>
        </p:nvSpPr>
        <p:spPr>
          <a:xfrm>
            <a:off x="4368800" y="3378200"/>
            <a:ext cx="3556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이번 회차 · 설명용">
            <a:extLst>
              <a:ext uri="{FF2B5EF4-FFF2-40B4-BE49-F238E27FC236}">
                <a16:creationId xmlns:a16="http://schemas.microsoft.com/office/drawing/2014/main" id="{FBDA2DF3-C0B4-4B78-8DAD-C2A3793A9BD0}"/>
              </a:ext>
            </a:extLst>
          </p:cNvPr>
          <p:cNvSpPr>
            <a:spLocks noGrp="1"/>
          </p:cNvSpPr>
          <p:nvPr/>
        </p:nvSpPr>
        <p:spPr>
          <a:xfrm>
            <a:off x="4368800" y="3695700"/>
            <a:ext cx="355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6" name="회차 차이의 후보 선별">
            <a:extLst>
              <a:ext uri="{FF2B5EF4-FFF2-40B4-BE49-F238E27FC236}">
                <a16:creationId xmlns:a16="http://schemas.microsoft.com/office/drawing/2014/main" id="{79B81177-D89A-48BD-8E7F-0A07C9ECEDD9}"/>
              </a:ext>
            </a:extLst>
          </p:cNvPr>
          <p:cNvSpPr>
            <a:spLocks noGrp="1"/>
          </p:cNvSpPr>
          <p:nvPr/>
        </p:nvSpPr>
        <p:spPr>
          <a:xfrm>
            <a:off x="8204200" y="3378200"/>
            <a:ext cx="3556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7" name="변화의 원인은 전문가가 검토">
            <a:extLst>
              <a:ext uri="{FF2B5EF4-FFF2-40B4-BE49-F238E27FC236}">
                <a16:creationId xmlns:a16="http://schemas.microsoft.com/office/drawing/2014/main" id="{FF1EB105-A73D-4A86-9E2F-DAA2FC7B8454}"/>
              </a:ext>
            </a:extLst>
          </p:cNvPr>
          <p:cNvSpPr>
            <a:spLocks noGrp="1"/>
          </p:cNvSpPr>
          <p:nvPr/>
        </p:nvSpPr>
        <p:spPr>
          <a:xfrm>
            <a:off x="8204200" y="3695700"/>
            <a:ext cx="355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8" name="실증 설계">
            <a:extLst>
              <a:ext uri="{FF2B5EF4-FFF2-40B4-BE49-F238E27FC236}">
                <a16:creationId xmlns:a16="http://schemas.microsoft.com/office/drawing/2014/main" id="{66E22C17-8D42-4277-AC91-8B797609F0EF}"/>
              </a:ext>
            </a:extLst>
          </p:cNvPr>
          <p:cNvSpPr>
            <a:spLocks noGrp="1"/>
          </p:cNvSpPr>
          <p:nvPr/>
        </p:nvSpPr>
        <p:spPr>
          <a:xfrm>
            <a:off x="520700" y="4381500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9" name="무변화 구간을 반복 측정해 오탐 확인">
            <a:extLst>
              <a:ext uri="{FF2B5EF4-FFF2-40B4-BE49-F238E27FC236}">
                <a16:creationId xmlns:a16="http://schemas.microsoft.com/office/drawing/2014/main" id="{F0412438-5051-4830-AEC0-FD6CD42843C8}"/>
              </a:ext>
            </a:extLst>
          </p:cNvPr>
          <p:cNvSpPr>
            <a:spLocks noGrp="1"/>
          </p:cNvSpPr>
          <p:nvPr/>
        </p:nvSpPr>
        <p:spPr>
          <a:xfrm>
            <a:off x="3187700" y="4381500"/>
            <a:ext cx="838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0" name="크기를 아는 시험 공동으로 변화 검출 확인">
            <a:extLst>
              <a:ext uri="{FF2B5EF4-FFF2-40B4-BE49-F238E27FC236}">
                <a16:creationId xmlns:a16="http://schemas.microsoft.com/office/drawing/2014/main" id="{D7CC922C-87C6-478F-8D86-ECF0ED2A6E36}"/>
              </a:ext>
            </a:extLst>
          </p:cNvPr>
          <p:cNvSpPr>
            <a:spLocks noGrp="1"/>
          </p:cNvSpPr>
          <p:nvPr/>
        </p:nvSpPr>
        <p:spPr>
          <a:xfrm>
            <a:off x="3187700" y="4775200"/>
            <a:ext cx="838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1" name="위치·높이·수분·차량 상태의 영향 확인">
            <a:extLst>
              <a:ext uri="{FF2B5EF4-FFF2-40B4-BE49-F238E27FC236}">
                <a16:creationId xmlns:a16="http://schemas.microsoft.com/office/drawing/2014/main" id="{B8D635A1-2237-4974-8379-41FD9AD62B6B}"/>
              </a:ext>
            </a:extLst>
          </p:cNvPr>
          <p:cNvSpPr>
            <a:spLocks noGrp="1"/>
          </p:cNvSpPr>
          <p:nvPr/>
        </p:nvSpPr>
        <p:spPr>
          <a:xfrm>
            <a:off x="3187700" y="5168900"/>
            <a:ext cx="838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2" name="설명용 비교 이미지 · 현장 성능은 아직 검증">
            <a:extLst>
              <a:ext uri="{FF2B5EF4-FFF2-40B4-BE49-F238E27FC236}">
                <a16:creationId xmlns:a16="http://schemas.microsoft.com/office/drawing/2014/main" id="{288C6599-33E1-435A-88A1-42BAF866E01F}"/>
              </a:ext>
            </a:extLst>
          </p:cNvPr>
          <p:cNvSpPr>
            <a:spLocks noGrp="1"/>
          </p:cNvSpPr>
          <p:nvPr/>
        </p:nvSpPr>
        <p:spPr>
          <a:xfrm>
            <a:off x="533400" y="6096000"/>
            <a:ext cx="111760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3" name="현재 슬라이드 번호">
            <a:extLst>
              <a:ext uri="{FF2B5EF4-FFF2-40B4-BE49-F238E27FC236}">
                <a16:creationId xmlns:a16="http://schemas.microsoft.com/office/drawing/2014/main" id="{6753D3B0-E3E3-4D16-8115-35DB53F99011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4" name="PV5 GroundWatch">
            <a:extLst>
              <a:ext uri="{FF2B5EF4-FFF2-40B4-BE49-F238E27FC236}">
                <a16:creationId xmlns:a16="http://schemas.microsoft.com/office/drawing/2014/main" id="{6E562BFF-E05B-4E93-89E4-ACACF5005C3A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5" name="반복 측정의 변화 구분 성능을 검증합니다">
            <a:extLst>
              <a:ext uri="{FF2B5EF4-FFF2-40B4-BE49-F238E27FC236}">
                <a16:creationId xmlns:a16="http://schemas.microsoft.com/office/drawing/2014/main" id="{1AE867D2-ED23-487C-A834-DA2C32E44167}"/>
              </a:ext>
            </a:extLst>
          </p:cNvPr>
          <p:cNvSpPr>
            <a:spLocks noGrp="1"/>
          </p:cNvSpPr>
          <p:nvPr/>
        </p:nvSpPr>
        <p:spPr>
          <a:xfrm>
            <a:off x="520700" y="77216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측정의 변화 구분 성능을 검증합니다</a:t>
            </a:r>
          </a:p>
        </p:txBody>
      </p:sp>
      <p:sp>
        <p:nvSpPr>
          <p:cNvPr id="26" name="기준 기록">
            <a:extLst>
              <a:ext uri="{FF2B5EF4-FFF2-40B4-BE49-F238E27FC236}">
                <a16:creationId xmlns:a16="http://schemas.microsoft.com/office/drawing/2014/main" id="{6F6F6E92-BC88-449C-8654-DC8FB19AB1B4}"/>
              </a:ext>
            </a:extLst>
          </p:cNvPr>
          <p:cNvSpPr>
            <a:spLocks noGrp="1"/>
          </p:cNvSpPr>
          <p:nvPr/>
        </p:nvSpPr>
        <p:spPr>
          <a:xfrm>
            <a:off x="533400" y="3347720"/>
            <a:ext cx="355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 기록</a:t>
            </a:r>
          </a:p>
        </p:txBody>
      </p:sp>
      <p:sp>
        <p:nvSpPr>
          <p:cNvPr id="27" name="지난 회차 · 설명용">
            <a:extLst>
              <a:ext uri="{FF2B5EF4-FFF2-40B4-BE49-F238E27FC236}">
                <a16:creationId xmlns:a16="http://schemas.microsoft.com/office/drawing/2014/main" id="{E63C0F41-C070-4FC3-B1FE-455F521D0568}"/>
              </a:ext>
            </a:extLst>
          </p:cNvPr>
          <p:cNvSpPr>
            <a:spLocks noGrp="1"/>
          </p:cNvSpPr>
          <p:nvPr/>
        </p:nvSpPr>
        <p:spPr>
          <a:xfrm>
            <a:off x="533400" y="3604260"/>
            <a:ext cx="355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pPr>
            <a:r>
              <a: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rPr>
              <a:t>지난 회차 · 설명용</a:t>
            </a:r>
          </a:p>
        </p:txBody>
      </p:sp>
      <p:sp>
        <p:nvSpPr>
          <p:cNvPr id="28" name="동일 구간 재측정">
            <a:extLst>
              <a:ext uri="{FF2B5EF4-FFF2-40B4-BE49-F238E27FC236}">
                <a16:creationId xmlns:a16="http://schemas.microsoft.com/office/drawing/2014/main" id="{71D4C530-56FE-4A48-97C6-15F708F5A6EB}"/>
              </a:ext>
            </a:extLst>
          </p:cNvPr>
          <p:cNvSpPr>
            <a:spLocks noGrp="1"/>
          </p:cNvSpPr>
          <p:nvPr/>
        </p:nvSpPr>
        <p:spPr>
          <a:xfrm>
            <a:off x="4368800" y="3347720"/>
            <a:ext cx="355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동일 구간 재측정</a:t>
            </a:r>
          </a:p>
        </p:txBody>
      </p:sp>
      <p:sp>
        <p:nvSpPr>
          <p:cNvPr id="29" name="이번 회차 · 설명용">
            <a:extLst>
              <a:ext uri="{FF2B5EF4-FFF2-40B4-BE49-F238E27FC236}">
                <a16:creationId xmlns:a16="http://schemas.microsoft.com/office/drawing/2014/main" id="{3CFB2C35-9E07-4570-89CD-0B5623782F17}"/>
              </a:ext>
            </a:extLst>
          </p:cNvPr>
          <p:cNvSpPr>
            <a:spLocks noGrp="1"/>
          </p:cNvSpPr>
          <p:nvPr/>
        </p:nvSpPr>
        <p:spPr>
          <a:xfrm>
            <a:off x="4368800" y="3604260"/>
            <a:ext cx="355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pPr>
            <a:r>
              <a: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rPr>
              <a:t>이번 회차 · 설명용</a:t>
            </a:r>
          </a:p>
        </p:txBody>
      </p:sp>
      <p:sp>
        <p:nvSpPr>
          <p:cNvPr id="30" name="회차 차이 선별">
            <a:extLst>
              <a:ext uri="{FF2B5EF4-FFF2-40B4-BE49-F238E27FC236}">
                <a16:creationId xmlns:a16="http://schemas.microsoft.com/office/drawing/2014/main" id="{CA1E8227-139A-41B7-8921-30919E6DCD31}"/>
              </a:ext>
            </a:extLst>
          </p:cNvPr>
          <p:cNvSpPr>
            <a:spLocks noGrp="1"/>
          </p:cNvSpPr>
          <p:nvPr/>
        </p:nvSpPr>
        <p:spPr>
          <a:xfrm>
            <a:off x="8204200" y="3347720"/>
            <a:ext cx="355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회차 차이 선별</a:t>
            </a:r>
          </a:p>
        </p:txBody>
      </p:sp>
      <p:sp>
        <p:nvSpPr>
          <p:cNvPr id="31" name="변화의 원인은 전문가가 검토">
            <a:extLst>
              <a:ext uri="{FF2B5EF4-FFF2-40B4-BE49-F238E27FC236}">
                <a16:creationId xmlns:a16="http://schemas.microsoft.com/office/drawing/2014/main" id="{EB1ECA0D-892D-4FBE-AF83-70E10CD26688}"/>
              </a:ext>
            </a:extLst>
          </p:cNvPr>
          <p:cNvSpPr>
            <a:spLocks noGrp="1"/>
          </p:cNvSpPr>
          <p:nvPr/>
        </p:nvSpPr>
        <p:spPr>
          <a:xfrm>
            <a:off x="8204200" y="3604260"/>
            <a:ext cx="355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defRPr>
            </a:pPr>
            <a:r>
              <a:rPr sz="1100" b="0">
                <a:solidFill>
                  <a:srgbClr val="C3CBD8"/>
                </a:solidFill>
                <a:latin typeface="Pretendard"/>
                <a:ea typeface="Pretendard"/>
                <a:cs typeface="Pretendard"/>
              </a:rPr>
              <a:t>변화의 원인은 전문가가 검토</a:t>
            </a:r>
          </a:p>
        </p:txBody>
      </p:sp>
      <p:sp>
        <p:nvSpPr>
          <p:cNvPr id="32" name="검증">
            <a:extLst>
              <a:ext uri="{FF2B5EF4-FFF2-40B4-BE49-F238E27FC236}">
                <a16:creationId xmlns:a16="http://schemas.microsoft.com/office/drawing/2014/main" id="{05F15CCA-97AC-4428-AB13-6A5DE08BE680}"/>
              </a:ext>
            </a:extLst>
          </p:cNvPr>
          <p:cNvSpPr>
            <a:spLocks noGrp="1"/>
          </p:cNvSpPr>
          <p:nvPr/>
        </p:nvSpPr>
        <p:spPr>
          <a:xfrm>
            <a:off x="520700" y="4201160"/>
            <a:ext cx="26670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33" name="무변화 구간의 오탐 확인">
            <a:extLst>
              <a:ext uri="{FF2B5EF4-FFF2-40B4-BE49-F238E27FC236}">
                <a16:creationId xmlns:a16="http://schemas.microsoft.com/office/drawing/2014/main" id="{5D7BB178-9C54-4357-97E7-D08D03EE72A9}"/>
              </a:ext>
            </a:extLst>
          </p:cNvPr>
          <p:cNvSpPr>
            <a:spLocks noGrp="1"/>
          </p:cNvSpPr>
          <p:nvPr/>
        </p:nvSpPr>
        <p:spPr>
          <a:xfrm>
            <a:off x="3187700" y="4411980"/>
            <a:ext cx="838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무변화 구간의 오탐 확인</a:t>
            </a:r>
          </a:p>
        </p:txBody>
      </p:sp>
      <p:sp>
        <p:nvSpPr>
          <p:cNvPr id="34" name="시험 공동의 변화 검출 확인">
            <a:extLst>
              <a:ext uri="{FF2B5EF4-FFF2-40B4-BE49-F238E27FC236}">
                <a16:creationId xmlns:a16="http://schemas.microsoft.com/office/drawing/2014/main" id="{779F492A-0788-40AB-B77F-62CB0E828979}"/>
              </a:ext>
            </a:extLst>
          </p:cNvPr>
          <p:cNvSpPr>
            <a:spLocks noGrp="1"/>
          </p:cNvSpPr>
          <p:nvPr/>
        </p:nvSpPr>
        <p:spPr>
          <a:xfrm>
            <a:off x="3187700" y="4754880"/>
            <a:ext cx="838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시험 공동의 변화 검출 확인</a:t>
            </a:r>
          </a:p>
        </p:txBody>
      </p:sp>
      <p:sp>
        <p:nvSpPr>
          <p:cNvPr id="35" name="위치·높이·수분·차량 상태 영향 확인">
            <a:extLst>
              <a:ext uri="{FF2B5EF4-FFF2-40B4-BE49-F238E27FC236}">
                <a16:creationId xmlns:a16="http://schemas.microsoft.com/office/drawing/2014/main" id="{C552D7F9-946B-4C5F-BE8D-230F8ADF437E}"/>
              </a:ext>
            </a:extLst>
          </p:cNvPr>
          <p:cNvSpPr>
            <a:spLocks noGrp="1"/>
          </p:cNvSpPr>
          <p:nvPr/>
        </p:nvSpPr>
        <p:spPr>
          <a:xfrm>
            <a:off x="3187700" y="5097780"/>
            <a:ext cx="838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위치·높이·수분·차량 상태 영향 확인</a:t>
            </a:r>
          </a:p>
        </p:txBody>
      </p:sp>
      <p:sp>
        <p:nvSpPr>
          <p:cNvPr id="36" name="설명용 비교 이미지 · 현장 성능 미검증">
            <a:extLst>
              <a:ext uri="{FF2B5EF4-FFF2-40B4-BE49-F238E27FC236}">
                <a16:creationId xmlns:a16="http://schemas.microsoft.com/office/drawing/2014/main" id="{BEC5B681-7DBB-44CC-912A-EB41FB3744B7}"/>
              </a:ext>
            </a:extLst>
          </p:cNvPr>
          <p:cNvSpPr>
            <a:spLocks noGrp="1"/>
          </p:cNvSpPr>
          <p:nvPr/>
        </p:nvSpPr>
        <p:spPr>
          <a:xfrm>
            <a:off x="3187700" y="5570220"/>
            <a:ext cx="838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설명용 비교 이미지 · 현장 성능 미검증</a:t>
            </a:r>
          </a:p>
        </p:txBody>
      </p:sp>
      <p:sp>
        <p:nvSpPr>
          <p:cNvPr id="37" name="표본 수·시험 조건·통과 기준은 실증 전에 확">
            <a:extLst>
              <a:ext uri="{FF2B5EF4-FFF2-40B4-BE49-F238E27FC236}">
                <a16:creationId xmlns:a16="http://schemas.microsoft.com/office/drawing/2014/main" id="{D14FEC10-0AAE-49FF-860C-96E4C84DC5A8}"/>
              </a:ext>
            </a:extLst>
          </p:cNvPr>
          <p:cNvSpPr>
            <a:spLocks noGrp="1"/>
          </p:cNvSpPr>
          <p:nvPr/>
        </p:nvSpPr>
        <p:spPr>
          <a:xfrm>
            <a:off x="533400" y="6235700"/>
            <a:ext cx="1117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표본 수·시험 조건·통과 기준은 실증 전에 확정합니다.</a:t>
            </a:r>
          </a:p>
        </p:txBody>
      </p:sp>
      <p:sp>
        <p:nvSpPr>
          <p:cNvPr id="38" name="현재 슬라이드 번호">
            <a:extLst>
              <a:ext uri="{FF2B5EF4-FFF2-40B4-BE49-F238E27FC236}">
                <a16:creationId xmlns:a16="http://schemas.microsoft.com/office/drawing/2014/main" id="{9DA8036B-E293-436C-8848-C57B3535D952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09 / 18</a:t>
            </a:r>
          </a:p>
        </p:txBody>
      </p:sp>
      <p:sp>
        <p:nvSpPr>
          <p:cNvPr id="39" name="PV5 GroundWatch">
            <a:extLst>
              <a:ext uri="{FF2B5EF4-FFF2-40B4-BE49-F238E27FC236}">
                <a16:creationId xmlns:a16="http://schemas.microsoft.com/office/drawing/2014/main" id="{FB388D58-ED00-4564-9356-3BC339E396D2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5331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63341D-E773-4CAA-B3F6-12AD33F987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연출 이미지">
            <a:extLst>
              <a:ext uri="{FF2B5EF4-FFF2-40B4-BE49-F238E27FC236}">
                <a16:creationId xmlns:a16="http://schemas.microsoft.com/office/drawing/2014/main" id="{C0EACDEB-10BC-4CB4-BFAB-45268F63020E}"/>
              </a:ext>
            </a:extLst>
          </p:cNvPr>
          <p:cNvSpPr>
            <a:spLocks noGrp="1"/>
          </p:cNvSpPr>
          <p:nvPr/>
        </p:nvSpPr>
        <p:spPr>
          <a:xfrm>
            <a:off x="5969000" y="66421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현재 슬라이드 번호">
            <a:extLst>
              <a:ext uri="{FF2B5EF4-FFF2-40B4-BE49-F238E27FC236}">
                <a16:creationId xmlns:a16="http://schemas.microsoft.com/office/drawing/2014/main" id="{678B08CD-CC17-4275-829C-501B20015EBA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PV5 GroundWatch">
            <a:extLst>
              <a:ext uri="{FF2B5EF4-FFF2-40B4-BE49-F238E27FC236}">
                <a16:creationId xmlns:a16="http://schemas.microsoft.com/office/drawing/2014/main" id="{DDD6BD01-4F4E-4B13-A86C-A358611BFE88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후속 조치까지 연결하는&#10;제안 운영 절차">
            <a:extLst>
              <a:ext uri="{FF2B5EF4-FFF2-40B4-BE49-F238E27FC236}">
                <a16:creationId xmlns:a16="http://schemas.microsoft.com/office/drawing/2014/main" id="{0D6DF08B-8FAA-4621-9487-305E4E9F523B}"/>
              </a:ext>
            </a:extLst>
          </p:cNvPr>
          <p:cNvSpPr>
            <a:spLocks noGrp="1"/>
          </p:cNvSpPr>
          <p:nvPr/>
        </p:nvSpPr>
        <p:spPr>
          <a:xfrm>
            <a:off x="596900" y="1625600"/>
            <a:ext cx="7493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① AI가 변화 의심 지점 선별">
            <a:extLst>
              <a:ext uri="{FF2B5EF4-FFF2-40B4-BE49-F238E27FC236}">
                <a16:creationId xmlns:a16="http://schemas.microsoft.com/office/drawing/2014/main" id="{29ACB3D1-1D81-4ADA-A71E-3BA4A0EEB38F}"/>
              </a:ext>
            </a:extLst>
          </p:cNvPr>
          <p:cNvSpPr>
            <a:spLocks noGrp="1"/>
          </p:cNvSpPr>
          <p:nvPr/>
        </p:nvSpPr>
        <p:spPr>
          <a:xfrm>
            <a:off x="596900" y="2794000"/>
            <a:ext cx="774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② 조사 전문가가 원시자료·측정 조건 검토">
            <a:extLst>
              <a:ext uri="{FF2B5EF4-FFF2-40B4-BE49-F238E27FC236}">
                <a16:creationId xmlns:a16="http://schemas.microsoft.com/office/drawing/2014/main" id="{94A62163-16FB-473E-AA08-13480775C885}"/>
              </a:ext>
            </a:extLst>
          </p:cNvPr>
          <p:cNvSpPr>
            <a:spLocks noGrp="1"/>
          </p:cNvSpPr>
          <p:nvPr/>
        </p:nvSpPr>
        <p:spPr>
          <a:xfrm>
            <a:off x="596900" y="3187700"/>
            <a:ext cx="774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③ 승인 지점을 수동 GPR 등으로 재측정">
            <a:extLst>
              <a:ext uri="{FF2B5EF4-FFF2-40B4-BE49-F238E27FC236}">
                <a16:creationId xmlns:a16="http://schemas.microsoft.com/office/drawing/2014/main" id="{84714A71-F94D-49AE-B4CD-2F2D993CE26B}"/>
              </a:ext>
            </a:extLst>
          </p:cNvPr>
          <p:cNvSpPr>
            <a:spLocks noGrp="1"/>
          </p:cNvSpPr>
          <p:nvPr/>
        </p:nvSpPr>
        <p:spPr>
          <a:xfrm>
            <a:off x="596900" y="3581400"/>
            <a:ext cx="774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0" name="④ 도로관리기관에 전달해 정밀조사·안전조치 판">
            <a:extLst>
              <a:ext uri="{FF2B5EF4-FFF2-40B4-BE49-F238E27FC236}">
                <a16:creationId xmlns:a16="http://schemas.microsoft.com/office/drawing/2014/main" id="{9F4D57BD-7A47-491E-BC2F-DDFF3BF79CA8}"/>
              </a:ext>
            </a:extLst>
          </p:cNvPr>
          <p:cNvSpPr>
            <a:spLocks noGrp="1"/>
          </p:cNvSpPr>
          <p:nvPr/>
        </p:nvSpPr>
        <p:spPr>
          <a:xfrm>
            <a:off x="596900" y="3975100"/>
            <a:ext cx="774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⑤ 관계기관 승인·안전조치 후 정밀조사·보수">
            <a:extLst>
              <a:ext uri="{FF2B5EF4-FFF2-40B4-BE49-F238E27FC236}">
                <a16:creationId xmlns:a16="http://schemas.microsoft.com/office/drawing/2014/main" id="{F92E3CB2-C164-4193-B87B-E1943FE7773E}"/>
              </a:ext>
            </a:extLst>
          </p:cNvPr>
          <p:cNvSpPr>
            <a:spLocks noGrp="1"/>
          </p:cNvSpPr>
          <p:nvPr/>
        </p:nvSpPr>
        <p:spPr>
          <a:xfrm>
            <a:off x="596900" y="4368800"/>
            <a:ext cx="774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⑥ 확인·보수 결과를 기록하고 다음 회차에 반">
            <a:extLst>
              <a:ext uri="{FF2B5EF4-FFF2-40B4-BE49-F238E27FC236}">
                <a16:creationId xmlns:a16="http://schemas.microsoft.com/office/drawing/2014/main" id="{E51B1BA6-4F4C-4B59-8E64-52D3417C62AE}"/>
              </a:ext>
            </a:extLst>
          </p:cNvPr>
          <p:cNvSpPr>
            <a:spLocks noGrp="1"/>
          </p:cNvSpPr>
          <p:nvPr/>
        </p:nvSpPr>
        <p:spPr>
          <a:xfrm>
            <a:off x="596900" y="4762500"/>
            <a:ext cx="774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3" name="기록: 지점 ID·위치·측정일·검토 상태·현장">
            <a:extLst>
              <a:ext uri="{FF2B5EF4-FFF2-40B4-BE49-F238E27FC236}">
                <a16:creationId xmlns:a16="http://schemas.microsoft.com/office/drawing/2014/main" id="{FB42D77B-1351-46E3-8688-E814453359F8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117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4" name="AR은 재측정 범위를 안내하는 보조 기능입니다">
            <a:extLst>
              <a:ext uri="{FF2B5EF4-FFF2-40B4-BE49-F238E27FC236}">
                <a16:creationId xmlns:a16="http://schemas.microsoft.com/office/drawing/2014/main" id="{8FC9862E-21EC-45A7-B5C0-AF634B34BB19}"/>
              </a:ext>
            </a:extLst>
          </p:cNvPr>
          <p:cNvSpPr>
            <a:spLocks noGrp="1"/>
          </p:cNvSpPr>
          <p:nvPr/>
        </p:nvSpPr>
        <p:spPr>
          <a:xfrm>
            <a:off x="609600" y="6007100"/>
            <a:ext cx="1117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제안 절차이며 대응 시간과 보수 완료를 보장하">
            <a:extLst>
              <a:ext uri="{FF2B5EF4-FFF2-40B4-BE49-F238E27FC236}">
                <a16:creationId xmlns:a16="http://schemas.microsoft.com/office/drawing/2014/main" id="{FC68E6C4-1E13-438C-9B89-21AE3818F1CF}"/>
              </a:ext>
            </a:extLst>
          </p:cNvPr>
          <p:cNvSpPr>
            <a:spLocks noGrp="1"/>
          </p:cNvSpPr>
          <p:nvPr/>
        </p:nvSpPr>
        <p:spPr>
          <a:xfrm>
            <a:off x="609600" y="6311900"/>
            <a:ext cx="1117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6" name="연출 이미지">
            <a:extLst>
              <a:ext uri="{FF2B5EF4-FFF2-40B4-BE49-F238E27FC236}">
                <a16:creationId xmlns:a16="http://schemas.microsoft.com/office/drawing/2014/main" id="{B502B21A-93A5-414F-B6DA-9FBE85EF5BEB}"/>
              </a:ext>
            </a:extLst>
          </p:cNvPr>
          <p:cNvSpPr>
            <a:spLocks noGrp="1"/>
          </p:cNvSpPr>
          <p:nvPr/>
        </p:nvSpPr>
        <p:spPr>
          <a:xfrm>
            <a:off x="5969000" y="66421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7" name="현재 슬라이드 번호">
            <a:extLst>
              <a:ext uri="{FF2B5EF4-FFF2-40B4-BE49-F238E27FC236}">
                <a16:creationId xmlns:a16="http://schemas.microsoft.com/office/drawing/2014/main" id="{44138995-A874-4C3E-A78F-D81C13FA482A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8" name="PV5 GroundWatch">
            <a:extLst>
              <a:ext uri="{FF2B5EF4-FFF2-40B4-BE49-F238E27FC236}">
                <a16:creationId xmlns:a16="http://schemas.microsoft.com/office/drawing/2014/main" id="{5DA871EA-3F7F-4AB6-AC1C-4294731BE69B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9" name="찾은 변화는&#10;사람이 확인합니다">
            <a:extLst>
              <a:ext uri="{FF2B5EF4-FFF2-40B4-BE49-F238E27FC236}">
                <a16:creationId xmlns:a16="http://schemas.microsoft.com/office/drawing/2014/main" id="{102AD98B-221E-4AA3-9D8A-1F816178181F}"/>
              </a:ext>
            </a:extLst>
          </p:cNvPr>
          <p:cNvSpPr>
            <a:spLocks noGrp="1"/>
          </p:cNvSpPr>
          <p:nvPr/>
        </p:nvSpPr>
        <p:spPr>
          <a:xfrm>
            <a:off x="596900" y="1993900"/>
            <a:ext cx="7747000" cy="127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8796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찾은 변화는</a:t>
            </a:r>
          </a:p>
          <a:p>
            <a:pPr algn="l">
              <a:lnSpc>
                <a:spcPct val="108796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확인합니다</a:t>
            </a:r>
          </a:p>
        </p:txBody>
      </p:sp>
      <p:sp>
        <p:nvSpPr>
          <p:cNvPr id="20" name="AI가 후보 선별">
            <a:extLst>
              <a:ext uri="{FF2B5EF4-FFF2-40B4-BE49-F238E27FC236}">
                <a16:creationId xmlns:a16="http://schemas.microsoft.com/office/drawing/2014/main" id="{A9785949-0869-4CFF-9587-CF10CD8E8098}"/>
              </a:ext>
            </a:extLst>
          </p:cNvPr>
          <p:cNvSpPr>
            <a:spLocks noGrp="1"/>
          </p:cNvSpPr>
          <p:nvPr/>
        </p:nvSpPr>
        <p:spPr>
          <a:xfrm>
            <a:off x="596900" y="3655060"/>
            <a:ext cx="7747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AI가 후보 선별</a:t>
            </a:r>
          </a:p>
        </p:txBody>
      </p:sp>
      <p:sp>
        <p:nvSpPr>
          <p:cNvPr id="21" name="조사 전문가가 검토·재측정">
            <a:extLst>
              <a:ext uri="{FF2B5EF4-FFF2-40B4-BE49-F238E27FC236}">
                <a16:creationId xmlns:a16="http://schemas.microsoft.com/office/drawing/2014/main" id="{F97BCFE3-EDC6-4536-AE66-E04BF443C8C3}"/>
              </a:ext>
            </a:extLst>
          </p:cNvPr>
          <p:cNvSpPr>
            <a:spLocks noGrp="1"/>
          </p:cNvSpPr>
          <p:nvPr/>
        </p:nvSpPr>
        <p:spPr>
          <a:xfrm>
            <a:off x="596900" y="3959860"/>
            <a:ext cx="7747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조사 전문가가 검토·재측정</a:t>
            </a:r>
          </a:p>
        </p:txBody>
      </p:sp>
      <p:sp>
        <p:nvSpPr>
          <p:cNvPr id="22" name="도로관리기관이 후속 조치 판단">
            <a:extLst>
              <a:ext uri="{FF2B5EF4-FFF2-40B4-BE49-F238E27FC236}">
                <a16:creationId xmlns:a16="http://schemas.microsoft.com/office/drawing/2014/main" id="{00FA75EF-7FB2-43E1-A5B4-EC0A8017AF76}"/>
              </a:ext>
            </a:extLst>
          </p:cNvPr>
          <p:cNvSpPr>
            <a:spLocks noGrp="1"/>
          </p:cNvSpPr>
          <p:nvPr/>
        </p:nvSpPr>
        <p:spPr>
          <a:xfrm>
            <a:off x="596900" y="4264660"/>
            <a:ext cx="7747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도로관리기관이 후속 조치 판단</a:t>
            </a:r>
          </a:p>
        </p:txBody>
      </p:sp>
      <p:sp>
        <p:nvSpPr>
          <p:cNvPr id="23" name="확인·보수 결과 기록, 다음 회차 반영">
            <a:extLst>
              <a:ext uri="{FF2B5EF4-FFF2-40B4-BE49-F238E27FC236}">
                <a16:creationId xmlns:a16="http://schemas.microsoft.com/office/drawing/2014/main" id="{4D1B2753-F7FF-4059-83D2-31C1E091DD21}"/>
              </a:ext>
            </a:extLst>
          </p:cNvPr>
          <p:cNvSpPr>
            <a:spLocks noGrp="1"/>
          </p:cNvSpPr>
          <p:nvPr/>
        </p:nvSpPr>
        <p:spPr>
          <a:xfrm>
            <a:off x="596900" y="4569460"/>
            <a:ext cx="7747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6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확인·보수 결과 기록, 다음 회차 반영</a:t>
            </a:r>
          </a:p>
        </p:txBody>
      </p:sp>
      <p:sp>
        <p:nvSpPr>
          <p:cNvPr id="24" name="AR은 현장 재측정 범위를 안내합니다">
            <a:extLst>
              <a:ext uri="{FF2B5EF4-FFF2-40B4-BE49-F238E27FC236}">
                <a16:creationId xmlns:a16="http://schemas.microsoft.com/office/drawing/2014/main" id="{2E317AE9-B18D-4F19-8C96-FE8F498484C8}"/>
              </a:ext>
            </a:extLst>
          </p:cNvPr>
          <p:cNvSpPr>
            <a:spLocks noGrp="1"/>
          </p:cNvSpPr>
          <p:nvPr/>
        </p:nvSpPr>
        <p:spPr>
          <a:xfrm>
            <a:off x="596900" y="5179060"/>
            <a:ext cx="825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AR은 현장 재측정 범위를 안내합니다</a:t>
            </a:r>
          </a:p>
        </p:txBody>
      </p:sp>
      <p:sp>
        <p:nvSpPr>
          <p:cNvPr id="25" name="제안 절차 · 기관별 권한·책임 협의 필요 ·">
            <a:extLst>
              <a:ext uri="{FF2B5EF4-FFF2-40B4-BE49-F238E27FC236}">
                <a16:creationId xmlns:a16="http://schemas.microsoft.com/office/drawing/2014/main" id="{0DF59DC4-66AF-4988-9032-524E0588522E}"/>
              </a:ext>
            </a:extLst>
          </p:cNvPr>
          <p:cNvSpPr>
            <a:spLocks noGrp="1"/>
          </p:cNvSpPr>
          <p:nvPr/>
        </p:nvSpPr>
        <p:spPr>
          <a:xfrm>
            <a:off x="609600" y="5765800"/>
            <a:ext cx="111760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제안 절차 · 기관별 권한·책임 협의 필요 · 미확인 후보의 공동 확정 금지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승인·안전조치 후 정밀조사·보수 · 2인 1조 · 운전자 주행 중 AR 미사용</a:t>
            </a:r>
          </a:p>
        </p:txBody>
      </p:sp>
      <p:sp>
        <p:nvSpPr>
          <p:cNvPr id="26" name="대응 시간·보수 완료를 보장하지 않습니다. 세">
            <a:extLst>
              <a:ext uri="{FF2B5EF4-FFF2-40B4-BE49-F238E27FC236}">
                <a16:creationId xmlns:a16="http://schemas.microsoft.com/office/drawing/2014/main" id="{427F5C7F-E92D-4D72-A8D7-4576B9D496F9}"/>
              </a:ext>
            </a:extLst>
          </p:cNvPr>
          <p:cNvSpPr>
            <a:spLocks noGrp="1"/>
          </p:cNvSpPr>
          <p:nvPr/>
        </p:nvSpPr>
        <p:spPr>
          <a:xfrm>
            <a:off x="609600" y="6375400"/>
            <a:ext cx="11176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대응 시간·보수 완료를 보장하지 않습니다. 세부 인계 절차와 기록 항목은 발표자 노트에 기재했습니다.</a:t>
            </a:r>
          </a:p>
        </p:txBody>
      </p:sp>
      <p:sp>
        <p:nvSpPr>
          <p:cNvPr id="27" name="연출 이미지">
            <a:extLst>
              <a:ext uri="{FF2B5EF4-FFF2-40B4-BE49-F238E27FC236}">
                <a16:creationId xmlns:a16="http://schemas.microsoft.com/office/drawing/2014/main" id="{67AD4AE0-9B66-467A-BB56-41AE1AA325FB}"/>
              </a:ext>
            </a:extLst>
          </p:cNvPr>
          <p:cNvSpPr>
            <a:spLocks noGrp="1"/>
          </p:cNvSpPr>
          <p:nvPr/>
        </p:nvSpPr>
        <p:spPr>
          <a:xfrm>
            <a:off x="5969000" y="662178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연출 이미지</a:t>
            </a:r>
          </a:p>
        </p:txBody>
      </p:sp>
      <p:sp>
        <p:nvSpPr>
          <p:cNvPr id="28" name="현재 슬라이드 번호">
            <a:extLst>
              <a:ext uri="{FF2B5EF4-FFF2-40B4-BE49-F238E27FC236}">
                <a16:creationId xmlns:a16="http://schemas.microsoft.com/office/drawing/2014/main" id="{0E26ED6C-089B-4B05-B323-368C7C15048A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10 / 18</a:t>
            </a:r>
          </a:p>
        </p:txBody>
      </p:sp>
      <p:sp>
        <p:nvSpPr>
          <p:cNvPr id="29" name="PV5 GroundWatch">
            <a:extLst>
              <a:ext uri="{FF2B5EF4-FFF2-40B4-BE49-F238E27FC236}">
                <a16:creationId xmlns:a16="http://schemas.microsoft.com/office/drawing/2014/main" id="{785A8841-87CC-4E63-9BF8-3FCDEC694EEF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139125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5E02FE0-950D-4272-8177-F904A24D1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국내 카고 롱 · 롱레인지 기준">
            <a:extLst>
              <a:ext uri="{FF2B5EF4-FFF2-40B4-BE49-F238E27FC236}">
                <a16:creationId xmlns:a16="http://schemas.microsoft.com/office/drawing/2014/main" id="{061D543C-8D8A-4089-87C0-F6F7721E7723}"/>
              </a:ext>
            </a:extLst>
          </p:cNvPr>
          <p:cNvSpPr>
            <a:spLocks noGrp="1"/>
          </p:cNvSpPr>
          <p:nvPr/>
        </p:nvSpPr>
        <p:spPr>
          <a:xfrm>
            <a:off x="6845300" y="1765300"/>
            <a:ext cx="476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71.2kWh · 적재 550kg">
            <a:extLst>
              <a:ext uri="{FF2B5EF4-FFF2-40B4-BE49-F238E27FC236}">
                <a16:creationId xmlns:a16="http://schemas.microsoft.com/office/drawing/2014/main" id="{E8AD4E24-8182-49C5-B1D8-9E3D358E68FE}"/>
              </a:ext>
            </a:extLst>
          </p:cNvPr>
          <p:cNvSpPr>
            <a:spLocks noGrp="1"/>
          </p:cNvSpPr>
          <p:nvPr/>
        </p:nvSpPr>
        <p:spPr>
          <a:xfrm>
            <a:off x="6845300" y="21590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장비 300kg 가정 · 축하중·총중량 검증 ">
            <a:extLst>
              <a:ext uri="{FF2B5EF4-FFF2-40B4-BE49-F238E27FC236}">
                <a16:creationId xmlns:a16="http://schemas.microsoft.com/office/drawing/2014/main" id="{779E4AA7-D9A4-45C5-A5F2-62FEF51CCB7C}"/>
              </a:ext>
            </a:extLst>
          </p:cNvPr>
          <p:cNvSpPr>
            <a:spLocks noGrp="1"/>
          </p:cNvSpPr>
          <p:nvPr/>
        </p:nvSpPr>
        <p:spPr>
          <a:xfrm>
            <a:off x="6845300" y="2540000"/>
            <a:ext cx="47625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전원 · V2L 적용 사양 확인 필요">
            <a:extLst>
              <a:ext uri="{FF2B5EF4-FFF2-40B4-BE49-F238E27FC236}">
                <a16:creationId xmlns:a16="http://schemas.microsoft.com/office/drawing/2014/main" id="{44D3DC2D-2264-4D60-A668-6FA1FDE3AF1B}"/>
              </a:ext>
            </a:extLst>
          </p:cNvPr>
          <p:cNvSpPr>
            <a:spLocks noGrp="1"/>
          </p:cNvSpPr>
          <p:nvPr/>
        </p:nvSpPr>
        <p:spPr>
          <a:xfrm>
            <a:off x="6845300" y="3136900"/>
            <a:ext cx="476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1.5kW × 6시간 = 9kWh">
            <a:extLst>
              <a:ext uri="{FF2B5EF4-FFF2-40B4-BE49-F238E27FC236}">
                <a16:creationId xmlns:a16="http://schemas.microsoft.com/office/drawing/2014/main" id="{68BFE23F-EFDF-4C9F-A399-CB0C8568D4F1}"/>
              </a:ext>
            </a:extLst>
          </p:cNvPr>
          <p:cNvSpPr>
            <a:spLocks noGrp="1"/>
          </p:cNvSpPr>
          <p:nvPr/>
        </p:nvSpPr>
        <p:spPr>
          <a:xfrm>
            <a:off x="6845300" y="3517900"/>
            <a:ext cx="4762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명목 용량의 약 12.6% · 손실·주행전력 ">
            <a:extLst>
              <a:ext uri="{FF2B5EF4-FFF2-40B4-BE49-F238E27FC236}">
                <a16:creationId xmlns:a16="http://schemas.microsoft.com/office/drawing/2014/main" id="{06269C06-285B-4EAE-B46A-14332D3AF896}"/>
              </a:ext>
            </a:extLst>
          </p:cNvPr>
          <p:cNvSpPr>
            <a:spLocks noGrp="1"/>
          </p:cNvSpPr>
          <p:nvPr/>
        </p:nvSpPr>
        <p:spPr>
          <a:xfrm>
            <a:off x="6845300" y="3860800"/>
            <a:ext cx="47625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연동 · PIM / Pleos 협의 필요">
            <a:extLst>
              <a:ext uri="{FF2B5EF4-FFF2-40B4-BE49-F238E27FC236}">
                <a16:creationId xmlns:a16="http://schemas.microsoft.com/office/drawing/2014/main" id="{8BD3D0BB-A3D3-45DF-AD68-83584E068FE1}"/>
              </a:ext>
            </a:extLst>
          </p:cNvPr>
          <p:cNvSpPr>
            <a:spLocks noGrp="1"/>
          </p:cNvSpPr>
          <p:nvPr/>
        </p:nvSpPr>
        <p:spPr>
          <a:xfrm>
            <a:off x="6845300" y="4457700"/>
            <a:ext cx="476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지원 차종·API 권한 확인 후 구현&#10;장비 제">
            <a:extLst>
              <a:ext uri="{FF2B5EF4-FFF2-40B4-BE49-F238E27FC236}">
                <a16:creationId xmlns:a16="http://schemas.microsoft.com/office/drawing/2014/main" id="{56463BEB-4704-4782-9F82-F99B781F9514}"/>
              </a:ext>
            </a:extLst>
          </p:cNvPr>
          <p:cNvSpPr>
            <a:spLocks noGrp="1"/>
          </p:cNvSpPr>
          <p:nvPr/>
        </p:nvSpPr>
        <p:spPr>
          <a:xfrm>
            <a:off x="6845300" y="4864100"/>
            <a:ext cx="4762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0" name="장비 고정과 현장 재확인을 한 차량에서 수행하">
            <a:extLst>
              <a:ext uri="{FF2B5EF4-FFF2-40B4-BE49-F238E27FC236}">
                <a16:creationId xmlns:a16="http://schemas.microsoft.com/office/drawing/2014/main" id="{6884196C-189F-4878-863F-0FCC0814BA3B}"/>
              </a:ext>
            </a:extLst>
          </p:cNvPr>
          <p:cNvSpPr>
            <a:spLocks noGrp="1"/>
          </p:cNvSpPr>
          <p:nvPr/>
        </p:nvSpPr>
        <p:spPr>
          <a:xfrm>
            <a:off x="711200" y="582930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출처: 기아 국내 PV5 카고 롱 공식 제원(">
            <a:extLst>
              <a:ext uri="{FF2B5EF4-FFF2-40B4-BE49-F238E27FC236}">
                <a16:creationId xmlns:a16="http://schemas.microsoft.com/office/drawing/2014/main" id="{172D5203-D1FD-4C94-BF5A-A39506C2507D}"/>
              </a:ext>
            </a:extLst>
          </p:cNvPr>
          <p:cNvSpPr>
            <a:spLocks noGrp="1"/>
          </p:cNvSpPr>
          <p:nvPr/>
        </p:nvSpPr>
        <p:spPr>
          <a:xfrm>
            <a:off x="533400" y="6223000"/>
            <a:ext cx="11176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현재 슬라이드 번호">
            <a:extLst>
              <a:ext uri="{FF2B5EF4-FFF2-40B4-BE49-F238E27FC236}">
                <a16:creationId xmlns:a16="http://schemas.microsoft.com/office/drawing/2014/main" id="{3991BD58-A4AF-4423-8D5E-48BDFDD20C2C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3" name="PV5 GroundWatch">
            <a:extLst>
              <a:ext uri="{FF2B5EF4-FFF2-40B4-BE49-F238E27FC236}">
                <a16:creationId xmlns:a16="http://schemas.microsoft.com/office/drawing/2014/main" id="{F2A4EEAA-C437-44D9-AA91-22CB0E0FF126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적재 · 국내 카고 롱 롱레인지">
            <a:extLst>
              <a:ext uri="{FF2B5EF4-FFF2-40B4-BE49-F238E27FC236}">
                <a16:creationId xmlns:a16="http://schemas.microsoft.com/office/drawing/2014/main" id="{3B9797AA-487E-488C-9581-BA3BD6F84AC7}"/>
              </a:ext>
            </a:extLst>
          </p:cNvPr>
          <p:cNvSpPr>
            <a:spLocks noGrp="1"/>
          </p:cNvSpPr>
          <p:nvPr/>
        </p:nvSpPr>
        <p:spPr>
          <a:xfrm>
            <a:off x="6845300" y="1729740"/>
            <a:ext cx="476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적재 · 국내 카고 롱 롱레인지</a:t>
            </a:r>
          </a:p>
        </p:txBody>
      </p:sp>
      <p:sp>
        <p:nvSpPr>
          <p:cNvPr id="16" name="71.2kWh · 550kg">
            <a:extLst>
              <a:ext uri="{FF2B5EF4-FFF2-40B4-BE49-F238E27FC236}">
                <a16:creationId xmlns:a16="http://schemas.microsoft.com/office/drawing/2014/main" id="{2111434B-E7CF-47A4-8F3F-AA13E00144DF}"/>
              </a:ext>
            </a:extLst>
          </p:cNvPr>
          <p:cNvSpPr>
            <a:spLocks noGrp="1"/>
          </p:cNvSpPr>
          <p:nvPr/>
        </p:nvSpPr>
        <p:spPr>
          <a:xfrm>
            <a:off x="6845300" y="2029460"/>
            <a:ext cx="47625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71.2kWh · 550kg</a:t>
            </a:r>
          </a:p>
        </p:txBody>
      </p:sp>
      <p:sp>
        <p:nvSpPr>
          <p:cNvPr id="17" name="장비 300kg 가정 · 축하중·총중량 검증 ">
            <a:extLst>
              <a:ext uri="{FF2B5EF4-FFF2-40B4-BE49-F238E27FC236}">
                <a16:creationId xmlns:a16="http://schemas.microsoft.com/office/drawing/2014/main" id="{FA7BC255-BADD-4198-8BCF-52AEC2EB9805}"/>
              </a:ext>
            </a:extLst>
          </p:cNvPr>
          <p:cNvSpPr>
            <a:spLocks noGrp="1"/>
          </p:cNvSpPr>
          <p:nvPr/>
        </p:nvSpPr>
        <p:spPr>
          <a:xfrm>
            <a:off x="6845300" y="2496820"/>
            <a:ext cx="476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장비 300kg 가정 · 축하중·총중량 검증 필요</a:t>
            </a:r>
          </a:p>
        </p:txBody>
      </p:sp>
      <p:sp>
        <p:nvSpPr>
          <p:cNvPr id="18" name="전원 · V2L 적용 사양 확인 필요">
            <a:extLst>
              <a:ext uri="{FF2B5EF4-FFF2-40B4-BE49-F238E27FC236}">
                <a16:creationId xmlns:a16="http://schemas.microsoft.com/office/drawing/2014/main" id="{25232999-8869-4B98-8714-932327C68F07}"/>
              </a:ext>
            </a:extLst>
          </p:cNvPr>
          <p:cNvSpPr>
            <a:spLocks noGrp="1"/>
          </p:cNvSpPr>
          <p:nvPr/>
        </p:nvSpPr>
        <p:spPr>
          <a:xfrm>
            <a:off x="6845300" y="3025140"/>
            <a:ext cx="47625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전원 · V2L 적용 사양 확인 필요</a:t>
            </a:r>
          </a:p>
        </p:txBody>
      </p:sp>
      <p:sp>
        <p:nvSpPr>
          <p:cNvPr id="19" name="9kWh / 6시간">
            <a:extLst>
              <a:ext uri="{FF2B5EF4-FFF2-40B4-BE49-F238E27FC236}">
                <a16:creationId xmlns:a16="http://schemas.microsoft.com/office/drawing/2014/main" id="{3AC12636-BCF2-4243-8C44-2C3C6B4B1530}"/>
              </a:ext>
            </a:extLst>
          </p:cNvPr>
          <p:cNvSpPr>
            <a:spLocks noGrp="1"/>
          </p:cNvSpPr>
          <p:nvPr/>
        </p:nvSpPr>
        <p:spPr>
          <a:xfrm>
            <a:off x="6845300" y="3312160"/>
            <a:ext cx="47625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9kWh / 6시간</a:t>
            </a:r>
          </a:p>
        </p:txBody>
      </p:sp>
      <p:sp>
        <p:nvSpPr>
          <p:cNvPr id="20" name="1.5kW 가정 · 약 12.6% (손실·주행">
            <a:extLst>
              <a:ext uri="{FF2B5EF4-FFF2-40B4-BE49-F238E27FC236}">
                <a16:creationId xmlns:a16="http://schemas.microsoft.com/office/drawing/2014/main" id="{957434FB-C7B1-4D29-B929-1D216E2F1AEE}"/>
              </a:ext>
            </a:extLst>
          </p:cNvPr>
          <p:cNvSpPr>
            <a:spLocks noGrp="1"/>
          </p:cNvSpPr>
          <p:nvPr/>
        </p:nvSpPr>
        <p:spPr>
          <a:xfrm>
            <a:off x="6845300" y="3766820"/>
            <a:ext cx="47625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1.5kW 가정 · 약 12.6% (손실·주행 제외)</a:t>
            </a:r>
          </a:p>
        </p:txBody>
      </p:sp>
      <p:sp>
        <p:nvSpPr>
          <p:cNvPr id="21" name="연동">
            <a:extLst>
              <a:ext uri="{FF2B5EF4-FFF2-40B4-BE49-F238E27FC236}">
                <a16:creationId xmlns:a16="http://schemas.microsoft.com/office/drawing/2014/main" id="{5C5D6041-CDE0-4B01-BCDD-940BDFA6BA08}"/>
              </a:ext>
            </a:extLst>
          </p:cNvPr>
          <p:cNvSpPr>
            <a:spLocks noGrp="1"/>
          </p:cNvSpPr>
          <p:nvPr/>
        </p:nvSpPr>
        <p:spPr>
          <a:xfrm>
            <a:off x="6845300" y="4320540"/>
            <a:ext cx="47625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연동</a:t>
            </a:r>
          </a:p>
        </p:txBody>
      </p:sp>
      <p:sp>
        <p:nvSpPr>
          <p:cNvPr id="22" name="PIM · Pleos">
            <a:extLst>
              <a:ext uri="{FF2B5EF4-FFF2-40B4-BE49-F238E27FC236}">
                <a16:creationId xmlns:a16="http://schemas.microsoft.com/office/drawing/2014/main" id="{33128E9F-9295-44BB-88EE-29FA6BD472E9}"/>
              </a:ext>
            </a:extLst>
          </p:cNvPr>
          <p:cNvSpPr>
            <a:spLocks noGrp="1"/>
          </p:cNvSpPr>
          <p:nvPr/>
        </p:nvSpPr>
        <p:spPr>
          <a:xfrm>
            <a:off x="6845300" y="462026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PIM · Pleos</a:t>
            </a:r>
          </a:p>
        </p:txBody>
      </p:sp>
      <p:sp>
        <p:nvSpPr>
          <p:cNvPr id="23" name="지원 차종·API 권한 협의 후 구현&#10;장비 제">
            <a:extLst>
              <a:ext uri="{FF2B5EF4-FFF2-40B4-BE49-F238E27FC236}">
                <a16:creationId xmlns:a16="http://schemas.microsoft.com/office/drawing/2014/main" id="{1F7437EA-2553-472C-99C3-75B325A14E1E}"/>
              </a:ext>
            </a:extLst>
          </p:cNvPr>
          <p:cNvSpPr>
            <a:spLocks noGrp="1"/>
          </p:cNvSpPr>
          <p:nvPr/>
        </p:nvSpPr>
        <p:spPr>
          <a:xfrm>
            <a:off x="6845300" y="5054600"/>
            <a:ext cx="4762500" cy="393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지원 차종·API 권한 협의 후 구현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장비 제어·관제는 별도 개발·검증</a:t>
            </a:r>
          </a:p>
        </p:txBody>
      </p:sp>
      <p:sp>
        <p:nvSpPr>
          <p:cNvPr id="24" name="장비 고정과 현장 재확인을 한 차량에서 수행하">
            <a:extLst>
              <a:ext uri="{FF2B5EF4-FFF2-40B4-BE49-F238E27FC236}">
                <a16:creationId xmlns:a16="http://schemas.microsoft.com/office/drawing/2014/main" id="{826C0871-0553-4614-A055-C216967CA0F7}"/>
              </a:ext>
            </a:extLst>
          </p:cNvPr>
          <p:cNvSpPr>
            <a:spLocks noGrp="1"/>
          </p:cNvSpPr>
          <p:nvPr/>
        </p:nvSpPr>
        <p:spPr>
          <a:xfrm>
            <a:off x="711200" y="5774373"/>
            <a:ext cx="11049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장비 고정과 현장 재확인을 한 차량에서 수행하는 배치안입니다.</a:t>
            </a:r>
          </a:p>
        </p:txBody>
      </p:sp>
      <p:sp>
        <p:nvSpPr>
          <p:cNvPr id="25" name="출처: 기아 국내 PV5 카고 롱 공식 제원(">
            <a:extLst>
              <a:ext uri="{FF2B5EF4-FFF2-40B4-BE49-F238E27FC236}">
                <a16:creationId xmlns:a16="http://schemas.microsoft.com/office/drawing/2014/main" id="{3C878F58-36C7-4B9C-BAA7-4966174CF47E}"/>
              </a:ext>
            </a:extLst>
          </p:cNvPr>
          <p:cNvSpPr>
            <a:spLocks noGrp="1"/>
          </p:cNvSpPr>
          <p:nvPr/>
        </p:nvSpPr>
        <p:spPr>
          <a:xfrm>
            <a:off x="533400" y="6235700"/>
            <a:ext cx="1117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출처: 기아 국내 PV5 카고 롱 공식 제원(2026.10.27 확인) · 공모전 솔루션 안내</a:t>
            </a:r>
          </a:p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장비 전력·가동시간은 가정입니다. 배치·전원 구성은 실증 대상입니다.</a:t>
            </a:r>
          </a:p>
        </p:txBody>
      </p:sp>
      <p:sp>
        <p:nvSpPr>
          <p:cNvPr id="26" name="현재 슬라이드 번호">
            <a:extLst>
              <a:ext uri="{FF2B5EF4-FFF2-40B4-BE49-F238E27FC236}">
                <a16:creationId xmlns:a16="http://schemas.microsoft.com/office/drawing/2014/main" id="{F3D92B9E-E012-42FF-A067-56766B8655D8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11 / 18</a:t>
            </a:r>
          </a:p>
        </p:txBody>
      </p:sp>
      <p:sp>
        <p:nvSpPr>
          <p:cNvPr id="27" name="PV5 GroundWatch">
            <a:extLst>
              <a:ext uri="{FF2B5EF4-FFF2-40B4-BE49-F238E27FC236}">
                <a16:creationId xmlns:a16="http://schemas.microsoft.com/office/drawing/2014/main" id="{4245E3E0-ED9D-4ECA-A88A-A429AEE9BC39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1627729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82710DB4-FB55-4173-A33A-2322655ACB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표준 장착과 차량별 보정으로 비교합니다">
            <a:extLst>
              <a:ext uri="{FF2B5EF4-FFF2-40B4-BE49-F238E27FC236}">
                <a16:creationId xmlns:a16="http://schemas.microsoft.com/office/drawing/2014/main" id="{C4904C8C-6FB8-4CE1-B3FF-4E3ACD57F2C5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다른 도시 PV5">
            <a:extLst>
              <a:ext uri="{FF2B5EF4-FFF2-40B4-BE49-F238E27FC236}">
                <a16:creationId xmlns:a16="http://schemas.microsoft.com/office/drawing/2014/main" id="{36F89302-515A-4FCA-9A24-AFBB5A6D2594}"/>
              </a:ext>
            </a:extLst>
          </p:cNvPr>
          <p:cNvSpPr>
            <a:spLocks noGrp="1"/>
          </p:cNvSpPr>
          <p:nvPr/>
        </p:nvSpPr>
        <p:spPr>
          <a:xfrm>
            <a:off x="9398000" y="2946400"/>
            <a:ext cx="2413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차량별 보정·판독 기준">
            <a:extLst>
              <a:ext uri="{FF2B5EF4-FFF2-40B4-BE49-F238E27FC236}">
                <a16:creationId xmlns:a16="http://schemas.microsoft.com/office/drawing/2014/main" id="{2E95B645-9E84-41C4-B975-9F406202AFCA}"/>
              </a:ext>
            </a:extLst>
          </p:cNvPr>
          <p:cNvSpPr>
            <a:spLocks noGrp="1"/>
          </p:cNvSpPr>
          <p:nvPr/>
        </p:nvSpPr>
        <p:spPr>
          <a:xfrm>
            <a:off x="9398000" y="3225800"/>
            <a:ext cx="2413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높이·위치 표준화 목표">
            <a:extLst>
              <a:ext uri="{FF2B5EF4-FFF2-40B4-BE49-F238E27FC236}">
                <a16:creationId xmlns:a16="http://schemas.microsoft.com/office/drawing/2014/main" id="{2C0B0DB4-18B1-4736-A165-85C60E52FB6B}"/>
              </a:ext>
            </a:extLst>
          </p:cNvPr>
          <p:cNvSpPr>
            <a:spLocks noGrp="1"/>
          </p:cNvSpPr>
          <p:nvPr/>
        </p:nvSpPr>
        <p:spPr>
          <a:xfrm>
            <a:off x="9398000" y="3556000"/>
            <a:ext cx="2413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표준 장착">
            <a:extLst>
              <a:ext uri="{FF2B5EF4-FFF2-40B4-BE49-F238E27FC236}">
                <a16:creationId xmlns:a16="http://schemas.microsoft.com/office/drawing/2014/main" id="{73FA87EA-9228-4C93-B9CC-376A9B0747E4}"/>
              </a:ext>
            </a:extLst>
          </p:cNvPr>
          <p:cNvSpPr>
            <a:spLocks noGrp="1"/>
          </p:cNvSpPr>
          <p:nvPr/>
        </p:nvSpPr>
        <p:spPr>
          <a:xfrm>
            <a:off x="520700" y="412750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장비 높이·위치 기준 설계">
            <a:extLst>
              <a:ext uri="{FF2B5EF4-FFF2-40B4-BE49-F238E27FC236}">
                <a16:creationId xmlns:a16="http://schemas.microsoft.com/office/drawing/2014/main" id="{8A284CF0-4E4D-4383-80A0-D150F666494F}"/>
              </a:ext>
            </a:extLst>
          </p:cNvPr>
          <p:cNvSpPr>
            <a:spLocks noGrp="1"/>
          </p:cNvSpPr>
          <p:nvPr/>
        </p:nvSpPr>
        <p:spPr>
          <a:xfrm>
            <a:off x="520700" y="449580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PIM 연동 검토">
            <a:extLst>
              <a:ext uri="{FF2B5EF4-FFF2-40B4-BE49-F238E27FC236}">
                <a16:creationId xmlns:a16="http://schemas.microsoft.com/office/drawing/2014/main" id="{9B6B4C4D-8592-49D5-8BA7-73B0745F7555}"/>
              </a:ext>
            </a:extLst>
          </p:cNvPr>
          <p:cNvSpPr>
            <a:spLocks noGrp="1"/>
          </p:cNvSpPr>
          <p:nvPr/>
        </p:nvSpPr>
        <p:spPr>
          <a:xfrm>
            <a:off x="3505200" y="412750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지원 신호·권한 확인 필요">
            <a:extLst>
              <a:ext uri="{FF2B5EF4-FFF2-40B4-BE49-F238E27FC236}">
                <a16:creationId xmlns:a16="http://schemas.microsoft.com/office/drawing/2014/main" id="{022D62A4-8306-49B9-B58B-4285DC3A1287}"/>
              </a:ext>
            </a:extLst>
          </p:cNvPr>
          <p:cNvSpPr>
            <a:spLocks noGrp="1"/>
          </p:cNvSpPr>
          <p:nvPr/>
        </p:nvSpPr>
        <p:spPr>
          <a:xfrm>
            <a:off x="3505200" y="449580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0" name="플릿 연동 검토">
            <a:extLst>
              <a:ext uri="{FF2B5EF4-FFF2-40B4-BE49-F238E27FC236}">
                <a16:creationId xmlns:a16="http://schemas.microsoft.com/office/drawing/2014/main" id="{CC98B04B-5EEC-4A86-BB32-FC6C14A3B972}"/>
              </a:ext>
            </a:extLst>
          </p:cNvPr>
          <p:cNvSpPr>
            <a:spLocks noGrp="1"/>
          </p:cNvSpPr>
          <p:nvPr/>
        </p:nvSpPr>
        <p:spPr>
          <a:xfrm>
            <a:off x="6489700" y="412750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기관 관제·Pleos 범위 협의">
            <a:extLst>
              <a:ext uri="{FF2B5EF4-FFF2-40B4-BE49-F238E27FC236}">
                <a16:creationId xmlns:a16="http://schemas.microsoft.com/office/drawing/2014/main" id="{7243F80D-EE1D-481E-A0E9-F1FDD0998774}"/>
              </a:ext>
            </a:extLst>
          </p:cNvPr>
          <p:cNvSpPr>
            <a:spLocks noGrp="1"/>
          </p:cNvSpPr>
          <p:nvPr/>
        </p:nvSpPr>
        <p:spPr>
          <a:xfrm>
            <a:off x="6489700" y="449580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현장 재확인">
            <a:extLst>
              <a:ext uri="{FF2B5EF4-FFF2-40B4-BE49-F238E27FC236}">
                <a16:creationId xmlns:a16="http://schemas.microsoft.com/office/drawing/2014/main" id="{C6D5000F-C06B-4E60-881F-10A0336134FD}"/>
              </a:ext>
            </a:extLst>
          </p:cNvPr>
          <p:cNvSpPr>
            <a:spLocks noGrp="1"/>
          </p:cNvSpPr>
          <p:nvPr/>
        </p:nvSpPr>
        <p:spPr>
          <a:xfrm>
            <a:off x="9474200" y="4127500"/>
            <a:ext cx="2717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3" name="작업 동선·하차 안전 검증">
            <a:extLst>
              <a:ext uri="{FF2B5EF4-FFF2-40B4-BE49-F238E27FC236}">
                <a16:creationId xmlns:a16="http://schemas.microsoft.com/office/drawing/2014/main" id="{BE4C9B81-F516-45E2-BC8D-A618F9F857B1}"/>
              </a:ext>
            </a:extLst>
          </p:cNvPr>
          <p:cNvSpPr>
            <a:spLocks noGrp="1"/>
          </p:cNvSpPr>
          <p:nvPr/>
        </p:nvSpPr>
        <p:spPr>
          <a:xfrm>
            <a:off x="9474200" y="4495800"/>
            <a:ext cx="27178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4" name="수분·주행 위치·센서 높이·적재량을 기록하고 ">
            <a:extLst>
              <a:ext uri="{FF2B5EF4-FFF2-40B4-BE49-F238E27FC236}">
                <a16:creationId xmlns:a16="http://schemas.microsoft.com/office/drawing/2014/main" id="{BF9BE045-4A6F-4FE2-A8C1-DD285F3EC028}"/>
              </a:ext>
            </a:extLst>
          </p:cNvPr>
          <p:cNvSpPr>
            <a:spLocks noGrp="1"/>
          </p:cNvSpPr>
          <p:nvPr/>
        </p:nvSpPr>
        <p:spPr>
          <a:xfrm>
            <a:off x="749300" y="5588000"/>
            <a:ext cx="10795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근거: PV5 컨버전 생태계·공모전 Pleos">
            <a:extLst>
              <a:ext uri="{FF2B5EF4-FFF2-40B4-BE49-F238E27FC236}">
                <a16:creationId xmlns:a16="http://schemas.microsoft.com/office/drawing/2014/main" id="{2BC0532A-1F5E-4C0B-AA16-8EB49DC1630B}"/>
              </a:ext>
            </a:extLst>
          </p:cNvPr>
          <p:cNvSpPr>
            <a:spLocks noGrp="1"/>
          </p:cNvSpPr>
          <p:nvPr/>
        </p:nvSpPr>
        <p:spPr>
          <a:xfrm>
            <a:off x="533400" y="6261100"/>
            <a:ext cx="1117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6" name="현재 슬라이드 번호">
            <a:extLst>
              <a:ext uri="{FF2B5EF4-FFF2-40B4-BE49-F238E27FC236}">
                <a16:creationId xmlns:a16="http://schemas.microsoft.com/office/drawing/2014/main" id="{05ED5699-F856-429F-BD95-365E9FA1594A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7" name="PV5 GroundWatch">
            <a:extLst>
              <a:ext uri="{FF2B5EF4-FFF2-40B4-BE49-F238E27FC236}">
                <a16:creationId xmlns:a16="http://schemas.microsoft.com/office/drawing/2014/main" id="{77B86E95-1813-4CF4-A7DD-DBFD1C60068B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9" name="표준 장착과 차량별 보정으로 비교합니다">
            <a:extLst>
              <a:ext uri="{FF2B5EF4-FFF2-40B4-BE49-F238E27FC236}">
                <a16:creationId xmlns:a16="http://schemas.microsoft.com/office/drawing/2014/main" id="{97836A5C-06C7-4F88-9246-DD45B5F72E86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0" name="다른 도시 PV5">
            <a:extLst>
              <a:ext uri="{FF2B5EF4-FFF2-40B4-BE49-F238E27FC236}">
                <a16:creationId xmlns:a16="http://schemas.microsoft.com/office/drawing/2014/main" id="{8F386DB1-8B3A-4A2E-B5D6-5FF64245D022}"/>
              </a:ext>
            </a:extLst>
          </p:cNvPr>
          <p:cNvSpPr>
            <a:spLocks noGrp="1"/>
          </p:cNvSpPr>
          <p:nvPr/>
        </p:nvSpPr>
        <p:spPr>
          <a:xfrm>
            <a:off x="9398000" y="2946400"/>
            <a:ext cx="2413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1" name="차량별 보정·판독 기준">
            <a:extLst>
              <a:ext uri="{FF2B5EF4-FFF2-40B4-BE49-F238E27FC236}">
                <a16:creationId xmlns:a16="http://schemas.microsoft.com/office/drawing/2014/main" id="{CCFD3987-DA8D-4089-8AFA-26D5820F83DA}"/>
              </a:ext>
            </a:extLst>
          </p:cNvPr>
          <p:cNvSpPr>
            <a:spLocks noGrp="1"/>
          </p:cNvSpPr>
          <p:nvPr/>
        </p:nvSpPr>
        <p:spPr>
          <a:xfrm>
            <a:off x="9398000" y="3225800"/>
            <a:ext cx="2413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2" name="높이·위치 표준화 목표">
            <a:extLst>
              <a:ext uri="{FF2B5EF4-FFF2-40B4-BE49-F238E27FC236}">
                <a16:creationId xmlns:a16="http://schemas.microsoft.com/office/drawing/2014/main" id="{BDF3862C-FED3-4A62-B10B-366F5BDDD55F}"/>
              </a:ext>
            </a:extLst>
          </p:cNvPr>
          <p:cNvSpPr>
            <a:spLocks noGrp="1"/>
          </p:cNvSpPr>
          <p:nvPr/>
        </p:nvSpPr>
        <p:spPr>
          <a:xfrm>
            <a:off x="9398000" y="3556000"/>
            <a:ext cx="2413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3" name="표준 장착">
            <a:extLst>
              <a:ext uri="{FF2B5EF4-FFF2-40B4-BE49-F238E27FC236}">
                <a16:creationId xmlns:a16="http://schemas.microsoft.com/office/drawing/2014/main" id="{DCFCD240-EAF9-4F0A-A019-EC0D1948C1EA}"/>
              </a:ext>
            </a:extLst>
          </p:cNvPr>
          <p:cNvSpPr>
            <a:spLocks noGrp="1"/>
          </p:cNvSpPr>
          <p:nvPr/>
        </p:nvSpPr>
        <p:spPr>
          <a:xfrm>
            <a:off x="520700" y="412750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4" name="장비 높이·위치 기준 설계">
            <a:extLst>
              <a:ext uri="{FF2B5EF4-FFF2-40B4-BE49-F238E27FC236}">
                <a16:creationId xmlns:a16="http://schemas.microsoft.com/office/drawing/2014/main" id="{D10A66D4-C3B3-42FB-BCF8-1E2A8B30746D}"/>
              </a:ext>
            </a:extLst>
          </p:cNvPr>
          <p:cNvSpPr>
            <a:spLocks noGrp="1"/>
          </p:cNvSpPr>
          <p:nvPr/>
        </p:nvSpPr>
        <p:spPr>
          <a:xfrm>
            <a:off x="520700" y="449580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5" name="PIM 연동 검토">
            <a:extLst>
              <a:ext uri="{FF2B5EF4-FFF2-40B4-BE49-F238E27FC236}">
                <a16:creationId xmlns:a16="http://schemas.microsoft.com/office/drawing/2014/main" id="{7DECCB71-B41B-4E2E-8B53-2C5A7C845ABA}"/>
              </a:ext>
            </a:extLst>
          </p:cNvPr>
          <p:cNvSpPr>
            <a:spLocks noGrp="1"/>
          </p:cNvSpPr>
          <p:nvPr/>
        </p:nvSpPr>
        <p:spPr>
          <a:xfrm>
            <a:off x="3505200" y="412750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6" name="지원 신호·권한 확인 필요">
            <a:extLst>
              <a:ext uri="{FF2B5EF4-FFF2-40B4-BE49-F238E27FC236}">
                <a16:creationId xmlns:a16="http://schemas.microsoft.com/office/drawing/2014/main" id="{FBE1A453-B26E-4AC6-98B0-BCBB4127323B}"/>
              </a:ext>
            </a:extLst>
          </p:cNvPr>
          <p:cNvSpPr>
            <a:spLocks noGrp="1"/>
          </p:cNvSpPr>
          <p:nvPr/>
        </p:nvSpPr>
        <p:spPr>
          <a:xfrm>
            <a:off x="3505200" y="449580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7" name="플릿 연동 검토">
            <a:extLst>
              <a:ext uri="{FF2B5EF4-FFF2-40B4-BE49-F238E27FC236}">
                <a16:creationId xmlns:a16="http://schemas.microsoft.com/office/drawing/2014/main" id="{BD6DB6C5-2E51-4475-BFC1-1BD1C0818DDA}"/>
              </a:ext>
            </a:extLst>
          </p:cNvPr>
          <p:cNvSpPr>
            <a:spLocks noGrp="1"/>
          </p:cNvSpPr>
          <p:nvPr/>
        </p:nvSpPr>
        <p:spPr>
          <a:xfrm>
            <a:off x="6489700" y="412750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8" name="기관 관제·Pleos 범위 협의">
            <a:extLst>
              <a:ext uri="{FF2B5EF4-FFF2-40B4-BE49-F238E27FC236}">
                <a16:creationId xmlns:a16="http://schemas.microsoft.com/office/drawing/2014/main" id="{6C48F676-7872-4AB1-81F0-76E2A5ED84FE}"/>
              </a:ext>
            </a:extLst>
          </p:cNvPr>
          <p:cNvSpPr>
            <a:spLocks noGrp="1"/>
          </p:cNvSpPr>
          <p:nvPr/>
        </p:nvSpPr>
        <p:spPr>
          <a:xfrm>
            <a:off x="6489700" y="449580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9" name="현장 재확인">
            <a:extLst>
              <a:ext uri="{FF2B5EF4-FFF2-40B4-BE49-F238E27FC236}">
                <a16:creationId xmlns:a16="http://schemas.microsoft.com/office/drawing/2014/main" id="{0294E725-8656-42F9-85E8-9A20F42621E6}"/>
              </a:ext>
            </a:extLst>
          </p:cNvPr>
          <p:cNvSpPr>
            <a:spLocks noGrp="1"/>
          </p:cNvSpPr>
          <p:nvPr/>
        </p:nvSpPr>
        <p:spPr>
          <a:xfrm>
            <a:off x="9474200" y="4127500"/>
            <a:ext cx="2717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0" name="작업 동선·하차 안전 검증">
            <a:extLst>
              <a:ext uri="{FF2B5EF4-FFF2-40B4-BE49-F238E27FC236}">
                <a16:creationId xmlns:a16="http://schemas.microsoft.com/office/drawing/2014/main" id="{8E494E18-CB2F-4804-979F-3C51C28592B0}"/>
              </a:ext>
            </a:extLst>
          </p:cNvPr>
          <p:cNvSpPr>
            <a:spLocks noGrp="1"/>
          </p:cNvSpPr>
          <p:nvPr/>
        </p:nvSpPr>
        <p:spPr>
          <a:xfrm>
            <a:off x="9474200" y="4495800"/>
            <a:ext cx="27178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1" name="수분·주행 위치·센서 높이·적재량을 기록하고 ">
            <a:extLst>
              <a:ext uri="{FF2B5EF4-FFF2-40B4-BE49-F238E27FC236}">
                <a16:creationId xmlns:a16="http://schemas.microsoft.com/office/drawing/2014/main" id="{29AB4302-DEBE-4007-8AC4-19D68CB4091E}"/>
              </a:ext>
            </a:extLst>
          </p:cNvPr>
          <p:cNvSpPr>
            <a:spLocks noGrp="1"/>
          </p:cNvSpPr>
          <p:nvPr/>
        </p:nvSpPr>
        <p:spPr>
          <a:xfrm>
            <a:off x="749300" y="5588000"/>
            <a:ext cx="10795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2" name="근거: PV5 컨버전 생태계·공모전 Pleos">
            <a:extLst>
              <a:ext uri="{FF2B5EF4-FFF2-40B4-BE49-F238E27FC236}">
                <a16:creationId xmlns:a16="http://schemas.microsoft.com/office/drawing/2014/main" id="{2F2A5BE2-837C-409E-81CB-10C1D1A629F4}"/>
              </a:ext>
            </a:extLst>
          </p:cNvPr>
          <p:cNvSpPr>
            <a:spLocks noGrp="1"/>
          </p:cNvSpPr>
          <p:nvPr/>
        </p:nvSpPr>
        <p:spPr>
          <a:xfrm>
            <a:off x="533400" y="6261100"/>
            <a:ext cx="1117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3" name="같은 노선 반복 측정">
            <a:extLst>
              <a:ext uri="{FF2B5EF4-FFF2-40B4-BE49-F238E27FC236}">
                <a16:creationId xmlns:a16="http://schemas.microsoft.com/office/drawing/2014/main" id="{4CD548BF-3776-4DEF-A9F0-6422011703AC}"/>
              </a:ext>
            </a:extLst>
          </p:cNvPr>
          <p:cNvSpPr>
            <a:spLocks noGrp="1"/>
          </p:cNvSpPr>
          <p:nvPr/>
        </p:nvSpPr>
        <p:spPr>
          <a:xfrm>
            <a:off x="1651000" y="3187700"/>
            <a:ext cx="2032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4" name="1호차">
            <a:extLst>
              <a:ext uri="{FF2B5EF4-FFF2-40B4-BE49-F238E27FC236}">
                <a16:creationId xmlns:a16="http://schemas.microsoft.com/office/drawing/2014/main" id="{7A1C404D-58CF-40C9-9AFF-D25AFDA1DAE9}"/>
              </a:ext>
            </a:extLst>
          </p:cNvPr>
          <p:cNvSpPr>
            <a:spLocks noGrp="1"/>
          </p:cNvSpPr>
          <p:nvPr/>
        </p:nvSpPr>
        <p:spPr>
          <a:xfrm>
            <a:off x="1930400" y="2946400"/>
            <a:ext cx="190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5" name="현재 슬라이드 번호">
            <a:extLst>
              <a:ext uri="{FF2B5EF4-FFF2-40B4-BE49-F238E27FC236}">
                <a16:creationId xmlns:a16="http://schemas.microsoft.com/office/drawing/2014/main" id="{CEBFA984-DEA3-4B2D-90D9-96A90F893933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6" name="PV5 GroundWatch">
            <a:extLst>
              <a:ext uri="{FF2B5EF4-FFF2-40B4-BE49-F238E27FC236}">
                <a16:creationId xmlns:a16="http://schemas.microsoft.com/office/drawing/2014/main" id="{7915001A-2F05-473C-9B85-9BA9D615E427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7" name="표준 장착과 차량별 보정으로 비교합니다">
            <a:extLst>
              <a:ext uri="{FF2B5EF4-FFF2-40B4-BE49-F238E27FC236}">
                <a16:creationId xmlns:a16="http://schemas.microsoft.com/office/drawing/2014/main" id="{FCCC683E-417A-4412-8F39-2CA4096770D8}"/>
              </a:ext>
            </a:extLst>
          </p:cNvPr>
          <p:cNvSpPr>
            <a:spLocks noGrp="1"/>
          </p:cNvSpPr>
          <p:nvPr/>
        </p:nvSpPr>
        <p:spPr>
          <a:xfrm>
            <a:off x="520700" y="77216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표준 장착과 차량별 보정으로 비교합니다</a:t>
            </a:r>
          </a:p>
        </p:txBody>
      </p:sp>
      <p:sp>
        <p:nvSpPr>
          <p:cNvPr id="38" name="다른 도시 PV5">
            <a:extLst>
              <a:ext uri="{FF2B5EF4-FFF2-40B4-BE49-F238E27FC236}">
                <a16:creationId xmlns:a16="http://schemas.microsoft.com/office/drawing/2014/main" id="{3A89AEB7-5028-456E-8B90-342EBC8CFB65}"/>
              </a:ext>
            </a:extLst>
          </p:cNvPr>
          <p:cNvSpPr>
            <a:spLocks noGrp="1"/>
          </p:cNvSpPr>
          <p:nvPr/>
        </p:nvSpPr>
        <p:spPr>
          <a:xfrm>
            <a:off x="9398000" y="2915920"/>
            <a:ext cx="2413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다른 도시 PV5</a:t>
            </a:r>
          </a:p>
        </p:txBody>
      </p:sp>
      <p:sp>
        <p:nvSpPr>
          <p:cNvPr id="39" name="차량별 보정·판독 기준">
            <a:extLst>
              <a:ext uri="{FF2B5EF4-FFF2-40B4-BE49-F238E27FC236}">
                <a16:creationId xmlns:a16="http://schemas.microsoft.com/office/drawing/2014/main" id="{E872FC6A-F7C4-4E16-88A3-D4D37115036F}"/>
              </a:ext>
            </a:extLst>
          </p:cNvPr>
          <p:cNvSpPr>
            <a:spLocks noGrp="1"/>
          </p:cNvSpPr>
          <p:nvPr/>
        </p:nvSpPr>
        <p:spPr>
          <a:xfrm>
            <a:off x="9398000" y="3197860"/>
            <a:ext cx="2413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차량별 보정·판독 기준</a:t>
            </a:r>
          </a:p>
        </p:txBody>
      </p:sp>
      <p:sp>
        <p:nvSpPr>
          <p:cNvPr id="40" name="표준 장착">
            <a:extLst>
              <a:ext uri="{FF2B5EF4-FFF2-40B4-BE49-F238E27FC236}">
                <a16:creationId xmlns:a16="http://schemas.microsoft.com/office/drawing/2014/main" id="{63FA3E64-55E4-48A9-BCDD-5F6A18B0243B}"/>
              </a:ext>
            </a:extLst>
          </p:cNvPr>
          <p:cNvSpPr>
            <a:spLocks noGrp="1"/>
          </p:cNvSpPr>
          <p:nvPr/>
        </p:nvSpPr>
        <p:spPr>
          <a:xfrm>
            <a:off x="520700" y="408178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표준 장착</a:t>
            </a:r>
          </a:p>
        </p:txBody>
      </p:sp>
      <p:sp>
        <p:nvSpPr>
          <p:cNvPr id="41" name="장비 높이·위치 기준 설계">
            <a:extLst>
              <a:ext uri="{FF2B5EF4-FFF2-40B4-BE49-F238E27FC236}">
                <a16:creationId xmlns:a16="http://schemas.microsoft.com/office/drawing/2014/main" id="{D494DB6E-38B5-4A9C-88FC-321BC0ED76C1}"/>
              </a:ext>
            </a:extLst>
          </p:cNvPr>
          <p:cNvSpPr>
            <a:spLocks noGrp="1"/>
          </p:cNvSpPr>
          <p:nvPr/>
        </p:nvSpPr>
        <p:spPr>
          <a:xfrm>
            <a:off x="520700" y="446024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장비 높이·위치 기준 설계</a:t>
            </a:r>
          </a:p>
        </p:txBody>
      </p:sp>
      <p:sp>
        <p:nvSpPr>
          <p:cNvPr id="42" name="PIM 연동 검토">
            <a:extLst>
              <a:ext uri="{FF2B5EF4-FFF2-40B4-BE49-F238E27FC236}">
                <a16:creationId xmlns:a16="http://schemas.microsoft.com/office/drawing/2014/main" id="{5009E3FE-E4CC-481C-A909-9EAC96F29273}"/>
              </a:ext>
            </a:extLst>
          </p:cNvPr>
          <p:cNvSpPr>
            <a:spLocks noGrp="1"/>
          </p:cNvSpPr>
          <p:nvPr/>
        </p:nvSpPr>
        <p:spPr>
          <a:xfrm>
            <a:off x="3505200" y="408178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PIM 연동 검토</a:t>
            </a:r>
          </a:p>
        </p:txBody>
      </p:sp>
      <p:sp>
        <p:nvSpPr>
          <p:cNvPr id="43" name="지원 신호·권한 확인 필요">
            <a:extLst>
              <a:ext uri="{FF2B5EF4-FFF2-40B4-BE49-F238E27FC236}">
                <a16:creationId xmlns:a16="http://schemas.microsoft.com/office/drawing/2014/main" id="{B1AFCA97-CA6D-40ED-A0D3-8AB187CCFC4E}"/>
              </a:ext>
            </a:extLst>
          </p:cNvPr>
          <p:cNvSpPr>
            <a:spLocks noGrp="1"/>
          </p:cNvSpPr>
          <p:nvPr/>
        </p:nvSpPr>
        <p:spPr>
          <a:xfrm>
            <a:off x="3505200" y="446024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지원 신호·권한 확인 필요</a:t>
            </a:r>
          </a:p>
        </p:txBody>
      </p:sp>
      <p:sp>
        <p:nvSpPr>
          <p:cNvPr id="44" name="플릿 연동 검토">
            <a:extLst>
              <a:ext uri="{FF2B5EF4-FFF2-40B4-BE49-F238E27FC236}">
                <a16:creationId xmlns:a16="http://schemas.microsoft.com/office/drawing/2014/main" id="{1DAFF36F-29A1-49FE-BA8E-1145D106532D}"/>
              </a:ext>
            </a:extLst>
          </p:cNvPr>
          <p:cNvSpPr>
            <a:spLocks noGrp="1"/>
          </p:cNvSpPr>
          <p:nvPr/>
        </p:nvSpPr>
        <p:spPr>
          <a:xfrm>
            <a:off x="6489700" y="4081780"/>
            <a:ext cx="273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플릿 연동 검토</a:t>
            </a:r>
          </a:p>
        </p:txBody>
      </p:sp>
      <p:sp>
        <p:nvSpPr>
          <p:cNvPr id="45" name="기관 관제·Pleos 범위 협의">
            <a:extLst>
              <a:ext uri="{FF2B5EF4-FFF2-40B4-BE49-F238E27FC236}">
                <a16:creationId xmlns:a16="http://schemas.microsoft.com/office/drawing/2014/main" id="{98810229-F806-45C4-9345-C88077E0407B}"/>
              </a:ext>
            </a:extLst>
          </p:cNvPr>
          <p:cNvSpPr>
            <a:spLocks noGrp="1"/>
          </p:cNvSpPr>
          <p:nvPr/>
        </p:nvSpPr>
        <p:spPr>
          <a:xfrm>
            <a:off x="6489700" y="4460240"/>
            <a:ext cx="273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기관 관제·Pleos 범위 협의</a:t>
            </a:r>
          </a:p>
        </p:txBody>
      </p:sp>
      <p:sp>
        <p:nvSpPr>
          <p:cNvPr id="46" name="현장 재확인">
            <a:extLst>
              <a:ext uri="{FF2B5EF4-FFF2-40B4-BE49-F238E27FC236}">
                <a16:creationId xmlns:a16="http://schemas.microsoft.com/office/drawing/2014/main" id="{D6932B61-645D-45D8-B36D-8CC02E3A2FDE}"/>
              </a:ext>
            </a:extLst>
          </p:cNvPr>
          <p:cNvSpPr>
            <a:spLocks noGrp="1"/>
          </p:cNvSpPr>
          <p:nvPr/>
        </p:nvSpPr>
        <p:spPr>
          <a:xfrm>
            <a:off x="9474200" y="4081780"/>
            <a:ext cx="2717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 재확인</a:t>
            </a:r>
          </a:p>
        </p:txBody>
      </p:sp>
      <p:sp>
        <p:nvSpPr>
          <p:cNvPr id="47" name="작업 동선·하차 안전 검증">
            <a:extLst>
              <a:ext uri="{FF2B5EF4-FFF2-40B4-BE49-F238E27FC236}">
                <a16:creationId xmlns:a16="http://schemas.microsoft.com/office/drawing/2014/main" id="{33AF9678-28D8-465D-A8A2-EC4C66A4424E}"/>
              </a:ext>
            </a:extLst>
          </p:cNvPr>
          <p:cNvSpPr>
            <a:spLocks noGrp="1"/>
          </p:cNvSpPr>
          <p:nvPr/>
        </p:nvSpPr>
        <p:spPr>
          <a:xfrm>
            <a:off x="9474200" y="4460240"/>
            <a:ext cx="27178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작업 동선·하차 안전 검증</a:t>
            </a:r>
          </a:p>
        </p:txBody>
      </p:sp>
      <p:sp>
        <p:nvSpPr>
          <p:cNvPr id="48" name="근거: PV5 컨버전 생태계·공모전 Pleos">
            <a:extLst>
              <a:ext uri="{FF2B5EF4-FFF2-40B4-BE49-F238E27FC236}">
                <a16:creationId xmlns:a16="http://schemas.microsoft.com/office/drawing/2014/main" id="{2192F8C8-7C09-4DAD-B2FB-6280548C9522}"/>
              </a:ext>
            </a:extLst>
          </p:cNvPr>
          <p:cNvSpPr>
            <a:spLocks noGrp="1"/>
          </p:cNvSpPr>
          <p:nvPr/>
        </p:nvSpPr>
        <p:spPr>
          <a:xfrm>
            <a:off x="533400" y="6235700"/>
            <a:ext cx="1117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근거: PV5 컨버전 생태계·공모전 Pleos Connect 안내 · 장착 표준화와 보정 절차는 제안안</a:t>
            </a:r>
          </a:p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연계 기능·장비 제어·차량 간 비교 성능은 확정되지 않았습니다.</a:t>
            </a:r>
          </a:p>
        </p:txBody>
      </p:sp>
      <p:sp>
        <p:nvSpPr>
          <p:cNvPr id="49" name="같은 노선 반복 측정">
            <a:extLst>
              <a:ext uri="{FF2B5EF4-FFF2-40B4-BE49-F238E27FC236}">
                <a16:creationId xmlns:a16="http://schemas.microsoft.com/office/drawing/2014/main" id="{96AF7DC1-4FD8-4DE9-8350-B4AD16C5A21C}"/>
              </a:ext>
            </a:extLst>
          </p:cNvPr>
          <p:cNvSpPr>
            <a:spLocks noGrp="1"/>
          </p:cNvSpPr>
          <p:nvPr/>
        </p:nvSpPr>
        <p:spPr>
          <a:xfrm>
            <a:off x="1651000" y="3159760"/>
            <a:ext cx="2032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1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같은 노선 반복 측정</a:t>
            </a:r>
          </a:p>
        </p:txBody>
      </p:sp>
      <p:sp>
        <p:nvSpPr>
          <p:cNvPr id="50" name="1호차">
            <a:extLst>
              <a:ext uri="{FF2B5EF4-FFF2-40B4-BE49-F238E27FC236}">
                <a16:creationId xmlns:a16="http://schemas.microsoft.com/office/drawing/2014/main" id="{E710CDD8-27B6-4AE1-8830-3E413B5966FF}"/>
              </a:ext>
            </a:extLst>
          </p:cNvPr>
          <p:cNvSpPr>
            <a:spLocks noGrp="1"/>
          </p:cNvSpPr>
          <p:nvPr/>
        </p:nvSpPr>
        <p:spPr>
          <a:xfrm>
            <a:off x="1930400" y="2915920"/>
            <a:ext cx="190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1호차</a:t>
            </a:r>
          </a:p>
        </p:txBody>
      </p:sp>
      <p:sp>
        <p:nvSpPr>
          <p:cNvPr id="51" name="표준 장착과 차량별 보정으로 비교 일관성을 검">
            <a:extLst>
              <a:ext uri="{FF2B5EF4-FFF2-40B4-BE49-F238E27FC236}">
                <a16:creationId xmlns:a16="http://schemas.microsoft.com/office/drawing/2014/main" id="{AB907BBF-59A5-409E-A0B6-BFAEF02132BE}"/>
              </a:ext>
            </a:extLst>
          </p:cNvPr>
          <p:cNvSpPr>
            <a:spLocks noGrp="1"/>
          </p:cNvSpPr>
          <p:nvPr/>
        </p:nvSpPr>
        <p:spPr>
          <a:xfrm>
            <a:off x="749300" y="5781675"/>
            <a:ext cx="10795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표준 장착과 차량별 보정으로 비교 일관성을 검증합니다.</a:t>
            </a:r>
          </a:p>
        </p:txBody>
      </p:sp>
      <p:sp>
        <p:nvSpPr>
          <p:cNvPr id="52" name="현재 슬라이드 번호">
            <a:extLst>
              <a:ext uri="{FF2B5EF4-FFF2-40B4-BE49-F238E27FC236}">
                <a16:creationId xmlns:a16="http://schemas.microsoft.com/office/drawing/2014/main" id="{CE7A8832-449A-4740-99E7-5E8450A6DE40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12 / 18</a:t>
            </a:r>
          </a:p>
        </p:txBody>
      </p:sp>
      <p:sp>
        <p:nvSpPr>
          <p:cNvPr id="53" name="PV5 GroundWatch">
            <a:extLst>
              <a:ext uri="{FF2B5EF4-FFF2-40B4-BE49-F238E27FC236}">
                <a16:creationId xmlns:a16="http://schemas.microsoft.com/office/drawing/2014/main" id="{5078F912-D2CF-4981-B7E0-498B490943E8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1232943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8815EF0-47B4-4319-A222-89B09551F0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평가 지표">
            <a:extLst>
              <a:ext uri="{FF2B5EF4-FFF2-40B4-BE49-F238E27FC236}">
                <a16:creationId xmlns:a16="http://schemas.microsoft.com/office/drawing/2014/main" id="{108EACB7-0B49-4553-86F5-BD0F96578FC5}"/>
              </a:ext>
            </a:extLst>
          </p:cNvPr>
          <p:cNvSpPr>
            <a:spLocks noGrp="1"/>
          </p:cNvSpPr>
          <p:nvPr/>
        </p:nvSpPr>
        <p:spPr>
          <a:xfrm>
            <a:off x="736600" y="31369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전자파·전원 상태별&#10;GPR 신호 품질·잡음">
            <a:extLst>
              <a:ext uri="{FF2B5EF4-FFF2-40B4-BE49-F238E27FC236}">
                <a16:creationId xmlns:a16="http://schemas.microsoft.com/office/drawing/2014/main" id="{88AFD4C2-E79A-4A94-8DA8-FD13B27CF689}"/>
              </a:ext>
            </a:extLst>
          </p:cNvPr>
          <p:cNvSpPr>
            <a:spLocks noGrp="1"/>
          </p:cNvSpPr>
          <p:nvPr/>
        </p:nvSpPr>
        <p:spPr>
          <a:xfrm>
            <a:off x="736600" y="3441700"/>
            <a:ext cx="2552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실증 전 목표 설정">
            <a:extLst>
              <a:ext uri="{FF2B5EF4-FFF2-40B4-BE49-F238E27FC236}">
                <a16:creationId xmlns:a16="http://schemas.microsoft.com/office/drawing/2014/main" id="{43AB5432-2FFE-438F-9218-D3A3008EF49C}"/>
              </a:ext>
            </a:extLst>
          </p:cNvPr>
          <p:cNvSpPr>
            <a:spLocks noGrp="1"/>
          </p:cNvSpPr>
          <p:nvPr/>
        </p:nvSpPr>
        <p:spPr>
          <a:xfrm>
            <a:off x="736600" y="4178300"/>
            <a:ext cx="25527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평가 지표">
            <a:extLst>
              <a:ext uri="{FF2B5EF4-FFF2-40B4-BE49-F238E27FC236}">
                <a16:creationId xmlns:a16="http://schemas.microsoft.com/office/drawing/2014/main" id="{A9ED5BCA-E96C-45B0-BB4A-5291AA17682B}"/>
              </a:ext>
            </a:extLst>
          </p:cNvPr>
          <p:cNvSpPr>
            <a:spLocks noGrp="1"/>
          </p:cNvSpPr>
          <p:nvPr/>
        </p:nvSpPr>
        <p:spPr>
          <a:xfrm>
            <a:off x="3581400" y="31369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기준점 대비 위치 오차&#10;센서 높이·주행선 편차">
            <a:extLst>
              <a:ext uri="{FF2B5EF4-FFF2-40B4-BE49-F238E27FC236}">
                <a16:creationId xmlns:a16="http://schemas.microsoft.com/office/drawing/2014/main" id="{E95DBF97-08DF-45CE-97CD-ADB9F697B7F1}"/>
              </a:ext>
            </a:extLst>
          </p:cNvPr>
          <p:cNvSpPr>
            <a:spLocks noGrp="1"/>
          </p:cNvSpPr>
          <p:nvPr/>
        </p:nvSpPr>
        <p:spPr>
          <a:xfrm>
            <a:off x="3581400" y="3441700"/>
            <a:ext cx="2552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실증 전 목표 설정">
            <a:extLst>
              <a:ext uri="{FF2B5EF4-FFF2-40B4-BE49-F238E27FC236}">
                <a16:creationId xmlns:a16="http://schemas.microsoft.com/office/drawing/2014/main" id="{1CC44F7D-1C44-492A-8144-6BEEA0E7C109}"/>
              </a:ext>
            </a:extLst>
          </p:cNvPr>
          <p:cNvSpPr>
            <a:spLocks noGrp="1"/>
          </p:cNvSpPr>
          <p:nvPr/>
        </p:nvSpPr>
        <p:spPr>
          <a:xfrm>
            <a:off x="3581400" y="4178300"/>
            <a:ext cx="25527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평가 지표">
            <a:extLst>
              <a:ext uri="{FF2B5EF4-FFF2-40B4-BE49-F238E27FC236}">
                <a16:creationId xmlns:a16="http://schemas.microsoft.com/office/drawing/2014/main" id="{95194EC7-144E-40C0-9CAD-172CD5EEF4E8}"/>
              </a:ext>
            </a:extLst>
          </p:cNvPr>
          <p:cNvSpPr>
            <a:spLocks noGrp="1"/>
          </p:cNvSpPr>
          <p:nvPr/>
        </p:nvSpPr>
        <p:spPr>
          <a:xfrm>
            <a:off x="6426200" y="31369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공동 변화 검출률&#10;무변화 구간 오탐률">
            <a:extLst>
              <a:ext uri="{FF2B5EF4-FFF2-40B4-BE49-F238E27FC236}">
                <a16:creationId xmlns:a16="http://schemas.microsoft.com/office/drawing/2014/main" id="{A469E9BE-22F6-45B4-811E-91184783C273}"/>
              </a:ext>
            </a:extLst>
          </p:cNvPr>
          <p:cNvSpPr>
            <a:spLocks noGrp="1"/>
          </p:cNvSpPr>
          <p:nvPr/>
        </p:nvSpPr>
        <p:spPr>
          <a:xfrm>
            <a:off x="6426200" y="3441700"/>
            <a:ext cx="2552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0" name="실증 전 목표 설정">
            <a:extLst>
              <a:ext uri="{FF2B5EF4-FFF2-40B4-BE49-F238E27FC236}">
                <a16:creationId xmlns:a16="http://schemas.microsoft.com/office/drawing/2014/main" id="{9C286BA8-2CEC-4D15-BBBA-3F64F822F074}"/>
              </a:ext>
            </a:extLst>
          </p:cNvPr>
          <p:cNvSpPr>
            <a:spLocks noGrp="1"/>
          </p:cNvSpPr>
          <p:nvPr/>
        </p:nvSpPr>
        <p:spPr>
          <a:xfrm>
            <a:off x="6426200" y="4178300"/>
            <a:ext cx="25527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평가 지표">
            <a:extLst>
              <a:ext uri="{FF2B5EF4-FFF2-40B4-BE49-F238E27FC236}">
                <a16:creationId xmlns:a16="http://schemas.microsoft.com/office/drawing/2014/main" id="{55B97835-F6F7-4614-B169-6B09A3403F75}"/>
              </a:ext>
            </a:extLst>
          </p:cNvPr>
          <p:cNvSpPr>
            <a:spLocks noGrp="1"/>
          </p:cNvSpPr>
          <p:nvPr/>
        </p:nvSpPr>
        <p:spPr>
          <a:xfrm>
            <a:off x="9271000" y="313690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재확인 소요시간&#10;유효 탐사 km·가동률">
            <a:extLst>
              <a:ext uri="{FF2B5EF4-FFF2-40B4-BE49-F238E27FC236}">
                <a16:creationId xmlns:a16="http://schemas.microsoft.com/office/drawing/2014/main" id="{66972BD7-F753-4EEF-8F6A-AC5D325A572C}"/>
              </a:ext>
            </a:extLst>
          </p:cNvPr>
          <p:cNvSpPr>
            <a:spLocks noGrp="1"/>
          </p:cNvSpPr>
          <p:nvPr/>
        </p:nvSpPr>
        <p:spPr>
          <a:xfrm>
            <a:off x="9271000" y="3441700"/>
            <a:ext cx="2552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3" name="실증 전 목표 설정">
            <a:extLst>
              <a:ext uri="{FF2B5EF4-FFF2-40B4-BE49-F238E27FC236}">
                <a16:creationId xmlns:a16="http://schemas.microsoft.com/office/drawing/2014/main" id="{CF7C532B-C7EC-45F0-AE17-1035DD24C36F}"/>
              </a:ext>
            </a:extLst>
          </p:cNvPr>
          <p:cNvSpPr>
            <a:spLocks noGrp="1"/>
          </p:cNvSpPr>
          <p:nvPr/>
        </p:nvSpPr>
        <p:spPr>
          <a:xfrm>
            <a:off x="9271000" y="4178300"/>
            <a:ext cx="25527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4" name="수분·주행 위치·높이·적재량·EV 간섭 조건을">
            <a:extLst>
              <a:ext uri="{FF2B5EF4-FFF2-40B4-BE49-F238E27FC236}">
                <a16:creationId xmlns:a16="http://schemas.microsoft.com/office/drawing/2014/main" id="{A3300735-87F8-4206-AF28-5116977EA0E1}"/>
              </a:ext>
            </a:extLst>
          </p:cNvPr>
          <p:cNvSpPr>
            <a:spLocks noGrp="1"/>
          </p:cNvSpPr>
          <p:nvPr/>
        </p:nvSpPr>
        <p:spPr>
          <a:xfrm>
            <a:off x="711200" y="5054600"/>
            <a:ext cx="11049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실험 설계: 참값을 확보한 시험구간과 무변화 ">
            <a:extLst>
              <a:ext uri="{FF2B5EF4-FFF2-40B4-BE49-F238E27FC236}">
                <a16:creationId xmlns:a16="http://schemas.microsoft.com/office/drawing/2014/main" id="{52390184-BB84-43A2-B7B6-050FCC742028}"/>
              </a:ext>
            </a:extLst>
          </p:cNvPr>
          <p:cNvSpPr>
            <a:spLocks noGrp="1"/>
          </p:cNvSpPr>
          <p:nvPr/>
        </p:nvSpPr>
        <p:spPr>
          <a:xfrm>
            <a:off x="533400" y="6197600"/>
            <a:ext cx="1117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6" name="현재 슬라이드 번호">
            <a:extLst>
              <a:ext uri="{FF2B5EF4-FFF2-40B4-BE49-F238E27FC236}">
                <a16:creationId xmlns:a16="http://schemas.microsoft.com/office/drawing/2014/main" id="{D95226C6-35AF-41F4-918B-EB41E764DA30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7" name="PV5 GroundWatch">
            <a:extLst>
              <a:ext uri="{FF2B5EF4-FFF2-40B4-BE49-F238E27FC236}">
                <a16:creationId xmlns:a16="http://schemas.microsoft.com/office/drawing/2014/main" id="{39CAB73A-36D2-4E56-9AB4-8EE6CAB48883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9" name="평가 지표">
            <a:extLst>
              <a:ext uri="{FF2B5EF4-FFF2-40B4-BE49-F238E27FC236}">
                <a16:creationId xmlns:a16="http://schemas.microsoft.com/office/drawing/2014/main" id="{CAC5B344-6D11-481C-887E-70F80AB57082}"/>
              </a:ext>
            </a:extLst>
          </p:cNvPr>
          <p:cNvSpPr>
            <a:spLocks noGrp="1"/>
          </p:cNvSpPr>
          <p:nvPr/>
        </p:nvSpPr>
        <p:spPr>
          <a:xfrm>
            <a:off x="736600" y="310642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평가 지표</a:t>
            </a:r>
          </a:p>
        </p:txBody>
      </p:sp>
      <p:sp>
        <p:nvSpPr>
          <p:cNvPr id="20" name="전자파·전원 상태별&#10;GPR 신호 품질·잡음">
            <a:extLst>
              <a:ext uri="{FF2B5EF4-FFF2-40B4-BE49-F238E27FC236}">
                <a16:creationId xmlns:a16="http://schemas.microsoft.com/office/drawing/2014/main" id="{EBE7A869-2861-413D-A9A9-F3C11AB65403}"/>
              </a:ext>
            </a:extLst>
          </p:cNvPr>
          <p:cNvSpPr>
            <a:spLocks noGrp="1"/>
          </p:cNvSpPr>
          <p:nvPr/>
        </p:nvSpPr>
        <p:spPr>
          <a:xfrm>
            <a:off x="736600" y="3346450"/>
            <a:ext cx="2552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전자파·전원 상태별</a:t>
            </a:r>
          </a:p>
          <a:p>
            <a:pPr algn="l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GPR 신호 품질·잡음</a:t>
            </a:r>
          </a:p>
        </p:txBody>
      </p:sp>
      <p:sp>
        <p:nvSpPr>
          <p:cNvPr id="21" name="실증 전 목표 설정">
            <a:extLst>
              <a:ext uri="{FF2B5EF4-FFF2-40B4-BE49-F238E27FC236}">
                <a16:creationId xmlns:a16="http://schemas.microsoft.com/office/drawing/2014/main" id="{D8090DAD-7B53-430E-87B6-86CA3EC068E4}"/>
              </a:ext>
            </a:extLst>
          </p:cNvPr>
          <p:cNvSpPr>
            <a:spLocks noGrp="1"/>
          </p:cNvSpPr>
          <p:nvPr/>
        </p:nvSpPr>
        <p:spPr>
          <a:xfrm>
            <a:off x="736600" y="4145280"/>
            <a:ext cx="25527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실증 전 목표 설정</a:t>
            </a:r>
          </a:p>
        </p:txBody>
      </p:sp>
      <p:sp>
        <p:nvSpPr>
          <p:cNvPr id="22" name="평가 지표">
            <a:extLst>
              <a:ext uri="{FF2B5EF4-FFF2-40B4-BE49-F238E27FC236}">
                <a16:creationId xmlns:a16="http://schemas.microsoft.com/office/drawing/2014/main" id="{BDEF3052-6816-450F-91F9-69D5A8008354}"/>
              </a:ext>
            </a:extLst>
          </p:cNvPr>
          <p:cNvSpPr>
            <a:spLocks noGrp="1"/>
          </p:cNvSpPr>
          <p:nvPr/>
        </p:nvSpPr>
        <p:spPr>
          <a:xfrm>
            <a:off x="3581400" y="310642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평가 지표</a:t>
            </a:r>
          </a:p>
        </p:txBody>
      </p:sp>
      <p:sp>
        <p:nvSpPr>
          <p:cNvPr id="23" name="기준점 대비 위치 오차&#10;센서 높이·주행선 편차">
            <a:extLst>
              <a:ext uri="{FF2B5EF4-FFF2-40B4-BE49-F238E27FC236}">
                <a16:creationId xmlns:a16="http://schemas.microsoft.com/office/drawing/2014/main" id="{8FA25A56-636E-47C0-82D4-D97F895147E3}"/>
              </a:ext>
            </a:extLst>
          </p:cNvPr>
          <p:cNvSpPr>
            <a:spLocks noGrp="1"/>
          </p:cNvSpPr>
          <p:nvPr/>
        </p:nvSpPr>
        <p:spPr>
          <a:xfrm>
            <a:off x="3581400" y="3346450"/>
            <a:ext cx="2552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기준점 대비 위치 오차</a:t>
            </a:r>
          </a:p>
          <a:p>
            <a:pPr algn="l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센서 높이·주행선 편차</a:t>
            </a:r>
          </a:p>
        </p:txBody>
      </p:sp>
      <p:sp>
        <p:nvSpPr>
          <p:cNvPr id="24" name="실증 전 목표 설정">
            <a:extLst>
              <a:ext uri="{FF2B5EF4-FFF2-40B4-BE49-F238E27FC236}">
                <a16:creationId xmlns:a16="http://schemas.microsoft.com/office/drawing/2014/main" id="{C180FBCB-2DEC-49EE-AD5B-C5074DFDD253}"/>
              </a:ext>
            </a:extLst>
          </p:cNvPr>
          <p:cNvSpPr>
            <a:spLocks noGrp="1"/>
          </p:cNvSpPr>
          <p:nvPr/>
        </p:nvSpPr>
        <p:spPr>
          <a:xfrm>
            <a:off x="3581400" y="4145280"/>
            <a:ext cx="25527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실증 전 목표 설정</a:t>
            </a:r>
          </a:p>
        </p:txBody>
      </p:sp>
      <p:sp>
        <p:nvSpPr>
          <p:cNvPr id="25" name="평가 지표">
            <a:extLst>
              <a:ext uri="{FF2B5EF4-FFF2-40B4-BE49-F238E27FC236}">
                <a16:creationId xmlns:a16="http://schemas.microsoft.com/office/drawing/2014/main" id="{A7955A1E-4016-46B2-9A15-9B43C94F9EE8}"/>
              </a:ext>
            </a:extLst>
          </p:cNvPr>
          <p:cNvSpPr>
            <a:spLocks noGrp="1"/>
          </p:cNvSpPr>
          <p:nvPr/>
        </p:nvSpPr>
        <p:spPr>
          <a:xfrm>
            <a:off x="6426200" y="310642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평가 지표</a:t>
            </a:r>
          </a:p>
        </p:txBody>
      </p:sp>
      <p:sp>
        <p:nvSpPr>
          <p:cNvPr id="26" name="공동 변화 검출률&#10;무변화 구간 오탐률">
            <a:extLst>
              <a:ext uri="{FF2B5EF4-FFF2-40B4-BE49-F238E27FC236}">
                <a16:creationId xmlns:a16="http://schemas.microsoft.com/office/drawing/2014/main" id="{6D221F4D-E1E1-4A7C-B897-2D558F58C43C}"/>
              </a:ext>
            </a:extLst>
          </p:cNvPr>
          <p:cNvSpPr>
            <a:spLocks noGrp="1"/>
          </p:cNvSpPr>
          <p:nvPr/>
        </p:nvSpPr>
        <p:spPr>
          <a:xfrm>
            <a:off x="6426200" y="3346450"/>
            <a:ext cx="2552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공동 변화 검출률</a:t>
            </a:r>
          </a:p>
          <a:p>
            <a:pPr algn="l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무변화 구간 오탐률</a:t>
            </a:r>
          </a:p>
        </p:txBody>
      </p:sp>
      <p:sp>
        <p:nvSpPr>
          <p:cNvPr id="27" name="실증 전 목표 설정">
            <a:extLst>
              <a:ext uri="{FF2B5EF4-FFF2-40B4-BE49-F238E27FC236}">
                <a16:creationId xmlns:a16="http://schemas.microsoft.com/office/drawing/2014/main" id="{2B91AE2C-580E-4B8C-9DBD-D61974387BBF}"/>
              </a:ext>
            </a:extLst>
          </p:cNvPr>
          <p:cNvSpPr>
            <a:spLocks noGrp="1"/>
          </p:cNvSpPr>
          <p:nvPr/>
        </p:nvSpPr>
        <p:spPr>
          <a:xfrm>
            <a:off x="6426200" y="4145280"/>
            <a:ext cx="25527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실증 전 목표 설정</a:t>
            </a:r>
          </a:p>
        </p:txBody>
      </p:sp>
      <p:sp>
        <p:nvSpPr>
          <p:cNvPr id="28" name="평가 지표">
            <a:extLst>
              <a:ext uri="{FF2B5EF4-FFF2-40B4-BE49-F238E27FC236}">
                <a16:creationId xmlns:a16="http://schemas.microsoft.com/office/drawing/2014/main" id="{F2AB6E91-199C-4E2A-9111-6E43663052DC}"/>
              </a:ext>
            </a:extLst>
          </p:cNvPr>
          <p:cNvSpPr>
            <a:spLocks noGrp="1"/>
          </p:cNvSpPr>
          <p:nvPr/>
        </p:nvSpPr>
        <p:spPr>
          <a:xfrm>
            <a:off x="9271000" y="3106420"/>
            <a:ext cx="255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평가 지표</a:t>
            </a:r>
          </a:p>
        </p:txBody>
      </p:sp>
      <p:sp>
        <p:nvSpPr>
          <p:cNvPr id="29" name="재확인 소요시간&#10;유효 탐사 km·가동률">
            <a:extLst>
              <a:ext uri="{FF2B5EF4-FFF2-40B4-BE49-F238E27FC236}">
                <a16:creationId xmlns:a16="http://schemas.microsoft.com/office/drawing/2014/main" id="{D970B0E2-B285-4C53-B442-1E6AF5DED16E}"/>
              </a:ext>
            </a:extLst>
          </p:cNvPr>
          <p:cNvSpPr>
            <a:spLocks noGrp="1"/>
          </p:cNvSpPr>
          <p:nvPr/>
        </p:nvSpPr>
        <p:spPr>
          <a:xfrm>
            <a:off x="9271000" y="3346450"/>
            <a:ext cx="2552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재확인 소요시간</a:t>
            </a:r>
          </a:p>
          <a:p>
            <a:pPr algn="l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유효 탐사 km·가동률</a:t>
            </a:r>
          </a:p>
        </p:txBody>
      </p:sp>
      <p:sp>
        <p:nvSpPr>
          <p:cNvPr id="30" name="실증 전 목표 설정">
            <a:extLst>
              <a:ext uri="{FF2B5EF4-FFF2-40B4-BE49-F238E27FC236}">
                <a16:creationId xmlns:a16="http://schemas.microsoft.com/office/drawing/2014/main" id="{D1E4AB73-A3EB-4087-A7FB-6D6F90907042}"/>
              </a:ext>
            </a:extLst>
          </p:cNvPr>
          <p:cNvSpPr>
            <a:spLocks noGrp="1"/>
          </p:cNvSpPr>
          <p:nvPr/>
        </p:nvSpPr>
        <p:spPr>
          <a:xfrm>
            <a:off x="9271000" y="4145280"/>
            <a:ext cx="25527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실증 전 목표 설정</a:t>
            </a:r>
          </a:p>
        </p:txBody>
      </p:sp>
      <p:sp>
        <p:nvSpPr>
          <p:cNvPr id="31" name="수분·위치·높이·적재량·EV 간섭 조건을 나눠">
            <a:extLst>
              <a:ext uri="{FF2B5EF4-FFF2-40B4-BE49-F238E27FC236}">
                <a16:creationId xmlns:a16="http://schemas.microsoft.com/office/drawing/2014/main" id="{7909884B-405B-41C5-A46D-5429DD1C7B81}"/>
              </a:ext>
            </a:extLst>
          </p:cNvPr>
          <p:cNvSpPr>
            <a:spLocks noGrp="1"/>
          </p:cNvSpPr>
          <p:nvPr/>
        </p:nvSpPr>
        <p:spPr>
          <a:xfrm>
            <a:off x="711200" y="5123498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수분·위치·높이·적재량·EV 간섭 조건을 나눠 검증합니다.</a:t>
            </a:r>
          </a:p>
        </p:txBody>
      </p:sp>
      <p:sp>
        <p:nvSpPr>
          <p:cNvPr id="32" name="실험 설계: 참값을 확보한 시험구간과 무변화 ">
            <a:extLst>
              <a:ext uri="{FF2B5EF4-FFF2-40B4-BE49-F238E27FC236}">
                <a16:creationId xmlns:a16="http://schemas.microsoft.com/office/drawing/2014/main" id="{16B14D64-BCF4-4443-92F3-2B836AFCC1C8}"/>
              </a:ext>
            </a:extLst>
          </p:cNvPr>
          <p:cNvSpPr>
            <a:spLocks noGrp="1"/>
          </p:cNvSpPr>
          <p:nvPr/>
        </p:nvSpPr>
        <p:spPr>
          <a:xfrm>
            <a:off x="533400" y="6172200"/>
            <a:ext cx="1117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실험 설계: 참값을 확보한 시험구간과 무변화 대조구간을 함께 사용 · 표본 수·판정 기준은 시험 전에 확정</a:t>
            </a:r>
          </a:p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개인정보 처리, 도로 작업, 전파 적합성평가와 튜닝 관련 요건은 적용 범위를 확인 후 이행합니다.</a:t>
            </a:r>
          </a:p>
        </p:txBody>
      </p:sp>
      <p:sp>
        <p:nvSpPr>
          <p:cNvPr id="33" name="현재 슬라이드 번호">
            <a:extLst>
              <a:ext uri="{FF2B5EF4-FFF2-40B4-BE49-F238E27FC236}">
                <a16:creationId xmlns:a16="http://schemas.microsoft.com/office/drawing/2014/main" id="{2ABD9A25-768F-420A-A6E9-9247B2CD8429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13 / 18</a:t>
            </a:r>
          </a:p>
        </p:txBody>
      </p:sp>
      <p:sp>
        <p:nvSpPr>
          <p:cNvPr id="34" name="PV5 GroundWatch">
            <a:extLst>
              <a:ext uri="{FF2B5EF4-FFF2-40B4-BE49-F238E27FC236}">
                <a16:creationId xmlns:a16="http://schemas.microsoft.com/office/drawing/2014/main" id="{548378F8-1D90-4179-8569-225E5CF34C16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614258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E532804-164D-4939-844E-DBB576EC92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기존 정밀조사는 유지하고,&#10;반복 모니터링을 더">
            <a:extLst>
              <a:ext uri="{FF2B5EF4-FFF2-40B4-BE49-F238E27FC236}">
                <a16:creationId xmlns:a16="http://schemas.microsoft.com/office/drawing/2014/main" id="{2D869476-95ED-4734-8CD8-95292C40C400}"/>
              </a:ext>
            </a:extLst>
          </p:cNvPr>
          <p:cNvSpPr>
            <a:spLocks noGrp="1"/>
          </p:cNvSpPr>
          <p:nvPr/>
        </p:nvSpPr>
        <p:spPr>
          <a:xfrm>
            <a:off x="596900" y="1778000"/>
            <a:ext cx="10985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서울시 2024 용역의 평균 사업비 · 서비스">
            <a:extLst>
              <a:ext uri="{FF2B5EF4-FFF2-40B4-BE49-F238E27FC236}">
                <a16:creationId xmlns:a16="http://schemas.microsoft.com/office/drawing/2014/main" id="{31BA0CF6-9021-43A8-AED0-0E67FA435E2A}"/>
              </a:ext>
            </a:extLst>
          </p:cNvPr>
          <p:cNvSpPr>
            <a:spLocks noGrp="1"/>
          </p:cNvSpPr>
          <p:nvPr/>
        </p:nvSpPr>
        <p:spPr>
          <a:xfrm>
            <a:off x="596900" y="3403600"/>
            <a:ext cx="10985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1·2차 탐사와 천공·공동 채움이 포함된 사업">
            <a:extLst>
              <a:ext uri="{FF2B5EF4-FFF2-40B4-BE49-F238E27FC236}">
                <a16:creationId xmlns:a16="http://schemas.microsoft.com/office/drawing/2014/main" id="{610B0C0C-AB07-4145-9BF9-B1ED79A0C0DE}"/>
              </a:ext>
            </a:extLst>
          </p:cNvPr>
          <p:cNvSpPr>
            <a:spLocks noGrp="1"/>
          </p:cNvSpPr>
          <p:nvPr/>
        </p:nvSpPr>
        <p:spPr>
          <a:xfrm>
            <a:off x="596900" y="4521200"/>
            <a:ext cx="109855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사진: Immanuelle · CC BY 4.">
            <a:extLst>
              <a:ext uri="{FF2B5EF4-FFF2-40B4-BE49-F238E27FC236}">
                <a16:creationId xmlns:a16="http://schemas.microsoft.com/office/drawing/2014/main" id="{1C49C321-8F25-493A-A060-848F4B62539E}"/>
              </a:ext>
            </a:extLst>
          </p:cNvPr>
          <p:cNvSpPr>
            <a:spLocks noGrp="1"/>
          </p:cNvSpPr>
          <p:nvPr/>
        </p:nvSpPr>
        <p:spPr>
          <a:xfrm>
            <a:off x="5969000" y="66421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현재 슬라이드 번호">
            <a:extLst>
              <a:ext uri="{FF2B5EF4-FFF2-40B4-BE49-F238E27FC236}">
                <a16:creationId xmlns:a16="http://schemas.microsoft.com/office/drawing/2014/main" id="{962E406F-BE10-4E15-BB68-2649789DD4DA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PV5 GroundWatch">
            <a:extLst>
              <a:ext uri="{FF2B5EF4-FFF2-40B4-BE49-F238E27FC236}">
                <a16:creationId xmlns:a16="http://schemas.microsoft.com/office/drawing/2014/main" id="{EA6EB9E0-5736-4851-A8A8-7D7075FDDF91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기존 정밀조사는 유지하고,&#10;반복 모니터링을 더">
            <a:extLst>
              <a:ext uri="{FF2B5EF4-FFF2-40B4-BE49-F238E27FC236}">
                <a16:creationId xmlns:a16="http://schemas.microsoft.com/office/drawing/2014/main" id="{33CE067D-A312-4B40-9172-F65364C9757D}"/>
              </a:ext>
            </a:extLst>
          </p:cNvPr>
          <p:cNvSpPr>
            <a:spLocks noGrp="1"/>
          </p:cNvSpPr>
          <p:nvPr/>
        </p:nvSpPr>
        <p:spPr>
          <a:xfrm>
            <a:off x="596900" y="1625600"/>
            <a:ext cx="10985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13636"/>
              </a:lnSpc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기존 정밀조사는 유지하고,</a:t>
            </a:r>
          </a:p>
          <a:p>
            <a:pPr algn="l">
              <a:lnSpc>
                <a:spcPct val="113636"/>
              </a:lnSpc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모니터링을 더합니다</a:t>
            </a:r>
          </a:p>
        </p:txBody>
      </p:sp>
      <p:sp>
        <p:nvSpPr>
          <p:cNvPr id="10" name="서울시 2024 용역의 평균 사업비 · 서비스">
            <a:extLst>
              <a:ext uri="{FF2B5EF4-FFF2-40B4-BE49-F238E27FC236}">
                <a16:creationId xmlns:a16="http://schemas.microsoft.com/office/drawing/2014/main" id="{6F4BAEE5-414D-4C19-B42A-F1968854A801}"/>
              </a:ext>
            </a:extLst>
          </p:cNvPr>
          <p:cNvSpPr>
            <a:spLocks noGrp="1"/>
          </p:cNvSpPr>
          <p:nvPr/>
        </p:nvSpPr>
        <p:spPr>
          <a:xfrm>
            <a:off x="596900" y="3368040"/>
            <a:ext cx="10985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서울시 2024 용역의 평균 사업비 · 서비스 가격과 구분</a:t>
            </a:r>
          </a:p>
        </p:txBody>
      </p:sp>
      <p:sp>
        <p:nvSpPr>
          <p:cNvPr id="11" name="1·2차 탐사와 천공·공동 채움이 포함된 사업">
            <a:extLst>
              <a:ext uri="{FF2B5EF4-FFF2-40B4-BE49-F238E27FC236}">
                <a16:creationId xmlns:a16="http://schemas.microsoft.com/office/drawing/2014/main" id="{07DE7965-A2D8-4BA6-96A4-C741F3820881}"/>
              </a:ext>
            </a:extLst>
          </p:cNvPr>
          <p:cNvSpPr>
            <a:spLocks noGrp="1"/>
          </p:cNvSpPr>
          <p:nvPr/>
        </p:nvSpPr>
        <p:spPr>
          <a:xfrm>
            <a:off x="596900" y="4425950"/>
            <a:ext cx="109855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1·2차 탐사와 천공·공동 채움이 포함된 사업비입니다.</a:t>
            </a:r>
          </a:p>
          <a:p>
            <a:pPr algn="l">
              <a:lnSpc>
                <a:spcPct val="125000"/>
              </a:lnSpc>
              <a:buNone/>
              <a:def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반복 탐사만의 원가와 직접 비교해 절감률을 계산할 수 없습니다.</a:t>
            </a:r>
          </a:p>
        </p:txBody>
      </p:sp>
      <p:sp>
        <p:nvSpPr>
          <p:cNvPr id="12" name="사진: Immanuelle · CC BY 4.">
            <a:extLst>
              <a:ext uri="{FF2B5EF4-FFF2-40B4-BE49-F238E27FC236}">
                <a16:creationId xmlns:a16="http://schemas.microsoft.com/office/drawing/2014/main" id="{0EC9A7DB-96F8-40E2-A86B-70C40C8F4D8A}"/>
              </a:ext>
            </a:extLst>
          </p:cNvPr>
          <p:cNvSpPr>
            <a:spLocks noGrp="1"/>
          </p:cNvSpPr>
          <p:nvPr/>
        </p:nvSpPr>
        <p:spPr>
          <a:xfrm>
            <a:off x="5969000" y="662178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사진: Immanuelle · CC BY 4.0</a:t>
            </a:r>
          </a:p>
        </p:txBody>
      </p:sp>
      <p:sp>
        <p:nvSpPr>
          <p:cNvPr id="13" name="현재 슬라이드 번호">
            <a:extLst>
              <a:ext uri="{FF2B5EF4-FFF2-40B4-BE49-F238E27FC236}">
                <a16:creationId xmlns:a16="http://schemas.microsoft.com/office/drawing/2014/main" id="{A8A8590E-E403-42FD-8FDF-A43252223D33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14 / 18</a:t>
            </a:r>
          </a:p>
        </p:txBody>
      </p:sp>
      <p:sp>
        <p:nvSpPr>
          <p:cNvPr id="14" name="PV5 GroundWatch">
            <a:extLst>
              <a:ext uri="{FF2B5EF4-FFF2-40B4-BE49-F238E27FC236}">
                <a16:creationId xmlns:a16="http://schemas.microsoft.com/office/drawing/2014/main" id="{1CE1F1D4-F7A2-4378-B0B1-BD1E3B77F01D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423272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B75FEEC2-7026-4830-9D17-0DC41FC910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반복 모니터링의 추가 비용 가정">
            <a:extLst>
              <a:ext uri="{FF2B5EF4-FFF2-40B4-BE49-F238E27FC236}">
                <a16:creationId xmlns:a16="http://schemas.microsoft.com/office/drawing/2014/main" id="{CB9C7363-FE87-4071-8B4C-607813BE782E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반복 모니터링 1회 · 잠정 원가">
            <a:extLst>
              <a:ext uri="{FF2B5EF4-FFF2-40B4-BE49-F238E27FC236}">
                <a16:creationId xmlns:a16="http://schemas.microsoft.com/office/drawing/2014/main" id="{2ED7FDA3-6F68-4073-9336-67ACEDFA4134}"/>
              </a:ext>
            </a:extLst>
          </p:cNvPr>
          <p:cNvSpPr>
            <a:spLocks noGrp="1"/>
          </p:cNvSpPr>
          <p:nvPr/>
        </p:nvSpPr>
        <p:spPr>
          <a:xfrm>
            <a:off x="520700" y="1778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연 3.09억원 ÷ 6,600 탐사 km&#10;인건">
            <a:extLst>
              <a:ext uri="{FF2B5EF4-FFF2-40B4-BE49-F238E27FC236}">
                <a16:creationId xmlns:a16="http://schemas.microsoft.com/office/drawing/2014/main" id="{5C4038E4-58F1-4ECF-8C13-8338117A6420}"/>
              </a:ext>
            </a:extLst>
          </p:cNvPr>
          <p:cNvSpPr>
            <a:spLocks noGrp="1"/>
          </p:cNvSpPr>
          <p:nvPr/>
        </p:nvSpPr>
        <p:spPr>
          <a:xfrm>
            <a:off x="533400" y="3492500"/>
            <a:ext cx="539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기존 조사 유지 + 연 6회 모니터링 추가">
            <a:extLst>
              <a:ext uri="{FF2B5EF4-FFF2-40B4-BE49-F238E27FC236}">
                <a16:creationId xmlns:a16="http://schemas.microsoft.com/office/drawing/2014/main" id="{EBE5AEA4-A116-47BE-B79C-8C8BD76ED90A}"/>
              </a:ext>
            </a:extLst>
          </p:cNvPr>
          <p:cNvSpPr>
            <a:spLocks noGrp="1"/>
          </p:cNvSpPr>
          <p:nvPr/>
        </p:nvSpPr>
        <p:spPr>
          <a:xfrm>
            <a:off x="6083300" y="1778000"/>
            <a:ext cx="558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기존 정밀조사 1회 · 평균 사업비">
            <a:extLst>
              <a:ext uri="{FF2B5EF4-FFF2-40B4-BE49-F238E27FC236}">
                <a16:creationId xmlns:a16="http://schemas.microsoft.com/office/drawing/2014/main" id="{E18FAD78-163A-4872-94CA-2F9AFDF75F15}"/>
              </a:ext>
            </a:extLst>
          </p:cNvPr>
          <p:cNvSpPr>
            <a:spLocks noGrp="1"/>
          </p:cNvSpPr>
          <p:nvPr/>
        </p:nvSpPr>
        <p:spPr>
          <a:xfrm>
            <a:off x="6083300" y="2247900"/>
            <a:ext cx="3429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연 6회 추가 · 4.6818만원 × 6회">
            <a:extLst>
              <a:ext uri="{FF2B5EF4-FFF2-40B4-BE49-F238E27FC236}">
                <a16:creationId xmlns:a16="http://schemas.microsoft.com/office/drawing/2014/main" id="{A8F40685-AB8C-4082-A6D9-40617261CE98}"/>
              </a:ext>
            </a:extLst>
          </p:cNvPr>
          <p:cNvSpPr>
            <a:spLocks noGrp="1"/>
          </p:cNvSpPr>
          <p:nvPr/>
        </p:nvSpPr>
        <p:spPr>
          <a:xfrm>
            <a:off x="6083300" y="3289300"/>
            <a:ext cx="5461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+28.1만원">
            <a:extLst>
              <a:ext uri="{FF2B5EF4-FFF2-40B4-BE49-F238E27FC236}">
                <a16:creationId xmlns:a16="http://schemas.microsoft.com/office/drawing/2014/main" id="{67CE24FE-DC37-42FB-958A-3049BAC94394}"/>
              </a:ext>
            </a:extLst>
          </p:cNvPr>
          <p:cNvSpPr>
            <a:spLocks noGrp="1"/>
          </p:cNvSpPr>
          <p:nvPr/>
        </p:nvSpPr>
        <p:spPr>
          <a:xfrm>
            <a:off x="10414000" y="365760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기존 정밀조사 1회와 반복 모니터링 6회는 별">
            <a:extLst>
              <a:ext uri="{FF2B5EF4-FFF2-40B4-BE49-F238E27FC236}">
                <a16:creationId xmlns:a16="http://schemas.microsoft.com/office/drawing/2014/main" id="{4F4D5CF6-1401-421D-8F62-B5884B1FC74E}"/>
              </a:ext>
            </a:extLst>
          </p:cNvPr>
          <p:cNvSpPr>
            <a:spLocks noGrp="1"/>
          </p:cNvSpPr>
          <p:nvPr/>
        </p:nvSpPr>
        <p:spPr>
          <a:xfrm>
            <a:off x="711200" y="4762500"/>
            <a:ext cx="11049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0" name="계산 가정: 30 탐사 km/일 × 220일 ">
            <a:extLst>
              <a:ext uri="{FF2B5EF4-FFF2-40B4-BE49-F238E27FC236}">
                <a16:creationId xmlns:a16="http://schemas.microsoft.com/office/drawing/2014/main" id="{81EFF755-DD55-46B2-97F9-5531D51E68F7}"/>
              </a:ext>
            </a:extLst>
          </p:cNvPr>
          <p:cNvSpPr>
            <a:spLocks noGrp="1"/>
          </p:cNvSpPr>
          <p:nvPr/>
        </p:nvSpPr>
        <p:spPr>
          <a:xfrm>
            <a:off x="533400" y="6223000"/>
            <a:ext cx="11176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현재 슬라이드 번호">
            <a:extLst>
              <a:ext uri="{FF2B5EF4-FFF2-40B4-BE49-F238E27FC236}">
                <a16:creationId xmlns:a16="http://schemas.microsoft.com/office/drawing/2014/main" id="{E13334F6-7AC4-4106-93C1-11D118AC7448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PV5 GroundWatch">
            <a:extLst>
              <a:ext uri="{FF2B5EF4-FFF2-40B4-BE49-F238E27FC236}">
                <a16:creationId xmlns:a16="http://schemas.microsoft.com/office/drawing/2014/main" id="{A1C890E7-5F9B-4CD9-AF21-6C707CEDCBAC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4" name="반복 모니터링의 비용 구성">
            <a:extLst>
              <a:ext uri="{FF2B5EF4-FFF2-40B4-BE49-F238E27FC236}">
                <a16:creationId xmlns:a16="http://schemas.microsoft.com/office/drawing/2014/main" id="{4EB0A88E-903A-4E4A-814A-BCBE245FC937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기존 정밀조사는 유지">
            <a:extLst>
              <a:ext uri="{FF2B5EF4-FFF2-40B4-BE49-F238E27FC236}">
                <a16:creationId xmlns:a16="http://schemas.microsoft.com/office/drawing/2014/main" id="{2D2ED2F1-614B-4DB8-8172-BD1D5F0EDD83}"/>
              </a:ext>
            </a:extLst>
          </p:cNvPr>
          <p:cNvSpPr>
            <a:spLocks noGrp="1"/>
          </p:cNvSpPr>
          <p:nvPr/>
        </p:nvSpPr>
        <p:spPr>
          <a:xfrm>
            <a:off x="520700" y="1778000"/>
            <a:ext cx="5334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6" name="실측 후&#10;단가 산정">
            <a:extLst>
              <a:ext uri="{FF2B5EF4-FFF2-40B4-BE49-F238E27FC236}">
                <a16:creationId xmlns:a16="http://schemas.microsoft.com/office/drawing/2014/main" id="{1260D2BC-7D4D-4E34-9448-B24BB366A88C}"/>
              </a:ext>
            </a:extLst>
          </p:cNvPr>
          <p:cNvSpPr>
            <a:spLocks noGrp="1"/>
          </p:cNvSpPr>
          <p:nvPr/>
        </p:nvSpPr>
        <p:spPr>
          <a:xfrm>
            <a:off x="520700" y="2311400"/>
            <a:ext cx="5207000" cy="120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7" name="제한 실증에서 처리량과 투입시간 측정&#10;측정 결">
            <a:extLst>
              <a:ext uri="{FF2B5EF4-FFF2-40B4-BE49-F238E27FC236}">
                <a16:creationId xmlns:a16="http://schemas.microsoft.com/office/drawing/2014/main" id="{719D40AC-A58E-45FC-951C-68DDF7049215}"/>
              </a:ext>
            </a:extLst>
          </p:cNvPr>
          <p:cNvSpPr>
            <a:spLocks noGrp="1"/>
          </p:cNvSpPr>
          <p:nvPr/>
        </p:nvSpPr>
        <p:spPr>
          <a:xfrm>
            <a:off x="533400" y="3632200"/>
            <a:ext cx="5207000" cy="82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8" name="산정할 비용 항목">
            <a:extLst>
              <a:ext uri="{FF2B5EF4-FFF2-40B4-BE49-F238E27FC236}">
                <a16:creationId xmlns:a16="http://schemas.microsoft.com/office/drawing/2014/main" id="{DF33FEE5-341F-4205-90D4-E4E894AAFB0E}"/>
              </a:ext>
            </a:extLst>
          </p:cNvPr>
          <p:cNvSpPr>
            <a:spLocks noGrp="1"/>
          </p:cNvSpPr>
          <p:nvPr/>
        </p:nvSpPr>
        <p:spPr>
          <a:xfrm>
            <a:off x="6083300" y="1778000"/>
            <a:ext cx="558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9" name="반복 측정과 차량·장비 운용">
            <a:extLst>
              <a:ext uri="{FF2B5EF4-FFF2-40B4-BE49-F238E27FC236}">
                <a16:creationId xmlns:a16="http://schemas.microsoft.com/office/drawing/2014/main" id="{752C83FF-F1B8-4741-BED6-5420070F4C30}"/>
              </a:ext>
            </a:extLst>
          </p:cNvPr>
          <p:cNvSpPr>
            <a:spLocks noGrp="1"/>
          </p:cNvSpPr>
          <p:nvPr/>
        </p:nvSpPr>
        <p:spPr>
          <a:xfrm>
            <a:off x="6083300" y="2247900"/>
            <a:ext cx="5588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0" name="인력 · 차량 · 장비">
            <a:extLst>
              <a:ext uri="{FF2B5EF4-FFF2-40B4-BE49-F238E27FC236}">
                <a16:creationId xmlns:a16="http://schemas.microsoft.com/office/drawing/2014/main" id="{3AF70849-D36F-4EDC-800E-4EEE71581BAC}"/>
              </a:ext>
            </a:extLst>
          </p:cNvPr>
          <p:cNvSpPr>
            <a:spLocks noGrp="1"/>
          </p:cNvSpPr>
          <p:nvPr/>
        </p:nvSpPr>
        <p:spPr>
          <a:xfrm>
            <a:off x="6235700" y="2578100"/>
            <a:ext cx="317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1" name="검토와 기록 관리">
            <a:extLst>
              <a:ext uri="{FF2B5EF4-FFF2-40B4-BE49-F238E27FC236}">
                <a16:creationId xmlns:a16="http://schemas.microsoft.com/office/drawing/2014/main" id="{1D79A9BA-0C6B-4E82-AA10-C2EE346FBA1D}"/>
              </a:ext>
            </a:extLst>
          </p:cNvPr>
          <p:cNvSpPr>
            <a:spLocks noGrp="1"/>
          </p:cNvSpPr>
          <p:nvPr/>
        </p:nvSpPr>
        <p:spPr>
          <a:xfrm>
            <a:off x="6083300" y="3289300"/>
            <a:ext cx="5588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2" name="판독 · 데이터 관리">
            <a:extLst>
              <a:ext uri="{FF2B5EF4-FFF2-40B4-BE49-F238E27FC236}">
                <a16:creationId xmlns:a16="http://schemas.microsoft.com/office/drawing/2014/main" id="{AF2539A0-37E8-43D3-B377-34FB8D0B79C1}"/>
              </a:ext>
            </a:extLst>
          </p:cNvPr>
          <p:cNvSpPr>
            <a:spLocks noGrp="1"/>
          </p:cNvSpPr>
          <p:nvPr/>
        </p:nvSpPr>
        <p:spPr>
          <a:xfrm>
            <a:off x="6235700" y="3644900"/>
            <a:ext cx="3111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3" name="협의">
            <a:extLst>
              <a:ext uri="{FF2B5EF4-FFF2-40B4-BE49-F238E27FC236}">
                <a16:creationId xmlns:a16="http://schemas.microsoft.com/office/drawing/2014/main" id="{C028AADA-2059-4358-8957-2F3DDB6B4BAC}"/>
              </a:ext>
            </a:extLst>
          </p:cNvPr>
          <p:cNvSpPr>
            <a:spLocks noGrp="1"/>
          </p:cNvSpPr>
          <p:nvPr/>
        </p:nvSpPr>
        <p:spPr>
          <a:xfrm>
            <a:off x="9639300" y="3657600"/>
            <a:ext cx="82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4" name="현장 재확인·천공·복구는 포함 범위를 협의해 ">
            <a:extLst>
              <a:ext uri="{FF2B5EF4-FFF2-40B4-BE49-F238E27FC236}">
                <a16:creationId xmlns:a16="http://schemas.microsoft.com/office/drawing/2014/main" id="{17BAED00-6EAD-409C-9A7D-721F9F542231}"/>
              </a:ext>
            </a:extLst>
          </p:cNvPr>
          <p:cNvSpPr>
            <a:spLocks noGrp="1"/>
          </p:cNvSpPr>
          <p:nvPr/>
        </p:nvSpPr>
        <p:spPr>
          <a:xfrm>
            <a:off x="711200" y="480060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5" name="비용 항목 구분 · 금액과 구성비는 제한 실증">
            <a:extLst>
              <a:ext uri="{FF2B5EF4-FFF2-40B4-BE49-F238E27FC236}">
                <a16:creationId xmlns:a16="http://schemas.microsoft.com/office/drawing/2014/main" id="{6016CE54-5E78-4954-B3C6-90B3B0440625}"/>
              </a:ext>
            </a:extLst>
          </p:cNvPr>
          <p:cNvSpPr>
            <a:spLocks noGrp="1"/>
          </p:cNvSpPr>
          <p:nvPr/>
        </p:nvSpPr>
        <p:spPr>
          <a:xfrm>
            <a:off x="533400" y="6134100"/>
            <a:ext cx="11176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6" name="현재 슬라이드 번호">
            <a:extLst>
              <a:ext uri="{FF2B5EF4-FFF2-40B4-BE49-F238E27FC236}">
                <a16:creationId xmlns:a16="http://schemas.microsoft.com/office/drawing/2014/main" id="{45012750-6A0B-452F-8B22-A72B8AC90D09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7" name="PV5 GroundWatch">
            <a:extLst>
              <a:ext uri="{FF2B5EF4-FFF2-40B4-BE49-F238E27FC236}">
                <a16:creationId xmlns:a16="http://schemas.microsoft.com/office/drawing/2014/main" id="{C924F9C8-5297-4B92-8D17-F7249771A554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8" name="반복 모니터링의 비용 구성">
            <a:extLst>
              <a:ext uri="{FF2B5EF4-FFF2-40B4-BE49-F238E27FC236}">
                <a16:creationId xmlns:a16="http://schemas.microsoft.com/office/drawing/2014/main" id="{0AEBBD56-3EFF-4563-97CB-163080EA12BF}"/>
              </a:ext>
            </a:extLst>
          </p:cNvPr>
          <p:cNvSpPr>
            <a:spLocks noGrp="1"/>
          </p:cNvSpPr>
          <p:nvPr/>
        </p:nvSpPr>
        <p:spPr>
          <a:xfrm>
            <a:off x="520700" y="77216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모니터링의 비용 구성</a:t>
            </a:r>
          </a:p>
        </p:txBody>
      </p:sp>
      <p:sp>
        <p:nvSpPr>
          <p:cNvPr id="29" name="기존 정밀조사는 유지">
            <a:extLst>
              <a:ext uri="{FF2B5EF4-FFF2-40B4-BE49-F238E27FC236}">
                <a16:creationId xmlns:a16="http://schemas.microsoft.com/office/drawing/2014/main" id="{F46C75C4-024B-4F8D-98CC-643ED65E3B71}"/>
              </a:ext>
            </a:extLst>
          </p:cNvPr>
          <p:cNvSpPr>
            <a:spLocks noGrp="1"/>
          </p:cNvSpPr>
          <p:nvPr/>
        </p:nvSpPr>
        <p:spPr>
          <a:xfrm>
            <a:off x="520700" y="1744980"/>
            <a:ext cx="5334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기존 정밀조사는 유지</a:t>
            </a:r>
          </a:p>
        </p:txBody>
      </p:sp>
      <p:sp>
        <p:nvSpPr>
          <p:cNvPr id="30" name="실측">
            <a:extLst>
              <a:ext uri="{FF2B5EF4-FFF2-40B4-BE49-F238E27FC236}">
                <a16:creationId xmlns:a16="http://schemas.microsoft.com/office/drawing/2014/main" id="{6A07DB4B-F523-4E0E-862C-E36A3442D643}"/>
              </a:ext>
            </a:extLst>
          </p:cNvPr>
          <p:cNvSpPr>
            <a:spLocks noGrp="1"/>
          </p:cNvSpPr>
          <p:nvPr/>
        </p:nvSpPr>
        <p:spPr>
          <a:xfrm>
            <a:off x="520700" y="1976120"/>
            <a:ext cx="5334000" cy="1168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31" name="제한 실증 후 단가 산정">
            <a:extLst>
              <a:ext uri="{FF2B5EF4-FFF2-40B4-BE49-F238E27FC236}">
                <a16:creationId xmlns:a16="http://schemas.microsoft.com/office/drawing/2014/main" id="{6157B2AC-B5C2-4D41-8543-D645432ABD58}"/>
              </a:ext>
            </a:extLst>
          </p:cNvPr>
          <p:cNvSpPr>
            <a:spLocks noGrp="1"/>
          </p:cNvSpPr>
          <p:nvPr/>
        </p:nvSpPr>
        <p:spPr>
          <a:xfrm>
            <a:off x="520700" y="3068320"/>
            <a:ext cx="5334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제한 실증 후 단가 산정</a:t>
            </a:r>
          </a:p>
        </p:txBody>
      </p:sp>
      <p:sp>
        <p:nvSpPr>
          <p:cNvPr id="32" name="처리량과 투입시간을 측정해 산정합니다.">
            <a:extLst>
              <a:ext uri="{FF2B5EF4-FFF2-40B4-BE49-F238E27FC236}">
                <a16:creationId xmlns:a16="http://schemas.microsoft.com/office/drawing/2014/main" id="{D7710C7C-45C3-4271-9B3F-90EC11F4B387}"/>
              </a:ext>
            </a:extLst>
          </p:cNvPr>
          <p:cNvSpPr>
            <a:spLocks noGrp="1"/>
          </p:cNvSpPr>
          <p:nvPr/>
        </p:nvSpPr>
        <p:spPr>
          <a:xfrm>
            <a:off x="533400" y="3462020"/>
            <a:ext cx="539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처리량과 투입시간을 측정해 산정합니다.</a:t>
            </a:r>
          </a:p>
        </p:txBody>
      </p:sp>
      <p:sp>
        <p:nvSpPr>
          <p:cNvPr id="33" name="산정할 비용 항목">
            <a:extLst>
              <a:ext uri="{FF2B5EF4-FFF2-40B4-BE49-F238E27FC236}">
                <a16:creationId xmlns:a16="http://schemas.microsoft.com/office/drawing/2014/main" id="{6D42F88D-F12A-4485-A808-013FD5157F8E}"/>
              </a:ext>
            </a:extLst>
          </p:cNvPr>
          <p:cNvSpPr>
            <a:spLocks noGrp="1"/>
          </p:cNvSpPr>
          <p:nvPr/>
        </p:nvSpPr>
        <p:spPr>
          <a:xfrm>
            <a:off x="6083300" y="1744980"/>
            <a:ext cx="5588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산정할 비용 항목</a:t>
            </a:r>
          </a:p>
        </p:txBody>
      </p:sp>
      <p:sp>
        <p:nvSpPr>
          <p:cNvPr id="34" name="반복 측정과 차량·장비 운용">
            <a:extLst>
              <a:ext uri="{FF2B5EF4-FFF2-40B4-BE49-F238E27FC236}">
                <a16:creationId xmlns:a16="http://schemas.microsoft.com/office/drawing/2014/main" id="{49AB7710-DE2C-48E5-A8C6-4BB920B47B64}"/>
              </a:ext>
            </a:extLst>
          </p:cNvPr>
          <p:cNvSpPr>
            <a:spLocks noGrp="1"/>
          </p:cNvSpPr>
          <p:nvPr/>
        </p:nvSpPr>
        <p:spPr>
          <a:xfrm>
            <a:off x="6083300" y="2212340"/>
            <a:ext cx="5588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반복 측정과 차량·장비 운용</a:t>
            </a:r>
          </a:p>
        </p:txBody>
      </p:sp>
      <p:sp>
        <p:nvSpPr>
          <p:cNvPr id="35" name="인력 · 차량 · 장비">
            <a:extLst>
              <a:ext uri="{FF2B5EF4-FFF2-40B4-BE49-F238E27FC236}">
                <a16:creationId xmlns:a16="http://schemas.microsoft.com/office/drawing/2014/main" id="{9DA7E001-542A-4065-B37D-9D5E3497AC11}"/>
              </a:ext>
            </a:extLst>
          </p:cNvPr>
          <p:cNvSpPr>
            <a:spLocks noGrp="1"/>
          </p:cNvSpPr>
          <p:nvPr/>
        </p:nvSpPr>
        <p:spPr>
          <a:xfrm>
            <a:off x="6093333" y="2494026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ctr">
              <a:lnSpc>
                <a:spcPct val="100000"/>
              </a:lnSpc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인력 · 차량 · 장비</a:t>
            </a:r>
          </a:p>
        </p:txBody>
      </p:sp>
      <p:sp>
        <p:nvSpPr>
          <p:cNvPr id="36" name="검토와 기록 관리">
            <a:extLst>
              <a:ext uri="{FF2B5EF4-FFF2-40B4-BE49-F238E27FC236}">
                <a16:creationId xmlns:a16="http://schemas.microsoft.com/office/drawing/2014/main" id="{B2667DAA-D651-463A-A164-723FA5E05D84}"/>
              </a:ext>
            </a:extLst>
          </p:cNvPr>
          <p:cNvSpPr>
            <a:spLocks noGrp="1"/>
          </p:cNvSpPr>
          <p:nvPr/>
        </p:nvSpPr>
        <p:spPr>
          <a:xfrm>
            <a:off x="6083300" y="3253740"/>
            <a:ext cx="5588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검토와 기록 관리</a:t>
            </a:r>
          </a:p>
        </p:txBody>
      </p:sp>
      <p:sp>
        <p:nvSpPr>
          <p:cNvPr id="37" name="판독 · 데이터 관리">
            <a:extLst>
              <a:ext uri="{FF2B5EF4-FFF2-40B4-BE49-F238E27FC236}">
                <a16:creationId xmlns:a16="http://schemas.microsoft.com/office/drawing/2014/main" id="{7379FC39-7211-46BC-80B3-CECFBFC95895}"/>
              </a:ext>
            </a:extLst>
          </p:cNvPr>
          <p:cNvSpPr>
            <a:spLocks noGrp="1"/>
          </p:cNvSpPr>
          <p:nvPr/>
        </p:nvSpPr>
        <p:spPr>
          <a:xfrm>
            <a:off x="6098096" y="3529013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ctr">
              <a:lnSpc>
                <a:spcPct val="100000"/>
              </a:lnSpc>
              <a:buNone/>
              <a:def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defRPr>
            </a:pPr>
            <a:r>
              <a:rPr sz="2000" b="1">
                <a:solidFill>
                  <a:srgbClr val="E8ECF2"/>
                </a:solidFill>
                <a:latin typeface="Pretendard"/>
                <a:ea typeface="Pretendard"/>
                <a:cs typeface="Pretendard"/>
              </a:rPr>
              <a:t>판독 · 데이터 관리</a:t>
            </a:r>
          </a:p>
        </p:txBody>
      </p:sp>
      <p:sp>
        <p:nvSpPr>
          <p:cNvPr id="38" name="협의">
            <a:extLst>
              <a:ext uri="{FF2B5EF4-FFF2-40B4-BE49-F238E27FC236}">
                <a16:creationId xmlns:a16="http://schemas.microsoft.com/office/drawing/2014/main" id="{8DFA1DB0-6903-40C5-AFE6-F921398AB5BB}"/>
              </a:ext>
            </a:extLst>
          </p:cNvPr>
          <p:cNvSpPr>
            <a:spLocks noGrp="1"/>
          </p:cNvSpPr>
          <p:nvPr/>
        </p:nvSpPr>
        <p:spPr>
          <a:xfrm>
            <a:off x="9522714" y="3533775"/>
            <a:ext cx="1048512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ctr">
              <a:lnSpc>
                <a:spcPct val="100000"/>
              </a:lnSpc>
              <a:buNone/>
              <a:def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0D1524"/>
                </a:solidFill>
                <a:latin typeface="Pretendard"/>
                <a:ea typeface="Pretendard"/>
                <a:cs typeface="Pretendard"/>
              </a:rPr>
              <a:t>협의</a:t>
            </a:r>
          </a:p>
        </p:txBody>
      </p:sp>
      <p:sp>
        <p:nvSpPr>
          <p:cNvPr id="39" name="기존 정밀조사는 유지합니다.&#10;재확인·천공·복구">
            <a:extLst>
              <a:ext uri="{FF2B5EF4-FFF2-40B4-BE49-F238E27FC236}">
                <a16:creationId xmlns:a16="http://schemas.microsoft.com/office/drawing/2014/main" id="{BA06A28D-445A-45D7-B0B3-010CE1AAC1CA}"/>
              </a:ext>
            </a:extLst>
          </p:cNvPr>
          <p:cNvSpPr>
            <a:spLocks noGrp="1"/>
          </p:cNvSpPr>
          <p:nvPr/>
        </p:nvSpPr>
        <p:spPr>
          <a:xfrm>
            <a:off x="711200" y="4630738"/>
            <a:ext cx="11049000" cy="67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기존 정밀조사는 유지합니다.</a:t>
            </a:r>
          </a:p>
          <a:p>
            <a:pPr algn="l">
              <a:lnSpc>
                <a:spcPct val="125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재확인·천공·복구는 포함 범위를 협의해 별도 산정합니다.</a:t>
            </a:r>
          </a:p>
        </p:txBody>
      </p:sp>
      <p:sp>
        <p:nvSpPr>
          <p:cNvPr id="40" name="비용 항목 구분 · 금액과 구성비는 제한 실증">
            <a:extLst>
              <a:ext uri="{FF2B5EF4-FFF2-40B4-BE49-F238E27FC236}">
                <a16:creationId xmlns:a16="http://schemas.microsoft.com/office/drawing/2014/main" id="{7285146D-F2F4-47A7-83BE-74FDB8440ADB}"/>
              </a:ext>
            </a:extLst>
          </p:cNvPr>
          <p:cNvSpPr>
            <a:spLocks noGrp="1"/>
          </p:cNvSpPr>
          <p:nvPr/>
        </p:nvSpPr>
        <p:spPr>
          <a:xfrm>
            <a:off x="533400" y="6235700"/>
            <a:ext cx="1117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비용</a:t>
            </a:r>
            <a:r>
              <a:rPr sz="1000" b="0" dirty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항목</a:t>
            </a:r>
            <a:r>
              <a:rPr sz="1000" b="0" dirty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구분</a:t>
            </a:r>
            <a:r>
              <a:rPr sz="1000" b="0" dirty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금액과</a:t>
            </a:r>
            <a:r>
              <a:rPr sz="1000" b="0" dirty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구성비는</a:t>
            </a:r>
            <a:r>
              <a:rPr sz="1000" b="0" dirty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제한</a:t>
            </a:r>
            <a:r>
              <a:rPr sz="1000" b="0" dirty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실증</a:t>
            </a:r>
            <a:r>
              <a:rPr sz="1000" b="0" dirty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000" b="0" dirty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산정합니다</a:t>
            </a: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.</a:t>
            </a:r>
            <a:endParaRPr sz="1000" b="0" dirty="0">
              <a:solidFill>
                <a:srgbClr val="8E9AA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현재 슬라이드 번호">
            <a:extLst>
              <a:ext uri="{FF2B5EF4-FFF2-40B4-BE49-F238E27FC236}">
                <a16:creationId xmlns:a16="http://schemas.microsoft.com/office/drawing/2014/main" id="{FA5559FC-0DCC-4CEA-8F5B-4A3AE51C6459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15 / 18</a:t>
            </a:r>
          </a:p>
        </p:txBody>
      </p:sp>
      <p:sp>
        <p:nvSpPr>
          <p:cNvPr id="42" name="PV5 GroundWatch">
            <a:extLst>
              <a:ext uri="{FF2B5EF4-FFF2-40B4-BE49-F238E27FC236}">
                <a16:creationId xmlns:a16="http://schemas.microsoft.com/office/drawing/2014/main" id="{42FBDA2A-9813-4C73-935A-00C9338A304D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125910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7E043D28-626E-4F58-974D-83095BA7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공공 PV5 도입을 검토할 수 있는 운영 모델">
            <a:extLst>
              <a:ext uri="{FF2B5EF4-FFF2-40B4-BE49-F238E27FC236}">
                <a16:creationId xmlns:a16="http://schemas.microsoft.com/office/drawing/2014/main" id="{D9FBF455-29DB-43B1-B12A-ADD56D14CB94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기아와 함께 검토할 사업화 가능성">
            <a:extLst>
              <a:ext uri="{FF2B5EF4-FFF2-40B4-BE49-F238E27FC236}">
                <a16:creationId xmlns:a16="http://schemas.microsoft.com/office/drawing/2014/main" id="{0B5EA17D-B0FA-4E51-89CE-26D719180C38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10795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조건부 차량 대수">
            <a:extLst>
              <a:ext uri="{FF2B5EF4-FFF2-40B4-BE49-F238E27FC236}">
                <a16:creationId xmlns:a16="http://schemas.microsoft.com/office/drawing/2014/main" id="{5E587B9C-04BA-44EC-AF50-F31B2C68EF62}"/>
              </a:ext>
            </a:extLst>
          </p:cNvPr>
          <p:cNvSpPr>
            <a:spLocks noGrp="1"/>
          </p:cNvSpPr>
          <p:nvPr/>
        </p:nvSpPr>
        <p:spPr>
          <a:xfrm>
            <a:off x="838200" y="3835400"/>
            <a:ext cx="349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약 88대">
            <a:extLst>
              <a:ext uri="{FF2B5EF4-FFF2-40B4-BE49-F238E27FC236}">
                <a16:creationId xmlns:a16="http://schemas.microsoft.com/office/drawing/2014/main" id="{73927E61-4BEE-453D-82F0-0DB62BB66874}"/>
              </a:ext>
            </a:extLst>
          </p:cNvPr>
          <p:cNvSpPr>
            <a:spLocks noGrp="1"/>
          </p:cNvSpPr>
          <p:nvPr/>
        </p:nvSpPr>
        <p:spPr>
          <a:xfrm>
            <a:off x="838200" y="4178300"/>
            <a:ext cx="3492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전 도로 연 6회 가정의 산술값&#10;실제 구매 수">
            <a:extLst>
              <a:ext uri="{FF2B5EF4-FFF2-40B4-BE49-F238E27FC236}">
                <a16:creationId xmlns:a16="http://schemas.microsoft.com/office/drawing/2014/main" id="{C5F7A9E1-8299-4DA7-A0C3-B462FC92B56D}"/>
              </a:ext>
            </a:extLst>
          </p:cNvPr>
          <p:cNvSpPr>
            <a:spLocks noGrp="1"/>
          </p:cNvSpPr>
          <p:nvPr/>
        </p:nvSpPr>
        <p:spPr>
          <a:xfrm>
            <a:off x="838200" y="4711700"/>
            <a:ext cx="3492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차량 판매액 시나리오">
            <a:extLst>
              <a:ext uri="{FF2B5EF4-FFF2-40B4-BE49-F238E27FC236}">
                <a16:creationId xmlns:a16="http://schemas.microsoft.com/office/drawing/2014/main" id="{3A5A859D-5335-45FF-A0D3-9B5119464295}"/>
              </a:ext>
            </a:extLst>
          </p:cNvPr>
          <p:cNvSpPr>
            <a:spLocks noGrp="1"/>
          </p:cNvSpPr>
          <p:nvPr/>
        </p:nvSpPr>
        <p:spPr>
          <a:xfrm>
            <a:off x="4635500" y="3835400"/>
            <a:ext cx="349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약 39.8억원">
            <a:extLst>
              <a:ext uri="{FF2B5EF4-FFF2-40B4-BE49-F238E27FC236}">
                <a16:creationId xmlns:a16="http://schemas.microsoft.com/office/drawing/2014/main" id="{3D5F9D6B-FA96-42C8-B861-E140680CE440}"/>
              </a:ext>
            </a:extLst>
          </p:cNvPr>
          <p:cNvSpPr>
            <a:spLocks noGrp="1"/>
          </p:cNvSpPr>
          <p:nvPr/>
        </p:nvSpPr>
        <p:spPr>
          <a:xfrm>
            <a:off x="4635500" y="4178300"/>
            <a:ext cx="3492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88대 × 4,520만원의 기존 가정&#10;특장비 ">
            <a:extLst>
              <a:ext uri="{FF2B5EF4-FFF2-40B4-BE49-F238E27FC236}">
                <a16:creationId xmlns:a16="http://schemas.microsoft.com/office/drawing/2014/main" id="{E7506596-11C7-4664-A5C1-C6CA95BB072B}"/>
              </a:ext>
            </a:extLst>
          </p:cNvPr>
          <p:cNvSpPr>
            <a:spLocks noGrp="1"/>
          </p:cNvSpPr>
          <p:nvPr/>
        </p:nvSpPr>
        <p:spPr>
          <a:xfrm>
            <a:off x="4635500" y="4711700"/>
            <a:ext cx="3492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0" name="초기 진입">
            <a:extLst>
              <a:ext uri="{FF2B5EF4-FFF2-40B4-BE49-F238E27FC236}">
                <a16:creationId xmlns:a16="http://schemas.microsoft.com/office/drawing/2014/main" id="{D477238D-EDB0-4BB1-A5FE-B79355FD476B}"/>
              </a:ext>
            </a:extLst>
          </p:cNvPr>
          <p:cNvSpPr>
            <a:spLocks noGrp="1"/>
          </p:cNvSpPr>
          <p:nvPr/>
        </p:nvSpPr>
        <p:spPr>
          <a:xfrm>
            <a:off x="8432800" y="3835400"/>
            <a:ext cx="349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위험구간 실증">
            <a:extLst>
              <a:ext uri="{FF2B5EF4-FFF2-40B4-BE49-F238E27FC236}">
                <a16:creationId xmlns:a16="http://schemas.microsoft.com/office/drawing/2014/main" id="{1B45D632-4129-48D7-9CAF-F6553BD7B24E}"/>
              </a:ext>
            </a:extLst>
          </p:cNvPr>
          <p:cNvSpPr>
            <a:spLocks noGrp="1"/>
          </p:cNvSpPr>
          <p:nvPr/>
        </p:nvSpPr>
        <p:spPr>
          <a:xfrm>
            <a:off x="8432800" y="4178300"/>
            <a:ext cx="3492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조사기관 협업으로 업무·성능 확인&#10;도입과 조달">
            <a:extLst>
              <a:ext uri="{FF2B5EF4-FFF2-40B4-BE49-F238E27FC236}">
                <a16:creationId xmlns:a16="http://schemas.microsoft.com/office/drawing/2014/main" id="{1AA952D6-9C9C-4109-A2DD-BFB971036AB6}"/>
              </a:ext>
            </a:extLst>
          </p:cNvPr>
          <p:cNvSpPr>
            <a:spLocks noGrp="1"/>
          </p:cNvSpPr>
          <p:nvPr/>
        </p:nvSpPr>
        <p:spPr>
          <a:xfrm>
            <a:off x="8432800" y="4711700"/>
            <a:ext cx="3492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2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3" name="96,712 도로 km와 탐사 km는 다른 단">
            <a:extLst>
              <a:ext uri="{FF2B5EF4-FFF2-40B4-BE49-F238E27FC236}">
                <a16:creationId xmlns:a16="http://schemas.microsoft.com/office/drawing/2014/main" id="{818AAF2B-A1BA-479A-93D0-13CA1BC49BB4}"/>
              </a:ext>
            </a:extLst>
          </p:cNvPr>
          <p:cNvSpPr>
            <a:spLocks noGrp="1"/>
          </p:cNvSpPr>
          <p:nvPr/>
        </p:nvSpPr>
        <p:spPr>
          <a:xfrm>
            <a:off x="711200" y="552450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4" name="기존 가정: 96,712 ÷ (6,600 ÷ ">
            <a:extLst>
              <a:ext uri="{FF2B5EF4-FFF2-40B4-BE49-F238E27FC236}">
                <a16:creationId xmlns:a16="http://schemas.microsoft.com/office/drawing/2014/main" id="{88C4D800-441B-4A2E-AAC6-5B6CA30C6BE6}"/>
              </a:ext>
            </a:extLst>
          </p:cNvPr>
          <p:cNvSpPr>
            <a:spLocks noGrp="1"/>
          </p:cNvSpPr>
          <p:nvPr/>
        </p:nvSpPr>
        <p:spPr>
          <a:xfrm>
            <a:off x="533400" y="6261100"/>
            <a:ext cx="1117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현재 슬라이드 번호">
            <a:extLst>
              <a:ext uri="{FF2B5EF4-FFF2-40B4-BE49-F238E27FC236}">
                <a16:creationId xmlns:a16="http://schemas.microsoft.com/office/drawing/2014/main" id="{13300BF3-927D-4278-9925-C6E108FED3D8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6" name="PV5 GroundWatch">
            <a:extLst>
              <a:ext uri="{FF2B5EF4-FFF2-40B4-BE49-F238E27FC236}">
                <a16:creationId xmlns:a16="http://schemas.microsoft.com/office/drawing/2014/main" id="{9D5C7F50-F546-4170-83E5-141F749E5764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8" name="위험구간에서 시작하는 초기 도입 모델">
            <a:extLst>
              <a:ext uri="{FF2B5EF4-FFF2-40B4-BE49-F238E27FC236}">
                <a16:creationId xmlns:a16="http://schemas.microsoft.com/office/drawing/2014/main" id="{3284BAC7-1C09-4FD7-85D6-83EE734CE86C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9" name="범위 협의">
            <a:extLst>
              <a:ext uri="{FF2B5EF4-FFF2-40B4-BE49-F238E27FC236}">
                <a16:creationId xmlns:a16="http://schemas.microsoft.com/office/drawing/2014/main" id="{2F79D18F-BF45-4007-9DF7-DAA153DBF88D}"/>
              </a:ext>
            </a:extLst>
          </p:cNvPr>
          <p:cNvSpPr>
            <a:spLocks noGrp="1"/>
          </p:cNvSpPr>
          <p:nvPr/>
        </p:nvSpPr>
        <p:spPr>
          <a:xfrm>
            <a:off x="533400" y="1803400"/>
            <a:ext cx="355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0" name="도로관리기관">
            <a:extLst>
              <a:ext uri="{FF2B5EF4-FFF2-40B4-BE49-F238E27FC236}">
                <a16:creationId xmlns:a16="http://schemas.microsoft.com/office/drawing/2014/main" id="{5429D0FE-119E-4D23-9733-6F5C42CB66CF}"/>
              </a:ext>
            </a:extLst>
          </p:cNvPr>
          <p:cNvSpPr>
            <a:spLocks noGrp="1"/>
          </p:cNvSpPr>
          <p:nvPr/>
        </p:nvSpPr>
        <p:spPr>
          <a:xfrm>
            <a:off x="533400" y="210820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1" name="실증 수행">
            <a:extLst>
              <a:ext uri="{FF2B5EF4-FFF2-40B4-BE49-F238E27FC236}">
                <a16:creationId xmlns:a16="http://schemas.microsoft.com/office/drawing/2014/main" id="{0A40FB35-7731-464F-B00A-35ECD0A8628C}"/>
              </a:ext>
            </a:extLst>
          </p:cNvPr>
          <p:cNvSpPr>
            <a:spLocks noGrp="1"/>
          </p:cNvSpPr>
          <p:nvPr/>
        </p:nvSpPr>
        <p:spPr>
          <a:xfrm>
            <a:off x="4343400" y="1803400"/>
            <a:ext cx="355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2" name="조사기관과 협업">
            <a:extLst>
              <a:ext uri="{FF2B5EF4-FFF2-40B4-BE49-F238E27FC236}">
                <a16:creationId xmlns:a16="http://schemas.microsoft.com/office/drawing/2014/main" id="{33FDE1BA-55FD-46DC-B059-C8569C5872A2}"/>
              </a:ext>
            </a:extLst>
          </p:cNvPr>
          <p:cNvSpPr>
            <a:spLocks noGrp="1"/>
          </p:cNvSpPr>
          <p:nvPr/>
        </p:nvSpPr>
        <p:spPr>
          <a:xfrm>
            <a:off x="4343400" y="210820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3" name="도입 검토">
            <a:extLst>
              <a:ext uri="{FF2B5EF4-FFF2-40B4-BE49-F238E27FC236}">
                <a16:creationId xmlns:a16="http://schemas.microsoft.com/office/drawing/2014/main" id="{194C3A1F-83D4-43DC-85B7-8A59268F414A}"/>
              </a:ext>
            </a:extLst>
          </p:cNvPr>
          <p:cNvSpPr>
            <a:spLocks noGrp="1"/>
          </p:cNvSpPr>
          <p:nvPr/>
        </p:nvSpPr>
        <p:spPr>
          <a:xfrm>
            <a:off x="8153400" y="1803400"/>
            <a:ext cx="355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4" name="성능·운영성 확인 후">
            <a:extLst>
              <a:ext uri="{FF2B5EF4-FFF2-40B4-BE49-F238E27FC236}">
                <a16:creationId xmlns:a16="http://schemas.microsoft.com/office/drawing/2014/main" id="{83FED6CC-EE28-4E73-BEEE-AEAF9749C45E}"/>
              </a:ext>
            </a:extLst>
          </p:cNvPr>
          <p:cNvSpPr>
            <a:spLocks noGrp="1"/>
          </p:cNvSpPr>
          <p:nvPr/>
        </p:nvSpPr>
        <p:spPr>
          <a:xfrm>
            <a:off x="8153400" y="210820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5" name="제안 모델 · 협력기관·예산·구매·계약은 미확">
            <a:extLst>
              <a:ext uri="{FF2B5EF4-FFF2-40B4-BE49-F238E27FC236}">
                <a16:creationId xmlns:a16="http://schemas.microsoft.com/office/drawing/2014/main" id="{3354C0E3-A10E-419B-AD19-ED16CA9F1026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10795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6" name="대상 구간과 업무 범위">
            <a:extLst>
              <a:ext uri="{FF2B5EF4-FFF2-40B4-BE49-F238E27FC236}">
                <a16:creationId xmlns:a16="http://schemas.microsoft.com/office/drawing/2014/main" id="{72CB9D6F-78FE-4EA1-9E43-C57F9A214D1F}"/>
              </a:ext>
            </a:extLst>
          </p:cNvPr>
          <p:cNvSpPr>
            <a:spLocks noGrp="1"/>
          </p:cNvSpPr>
          <p:nvPr/>
        </p:nvSpPr>
        <p:spPr>
          <a:xfrm>
            <a:off x="838200" y="3835400"/>
            <a:ext cx="349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7" name="제한 실증">
            <a:extLst>
              <a:ext uri="{FF2B5EF4-FFF2-40B4-BE49-F238E27FC236}">
                <a16:creationId xmlns:a16="http://schemas.microsoft.com/office/drawing/2014/main" id="{73B14AEA-D530-407C-ABE8-1AB499522773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349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8" name="도로관리기관과 위험구간 선정&#10;조사기관과 같은 ">
            <a:extLst>
              <a:ext uri="{FF2B5EF4-FFF2-40B4-BE49-F238E27FC236}">
                <a16:creationId xmlns:a16="http://schemas.microsoft.com/office/drawing/2014/main" id="{FF7F3172-A61F-42BF-8C48-8F6854E539CB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349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29" name="현장 업무의 부담과 처리량">
            <a:extLst>
              <a:ext uri="{FF2B5EF4-FFF2-40B4-BE49-F238E27FC236}">
                <a16:creationId xmlns:a16="http://schemas.microsoft.com/office/drawing/2014/main" id="{1A8C90A0-2E71-412A-BD5B-CA50D3969408}"/>
              </a:ext>
            </a:extLst>
          </p:cNvPr>
          <p:cNvSpPr>
            <a:spLocks noGrp="1"/>
          </p:cNvSpPr>
          <p:nvPr/>
        </p:nvSpPr>
        <p:spPr>
          <a:xfrm>
            <a:off x="4635500" y="3835400"/>
            <a:ext cx="349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0" name="운영 평가">
            <a:extLst>
              <a:ext uri="{FF2B5EF4-FFF2-40B4-BE49-F238E27FC236}">
                <a16:creationId xmlns:a16="http://schemas.microsoft.com/office/drawing/2014/main" id="{2B77B1BE-CF94-4729-8CAD-8712563C49DE}"/>
              </a:ext>
            </a:extLst>
          </p:cNvPr>
          <p:cNvSpPr>
            <a:spLocks noGrp="1"/>
          </p:cNvSpPr>
          <p:nvPr/>
        </p:nvSpPr>
        <p:spPr>
          <a:xfrm>
            <a:off x="4635500" y="4191000"/>
            <a:ext cx="349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1" name="판독 부담·재확인 시간 측정&#10;유효 탐사량과 운">
            <a:extLst>
              <a:ext uri="{FF2B5EF4-FFF2-40B4-BE49-F238E27FC236}">
                <a16:creationId xmlns:a16="http://schemas.microsoft.com/office/drawing/2014/main" id="{2D61A1ED-91A8-4C3A-BDBE-C4AA2F928F97}"/>
              </a:ext>
            </a:extLst>
          </p:cNvPr>
          <p:cNvSpPr>
            <a:spLocks noGrp="1"/>
          </p:cNvSpPr>
          <p:nvPr/>
        </p:nvSpPr>
        <p:spPr>
          <a:xfrm>
            <a:off x="4635500" y="4762500"/>
            <a:ext cx="349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2" name="검증 후 단계적 도입">
            <a:extLst>
              <a:ext uri="{FF2B5EF4-FFF2-40B4-BE49-F238E27FC236}">
                <a16:creationId xmlns:a16="http://schemas.microsoft.com/office/drawing/2014/main" id="{6C53EA67-BC9A-42FB-8E69-71C431DB11AA}"/>
              </a:ext>
            </a:extLst>
          </p:cNvPr>
          <p:cNvSpPr>
            <a:spLocks noGrp="1"/>
          </p:cNvSpPr>
          <p:nvPr/>
        </p:nvSpPr>
        <p:spPr>
          <a:xfrm>
            <a:off x="8432800" y="3835400"/>
            <a:ext cx="3492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3" name="확대 검토">
            <a:extLst>
              <a:ext uri="{FF2B5EF4-FFF2-40B4-BE49-F238E27FC236}">
                <a16:creationId xmlns:a16="http://schemas.microsoft.com/office/drawing/2014/main" id="{5B1696A5-A093-429F-A4F5-78E136916E63}"/>
              </a:ext>
            </a:extLst>
          </p:cNvPr>
          <p:cNvSpPr>
            <a:spLocks noGrp="1"/>
          </p:cNvSpPr>
          <p:nvPr/>
        </p:nvSpPr>
        <p:spPr>
          <a:xfrm>
            <a:off x="8432800" y="4191000"/>
            <a:ext cx="349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4" name="성능·운영성이 확인된 뒤&#10;차량 추가 도입과 조">
            <a:extLst>
              <a:ext uri="{FF2B5EF4-FFF2-40B4-BE49-F238E27FC236}">
                <a16:creationId xmlns:a16="http://schemas.microsoft.com/office/drawing/2014/main" id="{BA82B32B-9223-4681-9B89-220B990835A5}"/>
              </a:ext>
            </a:extLst>
          </p:cNvPr>
          <p:cNvSpPr>
            <a:spLocks noGrp="1"/>
          </p:cNvSpPr>
          <p:nvPr/>
        </p:nvSpPr>
        <p:spPr>
          <a:xfrm>
            <a:off x="8432800" y="4762500"/>
            <a:ext cx="349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4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5" name="초기 실증 결과로 업무 범위와 투입 차량을 검">
            <a:extLst>
              <a:ext uri="{FF2B5EF4-FFF2-40B4-BE49-F238E27FC236}">
                <a16:creationId xmlns:a16="http://schemas.microsoft.com/office/drawing/2014/main" id="{877D686E-7585-4044-8A69-A6D145978C28}"/>
              </a:ext>
            </a:extLst>
          </p:cNvPr>
          <p:cNvSpPr>
            <a:spLocks noGrp="1"/>
          </p:cNvSpPr>
          <p:nvPr/>
        </p:nvSpPr>
        <p:spPr>
          <a:xfrm>
            <a:off x="711200" y="5562600"/>
            <a:ext cx="11049000" cy="596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6" name="협력·예산·구매·계약을 보장하지 않습니다. 지">
            <a:extLst>
              <a:ext uri="{FF2B5EF4-FFF2-40B4-BE49-F238E27FC236}">
                <a16:creationId xmlns:a16="http://schemas.microsoft.com/office/drawing/2014/main" id="{21C105D1-C8B0-4457-BBED-499F131EC339}"/>
              </a:ext>
            </a:extLst>
          </p:cNvPr>
          <p:cNvSpPr>
            <a:spLocks noGrp="1"/>
          </p:cNvSpPr>
          <p:nvPr/>
        </p:nvSpPr>
        <p:spPr>
          <a:xfrm>
            <a:off x="533400" y="6299200"/>
            <a:ext cx="1117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1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7" name="현재 슬라이드 번호">
            <a:extLst>
              <a:ext uri="{FF2B5EF4-FFF2-40B4-BE49-F238E27FC236}">
                <a16:creationId xmlns:a16="http://schemas.microsoft.com/office/drawing/2014/main" id="{5CB47350-8FC3-4A93-8445-953DF8A3F03D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8" name="PV5 GroundWatch">
            <a:extLst>
              <a:ext uri="{FF2B5EF4-FFF2-40B4-BE49-F238E27FC236}">
                <a16:creationId xmlns:a16="http://schemas.microsoft.com/office/drawing/2014/main" id="{83BC2F5D-A09A-4B98-A5F7-734ACD89AF4D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9" name="위험구간 실증부터 단계적으로 도입합니다">
            <a:extLst>
              <a:ext uri="{FF2B5EF4-FFF2-40B4-BE49-F238E27FC236}">
                <a16:creationId xmlns:a16="http://schemas.microsoft.com/office/drawing/2014/main" id="{8FE9EF8E-FB30-4268-94B3-F1DF50F5FF2A}"/>
              </a:ext>
            </a:extLst>
          </p:cNvPr>
          <p:cNvSpPr>
            <a:spLocks noGrp="1"/>
          </p:cNvSpPr>
          <p:nvPr/>
        </p:nvSpPr>
        <p:spPr>
          <a:xfrm>
            <a:off x="520700" y="77216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위험구간 실증부터 단계적으로 도입합니다</a:t>
            </a:r>
          </a:p>
        </p:txBody>
      </p:sp>
      <p:sp>
        <p:nvSpPr>
          <p:cNvPr id="40" name="범위 협의">
            <a:extLst>
              <a:ext uri="{FF2B5EF4-FFF2-40B4-BE49-F238E27FC236}">
                <a16:creationId xmlns:a16="http://schemas.microsoft.com/office/drawing/2014/main" id="{DEC91FB8-C8C8-4E78-BC99-19B394B403EC}"/>
              </a:ext>
            </a:extLst>
          </p:cNvPr>
          <p:cNvSpPr>
            <a:spLocks noGrp="1"/>
          </p:cNvSpPr>
          <p:nvPr/>
        </p:nvSpPr>
        <p:spPr>
          <a:xfrm>
            <a:off x="533400" y="1775460"/>
            <a:ext cx="355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범위 협의</a:t>
            </a:r>
          </a:p>
        </p:txBody>
      </p:sp>
      <p:sp>
        <p:nvSpPr>
          <p:cNvPr id="41" name="도로관리기관">
            <a:extLst>
              <a:ext uri="{FF2B5EF4-FFF2-40B4-BE49-F238E27FC236}">
                <a16:creationId xmlns:a16="http://schemas.microsoft.com/office/drawing/2014/main" id="{AB4798B4-1DDA-4EA4-A7B1-A1E1ABF1FA13}"/>
              </a:ext>
            </a:extLst>
          </p:cNvPr>
          <p:cNvSpPr>
            <a:spLocks noGrp="1"/>
          </p:cNvSpPr>
          <p:nvPr/>
        </p:nvSpPr>
        <p:spPr>
          <a:xfrm>
            <a:off x="533400" y="206502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도로관리기관</a:t>
            </a:r>
          </a:p>
        </p:txBody>
      </p:sp>
      <p:sp>
        <p:nvSpPr>
          <p:cNvPr id="42" name="실증 수행">
            <a:extLst>
              <a:ext uri="{FF2B5EF4-FFF2-40B4-BE49-F238E27FC236}">
                <a16:creationId xmlns:a16="http://schemas.microsoft.com/office/drawing/2014/main" id="{C95D81C2-9880-498D-B83B-84F70BEA2D40}"/>
              </a:ext>
            </a:extLst>
          </p:cNvPr>
          <p:cNvSpPr>
            <a:spLocks noGrp="1"/>
          </p:cNvSpPr>
          <p:nvPr/>
        </p:nvSpPr>
        <p:spPr>
          <a:xfrm>
            <a:off x="4343400" y="1775460"/>
            <a:ext cx="355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실증 수행</a:t>
            </a:r>
          </a:p>
        </p:txBody>
      </p:sp>
      <p:sp>
        <p:nvSpPr>
          <p:cNvPr id="43" name="조사기관과 협업">
            <a:extLst>
              <a:ext uri="{FF2B5EF4-FFF2-40B4-BE49-F238E27FC236}">
                <a16:creationId xmlns:a16="http://schemas.microsoft.com/office/drawing/2014/main" id="{335B8667-5D70-442E-BF3C-8C0E9F3A5C74}"/>
              </a:ext>
            </a:extLst>
          </p:cNvPr>
          <p:cNvSpPr>
            <a:spLocks noGrp="1"/>
          </p:cNvSpPr>
          <p:nvPr/>
        </p:nvSpPr>
        <p:spPr>
          <a:xfrm>
            <a:off x="4343400" y="206502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조사기관과 협업</a:t>
            </a:r>
          </a:p>
        </p:txBody>
      </p:sp>
      <p:sp>
        <p:nvSpPr>
          <p:cNvPr id="44" name="도입 검토">
            <a:extLst>
              <a:ext uri="{FF2B5EF4-FFF2-40B4-BE49-F238E27FC236}">
                <a16:creationId xmlns:a16="http://schemas.microsoft.com/office/drawing/2014/main" id="{5BF2D095-921F-4BEB-A201-D8FF60DE4FAB}"/>
              </a:ext>
            </a:extLst>
          </p:cNvPr>
          <p:cNvSpPr>
            <a:spLocks noGrp="1"/>
          </p:cNvSpPr>
          <p:nvPr/>
        </p:nvSpPr>
        <p:spPr>
          <a:xfrm>
            <a:off x="8153400" y="1775460"/>
            <a:ext cx="355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도입 검토</a:t>
            </a:r>
          </a:p>
        </p:txBody>
      </p:sp>
      <p:sp>
        <p:nvSpPr>
          <p:cNvPr id="45" name="성능·운영성 확인 후">
            <a:extLst>
              <a:ext uri="{FF2B5EF4-FFF2-40B4-BE49-F238E27FC236}">
                <a16:creationId xmlns:a16="http://schemas.microsoft.com/office/drawing/2014/main" id="{BBDDB80B-C6CB-4810-BD70-A209AB8A747F}"/>
              </a:ext>
            </a:extLst>
          </p:cNvPr>
          <p:cNvSpPr>
            <a:spLocks noGrp="1"/>
          </p:cNvSpPr>
          <p:nvPr/>
        </p:nvSpPr>
        <p:spPr>
          <a:xfrm>
            <a:off x="8153400" y="2065020"/>
            <a:ext cx="355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성능·운영성 확인 후</a:t>
            </a:r>
          </a:p>
        </p:txBody>
      </p:sp>
      <p:sp>
        <p:nvSpPr>
          <p:cNvPr id="46" name="제안 모델 · 협력기관·예산·구매·계약은 미확">
            <a:extLst>
              <a:ext uri="{FF2B5EF4-FFF2-40B4-BE49-F238E27FC236}">
                <a16:creationId xmlns:a16="http://schemas.microsoft.com/office/drawing/2014/main" id="{E8E4D064-8584-48C4-A84D-0996823C0878}"/>
              </a:ext>
            </a:extLst>
          </p:cNvPr>
          <p:cNvSpPr>
            <a:spLocks noGrp="1"/>
          </p:cNvSpPr>
          <p:nvPr/>
        </p:nvSpPr>
        <p:spPr>
          <a:xfrm>
            <a:off x="838200" y="3360420"/>
            <a:ext cx="10795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제안 모델 · 협력기관·예산·구매·계약은 미확정</a:t>
            </a:r>
          </a:p>
        </p:txBody>
      </p:sp>
      <p:sp>
        <p:nvSpPr>
          <p:cNvPr id="47" name="대상 구간과 업무 범위">
            <a:extLst>
              <a:ext uri="{FF2B5EF4-FFF2-40B4-BE49-F238E27FC236}">
                <a16:creationId xmlns:a16="http://schemas.microsoft.com/office/drawing/2014/main" id="{D90B00E7-B269-4815-BB6F-4FD7CBEAEF5C}"/>
              </a:ext>
            </a:extLst>
          </p:cNvPr>
          <p:cNvSpPr>
            <a:spLocks noGrp="1"/>
          </p:cNvSpPr>
          <p:nvPr/>
        </p:nvSpPr>
        <p:spPr>
          <a:xfrm>
            <a:off x="838200" y="3807460"/>
            <a:ext cx="349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대상 구간과 업무 범위</a:t>
            </a:r>
          </a:p>
        </p:txBody>
      </p:sp>
      <p:sp>
        <p:nvSpPr>
          <p:cNvPr id="48" name="제한 실증">
            <a:extLst>
              <a:ext uri="{FF2B5EF4-FFF2-40B4-BE49-F238E27FC236}">
                <a16:creationId xmlns:a16="http://schemas.microsoft.com/office/drawing/2014/main" id="{5F541CF8-7DBF-4B69-BF4E-8690CAA76C23}"/>
              </a:ext>
            </a:extLst>
          </p:cNvPr>
          <p:cNvSpPr>
            <a:spLocks noGrp="1"/>
          </p:cNvSpPr>
          <p:nvPr/>
        </p:nvSpPr>
        <p:spPr>
          <a:xfrm>
            <a:off x="838200" y="4124960"/>
            <a:ext cx="34925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제한 실증</a:t>
            </a:r>
          </a:p>
        </p:txBody>
      </p:sp>
      <p:sp>
        <p:nvSpPr>
          <p:cNvPr id="49" name="위험구간 선정 후 반복 측정">
            <a:extLst>
              <a:ext uri="{FF2B5EF4-FFF2-40B4-BE49-F238E27FC236}">
                <a16:creationId xmlns:a16="http://schemas.microsoft.com/office/drawing/2014/main" id="{F3727A9D-6506-4932-97E2-5D97A64DC9CA}"/>
              </a:ext>
            </a:extLst>
          </p:cNvPr>
          <p:cNvSpPr>
            <a:spLocks noGrp="1"/>
          </p:cNvSpPr>
          <p:nvPr/>
        </p:nvSpPr>
        <p:spPr>
          <a:xfrm>
            <a:off x="838200" y="4782820"/>
            <a:ext cx="3492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위험구간 선정 후 반복 측정</a:t>
            </a:r>
          </a:p>
        </p:txBody>
      </p:sp>
      <p:sp>
        <p:nvSpPr>
          <p:cNvPr id="50" name="현장 업무의 부담과 처리량">
            <a:extLst>
              <a:ext uri="{FF2B5EF4-FFF2-40B4-BE49-F238E27FC236}">
                <a16:creationId xmlns:a16="http://schemas.microsoft.com/office/drawing/2014/main" id="{5E1B99BD-8FD6-462A-8547-0463F2C98819}"/>
              </a:ext>
            </a:extLst>
          </p:cNvPr>
          <p:cNvSpPr>
            <a:spLocks noGrp="1"/>
          </p:cNvSpPr>
          <p:nvPr/>
        </p:nvSpPr>
        <p:spPr>
          <a:xfrm>
            <a:off x="4635500" y="3807460"/>
            <a:ext cx="349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현장 업무의 부담과 처리량</a:t>
            </a:r>
          </a:p>
        </p:txBody>
      </p:sp>
      <p:sp>
        <p:nvSpPr>
          <p:cNvPr id="51" name="운영 평가">
            <a:extLst>
              <a:ext uri="{FF2B5EF4-FFF2-40B4-BE49-F238E27FC236}">
                <a16:creationId xmlns:a16="http://schemas.microsoft.com/office/drawing/2014/main" id="{B77E9FB6-C146-43FE-AF82-DFF0C560CA28}"/>
              </a:ext>
            </a:extLst>
          </p:cNvPr>
          <p:cNvSpPr>
            <a:spLocks noGrp="1"/>
          </p:cNvSpPr>
          <p:nvPr/>
        </p:nvSpPr>
        <p:spPr>
          <a:xfrm>
            <a:off x="4635500" y="4124960"/>
            <a:ext cx="34925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 평가</a:t>
            </a:r>
          </a:p>
        </p:txBody>
      </p:sp>
      <p:sp>
        <p:nvSpPr>
          <p:cNvPr id="52" name="판독 부담·재확인 시간·탐사량 평가">
            <a:extLst>
              <a:ext uri="{FF2B5EF4-FFF2-40B4-BE49-F238E27FC236}">
                <a16:creationId xmlns:a16="http://schemas.microsoft.com/office/drawing/2014/main" id="{BF181157-DEB2-491E-82FA-0805F1810668}"/>
              </a:ext>
            </a:extLst>
          </p:cNvPr>
          <p:cNvSpPr>
            <a:spLocks noGrp="1"/>
          </p:cNvSpPr>
          <p:nvPr/>
        </p:nvSpPr>
        <p:spPr>
          <a:xfrm>
            <a:off x="4635500" y="4782820"/>
            <a:ext cx="3492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판독 부담·재확인 시간·탐사량 평가</a:t>
            </a:r>
          </a:p>
        </p:txBody>
      </p:sp>
      <p:sp>
        <p:nvSpPr>
          <p:cNvPr id="53" name="검증 후 단계적 도입">
            <a:extLst>
              <a:ext uri="{FF2B5EF4-FFF2-40B4-BE49-F238E27FC236}">
                <a16:creationId xmlns:a16="http://schemas.microsoft.com/office/drawing/2014/main" id="{2565E7DD-7152-404E-A390-ECBCF3DFA606}"/>
              </a:ext>
            </a:extLst>
          </p:cNvPr>
          <p:cNvSpPr>
            <a:spLocks noGrp="1"/>
          </p:cNvSpPr>
          <p:nvPr/>
        </p:nvSpPr>
        <p:spPr>
          <a:xfrm>
            <a:off x="8432800" y="3807460"/>
            <a:ext cx="349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1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검증 후 단계적 도입</a:t>
            </a:r>
          </a:p>
        </p:txBody>
      </p:sp>
      <p:sp>
        <p:nvSpPr>
          <p:cNvPr id="54" name="확대 검토">
            <a:extLst>
              <a:ext uri="{FF2B5EF4-FFF2-40B4-BE49-F238E27FC236}">
                <a16:creationId xmlns:a16="http://schemas.microsoft.com/office/drawing/2014/main" id="{779CB701-50FC-4485-92A4-AC058CA2E294}"/>
              </a:ext>
            </a:extLst>
          </p:cNvPr>
          <p:cNvSpPr>
            <a:spLocks noGrp="1"/>
          </p:cNvSpPr>
          <p:nvPr/>
        </p:nvSpPr>
        <p:spPr>
          <a:xfrm>
            <a:off x="8432800" y="4124960"/>
            <a:ext cx="34925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확대 검토</a:t>
            </a:r>
          </a:p>
        </p:txBody>
      </p:sp>
      <p:sp>
        <p:nvSpPr>
          <p:cNvPr id="55" name="성능·운영성 확인 후 차량 도입 검토">
            <a:extLst>
              <a:ext uri="{FF2B5EF4-FFF2-40B4-BE49-F238E27FC236}">
                <a16:creationId xmlns:a16="http://schemas.microsoft.com/office/drawing/2014/main" id="{7D405670-85EF-4FA2-955C-D77511A5F92B}"/>
              </a:ext>
            </a:extLst>
          </p:cNvPr>
          <p:cNvSpPr>
            <a:spLocks noGrp="1"/>
          </p:cNvSpPr>
          <p:nvPr/>
        </p:nvSpPr>
        <p:spPr>
          <a:xfrm>
            <a:off x="8432800" y="4782820"/>
            <a:ext cx="3492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D6DDE8"/>
                </a:solidFill>
                <a:latin typeface="Pretendard"/>
                <a:ea typeface="Pretendard"/>
                <a:cs typeface="Pretendard"/>
              </a:rPr>
              <a:t>성능·운영성 확인 후 차량 도입 검토</a:t>
            </a:r>
          </a:p>
        </p:txBody>
      </p:sp>
      <p:sp>
        <p:nvSpPr>
          <p:cNvPr id="56" name="실증 결과를 확인한 뒤, 차량 추가 도입을 검">
            <a:extLst>
              <a:ext uri="{FF2B5EF4-FFF2-40B4-BE49-F238E27FC236}">
                <a16:creationId xmlns:a16="http://schemas.microsoft.com/office/drawing/2014/main" id="{9D25803D-230E-4110-B538-ACACC45DC947}"/>
              </a:ext>
            </a:extLst>
          </p:cNvPr>
          <p:cNvSpPr>
            <a:spLocks noGrp="1"/>
          </p:cNvSpPr>
          <p:nvPr/>
        </p:nvSpPr>
        <p:spPr>
          <a:xfrm>
            <a:off x="711200" y="5748973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실증 결과를 확인한 뒤, 차량 추가 도입을 검토합니다.</a:t>
            </a:r>
          </a:p>
        </p:txBody>
      </p:sp>
      <p:sp>
        <p:nvSpPr>
          <p:cNvPr id="57" name="도입·협력·예산·구매·계약은 미확정입니다. 지">
            <a:extLst>
              <a:ext uri="{FF2B5EF4-FFF2-40B4-BE49-F238E27FC236}">
                <a16:creationId xmlns:a16="http://schemas.microsoft.com/office/drawing/2014/main" id="{0B23AEB9-E90E-4DEC-B1E7-C3E6EAA836A6}"/>
              </a:ext>
            </a:extLst>
          </p:cNvPr>
          <p:cNvSpPr>
            <a:spLocks noGrp="1"/>
          </p:cNvSpPr>
          <p:nvPr/>
        </p:nvSpPr>
        <p:spPr>
          <a:xfrm>
            <a:off x="533400" y="6235700"/>
            <a:ext cx="1117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도입·협력·예산·구매·계약은 미확정입니다. 지하 데이터는 계약기관의 권한 범위에서 관리합니다.</a:t>
            </a:r>
          </a:p>
        </p:txBody>
      </p:sp>
      <p:sp>
        <p:nvSpPr>
          <p:cNvPr id="58" name="현재 슬라이드 번호">
            <a:extLst>
              <a:ext uri="{FF2B5EF4-FFF2-40B4-BE49-F238E27FC236}">
                <a16:creationId xmlns:a16="http://schemas.microsoft.com/office/drawing/2014/main" id="{9EF970C2-7D65-4285-934D-0F616F31CE5C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16 / 18</a:t>
            </a:r>
          </a:p>
        </p:txBody>
      </p:sp>
      <p:sp>
        <p:nvSpPr>
          <p:cNvPr id="59" name="PV5 GroundWatch">
            <a:extLst>
              <a:ext uri="{FF2B5EF4-FFF2-40B4-BE49-F238E27FC236}">
                <a16:creationId xmlns:a16="http://schemas.microsoft.com/office/drawing/2014/main" id="{2CDFDCC7-C731-42C5-8685-9B56C9DAA033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211031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FFA14919-C38D-456B-92D1-6E0929C6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위험구간 소규모 실증부터 시작합니다">
            <a:extLst>
              <a:ext uri="{FF2B5EF4-FFF2-40B4-BE49-F238E27FC236}">
                <a16:creationId xmlns:a16="http://schemas.microsoft.com/office/drawing/2014/main" id="{B13C3B81-F192-45B7-8455-BAB0ABE9B679}"/>
              </a:ext>
            </a:extLst>
          </p:cNvPr>
          <p:cNvSpPr>
            <a:spLocks noGrp="1"/>
          </p:cNvSpPr>
          <p:nvPr/>
        </p:nvSpPr>
        <p:spPr>
          <a:xfrm>
            <a:off x="520700" y="86360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" name="조사기관·지자체와 실증 범위 협의">
            <a:extLst>
              <a:ext uri="{FF2B5EF4-FFF2-40B4-BE49-F238E27FC236}">
                <a16:creationId xmlns:a16="http://schemas.microsoft.com/office/drawing/2014/main" id="{C6D31DB8-889C-4184-8EED-9F6C54DFB7EC}"/>
              </a:ext>
            </a:extLst>
          </p:cNvPr>
          <p:cNvSpPr>
            <a:spLocks noGrp="1"/>
          </p:cNvSpPr>
          <p:nvPr/>
        </p:nvSpPr>
        <p:spPr>
          <a:xfrm>
            <a:off x="520700" y="1943100"/>
            <a:ext cx="5715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" name="첫 목표는 현장 검증">
            <a:extLst>
              <a:ext uri="{FF2B5EF4-FFF2-40B4-BE49-F238E27FC236}">
                <a16:creationId xmlns:a16="http://schemas.microsoft.com/office/drawing/2014/main" id="{E169901C-DBF7-4A1C-BD06-499411DCB104}"/>
              </a:ext>
            </a:extLst>
          </p:cNvPr>
          <p:cNvSpPr>
            <a:spLocks noGrp="1"/>
          </p:cNvSpPr>
          <p:nvPr/>
        </p:nvSpPr>
        <p:spPr>
          <a:xfrm>
            <a:off x="520700" y="2540000"/>
            <a:ext cx="57150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3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" name="기존 탐사 업무와 연결 가능한 구간 선정&#10;장비">
            <a:extLst>
              <a:ext uri="{FF2B5EF4-FFF2-40B4-BE49-F238E27FC236}">
                <a16:creationId xmlns:a16="http://schemas.microsoft.com/office/drawing/2014/main" id="{A69C2B02-66D1-4287-86F8-6675C306F685}"/>
              </a:ext>
            </a:extLst>
          </p:cNvPr>
          <p:cNvSpPr>
            <a:spLocks noGrp="1"/>
          </p:cNvSpPr>
          <p:nvPr/>
        </p:nvSpPr>
        <p:spPr>
          <a:xfrm>
            <a:off x="520700" y="3390900"/>
            <a:ext cx="5715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6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6" name="초기 · 협의 후 착수">
            <a:extLst>
              <a:ext uri="{FF2B5EF4-FFF2-40B4-BE49-F238E27FC236}">
                <a16:creationId xmlns:a16="http://schemas.microsoft.com/office/drawing/2014/main" id="{EDAA3897-E04B-4157-BC23-8C283BC4C12E}"/>
              </a:ext>
            </a:extLst>
          </p:cNvPr>
          <p:cNvSpPr>
            <a:spLocks noGrp="1"/>
          </p:cNvSpPr>
          <p:nvPr/>
        </p:nvSpPr>
        <p:spPr>
          <a:xfrm>
            <a:off x="6426200" y="1841500"/>
            <a:ext cx="527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7" name="차량 확보 협의·폐쇄 시험장 검증">
            <a:extLst>
              <a:ext uri="{FF2B5EF4-FFF2-40B4-BE49-F238E27FC236}">
                <a16:creationId xmlns:a16="http://schemas.microsoft.com/office/drawing/2014/main" id="{D34738E9-837A-49BE-95BB-8A306EF0F30D}"/>
              </a:ext>
            </a:extLst>
          </p:cNvPr>
          <p:cNvSpPr>
            <a:spLocks noGrp="1"/>
          </p:cNvSpPr>
          <p:nvPr/>
        </p:nvSpPr>
        <p:spPr>
          <a:xfrm>
            <a:off x="6426200" y="2209800"/>
            <a:ext cx="5270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8" name="1~2년">
            <a:extLst>
              <a:ext uri="{FF2B5EF4-FFF2-40B4-BE49-F238E27FC236}">
                <a16:creationId xmlns:a16="http://schemas.microsoft.com/office/drawing/2014/main" id="{B9E24E05-5036-472C-8667-8CFDFB90E087}"/>
              </a:ext>
            </a:extLst>
          </p:cNvPr>
          <p:cNvSpPr>
            <a:spLocks noGrp="1"/>
          </p:cNvSpPr>
          <p:nvPr/>
        </p:nvSpPr>
        <p:spPr>
          <a:xfrm>
            <a:off x="6426200" y="2578100"/>
            <a:ext cx="527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9" name="조사기관 협업·위험구간 제한 실증">
            <a:extLst>
              <a:ext uri="{FF2B5EF4-FFF2-40B4-BE49-F238E27FC236}">
                <a16:creationId xmlns:a16="http://schemas.microsoft.com/office/drawing/2014/main" id="{4C498050-99AC-4609-ABE5-F2397F106245}"/>
              </a:ext>
            </a:extLst>
          </p:cNvPr>
          <p:cNvSpPr>
            <a:spLocks noGrp="1"/>
          </p:cNvSpPr>
          <p:nvPr/>
        </p:nvSpPr>
        <p:spPr>
          <a:xfrm>
            <a:off x="6426200" y="2946400"/>
            <a:ext cx="5270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0" name="2~3년">
            <a:extLst>
              <a:ext uri="{FF2B5EF4-FFF2-40B4-BE49-F238E27FC236}">
                <a16:creationId xmlns:a16="http://schemas.microsoft.com/office/drawing/2014/main" id="{7E038244-1A8C-40CD-8883-9D37AF568D53}"/>
              </a:ext>
            </a:extLst>
          </p:cNvPr>
          <p:cNvSpPr>
            <a:spLocks noGrp="1"/>
          </p:cNvSpPr>
          <p:nvPr/>
        </p:nvSpPr>
        <p:spPr>
          <a:xfrm>
            <a:off x="6426200" y="3327400"/>
            <a:ext cx="527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기술 지표 통과 후 조달·계약 검토">
            <a:extLst>
              <a:ext uri="{FF2B5EF4-FFF2-40B4-BE49-F238E27FC236}">
                <a16:creationId xmlns:a16="http://schemas.microsoft.com/office/drawing/2014/main" id="{154169AD-2D15-4C15-9450-88DF38B7919D}"/>
              </a:ext>
            </a:extLst>
          </p:cNvPr>
          <p:cNvSpPr>
            <a:spLocks noGrp="1"/>
          </p:cNvSpPr>
          <p:nvPr/>
        </p:nvSpPr>
        <p:spPr>
          <a:xfrm>
            <a:off x="6426200" y="3695700"/>
            <a:ext cx="5270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2" name="3년 이후">
            <a:extLst>
              <a:ext uri="{FF2B5EF4-FFF2-40B4-BE49-F238E27FC236}">
                <a16:creationId xmlns:a16="http://schemas.microsoft.com/office/drawing/2014/main" id="{AE4CCB05-9151-4E10-B006-CE2D127739CA}"/>
              </a:ext>
            </a:extLst>
          </p:cNvPr>
          <p:cNvSpPr>
            <a:spLocks noGrp="1"/>
          </p:cNvSpPr>
          <p:nvPr/>
        </p:nvSpPr>
        <p:spPr>
          <a:xfrm>
            <a:off x="6426200" y="4064000"/>
            <a:ext cx="527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3" name="운영성과 확인 후 권역 확대 검토">
            <a:extLst>
              <a:ext uri="{FF2B5EF4-FFF2-40B4-BE49-F238E27FC236}">
                <a16:creationId xmlns:a16="http://schemas.microsoft.com/office/drawing/2014/main" id="{2A14AEBA-0C5A-48C5-9116-2E87CEA5F10D}"/>
              </a:ext>
            </a:extLst>
          </p:cNvPr>
          <p:cNvSpPr>
            <a:spLocks noGrp="1"/>
          </p:cNvSpPr>
          <p:nvPr/>
        </p:nvSpPr>
        <p:spPr>
          <a:xfrm>
            <a:off x="6426200" y="4432300"/>
            <a:ext cx="5270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5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4" name="차량 대여·협력기관·예산은 협의가 필요합니다.">
            <a:extLst>
              <a:ext uri="{FF2B5EF4-FFF2-40B4-BE49-F238E27FC236}">
                <a16:creationId xmlns:a16="http://schemas.microsoft.com/office/drawing/2014/main" id="{7BF07770-8B2E-4324-B57D-8EC72794B7BF}"/>
              </a:ext>
            </a:extLst>
          </p:cNvPr>
          <p:cNvSpPr>
            <a:spLocks noGrp="1"/>
          </p:cNvSpPr>
          <p:nvPr/>
        </p:nvSpPr>
        <p:spPr>
          <a:xfrm>
            <a:off x="711200" y="5143500"/>
            <a:ext cx="110490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5" name="출처: 공모전 일반 부문 PoC·실물 대여 검">
            <a:extLst>
              <a:ext uri="{FF2B5EF4-FFF2-40B4-BE49-F238E27FC236}">
                <a16:creationId xmlns:a16="http://schemas.microsoft.com/office/drawing/2014/main" id="{C5AD9343-9080-4A9C-A834-78DA16C881BA}"/>
              </a:ext>
            </a:extLst>
          </p:cNvPr>
          <p:cNvSpPr>
            <a:spLocks noGrp="1"/>
          </p:cNvSpPr>
          <p:nvPr/>
        </p:nvSpPr>
        <p:spPr>
          <a:xfrm>
            <a:off x="533400" y="6235700"/>
            <a:ext cx="1117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10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6" name="현재 슬라이드 번호">
            <a:extLst>
              <a:ext uri="{FF2B5EF4-FFF2-40B4-BE49-F238E27FC236}">
                <a16:creationId xmlns:a16="http://schemas.microsoft.com/office/drawing/2014/main" id="{C7DB0F84-3F55-4B97-B024-5A90E2CAEC2B}"/>
              </a:ext>
            </a:extLst>
          </p:cNvPr>
          <p:cNvSpPr>
            <a:spLocks noGrp="1"/>
          </p:cNvSpPr>
          <p:nvPr/>
        </p:nvSpPr>
        <p:spPr>
          <a:xfrm>
            <a:off x="10477500" y="664210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7" name="PV5 GroundWatch">
            <a:extLst>
              <a:ext uri="{FF2B5EF4-FFF2-40B4-BE49-F238E27FC236}">
                <a16:creationId xmlns:a16="http://schemas.microsoft.com/office/drawing/2014/main" id="{9971E4ED-EA59-4456-8D6B-86D91FC976B7}"/>
              </a:ext>
            </a:extLst>
          </p:cNvPr>
          <p:cNvSpPr>
            <a:spLocks noGrp="1"/>
          </p:cNvSpPr>
          <p:nvPr/>
        </p:nvSpPr>
        <p:spPr>
          <a:xfrm>
            <a:off x="533400" y="664210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9" name="위험구간 소규모 실증부터 시작합니다">
            <a:extLst>
              <a:ext uri="{FF2B5EF4-FFF2-40B4-BE49-F238E27FC236}">
                <a16:creationId xmlns:a16="http://schemas.microsoft.com/office/drawing/2014/main" id="{F01F3702-73FA-475E-BA87-BB6B1217786A}"/>
              </a:ext>
            </a:extLst>
          </p:cNvPr>
          <p:cNvSpPr>
            <a:spLocks noGrp="1"/>
          </p:cNvSpPr>
          <p:nvPr/>
        </p:nvSpPr>
        <p:spPr>
          <a:xfrm>
            <a:off x="520700" y="772160"/>
            <a:ext cx="1117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위험구간 소규모 실증부터 시작합니다</a:t>
            </a:r>
          </a:p>
        </p:txBody>
      </p:sp>
      <p:sp>
        <p:nvSpPr>
          <p:cNvPr id="20" name="조사기관·지자체와 실증 범위 협의">
            <a:extLst>
              <a:ext uri="{FF2B5EF4-FFF2-40B4-BE49-F238E27FC236}">
                <a16:creationId xmlns:a16="http://schemas.microsoft.com/office/drawing/2014/main" id="{4A323C9F-75C6-4823-9738-6D7446435165}"/>
              </a:ext>
            </a:extLst>
          </p:cNvPr>
          <p:cNvSpPr>
            <a:spLocks noGrp="1"/>
          </p:cNvSpPr>
          <p:nvPr/>
        </p:nvSpPr>
        <p:spPr>
          <a:xfrm>
            <a:off x="520700" y="1899920"/>
            <a:ext cx="5715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조사기관·지자체와 실증 범위 협의</a:t>
            </a:r>
          </a:p>
        </p:txBody>
      </p:sp>
      <p:sp>
        <p:nvSpPr>
          <p:cNvPr id="21" name="현장 검증">
            <a:extLst>
              <a:ext uri="{FF2B5EF4-FFF2-40B4-BE49-F238E27FC236}">
                <a16:creationId xmlns:a16="http://schemas.microsoft.com/office/drawing/2014/main" id="{E2B85C21-557E-4515-834A-1973922733A8}"/>
              </a:ext>
            </a:extLst>
          </p:cNvPr>
          <p:cNvSpPr>
            <a:spLocks noGrp="1"/>
          </p:cNvSpPr>
          <p:nvPr/>
        </p:nvSpPr>
        <p:spPr>
          <a:xfrm>
            <a:off x="520700" y="2395220"/>
            <a:ext cx="5715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 검증</a:t>
            </a:r>
          </a:p>
        </p:txBody>
      </p:sp>
      <p:sp>
        <p:nvSpPr>
          <p:cNvPr id="22" name="기존 탐사와 연결할 구간 선정&#10;실증 범위를 정">
            <a:extLst>
              <a:ext uri="{FF2B5EF4-FFF2-40B4-BE49-F238E27FC236}">
                <a16:creationId xmlns:a16="http://schemas.microsoft.com/office/drawing/2014/main" id="{52176DB1-3F3A-4BF4-B4D2-23E8EC91C301}"/>
              </a:ext>
            </a:extLst>
          </p:cNvPr>
          <p:cNvSpPr>
            <a:spLocks noGrp="1"/>
          </p:cNvSpPr>
          <p:nvPr/>
        </p:nvSpPr>
        <p:spPr>
          <a:xfrm>
            <a:off x="520700" y="3282950"/>
            <a:ext cx="5715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25000"/>
              </a:lnSpc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기존 탐사와 연결할 구간 선정</a:t>
            </a:r>
          </a:p>
          <a:p>
            <a:pPr algn="l">
              <a:lnSpc>
                <a:spcPct val="125000"/>
              </a:lnSpc>
              <a:buNone/>
              <a:def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7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실증 범위를 정한 뒤 예산 산정</a:t>
            </a:r>
          </a:p>
        </p:txBody>
      </p:sp>
      <p:sp>
        <p:nvSpPr>
          <p:cNvPr id="23" name="초기 · 협의 후 착수">
            <a:extLst>
              <a:ext uri="{FF2B5EF4-FFF2-40B4-BE49-F238E27FC236}">
                <a16:creationId xmlns:a16="http://schemas.microsoft.com/office/drawing/2014/main" id="{D784B310-E0D3-4CEC-9236-65EA0E5AA535}"/>
              </a:ext>
            </a:extLst>
          </p:cNvPr>
          <p:cNvSpPr>
            <a:spLocks noGrp="1"/>
          </p:cNvSpPr>
          <p:nvPr/>
        </p:nvSpPr>
        <p:spPr>
          <a:xfrm>
            <a:off x="6426200" y="1795780"/>
            <a:ext cx="527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초기 · 협의 후 착수</a:t>
            </a:r>
          </a:p>
        </p:txBody>
      </p:sp>
      <p:sp>
        <p:nvSpPr>
          <p:cNvPr id="24" name="차량 확보 협의·폐쇄 시험장 검증">
            <a:extLst>
              <a:ext uri="{FF2B5EF4-FFF2-40B4-BE49-F238E27FC236}">
                <a16:creationId xmlns:a16="http://schemas.microsoft.com/office/drawing/2014/main" id="{6A220E57-D81A-4480-91B2-2B7D165FFD78}"/>
              </a:ext>
            </a:extLst>
          </p:cNvPr>
          <p:cNvSpPr>
            <a:spLocks noGrp="1"/>
          </p:cNvSpPr>
          <p:nvPr/>
        </p:nvSpPr>
        <p:spPr>
          <a:xfrm>
            <a:off x="6426200" y="2171700"/>
            <a:ext cx="5270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차량 확보 협의·폐쇄 시험장 검증</a:t>
            </a:r>
          </a:p>
        </p:txBody>
      </p:sp>
      <p:sp>
        <p:nvSpPr>
          <p:cNvPr id="25" name="1~2년">
            <a:extLst>
              <a:ext uri="{FF2B5EF4-FFF2-40B4-BE49-F238E27FC236}">
                <a16:creationId xmlns:a16="http://schemas.microsoft.com/office/drawing/2014/main" id="{5F843CE0-5C77-4A4B-AFAF-BC99AE852094}"/>
              </a:ext>
            </a:extLst>
          </p:cNvPr>
          <p:cNvSpPr>
            <a:spLocks noGrp="1"/>
          </p:cNvSpPr>
          <p:nvPr/>
        </p:nvSpPr>
        <p:spPr>
          <a:xfrm>
            <a:off x="6426200" y="2532380"/>
            <a:ext cx="527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1~2년</a:t>
            </a:r>
          </a:p>
        </p:txBody>
      </p:sp>
      <p:sp>
        <p:nvSpPr>
          <p:cNvPr id="26" name="조사기관 협업·위험구간 제한 실증">
            <a:extLst>
              <a:ext uri="{FF2B5EF4-FFF2-40B4-BE49-F238E27FC236}">
                <a16:creationId xmlns:a16="http://schemas.microsoft.com/office/drawing/2014/main" id="{1684F1AB-6A2A-436E-AF8F-B4A2197FCB1D}"/>
              </a:ext>
            </a:extLst>
          </p:cNvPr>
          <p:cNvSpPr>
            <a:spLocks noGrp="1"/>
          </p:cNvSpPr>
          <p:nvPr/>
        </p:nvSpPr>
        <p:spPr>
          <a:xfrm>
            <a:off x="6426200" y="2908300"/>
            <a:ext cx="5270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조사기관 협업·위험구간 제한 실증</a:t>
            </a:r>
          </a:p>
        </p:txBody>
      </p:sp>
      <p:sp>
        <p:nvSpPr>
          <p:cNvPr id="27" name="2~3년">
            <a:extLst>
              <a:ext uri="{FF2B5EF4-FFF2-40B4-BE49-F238E27FC236}">
                <a16:creationId xmlns:a16="http://schemas.microsoft.com/office/drawing/2014/main" id="{26BEF421-9A60-466D-B50D-7BC3A09097E7}"/>
              </a:ext>
            </a:extLst>
          </p:cNvPr>
          <p:cNvSpPr>
            <a:spLocks noGrp="1"/>
          </p:cNvSpPr>
          <p:nvPr/>
        </p:nvSpPr>
        <p:spPr>
          <a:xfrm>
            <a:off x="6426200" y="3281680"/>
            <a:ext cx="527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2~3년</a:t>
            </a:r>
          </a:p>
        </p:txBody>
      </p:sp>
      <p:sp>
        <p:nvSpPr>
          <p:cNvPr id="28" name="기술 지표 통과 후 조달·계약 검토">
            <a:extLst>
              <a:ext uri="{FF2B5EF4-FFF2-40B4-BE49-F238E27FC236}">
                <a16:creationId xmlns:a16="http://schemas.microsoft.com/office/drawing/2014/main" id="{47C7A60B-5ACB-46AB-8CF0-193974BED912}"/>
              </a:ext>
            </a:extLst>
          </p:cNvPr>
          <p:cNvSpPr>
            <a:spLocks noGrp="1"/>
          </p:cNvSpPr>
          <p:nvPr/>
        </p:nvSpPr>
        <p:spPr>
          <a:xfrm>
            <a:off x="6426200" y="3657600"/>
            <a:ext cx="5270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기술 지표 통과 후 조달·계약 검토</a:t>
            </a:r>
          </a:p>
        </p:txBody>
      </p:sp>
      <p:sp>
        <p:nvSpPr>
          <p:cNvPr id="29" name="3년 이후">
            <a:extLst>
              <a:ext uri="{FF2B5EF4-FFF2-40B4-BE49-F238E27FC236}">
                <a16:creationId xmlns:a16="http://schemas.microsoft.com/office/drawing/2014/main" id="{B1EA07E8-BFD3-4A6F-8DFD-DF86DBE4C429}"/>
              </a:ext>
            </a:extLst>
          </p:cNvPr>
          <p:cNvSpPr>
            <a:spLocks noGrp="1"/>
          </p:cNvSpPr>
          <p:nvPr/>
        </p:nvSpPr>
        <p:spPr>
          <a:xfrm>
            <a:off x="6426200" y="4018280"/>
            <a:ext cx="5270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3년 이후</a:t>
            </a:r>
          </a:p>
        </p:txBody>
      </p:sp>
      <p:sp>
        <p:nvSpPr>
          <p:cNvPr id="30" name="운영성과 확인 후 권역 확대 검토">
            <a:extLst>
              <a:ext uri="{FF2B5EF4-FFF2-40B4-BE49-F238E27FC236}">
                <a16:creationId xmlns:a16="http://schemas.microsoft.com/office/drawing/2014/main" id="{5494B584-94B1-4AC9-95D9-6A6274CEFD87}"/>
              </a:ext>
            </a:extLst>
          </p:cNvPr>
          <p:cNvSpPr>
            <a:spLocks noGrp="1"/>
          </p:cNvSpPr>
          <p:nvPr/>
        </p:nvSpPr>
        <p:spPr>
          <a:xfrm>
            <a:off x="6426200" y="4394200"/>
            <a:ext cx="5270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운영성과 확인 후 권역 확대 검토</a:t>
            </a:r>
          </a:p>
        </p:txBody>
      </p:sp>
      <p:sp>
        <p:nvSpPr>
          <p:cNvPr id="31" name="차량·협력기관·예산은 협의가 필요합니다. 일정">
            <a:extLst>
              <a:ext uri="{FF2B5EF4-FFF2-40B4-BE49-F238E27FC236}">
                <a16:creationId xmlns:a16="http://schemas.microsoft.com/office/drawing/2014/main" id="{108B163C-B944-457C-929E-C82714C10BED}"/>
              </a:ext>
            </a:extLst>
          </p:cNvPr>
          <p:cNvSpPr>
            <a:spLocks noGrp="1"/>
          </p:cNvSpPr>
          <p:nvPr/>
        </p:nvSpPr>
        <p:spPr>
          <a:xfrm>
            <a:off x="711200" y="5225098"/>
            <a:ext cx="11049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차량·협력기관·예산은 협의가 필요합니다. 일정은 목표입니다.</a:t>
            </a:r>
          </a:p>
        </p:txBody>
      </p:sp>
      <p:sp>
        <p:nvSpPr>
          <p:cNvPr id="32" name="출처: 공모전 일반 부문 PoC·실물 대여 검">
            <a:extLst>
              <a:ext uri="{FF2B5EF4-FFF2-40B4-BE49-F238E27FC236}">
                <a16:creationId xmlns:a16="http://schemas.microsoft.com/office/drawing/2014/main" id="{30F70797-D908-4393-87E6-7508BD7DCF27}"/>
              </a:ext>
            </a:extLst>
          </p:cNvPr>
          <p:cNvSpPr>
            <a:spLocks noGrp="1"/>
          </p:cNvSpPr>
          <p:nvPr/>
        </p:nvSpPr>
        <p:spPr>
          <a:xfrm>
            <a:off x="533400" y="6210300"/>
            <a:ext cx="1117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출처: 공모전 일반 부문 PoC·실물 대여 검토 안내 · 도입 일정은 제안 목표</a:t>
            </a:r>
          </a:p>
          <a:p>
            <a:pPr algn="l">
              <a:lnSpc>
                <a:spcPct val="100000"/>
              </a:lnSpc>
              <a:buNone/>
              <a:def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8E9AAB"/>
                </a:solidFill>
                <a:latin typeface="Pretendard"/>
                <a:ea typeface="Pretendard"/>
                <a:cs typeface="Pretendard"/>
              </a:rPr>
              <a:t>발주 예산과 제안 업무 범위의 적합성은 원공고·발주기관 협의 후 확인합니다.</a:t>
            </a:r>
          </a:p>
        </p:txBody>
      </p:sp>
      <p:sp>
        <p:nvSpPr>
          <p:cNvPr id="33" name="현재 슬라이드 번호">
            <a:extLst>
              <a:ext uri="{FF2B5EF4-FFF2-40B4-BE49-F238E27FC236}">
                <a16:creationId xmlns:a16="http://schemas.microsoft.com/office/drawing/2014/main" id="{C8438584-6C9F-43F9-9A20-9EFE181E001A}"/>
              </a:ext>
            </a:extLst>
          </p:cNvPr>
          <p:cNvSpPr>
            <a:spLocks noGrp="1"/>
          </p:cNvSpPr>
          <p:nvPr/>
        </p:nvSpPr>
        <p:spPr>
          <a:xfrm>
            <a:off x="10477500" y="6621780"/>
            <a:ext cx="17145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17 / 18</a:t>
            </a:r>
          </a:p>
        </p:txBody>
      </p:sp>
      <p:sp>
        <p:nvSpPr>
          <p:cNvPr id="34" name="PV5 GroundWatch">
            <a:extLst>
              <a:ext uri="{FF2B5EF4-FFF2-40B4-BE49-F238E27FC236}">
                <a16:creationId xmlns:a16="http://schemas.microsoft.com/office/drawing/2014/main" id="{54BCDF8F-D608-41C7-9A10-C6CCD3CFC0A6}"/>
              </a:ext>
            </a:extLst>
          </p:cNvPr>
          <p:cNvSpPr>
            <a:spLocks noGrp="1"/>
          </p:cNvSpPr>
          <p:nvPr/>
        </p:nvSpPr>
        <p:spPr>
          <a:xfrm>
            <a:off x="533400" y="6621780"/>
            <a:ext cx="330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lnSpc>
                <a:spcPct val="100000"/>
              </a:lnSpc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</p:spTree>
    <p:extLst>
      <p:ext uri="{BB962C8B-B14F-4D97-AF65-F5344CB8AC3E}">
        <p14:creationId xmlns:p14="http://schemas.microsoft.com/office/powerpoint/2010/main" val="2073742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0CF922-B659-4F85-96CD-C2095C042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현재 슬라이드 번호">
            <a:extLst>
              <a:ext uri="{FF2B5EF4-FFF2-40B4-BE49-F238E27FC236}">
                <a16:creationId xmlns:a16="http://schemas.microsoft.com/office/drawing/2014/main" id="{46EEB07E-CF99-47E6-9088-09D2D18D5D62}"/>
              </a:ext>
            </a:extLst>
          </p:cNvPr>
          <p:cNvSpPr>
            <a:spLocks noGrp="1"/>
          </p:cNvSpPr>
          <p:nvPr/>
        </p:nvSpPr>
        <p:spPr>
          <a:xfrm>
            <a:off x="9017000" y="6540500"/>
            <a:ext cx="2667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defPPr>
            <a:lvl1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1pPr>
            <a:lvl2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2pPr>
            <a:lvl3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3pPr>
            <a:lvl4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4pPr>
            <a:lvl5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5pPr>
            <a:lvl6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6pPr>
            <a:lvl7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7pPr>
            <a:lvl8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8pPr>
            <a:lvl9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algn="l">
              <a:buNone/>
              <a:def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defRPr>
            </a:pPr>
            <a:r>
              <a:rPr sz="800" b="0">
                <a:solidFill>
                  <a:srgbClr val="B7C4D5"/>
                </a:solidFill>
                <a:latin typeface="Pretendard"/>
                <a:ea typeface="Pretendard"/>
                <a:cs typeface="Pretendard"/>
              </a:rPr>
              <a:t>콘셉트 이미지 · 18 / 18</a:t>
            </a:r>
          </a:p>
        </p:txBody>
      </p:sp>
    </p:spTree>
    <p:extLst>
      <p:ext uri="{BB962C8B-B14F-4D97-AF65-F5344CB8AC3E}">
        <p14:creationId xmlns:p14="http://schemas.microsoft.com/office/powerpoint/2010/main" val="550154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deck_v5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8379</Words>
  <Application>Microsoft Macintosh PowerPoint</Application>
  <DocSecurity>0</DocSecurity>
  <PresentationFormat>와이드스크린</PresentationFormat>
  <Paragraphs>496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0" baseType="lpstr">
      <vt:lpstr>Pretendard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장준혁</cp:lastModifiedBy>
  <cp:revision>1</cp:revision>
  <dcterms:created xsi:type="dcterms:W3CDTF">2026-10-27T05:17:53Z</dcterms:created>
  <dcterms:modified xsi:type="dcterms:W3CDTF">2026-10-27T05:20:18Z</dcterms:modified>
</cp:coreProperties>
</file>