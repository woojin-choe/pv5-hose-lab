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a539d6e6124a80" /><Relationship Type="http://schemas.openxmlformats.org/officeDocument/2006/relationships/extended-properties" Target="/docProps/app.xml" Id="R09b68fc2a4cc4c95" /><Relationship Type="http://schemas.openxmlformats.org/officeDocument/2006/relationships/officeDocument" Target="/ppt/presentation.xml" Id="R3fe0b5010f6d45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a020488d2444b4"/>
  </p:sldMasterIdLst>
  <p:notesMasterIdLst>
    <p:notesMasterId xmlns:r="http://schemas.openxmlformats.org/officeDocument/2006/relationships" r:id="R4b782bc3313b4d23"/>
  </p:notesMasterIdLst>
  <p:sldIdLst>
    <p:sldId xmlns:r="http://schemas.openxmlformats.org/officeDocument/2006/relationships" id="256" r:id="Ra1096208315a4fdd"/>
    <p:sldId xmlns:r="http://schemas.openxmlformats.org/officeDocument/2006/relationships" id="257" r:id="Rc76cba4b08bc4b3a"/>
    <p:sldId xmlns:r="http://schemas.openxmlformats.org/officeDocument/2006/relationships" id="258" r:id="R53e9d8ff547b4c8b"/>
    <p:sldId xmlns:r="http://schemas.openxmlformats.org/officeDocument/2006/relationships" id="259" r:id="Rcb345358a318482c"/>
    <p:sldId xmlns:r="http://schemas.openxmlformats.org/officeDocument/2006/relationships" id="260" r:id="R0ed7baf85c1641ce"/>
    <p:sldId xmlns:r="http://schemas.openxmlformats.org/officeDocument/2006/relationships" id="261" r:id="R2db0aa9bc5db46bd"/>
    <p:sldId xmlns:r="http://schemas.openxmlformats.org/officeDocument/2006/relationships" id="262" r:id="R7481f8095f214e82"/>
    <p:sldId xmlns:r="http://schemas.openxmlformats.org/officeDocument/2006/relationships" id="263" r:id="R41c3e6a95d2a4272"/>
    <p:sldId xmlns:r="http://schemas.openxmlformats.org/officeDocument/2006/relationships" id="264" r:id="Rf49d1fa216fe4180"/>
    <p:sldId xmlns:r="http://schemas.openxmlformats.org/officeDocument/2006/relationships" id="265" r:id="R284da8d370584886"/>
    <p:sldId xmlns:r="http://schemas.openxmlformats.org/officeDocument/2006/relationships" id="266" r:id="R755f110c81994e7d"/>
    <p:sldId xmlns:r="http://schemas.openxmlformats.org/officeDocument/2006/relationships" id="267" r:id="R2e90442f64e140d3"/>
    <p:sldId xmlns:r="http://schemas.openxmlformats.org/officeDocument/2006/relationships" id="268" r:id="R3a1ae4303ed84312"/>
    <p:sldId xmlns:r="http://schemas.openxmlformats.org/officeDocument/2006/relationships" id="269" r:id="R5be0e81e5018493f"/>
    <p:sldId xmlns:r="http://schemas.openxmlformats.org/officeDocument/2006/relationships" id="270" r:id="R1b1a9f6e9dd94eee"/>
    <p:sldId xmlns:r="http://schemas.openxmlformats.org/officeDocument/2006/relationships" id="271" r:id="R1cc43d20cffc4c79"/>
    <p:sldId xmlns:r="http://schemas.openxmlformats.org/officeDocument/2006/relationships" id="272" r:id="R4519eb31be1947ce"/>
    <p:sldId xmlns:r="http://schemas.openxmlformats.org/officeDocument/2006/relationships" id="273" r:id="Rb62f5fe6d4d144c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b62713d8b94acb" /><Relationship Type="http://schemas.openxmlformats.org/officeDocument/2006/relationships/slideMaster" Target="/ppt/slideMasters/slideMaster1.xml" Id="Rc7a020488d2444b4" /><Relationship Type="http://schemas.openxmlformats.org/officeDocument/2006/relationships/notesMaster" Target="/ppt/notesMasters/notesMaster1.xml" Id="R4b782bc3313b4d23" /><Relationship Type="http://schemas.openxmlformats.org/officeDocument/2006/relationships/presProps" Target="/ppt/presProps.xml" Id="Rb6761d813f0a4202" /><Relationship Type="http://schemas.openxmlformats.org/officeDocument/2006/relationships/tableStyles" Target="/ppt/tableStyles.xml" Id="Reb9817c513aa4876" /><Relationship Type="http://schemas.openxmlformats.org/officeDocument/2006/relationships/slide" Target="/ppt/slides/slide1.xml" Id="Ra1096208315a4fdd" /><Relationship Type="http://schemas.openxmlformats.org/officeDocument/2006/relationships/slide" Target="/ppt/slides/slide2.xml" Id="Rc76cba4b08bc4b3a" /><Relationship Type="http://schemas.openxmlformats.org/officeDocument/2006/relationships/slide" Target="/ppt/slides/slide3.xml" Id="R53e9d8ff547b4c8b" /><Relationship Type="http://schemas.openxmlformats.org/officeDocument/2006/relationships/slide" Target="/ppt/slides/slide4.xml" Id="Rcb345358a318482c" /><Relationship Type="http://schemas.openxmlformats.org/officeDocument/2006/relationships/slide" Target="/ppt/slides/slide5.xml" Id="R0ed7baf85c1641ce" /><Relationship Type="http://schemas.openxmlformats.org/officeDocument/2006/relationships/slide" Target="/ppt/slides/slide6.xml" Id="R2db0aa9bc5db46bd" /><Relationship Type="http://schemas.openxmlformats.org/officeDocument/2006/relationships/slide" Target="/ppt/slides/slide7.xml" Id="R7481f8095f214e82" /><Relationship Type="http://schemas.openxmlformats.org/officeDocument/2006/relationships/slide" Target="/ppt/slides/slide8.xml" Id="R41c3e6a95d2a4272" /><Relationship Type="http://schemas.openxmlformats.org/officeDocument/2006/relationships/slide" Target="/ppt/slides/slide9.xml" Id="Rf49d1fa216fe4180" /><Relationship Type="http://schemas.openxmlformats.org/officeDocument/2006/relationships/slide" Target="/ppt/slides/slide10.xml" Id="R284da8d370584886" /><Relationship Type="http://schemas.openxmlformats.org/officeDocument/2006/relationships/slide" Target="/ppt/slides/slide11.xml" Id="R755f110c81994e7d" /><Relationship Type="http://schemas.openxmlformats.org/officeDocument/2006/relationships/slide" Target="/ppt/slides/slide12.xml" Id="R2e90442f64e140d3" /><Relationship Type="http://schemas.openxmlformats.org/officeDocument/2006/relationships/slide" Target="/ppt/slides/slide13.xml" Id="R3a1ae4303ed84312" /><Relationship Type="http://schemas.openxmlformats.org/officeDocument/2006/relationships/slide" Target="/ppt/slides/slide14.xml" Id="R5be0e81e5018493f" /><Relationship Type="http://schemas.openxmlformats.org/officeDocument/2006/relationships/slide" Target="/ppt/slides/slide15.xml" Id="R1b1a9f6e9dd94eee" /><Relationship Type="http://schemas.openxmlformats.org/officeDocument/2006/relationships/slide" Target="/ppt/slides/slide16.xml" Id="R1cc43d20cffc4c79" /><Relationship Type="http://schemas.openxmlformats.org/officeDocument/2006/relationships/slide" Target="/ppt/slides/slide17.xml" Id="R4519eb31be1947ce" /><Relationship Type="http://schemas.openxmlformats.org/officeDocument/2006/relationships/slide" Target="/ppt/slides/slide18.xml" Id="Rb62f5fe6d4d144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8474af0c0c4b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aa4326de024a97" /><Relationship Type="http://schemas.openxmlformats.org/officeDocument/2006/relationships/notesMaster" Target="/ppt/notesMasters/notesMaster1.xml" Id="R44f6b26de9b543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230e290ab841c0" /><Relationship Type="http://schemas.openxmlformats.org/officeDocument/2006/relationships/notesMaster" Target="/ppt/notesMasters/notesMaster1.xml" Id="R24c2a317569644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0e4d863d0244f0" /><Relationship Type="http://schemas.openxmlformats.org/officeDocument/2006/relationships/notesMaster" Target="/ppt/notesMasters/notesMaster1.xml" Id="R17d3a6b3ed794e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8ea80d5218485a" /><Relationship Type="http://schemas.openxmlformats.org/officeDocument/2006/relationships/notesMaster" Target="/ppt/notesMasters/notesMaster1.xml" Id="Ree0388ac05fe4d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8cd0ccd043487e" /><Relationship Type="http://schemas.openxmlformats.org/officeDocument/2006/relationships/notesMaster" Target="/ppt/notesMasters/notesMaster1.xml" Id="Rc4ee82d7a37c44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334810c9a54bf0" /><Relationship Type="http://schemas.openxmlformats.org/officeDocument/2006/relationships/notesMaster" Target="/ppt/notesMasters/notesMaster1.xml" Id="R67e2691ddb8849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4bb8ee96f243d3" /><Relationship Type="http://schemas.openxmlformats.org/officeDocument/2006/relationships/notesMaster" Target="/ppt/notesMasters/notesMaster1.xml" Id="R08942b63ca3648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1ec9cb7ad84646" /><Relationship Type="http://schemas.openxmlformats.org/officeDocument/2006/relationships/notesMaster" Target="/ppt/notesMasters/notesMaster1.xml" Id="Ra6c2cf207b8445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ba06837b3f468d" /><Relationship Type="http://schemas.openxmlformats.org/officeDocument/2006/relationships/notesMaster" Target="/ppt/notesMasters/notesMaster1.xml" Id="R94e84892d9c24c5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f223d9ac3434fe8" /><Relationship Type="http://schemas.openxmlformats.org/officeDocument/2006/relationships/notesMaster" Target="/ppt/notesMasters/notesMaster1.xml" Id="Rdced4948544146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b8ac2975464755" /><Relationship Type="http://schemas.openxmlformats.org/officeDocument/2006/relationships/notesMaster" Target="/ppt/notesMasters/notesMaster1.xml" Id="Rd4bf4fd05ec243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7d09e69c5c4dc9" /><Relationship Type="http://schemas.openxmlformats.org/officeDocument/2006/relationships/notesMaster" Target="/ppt/notesMasters/notesMaster1.xml" Id="R73b174a8545b4e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4a2d6b475584355" /><Relationship Type="http://schemas.openxmlformats.org/officeDocument/2006/relationships/notesMaster" Target="/ppt/notesMasters/notesMaster1.xml" Id="R63a438098108459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600a048988041ae" /><Relationship Type="http://schemas.openxmlformats.org/officeDocument/2006/relationships/notesMaster" Target="/ppt/notesMasters/notesMaster1.xml" Id="Re4d9b33a8c0a4e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fca4f2d4e449fb" /><Relationship Type="http://schemas.openxmlformats.org/officeDocument/2006/relationships/notesMaster" Target="/ppt/notesMasters/notesMaster1.xml" Id="R3c6e1344f083468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557c06b88c941d6" /><Relationship Type="http://schemas.openxmlformats.org/officeDocument/2006/relationships/notesMaster" Target="/ppt/notesMasters/notesMaster1.xml" Id="R2f4e5b1263874d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8ebe920bf6e4af1" /><Relationship Type="http://schemas.openxmlformats.org/officeDocument/2006/relationships/notesMaster" Target="/ppt/notesMasters/notesMaster1.xml" Id="Rc3fadd371b99484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d81e653874b4e84" /><Relationship Type="http://schemas.openxmlformats.org/officeDocument/2006/relationships/notesMaster" Target="/ppt/notesMasters/notesMaster1.xml" Id="R5e2d84d7bb9b48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1장 / 원본 PDF 1장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2장 / 원본 PDF 8장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2장 / 원본 PDF 8장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2장 / 원본 PDF 8장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3장 / 원본 PDF 2장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3장 / 원본 PDF 2장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4장 / 원본 PDF 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4장 / 원본 PDF 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5장 / 원본 PDF 4장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5장 / 원본 PDF 4장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6장 / 원본 PDF 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6장 / 원본 PDF 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7장 / 원본 PDF 7장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7장 / 원본 PDF 7장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8장 / 원본 PDF 9장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8장 / 원본 PDF 9장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8장 / 원본 PDF 9장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9장 / 원본 PDF 10장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시뮬레이션 원본 미제공. 18→20cm와 10cm 성장의 실험 조건 불일치. 2.4배의 분모·오탐 요인 목록·반복 횟수·코드·데이터를 확인해야 합니다. 그림은 검증되지 않은 설명용 결과입니다.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9장 / 원본 PDF 10장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시뮬레이션 원본 미제공. 18→20cm와 10cm 성장의 실험 조건 불일치. 2.4배의 분모·오탐 요인 목록·반복 횟수·코드·데이터를 확인해야 합니다. 그림은 검증되지 않은 설명용 결과입니다.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9장 / 원본 PDF 10장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시뮬레이션 원본 미제공. 18→20cm와 10cm 성장의 실험 조건 불일치. 2.4배의 분모·오탐 요인 목록·반복 횟수·코드·데이터를 확인해야 합니다. 그림은 검증되지 않은 설명용 결과입니다.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10장 / 원본 PDF 11장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10장 / 원본 PDF 11장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제안 업무 절차: AI 후보 선별, 조사 전문가의 원시자료·측정조건 검토, 승인 지점 재측정, 도로관리기관 전달 및 정밀조사·안전조치 판단 요청, 관계기관 승인·안전조치 후 정밀조사·보수, 결과 기록과 다음 회차 반영. 기관별 권한·책임은 협의 필요. 기록: 지점ID·위치·측정일·검토상태·현장확인결과·후속조치상태. AR은 보조 안내.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10장 / 원본 PDF 11장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제안 업무 절차: AI 후보 선별, 조사 전문가의 원시자료·측정조건 검토, 승인 지점 재측정, 도로관리기관 전달 및 정밀조사·안전조치 판단 요청, 관계기관 승인·안전조치 후 정밀조사·보수, 결과 기록과 다음 회차 반영. 기관별 권한·책임은 협의 필요. 기록: 지점ID·위치·측정일·검토상태·현장확인결과·후속조치상태. AR은 보조 안내.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11장 / 원본 PDF 12장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11장 / 원본 PDF 12장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12장 / 원본 PDF 13장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12장 / 원본 PDF 13장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12장 / 원본 PDF 13장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13장 / 원본 PDF 14장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13장 / 원본 PDF 14장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14장 / 원본 PDF 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14장 / 원본 PDF 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15장 / 원본 PDF 15장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15장 / 원본 PDF 15장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본문에서 제거한 미확인 조건부 산술: 약4.7만원/km, 연6회 약28.1만원/km·년. 인력·장비·판독·데이터관리 비용 구성 및 후속조치 포함 여부 미확인. 실측 후 산정 전에는 고객 가격·절감률·확정 원가로 제시하지 않음. 기존 막대 도형은 금액·비율이 없는 비용 항목 구분용으로 재사용.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15장 / 원본 PDF 15장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본문에서 제거한 미확인 조건부 산술: 약4.7만원/km, 연6회 약28.1만원/km·년. 인력·장비·판독·데이터관리 비용 구성 및 후속조치 포함 여부 미확인. 실측 후 산정 전에는 고객 가격·절감률·확정 원가로 제시하지 않음. 기존 막대 도형은 금액·비율이 없는 비용 항목 구분용으로 재사용.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16장 / 원본 PDF 16장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도로96,712km와 탐사km는 단위가 달라 현 상태에서 실제 차량 대수를 추정할 수 없음. 단순 시나리오: 96,712/(6,600/6)=87.92대, 올림88대. 88×45,200,000원=3,977,600,000원(39.776억원). 차량단가·도로연장 원출처 미확인. 차로수·탐사폭·회송·정비·가동률 반영 전. 특장·센서·소프트웨어 매출과 구분.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16장 / 원본 PDF 16장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도로96,712km와 탐사km는 단위가 달라 현 상태에서 실제 차량 대수를 추정할 수 없음. 단순 시나리오: 96,712/(6,600/6)=87.92대, 올림88대. 88×45,200,000원=3,977,600,000원(39.776억원). 차량단가·도로연장 원출처 미확인. 차로수·탐사폭·회송·정비·가동률 반영 전. 특장·센서·소프트웨어 매출과 구분.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본문에서 제거한 미확인 조건부 산술: 88대·약39.8억원. 실제 수요·필요 대수·계약·매출 근거가 아니며 현장 실증 및 도로km/탐사km 환산 검토 전 시장규모로 사용하지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16장 / 원본 PDF 16장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도로96,712km와 탐사km는 단위가 달라 현 상태에서 실제 차량 대수를 추정할 수 없음. 단순 시나리오: 96,712/(6,600/6)=87.92대, 올림88대. 88×45,200,000원=3,977,600,000원(39.776억원). 차량단가·도로연장 원출처 미확인. 차로수·탐사폭·회송·정비·가동률 반영 전. 특장·센서·소프트웨어 매출과 구분.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본문에서 제거한 미확인 조건부 산술: 88대·약39.8억원. 실제 수요·필요 대수·계약·매출 근거가 아니며 현장 실증 및 도로km/탐사km 환산 검토 전 시장규모로 사용하지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17장 / 원본 PDF 17장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17장 / 원본 PDF 17장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18장 / 원본 PDF 18장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c9dc8d8ccc450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ad3d339ff6430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aee4f1c9944c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35e9eb399a46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fb2bba74bb451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023bd9af0742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62091F-9635-4CAA-ACC0-336ADE8B9B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CCEB71D-A664-40A6-85DC-4FB3DA8C1E7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BF41AC6-6442-4D93-8DF2-1FF8652618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827145-0E5C-4E3A-99F6-48FD93C4E7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C0B259E-D253-4D7D-B156-0A63ACE6E1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02A16E0-6A40-42DE-8C2B-B5276FD2C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866976C-3BD8-434E-86C9-10E72226EA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77938CD-82D1-443B-81F1-198E15F8335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710E54-C519-44BF-8E8F-119838A48E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1F0AC2B-4B1E-441A-8602-B54448D568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0ca24633eb46ea" /><Relationship Type="http://schemas.openxmlformats.org/officeDocument/2006/relationships/slideLayout" Target="/ppt/slideLayouts/slideLayout1.xml" Id="Rafb13801acea4520" /><Relationship Type="http://schemas.openxmlformats.org/officeDocument/2006/relationships/slideLayout" Target="/ppt/slideLayouts/slideLayout2.xml" Id="R1f2f547d52f14abb" /><Relationship Type="http://schemas.openxmlformats.org/officeDocument/2006/relationships/slideLayout" Target="/ppt/slideLayouts/slideLayout3.xml" Id="Rd12b1051527c4823" /><Relationship Type="http://schemas.openxmlformats.org/officeDocument/2006/relationships/slideLayout" Target="/ppt/slideLayouts/slideLayout4.xml" Id="Rabfaf338de254894" /><Relationship Type="http://schemas.openxmlformats.org/officeDocument/2006/relationships/slideLayout" Target="/ppt/slideLayouts/slideLayout5.xml" Id="Rd99e2643b72f414f" /><Relationship Type="http://schemas.openxmlformats.org/officeDocument/2006/relationships/slideLayout" Target="/ppt/slideLayouts/slideLayout6.xml" Id="R14b7e9d5898147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b13801acea4520"/>
    <p:sldLayoutId xmlns:r="http://schemas.openxmlformats.org/officeDocument/2006/relationships" id="2147483650" r:id="R1f2f547d52f14abb"/>
    <p:sldLayoutId xmlns:r="http://schemas.openxmlformats.org/officeDocument/2006/relationships" id="2147483651" r:id="Rd12b1051527c4823"/>
    <p:sldLayoutId xmlns:r="http://schemas.openxmlformats.org/officeDocument/2006/relationships" id="2147483652" r:id="Rabfaf338de254894"/>
    <p:sldLayoutId xmlns:r="http://schemas.openxmlformats.org/officeDocument/2006/relationships" id="2147483653" r:id="Rd99e2643b72f414f"/>
    <p:sldLayoutId xmlns:r="http://schemas.openxmlformats.org/officeDocument/2006/relationships" id="2147483654" r:id="R14b7e9d5898147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6bd0bfeb854d37" /><Relationship Type="http://schemas.openxmlformats.org/officeDocument/2006/relationships/image" Target="/ppt/media/image.png" Id="R14cc9c399c5a49a6" /><Relationship Type="http://schemas.openxmlformats.org/officeDocument/2006/relationships/notesSlide" Target="/ppt/notesSlides/notesSlide1.xml" Id="Rfb6d02f0498d4f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4dff5e7a4e4c1c" /><Relationship Type="http://schemas.openxmlformats.org/officeDocument/2006/relationships/image" Target="/ppt/media/image2.png" Id="Rc3c97148ece5467b" /><Relationship Type="http://schemas.openxmlformats.org/officeDocument/2006/relationships/notesSlide" Target="/ppt/notesSlides/notesSlide2.xml" Id="Ra8cfc3282ab747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986b1a228b4e25" /><Relationship Type="http://schemas.openxmlformats.org/officeDocument/2006/relationships/image" Target="/ppt/media/image3.png" Id="R8c111ac76e5648d4" /><Relationship Type="http://schemas.openxmlformats.org/officeDocument/2006/relationships/notesSlide" Target="/ppt/notesSlides/notesSlide3.xml" Id="Rd9b6e1a3dba64e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6b49685a3b462a" /><Relationship Type="http://schemas.openxmlformats.org/officeDocument/2006/relationships/image" Target="/ppt/media/image4.png" Id="Rf6f50ddff52f4cc9" /><Relationship Type="http://schemas.openxmlformats.org/officeDocument/2006/relationships/notesSlide" Target="/ppt/notesSlides/notesSlide4.xml" Id="R74f4f14aceba45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46087391c143b6" /><Relationship Type="http://schemas.openxmlformats.org/officeDocument/2006/relationships/image" Target="/ppt/media/image5.png" Id="R938715dd796647c5" /><Relationship Type="http://schemas.openxmlformats.org/officeDocument/2006/relationships/notesSlide" Target="/ppt/notesSlides/notesSlide5.xml" Id="Ra594e3c3f01e40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31b8fc07084a62" /><Relationship Type="http://schemas.openxmlformats.org/officeDocument/2006/relationships/image" Target="/ppt/media/image6.png" Id="Rb6d5f5e9445b4949" /><Relationship Type="http://schemas.openxmlformats.org/officeDocument/2006/relationships/notesSlide" Target="/ppt/notesSlides/notesSlide6.xml" Id="R4d0c052ae1564b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0b0d06c5cf420d" /><Relationship Type="http://schemas.openxmlformats.org/officeDocument/2006/relationships/image" Target="/ppt/media/image7.png" Id="R1a6a4062545f4bb3" /><Relationship Type="http://schemas.openxmlformats.org/officeDocument/2006/relationships/notesSlide" Target="/ppt/notesSlides/notesSlide7.xml" Id="Rcc8fdc9bde554e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4f2be2974f4952" /><Relationship Type="http://schemas.openxmlformats.org/officeDocument/2006/relationships/image" Target="/ppt/media/image8.png" Id="R310a33b09c5248be" /><Relationship Type="http://schemas.openxmlformats.org/officeDocument/2006/relationships/notesSlide" Target="/ppt/notesSlides/notesSlide8.xml" Id="R7ef4ac3853b846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8ca79be0c1476e" /><Relationship Type="http://schemas.openxmlformats.org/officeDocument/2006/relationships/image" Target="/ppt/media/image9.png" Id="R5762c90ca5664d72" /><Relationship Type="http://schemas.openxmlformats.org/officeDocument/2006/relationships/notesSlide" Target="/ppt/notesSlides/notesSlide9.xml" Id="R58edc252d1934d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25145616104bcf" /><Relationship Type="http://schemas.openxmlformats.org/officeDocument/2006/relationships/image" Target="/ppt/media/image10.png" Id="R435d1dc0e9784faf" /><Relationship Type="http://schemas.openxmlformats.org/officeDocument/2006/relationships/notesSlide" Target="/ppt/notesSlides/notesSlide10.xml" Id="R28d285f1b4104d7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9359eb36b0482f" /><Relationship Type="http://schemas.openxmlformats.org/officeDocument/2006/relationships/image" Target="/ppt/media/image11.png" Id="R1794d7f187b643d7" /><Relationship Type="http://schemas.openxmlformats.org/officeDocument/2006/relationships/notesSlide" Target="/ppt/notesSlides/notesSlide11.xml" Id="R09c1fad8e2614d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1e9e68b4f84c11" /><Relationship Type="http://schemas.openxmlformats.org/officeDocument/2006/relationships/image" Target="/ppt/media/image12.png" Id="R29a263731b63429c" /><Relationship Type="http://schemas.openxmlformats.org/officeDocument/2006/relationships/notesSlide" Target="/ppt/notesSlides/notesSlide12.xml" Id="R8e3f6f22e6f74a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4e48241eab4e63" /><Relationship Type="http://schemas.openxmlformats.org/officeDocument/2006/relationships/image" Target="/ppt/media/image13.png" Id="Rda7d533b25074d26" /><Relationship Type="http://schemas.openxmlformats.org/officeDocument/2006/relationships/notesSlide" Target="/ppt/notesSlides/notesSlide13.xml" Id="Ra97b3fc3c6004dc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667661c10f49ef" /><Relationship Type="http://schemas.openxmlformats.org/officeDocument/2006/relationships/image" Target="/ppt/media/image14.png" Id="R8f7426ecf6d64945" /><Relationship Type="http://schemas.openxmlformats.org/officeDocument/2006/relationships/notesSlide" Target="/ppt/notesSlides/notesSlide14.xml" Id="Rbfb42bc008a24ee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ecfff9f9274a6a" /><Relationship Type="http://schemas.openxmlformats.org/officeDocument/2006/relationships/image" Target="/ppt/media/image15.png" Id="R685a8a1163414518" /><Relationship Type="http://schemas.openxmlformats.org/officeDocument/2006/relationships/notesSlide" Target="/ppt/notesSlides/notesSlide15.xml" Id="Rcac3e1b7b78b4ca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f4e26e390d4125" /><Relationship Type="http://schemas.openxmlformats.org/officeDocument/2006/relationships/image" Target="/ppt/media/image16.png" Id="Ra5d8f4516e81428b" /><Relationship Type="http://schemas.openxmlformats.org/officeDocument/2006/relationships/notesSlide" Target="/ppt/notesSlides/notesSlide16.xml" Id="Rf16c89ea5cbe477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2c9e0c3d1a41e8" /><Relationship Type="http://schemas.openxmlformats.org/officeDocument/2006/relationships/image" Target="/ppt/media/image17.png" Id="R78e3f24d5e7a44bf" /><Relationship Type="http://schemas.openxmlformats.org/officeDocument/2006/relationships/notesSlide" Target="/ppt/notesSlides/notesSlide17.xml" Id="R01cbc44a4b8e4bf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06ce57b0594432" /><Relationship Type="http://schemas.openxmlformats.org/officeDocument/2006/relationships/image" Target="/ppt/media/image18.png" Id="Rd1ad9dc9dbb24bf7" /><Relationship Type="http://schemas.openxmlformats.org/officeDocument/2006/relationships/notesSlide" Target="/ppt/notesSlides/notesSlide18.xml" Id="R8c39da0496d84ee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A219D7-60F6-49B0-89D6-60A6CDE274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c9c399c5a49a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4074CD1E-A45B-49E5-B179-6BBCDCCE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4050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콘셉트 이미지 · 01 / 18</a:t>
            </a:r>
          </a:p>
        </p:txBody>
      </p:sp>
    </p:spTree>
    <p:extLst>
      <p:ext uri="{BB962C8B-B14F-4D97-AF65-F5344CB8AC3E}">
        <p14:creationId xmlns:p14="http://schemas.microsoft.com/office/powerpoint/2010/main" val="13109254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0B917D-E38B-4B27-BFE7-B36DAE304E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c97148ece5467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같은 도로의 지하 변화를 반복 측정하고,&#10;전문">
            <a:extLst xmlns:a="http://schemas.openxmlformats.org/drawingml/2006/main">
              <a:ext uri="{FF2B5EF4-FFF2-40B4-BE49-F238E27FC236}">
                <a16:creationId xmlns:a16="http://schemas.microsoft.com/office/drawing/2014/main" id="{5DDF7A88-D2B6-451F-98A3-4F64D60E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724400"/>
            <a:ext cx="622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E6B0D98-8E95-4907-8DC5-16B6EC96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4050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같은 도로의 지하 변화를 반복 측정하고,&#10;전문">
            <a:extLst xmlns:a="http://schemas.openxmlformats.org/drawingml/2006/main">
              <a:ext uri="{FF2B5EF4-FFF2-40B4-BE49-F238E27FC236}">
                <a16:creationId xmlns:a16="http://schemas.microsoft.com/office/drawing/2014/main" id="{D1D712E2-F953-492C-8B7D-85B1A9E4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699000"/>
            <a:ext cx="7747000" cy="67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연 6회·약 2개월 간격은 초기 실증 가정입니">
            <a:extLst xmlns:a="http://schemas.openxmlformats.org/drawingml/2006/main">
              <a:ext uri="{FF2B5EF4-FFF2-40B4-BE49-F238E27FC236}">
                <a16:creationId xmlns:a16="http://schemas.microsoft.com/office/drawing/2014/main" id="{972A4CAB-6C13-470E-9C7C-5341C200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5448300"/>
            <a:ext cx="8001000" cy="5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EAF1224D-3611-46C6-8A4F-E88B0715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4050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같은 도로를 반복 측정하고,&#10;전문가의 현장 재">
            <a:extLst xmlns:a="http://schemas.openxmlformats.org/drawingml/2006/main">
              <a:ext uri="{FF2B5EF4-FFF2-40B4-BE49-F238E27FC236}">
                <a16:creationId xmlns:a16="http://schemas.microsoft.com/office/drawing/2014/main" id="{828EAC8D-7819-49A1-9B7E-CD300B9F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622800"/>
            <a:ext cx="774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같은 도로를 반복 측정하고,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전문가의 현장 재확인으로 연결합니다.</a:t>
            </a:r>
          </a:p>
        </p:txBody>
      </p:sp>
      <p:sp>
        <p:nvSpPr>
          <p:cNvPr id="9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0B4D1939-FE5C-4F9A-8890-397DDF69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2018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콘셉트 이미지 · 02 / 18</a:t>
            </a:r>
          </a:p>
        </p:txBody>
      </p:sp>
    </p:spTree>
    <p:extLst>
      <p:ext uri="{BB962C8B-B14F-4D97-AF65-F5344CB8AC3E}">
        <p14:creationId xmlns:p14="http://schemas.microsoft.com/office/powerpoint/2010/main" val="12945899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00840-F69F-429B-8178-0C6322ACF7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11ac76e5648d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정기조사 사이의 변화를 더 자주 살펴야 합니다">
            <a:extLst xmlns:a="http://schemas.openxmlformats.org/drawingml/2006/main">
              <a:ext uri="{FF2B5EF4-FFF2-40B4-BE49-F238E27FC236}">
                <a16:creationId xmlns:a16="http://schemas.microsoft.com/office/drawing/2014/main" id="{FDF4700A-DC8D-44A9-967A-70F01101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8000" y="40386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1E6138AC-5402-4711-944D-B0B17AE5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2F8845A1-B0DC-4A96-B683-6EC41236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정기조사 사이의 변화를 더 자주 살펴야 합니다">
            <a:extLst xmlns:a="http://schemas.openxmlformats.org/drawingml/2006/main">
              <a:ext uri="{FF2B5EF4-FFF2-40B4-BE49-F238E27FC236}">
                <a16:creationId xmlns:a16="http://schemas.microsoft.com/office/drawing/2014/main" id="{A55D100F-F5E8-40FA-A27E-FFC4BC28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8000" y="400558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정기조사 사이의 변화를 더 자주 살펴야 합니다</a:t>
            </a:r>
          </a:p>
        </p:txBody>
      </p:sp>
      <p:sp>
        <p:nvSpPr>
          <p:cNvPr id="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C964EA4-9EB0-496A-880D-21553790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03 / 18</a:t>
            </a:r>
          </a:p>
        </p:txBody>
      </p:sp>
      <p:sp>
        <p:nvSpPr>
          <p:cNvPr id="8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17DCCEB0-D623-4B15-8E95-826124CC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208831626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C6D5AA-2C5E-423F-9EF4-A3EC24BEB4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50ddff52f4cc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정기조사 사이의 변화 비교를 보완합니다">
            <a:extLst xmlns:a="http://schemas.openxmlformats.org/drawingml/2006/main">
              <a:ext uri="{FF2B5EF4-FFF2-40B4-BE49-F238E27FC236}">
                <a16:creationId xmlns:a16="http://schemas.microsoft.com/office/drawing/2014/main" id="{13190168-3DD0-4FC8-8A91-50E2B98F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같은 길의 기록을 연결해&#10;달라진 지점의 검토를">
            <a:extLst xmlns:a="http://schemas.openxmlformats.org/drawingml/2006/main">
              <a:ext uri="{FF2B5EF4-FFF2-40B4-BE49-F238E27FC236}">
                <a16:creationId xmlns:a16="http://schemas.microsoft.com/office/drawing/2014/main" id="{D91EFB0A-4B25-417E-88EF-BB849249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9100" y="4813300"/>
            <a:ext cx="4953000" cy="82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6F96B31-98F5-4BCA-AD58-357E3952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93413B27-76A4-4BB8-A11F-CA039998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정기조사 사이의 변화 비교를 보완합니다">
            <a:extLst xmlns:a="http://schemas.openxmlformats.org/drawingml/2006/main">
              <a:ext uri="{FF2B5EF4-FFF2-40B4-BE49-F238E27FC236}">
                <a16:creationId xmlns:a16="http://schemas.microsoft.com/office/drawing/2014/main" id="{B56E8D9A-8141-48C3-8CAA-47A973D9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정기조사 사이의 변화 비교를 보완합니다</a:t>
            </a:r>
          </a:p>
        </p:txBody>
      </p:sp>
      <p:sp>
        <p:nvSpPr>
          <p:cNvPr id="8" name="같은 길의 기록을 연결해&#10;달라진 지점을 검토합">
            <a:extLst xmlns:a="http://schemas.openxmlformats.org/drawingml/2006/main">
              <a:ext uri="{FF2B5EF4-FFF2-40B4-BE49-F238E27FC236}">
                <a16:creationId xmlns:a16="http://schemas.microsoft.com/office/drawing/2014/main" id="{F5A51FA9-CD1F-4E8D-84FF-411CFC18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9100" y="4686300"/>
            <a:ext cx="4953000" cy="82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길의 기록을 연결해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달라진 지점을 검토합니다.</a:t>
            </a:r>
          </a:p>
        </p:txBody>
      </p:sp>
      <p:sp>
        <p:nvSpPr>
          <p:cNvPr id="9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A737BD91-E286-4D5D-B6A7-43CA4C0F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04 / 18</a:t>
            </a:r>
          </a:p>
        </p:txBody>
      </p:sp>
      <p:sp>
        <p:nvSpPr>
          <p:cNvPr id="10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CF883F03-908F-432A-8EAE-E5FEF0F5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74525969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1475D6-9AC9-4161-B5BE-3D035EC086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8715dd796647c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정기조사를 유지하고, 회차 사이의 변화를 추가">
            <a:extLst xmlns:a="http://schemas.openxmlformats.org/drawingml/2006/main">
              <a:ext uri="{FF2B5EF4-FFF2-40B4-BE49-F238E27FC236}">
                <a16:creationId xmlns:a16="http://schemas.microsoft.com/office/drawing/2014/main" id="{2E0A401A-4C35-4B1B-A207-FFE5C5C2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461000"/>
            <a:ext cx="1092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C73CA46-CE62-4F1B-A478-1FE1A1AC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164EE764-E81A-4AFA-8220-E6933F47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정기조사를 유지하고, 회차 사이의 변화를 기록">
            <a:extLst xmlns:a="http://schemas.openxmlformats.org/drawingml/2006/main">
              <a:ext uri="{FF2B5EF4-FFF2-40B4-BE49-F238E27FC236}">
                <a16:creationId xmlns:a16="http://schemas.microsoft.com/office/drawing/2014/main" id="{49D706DA-D0EA-46E3-ACE1-F6DA4636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415280"/>
            <a:ext cx="1092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정기조사를 유지하고, 회차 사이의 변화를 기록합니다.</a:t>
            </a:r>
          </a:p>
        </p:txBody>
      </p:sp>
      <p:sp>
        <p:nvSpPr>
          <p:cNvPr id="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9A48C94-98F7-4E09-8E5B-E6DD096F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05 / 18</a:t>
            </a:r>
          </a:p>
        </p:txBody>
      </p:sp>
      <p:sp>
        <p:nvSpPr>
          <p:cNvPr id="8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8C3E9B95-7EB7-4FE9-AF02-CEC47F32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35246412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CE088-8821-46BE-AEF2-F0A7A82D1F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d5f5e9445b494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하수관 손상과 얕은 공동, 범위를 구분합니다">
            <a:extLst xmlns:a="http://schemas.openxmlformats.org/drawingml/2006/main">
              <a:ext uri="{FF2B5EF4-FFF2-40B4-BE49-F238E27FC236}">
                <a16:creationId xmlns:a16="http://schemas.microsoft.com/office/drawing/2014/main" id="{582412F4-E68D-4398-A254-38A22850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심부 굴착·터널 위험은 별도 계측이 필요합니다">
            <a:extLst xmlns:a="http://schemas.openxmlformats.org/drawingml/2006/main">
              <a:ext uri="{FF2B5EF4-FFF2-40B4-BE49-F238E27FC236}">
                <a16:creationId xmlns:a16="http://schemas.microsoft.com/office/drawing/2014/main" id="{B1C51DFB-2AD0-4C4E-A95D-F6B80560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3900" y="4394200"/>
            <a:ext cx="469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원인 통계는 깊이 분포를 뜻하지 않습니다. 약">
            <a:extLst xmlns:a="http://schemas.openxmlformats.org/drawingml/2006/main">
              <a:ext uri="{FF2B5EF4-FFF2-40B4-BE49-F238E27FC236}">
                <a16:creationId xmlns:a16="http://schemas.microsoft.com/office/drawing/2014/main" id="{35379F1E-9CF0-4C1A-A871-E98AD18F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8420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A4222C1B-DD24-4A2F-9AE9-A63CF208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181415C1-FA8B-47B9-8D48-4238CF13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원인 통계와 탐사 범위를 구분합니다">
            <a:extLst xmlns:a="http://schemas.openxmlformats.org/drawingml/2006/main">
              <a:ext uri="{FF2B5EF4-FFF2-40B4-BE49-F238E27FC236}">
                <a16:creationId xmlns:a16="http://schemas.microsoft.com/office/drawing/2014/main" id="{171C06FE-9410-4545-AC52-6CDE5716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통계와 탐사 범위를 구분합니다</a:t>
            </a:r>
          </a:p>
        </p:txBody>
      </p:sp>
      <p:sp>
        <p:nvSpPr>
          <p:cNvPr id="9" name="심부 굴착·터널 위험은 별도 계측이 필요합니다">
            <a:extLst xmlns:a="http://schemas.openxmlformats.org/drawingml/2006/main">
              <a:ext uri="{FF2B5EF4-FFF2-40B4-BE49-F238E27FC236}">
                <a16:creationId xmlns:a16="http://schemas.microsoft.com/office/drawing/2014/main" id="{5A5052FD-42D8-4AA6-AD70-58F22968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3900" y="4358640"/>
            <a:ext cx="469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심부 굴착·터널 위험은 별도 계측이 필요합니다</a:t>
            </a:r>
          </a:p>
        </p:txBody>
      </p:sp>
      <p:sp>
        <p:nvSpPr>
          <p:cNvPr id="10" name="원인 통계는 깊이 분포를 뜻하지 않습니다. 약">
            <a:extLst xmlns:a="http://schemas.openxmlformats.org/drawingml/2006/main">
              <a:ext uri="{FF2B5EF4-FFF2-40B4-BE49-F238E27FC236}">
                <a16:creationId xmlns:a16="http://schemas.microsoft.com/office/drawing/2014/main" id="{91DA2DC8-0A68-47A7-BC47-F350D219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80136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통계는 깊이 분포를 뜻하지 않습니다. 약 2m는 탐사 범위 가정입니다.</a:t>
            </a:r>
          </a:p>
        </p:txBody>
      </p:sp>
      <p:sp>
        <p:nvSpPr>
          <p:cNvPr id="11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DE0A565-0CDA-4C25-8F4C-F7CE02CC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06 / 18</a:t>
            </a:r>
          </a:p>
        </p:txBody>
      </p:sp>
      <p:sp>
        <p:nvSpPr>
          <p:cNvPr id="12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872B1EF5-2D1A-4BCB-86A7-A418FB23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8790601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CEE977-0146-42B5-995A-AED517DC6F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6a4062545f4bb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정기조사 사이를 반복 모니터링으로 보완하고,">
            <a:extLst xmlns:a="http://schemas.openxmlformats.org/drawingml/2006/main">
              <a:ext uri="{FF2B5EF4-FFF2-40B4-BE49-F238E27FC236}">
                <a16:creationId xmlns:a16="http://schemas.microsoft.com/office/drawing/2014/main" id="{54F8CFD8-28C4-450A-A6FC-1DC9EFB9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2184400"/>
            <a:ext cx="10033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사진: 서울연구원 · CC BY 4.0">
            <a:extLst xmlns:a="http://schemas.openxmlformats.org/drawingml/2006/main">
              <a:ext uri="{FF2B5EF4-FFF2-40B4-BE49-F238E27FC236}">
                <a16:creationId xmlns:a16="http://schemas.microsoft.com/office/drawing/2014/main" id="{2BEE7D23-0444-4C62-8C58-33EB99AB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421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0A76B85-8E7E-4A74-86B8-CBCF13CD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316714C-66F2-422B-BF60-6B2D343D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정기조사 사이를 반복 모니터링으로 보완하고,">
            <a:extLst xmlns:a="http://schemas.openxmlformats.org/drawingml/2006/main">
              <a:ext uri="{FF2B5EF4-FFF2-40B4-BE49-F238E27FC236}">
                <a16:creationId xmlns:a16="http://schemas.microsoft.com/office/drawing/2014/main" id="{787D1FA3-3BE6-4FE0-9E2A-6304B79D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2133600"/>
            <a:ext cx="10033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정기조사 사이를 반복 모니터링으로 보완하고,</a:t>
            </a:r>
          </a:p>
        </p:txBody>
      </p:sp>
      <p:sp>
        <p:nvSpPr>
          <p:cNvPr id="8" name="사진: 서울연구원 · CC BY 4.0">
            <a:extLst xmlns:a="http://schemas.openxmlformats.org/drawingml/2006/main">
              <a:ext uri="{FF2B5EF4-FFF2-40B4-BE49-F238E27FC236}">
                <a16:creationId xmlns:a16="http://schemas.microsoft.com/office/drawing/2014/main" id="{F0D2F3DA-89E5-45DB-808E-1B25FBC0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2178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사진: 서울연구원 · CC BY 4.0</a:t>
            </a:r>
          </a:p>
        </p:txBody>
      </p:sp>
      <p:sp>
        <p:nvSpPr>
          <p:cNvPr id="9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E6EE2FAD-71B0-4EF9-9E6F-AF0A6C95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07 / 18</a:t>
            </a:r>
          </a:p>
        </p:txBody>
      </p:sp>
      <p:sp>
        <p:nvSpPr>
          <p:cNvPr id="10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0566C20A-8F04-4C70-BB24-96F1EA9B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68179829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B0642-A42C-47B5-BE75-9C5320E72D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a33b09c5248b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반복 측정에서 전문가 재확인까지">
            <a:extLst xmlns:a="http://schemas.openxmlformats.org/drawingml/2006/main">
              <a:ext uri="{FF2B5EF4-FFF2-40B4-BE49-F238E27FC236}">
                <a16:creationId xmlns:a16="http://schemas.microsoft.com/office/drawing/2014/main" id="{64124E62-B2F2-4C2D-841E-692750B0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연 6회">
            <a:extLst xmlns:a="http://schemas.openxmlformats.org/drawingml/2006/main">
              <a:ext uri="{FF2B5EF4-FFF2-40B4-BE49-F238E27FC236}">
                <a16:creationId xmlns:a16="http://schemas.microsoft.com/office/drawing/2014/main" id="{FA0DA458-F2DE-4C63-992A-9A6A699A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동일 위험구간 반복 모니터링">
            <a:extLst xmlns:a="http://schemas.openxmlformats.org/drawingml/2006/main">
              <a:ext uri="{FF2B5EF4-FFF2-40B4-BE49-F238E27FC236}">
                <a16:creationId xmlns:a16="http://schemas.microsoft.com/office/drawing/2014/main" id="{6F710324-DB0C-4F80-8108-B9B6DF33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약 2개월 간격의 운영 가정">
            <a:extLst xmlns:a="http://schemas.openxmlformats.org/drawingml/2006/main">
              <a:ext uri="{FF2B5EF4-FFF2-40B4-BE49-F238E27FC236}">
                <a16:creationId xmlns:a16="http://schemas.microsoft.com/office/drawing/2014/main" id="{56B2C8C4-A28E-43B7-B60A-6FE936C0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변화 선별">
            <a:extLst xmlns:a="http://schemas.openxmlformats.org/drawingml/2006/main">
              <a:ext uri="{FF2B5EF4-FFF2-40B4-BE49-F238E27FC236}">
                <a16:creationId xmlns:a16="http://schemas.microsoft.com/office/drawing/2014/main" id="{E484137C-4625-42BD-A1CF-3AA52A92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위치·측정 조건을 보정한 비교">
            <a:extLst xmlns:a="http://schemas.openxmlformats.org/drawingml/2006/main">
              <a:ext uri="{FF2B5EF4-FFF2-40B4-BE49-F238E27FC236}">
                <a16:creationId xmlns:a16="http://schemas.microsoft.com/office/drawing/2014/main" id="{BACC2F3F-4F00-4D06-987B-1E52C882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현장 성능은 실증으로 확인">
            <a:extLst xmlns:a="http://schemas.openxmlformats.org/drawingml/2006/main">
              <a:ext uri="{FF2B5EF4-FFF2-40B4-BE49-F238E27FC236}">
                <a16:creationId xmlns:a16="http://schemas.microsoft.com/office/drawing/2014/main" id="{4C4A638D-9CB1-4F02-A424-7B905AF0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전문가 확인">
            <a:extLst xmlns:a="http://schemas.openxmlformats.org/drawingml/2006/main">
              <a:ext uri="{FF2B5EF4-FFF2-40B4-BE49-F238E27FC236}">
                <a16:creationId xmlns:a16="http://schemas.microsoft.com/office/drawing/2014/main" id="{9C5B719F-2494-408B-A09B-3E7152C4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승인 지점의 수동 GPR 재측정">
            <a:extLst xmlns:a="http://schemas.openxmlformats.org/drawingml/2006/main">
              <a:ext uri="{FF2B5EF4-FFF2-40B4-BE49-F238E27FC236}">
                <a16:creationId xmlns:a16="http://schemas.microsoft.com/office/drawing/2014/main" id="{8CC73F0A-3295-41F1-9180-F310F59A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공동 확정은 승인된 정밀조사">
            <a:extLst xmlns:a="http://schemas.openxmlformats.org/drawingml/2006/main">
              <a:ext uri="{FF2B5EF4-FFF2-40B4-BE49-F238E27FC236}">
                <a16:creationId xmlns:a16="http://schemas.microsoft.com/office/drawing/2014/main" id="{FDF41F43-038B-4433-8101-A6F4ECDF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측정 기록을 쌓고, 달라진 곳을 검토하며, 확">
            <a:extLst xmlns:a="http://schemas.openxmlformats.org/drawingml/2006/main">
              <a:ext uri="{FF2B5EF4-FFF2-40B4-BE49-F238E27FC236}">
                <a16:creationId xmlns:a16="http://schemas.microsoft.com/office/drawing/2014/main" id="{41290BF8-0CC6-4ED2-8D9C-A9389708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88950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운영 주기와 구성은 제안 가정입니다. 탐지 정">
            <a:extLst xmlns:a="http://schemas.openxmlformats.org/drawingml/2006/main">
              <a:ext uri="{FF2B5EF4-FFF2-40B4-BE49-F238E27FC236}">
                <a16:creationId xmlns:a16="http://schemas.microsoft.com/office/drawing/2014/main" id="{81A12C12-53A6-4C3E-A6A8-42017662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111760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DFEE0E50-79D9-418E-AB35-C003C8C7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CB6251F-C5E0-4056-A925-8CC48EFE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반복 측정에서 전문가 재확인까지">
            <a:extLst xmlns:a="http://schemas.openxmlformats.org/drawingml/2006/main">
              <a:ext uri="{FF2B5EF4-FFF2-40B4-BE49-F238E27FC236}">
                <a16:creationId xmlns:a16="http://schemas.microsoft.com/office/drawing/2014/main" id="{59AE4722-5077-4650-9813-DAA3E246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운영 주기와 구성은 제안 가정입니다. 탐지 정">
            <a:extLst xmlns:a="http://schemas.openxmlformats.org/drawingml/2006/main">
              <a:ext uri="{FF2B5EF4-FFF2-40B4-BE49-F238E27FC236}">
                <a16:creationId xmlns:a16="http://schemas.microsoft.com/office/drawing/2014/main" id="{A9A23F21-325D-43FA-BB44-BE03758C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111760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연 6회 가정">
            <a:extLst xmlns:a="http://schemas.openxmlformats.org/drawingml/2006/main">
              <a:ext uri="{FF2B5EF4-FFF2-40B4-BE49-F238E27FC236}">
                <a16:creationId xmlns:a16="http://schemas.microsoft.com/office/drawing/2014/main" id="{81434F03-3E3F-4585-9168-478EA55F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약 2개월 간격의 초기 실증">
            <a:extLst xmlns:a="http://schemas.openxmlformats.org/drawingml/2006/main">
              <a:ext uri="{FF2B5EF4-FFF2-40B4-BE49-F238E27FC236}">
                <a16:creationId xmlns:a16="http://schemas.microsoft.com/office/drawing/2014/main" id="{29B535AE-F964-4599-A243-A7BDB67D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기존 정밀조사와 별도 운영">
            <a:extLst xmlns:a="http://schemas.openxmlformats.org/drawingml/2006/main">
              <a:ext uri="{FF2B5EF4-FFF2-40B4-BE49-F238E27FC236}">
                <a16:creationId xmlns:a16="http://schemas.microsoft.com/office/drawing/2014/main" id="{C49D0EDC-E1C0-4928-BEF1-88AAFFCD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변화 선별">
            <a:extLst xmlns:a="http://schemas.openxmlformats.org/drawingml/2006/main">
              <a:ext uri="{FF2B5EF4-FFF2-40B4-BE49-F238E27FC236}">
                <a16:creationId xmlns:a16="http://schemas.microsoft.com/office/drawing/2014/main" id="{6283DE4E-9404-4240-918F-51368C6B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위치·측정 조건을 보정한 비교">
            <a:extLst xmlns:a="http://schemas.openxmlformats.org/drawingml/2006/main">
              <a:ext uri="{FF2B5EF4-FFF2-40B4-BE49-F238E27FC236}">
                <a16:creationId xmlns:a16="http://schemas.microsoft.com/office/drawing/2014/main" id="{B63C0564-2D68-4D78-9D9B-CE86B1F4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현장 성능은 실증으로 확인">
            <a:extLst xmlns:a="http://schemas.openxmlformats.org/drawingml/2006/main">
              <a:ext uri="{FF2B5EF4-FFF2-40B4-BE49-F238E27FC236}">
                <a16:creationId xmlns:a16="http://schemas.microsoft.com/office/drawing/2014/main" id="{D2531506-71BD-4032-920A-E01EEE76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전문가 확인">
            <a:extLst xmlns:a="http://schemas.openxmlformats.org/drawingml/2006/main">
              <a:ext uri="{FF2B5EF4-FFF2-40B4-BE49-F238E27FC236}">
                <a16:creationId xmlns:a16="http://schemas.microsoft.com/office/drawing/2014/main" id="{F76D7CEF-5CA7-4AB8-9540-A2042FFF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승인 지점의 수동 GPR 재측정">
            <a:extLst xmlns:a="http://schemas.openxmlformats.org/drawingml/2006/main">
              <a:ext uri="{FF2B5EF4-FFF2-40B4-BE49-F238E27FC236}">
                <a16:creationId xmlns:a16="http://schemas.microsoft.com/office/drawing/2014/main" id="{06A7A0EB-B672-4060-B2D8-C832CF33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후속 판단은 도로관리기관">
            <a:extLst xmlns:a="http://schemas.openxmlformats.org/drawingml/2006/main">
              <a:ext uri="{FF2B5EF4-FFF2-40B4-BE49-F238E27FC236}">
                <a16:creationId xmlns:a16="http://schemas.microsoft.com/office/drawing/2014/main" id="{5737F8C5-2F09-472A-BB36-CEEA2DD8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실제 주기는 위험도·강우·굴착공사 이력과 실증">
            <a:extLst xmlns:a="http://schemas.openxmlformats.org/drawingml/2006/main">
              <a:ext uri="{FF2B5EF4-FFF2-40B4-BE49-F238E27FC236}">
                <a16:creationId xmlns:a16="http://schemas.microsoft.com/office/drawing/2014/main" id="{B863BABB-8BDE-4600-88EB-A49BB56B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813300"/>
            <a:ext cx="10922000" cy="67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발주기관과 운영 범위를 정하며, 특정 대응 시">
            <a:extLst xmlns:a="http://schemas.openxmlformats.org/drawingml/2006/main">
              <a:ext uri="{FF2B5EF4-FFF2-40B4-BE49-F238E27FC236}">
                <a16:creationId xmlns:a16="http://schemas.microsoft.com/office/drawing/2014/main" id="{20C4DD06-56AB-4A85-8DE0-F3AC8C58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626100"/>
            <a:ext cx="10922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4B11AE2-05F6-409C-B6BE-EE100948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1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BDEC193E-1505-4736-96CF-EB382D0D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반복 측정에서 전문가 재확인까지">
            <a:extLst xmlns:a="http://schemas.openxmlformats.org/drawingml/2006/main">
              <a:ext uri="{FF2B5EF4-FFF2-40B4-BE49-F238E27FC236}">
                <a16:creationId xmlns:a16="http://schemas.microsoft.com/office/drawing/2014/main" id="{23210510-2EA8-48E0-A8C6-794BDCD0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측정에서 전문가 재확인까지</a:t>
            </a:r>
          </a:p>
        </p:txBody>
      </p:sp>
      <p:sp>
        <p:nvSpPr>
          <p:cNvPr id="33" name="반복">
            <a:extLst xmlns:a="http://schemas.openxmlformats.org/drawingml/2006/main">
              <a:ext uri="{FF2B5EF4-FFF2-40B4-BE49-F238E27FC236}">
                <a16:creationId xmlns:a16="http://schemas.microsoft.com/office/drawing/2014/main" id="{4E4E8332-067F-41DE-9F52-7B56E970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209800"/>
            <a:ext cx="3556000" cy="97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</a:t>
            </a:r>
          </a:p>
        </p:txBody>
      </p:sp>
      <p:sp>
        <p:nvSpPr>
          <p:cNvPr id="34" name="연 6회·약 2개월 가정">
            <a:extLst xmlns:a="http://schemas.openxmlformats.org/drawingml/2006/main">
              <a:ext uri="{FF2B5EF4-FFF2-40B4-BE49-F238E27FC236}">
                <a16:creationId xmlns:a16="http://schemas.microsoft.com/office/drawing/2014/main" id="{C967568D-7C33-418F-9047-0F5B57FC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23088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연 6회·약 2개월 가정</a:t>
            </a:r>
          </a:p>
        </p:txBody>
      </p:sp>
      <p:sp>
        <p:nvSpPr>
          <p:cNvPr id="35" name="초기 실증 · 정밀조사와 별도">
            <a:extLst xmlns:a="http://schemas.openxmlformats.org/drawingml/2006/main">
              <a:ext uri="{FF2B5EF4-FFF2-40B4-BE49-F238E27FC236}">
                <a16:creationId xmlns:a16="http://schemas.microsoft.com/office/drawing/2014/main" id="{4606F9F6-01F4-45EB-B9A3-BB301E48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596640"/>
            <a:ext cx="355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초기 실증 · 정밀조사와 별도</a:t>
            </a:r>
          </a:p>
        </p:txBody>
      </p:sp>
      <p:sp>
        <p:nvSpPr>
          <p:cNvPr id="36" name="선별">
            <a:extLst xmlns:a="http://schemas.openxmlformats.org/drawingml/2006/main">
              <a:ext uri="{FF2B5EF4-FFF2-40B4-BE49-F238E27FC236}">
                <a16:creationId xmlns:a16="http://schemas.microsoft.com/office/drawing/2014/main" id="{3E068737-6548-4B52-937A-2B968D98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209800"/>
            <a:ext cx="3556000" cy="97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7" name="측정 조건을 맞춘 변화 비교">
            <a:extLst xmlns:a="http://schemas.openxmlformats.org/drawingml/2006/main">
              <a:ext uri="{FF2B5EF4-FFF2-40B4-BE49-F238E27FC236}">
                <a16:creationId xmlns:a16="http://schemas.microsoft.com/office/drawing/2014/main" id="{786AE7D7-CA75-49CD-9648-A487F945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23088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측정 조건을 맞춘 변화 비교</a:t>
            </a:r>
          </a:p>
        </p:txBody>
      </p:sp>
      <p:sp>
        <p:nvSpPr>
          <p:cNvPr id="38" name="현장 성능은 실증으로 확인">
            <a:extLst xmlns:a="http://schemas.openxmlformats.org/drawingml/2006/main">
              <a:ext uri="{FF2B5EF4-FFF2-40B4-BE49-F238E27FC236}">
                <a16:creationId xmlns:a16="http://schemas.microsoft.com/office/drawing/2014/main" id="{0B4BC693-CE3F-470C-BF43-B9B678CC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96640"/>
            <a:ext cx="355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현장 성능은 실증으로 확인</a:t>
            </a:r>
          </a:p>
        </p:txBody>
      </p:sp>
      <p:sp>
        <p:nvSpPr>
          <p:cNvPr id="39" name="확인">
            <a:extLst xmlns:a="http://schemas.openxmlformats.org/drawingml/2006/main">
              <a:ext uri="{FF2B5EF4-FFF2-40B4-BE49-F238E27FC236}">
                <a16:creationId xmlns:a16="http://schemas.microsoft.com/office/drawing/2014/main" id="{F205CE5D-8E27-4C7E-BCDD-497FF3FA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209800"/>
            <a:ext cx="3556000" cy="97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40" name="전문가 검토·현장 재확인">
            <a:extLst xmlns:a="http://schemas.openxmlformats.org/drawingml/2006/main">
              <a:ext uri="{FF2B5EF4-FFF2-40B4-BE49-F238E27FC236}">
                <a16:creationId xmlns:a16="http://schemas.microsoft.com/office/drawing/2014/main" id="{CCB33A05-1DEE-4FB7-8ABE-5402368A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23088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전문가 검토·현장 재확인</a:t>
            </a:r>
          </a:p>
        </p:txBody>
      </p:sp>
      <p:sp>
        <p:nvSpPr>
          <p:cNvPr id="41" name="후속 판단은 도로관리기관">
            <a:extLst xmlns:a="http://schemas.openxmlformats.org/drawingml/2006/main">
              <a:ext uri="{FF2B5EF4-FFF2-40B4-BE49-F238E27FC236}">
                <a16:creationId xmlns:a16="http://schemas.microsoft.com/office/drawing/2014/main" id="{876FD0B3-5F2A-4EE6-970E-0082213B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596640"/>
            <a:ext cx="355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후속 판단은 도로관리기관</a:t>
            </a:r>
          </a:p>
        </p:txBody>
      </p:sp>
      <p:sp>
        <p:nvSpPr>
          <p:cNvPr id="42" name="실제 주기는 위험도·강우·공사 이력과 실증 결">
            <a:extLst xmlns:a="http://schemas.openxmlformats.org/drawingml/2006/main">
              <a:ext uri="{FF2B5EF4-FFF2-40B4-BE49-F238E27FC236}">
                <a16:creationId xmlns:a16="http://schemas.microsoft.com/office/drawing/2014/main" id="{917B1E38-55FB-4CCA-80C3-7EEB9BDF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787900"/>
            <a:ext cx="10922000" cy="67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주기는 위험도·강우·공사 이력과 실증 결과를 반영해 발주기관과 협의합니다.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 징후·집중호우가 있으면 추가 조사 여부를 검토합니다.</a:t>
            </a:r>
          </a:p>
        </p:txBody>
      </p:sp>
      <p:sp>
        <p:nvSpPr>
          <p:cNvPr id="43" name="연 6회·약 2개월은 초기 실증 가정입니다. ">
            <a:extLst xmlns:a="http://schemas.openxmlformats.org/drawingml/2006/main">
              <a:ext uri="{FF2B5EF4-FFF2-40B4-BE49-F238E27FC236}">
                <a16:creationId xmlns:a16="http://schemas.microsoft.com/office/drawing/2014/main" id="{E4F7ECC3-716A-4E97-A65B-32A9FCC3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46800"/>
            <a:ext cx="1117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연 6회·약 2개월은 초기 실증 가정입니다. 특정 대응 시간이나 모든 위험의 포착을 보장하지 않습니다.</a:t>
            </a:r>
          </a:p>
        </p:txBody>
      </p:sp>
      <p:sp>
        <p:nvSpPr>
          <p:cNvPr id="44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310B4D2-0869-4A77-B219-C191355F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08 / 18</a:t>
            </a:r>
          </a:p>
        </p:txBody>
      </p:sp>
      <p:sp>
        <p:nvSpPr>
          <p:cNvPr id="45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2F115510-3802-428B-943E-49829B2A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1633080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E7071-ABDF-4AAD-AFE4-BEC83B5F40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62c90ca5664d7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공동 크기 [원본 확인 필요]">
            <a:extLst xmlns:a="http://schemas.openxmlformats.org/drawingml/2006/main">
              <a:ext uri="{FF2B5EF4-FFF2-40B4-BE49-F238E27FC236}">
                <a16:creationId xmlns:a16="http://schemas.microsoft.com/office/drawing/2014/main" id="{A76B2386-C8E8-4572-9CCF-7D0EB6F1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6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변화량 [원본 확인 필요]">
            <a:extLst xmlns:a="http://schemas.openxmlformats.org/drawingml/2006/main">
              <a:ext uri="{FF2B5EF4-FFF2-40B4-BE49-F238E27FC236}">
                <a16:creationId xmlns:a16="http://schemas.microsoft.com/office/drawing/2014/main" id="{F17EBE05-8361-4878-9E8D-72BB0687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606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검증 전">
            <a:extLst xmlns:a="http://schemas.openxmlformats.org/drawingml/2006/main">
              <a:ext uri="{FF2B5EF4-FFF2-40B4-BE49-F238E27FC236}">
                <a16:creationId xmlns:a16="http://schemas.microsoft.com/office/drawing/2014/main" id="{0503072A-518C-445A-A00E-9E4955D3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381500"/>
            <a:ext cx="2641600" cy="77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시뮬레이션 수치는 검증이 필요합니다">
            <a:extLst xmlns:a="http://schemas.openxmlformats.org/drawingml/2006/main">
              <a:ext uri="{FF2B5EF4-FFF2-40B4-BE49-F238E27FC236}">
                <a16:creationId xmlns:a16="http://schemas.microsoft.com/office/drawing/2014/main" id="{715E8150-A8E3-4CA8-BFE8-D7EAA40F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419600"/>
            <a:ext cx="8382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성장량·비교 오탐 조건 [원본 확인 필요]&#10;현">
            <a:extLst xmlns:a="http://schemas.openxmlformats.org/drawingml/2006/main">
              <a:ext uri="{FF2B5EF4-FFF2-40B4-BE49-F238E27FC236}">
                <a16:creationId xmlns:a16="http://schemas.microsoft.com/office/drawing/2014/main" id="{3598B4F3-8E59-471A-B999-42AAB48D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851400"/>
            <a:ext cx="838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원본 확인 필요: 성장 조건, 비교한 오탐 요">
            <a:extLst xmlns:a="http://schemas.openxmlformats.org/drawingml/2006/main">
              <a:ext uri="{FF2B5EF4-FFF2-40B4-BE49-F238E27FC236}">
                <a16:creationId xmlns:a16="http://schemas.microsoft.com/office/drawing/2014/main" id="{717D3F02-3AC7-4E09-AAA2-0F7755FA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0"/>
            <a:ext cx="11176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B12FCEFA-B26E-4864-85A1-ED3CF5A7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9ECF81C8-37D1-4CB9-9D16-55E34725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반복 측정에서 실제 변화를 구분할 수 있는지 ">
            <a:extLst xmlns:a="http://schemas.openxmlformats.org/drawingml/2006/main">
              <a:ext uri="{FF2B5EF4-FFF2-40B4-BE49-F238E27FC236}">
                <a16:creationId xmlns:a16="http://schemas.microsoft.com/office/drawing/2014/main" id="{5EF81E01-F017-40CB-99CD-FB2C1ABE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277600" cy="58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동일 구간의 기준 기록">
            <a:extLst xmlns:a="http://schemas.openxmlformats.org/drawingml/2006/main">
              <a:ext uri="{FF2B5EF4-FFF2-40B4-BE49-F238E27FC236}">
                <a16:creationId xmlns:a16="http://schemas.microsoft.com/office/drawing/2014/main" id="{E8255609-9C5F-4DD7-8E27-421DA740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8200"/>
            <a:ext cx="3556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지난 회차 · 설명용">
            <a:extLst xmlns:a="http://schemas.openxmlformats.org/drawingml/2006/main">
              <a:ext uri="{FF2B5EF4-FFF2-40B4-BE49-F238E27FC236}">
                <a16:creationId xmlns:a16="http://schemas.microsoft.com/office/drawing/2014/main" id="{6F73C043-166C-4352-ADA1-571CED2D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957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측정 조건을 맞춘 재측정">
            <a:extLst xmlns:a="http://schemas.openxmlformats.org/drawingml/2006/main">
              <a:ext uri="{FF2B5EF4-FFF2-40B4-BE49-F238E27FC236}">
                <a16:creationId xmlns:a16="http://schemas.microsoft.com/office/drawing/2014/main" id="{BBE534C9-0939-4427-9788-0C6D88CA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378200"/>
            <a:ext cx="3556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이번 회차 · 설명용">
            <a:extLst xmlns:a="http://schemas.openxmlformats.org/drawingml/2006/main">
              <a:ext uri="{FF2B5EF4-FFF2-40B4-BE49-F238E27FC236}">
                <a16:creationId xmlns:a16="http://schemas.microsoft.com/office/drawing/2014/main" id="{FBDA2DF3-C0B4-4B78-8DAD-C2A3793A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6957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회차 차이의 후보 선별">
            <a:extLst xmlns:a="http://schemas.openxmlformats.org/drawingml/2006/main">
              <a:ext uri="{FF2B5EF4-FFF2-40B4-BE49-F238E27FC236}">
                <a16:creationId xmlns:a16="http://schemas.microsoft.com/office/drawing/2014/main" id="{79B81177-D89A-48BD-8E7F-0A07C9EC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378200"/>
            <a:ext cx="3556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변화의 원인은 전문가가 검토">
            <a:extLst xmlns:a="http://schemas.openxmlformats.org/drawingml/2006/main">
              <a:ext uri="{FF2B5EF4-FFF2-40B4-BE49-F238E27FC236}">
                <a16:creationId xmlns:a16="http://schemas.microsoft.com/office/drawing/2014/main" id="{FF1EB105-A73D-4A86-9E2F-DAA2FC7B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6957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실증 설계">
            <a:extLst xmlns:a="http://schemas.openxmlformats.org/drawingml/2006/main">
              <a:ext uri="{FF2B5EF4-FFF2-40B4-BE49-F238E27FC236}">
                <a16:creationId xmlns:a16="http://schemas.microsoft.com/office/drawing/2014/main" id="{66E22C17-8D42-4277-AC91-8B797609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381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무변화 구간을 반복 측정해 오탐 확인">
            <a:extLst xmlns:a="http://schemas.openxmlformats.org/drawingml/2006/main">
              <a:ext uri="{FF2B5EF4-FFF2-40B4-BE49-F238E27FC236}">
                <a16:creationId xmlns:a16="http://schemas.microsoft.com/office/drawing/2014/main" id="{F0412438-5051-4830-AEC0-FD6CD428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38150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크기를 아는 시험 공동으로 변화 검출 확인">
            <a:extLst xmlns:a="http://schemas.openxmlformats.org/drawingml/2006/main">
              <a:ext uri="{FF2B5EF4-FFF2-40B4-BE49-F238E27FC236}">
                <a16:creationId xmlns:a16="http://schemas.microsoft.com/office/drawing/2014/main" id="{D7CC922C-87C6-478F-8D86-ECF0ED2A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77520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위치·높이·수분·차량 상태의 영향 확인">
            <a:extLst xmlns:a="http://schemas.openxmlformats.org/drawingml/2006/main">
              <a:ext uri="{FF2B5EF4-FFF2-40B4-BE49-F238E27FC236}">
                <a16:creationId xmlns:a16="http://schemas.microsoft.com/office/drawing/2014/main" id="{B8D635A1-2237-4974-8379-41FD9AD6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516890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설명용 비교 이미지 · 현장 성능은 아직 검증">
            <a:extLst xmlns:a="http://schemas.openxmlformats.org/drawingml/2006/main">
              <a:ext uri="{FF2B5EF4-FFF2-40B4-BE49-F238E27FC236}">
                <a16:creationId xmlns:a16="http://schemas.microsoft.com/office/drawing/2014/main" id="{288C6599-33E1-435A-88A1-42BAF866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0"/>
            <a:ext cx="11176000" cy="4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6753D3B0-E3E3-4D16-8115-35DB53F9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6E562BFF-E05B-4E93-89E4-ACACF500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반복 측정의 변화 구분 성능을 검증합니다">
            <a:extLst xmlns:a="http://schemas.openxmlformats.org/drawingml/2006/main">
              <a:ext uri="{FF2B5EF4-FFF2-40B4-BE49-F238E27FC236}">
                <a16:creationId xmlns:a16="http://schemas.microsoft.com/office/drawing/2014/main" id="{1AE867D2-ED23-487C-A834-DA2C32E4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측정의 변화 구분 성능을 검증합니다</a:t>
            </a:r>
          </a:p>
        </p:txBody>
      </p:sp>
      <p:sp>
        <p:nvSpPr>
          <p:cNvPr id="26" name="기준 기록">
            <a:extLst xmlns:a="http://schemas.openxmlformats.org/drawingml/2006/main">
              <a:ext uri="{FF2B5EF4-FFF2-40B4-BE49-F238E27FC236}">
                <a16:creationId xmlns:a16="http://schemas.microsoft.com/office/drawing/2014/main" id="{6F6F6E92-BC88-449C-8654-DC8FB19A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4772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기록</a:t>
            </a:r>
          </a:p>
        </p:txBody>
      </p:sp>
      <p:sp>
        <p:nvSpPr>
          <p:cNvPr id="27" name="지난 회차 · 설명용">
            <a:extLst xmlns:a="http://schemas.openxmlformats.org/drawingml/2006/main">
              <a:ext uri="{FF2B5EF4-FFF2-40B4-BE49-F238E27FC236}">
                <a16:creationId xmlns:a16="http://schemas.microsoft.com/office/drawing/2014/main" id="{E63C0F41-C070-4FC3-B1FE-455F521D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4260"/>
            <a:ext cx="355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rPr>
              <a:t>지난 회차 · 설명용</a:t>
            </a:r>
          </a:p>
        </p:txBody>
      </p:sp>
      <p:sp>
        <p:nvSpPr>
          <p:cNvPr id="28" name="동일 구간 재측정">
            <a:extLst xmlns:a="http://schemas.openxmlformats.org/drawingml/2006/main">
              <a:ext uri="{FF2B5EF4-FFF2-40B4-BE49-F238E27FC236}">
                <a16:creationId xmlns:a16="http://schemas.microsoft.com/office/drawing/2014/main" id="{71D4C530-56FE-4A48-97C6-15F708F5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34772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동일 구간 재측정</a:t>
            </a:r>
          </a:p>
        </p:txBody>
      </p:sp>
      <p:sp>
        <p:nvSpPr>
          <p:cNvPr id="29" name="이번 회차 · 설명용">
            <a:extLst xmlns:a="http://schemas.openxmlformats.org/drawingml/2006/main">
              <a:ext uri="{FF2B5EF4-FFF2-40B4-BE49-F238E27FC236}">
                <a16:creationId xmlns:a16="http://schemas.microsoft.com/office/drawing/2014/main" id="{3CFB2C35-9E07-4570-89CD-0B562378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604260"/>
            <a:ext cx="355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rPr>
              <a:t>이번 회차 · 설명용</a:t>
            </a:r>
          </a:p>
        </p:txBody>
      </p:sp>
      <p:sp>
        <p:nvSpPr>
          <p:cNvPr id="30" name="회차 차이 선별">
            <a:extLst xmlns:a="http://schemas.openxmlformats.org/drawingml/2006/main">
              <a:ext uri="{FF2B5EF4-FFF2-40B4-BE49-F238E27FC236}">
                <a16:creationId xmlns:a16="http://schemas.microsoft.com/office/drawing/2014/main" id="{CA1E8227-139A-41B7-8921-30919E6D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34772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 차이 선별</a:t>
            </a:r>
          </a:p>
        </p:txBody>
      </p:sp>
      <p:sp>
        <p:nvSpPr>
          <p:cNvPr id="31" name="변화의 원인은 전문가가 검토">
            <a:extLst xmlns:a="http://schemas.openxmlformats.org/drawingml/2006/main">
              <a:ext uri="{FF2B5EF4-FFF2-40B4-BE49-F238E27FC236}">
                <a16:creationId xmlns:a16="http://schemas.microsoft.com/office/drawing/2014/main" id="{EB1ECA0D-892D-4FBE-AF83-70E10CD2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604260"/>
            <a:ext cx="355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rPr>
              <a:t>변화의 원인은 전문가가 검토</a:t>
            </a:r>
          </a:p>
        </p:txBody>
      </p:sp>
      <p:sp>
        <p:nvSpPr>
          <p:cNvPr id="32" name="검증">
            <a:extLst xmlns:a="http://schemas.openxmlformats.org/drawingml/2006/main">
              <a:ext uri="{FF2B5EF4-FFF2-40B4-BE49-F238E27FC236}">
                <a16:creationId xmlns:a16="http://schemas.microsoft.com/office/drawing/2014/main" id="{05F15CCA-97AC-4428-AB13-6A5DE08B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201160"/>
            <a:ext cx="266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3" name="무변화 구간의 오탐 확인">
            <a:extLst xmlns:a="http://schemas.openxmlformats.org/drawingml/2006/main">
              <a:ext uri="{FF2B5EF4-FFF2-40B4-BE49-F238E27FC236}">
                <a16:creationId xmlns:a16="http://schemas.microsoft.com/office/drawing/2014/main" id="{5D7BB178-9C54-4357-97E7-D08D03EE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411980"/>
            <a:ext cx="8382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무변화 구간의 오탐 확인</a:t>
            </a:r>
          </a:p>
        </p:txBody>
      </p:sp>
      <p:sp>
        <p:nvSpPr>
          <p:cNvPr id="34" name="시험 공동의 변화 검출 확인">
            <a:extLst xmlns:a="http://schemas.openxmlformats.org/drawingml/2006/main">
              <a:ext uri="{FF2B5EF4-FFF2-40B4-BE49-F238E27FC236}">
                <a16:creationId xmlns:a16="http://schemas.microsoft.com/office/drawing/2014/main" id="{779F492A-0788-40AB-B77F-62CB0E82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754880"/>
            <a:ext cx="8382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시험 공동의 변화 검출 확인</a:t>
            </a:r>
          </a:p>
        </p:txBody>
      </p:sp>
      <p:sp>
        <p:nvSpPr>
          <p:cNvPr id="35" name="위치·높이·수분·차량 상태 영향 확인">
            <a:extLst xmlns:a="http://schemas.openxmlformats.org/drawingml/2006/main">
              <a:ext uri="{FF2B5EF4-FFF2-40B4-BE49-F238E27FC236}">
                <a16:creationId xmlns:a16="http://schemas.microsoft.com/office/drawing/2014/main" id="{C552D7F9-946B-4C5F-BE8D-230F8ADF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5097780"/>
            <a:ext cx="8382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위치·높이·수분·차량 상태 영향 확인</a:t>
            </a:r>
          </a:p>
        </p:txBody>
      </p:sp>
      <p:sp>
        <p:nvSpPr>
          <p:cNvPr id="36" name="설명용 비교 이미지 · 현장 성능 미검증">
            <a:extLst xmlns:a="http://schemas.openxmlformats.org/drawingml/2006/main">
              <a:ext uri="{FF2B5EF4-FFF2-40B4-BE49-F238E27FC236}">
                <a16:creationId xmlns:a16="http://schemas.microsoft.com/office/drawing/2014/main" id="{BEC5B681-7DBB-44CC-912A-EB41FB37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557022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설명용 비교 이미지 · 현장 성능 미검증</a:t>
            </a:r>
          </a:p>
        </p:txBody>
      </p:sp>
      <p:sp>
        <p:nvSpPr>
          <p:cNvPr id="37" name="표본 수·시험 조건·통과 기준은 실증 전에 확">
            <a:extLst xmlns:a="http://schemas.openxmlformats.org/drawingml/2006/main">
              <a:ext uri="{FF2B5EF4-FFF2-40B4-BE49-F238E27FC236}">
                <a16:creationId xmlns:a16="http://schemas.microsoft.com/office/drawing/2014/main" id="{D14FEC10-0AAE-49FF-860C-96E4C84D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표본 수·시험 조건·통과 기준은 실증 전에 확정합니다.</a:t>
            </a:r>
          </a:p>
        </p:txBody>
      </p:sp>
      <p:sp>
        <p:nvSpPr>
          <p:cNvPr id="38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9DA8036B-E293-436C-8848-C57B3535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09 / 18</a:t>
            </a:r>
          </a:p>
        </p:txBody>
      </p:sp>
      <p:sp>
        <p:nvSpPr>
          <p:cNvPr id="39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FB388D58-ED00-4564-9356-3BC339E3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533110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B91AC3-08C5-44F1-A273-840E592129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d1dc0e9784fa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연출 이미지">
            <a:extLst xmlns:a="http://schemas.openxmlformats.org/drawingml/2006/main">
              <a:ext uri="{FF2B5EF4-FFF2-40B4-BE49-F238E27FC236}">
                <a16:creationId xmlns:a16="http://schemas.microsoft.com/office/drawing/2014/main" id="{C0EACDEB-10BC-4CB4-BFAB-45268F63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421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678B08CD-CC17-4275-829C-501B2001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DDD6BD01-4F4E-4B13-A86C-A358611B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후속 조치까지 연결하는&#10;제안 운영 절차">
            <a:extLst xmlns:a="http://schemas.openxmlformats.org/drawingml/2006/main">
              <a:ext uri="{FF2B5EF4-FFF2-40B4-BE49-F238E27FC236}">
                <a16:creationId xmlns:a16="http://schemas.microsoft.com/office/drawing/2014/main" id="{0D6DF08B-8FAA-4621-9487-305E4E9F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1625600"/>
            <a:ext cx="749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① AI가 변화 의심 지점 선별">
            <a:extLst xmlns:a="http://schemas.openxmlformats.org/drawingml/2006/main">
              <a:ext uri="{FF2B5EF4-FFF2-40B4-BE49-F238E27FC236}">
                <a16:creationId xmlns:a16="http://schemas.microsoft.com/office/drawing/2014/main" id="{29ACB3D1-1D81-4ADA-A71E-3BA4A0EE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27940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② 조사 전문가가 원시자료·측정 조건 검토">
            <a:extLst xmlns:a="http://schemas.openxmlformats.org/drawingml/2006/main">
              <a:ext uri="{FF2B5EF4-FFF2-40B4-BE49-F238E27FC236}">
                <a16:creationId xmlns:a16="http://schemas.microsoft.com/office/drawing/2014/main" id="{94A62163-16FB-473E-AA08-13480775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1877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③ 승인 지점을 수동 GPR 등으로 재측정">
            <a:extLst xmlns:a="http://schemas.openxmlformats.org/drawingml/2006/main">
              <a:ext uri="{FF2B5EF4-FFF2-40B4-BE49-F238E27FC236}">
                <a16:creationId xmlns:a16="http://schemas.microsoft.com/office/drawing/2014/main" id="{84714A71-F94D-49AE-B4CD-2F2D993C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5814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④ 도로관리기관에 전달해 정밀조사·안전조치 판">
            <a:extLst xmlns:a="http://schemas.openxmlformats.org/drawingml/2006/main">
              <a:ext uri="{FF2B5EF4-FFF2-40B4-BE49-F238E27FC236}">
                <a16:creationId xmlns:a16="http://schemas.microsoft.com/office/drawing/2014/main" id="{9F4D57BD-7A47-491E-BC2F-DDFF3BF7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9751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⑤ 관계기관 승인·안전조치 후 정밀조사·보수">
            <a:extLst xmlns:a="http://schemas.openxmlformats.org/drawingml/2006/main">
              <a:ext uri="{FF2B5EF4-FFF2-40B4-BE49-F238E27FC236}">
                <a16:creationId xmlns:a16="http://schemas.microsoft.com/office/drawing/2014/main" id="{F92E3CB2-C164-4193-B87B-E1943FE7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3688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⑥ 확인·보수 결과를 기록하고 다음 회차에 반">
            <a:extLst xmlns:a="http://schemas.openxmlformats.org/drawingml/2006/main">
              <a:ext uri="{FF2B5EF4-FFF2-40B4-BE49-F238E27FC236}">
                <a16:creationId xmlns:a16="http://schemas.microsoft.com/office/drawing/2014/main" id="{E51B1BA6-4F4C-4B59-8E64-52D3417C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7625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기록: 지점 ID·위치·측정일·검토 상태·현장">
            <a:extLst xmlns:a="http://schemas.openxmlformats.org/drawingml/2006/main">
              <a:ext uri="{FF2B5EF4-FFF2-40B4-BE49-F238E27FC236}">
                <a16:creationId xmlns:a16="http://schemas.microsoft.com/office/drawing/2014/main" id="{FB42D77B-1351-46E3-8688-E8144533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117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AR은 재측정 범위를 안내하는 보조 기능입니다">
            <a:extLst xmlns:a="http://schemas.openxmlformats.org/drawingml/2006/main">
              <a:ext uri="{FF2B5EF4-FFF2-40B4-BE49-F238E27FC236}">
                <a16:creationId xmlns:a16="http://schemas.microsoft.com/office/drawing/2014/main" id="{8FC9862E-21EC-45A7-B5C0-AF634B34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7100"/>
            <a:ext cx="1117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제안 절차이며 대응 시간과 보수 완료를 보장하">
            <a:extLst xmlns:a="http://schemas.openxmlformats.org/drawingml/2006/main">
              <a:ext uri="{FF2B5EF4-FFF2-40B4-BE49-F238E27FC236}">
                <a16:creationId xmlns:a16="http://schemas.microsoft.com/office/drawing/2014/main" id="{FC68E6C4-1E13-438C-9B89-21AE3818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1900"/>
            <a:ext cx="1117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연출 이미지">
            <a:extLst xmlns:a="http://schemas.openxmlformats.org/drawingml/2006/main">
              <a:ext uri="{FF2B5EF4-FFF2-40B4-BE49-F238E27FC236}">
                <a16:creationId xmlns:a16="http://schemas.microsoft.com/office/drawing/2014/main" id="{B502B21A-93A5-414F-B6DA-9FBE85EF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421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44138995-A874-4C3E-A78F-D81C13FA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DA871EA-3F7F-4AB6-AC1C-4294731B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찾은 변화는&#10;사람이 확인합니다">
            <a:extLst xmlns:a="http://schemas.openxmlformats.org/drawingml/2006/main">
              <a:ext uri="{FF2B5EF4-FFF2-40B4-BE49-F238E27FC236}">
                <a16:creationId xmlns:a16="http://schemas.microsoft.com/office/drawing/2014/main" id="{102AD98B-221E-4AA3-9D8A-1F816178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1993900"/>
            <a:ext cx="7747000" cy="1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8796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찾은 변화는</a:t>
            </a:r>
          </a:p>
          <a:p xmlns:a="http://schemas.openxmlformats.org/drawingml/2006/main">
            <a:pPr algn="l">
              <a:lnSpc>
                <a:spcPct val="108796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확인합니다</a:t>
            </a:r>
          </a:p>
        </p:txBody>
      </p:sp>
      <p:sp>
        <p:nvSpPr>
          <p:cNvPr id="20" name="AI가 후보 선별">
            <a:extLst xmlns:a="http://schemas.openxmlformats.org/drawingml/2006/main">
              <a:ext uri="{FF2B5EF4-FFF2-40B4-BE49-F238E27FC236}">
                <a16:creationId xmlns:a16="http://schemas.microsoft.com/office/drawing/2014/main" id="{A9785949-0869-4CFF-9587-CF10CD8E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655060"/>
            <a:ext cx="774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AI가 후보 선별</a:t>
            </a:r>
          </a:p>
        </p:txBody>
      </p:sp>
      <p:sp>
        <p:nvSpPr>
          <p:cNvPr id="21" name="조사 전문가가 검토·재측정">
            <a:extLst xmlns:a="http://schemas.openxmlformats.org/drawingml/2006/main">
              <a:ext uri="{FF2B5EF4-FFF2-40B4-BE49-F238E27FC236}">
                <a16:creationId xmlns:a16="http://schemas.microsoft.com/office/drawing/2014/main" id="{F97BCFE3-EDC6-4536-AE66-E04BF443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959860"/>
            <a:ext cx="774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조사 전문가가 검토·재측정</a:t>
            </a:r>
          </a:p>
        </p:txBody>
      </p:sp>
      <p:sp>
        <p:nvSpPr>
          <p:cNvPr id="22" name="도로관리기관이 후속 조치 판단">
            <a:extLst xmlns:a="http://schemas.openxmlformats.org/drawingml/2006/main">
              <a:ext uri="{FF2B5EF4-FFF2-40B4-BE49-F238E27FC236}">
                <a16:creationId xmlns:a16="http://schemas.microsoft.com/office/drawing/2014/main" id="{00FA75EF-7FB2-43E1-A5B4-EC0A8017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264660"/>
            <a:ext cx="774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도로관리기관이 후속 조치 판단</a:t>
            </a:r>
          </a:p>
        </p:txBody>
      </p:sp>
      <p:sp>
        <p:nvSpPr>
          <p:cNvPr id="23" name="확인·보수 결과 기록, 다음 회차 반영">
            <a:extLst xmlns:a="http://schemas.openxmlformats.org/drawingml/2006/main">
              <a:ext uri="{FF2B5EF4-FFF2-40B4-BE49-F238E27FC236}">
                <a16:creationId xmlns:a16="http://schemas.microsoft.com/office/drawing/2014/main" id="{4D1B2753-F7FF-4059-83D2-31C1E091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569460"/>
            <a:ext cx="774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확인·보수 결과 기록, 다음 회차 반영</a:t>
            </a:r>
          </a:p>
        </p:txBody>
      </p:sp>
      <p:sp>
        <p:nvSpPr>
          <p:cNvPr id="24" name="AR은 현장 재측정 범위를 안내합니다">
            <a:extLst xmlns:a="http://schemas.openxmlformats.org/drawingml/2006/main">
              <a:ext uri="{FF2B5EF4-FFF2-40B4-BE49-F238E27FC236}">
                <a16:creationId xmlns:a16="http://schemas.microsoft.com/office/drawing/2014/main" id="{2E317AE9-B18D-4F19-8C96-FE8F4984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5179060"/>
            <a:ext cx="825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AR은 현장 재측정 범위를 안내합니다</a:t>
            </a:r>
          </a:p>
        </p:txBody>
      </p:sp>
      <p:sp>
        <p:nvSpPr>
          <p:cNvPr id="25" name="제안 절차 · 기관별 권한·책임 협의 필요 ·">
            <a:extLst xmlns:a="http://schemas.openxmlformats.org/drawingml/2006/main">
              <a:ext uri="{FF2B5EF4-FFF2-40B4-BE49-F238E27FC236}">
                <a16:creationId xmlns:a16="http://schemas.microsoft.com/office/drawing/2014/main" id="{0DF59DC4-66AF-4988-9032-524E0588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5800"/>
            <a:ext cx="11176000" cy="46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제안 절차 · 기관별 권한·책임 협의 필요 · 미확인 후보의 공동 확정 금지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승인·안전조치 후 정밀조사·보수 · 2인 1조 · 운전자 주행 중 AR 미사용</a:t>
            </a:r>
          </a:p>
        </p:txBody>
      </p:sp>
      <p:sp>
        <p:nvSpPr>
          <p:cNvPr id="26" name="대응 시간·보수 완료를 보장하지 않습니다. 세">
            <a:extLst xmlns:a="http://schemas.openxmlformats.org/drawingml/2006/main">
              <a:ext uri="{FF2B5EF4-FFF2-40B4-BE49-F238E27FC236}">
                <a16:creationId xmlns:a16="http://schemas.microsoft.com/office/drawing/2014/main" id="{427F5C7F-E92D-4D72-A8D7-4576B9D4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5400"/>
            <a:ext cx="1117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대응 시간·보수 완료를 보장하지 않습니다. 세부 인계 절차와 기록 항목은 발표자 노트에 기재했습니다.</a:t>
            </a:r>
          </a:p>
        </p:txBody>
      </p:sp>
      <p:sp>
        <p:nvSpPr>
          <p:cNvPr id="27" name="연출 이미지">
            <a:extLst xmlns:a="http://schemas.openxmlformats.org/drawingml/2006/main">
              <a:ext uri="{FF2B5EF4-FFF2-40B4-BE49-F238E27FC236}">
                <a16:creationId xmlns:a16="http://schemas.microsoft.com/office/drawing/2014/main" id="{67AD4AE0-9B66-467A-BB56-41AE1AA3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2178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연출 이미지</a:t>
            </a:r>
          </a:p>
        </p:txBody>
      </p:sp>
      <p:sp>
        <p:nvSpPr>
          <p:cNvPr id="28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0E26ED6C-089B-4B05-B323-368C7C15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10 / 18</a:t>
            </a:r>
          </a:p>
        </p:txBody>
      </p:sp>
      <p:sp>
        <p:nvSpPr>
          <p:cNvPr id="29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785A8841-87CC-4E63-9BF8-3FCDEC69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39125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D6D10-6D23-4093-8D2B-CE6F5C798A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4d7f187b643d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국내 카고 롱 · 롱레인지 기준">
            <a:extLst xmlns:a="http://schemas.openxmlformats.org/drawingml/2006/main">
              <a:ext uri="{FF2B5EF4-FFF2-40B4-BE49-F238E27FC236}">
                <a16:creationId xmlns:a16="http://schemas.microsoft.com/office/drawing/2014/main" id="{061D543C-8D8A-4089-87C0-F6F7721E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176530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71.2kWh · 적재 550kg">
            <a:extLst xmlns:a="http://schemas.openxmlformats.org/drawingml/2006/main">
              <a:ext uri="{FF2B5EF4-FFF2-40B4-BE49-F238E27FC236}">
                <a16:creationId xmlns:a16="http://schemas.microsoft.com/office/drawing/2014/main" id="{E8AD4E24-8182-49C5-B1D8-9E3D358E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21590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장비 300kg 가정 · 축하중·총중량 검증 ">
            <a:extLst xmlns:a="http://schemas.openxmlformats.org/drawingml/2006/main">
              <a:ext uri="{FF2B5EF4-FFF2-40B4-BE49-F238E27FC236}">
                <a16:creationId xmlns:a16="http://schemas.microsoft.com/office/drawing/2014/main" id="{779E4AA7-D9A4-45C5-A5F2-62FEF51C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2540000"/>
            <a:ext cx="47625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전원 · V2L 적용 사양 확인 필요">
            <a:extLst xmlns:a="http://schemas.openxmlformats.org/drawingml/2006/main">
              <a:ext uri="{FF2B5EF4-FFF2-40B4-BE49-F238E27FC236}">
                <a16:creationId xmlns:a16="http://schemas.microsoft.com/office/drawing/2014/main" id="{44D3DC2D-2264-4D60-A668-6FA1FDE3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13690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1.5kW × 6시간 = 9kWh">
            <a:extLst xmlns:a="http://schemas.openxmlformats.org/drawingml/2006/main">
              <a:ext uri="{FF2B5EF4-FFF2-40B4-BE49-F238E27FC236}">
                <a16:creationId xmlns:a16="http://schemas.microsoft.com/office/drawing/2014/main" id="{68BFE23F-EFDF-4C9F-A399-CB0C8568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517900"/>
            <a:ext cx="47625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명목 용량의 약 12.6% · 손실·주행전력 ">
            <a:extLst xmlns:a="http://schemas.openxmlformats.org/drawingml/2006/main">
              <a:ext uri="{FF2B5EF4-FFF2-40B4-BE49-F238E27FC236}">
                <a16:creationId xmlns:a16="http://schemas.microsoft.com/office/drawing/2014/main" id="{06269C06-285B-4EAE-B46A-14332D3A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860800"/>
            <a:ext cx="47625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연동 · PIM / Pleos 협의 필요">
            <a:extLst xmlns:a="http://schemas.openxmlformats.org/drawingml/2006/main">
              <a:ext uri="{FF2B5EF4-FFF2-40B4-BE49-F238E27FC236}">
                <a16:creationId xmlns:a16="http://schemas.microsoft.com/office/drawing/2014/main" id="{8BD3D0BB-A3D3-45DF-AD68-83584E06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445770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지원 차종·API 권한 확인 후 구현&#10;장비 제">
            <a:extLst xmlns:a="http://schemas.openxmlformats.org/drawingml/2006/main">
              <a:ext uri="{FF2B5EF4-FFF2-40B4-BE49-F238E27FC236}">
                <a16:creationId xmlns:a16="http://schemas.microsoft.com/office/drawing/2014/main" id="{56463BEB-4704-4782-9F82-F99B781F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4864100"/>
            <a:ext cx="476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장비 고정과 현장 재확인을 한 차량에서 수행하">
            <a:extLst xmlns:a="http://schemas.openxmlformats.org/drawingml/2006/main">
              <a:ext uri="{FF2B5EF4-FFF2-40B4-BE49-F238E27FC236}">
                <a16:creationId xmlns:a16="http://schemas.microsoft.com/office/drawing/2014/main" id="{6884196C-189F-4878-863F-0FCC0814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829300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출처: 기아 국내 PV5 카고 롱 공식 제원(">
            <a:extLst xmlns:a="http://schemas.openxmlformats.org/drawingml/2006/main">
              <a:ext uri="{FF2B5EF4-FFF2-40B4-BE49-F238E27FC236}">
                <a16:creationId xmlns:a16="http://schemas.microsoft.com/office/drawing/2014/main" id="{172D5203-D1FD-4C94-BF5A-A39506C2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23000"/>
            <a:ext cx="11176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3991BD58-A4AF-4423-8D5E-48BDFDD2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F2A4EEAA-C437-44D9-AA91-22CB0E0F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적재 · 국내 카고 롱 롱레인지">
            <a:extLst xmlns:a="http://schemas.openxmlformats.org/drawingml/2006/main">
              <a:ext uri="{FF2B5EF4-FFF2-40B4-BE49-F238E27FC236}">
                <a16:creationId xmlns:a16="http://schemas.microsoft.com/office/drawing/2014/main" id="{3B9797AA-487E-488C-9581-BA3BD6F8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172974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적재 · 국내 카고 롱 롱레인지</a:t>
            </a:r>
          </a:p>
        </p:txBody>
      </p:sp>
      <p:sp>
        <p:nvSpPr>
          <p:cNvPr id="16" name="71.2kWh · 550kg">
            <a:extLst xmlns:a="http://schemas.openxmlformats.org/drawingml/2006/main">
              <a:ext uri="{FF2B5EF4-FFF2-40B4-BE49-F238E27FC236}">
                <a16:creationId xmlns:a16="http://schemas.microsoft.com/office/drawing/2014/main" id="{2111434B-E7CF-47A4-8F3F-AA13E001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2029460"/>
            <a:ext cx="47625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71.2kWh · 550kg</a:t>
            </a:r>
          </a:p>
        </p:txBody>
      </p:sp>
      <p:sp>
        <p:nvSpPr>
          <p:cNvPr id="17" name="장비 300kg 가정 · 축하중·총중량 검증 ">
            <a:extLst xmlns:a="http://schemas.openxmlformats.org/drawingml/2006/main">
              <a:ext uri="{FF2B5EF4-FFF2-40B4-BE49-F238E27FC236}">
                <a16:creationId xmlns:a16="http://schemas.microsoft.com/office/drawing/2014/main" id="{FA7BC255-BADD-4198-8BCF-52AEC2EB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249682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장비 300kg 가정 · 축하중·총중량 검증 필요</a:t>
            </a:r>
          </a:p>
        </p:txBody>
      </p:sp>
      <p:sp>
        <p:nvSpPr>
          <p:cNvPr id="18" name="전원 · V2L 적용 사양 확인 필요">
            <a:extLst xmlns:a="http://schemas.openxmlformats.org/drawingml/2006/main">
              <a:ext uri="{FF2B5EF4-FFF2-40B4-BE49-F238E27FC236}">
                <a16:creationId xmlns:a16="http://schemas.microsoft.com/office/drawing/2014/main" id="{25232999-8869-4B98-8714-932327C6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025140"/>
            <a:ext cx="47625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전원 · V2L 적용 사양 확인 필요</a:t>
            </a:r>
          </a:p>
        </p:txBody>
      </p:sp>
      <p:sp>
        <p:nvSpPr>
          <p:cNvPr id="19" name="9kWh / 6시간">
            <a:extLst xmlns:a="http://schemas.openxmlformats.org/drawingml/2006/main">
              <a:ext uri="{FF2B5EF4-FFF2-40B4-BE49-F238E27FC236}">
                <a16:creationId xmlns:a16="http://schemas.microsoft.com/office/drawing/2014/main" id="{3AC12636-BCF2-4243-8C44-2C3C6B4B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312160"/>
            <a:ext cx="47625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9kWh / 6시간</a:t>
            </a:r>
          </a:p>
        </p:txBody>
      </p:sp>
      <p:sp>
        <p:nvSpPr>
          <p:cNvPr id="20" name="1.5kW 가정 · 약 12.6% (손실·주행">
            <a:extLst xmlns:a="http://schemas.openxmlformats.org/drawingml/2006/main">
              <a:ext uri="{FF2B5EF4-FFF2-40B4-BE49-F238E27FC236}">
                <a16:creationId xmlns:a16="http://schemas.microsoft.com/office/drawing/2014/main" id="{957434FB-C7B1-4D29-B929-1D216E2F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766820"/>
            <a:ext cx="47625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1.5kW 가정 · 약 12.6% (손실·주행 제외)</a:t>
            </a:r>
          </a:p>
        </p:txBody>
      </p:sp>
      <p:sp>
        <p:nvSpPr>
          <p:cNvPr id="21" name="연동">
            <a:extLst xmlns:a="http://schemas.openxmlformats.org/drawingml/2006/main">
              <a:ext uri="{FF2B5EF4-FFF2-40B4-BE49-F238E27FC236}">
                <a16:creationId xmlns:a16="http://schemas.microsoft.com/office/drawing/2014/main" id="{5C5D6041-CDE0-4B01-BCDD-940BDFA6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4320540"/>
            <a:ext cx="47625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연동</a:t>
            </a:r>
          </a:p>
        </p:txBody>
      </p:sp>
      <p:sp>
        <p:nvSpPr>
          <p:cNvPr id="22" name="PIM · Pleos">
            <a:extLst xmlns:a="http://schemas.openxmlformats.org/drawingml/2006/main">
              <a:ext uri="{FF2B5EF4-FFF2-40B4-BE49-F238E27FC236}">
                <a16:creationId xmlns:a16="http://schemas.microsoft.com/office/drawing/2014/main" id="{33128E9F-9295-44BB-88EE-29FA6BD4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462026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PIM · Pleos</a:t>
            </a:r>
          </a:p>
        </p:txBody>
      </p:sp>
      <p:sp>
        <p:nvSpPr>
          <p:cNvPr id="23" name="지원 차종·API 권한 협의 후 구현&#10;장비 제">
            <a:extLst xmlns:a="http://schemas.openxmlformats.org/drawingml/2006/main">
              <a:ext uri="{FF2B5EF4-FFF2-40B4-BE49-F238E27FC236}">
                <a16:creationId xmlns:a16="http://schemas.microsoft.com/office/drawing/2014/main" id="{1F7437EA-2553-472C-99C3-75B325A1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5054600"/>
            <a:ext cx="4762500" cy="39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지원 차종·API 권한 협의 후 구현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장비 제어·관제는 별도 개발·검증</a:t>
            </a:r>
          </a:p>
        </p:txBody>
      </p:sp>
      <p:sp>
        <p:nvSpPr>
          <p:cNvPr id="24" name="장비 고정과 현장 재확인을 한 차량에서 수행하">
            <a:extLst xmlns:a="http://schemas.openxmlformats.org/drawingml/2006/main">
              <a:ext uri="{FF2B5EF4-FFF2-40B4-BE49-F238E27FC236}">
                <a16:creationId xmlns:a16="http://schemas.microsoft.com/office/drawing/2014/main" id="{826C0871-0553-4614-A055-C216967C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788660"/>
            <a:ext cx="11049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장비 고정과 현장 재확인을 한 차량에서 수행하는 배치안입니다.</a:t>
            </a:r>
          </a:p>
        </p:txBody>
      </p:sp>
      <p:sp>
        <p:nvSpPr>
          <p:cNvPr id="25" name="출처: 기아 국내 PV5 카고 롱 공식 제원(">
            <a:extLst xmlns:a="http://schemas.openxmlformats.org/drawingml/2006/main">
              <a:ext uri="{FF2B5EF4-FFF2-40B4-BE49-F238E27FC236}">
                <a16:creationId xmlns:a16="http://schemas.microsoft.com/office/drawing/2014/main" id="{3C878F58-36C7-4B9C-BAA7-4966174C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출처: 기아 국내 PV5 카고 롱 공식 제원(2026.10.27 확인) · 공모전 솔루션 안내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장비 전력·가동시간은 가정입니다. 배치·전원 구성은 실증 대상입니다.</a:t>
            </a:r>
          </a:p>
        </p:txBody>
      </p:sp>
      <p:sp>
        <p:nvSpPr>
          <p:cNvPr id="2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F3D92B9E-E012-42FF-A067-56766B86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11 / 18</a:t>
            </a:r>
          </a:p>
        </p:txBody>
      </p:sp>
      <p:sp>
        <p:nvSpPr>
          <p:cNvPr id="2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4245E3E0-ED9D-4ECA-A88A-A429AEE9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62772910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7D2CC2-E555-4DB5-8826-0EDF1E8296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263731b63429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표준 장착과 차량별 보정으로 비교합니다">
            <a:extLst xmlns:a="http://schemas.openxmlformats.org/drawingml/2006/main">
              <a:ext uri="{FF2B5EF4-FFF2-40B4-BE49-F238E27FC236}">
                <a16:creationId xmlns:a16="http://schemas.microsoft.com/office/drawing/2014/main" id="{C4904C8C-6FB8-4CE1-B3FF-4E3ACD57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다른 도시 PV5">
            <a:extLst xmlns:a="http://schemas.openxmlformats.org/drawingml/2006/main">
              <a:ext uri="{FF2B5EF4-FFF2-40B4-BE49-F238E27FC236}">
                <a16:creationId xmlns:a16="http://schemas.microsoft.com/office/drawing/2014/main" id="{36F89302-515A-4FCA-9A24-AFBB5A6D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2946400"/>
            <a:ext cx="2413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차량별 보정·판독 기준">
            <a:extLst xmlns:a="http://schemas.openxmlformats.org/drawingml/2006/main">
              <a:ext uri="{FF2B5EF4-FFF2-40B4-BE49-F238E27FC236}">
                <a16:creationId xmlns:a16="http://schemas.microsoft.com/office/drawing/2014/main" id="{2E95B645-9E84-41C4-B975-9F406202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2258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높이·위치 표준화 목표">
            <a:extLst xmlns:a="http://schemas.openxmlformats.org/drawingml/2006/main">
              <a:ext uri="{FF2B5EF4-FFF2-40B4-BE49-F238E27FC236}">
                <a16:creationId xmlns:a16="http://schemas.microsoft.com/office/drawing/2014/main" id="{2C0B0DB4-18B1-4736-A165-85C60E52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5560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표준 장착">
            <a:extLst xmlns:a="http://schemas.openxmlformats.org/drawingml/2006/main">
              <a:ext uri="{FF2B5EF4-FFF2-40B4-BE49-F238E27FC236}">
                <a16:creationId xmlns:a16="http://schemas.microsoft.com/office/drawing/2014/main" id="{73FA87EA-9228-4C93-B9CC-376A9B07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장비 높이·위치 기준 설계">
            <a:extLst xmlns:a="http://schemas.openxmlformats.org/drawingml/2006/main">
              <a:ext uri="{FF2B5EF4-FFF2-40B4-BE49-F238E27FC236}">
                <a16:creationId xmlns:a16="http://schemas.microsoft.com/office/drawing/2014/main" id="{8A284CF0-4E4D-4383-80A0-D150F666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PIM 연동 검토">
            <a:extLst xmlns:a="http://schemas.openxmlformats.org/drawingml/2006/main">
              <a:ext uri="{FF2B5EF4-FFF2-40B4-BE49-F238E27FC236}">
                <a16:creationId xmlns:a16="http://schemas.microsoft.com/office/drawing/2014/main" id="{9B6B4C4D-8592-49D5-8BA7-73B0745F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지원 신호·권한 확인 필요">
            <a:extLst xmlns:a="http://schemas.openxmlformats.org/drawingml/2006/main">
              <a:ext uri="{FF2B5EF4-FFF2-40B4-BE49-F238E27FC236}">
                <a16:creationId xmlns:a16="http://schemas.microsoft.com/office/drawing/2014/main" id="{022D62A4-8306-49B9-B58B-4285DC3A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플릿 연동 검토">
            <a:extLst xmlns:a="http://schemas.openxmlformats.org/drawingml/2006/main">
              <a:ext uri="{FF2B5EF4-FFF2-40B4-BE49-F238E27FC236}">
                <a16:creationId xmlns:a16="http://schemas.microsoft.com/office/drawing/2014/main" id="{CC98B04B-5EEC-4A86-BB32-FC6C14A3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기관 관제·Pleos 범위 협의">
            <a:extLst xmlns:a="http://schemas.openxmlformats.org/drawingml/2006/main">
              <a:ext uri="{FF2B5EF4-FFF2-40B4-BE49-F238E27FC236}">
                <a16:creationId xmlns:a16="http://schemas.microsoft.com/office/drawing/2014/main" id="{7243F80D-EE1D-481E-A0E9-F1FDD099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현장 재확인">
            <a:extLst xmlns:a="http://schemas.openxmlformats.org/drawingml/2006/main">
              <a:ext uri="{FF2B5EF4-FFF2-40B4-BE49-F238E27FC236}">
                <a16:creationId xmlns:a16="http://schemas.microsoft.com/office/drawing/2014/main" id="{C6D5000F-C06B-4E60-881F-10A03361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127500"/>
            <a:ext cx="271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작업 동선·하차 안전 검증">
            <a:extLst xmlns:a="http://schemas.openxmlformats.org/drawingml/2006/main">
              <a:ext uri="{FF2B5EF4-FFF2-40B4-BE49-F238E27FC236}">
                <a16:creationId xmlns:a16="http://schemas.microsoft.com/office/drawing/2014/main" id="{BE4C9B81-F516-45E2-BC8D-A618F9F8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495800"/>
            <a:ext cx="27178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수분·주행 위치·센서 높이·적재량을 기록하고 ">
            <a:extLst xmlns:a="http://schemas.openxmlformats.org/drawingml/2006/main">
              <a:ext uri="{FF2B5EF4-FFF2-40B4-BE49-F238E27FC236}">
                <a16:creationId xmlns:a16="http://schemas.microsoft.com/office/drawing/2014/main" id="{BF9BE045-4A6F-4FE2-A8C1-DD285F3E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00" y="5588000"/>
            <a:ext cx="1079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근거: PV5 컨버전 생태계·공모전 Pleos">
            <a:extLst xmlns:a="http://schemas.openxmlformats.org/drawingml/2006/main">
              <a:ext uri="{FF2B5EF4-FFF2-40B4-BE49-F238E27FC236}">
                <a16:creationId xmlns:a16="http://schemas.microsoft.com/office/drawing/2014/main" id="{2BC0532A-1F5E-4C0B-AA16-8EB49DC1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611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05ED5699-F856-429F-BD95-365E9FA1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77B86E95-1813-4CF4-A7DD-DBFD1C60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표준 장착과 차량별 보정으로 비교합니다">
            <a:extLst xmlns:a="http://schemas.openxmlformats.org/drawingml/2006/main">
              <a:ext uri="{FF2B5EF4-FFF2-40B4-BE49-F238E27FC236}">
                <a16:creationId xmlns:a16="http://schemas.microsoft.com/office/drawing/2014/main" id="{97836A5C-06C7-4F88-9246-DD45B5F7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다른 도시 PV5">
            <a:extLst xmlns:a="http://schemas.openxmlformats.org/drawingml/2006/main">
              <a:ext uri="{FF2B5EF4-FFF2-40B4-BE49-F238E27FC236}">
                <a16:creationId xmlns:a16="http://schemas.microsoft.com/office/drawing/2014/main" id="{8F386DB1-8B3A-4A2E-B5D6-5FF64245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2946400"/>
            <a:ext cx="2413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차량별 보정·판독 기준">
            <a:extLst xmlns:a="http://schemas.openxmlformats.org/drawingml/2006/main">
              <a:ext uri="{FF2B5EF4-FFF2-40B4-BE49-F238E27FC236}">
                <a16:creationId xmlns:a16="http://schemas.microsoft.com/office/drawing/2014/main" id="{CCFD3987-DA8D-4089-8AFA-26D5820F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2258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높이·위치 표준화 목표">
            <a:extLst xmlns:a="http://schemas.openxmlformats.org/drawingml/2006/main">
              <a:ext uri="{FF2B5EF4-FFF2-40B4-BE49-F238E27FC236}">
                <a16:creationId xmlns:a16="http://schemas.microsoft.com/office/drawing/2014/main" id="{BDF3862C-FED3-4A62-B10B-366F5BDD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5560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표준 장착">
            <a:extLst xmlns:a="http://schemas.openxmlformats.org/drawingml/2006/main">
              <a:ext uri="{FF2B5EF4-FFF2-40B4-BE49-F238E27FC236}">
                <a16:creationId xmlns:a16="http://schemas.microsoft.com/office/drawing/2014/main" id="{DCFCD240-EAF9-4F0A-A019-EC0D1948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장비 높이·위치 기준 설계">
            <a:extLst xmlns:a="http://schemas.openxmlformats.org/drawingml/2006/main">
              <a:ext uri="{FF2B5EF4-FFF2-40B4-BE49-F238E27FC236}">
                <a16:creationId xmlns:a16="http://schemas.microsoft.com/office/drawing/2014/main" id="{D10A66D4-C3B3-42FB-BCF8-1E2A8B30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PIM 연동 검토">
            <a:extLst xmlns:a="http://schemas.openxmlformats.org/drawingml/2006/main">
              <a:ext uri="{FF2B5EF4-FFF2-40B4-BE49-F238E27FC236}">
                <a16:creationId xmlns:a16="http://schemas.microsoft.com/office/drawing/2014/main" id="{7DECCB71-B41B-4E2E-8B53-2C5A7C84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지원 신호·권한 확인 필요">
            <a:extLst xmlns:a="http://schemas.openxmlformats.org/drawingml/2006/main">
              <a:ext uri="{FF2B5EF4-FFF2-40B4-BE49-F238E27FC236}">
                <a16:creationId xmlns:a16="http://schemas.microsoft.com/office/drawing/2014/main" id="{FBE1A453-B26E-4AC6-98B0-BCBB4127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플릿 연동 검토">
            <a:extLst xmlns:a="http://schemas.openxmlformats.org/drawingml/2006/main">
              <a:ext uri="{FF2B5EF4-FFF2-40B4-BE49-F238E27FC236}">
                <a16:creationId xmlns:a16="http://schemas.microsoft.com/office/drawing/2014/main" id="{BD6DB6C5-2E51-4475-BFC1-1BD1C081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기관 관제·Pleos 범위 협의">
            <a:extLst xmlns:a="http://schemas.openxmlformats.org/drawingml/2006/main">
              <a:ext uri="{FF2B5EF4-FFF2-40B4-BE49-F238E27FC236}">
                <a16:creationId xmlns:a16="http://schemas.microsoft.com/office/drawing/2014/main" id="{6C48F676-7872-4AB1-81F0-76E2A5ED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현장 재확인">
            <a:extLst xmlns:a="http://schemas.openxmlformats.org/drawingml/2006/main">
              <a:ext uri="{FF2B5EF4-FFF2-40B4-BE49-F238E27FC236}">
                <a16:creationId xmlns:a16="http://schemas.microsoft.com/office/drawing/2014/main" id="{0294E725-8656-42F9-85E8-9A20F426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127500"/>
            <a:ext cx="271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작업 동선·하차 안전 검증">
            <a:extLst xmlns:a="http://schemas.openxmlformats.org/drawingml/2006/main">
              <a:ext uri="{FF2B5EF4-FFF2-40B4-BE49-F238E27FC236}">
                <a16:creationId xmlns:a16="http://schemas.microsoft.com/office/drawing/2014/main" id="{8E494E18-CB2F-4804-979F-3C51C285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495800"/>
            <a:ext cx="27178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1" name="수분·주행 위치·센서 높이·적재량을 기록하고 ">
            <a:extLst xmlns:a="http://schemas.openxmlformats.org/drawingml/2006/main">
              <a:ext uri="{FF2B5EF4-FFF2-40B4-BE49-F238E27FC236}">
                <a16:creationId xmlns:a16="http://schemas.microsoft.com/office/drawing/2014/main" id="{29AB4302-DEBE-4007-8AC4-19D68CB4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00" y="5588000"/>
            <a:ext cx="1079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근거: PV5 컨버전 생태계·공모전 Pleos">
            <a:extLst xmlns:a="http://schemas.openxmlformats.org/drawingml/2006/main">
              <a:ext uri="{FF2B5EF4-FFF2-40B4-BE49-F238E27FC236}">
                <a16:creationId xmlns:a16="http://schemas.microsoft.com/office/drawing/2014/main" id="{2F2A5BE2-837C-409E-81CB-10C1D1A6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611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3" name="같은 노선 반복 측정">
            <a:extLst xmlns:a="http://schemas.openxmlformats.org/drawingml/2006/main">
              <a:ext uri="{FF2B5EF4-FFF2-40B4-BE49-F238E27FC236}">
                <a16:creationId xmlns:a16="http://schemas.microsoft.com/office/drawing/2014/main" id="{4CD548BF-3776-4DEF-A9F0-64220117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00" y="3187700"/>
            <a:ext cx="2032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1호차">
            <a:extLst xmlns:a="http://schemas.openxmlformats.org/drawingml/2006/main">
              <a:ext uri="{FF2B5EF4-FFF2-40B4-BE49-F238E27FC236}">
                <a16:creationId xmlns:a16="http://schemas.microsoft.com/office/drawing/2014/main" id="{7A1C404D-58CF-40C9-9AFF-D25AFDA1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0400" y="2946400"/>
            <a:ext cx="1905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5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EBFA984-DEA3-4B2D-90D9-96A90F89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7915001A-2F05-473C-9B85-9BA9D615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7" name="표준 장착과 차량별 보정으로 비교합니다">
            <a:extLst xmlns:a="http://schemas.openxmlformats.org/drawingml/2006/main">
              <a:ext uri="{FF2B5EF4-FFF2-40B4-BE49-F238E27FC236}">
                <a16:creationId xmlns:a16="http://schemas.microsoft.com/office/drawing/2014/main" id="{FCCC683E-417A-4412-8F39-2CA40967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장착과 차량별 보정으로 비교합니다</a:t>
            </a:r>
          </a:p>
        </p:txBody>
      </p:sp>
      <p:sp>
        <p:nvSpPr>
          <p:cNvPr id="38" name="다른 도시 PV5">
            <a:extLst xmlns:a="http://schemas.openxmlformats.org/drawingml/2006/main">
              <a:ext uri="{FF2B5EF4-FFF2-40B4-BE49-F238E27FC236}">
                <a16:creationId xmlns:a16="http://schemas.microsoft.com/office/drawing/2014/main" id="{3A89AEB7-5028-456E-8B90-342EBC8C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2915920"/>
            <a:ext cx="2413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다른 도시 PV5</a:t>
            </a:r>
          </a:p>
        </p:txBody>
      </p:sp>
      <p:sp>
        <p:nvSpPr>
          <p:cNvPr id="39" name="차량별 보정·판독 기준">
            <a:extLst xmlns:a="http://schemas.openxmlformats.org/drawingml/2006/main">
              <a:ext uri="{FF2B5EF4-FFF2-40B4-BE49-F238E27FC236}">
                <a16:creationId xmlns:a16="http://schemas.microsoft.com/office/drawing/2014/main" id="{E872FC6A-F7C4-4E16-88A3-D4D37115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19786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차량별 보정·판독 기준</a:t>
            </a:r>
          </a:p>
        </p:txBody>
      </p:sp>
      <p:sp>
        <p:nvSpPr>
          <p:cNvPr id="40" name="표준 장착">
            <a:extLst xmlns:a="http://schemas.openxmlformats.org/drawingml/2006/main">
              <a:ext uri="{FF2B5EF4-FFF2-40B4-BE49-F238E27FC236}">
                <a16:creationId xmlns:a16="http://schemas.microsoft.com/office/drawing/2014/main" id="{63FA3E64-55E4-48A9-BCDD-5F6A18B0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08178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장착</a:t>
            </a:r>
          </a:p>
        </p:txBody>
      </p:sp>
      <p:sp>
        <p:nvSpPr>
          <p:cNvPr id="41" name="장비 높이·위치 기준 설계">
            <a:extLst xmlns:a="http://schemas.openxmlformats.org/drawingml/2006/main">
              <a:ext uri="{FF2B5EF4-FFF2-40B4-BE49-F238E27FC236}">
                <a16:creationId xmlns:a16="http://schemas.microsoft.com/office/drawing/2014/main" id="{D494DB6E-38B5-4A9C-88FC-321BC0ED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46024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장비 높이·위치 기준 설계</a:t>
            </a:r>
          </a:p>
        </p:txBody>
      </p:sp>
      <p:sp>
        <p:nvSpPr>
          <p:cNvPr id="42" name="PIM 연동 검토">
            <a:extLst xmlns:a="http://schemas.openxmlformats.org/drawingml/2006/main">
              <a:ext uri="{FF2B5EF4-FFF2-40B4-BE49-F238E27FC236}">
                <a16:creationId xmlns:a16="http://schemas.microsoft.com/office/drawing/2014/main" id="{5009E3FE-E4CC-481C-A909-9EAC96F2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8178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PIM 연동 검토</a:t>
            </a:r>
          </a:p>
        </p:txBody>
      </p:sp>
      <p:sp>
        <p:nvSpPr>
          <p:cNvPr id="43" name="지원 신호·권한 확인 필요">
            <a:extLst xmlns:a="http://schemas.openxmlformats.org/drawingml/2006/main">
              <a:ext uri="{FF2B5EF4-FFF2-40B4-BE49-F238E27FC236}">
                <a16:creationId xmlns:a16="http://schemas.microsoft.com/office/drawing/2014/main" id="{B1AFCA97-CA6D-40ED-A0D3-8AB187CC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6024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지원 신호·권한 확인 필요</a:t>
            </a:r>
          </a:p>
        </p:txBody>
      </p:sp>
      <p:sp>
        <p:nvSpPr>
          <p:cNvPr id="44" name="플릿 연동 검토">
            <a:extLst xmlns:a="http://schemas.openxmlformats.org/drawingml/2006/main">
              <a:ext uri="{FF2B5EF4-FFF2-40B4-BE49-F238E27FC236}">
                <a16:creationId xmlns:a16="http://schemas.microsoft.com/office/drawing/2014/main" id="{1DAFF36F-29A1-49FE-BA8E-1145D106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08178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플릿 연동 검토</a:t>
            </a:r>
          </a:p>
        </p:txBody>
      </p:sp>
      <p:sp>
        <p:nvSpPr>
          <p:cNvPr id="45" name="기관 관제·Pleos 범위 협의">
            <a:extLst xmlns:a="http://schemas.openxmlformats.org/drawingml/2006/main">
              <a:ext uri="{FF2B5EF4-FFF2-40B4-BE49-F238E27FC236}">
                <a16:creationId xmlns:a16="http://schemas.microsoft.com/office/drawing/2014/main" id="{98810229-F806-45C4-9345-C88077E0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46024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기관 관제·Pleos 범위 협의</a:t>
            </a:r>
          </a:p>
        </p:txBody>
      </p:sp>
      <p:sp>
        <p:nvSpPr>
          <p:cNvPr id="46" name="현장 재확인">
            <a:extLst xmlns:a="http://schemas.openxmlformats.org/drawingml/2006/main">
              <a:ext uri="{FF2B5EF4-FFF2-40B4-BE49-F238E27FC236}">
                <a16:creationId xmlns:a16="http://schemas.microsoft.com/office/drawing/2014/main" id="{D6932B61-645D-45D8-B36D-8CC02E3A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081780"/>
            <a:ext cx="271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 재확인</a:t>
            </a:r>
          </a:p>
        </p:txBody>
      </p:sp>
      <p:sp>
        <p:nvSpPr>
          <p:cNvPr id="47" name="작업 동선·하차 안전 검증">
            <a:extLst xmlns:a="http://schemas.openxmlformats.org/drawingml/2006/main">
              <a:ext uri="{FF2B5EF4-FFF2-40B4-BE49-F238E27FC236}">
                <a16:creationId xmlns:a16="http://schemas.microsoft.com/office/drawing/2014/main" id="{33AF9678-28D8-465D-A8A2-EC4C66A4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460240"/>
            <a:ext cx="27178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작업 동선·하차 안전 검증</a:t>
            </a:r>
          </a:p>
        </p:txBody>
      </p:sp>
      <p:sp>
        <p:nvSpPr>
          <p:cNvPr id="48" name="근거: PV5 컨버전 생태계·공모전 Pleos">
            <a:extLst xmlns:a="http://schemas.openxmlformats.org/drawingml/2006/main">
              <a:ext uri="{FF2B5EF4-FFF2-40B4-BE49-F238E27FC236}">
                <a16:creationId xmlns:a16="http://schemas.microsoft.com/office/drawing/2014/main" id="{2192F8C8-7C09-4DAD-B2FB-6280548C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근거: PV5 컨버전 생태계·공모전 Pleos Connect 안내 · 장착 표준화와 보정 절차는 제안안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연계 기능·장비 제어·차량 간 비교 성능은 확정되지 않았습니다.</a:t>
            </a:r>
          </a:p>
        </p:txBody>
      </p:sp>
      <p:sp>
        <p:nvSpPr>
          <p:cNvPr id="49" name="같은 노선 반복 측정">
            <a:extLst xmlns:a="http://schemas.openxmlformats.org/drawingml/2006/main">
              <a:ext uri="{FF2B5EF4-FFF2-40B4-BE49-F238E27FC236}">
                <a16:creationId xmlns:a16="http://schemas.microsoft.com/office/drawing/2014/main" id="{96AF7DC1-4FD8-4DE9-8350-B4AD16C5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00" y="3159760"/>
            <a:ext cx="2032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같은 노선 반복 측정</a:t>
            </a:r>
          </a:p>
        </p:txBody>
      </p:sp>
      <p:sp>
        <p:nvSpPr>
          <p:cNvPr id="50" name="1호차">
            <a:extLst xmlns:a="http://schemas.openxmlformats.org/drawingml/2006/main">
              <a:ext uri="{FF2B5EF4-FFF2-40B4-BE49-F238E27FC236}">
                <a16:creationId xmlns:a16="http://schemas.microsoft.com/office/drawing/2014/main" id="{E710CDD8-27B6-4AE1-8830-3E413B59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0400" y="2915920"/>
            <a:ext cx="1905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1호차</a:t>
            </a:r>
          </a:p>
        </p:txBody>
      </p:sp>
      <p:sp>
        <p:nvSpPr>
          <p:cNvPr id="51" name="표준 장착과 차량별 보정으로 비교 일관성을 검">
            <a:extLst xmlns:a="http://schemas.openxmlformats.org/drawingml/2006/main">
              <a:ext uri="{FF2B5EF4-FFF2-40B4-BE49-F238E27FC236}">
                <a16:creationId xmlns:a16="http://schemas.microsoft.com/office/drawing/2014/main" id="{AB907BBF-59A5-409E-A0B6-BFAEF021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00" y="5791200"/>
            <a:ext cx="10795000" cy="36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장착과 차량별 보정으로 비교 일관성을 검증합니다.</a:t>
            </a:r>
          </a:p>
        </p:txBody>
      </p:sp>
      <p:sp>
        <p:nvSpPr>
          <p:cNvPr id="52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E7A8832-449A-4740-99E7-5E8450A6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12 / 18</a:t>
            </a:r>
          </a:p>
        </p:txBody>
      </p:sp>
      <p:sp>
        <p:nvSpPr>
          <p:cNvPr id="53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078F912-D2CF-4981-B7E0-498B4909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2329431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0EC270-E090-449D-A5DC-C48A1B321E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7d533b25074d2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108EACB7-0B49-4553-86F5-BD0F9657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13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전자파·전원 상태별&#10;GPR 신호 품질·잡음">
            <a:extLst xmlns:a="http://schemas.openxmlformats.org/drawingml/2006/main">
              <a:ext uri="{FF2B5EF4-FFF2-40B4-BE49-F238E27FC236}">
                <a16:creationId xmlns:a16="http://schemas.microsoft.com/office/drawing/2014/main" id="{88AFD4C2-E79A-4A94-8DA8-FD13B27C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44170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43AB5432-2FFE-438F-9218-D3A3008E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417830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A9ED5BCA-E96C-45B0-BB4A-5291AA17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3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기준점 대비 위치 오차&#10;센서 높이·주행선 편차">
            <a:extLst xmlns:a="http://schemas.openxmlformats.org/drawingml/2006/main">
              <a:ext uri="{FF2B5EF4-FFF2-40B4-BE49-F238E27FC236}">
                <a16:creationId xmlns:a16="http://schemas.microsoft.com/office/drawing/2014/main" id="{E95DBF97-08DF-45CE-97CD-ADB9F697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4170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1CC44F7D-1C44-492A-8144-6BEEA0E7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7830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95194EC7-144E-40C0-9CAD-172CD5EE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13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공동 변화 검출률&#10;무변화 구간 오탐률">
            <a:extLst xmlns:a="http://schemas.openxmlformats.org/drawingml/2006/main">
              <a:ext uri="{FF2B5EF4-FFF2-40B4-BE49-F238E27FC236}">
                <a16:creationId xmlns:a16="http://schemas.microsoft.com/office/drawing/2014/main" id="{A469E9BE-22F6-45B4-811E-91184783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44170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9C286BA8-2CEC-4D15-BBBA-3F64F822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17830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55B97835-F6F7-4614-B169-6B09A340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313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재확인 소요시간&#10;유효 탐사 km·가동률">
            <a:extLst xmlns:a="http://schemas.openxmlformats.org/drawingml/2006/main">
              <a:ext uri="{FF2B5EF4-FFF2-40B4-BE49-F238E27FC236}">
                <a16:creationId xmlns:a16="http://schemas.microsoft.com/office/drawing/2014/main" id="{66972BD7-F753-4EEF-8F6A-AC5D325A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344170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CF7C532B-C7EC-45F0-AE17-1035DD24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417830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수분·주행 위치·높이·적재량·EV 간섭 조건을">
            <a:extLst xmlns:a="http://schemas.openxmlformats.org/drawingml/2006/main">
              <a:ext uri="{FF2B5EF4-FFF2-40B4-BE49-F238E27FC236}">
                <a16:creationId xmlns:a16="http://schemas.microsoft.com/office/drawing/2014/main" id="{A3300735-87F8-4206-AF28-5116977E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054600"/>
            <a:ext cx="11049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실험 설계: 참값을 확보한 시험구간과 무변화 ">
            <a:extLst xmlns:a="http://schemas.openxmlformats.org/drawingml/2006/main">
              <a:ext uri="{FF2B5EF4-FFF2-40B4-BE49-F238E27FC236}">
                <a16:creationId xmlns:a16="http://schemas.microsoft.com/office/drawing/2014/main" id="{52390184-BB84-43A2-B7B6-050FCC74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7600"/>
            <a:ext cx="1117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D95226C6-35AF-41F4-918B-EB41E764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39CAB73A-36D2-4E56-9AB4-8EE6CAB4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CAC5B344-6D11-481C-887E-70F80AB5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10642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0" name="전자파·전원 상태별&#10;GPR 신호 품질·잡음">
            <a:extLst xmlns:a="http://schemas.openxmlformats.org/drawingml/2006/main">
              <a:ext uri="{FF2B5EF4-FFF2-40B4-BE49-F238E27FC236}">
                <a16:creationId xmlns:a16="http://schemas.microsoft.com/office/drawing/2014/main" id="{EBE7A869-2861-413D-A9A9-F3C11AB6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3464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전자파·전원 상태별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신호 품질·잡음</a:t>
            </a:r>
          </a:p>
        </p:txBody>
      </p:sp>
      <p:sp>
        <p:nvSpPr>
          <p:cNvPr id="21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D8090DAD-7B53-430E-87B6-86CA3EC0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414528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22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BDEF3052-6816-450F-91F9-69D5A800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0642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3" name="기준점 대비 위치 오차&#10;센서 높이·주행선 편차">
            <a:extLst xmlns:a="http://schemas.openxmlformats.org/drawingml/2006/main">
              <a:ext uri="{FF2B5EF4-FFF2-40B4-BE49-F238E27FC236}">
                <a16:creationId xmlns:a16="http://schemas.microsoft.com/office/drawing/2014/main" id="{8FA25A56-636E-47C0-82D4-D97F8951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464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 대비 위치 오차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센서 높이·주행선 편차</a:t>
            </a:r>
          </a:p>
        </p:txBody>
      </p:sp>
      <p:sp>
        <p:nvSpPr>
          <p:cNvPr id="24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C180FBCB-2DEC-49EE-AD5B-C5074DFD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4528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25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A7955A1E-4016-46B2-9A15-9B43C94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10642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6" name="공동 변화 검출률&#10;무변화 구간 오탐률">
            <a:extLst xmlns:a="http://schemas.openxmlformats.org/drawingml/2006/main">
              <a:ext uri="{FF2B5EF4-FFF2-40B4-BE49-F238E27FC236}">
                <a16:creationId xmlns:a16="http://schemas.microsoft.com/office/drawing/2014/main" id="{6D221F4D-E1E1-4A7C-B897-2D558F58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3464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 변화 검출률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무변화 구간 오탐률</a:t>
            </a:r>
          </a:p>
        </p:txBody>
      </p:sp>
      <p:sp>
        <p:nvSpPr>
          <p:cNvPr id="27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2B91AE2C-580E-4B8C-9DBD-D6197438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14528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28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F2AB6E91-199C-4E2A-9111-6E436630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310642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9" name="재확인 소요시간&#10;유효 탐사 km·가동률">
            <a:extLst xmlns:a="http://schemas.openxmlformats.org/drawingml/2006/main">
              <a:ext uri="{FF2B5EF4-FFF2-40B4-BE49-F238E27FC236}">
                <a16:creationId xmlns:a16="http://schemas.microsoft.com/office/drawing/2014/main" id="{D970B0E2-B285-4C53-B442-1E6AF5DE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33464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 소요시간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유효 탐사 km·가동률</a:t>
            </a:r>
          </a:p>
        </p:txBody>
      </p:sp>
      <p:sp>
        <p:nvSpPr>
          <p:cNvPr id="30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D1E4AB73-A3EB-4087-A7FB-6D6F9090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414528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31" name="수분·위치·높이·적재량·EV 간섭 조건을 나눠">
            <a:extLst xmlns:a="http://schemas.openxmlformats.org/drawingml/2006/main">
              <a:ext uri="{FF2B5EF4-FFF2-40B4-BE49-F238E27FC236}">
                <a16:creationId xmlns:a16="http://schemas.microsoft.com/office/drawing/2014/main" id="{7909884B-405B-41C5-A46D-5429DD1C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01396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수분·위치·높이·적재량·EV 간섭 조건을 나눠 검증합니다.</a:t>
            </a:r>
          </a:p>
        </p:txBody>
      </p:sp>
      <p:sp>
        <p:nvSpPr>
          <p:cNvPr id="32" name="실험 설계: 참값을 확보한 시험구간과 무변화 ">
            <a:extLst xmlns:a="http://schemas.openxmlformats.org/drawingml/2006/main">
              <a:ext uri="{FF2B5EF4-FFF2-40B4-BE49-F238E27FC236}">
                <a16:creationId xmlns:a16="http://schemas.microsoft.com/office/drawing/2014/main" id="{16B14D64-BCF4-4443-92F3-2B836AFC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72200"/>
            <a:ext cx="1117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실험 설계: 참값을 확보한 시험구간과 무변화 대조구간을 함께 사용 · 표본 수·판정 기준은 시험 전에 확정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개인정보 처리, 도로 작업, 전파 적합성평가와 튜닝 관련 요건은 적용 범위를 확인 후 이행합니다.</a:t>
            </a:r>
          </a:p>
        </p:txBody>
      </p:sp>
      <p:sp>
        <p:nvSpPr>
          <p:cNvPr id="3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ABD9A25-768F-420A-A6E9-9247B2CD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13 / 18</a:t>
            </a:r>
          </a:p>
        </p:txBody>
      </p:sp>
      <p:sp>
        <p:nvSpPr>
          <p:cNvPr id="3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48378F8-1D90-4179-8569-225E5CF3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61425820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67EBB0-98CF-4284-BF98-2B5C16CDF3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7426ecf6d6494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기존 정밀조사는 유지하고,&#10;반복 모니터링을 더">
            <a:extLst xmlns:a="http://schemas.openxmlformats.org/drawingml/2006/main">
              <a:ext uri="{FF2B5EF4-FFF2-40B4-BE49-F238E27FC236}">
                <a16:creationId xmlns:a16="http://schemas.microsoft.com/office/drawing/2014/main" id="{2D869476-95ED-4734-8CD8-95292C40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1778000"/>
            <a:ext cx="1098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서울시 2024 용역의 평균 사업비 · 서비스">
            <a:extLst xmlns:a="http://schemas.openxmlformats.org/drawingml/2006/main">
              <a:ext uri="{FF2B5EF4-FFF2-40B4-BE49-F238E27FC236}">
                <a16:creationId xmlns:a16="http://schemas.microsoft.com/office/drawing/2014/main" id="{31BA0CF6-9021-43A8-AED0-0E67FA43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403600"/>
            <a:ext cx="10985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1·2차 탐사와 천공·공동 채움이 포함된 사업">
            <a:extLst xmlns:a="http://schemas.openxmlformats.org/drawingml/2006/main">
              <a:ext uri="{FF2B5EF4-FFF2-40B4-BE49-F238E27FC236}">
                <a16:creationId xmlns:a16="http://schemas.microsoft.com/office/drawing/2014/main" id="{610B0C0C-AB07-4145-9BF9-B1ED79A0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521200"/>
            <a:ext cx="109855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사진: Immanuelle · CC BY 4.">
            <a:extLst xmlns:a="http://schemas.openxmlformats.org/drawingml/2006/main">
              <a:ext uri="{FF2B5EF4-FFF2-40B4-BE49-F238E27FC236}">
                <a16:creationId xmlns:a16="http://schemas.microsoft.com/office/drawing/2014/main" id="{1C49C321-8F25-493A-A060-848F4B62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421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962E406F-BE10-4E15-BB68-2649789D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EA6EB9E0-5736-4851-A8A8-7D7075F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기존 정밀조사는 유지하고,&#10;반복 모니터링을 더">
            <a:extLst xmlns:a="http://schemas.openxmlformats.org/drawingml/2006/main">
              <a:ext uri="{FF2B5EF4-FFF2-40B4-BE49-F238E27FC236}">
                <a16:creationId xmlns:a16="http://schemas.microsoft.com/office/drawing/2014/main" id="{33CE067D-A312-4B40-9172-F65364C9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1625600"/>
            <a:ext cx="1098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13636"/>
              </a:lnSpc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기존 정밀조사는 유지하고,</a:t>
            </a:r>
          </a:p>
          <a:p xmlns:a="http://schemas.openxmlformats.org/drawingml/2006/main">
            <a:pPr algn="l">
              <a:lnSpc>
                <a:spcPct val="113636"/>
              </a:lnSpc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모니터링을 더합니다</a:t>
            </a:r>
          </a:p>
        </p:txBody>
      </p:sp>
      <p:sp>
        <p:nvSpPr>
          <p:cNvPr id="10" name="서울시 2024 용역의 평균 사업비 · 서비스">
            <a:extLst xmlns:a="http://schemas.openxmlformats.org/drawingml/2006/main">
              <a:ext uri="{FF2B5EF4-FFF2-40B4-BE49-F238E27FC236}">
                <a16:creationId xmlns:a16="http://schemas.microsoft.com/office/drawing/2014/main" id="{6F4BAEE5-414D-4C19-B42A-F1968854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368040"/>
            <a:ext cx="10985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서울시 2024 용역의 평균 사업비 · 서비스 가격과 구분</a:t>
            </a:r>
          </a:p>
        </p:txBody>
      </p:sp>
      <p:sp>
        <p:nvSpPr>
          <p:cNvPr id="11" name="1·2차 탐사와 천공·공동 채움이 포함된 사업">
            <a:extLst xmlns:a="http://schemas.openxmlformats.org/drawingml/2006/main">
              <a:ext uri="{FF2B5EF4-FFF2-40B4-BE49-F238E27FC236}">
                <a16:creationId xmlns:a16="http://schemas.microsoft.com/office/drawing/2014/main" id="{07DE7965-A2D8-4BA6-96A4-C741F382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425950"/>
            <a:ext cx="109855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1·2차 탐사와 천공·공동 채움이 포함된 사업비입니다.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반복 탐사만의 원가와 직접 비교해 절감률을 계산할 수 없습니다.</a:t>
            </a:r>
          </a:p>
        </p:txBody>
      </p:sp>
      <p:sp>
        <p:nvSpPr>
          <p:cNvPr id="12" name="사진: Immanuelle · CC BY 4.">
            <a:extLst xmlns:a="http://schemas.openxmlformats.org/drawingml/2006/main">
              <a:ext uri="{FF2B5EF4-FFF2-40B4-BE49-F238E27FC236}">
                <a16:creationId xmlns:a16="http://schemas.microsoft.com/office/drawing/2014/main" id="{0EC9A7DB-96F8-40E2-A86B-70C40C8F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2178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사진: Immanuelle · CC BY 4.0</a:t>
            </a:r>
          </a:p>
        </p:txBody>
      </p:sp>
      <p:sp>
        <p:nvSpPr>
          <p:cNvPr id="1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A8A8590E-E403-42FD-8FDF-A4325222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14 / 18</a:t>
            </a:r>
          </a:p>
        </p:txBody>
      </p:sp>
      <p:sp>
        <p:nvSpPr>
          <p:cNvPr id="1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1CE1F1D4-F7A2-4378-B0B1-BD1E3B77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42327242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D56E27-F7D3-4061-803F-1F3A9F52E4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a8a116341451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반복 모니터링의 추가 비용 가정">
            <a:extLst xmlns:a="http://schemas.openxmlformats.org/drawingml/2006/main">
              <a:ext uri="{FF2B5EF4-FFF2-40B4-BE49-F238E27FC236}">
                <a16:creationId xmlns:a16="http://schemas.microsoft.com/office/drawing/2014/main" id="{CB9C7363-FE87-4071-8B4C-607813BE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반복 모니터링 1회 · 잠정 원가">
            <a:extLst xmlns:a="http://schemas.openxmlformats.org/drawingml/2006/main">
              <a:ext uri="{FF2B5EF4-FFF2-40B4-BE49-F238E27FC236}">
                <a16:creationId xmlns:a16="http://schemas.microsoft.com/office/drawing/2014/main" id="{2ED7FDA3-6F68-4073-9336-67ACEDFA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778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연 3.09억원 ÷ 6,600 탐사 km&#10;인건">
            <a:extLst xmlns:a="http://schemas.openxmlformats.org/drawingml/2006/main">
              <a:ext uri="{FF2B5EF4-FFF2-40B4-BE49-F238E27FC236}">
                <a16:creationId xmlns:a16="http://schemas.microsoft.com/office/drawing/2014/main" id="{5C4038E4-58F1-4ECF-8C13-8338117A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92500"/>
            <a:ext cx="539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기존 조사 유지 + 연 6회 모니터링 추가">
            <a:extLst xmlns:a="http://schemas.openxmlformats.org/drawingml/2006/main">
              <a:ext uri="{FF2B5EF4-FFF2-40B4-BE49-F238E27FC236}">
                <a16:creationId xmlns:a16="http://schemas.microsoft.com/office/drawing/2014/main" id="{EBE5AEA4-A116-47BE-B79C-8C8BD76E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1778000"/>
            <a:ext cx="5588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기존 정밀조사 1회 · 평균 사업비">
            <a:extLst xmlns:a="http://schemas.openxmlformats.org/drawingml/2006/main">
              <a:ext uri="{FF2B5EF4-FFF2-40B4-BE49-F238E27FC236}">
                <a16:creationId xmlns:a16="http://schemas.microsoft.com/office/drawing/2014/main" id="{E18FAD78-163A-4872-94CA-2F9AFDF7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2247900"/>
            <a:ext cx="3429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연 6회 추가 · 4.6818만원 × 6회">
            <a:extLst xmlns:a="http://schemas.openxmlformats.org/drawingml/2006/main">
              <a:ext uri="{FF2B5EF4-FFF2-40B4-BE49-F238E27FC236}">
                <a16:creationId xmlns:a16="http://schemas.microsoft.com/office/drawing/2014/main" id="{A8F40685-AB8C-4082-A6D9-40617261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3289300"/>
            <a:ext cx="5461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+28.1만원">
            <a:extLst xmlns:a="http://schemas.openxmlformats.org/drawingml/2006/main">
              <a:ext uri="{FF2B5EF4-FFF2-40B4-BE49-F238E27FC236}">
                <a16:creationId xmlns:a16="http://schemas.microsoft.com/office/drawing/2014/main" id="{67CE24FE-DC37-42FB-958A-3049BAC9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365760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기존 정밀조사 1회와 반복 모니터링 6회는 별">
            <a:extLst xmlns:a="http://schemas.openxmlformats.org/drawingml/2006/main">
              <a:ext uri="{FF2B5EF4-FFF2-40B4-BE49-F238E27FC236}">
                <a16:creationId xmlns:a16="http://schemas.microsoft.com/office/drawing/2014/main" id="{4F4D5CF6-1401-421D-8F62-B5884B1F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762500"/>
            <a:ext cx="11049000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계산 가정: 30 탐사 km/일 × 220일 ">
            <a:extLst xmlns:a="http://schemas.openxmlformats.org/drawingml/2006/main">
              <a:ext uri="{FF2B5EF4-FFF2-40B4-BE49-F238E27FC236}">
                <a16:creationId xmlns:a16="http://schemas.microsoft.com/office/drawing/2014/main" id="{81EFF755-DD55-46B2-97F9-5531D51E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23000"/>
            <a:ext cx="11176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E13334F6-7AC4-4106-93C1-11D118AC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A1C890E7-5F9B-4CD9-AF21-6C707CED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반복 모니터링의 비용 구성">
            <a:extLst xmlns:a="http://schemas.openxmlformats.org/drawingml/2006/main">
              <a:ext uri="{FF2B5EF4-FFF2-40B4-BE49-F238E27FC236}">
                <a16:creationId xmlns:a16="http://schemas.microsoft.com/office/drawing/2014/main" id="{4EB0A88E-903A-4E4A-814A-BCBE245F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기존 정밀조사는 유지">
            <a:extLst xmlns:a="http://schemas.openxmlformats.org/drawingml/2006/main">
              <a:ext uri="{FF2B5EF4-FFF2-40B4-BE49-F238E27FC236}">
                <a16:creationId xmlns:a16="http://schemas.microsoft.com/office/drawing/2014/main" id="{2D2ED2F1-614B-4DB8-8172-BD1D5F0E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778000"/>
            <a:ext cx="5334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실측 후&#10;단가 산정">
            <a:extLst xmlns:a="http://schemas.openxmlformats.org/drawingml/2006/main">
              <a:ext uri="{FF2B5EF4-FFF2-40B4-BE49-F238E27FC236}">
                <a16:creationId xmlns:a16="http://schemas.microsoft.com/office/drawing/2014/main" id="{1260D2BC-7D4D-4E34-9448-B24BB366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311400"/>
            <a:ext cx="5207000" cy="120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제한 실증에서 처리량과 투입시간 측정&#10;측정 결">
            <a:extLst xmlns:a="http://schemas.openxmlformats.org/drawingml/2006/main">
              <a:ext uri="{FF2B5EF4-FFF2-40B4-BE49-F238E27FC236}">
                <a16:creationId xmlns:a16="http://schemas.microsoft.com/office/drawing/2014/main" id="{719D40AC-A58E-45FC-951C-68DDF704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2200"/>
            <a:ext cx="5207000" cy="82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산정할 비용 항목">
            <a:extLst xmlns:a="http://schemas.openxmlformats.org/drawingml/2006/main">
              <a:ext uri="{FF2B5EF4-FFF2-40B4-BE49-F238E27FC236}">
                <a16:creationId xmlns:a16="http://schemas.microsoft.com/office/drawing/2014/main" id="{DF33FEE5-341F-4205-90D4-E4E894AA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1778000"/>
            <a:ext cx="5588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반복 측정과 차량·장비 운용">
            <a:extLst xmlns:a="http://schemas.openxmlformats.org/drawingml/2006/main">
              <a:ext uri="{FF2B5EF4-FFF2-40B4-BE49-F238E27FC236}">
                <a16:creationId xmlns:a16="http://schemas.microsoft.com/office/drawing/2014/main" id="{752C83FF-F1B8-4741-BED6-5420070F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2247900"/>
            <a:ext cx="5588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인력 · 차량 · 장비">
            <a:extLst xmlns:a="http://schemas.openxmlformats.org/drawingml/2006/main">
              <a:ext uri="{FF2B5EF4-FFF2-40B4-BE49-F238E27FC236}">
                <a16:creationId xmlns:a16="http://schemas.microsoft.com/office/drawing/2014/main" id="{3AF70849-D36F-4EDC-800E-4EEE7158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700" y="2578100"/>
            <a:ext cx="317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검토와 기록 관리">
            <a:extLst xmlns:a="http://schemas.openxmlformats.org/drawingml/2006/main">
              <a:ext uri="{FF2B5EF4-FFF2-40B4-BE49-F238E27FC236}">
                <a16:creationId xmlns:a16="http://schemas.microsoft.com/office/drawing/2014/main" id="{1D79A9BA-0C6B-4E82-AA10-C2EE346F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3289300"/>
            <a:ext cx="5588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판독 · 데이터 관리">
            <a:extLst xmlns:a="http://schemas.openxmlformats.org/drawingml/2006/main">
              <a:ext uri="{FF2B5EF4-FFF2-40B4-BE49-F238E27FC236}">
                <a16:creationId xmlns:a16="http://schemas.microsoft.com/office/drawing/2014/main" id="{AF2539A0-37E8-43D3-B377-34FB8D0B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700" y="3644900"/>
            <a:ext cx="311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협의">
            <a:extLst xmlns:a="http://schemas.openxmlformats.org/drawingml/2006/main">
              <a:ext uri="{FF2B5EF4-FFF2-40B4-BE49-F238E27FC236}">
                <a16:creationId xmlns:a16="http://schemas.microsoft.com/office/drawing/2014/main" id="{C028AADA-2059-4358-8957-2F3DDB6B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57600"/>
            <a:ext cx="82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현장 재확인·천공·복구는 포함 범위를 협의해 ">
            <a:extLst xmlns:a="http://schemas.openxmlformats.org/drawingml/2006/main">
              <a:ext uri="{FF2B5EF4-FFF2-40B4-BE49-F238E27FC236}">
                <a16:creationId xmlns:a16="http://schemas.microsoft.com/office/drawing/2014/main" id="{17BAED00-6EAD-409C-9A7D-721F9F54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800600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비용 항목 구분 · 금액과 구성비는 제한 실증">
            <a:extLst xmlns:a="http://schemas.openxmlformats.org/drawingml/2006/main">
              <a:ext uri="{FF2B5EF4-FFF2-40B4-BE49-F238E27FC236}">
                <a16:creationId xmlns:a16="http://schemas.microsoft.com/office/drawing/2014/main" id="{6016CE54-5E78-4954-B3C6-90B3B044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34100"/>
            <a:ext cx="11176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45012750-6A0B-452F-8B22-A72B8AC9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C924F9C8-5297-4B92-8D17-F7249771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반복 모니터링의 비용 구성">
            <a:extLst xmlns:a="http://schemas.openxmlformats.org/drawingml/2006/main">
              <a:ext uri="{FF2B5EF4-FFF2-40B4-BE49-F238E27FC236}">
                <a16:creationId xmlns:a16="http://schemas.microsoft.com/office/drawing/2014/main" id="{0AEBBD56-3EFF-4563-97CB-163080EA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모니터링의 비용 구성</a:t>
            </a:r>
          </a:p>
        </p:txBody>
      </p:sp>
      <p:sp>
        <p:nvSpPr>
          <p:cNvPr id="29" name="기존 정밀조사는 유지">
            <a:extLst xmlns:a="http://schemas.openxmlformats.org/drawingml/2006/main">
              <a:ext uri="{FF2B5EF4-FFF2-40B4-BE49-F238E27FC236}">
                <a16:creationId xmlns:a16="http://schemas.microsoft.com/office/drawing/2014/main" id="{F46C75C4-024B-4F8D-98CC-643ED65E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744980"/>
            <a:ext cx="5334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기존 정밀조사는 유지</a:t>
            </a:r>
          </a:p>
        </p:txBody>
      </p:sp>
      <p:sp>
        <p:nvSpPr>
          <p:cNvPr id="30" name="실측">
            <a:extLst xmlns:a="http://schemas.openxmlformats.org/drawingml/2006/main">
              <a:ext uri="{FF2B5EF4-FFF2-40B4-BE49-F238E27FC236}">
                <a16:creationId xmlns:a16="http://schemas.microsoft.com/office/drawing/2014/main" id="{6A07DB4B-F523-4E0E-862C-E36A3442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976120"/>
            <a:ext cx="5334000" cy="116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31" name="제한 실증 후 단가 산정">
            <a:extLst xmlns:a="http://schemas.openxmlformats.org/drawingml/2006/main">
              <a:ext uri="{FF2B5EF4-FFF2-40B4-BE49-F238E27FC236}">
                <a16:creationId xmlns:a16="http://schemas.microsoft.com/office/drawing/2014/main" id="{6157B2AC-B5C2-4D41-8543-D645432A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068320"/>
            <a:ext cx="5334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제한 실증 후 단가 산정</a:t>
            </a:r>
          </a:p>
        </p:txBody>
      </p:sp>
      <p:sp>
        <p:nvSpPr>
          <p:cNvPr id="32" name="처리량과 투입시간을 측정해 산정합니다.">
            <a:extLst xmlns:a="http://schemas.openxmlformats.org/drawingml/2006/main">
              <a:ext uri="{FF2B5EF4-FFF2-40B4-BE49-F238E27FC236}">
                <a16:creationId xmlns:a16="http://schemas.microsoft.com/office/drawing/2014/main" id="{D7710C7C-45C3-4271-9B3F-90EC11F4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62020"/>
            <a:ext cx="539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처리량과 투입시간을 측정해 산정합니다.</a:t>
            </a:r>
          </a:p>
        </p:txBody>
      </p:sp>
      <p:sp>
        <p:nvSpPr>
          <p:cNvPr id="33" name="산정할 비용 항목">
            <a:extLst xmlns:a="http://schemas.openxmlformats.org/drawingml/2006/main">
              <a:ext uri="{FF2B5EF4-FFF2-40B4-BE49-F238E27FC236}">
                <a16:creationId xmlns:a16="http://schemas.microsoft.com/office/drawing/2014/main" id="{6D42F88D-F12A-4485-A808-013FD515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1744980"/>
            <a:ext cx="5588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산정할 비용 항목</a:t>
            </a:r>
          </a:p>
        </p:txBody>
      </p:sp>
      <p:sp>
        <p:nvSpPr>
          <p:cNvPr id="34" name="반복 측정과 차량·장비 운용">
            <a:extLst xmlns:a="http://schemas.openxmlformats.org/drawingml/2006/main">
              <a:ext uri="{FF2B5EF4-FFF2-40B4-BE49-F238E27FC236}">
                <a16:creationId xmlns:a16="http://schemas.microsoft.com/office/drawing/2014/main" id="{49AB7710-DE2C-48E5-A8C6-4BB920B4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2212340"/>
            <a:ext cx="5588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반복 측정과 차량·장비 운용</a:t>
            </a:r>
          </a:p>
        </p:txBody>
      </p:sp>
      <p:sp>
        <p:nvSpPr>
          <p:cNvPr id="35" name="인력 · 차량 · 장비">
            <a:extLst xmlns:a="http://schemas.openxmlformats.org/drawingml/2006/main">
              <a:ext uri="{FF2B5EF4-FFF2-40B4-BE49-F238E27FC236}">
                <a16:creationId xmlns:a16="http://schemas.microsoft.com/office/drawing/2014/main" id="{9DA7E001-542A-4065-B37D-9D5E3497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700" y="2514600"/>
            <a:ext cx="3175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인력 · 차량 · 장비</a:t>
            </a:r>
          </a:p>
        </p:txBody>
      </p:sp>
      <p:sp>
        <p:nvSpPr>
          <p:cNvPr id="36" name="검토와 기록 관리">
            <a:extLst xmlns:a="http://schemas.openxmlformats.org/drawingml/2006/main">
              <a:ext uri="{FF2B5EF4-FFF2-40B4-BE49-F238E27FC236}">
                <a16:creationId xmlns:a16="http://schemas.microsoft.com/office/drawing/2014/main" id="{B2667DAA-D651-463A-A164-723FA5E0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3253740"/>
            <a:ext cx="5588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검토와 기록 관리</a:t>
            </a:r>
          </a:p>
        </p:txBody>
      </p:sp>
      <p:sp>
        <p:nvSpPr>
          <p:cNvPr id="37" name="판독 · 데이터 관리">
            <a:extLst xmlns:a="http://schemas.openxmlformats.org/drawingml/2006/main">
              <a:ext uri="{FF2B5EF4-FFF2-40B4-BE49-F238E27FC236}">
                <a16:creationId xmlns:a16="http://schemas.microsoft.com/office/drawing/2014/main" id="{7379FC39-7211-46BC-80B3-CECFBFC9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700" y="3568700"/>
            <a:ext cx="31115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판독 · 데이터 관리</a:t>
            </a:r>
          </a:p>
        </p:txBody>
      </p:sp>
      <p:sp>
        <p:nvSpPr>
          <p:cNvPr id="38" name="협의">
            <a:extLst xmlns:a="http://schemas.openxmlformats.org/drawingml/2006/main">
              <a:ext uri="{FF2B5EF4-FFF2-40B4-BE49-F238E27FC236}">
                <a16:creationId xmlns:a16="http://schemas.microsoft.com/office/drawing/2014/main" id="{8DFA1DB0-6903-40C5-AFE6-F921398A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14420"/>
            <a:ext cx="825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rPr>
              <a:t>협의</a:t>
            </a:r>
          </a:p>
        </p:txBody>
      </p:sp>
      <p:sp>
        <p:nvSpPr>
          <p:cNvPr id="39" name="기존 정밀조사는 유지합니다.&#10;재확인·천공·복구">
            <a:extLst xmlns:a="http://schemas.openxmlformats.org/drawingml/2006/main">
              <a:ext uri="{FF2B5EF4-FFF2-40B4-BE49-F238E27FC236}">
                <a16:creationId xmlns:a16="http://schemas.microsoft.com/office/drawing/2014/main" id="{BA06A28D-445A-45D7-B0B3-010CE1AA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787900"/>
            <a:ext cx="11049000" cy="67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기존 정밀조사는 유지합니다.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재확인·천공·복구는 포함 범위를 협의해 별도 산정합니다.</a:t>
            </a:r>
          </a:p>
        </p:txBody>
      </p:sp>
      <p:sp>
        <p:nvSpPr>
          <p:cNvPr id="40" name="비용 항목 구분 · 금액과 구성비는 제한 실증">
            <a:extLst xmlns:a="http://schemas.openxmlformats.org/drawingml/2006/main">
              <a:ext uri="{FF2B5EF4-FFF2-40B4-BE49-F238E27FC236}">
                <a16:creationId xmlns:a16="http://schemas.microsoft.com/office/drawing/2014/main" id="{7285146D-F2F4-47A7-83BE-74FDB844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비용 항목 구분 · 금액과 구성비는 제한 실증 후 산정합니다. 상세 산정 항목과 가정은 발표자 노트에 기재했습니다.</a:t>
            </a:r>
          </a:p>
        </p:txBody>
      </p:sp>
      <p:sp>
        <p:nvSpPr>
          <p:cNvPr id="41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FA5559FC-0DCC-4CEA-8F5B-4A3AE51C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15 / 18</a:t>
            </a:r>
          </a:p>
        </p:txBody>
      </p:sp>
      <p:sp>
        <p:nvSpPr>
          <p:cNvPr id="42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42FBDA2A-9813-4C73-935A-00C9338A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2591013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619BB4-1889-4A0D-B949-5127996C34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8f4516e81428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공공 PV5 도입을 검토할 수 있는 운영 모델">
            <a:extLst xmlns:a="http://schemas.openxmlformats.org/drawingml/2006/main">
              <a:ext uri="{FF2B5EF4-FFF2-40B4-BE49-F238E27FC236}">
                <a16:creationId xmlns:a16="http://schemas.microsoft.com/office/drawing/2014/main" id="{D9FBF455-29DB-43B1-B12A-ADD56D14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기아와 함께 검토할 사업화 가능성">
            <a:extLst xmlns:a="http://schemas.openxmlformats.org/drawingml/2006/main">
              <a:ext uri="{FF2B5EF4-FFF2-40B4-BE49-F238E27FC236}">
                <a16:creationId xmlns:a16="http://schemas.microsoft.com/office/drawing/2014/main" id="{0B5EA17D-B0FA-4E51-89CE-26D71918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10795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조건부 차량 대수">
            <a:extLst xmlns:a="http://schemas.openxmlformats.org/drawingml/2006/main">
              <a:ext uri="{FF2B5EF4-FFF2-40B4-BE49-F238E27FC236}">
                <a16:creationId xmlns:a16="http://schemas.microsoft.com/office/drawing/2014/main" id="{5E587B9C-04BA-44EC-AF50-F31B2C68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약 88대">
            <a:extLst xmlns:a="http://schemas.openxmlformats.org/drawingml/2006/main">
              <a:ext uri="{FF2B5EF4-FFF2-40B4-BE49-F238E27FC236}">
                <a16:creationId xmlns:a16="http://schemas.microsoft.com/office/drawing/2014/main" id="{73927E61-4BEE-453D-82F0-0DB62BB6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83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전 도로 연 6회 가정의 산술값&#10;실제 구매 수">
            <a:extLst xmlns:a="http://schemas.openxmlformats.org/drawingml/2006/main">
              <a:ext uri="{FF2B5EF4-FFF2-40B4-BE49-F238E27FC236}">
                <a16:creationId xmlns:a16="http://schemas.microsoft.com/office/drawing/2014/main" id="{C5F7A9E1-8299-4DA7-A0C3-B462FC9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117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차량 판매액 시나리오">
            <a:extLst xmlns:a="http://schemas.openxmlformats.org/drawingml/2006/main">
              <a:ext uri="{FF2B5EF4-FFF2-40B4-BE49-F238E27FC236}">
                <a16:creationId xmlns:a16="http://schemas.microsoft.com/office/drawing/2014/main" id="{3A5A859D-5335-45FF-A0D3-9B511946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약 39.8억원">
            <a:extLst xmlns:a="http://schemas.openxmlformats.org/drawingml/2006/main">
              <a:ext uri="{FF2B5EF4-FFF2-40B4-BE49-F238E27FC236}">
                <a16:creationId xmlns:a16="http://schemas.microsoft.com/office/drawing/2014/main" id="{3D5F9D6B-FA96-42C8-B861-E140680C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1783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88대 × 4,520만원의 기존 가정&#10;특장비 ">
            <a:extLst xmlns:a="http://schemas.openxmlformats.org/drawingml/2006/main">
              <a:ext uri="{FF2B5EF4-FFF2-40B4-BE49-F238E27FC236}">
                <a16:creationId xmlns:a16="http://schemas.microsoft.com/office/drawing/2014/main" id="{E7506596-11C7-4664-A5C1-C6CA95BB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7117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초기 진입">
            <a:extLst xmlns:a="http://schemas.openxmlformats.org/drawingml/2006/main">
              <a:ext uri="{FF2B5EF4-FFF2-40B4-BE49-F238E27FC236}">
                <a16:creationId xmlns:a16="http://schemas.microsoft.com/office/drawing/2014/main" id="{D477238D-EDB0-4BB1-A5FE-B79355FD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위험구간 실증">
            <a:extLst xmlns:a="http://schemas.openxmlformats.org/drawingml/2006/main">
              <a:ext uri="{FF2B5EF4-FFF2-40B4-BE49-F238E27FC236}">
                <a16:creationId xmlns:a16="http://schemas.microsoft.com/office/drawing/2014/main" id="{1B45D632-4129-48D7-9CAF-F6553BD7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1783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조사기관 협업으로 업무·성능 확인&#10;도입과 조달">
            <a:extLst xmlns:a="http://schemas.openxmlformats.org/drawingml/2006/main">
              <a:ext uri="{FF2B5EF4-FFF2-40B4-BE49-F238E27FC236}">
                <a16:creationId xmlns:a16="http://schemas.microsoft.com/office/drawing/2014/main" id="{1AA952D6-9C9C-4109-A2DD-BFB97103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7117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96,712 도로 km와 탐사 km는 다른 단">
            <a:extLst xmlns:a="http://schemas.openxmlformats.org/drawingml/2006/main">
              <a:ext uri="{FF2B5EF4-FFF2-40B4-BE49-F238E27FC236}">
                <a16:creationId xmlns:a16="http://schemas.microsoft.com/office/drawing/2014/main" id="{818AAF2B-A1BA-479A-93D0-13CA1BC4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52450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기존 가정: 96,712 ÷ (6,600 ÷ ">
            <a:extLst xmlns:a="http://schemas.openxmlformats.org/drawingml/2006/main">
              <a:ext uri="{FF2B5EF4-FFF2-40B4-BE49-F238E27FC236}">
                <a16:creationId xmlns:a16="http://schemas.microsoft.com/office/drawing/2014/main" id="{88C4D800-441B-4A2E-AAC6-5B6CA30C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611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13300BF3-927D-4278-9925-C6E108FE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9D5C7F50-F546-4170-83E5-141F749E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위험구간에서 시작하는 초기 도입 모델">
            <a:extLst xmlns:a="http://schemas.openxmlformats.org/drawingml/2006/main">
              <a:ext uri="{FF2B5EF4-FFF2-40B4-BE49-F238E27FC236}">
                <a16:creationId xmlns:a16="http://schemas.microsoft.com/office/drawing/2014/main" id="{3284BAC7-1C09-4FD7-85D6-83EE734C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범위 협의">
            <a:extLst xmlns:a="http://schemas.openxmlformats.org/drawingml/2006/main">
              <a:ext uri="{FF2B5EF4-FFF2-40B4-BE49-F238E27FC236}">
                <a16:creationId xmlns:a16="http://schemas.microsoft.com/office/drawing/2014/main" id="{2F79D18F-BF45-4007-9DF7-DAA153DB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34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도로관리기관">
            <a:extLst xmlns:a="http://schemas.openxmlformats.org/drawingml/2006/main">
              <a:ext uri="{FF2B5EF4-FFF2-40B4-BE49-F238E27FC236}">
                <a16:creationId xmlns:a16="http://schemas.microsoft.com/office/drawing/2014/main" id="{5429D0FE-119E-4D23-9733-6F5C42CB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0820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실증 수행">
            <a:extLst xmlns:a="http://schemas.openxmlformats.org/drawingml/2006/main">
              <a:ext uri="{FF2B5EF4-FFF2-40B4-BE49-F238E27FC236}">
                <a16:creationId xmlns:a16="http://schemas.microsoft.com/office/drawing/2014/main" id="{0A40FB35-7731-464F-B00A-35ECD0A8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034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조사기관과 협업">
            <a:extLst xmlns:a="http://schemas.openxmlformats.org/drawingml/2006/main">
              <a:ext uri="{FF2B5EF4-FFF2-40B4-BE49-F238E27FC236}">
                <a16:creationId xmlns:a16="http://schemas.microsoft.com/office/drawing/2014/main" id="{33FDE1BA-55FD-46DC-B059-C8569C58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0820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도입 검토">
            <a:extLst xmlns:a="http://schemas.openxmlformats.org/drawingml/2006/main">
              <a:ext uri="{FF2B5EF4-FFF2-40B4-BE49-F238E27FC236}">
                <a16:creationId xmlns:a16="http://schemas.microsoft.com/office/drawing/2014/main" id="{194C3A1F-83D4-43DC-85B7-8A59268F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34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성능·운영성 확인 후">
            <a:extLst xmlns:a="http://schemas.openxmlformats.org/drawingml/2006/main">
              <a:ext uri="{FF2B5EF4-FFF2-40B4-BE49-F238E27FC236}">
                <a16:creationId xmlns:a16="http://schemas.microsoft.com/office/drawing/2014/main" id="{83FED6CC-EE28-4E73-BEEE-AEAF9749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0820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제안 모델 · 협력기관·예산·구매·계약은 미확">
            <a:extLst xmlns:a="http://schemas.openxmlformats.org/drawingml/2006/main">
              <a:ext uri="{FF2B5EF4-FFF2-40B4-BE49-F238E27FC236}">
                <a16:creationId xmlns:a16="http://schemas.microsoft.com/office/drawing/2014/main" id="{3354C0E3-A10E-419B-AD19-ED16CA9F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10795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대상 구간과 업무 범위">
            <a:extLst xmlns:a="http://schemas.openxmlformats.org/drawingml/2006/main">
              <a:ext uri="{FF2B5EF4-FFF2-40B4-BE49-F238E27FC236}">
                <a16:creationId xmlns:a16="http://schemas.microsoft.com/office/drawing/2014/main" id="{72CB9D6F-78FE-4EA1-9E43-C57F9A21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제한 실증">
            <a:extLst xmlns:a="http://schemas.openxmlformats.org/drawingml/2006/main">
              <a:ext uri="{FF2B5EF4-FFF2-40B4-BE49-F238E27FC236}">
                <a16:creationId xmlns:a16="http://schemas.microsoft.com/office/drawing/2014/main" id="{73B14AEA-D530-407C-ABE8-1AB49952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349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도로관리기관과 위험구간 선정&#10;조사기관과 같은 ">
            <a:extLst xmlns:a="http://schemas.openxmlformats.org/drawingml/2006/main">
              <a:ext uri="{FF2B5EF4-FFF2-40B4-BE49-F238E27FC236}">
                <a16:creationId xmlns:a16="http://schemas.microsoft.com/office/drawing/2014/main" id="{FF7F3172-A61F-42BF-8C48-8F6854E5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349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현장 업무의 부담과 처리량">
            <a:extLst xmlns:a="http://schemas.openxmlformats.org/drawingml/2006/main">
              <a:ext uri="{FF2B5EF4-FFF2-40B4-BE49-F238E27FC236}">
                <a16:creationId xmlns:a16="http://schemas.microsoft.com/office/drawing/2014/main" id="{1A8C90A0-2E71-412A-BD5B-CA50D396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운영 평가">
            <a:extLst xmlns:a="http://schemas.openxmlformats.org/drawingml/2006/main">
              <a:ext uri="{FF2B5EF4-FFF2-40B4-BE49-F238E27FC236}">
                <a16:creationId xmlns:a16="http://schemas.microsoft.com/office/drawing/2014/main" id="{2B77B1BE-CF94-4729-8CAD-8712563C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191000"/>
            <a:ext cx="349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1" name="판독 부담·재확인 시간 측정&#10;유효 탐사량과 운">
            <a:extLst xmlns:a="http://schemas.openxmlformats.org/drawingml/2006/main">
              <a:ext uri="{FF2B5EF4-FFF2-40B4-BE49-F238E27FC236}">
                <a16:creationId xmlns:a16="http://schemas.microsoft.com/office/drawing/2014/main" id="{2D61A1ED-91A8-4C3A-BDBE-C4AA2F92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762500"/>
            <a:ext cx="349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검증 후 단계적 도입">
            <a:extLst xmlns:a="http://schemas.openxmlformats.org/drawingml/2006/main">
              <a:ext uri="{FF2B5EF4-FFF2-40B4-BE49-F238E27FC236}">
                <a16:creationId xmlns:a16="http://schemas.microsoft.com/office/drawing/2014/main" id="{6C53EA67-BC9A-42FB-8E69-71C431DB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3" name="확대 검토">
            <a:extLst xmlns:a="http://schemas.openxmlformats.org/drawingml/2006/main">
              <a:ext uri="{FF2B5EF4-FFF2-40B4-BE49-F238E27FC236}">
                <a16:creationId xmlns:a16="http://schemas.microsoft.com/office/drawing/2014/main" id="{5B1696A5-A093-429F-A4F5-78E13691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191000"/>
            <a:ext cx="349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성능·운영성이 확인된 뒤&#10;차량 추가 도입과 조">
            <a:extLst xmlns:a="http://schemas.openxmlformats.org/drawingml/2006/main">
              <a:ext uri="{FF2B5EF4-FFF2-40B4-BE49-F238E27FC236}">
                <a16:creationId xmlns:a16="http://schemas.microsoft.com/office/drawing/2014/main" id="{BA82B32B-9223-4681-9B89-220B9908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762500"/>
            <a:ext cx="349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5" name="초기 실증 결과로 업무 범위와 투입 차량을 검">
            <a:extLst xmlns:a="http://schemas.openxmlformats.org/drawingml/2006/main">
              <a:ext uri="{FF2B5EF4-FFF2-40B4-BE49-F238E27FC236}">
                <a16:creationId xmlns:a16="http://schemas.microsoft.com/office/drawing/2014/main" id="{877D686E-7585-4044-8A69-A6D14597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562600"/>
            <a:ext cx="1104900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협력·예산·구매·계약을 보장하지 않습니다. 지">
            <a:extLst xmlns:a="http://schemas.openxmlformats.org/drawingml/2006/main">
              <a:ext uri="{FF2B5EF4-FFF2-40B4-BE49-F238E27FC236}">
                <a16:creationId xmlns:a16="http://schemas.microsoft.com/office/drawing/2014/main" id="{21C105D1-C8B0-4457-BBED-499F131E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9200"/>
            <a:ext cx="1117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CB47350-8FC3-4A93-8445-953DF8A3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83BC2F5D-A09A-4B98-A5F7-734ACD89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9" name="위험구간 실증부터 단계적으로 도입합니다">
            <a:extLst xmlns:a="http://schemas.openxmlformats.org/drawingml/2006/main">
              <a:ext uri="{FF2B5EF4-FFF2-40B4-BE49-F238E27FC236}">
                <a16:creationId xmlns:a16="http://schemas.microsoft.com/office/drawing/2014/main" id="{8FE9EF8E-FB30-4268-94B3-F1DF50F5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위험구간 실증부터 단계적으로 도입합니다</a:t>
            </a:r>
          </a:p>
        </p:txBody>
      </p:sp>
      <p:sp>
        <p:nvSpPr>
          <p:cNvPr id="40" name="범위 협의">
            <a:extLst xmlns:a="http://schemas.openxmlformats.org/drawingml/2006/main">
              <a:ext uri="{FF2B5EF4-FFF2-40B4-BE49-F238E27FC236}">
                <a16:creationId xmlns:a16="http://schemas.microsoft.com/office/drawing/2014/main" id="{DEC91FB8-C8C8-4E78-BC99-19B394B4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7546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범위 협의</a:t>
            </a:r>
          </a:p>
        </p:txBody>
      </p:sp>
      <p:sp>
        <p:nvSpPr>
          <p:cNvPr id="41" name="도로관리기관">
            <a:extLst xmlns:a="http://schemas.openxmlformats.org/drawingml/2006/main">
              <a:ext uri="{FF2B5EF4-FFF2-40B4-BE49-F238E27FC236}">
                <a16:creationId xmlns:a16="http://schemas.microsoft.com/office/drawing/2014/main" id="{AB4798B4-1DDA-4EA4-A7B1-A1E1ABF1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6502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도로관리기관</a:t>
            </a:r>
          </a:p>
        </p:txBody>
      </p:sp>
      <p:sp>
        <p:nvSpPr>
          <p:cNvPr id="42" name="실증 수행">
            <a:extLst xmlns:a="http://schemas.openxmlformats.org/drawingml/2006/main">
              <a:ext uri="{FF2B5EF4-FFF2-40B4-BE49-F238E27FC236}">
                <a16:creationId xmlns:a16="http://schemas.microsoft.com/office/drawing/2014/main" id="{C95D81C2-9880-498D-B83B-84F70BEA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7546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수행</a:t>
            </a:r>
          </a:p>
        </p:txBody>
      </p:sp>
      <p:sp>
        <p:nvSpPr>
          <p:cNvPr id="43" name="조사기관과 협업">
            <a:extLst xmlns:a="http://schemas.openxmlformats.org/drawingml/2006/main">
              <a:ext uri="{FF2B5EF4-FFF2-40B4-BE49-F238E27FC236}">
                <a16:creationId xmlns:a16="http://schemas.microsoft.com/office/drawing/2014/main" id="{335B8667-5D70-442E-BF3C-8C0E9F3A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6502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조사기관과 협업</a:t>
            </a:r>
          </a:p>
        </p:txBody>
      </p:sp>
      <p:sp>
        <p:nvSpPr>
          <p:cNvPr id="44" name="도입 검토">
            <a:extLst xmlns:a="http://schemas.openxmlformats.org/drawingml/2006/main">
              <a:ext uri="{FF2B5EF4-FFF2-40B4-BE49-F238E27FC236}">
                <a16:creationId xmlns:a16="http://schemas.microsoft.com/office/drawing/2014/main" id="{5BF2D095-921F-4BEB-A201-D8FF60DE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7546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도입 검토</a:t>
            </a:r>
          </a:p>
        </p:txBody>
      </p:sp>
      <p:sp>
        <p:nvSpPr>
          <p:cNvPr id="45" name="성능·운영성 확인 후">
            <a:extLst xmlns:a="http://schemas.openxmlformats.org/drawingml/2006/main">
              <a:ext uri="{FF2B5EF4-FFF2-40B4-BE49-F238E27FC236}">
                <a16:creationId xmlns:a16="http://schemas.microsoft.com/office/drawing/2014/main" id="{BBDDB80B-C6CB-4810-BD70-A209AB8A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6502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성능·운영성 확인 후</a:t>
            </a:r>
          </a:p>
        </p:txBody>
      </p:sp>
      <p:sp>
        <p:nvSpPr>
          <p:cNvPr id="46" name="제안 모델 · 협력기관·예산·구매·계약은 미확">
            <a:extLst xmlns:a="http://schemas.openxmlformats.org/drawingml/2006/main">
              <a:ext uri="{FF2B5EF4-FFF2-40B4-BE49-F238E27FC236}">
                <a16:creationId xmlns:a16="http://schemas.microsoft.com/office/drawing/2014/main" id="{E8E4D064-8584-48C4-A84D-0996823C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60420"/>
            <a:ext cx="10795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제안 모델 · 협력기관·예산·구매·계약은 미확정</a:t>
            </a:r>
          </a:p>
        </p:txBody>
      </p:sp>
      <p:sp>
        <p:nvSpPr>
          <p:cNvPr id="47" name="대상 구간과 업무 범위">
            <a:extLst xmlns:a="http://schemas.openxmlformats.org/drawingml/2006/main">
              <a:ext uri="{FF2B5EF4-FFF2-40B4-BE49-F238E27FC236}">
                <a16:creationId xmlns:a16="http://schemas.microsoft.com/office/drawing/2014/main" id="{D90B00E7-B269-4815-BB6F-4FD7CBE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07460"/>
            <a:ext cx="34925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대상 구간과 업무 범위</a:t>
            </a:r>
          </a:p>
        </p:txBody>
      </p:sp>
      <p:sp>
        <p:nvSpPr>
          <p:cNvPr id="48" name="제한 실증">
            <a:extLst xmlns:a="http://schemas.openxmlformats.org/drawingml/2006/main">
              <a:ext uri="{FF2B5EF4-FFF2-40B4-BE49-F238E27FC236}">
                <a16:creationId xmlns:a16="http://schemas.microsoft.com/office/drawing/2014/main" id="{5F541CF8-7DBF-4B69-BF4E-8690CAA7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24960"/>
            <a:ext cx="3492500" cy="4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제한 실증</a:t>
            </a:r>
          </a:p>
        </p:txBody>
      </p:sp>
      <p:sp>
        <p:nvSpPr>
          <p:cNvPr id="49" name="위험구간 선정 후 반복 측정">
            <a:extLst xmlns:a="http://schemas.openxmlformats.org/drawingml/2006/main">
              <a:ext uri="{FF2B5EF4-FFF2-40B4-BE49-F238E27FC236}">
                <a16:creationId xmlns:a16="http://schemas.microsoft.com/office/drawing/2014/main" id="{F3727A9D-6506-4932-97E2-5D97A64D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2820"/>
            <a:ext cx="3492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위험구간 선정 후 반복 측정</a:t>
            </a:r>
          </a:p>
        </p:txBody>
      </p:sp>
      <p:sp>
        <p:nvSpPr>
          <p:cNvPr id="50" name="현장 업무의 부담과 처리량">
            <a:extLst xmlns:a="http://schemas.openxmlformats.org/drawingml/2006/main">
              <a:ext uri="{FF2B5EF4-FFF2-40B4-BE49-F238E27FC236}">
                <a16:creationId xmlns:a16="http://schemas.microsoft.com/office/drawing/2014/main" id="{5E1B99BD-8FD6-462A-8547-0463F2C9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3807460"/>
            <a:ext cx="34925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현장 업무의 부담과 처리량</a:t>
            </a:r>
          </a:p>
        </p:txBody>
      </p:sp>
      <p:sp>
        <p:nvSpPr>
          <p:cNvPr id="51" name="운영 평가">
            <a:extLst xmlns:a="http://schemas.openxmlformats.org/drawingml/2006/main">
              <a:ext uri="{FF2B5EF4-FFF2-40B4-BE49-F238E27FC236}">
                <a16:creationId xmlns:a16="http://schemas.microsoft.com/office/drawing/2014/main" id="{B77E9FB6-C146-43FE-AF82-DFF0C560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124960"/>
            <a:ext cx="3492500" cy="4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 평가</a:t>
            </a:r>
          </a:p>
        </p:txBody>
      </p:sp>
      <p:sp>
        <p:nvSpPr>
          <p:cNvPr id="52" name="판독 부담·재확인 시간·탐사량 평가">
            <a:extLst xmlns:a="http://schemas.openxmlformats.org/drawingml/2006/main">
              <a:ext uri="{FF2B5EF4-FFF2-40B4-BE49-F238E27FC236}">
                <a16:creationId xmlns:a16="http://schemas.microsoft.com/office/drawing/2014/main" id="{BF181157-DEB2-491E-82FA-0805F181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782820"/>
            <a:ext cx="3492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판독 부담·재확인 시간·탐사량 평가</a:t>
            </a:r>
          </a:p>
        </p:txBody>
      </p:sp>
      <p:sp>
        <p:nvSpPr>
          <p:cNvPr id="53" name="검증 후 단계적 도입">
            <a:extLst xmlns:a="http://schemas.openxmlformats.org/drawingml/2006/main">
              <a:ext uri="{FF2B5EF4-FFF2-40B4-BE49-F238E27FC236}">
                <a16:creationId xmlns:a16="http://schemas.microsoft.com/office/drawing/2014/main" id="{2565E7DD-7152-404E-A390-ECBCF3DF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3807460"/>
            <a:ext cx="34925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검증 후 단계적 도입</a:t>
            </a:r>
          </a:p>
        </p:txBody>
      </p:sp>
      <p:sp>
        <p:nvSpPr>
          <p:cNvPr id="54" name="확대 검토">
            <a:extLst xmlns:a="http://schemas.openxmlformats.org/drawingml/2006/main">
              <a:ext uri="{FF2B5EF4-FFF2-40B4-BE49-F238E27FC236}">
                <a16:creationId xmlns:a16="http://schemas.microsoft.com/office/drawing/2014/main" id="{779CB701-50FC-4485-92A4-AC058CA2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124960"/>
            <a:ext cx="3492500" cy="4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확대 검토</a:t>
            </a:r>
          </a:p>
        </p:txBody>
      </p:sp>
      <p:sp>
        <p:nvSpPr>
          <p:cNvPr id="55" name="성능·운영성 확인 후 차량 도입 검토">
            <a:extLst xmlns:a="http://schemas.openxmlformats.org/drawingml/2006/main">
              <a:ext uri="{FF2B5EF4-FFF2-40B4-BE49-F238E27FC236}">
                <a16:creationId xmlns:a16="http://schemas.microsoft.com/office/drawing/2014/main" id="{7D405670-85EF-4FA2-955C-D77511A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782820"/>
            <a:ext cx="3492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성능·운영성 확인 후 차량 도입 검토</a:t>
            </a:r>
          </a:p>
        </p:txBody>
      </p:sp>
      <p:sp>
        <p:nvSpPr>
          <p:cNvPr id="56" name="실증 결과를 확인한 뒤, 차량 추가 도입을 검">
            <a:extLst xmlns:a="http://schemas.openxmlformats.org/drawingml/2006/main">
              <a:ext uri="{FF2B5EF4-FFF2-40B4-BE49-F238E27FC236}">
                <a16:creationId xmlns:a16="http://schemas.microsoft.com/office/drawing/2014/main" id="{9D25803D-230E-4110-B538-ACACC45D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76326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실증 결과를 확인한 뒤, 차량 추가 도입을 검토합니다.</a:t>
            </a:r>
          </a:p>
        </p:txBody>
      </p:sp>
      <p:sp>
        <p:nvSpPr>
          <p:cNvPr id="57" name="도입·협력·예산·구매·계약은 미확정입니다. 지">
            <a:extLst xmlns:a="http://schemas.openxmlformats.org/drawingml/2006/main">
              <a:ext uri="{FF2B5EF4-FFF2-40B4-BE49-F238E27FC236}">
                <a16:creationId xmlns:a16="http://schemas.microsoft.com/office/drawing/2014/main" id="{0B23AEB9-E90E-4DEC-B1E7-C3E6EAA8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도입·협력·예산·구매·계약은 미확정입니다. 지하 데이터는 계약기관의 권한 범위에서 관리합니다.</a:t>
            </a:r>
          </a:p>
        </p:txBody>
      </p:sp>
      <p:sp>
        <p:nvSpPr>
          <p:cNvPr id="58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9EF970C2-7D65-4285-934D-0F616F31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16 / 18</a:t>
            </a:r>
          </a:p>
        </p:txBody>
      </p:sp>
      <p:sp>
        <p:nvSpPr>
          <p:cNvPr id="59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2CDFDCC7-C731-42C5-8685-9B56C9DA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21103184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91C162-4733-4AFD-B712-3B53242710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e3f24d5e7a44b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위험구간 소규모 실증부터 시작합니다">
            <a:extLst xmlns:a="http://schemas.openxmlformats.org/drawingml/2006/main">
              <a:ext uri="{FF2B5EF4-FFF2-40B4-BE49-F238E27FC236}">
                <a16:creationId xmlns:a16="http://schemas.microsoft.com/office/drawing/2014/main" id="{B13C3B81-F192-45B7-8455-BAB0ABE9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조사기관·지자체와 실증 범위 협의">
            <a:extLst xmlns:a="http://schemas.openxmlformats.org/drawingml/2006/main">
              <a:ext uri="{FF2B5EF4-FFF2-40B4-BE49-F238E27FC236}">
                <a16:creationId xmlns:a16="http://schemas.microsoft.com/office/drawing/2014/main" id="{C6D31DB8-889C-4184-8EED-9F6C54DF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943100"/>
            <a:ext cx="5715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첫 목표는 현장 검증">
            <a:extLst xmlns:a="http://schemas.openxmlformats.org/drawingml/2006/main">
              <a:ext uri="{FF2B5EF4-FFF2-40B4-BE49-F238E27FC236}">
                <a16:creationId xmlns:a16="http://schemas.microsoft.com/office/drawing/2014/main" id="{E169901C-DBF7-4A1C-BD06-499411DC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540000"/>
            <a:ext cx="571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기존 탐사 업무와 연결 가능한 구간 선정&#10;장비">
            <a:extLst xmlns:a="http://schemas.openxmlformats.org/drawingml/2006/main">
              <a:ext uri="{FF2B5EF4-FFF2-40B4-BE49-F238E27FC236}">
                <a16:creationId xmlns:a16="http://schemas.microsoft.com/office/drawing/2014/main" id="{A69C2B02-66D1-4287-86F8-6675C306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390900"/>
            <a:ext cx="5715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초기 · 협의 후 착수">
            <a:extLst xmlns:a="http://schemas.openxmlformats.org/drawingml/2006/main">
              <a:ext uri="{FF2B5EF4-FFF2-40B4-BE49-F238E27FC236}">
                <a16:creationId xmlns:a16="http://schemas.microsoft.com/office/drawing/2014/main" id="{EDAA3897-E04B-4157-BC23-8C283BC4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84150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차량 확보 협의·폐쇄 시험장 검증">
            <a:extLst xmlns:a="http://schemas.openxmlformats.org/drawingml/2006/main">
              <a:ext uri="{FF2B5EF4-FFF2-40B4-BE49-F238E27FC236}">
                <a16:creationId xmlns:a16="http://schemas.microsoft.com/office/drawing/2014/main" id="{D34738E9-837A-49BE-95BB-8A306EF0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2098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1~2년">
            <a:extLst xmlns:a="http://schemas.openxmlformats.org/drawingml/2006/main">
              <a:ext uri="{FF2B5EF4-FFF2-40B4-BE49-F238E27FC236}">
                <a16:creationId xmlns:a16="http://schemas.microsoft.com/office/drawing/2014/main" id="{B9E24E05-5036-472C-8667-8CFDFB90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57810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조사기관 협업·위험구간 제한 실증">
            <a:extLst xmlns:a="http://schemas.openxmlformats.org/drawingml/2006/main">
              <a:ext uri="{FF2B5EF4-FFF2-40B4-BE49-F238E27FC236}">
                <a16:creationId xmlns:a16="http://schemas.microsoft.com/office/drawing/2014/main" id="{4C498050-99AC-4609-ABE5-F2397F10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9464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2~3년">
            <a:extLst xmlns:a="http://schemas.openxmlformats.org/drawingml/2006/main">
              <a:ext uri="{FF2B5EF4-FFF2-40B4-BE49-F238E27FC236}">
                <a16:creationId xmlns:a16="http://schemas.microsoft.com/office/drawing/2014/main" id="{7E038244-1A8C-40CD-8883-9D37AF56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32740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기술 지표 통과 후 조달·계약 검토">
            <a:extLst xmlns:a="http://schemas.openxmlformats.org/drawingml/2006/main">
              <a:ext uri="{FF2B5EF4-FFF2-40B4-BE49-F238E27FC236}">
                <a16:creationId xmlns:a16="http://schemas.microsoft.com/office/drawing/2014/main" id="{154169AD-2D15-4C15-9450-88DF38B7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6957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3년 이후">
            <a:extLst xmlns:a="http://schemas.openxmlformats.org/drawingml/2006/main">
              <a:ext uri="{FF2B5EF4-FFF2-40B4-BE49-F238E27FC236}">
                <a16:creationId xmlns:a16="http://schemas.microsoft.com/office/drawing/2014/main" id="{AE4CCB05-9151-4E10-B006-CE2D1277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06400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운영성과 확인 후 권역 확대 검토">
            <a:extLst xmlns:a="http://schemas.openxmlformats.org/drawingml/2006/main">
              <a:ext uri="{FF2B5EF4-FFF2-40B4-BE49-F238E27FC236}">
                <a16:creationId xmlns:a16="http://schemas.microsoft.com/office/drawing/2014/main" id="{2A14AEBA-0C5A-48C5-9116-2E87CEA5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4323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차량 대여·협력기관·예산은 협의가 필요합니다.">
            <a:extLst xmlns:a="http://schemas.openxmlformats.org/drawingml/2006/main">
              <a:ext uri="{FF2B5EF4-FFF2-40B4-BE49-F238E27FC236}">
                <a16:creationId xmlns:a16="http://schemas.microsoft.com/office/drawing/2014/main" id="{7BF07770-8B2E-4324-B57D-8EC72794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143500"/>
            <a:ext cx="110490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출처: 공모전 일반 부문 PoC·실물 대여 검">
            <a:extLst xmlns:a="http://schemas.openxmlformats.org/drawingml/2006/main">
              <a:ext uri="{FF2B5EF4-FFF2-40B4-BE49-F238E27FC236}">
                <a16:creationId xmlns:a16="http://schemas.microsoft.com/office/drawing/2014/main" id="{C5AD9343-9080-4A9C-A834-78DA16C8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7DB0F84-3F55-4B97-B024-5A90E2CA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9971E4ED-EA59-4456-8D6B-86D91FC9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위험구간 소규모 실증부터 시작합니다">
            <a:extLst xmlns:a="http://schemas.openxmlformats.org/drawingml/2006/main">
              <a:ext uri="{FF2B5EF4-FFF2-40B4-BE49-F238E27FC236}">
                <a16:creationId xmlns:a16="http://schemas.microsoft.com/office/drawing/2014/main" id="{F01F3702-73FA-475E-BA87-BB6B1217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위험구간 소규모 실증부터 시작합니다</a:t>
            </a:r>
          </a:p>
        </p:txBody>
      </p:sp>
      <p:sp>
        <p:nvSpPr>
          <p:cNvPr id="20" name="조사기관·지자체와 실증 범위 협의">
            <a:extLst xmlns:a="http://schemas.openxmlformats.org/drawingml/2006/main">
              <a:ext uri="{FF2B5EF4-FFF2-40B4-BE49-F238E27FC236}">
                <a16:creationId xmlns:a16="http://schemas.microsoft.com/office/drawing/2014/main" id="{4A323C9F-75C6-4823-9738-6D744643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899920"/>
            <a:ext cx="5715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조사기관·지자체와 실증 범위 협의</a:t>
            </a:r>
          </a:p>
        </p:txBody>
      </p:sp>
      <p:sp>
        <p:nvSpPr>
          <p:cNvPr id="21" name="현장 검증">
            <a:extLst xmlns:a="http://schemas.openxmlformats.org/drawingml/2006/main">
              <a:ext uri="{FF2B5EF4-FFF2-40B4-BE49-F238E27FC236}">
                <a16:creationId xmlns:a16="http://schemas.microsoft.com/office/drawing/2014/main" id="{E2B85C21-557E-4515-834A-19739227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395220"/>
            <a:ext cx="571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 검증</a:t>
            </a:r>
          </a:p>
        </p:txBody>
      </p:sp>
      <p:sp>
        <p:nvSpPr>
          <p:cNvPr id="22" name="기존 탐사와 연결할 구간 선정&#10;실증 범위를 정">
            <a:extLst xmlns:a="http://schemas.openxmlformats.org/drawingml/2006/main">
              <a:ext uri="{FF2B5EF4-FFF2-40B4-BE49-F238E27FC236}">
                <a16:creationId xmlns:a16="http://schemas.microsoft.com/office/drawing/2014/main" id="{52176DB1-3F3A-4BF4-B4D2-23E8EC91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282950"/>
            <a:ext cx="5715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기존 탐사와 연결할 구간 선정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실증 범위를 정한 뒤 예산 산정</a:t>
            </a:r>
          </a:p>
        </p:txBody>
      </p:sp>
      <p:sp>
        <p:nvSpPr>
          <p:cNvPr id="23" name="초기 · 협의 후 착수">
            <a:extLst xmlns:a="http://schemas.openxmlformats.org/drawingml/2006/main">
              <a:ext uri="{FF2B5EF4-FFF2-40B4-BE49-F238E27FC236}">
                <a16:creationId xmlns:a16="http://schemas.microsoft.com/office/drawing/2014/main" id="{D784B310-E0D3-4CEC-9236-65EA0E5A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79578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초기 · 협의 후 착수</a:t>
            </a:r>
          </a:p>
        </p:txBody>
      </p:sp>
      <p:sp>
        <p:nvSpPr>
          <p:cNvPr id="24" name="차량 확보 협의·폐쇄 시험장 검증">
            <a:extLst xmlns:a="http://schemas.openxmlformats.org/drawingml/2006/main">
              <a:ext uri="{FF2B5EF4-FFF2-40B4-BE49-F238E27FC236}">
                <a16:creationId xmlns:a16="http://schemas.microsoft.com/office/drawing/2014/main" id="{6A220E57-D81A-4480-91B2-2B7D165F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1717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차량 확보 협의·폐쇄 시험장 검증</a:t>
            </a:r>
          </a:p>
        </p:txBody>
      </p:sp>
      <p:sp>
        <p:nvSpPr>
          <p:cNvPr id="25" name="1~2년">
            <a:extLst xmlns:a="http://schemas.openxmlformats.org/drawingml/2006/main">
              <a:ext uri="{FF2B5EF4-FFF2-40B4-BE49-F238E27FC236}">
                <a16:creationId xmlns:a16="http://schemas.microsoft.com/office/drawing/2014/main" id="{5F843CE0-5C77-4A4B-AFAF-BC99AE85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53238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1~2년</a:t>
            </a:r>
          </a:p>
        </p:txBody>
      </p:sp>
      <p:sp>
        <p:nvSpPr>
          <p:cNvPr id="26" name="조사기관 협업·위험구간 제한 실증">
            <a:extLst xmlns:a="http://schemas.openxmlformats.org/drawingml/2006/main">
              <a:ext uri="{FF2B5EF4-FFF2-40B4-BE49-F238E27FC236}">
                <a16:creationId xmlns:a16="http://schemas.microsoft.com/office/drawing/2014/main" id="{1684F1AB-6A2A-436E-AF8F-B4A2197F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9083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조사기관 협업·위험구간 제한 실증</a:t>
            </a:r>
          </a:p>
        </p:txBody>
      </p:sp>
      <p:sp>
        <p:nvSpPr>
          <p:cNvPr id="27" name="2~3년">
            <a:extLst xmlns:a="http://schemas.openxmlformats.org/drawingml/2006/main">
              <a:ext uri="{FF2B5EF4-FFF2-40B4-BE49-F238E27FC236}">
                <a16:creationId xmlns:a16="http://schemas.microsoft.com/office/drawing/2014/main" id="{26BEF421-9A60-466D-B50D-7BC3A090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28168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2~3년</a:t>
            </a:r>
          </a:p>
        </p:txBody>
      </p:sp>
      <p:sp>
        <p:nvSpPr>
          <p:cNvPr id="28" name="기술 지표 통과 후 조달·계약 검토">
            <a:extLst xmlns:a="http://schemas.openxmlformats.org/drawingml/2006/main">
              <a:ext uri="{FF2B5EF4-FFF2-40B4-BE49-F238E27FC236}">
                <a16:creationId xmlns:a16="http://schemas.microsoft.com/office/drawing/2014/main" id="{47C7A60B-5ACB-46AB-8CF0-193974BE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6576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기술 지표 통과 후 조달·계약 검토</a:t>
            </a:r>
          </a:p>
        </p:txBody>
      </p:sp>
      <p:sp>
        <p:nvSpPr>
          <p:cNvPr id="29" name="3년 이후">
            <a:extLst xmlns:a="http://schemas.openxmlformats.org/drawingml/2006/main">
              <a:ext uri="{FF2B5EF4-FFF2-40B4-BE49-F238E27FC236}">
                <a16:creationId xmlns:a16="http://schemas.microsoft.com/office/drawing/2014/main" id="{B1EA07E8-BFD3-4A6F-8DFD-DF86DBE4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01828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3년 이후</a:t>
            </a:r>
          </a:p>
        </p:txBody>
      </p:sp>
      <p:sp>
        <p:nvSpPr>
          <p:cNvPr id="30" name="운영성과 확인 후 권역 확대 검토">
            <a:extLst xmlns:a="http://schemas.openxmlformats.org/drawingml/2006/main">
              <a:ext uri="{FF2B5EF4-FFF2-40B4-BE49-F238E27FC236}">
                <a16:creationId xmlns:a16="http://schemas.microsoft.com/office/drawing/2014/main" id="{5494B584-94B1-4AC9-95D9-6A6274CE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3942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운영성과 확인 후 권역 확대 검토</a:t>
            </a:r>
          </a:p>
        </p:txBody>
      </p:sp>
      <p:sp>
        <p:nvSpPr>
          <p:cNvPr id="31" name="차량·협력기관·예산은 협의가 필요합니다. 일정">
            <a:extLst xmlns:a="http://schemas.openxmlformats.org/drawingml/2006/main">
              <a:ext uri="{FF2B5EF4-FFF2-40B4-BE49-F238E27FC236}">
                <a16:creationId xmlns:a16="http://schemas.microsoft.com/office/drawing/2014/main" id="{108B163C-B944-457C-929E-C82714C1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102860"/>
            <a:ext cx="11049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차량·협력기관·예산은 협의가 필요합니다. 일정은 목표입니다.</a:t>
            </a:r>
          </a:p>
        </p:txBody>
      </p:sp>
      <p:sp>
        <p:nvSpPr>
          <p:cNvPr id="32" name="출처: 공모전 일반 부문 PoC·실물 대여 검">
            <a:extLst xmlns:a="http://schemas.openxmlformats.org/drawingml/2006/main">
              <a:ext uri="{FF2B5EF4-FFF2-40B4-BE49-F238E27FC236}">
                <a16:creationId xmlns:a16="http://schemas.microsoft.com/office/drawing/2014/main" id="{30F70797-D908-4393-87E6-7508BD7D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출처: 공모전 일반 부문 PoC·실물 대여 검토 안내 · 도입 일정은 제안 목표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발주 예산과 제안 업무 범위의 적합성은 원공고·발주기관 협의 후 확인합니다.</a:t>
            </a:r>
          </a:p>
        </p:txBody>
      </p:sp>
      <p:sp>
        <p:nvSpPr>
          <p:cNvPr id="3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8438584-6C9F-43F9-9A20-9EFE181E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17 / 18</a:t>
            </a:r>
          </a:p>
        </p:txBody>
      </p:sp>
      <p:sp>
        <p:nvSpPr>
          <p:cNvPr id="3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4BCDF8F-D608-41C7-9A10-C6CCD3CF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207374204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78EA9-4682-4E77-AF4C-D4EFEF4D1A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d9dc9dbb24bf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46EEB07E-CF99-47E6-9088-09D2D18D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4050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콘셉트 이미지 · 18 / 18</a:t>
            </a:r>
          </a:p>
        </p:txBody>
      </p:sp>
    </p:spTree>
    <p:extLst>
      <p:ext uri="{BB962C8B-B14F-4D97-AF65-F5344CB8AC3E}">
        <p14:creationId xmlns:p14="http://schemas.microsoft.com/office/powerpoint/2010/main" val="550154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2026-10-27T01:55:46.5260000Z</dcterms:created>
  <dcterms:modified xsi:type="dcterms:W3CDTF">2026-10-27T01:55:46.5260000Z</dcterms:modified>
</coreProperties>
</file>