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 id="{BF771D7B-D6F9-91D9-C6F9-492A5BE748FE}">
          <p14:sldIdLst>
            <p14:sldId id="256"/>
            <p14:sldId id="257"/>
            <p14:sldId id="258"/>
            <p14:sldId id="259"/>
            <p14:sldId id="260"/>
          </p14:sldIdLst>
        </p14:section>
        <p14:section name="운영 모델" id="{91EE363F-17CC-9FB3-8C43-A35942D517F5}">
          <p14:sldIdLst>
            <p14:sldId id="261"/>
            <p14:sldId id="262"/>
            <p14:sldId id="263"/>
            <p14:sldId id="264"/>
            <p14:sldId id="265"/>
            <p14:sldId id="266"/>
            <p14:sldId id="267"/>
            <p14:sldId id="268"/>
            <p14:sldId id="269"/>
            <p14:sldId id="270"/>
            <p14:sldId id="271"/>
            <p14:sldId id="272"/>
          </p14:sldIdLst>
        </p14:section>
        <p14:section name="확장" id="{315CB2AA-47B7-1B12-53E5-C2F42DC5A0FD}">
          <p14:sldIdLst>
            <p14:sldId id="273"/>
            <p14:sldId id="274"/>
            <p14:sldId id="275"/>
            <p14:sldId id="276"/>
            <p14:sldId id="277"/>
            <p14:sldId id="278"/>
          </p14:sldIdLst>
        </p14:section>
        <p14:section name="부록" id="{AAB488E2-5F3E-6430-64C8-AEDF4C93BECD}">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23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8449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숫자 뒤에는 집으로 돌아가지 못한 한 사람이 있습니다. 우리가 찾으려는 것은 이미 생긴 구멍이 아니라, 구멍이 되기 전의 변화입니다.
[사실] 2025.3.24 18:28경 서울 강동구 명일동. 붕괴 시작 후 약 1~2분 만에 길이 22m, 폭 18m, 깊이 16m로 확대. 사망 1명, 부상 1명.
출처: 국토교통부 정책브리핑 '땅꺼짐 사고 조사결과 발표'(2025.12.3) https://m.korea.kr/briefing/policyBriefingView.do?newsId=156732996
최종보고서: https://www.molit.go.kr/USR/policyData/m_34681/dtl.jsp?id=4872
표현 원칙: 희생자 이름, 얼굴, 구조 장면은 쓰지 않습니다. 특정 기관 책임을 단정하지 않습니다. 배경은 실제 사고 사진이 아닌 개념 일러스트입니다.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명일동 사고는 하나의 원인이 아니라 여러 조건이 겹친 결과였습니다. 직접 원인은 심층풍화대 불연속면이 만든 쐐기형 토체의 미끄러짐, 간접 원인은 터널공사로 인한 지하수위 26m 저하, 노후 하수관의 장기 누수, 강관보강 그라우팅의 지보 성능 한계입니다.
주의: 이 사고는 깊은 지질구조와 터널공사가 얽힌 사고이고, GroundWatch의 차량형 GPR은 약 2m 안팎의 얕은 공동을 주로 봅니다. 그래서 이 사고를 막을 수 있었다고 말하지 않습니다. 이 사례는 단발성 점검을 반복 관측과 변화 관리로 바꿔야 하는 이유로만 씁니다.
출처: https://m.korea.kr/briefing/policyBriefingView.do?newsId=156732996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서울시는 차량형 GPR, 수동형 GPR, 천공과 내시경을 조합해 운영합니다.
- 차량형 GPR: 서울시는 2015년 국내 처음 차량탑재형 GPR을 도입했고, 한 번 지나가며 약 3m 폭을 탐사합니다. https://news.seoul.go.kr/safe/archives/41339
- 누적 33,129km, 공동 7,760개(2014~2025.9): 경향신문 2025.10.19 https://www.khan.co.kr/article/202510191122011
- 2026년 16,423km, GPR 인력 9명→19명: 서울시 보도자료 https://www.seoul.go.kr/news/news_report.do?nttNo=454742 (언론에 나온 18,000km 계획과 차이가 있어 공식 발표 값을 씀)
- 고주파 GPR 탐지 깊이 약 2m: https://www.safetimes.co.kr/news/articleView.html?idxno=231486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연희동 성산로 사례는 반복 관측이 왜 필요한지 보여줍니다. 서울시 설명에 따르면 이 구간은 정기점검 대상으로 2024년 5월 7일부터 16일까지 GPR 탐사차량 2대와 인력 16명을 들여 조사했지만, 당시 빈 공간이 발견되지 않았습니다. 그리고 8월 29일 함몰이 일어났습니다.
이것이 GPR 탐사의 실패라는 뜻은 아닙니다. 지하는 변하고, 한 시점의 결과는 그 시점만 말해 준다는 뜻입니다.
출처: https://www.newsis.com/view/NISX20240830_0002869815 , https://www.etoday.co.kr/news/view/2397645 , https://mediahub.seoul.go.kr/archives/2012160
[추가 확인 필요] 연희동 함몰 규모(가로, 세로, 깊이)는 공식 자료로 확인하지 못해 쓰지 않았습니다.
[가설] 아래 네 가지 공백은 현장 인터뷰로 검증합니다.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GroundWatch는 네 단계가 반복되는 구조입니다. 새벽에 같은 경로를 순찰하고, 회차별 데이터를 위치, 깊이, 시간으로 기록해 비교하고, 전문가가 승인한 지점만 현장에서 다시 확인하고, 그 결과가 다음 순찰과 AI 개선으로 돌아갑니다.
핵심은 한 번의 탐사가 아니라 반복 관측과 변화 관리입니다.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지금 기술로 바로 꾸릴 수 있는 운영 모델 열한 가지를 순서대로 보여드립니다.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새벽은 주차 차량과 보행자가 가장 적은 시간이라 같은 경로를 같은 조건으로 반복 주행하기 좋습니다. PV5는 전기차라 엔진 공회전 소음과 배기가스 없이 주택가를 저속으로 오래 달릴 수 있습니다.
[실증 필요] 저속 장시간 운행 시 배터리 소모와 주행거리 영향, 실제 소음 수준.
참고: https://www.kia.com/kr/vehicles/pv5-cargo/features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PV5를 센서를 실어 나르는 차가 아니라, 탐사하고 차 안에서 분석하고 내려서 검증하는 이동형 플랫폼으로 정의합니다. 운전석의 12.9인치 PBV 전용 인포테인먼트에서 순찰 앱을 띄웁니다.
[사실] PV5 카고 롱 카고룸 2,255×1,565×1,520mm(4,420L), 적재고 419mm, 실내·실외 V2L 220V(최대 3.6kW). https://www.kia.com/kr/vehicles/pv5-cargo/specification , https://www.hyundaimotorgroup.com/ko/story/CONT0000000000178473
[설계 판단] PV5 하부는 배터리 팩이므로 GPR 안테나는 후방 오버행 하부에 다는 것을 기본안으로 하고, 배터리 케이스와 차체 금속의 간섭을 시험합니다.
[실증 필요] 적재중량, 차량총중량, 전후축 하중, 전자파 간섭, 구조변경 승인.</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4D 지하 변화지도는 도시 전체를 다 조사했다는 지도가 아닙니다. PV5가 실제로 주행하고 측정한 도로만 위치, 깊이, 시간으로 쌓습니다.
색 규칙: 회색 미조사, 초록 이전과 변화 없음, 노랑 새 이상 신호, 주황 확대 의심, 빨강 정밀 재탐사, 점선 신뢰도 낮음.
[예시] 17% 증가, 추정 깊이 0.9~1.3m, AI 신뢰도 84%는 화면 설명용 예시 값입니다.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AI의 역할은 결론이 아니라 우선순위입니다. 수많은 GPR 데이터 가운데 이전 회차와 달라진 부분을 먼저 찾아 전문가가 볼 순서를 정합니다.
결과에는 위험등급, 변화량, 신뢰도, 위치 오차, 권장 후속조치, 전문가 승인 여부를 함께 표시하고, AI 결과와 전문가 판정을 구분합니다.
참고 연구: https://www.researchgate.net/publication/332081634
[실증 필요] 실제 탐지율, 오탐률, 미탐률은 천공 확인 결과로 측정합니다.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찾은 후보는 바로 현장 업무가 되지 않습니다. 전문가가 원시 GPR 데이터와 함께 검토해 승인한 지점만 재확인 대기열에 들어가고, 다음 순찰 경로에 자동으로 반영됩니다.
[예시] 표의 지점 번호와 등급은 설명용입니다.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PV5는 Android Automotive OS 기반 PBV 전용 인포테인먼트와 Pleos App Market을 지원합니다. GroundWatch Patrol은 이 환경에서 돌아가는 업무용 앱을 목표로 합니다. 완전한 독자 OS라고 표현하지 않습니다.
활용 후보 데이터: 차량 위치, 주행·주차 상태, 배터리 잔량, 충전 상태, 운행거리, 내비게이션 목적지 전달, 업무 상태.
기아와 추가 협의가 필요한 데이터: 조향각, 세부 차량 제어, ADAS 원시 데이터, 차량 카메라 원시 영상, 안전 관련 ECU 데이터.
출처: https://eu-www.kia.com/uk/pbv/solutions/software/ , https://www.kia.com/kr/pbv/solution/software ('준비 중인 솔루션' 고지), PIM 제어기 https://www.hyundaimotorgroup.com/ko/news/CONT0000000000201311 (패신저 도너모델 기준, 카고 적용은 [추가 확인 필요])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Cloud와 PV5 Patrol 앱 사이는 보안 통신, 앱과 Edge Gateway 사이는 로컬 API, 게이트웨이와 AR 글래스 사이는 차량 내부 보안 Wi-Fi입니다.
차량 앱은 업무와 경로, 게이트웨이는 센서 데이터와 로컬 통신, AR 글래스는 현장 위치 정합과 수동 탐사 안내를 맡습니다. 이렇게 나누면 차량 API 접근이 일부 막혀도 GPR과 AR 기능 전체가 멈추지 않습니다.
[실증 필요] 앱, 게이트웨이, 글래스 사이 통신 지연과 네트워크 단절 시 오프라인 동작.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 글래스는 차량이 안전하게 정차한 뒤 차 밖에서 작업자만 씁니다. 차량 안 멀미 보정은 핵심 기능에서 빼고, 글래스가 차 밖에서 독립적으로 위치를 추적합니다.
위치는 맨홀 하나로 확정하지 않고 맨홀, 차선 모서리, 경계석, RTK 좌표 중 2~3개를 결합해 보정합니다.
[실증 필요] AR 위치 정확도, 야간 기준점 인식 성능.</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작업자는 AR이 도로 위에 그린 검색 범위를 따라 양손으로 수동 GPR을 밉니다. 시작점과 종료점, 진행 방향, 반복 횟수가 보이고, 사진, 메모, 이상 위치 표시는 음성으로 처리합니다.
AR은 공동의 실제 모양을 보여주지 않습니다. 화면 아래에는 늘 '굴착 전 정밀조사와 관계기관 승인이 필요하다'는 경고를 띄웁니다.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차량형 다채널 GPR은 넓게 선별하고, 지면 밀착형 수동 GPR은 좁은 범위를 다른 주파수와 방향으로 다시 봅니다. 수동 GPR이 늘 더 깊게 본다고 말하지 않습니다.
참고: https://infotechnology.fhwa.dot.gov/gpr-ground-penetrating-radar-utility-general/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수동 GPR 재확인으로 공동 가능성이 높아지면 관제센터가 정밀조사를 요청하고, 도로관리기관 승인과 교통통제 뒤 천공과 내시경으로 최종 확인합니다. 결과는 복구 또는 지속 관찰로 이어지고, 다시 4D 지도에 저장돼 AI 검증 데이터가 됩니다.
승인 절차는 관할 기관 기준을 따릅니다.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여기부터는 운영 모델이 검증된 뒤의 확장 방향입니다.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위험도가 높은 구간일수록 순찰 주기를 짧게 잡습니다. 표의 주기는 예시이며 발주기관과 합의해 정합니다. 서울시도 명일동 사고 이후 굴착공사장 점검을 연 1회에서 월·주 단위로 강화했습니다.
출처: https://www.seoul.go.kr/news/news_report.do?nttNo=454742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대의 PV5가 권역을 나눠 운영하면 관제센터가 차량별 순찰거리, 재확인 업무, 배터리 상태를 한 화면에서 봅니다. 같은 사양의 차량이어야 권역이 달라도 데이터를 같은 기준으로 비교할 수 있습니다.
[추가 확인 필요] Pleos Fleet 또는 기관 FMS와의 연동 범위. 출처: https://www.kia.com/kr/vehicles/pv5-cargo/features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 변화 신호만으로는 원인을 알기 어렵습니다. 하수관, 굴착공사, 지하철 구조물, 지하수, 강우, 보수 이력과 겹쳐 볼 때 원인을 짐작하기 쉬워집니다. 국토부도 지하공간통합지도에 지하안전 정보를 연계하는 방향을 밝혔습니다.
지하정보는 보안 문제가 있어 팔지 않고 계약기관 대상 접근제어형 서비스로 제공합니다.
참고: https://www.ogc.org/standards/muddi/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반복 순찰 데이터가 쌓이면 지상 지도, 지하 시설물, 공동 의심 신호, 시간에 따른 변화를 하나의 모델에서 볼 수 있습니다. 공사 전후 비교, 재난 대응, 유지관리 계획에 쓸 수 있습니다. 다만 측정한 도로에 한정하고, 측정하지 않은 구간은 비워 둡니다.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도로가 무너진 뒤에는 누구나 구멍을 볼 수 있습니다. 우리가 찾으려는 것은 아직 보이지 않을 때 시작된 변화입니다. 한 번의 조기 발견이 한 사람의 무사 귀가가 되도록, PV5 GroundWatch를 제안합니다.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GPR의 한계를 먼저 밝힙니다.
- FHWA: 저주파는 깊고 해상도가 낮으며, 고주파는 얕고 정밀합니다. 400MHz 안테나는 최대 약 12ft. 수분과 점토가 많은 흙은 전자파를 감쇠시킵니다. 금속은 거의 모든 에너지를 반사하고 그 아래를 가립니다. https://infotechnology.fhwa.dot.gov/gpr-ground-penetrating-radar-utility-general/
- 서울시: 고주파 GPR 탐지 깊이 약 2m, 2026년부터 지하 5~40m 복합탐사를 굴착공사장 2곳에 시범 도입. https://v.daum.net/v/20251230143011653
GroundWatch는 지하철 구조 안전 검사가 아니라 역세권 도로와 공사 영향구간의 얕은 공동 감시입니다.
AI는 검토 순서를, 전문가는 판정을, 천공과 내시경은 확인을 맡습니다.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 도로에서 한 사람이 운전, 장비, 교통 확인, 수동 탐사를 모두 할 수 없습니다. 초기에는 2인 1조로 운영합니다. 주행 중 AR 사용 금지, 정차 확인 후 작업 모드, 천공과 내시경은 승인과 교통통제 뒤, 영상은 비식별화가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1단계는 주행 거리 기반 탐사 용역, 2단계는 정기 순찰, 4D 지도, AI 변화 감지를 묶은 연간 관제 계약, 3단계는 PV5 컨버전 차량과 소프트웨어 패키지 공급입니다. 지하정보는 제3자에게 팔지 않고 계약기관이 쓰는 접근제어형 서비스로 제공합니다. 가격은 아직 정하지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 전체 목록(작성 기준일 2026.10.10)
1. 국토교통부 땅꺼짐 사고 조사결과 발표(2025.12.3) https://m.korea.kr/briefing/policyBriefingView.do?newsId=156732996
2. 국토교통부 명일동 사고조사 최종보고서 https://www.molit.go.kr/USR/policyData/m_34681/dtl.jsp?id=4872
3. 서울시 지반침하 예방체계 강화 https://www.seoul.go.kr/news/news_report.do?nttNo=454742
4. 서울시 연희동 사고 이후 개선안 https://mediahub.seoul.go.kr/archives/2012160
5. 서울시 차량탑재형 GPR 도입 https://news.seoul.go.kr/safe/archives/41339
6. 서울 안전누리 GPR 탐사지도 https://safecity.seoul.go.kr/distFclt/cfMapDs/cfMapDs.page?menuId=MENU_SSNS_000176
7. 뉴시스 2024.8.30 연희동 https://www.newsis.com/view/NISX20240830_0002869815
8. 경향신문 2025.10.19 서울시 GPR https://www.khan.co.kr/article/202510191122011
9. 세이프타임즈 GPR 2m https://www.safetimes.co.kr/news/articleView.html?idxno=231486
10. 서울시 복합탐사 보도 https://v.daum.net/v/20251230143011653
11. 국토부 굴착공사장 안전관리 강화방안(2025.5.27) https://www.codil.or.kr/filebank/files/202505/helpdesk/BBS_202505290920333590.pdf
12. 기아 PV5 카고 특징 https://www.kia.com/kr/vehicles/pv5-cargo/features
13. 기아 PV5 카고 제원 https://www.kia.com/kr/vehicles/pv5-cargo/specification
14. 현대차그룹 PV5의 모든 것 https://www.hyundaimotorgroup.com/ko/story/CONT0000000000178473
15. 기아 PBV 소프트웨어 https://www.kia.com/kr/pbv/solution/software
16. Kia PBV IVI와 AAOS App Market https://eu-www.kia.com/uk/pbv/solutions/software/
17. Hyundai Pleos Connect https://connected-mobility.hyundai.com/what-we-do/pleos
18. 현대차그룹 PIM 제어기 https://www.hyundaimotorgroup.com/ko/news/CONT0000000000201311
19. FHWA GPR https://infotechnology.fhwa.dot.gov/gpr-ground-penetrating-radar-utility-general/
20. OGC MUDDI https://www.ogc.org/standards/muddi/</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W_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783080" cy="384048"/>
          </a:xfrm>
          <a:prstGeom prst="rect">
            <a:avLst/>
          </a:prstGeom>
          <a:solidFill>
            <a:srgbClr val="0B1F3A"/>
          </a:solidFill>
          <a:ln/>
        </p:spPr>
        <p:txBody>
          <a:bodyPr/>
          <a:lstStyle/>
          <a:p>
            <a:endParaRPr lang="ko-KR" altLang="en-US"/>
          </a:p>
        </p:txBody>
      </p:sp>
      <p:sp>
        <p:nvSpPr>
          <p:cNvPr id="3" name="Text 1"/>
          <p:cNvSpPr/>
          <p:nvPr/>
        </p:nvSpPr>
        <p:spPr>
          <a:xfrm>
            <a:off x="548640" y="384048"/>
            <a:ext cx="1783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itchFamily="34" charset="0"/>
                <a:ea typeface="Pretendard" pitchFamily="34" charset="-122"/>
                <a:cs typeface="Pretendard" pitchFamily="34" charset="-120"/>
              </a:rPr>
              <a:t>PV5 GroundWatch</a:t>
            </a:r>
            <a:endParaRPr lang="en-US" sz="1300" dirty="0"/>
          </a:p>
        </p:txBody>
      </p:sp>
      <p:sp>
        <p:nvSpPr>
          <p:cNvPr id="4" name="Text 2"/>
          <p:cNvSpPr>
            <a:spLocks noGrp="1"/>
          </p:cNvSpPr>
          <p:nvPr>
            <p:ph type="title" idx="102" hasCustomPrompt="1"/>
          </p:nvPr>
        </p:nvSpPr>
        <p:spPr>
          <a:xfrm>
            <a:off x="4434840" y="384048"/>
            <a:ext cx="7223760" cy="384048"/>
          </a:xfrm>
          <a:prstGeom prst="rect">
            <a:avLst/>
          </a:prstGeom>
          <a:noFill/>
          <a:ln/>
        </p:spPr>
        <p:txBody>
          <a:bodyPr wrap="square" rtlCol="0"/>
          <a:lstStyle>
            <a:lvl1pPr marL="0" indent="0">
              <a:buNone/>
              <a:defRPr lang="en-US" sz="1900" b="1" dirty="0">
                <a:solidFill>
                  <a:srgbClr val="101828"/>
                </a:solidFill>
                <a:latin typeface="Pretendard" pitchFamily="34" charset="0"/>
                <a:ea typeface="Pretendard" pitchFamily="34" charset="-122"/>
                <a:cs typeface="Pretendard" pitchFamily="34" charset="-120"/>
              </a:defRPr>
            </a:lvl1pPr>
          </a:lstStyle>
          <a:p>
            <a:pPr marL="0" indent="0">
              <a:buNone/>
            </a:pPr>
            <a:endParaRPr lang="en-US" sz="19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W_DIVIDER">
    <p:bg>
      <p:bgPr>
        <a:solidFill>
          <a:srgbClr val="0A162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rtlCol="0"/>
          <a:lstStyle>
            <a:lvl1pPr marL="0" indent="0" algn="ctr">
              <a:buNone/>
              <a:defRPr lang="en-US" sz="4000" b="1" dirty="0">
                <a:solidFill>
                  <a:srgbClr val="FFFFFF"/>
                </a:solidFill>
                <a:latin typeface="Pretendard" pitchFamily="34" charset="0"/>
                <a:ea typeface="Pretendard" pitchFamily="34" charset="-122"/>
                <a:cs typeface="Pretendard" pitchFamily="34" charset="-120"/>
              </a:defRPr>
            </a:lvl1pPr>
          </a:lstStyle>
          <a:p>
            <a:pPr marL="0" indent="0" algn="ctr">
              <a:buNone/>
            </a:pPr>
            <a:endParaRPr lang="en-US" sz="4000" dirty="0"/>
          </a:p>
        </p:txBody>
      </p:sp>
      <p:sp>
        <p:nvSpPr>
          <p:cNvPr id="3" name="Text 0"/>
          <p:cNvSpPr>
            <a:spLocks noGrp="1"/>
          </p:cNvSpPr>
          <p:nvPr>
            <p:ph type="body" idx="101" hasCustomPrompt="1"/>
          </p:nvPr>
        </p:nvSpPr>
        <p:spPr>
          <a:xfrm>
            <a:off x="3108960" y="1965960"/>
            <a:ext cx="5971032" cy="548640"/>
          </a:xfrm>
          <a:prstGeom prst="rect">
            <a:avLst/>
          </a:prstGeom>
          <a:noFill/>
          <a:ln/>
        </p:spPr>
        <p:txBody>
          <a:bodyPr wrap="square" rtlCol="0"/>
          <a:lstStyle>
            <a:lvl1pPr marL="0" indent="0" algn="ctr">
              <a:buNone/>
              <a:defRPr lang="en-US" sz="2200" b="1" dirty="0">
                <a:solidFill>
                  <a:srgbClr val="101828"/>
                </a:solidFill>
                <a:latin typeface="Pretendard" pitchFamily="34" charset="0"/>
                <a:ea typeface="Pretendard" pitchFamily="34" charset="-122"/>
                <a:cs typeface="Pretendard" pitchFamily="34" charset="-120"/>
              </a:defRPr>
            </a:lvl1pPr>
          </a:lstStyle>
          <a:p>
            <a:pPr marL="0" indent="0" algn="ctr">
              <a:buNone/>
            </a:pPr>
            <a:endParaRPr lang="en-US" sz="22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W_FULL">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2.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descr="/Users/seohogyun/Documents/git_workspace/pv5-hose-lab/groundwatch/images/cover.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914400"/>
            <a:ext cx="6766560" cy="1920240"/>
          </a:xfrm>
          <a:prstGeom prst="rect">
            <a:avLst/>
          </a:prstGeom>
          <a:noFill/>
          <a:ln/>
        </p:spPr>
        <p:txBody>
          <a:bodyPr wrap="square" lIns="0" tIns="0" rIns="0" bIns="0" rtlCol="0" anchor="t"/>
          <a:lstStyle/>
          <a:p>
            <a:pPr marL="0" indent="0">
              <a:lnSpc>
                <a:spcPct val="105000"/>
              </a:lnSpc>
              <a:buNone/>
            </a:pPr>
            <a:r>
              <a:rPr lang="en-US" sz="5200" b="1" dirty="0">
                <a:solidFill>
                  <a:srgbClr val="FFFFFF"/>
                </a:solidFill>
              </a:rPr>
              <a:t>도로가 무너지기까지,</a:t>
            </a:r>
            <a:endParaRPr lang="en-US" sz="5200" dirty="0"/>
          </a:p>
          <a:p>
            <a:pPr marL="0" indent="0">
              <a:lnSpc>
                <a:spcPct val="105000"/>
              </a:lnSpc>
              <a:buNone/>
            </a:pPr>
            <a:r>
              <a:rPr lang="en-US" sz="5200" b="1" dirty="0">
                <a:solidFill>
                  <a:srgbClr val="FFFFFF"/>
                </a:solidFill>
              </a:rPr>
              <a:t>1~2분.</a:t>
            </a:r>
            <a:endParaRPr lang="en-US" sz="5200" dirty="0"/>
          </a:p>
        </p:txBody>
      </p:sp>
      <p:sp>
        <p:nvSpPr>
          <p:cNvPr id="4" name="Text 1"/>
          <p:cNvSpPr txBox="1"/>
          <p:nvPr/>
        </p:nvSpPr>
        <p:spPr>
          <a:xfrm>
            <a:off x="640080" y="2880360"/>
            <a:ext cx="6583680" cy="457200"/>
          </a:xfrm>
          <a:prstGeom prst="rect">
            <a:avLst/>
          </a:prstGeom>
          <a:noFill/>
          <a:ln/>
        </p:spPr>
        <p:txBody>
          <a:bodyPr wrap="square" lIns="0" tIns="0" rIns="0" bIns="0" rtlCol="0" anchor="ctr"/>
          <a:lstStyle/>
          <a:p>
            <a:pPr marL="0" indent="0">
              <a:buNone/>
            </a:pPr>
            <a:r>
              <a:rPr lang="en-US" sz="2200" dirty="0">
                <a:solidFill>
                  <a:srgbClr val="C9D3E0"/>
                </a:solidFill>
              </a:rPr>
              <a:t>그 아래의 변화는 더 먼저 시작됐습니다.</a:t>
            </a:r>
            <a:endParaRPr lang="en-US" sz="2200" dirty="0"/>
          </a:p>
        </p:txBody>
      </p:sp>
      <p:sp>
        <p:nvSpPr>
          <p:cNvPr id="5" name="Text 2"/>
          <p:cNvSpPr txBox="1"/>
          <p:nvPr/>
        </p:nvSpPr>
        <p:spPr>
          <a:xfrm>
            <a:off x="640080" y="370332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2025.3.24</a:t>
            </a:r>
            <a:endParaRPr lang="en-US" sz="1900" dirty="0"/>
          </a:p>
        </p:txBody>
      </p:sp>
      <p:sp>
        <p:nvSpPr>
          <p:cNvPr id="6" name="Text 3"/>
          <p:cNvSpPr txBox="1"/>
          <p:nvPr/>
        </p:nvSpPr>
        <p:spPr>
          <a:xfrm>
            <a:off x="640080" y="4087368"/>
            <a:ext cx="2057400" cy="292608"/>
          </a:xfrm>
          <a:prstGeom prst="rect">
            <a:avLst/>
          </a:prstGeom>
          <a:noFill/>
          <a:ln/>
        </p:spPr>
        <p:txBody>
          <a:bodyPr wrap="square" lIns="0" tIns="0" rIns="0" bIns="0" rtlCol="0" anchor="ctr"/>
          <a:lstStyle/>
          <a:p>
            <a:pPr marL="0" indent="0">
              <a:buNone/>
            </a:pPr>
            <a:r>
              <a:rPr lang="en-US" sz="1200" dirty="0">
                <a:solidFill>
                  <a:srgbClr val="9AA8BC"/>
                </a:solidFill>
              </a:rPr>
              <a:t>서울 강동구 명일동</a:t>
            </a:r>
            <a:endParaRPr lang="en-US" sz="1200" dirty="0"/>
          </a:p>
        </p:txBody>
      </p:sp>
      <p:sp>
        <p:nvSpPr>
          <p:cNvPr id="7" name="Text 4"/>
          <p:cNvSpPr txBox="1"/>
          <p:nvPr/>
        </p:nvSpPr>
        <p:spPr>
          <a:xfrm>
            <a:off x="2788920" y="370332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22×18×16m</a:t>
            </a:r>
            <a:endParaRPr lang="en-US" sz="1900" dirty="0"/>
          </a:p>
        </p:txBody>
      </p:sp>
      <p:sp>
        <p:nvSpPr>
          <p:cNvPr id="8" name="Text 5"/>
          <p:cNvSpPr txBox="1"/>
          <p:nvPr/>
        </p:nvSpPr>
        <p:spPr>
          <a:xfrm>
            <a:off x="2788920" y="4087368"/>
            <a:ext cx="2057400" cy="292608"/>
          </a:xfrm>
          <a:prstGeom prst="rect">
            <a:avLst/>
          </a:prstGeom>
          <a:noFill/>
          <a:ln/>
        </p:spPr>
        <p:txBody>
          <a:bodyPr wrap="square" lIns="0" tIns="0" rIns="0" bIns="0" rtlCol="0" anchor="ctr"/>
          <a:lstStyle/>
          <a:p>
            <a:pPr marL="0" indent="0">
              <a:buNone/>
            </a:pPr>
            <a:r>
              <a:rPr lang="en-US" sz="1200" dirty="0">
                <a:solidFill>
                  <a:srgbClr val="9AA8BC"/>
                </a:solidFill>
              </a:rPr>
              <a:t>길이, 폭, 깊이</a:t>
            </a:r>
            <a:endParaRPr lang="en-US" sz="1200" dirty="0"/>
          </a:p>
        </p:txBody>
      </p:sp>
      <p:sp>
        <p:nvSpPr>
          <p:cNvPr id="9" name="Text 6"/>
          <p:cNvSpPr txBox="1"/>
          <p:nvPr/>
        </p:nvSpPr>
        <p:spPr>
          <a:xfrm>
            <a:off x="4937760" y="3703320"/>
            <a:ext cx="2057400" cy="384048"/>
          </a:xfrm>
          <a:prstGeom prst="rect">
            <a:avLst/>
          </a:prstGeom>
          <a:noFill/>
          <a:ln/>
        </p:spPr>
        <p:txBody>
          <a:bodyPr wrap="square" lIns="0" tIns="0" rIns="0" bIns="0" rtlCol="0" anchor="ctr"/>
          <a:lstStyle/>
          <a:p>
            <a:pPr marL="0" indent="0">
              <a:buNone/>
            </a:pPr>
            <a:r>
              <a:rPr lang="en-US" sz="1900" b="1" dirty="0">
                <a:solidFill>
                  <a:srgbClr val="FFFFFF"/>
                </a:solidFill>
              </a:rPr>
              <a:t>사망 1 부상 1</a:t>
            </a:r>
            <a:endParaRPr lang="en-US" sz="1900" dirty="0"/>
          </a:p>
        </p:txBody>
      </p:sp>
      <p:sp>
        <p:nvSpPr>
          <p:cNvPr id="10" name="Text 7"/>
          <p:cNvSpPr txBox="1"/>
          <p:nvPr/>
        </p:nvSpPr>
        <p:spPr>
          <a:xfrm>
            <a:off x="4937760" y="4087368"/>
            <a:ext cx="2057400" cy="292608"/>
          </a:xfrm>
          <a:prstGeom prst="rect">
            <a:avLst/>
          </a:prstGeom>
          <a:noFill/>
          <a:ln/>
        </p:spPr>
        <p:txBody>
          <a:bodyPr wrap="square" lIns="0" tIns="0" rIns="0" bIns="0" rtlCol="0" anchor="ctr"/>
          <a:lstStyle/>
          <a:p>
            <a:pPr marL="0" indent="0">
              <a:buNone/>
            </a:pPr>
            <a:r>
              <a:rPr lang="en-US" sz="1200" dirty="0">
                <a:solidFill>
                  <a:srgbClr val="9AA8BC"/>
                </a:solidFill>
              </a:rPr>
              <a:t>인명 피해</a:t>
            </a:r>
            <a:endParaRPr lang="en-US" sz="1200" dirty="0"/>
          </a:p>
        </p:txBody>
      </p:sp>
      <p:sp>
        <p:nvSpPr>
          <p:cNvPr id="11" name="Text 8"/>
          <p:cNvSpPr txBox="1"/>
          <p:nvPr/>
        </p:nvSpPr>
        <p:spPr>
          <a:xfrm>
            <a:off x="640080" y="4892040"/>
            <a:ext cx="6400800" cy="502920"/>
          </a:xfrm>
          <a:prstGeom prst="rect">
            <a:avLst/>
          </a:prstGeom>
          <a:noFill/>
          <a:ln/>
        </p:spPr>
        <p:txBody>
          <a:bodyPr wrap="square" lIns="0" tIns="0" rIns="0" bIns="0" rtlCol="0" anchor="ctr"/>
          <a:lstStyle/>
          <a:p>
            <a:pPr marL="0" indent="0">
              <a:buNone/>
            </a:pPr>
            <a:r>
              <a:rPr lang="en-US" sz="2800" b="1" dirty="0">
                <a:solidFill>
                  <a:srgbClr val="FFFFFF"/>
                </a:solidFill>
              </a:rPr>
              <a:t>PV5 GroundWatch</a:t>
            </a:r>
            <a:endParaRPr lang="en-US" sz="2800" dirty="0"/>
          </a:p>
        </p:txBody>
      </p:sp>
      <p:sp>
        <p:nvSpPr>
          <p:cNvPr id="12" name="Text 9"/>
          <p:cNvSpPr txBox="1"/>
          <p:nvPr/>
        </p:nvSpPr>
        <p:spPr>
          <a:xfrm>
            <a:off x="640080" y="5394960"/>
            <a:ext cx="7315200" cy="365760"/>
          </a:xfrm>
          <a:prstGeom prst="rect">
            <a:avLst/>
          </a:prstGeom>
          <a:noFill/>
          <a:ln/>
        </p:spPr>
        <p:txBody>
          <a:bodyPr wrap="square" lIns="0" tIns="0" rIns="0" bIns="0" rtlCol="0" anchor="ctr"/>
          <a:lstStyle/>
          <a:p>
            <a:pPr marL="0" indent="0">
              <a:buNone/>
            </a:pPr>
            <a:r>
              <a:rPr lang="en-US" sz="1600" dirty="0">
                <a:solidFill>
                  <a:srgbClr val="C9D3E0"/>
                </a:solidFill>
              </a:rPr>
              <a:t>같은 도로를 반복 측정해 지하의 변화를 찾는 PV5 지하안전 순찰차</a:t>
            </a:r>
            <a:endParaRPr lang="en-US" sz="1600" dirty="0"/>
          </a:p>
        </p:txBody>
      </p:sp>
      <p:sp>
        <p:nvSpPr>
          <p:cNvPr id="13" name="Text 10"/>
          <p:cNvSpPr txBox="1"/>
          <p:nvPr/>
        </p:nvSpPr>
        <p:spPr>
          <a:xfrm>
            <a:off x="640080" y="5806440"/>
            <a:ext cx="6400800" cy="347472"/>
          </a:xfrm>
          <a:prstGeom prst="rect">
            <a:avLst/>
          </a:prstGeom>
          <a:noFill/>
          <a:ln/>
        </p:spPr>
        <p:txBody>
          <a:bodyPr wrap="square" lIns="0" tIns="0" rIns="0" bIns="0" rtlCol="0" anchor="ctr"/>
          <a:lstStyle/>
          <a:p>
            <a:pPr marL="0" indent="0">
              <a:buNone/>
            </a:pPr>
            <a:r>
              <a:rPr lang="en-US" sz="1500" b="1" dirty="0">
                <a:solidFill>
                  <a:srgbClr val="F5B400"/>
                </a:solidFill>
              </a:rPr>
              <a:t>팀 한 명이라도 살릴 수 있다면</a:t>
            </a:r>
            <a:endParaRPr lang="en-US" sz="1500" dirty="0"/>
          </a:p>
        </p:txBody>
      </p:sp>
      <p:sp>
        <p:nvSpPr>
          <p:cNvPr id="1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C9BB0"/>
                </a:solidFill>
              </a:rPr>
              <a:t>출처: 국토교통부, 중앙지하사고조사위원회 「서울 명일동 땅꺼짐 사고 조사결과」(2025.12.3). 배경은 개념 일러스트입니다.</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제안 배경</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붕괴는 갑자기 보였지만, 원인은 지하에서 쌓이고 있었다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사고조사위원회는 하나의 원인이 아니라 지하에서 오래 쌓인 조건들이 겹쳤다고 발표했습니다.</a:t>
            </a:r>
            <a:endParaRPr lang="en-US" sz="1600" dirty="0"/>
          </a:p>
        </p:txBody>
      </p:sp>
      <p:pic>
        <p:nvPicPr>
          <p:cNvPr id="5" name="mechanism" descr="/Users/seohogyun/Documents/git_workspace/pv5-hose-lab/groundwatch/images/mechanism.png"/>
          <p:cNvPicPr>
            <a:picLocks noChangeAspect="1"/>
          </p:cNvPicPr>
          <p:nvPr/>
        </p:nvPicPr>
        <p:blipFill>
          <a:blip r:embed="rId3"/>
          <a:stretch>
            <a:fillRect/>
          </a:stretch>
        </p:blipFill>
        <p:spPr>
          <a:xfrm>
            <a:off x="548640" y="1604201"/>
            <a:ext cx="6675120" cy="3420999"/>
          </a:xfrm>
          <a:prstGeom prst="rect">
            <a:avLst/>
          </a:prstGeom>
        </p:spPr>
      </p:pic>
      <p:sp>
        <p:nvSpPr>
          <p:cNvPr id="6" name="Text 3"/>
          <p:cNvSpPr txBox="1"/>
          <p:nvPr/>
        </p:nvSpPr>
        <p:spPr>
          <a:xfrm>
            <a:off x="7498080" y="1600200"/>
            <a:ext cx="4114800" cy="256032"/>
          </a:xfrm>
          <a:prstGeom prst="rect">
            <a:avLst/>
          </a:prstGeom>
          <a:noFill/>
          <a:ln/>
        </p:spPr>
        <p:txBody>
          <a:bodyPr wrap="square" lIns="0" tIns="0" rIns="0" bIns="0" rtlCol="0" anchor="ctr"/>
          <a:lstStyle/>
          <a:p>
            <a:pPr marL="0" indent="0">
              <a:buNone/>
            </a:pPr>
            <a:r>
              <a:rPr lang="en-US" sz="1200" b="1" dirty="0">
                <a:solidFill>
                  <a:srgbClr val="D93025"/>
                </a:solidFill>
              </a:rPr>
              <a:t>직접 원인</a:t>
            </a:r>
            <a:endParaRPr lang="en-US" sz="1200" dirty="0"/>
          </a:p>
        </p:txBody>
      </p:sp>
      <p:sp>
        <p:nvSpPr>
          <p:cNvPr id="7" name="Text 4"/>
          <p:cNvSpPr txBox="1"/>
          <p:nvPr/>
        </p:nvSpPr>
        <p:spPr>
          <a:xfrm>
            <a:off x="7498080" y="1856232"/>
            <a:ext cx="4142232" cy="457200"/>
          </a:xfrm>
          <a:prstGeom prst="rect">
            <a:avLst/>
          </a:prstGeom>
          <a:noFill/>
          <a:ln/>
        </p:spPr>
        <p:txBody>
          <a:bodyPr wrap="square" lIns="0" tIns="0" rIns="0" bIns="0" rtlCol="0" anchor="t"/>
          <a:lstStyle/>
          <a:p>
            <a:pPr marL="0" indent="0">
              <a:buNone/>
            </a:pPr>
            <a:r>
              <a:rPr lang="en-US" sz="1500" dirty="0">
                <a:solidFill>
                  <a:srgbClr val="101828"/>
                </a:solidFill>
              </a:rPr>
              <a:t>심층풍화대 불연속면이 만든 쐐기형 토체가 터널 굴착 중 미끄러짐</a:t>
            </a:r>
            <a:endParaRPr lang="en-US" sz="1500" dirty="0"/>
          </a:p>
        </p:txBody>
      </p:sp>
      <p:sp>
        <p:nvSpPr>
          <p:cNvPr id="8" name="Text 5"/>
          <p:cNvSpPr txBox="1"/>
          <p:nvPr/>
        </p:nvSpPr>
        <p:spPr>
          <a:xfrm>
            <a:off x="7498080" y="2350008"/>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9" name="Text 6"/>
          <p:cNvSpPr txBox="1"/>
          <p:nvPr/>
        </p:nvSpPr>
        <p:spPr>
          <a:xfrm>
            <a:off x="7498080" y="2606040"/>
            <a:ext cx="4142232" cy="457200"/>
          </a:xfrm>
          <a:prstGeom prst="rect">
            <a:avLst/>
          </a:prstGeom>
          <a:noFill/>
          <a:ln/>
        </p:spPr>
        <p:txBody>
          <a:bodyPr wrap="square" lIns="0" tIns="0" rIns="0" bIns="0" rtlCol="0" anchor="t"/>
          <a:lstStyle/>
          <a:p>
            <a:pPr marL="0" indent="0">
              <a:buNone/>
            </a:pPr>
            <a:r>
              <a:rPr lang="en-US" sz="1500" dirty="0">
                <a:solidFill>
                  <a:srgbClr val="101828"/>
                </a:solidFill>
              </a:rPr>
              <a:t>인근 터널공사로 지하수위 최대 26m 저하</a:t>
            </a:r>
            <a:endParaRPr lang="en-US" sz="1500" dirty="0"/>
          </a:p>
        </p:txBody>
      </p:sp>
      <p:sp>
        <p:nvSpPr>
          <p:cNvPr id="10" name="Text 7"/>
          <p:cNvSpPr txBox="1"/>
          <p:nvPr/>
        </p:nvSpPr>
        <p:spPr>
          <a:xfrm>
            <a:off x="7498080" y="3099816"/>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11" name="Text 8"/>
          <p:cNvSpPr txBox="1"/>
          <p:nvPr/>
        </p:nvSpPr>
        <p:spPr>
          <a:xfrm>
            <a:off x="7498080" y="3355848"/>
            <a:ext cx="4142232" cy="457200"/>
          </a:xfrm>
          <a:prstGeom prst="rect">
            <a:avLst/>
          </a:prstGeom>
          <a:noFill/>
          <a:ln/>
        </p:spPr>
        <p:txBody>
          <a:bodyPr wrap="square" lIns="0" tIns="0" rIns="0" bIns="0" rtlCol="0" anchor="t"/>
          <a:lstStyle/>
          <a:p>
            <a:pPr marL="0" indent="0">
              <a:buNone/>
            </a:pPr>
            <a:r>
              <a:rPr lang="en-US" sz="1500" dirty="0">
                <a:solidFill>
                  <a:srgbClr val="101828"/>
                </a:solidFill>
              </a:rPr>
              <a:t>노후 하수관의 장기 누수로 경계면 강도 저하</a:t>
            </a:r>
            <a:endParaRPr lang="en-US" sz="1500" dirty="0"/>
          </a:p>
        </p:txBody>
      </p:sp>
      <p:sp>
        <p:nvSpPr>
          <p:cNvPr id="12" name="Text 9"/>
          <p:cNvSpPr txBox="1"/>
          <p:nvPr/>
        </p:nvSpPr>
        <p:spPr>
          <a:xfrm>
            <a:off x="7498080" y="3849624"/>
            <a:ext cx="4114800" cy="256032"/>
          </a:xfrm>
          <a:prstGeom prst="rect">
            <a:avLst/>
          </a:prstGeom>
          <a:noFill/>
          <a:ln/>
        </p:spPr>
        <p:txBody>
          <a:bodyPr wrap="square" lIns="0" tIns="0" rIns="0" bIns="0" rtlCol="0" anchor="ctr"/>
          <a:lstStyle/>
          <a:p>
            <a:pPr marL="0" indent="0">
              <a:buNone/>
            </a:pPr>
            <a:r>
              <a:rPr lang="en-US" sz="1200" b="1" dirty="0">
                <a:solidFill>
                  <a:srgbClr val="5B6573"/>
                </a:solidFill>
              </a:rPr>
              <a:t>간접 원인</a:t>
            </a:r>
            <a:endParaRPr lang="en-US" sz="1200" dirty="0"/>
          </a:p>
        </p:txBody>
      </p:sp>
      <p:sp>
        <p:nvSpPr>
          <p:cNvPr id="13" name="Text 10"/>
          <p:cNvSpPr txBox="1"/>
          <p:nvPr/>
        </p:nvSpPr>
        <p:spPr>
          <a:xfrm>
            <a:off x="7498080" y="4105656"/>
            <a:ext cx="4142232" cy="457200"/>
          </a:xfrm>
          <a:prstGeom prst="rect">
            <a:avLst/>
          </a:prstGeom>
          <a:noFill/>
          <a:ln/>
        </p:spPr>
        <p:txBody>
          <a:bodyPr wrap="square" lIns="0" tIns="0" rIns="0" bIns="0" rtlCol="0" anchor="t"/>
          <a:lstStyle/>
          <a:p>
            <a:pPr marL="0" indent="0">
              <a:buNone/>
            </a:pPr>
            <a:r>
              <a:rPr lang="en-US" sz="1500" dirty="0">
                <a:solidFill>
                  <a:srgbClr val="101828"/>
                </a:solidFill>
              </a:rPr>
              <a:t>강관보강 그라우팅의 지보 성능 한계</a:t>
            </a:r>
            <a:endParaRPr lang="en-US" sz="1500" dirty="0"/>
          </a:p>
        </p:txBody>
      </p:sp>
      <p:sp>
        <p:nvSpPr>
          <p:cNvPr id="14" name="rule"/>
          <p:cNvSpPr/>
          <p:nvPr/>
        </p:nvSpPr>
        <p:spPr>
          <a:xfrm>
            <a:off x="7498080" y="4663440"/>
            <a:ext cx="4142232" cy="0"/>
          </a:xfrm>
          <a:prstGeom prst="line">
            <a:avLst/>
          </a:prstGeom>
          <a:noFill/>
          <a:ln w="12700">
            <a:solidFill>
              <a:srgbClr val="DCE1E8"/>
            </a:solidFill>
            <a:prstDash val="solid"/>
          </a:ln>
        </p:spPr>
        <p:txBody>
          <a:bodyPr/>
          <a:lstStyle/>
          <a:p>
            <a:endParaRPr lang="ko-KR" altLang="en-US"/>
          </a:p>
        </p:txBody>
      </p:sp>
      <p:sp>
        <p:nvSpPr>
          <p:cNvPr id="15" name="Text 12"/>
          <p:cNvSpPr txBox="1"/>
          <p:nvPr/>
        </p:nvSpPr>
        <p:spPr>
          <a:xfrm>
            <a:off x="7498080" y="4709160"/>
            <a:ext cx="4142232" cy="548640"/>
          </a:xfrm>
          <a:prstGeom prst="rect">
            <a:avLst/>
          </a:prstGeom>
          <a:noFill/>
          <a:ln/>
        </p:spPr>
        <p:txBody>
          <a:bodyPr wrap="square" lIns="0" tIns="0" rIns="0" bIns="0" rtlCol="0" anchor="t"/>
          <a:lstStyle/>
          <a:p>
            <a:pPr marL="0" indent="0">
              <a:buNone/>
            </a:pPr>
            <a:r>
              <a:rPr lang="en-US" sz="1500" b="1" dirty="0">
                <a:solidFill>
                  <a:srgbClr val="101828"/>
                </a:solidFill>
              </a:rPr>
              <a:t>결과: 도로 중앙선 부근에서 시작해 약 1~2분 만에 22×18×16m로 확대</a:t>
            </a:r>
            <a:endParaRPr lang="en-US" sz="1500" dirty="0"/>
          </a:p>
        </p:txBody>
      </p:sp>
      <p:sp>
        <p:nvSpPr>
          <p:cNvPr id="16" name="Text 13"/>
          <p:cNvSpPr txBox="1"/>
          <p:nvPr/>
        </p:nvSpPr>
        <p:spPr>
          <a:xfrm>
            <a:off x="548640" y="5285232"/>
            <a:ext cx="1600200" cy="457200"/>
          </a:xfrm>
          <a:prstGeom prst="rect">
            <a:avLst/>
          </a:prstGeom>
          <a:noFill/>
          <a:ln/>
        </p:spPr>
        <p:txBody>
          <a:bodyPr wrap="square" lIns="0" tIns="0" rIns="0" bIns="0" rtlCol="0" anchor="ctr"/>
          <a:lstStyle/>
          <a:p>
            <a:pPr marL="0" indent="0">
              <a:buNone/>
            </a:pPr>
            <a:r>
              <a:rPr lang="en-US" sz="2100" b="1" dirty="0">
                <a:solidFill>
                  <a:srgbClr val="5B6573"/>
                </a:solidFill>
              </a:rPr>
              <a:t>보이지 않음</a:t>
            </a:r>
            <a:endParaRPr lang="en-US" sz="2100" dirty="0"/>
          </a:p>
        </p:txBody>
      </p:sp>
      <p:sp>
        <p:nvSpPr>
          <p:cNvPr id="17" name="arrow"/>
          <p:cNvSpPr/>
          <p:nvPr/>
        </p:nvSpPr>
        <p:spPr>
          <a:xfrm>
            <a:off x="2258568" y="5513832"/>
            <a:ext cx="420624" cy="914"/>
          </a:xfrm>
          <a:prstGeom prst="line">
            <a:avLst/>
          </a:prstGeom>
          <a:noFill/>
          <a:ln w="22225">
            <a:solidFill>
              <a:srgbClr val="8A94A3"/>
            </a:solidFill>
            <a:prstDash val="solid"/>
            <a:tailEnd type="triangle"/>
          </a:ln>
        </p:spPr>
        <p:txBody>
          <a:bodyPr/>
          <a:lstStyle/>
          <a:p>
            <a:endParaRPr lang="ko-KR" altLang="en-US"/>
          </a:p>
        </p:txBody>
      </p:sp>
      <p:sp>
        <p:nvSpPr>
          <p:cNvPr id="18" name="Text 15"/>
          <p:cNvSpPr txBox="1"/>
          <p:nvPr/>
        </p:nvSpPr>
        <p:spPr>
          <a:xfrm>
            <a:off x="2788920" y="5285232"/>
            <a:ext cx="777240" cy="457200"/>
          </a:xfrm>
          <a:prstGeom prst="rect">
            <a:avLst/>
          </a:prstGeom>
          <a:noFill/>
          <a:ln/>
        </p:spPr>
        <p:txBody>
          <a:bodyPr wrap="square" lIns="0" tIns="0" rIns="0" bIns="0" rtlCol="0" anchor="ctr"/>
          <a:lstStyle/>
          <a:p>
            <a:pPr marL="0" indent="0">
              <a:buNone/>
            </a:pPr>
            <a:r>
              <a:rPr lang="en-US" sz="2100" b="1" dirty="0">
                <a:solidFill>
                  <a:srgbClr val="5B6573"/>
                </a:solidFill>
              </a:rPr>
              <a:t>쌓임</a:t>
            </a:r>
            <a:endParaRPr lang="en-US" sz="2100" dirty="0"/>
          </a:p>
        </p:txBody>
      </p:sp>
      <p:sp>
        <p:nvSpPr>
          <p:cNvPr id="19" name="arrow"/>
          <p:cNvSpPr/>
          <p:nvPr/>
        </p:nvSpPr>
        <p:spPr>
          <a:xfrm>
            <a:off x="3675888" y="5513832"/>
            <a:ext cx="420624" cy="914"/>
          </a:xfrm>
          <a:prstGeom prst="line">
            <a:avLst/>
          </a:prstGeom>
          <a:noFill/>
          <a:ln w="22225">
            <a:solidFill>
              <a:srgbClr val="8A94A3"/>
            </a:solidFill>
            <a:prstDash val="solid"/>
            <a:tailEnd type="triangle"/>
          </a:ln>
        </p:spPr>
        <p:txBody>
          <a:bodyPr/>
          <a:lstStyle/>
          <a:p>
            <a:endParaRPr lang="ko-KR" altLang="en-US"/>
          </a:p>
        </p:txBody>
      </p:sp>
      <p:sp>
        <p:nvSpPr>
          <p:cNvPr id="20" name="Text 17"/>
          <p:cNvSpPr txBox="1"/>
          <p:nvPr/>
        </p:nvSpPr>
        <p:spPr>
          <a:xfrm>
            <a:off x="4206240" y="5285232"/>
            <a:ext cx="2011680" cy="457200"/>
          </a:xfrm>
          <a:prstGeom prst="rect">
            <a:avLst/>
          </a:prstGeom>
          <a:noFill/>
          <a:ln/>
        </p:spPr>
        <p:txBody>
          <a:bodyPr wrap="square" lIns="0" tIns="0" rIns="0" bIns="0" rtlCol="0" anchor="ctr"/>
          <a:lstStyle/>
          <a:p>
            <a:pPr marL="0" indent="0">
              <a:buNone/>
            </a:pPr>
            <a:r>
              <a:rPr lang="en-US" sz="2100" b="1" dirty="0">
                <a:solidFill>
                  <a:srgbClr val="D93025"/>
                </a:solidFill>
              </a:rPr>
              <a:t>갑자기 드러남</a:t>
            </a:r>
            <a:endParaRPr lang="en-US" sz="2100" dirty="0"/>
          </a:p>
        </p:txBody>
      </p:sp>
      <p:sp>
        <p:nvSpPr>
          <p:cNvPr id="21" name="Text 18"/>
          <p:cNvSpPr txBox="1"/>
          <p:nvPr/>
        </p:nvSpPr>
        <p:spPr>
          <a:xfrm>
            <a:off x="548640" y="5833872"/>
            <a:ext cx="6675120" cy="411480"/>
          </a:xfrm>
          <a:prstGeom prst="rect">
            <a:avLst/>
          </a:prstGeom>
          <a:noFill/>
          <a:ln/>
        </p:spPr>
        <p:txBody>
          <a:bodyPr wrap="square" lIns="0" tIns="0" rIns="0" bIns="0" rtlCol="0" anchor="ctr"/>
          <a:lstStyle/>
          <a:p>
            <a:pPr marL="0" indent="0">
              <a:buNone/>
            </a:pPr>
            <a:r>
              <a:rPr lang="en-US" sz="1800" b="1" dirty="0">
                <a:solidFill>
                  <a:srgbClr val="0B1F3A"/>
                </a:solidFill>
              </a:rPr>
              <a:t>사고 뒤의 복구보다, 사고 전의 변화를 관리해야 합니다.</a:t>
            </a:r>
            <a:endParaRPr lang="en-US" sz="1800" dirty="0"/>
          </a:p>
        </p:txBody>
      </p:sp>
      <p:sp>
        <p:nvSpPr>
          <p:cNvPr id="22" name="panel"/>
          <p:cNvSpPr/>
          <p:nvPr/>
        </p:nvSpPr>
        <p:spPr>
          <a:xfrm>
            <a:off x="7498080" y="5349240"/>
            <a:ext cx="4142232" cy="914400"/>
          </a:xfrm>
          <a:prstGeom prst="roundRect">
            <a:avLst>
              <a:gd name="adj" fmla="val 6000"/>
            </a:avLst>
          </a:prstGeom>
          <a:solidFill>
            <a:srgbClr val="0B1F3A"/>
          </a:solidFill>
          <a:ln w="12700">
            <a:solidFill>
              <a:srgbClr val="0B1F3A"/>
            </a:solidFill>
            <a:prstDash val="solid"/>
          </a:ln>
        </p:spPr>
        <p:txBody>
          <a:bodyPr/>
          <a:lstStyle/>
          <a:p>
            <a:endParaRPr lang="ko-KR" altLang="en-US"/>
          </a:p>
        </p:txBody>
      </p:sp>
      <p:sp>
        <p:nvSpPr>
          <p:cNvPr id="23" name="Text 20"/>
          <p:cNvSpPr txBox="1"/>
          <p:nvPr/>
        </p:nvSpPr>
        <p:spPr>
          <a:xfrm>
            <a:off x="7662672" y="5394960"/>
            <a:ext cx="3840480" cy="822960"/>
          </a:xfrm>
          <a:prstGeom prst="rect">
            <a:avLst/>
          </a:prstGeom>
          <a:noFill/>
          <a:ln/>
        </p:spPr>
        <p:txBody>
          <a:bodyPr wrap="square" lIns="0" tIns="0" rIns="0" bIns="0" rtlCol="0" anchor="ctr"/>
          <a:lstStyle/>
          <a:p>
            <a:pPr marL="0" indent="0">
              <a:spcAft>
                <a:spcPts val="200"/>
              </a:spcAft>
              <a:buNone/>
            </a:pPr>
            <a:r>
              <a:rPr lang="en-US" sz="1400" b="1" dirty="0">
                <a:solidFill>
                  <a:srgbClr val="F5B400"/>
                </a:solidFill>
              </a:rPr>
              <a:t>팀 한 명이라도 살릴 수 있다면</a:t>
            </a:r>
            <a:endParaRPr lang="en-US" sz="1400" dirty="0"/>
          </a:p>
          <a:p>
            <a:pPr marL="0" indent="0">
              <a:spcAft>
                <a:spcPts val="200"/>
              </a:spcAft>
              <a:buNone/>
            </a:pPr>
            <a:r>
              <a:rPr lang="en-US" sz="1200" dirty="0">
                <a:solidFill>
                  <a:srgbClr val="C9D3E0"/>
                </a:solidFill>
              </a:rPr>
              <a:t>한 번의 조기 발견이 한 사람의 일상을 지키도록, 도시가 같은 길을 계속 기억하게 만듭니다.</a:t>
            </a:r>
            <a:endParaRPr lang="en-US" sz="1400" dirty="0"/>
          </a:p>
        </p:txBody>
      </p:sp>
      <p:sp>
        <p:nvSpPr>
          <p:cNvPr id="2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국토교통부 땅꺼짐 사고 조사결과(2025.12.3). 단면도는 조사 요소를 단순화한 개념도이며, GroundWatch가 이 사고를 막을 수 있었다는 뜻이 아닙니다.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현재 탐사 방식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서울시는 이미 GPR로 도로 아래를 탐사하고 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차량형 GPR로 넓게 선별하고 수동 GPR과 천공·내시경으로 확인합니다. GroundWatch는 이 체계를 보완합니다.</a:t>
            </a:r>
            <a:endParaRPr lang="en-US" sz="1600" dirty="0"/>
          </a:p>
        </p:txBody>
      </p:sp>
      <p:pic>
        <p:nvPicPr>
          <p:cNvPr id="5" name="method_vehicle" descr="/Users/seohogyun/Documents/git_workspace/pv5-hose-lab/groundwatch/images/method_vehicle.png"/>
          <p:cNvPicPr>
            <a:picLocks noChangeAspect="1"/>
          </p:cNvPicPr>
          <p:nvPr/>
        </p:nvPicPr>
        <p:blipFill>
          <a:blip r:embed="rId3"/>
          <a:stretch>
            <a:fillRect/>
          </a:stretch>
        </p:blipFill>
        <p:spPr>
          <a:xfrm>
            <a:off x="548640" y="1691640"/>
            <a:ext cx="3520440" cy="2103120"/>
          </a:xfrm>
          <a:prstGeom prst="rect">
            <a:avLst/>
          </a:prstGeom>
        </p:spPr>
      </p:pic>
      <p:sp>
        <p:nvSpPr>
          <p:cNvPr id="6" name="Text 3"/>
          <p:cNvSpPr txBox="1"/>
          <p:nvPr/>
        </p:nvSpPr>
        <p:spPr>
          <a:xfrm>
            <a:off x="548640" y="3931920"/>
            <a:ext cx="3520440" cy="365760"/>
          </a:xfrm>
          <a:prstGeom prst="rect">
            <a:avLst/>
          </a:prstGeom>
          <a:noFill/>
          <a:ln/>
        </p:spPr>
        <p:txBody>
          <a:bodyPr wrap="square" lIns="0" tIns="0" rIns="0" bIns="0" rtlCol="0" anchor="ctr"/>
          <a:lstStyle/>
          <a:p>
            <a:pPr marL="0" indent="0">
              <a:buNone/>
            </a:pPr>
            <a:r>
              <a:rPr lang="en-US" sz="1800" b="1" dirty="0">
                <a:solidFill>
                  <a:srgbClr val="101828"/>
                </a:solidFill>
              </a:rPr>
              <a:t>차량형 GPR</a:t>
            </a:r>
            <a:endParaRPr lang="en-US" sz="1800" dirty="0"/>
          </a:p>
        </p:txBody>
      </p:sp>
      <p:sp>
        <p:nvSpPr>
          <p:cNvPr id="7" name="Text 4"/>
          <p:cNvSpPr txBox="1"/>
          <p:nvPr/>
        </p:nvSpPr>
        <p:spPr>
          <a:xfrm>
            <a:off x="548640" y="4315968"/>
            <a:ext cx="3520440" cy="640080"/>
          </a:xfrm>
          <a:prstGeom prst="rect">
            <a:avLst/>
          </a:prstGeom>
          <a:noFill/>
          <a:ln/>
        </p:spPr>
        <p:txBody>
          <a:bodyPr wrap="square" lIns="0" tIns="0" rIns="0" bIns="0" rtlCol="0" anchor="t"/>
          <a:lstStyle/>
          <a:p>
            <a:pPr marL="0" indent="0">
              <a:buNone/>
            </a:pPr>
            <a:r>
              <a:rPr lang="en-US" sz="1400" dirty="0">
                <a:solidFill>
                  <a:srgbClr val="5B6573"/>
                </a:solidFill>
              </a:rPr>
              <a:t>넓은 도로를 빠르게 선별합니다. 한 번 지나가며 약 3m 폭을 탐사합니다.</a:t>
            </a:r>
            <a:endParaRPr lang="en-US" sz="1400" dirty="0"/>
          </a:p>
        </p:txBody>
      </p:sp>
      <p:sp>
        <p:nvSpPr>
          <p:cNvPr id="8" name="Text 5"/>
          <p:cNvSpPr txBox="1"/>
          <p:nvPr/>
        </p:nvSpPr>
        <p:spPr>
          <a:xfrm>
            <a:off x="548640" y="4956048"/>
            <a:ext cx="3520440" cy="292608"/>
          </a:xfrm>
          <a:prstGeom prst="rect">
            <a:avLst/>
          </a:prstGeom>
          <a:noFill/>
          <a:ln/>
        </p:spPr>
        <p:txBody>
          <a:bodyPr wrap="square" lIns="0" tIns="0" rIns="0" bIns="0" rtlCol="0" anchor="ctr"/>
          <a:lstStyle/>
          <a:p>
            <a:pPr marL="0" indent="0">
              <a:buNone/>
            </a:pPr>
            <a:r>
              <a:rPr lang="en-US" sz="1300" b="1" dirty="0">
                <a:solidFill>
                  <a:srgbClr val="D93025"/>
                </a:solidFill>
              </a:rPr>
              <a:t>한계: 고주파 GPR 탐지 깊이 약 2m</a:t>
            </a:r>
            <a:endParaRPr lang="en-US" sz="1300" dirty="0"/>
          </a:p>
        </p:txBody>
      </p:sp>
      <p:pic>
        <p:nvPicPr>
          <p:cNvPr id="9" name="method_cart" descr="/Users/seohogyun/Documents/git_workspace/pv5-hose-lab/groundwatch/images/method_cart.png"/>
          <p:cNvPicPr>
            <a:picLocks noChangeAspect="1"/>
          </p:cNvPicPr>
          <p:nvPr/>
        </p:nvPicPr>
        <p:blipFill>
          <a:blip r:embed="rId4"/>
          <a:stretch>
            <a:fillRect/>
          </a:stretch>
        </p:blipFill>
        <p:spPr>
          <a:xfrm>
            <a:off x="4343400" y="1691640"/>
            <a:ext cx="3520440" cy="2103120"/>
          </a:xfrm>
          <a:prstGeom prst="rect">
            <a:avLst/>
          </a:prstGeom>
        </p:spPr>
      </p:pic>
      <p:sp>
        <p:nvSpPr>
          <p:cNvPr id="10" name="Text 6"/>
          <p:cNvSpPr txBox="1"/>
          <p:nvPr/>
        </p:nvSpPr>
        <p:spPr>
          <a:xfrm>
            <a:off x="4343400" y="3931920"/>
            <a:ext cx="3520440" cy="365760"/>
          </a:xfrm>
          <a:prstGeom prst="rect">
            <a:avLst/>
          </a:prstGeom>
          <a:noFill/>
          <a:ln/>
        </p:spPr>
        <p:txBody>
          <a:bodyPr wrap="square" lIns="0" tIns="0" rIns="0" bIns="0" rtlCol="0" anchor="ctr"/>
          <a:lstStyle/>
          <a:p>
            <a:pPr marL="0" indent="0">
              <a:buNone/>
            </a:pPr>
            <a:r>
              <a:rPr lang="en-US" sz="1800" b="1" dirty="0">
                <a:solidFill>
                  <a:srgbClr val="101828"/>
                </a:solidFill>
              </a:rPr>
              <a:t>수동(손수레형) GPR</a:t>
            </a:r>
            <a:endParaRPr lang="en-US" sz="1800" dirty="0"/>
          </a:p>
        </p:txBody>
      </p:sp>
      <p:sp>
        <p:nvSpPr>
          <p:cNvPr id="11" name="Text 7"/>
          <p:cNvSpPr txBox="1"/>
          <p:nvPr/>
        </p:nvSpPr>
        <p:spPr>
          <a:xfrm>
            <a:off x="4343400" y="4315968"/>
            <a:ext cx="3520440" cy="640080"/>
          </a:xfrm>
          <a:prstGeom prst="rect">
            <a:avLst/>
          </a:prstGeom>
          <a:noFill/>
          <a:ln/>
        </p:spPr>
        <p:txBody>
          <a:bodyPr wrap="square" lIns="0" tIns="0" rIns="0" bIns="0" rtlCol="0" anchor="t"/>
          <a:lstStyle/>
          <a:p>
            <a:pPr marL="0" indent="0">
              <a:buNone/>
            </a:pPr>
            <a:r>
              <a:rPr lang="en-US" sz="1400" dirty="0">
                <a:solidFill>
                  <a:srgbClr val="5B6573"/>
                </a:solidFill>
              </a:rPr>
              <a:t>좁은 골목과 보도처럼 차량이 들어가기 어려운 곳을 작업자가 밀며 조사합니다.</a:t>
            </a:r>
            <a:endParaRPr lang="en-US" sz="1400" dirty="0"/>
          </a:p>
        </p:txBody>
      </p:sp>
      <p:sp>
        <p:nvSpPr>
          <p:cNvPr id="12" name="Text 8"/>
          <p:cNvSpPr txBox="1"/>
          <p:nvPr/>
        </p:nvSpPr>
        <p:spPr>
          <a:xfrm>
            <a:off x="4343400" y="4956048"/>
            <a:ext cx="3520440" cy="292608"/>
          </a:xfrm>
          <a:prstGeom prst="rect">
            <a:avLst/>
          </a:prstGeom>
          <a:noFill/>
          <a:ln/>
        </p:spPr>
        <p:txBody>
          <a:bodyPr wrap="square" lIns="0" tIns="0" rIns="0" bIns="0" rtlCol="0" anchor="ctr"/>
          <a:lstStyle/>
          <a:p>
            <a:pPr marL="0" indent="0">
              <a:buNone/>
            </a:pPr>
            <a:r>
              <a:rPr lang="en-US" sz="1300" b="1" dirty="0">
                <a:solidFill>
                  <a:srgbClr val="D93025"/>
                </a:solidFill>
              </a:rPr>
              <a:t>한계: 넓은 구간에는 시간과 인력이 많이 듭니다</a:t>
            </a:r>
            <a:endParaRPr lang="en-US" sz="1300" dirty="0"/>
          </a:p>
        </p:txBody>
      </p:sp>
      <p:pic>
        <p:nvPicPr>
          <p:cNvPr id="13" name="method_scope" descr="/Users/seohogyun/Documents/git_workspace/pv5-hose-lab/groundwatch/images/method_scope.png"/>
          <p:cNvPicPr>
            <a:picLocks noChangeAspect="1"/>
          </p:cNvPicPr>
          <p:nvPr/>
        </p:nvPicPr>
        <p:blipFill>
          <a:blip r:embed="rId5"/>
          <a:stretch>
            <a:fillRect/>
          </a:stretch>
        </p:blipFill>
        <p:spPr>
          <a:xfrm>
            <a:off x="8138160" y="1691640"/>
            <a:ext cx="3520440" cy="2103120"/>
          </a:xfrm>
          <a:prstGeom prst="rect">
            <a:avLst/>
          </a:prstGeom>
        </p:spPr>
      </p:pic>
      <p:sp>
        <p:nvSpPr>
          <p:cNvPr id="14" name="Text 9"/>
          <p:cNvSpPr txBox="1"/>
          <p:nvPr/>
        </p:nvSpPr>
        <p:spPr>
          <a:xfrm>
            <a:off x="8138160" y="3931920"/>
            <a:ext cx="3520440" cy="365760"/>
          </a:xfrm>
          <a:prstGeom prst="rect">
            <a:avLst/>
          </a:prstGeom>
          <a:noFill/>
          <a:ln/>
        </p:spPr>
        <p:txBody>
          <a:bodyPr wrap="square" lIns="0" tIns="0" rIns="0" bIns="0" rtlCol="0" anchor="ctr"/>
          <a:lstStyle/>
          <a:p>
            <a:pPr marL="0" indent="0">
              <a:buNone/>
            </a:pPr>
            <a:r>
              <a:rPr lang="en-US" sz="1800" b="1" dirty="0">
                <a:solidFill>
                  <a:srgbClr val="101828"/>
                </a:solidFill>
              </a:rPr>
              <a:t>천공과 내시경</a:t>
            </a:r>
            <a:endParaRPr lang="en-US" sz="1800" dirty="0"/>
          </a:p>
        </p:txBody>
      </p:sp>
      <p:sp>
        <p:nvSpPr>
          <p:cNvPr id="15" name="Text 10"/>
          <p:cNvSpPr txBox="1"/>
          <p:nvPr/>
        </p:nvSpPr>
        <p:spPr>
          <a:xfrm>
            <a:off x="8138160" y="4315968"/>
            <a:ext cx="3520440" cy="640080"/>
          </a:xfrm>
          <a:prstGeom prst="rect">
            <a:avLst/>
          </a:prstGeom>
          <a:noFill/>
          <a:ln/>
        </p:spPr>
        <p:txBody>
          <a:bodyPr wrap="square" lIns="0" tIns="0" rIns="0" bIns="0" rtlCol="0" anchor="t"/>
          <a:lstStyle/>
          <a:p>
            <a:pPr marL="0" indent="0">
              <a:buNone/>
            </a:pPr>
            <a:r>
              <a:rPr lang="en-US" sz="1400" dirty="0">
                <a:solidFill>
                  <a:srgbClr val="5B6573"/>
                </a:solidFill>
              </a:rPr>
              <a:t>공동이 의심되는 지점을 뚫어 실제 빈 공간과 규모를 확인합니다.</a:t>
            </a:r>
            <a:endParaRPr lang="en-US" sz="1400" dirty="0"/>
          </a:p>
        </p:txBody>
      </p:sp>
      <p:sp>
        <p:nvSpPr>
          <p:cNvPr id="16" name="Text 11"/>
          <p:cNvSpPr txBox="1"/>
          <p:nvPr/>
        </p:nvSpPr>
        <p:spPr>
          <a:xfrm>
            <a:off x="8138160" y="4956048"/>
            <a:ext cx="3520440" cy="292608"/>
          </a:xfrm>
          <a:prstGeom prst="rect">
            <a:avLst/>
          </a:prstGeom>
          <a:noFill/>
          <a:ln/>
        </p:spPr>
        <p:txBody>
          <a:bodyPr wrap="square" lIns="0" tIns="0" rIns="0" bIns="0" rtlCol="0" anchor="ctr"/>
          <a:lstStyle/>
          <a:p>
            <a:pPr marL="0" indent="0">
              <a:buNone/>
            </a:pPr>
            <a:r>
              <a:rPr lang="en-US" sz="1300" b="1" dirty="0">
                <a:solidFill>
                  <a:srgbClr val="D93025"/>
                </a:solidFill>
              </a:rPr>
              <a:t>한계: 승인과 교통통제가 필요한 지점 단위 작업</a:t>
            </a:r>
            <a:endParaRPr lang="en-US" sz="1300" dirty="0"/>
          </a:p>
        </p:txBody>
      </p:sp>
      <p:sp>
        <p:nvSpPr>
          <p:cNvPr id="17" name="rule"/>
          <p:cNvSpPr/>
          <p:nvPr/>
        </p:nvSpPr>
        <p:spPr>
          <a:xfrm>
            <a:off x="548640" y="5440680"/>
            <a:ext cx="11094415" cy="0"/>
          </a:xfrm>
          <a:prstGeom prst="line">
            <a:avLst/>
          </a:prstGeom>
          <a:noFill/>
          <a:ln w="12700">
            <a:solidFill>
              <a:srgbClr val="DCE1E8"/>
            </a:solidFill>
            <a:prstDash val="solid"/>
          </a:ln>
        </p:spPr>
        <p:txBody>
          <a:bodyPr/>
          <a:lstStyle/>
          <a:p>
            <a:endParaRPr lang="ko-KR" altLang="en-US"/>
          </a:p>
        </p:txBody>
      </p:sp>
      <p:sp>
        <p:nvSpPr>
          <p:cNvPr id="18" name="Text 13"/>
          <p:cNvSpPr txBox="1"/>
          <p:nvPr/>
        </p:nvSpPr>
        <p:spPr>
          <a:xfrm>
            <a:off x="548640" y="5468112"/>
            <a:ext cx="2743200" cy="566928"/>
          </a:xfrm>
          <a:prstGeom prst="rect">
            <a:avLst/>
          </a:prstGeom>
          <a:noFill/>
          <a:ln/>
        </p:spPr>
        <p:txBody>
          <a:bodyPr wrap="square" lIns="0" tIns="0" rIns="0" bIns="0" rtlCol="0" anchor="b"/>
          <a:lstStyle/>
          <a:p>
            <a:pPr marL="0" indent="0">
              <a:buNone/>
            </a:pPr>
            <a:r>
              <a:rPr lang="en-US" sz="2600" b="1" dirty="0">
                <a:solidFill>
                  <a:srgbClr val="0B1F3A"/>
                </a:solidFill>
              </a:rPr>
              <a:t>33,129km</a:t>
            </a:r>
            <a:endParaRPr lang="en-US" sz="2600" dirty="0"/>
          </a:p>
        </p:txBody>
      </p:sp>
      <p:sp>
        <p:nvSpPr>
          <p:cNvPr id="19" name="Text 14"/>
          <p:cNvSpPr txBox="1"/>
          <p:nvPr/>
        </p:nvSpPr>
        <p:spPr>
          <a:xfrm>
            <a:off x="548640" y="6071616"/>
            <a:ext cx="2743200" cy="457200"/>
          </a:xfrm>
          <a:prstGeom prst="rect">
            <a:avLst/>
          </a:prstGeom>
          <a:noFill/>
          <a:ln/>
        </p:spPr>
        <p:txBody>
          <a:bodyPr wrap="square" lIns="0" tIns="0" rIns="0" bIns="0" rtlCol="0" anchor="t"/>
          <a:lstStyle/>
          <a:p>
            <a:pPr marL="0" indent="0">
              <a:buNone/>
            </a:pPr>
            <a:r>
              <a:rPr lang="en-US" sz="1300" dirty="0">
                <a:solidFill>
                  <a:srgbClr val="5B6573"/>
                </a:solidFill>
              </a:rPr>
              <a:t>누적 탐사 거리(2014~2025.9)</a:t>
            </a:r>
            <a:endParaRPr lang="en-US" sz="1300" dirty="0"/>
          </a:p>
        </p:txBody>
      </p:sp>
      <p:sp>
        <p:nvSpPr>
          <p:cNvPr id="20" name="Text 15"/>
          <p:cNvSpPr txBox="1"/>
          <p:nvPr/>
        </p:nvSpPr>
        <p:spPr>
          <a:xfrm>
            <a:off x="3383280" y="5468112"/>
            <a:ext cx="2743200" cy="566928"/>
          </a:xfrm>
          <a:prstGeom prst="rect">
            <a:avLst/>
          </a:prstGeom>
          <a:noFill/>
          <a:ln/>
        </p:spPr>
        <p:txBody>
          <a:bodyPr wrap="square" lIns="0" tIns="0" rIns="0" bIns="0" rtlCol="0" anchor="b"/>
          <a:lstStyle/>
          <a:p>
            <a:pPr marL="0" indent="0">
              <a:buNone/>
            </a:pPr>
            <a:r>
              <a:rPr lang="en-US" sz="2600" b="1" dirty="0">
                <a:solidFill>
                  <a:srgbClr val="0B1F3A"/>
                </a:solidFill>
              </a:rPr>
              <a:t>7,760개</a:t>
            </a:r>
            <a:endParaRPr lang="en-US" sz="2600" dirty="0"/>
          </a:p>
        </p:txBody>
      </p:sp>
      <p:sp>
        <p:nvSpPr>
          <p:cNvPr id="21" name="Text 16"/>
          <p:cNvSpPr txBox="1"/>
          <p:nvPr/>
        </p:nvSpPr>
        <p:spPr>
          <a:xfrm>
            <a:off x="3383280" y="6071616"/>
            <a:ext cx="2743200" cy="457200"/>
          </a:xfrm>
          <a:prstGeom prst="rect">
            <a:avLst/>
          </a:prstGeom>
          <a:noFill/>
          <a:ln/>
        </p:spPr>
        <p:txBody>
          <a:bodyPr wrap="square" lIns="0" tIns="0" rIns="0" bIns="0" rtlCol="0" anchor="t"/>
          <a:lstStyle/>
          <a:p>
            <a:pPr marL="0" indent="0">
              <a:buNone/>
            </a:pPr>
            <a:r>
              <a:rPr lang="en-US" sz="1300" dirty="0">
                <a:solidFill>
                  <a:srgbClr val="5B6573"/>
                </a:solidFill>
              </a:rPr>
              <a:t>같은 기간 발견한 공동</a:t>
            </a:r>
            <a:endParaRPr lang="en-US" sz="1300" dirty="0"/>
          </a:p>
        </p:txBody>
      </p:sp>
      <p:sp>
        <p:nvSpPr>
          <p:cNvPr id="22" name="Text 17"/>
          <p:cNvSpPr txBox="1"/>
          <p:nvPr/>
        </p:nvSpPr>
        <p:spPr>
          <a:xfrm>
            <a:off x="6217920" y="5468112"/>
            <a:ext cx="2743200" cy="566928"/>
          </a:xfrm>
          <a:prstGeom prst="rect">
            <a:avLst/>
          </a:prstGeom>
          <a:noFill/>
          <a:ln/>
        </p:spPr>
        <p:txBody>
          <a:bodyPr wrap="square" lIns="0" tIns="0" rIns="0" bIns="0" rtlCol="0" anchor="b"/>
          <a:lstStyle/>
          <a:p>
            <a:pPr marL="0" indent="0">
              <a:buNone/>
            </a:pPr>
            <a:r>
              <a:rPr lang="en-US" sz="2600" b="1" dirty="0">
                <a:solidFill>
                  <a:srgbClr val="0B1F3A"/>
                </a:solidFill>
              </a:rPr>
              <a:t>16,423km</a:t>
            </a:r>
            <a:endParaRPr lang="en-US" sz="2600" dirty="0"/>
          </a:p>
        </p:txBody>
      </p:sp>
      <p:sp>
        <p:nvSpPr>
          <p:cNvPr id="23" name="Text 18"/>
          <p:cNvSpPr txBox="1"/>
          <p:nvPr/>
        </p:nvSpPr>
        <p:spPr>
          <a:xfrm>
            <a:off x="6217920" y="6071616"/>
            <a:ext cx="2743200" cy="457200"/>
          </a:xfrm>
          <a:prstGeom prst="rect">
            <a:avLst/>
          </a:prstGeom>
          <a:noFill/>
          <a:ln/>
        </p:spPr>
        <p:txBody>
          <a:bodyPr wrap="square" lIns="0" tIns="0" rIns="0" bIns="0" rtlCol="0" anchor="t"/>
          <a:lstStyle/>
          <a:p>
            <a:pPr marL="0" indent="0">
              <a:buNone/>
            </a:pPr>
            <a:r>
              <a:rPr lang="en-US" sz="1300" dirty="0">
                <a:solidFill>
                  <a:srgbClr val="5B6573"/>
                </a:solidFill>
              </a:rPr>
              <a:t>2026년 탐사 계획</a:t>
            </a:r>
            <a:endParaRPr lang="en-US" sz="1300" dirty="0"/>
          </a:p>
        </p:txBody>
      </p:sp>
      <p:sp>
        <p:nvSpPr>
          <p:cNvPr id="24" name="Text 19"/>
          <p:cNvSpPr txBox="1"/>
          <p:nvPr/>
        </p:nvSpPr>
        <p:spPr>
          <a:xfrm>
            <a:off x="9052560" y="5468112"/>
            <a:ext cx="2743200" cy="566928"/>
          </a:xfrm>
          <a:prstGeom prst="rect">
            <a:avLst/>
          </a:prstGeom>
          <a:noFill/>
          <a:ln/>
        </p:spPr>
        <p:txBody>
          <a:bodyPr wrap="square" lIns="0" tIns="0" rIns="0" bIns="0" rtlCol="0" anchor="b"/>
          <a:lstStyle/>
          <a:p>
            <a:pPr marL="0" indent="0">
              <a:buNone/>
            </a:pPr>
            <a:r>
              <a:rPr lang="en-US" sz="2600" b="1" dirty="0">
                <a:solidFill>
                  <a:srgbClr val="0B1F3A"/>
                </a:solidFill>
              </a:rPr>
              <a:t>9명 → 19명</a:t>
            </a:r>
            <a:endParaRPr lang="en-US" sz="2600" dirty="0"/>
          </a:p>
        </p:txBody>
      </p:sp>
      <p:sp>
        <p:nvSpPr>
          <p:cNvPr id="25" name="Text 20"/>
          <p:cNvSpPr txBox="1"/>
          <p:nvPr/>
        </p:nvSpPr>
        <p:spPr>
          <a:xfrm>
            <a:off x="9052560" y="6071616"/>
            <a:ext cx="2743200" cy="457200"/>
          </a:xfrm>
          <a:prstGeom prst="rect">
            <a:avLst/>
          </a:prstGeom>
          <a:noFill/>
          <a:ln/>
        </p:spPr>
        <p:txBody>
          <a:bodyPr wrap="square" lIns="0" tIns="0" rIns="0" bIns="0" rtlCol="0" anchor="t"/>
          <a:lstStyle/>
          <a:p>
            <a:pPr marL="0" indent="0">
              <a:buNone/>
            </a:pPr>
            <a:r>
              <a:rPr lang="en-US" sz="1300" dirty="0">
                <a:solidFill>
                  <a:srgbClr val="5B6573"/>
                </a:solidFill>
              </a:rPr>
              <a:t>GPR 전담 인력</a:t>
            </a:r>
            <a:endParaRPr lang="en-US" sz="1300" dirty="0"/>
          </a:p>
        </p:txBody>
      </p:sp>
      <p:sp>
        <p:nvSpPr>
          <p:cNvPr id="2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서울시 차량탑재형 GPR 도입 자료, 서울시 지반침하 예방체계 강화 보도자료, 경향신문 2025.10.19(서울시 발표 인용), 세이프타임즈(탐지 깊이 2m)</a:t>
            </a:r>
            <a:endParaRPr lang="en-US" sz="1000" dirty="0"/>
          </a:p>
        </p:txBody>
      </p:sp>
      <p:sp>
        <p:nvSpPr>
          <p:cNvPr id="27"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현재 방식의 공백</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탐사와 탐사 사이, 지하의 변화는 기록되지 않는다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2024년 연희동 성산로는 5월 정기 GPR 탐사에서 공동이 발견되지 않았고, 8월 29일 도로가 함몰됐습니다.</a:t>
            </a:r>
            <a:endParaRPr lang="en-US" sz="1600" dirty="0"/>
          </a:p>
        </p:txBody>
      </p:sp>
      <p:pic>
        <p:nvPicPr>
          <p:cNvPr id="5" name="gap_timeline" descr="/Users/seohogyun/Documents/git_workspace/pv5-hose-lab/groundwatch/images/gap_timeline.png"/>
          <p:cNvPicPr>
            <a:picLocks noChangeAspect="1"/>
          </p:cNvPicPr>
          <p:nvPr/>
        </p:nvPicPr>
        <p:blipFill>
          <a:blip r:embed="rId3"/>
          <a:stretch>
            <a:fillRect/>
          </a:stretch>
        </p:blipFill>
        <p:spPr>
          <a:xfrm>
            <a:off x="1006776" y="1554480"/>
            <a:ext cx="10178143" cy="2514600"/>
          </a:xfrm>
          <a:prstGeom prst="rect">
            <a:avLst/>
          </a:prstGeom>
        </p:spPr>
      </p:pic>
      <p:sp>
        <p:nvSpPr>
          <p:cNvPr id="6" name="bubble"/>
          <p:cNvSpPr txBox="1"/>
          <p:nvPr/>
        </p:nvSpPr>
        <p:spPr>
          <a:xfrm>
            <a:off x="4480560" y="1600200"/>
            <a:ext cx="3246120" cy="502920"/>
          </a:xfrm>
          <a:prstGeom prst="wedgeRectCallout">
            <a:avLst/>
          </a:prstGeom>
          <a:solidFill>
            <a:srgbClr val="D93025"/>
          </a:solidFill>
          <a:ln>
            <a:solidFill>
              <a:srgbClr val="D93025"/>
            </a:solidFill>
          </a:ln>
        </p:spPr>
        <p:txBody>
          <a:bodyPr wrap="square" lIns="76200" tIns="76200" rIns="76200" bIns="76200" rtlCol="0" anchor="ctr"/>
          <a:lstStyle/>
          <a:p>
            <a:pPr marL="0" indent="0" algn="ctr">
              <a:buNone/>
            </a:pPr>
            <a:r>
              <a:rPr lang="en-US" sz="1500" b="1" dirty="0">
                <a:solidFill>
                  <a:srgbClr val="FFFFFF"/>
                </a:solidFill>
              </a:rPr>
              <a:t>5월엔 없었고, 8월엔 무너졌습니다.</a:t>
            </a:r>
            <a:endParaRPr lang="en-US" sz="1500" dirty="0"/>
          </a:p>
        </p:txBody>
      </p:sp>
      <p:sp>
        <p:nvSpPr>
          <p:cNvPr id="7" name="rule"/>
          <p:cNvSpPr/>
          <p:nvPr/>
        </p:nvSpPr>
        <p:spPr>
          <a:xfrm>
            <a:off x="548640" y="4343400"/>
            <a:ext cx="2606040" cy="0"/>
          </a:xfrm>
          <a:prstGeom prst="line">
            <a:avLst/>
          </a:prstGeom>
          <a:noFill/>
          <a:ln w="12700">
            <a:solidFill>
              <a:srgbClr val="101828"/>
            </a:solidFill>
            <a:prstDash val="solid"/>
          </a:ln>
        </p:spPr>
        <p:txBody>
          <a:bodyPr/>
          <a:lstStyle/>
          <a:p>
            <a:endParaRPr lang="ko-KR" altLang="en-US"/>
          </a:p>
        </p:txBody>
      </p:sp>
      <p:sp>
        <p:nvSpPr>
          <p:cNvPr id="8" name="Text 5"/>
          <p:cNvSpPr txBox="1"/>
          <p:nvPr/>
        </p:nvSpPr>
        <p:spPr>
          <a:xfrm>
            <a:off x="54864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한 시점의 결과</a:t>
            </a:r>
            <a:endParaRPr lang="en-US" sz="1700" dirty="0"/>
          </a:p>
        </p:txBody>
      </p:sp>
      <p:sp>
        <p:nvSpPr>
          <p:cNvPr id="9" name="Text 6"/>
          <p:cNvSpPr txBox="1"/>
          <p:nvPr/>
        </p:nvSpPr>
        <p:spPr>
          <a:xfrm>
            <a:off x="54864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회차별 결과가 보고서 단위로 끝나 시간축 비교가 어렵습니다.</a:t>
            </a:r>
            <a:endParaRPr lang="en-US" sz="1400" dirty="0"/>
          </a:p>
        </p:txBody>
      </p:sp>
      <p:sp>
        <p:nvSpPr>
          <p:cNvPr id="10" name="rule"/>
          <p:cNvSpPr/>
          <p:nvPr/>
        </p:nvSpPr>
        <p:spPr>
          <a:xfrm>
            <a:off x="3383280" y="4343400"/>
            <a:ext cx="2606040" cy="0"/>
          </a:xfrm>
          <a:prstGeom prst="line">
            <a:avLst/>
          </a:prstGeom>
          <a:noFill/>
          <a:ln w="12700">
            <a:solidFill>
              <a:srgbClr val="101828"/>
            </a:solidFill>
            <a:prstDash val="solid"/>
          </a:ln>
        </p:spPr>
        <p:txBody>
          <a:bodyPr/>
          <a:lstStyle/>
          <a:p>
            <a:endParaRPr lang="ko-KR" altLang="en-US"/>
          </a:p>
        </p:txBody>
      </p:sp>
      <p:sp>
        <p:nvSpPr>
          <p:cNvPr id="11" name="Text 8"/>
          <p:cNvSpPr txBox="1"/>
          <p:nvPr/>
        </p:nvSpPr>
        <p:spPr>
          <a:xfrm>
            <a:off x="338328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변화 추적</a:t>
            </a:r>
            <a:endParaRPr lang="en-US" sz="1700" dirty="0"/>
          </a:p>
        </p:txBody>
      </p:sp>
      <p:sp>
        <p:nvSpPr>
          <p:cNvPr id="12" name="Text 9"/>
          <p:cNvSpPr txBox="1"/>
          <p:nvPr/>
        </p:nvSpPr>
        <p:spPr>
          <a:xfrm>
            <a:off x="338328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같은 지점의 신호가 새로 생겼는지, 커졌는지 이어서 보기 어렵습니다.</a:t>
            </a:r>
            <a:endParaRPr lang="en-US" sz="1400" dirty="0"/>
          </a:p>
        </p:txBody>
      </p:sp>
      <p:sp>
        <p:nvSpPr>
          <p:cNvPr id="13" name="rule"/>
          <p:cNvSpPr/>
          <p:nvPr/>
        </p:nvSpPr>
        <p:spPr>
          <a:xfrm>
            <a:off x="6217920" y="4343400"/>
            <a:ext cx="2606040" cy="0"/>
          </a:xfrm>
          <a:prstGeom prst="line">
            <a:avLst/>
          </a:prstGeom>
          <a:noFill/>
          <a:ln w="12700">
            <a:solidFill>
              <a:srgbClr val="101828"/>
            </a:solidFill>
            <a:prstDash val="solid"/>
          </a:ln>
        </p:spPr>
        <p:txBody>
          <a:bodyPr/>
          <a:lstStyle/>
          <a:p>
            <a:endParaRPr lang="ko-KR" altLang="en-US"/>
          </a:p>
        </p:txBody>
      </p:sp>
      <p:sp>
        <p:nvSpPr>
          <p:cNvPr id="14" name="Text 11"/>
          <p:cNvSpPr txBox="1"/>
          <p:nvPr/>
        </p:nvSpPr>
        <p:spPr>
          <a:xfrm>
            <a:off x="621792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다음 조사 순서</a:t>
            </a:r>
            <a:endParaRPr lang="en-US" sz="1700" dirty="0"/>
          </a:p>
        </p:txBody>
      </p:sp>
      <p:sp>
        <p:nvSpPr>
          <p:cNvPr id="15" name="Text 12"/>
          <p:cNvSpPr txBox="1"/>
          <p:nvPr/>
        </p:nvSpPr>
        <p:spPr>
          <a:xfrm>
            <a:off x="621792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어느 구간을 먼저 다시 볼지 데이터로 정하기 어렵습니다.</a:t>
            </a:r>
            <a:endParaRPr lang="en-US" sz="1400" dirty="0"/>
          </a:p>
        </p:txBody>
      </p:sp>
      <p:sp>
        <p:nvSpPr>
          <p:cNvPr id="16" name="rule"/>
          <p:cNvSpPr/>
          <p:nvPr/>
        </p:nvSpPr>
        <p:spPr>
          <a:xfrm>
            <a:off x="9052560" y="4343400"/>
            <a:ext cx="2606040" cy="0"/>
          </a:xfrm>
          <a:prstGeom prst="line">
            <a:avLst/>
          </a:prstGeom>
          <a:noFill/>
          <a:ln w="12700">
            <a:solidFill>
              <a:srgbClr val="101828"/>
            </a:solidFill>
            <a:prstDash val="solid"/>
          </a:ln>
        </p:spPr>
        <p:txBody>
          <a:bodyPr/>
          <a:lstStyle/>
          <a:p>
            <a:endParaRPr lang="ko-KR" altLang="en-US"/>
          </a:p>
        </p:txBody>
      </p:sp>
      <p:sp>
        <p:nvSpPr>
          <p:cNvPr id="17" name="Text 14"/>
          <p:cNvSpPr txBox="1"/>
          <p:nvPr/>
        </p:nvSpPr>
        <p:spPr>
          <a:xfrm>
            <a:off x="9052560" y="4462272"/>
            <a:ext cx="2606040" cy="347472"/>
          </a:xfrm>
          <a:prstGeom prst="rect">
            <a:avLst/>
          </a:prstGeom>
          <a:noFill/>
          <a:ln/>
        </p:spPr>
        <p:txBody>
          <a:bodyPr wrap="square" lIns="0" tIns="0" rIns="0" bIns="0" rtlCol="0" anchor="t"/>
          <a:lstStyle/>
          <a:p>
            <a:pPr marL="0" indent="0">
              <a:buNone/>
            </a:pPr>
            <a:r>
              <a:rPr lang="en-US" sz="1700" b="1" dirty="0">
                <a:solidFill>
                  <a:srgbClr val="101828"/>
                </a:solidFill>
              </a:rPr>
              <a:t>같은 지점 찾기</a:t>
            </a:r>
            <a:endParaRPr lang="en-US" sz="1700" dirty="0"/>
          </a:p>
        </p:txBody>
      </p:sp>
      <p:sp>
        <p:nvSpPr>
          <p:cNvPr id="18" name="Text 15"/>
          <p:cNvSpPr txBox="1"/>
          <p:nvPr/>
        </p:nvSpPr>
        <p:spPr>
          <a:xfrm>
            <a:off x="9052560" y="4846320"/>
            <a:ext cx="2606040" cy="9144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현장 기술자가 정확히 같은 지점을 다시 찾기 어렵습니다.</a:t>
            </a:r>
            <a:endParaRPr lang="en-US" sz="1400" dirty="0"/>
          </a:p>
        </p:txBody>
      </p:sp>
      <p:sp>
        <p:nvSpPr>
          <p:cNvPr id="19" name="Text 16"/>
          <p:cNvSpPr txBox="1"/>
          <p:nvPr/>
        </p:nvSpPr>
        <p:spPr>
          <a:xfrm>
            <a:off x="548640" y="5897880"/>
            <a:ext cx="11094415" cy="320040"/>
          </a:xfrm>
          <a:prstGeom prst="rect">
            <a:avLst/>
          </a:prstGeom>
          <a:noFill/>
          <a:ln/>
        </p:spPr>
        <p:txBody>
          <a:bodyPr wrap="square" lIns="0" tIns="0" rIns="0" bIns="0" rtlCol="0" anchor="ctr"/>
          <a:lstStyle/>
          <a:p>
            <a:pPr marL="0" indent="0">
              <a:buNone/>
            </a:pPr>
            <a:r>
              <a:rPr lang="en-US" sz="1300" dirty="0">
                <a:solidFill>
                  <a:srgbClr val="5B6573"/>
                </a:solidFill>
              </a:rPr>
              <a:t>[가설] 위 네 가지 공백은 지자체와 탐사업체 인터뷰로 검증합니다.</a:t>
            </a:r>
            <a:endParaRPr lang="en-US" sz="1300" dirty="0"/>
          </a:p>
        </p:txBody>
      </p:sp>
      <p:sp>
        <p:nvSpPr>
          <p:cNvPr id="20"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뉴시스 2024.8.30(서울시 설명: 5.7~5.16 GPR 탐사차량 2대, 인력 16명 투입, 당시 빈 공간 미발견), 이투데이 2024.9. 연희동 함몰 규모는 공식 확인 전이라 쓰지 않았습니다.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솔루션 개요</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같은 길을 반복해서 보고, 달라진 곳만 다시 확인한다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순찰, 비교, 현장 재확인이 한 바퀴를 돌 때마다 같은 도로의 기록이 한 겹씩 쌓입니다.</a:t>
            </a:r>
            <a:endParaRPr lang="en-US" sz="1600" dirty="0"/>
          </a:p>
        </p:txBody>
      </p:sp>
      <p:pic>
        <p:nvPicPr>
          <p:cNvPr id="5" name="overview_pv5" descr="/Users/seohogyun/Documents/git_workspace/pv5-hose-lab/groundwatch/images/overview_pv5.png"/>
          <p:cNvPicPr>
            <a:picLocks noChangeAspect="1"/>
          </p:cNvPicPr>
          <p:nvPr/>
        </p:nvPicPr>
        <p:blipFill>
          <a:blip r:embed="rId3"/>
          <a:stretch>
            <a:fillRect/>
          </a:stretch>
        </p:blipFill>
        <p:spPr>
          <a:xfrm>
            <a:off x="548640" y="1600200"/>
            <a:ext cx="3749040" cy="2606040"/>
          </a:xfrm>
          <a:prstGeom prst="rect">
            <a:avLst/>
          </a:prstGeom>
        </p:spPr>
      </p:pic>
      <p:sp>
        <p:nvSpPr>
          <p:cNvPr id="6" name="Text 3"/>
          <p:cNvSpPr txBox="1"/>
          <p:nvPr/>
        </p:nvSpPr>
        <p:spPr>
          <a:xfrm>
            <a:off x="548640" y="4343400"/>
            <a:ext cx="3749040" cy="347472"/>
          </a:xfrm>
          <a:prstGeom prst="rect">
            <a:avLst/>
          </a:prstGeom>
          <a:noFill/>
          <a:ln/>
        </p:spPr>
        <p:txBody>
          <a:bodyPr wrap="square" lIns="0" tIns="0" rIns="0" bIns="0" rtlCol="0" anchor="t"/>
          <a:lstStyle/>
          <a:p>
            <a:pPr marL="0" indent="0">
              <a:buNone/>
            </a:pPr>
            <a:r>
              <a:rPr lang="en-US" sz="1700" b="1" dirty="0">
                <a:solidFill>
                  <a:srgbClr val="101828"/>
                </a:solidFill>
              </a:rPr>
              <a:t>1  새벽 순찰</a:t>
            </a:r>
            <a:endParaRPr lang="en-US" sz="1700" dirty="0"/>
          </a:p>
        </p:txBody>
      </p:sp>
      <p:sp>
        <p:nvSpPr>
          <p:cNvPr id="7" name="Text 4"/>
          <p:cNvSpPr txBox="1"/>
          <p:nvPr/>
        </p:nvSpPr>
        <p:spPr>
          <a:xfrm>
            <a:off x="548640" y="4727448"/>
            <a:ext cx="3749040"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같은 경로를 같은 장비로 반복 주행하며 GPR과 영상을 수집합니다.</a:t>
            </a:r>
            <a:endParaRPr lang="en-US" sz="1400" dirty="0"/>
          </a:p>
        </p:txBody>
      </p:sp>
      <p:sp>
        <p:nvSpPr>
          <p:cNvPr id="8" name="arrow"/>
          <p:cNvSpPr/>
          <p:nvPr/>
        </p:nvSpPr>
        <p:spPr>
          <a:xfrm>
            <a:off x="4434840" y="2898648"/>
            <a:ext cx="457200" cy="914"/>
          </a:xfrm>
          <a:prstGeom prst="line">
            <a:avLst/>
          </a:prstGeom>
          <a:noFill/>
          <a:ln w="22225">
            <a:solidFill>
              <a:srgbClr val="0B1F3A"/>
            </a:solidFill>
            <a:prstDash val="solid"/>
            <a:tailEnd type="triangle"/>
          </a:ln>
        </p:spPr>
        <p:txBody>
          <a:bodyPr/>
          <a:lstStyle/>
          <a:p>
            <a:endParaRPr lang="ko-KR" altLang="en-US"/>
          </a:p>
        </p:txBody>
      </p:sp>
      <p:sp>
        <p:nvSpPr>
          <p:cNvPr id="9" name="panel"/>
          <p:cNvSpPr/>
          <p:nvPr/>
        </p:nvSpPr>
        <p:spPr>
          <a:xfrm>
            <a:off x="4983480" y="1600200"/>
            <a:ext cx="3200400" cy="2606040"/>
          </a:xfrm>
          <a:prstGeom prst="roundRect">
            <a:avLst>
              <a:gd name="adj" fmla="val 2105"/>
            </a:avLst>
          </a:prstGeom>
          <a:solidFill>
            <a:srgbClr val="0A1628"/>
          </a:solidFill>
          <a:ln w="12700">
            <a:solidFill>
              <a:srgbClr val="0A1628"/>
            </a:solidFill>
            <a:prstDash val="solid"/>
          </a:ln>
        </p:spPr>
        <p:txBody>
          <a:bodyPr/>
          <a:lstStyle/>
          <a:p>
            <a:endParaRPr lang="ko-KR" altLang="en-US"/>
          </a:p>
        </p:txBody>
      </p:sp>
      <p:pic>
        <p:nvPicPr>
          <p:cNvPr id="10" name="icon_radar_w" descr="/Users/seohogyun/Documents/git_workspace/pv5-hose-lab/groundwatch/images/ico_radar_w.png"/>
          <p:cNvPicPr>
            <a:picLocks noChangeAspect="1"/>
          </p:cNvPicPr>
          <p:nvPr/>
        </p:nvPicPr>
        <p:blipFill>
          <a:blip r:embed="rId4"/>
          <a:stretch>
            <a:fillRect/>
          </a:stretch>
        </p:blipFill>
        <p:spPr>
          <a:xfrm>
            <a:off x="5212080" y="1810512"/>
            <a:ext cx="365760" cy="365760"/>
          </a:xfrm>
          <a:prstGeom prst="rect">
            <a:avLst/>
          </a:prstGeom>
        </p:spPr>
      </p:pic>
      <p:sp>
        <p:nvSpPr>
          <p:cNvPr id="11" name="Text 7"/>
          <p:cNvSpPr txBox="1"/>
          <p:nvPr/>
        </p:nvSpPr>
        <p:spPr>
          <a:xfrm>
            <a:off x="5715000" y="1792224"/>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GPR, 카메라 수집</a:t>
            </a:r>
            <a:endParaRPr lang="en-US" sz="1500" dirty="0"/>
          </a:p>
        </p:txBody>
      </p:sp>
      <p:pic>
        <p:nvPicPr>
          <p:cNvPr id="12" name="icon_map_w" descr="/Users/seohogyun/Documents/git_workspace/pv5-hose-lab/groundwatch/images/ico_map_w.png"/>
          <p:cNvPicPr>
            <a:picLocks noChangeAspect="1"/>
          </p:cNvPicPr>
          <p:nvPr/>
        </p:nvPicPr>
        <p:blipFill>
          <a:blip r:embed="rId5"/>
          <a:stretch>
            <a:fillRect/>
          </a:stretch>
        </p:blipFill>
        <p:spPr>
          <a:xfrm>
            <a:off x="5212080" y="2395728"/>
            <a:ext cx="365760" cy="365760"/>
          </a:xfrm>
          <a:prstGeom prst="rect">
            <a:avLst/>
          </a:prstGeom>
        </p:spPr>
      </p:pic>
      <p:sp>
        <p:nvSpPr>
          <p:cNvPr id="13" name="Text 8"/>
          <p:cNvSpPr txBox="1"/>
          <p:nvPr/>
        </p:nvSpPr>
        <p:spPr>
          <a:xfrm>
            <a:off x="5715000" y="2377440"/>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위치, 깊이, 시간 기록</a:t>
            </a:r>
            <a:endParaRPr lang="en-US" sz="1500" dirty="0"/>
          </a:p>
        </p:txBody>
      </p:sp>
      <p:pic>
        <p:nvPicPr>
          <p:cNvPr id="14" name="icon_brain_a" descr="/Users/seohogyun/Documents/git_workspace/pv5-hose-lab/groundwatch/images/ico_brain_a.png"/>
          <p:cNvPicPr>
            <a:picLocks noChangeAspect="1"/>
          </p:cNvPicPr>
          <p:nvPr/>
        </p:nvPicPr>
        <p:blipFill>
          <a:blip r:embed="rId6"/>
          <a:stretch>
            <a:fillRect/>
          </a:stretch>
        </p:blipFill>
        <p:spPr>
          <a:xfrm>
            <a:off x="5212080" y="2980944"/>
            <a:ext cx="365760" cy="365760"/>
          </a:xfrm>
          <a:prstGeom prst="rect">
            <a:avLst/>
          </a:prstGeom>
        </p:spPr>
      </p:pic>
      <p:sp>
        <p:nvSpPr>
          <p:cNvPr id="15" name="Text 9"/>
          <p:cNvSpPr txBox="1"/>
          <p:nvPr/>
        </p:nvSpPr>
        <p:spPr>
          <a:xfrm>
            <a:off x="5715000" y="2962656"/>
            <a:ext cx="2377440" cy="402336"/>
          </a:xfrm>
          <a:prstGeom prst="rect">
            <a:avLst/>
          </a:prstGeom>
          <a:noFill/>
          <a:ln/>
        </p:spPr>
        <p:txBody>
          <a:bodyPr wrap="square" lIns="0" tIns="0" rIns="0" bIns="0" rtlCol="0" anchor="ctr"/>
          <a:lstStyle/>
          <a:p>
            <a:pPr marL="0" indent="0">
              <a:buNone/>
            </a:pPr>
            <a:r>
              <a:rPr lang="en-US" sz="1500" b="1" dirty="0">
                <a:solidFill>
                  <a:srgbClr val="F5B400"/>
                </a:solidFill>
              </a:rPr>
              <a:t>이전 회차와 비교</a:t>
            </a:r>
            <a:endParaRPr lang="en-US" sz="1500" dirty="0"/>
          </a:p>
        </p:txBody>
      </p:sp>
      <p:pic>
        <p:nvPicPr>
          <p:cNvPr id="16" name="icon_layers_w" descr="/Users/seohogyun/Documents/git_workspace/pv5-hose-lab/groundwatch/images/ico_layers_w.png"/>
          <p:cNvPicPr>
            <a:picLocks noChangeAspect="1"/>
          </p:cNvPicPr>
          <p:nvPr/>
        </p:nvPicPr>
        <p:blipFill>
          <a:blip r:embed="rId7"/>
          <a:stretch>
            <a:fillRect/>
          </a:stretch>
        </p:blipFill>
        <p:spPr>
          <a:xfrm>
            <a:off x="5212080" y="3566160"/>
            <a:ext cx="365760" cy="365760"/>
          </a:xfrm>
          <a:prstGeom prst="rect">
            <a:avLst/>
          </a:prstGeom>
        </p:spPr>
      </p:pic>
      <p:sp>
        <p:nvSpPr>
          <p:cNvPr id="17" name="Text 10"/>
          <p:cNvSpPr txBox="1"/>
          <p:nvPr/>
        </p:nvSpPr>
        <p:spPr>
          <a:xfrm>
            <a:off x="5715000" y="3547872"/>
            <a:ext cx="2377440" cy="402336"/>
          </a:xfrm>
          <a:prstGeom prst="rect">
            <a:avLst/>
          </a:prstGeom>
          <a:noFill/>
          <a:ln/>
        </p:spPr>
        <p:txBody>
          <a:bodyPr wrap="square" lIns="0" tIns="0" rIns="0" bIns="0" rtlCol="0" anchor="ctr"/>
          <a:lstStyle/>
          <a:p>
            <a:pPr marL="0" indent="0">
              <a:buNone/>
            </a:pPr>
            <a:r>
              <a:rPr lang="en-US" sz="1500" b="1" dirty="0">
                <a:solidFill>
                  <a:srgbClr val="FFFFFF"/>
                </a:solidFill>
              </a:rPr>
              <a:t>4D 지하 변화지도</a:t>
            </a:r>
            <a:endParaRPr lang="en-US" sz="1500" dirty="0"/>
          </a:p>
        </p:txBody>
      </p:sp>
      <p:sp>
        <p:nvSpPr>
          <p:cNvPr id="18" name="Text 11"/>
          <p:cNvSpPr txBox="1"/>
          <p:nvPr/>
        </p:nvSpPr>
        <p:spPr>
          <a:xfrm>
            <a:off x="4983480" y="43434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2  기록과 비교</a:t>
            </a:r>
            <a:endParaRPr lang="en-US" sz="1700" dirty="0"/>
          </a:p>
        </p:txBody>
      </p:sp>
      <p:sp>
        <p:nvSpPr>
          <p:cNvPr id="19" name="Text 12"/>
          <p:cNvSpPr txBox="1"/>
          <p:nvPr/>
        </p:nvSpPr>
        <p:spPr>
          <a:xfrm>
            <a:off x="4983480" y="4727448"/>
            <a:ext cx="3200400"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AI가 달라진 지점을 찾고 전문가가 검토합니다.</a:t>
            </a:r>
            <a:endParaRPr lang="en-US" sz="1400" dirty="0"/>
          </a:p>
        </p:txBody>
      </p:sp>
      <p:sp>
        <p:nvSpPr>
          <p:cNvPr id="20" name="arrow"/>
          <p:cNvSpPr/>
          <p:nvPr/>
        </p:nvSpPr>
        <p:spPr>
          <a:xfrm>
            <a:off x="8275320" y="2898648"/>
            <a:ext cx="457200" cy="914"/>
          </a:xfrm>
          <a:prstGeom prst="line">
            <a:avLst/>
          </a:prstGeom>
          <a:noFill/>
          <a:ln w="22225">
            <a:solidFill>
              <a:srgbClr val="0B1F3A"/>
            </a:solidFill>
            <a:prstDash val="solid"/>
            <a:tailEnd type="triangle"/>
          </a:ln>
        </p:spPr>
        <p:txBody>
          <a:bodyPr/>
          <a:lstStyle/>
          <a:p>
            <a:endParaRPr lang="ko-KR" altLang="en-US"/>
          </a:p>
        </p:txBody>
      </p:sp>
      <p:pic>
        <p:nvPicPr>
          <p:cNvPr id="21" name="icon_server" descr="/Users/seohogyun/Documents/git_workspace/pv5-hose-lab/groundwatch/images/ico_server.png"/>
          <p:cNvPicPr>
            <a:picLocks noChangeAspect="1"/>
          </p:cNvPicPr>
          <p:nvPr/>
        </p:nvPicPr>
        <p:blipFill>
          <a:blip r:embed="rId8"/>
          <a:stretch>
            <a:fillRect/>
          </a:stretch>
        </p:blipFill>
        <p:spPr>
          <a:xfrm>
            <a:off x="8869680" y="1691640"/>
            <a:ext cx="502920" cy="502920"/>
          </a:xfrm>
          <a:prstGeom prst="rect">
            <a:avLst/>
          </a:prstGeom>
        </p:spPr>
      </p:pic>
      <p:sp>
        <p:nvSpPr>
          <p:cNvPr id="22" name="Text 14"/>
          <p:cNvSpPr txBox="1"/>
          <p:nvPr/>
        </p:nvSpPr>
        <p:spPr>
          <a:xfrm>
            <a:off x="9509760" y="169164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차량 앱과 Edge Gateway</a:t>
            </a:r>
            <a:endParaRPr lang="en-US" sz="1500" dirty="0"/>
          </a:p>
        </p:txBody>
      </p:sp>
      <p:pic>
        <p:nvPicPr>
          <p:cNvPr id="23" name="icon_glasses" descr="/Users/seohogyun/Documents/git_workspace/pv5-hose-lab/groundwatch/images/ico_glasses.png"/>
          <p:cNvPicPr>
            <a:picLocks noChangeAspect="1"/>
          </p:cNvPicPr>
          <p:nvPr/>
        </p:nvPicPr>
        <p:blipFill>
          <a:blip r:embed="rId9"/>
          <a:stretch>
            <a:fillRect/>
          </a:stretch>
        </p:blipFill>
        <p:spPr>
          <a:xfrm>
            <a:off x="8869680" y="2560320"/>
            <a:ext cx="502920" cy="502920"/>
          </a:xfrm>
          <a:prstGeom prst="rect">
            <a:avLst/>
          </a:prstGeom>
        </p:spPr>
      </p:pic>
      <p:sp>
        <p:nvSpPr>
          <p:cNvPr id="24" name="Text 15"/>
          <p:cNvSpPr txBox="1"/>
          <p:nvPr/>
        </p:nvSpPr>
        <p:spPr>
          <a:xfrm>
            <a:off x="9509760" y="256032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AR 글래스</a:t>
            </a:r>
            <a:endParaRPr lang="en-US" sz="1500" dirty="0"/>
          </a:p>
        </p:txBody>
      </p:sp>
      <p:pic>
        <p:nvPicPr>
          <p:cNvPr id="25" name="icon_scan" descr="/Users/seohogyun/Documents/git_workspace/pv5-hose-lab/groundwatch/images/ico_scan.png"/>
          <p:cNvPicPr>
            <a:picLocks noChangeAspect="1"/>
          </p:cNvPicPr>
          <p:nvPr/>
        </p:nvPicPr>
        <p:blipFill>
          <a:blip r:embed="rId10"/>
          <a:stretch>
            <a:fillRect/>
          </a:stretch>
        </p:blipFill>
        <p:spPr>
          <a:xfrm>
            <a:off x="8869680" y="3429000"/>
            <a:ext cx="502920" cy="502920"/>
          </a:xfrm>
          <a:prstGeom prst="rect">
            <a:avLst/>
          </a:prstGeom>
        </p:spPr>
      </p:pic>
      <p:sp>
        <p:nvSpPr>
          <p:cNvPr id="26" name="Text 16"/>
          <p:cNvSpPr txBox="1"/>
          <p:nvPr/>
        </p:nvSpPr>
        <p:spPr>
          <a:xfrm>
            <a:off x="9509760" y="3429000"/>
            <a:ext cx="2130552" cy="502920"/>
          </a:xfrm>
          <a:prstGeom prst="rect">
            <a:avLst/>
          </a:prstGeom>
          <a:noFill/>
          <a:ln/>
        </p:spPr>
        <p:txBody>
          <a:bodyPr wrap="square" lIns="0" tIns="0" rIns="0" bIns="0" rtlCol="0" anchor="ctr"/>
          <a:lstStyle/>
          <a:p>
            <a:pPr marL="0" indent="0">
              <a:buNone/>
            </a:pPr>
            <a:r>
              <a:rPr lang="en-US" sz="1500" b="1" dirty="0">
                <a:solidFill>
                  <a:srgbClr val="101828"/>
                </a:solidFill>
              </a:rPr>
              <a:t>수동 GPR 재탐사</a:t>
            </a:r>
            <a:endParaRPr lang="en-US" sz="1500" dirty="0"/>
          </a:p>
        </p:txBody>
      </p:sp>
      <p:sp>
        <p:nvSpPr>
          <p:cNvPr id="27" name="Text 17"/>
          <p:cNvSpPr txBox="1"/>
          <p:nvPr/>
        </p:nvSpPr>
        <p:spPr>
          <a:xfrm>
            <a:off x="8869680" y="4343400"/>
            <a:ext cx="2770632" cy="347472"/>
          </a:xfrm>
          <a:prstGeom prst="rect">
            <a:avLst/>
          </a:prstGeom>
          <a:noFill/>
          <a:ln/>
        </p:spPr>
        <p:txBody>
          <a:bodyPr wrap="square" lIns="0" tIns="0" rIns="0" bIns="0" rtlCol="0" anchor="t"/>
          <a:lstStyle/>
          <a:p>
            <a:pPr marL="0" indent="0">
              <a:buNone/>
            </a:pPr>
            <a:r>
              <a:rPr lang="en-US" sz="1700" b="1" dirty="0">
                <a:solidFill>
                  <a:srgbClr val="101828"/>
                </a:solidFill>
              </a:rPr>
              <a:t>3  현장 재확인</a:t>
            </a:r>
            <a:endParaRPr lang="en-US" sz="1700" dirty="0"/>
          </a:p>
        </p:txBody>
      </p:sp>
      <p:sp>
        <p:nvSpPr>
          <p:cNvPr id="28" name="Text 18"/>
          <p:cNvSpPr txBox="1"/>
          <p:nvPr/>
        </p:nvSpPr>
        <p:spPr>
          <a:xfrm>
            <a:off x="8869680" y="4727448"/>
            <a:ext cx="2770632" cy="73152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승인된 지점만 정차해 다시 탐사합니다.</a:t>
            </a:r>
            <a:endParaRPr lang="en-US" sz="1400" dirty="0"/>
          </a:p>
        </p:txBody>
      </p:sp>
      <p:sp>
        <p:nvSpPr>
          <p:cNvPr id="29" name="arrow"/>
          <p:cNvSpPr/>
          <p:nvPr/>
        </p:nvSpPr>
        <p:spPr>
          <a:xfrm>
            <a:off x="10241280" y="5440680"/>
            <a:ext cx="914" cy="457200"/>
          </a:xfrm>
          <a:prstGeom prst="line">
            <a:avLst/>
          </a:prstGeom>
          <a:noFill/>
          <a:ln w="25400">
            <a:solidFill>
              <a:srgbClr val="F5B400"/>
            </a:solidFill>
            <a:prstDash val="solid"/>
            <a:tailEnd type="triangle"/>
          </a:ln>
        </p:spPr>
        <p:txBody>
          <a:bodyPr/>
          <a:lstStyle/>
          <a:p>
            <a:endParaRPr lang="ko-KR" altLang="en-US"/>
          </a:p>
        </p:txBody>
      </p:sp>
      <p:sp>
        <p:nvSpPr>
          <p:cNvPr id="30" name="loop"/>
          <p:cNvSpPr/>
          <p:nvPr/>
        </p:nvSpPr>
        <p:spPr>
          <a:xfrm>
            <a:off x="2423160" y="5897880"/>
            <a:ext cx="7818120" cy="0"/>
          </a:xfrm>
          <a:prstGeom prst="line">
            <a:avLst/>
          </a:prstGeom>
          <a:noFill/>
          <a:ln w="25400">
            <a:solidFill>
              <a:srgbClr val="F5B400"/>
            </a:solidFill>
            <a:prstDash val="solid"/>
          </a:ln>
        </p:spPr>
        <p:txBody>
          <a:bodyPr/>
          <a:lstStyle/>
          <a:p>
            <a:endParaRPr lang="ko-KR" altLang="en-US"/>
          </a:p>
        </p:txBody>
      </p:sp>
      <p:sp>
        <p:nvSpPr>
          <p:cNvPr id="31" name="arrow"/>
          <p:cNvSpPr/>
          <p:nvPr/>
        </p:nvSpPr>
        <p:spPr>
          <a:xfrm flipV="1">
            <a:off x="2423160" y="5440680"/>
            <a:ext cx="914" cy="457200"/>
          </a:xfrm>
          <a:prstGeom prst="line">
            <a:avLst/>
          </a:prstGeom>
          <a:noFill/>
          <a:ln w="25400">
            <a:solidFill>
              <a:srgbClr val="F5B400"/>
            </a:solidFill>
            <a:prstDash val="solid"/>
            <a:tailEnd type="triangle"/>
          </a:ln>
        </p:spPr>
        <p:txBody>
          <a:bodyPr/>
          <a:lstStyle/>
          <a:p>
            <a:endParaRPr lang="ko-KR" altLang="en-US"/>
          </a:p>
        </p:txBody>
      </p:sp>
      <p:sp>
        <p:nvSpPr>
          <p:cNvPr id="32" name="Text 22"/>
          <p:cNvSpPr txBox="1"/>
          <p:nvPr/>
        </p:nvSpPr>
        <p:spPr>
          <a:xfrm>
            <a:off x="2743200" y="5943600"/>
            <a:ext cx="7132320" cy="347472"/>
          </a:xfrm>
          <a:prstGeom prst="rect">
            <a:avLst/>
          </a:prstGeom>
          <a:noFill/>
          <a:ln/>
        </p:spPr>
        <p:txBody>
          <a:bodyPr wrap="square" lIns="0" tIns="0" rIns="0" bIns="0" rtlCol="0" anchor="ctr"/>
          <a:lstStyle/>
          <a:p>
            <a:pPr marL="0" indent="0" algn="ctr">
              <a:buNone/>
            </a:pPr>
            <a:r>
              <a:rPr lang="en-US" sz="1500" b="1" dirty="0">
                <a:solidFill>
                  <a:srgbClr val="0B1F3A"/>
                </a:solidFill>
              </a:rPr>
              <a:t>4  확인 결과가 다음 순찰과 AI 개선으로 돌아갑니다</a:t>
            </a:r>
            <a:endParaRPr lang="en-US" sz="1500" dirty="0"/>
          </a:p>
        </p:txBody>
      </p:sp>
      <p:sp>
        <p:nvSpPr>
          <p:cNvPr id="3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구성은 제안안이며 장비 사양과 통신 구조는 실증 단계에서 확정합니다.</a:t>
            </a:r>
            <a:endParaRPr lang="en-US" sz="1000" dirty="0"/>
          </a:p>
        </p:txBody>
      </p:sp>
      <p:sp>
        <p:nvSpPr>
          <p:cNvPr id="34"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Pretendard" pitchFamily="34" charset="0"/>
                <a:ea typeface="Pretendard" pitchFamily="34" charset="-122"/>
                <a:cs typeface="Pretendard" pitchFamily="34" charset="-120"/>
              </a:rPr>
              <a:t>PV5 GroundWatch</a:t>
            </a:r>
            <a:endParaRPr lang="en-US" sz="4000" dirty="0"/>
          </a:p>
        </p:txBody>
      </p:sp>
      <p:sp>
        <p:nvSpPr>
          <p:cNvPr id="3" name="sectionBand"/>
          <p:cNvSpPr/>
          <p:nvPr/>
        </p:nvSpPr>
        <p:spPr>
          <a:xfrm>
            <a:off x="3108960" y="1965960"/>
            <a:ext cx="5971032" cy="548640"/>
          </a:xfrm>
          <a:prstGeom prst="rect">
            <a:avLst/>
          </a:prstGeom>
          <a:solidFill>
            <a:srgbClr val="F5B400"/>
          </a:solidFill>
          <a:ln w="12700">
            <a:solidFill>
              <a:srgbClr val="F5B400"/>
            </a:solidFill>
            <a:prstDash val="solid"/>
          </a:ln>
        </p:spPr>
        <p:txBody>
          <a:bodyPr/>
          <a:lstStyle/>
          <a:p>
            <a:endParaRPr lang="ko-KR" altLang="en-US"/>
          </a:p>
        </p:txBody>
      </p:sp>
      <p:sp>
        <p:nvSpPr>
          <p:cNvPr id="4" name="Text 0"/>
          <p:cNvSpPr>
            <a:spLocks noGrp="1"/>
          </p:cNvSpPr>
          <p:nvPr>
            <p:ph type="body" idx="101" hasCustomPrompt="1"/>
          </p:nvPr>
        </p:nvSpPr>
        <p:spPr>
          <a:xfrm>
            <a:off x="3108960" y="1965960"/>
            <a:ext cx="5971032" cy="548640"/>
          </a:xfrm>
          <a:prstGeom prst="rect">
            <a:avLst/>
          </a:prstGeom>
          <a:noFill/>
          <a:ln/>
        </p:spPr>
        <p:txBody>
          <a:bodyPr wrap="square" lIns="0" tIns="0" rIns="0" bIns="0" rtlCol="0" anchor="ctr"/>
          <a:lstStyle/>
          <a:p>
            <a:pPr marL="0" indent="0" algn="ctr">
              <a:buNone/>
            </a:pPr>
            <a:r>
              <a:rPr lang="en-US" sz="2200" b="1" dirty="0">
                <a:solidFill>
                  <a:srgbClr val="101828"/>
                </a:solidFill>
                <a:latin typeface="Pretendard" pitchFamily="34" charset="0"/>
                <a:ea typeface="Pretendard" pitchFamily="34" charset="-122"/>
                <a:cs typeface="Pretendard" pitchFamily="34" charset="-120"/>
              </a:rPr>
              <a:t>지금 바로 적용 가능한 운영 모델</a:t>
            </a:r>
            <a:endParaRPr lang="en-US" sz="2200" dirty="0"/>
          </a:p>
        </p:txBody>
      </p:sp>
      <p:pic>
        <p:nvPicPr>
          <p:cNvPr id="5" name="dawn_plain" descr="/Users/seohogyun/Documents/git_workspace/pv5-hose-lab/groundwatch/images/dawn_plain.png"/>
          <p:cNvPicPr>
            <a:picLocks noChangeAspect="1"/>
          </p:cNvPicPr>
          <p:nvPr/>
        </p:nvPicPr>
        <p:blipFill>
          <a:blip r:embed="rId3"/>
          <a:stretch>
            <a:fillRect/>
          </a:stretch>
        </p:blipFill>
        <p:spPr>
          <a:xfrm>
            <a:off x="1417320" y="3017520"/>
            <a:ext cx="4526280" cy="2542032"/>
          </a:xfrm>
          <a:prstGeom prst="rect">
            <a:avLst/>
          </a:prstGeom>
        </p:spPr>
      </p:pic>
      <p:pic>
        <p:nvPicPr>
          <p:cNvPr id="6" name="cutaway" descr="/Users/seohogyun/Documents/git_workspace/pv5-hose-lab/groundwatch/images/cutaway.png"/>
          <p:cNvPicPr>
            <a:picLocks noChangeAspect="1"/>
          </p:cNvPicPr>
          <p:nvPr/>
        </p:nvPicPr>
        <p:blipFill>
          <a:blip r:embed="rId4"/>
          <a:stretch>
            <a:fillRect/>
          </a:stretch>
        </p:blipFill>
        <p:spPr>
          <a:xfrm>
            <a:off x="6263640" y="3276779"/>
            <a:ext cx="4526280" cy="2023513"/>
          </a:xfrm>
          <a:prstGeom prst="rect">
            <a:avLst/>
          </a:prstGeom>
        </p:spPr>
      </p:pic>
      <p:sp>
        <p:nvSpPr>
          <p:cNvPr id="7" name="Text 3"/>
          <p:cNvSpPr txBox="1"/>
          <p:nvPr/>
        </p:nvSpPr>
        <p:spPr>
          <a:xfrm>
            <a:off x="141732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새벽 정기순찰</a:t>
            </a:r>
            <a:endParaRPr lang="en-US" sz="1600" dirty="0"/>
          </a:p>
        </p:txBody>
      </p:sp>
      <p:sp>
        <p:nvSpPr>
          <p:cNvPr id="8" name="Text 4"/>
          <p:cNvSpPr txBox="1"/>
          <p:nvPr/>
        </p:nvSpPr>
        <p:spPr>
          <a:xfrm>
            <a:off x="626364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PV5 이동형 탐사실</a:t>
            </a:r>
            <a:endParaRPr lang="en-US" sz="16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 새벽 순찰</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교통량이 적은 시간에 도로 아래 변화를 기록합니다</a:t>
            </a:r>
            <a:endParaRPr lang="en-US" sz="1900" dirty="0"/>
          </a:p>
        </p:txBody>
      </p:sp>
      <p:pic>
        <p:nvPicPr>
          <p:cNvPr id="4" name="dawn_patrol" descr="/Users/seohogyun/Documents/git_workspace/pv5-hose-lab/groundwatch/images/dawn_patrol.png"/>
          <p:cNvPicPr>
            <a:picLocks noChangeAspect="1"/>
          </p:cNvPicPr>
          <p:nvPr/>
        </p:nvPicPr>
        <p:blipFill>
          <a:blip r:embed="rId3"/>
          <a:stretch>
            <a:fillRect/>
          </a:stretch>
        </p:blipFill>
        <p:spPr>
          <a:xfrm>
            <a:off x="0" y="960120"/>
            <a:ext cx="12191695" cy="5349240"/>
          </a:xfrm>
          <a:prstGeom prst="rect">
            <a:avLst/>
          </a:prstGeom>
        </p:spPr>
      </p:pic>
      <p:sp>
        <p:nvSpPr>
          <p:cNvPr id="5" name="Text 2"/>
          <p:cNvSpPr txBox="1"/>
          <p:nvPr/>
        </p:nvSpPr>
        <p:spPr>
          <a:xfrm>
            <a:off x="640080" y="1325880"/>
            <a:ext cx="5486400" cy="1188720"/>
          </a:xfrm>
          <a:prstGeom prst="rect">
            <a:avLst/>
          </a:prstGeom>
          <a:noFill/>
          <a:ln/>
        </p:spPr>
        <p:txBody>
          <a:bodyPr wrap="square" lIns="0" tIns="0" rIns="0" bIns="0" rtlCol="0" anchor="t"/>
          <a:lstStyle/>
          <a:p>
            <a:pPr marL="0" indent="0">
              <a:buNone/>
            </a:pPr>
            <a:r>
              <a:rPr lang="en-US" sz="3000" b="1" dirty="0">
                <a:solidFill>
                  <a:srgbClr val="FFFFFF"/>
                </a:solidFill>
              </a:rPr>
              <a:t>보이지 않는 위험은,</a:t>
            </a:r>
            <a:endParaRPr lang="en-US" sz="3000" dirty="0"/>
          </a:p>
          <a:p>
            <a:pPr marL="0" indent="0">
              <a:buNone/>
            </a:pPr>
            <a:r>
              <a:rPr lang="en-US" sz="3000" b="1" dirty="0">
                <a:solidFill>
                  <a:srgbClr val="FFFFFF"/>
                </a:solidFill>
              </a:rPr>
              <a:t>반복해서 봐야 보입니다.</a:t>
            </a:r>
            <a:endParaRPr lang="en-US" sz="3000" dirty="0"/>
          </a:p>
        </p:txBody>
      </p:sp>
      <p:pic>
        <p:nvPicPr>
          <p:cNvPr id="6" name="icon_moon_w" descr="/Users/seohogyun/Documents/git_workspace/pv5-hose-lab/groundwatch/images/ico_moon_w.png"/>
          <p:cNvPicPr>
            <a:picLocks noChangeAspect="1"/>
          </p:cNvPicPr>
          <p:nvPr/>
        </p:nvPicPr>
        <p:blipFill>
          <a:blip r:embed="rId4"/>
          <a:stretch>
            <a:fillRect/>
          </a:stretch>
        </p:blipFill>
        <p:spPr>
          <a:xfrm>
            <a:off x="640080" y="2880360"/>
            <a:ext cx="329184" cy="329184"/>
          </a:xfrm>
          <a:prstGeom prst="rect">
            <a:avLst/>
          </a:prstGeom>
        </p:spPr>
      </p:pic>
      <p:sp>
        <p:nvSpPr>
          <p:cNvPr id="7" name="Text 3"/>
          <p:cNvSpPr txBox="1"/>
          <p:nvPr/>
        </p:nvSpPr>
        <p:spPr>
          <a:xfrm>
            <a:off x="1115568" y="2852928"/>
            <a:ext cx="5486400" cy="402336"/>
          </a:xfrm>
          <a:prstGeom prst="rect">
            <a:avLst/>
          </a:prstGeom>
          <a:noFill/>
          <a:ln/>
        </p:spPr>
        <p:txBody>
          <a:bodyPr wrap="square" lIns="0" tIns="0" rIns="0" bIns="0" rtlCol="0" anchor="ctr"/>
          <a:lstStyle/>
          <a:p>
            <a:pPr marL="0" indent="0">
              <a:buNone/>
            </a:pPr>
            <a:r>
              <a:rPr lang="en-US" sz="1600" dirty="0">
                <a:solidFill>
                  <a:srgbClr val="E2E8F0"/>
                </a:solidFill>
              </a:rPr>
              <a:t>차량과 보행이 가장 적은 새벽에 반복 주행</a:t>
            </a:r>
            <a:endParaRPr lang="en-US" sz="1600" dirty="0"/>
          </a:p>
        </p:txBody>
      </p:sp>
      <p:pic>
        <p:nvPicPr>
          <p:cNvPr id="8" name="icon_car_w" descr="/Users/seohogyun/Documents/git_workspace/pv5-hose-lab/groundwatch/images/ico_car_w.png"/>
          <p:cNvPicPr>
            <a:picLocks noChangeAspect="1"/>
          </p:cNvPicPr>
          <p:nvPr/>
        </p:nvPicPr>
        <p:blipFill>
          <a:blip r:embed="rId5"/>
          <a:stretch>
            <a:fillRect/>
          </a:stretch>
        </p:blipFill>
        <p:spPr>
          <a:xfrm>
            <a:off x="640080" y="3447288"/>
            <a:ext cx="329184" cy="329184"/>
          </a:xfrm>
          <a:prstGeom prst="rect">
            <a:avLst/>
          </a:prstGeom>
        </p:spPr>
      </p:pic>
      <p:sp>
        <p:nvSpPr>
          <p:cNvPr id="9" name="Text 4"/>
          <p:cNvSpPr txBox="1"/>
          <p:nvPr/>
        </p:nvSpPr>
        <p:spPr>
          <a:xfrm>
            <a:off x="1115568" y="3419856"/>
            <a:ext cx="5486400" cy="402336"/>
          </a:xfrm>
          <a:prstGeom prst="rect">
            <a:avLst/>
          </a:prstGeom>
          <a:noFill/>
          <a:ln/>
        </p:spPr>
        <p:txBody>
          <a:bodyPr wrap="square" lIns="0" tIns="0" rIns="0" bIns="0" rtlCol="0" anchor="ctr"/>
          <a:lstStyle/>
          <a:p>
            <a:pPr marL="0" indent="0">
              <a:buNone/>
            </a:pPr>
            <a:r>
              <a:rPr lang="en-US" sz="1600" dirty="0">
                <a:solidFill>
                  <a:srgbClr val="E2E8F0"/>
                </a:solidFill>
              </a:rPr>
              <a:t>엔진 소음과 배기가스 없이 주택가 저속 운행</a:t>
            </a:r>
            <a:endParaRPr lang="en-US" sz="1600" dirty="0"/>
          </a:p>
        </p:txBody>
      </p:sp>
      <p:pic>
        <p:nvPicPr>
          <p:cNvPr id="10" name="icon_route_w" descr="/Users/seohogyun/Documents/git_workspace/pv5-hose-lab/groundwatch/images/ico_route_w.png"/>
          <p:cNvPicPr>
            <a:picLocks noChangeAspect="1"/>
          </p:cNvPicPr>
          <p:nvPr/>
        </p:nvPicPr>
        <p:blipFill>
          <a:blip r:embed="rId6"/>
          <a:stretch>
            <a:fillRect/>
          </a:stretch>
        </p:blipFill>
        <p:spPr>
          <a:xfrm>
            <a:off x="640080" y="4014216"/>
            <a:ext cx="329184" cy="329184"/>
          </a:xfrm>
          <a:prstGeom prst="rect">
            <a:avLst/>
          </a:prstGeom>
        </p:spPr>
      </p:pic>
      <p:sp>
        <p:nvSpPr>
          <p:cNvPr id="11" name="Text 5"/>
          <p:cNvSpPr txBox="1"/>
          <p:nvPr/>
        </p:nvSpPr>
        <p:spPr>
          <a:xfrm>
            <a:off x="1115568" y="3986784"/>
            <a:ext cx="5486400" cy="402336"/>
          </a:xfrm>
          <a:prstGeom prst="rect">
            <a:avLst/>
          </a:prstGeom>
          <a:noFill/>
          <a:ln/>
        </p:spPr>
        <p:txBody>
          <a:bodyPr wrap="square" lIns="0" tIns="0" rIns="0" bIns="0" rtlCol="0" anchor="ctr"/>
          <a:lstStyle/>
          <a:p>
            <a:pPr marL="0" indent="0">
              <a:buNone/>
            </a:pPr>
            <a:r>
              <a:rPr lang="en-US" sz="1600" dirty="0">
                <a:solidFill>
                  <a:srgbClr val="E2E8F0"/>
                </a:solidFill>
              </a:rPr>
              <a:t>같은 경로, 같은 장비로 회차끼리 비교</a:t>
            </a:r>
            <a:endParaRPr lang="en-US" sz="1600" dirty="0"/>
          </a:p>
        </p:txBody>
      </p:sp>
      <p:sp>
        <p:nvSpPr>
          <p:cNvPr id="12" name="bubble"/>
          <p:cNvSpPr txBox="1"/>
          <p:nvPr/>
        </p:nvSpPr>
        <p:spPr>
          <a:xfrm>
            <a:off x="7863840" y="1280160"/>
            <a:ext cx="3566160" cy="566928"/>
          </a:xfrm>
          <a:prstGeom prst="wedgeRectCallout">
            <a:avLst/>
          </a:prstGeom>
          <a:solidFill>
            <a:srgbClr val="F5B400"/>
          </a:solidFill>
          <a:ln>
            <a:solidFill>
              <a:srgbClr val="F5B400"/>
            </a:solidFill>
          </a:ln>
        </p:spPr>
        <p:txBody>
          <a:bodyPr wrap="square" lIns="76200" tIns="76200" rIns="76200" bIns="76200" rtlCol="0" anchor="ctr"/>
          <a:lstStyle/>
          <a:p>
            <a:pPr marL="0" indent="0" algn="ctr">
              <a:buNone/>
            </a:pPr>
            <a:r>
              <a:rPr lang="en-US" sz="1400" b="1" dirty="0">
                <a:solidFill>
                  <a:srgbClr val="101828"/>
                </a:solidFill>
              </a:rPr>
              <a:t>어제와 같은 길, 같은 장비, 같은 속도</a:t>
            </a:r>
            <a:endParaRPr lang="en-US" sz="14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개념 일러스트. 저속 운행 시 실제 소음과 주행거리 영향은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#2 이동형 탐사실</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PV5는 센서 운반차가 아니라 이동형 탐사·분석·검증 플랫폼</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장비를 차량에 고정해 회차마다 같은 측정 환경을 유지하고, 차 안에서 분석하고, 내려서 검증합니다.</a:t>
            </a:r>
            <a:endParaRPr lang="en-US" sz="1600" dirty="0"/>
          </a:p>
        </p:txBody>
      </p:sp>
      <p:pic>
        <p:nvPicPr>
          <p:cNvPr id="5" name="cutaway" descr="/Users/seohogyun/Documents/git_workspace/pv5-hose-lab/groundwatch/images/cutaway.png"/>
          <p:cNvPicPr>
            <a:picLocks noChangeAspect="1"/>
          </p:cNvPicPr>
          <p:nvPr/>
        </p:nvPicPr>
        <p:blipFill>
          <a:blip r:embed="rId3"/>
          <a:stretch>
            <a:fillRect/>
          </a:stretch>
        </p:blipFill>
        <p:spPr>
          <a:xfrm>
            <a:off x="548640" y="1555287"/>
            <a:ext cx="6766560" cy="3025050"/>
          </a:xfrm>
          <a:prstGeom prst="rect">
            <a:avLst/>
          </a:prstGeom>
        </p:spPr>
      </p:pic>
      <p:sp>
        <p:nvSpPr>
          <p:cNvPr id="6" name="dot"/>
          <p:cNvSpPr/>
          <p:nvPr/>
        </p:nvSpPr>
        <p:spPr>
          <a:xfrm>
            <a:off x="7589520" y="1563624"/>
            <a:ext cx="146304" cy="146304"/>
          </a:xfrm>
          <a:prstGeom prst="ellipse">
            <a:avLst/>
          </a:prstGeom>
          <a:solidFill>
            <a:srgbClr val="101828"/>
          </a:solidFill>
          <a:ln w="12700">
            <a:solidFill>
              <a:srgbClr val="101828"/>
            </a:solidFill>
            <a:prstDash val="solid"/>
          </a:ln>
        </p:spPr>
        <p:txBody>
          <a:bodyPr/>
          <a:lstStyle/>
          <a:p>
            <a:endParaRPr lang="ko-KR" altLang="en-US"/>
          </a:p>
        </p:txBody>
      </p:sp>
      <p:sp>
        <p:nvSpPr>
          <p:cNvPr id="7" name="Text 4"/>
          <p:cNvSpPr txBox="1"/>
          <p:nvPr/>
        </p:nvSpPr>
        <p:spPr>
          <a:xfrm>
            <a:off x="7845552" y="1481328"/>
            <a:ext cx="3794760" cy="310896"/>
          </a:xfrm>
          <a:prstGeom prst="rect">
            <a:avLst/>
          </a:prstGeom>
          <a:noFill/>
          <a:ln/>
        </p:spPr>
        <p:txBody>
          <a:bodyPr wrap="square" lIns="0" tIns="0" rIns="0" bIns="0" rtlCol="0" anchor="ctr"/>
          <a:lstStyle/>
          <a:p>
            <a:pPr marL="0" indent="0">
              <a:buNone/>
            </a:pPr>
            <a:r>
              <a:rPr lang="en-US" sz="1500" b="1" dirty="0">
                <a:solidFill>
                  <a:srgbClr val="101828"/>
                </a:solidFill>
              </a:rPr>
              <a:t>외부</a:t>
            </a:r>
            <a:endParaRPr lang="en-US" sz="1500" dirty="0"/>
          </a:p>
        </p:txBody>
      </p:sp>
      <p:sp>
        <p:nvSpPr>
          <p:cNvPr id="8" name="Text 5"/>
          <p:cNvSpPr txBox="1"/>
          <p:nvPr/>
        </p:nvSpPr>
        <p:spPr>
          <a:xfrm>
            <a:off x="7845552" y="1773936"/>
            <a:ext cx="3794760" cy="512064"/>
          </a:xfrm>
          <a:prstGeom prst="rect">
            <a:avLst/>
          </a:prstGeom>
          <a:noFill/>
          <a:ln/>
        </p:spPr>
        <p:txBody>
          <a:bodyPr wrap="square" lIns="0" tIns="0" rIns="0" bIns="0" rtlCol="0" anchor="t"/>
          <a:lstStyle/>
          <a:p>
            <a:pPr marL="0" indent="0">
              <a:buNone/>
            </a:pPr>
            <a:r>
              <a:rPr lang="en-US" sz="1200" dirty="0">
                <a:solidFill>
                  <a:srgbClr val="5B6573"/>
                </a:solidFill>
              </a:rPr>
              <a:t>후방 하부 다채널 GPR, 전방·좌우·후방 카메라, RTK-GNSS, IMU, 휠 인코더, 거리 센서, 노면 조명과 경광장치</a:t>
            </a:r>
            <a:endParaRPr lang="en-US" sz="1200" dirty="0"/>
          </a:p>
        </p:txBody>
      </p:sp>
      <p:sp>
        <p:nvSpPr>
          <p:cNvPr id="9" name="dot"/>
          <p:cNvSpPr/>
          <p:nvPr/>
        </p:nvSpPr>
        <p:spPr>
          <a:xfrm>
            <a:off x="7589520" y="2386584"/>
            <a:ext cx="146304" cy="146304"/>
          </a:xfrm>
          <a:prstGeom prst="ellipse">
            <a:avLst/>
          </a:prstGeom>
          <a:solidFill>
            <a:srgbClr val="1C64B5"/>
          </a:solidFill>
          <a:ln w="12700">
            <a:solidFill>
              <a:srgbClr val="1C64B5"/>
            </a:solidFill>
            <a:prstDash val="solid"/>
          </a:ln>
        </p:spPr>
        <p:txBody>
          <a:bodyPr/>
          <a:lstStyle/>
          <a:p>
            <a:endParaRPr lang="ko-KR" altLang="en-US"/>
          </a:p>
        </p:txBody>
      </p:sp>
      <p:sp>
        <p:nvSpPr>
          <p:cNvPr id="10" name="Text 7"/>
          <p:cNvSpPr txBox="1"/>
          <p:nvPr/>
        </p:nvSpPr>
        <p:spPr>
          <a:xfrm>
            <a:off x="7845552" y="2304288"/>
            <a:ext cx="3794760" cy="310896"/>
          </a:xfrm>
          <a:prstGeom prst="rect">
            <a:avLst/>
          </a:prstGeom>
          <a:noFill/>
          <a:ln/>
        </p:spPr>
        <p:txBody>
          <a:bodyPr wrap="square" lIns="0" tIns="0" rIns="0" bIns="0" rtlCol="0" anchor="ctr"/>
          <a:lstStyle/>
          <a:p>
            <a:pPr marL="0" indent="0">
              <a:buNone/>
            </a:pPr>
            <a:r>
              <a:rPr lang="en-US" sz="1500" b="1" dirty="0">
                <a:solidFill>
                  <a:srgbClr val="101828"/>
                </a:solidFill>
              </a:rPr>
              <a:t>화물실 전방</a:t>
            </a:r>
            <a:endParaRPr lang="en-US" sz="1500" dirty="0"/>
          </a:p>
        </p:txBody>
      </p:sp>
      <p:sp>
        <p:nvSpPr>
          <p:cNvPr id="11" name="Text 8"/>
          <p:cNvSpPr txBox="1"/>
          <p:nvPr/>
        </p:nvSpPr>
        <p:spPr>
          <a:xfrm>
            <a:off x="7845552" y="2596896"/>
            <a:ext cx="3794760" cy="512064"/>
          </a:xfrm>
          <a:prstGeom prst="rect">
            <a:avLst/>
          </a:prstGeom>
          <a:noFill/>
          <a:ln/>
        </p:spPr>
        <p:txBody>
          <a:bodyPr wrap="square" lIns="0" tIns="0" rIns="0" bIns="0" rtlCol="0" anchor="t"/>
          <a:lstStyle/>
          <a:p>
            <a:pPr marL="0" indent="0">
              <a:buNone/>
            </a:pPr>
            <a:r>
              <a:rPr lang="en-US" sz="1200" dirty="0">
                <a:solidFill>
                  <a:srgbClr val="5B6573"/>
                </a:solidFill>
              </a:rPr>
              <a:t>Edge Gateway, 산업용 엣지 AI 컴퓨터, GPR 제어장치, 저장장치, 보안 네트워크, RTK 수신, 전원 분배</a:t>
            </a:r>
            <a:endParaRPr lang="en-US" sz="1200" dirty="0"/>
          </a:p>
        </p:txBody>
      </p:sp>
      <p:sp>
        <p:nvSpPr>
          <p:cNvPr id="12" name="dot"/>
          <p:cNvSpPr/>
          <p:nvPr/>
        </p:nvSpPr>
        <p:spPr>
          <a:xfrm>
            <a:off x="7589520" y="3209544"/>
            <a:ext cx="146304" cy="146304"/>
          </a:xfrm>
          <a:prstGeom prst="ellipse">
            <a:avLst/>
          </a:prstGeom>
          <a:solidFill>
            <a:srgbClr val="0B1F3A"/>
          </a:solidFill>
          <a:ln w="12700">
            <a:solidFill>
              <a:srgbClr val="0B1F3A"/>
            </a:solidFill>
            <a:prstDash val="solid"/>
          </a:ln>
        </p:spPr>
        <p:txBody>
          <a:bodyPr/>
          <a:lstStyle/>
          <a:p>
            <a:endParaRPr lang="ko-KR" altLang="en-US"/>
          </a:p>
        </p:txBody>
      </p:sp>
      <p:sp>
        <p:nvSpPr>
          <p:cNvPr id="13" name="Text 10"/>
          <p:cNvSpPr txBox="1"/>
          <p:nvPr/>
        </p:nvSpPr>
        <p:spPr>
          <a:xfrm>
            <a:off x="7845552" y="3127248"/>
            <a:ext cx="3794760" cy="310896"/>
          </a:xfrm>
          <a:prstGeom prst="rect">
            <a:avLst/>
          </a:prstGeom>
          <a:noFill/>
          <a:ln/>
        </p:spPr>
        <p:txBody>
          <a:bodyPr wrap="square" lIns="0" tIns="0" rIns="0" bIns="0" rtlCol="0" anchor="ctr"/>
          <a:lstStyle/>
          <a:p>
            <a:pPr marL="0" indent="0">
              <a:buNone/>
            </a:pPr>
            <a:r>
              <a:rPr lang="en-US" sz="1500" b="1" dirty="0">
                <a:solidFill>
                  <a:srgbClr val="101828"/>
                </a:solidFill>
              </a:rPr>
              <a:t>화물실 측면</a:t>
            </a:r>
            <a:endParaRPr lang="en-US" sz="1500" dirty="0"/>
          </a:p>
        </p:txBody>
      </p:sp>
      <p:sp>
        <p:nvSpPr>
          <p:cNvPr id="14" name="Text 11"/>
          <p:cNvSpPr txBox="1"/>
          <p:nvPr/>
        </p:nvSpPr>
        <p:spPr>
          <a:xfrm>
            <a:off x="7845552" y="3419856"/>
            <a:ext cx="3794760" cy="512064"/>
          </a:xfrm>
          <a:prstGeom prst="rect">
            <a:avLst/>
          </a:prstGeom>
          <a:noFill/>
          <a:ln/>
        </p:spPr>
        <p:txBody>
          <a:bodyPr wrap="square" lIns="0" tIns="0" rIns="0" bIns="0" rtlCol="0" anchor="t"/>
          <a:lstStyle/>
          <a:p>
            <a:pPr marL="0" indent="0">
              <a:buNone/>
            </a:pPr>
            <a:r>
              <a:rPr lang="en-US" sz="1200" dirty="0">
                <a:solidFill>
                  <a:srgbClr val="5B6573"/>
                </a:solidFill>
              </a:rPr>
              <a:t>지면 밀착형 수동 GPR, AR 글래스와 충전 보관함, RTK 이동국, 현장 기준 마커, 교체형 안테나</a:t>
            </a:r>
            <a:endParaRPr lang="en-US" sz="1200" dirty="0"/>
          </a:p>
        </p:txBody>
      </p:sp>
      <p:sp>
        <p:nvSpPr>
          <p:cNvPr id="15" name="dot"/>
          <p:cNvSpPr/>
          <p:nvPr/>
        </p:nvSpPr>
        <p:spPr>
          <a:xfrm>
            <a:off x="7589520" y="4032504"/>
            <a:ext cx="146304" cy="146304"/>
          </a:xfrm>
          <a:prstGeom prst="ellipse">
            <a:avLst/>
          </a:prstGeom>
          <a:solidFill>
            <a:srgbClr val="B4232A"/>
          </a:solidFill>
          <a:ln w="12700">
            <a:solidFill>
              <a:srgbClr val="B4232A"/>
            </a:solidFill>
            <a:prstDash val="solid"/>
          </a:ln>
        </p:spPr>
        <p:txBody>
          <a:bodyPr/>
          <a:lstStyle/>
          <a:p>
            <a:endParaRPr lang="ko-KR" altLang="en-US"/>
          </a:p>
        </p:txBody>
      </p:sp>
      <p:sp>
        <p:nvSpPr>
          <p:cNvPr id="16" name="Text 13"/>
          <p:cNvSpPr txBox="1"/>
          <p:nvPr/>
        </p:nvSpPr>
        <p:spPr>
          <a:xfrm>
            <a:off x="7845552" y="3950208"/>
            <a:ext cx="3794760" cy="310896"/>
          </a:xfrm>
          <a:prstGeom prst="rect">
            <a:avLst/>
          </a:prstGeom>
          <a:noFill/>
          <a:ln/>
        </p:spPr>
        <p:txBody>
          <a:bodyPr wrap="square" lIns="0" tIns="0" rIns="0" bIns="0" rtlCol="0" anchor="ctr"/>
          <a:lstStyle/>
          <a:p>
            <a:pPr marL="0" indent="0">
              <a:buNone/>
            </a:pPr>
            <a:r>
              <a:rPr lang="en-US" sz="1500" b="1" dirty="0">
                <a:solidFill>
                  <a:srgbClr val="101828"/>
                </a:solidFill>
              </a:rPr>
              <a:t>화물실 후방</a:t>
            </a:r>
            <a:endParaRPr lang="en-US" sz="1500" dirty="0"/>
          </a:p>
        </p:txBody>
      </p:sp>
      <p:sp>
        <p:nvSpPr>
          <p:cNvPr id="17" name="Text 14"/>
          <p:cNvSpPr txBox="1"/>
          <p:nvPr/>
        </p:nvSpPr>
        <p:spPr>
          <a:xfrm>
            <a:off x="7845552" y="4242816"/>
            <a:ext cx="3794760" cy="512064"/>
          </a:xfrm>
          <a:prstGeom prst="rect">
            <a:avLst/>
          </a:prstGeom>
          <a:noFill/>
          <a:ln/>
        </p:spPr>
        <p:txBody>
          <a:bodyPr wrap="square" lIns="0" tIns="0" rIns="0" bIns="0" rtlCol="0" anchor="t"/>
          <a:lstStyle/>
          <a:p>
            <a:pPr marL="0" indent="0">
              <a:buNone/>
            </a:pPr>
            <a:r>
              <a:rPr lang="en-US" sz="1200" dirty="0">
                <a:solidFill>
                  <a:srgbClr val="5B6573"/>
                </a:solidFill>
              </a:rPr>
              <a:t>관로 내시경, 작업 조명, 안전 표지판, 라바콘, 반사조끼, 개인보호장비, 세척·점검 도구</a:t>
            </a:r>
            <a:endParaRPr lang="en-US" sz="1200" dirty="0"/>
          </a:p>
        </p:txBody>
      </p:sp>
      <p:sp>
        <p:nvSpPr>
          <p:cNvPr id="18" name="rule"/>
          <p:cNvSpPr/>
          <p:nvPr/>
        </p:nvSpPr>
        <p:spPr>
          <a:xfrm>
            <a:off x="548640" y="4846320"/>
            <a:ext cx="11094415" cy="0"/>
          </a:xfrm>
          <a:prstGeom prst="line">
            <a:avLst/>
          </a:prstGeom>
          <a:noFill/>
          <a:ln w="12700">
            <a:solidFill>
              <a:srgbClr val="DCE1E8"/>
            </a:solidFill>
            <a:prstDash val="solid"/>
          </a:ln>
        </p:spPr>
        <p:txBody>
          <a:bodyPr/>
          <a:lstStyle/>
          <a:p>
            <a:endParaRPr lang="ko-KR" altLang="en-US"/>
          </a:p>
        </p:txBody>
      </p:sp>
      <p:sp>
        <p:nvSpPr>
          <p:cNvPr id="19" name="Text 16"/>
          <p:cNvSpPr txBox="1"/>
          <p:nvPr/>
        </p:nvSpPr>
        <p:spPr>
          <a:xfrm>
            <a:off x="548640" y="4919472"/>
            <a:ext cx="2423160" cy="566928"/>
          </a:xfrm>
          <a:prstGeom prst="rect">
            <a:avLst/>
          </a:prstGeom>
          <a:noFill/>
          <a:ln/>
        </p:spPr>
        <p:txBody>
          <a:bodyPr wrap="square" lIns="0" tIns="0" rIns="0" bIns="0" rtlCol="0" anchor="b"/>
          <a:lstStyle/>
          <a:p>
            <a:pPr marL="0" indent="0">
              <a:buNone/>
            </a:pPr>
            <a:r>
              <a:rPr lang="en-US" sz="1800" b="1" dirty="0">
                <a:solidFill>
                  <a:srgbClr val="0B1F3A"/>
                </a:solidFill>
              </a:rPr>
              <a:t>2,255×1,565×1,520mm</a:t>
            </a:r>
            <a:endParaRPr lang="en-US" sz="1800" dirty="0"/>
          </a:p>
        </p:txBody>
      </p:sp>
      <p:sp>
        <p:nvSpPr>
          <p:cNvPr id="20" name="Text 17"/>
          <p:cNvSpPr txBox="1"/>
          <p:nvPr/>
        </p:nvSpPr>
        <p:spPr>
          <a:xfrm>
            <a:off x="548640" y="5522976"/>
            <a:ext cx="2423160" cy="457200"/>
          </a:xfrm>
          <a:prstGeom prst="rect">
            <a:avLst/>
          </a:prstGeom>
          <a:noFill/>
          <a:ln/>
        </p:spPr>
        <p:txBody>
          <a:bodyPr wrap="square" lIns="0" tIns="0" rIns="0" bIns="0" rtlCol="0" anchor="t"/>
          <a:lstStyle/>
          <a:p>
            <a:pPr marL="0" indent="0">
              <a:buNone/>
            </a:pPr>
            <a:r>
              <a:rPr lang="en-US" sz="1300" dirty="0">
                <a:solidFill>
                  <a:srgbClr val="5B6573"/>
                </a:solidFill>
              </a:rPr>
              <a:t>카고룸 길이, 폭, 높이(4,420L)</a:t>
            </a:r>
            <a:endParaRPr lang="en-US" sz="1300" dirty="0"/>
          </a:p>
        </p:txBody>
      </p:sp>
      <p:sp>
        <p:nvSpPr>
          <p:cNvPr id="21" name="Text 18"/>
          <p:cNvSpPr txBox="1"/>
          <p:nvPr/>
        </p:nvSpPr>
        <p:spPr>
          <a:xfrm>
            <a:off x="3063240" y="4919472"/>
            <a:ext cx="2423160" cy="566928"/>
          </a:xfrm>
          <a:prstGeom prst="rect">
            <a:avLst/>
          </a:prstGeom>
          <a:noFill/>
          <a:ln/>
        </p:spPr>
        <p:txBody>
          <a:bodyPr wrap="square" lIns="0" tIns="0" rIns="0" bIns="0" rtlCol="0" anchor="b"/>
          <a:lstStyle/>
          <a:p>
            <a:pPr marL="0" indent="0">
              <a:buNone/>
            </a:pPr>
            <a:r>
              <a:rPr lang="en-US" sz="2400" b="1" dirty="0">
                <a:solidFill>
                  <a:srgbClr val="0B1F3A"/>
                </a:solidFill>
              </a:rPr>
              <a:t>419mm</a:t>
            </a:r>
            <a:endParaRPr lang="en-US" sz="2400" dirty="0"/>
          </a:p>
        </p:txBody>
      </p:sp>
      <p:sp>
        <p:nvSpPr>
          <p:cNvPr id="22" name="Text 19"/>
          <p:cNvSpPr txBox="1"/>
          <p:nvPr/>
        </p:nvSpPr>
        <p:spPr>
          <a:xfrm>
            <a:off x="3063240" y="5522976"/>
            <a:ext cx="2423160" cy="457200"/>
          </a:xfrm>
          <a:prstGeom prst="rect">
            <a:avLst/>
          </a:prstGeom>
          <a:noFill/>
          <a:ln/>
        </p:spPr>
        <p:txBody>
          <a:bodyPr wrap="square" lIns="0" tIns="0" rIns="0" bIns="0" rtlCol="0" anchor="t"/>
          <a:lstStyle/>
          <a:p>
            <a:pPr marL="0" indent="0">
              <a:buNone/>
            </a:pPr>
            <a:r>
              <a:rPr lang="en-US" sz="1300" dirty="0">
                <a:solidFill>
                  <a:srgbClr val="5B6573"/>
                </a:solidFill>
              </a:rPr>
              <a:t>적재고, 장비 상하차</a:t>
            </a:r>
            <a:endParaRPr lang="en-US" sz="1300" dirty="0"/>
          </a:p>
        </p:txBody>
      </p:sp>
      <p:sp>
        <p:nvSpPr>
          <p:cNvPr id="23" name="Text 20"/>
          <p:cNvSpPr txBox="1"/>
          <p:nvPr/>
        </p:nvSpPr>
        <p:spPr>
          <a:xfrm>
            <a:off x="5577840" y="4919472"/>
            <a:ext cx="2423160" cy="566928"/>
          </a:xfrm>
          <a:prstGeom prst="rect">
            <a:avLst/>
          </a:prstGeom>
          <a:noFill/>
          <a:ln/>
        </p:spPr>
        <p:txBody>
          <a:bodyPr wrap="square" lIns="0" tIns="0" rIns="0" bIns="0" rtlCol="0" anchor="b"/>
          <a:lstStyle/>
          <a:p>
            <a:pPr marL="0" indent="0">
              <a:buNone/>
            </a:pPr>
            <a:r>
              <a:rPr lang="en-US" sz="2400" b="1" dirty="0">
                <a:solidFill>
                  <a:srgbClr val="0B1F3A"/>
                </a:solidFill>
              </a:rPr>
              <a:t>최대 3.6kW</a:t>
            </a:r>
            <a:endParaRPr lang="en-US" sz="2400" dirty="0"/>
          </a:p>
        </p:txBody>
      </p:sp>
      <p:sp>
        <p:nvSpPr>
          <p:cNvPr id="24" name="Text 21"/>
          <p:cNvSpPr txBox="1"/>
          <p:nvPr/>
        </p:nvSpPr>
        <p:spPr>
          <a:xfrm>
            <a:off x="5577840" y="5522976"/>
            <a:ext cx="2423160" cy="457200"/>
          </a:xfrm>
          <a:prstGeom prst="rect">
            <a:avLst/>
          </a:prstGeom>
          <a:noFill/>
          <a:ln/>
        </p:spPr>
        <p:txBody>
          <a:bodyPr wrap="square" lIns="0" tIns="0" rIns="0" bIns="0" rtlCol="0" anchor="t"/>
          <a:lstStyle/>
          <a:p>
            <a:pPr marL="0" indent="0">
              <a:buNone/>
            </a:pPr>
            <a:r>
              <a:rPr lang="en-US" sz="1300" dirty="0">
                <a:solidFill>
                  <a:srgbClr val="5B6573"/>
                </a:solidFill>
              </a:rPr>
              <a:t>실내·실외 220V V2L</a:t>
            </a:r>
            <a:endParaRPr lang="en-US" sz="1300" dirty="0"/>
          </a:p>
        </p:txBody>
      </p:sp>
      <p:sp>
        <p:nvSpPr>
          <p:cNvPr id="25" name="Text 22"/>
          <p:cNvSpPr txBox="1"/>
          <p:nvPr/>
        </p:nvSpPr>
        <p:spPr>
          <a:xfrm>
            <a:off x="8138160" y="4983480"/>
            <a:ext cx="3502152" cy="1234440"/>
          </a:xfrm>
          <a:prstGeom prst="rect">
            <a:avLst/>
          </a:prstGeom>
          <a:noFill/>
          <a:ln/>
        </p:spPr>
        <p:txBody>
          <a:bodyPr wrap="square" lIns="0" tIns="0" rIns="0" bIns="0" rtlCol="0" anchor="t"/>
          <a:lstStyle/>
          <a:p>
            <a:pPr marL="0" indent="0">
              <a:buNone/>
            </a:pPr>
            <a:r>
              <a:rPr lang="en-US" sz="1200" b="1" dirty="0">
                <a:solidFill>
                  <a:srgbClr val="D93025"/>
                </a:solidFill>
              </a:rPr>
              <a:t>[실증 필요] </a:t>
            </a:r>
            <a:r>
              <a:rPr lang="en-US" sz="1200" dirty="0">
                <a:solidFill>
                  <a:srgbClr val="101828"/>
                </a:solidFill>
              </a:rPr>
              <a:t>애프터마켓 장비를 달면 적재중량, 차량총중량, 전후축 하중, 전자파 간섭, 구조변경 승인을 검토해야 합니다. 태블릿은 핵심 장비에서 뺍니다.</a:t>
            </a:r>
            <a:endParaRPr lang="en-US" sz="1200" dirty="0"/>
          </a:p>
        </p:txBody>
      </p:sp>
      <p:sp>
        <p:nvSpPr>
          <p:cNvPr id="2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기아 PV5 카고 제원과 특징(kia.com), 현대차그룹 「PV5의 모든 것」(V2L 최대 3.6kW). 장비 구성은 제안안입니다.</a:t>
            </a:r>
            <a:endParaRPr lang="en-US" sz="1000" dirty="0"/>
          </a:p>
        </p:txBody>
      </p:sp>
      <p:sp>
        <p:nvSpPr>
          <p:cNvPr id="27"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#3 4D 변화지도</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실제로 달린 도로만, 위치·깊이·시간으로 기록합니다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서울 전체의 완성된 지하지도가 아닙니다. PV5가 측정한 도로를 X·Y 위치, Z 깊이, T 시간으로 쌓은 기록입니다.</a:t>
            </a:r>
            <a:endParaRPr lang="en-US" sz="1600" dirty="0"/>
          </a:p>
        </p:txBody>
      </p:sp>
      <p:pic>
        <p:nvPicPr>
          <p:cNvPr id="5" name="map4d" descr="/Users/seohogyun/Documents/git_workspace/pv5-hose-lab/groundwatch/images/map4d.png"/>
          <p:cNvPicPr>
            <a:picLocks noChangeAspect="1"/>
          </p:cNvPicPr>
          <p:nvPr/>
        </p:nvPicPr>
        <p:blipFill>
          <a:blip r:embed="rId3"/>
          <a:stretch>
            <a:fillRect/>
          </a:stretch>
        </p:blipFill>
        <p:spPr>
          <a:xfrm>
            <a:off x="548640" y="1555556"/>
            <a:ext cx="7543800" cy="3993776"/>
          </a:xfrm>
          <a:prstGeom prst="rect">
            <a:avLst/>
          </a:prstGeom>
        </p:spPr>
      </p:pic>
      <p:sp>
        <p:nvSpPr>
          <p:cNvPr id="6" name="Text 3"/>
          <p:cNvSpPr txBox="1"/>
          <p:nvPr/>
        </p:nvSpPr>
        <p:spPr>
          <a:xfrm>
            <a:off x="8366760" y="1554480"/>
            <a:ext cx="3273552" cy="347472"/>
          </a:xfrm>
          <a:prstGeom prst="rect">
            <a:avLst/>
          </a:prstGeom>
          <a:noFill/>
          <a:ln/>
        </p:spPr>
        <p:txBody>
          <a:bodyPr wrap="square" lIns="0" tIns="0" rIns="0" bIns="0" rtlCol="0" anchor="ctr"/>
          <a:lstStyle/>
          <a:p>
            <a:pPr marL="0" indent="0">
              <a:buNone/>
            </a:pPr>
            <a:r>
              <a:rPr lang="en-US" sz="1600" b="1" dirty="0">
                <a:solidFill>
                  <a:srgbClr val="101828"/>
                </a:solidFill>
              </a:rPr>
              <a:t>구간마다 남기는 정보</a:t>
            </a:r>
            <a:endParaRPr lang="en-US" sz="1600" dirty="0"/>
          </a:p>
        </p:txBody>
      </p:sp>
      <p:sp>
        <p:nvSpPr>
          <p:cNvPr id="7" name="Text 4"/>
          <p:cNvSpPr txBox="1"/>
          <p:nvPr/>
        </p:nvSpPr>
        <p:spPr>
          <a:xfrm>
            <a:off x="8366760" y="1965960"/>
            <a:ext cx="3273552"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5B6573"/>
                </a:solidFill>
              </a:rPr>
              <a:t>마지막 조사일과 반복 조사 횟수</a:t>
            </a:r>
            <a:endParaRPr lang="en-US" sz="1400" dirty="0"/>
          </a:p>
          <a:p>
            <a:pPr marL="342900" indent="-342900">
              <a:spcAft>
                <a:spcPts val="600"/>
              </a:spcAft>
              <a:buSzPct val="100000"/>
              <a:buChar char="•"/>
            </a:pPr>
            <a:r>
              <a:rPr lang="en-US" sz="1400" dirty="0">
                <a:solidFill>
                  <a:srgbClr val="5B6573"/>
                </a:solidFill>
              </a:rPr>
              <a:t>탐사 가능 깊이와 이상 신호 추정 깊이</a:t>
            </a:r>
            <a:endParaRPr lang="en-US" sz="1400" dirty="0"/>
          </a:p>
          <a:p>
            <a:pPr marL="342900" indent="-342900">
              <a:spcAft>
                <a:spcPts val="600"/>
              </a:spcAft>
              <a:buSzPct val="100000"/>
              <a:buChar char="•"/>
            </a:pPr>
            <a:r>
              <a:rPr lang="en-US" sz="1400" dirty="0">
                <a:solidFill>
                  <a:srgbClr val="5B6573"/>
                </a:solidFill>
              </a:rPr>
              <a:t>이전 회차 대비 변화량</a:t>
            </a:r>
            <a:endParaRPr lang="en-US" sz="1400" dirty="0"/>
          </a:p>
          <a:p>
            <a:pPr marL="342900" indent="-342900">
              <a:spcAft>
                <a:spcPts val="600"/>
              </a:spcAft>
              <a:buSzPct val="100000"/>
              <a:buChar char="•"/>
            </a:pPr>
            <a:r>
              <a:rPr lang="en-US" sz="1400" dirty="0">
                <a:solidFill>
                  <a:srgbClr val="5B6573"/>
                </a:solidFill>
              </a:rPr>
              <a:t>AI 위험점수, 신뢰도, 위치 오차</a:t>
            </a:r>
            <a:endParaRPr lang="en-US" sz="1400" dirty="0"/>
          </a:p>
          <a:p>
            <a:pPr marL="342900" indent="-342900">
              <a:spcAft>
                <a:spcPts val="600"/>
              </a:spcAft>
              <a:buSzPct val="100000"/>
              <a:buChar char="•"/>
            </a:pPr>
            <a:r>
              <a:rPr lang="en-US" sz="1400" dirty="0">
                <a:solidFill>
                  <a:srgbClr val="5B6573"/>
                </a:solidFill>
              </a:rPr>
              <a:t>전문가 검토와 정밀조사 결과</a:t>
            </a:r>
            <a:endParaRPr lang="en-US" sz="1400" dirty="0"/>
          </a:p>
          <a:p>
            <a:pPr marL="342900" indent="-342900">
              <a:spcAft>
                <a:spcPts val="600"/>
              </a:spcAft>
              <a:buSzPct val="100000"/>
              <a:buChar char="•"/>
            </a:pPr>
            <a:r>
              <a:rPr lang="en-US" sz="1400" dirty="0">
                <a:solidFill>
                  <a:srgbClr val="5B6573"/>
                </a:solidFill>
              </a:rPr>
              <a:t>보수 완료 여부</a:t>
            </a:r>
            <a:endParaRPr lang="en-US" sz="1400" dirty="0"/>
          </a:p>
        </p:txBody>
      </p:sp>
      <p:sp>
        <p:nvSpPr>
          <p:cNvPr id="8" name="bubble"/>
          <p:cNvSpPr txBox="1"/>
          <p:nvPr/>
        </p:nvSpPr>
        <p:spPr>
          <a:xfrm>
            <a:off x="8366760" y="4251960"/>
            <a:ext cx="3273552" cy="777240"/>
          </a:xfrm>
          <a:prstGeom prst="wedgeRectCallout">
            <a:avLst/>
          </a:prstGeom>
          <a:solidFill>
            <a:srgbClr val="F5B400"/>
          </a:solidFill>
          <a:ln>
            <a:solidFill>
              <a:srgbClr val="F5B400"/>
            </a:solidFill>
          </a:ln>
        </p:spPr>
        <p:txBody>
          <a:bodyPr wrap="square" lIns="76200" tIns="76200" rIns="76200" bIns="76200" rtlCol="0" anchor="ctr"/>
          <a:lstStyle/>
          <a:p>
            <a:pPr marL="0" indent="0" algn="ctr">
              <a:buNone/>
            </a:pPr>
            <a:r>
              <a:rPr lang="en-US" sz="1400" b="1" dirty="0">
                <a:solidFill>
                  <a:srgbClr val="101828"/>
                </a:solidFill>
              </a:rPr>
              <a:t>지난 조사보다 이상 반사 면적이 17% 늘었습니다</a:t>
            </a:r>
            <a:endParaRPr lang="en-US" sz="1400" dirty="0"/>
          </a:p>
        </p:txBody>
      </p:sp>
      <p:sp>
        <p:nvSpPr>
          <p:cNvPr id="9" name="Text 6"/>
          <p:cNvSpPr txBox="1"/>
          <p:nvPr/>
        </p:nvSpPr>
        <p:spPr>
          <a:xfrm>
            <a:off x="8366760" y="5120640"/>
            <a:ext cx="3273552" cy="292608"/>
          </a:xfrm>
          <a:prstGeom prst="rect">
            <a:avLst/>
          </a:prstGeom>
          <a:noFill/>
          <a:ln/>
        </p:spPr>
        <p:txBody>
          <a:bodyPr wrap="square" lIns="0" tIns="0" rIns="0" bIns="0" rtlCol="0" anchor="ctr"/>
          <a:lstStyle/>
          <a:p>
            <a:pPr marL="0" indent="0">
              <a:buNone/>
            </a:pPr>
            <a:r>
              <a:rPr lang="en-US" sz="1200" dirty="0">
                <a:solidFill>
                  <a:srgbClr val="8A94A3"/>
                </a:solidFill>
              </a:rPr>
              <a:t>[예시] 화면의 수치는 설명용입니다.</a:t>
            </a:r>
            <a:endParaRPr lang="en-US" sz="1200" dirty="0"/>
          </a:p>
        </p:txBody>
      </p:sp>
      <p:sp>
        <p:nvSpPr>
          <p:cNvPr id="10" name="Text 7"/>
          <p:cNvSpPr txBox="1"/>
          <p:nvPr/>
        </p:nvSpPr>
        <p:spPr>
          <a:xfrm>
            <a:off x="548640" y="5669280"/>
            <a:ext cx="11094415" cy="594360"/>
          </a:xfrm>
          <a:prstGeom prst="rect">
            <a:avLst/>
          </a:prstGeom>
          <a:noFill/>
          <a:ln/>
        </p:spPr>
        <p:txBody>
          <a:bodyPr wrap="square" lIns="0" tIns="0" rIns="0" bIns="0" rtlCol="0" anchor="t"/>
          <a:lstStyle/>
          <a:p>
            <a:pPr marL="0" indent="0">
              <a:buNone/>
            </a:pPr>
            <a:r>
              <a:rPr lang="en-US" sz="1500" dirty="0">
                <a:solidFill>
                  <a:srgbClr val="101828"/>
                </a:solidFill>
              </a:rPr>
              <a:t>지도에서 구간을 고르면 실제 위치, 지상 영상, GPR 지하 단면, 회차별 변화 그래프를 한 화면에서 봅니다. 조사하지 않은 구간과 신뢰도가 낮은 구간은 숨기지 않고 따로 표시합니다.</a:t>
            </a:r>
            <a:endParaRPr lang="en-US" sz="1500" dirty="0"/>
          </a:p>
        </p:txBody>
      </p:sp>
      <p:sp>
        <p:nvSpPr>
          <p:cNvPr id="11"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목업 화면. 회색 미조사, 초록 변화 없음, 노랑 새 이상 신호, 주황 확대 의심, 빨강 정밀 재탐사, 점선 신뢰도 낮음</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#4 AI 변화 감지</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AI는 공동을 확정하지 않고, 달라진 곳의 검토 순서를 정합니다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같은 위치의 이전 회차와 현재 회차 GPR 신호를 비교해, 새로 생기거나 커진 신호를 먼저 찾습니다.</a:t>
            </a:r>
            <a:endParaRPr lang="en-US" sz="1600" dirty="0"/>
          </a:p>
        </p:txBody>
      </p:sp>
      <p:pic>
        <p:nvPicPr>
          <p:cNvPr id="5" name="ai_compare" descr="/Users/seohogyun/Documents/git_workspace/pv5-hose-lab/groundwatch/images/ai_compare.png"/>
          <p:cNvPicPr>
            <a:picLocks noChangeAspect="1"/>
          </p:cNvPicPr>
          <p:nvPr/>
        </p:nvPicPr>
        <p:blipFill>
          <a:blip r:embed="rId3"/>
          <a:stretch>
            <a:fillRect/>
          </a:stretch>
        </p:blipFill>
        <p:spPr>
          <a:xfrm>
            <a:off x="548640" y="1554749"/>
            <a:ext cx="7589520" cy="2678654"/>
          </a:xfrm>
          <a:prstGeom prst="rect">
            <a:avLst/>
          </a:prstGeom>
        </p:spPr>
      </p:pic>
      <p:pic>
        <p:nvPicPr>
          <p:cNvPr id="6" name="surface_crack" descr="/Users/seohogyun/Documents/git_workspace/pv5-hose-lab/groundwatch/images/surface_crack.png"/>
          <p:cNvPicPr>
            <a:picLocks noChangeAspect="1"/>
          </p:cNvPicPr>
          <p:nvPr/>
        </p:nvPicPr>
        <p:blipFill>
          <a:blip r:embed="rId4"/>
          <a:stretch>
            <a:fillRect/>
          </a:stretch>
        </p:blipFill>
        <p:spPr>
          <a:xfrm>
            <a:off x="8412480" y="1555394"/>
            <a:ext cx="3227832" cy="1936699"/>
          </a:xfrm>
          <a:prstGeom prst="rect">
            <a:avLst/>
          </a:prstGeom>
        </p:spPr>
      </p:pic>
      <p:sp>
        <p:nvSpPr>
          <p:cNvPr id="7" name="Text 3"/>
          <p:cNvSpPr txBox="1"/>
          <p:nvPr/>
        </p:nvSpPr>
        <p:spPr>
          <a:xfrm>
            <a:off x="8412480" y="3566160"/>
            <a:ext cx="3227832" cy="640080"/>
          </a:xfrm>
          <a:prstGeom prst="rect">
            <a:avLst/>
          </a:prstGeom>
          <a:noFill/>
          <a:ln/>
        </p:spPr>
        <p:txBody>
          <a:bodyPr wrap="square" lIns="0" tIns="0" rIns="0" bIns="0" rtlCol="0" anchor="t"/>
          <a:lstStyle/>
          <a:p>
            <a:pPr marL="0" indent="0">
              <a:buNone/>
            </a:pPr>
            <a:r>
              <a:rPr lang="en-US" sz="1200" dirty="0">
                <a:solidFill>
                  <a:srgbClr val="5B6573"/>
                </a:solidFill>
              </a:rPr>
              <a:t>지상 카메라도 함께 봅니다. 균열, 단차, 맨홀 주변 침하, 물 고임 [예시]</a:t>
            </a:r>
            <a:endParaRPr lang="en-US" sz="1200" dirty="0"/>
          </a:p>
        </p:txBody>
      </p:sp>
      <p:sp>
        <p:nvSpPr>
          <p:cNvPr id="8" name="rule"/>
          <p:cNvSpPr/>
          <p:nvPr/>
        </p:nvSpPr>
        <p:spPr>
          <a:xfrm>
            <a:off x="548640" y="4434840"/>
            <a:ext cx="11094415" cy="0"/>
          </a:xfrm>
          <a:prstGeom prst="line">
            <a:avLst/>
          </a:prstGeom>
          <a:noFill/>
          <a:ln w="12700">
            <a:solidFill>
              <a:srgbClr val="DCE1E8"/>
            </a:solidFill>
            <a:prstDash val="solid"/>
          </a:ln>
        </p:spPr>
        <p:txBody>
          <a:bodyPr/>
          <a:lstStyle/>
          <a:p>
            <a:endParaRPr lang="ko-KR" altLang="en-US"/>
          </a:p>
        </p:txBody>
      </p:sp>
      <p:sp>
        <p:nvSpPr>
          <p:cNvPr id="9" name="Text 5"/>
          <p:cNvSpPr txBox="1"/>
          <p:nvPr/>
        </p:nvSpPr>
        <p:spPr>
          <a:xfrm>
            <a:off x="548640" y="4572000"/>
            <a:ext cx="5486400" cy="329184"/>
          </a:xfrm>
          <a:prstGeom prst="rect">
            <a:avLst/>
          </a:prstGeom>
          <a:noFill/>
          <a:ln/>
        </p:spPr>
        <p:txBody>
          <a:bodyPr wrap="square" lIns="0" tIns="0" rIns="0" bIns="0" rtlCol="0" anchor="ctr"/>
          <a:lstStyle/>
          <a:p>
            <a:pPr marL="0" indent="0">
              <a:buNone/>
            </a:pPr>
            <a:r>
              <a:rPr lang="en-US" sz="1500" b="1" dirty="0">
                <a:solidFill>
                  <a:srgbClr val="101828"/>
                </a:solidFill>
              </a:rPr>
              <a:t>AI 결과에 함께 표시하는 것</a:t>
            </a:r>
            <a:endParaRPr lang="en-US" sz="1500" dirty="0"/>
          </a:p>
        </p:txBody>
      </p:sp>
      <p:sp>
        <p:nvSpPr>
          <p:cNvPr id="10" name="Text 6"/>
          <p:cNvSpPr txBox="1"/>
          <p:nvPr/>
        </p:nvSpPr>
        <p:spPr>
          <a:xfrm>
            <a:off x="548640" y="4919472"/>
            <a:ext cx="5760720" cy="640080"/>
          </a:xfrm>
          <a:prstGeom prst="rect">
            <a:avLst/>
          </a:prstGeom>
          <a:noFill/>
          <a:ln/>
        </p:spPr>
        <p:txBody>
          <a:bodyPr wrap="square" lIns="0" tIns="0" rIns="0" bIns="0" rtlCol="0" anchor="t"/>
          <a:lstStyle/>
          <a:p>
            <a:pPr marL="0" indent="0">
              <a:buNone/>
            </a:pPr>
            <a:r>
              <a:rPr lang="en-US" sz="1500" dirty="0">
                <a:solidFill>
                  <a:srgbClr val="5B6573"/>
                </a:solidFill>
              </a:rPr>
              <a:t>위험등급, 변화량, 신뢰도, 위치 오차, 권장 후속조치, 전문가 승인 여부</a:t>
            </a:r>
            <a:endParaRPr lang="en-US" sz="1500" dirty="0"/>
          </a:p>
        </p:txBody>
      </p:sp>
      <p:sp>
        <p:nvSpPr>
          <p:cNvPr id="11" name="Text 7"/>
          <p:cNvSpPr txBox="1"/>
          <p:nvPr/>
        </p:nvSpPr>
        <p:spPr>
          <a:xfrm>
            <a:off x="548640" y="5486400"/>
            <a:ext cx="5486400" cy="329184"/>
          </a:xfrm>
          <a:prstGeom prst="rect">
            <a:avLst/>
          </a:prstGeom>
          <a:noFill/>
          <a:ln/>
        </p:spPr>
        <p:txBody>
          <a:bodyPr wrap="square" lIns="0" tIns="0" rIns="0" bIns="0" rtlCol="0" anchor="ctr"/>
          <a:lstStyle/>
          <a:p>
            <a:pPr marL="0" indent="0">
              <a:buNone/>
            </a:pPr>
            <a:r>
              <a:rPr lang="en-US" sz="1500" b="1" dirty="0">
                <a:solidFill>
                  <a:srgbClr val="101828"/>
                </a:solidFill>
              </a:rPr>
              <a:t>비교에 쓰는 데이터</a:t>
            </a:r>
            <a:endParaRPr lang="en-US" sz="1500" dirty="0"/>
          </a:p>
        </p:txBody>
      </p:sp>
      <p:sp>
        <p:nvSpPr>
          <p:cNvPr id="12" name="Text 8"/>
          <p:cNvSpPr txBox="1"/>
          <p:nvPr/>
        </p:nvSpPr>
        <p:spPr>
          <a:xfrm>
            <a:off x="548640" y="5815584"/>
            <a:ext cx="5760720" cy="502920"/>
          </a:xfrm>
          <a:prstGeom prst="rect">
            <a:avLst/>
          </a:prstGeom>
          <a:noFill/>
          <a:ln/>
        </p:spPr>
        <p:txBody>
          <a:bodyPr wrap="square" lIns="0" tIns="0" rIns="0" bIns="0" rtlCol="0" anchor="t"/>
          <a:lstStyle/>
          <a:p>
            <a:pPr marL="0" indent="0">
              <a:buNone/>
            </a:pPr>
            <a:r>
              <a:rPr lang="en-US" sz="1300" dirty="0">
                <a:solidFill>
                  <a:srgbClr val="5B6573"/>
                </a:solidFill>
              </a:rPr>
              <a:t>GPR 신호와 면적, 추정 깊이 변화, 굴착·재포장 흔적, 강우와 공사 이력, 기존 정밀조사 결과</a:t>
            </a:r>
            <a:endParaRPr lang="en-US" sz="1300" dirty="0"/>
          </a:p>
        </p:txBody>
      </p:sp>
      <p:sp>
        <p:nvSpPr>
          <p:cNvPr id="13" name="panel"/>
          <p:cNvSpPr/>
          <p:nvPr/>
        </p:nvSpPr>
        <p:spPr>
          <a:xfrm>
            <a:off x="6675120" y="4572000"/>
            <a:ext cx="4965192" cy="1645920"/>
          </a:xfrm>
          <a:prstGeom prst="roundRect">
            <a:avLst>
              <a:gd name="adj" fmla="val 3333"/>
            </a:avLst>
          </a:prstGeom>
          <a:solidFill>
            <a:srgbClr val="FDECEA"/>
          </a:solidFill>
          <a:ln w="12700">
            <a:solidFill>
              <a:srgbClr val="FDECEA"/>
            </a:solidFill>
            <a:prstDash val="solid"/>
          </a:ln>
        </p:spPr>
        <p:txBody>
          <a:bodyPr/>
          <a:lstStyle/>
          <a:p>
            <a:endParaRPr lang="ko-KR" altLang="en-US"/>
          </a:p>
        </p:txBody>
      </p:sp>
      <p:pic>
        <p:nvPicPr>
          <p:cNvPr id="14" name="icon_alert" descr="/Users/seohogyun/Documents/git_workspace/pv5-hose-lab/groundwatch/images/ico_alert.png"/>
          <p:cNvPicPr>
            <a:picLocks noChangeAspect="1"/>
          </p:cNvPicPr>
          <p:nvPr/>
        </p:nvPicPr>
        <p:blipFill>
          <a:blip r:embed="rId5"/>
          <a:stretch>
            <a:fillRect/>
          </a:stretch>
        </p:blipFill>
        <p:spPr>
          <a:xfrm>
            <a:off x="6903720" y="4773168"/>
            <a:ext cx="457200" cy="457200"/>
          </a:xfrm>
          <a:prstGeom prst="rect">
            <a:avLst/>
          </a:prstGeom>
        </p:spPr>
      </p:pic>
      <p:sp>
        <p:nvSpPr>
          <p:cNvPr id="15" name="Text 10"/>
          <p:cNvSpPr txBox="1"/>
          <p:nvPr/>
        </p:nvSpPr>
        <p:spPr>
          <a:xfrm>
            <a:off x="7498080" y="4709160"/>
            <a:ext cx="3977640" cy="1371600"/>
          </a:xfrm>
          <a:prstGeom prst="rect">
            <a:avLst/>
          </a:prstGeom>
          <a:noFill/>
          <a:ln/>
        </p:spPr>
        <p:txBody>
          <a:bodyPr wrap="square" lIns="0" tIns="0" rIns="0" bIns="0" rtlCol="0" anchor="ctr"/>
          <a:lstStyle/>
          <a:p>
            <a:pPr marL="0" indent="0">
              <a:spcAft>
                <a:spcPts val="400"/>
              </a:spcAft>
              <a:buNone/>
            </a:pPr>
            <a:r>
              <a:rPr lang="en-US" sz="1900" b="1" dirty="0">
                <a:solidFill>
                  <a:srgbClr val="D93025"/>
                </a:solidFill>
              </a:rPr>
              <a:t>AI는 공동을 확정하지 않습니다</a:t>
            </a:r>
            <a:endParaRPr lang="en-US" sz="1900" dirty="0"/>
          </a:p>
          <a:p>
            <a:pPr marL="0" indent="0">
              <a:spcAft>
                <a:spcPts val="400"/>
              </a:spcAft>
              <a:buNone/>
            </a:pPr>
            <a:r>
              <a:rPr lang="en-US" sz="1400" dirty="0">
                <a:solidFill>
                  <a:srgbClr val="101828"/>
                </a:solidFill>
              </a:rPr>
              <a:t>AI 분석 결과와 전문가 검토 결과를 언제나 따로 표시합니다.</a:t>
            </a:r>
            <a:endParaRPr lang="en-US" sz="1900" dirty="0"/>
          </a:p>
        </p:txBody>
      </p:sp>
      <p:sp>
        <p:nvSpPr>
          <p:cNvPr id="1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3D GPR 딥러닝 공동 탐지 연구. 탐지율과 오탐률은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#5 재확인 포인트</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전문가가 승인한 지점만 다음 순찰의 재확인 업무가 됩니다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‘전날과 다음날’이 아니라 ‘이전 탐사 회차와 다음 탐사 회차’를 기준으로 관리합니다.</a:t>
            </a:r>
            <a:endParaRPr lang="en-US" sz="1600" dirty="0"/>
          </a:p>
        </p:txBody>
      </p:sp>
      <p:sp>
        <p:nvSpPr>
          <p:cNvPr id="5" name="track"/>
          <p:cNvSpPr/>
          <p:nvPr/>
        </p:nvSpPr>
        <p:spPr>
          <a:xfrm>
            <a:off x="740664" y="1828800"/>
            <a:ext cx="8503920" cy="0"/>
          </a:xfrm>
          <a:prstGeom prst="line">
            <a:avLst/>
          </a:prstGeom>
          <a:noFill/>
          <a:ln w="25400">
            <a:solidFill>
              <a:srgbClr val="DCE1E8"/>
            </a:solidFill>
            <a:prstDash val="solid"/>
          </a:ln>
        </p:spPr>
        <p:txBody>
          <a:bodyPr/>
          <a:lstStyle/>
          <a:p>
            <a:endParaRPr lang="ko-KR" altLang="en-US"/>
          </a:p>
        </p:txBody>
      </p:sp>
      <p:sp>
        <p:nvSpPr>
          <p:cNvPr id="6" name="step"/>
          <p:cNvSpPr txBox="1"/>
          <p:nvPr/>
        </p:nvSpPr>
        <p:spPr>
          <a:xfrm>
            <a:off x="548640" y="1636776"/>
            <a:ext cx="384048" cy="384048"/>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a:t>
            </a:r>
            <a:endParaRPr lang="en-US" sz="1400" dirty="0"/>
          </a:p>
        </p:txBody>
      </p:sp>
      <p:sp>
        <p:nvSpPr>
          <p:cNvPr id="7" name="Text 5"/>
          <p:cNvSpPr txBox="1"/>
          <p:nvPr/>
        </p:nvSpPr>
        <p:spPr>
          <a:xfrm>
            <a:off x="54864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AI 후보 등록</a:t>
            </a:r>
            <a:endParaRPr lang="en-US" sz="1700" dirty="0"/>
          </a:p>
        </p:txBody>
      </p:sp>
      <p:sp>
        <p:nvSpPr>
          <p:cNvPr id="8" name="Text 6"/>
          <p:cNvSpPr txBox="1"/>
          <p:nvPr/>
        </p:nvSpPr>
        <p:spPr>
          <a:xfrm>
            <a:off x="54864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이전 회차 대비 새 신호와 커진 신호</a:t>
            </a:r>
            <a:endParaRPr lang="en-US" sz="1400" dirty="0"/>
          </a:p>
        </p:txBody>
      </p:sp>
      <p:sp>
        <p:nvSpPr>
          <p:cNvPr id="9" name="step"/>
          <p:cNvSpPr txBox="1"/>
          <p:nvPr/>
        </p:nvSpPr>
        <p:spPr>
          <a:xfrm>
            <a:off x="338328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338328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전문가 검토</a:t>
            </a:r>
            <a:endParaRPr lang="en-US" sz="1700" dirty="0"/>
          </a:p>
        </p:txBody>
      </p:sp>
      <p:sp>
        <p:nvSpPr>
          <p:cNvPr id="11" name="Text 9"/>
          <p:cNvSpPr txBox="1"/>
          <p:nvPr/>
        </p:nvSpPr>
        <p:spPr>
          <a:xfrm>
            <a:off x="338328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AI 결과와 원시 GPR 데이터를 함께 확인</a:t>
            </a:r>
            <a:endParaRPr lang="en-US" sz="1400" dirty="0"/>
          </a:p>
        </p:txBody>
      </p:sp>
      <p:sp>
        <p:nvSpPr>
          <p:cNvPr id="12" name="step"/>
          <p:cNvSpPr txBox="1"/>
          <p:nvPr/>
        </p:nvSpPr>
        <p:spPr>
          <a:xfrm>
            <a:off x="621792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Text 11"/>
          <p:cNvSpPr txBox="1"/>
          <p:nvPr/>
        </p:nvSpPr>
        <p:spPr>
          <a:xfrm>
            <a:off x="621792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재확인 대기열</a:t>
            </a:r>
            <a:endParaRPr lang="en-US" sz="1700" dirty="0"/>
          </a:p>
        </p:txBody>
      </p:sp>
      <p:sp>
        <p:nvSpPr>
          <p:cNvPr id="14" name="Text 12"/>
          <p:cNvSpPr txBox="1"/>
          <p:nvPr/>
        </p:nvSpPr>
        <p:spPr>
          <a:xfrm>
            <a:off x="621792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위험도와 변화량 순으로 정렬</a:t>
            </a:r>
            <a:endParaRPr lang="en-US" sz="1400" dirty="0"/>
          </a:p>
        </p:txBody>
      </p:sp>
      <p:sp>
        <p:nvSpPr>
          <p:cNvPr id="15" name="step"/>
          <p:cNvSpPr txBox="1"/>
          <p:nvPr/>
        </p:nvSpPr>
        <p:spPr>
          <a:xfrm>
            <a:off x="9052560" y="1636776"/>
            <a:ext cx="384048" cy="384048"/>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Text 14"/>
          <p:cNvSpPr txBox="1"/>
          <p:nvPr/>
        </p:nvSpPr>
        <p:spPr>
          <a:xfrm>
            <a:off x="9052560" y="2194560"/>
            <a:ext cx="2606040" cy="347472"/>
          </a:xfrm>
          <a:prstGeom prst="rect">
            <a:avLst/>
          </a:prstGeom>
          <a:noFill/>
          <a:ln/>
        </p:spPr>
        <p:txBody>
          <a:bodyPr wrap="square" lIns="0" tIns="0" rIns="0" bIns="0" rtlCol="0" anchor="t"/>
          <a:lstStyle/>
          <a:p>
            <a:pPr marL="0" indent="0">
              <a:buNone/>
            </a:pPr>
            <a:r>
              <a:rPr lang="en-US" sz="1700" b="1" dirty="0">
                <a:solidFill>
                  <a:srgbClr val="101828"/>
                </a:solidFill>
              </a:rPr>
              <a:t>다음 순찰 업무</a:t>
            </a:r>
            <a:endParaRPr lang="en-US" sz="1700" dirty="0"/>
          </a:p>
        </p:txBody>
      </p:sp>
      <p:sp>
        <p:nvSpPr>
          <p:cNvPr id="17" name="Text 15"/>
          <p:cNvSpPr txBox="1"/>
          <p:nvPr/>
        </p:nvSpPr>
        <p:spPr>
          <a:xfrm>
            <a:off x="9052560" y="2578608"/>
            <a:ext cx="2606040" cy="68580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 앱 경로에 재확인 지점 자동 반영</a:t>
            </a:r>
            <a:endParaRPr lang="en-US" sz="1400" dirty="0"/>
          </a:p>
        </p:txBody>
      </p:sp>
      <p:sp>
        <p:nvSpPr>
          <p:cNvPr id="18" name="Text 16"/>
          <p:cNvSpPr txBox="1"/>
          <p:nvPr/>
        </p:nvSpPr>
        <p:spPr>
          <a:xfrm>
            <a:off x="548640" y="3429000"/>
            <a:ext cx="5486400" cy="347472"/>
          </a:xfrm>
          <a:prstGeom prst="rect">
            <a:avLst/>
          </a:prstGeom>
          <a:noFill/>
          <a:ln/>
        </p:spPr>
        <p:txBody>
          <a:bodyPr wrap="square" lIns="0" tIns="0" rIns="0" bIns="0" rtlCol="0" anchor="ctr"/>
          <a:lstStyle/>
          <a:p>
            <a:pPr marL="0" indent="0">
              <a:buNone/>
            </a:pPr>
            <a:r>
              <a:rPr lang="en-US" sz="1600" b="1" dirty="0">
                <a:solidFill>
                  <a:srgbClr val="101828"/>
                </a:solidFill>
              </a:rPr>
              <a:t>재확인 대기열 [예시]</a:t>
            </a:r>
            <a:endParaRPr lang="en-US" sz="1600" dirty="0"/>
          </a:p>
        </p:txBody>
      </p:sp>
      <p:graphicFrame>
        <p:nvGraphicFramePr>
          <p:cNvPr id="19" name="queue"/>
          <p:cNvGraphicFramePr>
            <a:graphicFrameLocks noGrp="1"/>
          </p:cNvGraphicFramePr>
          <p:nvPr>
            <p:extLst>
              <p:ext uri="{D42A27DB-BD31-4B8C-83A1-F6EECF244321}">
                <p14:modId xmlns:p14="http://schemas.microsoft.com/office/powerpoint/2010/main" val="1579011935"/>
              </p:ext>
            </p:extLst>
          </p:nvPr>
        </p:nvGraphicFramePr>
        <p:xfrm>
          <a:off x="548640" y="3840480"/>
          <a:ext cx="74980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38912">
                <a:tc>
                  <a:txBody>
                    <a:bodyPr/>
                    <a:lstStyle/>
                    <a:p>
                      <a:pPr marL="0" indent="0">
                        <a:buNone/>
                      </a:pPr>
                      <a:r>
                        <a:rPr lang="en-US" sz="1400" b="1" dirty="0">
                          <a:solidFill>
                            <a:srgbClr val="5B6573"/>
                          </a:solidFill>
                        </a:rPr>
                        <a:t>지점</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변화</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AI 신뢰도</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전문가</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400" b="1" dirty="0">
                          <a:solidFill>
                            <a:srgbClr val="5B6573"/>
                          </a:solidFill>
                        </a:rPr>
                        <a:t>다음 회차 조치</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01828"/>
                          </a:solidFill>
                        </a:rPr>
                        <a:t>R-0427</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확대 의심</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높음</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승인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지면 밀착형 GPR 재탐사</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01828"/>
                          </a:solidFill>
                        </a:rPr>
                        <a:t>R-0391</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새 이상 신호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중간</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승인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다음 순찰 때 재스캔</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400" dirty="0">
                          <a:solidFill>
                            <a:srgbClr val="101828"/>
                          </a:solidFill>
                        </a:rPr>
                        <a:t>R-0512</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새 이상 신호</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낮음</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보류</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400" dirty="0">
                          <a:solidFill>
                            <a:srgbClr val="101828"/>
                          </a:solidFill>
                        </a:rPr>
                        <a:t>데이터를 더 모은 뒤 판단</a:t>
                      </a:r>
                      <a:endParaRPr lang="en-US" sz="14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bubble"/>
          <p:cNvSpPr txBox="1"/>
          <p:nvPr/>
        </p:nvSpPr>
        <p:spPr>
          <a:xfrm>
            <a:off x="8458200" y="3840480"/>
            <a:ext cx="3182112" cy="91440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검토하지 않은 AI 결과는</a:t>
            </a:r>
            <a:endParaRPr lang="en-US" sz="1400" dirty="0"/>
          </a:p>
          <a:p>
            <a:pPr marL="0" indent="0" algn="ctr">
              <a:buNone/>
            </a:pPr>
            <a:r>
              <a:rPr lang="en-US" sz="1400" b="1" dirty="0">
                <a:solidFill>
                  <a:srgbClr val="FFFFFF"/>
                </a:solidFill>
              </a:rPr>
              <a:t>순찰 업무로 내려가지 않습니다</a:t>
            </a:r>
            <a:endParaRPr lang="en-US" sz="1400" dirty="0"/>
          </a:p>
        </p:txBody>
      </p:sp>
      <p:sp>
        <p:nvSpPr>
          <p:cNvPr id="21" name="Text 18"/>
          <p:cNvSpPr txBox="1"/>
          <p:nvPr/>
        </p:nvSpPr>
        <p:spPr>
          <a:xfrm>
            <a:off x="8458200" y="4983480"/>
            <a:ext cx="3182112" cy="731520"/>
          </a:xfrm>
          <a:prstGeom prst="rect">
            <a:avLst/>
          </a:prstGeom>
          <a:noFill/>
          <a:ln/>
        </p:spPr>
        <p:txBody>
          <a:bodyPr wrap="square" lIns="0" tIns="0" rIns="0" bIns="0" rtlCol="0" anchor="t"/>
          <a:lstStyle/>
          <a:p>
            <a:pPr marL="0" indent="0">
              <a:buNone/>
            </a:pPr>
            <a:r>
              <a:rPr lang="en-US" sz="1400" dirty="0">
                <a:solidFill>
                  <a:srgbClr val="5B6573"/>
                </a:solidFill>
              </a:rPr>
              <a:t>집중호우 뒤에는 대기열과 별도로 긴급 조사 경로를 만듭니다.</a:t>
            </a:r>
            <a:endParaRPr lang="en-US" sz="14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대기열 항목과 등급은 설명용 예시입니다.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#6 Patrol 앱</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PV5의 디스플레이가 새벽 순찰의 업무 화면이 된다</a:t>
            </a:r>
            <a:endParaRPr lang="en-US" sz="1900" dirty="0"/>
          </a:p>
        </p:txBody>
      </p:sp>
      <p:sp>
        <p:nvSpPr>
          <p:cNvPr id="4" name="lead"/>
          <p:cNvSpPr txBox="1"/>
          <p:nvPr/>
        </p:nvSpPr>
        <p:spPr>
          <a:xfrm>
            <a:off x="548640" y="987552"/>
            <a:ext cx="11094415" cy="548640"/>
          </a:xfrm>
          <a:prstGeom prst="rect">
            <a:avLst/>
          </a:prstGeom>
          <a:noFill/>
          <a:ln/>
        </p:spPr>
        <p:txBody>
          <a:bodyPr wrap="square" lIns="0" tIns="0" rIns="0" bIns="0" rtlCol="0" anchor="t"/>
          <a:lstStyle/>
          <a:p>
            <a:pPr marL="0" indent="0">
              <a:buNone/>
            </a:pPr>
            <a:r>
              <a:rPr lang="en-US" sz="1600" dirty="0">
                <a:solidFill>
                  <a:srgbClr val="5B6573"/>
                </a:solidFill>
              </a:rPr>
              <a:t>PV5는 Android Automotive OS 기반 PBV 전용 인포테인먼트와 Pleos App Market을 지원합니다. GroundWatch Patrol은 이 환경의 B2B 업무용 앱을 목표로 합니다.</a:t>
            </a:r>
            <a:endParaRPr lang="en-US" sz="1600" dirty="0"/>
          </a:p>
        </p:txBody>
      </p:sp>
      <p:pic>
        <p:nvPicPr>
          <p:cNvPr id="5" name="dashboard" descr="/Users/seohogyun/Documents/git_workspace/pv5-hose-lab/groundwatch/images/dashboard.png"/>
          <p:cNvPicPr>
            <a:picLocks noChangeAspect="1"/>
          </p:cNvPicPr>
          <p:nvPr/>
        </p:nvPicPr>
        <p:blipFill>
          <a:blip r:embed="rId3"/>
          <a:stretch>
            <a:fillRect/>
          </a:stretch>
        </p:blipFill>
        <p:spPr>
          <a:xfrm>
            <a:off x="548640" y="1645920"/>
            <a:ext cx="6667901" cy="2980944"/>
          </a:xfrm>
          <a:prstGeom prst="rect">
            <a:avLst/>
          </a:prstGeom>
        </p:spPr>
      </p:pic>
      <p:pic>
        <p:nvPicPr>
          <p:cNvPr id="6" name="ivi_pre" descr="/Users/seohogyun/Documents/git_workspace/pv5-hose-lab/groundwatch/images/ivi_pre.png"/>
          <p:cNvPicPr>
            <a:picLocks noChangeAspect="1"/>
          </p:cNvPicPr>
          <p:nvPr/>
        </p:nvPicPr>
        <p:blipFill>
          <a:blip r:embed="rId4"/>
          <a:stretch>
            <a:fillRect/>
          </a:stretch>
        </p:blipFill>
        <p:spPr>
          <a:xfrm>
            <a:off x="2113256" y="1944014"/>
            <a:ext cx="3538669" cy="1371234"/>
          </a:xfrm>
          <a:prstGeom prst="rect">
            <a:avLst/>
          </a:prstGeom>
        </p:spPr>
      </p:pic>
      <p:sp>
        <p:nvSpPr>
          <p:cNvPr id="7" name="Text 3"/>
          <p:cNvSpPr txBox="1"/>
          <p:nvPr/>
        </p:nvSpPr>
        <p:spPr>
          <a:xfrm>
            <a:off x="548640" y="4681728"/>
            <a:ext cx="6675120" cy="320040"/>
          </a:xfrm>
          <a:prstGeom prst="rect">
            <a:avLst/>
          </a:prstGeom>
          <a:noFill/>
          <a:ln/>
        </p:spPr>
        <p:txBody>
          <a:bodyPr wrap="square" lIns="0" tIns="0" rIns="0" bIns="0" rtlCol="0" anchor="ctr"/>
          <a:lstStyle/>
          <a:p>
            <a:pPr marL="0" indent="0">
              <a:buNone/>
            </a:pPr>
            <a:r>
              <a:rPr lang="en-US" sz="1300" dirty="0">
                <a:solidFill>
                  <a:srgbClr val="5B6573"/>
                </a:solidFill>
              </a:rPr>
              <a:t>운행 전: 순찰거리, 재확인 지점, 장비 상태를 확인하고 순찰을 시작합니다</a:t>
            </a:r>
            <a:endParaRPr lang="en-US" sz="1300" dirty="0"/>
          </a:p>
        </p:txBody>
      </p:sp>
      <p:pic>
        <p:nvPicPr>
          <p:cNvPr id="8" name="ivi_drive" descr="/Users/seohogyun/Documents/git_workspace/pv5-hose-lab/groundwatch/images/ivi_drive.png"/>
          <p:cNvPicPr>
            <a:picLocks noChangeAspect="1"/>
          </p:cNvPicPr>
          <p:nvPr/>
        </p:nvPicPr>
        <p:blipFill>
          <a:blip r:embed="rId5"/>
          <a:stretch>
            <a:fillRect/>
          </a:stretch>
        </p:blipFill>
        <p:spPr>
          <a:xfrm>
            <a:off x="7452360" y="1648320"/>
            <a:ext cx="4187952" cy="1622831"/>
          </a:xfrm>
          <a:prstGeom prst="rect">
            <a:avLst/>
          </a:prstGeom>
        </p:spPr>
      </p:pic>
      <p:sp>
        <p:nvSpPr>
          <p:cNvPr id="9" name="Text 4"/>
          <p:cNvSpPr txBox="1"/>
          <p:nvPr/>
        </p:nvSpPr>
        <p:spPr>
          <a:xfrm>
            <a:off x="7452360" y="3291840"/>
            <a:ext cx="4187952" cy="274320"/>
          </a:xfrm>
          <a:prstGeom prst="rect">
            <a:avLst/>
          </a:prstGeom>
          <a:noFill/>
          <a:ln/>
        </p:spPr>
        <p:txBody>
          <a:bodyPr wrap="square" lIns="0" tIns="0" rIns="0" bIns="0" rtlCol="0" anchor="ctr"/>
          <a:lstStyle/>
          <a:p>
            <a:pPr marL="0" indent="0">
              <a:buNone/>
            </a:pPr>
            <a:r>
              <a:rPr lang="en-US" sz="1200" dirty="0">
                <a:solidFill>
                  <a:srgbClr val="5B6573"/>
                </a:solidFill>
              </a:rPr>
              <a:t>주행 중: 스캔 상태와 다음 지점 거리만</a:t>
            </a:r>
            <a:endParaRPr lang="en-US" sz="1200" dirty="0"/>
          </a:p>
        </p:txBody>
      </p:sp>
      <p:pic>
        <p:nvPicPr>
          <p:cNvPr id="10" name="ivi_stop" descr="/Users/seohogyun/Documents/git_workspace/pv5-hose-lab/groundwatch/images/ivi_stop.png"/>
          <p:cNvPicPr>
            <a:picLocks noChangeAspect="1"/>
          </p:cNvPicPr>
          <p:nvPr/>
        </p:nvPicPr>
        <p:blipFill>
          <a:blip r:embed="rId6"/>
          <a:stretch>
            <a:fillRect/>
          </a:stretch>
        </p:blipFill>
        <p:spPr>
          <a:xfrm>
            <a:off x="7452360" y="3641712"/>
            <a:ext cx="4187952" cy="1622831"/>
          </a:xfrm>
          <a:prstGeom prst="rect">
            <a:avLst/>
          </a:prstGeom>
        </p:spPr>
      </p:pic>
      <p:sp>
        <p:nvSpPr>
          <p:cNvPr id="11" name="Text 5"/>
          <p:cNvSpPr txBox="1"/>
          <p:nvPr/>
        </p:nvSpPr>
        <p:spPr>
          <a:xfrm>
            <a:off x="7452360" y="5285232"/>
            <a:ext cx="4187952" cy="274320"/>
          </a:xfrm>
          <a:prstGeom prst="rect">
            <a:avLst/>
          </a:prstGeom>
          <a:noFill/>
          <a:ln/>
        </p:spPr>
        <p:txBody>
          <a:bodyPr wrap="square" lIns="0" tIns="0" rIns="0" bIns="0" rtlCol="0" anchor="ctr"/>
          <a:lstStyle/>
          <a:p>
            <a:pPr marL="0" indent="0">
              <a:buNone/>
            </a:pPr>
            <a:r>
              <a:rPr lang="en-US" sz="1200" dirty="0">
                <a:solidFill>
                  <a:srgbClr val="5B6573"/>
                </a:solidFill>
              </a:rPr>
              <a:t>정차 후: 위험등급, 변화량, 안전 정차, AR 연결</a:t>
            </a:r>
            <a:endParaRPr lang="en-US" sz="1200" dirty="0"/>
          </a:p>
        </p:txBody>
      </p:sp>
      <p:sp>
        <p:nvSpPr>
          <p:cNvPr id="12" name="bubble"/>
          <p:cNvSpPr txBox="1"/>
          <p:nvPr/>
        </p:nvSpPr>
        <p:spPr>
          <a:xfrm>
            <a:off x="548640" y="5120640"/>
            <a:ext cx="6675120" cy="50292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주행 중에는 분석 화면을 띄우지도, 조작하게 하지도 않습니다</a:t>
            </a:r>
            <a:endParaRPr lang="en-US" sz="1400" dirty="0"/>
          </a:p>
        </p:txBody>
      </p:sp>
      <p:sp>
        <p:nvSpPr>
          <p:cNvPr id="13" name="Text 7"/>
          <p:cNvSpPr txBox="1"/>
          <p:nvPr/>
        </p:nvSpPr>
        <p:spPr>
          <a:xfrm>
            <a:off x="548640" y="5806440"/>
            <a:ext cx="6675120" cy="365760"/>
          </a:xfrm>
          <a:prstGeom prst="rect">
            <a:avLst/>
          </a:prstGeom>
          <a:noFill/>
          <a:ln/>
        </p:spPr>
        <p:txBody>
          <a:bodyPr wrap="square" lIns="0" tIns="0" rIns="0" bIns="0" rtlCol="0" anchor="t"/>
          <a:lstStyle/>
          <a:p>
            <a:pPr marL="0" indent="0">
              <a:buNone/>
            </a:pPr>
            <a:r>
              <a:rPr lang="en-US" sz="1300" b="1" dirty="0">
                <a:solidFill>
                  <a:srgbClr val="101828"/>
                </a:solidFill>
              </a:rPr>
              <a:t>배포 경로  </a:t>
            </a:r>
            <a:r>
              <a:rPr lang="en-US" sz="1300" dirty="0">
                <a:solidFill>
                  <a:srgbClr val="5B6573"/>
                </a:solidFill>
              </a:rPr>
              <a:t>Pleos App Market 또는 기아 PBV 파트너 프로그램</a:t>
            </a:r>
            <a:endParaRPr lang="en-US" sz="1300" dirty="0"/>
          </a:p>
        </p:txBody>
      </p:sp>
      <p:sp>
        <p:nvSpPr>
          <p:cNvPr id="14" name="Text 8"/>
          <p:cNvSpPr txBox="1"/>
          <p:nvPr/>
        </p:nvSpPr>
        <p:spPr>
          <a:xfrm>
            <a:off x="7452360" y="5650992"/>
            <a:ext cx="4187952" cy="640080"/>
          </a:xfrm>
          <a:prstGeom prst="rect">
            <a:avLst/>
          </a:prstGeom>
          <a:noFill/>
          <a:ln/>
        </p:spPr>
        <p:txBody>
          <a:bodyPr wrap="square" lIns="0" tIns="0" rIns="0" bIns="0" rtlCol="0" anchor="t"/>
          <a:lstStyle/>
          <a:p>
            <a:pPr marL="0" indent="0">
              <a:buNone/>
            </a:pPr>
            <a:r>
              <a:rPr lang="en-US" sz="1200" b="1" dirty="0">
                <a:solidFill>
                  <a:srgbClr val="D93025"/>
                </a:solidFill>
              </a:rPr>
              <a:t>앱 배포와 차량 데이터 접근은 기아 PBV 파트너 승인과 공식 API 범위 확인이 필요합니다. 사이드로딩과 ADB 활성화는 가정하지 않습니다.</a:t>
            </a:r>
            <a:endParaRPr lang="en-US" sz="1200" dirty="0"/>
          </a:p>
        </p:txBody>
      </p:sp>
      <p:sp>
        <p:nvSpPr>
          <p:cNvPr id="15"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Kia PBV IVI·App Market(AAOS 기반, 개발 목표 고지), 기아 PBV 소프트웨어 솔루션(준비 중인 솔루션, 내용 변경 가능). 화면은 목업입니다.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#7 SW 브리지</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차량 앱과 엣지 게이트웨이가 AR 글래스에 작업정보를 전달한다</a:t>
            </a:r>
            <a:endParaRPr lang="en-US" sz="1900" dirty="0"/>
          </a:p>
        </p:txBody>
      </p:sp>
      <p:sp>
        <p:nvSpPr>
          <p:cNvPr id="4" name="lead"/>
          <p:cNvSpPr txBox="1"/>
          <p:nvPr/>
        </p:nvSpPr>
        <p:spPr>
          <a:xfrm>
            <a:off x="548640" y="987552"/>
            <a:ext cx="11094415" cy="548640"/>
          </a:xfrm>
          <a:prstGeom prst="rect">
            <a:avLst/>
          </a:prstGeom>
          <a:noFill/>
          <a:ln/>
        </p:spPr>
        <p:txBody>
          <a:bodyPr wrap="square" lIns="0" tIns="0" rIns="0" bIns="0" rtlCol="0" anchor="t"/>
          <a:lstStyle/>
          <a:p>
            <a:pPr marL="0" indent="0">
              <a:buNone/>
            </a:pPr>
            <a:r>
              <a:rPr lang="en-US" sz="1600" dirty="0">
                <a:solidFill>
                  <a:srgbClr val="5B6573"/>
                </a:solidFill>
              </a:rPr>
              <a:t>AR 글래스는 차량 화면의 미러링이 아닙니다. 역할을 나눠 두면 차량 API가 일부 막혀도 GPR과 AR 기능은 멈추지 않습니다.</a:t>
            </a:r>
            <a:endParaRPr lang="en-US" sz="1600" dirty="0"/>
          </a:p>
        </p:txBody>
      </p:sp>
      <p:sp>
        <p:nvSpPr>
          <p:cNvPr id="5" name="node"/>
          <p:cNvSpPr/>
          <p:nvPr/>
        </p:nvSpPr>
        <p:spPr>
          <a:xfrm>
            <a:off x="1280160"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6" name="icon_cloud" descr="/Users/seohogyun/Documents/git_workspace/pv5-hose-lab/groundwatch/images/ico_cloud.png"/>
          <p:cNvPicPr>
            <a:picLocks noChangeAspect="1"/>
          </p:cNvPicPr>
          <p:nvPr/>
        </p:nvPicPr>
        <p:blipFill>
          <a:blip r:embed="rId3"/>
          <a:stretch>
            <a:fillRect/>
          </a:stretch>
        </p:blipFill>
        <p:spPr>
          <a:xfrm>
            <a:off x="1527048" y="1938528"/>
            <a:ext cx="603504" cy="603504"/>
          </a:xfrm>
          <a:prstGeom prst="rect">
            <a:avLst/>
          </a:prstGeom>
        </p:spPr>
      </p:pic>
      <p:sp>
        <p:nvSpPr>
          <p:cNvPr id="7" name="Text 4"/>
          <p:cNvSpPr txBox="1"/>
          <p:nvPr/>
        </p:nvSpPr>
        <p:spPr>
          <a:xfrm>
            <a:off x="502920"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GroundWatch Cloud</a:t>
            </a:r>
            <a:endParaRPr lang="en-US" sz="1600" dirty="0"/>
          </a:p>
        </p:txBody>
      </p:sp>
      <p:sp>
        <p:nvSpPr>
          <p:cNvPr id="8" name="Text 5"/>
          <p:cNvSpPr txBox="1"/>
          <p:nvPr/>
        </p:nvSpPr>
        <p:spPr>
          <a:xfrm>
            <a:off x="502920"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4D 지도, AI, 경로, 권한</a:t>
            </a:r>
            <a:endParaRPr lang="en-US" sz="1300" dirty="0"/>
          </a:p>
        </p:txBody>
      </p:sp>
      <p:sp>
        <p:nvSpPr>
          <p:cNvPr id="9" name="link"/>
          <p:cNvSpPr/>
          <p:nvPr/>
        </p:nvSpPr>
        <p:spPr>
          <a:xfrm>
            <a:off x="2468880"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10" name="Text 7"/>
          <p:cNvSpPr txBox="1"/>
          <p:nvPr/>
        </p:nvSpPr>
        <p:spPr>
          <a:xfrm>
            <a:off x="2468880"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보안 통신</a:t>
            </a:r>
            <a:endParaRPr lang="en-US" sz="1200" dirty="0"/>
          </a:p>
        </p:txBody>
      </p:sp>
      <p:sp>
        <p:nvSpPr>
          <p:cNvPr id="11" name="node"/>
          <p:cNvSpPr/>
          <p:nvPr/>
        </p:nvSpPr>
        <p:spPr>
          <a:xfrm>
            <a:off x="4187952"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12" name="icon_monitor" descr="/Users/seohogyun/Documents/git_workspace/pv5-hose-lab/groundwatch/images/ico_monitor.png"/>
          <p:cNvPicPr>
            <a:picLocks noChangeAspect="1"/>
          </p:cNvPicPr>
          <p:nvPr/>
        </p:nvPicPr>
        <p:blipFill>
          <a:blip r:embed="rId4"/>
          <a:stretch>
            <a:fillRect/>
          </a:stretch>
        </p:blipFill>
        <p:spPr>
          <a:xfrm>
            <a:off x="4434840" y="1938528"/>
            <a:ext cx="603504" cy="603504"/>
          </a:xfrm>
          <a:prstGeom prst="rect">
            <a:avLst/>
          </a:prstGeom>
        </p:spPr>
      </p:pic>
      <p:sp>
        <p:nvSpPr>
          <p:cNvPr id="13" name="Text 9"/>
          <p:cNvSpPr txBox="1"/>
          <p:nvPr/>
        </p:nvSpPr>
        <p:spPr>
          <a:xfrm>
            <a:off x="3410712"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PV5 Patrol 앱</a:t>
            </a:r>
            <a:endParaRPr lang="en-US" sz="1600" dirty="0"/>
          </a:p>
        </p:txBody>
      </p:sp>
      <p:sp>
        <p:nvSpPr>
          <p:cNvPr id="14" name="Text 10"/>
          <p:cNvSpPr txBox="1"/>
          <p:nvPr/>
        </p:nvSpPr>
        <p:spPr>
          <a:xfrm>
            <a:off x="3410712"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업무와 경로 관리</a:t>
            </a:r>
            <a:endParaRPr lang="en-US" sz="1300" dirty="0"/>
          </a:p>
        </p:txBody>
      </p:sp>
      <p:sp>
        <p:nvSpPr>
          <p:cNvPr id="15" name="link"/>
          <p:cNvSpPr/>
          <p:nvPr/>
        </p:nvSpPr>
        <p:spPr>
          <a:xfrm>
            <a:off x="5376672"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16" name="Text 12"/>
          <p:cNvSpPr txBox="1"/>
          <p:nvPr/>
        </p:nvSpPr>
        <p:spPr>
          <a:xfrm>
            <a:off x="5376672"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로컬 API</a:t>
            </a:r>
            <a:endParaRPr lang="en-US" sz="1200" dirty="0"/>
          </a:p>
        </p:txBody>
      </p:sp>
      <p:sp>
        <p:nvSpPr>
          <p:cNvPr id="17" name="node"/>
          <p:cNvSpPr/>
          <p:nvPr/>
        </p:nvSpPr>
        <p:spPr>
          <a:xfrm>
            <a:off x="7095744" y="1691640"/>
            <a:ext cx="1097280" cy="1097280"/>
          </a:xfrm>
          <a:prstGeom prst="ellipse">
            <a:avLst/>
          </a:prstGeom>
          <a:solidFill>
            <a:srgbClr val="F2F4F7"/>
          </a:solidFill>
          <a:ln w="12700">
            <a:solidFill>
              <a:srgbClr val="F2F4F7"/>
            </a:solidFill>
            <a:prstDash val="solid"/>
          </a:ln>
        </p:spPr>
        <p:txBody>
          <a:bodyPr/>
          <a:lstStyle/>
          <a:p>
            <a:endParaRPr lang="ko-KR" altLang="en-US"/>
          </a:p>
        </p:txBody>
      </p:sp>
      <p:pic>
        <p:nvPicPr>
          <p:cNvPr id="18" name="icon_server" descr="/Users/seohogyun/Documents/git_workspace/pv5-hose-lab/groundwatch/images/ico_server.png"/>
          <p:cNvPicPr>
            <a:picLocks noChangeAspect="1"/>
          </p:cNvPicPr>
          <p:nvPr/>
        </p:nvPicPr>
        <p:blipFill>
          <a:blip r:embed="rId5"/>
          <a:stretch>
            <a:fillRect/>
          </a:stretch>
        </p:blipFill>
        <p:spPr>
          <a:xfrm>
            <a:off x="7342632" y="1938528"/>
            <a:ext cx="603504" cy="603504"/>
          </a:xfrm>
          <a:prstGeom prst="rect">
            <a:avLst/>
          </a:prstGeom>
        </p:spPr>
      </p:pic>
      <p:sp>
        <p:nvSpPr>
          <p:cNvPr id="19" name="Text 14"/>
          <p:cNvSpPr txBox="1"/>
          <p:nvPr/>
        </p:nvSpPr>
        <p:spPr>
          <a:xfrm>
            <a:off x="6318504"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Edge Gateway</a:t>
            </a:r>
            <a:endParaRPr lang="en-US" sz="1600" dirty="0"/>
          </a:p>
        </p:txBody>
      </p:sp>
      <p:sp>
        <p:nvSpPr>
          <p:cNvPr id="20" name="Text 15"/>
          <p:cNvSpPr txBox="1"/>
          <p:nvPr/>
        </p:nvSpPr>
        <p:spPr>
          <a:xfrm>
            <a:off x="6318504"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센서 데이터와 로컬 통신</a:t>
            </a:r>
            <a:endParaRPr lang="en-US" sz="1300" dirty="0"/>
          </a:p>
        </p:txBody>
      </p:sp>
      <p:sp>
        <p:nvSpPr>
          <p:cNvPr id="21" name="link"/>
          <p:cNvSpPr/>
          <p:nvPr/>
        </p:nvSpPr>
        <p:spPr>
          <a:xfrm>
            <a:off x="8284464" y="2240280"/>
            <a:ext cx="1627632" cy="0"/>
          </a:xfrm>
          <a:prstGeom prst="line">
            <a:avLst/>
          </a:prstGeom>
          <a:noFill/>
          <a:ln w="19050">
            <a:solidFill>
              <a:srgbClr val="0B1F3A"/>
            </a:solidFill>
            <a:prstDash val="solid"/>
            <a:headEnd type="triangle"/>
            <a:tailEnd type="triangle"/>
          </a:ln>
        </p:spPr>
        <p:txBody>
          <a:bodyPr/>
          <a:lstStyle/>
          <a:p>
            <a:endParaRPr lang="ko-KR" altLang="en-US"/>
          </a:p>
        </p:txBody>
      </p:sp>
      <p:sp>
        <p:nvSpPr>
          <p:cNvPr id="22" name="Text 17"/>
          <p:cNvSpPr txBox="1"/>
          <p:nvPr/>
        </p:nvSpPr>
        <p:spPr>
          <a:xfrm>
            <a:off x="8284464" y="1874520"/>
            <a:ext cx="1627632" cy="292608"/>
          </a:xfrm>
          <a:prstGeom prst="rect">
            <a:avLst/>
          </a:prstGeom>
          <a:noFill/>
          <a:ln/>
        </p:spPr>
        <p:txBody>
          <a:bodyPr wrap="square" lIns="0" tIns="0" rIns="0" bIns="0" rtlCol="0" anchor="ctr"/>
          <a:lstStyle/>
          <a:p>
            <a:pPr marL="0" indent="0" algn="ctr">
              <a:buNone/>
            </a:pPr>
            <a:r>
              <a:rPr lang="en-US" sz="1200" b="1" dirty="0">
                <a:solidFill>
                  <a:srgbClr val="0B1F3A"/>
                </a:solidFill>
              </a:rPr>
              <a:t>차량 내부 보안 Wi-Fi</a:t>
            </a:r>
            <a:endParaRPr lang="en-US" sz="1200" dirty="0"/>
          </a:p>
        </p:txBody>
      </p:sp>
      <p:sp>
        <p:nvSpPr>
          <p:cNvPr id="23" name="node"/>
          <p:cNvSpPr/>
          <p:nvPr/>
        </p:nvSpPr>
        <p:spPr>
          <a:xfrm>
            <a:off x="10003536" y="1691640"/>
            <a:ext cx="1097280" cy="1097280"/>
          </a:xfrm>
          <a:prstGeom prst="ellipse">
            <a:avLst/>
          </a:prstGeom>
          <a:solidFill>
            <a:srgbClr val="0B1F3A"/>
          </a:solidFill>
          <a:ln w="12700">
            <a:solidFill>
              <a:srgbClr val="0B1F3A"/>
            </a:solidFill>
            <a:prstDash val="solid"/>
          </a:ln>
        </p:spPr>
        <p:txBody>
          <a:bodyPr/>
          <a:lstStyle/>
          <a:p>
            <a:endParaRPr lang="ko-KR" altLang="en-US"/>
          </a:p>
        </p:txBody>
      </p:sp>
      <p:pic>
        <p:nvPicPr>
          <p:cNvPr id="24" name="icon_glasses_w" descr="/Users/seohogyun/Documents/git_workspace/pv5-hose-lab/groundwatch/images/ico_glasses_w.png"/>
          <p:cNvPicPr>
            <a:picLocks noChangeAspect="1"/>
          </p:cNvPicPr>
          <p:nvPr/>
        </p:nvPicPr>
        <p:blipFill>
          <a:blip r:embed="rId6"/>
          <a:stretch>
            <a:fillRect/>
          </a:stretch>
        </p:blipFill>
        <p:spPr>
          <a:xfrm>
            <a:off x="10250424" y="1938528"/>
            <a:ext cx="603504" cy="603504"/>
          </a:xfrm>
          <a:prstGeom prst="rect">
            <a:avLst/>
          </a:prstGeom>
        </p:spPr>
      </p:pic>
      <p:sp>
        <p:nvSpPr>
          <p:cNvPr id="25" name="Text 19"/>
          <p:cNvSpPr txBox="1"/>
          <p:nvPr/>
        </p:nvSpPr>
        <p:spPr>
          <a:xfrm>
            <a:off x="9226296" y="2880360"/>
            <a:ext cx="2651760" cy="347472"/>
          </a:xfrm>
          <a:prstGeom prst="rect">
            <a:avLst/>
          </a:prstGeom>
          <a:noFill/>
          <a:ln/>
        </p:spPr>
        <p:txBody>
          <a:bodyPr wrap="square" lIns="0" tIns="0" rIns="0" bIns="0" rtlCol="0" anchor="ctr"/>
          <a:lstStyle/>
          <a:p>
            <a:pPr marL="0" indent="0" algn="ctr">
              <a:buNone/>
            </a:pPr>
            <a:r>
              <a:rPr lang="en-US" sz="1600" b="1" dirty="0">
                <a:solidFill>
                  <a:srgbClr val="101828"/>
                </a:solidFill>
              </a:rPr>
              <a:t>AR 글래스</a:t>
            </a:r>
            <a:endParaRPr lang="en-US" sz="1600" dirty="0"/>
          </a:p>
        </p:txBody>
      </p:sp>
      <p:sp>
        <p:nvSpPr>
          <p:cNvPr id="26" name="Text 20"/>
          <p:cNvSpPr txBox="1"/>
          <p:nvPr/>
        </p:nvSpPr>
        <p:spPr>
          <a:xfrm>
            <a:off x="9226296" y="3227832"/>
            <a:ext cx="2651760" cy="320040"/>
          </a:xfrm>
          <a:prstGeom prst="rect">
            <a:avLst/>
          </a:prstGeom>
          <a:noFill/>
          <a:ln/>
        </p:spPr>
        <p:txBody>
          <a:bodyPr wrap="square" lIns="0" tIns="0" rIns="0" bIns="0" rtlCol="0" anchor="ctr"/>
          <a:lstStyle/>
          <a:p>
            <a:pPr marL="0" indent="0" algn="ctr">
              <a:buNone/>
            </a:pPr>
            <a:r>
              <a:rPr lang="en-US" sz="1300" dirty="0">
                <a:solidFill>
                  <a:srgbClr val="5B6573"/>
                </a:solidFill>
              </a:rPr>
              <a:t>위치 정합과 수동 탐사 안내</a:t>
            </a:r>
            <a:endParaRPr lang="en-US" sz="1300" dirty="0"/>
          </a:p>
        </p:txBody>
      </p:sp>
      <p:sp>
        <p:nvSpPr>
          <p:cNvPr id="27" name="rule"/>
          <p:cNvSpPr/>
          <p:nvPr/>
        </p:nvSpPr>
        <p:spPr>
          <a:xfrm>
            <a:off x="548640" y="3840480"/>
            <a:ext cx="11094415" cy="0"/>
          </a:xfrm>
          <a:prstGeom prst="line">
            <a:avLst/>
          </a:prstGeom>
          <a:noFill/>
          <a:ln w="12700">
            <a:solidFill>
              <a:srgbClr val="DCE1E8"/>
            </a:solidFill>
            <a:prstDash val="solid"/>
          </a:ln>
        </p:spPr>
        <p:txBody>
          <a:bodyPr/>
          <a:lstStyle/>
          <a:p>
            <a:endParaRPr lang="ko-KR" altLang="en-US"/>
          </a:p>
        </p:txBody>
      </p:sp>
      <p:sp>
        <p:nvSpPr>
          <p:cNvPr id="28" name="Text 22"/>
          <p:cNvSpPr txBox="1"/>
          <p:nvPr/>
        </p:nvSpPr>
        <p:spPr>
          <a:xfrm>
            <a:off x="54864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글래스로 보내는 정보</a:t>
            </a:r>
            <a:endParaRPr lang="en-US" sz="1700" dirty="0"/>
          </a:p>
        </p:txBody>
      </p:sp>
      <p:sp>
        <p:nvSpPr>
          <p:cNvPr id="29" name="Text 23"/>
          <p:cNvSpPr txBox="1"/>
          <p:nvPr/>
        </p:nvSpPr>
        <p:spPr>
          <a:xfrm>
            <a:off x="54864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작업 ID, 재확인 좌표, 안전 정차 위치, 탐사 경로, 검색 범위, 추정 깊이, 변화량, AI 신뢰도, 위치 오차, 기준점, 재탐사 방향과 횟수</a:t>
            </a:r>
            <a:endParaRPr lang="en-US" sz="1400" dirty="0"/>
          </a:p>
        </p:txBody>
      </p:sp>
      <p:sp>
        <p:nvSpPr>
          <p:cNvPr id="30" name="Text 24"/>
          <p:cNvSpPr txBox="1"/>
          <p:nvPr/>
        </p:nvSpPr>
        <p:spPr>
          <a:xfrm>
            <a:off x="434340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글래스가 돌려보내는 정보</a:t>
            </a:r>
            <a:endParaRPr lang="en-US" sz="1700" dirty="0"/>
          </a:p>
        </p:txBody>
      </p:sp>
      <p:sp>
        <p:nvSpPr>
          <p:cNvPr id="31" name="Text 25"/>
          <p:cNvSpPr txBox="1"/>
          <p:nvPr/>
        </p:nvSpPr>
        <p:spPr>
          <a:xfrm>
            <a:off x="434340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기준점 인식 결과, 위치 보정 정확도, 재탐사 시작과 종료, 완료 경로, 음성 메모, 현장 사진, 이상 위치 표시, 추가 조사 요청</a:t>
            </a:r>
            <a:endParaRPr lang="en-US" sz="1400" dirty="0"/>
          </a:p>
        </p:txBody>
      </p:sp>
      <p:sp>
        <p:nvSpPr>
          <p:cNvPr id="32" name="Text 26"/>
          <p:cNvSpPr txBox="1"/>
          <p:nvPr/>
        </p:nvSpPr>
        <p:spPr>
          <a:xfrm>
            <a:off x="8138160" y="4023360"/>
            <a:ext cx="3520440" cy="347472"/>
          </a:xfrm>
          <a:prstGeom prst="rect">
            <a:avLst/>
          </a:prstGeom>
          <a:noFill/>
          <a:ln/>
        </p:spPr>
        <p:txBody>
          <a:bodyPr wrap="square" lIns="0" tIns="0" rIns="0" bIns="0" rtlCol="0" anchor="t"/>
          <a:lstStyle/>
          <a:p>
            <a:pPr marL="0" indent="0">
              <a:buNone/>
            </a:pPr>
            <a:r>
              <a:rPr lang="en-US" sz="1700" b="1" dirty="0">
                <a:solidFill>
                  <a:srgbClr val="101828"/>
                </a:solidFill>
              </a:rPr>
              <a:t>통신 원칙</a:t>
            </a:r>
            <a:endParaRPr lang="en-US" sz="1700" dirty="0"/>
          </a:p>
        </p:txBody>
      </p:sp>
      <p:sp>
        <p:nvSpPr>
          <p:cNvPr id="33" name="Text 27"/>
          <p:cNvSpPr txBox="1"/>
          <p:nvPr/>
        </p:nvSpPr>
        <p:spPr>
          <a:xfrm>
            <a:off x="8138160" y="4407408"/>
            <a:ext cx="3520440" cy="17373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 전용 Wi-Fi 또는 Wi-Fi Direct, MQTT나 WebSocket, TLS 암호화, 기기 인증과 사용자 권한, QR·일회용 코드로 최초 페어링, 오프라인 우선, Bluetooth는 보조</a:t>
            </a:r>
            <a:endParaRPr lang="en-US" sz="1400" dirty="0"/>
          </a:p>
        </p:txBody>
      </p:sp>
      <p:sp>
        <p:nvSpPr>
          <p:cNvPr id="34"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통신 구조는 제안안입니다. 통신 지연과 끊김 시 동작은 [실증 필요]</a:t>
            </a:r>
            <a:endParaRPr lang="en-US" sz="1000" dirty="0"/>
          </a:p>
        </p:txBody>
      </p:sp>
      <p:sp>
        <p:nvSpPr>
          <p:cNvPr id="3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#8 AR 위치 보정</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작업자는 고정된 기준점을 인식해 지하 데이터의 위치를 맞춘다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AR 글래스는 PV5가 안전하게 정차하고 작업자가 내린 뒤에만 켭니다. 운전자는 주행 중 착용하지 않습니다.</a:t>
            </a:r>
            <a:endParaRPr lang="en-US" sz="1600" dirty="0"/>
          </a:p>
        </p:txBody>
      </p:sp>
      <p:pic>
        <p:nvPicPr>
          <p:cNvPr id="5" name="ar_calib" descr="/Users/seohogyun/Documents/git_workspace/pv5-hose-lab/groundwatch/images/ar_calib.png"/>
          <p:cNvPicPr>
            <a:picLocks noChangeAspect="1"/>
          </p:cNvPicPr>
          <p:nvPr/>
        </p:nvPicPr>
        <p:blipFill>
          <a:blip r:embed="rId3"/>
          <a:stretch>
            <a:fillRect/>
          </a:stretch>
        </p:blipFill>
        <p:spPr>
          <a:xfrm>
            <a:off x="548640" y="1556632"/>
            <a:ext cx="7315200" cy="3872753"/>
          </a:xfrm>
          <a:prstGeom prst="rect">
            <a:avLst/>
          </a:prstGeom>
        </p:spPr>
      </p:pic>
      <p:sp>
        <p:nvSpPr>
          <p:cNvPr id="6" name="step"/>
          <p:cNvSpPr txBox="1"/>
          <p:nvPr/>
        </p:nvSpPr>
        <p:spPr>
          <a:xfrm>
            <a:off x="8092440" y="155448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4"/>
          <p:cNvSpPr txBox="1"/>
          <p:nvPr/>
        </p:nvSpPr>
        <p:spPr>
          <a:xfrm>
            <a:off x="8549640" y="151790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정차 확인 후 앱에서 현장 정밀점검 시작</a:t>
            </a:r>
            <a:endParaRPr lang="en-US" sz="1300" dirty="0"/>
          </a:p>
        </p:txBody>
      </p:sp>
      <p:sp>
        <p:nvSpPr>
          <p:cNvPr id="8" name="step"/>
          <p:cNvSpPr txBox="1"/>
          <p:nvPr/>
        </p:nvSpPr>
        <p:spPr>
          <a:xfrm>
            <a:off x="8092440" y="21031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9" name="Text 6"/>
          <p:cNvSpPr txBox="1"/>
          <p:nvPr/>
        </p:nvSpPr>
        <p:spPr>
          <a:xfrm>
            <a:off x="8549640" y="206654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작업 패키지가 Edge Gateway로 전송</a:t>
            </a:r>
            <a:endParaRPr lang="en-US" sz="1300" dirty="0"/>
          </a:p>
        </p:txBody>
      </p:sp>
      <p:sp>
        <p:nvSpPr>
          <p:cNvPr id="10" name="step"/>
          <p:cNvSpPr txBox="1"/>
          <p:nvPr/>
        </p:nvSpPr>
        <p:spPr>
          <a:xfrm>
            <a:off x="8092440" y="265176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1" name="Text 8"/>
          <p:cNvSpPr txBox="1"/>
          <p:nvPr/>
        </p:nvSpPr>
        <p:spPr>
          <a:xfrm>
            <a:off x="8549640" y="261518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작업자가 글래스 착용, 보안 Wi-Fi 자동 연결</a:t>
            </a:r>
            <a:endParaRPr lang="en-US" sz="1300" dirty="0"/>
          </a:p>
        </p:txBody>
      </p:sp>
      <p:sp>
        <p:nvSpPr>
          <p:cNvPr id="12" name="step"/>
          <p:cNvSpPr txBox="1"/>
          <p:nvPr/>
        </p:nvSpPr>
        <p:spPr>
          <a:xfrm>
            <a:off x="8092440" y="320040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3" name="Text 10"/>
          <p:cNvSpPr txBox="1"/>
          <p:nvPr/>
        </p:nvSpPr>
        <p:spPr>
          <a:xfrm>
            <a:off x="8549640" y="3163824"/>
            <a:ext cx="3108960" cy="402336"/>
          </a:xfrm>
          <a:prstGeom prst="rect">
            <a:avLst/>
          </a:prstGeom>
          <a:noFill/>
          <a:ln/>
        </p:spPr>
        <p:txBody>
          <a:bodyPr wrap="square" lIns="0" tIns="0" rIns="0" bIns="0" rtlCol="0" anchor="ctr"/>
          <a:lstStyle/>
          <a:p>
            <a:pPr marL="0" indent="0">
              <a:buNone/>
            </a:pPr>
            <a:r>
              <a:rPr lang="en-US" sz="1300" dirty="0">
                <a:solidFill>
                  <a:srgbClr val="101828"/>
                </a:solidFill>
              </a:rPr>
              <a:t>맨홀 중심 인식</a:t>
            </a:r>
            <a:endParaRPr lang="en-US" sz="1300" dirty="0"/>
          </a:p>
        </p:txBody>
      </p:sp>
      <p:sp>
        <p:nvSpPr>
          <p:cNvPr id="14" name="step"/>
          <p:cNvSpPr txBox="1"/>
          <p:nvPr/>
        </p:nvSpPr>
        <p:spPr>
          <a:xfrm>
            <a:off x="8092440" y="374904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5" name="Text 12"/>
          <p:cNvSpPr txBox="1"/>
          <p:nvPr/>
        </p:nvSpPr>
        <p:spPr>
          <a:xfrm>
            <a:off x="8549640" y="3712464"/>
            <a:ext cx="3108960" cy="402336"/>
          </a:xfrm>
          <a:prstGeom prst="rect">
            <a:avLst/>
          </a:prstGeom>
          <a:noFill/>
          <a:ln/>
        </p:spPr>
        <p:txBody>
          <a:bodyPr wrap="square" lIns="0" tIns="0" rIns="0" bIns="0" rtlCol="0" anchor="ctr"/>
          <a:lstStyle/>
          <a:p>
            <a:pPr marL="0" indent="0">
              <a:buNone/>
            </a:pPr>
            <a:r>
              <a:rPr lang="en-US" sz="1300" dirty="0">
                <a:solidFill>
                  <a:srgbClr val="101828"/>
                </a:solidFill>
              </a:rPr>
              <a:t>도로 경계석과 차선 모서리 인식</a:t>
            </a:r>
            <a:endParaRPr lang="en-US" sz="1300" dirty="0"/>
          </a:p>
        </p:txBody>
      </p:sp>
      <p:sp>
        <p:nvSpPr>
          <p:cNvPr id="16" name="step"/>
          <p:cNvSpPr txBox="1"/>
          <p:nvPr/>
        </p:nvSpPr>
        <p:spPr>
          <a:xfrm>
            <a:off x="8092440" y="429768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17" name="Text 14"/>
          <p:cNvSpPr txBox="1"/>
          <p:nvPr/>
        </p:nvSpPr>
        <p:spPr>
          <a:xfrm>
            <a:off x="8549640" y="4261104"/>
            <a:ext cx="3108960" cy="402336"/>
          </a:xfrm>
          <a:prstGeom prst="rect">
            <a:avLst/>
          </a:prstGeom>
          <a:noFill/>
          <a:ln/>
        </p:spPr>
        <p:txBody>
          <a:bodyPr wrap="square" lIns="0" tIns="0" rIns="0" bIns="0" rtlCol="0" anchor="ctr"/>
          <a:lstStyle/>
          <a:p>
            <a:pPr marL="0" indent="0">
              <a:buNone/>
            </a:pPr>
            <a:r>
              <a:rPr lang="en-US" sz="1300" dirty="0">
                <a:solidFill>
                  <a:srgbClr val="101828"/>
                </a:solidFill>
              </a:rPr>
              <a:t>RTK 좌표와 시각 기준점 결합</a:t>
            </a:r>
            <a:endParaRPr lang="en-US" sz="1300" dirty="0"/>
          </a:p>
        </p:txBody>
      </p:sp>
      <p:sp>
        <p:nvSpPr>
          <p:cNvPr id="18" name="step"/>
          <p:cNvSpPr txBox="1"/>
          <p:nvPr/>
        </p:nvSpPr>
        <p:spPr>
          <a:xfrm>
            <a:off x="8092440" y="48463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19" name="Text 16"/>
          <p:cNvSpPr txBox="1"/>
          <p:nvPr/>
        </p:nvSpPr>
        <p:spPr>
          <a:xfrm>
            <a:off x="8549640" y="4809744"/>
            <a:ext cx="3108960" cy="402336"/>
          </a:xfrm>
          <a:prstGeom prst="rect">
            <a:avLst/>
          </a:prstGeom>
          <a:noFill/>
          <a:ln/>
        </p:spPr>
        <p:txBody>
          <a:bodyPr wrap="square" lIns="0" tIns="0" rIns="0" bIns="0" rtlCol="0" anchor="ctr"/>
          <a:lstStyle/>
          <a:p>
            <a:pPr marL="0" indent="0">
              <a:buNone/>
            </a:pPr>
            <a:r>
              <a:rPr lang="en-US" sz="1300" dirty="0">
                <a:solidFill>
                  <a:srgbClr val="101828"/>
                </a:solidFill>
              </a:rPr>
              <a:t>위치 오차가 기준 이내면 보정 완료</a:t>
            </a:r>
            <a:endParaRPr lang="en-US" sz="1300" dirty="0"/>
          </a:p>
        </p:txBody>
      </p:sp>
      <p:sp>
        <p:nvSpPr>
          <p:cNvPr id="20" name="bubble"/>
          <p:cNvSpPr txBox="1"/>
          <p:nvPr/>
        </p:nvSpPr>
        <p:spPr>
          <a:xfrm>
            <a:off x="548640" y="5577840"/>
            <a:ext cx="6400800" cy="658368"/>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맨홀 하나로 위치를 확정하지 않습니다. 맨홀, 경계석, 차선, RTK 중 2~3개를 결합합니다</a:t>
            </a:r>
            <a:endParaRPr lang="en-US" sz="1400" dirty="0"/>
          </a:p>
        </p:txBody>
      </p:sp>
      <p:sp>
        <p:nvSpPr>
          <p:cNvPr id="21" name="Text 18"/>
          <p:cNvSpPr txBox="1"/>
          <p:nvPr/>
        </p:nvSpPr>
        <p:spPr>
          <a:xfrm>
            <a:off x="7178040" y="5577840"/>
            <a:ext cx="4462272" cy="658368"/>
          </a:xfrm>
          <a:prstGeom prst="rect">
            <a:avLst/>
          </a:prstGeom>
          <a:noFill/>
          <a:ln/>
        </p:spPr>
        <p:txBody>
          <a:bodyPr wrap="square" lIns="0" tIns="0" rIns="0" bIns="0" rtlCol="0" anchor="ctr"/>
          <a:lstStyle/>
          <a:p>
            <a:pPr marL="0" indent="0">
              <a:buNone/>
            </a:pPr>
            <a:r>
              <a:rPr lang="en-US" sz="1200" dirty="0">
                <a:solidFill>
                  <a:srgbClr val="5B6573"/>
                </a:solidFill>
              </a:rPr>
              <a:t>기준 후보: 맨홀 중심, 차선 모서리, 경계석, 고정 표지판, 건물 모서리, 현장 기준 마커, RTK-GNSS</a:t>
            </a:r>
            <a:endParaRPr lang="en-US" sz="12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AR 화면은 목업입니다. 위치 오차 기준과 야간 인식 성능은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#9 AR 재탐사</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AR이 표시한 검색 범위를 따라 양손으로 수동 GPR을 조작한다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AR은 공동의 실제 모양이 아니라, AI가 지정한 재탐사 검색 범위를 도로 위에 맞춰 보여줍니다.</a:t>
            </a:r>
            <a:endParaRPr lang="en-US" sz="1600" dirty="0"/>
          </a:p>
        </p:txBody>
      </p:sp>
      <p:pic>
        <p:nvPicPr>
          <p:cNvPr id="5" name="ar_scan" descr="/Users/seohogyun/Documents/git_workspace/pv5-hose-lab/groundwatch/images/ar_scan.png"/>
          <p:cNvPicPr>
            <a:picLocks noChangeAspect="1"/>
          </p:cNvPicPr>
          <p:nvPr/>
        </p:nvPicPr>
        <p:blipFill>
          <a:blip r:embed="rId3"/>
          <a:stretch>
            <a:fillRect/>
          </a:stretch>
        </p:blipFill>
        <p:spPr>
          <a:xfrm>
            <a:off x="548640" y="1556632"/>
            <a:ext cx="7315200" cy="3872753"/>
          </a:xfrm>
          <a:prstGeom prst="rect">
            <a:avLst/>
          </a:prstGeom>
        </p:spPr>
      </p:pic>
      <p:sp>
        <p:nvSpPr>
          <p:cNvPr id="6" name="Text 3"/>
          <p:cNvSpPr txBox="1"/>
          <p:nvPr/>
        </p:nvSpPr>
        <p:spPr>
          <a:xfrm>
            <a:off x="8092440" y="1554480"/>
            <a:ext cx="3547872" cy="347472"/>
          </a:xfrm>
          <a:prstGeom prst="rect">
            <a:avLst/>
          </a:prstGeom>
          <a:noFill/>
          <a:ln/>
        </p:spPr>
        <p:txBody>
          <a:bodyPr wrap="square" lIns="0" tIns="0" rIns="0" bIns="0" rtlCol="0" anchor="ctr"/>
          <a:lstStyle/>
          <a:p>
            <a:pPr marL="0" indent="0">
              <a:buNone/>
            </a:pPr>
            <a:r>
              <a:rPr lang="en-US" sz="1600" b="1" dirty="0">
                <a:solidFill>
                  <a:srgbClr val="101828"/>
                </a:solidFill>
              </a:rPr>
              <a:t>화면에 보이는 것</a:t>
            </a:r>
            <a:endParaRPr lang="en-US" sz="1600" dirty="0"/>
          </a:p>
        </p:txBody>
      </p:sp>
      <p:sp>
        <p:nvSpPr>
          <p:cNvPr id="7" name="Text 4"/>
          <p:cNvSpPr txBox="1"/>
          <p:nvPr/>
        </p:nvSpPr>
        <p:spPr>
          <a:xfrm>
            <a:off x="8092440" y="1938528"/>
            <a:ext cx="3547872"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5B6573"/>
                </a:solidFill>
              </a:rPr>
              <a:t>탐사 시작점과 종료점</a:t>
            </a:r>
            <a:endParaRPr lang="en-US" sz="1400" dirty="0"/>
          </a:p>
          <a:p>
            <a:pPr marL="342900" indent="-342900">
              <a:spcAft>
                <a:spcPts val="500"/>
              </a:spcAft>
              <a:buSzPct val="100000"/>
              <a:buChar char="•"/>
            </a:pPr>
            <a:r>
              <a:rPr lang="en-US" sz="1400" dirty="0">
                <a:solidFill>
                  <a:srgbClr val="5B6573"/>
                </a:solidFill>
              </a:rPr>
              <a:t>진행 방향과 반복 횟수</a:t>
            </a:r>
            <a:endParaRPr lang="en-US" sz="1400" dirty="0"/>
          </a:p>
          <a:p>
            <a:pPr marL="342900" indent="-342900">
              <a:spcAft>
                <a:spcPts val="500"/>
              </a:spcAft>
              <a:buSzPct val="100000"/>
              <a:buChar char="•"/>
            </a:pPr>
            <a:r>
              <a:rPr lang="en-US" sz="1400" dirty="0">
                <a:solidFill>
                  <a:srgbClr val="5B6573"/>
                </a:solidFill>
              </a:rPr>
              <a:t>추정 깊이와 이전 대비 변화량</a:t>
            </a:r>
            <a:endParaRPr lang="en-US" sz="1400" dirty="0"/>
          </a:p>
          <a:p>
            <a:pPr marL="342900" indent="-342900">
              <a:spcAft>
                <a:spcPts val="500"/>
              </a:spcAft>
              <a:buSzPct val="100000"/>
              <a:buChar char="•"/>
            </a:pPr>
            <a:r>
              <a:rPr lang="en-US" sz="1400" dirty="0">
                <a:solidFill>
                  <a:srgbClr val="5B6573"/>
                </a:solidFill>
              </a:rPr>
              <a:t>위치 오차와 AI 신뢰도</a:t>
            </a:r>
            <a:endParaRPr lang="en-US" sz="1400" dirty="0"/>
          </a:p>
        </p:txBody>
      </p:sp>
      <p:pic>
        <p:nvPicPr>
          <p:cNvPr id="8" name="icon_mic" descr="/Users/seohogyun/Documents/git_workspace/pv5-hose-lab/groundwatch/images/ico_mic.png"/>
          <p:cNvPicPr>
            <a:picLocks noChangeAspect="1"/>
          </p:cNvPicPr>
          <p:nvPr/>
        </p:nvPicPr>
        <p:blipFill>
          <a:blip r:embed="rId4"/>
          <a:stretch>
            <a:fillRect/>
          </a:stretch>
        </p:blipFill>
        <p:spPr>
          <a:xfrm>
            <a:off x="8092440" y="3520440"/>
            <a:ext cx="365760" cy="365760"/>
          </a:xfrm>
          <a:prstGeom prst="rect">
            <a:avLst/>
          </a:prstGeom>
        </p:spPr>
      </p:pic>
      <p:sp>
        <p:nvSpPr>
          <p:cNvPr id="9" name="Text 5"/>
          <p:cNvSpPr txBox="1"/>
          <p:nvPr/>
        </p:nvSpPr>
        <p:spPr>
          <a:xfrm>
            <a:off x="8549640" y="3520440"/>
            <a:ext cx="3017520" cy="365760"/>
          </a:xfrm>
          <a:prstGeom prst="rect">
            <a:avLst/>
          </a:prstGeom>
          <a:noFill/>
          <a:ln/>
        </p:spPr>
        <p:txBody>
          <a:bodyPr wrap="square" lIns="0" tIns="0" rIns="0" bIns="0" rtlCol="0" anchor="ctr"/>
          <a:lstStyle/>
          <a:p>
            <a:pPr marL="0" indent="0">
              <a:buNone/>
            </a:pPr>
            <a:r>
              <a:rPr lang="en-US" sz="1600" b="1" dirty="0">
                <a:solidFill>
                  <a:srgbClr val="101828"/>
                </a:solidFill>
              </a:rPr>
              <a:t>음성으로 실행</a:t>
            </a:r>
            <a:endParaRPr lang="en-US" sz="1600" dirty="0"/>
          </a:p>
        </p:txBody>
      </p:sp>
      <p:sp>
        <p:nvSpPr>
          <p:cNvPr id="10" name="Text 6"/>
          <p:cNvSpPr txBox="1"/>
          <p:nvPr/>
        </p:nvSpPr>
        <p:spPr>
          <a:xfrm>
            <a:off x="8092440" y="3950208"/>
            <a:ext cx="3547872" cy="868680"/>
          </a:xfrm>
          <a:prstGeom prst="rect">
            <a:avLst/>
          </a:prstGeom>
          <a:noFill/>
          <a:ln/>
        </p:spPr>
        <p:txBody>
          <a:bodyPr wrap="square" lIns="0" tIns="0" rIns="0" bIns="0" rtlCol="0" anchor="t"/>
          <a:lstStyle/>
          <a:p>
            <a:pPr marL="0" indent="0">
              <a:buNone/>
            </a:pPr>
            <a:r>
              <a:rPr lang="en-US" sz="1400" dirty="0">
                <a:solidFill>
                  <a:srgbClr val="5B6573"/>
                </a:solidFill>
              </a:rPr>
              <a:t>재탐사 시작, 이상 위치 표시, 사진 촬영, 음성 메모, 재탐사 완료, 추가 조사 요청</a:t>
            </a:r>
            <a:endParaRPr lang="en-US" sz="1400" dirty="0"/>
          </a:p>
        </p:txBody>
      </p:sp>
      <p:sp>
        <p:nvSpPr>
          <p:cNvPr id="11" name="bubble"/>
          <p:cNvSpPr txBox="1"/>
          <p:nvPr/>
        </p:nvSpPr>
        <p:spPr>
          <a:xfrm>
            <a:off x="548640" y="5577840"/>
            <a:ext cx="3291840" cy="59436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두 손은 장비에, 눈은 도로에</a:t>
            </a:r>
            <a:endParaRPr lang="en-US" sz="1500" dirty="0"/>
          </a:p>
        </p:txBody>
      </p:sp>
      <p:sp>
        <p:nvSpPr>
          <p:cNvPr id="12" name="Text 8"/>
          <p:cNvSpPr txBox="1"/>
          <p:nvPr/>
        </p:nvSpPr>
        <p:spPr>
          <a:xfrm>
            <a:off x="4114800" y="5577840"/>
            <a:ext cx="7525512" cy="640080"/>
          </a:xfrm>
          <a:prstGeom prst="rect">
            <a:avLst/>
          </a:prstGeom>
          <a:noFill/>
          <a:ln/>
        </p:spPr>
        <p:txBody>
          <a:bodyPr wrap="square" lIns="0" tIns="0" rIns="0" bIns="0" rtlCol="0" anchor="ctr"/>
          <a:lstStyle/>
          <a:p>
            <a:pPr marL="0" indent="0">
              <a:buNone/>
            </a:pPr>
            <a:r>
              <a:rPr lang="en-US" sz="1300" b="1" dirty="0">
                <a:solidFill>
                  <a:srgbClr val="D93025"/>
                </a:solidFill>
              </a:rPr>
              <a:t>화면 아래에는 늘 경고를 띄웁니다. “GPR 기반 추정 위치입니다. 굴착 전 정밀조사와 관계기관 승인이 필요합니다.”</a:t>
            </a:r>
            <a:endParaRPr lang="en-US" sz="13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AR 화면 수치는 설명용 예시입니다. 검색 범위는 공동의 모양이 아니라 재탐사 영역입니다.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#10 교차검증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넓게 선별하고, 좁게 다른 방향으로 다시 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수동 GPR이 차량형보다 늘 더 깊게 보는 것은 아닙니다. 두 장비는 역할이 다릅니다.</a:t>
            </a:r>
            <a:endParaRPr lang="en-US" sz="1600" dirty="0"/>
          </a:p>
        </p:txBody>
      </p:sp>
      <p:pic>
        <p:nvPicPr>
          <p:cNvPr id="5" name="cross_check" descr="/Users/seohogyun/Documents/git_workspace/pv5-hose-lab/groundwatch/images/cross_check.png"/>
          <p:cNvPicPr>
            <a:picLocks noChangeAspect="1"/>
          </p:cNvPicPr>
          <p:nvPr/>
        </p:nvPicPr>
        <p:blipFill>
          <a:blip r:embed="rId3"/>
          <a:stretch>
            <a:fillRect/>
          </a:stretch>
        </p:blipFill>
        <p:spPr>
          <a:xfrm>
            <a:off x="548640" y="1554480"/>
            <a:ext cx="6949440" cy="3127248"/>
          </a:xfrm>
          <a:prstGeom prst="rect">
            <a:avLst/>
          </a:prstGeom>
        </p:spPr>
      </p:pic>
      <p:sp>
        <p:nvSpPr>
          <p:cNvPr id="6" name="dot"/>
          <p:cNvSpPr/>
          <p:nvPr/>
        </p:nvSpPr>
        <p:spPr>
          <a:xfrm>
            <a:off x="7818120" y="1645920"/>
            <a:ext cx="164592" cy="164592"/>
          </a:xfrm>
          <a:prstGeom prst="ellipse">
            <a:avLst/>
          </a:prstGeom>
          <a:solidFill>
            <a:srgbClr val="F5B400"/>
          </a:solidFill>
          <a:ln w="12700">
            <a:solidFill>
              <a:srgbClr val="F5B400"/>
            </a:solidFill>
            <a:prstDash val="solid"/>
          </a:ln>
        </p:spPr>
        <p:txBody>
          <a:bodyPr/>
          <a:lstStyle/>
          <a:p>
            <a:endParaRPr lang="ko-KR" altLang="en-US"/>
          </a:p>
        </p:txBody>
      </p:sp>
      <p:sp>
        <p:nvSpPr>
          <p:cNvPr id="7" name="Text 4"/>
          <p:cNvSpPr txBox="1"/>
          <p:nvPr/>
        </p:nvSpPr>
        <p:spPr>
          <a:xfrm>
            <a:off x="8092440" y="155448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차량형 다채널 GPR</a:t>
            </a:r>
            <a:endParaRPr lang="en-US" sz="1700" dirty="0"/>
          </a:p>
        </p:txBody>
      </p:sp>
      <p:sp>
        <p:nvSpPr>
          <p:cNvPr id="8" name="Text 5"/>
          <p:cNvSpPr txBox="1"/>
          <p:nvPr/>
        </p:nvSpPr>
        <p:spPr>
          <a:xfrm>
            <a:off x="8092440" y="193852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넓은 도로를 빠르게 선별합니다.</a:t>
            </a:r>
            <a:endParaRPr lang="en-US" sz="1400" dirty="0"/>
          </a:p>
        </p:txBody>
      </p:sp>
      <p:sp>
        <p:nvSpPr>
          <p:cNvPr id="9" name="dot"/>
          <p:cNvSpPr/>
          <p:nvPr/>
        </p:nvSpPr>
        <p:spPr>
          <a:xfrm>
            <a:off x="7818120" y="2697480"/>
            <a:ext cx="164592" cy="164592"/>
          </a:xfrm>
          <a:prstGeom prst="ellipse">
            <a:avLst/>
          </a:prstGeom>
          <a:solidFill>
            <a:srgbClr val="D93025"/>
          </a:solidFill>
          <a:ln w="12700">
            <a:solidFill>
              <a:srgbClr val="D93025"/>
            </a:solidFill>
            <a:prstDash val="solid"/>
          </a:ln>
        </p:spPr>
        <p:txBody>
          <a:bodyPr/>
          <a:lstStyle/>
          <a:p>
            <a:endParaRPr lang="ko-KR" altLang="en-US"/>
          </a:p>
        </p:txBody>
      </p:sp>
      <p:sp>
        <p:nvSpPr>
          <p:cNvPr id="10" name="Text 7"/>
          <p:cNvSpPr txBox="1"/>
          <p:nvPr/>
        </p:nvSpPr>
        <p:spPr>
          <a:xfrm>
            <a:off x="8092440" y="260604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지면 밀착형 수동 GPR</a:t>
            </a:r>
            <a:endParaRPr lang="en-US" sz="1700" dirty="0"/>
          </a:p>
        </p:txBody>
      </p:sp>
      <p:sp>
        <p:nvSpPr>
          <p:cNvPr id="11" name="Text 8"/>
          <p:cNvSpPr txBox="1"/>
          <p:nvPr/>
        </p:nvSpPr>
        <p:spPr>
          <a:xfrm>
            <a:off x="8092440" y="299008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좁은 범위를 다른 주파수와 방향으로 교차검증합니다.</a:t>
            </a:r>
            <a:endParaRPr lang="en-US" sz="1400" dirty="0"/>
          </a:p>
        </p:txBody>
      </p:sp>
      <p:sp>
        <p:nvSpPr>
          <p:cNvPr id="12" name="dot"/>
          <p:cNvSpPr/>
          <p:nvPr/>
        </p:nvSpPr>
        <p:spPr>
          <a:xfrm>
            <a:off x="7818120" y="3749040"/>
            <a:ext cx="164592" cy="164592"/>
          </a:xfrm>
          <a:prstGeom prst="ellipse">
            <a:avLst/>
          </a:prstGeom>
          <a:solidFill>
            <a:srgbClr val="0B1F3A"/>
          </a:solidFill>
          <a:ln w="12700">
            <a:solidFill>
              <a:srgbClr val="0B1F3A"/>
            </a:solidFill>
            <a:prstDash val="solid"/>
          </a:ln>
        </p:spPr>
        <p:txBody>
          <a:bodyPr/>
          <a:lstStyle/>
          <a:p>
            <a:endParaRPr lang="ko-KR" altLang="en-US"/>
          </a:p>
        </p:txBody>
      </p:sp>
      <p:sp>
        <p:nvSpPr>
          <p:cNvPr id="13" name="Text 10"/>
          <p:cNvSpPr txBox="1"/>
          <p:nvPr/>
        </p:nvSpPr>
        <p:spPr>
          <a:xfrm>
            <a:off x="8092440" y="3657600"/>
            <a:ext cx="3547872" cy="347472"/>
          </a:xfrm>
          <a:prstGeom prst="rect">
            <a:avLst/>
          </a:prstGeom>
          <a:noFill/>
          <a:ln/>
        </p:spPr>
        <p:txBody>
          <a:bodyPr wrap="square" lIns="0" tIns="0" rIns="0" bIns="0" rtlCol="0" anchor="t"/>
          <a:lstStyle/>
          <a:p>
            <a:pPr marL="0" indent="0">
              <a:buNone/>
            </a:pPr>
            <a:r>
              <a:rPr lang="en-US" sz="1700" b="1" dirty="0">
                <a:solidFill>
                  <a:srgbClr val="101828"/>
                </a:solidFill>
              </a:rPr>
              <a:t>내시경</a:t>
            </a:r>
            <a:endParaRPr lang="en-US" sz="1700" dirty="0"/>
          </a:p>
        </p:txBody>
      </p:sp>
      <p:sp>
        <p:nvSpPr>
          <p:cNvPr id="14" name="Text 11"/>
          <p:cNvSpPr txBox="1"/>
          <p:nvPr/>
        </p:nvSpPr>
        <p:spPr>
          <a:xfrm>
            <a:off x="8092440" y="4041648"/>
            <a:ext cx="354787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기존 맨홀이나 승인된 천공부에서 내부를 확인합니다.</a:t>
            </a:r>
            <a:endParaRPr lang="en-US" sz="1400" dirty="0"/>
          </a:p>
        </p:txBody>
      </p:sp>
      <p:sp>
        <p:nvSpPr>
          <p:cNvPr id="15" name="rule"/>
          <p:cNvSpPr/>
          <p:nvPr/>
        </p:nvSpPr>
        <p:spPr>
          <a:xfrm>
            <a:off x="548640" y="4937760"/>
            <a:ext cx="11094415" cy="0"/>
          </a:xfrm>
          <a:prstGeom prst="line">
            <a:avLst/>
          </a:prstGeom>
          <a:noFill/>
          <a:ln w="12700">
            <a:solidFill>
              <a:srgbClr val="DCE1E8"/>
            </a:solidFill>
            <a:prstDash val="solid"/>
          </a:ln>
        </p:spPr>
        <p:txBody>
          <a:bodyPr/>
          <a:lstStyle/>
          <a:p>
            <a:endParaRPr lang="ko-KR" altLang="en-US"/>
          </a:p>
        </p:txBody>
      </p:sp>
      <p:sp>
        <p:nvSpPr>
          <p:cNvPr id="16" name="Text 13"/>
          <p:cNvSpPr txBox="1"/>
          <p:nvPr/>
        </p:nvSpPr>
        <p:spPr>
          <a:xfrm>
            <a:off x="54864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AR 글래스와 수동 GPR을 함께 씁니다</a:t>
            </a:r>
            <a:endParaRPr lang="en-US" sz="1500" dirty="0"/>
          </a:p>
        </p:txBody>
      </p:sp>
      <p:sp>
        <p:nvSpPr>
          <p:cNvPr id="17" name="Text 14"/>
          <p:cNvSpPr txBox="1"/>
          <p:nvPr/>
        </p:nvSpPr>
        <p:spPr>
          <a:xfrm>
            <a:off x="434340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측정 결과는 Edge Gateway로 바로 보냅니다</a:t>
            </a:r>
            <a:endParaRPr lang="en-US" sz="1500" dirty="0"/>
          </a:p>
        </p:txBody>
      </p:sp>
      <p:sp>
        <p:nvSpPr>
          <p:cNvPr id="18" name="Text 15"/>
          <p:cNvSpPr txBox="1"/>
          <p:nvPr/>
        </p:nvSpPr>
        <p:spPr>
          <a:xfrm>
            <a:off x="8138160" y="5074920"/>
            <a:ext cx="3566160" cy="411480"/>
          </a:xfrm>
          <a:prstGeom prst="rect">
            <a:avLst/>
          </a:prstGeom>
          <a:noFill/>
          <a:ln/>
        </p:spPr>
        <p:txBody>
          <a:bodyPr wrap="square" lIns="0" tIns="0" rIns="0" bIns="0" rtlCol="0" anchor="ctr"/>
          <a:lstStyle/>
          <a:p>
            <a:pPr marL="0" indent="0">
              <a:buNone/>
            </a:pPr>
            <a:r>
              <a:rPr lang="en-US" sz="1500" b="1" dirty="0">
                <a:solidFill>
                  <a:srgbClr val="101828"/>
                </a:solidFill>
              </a:rPr>
              <a:t>차량형 결과와 같은 좌표계로 비교합니다</a:t>
            </a:r>
            <a:endParaRPr lang="en-US" sz="1500" dirty="0"/>
          </a:p>
        </p:txBody>
      </p:sp>
      <p:sp>
        <p:nvSpPr>
          <p:cNvPr id="19" name="bubble"/>
          <p:cNvSpPr txBox="1"/>
          <p:nvPr/>
        </p:nvSpPr>
        <p:spPr>
          <a:xfrm>
            <a:off x="548640" y="5623560"/>
            <a:ext cx="6400800" cy="566928"/>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다른 각도로 한 번 더 본 결과만 정밀조사 요청으로 올라갑니다</a:t>
            </a:r>
            <a:endParaRPr lang="en-US" sz="1400" dirty="0"/>
          </a:p>
        </p:txBody>
      </p:sp>
      <p:sp>
        <p:nvSpPr>
          <p:cNvPr id="20"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FHWA GPR 기술 설명(다중·스텝 주파수 안테나). 교차검증 효과는 [실증 필요]</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#11 결과 저장</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확인 결과는 지도와 AI로 돌아가 다음 판단을 더 정확하게 만든다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천공과 내시경은 관계기관 승인과 교통통제 뒤에만 합니다. 내시경만으로 차량이 공동을 바로 확정하지 않습니다.</a:t>
            </a:r>
            <a:endParaRPr lang="en-US" sz="1600" dirty="0"/>
          </a:p>
        </p:txBody>
      </p:sp>
      <p:sp>
        <p:nvSpPr>
          <p:cNvPr id="5" name="track"/>
          <p:cNvSpPr/>
          <p:nvPr/>
        </p:nvSpPr>
        <p:spPr>
          <a:xfrm>
            <a:off x="713232" y="1810512"/>
            <a:ext cx="9966960" cy="0"/>
          </a:xfrm>
          <a:prstGeom prst="line">
            <a:avLst/>
          </a:prstGeom>
          <a:noFill/>
          <a:ln w="25400">
            <a:solidFill>
              <a:srgbClr val="DCE1E8"/>
            </a:solidFill>
            <a:prstDash val="solid"/>
          </a:ln>
        </p:spPr>
        <p:txBody>
          <a:bodyPr/>
          <a:lstStyle/>
          <a:p>
            <a:endParaRPr lang="ko-KR" altLang="en-US"/>
          </a:p>
        </p:txBody>
      </p:sp>
      <p:sp>
        <p:nvSpPr>
          <p:cNvPr id="6" name="step"/>
          <p:cNvSpPr txBox="1"/>
          <p:nvPr/>
        </p:nvSpPr>
        <p:spPr>
          <a:xfrm>
            <a:off x="548640" y="1645920"/>
            <a:ext cx="329184" cy="329184"/>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1</a:t>
            </a:r>
            <a:endParaRPr lang="en-US" sz="1400" dirty="0"/>
          </a:p>
        </p:txBody>
      </p:sp>
      <p:sp>
        <p:nvSpPr>
          <p:cNvPr id="7" name="Text 5"/>
          <p:cNvSpPr txBox="1"/>
          <p:nvPr/>
        </p:nvSpPr>
        <p:spPr>
          <a:xfrm>
            <a:off x="5486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수동 GPR 재확인</a:t>
            </a:r>
            <a:endParaRPr lang="en-US" sz="1400" dirty="0"/>
          </a:p>
        </p:txBody>
      </p:sp>
      <p:sp>
        <p:nvSpPr>
          <p:cNvPr id="8" name="step"/>
          <p:cNvSpPr txBox="1"/>
          <p:nvPr/>
        </p:nvSpPr>
        <p:spPr>
          <a:xfrm>
            <a:off x="2148840" y="1645920"/>
            <a:ext cx="329184" cy="329184"/>
          </a:xfrm>
          <a:prstGeom prst="ellipse">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2</a:t>
            </a:r>
            <a:endParaRPr lang="en-US" sz="1400" dirty="0"/>
          </a:p>
        </p:txBody>
      </p:sp>
      <p:sp>
        <p:nvSpPr>
          <p:cNvPr id="9" name="Text 7"/>
          <p:cNvSpPr txBox="1"/>
          <p:nvPr/>
        </p:nvSpPr>
        <p:spPr>
          <a:xfrm>
            <a:off x="21488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공동 가능성 상향</a:t>
            </a:r>
            <a:endParaRPr lang="en-US" sz="1400" dirty="0"/>
          </a:p>
        </p:txBody>
      </p:sp>
      <p:sp>
        <p:nvSpPr>
          <p:cNvPr id="10" name="step"/>
          <p:cNvSpPr txBox="1"/>
          <p:nvPr/>
        </p:nvSpPr>
        <p:spPr>
          <a:xfrm>
            <a:off x="3749040" y="16459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1" name="Text 9"/>
          <p:cNvSpPr txBox="1"/>
          <p:nvPr/>
        </p:nvSpPr>
        <p:spPr>
          <a:xfrm>
            <a:off x="37490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정밀조사 요청</a:t>
            </a:r>
            <a:endParaRPr lang="en-US" sz="1400" dirty="0"/>
          </a:p>
        </p:txBody>
      </p:sp>
      <p:sp>
        <p:nvSpPr>
          <p:cNvPr id="12" name="step"/>
          <p:cNvSpPr txBox="1"/>
          <p:nvPr/>
        </p:nvSpPr>
        <p:spPr>
          <a:xfrm>
            <a:off x="5349240" y="1645920"/>
            <a:ext cx="329184" cy="329184"/>
          </a:xfrm>
          <a:prstGeom prst="ellipse">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3" name="Text 11"/>
          <p:cNvSpPr txBox="1"/>
          <p:nvPr/>
        </p:nvSpPr>
        <p:spPr>
          <a:xfrm>
            <a:off x="53492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도로관리기관 승인</a:t>
            </a:r>
            <a:endParaRPr lang="en-US" sz="1400" dirty="0"/>
          </a:p>
        </p:txBody>
      </p:sp>
      <p:sp>
        <p:nvSpPr>
          <p:cNvPr id="14" name="step"/>
          <p:cNvSpPr txBox="1"/>
          <p:nvPr/>
        </p:nvSpPr>
        <p:spPr>
          <a:xfrm>
            <a:off x="6949440" y="1645920"/>
            <a:ext cx="329184" cy="329184"/>
          </a:xfrm>
          <a:prstGeom prst="ellipse">
            <a:avLst/>
          </a:prstGeom>
          <a:solidFill>
            <a:srgbClr val="5B6573"/>
          </a:solidFill>
          <a:ln>
            <a:solidFill>
              <a:srgbClr val="5B6573"/>
            </a:solid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5" name="Text 13"/>
          <p:cNvSpPr txBox="1"/>
          <p:nvPr/>
        </p:nvSpPr>
        <p:spPr>
          <a:xfrm>
            <a:off x="69494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교통통제와 천공</a:t>
            </a:r>
            <a:endParaRPr lang="en-US" sz="1400" dirty="0"/>
          </a:p>
        </p:txBody>
      </p:sp>
      <p:sp>
        <p:nvSpPr>
          <p:cNvPr id="16" name="step"/>
          <p:cNvSpPr txBox="1"/>
          <p:nvPr/>
        </p:nvSpPr>
        <p:spPr>
          <a:xfrm>
            <a:off x="8549640" y="1645920"/>
            <a:ext cx="329184" cy="329184"/>
          </a:xfrm>
          <a:prstGeom prst="ellipse">
            <a:avLst/>
          </a:prstGeom>
          <a:solidFill>
            <a:srgbClr val="5B6573"/>
          </a:solidFill>
          <a:ln>
            <a:solidFill>
              <a:srgbClr val="5B6573"/>
            </a:solid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17" name="Text 15"/>
          <p:cNvSpPr txBox="1"/>
          <p:nvPr/>
        </p:nvSpPr>
        <p:spPr>
          <a:xfrm>
            <a:off x="85496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내시경 확인</a:t>
            </a:r>
            <a:endParaRPr lang="en-US" sz="1400" dirty="0"/>
          </a:p>
        </p:txBody>
      </p:sp>
      <p:sp>
        <p:nvSpPr>
          <p:cNvPr id="18" name="step"/>
          <p:cNvSpPr txBox="1"/>
          <p:nvPr/>
        </p:nvSpPr>
        <p:spPr>
          <a:xfrm>
            <a:off x="10149840" y="1645920"/>
            <a:ext cx="329184" cy="329184"/>
          </a:xfrm>
          <a:prstGeom prst="ellipse">
            <a:avLst/>
          </a:prstGeom>
          <a:solidFill>
            <a:srgbClr val="2F9E44"/>
          </a:solidFill>
          <a:ln>
            <a:solidFill>
              <a:srgbClr val="2F9E44"/>
            </a:solid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19" name="Text 17"/>
          <p:cNvSpPr txBox="1"/>
          <p:nvPr/>
        </p:nvSpPr>
        <p:spPr>
          <a:xfrm>
            <a:off x="10149840" y="2084832"/>
            <a:ext cx="1508760" cy="548640"/>
          </a:xfrm>
          <a:prstGeom prst="rect">
            <a:avLst/>
          </a:prstGeom>
          <a:noFill/>
          <a:ln/>
        </p:spPr>
        <p:txBody>
          <a:bodyPr wrap="square" lIns="0" tIns="0" rIns="0" bIns="0" rtlCol="0" anchor="t"/>
          <a:lstStyle/>
          <a:p>
            <a:pPr marL="0" indent="0">
              <a:buNone/>
            </a:pPr>
            <a:r>
              <a:rPr lang="en-US" sz="1400" b="1" dirty="0">
                <a:solidFill>
                  <a:srgbClr val="101828"/>
                </a:solidFill>
              </a:rPr>
              <a:t>복구 또는</a:t>
            </a:r>
            <a:endParaRPr lang="en-US" sz="1400" dirty="0"/>
          </a:p>
          <a:p>
            <a:pPr marL="0" indent="0">
              <a:buNone/>
            </a:pPr>
            <a:r>
              <a:rPr lang="en-US" sz="1400" b="1" dirty="0">
                <a:solidFill>
                  <a:srgbClr val="101828"/>
                </a:solidFill>
              </a:rPr>
              <a:t>지속 관찰</a:t>
            </a:r>
            <a:endParaRPr lang="en-US" sz="1400" dirty="0"/>
          </a:p>
        </p:txBody>
      </p:sp>
      <p:pic>
        <p:nvPicPr>
          <p:cNvPr id="20" name="method_scope" descr="/Users/seohogyun/Documents/git_workspace/pv5-hose-lab/groundwatch/images/method_scope.png"/>
          <p:cNvPicPr>
            <a:picLocks noChangeAspect="1"/>
          </p:cNvPicPr>
          <p:nvPr/>
        </p:nvPicPr>
        <p:blipFill>
          <a:blip r:embed="rId3"/>
          <a:stretch>
            <a:fillRect/>
          </a:stretch>
        </p:blipFill>
        <p:spPr>
          <a:xfrm>
            <a:off x="548640" y="2926080"/>
            <a:ext cx="4023360" cy="2414016"/>
          </a:xfrm>
          <a:prstGeom prst="rect">
            <a:avLst/>
          </a:prstGeom>
        </p:spPr>
      </p:pic>
      <p:sp>
        <p:nvSpPr>
          <p:cNvPr id="21" name="panel"/>
          <p:cNvSpPr/>
          <p:nvPr/>
        </p:nvSpPr>
        <p:spPr>
          <a:xfrm>
            <a:off x="4846320" y="2926080"/>
            <a:ext cx="6793992" cy="2414016"/>
          </a:xfrm>
          <a:prstGeom prst="roundRect">
            <a:avLst>
              <a:gd name="adj" fmla="val 2273"/>
            </a:avLst>
          </a:prstGeom>
          <a:solidFill>
            <a:srgbClr val="0A1628"/>
          </a:solidFill>
          <a:ln w="12700">
            <a:solidFill>
              <a:srgbClr val="0A1628"/>
            </a:solidFill>
            <a:prstDash val="solid"/>
          </a:ln>
        </p:spPr>
        <p:txBody>
          <a:bodyPr/>
          <a:lstStyle/>
          <a:p>
            <a:endParaRPr lang="ko-KR" altLang="en-US"/>
          </a:p>
        </p:txBody>
      </p:sp>
      <p:sp>
        <p:nvSpPr>
          <p:cNvPr id="22" name="Text 19"/>
          <p:cNvSpPr txBox="1"/>
          <p:nvPr/>
        </p:nvSpPr>
        <p:spPr>
          <a:xfrm>
            <a:off x="5120640" y="3108960"/>
            <a:ext cx="6309360" cy="384048"/>
          </a:xfrm>
          <a:prstGeom prst="rect">
            <a:avLst/>
          </a:prstGeom>
          <a:noFill/>
          <a:ln/>
        </p:spPr>
        <p:txBody>
          <a:bodyPr wrap="square" lIns="0" tIns="0" rIns="0" bIns="0" rtlCol="0" anchor="ctr"/>
          <a:lstStyle/>
          <a:p>
            <a:pPr marL="0" indent="0">
              <a:buNone/>
            </a:pPr>
            <a:r>
              <a:rPr lang="en-US" sz="1800" b="1" dirty="0">
                <a:solidFill>
                  <a:srgbClr val="F5B400"/>
                </a:solidFill>
              </a:rPr>
              <a:t>결과 저장과 학습 순환</a:t>
            </a:r>
            <a:endParaRPr lang="en-US" sz="1800" dirty="0"/>
          </a:p>
        </p:txBody>
      </p:sp>
      <p:sp>
        <p:nvSpPr>
          <p:cNvPr id="23" name="Text 20"/>
          <p:cNvSpPr txBox="1"/>
          <p:nvPr/>
        </p:nvSpPr>
        <p:spPr>
          <a:xfrm>
            <a:off x="5120640" y="3584448"/>
            <a:ext cx="630936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확인 결과와 보수 이력을 4D 지도의 해당 구간에 저장합니다</a:t>
            </a:r>
            <a:endParaRPr lang="en-US" sz="1500" dirty="0"/>
          </a:p>
          <a:p>
            <a:pPr marL="342900" indent="-342900">
              <a:spcAft>
                <a:spcPts val="600"/>
              </a:spcAft>
              <a:buSzPct val="100000"/>
              <a:buChar char="•"/>
            </a:pPr>
            <a:r>
              <a:rPr lang="en-US" sz="1500" dirty="0">
                <a:solidFill>
                  <a:srgbClr val="FFFFFF"/>
                </a:solidFill>
              </a:rPr>
              <a:t>AI 후보와 실제 확인 결과를 짝지어 검증 데이터로 쌓습니다</a:t>
            </a:r>
            <a:endParaRPr lang="en-US" sz="1500" dirty="0"/>
          </a:p>
          <a:p>
            <a:pPr marL="342900" indent="-342900">
              <a:spcAft>
                <a:spcPts val="600"/>
              </a:spcAft>
              <a:buSzPct val="100000"/>
              <a:buChar char="•"/>
            </a:pPr>
            <a:r>
              <a:rPr lang="en-US" sz="1500" dirty="0">
                <a:solidFill>
                  <a:srgbClr val="FFFFFF"/>
                </a:solidFill>
              </a:rPr>
              <a:t>오탐과 미탐 사례로 AI 성능을 점검하고 고칩니다</a:t>
            </a:r>
            <a:endParaRPr lang="en-US" sz="1500" dirty="0"/>
          </a:p>
          <a:p>
            <a:pPr marL="342900" indent="-342900">
              <a:spcAft>
                <a:spcPts val="600"/>
              </a:spcAft>
              <a:buSzPct val="100000"/>
              <a:buChar char="•"/>
            </a:pPr>
            <a:r>
              <a:rPr lang="en-US" sz="1500" dirty="0">
                <a:solidFill>
                  <a:srgbClr val="FFFFFF"/>
                </a:solidFill>
              </a:rPr>
              <a:t>보수 후 같은 구간을 다시 순찰해 재검증합니다</a:t>
            </a:r>
            <a:endParaRPr lang="en-US" sz="1500" dirty="0"/>
          </a:p>
        </p:txBody>
      </p:sp>
      <p:sp>
        <p:nvSpPr>
          <p:cNvPr id="24" name="arrow"/>
          <p:cNvSpPr/>
          <p:nvPr/>
        </p:nvSpPr>
        <p:spPr>
          <a:xfrm>
            <a:off x="8229600" y="5440680"/>
            <a:ext cx="914" cy="411480"/>
          </a:xfrm>
          <a:prstGeom prst="line">
            <a:avLst/>
          </a:prstGeom>
          <a:noFill/>
          <a:ln w="25400">
            <a:solidFill>
              <a:srgbClr val="F5B400"/>
            </a:solidFill>
            <a:prstDash val="solid"/>
            <a:tailEnd type="triangle"/>
          </a:ln>
        </p:spPr>
        <p:txBody>
          <a:bodyPr/>
          <a:lstStyle/>
          <a:p>
            <a:endParaRPr lang="ko-KR" altLang="en-US"/>
          </a:p>
        </p:txBody>
      </p:sp>
      <p:sp>
        <p:nvSpPr>
          <p:cNvPr id="25" name="loop"/>
          <p:cNvSpPr/>
          <p:nvPr/>
        </p:nvSpPr>
        <p:spPr>
          <a:xfrm>
            <a:off x="2560320" y="5852160"/>
            <a:ext cx="5669280" cy="0"/>
          </a:xfrm>
          <a:prstGeom prst="line">
            <a:avLst/>
          </a:prstGeom>
          <a:noFill/>
          <a:ln w="25400">
            <a:solidFill>
              <a:srgbClr val="F5B400"/>
            </a:solidFill>
            <a:prstDash val="solid"/>
          </a:ln>
        </p:spPr>
        <p:txBody>
          <a:bodyPr/>
          <a:lstStyle/>
          <a:p>
            <a:endParaRPr lang="ko-KR" altLang="en-US"/>
          </a:p>
        </p:txBody>
      </p:sp>
      <p:sp>
        <p:nvSpPr>
          <p:cNvPr id="26" name="arrow"/>
          <p:cNvSpPr/>
          <p:nvPr/>
        </p:nvSpPr>
        <p:spPr>
          <a:xfrm flipV="1">
            <a:off x="2560320" y="5440680"/>
            <a:ext cx="914" cy="411480"/>
          </a:xfrm>
          <a:prstGeom prst="line">
            <a:avLst/>
          </a:prstGeom>
          <a:noFill/>
          <a:ln w="25400">
            <a:solidFill>
              <a:srgbClr val="F5B400"/>
            </a:solidFill>
            <a:prstDash val="solid"/>
            <a:tailEnd type="triangle"/>
          </a:ln>
        </p:spPr>
        <p:txBody>
          <a:bodyPr/>
          <a:lstStyle/>
          <a:p>
            <a:endParaRPr lang="ko-KR" altLang="en-US"/>
          </a:p>
        </p:txBody>
      </p:sp>
      <p:sp>
        <p:nvSpPr>
          <p:cNvPr id="27" name="Text 24"/>
          <p:cNvSpPr txBox="1"/>
          <p:nvPr/>
        </p:nvSpPr>
        <p:spPr>
          <a:xfrm>
            <a:off x="3291840" y="5897880"/>
            <a:ext cx="4206240" cy="329184"/>
          </a:xfrm>
          <a:prstGeom prst="rect">
            <a:avLst/>
          </a:prstGeom>
          <a:noFill/>
          <a:ln/>
        </p:spPr>
        <p:txBody>
          <a:bodyPr wrap="square" lIns="0" tIns="0" rIns="0" bIns="0" rtlCol="0" anchor="ctr"/>
          <a:lstStyle/>
          <a:p>
            <a:pPr marL="0" indent="0" algn="ctr">
              <a:buNone/>
            </a:pPr>
            <a:r>
              <a:rPr lang="en-US" sz="1400" b="1" dirty="0">
                <a:solidFill>
                  <a:srgbClr val="0B1F3A"/>
                </a:solidFill>
              </a:rPr>
              <a:t>다음 순찰로 돌아갑니다</a:t>
            </a:r>
            <a:endParaRPr lang="en-US" sz="1400" dirty="0"/>
          </a:p>
        </p:txBody>
      </p:sp>
      <p:sp>
        <p:nvSpPr>
          <p:cNvPr id="28"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일반적인 공동 확인 흐름을 바탕으로 한 제안안입니다. 실제 승인 절차는 관할 기관 기준을 따릅니다.</a:t>
            </a:r>
            <a:endParaRPr lang="en-US" sz="1000" dirty="0"/>
          </a:p>
        </p:txBody>
      </p:sp>
      <p:sp>
        <p:nvSpPr>
          <p:cNvPr id="29"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Pretendard" pitchFamily="34" charset="0"/>
                <a:ea typeface="Pretendard" pitchFamily="34" charset="-122"/>
                <a:cs typeface="Pretendard" pitchFamily="34" charset="-120"/>
              </a:rPr>
              <a:t>PV5 GroundWatch</a:t>
            </a:r>
            <a:endParaRPr lang="en-US" sz="4000" dirty="0"/>
          </a:p>
        </p:txBody>
      </p:sp>
      <p:sp>
        <p:nvSpPr>
          <p:cNvPr id="3" name="sectionBand"/>
          <p:cNvSpPr/>
          <p:nvPr/>
        </p:nvSpPr>
        <p:spPr>
          <a:xfrm>
            <a:off x="3108960" y="1965960"/>
            <a:ext cx="5971032" cy="548640"/>
          </a:xfrm>
          <a:prstGeom prst="rect">
            <a:avLst/>
          </a:prstGeom>
          <a:solidFill>
            <a:srgbClr val="F5B400"/>
          </a:solidFill>
          <a:ln w="12700">
            <a:solidFill>
              <a:srgbClr val="F5B400"/>
            </a:solidFill>
            <a:prstDash val="solid"/>
          </a:ln>
        </p:spPr>
        <p:txBody>
          <a:bodyPr/>
          <a:lstStyle/>
          <a:p>
            <a:endParaRPr lang="ko-KR" altLang="en-US"/>
          </a:p>
        </p:txBody>
      </p:sp>
      <p:sp>
        <p:nvSpPr>
          <p:cNvPr id="4" name="Text 0"/>
          <p:cNvSpPr>
            <a:spLocks noGrp="1"/>
          </p:cNvSpPr>
          <p:nvPr>
            <p:ph type="body" idx="101" hasCustomPrompt="1"/>
          </p:nvPr>
        </p:nvSpPr>
        <p:spPr>
          <a:xfrm>
            <a:off x="3108960" y="1965960"/>
            <a:ext cx="5971032" cy="548640"/>
          </a:xfrm>
          <a:prstGeom prst="rect">
            <a:avLst/>
          </a:prstGeom>
          <a:noFill/>
          <a:ln/>
        </p:spPr>
        <p:txBody>
          <a:bodyPr wrap="square" lIns="0" tIns="0" rIns="0" bIns="0" rtlCol="0" anchor="ctr"/>
          <a:lstStyle/>
          <a:p>
            <a:pPr marL="0" indent="0" algn="ctr">
              <a:buNone/>
            </a:pPr>
            <a:r>
              <a:rPr lang="en-US" sz="2200" b="1" dirty="0">
                <a:solidFill>
                  <a:srgbClr val="101828"/>
                </a:solidFill>
                <a:latin typeface="Pretendard" pitchFamily="34" charset="0"/>
                <a:ea typeface="Pretendard" pitchFamily="34" charset="-122"/>
                <a:cs typeface="Pretendard" pitchFamily="34" charset="-120"/>
              </a:rPr>
              <a:t>도시 지하 안전망으로의 확장</a:t>
            </a:r>
            <a:endParaRPr lang="en-US" sz="2200" dirty="0"/>
          </a:p>
        </p:txBody>
      </p:sp>
      <p:pic>
        <p:nvPicPr>
          <p:cNvPr id="5" name="patrol_net" descr="/Users/seohogyun/Documents/git_workspace/pv5-hose-lab/groundwatch/images/patrol_net.png"/>
          <p:cNvPicPr>
            <a:picLocks noChangeAspect="1"/>
          </p:cNvPicPr>
          <p:nvPr/>
        </p:nvPicPr>
        <p:blipFill>
          <a:blip r:embed="rId3"/>
          <a:stretch>
            <a:fillRect/>
          </a:stretch>
        </p:blipFill>
        <p:spPr>
          <a:xfrm>
            <a:off x="1417320" y="3017520"/>
            <a:ext cx="4526280" cy="2542032"/>
          </a:xfrm>
          <a:prstGeom prst="rect">
            <a:avLst/>
          </a:prstGeom>
        </p:spPr>
      </p:pic>
      <p:pic>
        <p:nvPicPr>
          <p:cNvPr id="6" name="twin" descr="/Users/seohogyun/Documents/git_workspace/pv5-hose-lab/groundwatch/images/twin.png"/>
          <p:cNvPicPr>
            <a:picLocks noChangeAspect="1"/>
          </p:cNvPicPr>
          <p:nvPr/>
        </p:nvPicPr>
        <p:blipFill>
          <a:blip r:embed="rId4"/>
          <a:stretch>
            <a:fillRect/>
          </a:stretch>
        </p:blipFill>
        <p:spPr>
          <a:xfrm>
            <a:off x="6263640" y="3017520"/>
            <a:ext cx="4526280" cy="2542032"/>
          </a:xfrm>
          <a:prstGeom prst="rect">
            <a:avLst/>
          </a:prstGeom>
        </p:spPr>
      </p:pic>
      <p:sp>
        <p:nvSpPr>
          <p:cNvPr id="7" name="Text 3"/>
          <p:cNvSpPr txBox="1"/>
          <p:nvPr/>
        </p:nvSpPr>
        <p:spPr>
          <a:xfrm>
            <a:off x="141732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위험도별 순찰망</a:t>
            </a:r>
            <a:endParaRPr lang="en-US" sz="1600" dirty="0"/>
          </a:p>
        </p:txBody>
      </p:sp>
      <p:sp>
        <p:nvSpPr>
          <p:cNvPr id="8" name="Text 4"/>
          <p:cNvSpPr txBox="1"/>
          <p:nvPr/>
        </p:nvSpPr>
        <p:spPr>
          <a:xfrm>
            <a:off x="6263640" y="5669280"/>
            <a:ext cx="4526280" cy="365760"/>
          </a:xfrm>
          <a:prstGeom prst="rect">
            <a:avLst/>
          </a:prstGeom>
          <a:noFill/>
          <a:ln/>
        </p:spPr>
        <p:txBody>
          <a:bodyPr wrap="square" lIns="0" tIns="0" rIns="0" bIns="0" rtlCol="0" anchor="ctr"/>
          <a:lstStyle/>
          <a:p>
            <a:pPr marL="0" indent="0" algn="ctr">
              <a:buNone/>
            </a:pPr>
            <a:r>
              <a:rPr lang="en-US" sz="1600" b="1" dirty="0">
                <a:solidFill>
                  <a:srgbClr val="FFFFFF"/>
                </a:solidFill>
              </a:rPr>
              <a:t>4D 도시 지하 디지털 트윈</a:t>
            </a:r>
            <a:endParaRPr lang="en-US" sz="16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1 순찰망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위험한 곳은 더 자주, 비가 온 뒤에는 바로</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구간 위험도에 따라 조사 주기를 다르게 잡습니다. 아래 주기는 [예시]이며 발주기관과 협의해 정합니다.</a:t>
            </a:r>
            <a:endParaRPr lang="en-US" sz="1600" dirty="0"/>
          </a:p>
        </p:txBody>
      </p:sp>
      <p:pic>
        <p:nvPicPr>
          <p:cNvPr id="5" name="patrol_net" descr="/Users/seohogyun/Documents/git_workspace/pv5-hose-lab/groundwatch/images/patrol_net.png"/>
          <p:cNvPicPr>
            <a:picLocks noChangeAspect="1"/>
          </p:cNvPicPr>
          <p:nvPr/>
        </p:nvPicPr>
        <p:blipFill>
          <a:blip r:embed="rId3"/>
          <a:stretch>
            <a:fillRect/>
          </a:stretch>
        </p:blipFill>
        <p:spPr>
          <a:xfrm>
            <a:off x="548640" y="1554480"/>
            <a:ext cx="6762496" cy="3803904"/>
          </a:xfrm>
          <a:prstGeom prst="rect">
            <a:avLst/>
          </a:prstGeom>
        </p:spPr>
      </p:pic>
      <p:sp>
        <p:nvSpPr>
          <p:cNvPr id="6" name="swatch"/>
          <p:cNvSpPr/>
          <p:nvPr/>
        </p:nvSpPr>
        <p:spPr>
          <a:xfrm>
            <a:off x="7589520" y="1682496"/>
            <a:ext cx="329184" cy="91440"/>
          </a:xfrm>
          <a:prstGeom prst="rect">
            <a:avLst/>
          </a:prstGeom>
          <a:solidFill>
            <a:srgbClr val="D93025"/>
          </a:solidFill>
          <a:ln w="12700">
            <a:solidFill>
              <a:srgbClr val="D93025"/>
            </a:solidFill>
            <a:prstDash val="solid"/>
          </a:ln>
        </p:spPr>
        <p:txBody>
          <a:bodyPr/>
          <a:lstStyle/>
          <a:p>
            <a:endParaRPr lang="ko-KR" altLang="en-US"/>
          </a:p>
        </p:txBody>
      </p:sp>
      <p:sp>
        <p:nvSpPr>
          <p:cNvPr id="7" name="Text 4"/>
          <p:cNvSpPr txBox="1"/>
          <p:nvPr/>
        </p:nvSpPr>
        <p:spPr>
          <a:xfrm>
            <a:off x="8046720" y="1572768"/>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집중관리 구간</a:t>
            </a:r>
            <a:endParaRPr lang="en-US" sz="1400" dirty="0"/>
          </a:p>
        </p:txBody>
      </p:sp>
      <p:sp>
        <p:nvSpPr>
          <p:cNvPr id="8" name="Text 5"/>
          <p:cNvSpPr txBox="1"/>
          <p:nvPr/>
        </p:nvSpPr>
        <p:spPr>
          <a:xfrm>
            <a:off x="8046720" y="1847088"/>
            <a:ext cx="3566160" cy="292608"/>
          </a:xfrm>
          <a:prstGeom prst="rect">
            <a:avLst/>
          </a:prstGeom>
          <a:noFill/>
          <a:ln/>
        </p:spPr>
        <p:txBody>
          <a:bodyPr wrap="square" lIns="0" tIns="0" rIns="0" bIns="0" rtlCol="0" anchor="ctr"/>
          <a:lstStyle/>
          <a:p>
            <a:pPr marL="0" indent="0">
              <a:buNone/>
            </a:pPr>
            <a:r>
              <a:rPr lang="en-US" sz="1300" dirty="0">
                <a:solidFill>
                  <a:srgbClr val="5B6573"/>
                </a:solidFill>
              </a:rPr>
              <a:t>매일 또는 주 1회</a:t>
            </a:r>
            <a:endParaRPr lang="en-US" sz="1300" dirty="0"/>
          </a:p>
        </p:txBody>
      </p:sp>
      <p:sp>
        <p:nvSpPr>
          <p:cNvPr id="9" name="swatch"/>
          <p:cNvSpPr/>
          <p:nvPr/>
        </p:nvSpPr>
        <p:spPr>
          <a:xfrm>
            <a:off x="7589520" y="2304288"/>
            <a:ext cx="329184" cy="91440"/>
          </a:xfrm>
          <a:prstGeom prst="rect">
            <a:avLst/>
          </a:prstGeom>
          <a:solidFill>
            <a:srgbClr val="F08C00"/>
          </a:solidFill>
          <a:ln w="12700">
            <a:solidFill>
              <a:srgbClr val="F08C00"/>
            </a:solidFill>
            <a:prstDash val="solid"/>
          </a:ln>
        </p:spPr>
        <p:txBody>
          <a:bodyPr/>
          <a:lstStyle/>
          <a:p>
            <a:endParaRPr lang="ko-KR" altLang="en-US"/>
          </a:p>
        </p:txBody>
      </p:sp>
      <p:sp>
        <p:nvSpPr>
          <p:cNvPr id="10" name="Text 7"/>
          <p:cNvSpPr txBox="1"/>
          <p:nvPr/>
        </p:nvSpPr>
        <p:spPr>
          <a:xfrm>
            <a:off x="8046720" y="2194560"/>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노후 하수관, 공사장 주변</a:t>
            </a:r>
            <a:endParaRPr lang="en-US" sz="1400" dirty="0"/>
          </a:p>
        </p:txBody>
      </p:sp>
      <p:sp>
        <p:nvSpPr>
          <p:cNvPr id="11" name="Text 8"/>
          <p:cNvSpPr txBox="1"/>
          <p:nvPr/>
        </p:nvSpPr>
        <p:spPr>
          <a:xfrm>
            <a:off x="8046720" y="2468880"/>
            <a:ext cx="3566160" cy="292608"/>
          </a:xfrm>
          <a:prstGeom prst="rect">
            <a:avLst/>
          </a:prstGeom>
          <a:noFill/>
          <a:ln/>
        </p:spPr>
        <p:txBody>
          <a:bodyPr wrap="square" lIns="0" tIns="0" rIns="0" bIns="0" rtlCol="0" anchor="ctr"/>
          <a:lstStyle/>
          <a:p>
            <a:pPr marL="0" indent="0">
              <a:buNone/>
            </a:pPr>
            <a:r>
              <a:rPr lang="en-US" sz="1300" dirty="0">
                <a:solidFill>
                  <a:srgbClr val="5B6573"/>
                </a:solidFill>
              </a:rPr>
              <a:t>주 1회</a:t>
            </a:r>
            <a:endParaRPr lang="en-US" sz="1300" dirty="0"/>
          </a:p>
        </p:txBody>
      </p:sp>
      <p:sp>
        <p:nvSpPr>
          <p:cNvPr id="12" name="swatch"/>
          <p:cNvSpPr/>
          <p:nvPr/>
        </p:nvSpPr>
        <p:spPr>
          <a:xfrm>
            <a:off x="7589520" y="2926080"/>
            <a:ext cx="329184" cy="91440"/>
          </a:xfrm>
          <a:prstGeom prst="rect">
            <a:avLst/>
          </a:prstGeom>
          <a:solidFill>
            <a:srgbClr val="4E8FD9"/>
          </a:solidFill>
          <a:ln w="12700">
            <a:solidFill>
              <a:srgbClr val="4E8FD9"/>
            </a:solidFill>
            <a:prstDash val="solid"/>
          </a:ln>
        </p:spPr>
        <p:txBody>
          <a:bodyPr/>
          <a:lstStyle/>
          <a:p>
            <a:endParaRPr lang="ko-KR" altLang="en-US"/>
          </a:p>
        </p:txBody>
      </p:sp>
      <p:sp>
        <p:nvSpPr>
          <p:cNvPr id="13" name="Text 10"/>
          <p:cNvSpPr txBox="1"/>
          <p:nvPr/>
        </p:nvSpPr>
        <p:spPr>
          <a:xfrm>
            <a:off x="8046720" y="2816352"/>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역세권 일반도로</a:t>
            </a:r>
            <a:endParaRPr lang="en-US" sz="1400" dirty="0"/>
          </a:p>
        </p:txBody>
      </p:sp>
      <p:sp>
        <p:nvSpPr>
          <p:cNvPr id="14" name="Text 11"/>
          <p:cNvSpPr txBox="1"/>
          <p:nvPr/>
        </p:nvSpPr>
        <p:spPr>
          <a:xfrm>
            <a:off x="8046720" y="3090672"/>
            <a:ext cx="3566160" cy="292608"/>
          </a:xfrm>
          <a:prstGeom prst="rect">
            <a:avLst/>
          </a:prstGeom>
          <a:noFill/>
          <a:ln/>
        </p:spPr>
        <p:txBody>
          <a:bodyPr wrap="square" lIns="0" tIns="0" rIns="0" bIns="0" rtlCol="0" anchor="ctr"/>
          <a:lstStyle/>
          <a:p>
            <a:pPr marL="0" indent="0">
              <a:buNone/>
            </a:pPr>
            <a:r>
              <a:rPr lang="en-US" sz="1300" dirty="0">
                <a:solidFill>
                  <a:srgbClr val="5B6573"/>
                </a:solidFill>
              </a:rPr>
              <a:t>월 1회</a:t>
            </a:r>
            <a:endParaRPr lang="en-US" sz="1300" dirty="0"/>
          </a:p>
        </p:txBody>
      </p:sp>
      <p:sp>
        <p:nvSpPr>
          <p:cNvPr id="15" name="swatch"/>
          <p:cNvSpPr/>
          <p:nvPr/>
        </p:nvSpPr>
        <p:spPr>
          <a:xfrm>
            <a:off x="7589520" y="3547872"/>
            <a:ext cx="329184" cy="91440"/>
          </a:xfrm>
          <a:prstGeom prst="rect">
            <a:avLst/>
          </a:prstGeom>
          <a:solidFill>
            <a:srgbClr val="2F9E44"/>
          </a:solidFill>
          <a:ln w="12700">
            <a:solidFill>
              <a:srgbClr val="2F9E44"/>
            </a:solidFill>
            <a:prstDash val="solid"/>
          </a:ln>
        </p:spPr>
        <p:txBody>
          <a:bodyPr/>
          <a:lstStyle/>
          <a:p>
            <a:endParaRPr lang="ko-KR" altLang="en-US"/>
          </a:p>
        </p:txBody>
      </p:sp>
      <p:sp>
        <p:nvSpPr>
          <p:cNvPr id="16" name="Text 13"/>
          <p:cNvSpPr txBox="1"/>
          <p:nvPr/>
        </p:nvSpPr>
        <p:spPr>
          <a:xfrm>
            <a:off x="8046720" y="3438144"/>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일반 관리구간</a:t>
            </a:r>
            <a:endParaRPr lang="en-US" sz="1400" dirty="0"/>
          </a:p>
        </p:txBody>
      </p:sp>
      <p:sp>
        <p:nvSpPr>
          <p:cNvPr id="17" name="Text 14"/>
          <p:cNvSpPr txBox="1"/>
          <p:nvPr/>
        </p:nvSpPr>
        <p:spPr>
          <a:xfrm>
            <a:off x="8046720" y="3712464"/>
            <a:ext cx="3566160" cy="292608"/>
          </a:xfrm>
          <a:prstGeom prst="rect">
            <a:avLst/>
          </a:prstGeom>
          <a:noFill/>
          <a:ln/>
        </p:spPr>
        <p:txBody>
          <a:bodyPr wrap="square" lIns="0" tIns="0" rIns="0" bIns="0" rtlCol="0" anchor="ctr"/>
          <a:lstStyle/>
          <a:p>
            <a:pPr marL="0" indent="0">
              <a:buNone/>
            </a:pPr>
            <a:r>
              <a:rPr lang="en-US" sz="1300" dirty="0">
                <a:solidFill>
                  <a:srgbClr val="5B6573"/>
                </a:solidFill>
              </a:rPr>
              <a:t>분기 또는 반기</a:t>
            </a:r>
            <a:endParaRPr lang="en-US" sz="1300" dirty="0"/>
          </a:p>
        </p:txBody>
      </p:sp>
      <p:sp>
        <p:nvSpPr>
          <p:cNvPr id="18" name="swatch"/>
          <p:cNvSpPr/>
          <p:nvPr/>
        </p:nvSpPr>
        <p:spPr>
          <a:xfrm>
            <a:off x="7589520" y="4169664"/>
            <a:ext cx="329184" cy="91440"/>
          </a:xfrm>
          <a:prstGeom prst="rect">
            <a:avLst/>
          </a:prstGeom>
          <a:solidFill>
            <a:srgbClr val="7048E8"/>
          </a:solidFill>
          <a:ln w="12700">
            <a:solidFill>
              <a:srgbClr val="7048E8"/>
            </a:solidFill>
            <a:prstDash val="solid"/>
          </a:ln>
        </p:spPr>
        <p:txBody>
          <a:bodyPr/>
          <a:lstStyle/>
          <a:p>
            <a:endParaRPr lang="ko-KR" altLang="en-US"/>
          </a:p>
        </p:txBody>
      </p:sp>
      <p:sp>
        <p:nvSpPr>
          <p:cNvPr id="19" name="Text 16"/>
          <p:cNvSpPr txBox="1"/>
          <p:nvPr/>
        </p:nvSpPr>
        <p:spPr>
          <a:xfrm>
            <a:off x="8046720" y="4059936"/>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집중호우 이후</a:t>
            </a:r>
            <a:endParaRPr lang="en-US" sz="1400" dirty="0"/>
          </a:p>
        </p:txBody>
      </p:sp>
      <p:sp>
        <p:nvSpPr>
          <p:cNvPr id="20" name="Text 17"/>
          <p:cNvSpPr txBox="1"/>
          <p:nvPr/>
        </p:nvSpPr>
        <p:spPr>
          <a:xfrm>
            <a:off x="8046720" y="4334256"/>
            <a:ext cx="3566160" cy="292608"/>
          </a:xfrm>
          <a:prstGeom prst="rect">
            <a:avLst/>
          </a:prstGeom>
          <a:noFill/>
          <a:ln/>
        </p:spPr>
        <p:txBody>
          <a:bodyPr wrap="square" lIns="0" tIns="0" rIns="0" bIns="0" rtlCol="0" anchor="ctr"/>
          <a:lstStyle/>
          <a:p>
            <a:pPr marL="0" indent="0">
              <a:buNone/>
            </a:pPr>
            <a:r>
              <a:rPr lang="en-US" sz="1300" dirty="0">
                <a:solidFill>
                  <a:srgbClr val="5B6573"/>
                </a:solidFill>
              </a:rPr>
              <a:t>긴급 조사</a:t>
            </a:r>
            <a:endParaRPr lang="en-US" sz="1300" dirty="0"/>
          </a:p>
        </p:txBody>
      </p:sp>
      <p:sp>
        <p:nvSpPr>
          <p:cNvPr id="21" name="swatch"/>
          <p:cNvSpPr/>
          <p:nvPr/>
        </p:nvSpPr>
        <p:spPr>
          <a:xfrm>
            <a:off x="7589520" y="4791456"/>
            <a:ext cx="329184" cy="91440"/>
          </a:xfrm>
          <a:prstGeom prst="rect">
            <a:avLst/>
          </a:prstGeom>
          <a:solidFill>
            <a:srgbClr val="F5B400"/>
          </a:solidFill>
          <a:ln w="12700">
            <a:solidFill>
              <a:srgbClr val="F5B400"/>
            </a:solidFill>
            <a:prstDash val="solid"/>
          </a:ln>
        </p:spPr>
        <p:txBody>
          <a:bodyPr/>
          <a:lstStyle/>
          <a:p>
            <a:endParaRPr lang="ko-KR" altLang="en-US"/>
          </a:p>
        </p:txBody>
      </p:sp>
      <p:sp>
        <p:nvSpPr>
          <p:cNvPr id="22" name="Text 19"/>
          <p:cNvSpPr txBox="1"/>
          <p:nvPr/>
        </p:nvSpPr>
        <p:spPr>
          <a:xfrm>
            <a:off x="8046720" y="4681728"/>
            <a:ext cx="2103120" cy="310896"/>
          </a:xfrm>
          <a:prstGeom prst="rect">
            <a:avLst/>
          </a:prstGeom>
          <a:noFill/>
          <a:ln/>
        </p:spPr>
        <p:txBody>
          <a:bodyPr wrap="square" lIns="0" tIns="0" rIns="0" bIns="0" rtlCol="0" anchor="ctr"/>
          <a:lstStyle/>
          <a:p>
            <a:pPr marL="0" indent="0">
              <a:buNone/>
            </a:pPr>
            <a:r>
              <a:rPr lang="en-US" sz="1400" b="1" dirty="0">
                <a:solidFill>
                  <a:srgbClr val="101828"/>
                </a:solidFill>
              </a:rPr>
              <a:t>AI가 변화를 감지한 구간</a:t>
            </a:r>
            <a:endParaRPr lang="en-US" sz="1400" dirty="0"/>
          </a:p>
        </p:txBody>
      </p:sp>
      <p:sp>
        <p:nvSpPr>
          <p:cNvPr id="23" name="Text 20"/>
          <p:cNvSpPr txBox="1"/>
          <p:nvPr/>
        </p:nvSpPr>
        <p:spPr>
          <a:xfrm>
            <a:off x="8046720" y="4956048"/>
            <a:ext cx="3566160" cy="292608"/>
          </a:xfrm>
          <a:prstGeom prst="rect">
            <a:avLst/>
          </a:prstGeom>
          <a:noFill/>
          <a:ln/>
        </p:spPr>
        <p:txBody>
          <a:bodyPr wrap="square" lIns="0" tIns="0" rIns="0" bIns="0" rtlCol="0" anchor="ctr"/>
          <a:lstStyle/>
          <a:p>
            <a:pPr marL="0" indent="0">
              <a:buNone/>
            </a:pPr>
            <a:r>
              <a:rPr lang="en-US" sz="1300" dirty="0">
                <a:solidFill>
                  <a:srgbClr val="5B6573"/>
                </a:solidFill>
              </a:rPr>
              <a:t>다음 회차에 우선 재확인</a:t>
            </a:r>
            <a:endParaRPr lang="en-US" sz="1300" dirty="0"/>
          </a:p>
        </p:txBody>
      </p:sp>
      <p:sp>
        <p:nvSpPr>
          <p:cNvPr id="24" name="bubble"/>
          <p:cNvSpPr txBox="1"/>
          <p:nvPr/>
        </p:nvSpPr>
        <p:spPr>
          <a:xfrm>
            <a:off x="548640" y="5577840"/>
            <a:ext cx="676656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400" b="1" dirty="0">
                <a:solidFill>
                  <a:srgbClr val="FFFFFF"/>
                </a:solidFill>
              </a:rPr>
              <a:t>지하철역 주변, 노후 하수관, 굴착공사 주변, 반복 침하 구간부터 시작합니다</a:t>
            </a:r>
            <a:endParaRPr lang="en-US" sz="1400" dirty="0"/>
          </a:p>
        </p:txBody>
      </p:sp>
      <p:sp>
        <p:nvSpPr>
          <p:cNvPr id="25" name="Text 22"/>
          <p:cNvSpPr txBox="1"/>
          <p:nvPr/>
        </p:nvSpPr>
        <p:spPr>
          <a:xfrm>
            <a:off x="7589520" y="5440680"/>
            <a:ext cx="4050792" cy="777240"/>
          </a:xfrm>
          <a:prstGeom prst="rect">
            <a:avLst/>
          </a:prstGeom>
          <a:noFill/>
          <a:ln/>
        </p:spPr>
        <p:txBody>
          <a:bodyPr wrap="square" lIns="0" tIns="0" rIns="0" bIns="0" rtlCol="0" anchor="t"/>
          <a:lstStyle/>
          <a:p>
            <a:pPr marL="0" indent="0">
              <a:buNone/>
            </a:pPr>
            <a:r>
              <a:rPr lang="en-US" sz="1200" dirty="0">
                <a:solidFill>
                  <a:srgbClr val="5B6573"/>
                </a:solidFill>
              </a:rPr>
              <a:t>지도는 가상 도시 예시입니다. 서울시도 명일동 사고 이후 굴착공사장 점검을 연 1회에서 월·주 단위로 늘렸습니다.</a:t>
            </a:r>
            <a:endParaRPr lang="en-US" sz="1200" dirty="0"/>
          </a:p>
        </p:txBody>
      </p:sp>
      <p:sp>
        <p:nvSpPr>
          <p:cNvPr id="2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서울시 지반침하 예방체계 강화 보도자료(굴착공사장 점검 주기 강화). 조사 주기 표는 제안 예시입니다.</a:t>
            </a:r>
            <a:endParaRPr lang="en-US" sz="1000" dirty="0"/>
          </a:p>
        </p:txBody>
      </p:sp>
      <p:sp>
        <p:nvSpPr>
          <p:cNvPr id="27"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2 플릿</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여러 대의 PV5가 권역을 나눠 같은 기준으로 순찰한다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권역을 나누고, 관제센터에서 실시간 상태를 보며, 차량별 순찰거리와 재확인 업무를 배정합니다.</a:t>
            </a:r>
            <a:endParaRPr lang="en-US" sz="1600" dirty="0"/>
          </a:p>
        </p:txBody>
      </p:sp>
      <p:pic>
        <p:nvPicPr>
          <p:cNvPr id="5" name="fleet" descr="/Users/seohogyun/Documents/git_workspace/pv5-hose-lab/groundwatch/images/fleet.png"/>
          <p:cNvPicPr>
            <a:picLocks noChangeAspect="1"/>
          </p:cNvPicPr>
          <p:nvPr/>
        </p:nvPicPr>
        <p:blipFill>
          <a:blip r:embed="rId3"/>
          <a:stretch>
            <a:fillRect/>
          </a:stretch>
        </p:blipFill>
        <p:spPr>
          <a:xfrm>
            <a:off x="548640" y="1554480"/>
            <a:ext cx="6766560" cy="3721608"/>
          </a:xfrm>
          <a:prstGeom prst="rect">
            <a:avLst/>
          </a:prstGeom>
        </p:spPr>
      </p:pic>
      <p:sp>
        <p:nvSpPr>
          <p:cNvPr id="6" name="Text 3"/>
          <p:cNvSpPr txBox="1"/>
          <p:nvPr/>
        </p:nvSpPr>
        <p:spPr>
          <a:xfrm>
            <a:off x="7589520" y="160020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같은 사양, 같은 기준</a:t>
            </a:r>
            <a:endParaRPr lang="en-US" sz="1700" dirty="0"/>
          </a:p>
        </p:txBody>
      </p:sp>
      <p:sp>
        <p:nvSpPr>
          <p:cNvPr id="7" name="Text 4"/>
          <p:cNvSpPr txBox="1"/>
          <p:nvPr/>
        </p:nvSpPr>
        <p:spPr>
          <a:xfrm>
            <a:off x="7589520" y="1984248"/>
            <a:ext cx="405079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차량과 장비 배치가 같아야 권역이 달라도 회차 데이터를 같은 기준으로 비교할 수 있습니다.</a:t>
            </a:r>
            <a:endParaRPr lang="en-US" sz="1400" dirty="0"/>
          </a:p>
        </p:txBody>
      </p:sp>
      <p:sp>
        <p:nvSpPr>
          <p:cNvPr id="8" name="Text 5"/>
          <p:cNvSpPr txBox="1"/>
          <p:nvPr/>
        </p:nvSpPr>
        <p:spPr>
          <a:xfrm>
            <a:off x="7589520" y="278892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관제 연동 [추가 확인 필요]</a:t>
            </a:r>
            <a:endParaRPr lang="en-US" sz="1700" dirty="0"/>
          </a:p>
        </p:txBody>
      </p:sp>
      <p:sp>
        <p:nvSpPr>
          <p:cNvPr id="9" name="Text 6"/>
          <p:cNvSpPr txBox="1"/>
          <p:nvPr/>
        </p:nvSpPr>
        <p:spPr>
          <a:xfrm>
            <a:off x="7589520" y="3172968"/>
            <a:ext cx="405079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Pleos Fleet 차량관제 또는 기관 FMS와 배터리, 위치, 업무 상태를 잇는 방안을 검토합니다.</a:t>
            </a:r>
            <a:endParaRPr lang="en-US" sz="1400" dirty="0"/>
          </a:p>
        </p:txBody>
      </p:sp>
      <p:sp>
        <p:nvSpPr>
          <p:cNvPr id="10" name="Text 7"/>
          <p:cNvSpPr txBox="1"/>
          <p:nvPr/>
        </p:nvSpPr>
        <p:spPr>
          <a:xfrm>
            <a:off x="7589520" y="3977640"/>
            <a:ext cx="4050792" cy="347472"/>
          </a:xfrm>
          <a:prstGeom prst="rect">
            <a:avLst/>
          </a:prstGeom>
          <a:noFill/>
          <a:ln/>
        </p:spPr>
        <p:txBody>
          <a:bodyPr wrap="square" lIns="0" tIns="0" rIns="0" bIns="0" rtlCol="0" anchor="t"/>
          <a:lstStyle/>
          <a:p>
            <a:pPr marL="0" indent="0">
              <a:buNone/>
            </a:pPr>
            <a:r>
              <a:rPr lang="en-US" sz="1700" b="1" dirty="0">
                <a:solidFill>
                  <a:srgbClr val="101828"/>
                </a:solidFill>
              </a:rPr>
              <a:t>배정 기준</a:t>
            </a:r>
            <a:endParaRPr lang="en-US" sz="1700" dirty="0"/>
          </a:p>
        </p:txBody>
      </p:sp>
      <p:sp>
        <p:nvSpPr>
          <p:cNvPr id="11" name="Text 8"/>
          <p:cNvSpPr txBox="1"/>
          <p:nvPr/>
        </p:nvSpPr>
        <p:spPr>
          <a:xfrm>
            <a:off x="7589520" y="4361688"/>
            <a:ext cx="4050792" cy="64008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권역 위험도, 재확인 대기열, 차량 배터리, 인력 교대</a:t>
            </a:r>
            <a:endParaRPr lang="en-US" sz="1400" dirty="0"/>
          </a:p>
        </p:txBody>
      </p:sp>
      <p:sp>
        <p:nvSpPr>
          <p:cNvPr id="12" name="bubble"/>
          <p:cNvSpPr txBox="1"/>
          <p:nvPr/>
        </p:nvSpPr>
        <p:spPr>
          <a:xfrm>
            <a:off x="548640" y="5532120"/>
            <a:ext cx="566928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한 대의 시제품이 아니라, 복제할 수 있는 순찰 체계</a:t>
            </a:r>
            <a:endParaRPr lang="en-US" sz="1500" dirty="0"/>
          </a:p>
        </p:txBody>
      </p:sp>
      <p:sp>
        <p:nvSpPr>
          <p:cNvPr id="1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기아 PV5 카고 특징(Pleos Fleet 차량관제솔루션). 관제 화면 수치는 예시입니다.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3 데이터 통합</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GPR 변화 신호를 도시의 다른 지하 데이터와 겹쳐 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하수관, 굴착공사, 지하철 구조물, 지하수, 강우, 보수 이력과 함께 볼 때 원인을 짐작하기 쉬워집니다.</a:t>
            </a:r>
            <a:endParaRPr lang="en-US" sz="1600" dirty="0"/>
          </a:p>
        </p:txBody>
      </p:sp>
      <p:pic>
        <p:nvPicPr>
          <p:cNvPr id="5" name="layers" descr="/Users/seohogyun/Documents/git_workspace/pv5-hose-lab/groundwatch/images/layers.png"/>
          <p:cNvPicPr>
            <a:picLocks noChangeAspect="1"/>
          </p:cNvPicPr>
          <p:nvPr/>
        </p:nvPicPr>
        <p:blipFill>
          <a:blip r:embed="rId3"/>
          <a:stretch>
            <a:fillRect/>
          </a:stretch>
        </p:blipFill>
        <p:spPr>
          <a:xfrm>
            <a:off x="548640" y="1554480"/>
            <a:ext cx="6766560" cy="3721608"/>
          </a:xfrm>
          <a:prstGeom prst="rect">
            <a:avLst/>
          </a:prstGeom>
        </p:spPr>
      </p:pic>
      <p:pic>
        <p:nvPicPr>
          <p:cNvPr id="6" name="icon_shield" descr="/Users/seohogyun/Documents/git_workspace/pv5-hose-lab/groundwatch/images/ico_shield.png"/>
          <p:cNvPicPr>
            <a:picLocks noChangeAspect="1"/>
          </p:cNvPicPr>
          <p:nvPr/>
        </p:nvPicPr>
        <p:blipFill>
          <a:blip r:embed="rId4"/>
          <a:stretch>
            <a:fillRect/>
          </a:stretch>
        </p:blipFill>
        <p:spPr>
          <a:xfrm>
            <a:off x="7589520" y="1600200"/>
            <a:ext cx="411480" cy="411480"/>
          </a:xfrm>
          <a:prstGeom prst="rect">
            <a:avLst/>
          </a:prstGeom>
        </p:spPr>
      </p:pic>
      <p:sp>
        <p:nvSpPr>
          <p:cNvPr id="7" name="Text 3"/>
          <p:cNvSpPr txBox="1"/>
          <p:nvPr/>
        </p:nvSpPr>
        <p:spPr>
          <a:xfrm>
            <a:off x="8138160" y="160020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보안과 접근권한</a:t>
            </a:r>
            <a:endParaRPr lang="en-US" sz="1700" dirty="0"/>
          </a:p>
        </p:txBody>
      </p:sp>
      <p:sp>
        <p:nvSpPr>
          <p:cNvPr id="8" name="Text 4"/>
          <p:cNvSpPr txBox="1"/>
          <p:nvPr/>
        </p:nvSpPr>
        <p:spPr>
          <a:xfrm>
            <a:off x="8138160" y="1984248"/>
            <a:ext cx="3502152" cy="109728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지하정보는 보안과 안전 문제가 있어 기관별 접근권한을 나누고, 계약기관이 쓰는 접근제어형 관제 서비스로 제공합니다.</a:t>
            </a:r>
            <a:endParaRPr lang="en-US" sz="1400" dirty="0"/>
          </a:p>
        </p:txBody>
      </p:sp>
      <p:pic>
        <p:nvPicPr>
          <p:cNvPr id="9" name="icon_db" descr="/Users/seohogyun/Documents/git_workspace/pv5-hose-lab/groundwatch/images/ico_db.png"/>
          <p:cNvPicPr>
            <a:picLocks noChangeAspect="1"/>
          </p:cNvPicPr>
          <p:nvPr/>
        </p:nvPicPr>
        <p:blipFill>
          <a:blip r:embed="rId5"/>
          <a:stretch>
            <a:fillRect/>
          </a:stretch>
        </p:blipFill>
        <p:spPr>
          <a:xfrm>
            <a:off x="7589520" y="3063240"/>
            <a:ext cx="411480" cy="411480"/>
          </a:xfrm>
          <a:prstGeom prst="rect">
            <a:avLst/>
          </a:prstGeom>
        </p:spPr>
      </p:pic>
      <p:sp>
        <p:nvSpPr>
          <p:cNvPr id="10" name="Text 5"/>
          <p:cNvSpPr txBox="1"/>
          <p:nvPr/>
        </p:nvSpPr>
        <p:spPr>
          <a:xfrm>
            <a:off x="8138160" y="306324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데이터 표준</a:t>
            </a:r>
            <a:endParaRPr lang="en-US" sz="1700" dirty="0"/>
          </a:p>
        </p:txBody>
      </p:sp>
      <p:sp>
        <p:nvSpPr>
          <p:cNvPr id="11" name="Text 6"/>
          <p:cNvSpPr txBox="1"/>
          <p:nvPr/>
        </p:nvSpPr>
        <p:spPr>
          <a:xfrm>
            <a:off x="8138160" y="3447288"/>
            <a:ext cx="3502152" cy="82296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지하공간 데이터 표준(OGC MUDDI 등)을 참고해 기관 간 연계 형식을 설계합니다.</a:t>
            </a:r>
            <a:endParaRPr lang="en-US" sz="1400" dirty="0"/>
          </a:p>
        </p:txBody>
      </p:sp>
      <p:pic>
        <p:nvPicPr>
          <p:cNvPr id="12" name="icon_alert" descr="/Users/seohogyun/Documents/git_workspace/pv5-hose-lab/groundwatch/images/ico_alert.png"/>
          <p:cNvPicPr>
            <a:picLocks noChangeAspect="1"/>
          </p:cNvPicPr>
          <p:nvPr/>
        </p:nvPicPr>
        <p:blipFill>
          <a:blip r:embed="rId6"/>
          <a:stretch>
            <a:fillRect/>
          </a:stretch>
        </p:blipFill>
        <p:spPr>
          <a:xfrm>
            <a:off x="7589520" y="4251960"/>
            <a:ext cx="411480" cy="411480"/>
          </a:xfrm>
          <a:prstGeom prst="rect">
            <a:avLst/>
          </a:prstGeom>
        </p:spPr>
      </p:pic>
      <p:sp>
        <p:nvSpPr>
          <p:cNvPr id="13" name="Text 7"/>
          <p:cNvSpPr txBox="1"/>
          <p:nvPr/>
        </p:nvSpPr>
        <p:spPr>
          <a:xfrm>
            <a:off x="8138160" y="4251960"/>
            <a:ext cx="3502152" cy="347472"/>
          </a:xfrm>
          <a:prstGeom prst="rect">
            <a:avLst/>
          </a:prstGeom>
          <a:noFill/>
          <a:ln/>
        </p:spPr>
        <p:txBody>
          <a:bodyPr wrap="square" lIns="0" tIns="0" rIns="0" bIns="0" rtlCol="0" anchor="t"/>
          <a:lstStyle/>
          <a:p>
            <a:pPr marL="0" indent="0">
              <a:buNone/>
            </a:pPr>
            <a:r>
              <a:rPr lang="en-US" sz="1700" b="1" dirty="0">
                <a:solidFill>
                  <a:srgbClr val="101828"/>
                </a:solidFill>
              </a:rPr>
              <a:t>지하 데이터는 팔지 않습니다</a:t>
            </a:r>
            <a:endParaRPr lang="en-US" sz="1700" dirty="0"/>
          </a:p>
        </p:txBody>
      </p:sp>
      <p:sp>
        <p:nvSpPr>
          <p:cNvPr id="14" name="Text 8"/>
          <p:cNvSpPr txBox="1"/>
          <p:nvPr/>
        </p:nvSpPr>
        <p:spPr>
          <a:xfrm>
            <a:off x="8138160" y="4636008"/>
            <a:ext cx="3502152" cy="5486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제3자 판매가 아니라 공공 안전 관제 목적입니다.</a:t>
            </a:r>
            <a:endParaRPr lang="en-US" sz="1400" dirty="0"/>
          </a:p>
        </p:txBody>
      </p:sp>
      <p:sp>
        <p:nvSpPr>
          <p:cNvPr id="15" name="bubble"/>
          <p:cNvSpPr txBox="1"/>
          <p:nvPr/>
        </p:nvSpPr>
        <p:spPr>
          <a:xfrm>
            <a:off x="548640" y="5532120"/>
            <a:ext cx="5669280" cy="621792"/>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한 기관의 데이터만으로는 원인을 보기 어렵습니다</a:t>
            </a:r>
            <a:endParaRPr lang="en-US" sz="1500" dirty="0"/>
          </a:p>
        </p:txBody>
      </p:sp>
      <p:sp>
        <p:nvSpPr>
          <p:cNvPr id="16"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참고: OGC MUDDI(ogc.org/standards/muddi), 국토부 지하공간통합지도와 지하안전정보시스템(JIS) 연계 방향(2025.5.27 보도자료)</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D93025"/>
          </a:solidFill>
          <a:ln>
            <a:solidFill>
              <a:srgbClr val="D93025"/>
            </a:solidFill>
          </a:ln>
        </p:spPr>
        <p:txBody>
          <a:bodyPr wrap="square" lIns="0" tIns="0" rIns="0" bIns="0" rtlCol="0" anchor="ctr"/>
          <a:lstStyle/>
          <a:p>
            <a:pPr marL="0" indent="0" algn="ctr">
              <a:buNone/>
            </a:pPr>
            <a:r>
              <a:rPr lang="en-US" sz="1400" b="1" dirty="0">
                <a:solidFill>
                  <a:srgbClr val="FFFFFF"/>
                </a:solidFill>
              </a:rPr>
              <a:t>확장 4 디지털 트윈</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시간이 쌓이면, 도로 아래가 변하는 모습이 보인다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지상 지도, 지하 시설물, 공동 의심 신호, 시간에 따른 변화를 하나의 모델에서 봅니다.</a:t>
            </a:r>
            <a:endParaRPr lang="en-US" sz="1600" dirty="0"/>
          </a:p>
        </p:txBody>
      </p:sp>
      <p:pic>
        <p:nvPicPr>
          <p:cNvPr id="5" name="twin" descr="/Users/seohogyun/Documents/git_workspace/pv5-hose-lab/groundwatch/images/twin.png"/>
          <p:cNvPicPr>
            <a:picLocks noChangeAspect="1"/>
          </p:cNvPicPr>
          <p:nvPr/>
        </p:nvPicPr>
        <p:blipFill>
          <a:blip r:embed="rId3"/>
          <a:stretch>
            <a:fillRect/>
          </a:stretch>
        </p:blipFill>
        <p:spPr>
          <a:xfrm>
            <a:off x="548640" y="1555556"/>
            <a:ext cx="6766560" cy="3582296"/>
          </a:xfrm>
          <a:prstGeom prst="rect">
            <a:avLst/>
          </a:prstGeom>
        </p:spPr>
      </p:pic>
      <p:sp>
        <p:nvSpPr>
          <p:cNvPr id="6" name="Text 3"/>
          <p:cNvSpPr txBox="1"/>
          <p:nvPr/>
        </p:nvSpPr>
        <p:spPr>
          <a:xfrm>
            <a:off x="7589520" y="1600200"/>
            <a:ext cx="4050792" cy="347472"/>
          </a:xfrm>
          <a:prstGeom prst="rect">
            <a:avLst/>
          </a:prstGeom>
          <a:noFill/>
          <a:ln/>
        </p:spPr>
        <p:txBody>
          <a:bodyPr wrap="square" lIns="0" tIns="0" rIns="0" bIns="0" rtlCol="0" anchor="t"/>
          <a:lstStyle/>
          <a:p>
            <a:pPr marL="0" indent="0">
              <a:buNone/>
            </a:pPr>
            <a:r>
              <a:rPr lang="en-US" sz="1600" b="1" dirty="0">
                <a:solidFill>
                  <a:srgbClr val="101828"/>
                </a:solidFill>
              </a:rPr>
              <a:t>공사 전후 비교</a:t>
            </a:r>
            <a:endParaRPr lang="en-US" sz="1600" dirty="0"/>
          </a:p>
        </p:txBody>
      </p:sp>
      <p:sp>
        <p:nvSpPr>
          <p:cNvPr id="7" name="Text 4"/>
          <p:cNvSpPr txBox="1"/>
          <p:nvPr/>
        </p:nvSpPr>
        <p:spPr>
          <a:xfrm>
            <a:off x="7589520" y="1984248"/>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굴착공사 착공 전, 공사 중, 완료 후 같은 구간을 비교합니다.</a:t>
            </a:r>
            <a:endParaRPr lang="en-US" sz="1300" dirty="0"/>
          </a:p>
        </p:txBody>
      </p:sp>
      <p:sp>
        <p:nvSpPr>
          <p:cNvPr id="8" name="Text 5"/>
          <p:cNvSpPr txBox="1"/>
          <p:nvPr/>
        </p:nvSpPr>
        <p:spPr>
          <a:xfrm>
            <a:off x="7589520" y="2542032"/>
            <a:ext cx="4050792" cy="347472"/>
          </a:xfrm>
          <a:prstGeom prst="rect">
            <a:avLst/>
          </a:prstGeom>
          <a:noFill/>
          <a:ln/>
        </p:spPr>
        <p:txBody>
          <a:bodyPr wrap="square" lIns="0" tIns="0" rIns="0" bIns="0" rtlCol="0" anchor="t"/>
          <a:lstStyle/>
          <a:p>
            <a:pPr marL="0" indent="0">
              <a:buNone/>
            </a:pPr>
            <a:r>
              <a:rPr lang="en-US" sz="1600" b="1" dirty="0">
                <a:solidFill>
                  <a:srgbClr val="101828"/>
                </a:solidFill>
              </a:rPr>
              <a:t>재난 대응</a:t>
            </a:r>
            <a:endParaRPr lang="en-US" sz="1600" dirty="0"/>
          </a:p>
        </p:txBody>
      </p:sp>
      <p:sp>
        <p:nvSpPr>
          <p:cNvPr id="9" name="Text 6"/>
          <p:cNvSpPr txBox="1"/>
          <p:nvPr/>
        </p:nvSpPr>
        <p:spPr>
          <a:xfrm>
            <a:off x="7589520" y="2926080"/>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집중호우나 지진 뒤 우선 점검 구간을 고릅니다.</a:t>
            </a:r>
            <a:endParaRPr lang="en-US" sz="1300" dirty="0"/>
          </a:p>
        </p:txBody>
      </p:sp>
      <p:sp>
        <p:nvSpPr>
          <p:cNvPr id="10" name="Text 7"/>
          <p:cNvSpPr txBox="1"/>
          <p:nvPr/>
        </p:nvSpPr>
        <p:spPr>
          <a:xfrm>
            <a:off x="7589520" y="3483864"/>
            <a:ext cx="4050792" cy="347472"/>
          </a:xfrm>
          <a:prstGeom prst="rect">
            <a:avLst/>
          </a:prstGeom>
          <a:noFill/>
          <a:ln/>
        </p:spPr>
        <p:txBody>
          <a:bodyPr wrap="square" lIns="0" tIns="0" rIns="0" bIns="0" rtlCol="0" anchor="t"/>
          <a:lstStyle/>
          <a:p>
            <a:pPr marL="0" indent="0">
              <a:buNone/>
            </a:pPr>
            <a:r>
              <a:rPr lang="en-US" sz="1600" b="1" dirty="0">
                <a:solidFill>
                  <a:srgbClr val="101828"/>
                </a:solidFill>
              </a:rPr>
              <a:t>유지관리 계획</a:t>
            </a:r>
            <a:endParaRPr lang="en-US" sz="1600" dirty="0"/>
          </a:p>
        </p:txBody>
      </p:sp>
      <p:sp>
        <p:nvSpPr>
          <p:cNvPr id="11" name="Text 8"/>
          <p:cNvSpPr txBox="1"/>
          <p:nvPr/>
        </p:nvSpPr>
        <p:spPr>
          <a:xfrm>
            <a:off x="7589520" y="3867912"/>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변화가 잦은 구간의 관로 교체 우선순위 근거가 됩니다.</a:t>
            </a:r>
            <a:endParaRPr lang="en-US" sz="1300" dirty="0"/>
          </a:p>
        </p:txBody>
      </p:sp>
      <p:sp>
        <p:nvSpPr>
          <p:cNvPr id="12" name="Text 9"/>
          <p:cNvSpPr txBox="1"/>
          <p:nvPr/>
        </p:nvSpPr>
        <p:spPr>
          <a:xfrm>
            <a:off x="7589520" y="4425696"/>
            <a:ext cx="4050792" cy="347472"/>
          </a:xfrm>
          <a:prstGeom prst="rect">
            <a:avLst/>
          </a:prstGeom>
          <a:noFill/>
          <a:ln/>
        </p:spPr>
        <p:txBody>
          <a:bodyPr wrap="square" lIns="0" tIns="0" rIns="0" bIns="0" rtlCol="0" anchor="t"/>
          <a:lstStyle/>
          <a:p>
            <a:pPr marL="0" indent="0">
              <a:buNone/>
            </a:pPr>
            <a:r>
              <a:rPr lang="en-US" sz="1600" b="1" dirty="0">
                <a:solidFill>
                  <a:srgbClr val="101828"/>
                </a:solidFill>
              </a:rPr>
              <a:t>범위 원칙</a:t>
            </a:r>
            <a:endParaRPr lang="en-US" sz="1600" dirty="0"/>
          </a:p>
        </p:txBody>
      </p:sp>
      <p:sp>
        <p:nvSpPr>
          <p:cNvPr id="13" name="Text 10"/>
          <p:cNvSpPr txBox="1"/>
          <p:nvPr/>
        </p:nvSpPr>
        <p:spPr>
          <a:xfrm>
            <a:off x="7589520" y="4809744"/>
            <a:ext cx="4050792" cy="54864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PV5가 측정한 도로에 한정하고, 측정하지 않은 구간은 비워 둡니다.</a:t>
            </a:r>
            <a:endParaRPr lang="en-US" sz="1300" dirty="0"/>
          </a:p>
        </p:txBody>
      </p:sp>
      <p:sp>
        <p:nvSpPr>
          <p:cNvPr id="14" name="bubble"/>
          <p:cNvSpPr txBox="1"/>
          <p:nvPr/>
        </p:nvSpPr>
        <p:spPr>
          <a:xfrm>
            <a:off x="548640" y="5440680"/>
            <a:ext cx="6766560" cy="640080"/>
          </a:xfrm>
          <a:prstGeom prst="wedgeRectCallout">
            <a:avLst/>
          </a:prstGeom>
          <a:solidFill>
            <a:srgbClr val="0B1F3A"/>
          </a:solidFill>
          <a:ln>
            <a:solidFill>
              <a:srgbClr val="0B1F3A"/>
            </a:solidFill>
          </a:ln>
        </p:spPr>
        <p:txBody>
          <a:bodyPr wrap="square" lIns="76200" tIns="76200" rIns="76200" bIns="76200" rtlCol="0" anchor="ctr"/>
          <a:lstStyle/>
          <a:p>
            <a:pPr marL="0" indent="0" algn="ctr">
              <a:buNone/>
            </a:pPr>
            <a:r>
              <a:rPr lang="en-US" sz="1500" b="1" dirty="0">
                <a:solidFill>
                  <a:srgbClr val="FFFFFF"/>
                </a:solidFill>
              </a:rPr>
              <a:t>도시가 같은 길을 기억하면, 작은 변화도 놓치지 않을 수 있습니다</a:t>
            </a:r>
            <a:endParaRPr lang="en-US" sz="1500" dirty="0"/>
          </a:p>
        </p:txBody>
      </p:sp>
      <p:sp>
        <p:nvSpPr>
          <p:cNvPr id="15"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개념 일러스트. 디지털 트윈은 운영 데이터가 충분히 쌓인 뒤의 장기 확장 방향입니다.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closing" descr="/Users/seohogyun/Documents/git_workspace/pv5-hose-lab/groundwatch/images/closing.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1097280" y="868680"/>
            <a:ext cx="9994392" cy="1600200"/>
          </a:xfrm>
          <a:prstGeom prst="rect">
            <a:avLst/>
          </a:prstGeom>
          <a:noFill/>
          <a:ln/>
        </p:spPr>
        <p:txBody>
          <a:bodyPr wrap="square" lIns="0" tIns="0" rIns="0" bIns="0" rtlCol="0" anchor="ctr"/>
          <a:lstStyle/>
          <a:p>
            <a:pPr marL="0" indent="0" algn="ctr">
              <a:buNone/>
            </a:pPr>
            <a:r>
              <a:rPr lang="en-US" sz="4000" b="1" dirty="0">
                <a:solidFill>
                  <a:srgbClr val="FFFFFF"/>
                </a:solidFill>
              </a:rPr>
              <a:t>한 번의 조기 발견이,</a:t>
            </a:r>
            <a:endParaRPr lang="en-US" sz="4000" dirty="0"/>
          </a:p>
          <a:p>
            <a:pPr marL="0" indent="0" algn="ctr">
              <a:buNone/>
            </a:pPr>
            <a:r>
              <a:rPr lang="en-US" sz="4000" b="1" dirty="0">
                <a:solidFill>
                  <a:srgbClr val="FFFFFF"/>
                </a:solidFill>
              </a:rPr>
              <a:t>한 사람의 무사 귀가가 되도록.</a:t>
            </a:r>
            <a:endParaRPr lang="en-US" sz="4000" dirty="0"/>
          </a:p>
        </p:txBody>
      </p:sp>
      <p:sp>
        <p:nvSpPr>
          <p:cNvPr id="4" name="Text 1"/>
          <p:cNvSpPr txBox="1"/>
          <p:nvPr/>
        </p:nvSpPr>
        <p:spPr>
          <a:xfrm>
            <a:off x="1097280" y="2606040"/>
            <a:ext cx="9994392" cy="457200"/>
          </a:xfrm>
          <a:prstGeom prst="rect">
            <a:avLst/>
          </a:prstGeom>
          <a:noFill/>
          <a:ln/>
        </p:spPr>
        <p:txBody>
          <a:bodyPr wrap="square" lIns="0" tIns="0" rIns="0" bIns="0" rtlCol="0" anchor="ctr"/>
          <a:lstStyle/>
          <a:p>
            <a:pPr marL="0" indent="0" algn="ctr">
              <a:buNone/>
            </a:pPr>
            <a:r>
              <a:rPr lang="en-US" sz="2200" b="1" dirty="0">
                <a:solidFill>
                  <a:srgbClr val="F5B400"/>
                </a:solidFill>
              </a:rPr>
              <a:t>PV5 GroundWatch</a:t>
            </a:r>
            <a:endParaRPr lang="en-US" sz="2200" dirty="0"/>
          </a:p>
        </p:txBody>
      </p:sp>
      <p:sp>
        <p:nvSpPr>
          <p:cNvPr id="5" name="Text 2"/>
          <p:cNvSpPr txBox="1"/>
          <p:nvPr/>
        </p:nvSpPr>
        <p:spPr>
          <a:xfrm>
            <a:off x="1097280" y="3090672"/>
            <a:ext cx="9994392" cy="384048"/>
          </a:xfrm>
          <a:prstGeom prst="rect">
            <a:avLst/>
          </a:prstGeom>
          <a:noFill/>
          <a:ln/>
        </p:spPr>
        <p:txBody>
          <a:bodyPr wrap="square" lIns="0" tIns="0" rIns="0" bIns="0" rtlCol="0" anchor="ctr"/>
          <a:lstStyle/>
          <a:p>
            <a:pPr marL="0" indent="0" algn="ctr">
              <a:buNone/>
            </a:pPr>
            <a:r>
              <a:rPr lang="en-US" sz="1500" dirty="0">
                <a:solidFill>
                  <a:srgbClr val="DCE3EC"/>
                </a:solidFill>
              </a:rPr>
              <a:t>팀 한 명이라도 살릴 수 있다면</a:t>
            </a:r>
            <a:endParaRPr lang="en-US" sz="1500" dirty="0"/>
          </a:p>
        </p:txBody>
      </p:sp>
      <p:sp>
        <p:nvSpPr>
          <p:cNvPr id="6" name="Text 3"/>
          <p:cNvSpPr txBox="1"/>
          <p:nvPr/>
        </p:nvSpPr>
        <p:spPr>
          <a:xfrm>
            <a:off x="8778240" y="6355080"/>
            <a:ext cx="2862072" cy="329184"/>
          </a:xfrm>
          <a:prstGeom prst="rect">
            <a:avLst/>
          </a:prstGeom>
          <a:noFill/>
          <a:ln/>
        </p:spPr>
        <p:txBody>
          <a:bodyPr wrap="square" lIns="0" tIns="0" rIns="0" bIns="0" rtlCol="0" anchor="ctr"/>
          <a:lstStyle/>
          <a:p>
            <a:pPr marL="0" indent="0" algn="r">
              <a:buNone/>
            </a:pPr>
            <a:r>
              <a:rPr lang="en-US" sz="1300" dirty="0">
                <a:solidFill>
                  <a:srgbClr val="E6EBF2"/>
                </a:solidFill>
              </a:rPr>
              <a:t>감사합니다</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1 GPR 한계</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GPR은 만능이 아니다. 깊이, 토질, 금속의 한계를 먼저 밝힌다</a:t>
            </a:r>
            <a:endParaRPr lang="en-US" sz="1900" dirty="0"/>
          </a:p>
        </p:txBody>
      </p:sp>
      <p:pic>
        <p:nvPicPr>
          <p:cNvPr id="4" name="freq_depth" descr="/Users/seohogyun/Documents/git_workspace/pv5-hose-lab/groundwatch/images/freq_depth.png"/>
          <p:cNvPicPr>
            <a:picLocks noChangeAspect="1"/>
          </p:cNvPicPr>
          <p:nvPr/>
        </p:nvPicPr>
        <p:blipFill>
          <a:blip r:embed="rId3"/>
          <a:stretch>
            <a:fillRect/>
          </a:stretch>
        </p:blipFill>
        <p:spPr>
          <a:xfrm>
            <a:off x="548640" y="1005840"/>
            <a:ext cx="5760720" cy="2880360"/>
          </a:xfrm>
          <a:prstGeom prst="rect">
            <a:avLst/>
          </a:prstGeom>
        </p:spPr>
      </p:pic>
      <p:sp>
        <p:nvSpPr>
          <p:cNvPr id="5" name="Text 2"/>
          <p:cNvSpPr txBox="1"/>
          <p:nvPr/>
        </p:nvSpPr>
        <p:spPr>
          <a:xfrm>
            <a:off x="6583680" y="1005840"/>
            <a:ext cx="1508760" cy="530352"/>
          </a:xfrm>
          <a:prstGeom prst="rect">
            <a:avLst/>
          </a:prstGeom>
          <a:noFill/>
          <a:ln/>
        </p:spPr>
        <p:txBody>
          <a:bodyPr wrap="square" lIns="0" tIns="0" rIns="0" bIns="0" rtlCol="0" anchor="t"/>
          <a:lstStyle/>
          <a:p>
            <a:pPr marL="0" indent="0">
              <a:buNone/>
            </a:pPr>
            <a:r>
              <a:rPr lang="en-US" sz="1400" b="1" dirty="0">
                <a:solidFill>
                  <a:srgbClr val="101828"/>
                </a:solidFill>
              </a:rPr>
              <a:t>탐사 깊이</a:t>
            </a:r>
            <a:endParaRPr lang="en-US" sz="1400" dirty="0"/>
          </a:p>
        </p:txBody>
      </p:sp>
      <p:sp>
        <p:nvSpPr>
          <p:cNvPr id="6" name="Text 3"/>
          <p:cNvSpPr txBox="1"/>
          <p:nvPr/>
        </p:nvSpPr>
        <p:spPr>
          <a:xfrm>
            <a:off x="8138160" y="1005840"/>
            <a:ext cx="3502152" cy="548640"/>
          </a:xfrm>
          <a:prstGeom prst="rect">
            <a:avLst/>
          </a:prstGeom>
          <a:noFill/>
          <a:ln/>
        </p:spPr>
        <p:txBody>
          <a:bodyPr wrap="square" lIns="0" tIns="0" rIns="0" bIns="0" rtlCol="0" anchor="t"/>
          <a:lstStyle/>
          <a:p>
            <a:pPr marL="0" indent="0">
              <a:buNone/>
            </a:pPr>
            <a:r>
              <a:rPr lang="en-US" sz="1200" dirty="0">
                <a:solidFill>
                  <a:srgbClr val="5B6573"/>
                </a:solidFill>
              </a:rPr>
              <a:t>서울시가 쓰는 고주파 GPR은 약 2m 안팎입니다. GroundWatch도 2m 안팎의 얕은 공동을 주로 봅니다.</a:t>
            </a:r>
            <a:endParaRPr lang="en-US" sz="1200" dirty="0"/>
          </a:p>
        </p:txBody>
      </p:sp>
      <p:sp>
        <p:nvSpPr>
          <p:cNvPr id="7" name="Text 4"/>
          <p:cNvSpPr txBox="1"/>
          <p:nvPr/>
        </p:nvSpPr>
        <p:spPr>
          <a:xfrm>
            <a:off x="6583680" y="1591056"/>
            <a:ext cx="1508760" cy="530352"/>
          </a:xfrm>
          <a:prstGeom prst="rect">
            <a:avLst/>
          </a:prstGeom>
          <a:noFill/>
          <a:ln/>
        </p:spPr>
        <p:txBody>
          <a:bodyPr wrap="square" lIns="0" tIns="0" rIns="0" bIns="0" rtlCol="0" anchor="t"/>
          <a:lstStyle/>
          <a:p>
            <a:pPr marL="0" indent="0">
              <a:buNone/>
            </a:pPr>
            <a:r>
              <a:rPr lang="en-US" sz="1400" b="1" dirty="0">
                <a:solidFill>
                  <a:srgbClr val="101828"/>
                </a:solidFill>
              </a:rPr>
              <a:t>주파수와 해상도</a:t>
            </a:r>
            <a:endParaRPr lang="en-US" sz="1400" dirty="0"/>
          </a:p>
        </p:txBody>
      </p:sp>
      <p:sp>
        <p:nvSpPr>
          <p:cNvPr id="8" name="Text 5"/>
          <p:cNvSpPr txBox="1"/>
          <p:nvPr/>
        </p:nvSpPr>
        <p:spPr>
          <a:xfrm>
            <a:off x="8138160" y="1591056"/>
            <a:ext cx="3502152" cy="548640"/>
          </a:xfrm>
          <a:prstGeom prst="rect">
            <a:avLst/>
          </a:prstGeom>
          <a:noFill/>
          <a:ln/>
        </p:spPr>
        <p:txBody>
          <a:bodyPr wrap="square" lIns="0" tIns="0" rIns="0" bIns="0" rtlCol="0" anchor="t"/>
          <a:lstStyle/>
          <a:p>
            <a:pPr marL="0" indent="0">
              <a:buNone/>
            </a:pPr>
            <a:r>
              <a:rPr lang="en-US" sz="1200" dirty="0">
                <a:solidFill>
                  <a:srgbClr val="5B6573"/>
                </a:solidFill>
              </a:rPr>
              <a:t>저주파는 깊지만 흐릿하고, 고주파는 얕지만 정밀합니다(FHWA).</a:t>
            </a:r>
            <a:endParaRPr lang="en-US" sz="1200" dirty="0"/>
          </a:p>
        </p:txBody>
      </p:sp>
      <p:sp>
        <p:nvSpPr>
          <p:cNvPr id="9" name="Text 6"/>
          <p:cNvSpPr txBox="1"/>
          <p:nvPr/>
        </p:nvSpPr>
        <p:spPr>
          <a:xfrm>
            <a:off x="6583680" y="2176272"/>
            <a:ext cx="1508760" cy="530352"/>
          </a:xfrm>
          <a:prstGeom prst="rect">
            <a:avLst/>
          </a:prstGeom>
          <a:noFill/>
          <a:ln/>
        </p:spPr>
        <p:txBody>
          <a:bodyPr wrap="square" lIns="0" tIns="0" rIns="0" bIns="0" rtlCol="0" anchor="t"/>
          <a:lstStyle/>
          <a:p>
            <a:pPr marL="0" indent="0">
              <a:buNone/>
            </a:pPr>
            <a:r>
              <a:rPr lang="en-US" sz="1400" b="1" dirty="0">
                <a:solidFill>
                  <a:srgbClr val="101828"/>
                </a:solidFill>
              </a:rPr>
              <a:t>수분과 점토</a:t>
            </a:r>
            <a:endParaRPr lang="en-US" sz="1400" dirty="0"/>
          </a:p>
        </p:txBody>
      </p:sp>
      <p:sp>
        <p:nvSpPr>
          <p:cNvPr id="10" name="Text 7"/>
          <p:cNvSpPr txBox="1"/>
          <p:nvPr/>
        </p:nvSpPr>
        <p:spPr>
          <a:xfrm>
            <a:off x="8138160" y="2176272"/>
            <a:ext cx="3502152" cy="548640"/>
          </a:xfrm>
          <a:prstGeom prst="rect">
            <a:avLst/>
          </a:prstGeom>
          <a:noFill/>
          <a:ln/>
        </p:spPr>
        <p:txBody>
          <a:bodyPr wrap="square" lIns="0" tIns="0" rIns="0" bIns="0" rtlCol="0" anchor="t"/>
          <a:lstStyle/>
          <a:p>
            <a:pPr marL="0" indent="0">
              <a:buNone/>
            </a:pPr>
            <a:r>
              <a:rPr lang="en-US" sz="1200" dirty="0">
                <a:solidFill>
                  <a:srgbClr val="5B6573"/>
                </a:solidFill>
              </a:rPr>
              <a:t>수분과 점토가 많은 흙은 전자파를 약하게 만듭니다(FHWA).</a:t>
            </a:r>
            <a:endParaRPr lang="en-US" sz="1200" dirty="0"/>
          </a:p>
        </p:txBody>
      </p:sp>
      <p:sp>
        <p:nvSpPr>
          <p:cNvPr id="11" name="Text 8"/>
          <p:cNvSpPr txBox="1"/>
          <p:nvPr/>
        </p:nvSpPr>
        <p:spPr>
          <a:xfrm>
            <a:off x="6583680" y="2761488"/>
            <a:ext cx="1508760" cy="530352"/>
          </a:xfrm>
          <a:prstGeom prst="rect">
            <a:avLst/>
          </a:prstGeom>
          <a:noFill/>
          <a:ln/>
        </p:spPr>
        <p:txBody>
          <a:bodyPr wrap="square" lIns="0" tIns="0" rIns="0" bIns="0" rtlCol="0" anchor="t"/>
          <a:lstStyle/>
          <a:p>
            <a:pPr marL="0" indent="0">
              <a:buNone/>
            </a:pPr>
            <a:r>
              <a:rPr lang="en-US" sz="1400" b="1" dirty="0">
                <a:solidFill>
                  <a:srgbClr val="101828"/>
                </a:solidFill>
              </a:rPr>
              <a:t>금속 간섭</a:t>
            </a:r>
            <a:endParaRPr lang="en-US" sz="1400" dirty="0"/>
          </a:p>
        </p:txBody>
      </p:sp>
      <p:sp>
        <p:nvSpPr>
          <p:cNvPr id="12" name="Text 9"/>
          <p:cNvSpPr txBox="1"/>
          <p:nvPr/>
        </p:nvSpPr>
        <p:spPr>
          <a:xfrm>
            <a:off x="8138160" y="2761488"/>
            <a:ext cx="3502152" cy="548640"/>
          </a:xfrm>
          <a:prstGeom prst="rect">
            <a:avLst/>
          </a:prstGeom>
          <a:noFill/>
          <a:ln/>
        </p:spPr>
        <p:txBody>
          <a:bodyPr wrap="square" lIns="0" tIns="0" rIns="0" bIns="0" rtlCol="0" anchor="t"/>
          <a:lstStyle/>
          <a:p>
            <a:pPr marL="0" indent="0">
              <a:buNone/>
            </a:pPr>
            <a:r>
              <a:rPr lang="en-US" sz="1200" dirty="0">
                <a:solidFill>
                  <a:srgbClr val="5B6573"/>
                </a:solidFill>
              </a:rPr>
              <a:t>금속 관로는 강하게 반사하고 그 아래를 가립니다(FHWA).</a:t>
            </a:r>
            <a:endParaRPr lang="en-US" sz="1200" dirty="0"/>
          </a:p>
        </p:txBody>
      </p:sp>
      <p:sp>
        <p:nvSpPr>
          <p:cNvPr id="13" name="Text 10"/>
          <p:cNvSpPr txBox="1"/>
          <p:nvPr/>
        </p:nvSpPr>
        <p:spPr>
          <a:xfrm>
            <a:off x="6583680" y="3346704"/>
            <a:ext cx="1508760" cy="530352"/>
          </a:xfrm>
          <a:prstGeom prst="rect">
            <a:avLst/>
          </a:prstGeom>
          <a:noFill/>
          <a:ln/>
        </p:spPr>
        <p:txBody>
          <a:bodyPr wrap="square" lIns="0" tIns="0" rIns="0" bIns="0" rtlCol="0" anchor="t"/>
          <a:lstStyle/>
          <a:p>
            <a:pPr marL="0" indent="0">
              <a:buNone/>
            </a:pPr>
            <a:r>
              <a:rPr lang="en-US" sz="1400" b="1" dirty="0">
                <a:solidFill>
                  <a:srgbClr val="101828"/>
                </a:solidFill>
              </a:rPr>
              <a:t>깊은 지반과 터널</a:t>
            </a:r>
            <a:endParaRPr lang="en-US" sz="1400" dirty="0"/>
          </a:p>
        </p:txBody>
      </p:sp>
      <p:sp>
        <p:nvSpPr>
          <p:cNvPr id="14" name="Text 11"/>
          <p:cNvSpPr txBox="1"/>
          <p:nvPr/>
        </p:nvSpPr>
        <p:spPr>
          <a:xfrm>
            <a:off x="8138160" y="3346704"/>
            <a:ext cx="3502152" cy="548640"/>
          </a:xfrm>
          <a:prstGeom prst="rect">
            <a:avLst/>
          </a:prstGeom>
          <a:noFill/>
          <a:ln/>
        </p:spPr>
        <p:txBody>
          <a:bodyPr wrap="square" lIns="0" tIns="0" rIns="0" bIns="0" rtlCol="0" anchor="t"/>
          <a:lstStyle/>
          <a:p>
            <a:pPr marL="0" indent="0">
              <a:buNone/>
            </a:pPr>
            <a:r>
              <a:rPr lang="en-US" sz="1200" dirty="0">
                <a:solidFill>
                  <a:srgbClr val="5B6573"/>
                </a:solidFill>
              </a:rPr>
              <a:t>지하철 터널 같은 깊은 구조는 대상이 아닙니다. 복합탐사 같은 다른 기법의 영역입니다.</a:t>
            </a:r>
            <a:endParaRPr lang="en-US" sz="1200" dirty="0"/>
          </a:p>
        </p:txBody>
      </p:sp>
      <p:sp>
        <p:nvSpPr>
          <p:cNvPr id="15" name="rule"/>
          <p:cNvSpPr/>
          <p:nvPr/>
        </p:nvSpPr>
        <p:spPr>
          <a:xfrm>
            <a:off x="548640" y="4114800"/>
            <a:ext cx="11094415" cy="0"/>
          </a:xfrm>
          <a:prstGeom prst="line">
            <a:avLst/>
          </a:prstGeom>
          <a:noFill/>
          <a:ln w="12700">
            <a:solidFill>
              <a:srgbClr val="DCE1E8"/>
            </a:solidFill>
            <a:prstDash val="solid"/>
          </a:ln>
        </p:spPr>
        <p:txBody>
          <a:bodyPr/>
          <a:lstStyle/>
          <a:p>
            <a:endParaRPr lang="ko-KR" altLang="en-US"/>
          </a:p>
        </p:txBody>
      </p:sp>
      <p:sp>
        <p:nvSpPr>
          <p:cNvPr id="16" name="Text 13"/>
          <p:cNvSpPr txBox="1"/>
          <p:nvPr/>
        </p:nvSpPr>
        <p:spPr>
          <a:xfrm>
            <a:off x="548640" y="4251960"/>
            <a:ext cx="11094415" cy="384048"/>
          </a:xfrm>
          <a:prstGeom prst="rect">
            <a:avLst/>
          </a:prstGeom>
          <a:noFill/>
          <a:ln/>
        </p:spPr>
        <p:txBody>
          <a:bodyPr wrap="square" lIns="0" tIns="0" rIns="0" bIns="0" rtlCol="0" anchor="ctr"/>
          <a:lstStyle/>
          <a:p>
            <a:pPr marL="0" indent="0">
              <a:buNone/>
            </a:pPr>
            <a:r>
              <a:rPr lang="en-US" sz="1800" b="1" dirty="0">
                <a:solidFill>
                  <a:srgbClr val="D93025"/>
                </a:solidFill>
              </a:rPr>
              <a:t>AI가 공동을 최종 확정하지 않는 이유</a:t>
            </a:r>
            <a:endParaRPr lang="en-US" sz="1800" dirty="0"/>
          </a:p>
        </p:txBody>
      </p:sp>
      <p:sp>
        <p:nvSpPr>
          <p:cNvPr id="17" name="Text 14"/>
          <p:cNvSpPr txBox="1"/>
          <p:nvPr/>
        </p:nvSpPr>
        <p:spPr>
          <a:xfrm>
            <a:off x="54864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신호가 비슷합니다</a:t>
            </a:r>
            <a:endParaRPr lang="en-US" sz="1500" dirty="0"/>
          </a:p>
        </p:txBody>
      </p:sp>
      <p:sp>
        <p:nvSpPr>
          <p:cNvPr id="18" name="Text 15"/>
          <p:cNvSpPr txBox="1"/>
          <p:nvPr/>
        </p:nvSpPr>
        <p:spPr>
          <a:xfrm>
            <a:off x="54864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관로, 매설물, 토질 변화가 공동과 비슷하게 보일 수 있어 원시 데이터 해석에 전문가 판단이 필요합니다.</a:t>
            </a:r>
            <a:endParaRPr lang="en-US" sz="1300" dirty="0"/>
          </a:p>
        </p:txBody>
      </p:sp>
      <p:sp>
        <p:nvSpPr>
          <p:cNvPr id="19" name="Text 16"/>
          <p:cNvSpPr txBox="1"/>
          <p:nvPr/>
        </p:nvSpPr>
        <p:spPr>
          <a:xfrm>
            <a:off x="434340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검증 데이터가 아직 없습니다</a:t>
            </a:r>
            <a:endParaRPr lang="en-US" sz="1500" dirty="0"/>
          </a:p>
        </p:txBody>
      </p:sp>
      <p:sp>
        <p:nvSpPr>
          <p:cNvPr id="20" name="Text 17"/>
          <p:cNvSpPr txBox="1"/>
          <p:nvPr/>
        </p:nvSpPr>
        <p:spPr>
          <a:xfrm>
            <a:off x="434340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실제 천공으로 확인한 결과가 충분히 쌓여야 합니다. 초기 오탐률과 미탐률은 아직 검증 전입니다.</a:t>
            </a:r>
            <a:endParaRPr lang="en-US" sz="1300" dirty="0"/>
          </a:p>
        </p:txBody>
      </p:sp>
      <p:sp>
        <p:nvSpPr>
          <p:cNvPr id="21" name="Text 18"/>
          <p:cNvSpPr txBox="1"/>
          <p:nvPr/>
        </p:nvSpPr>
        <p:spPr>
          <a:xfrm>
            <a:off x="8138160" y="4709160"/>
            <a:ext cx="3566160" cy="347472"/>
          </a:xfrm>
          <a:prstGeom prst="rect">
            <a:avLst/>
          </a:prstGeom>
          <a:noFill/>
          <a:ln/>
        </p:spPr>
        <p:txBody>
          <a:bodyPr wrap="square" lIns="0" tIns="0" rIns="0" bIns="0" rtlCol="0" anchor="t"/>
          <a:lstStyle/>
          <a:p>
            <a:pPr marL="0" indent="0">
              <a:buNone/>
            </a:pPr>
            <a:r>
              <a:rPr lang="en-US" sz="1500" b="1" dirty="0">
                <a:solidFill>
                  <a:srgbClr val="101828"/>
                </a:solidFill>
              </a:rPr>
              <a:t>책임 주체가 필요합니다</a:t>
            </a:r>
            <a:endParaRPr lang="en-US" sz="1500" dirty="0"/>
          </a:p>
        </p:txBody>
      </p:sp>
      <p:sp>
        <p:nvSpPr>
          <p:cNvPr id="22" name="Text 19"/>
          <p:cNvSpPr txBox="1"/>
          <p:nvPr/>
        </p:nvSpPr>
        <p:spPr>
          <a:xfrm>
            <a:off x="8138160" y="5093208"/>
            <a:ext cx="3566160" cy="914400"/>
          </a:xfrm>
          <a:prstGeom prst="rect">
            <a:avLst/>
          </a:prstGeom>
          <a:noFill/>
          <a:ln/>
        </p:spPr>
        <p:txBody>
          <a:bodyPr wrap="square" lIns="0" tIns="0" rIns="0" bIns="0" rtlCol="0" anchor="t"/>
          <a:lstStyle/>
          <a:p>
            <a:pPr marL="0" indent="0">
              <a:spcAft>
                <a:spcPts val="300"/>
              </a:spcAft>
              <a:buNone/>
            </a:pPr>
            <a:r>
              <a:rPr lang="en-US" sz="1300" dirty="0">
                <a:solidFill>
                  <a:srgbClr val="5B6573"/>
                </a:solidFill>
              </a:rPr>
              <a:t>굴착과 교통통제 같은 행정 조치에는 책임 있는 판단 주체가 있어야 합니다.</a:t>
            </a:r>
            <a:endParaRPr lang="en-US" sz="1300" dirty="0"/>
          </a:p>
        </p:txBody>
      </p:sp>
      <p:sp>
        <p:nvSpPr>
          <p:cNvPr id="23"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FHWA GPR 기술 설명, 서울시 설명 인용 보도(고주파 GPR 약 2m), 서울시 복합탐사(지하 5~40m) 시범 도입 보도(2025.12.30)</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2 안전과 운영</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새벽 도로 작업은 사람이 먼저 안전해야 한다</a:t>
            </a:r>
            <a:endParaRPr lang="en-US" sz="1900" dirty="0"/>
          </a:p>
        </p:txBody>
      </p:sp>
      <p:sp>
        <p:nvSpPr>
          <p:cNvPr id="4" name="panel"/>
          <p:cNvSpPr/>
          <p:nvPr/>
        </p:nvSpPr>
        <p:spPr>
          <a:xfrm>
            <a:off x="548640" y="1005840"/>
            <a:ext cx="3931920" cy="5212080"/>
          </a:xfrm>
          <a:prstGeom prst="roundRect">
            <a:avLst>
              <a:gd name="adj" fmla="val 1395"/>
            </a:avLst>
          </a:prstGeom>
          <a:solidFill>
            <a:srgbClr val="0A1628"/>
          </a:solidFill>
          <a:ln w="12700">
            <a:solidFill>
              <a:srgbClr val="0A1628"/>
            </a:solidFill>
            <a:prstDash val="solid"/>
          </a:ln>
        </p:spPr>
        <p:txBody>
          <a:bodyPr/>
          <a:lstStyle/>
          <a:p>
            <a:endParaRPr lang="ko-KR" altLang="en-US"/>
          </a:p>
        </p:txBody>
      </p:sp>
      <p:pic>
        <p:nvPicPr>
          <p:cNvPr id="5" name="icon_users_w" descr="/Users/seohogyun/Documents/git_workspace/pv5-hose-lab/groundwatch/images/ico_users_w.png"/>
          <p:cNvPicPr>
            <a:picLocks noChangeAspect="1"/>
          </p:cNvPicPr>
          <p:nvPr/>
        </p:nvPicPr>
        <p:blipFill>
          <a:blip r:embed="rId3"/>
          <a:stretch>
            <a:fillRect/>
          </a:stretch>
        </p:blipFill>
        <p:spPr>
          <a:xfrm>
            <a:off x="822960" y="1234440"/>
            <a:ext cx="502920" cy="502920"/>
          </a:xfrm>
          <a:prstGeom prst="rect">
            <a:avLst/>
          </a:prstGeom>
        </p:spPr>
      </p:pic>
      <p:sp>
        <p:nvSpPr>
          <p:cNvPr id="6" name="Text 3"/>
          <p:cNvSpPr txBox="1"/>
          <p:nvPr/>
        </p:nvSpPr>
        <p:spPr>
          <a:xfrm>
            <a:off x="1463040" y="1234440"/>
            <a:ext cx="2926080" cy="502920"/>
          </a:xfrm>
          <a:prstGeom prst="rect">
            <a:avLst/>
          </a:prstGeom>
          <a:noFill/>
          <a:ln/>
        </p:spPr>
        <p:txBody>
          <a:bodyPr wrap="square" lIns="0" tIns="0" rIns="0" bIns="0" rtlCol="0" anchor="ctr"/>
          <a:lstStyle/>
          <a:p>
            <a:pPr marL="0" indent="0">
              <a:buNone/>
            </a:pPr>
            <a:r>
              <a:rPr lang="en-US" sz="2000" b="1" dirty="0">
                <a:solidFill>
                  <a:srgbClr val="FFFFFF"/>
                </a:solidFill>
              </a:rPr>
              <a:t>초기 운영은 2인 1조</a:t>
            </a:r>
            <a:endParaRPr lang="en-US" sz="2000" dirty="0"/>
          </a:p>
        </p:txBody>
      </p:sp>
      <p:sp>
        <p:nvSpPr>
          <p:cNvPr id="7" name="Text 4"/>
          <p:cNvSpPr txBox="1"/>
          <p:nvPr/>
        </p:nvSpPr>
        <p:spPr>
          <a:xfrm>
            <a:off x="822960" y="2103120"/>
            <a:ext cx="3383280" cy="347472"/>
          </a:xfrm>
          <a:prstGeom prst="rect">
            <a:avLst/>
          </a:prstGeom>
          <a:noFill/>
          <a:ln/>
        </p:spPr>
        <p:txBody>
          <a:bodyPr wrap="square" lIns="0" tIns="0" rIns="0" bIns="0" rtlCol="0" anchor="t"/>
          <a:lstStyle/>
          <a:p>
            <a:pPr marL="0" indent="0">
              <a:buNone/>
            </a:pPr>
            <a:r>
              <a:rPr lang="en-US" sz="1700" b="1" dirty="0">
                <a:solidFill>
                  <a:srgbClr val="F5B400"/>
                </a:solidFill>
              </a:rPr>
              <a:t>1명  운전과 안전</a:t>
            </a:r>
            <a:endParaRPr lang="en-US" sz="1700" dirty="0"/>
          </a:p>
        </p:txBody>
      </p:sp>
      <p:sp>
        <p:nvSpPr>
          <p:cNvPr id="8" name="Text 5"/>
          <p:cNvSpPr txBox="1"/>
          <p:nvPr/>
        </p:nvSpPr>
        <p:spPr>
          <a:xfrm>
            <a:off x="822960" y="2487168"/>
            <a:ext cx="3383280" cy="731520"/>
          </a:xfrm>
          <a:prstGeom prst="rect">
            <a:avLst/>
          </a:prstGeom>
          <a:noFill/>
          <a:ln/>
        </p:spPr>
        <p:txBody>
          <a:bodyPr wrap="square" lIns="0" tIns="0" rIns="0" bIns="0" rtlCol="0" anchor="t"/>
          <a:lstStyle/>
          <a:p>
            <a:pPr marL="0" indent="0">
              <a:spcAft>
                <a:spcPts val="300"/>
              </a:spcAft>
              <a:buNone/>
            </a:pPr>
            <a:r>
              <a:rPr lang="en-US" sz="1400" dirty="0">
                <a:solidFill>
                  <a:srgbClr val="DCE3EC"/>
                </a:solidFill>
              </a:rPr>
              <a:t>운전, 주변 교통 확인, 안전통제, 정차 위치 확보</a:t>
            </a:r>
            <a:endParaRPr lang="en-US" sz="1400" dirty="0"/>
          </a:p>
        </p:txBody>
      </p:sp>
      <p:sp>
        <p:nvSpPr>
          <p:cNvPr id="9" name="Text 6"/>
          <p:cNvSpPr txBox="1"/>
          <p:nvPr/>
        </p:nvSpPr>
        <p:spPr>
          <a:xfrm>
            <a:off x="822960" y="3429000"/>
            <a:ext cx="3383280" cy="347472"/>
          </a:xfrm>
          <a:prstGeom prst="rect">
            <a:avLst/>
          </a:prstGeom>
          <a:noFill/>
          <a:ln/>
        </p:spPr>
        <p:txBody>
          <a:bodyPr wrap="square" lIns="0" tIns="0" rIns="0" bIns="0" rtlCol="0" anchor="t"/>
          <a:lstStyle/>
          <a:p>
            <a:pPr marL="0" indent="0">
              <a:buNone/>
            </a:pPr>
            <a:r>
              <a:rPr lang="en-US" sz="1700" b="1" dirty="0">
                <a:solidFill>
                  <a:srgbClr val="F5B400"/>
                </a:solidFill>
              </a:rPr>
              <a:t>2명  장비와 판독</a:t>
            </a:r>
            <a:endParaRPr lang="en-US" sz="1700" dirty="0"/>
          </a:p>
        </p:txBody>
      </p:sp>
      <p:sp>
        <p:nvSpPr>
          <p:cNvPr id="10" name="Text 7"/>
          <p:cNvSpPr txBox="1"/>
          <p:nvPr/>
        </p:nvSpPr>
        <p:spPr>
          <a:xfrm>
            <a:off x="822960" y="3813048"/>
            <a:ext cx="3383280" cy="731520"/>
          </a:xfrm>
          <a:prstGeom prst="rect">
            <a:avLst/>
          </a:prstGeom>
          <a:noFill/>
          <a:ln/>
        </p:spPr>
        <p:txBody>
          <a:bodyPr wrap="square" lIns="0" tIns="0" rIns="0" bIns="0" rtlCol="0" anchor="t"/>
          <a:lstStyle/>
          <a:p>
            <a:pPr marL="0" indent="0">
              <a:spcAft>
                <a:spcPts val="300"/>
              </a:spcAft>
              <a:buNone/>
            </a:pPr>
            <a:r>
              <a:rPr lang="en-US" sz="1400" dirty="0">
                <a:solidFill>
                  <a:srgbClr val="DCE3EC"/>
                </a:solidFill>
              </a:rPr>
              <a:t>GPR 운용, AR 글래스, 수동 GPR, 현장 판독</a:t>
            </a:r>
            <a:endParaRPr lang="en-US" sz="1400" dirty="0"/>
          </a:p>
        </p:txBody>
      </p:sp>
      <p:sp>
        <p:nvSpPr>
          <p:cNvPr id="11" name="Text 8"/>
          <p:cNvSpPr txBox="1"/>
          <p:nvPr/>
        </p:nvSpPr>
        <p:spPr>
          <a:xfrm>
            <a:off x="822960" y="4937760"/>
            <a:ext cx="3383280" cy="1005840"/>
          </a:xfrm>
          <a:prstGeom prst="rect">
            <a:avLst/>
          </a:prstGeom>
          <a:noFill/>
          <a:ln/>
        </p:spPr>
        <p:txBody>
          <a:bodyPr wrap="square" lIns="0" tIns="0" rIns="0" bIns="0" rtlCol="0" anchor="t"/>
          <a:lstStyle/>
          <a:p>
            <a:pPr marL="0" indent="0">
              <a:buNone/>
            </a:pPr>
            <a:r>
              <a:rPr lang="en-US" sz="1300" dirty="0">
                <a:solidFill>
                  <a:srgbClr val="9AA8BC"/>
                </a:solidFill>
              </a:rPr>
              <a:t>안전성과 자동화 수준이 검증된 뒤 일부 구간의 1인 운용 가능성을 검토합니다.</a:t>
            </a:r>
            <a:endParaRPr lang="en-US" sz="1300" dirty="0"/>
          </a:p>
        </p:txBody>
      </p:sp>
      <p:sp>
        <p:nvSpPr>
          <p:cNvPr id="12" name="rule"/>
          <p:cNvSpPr/>
          <p:nvPr/>
        </p:nvSpPr>
        <p:spPr>
          <a:xfrm>
            <a:off x="4846320" y="1005840"/>
            <a:ext cx="3200400" cy="0"/>
          </a:xfrm>
          <a:prstGeom prst="line">
            <a:avLst/>
          </a:prstGeom>
          <a:noFill/>
          <a:ln w="12700">
            <a:solidFill>
              <a:srgbClr val="101828"/>
            </a:solidFill>
            <a:prstDash val="solid"/>
          </a:ln>
        </p:spPr>
        <p:txBody>
          <a:bodyPr/>
          <a:lstStyle/>
          <a:p>
            <a:endParaRPr lang="ko-KR" altLang="en-US"/>
          </a:p>
        </p:txBody>
      </p:sp>
      <p:sp>
        <p:nvSpPr>
          <p:cNvPr id="13" name="Text 10"/>
          <p:cNvSpPr txBox="1"/>
          <p:nvPr/>
        </p:nvSpPr>
        <p:spPr>
          <a:xfrm>
            <a:off x="4846320" y="11430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안전 정차</a:t>
            </a:r>
            <a:endParaRPr lang="en-US" sz="1700" dirty="0"/>
          </a:p>
        </p:txBody>
      </p:sp>
      <p:sp>
        <p:nvSpPr>
          <p:cNvPr id="14" name="Text 11"/>
          <p:cNvSpPr txBox="1"/>
          <p:nvPr/>
        </p:nvSpPr>
        <p:spPr>
          <a:xfrm>
            <a:off x="4846320" y="152704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앱이 안전 정차 위치를 안내하고, 주차 상태를 확인한 뒤에만 작업 모드를 켭니다.</a:t>
            </a:r>
            <a:endParaRPr lang="en-US" sz="1400" dirty="0"/>
          </a:p>
        </p:txBody>
      </p:sp>
      <p:sp>
        <p:nvSpPr>
          <p:cNvPr id="15" name="rule"/>
          <p:cNvSpPr/>
          <p:nvPr/>
        </p:nvSpPr>
        <p:spPr>
          <a:xfrm>
            <a:off x="8321040" y="1005840"/>
            <a:ext cx="3200400" cy="0"/>
          </a:xfrm>
          <a:prstGeom prst="line">
            <a:avLst/>
          </a:prstGeom>
          <a:noFill/>
          <a:ln w="12700">
            <a:solidFill>
              <a:srgbClr val="101828"/>
            </a:solidFill>
            <a:prstDash val="solid"/>
          </a:ln>
        </p:spPr>
        <p:txBody>
          <a:bodyPr/>
          <a:lstStyle/>
          <a:p>
            <a:endParaRPr lang="ko-KR" altLang="en-US"/>
          </a:p>
        </p:txBody>
      </p:sp>
      <p:sp>
        <p:nvSpPr>
          <p:cNvPr id="16" name="Text 13"/>
          <p:cNvSpPr txBox="1"/>
          <p:nvPr/>
        </p:nvSpPr>
        <p:spPr>
          <a:xfrm>
            <a:off x="8321040" y="114300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주행 중 AR 금지</a:t>
            </a:r>
            <a:endParaRPr lang="en-US" sz="1700" dirty="0"/>
          </a:p>
        </p:txBody>
      </p:sp>
      <p:sp>
        <p:nvSpPr>
          <p:cNvPr id="17" name="Text 14"/>
          <p:cNvSpPr txBox="1"/>
          <p:nvPr/>
        </p:nvSpPr>
        <p:spPr>
          <a:xfrm>
            <a:off x="8321040" y="152704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AR 글래스는 정차 후 차 밖 작업자만 쓰고, 운전자는 착용하지 않습니다.</a:t>
            </a:r>
            <a:endParaRPr lang="en-US" sz="1400" dirty="0"/>
          </a:p>
        </p:txBody>
      </p:sp>
      <p:sp>
        <p:nvSpPr>
          <p:cNvPr id="18" name="rule"/>
          <p:cNvSpPr/>
          <p:nvPr/>
        </p:nvSpPr>
        <p:spPr>
          <a:xfrm>
            <a:off x="4846320" y="2788920"/>
            <a:ext cx="3200400" cy="0"/>
          </a:xfrm>
          <a:prstGeom prst="line">
            <a:avLst/>
          </a:prstGeom>
          <a:noFill/>
          <a:ln w="12700">
            <a:solidFill>
              <a:srgbClr val="101828"/>
            </a:solidFill>
            <a:prstDash val="solid"/>
          </a:ln>
        </p:spPr>
        <p:txBody>
          <a:bodyPr/>
          <a:lstStyle/>
          <a:p>
            <a:endParaRPr lang="ko-KR" altLang="en-US"/>
          </a:p>
        </p:txBody>
      </p:sp>
      <p:sp>
        <p:nvSpPr>
          <p:cNvPr id="19" name="Text 16"/>
          <p:cNvSpPr txBox="1"/>
          <p:nvPr/>
        </p:nvSpPr>
        <p:spPr>
          <a:xfrm>
            <a:off x="4846320" y="292608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교통통제</a:t>
            </a:r>
            <a:endParaRPr lang="en-US" sz="1700" dirty="0"/>
          </a:p>
        </p:txBody>
      </p:sp>
      <p:sp>
        <p:nvSpPr>
          <p:cNvPr id="20" name="Text 17"/>
          <p:cNvSpPr txBox="1"/>
          <p:nvPr/>
        </p:nvSpPr>
        <p:spPr>
          <a:xfrm>
            <a:off x="4846320" y="331012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정차 재탐사 때 라바콘, 표지판, 경광장치, 반사조끼를 씁니다.</a:t>
            </a:r>
            <a:endParaRPr lang="en-US" sz="1400" dirty="0"/>
          </a:p>
        </p:txBody>
      </p:sp>
      <p:sp>
        <p:nvSpPr>
          <p:cNvPr id="21" name="rule"/>
          <p:cNvSpPr/>
          <p:nvPr/>
        </p:nvSpPr>
        <p:spPr>
          <a:xfrm>
            <a:off x="8321040" y="2788920"/>
            <a:ext cx="3200400" cy="0"/>
          </a:xfrm>
          <a:prstGeom prst="line">
            <a:avLst/>
          </a:prstGeom>
          <a:noFill/>
          <a:ln w="12700">
            <a:solidFill>
              <a:srgbClr val="101828"/>
            </a:solidFill>
            <a:prstDash val="solid"/>
          </a:ln>
        </p:spPr>
        <p:txBody>
          <a:bodyPr/>
          <a:lstStyle/>
          <a:p>
            <a:endParaRPr lang="ko-KR" altLang="en-US"/>
          </a:p>
        </p:txBody>
      </p:sp>
      <p:sp>
        <p:nvSpPr>
          <p:cNvPr id="22" name="Text 19"/>
          <p:cNvSpPr txBox="1"/>
          <p:nvPr/>
        </p:nvSpPr>
        <p:spPr>
          <a:xfrm>
            <a:off x="8321040" y="292608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천공과 내시경</a:t>
            </a:r>
            <a:endParaRPr lang="en-US" sz="1700" dirty="0"/>
          </a:p>
        </p:txBody>
      </p:sp>
      <p:sp>
        <p:nvSpPr>
          <p:cNvPr id="23" name="Text 20"/>
          <p:cNvSpPr txBox="1"/>
          <p:nvPr/>
        </p:nvSpPr>
        <p:spPr>
          <a:xfrm>
            <a:off x="8321040" y="331012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도로관리기관 승인과 교통통제 뒤에만 진행합니다.</a:t>
            </a:r>
            <a:endParaRPr lang="en-US" sz="1400" dirty="0"/>
          </a:p>
        </p:txBody>
      </p:sp>
      <p:sp>
        <p:nvSpPr>
          <p:cNvPr id="24" name="rule"/>
          <p:cNvSpPr/>
          <p:nvPr/>
        </p:nvSpPr>
        <p:spPr>
          <a:xfrm>
            <a:off x="4846320" y="4572000"/>
            <a:ext cx="3200400" cy="0"/>
          </a:xfrm>
          <a:prstGeom prst="line">
            <a:avLst/>
          </a:prstGeom>
          <a:noFill/>
          <a:ln w="12700">
            <a:solidFill>
              <a:srgbClr val="101828"/>
            </a:solidFill>
            <a:prstDash val="solid"/>
          </a:ln>
        </p:spPr>
        <p:txBody>
          <a:bodyPr/>
          <a:lstStyle/>
          <a:p>
            <a:endParaRPr lang="ko-KR" altLang="en-US"/>
          </a:p>
        </p:txBody>
      </p:sp>
      <p:sp>
        <p:nvSpPr>
          <p:cNvPr id="25" name="Text 22"/>
          <p:cNvSpPr txBox="1"/>
          <p:nvPr/>
        </p:nvSpPr>
        <p:spPr>
          <a:xfrm>
            <a:off x="4846320" y="470916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AR 위치 오차</a:t>
            </a:r>
            <a:endParaRPr lang="en-US" sz="1700" dirty="0"/>
          </a:p>
        </p:txBody>
      </p:sp>
      <p:sp>
        <p:nvSpPr>
          <p:cNvPr id="26" name="Text 23"/>
          <p:cNvSpPr txBox="1"/>
          <p:nvPr/>
        </p:nvSpPr>
        <p:spPr>
          <a:xfrm>
            <a:off x="4846320" y="509320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오차가 기준을 넘으면 검색 범위를 표시하지 않습니다. [실증 필요]</a:t>
            </a:r>
            <a:endParaRPr lang="en-US" sz="1400" dirty="0"/>
          </a:p>
        </p:txBody>
      </p:sp>
      <p:sp>
        <p:nvSpPr>
          <p:cNvPr id="27" name="rule"/>
          <p:cNvSpPr/>
          <p:nvPr/>
        </p:nvSpPr>
        <p:spPr>
          <a:xfrm>
            <a:off x="8321040" y="4572000"/>
            <a:ext cx="3200400" cy="0"/>
          </a:xfrm>
          <a:prstGeom prst="line">
            <a:avLst/>
          </a:prstGeom>
          <a:noFill/>
          <a:ln w="12700">
            <a:solidFill>
              <a:srgbClr val="101828"/>
            </a:solidFill>
            <a:prstDash val="solid"/>
          </a:ln>
        </p:spPr>
        <p:txBody>
          <a:bodyPr/>
          <a:lstStyle/>
          <a:p>
            <a:endParaRPr lang="ko-KR" altLang="en-US"/>
          </a:p>
        </p:txBody>
      </p:sp>
      <p:sp>
        <p:nvSpPr>
          <p:cNvPr id="28" name="Text 25"/>
          <p:cNvSpPr txBox="1"/>
          <p:nvPr/>
        </p:nvSpPr>
        <p:spPr>
          <a:xfrm>
            <a:off x="8321040" y="4709160"/>
            <a:ext cx="3200400" cy="347472"/>
          </a:xfrm>
          <a:prstGeom prst="rect">
            <a:avLst/>
          </a:prstGeom>
          <a:noFill/>
          <a:ln/>
        </p:spPr>
        <p:txBody>
          <a:bodyPr wrap="square" lIns="0" tIns="0" rIns="0" bIns="0" rtlCol="0" anchor="t"/>
          <a:lstStyle/>
          <a:p>
            <a:pPr marL="0" indent="0">
              <a:buNone/>
            </a:pPr>
            <a:r>
              <a:rPr lang="en-US" sz="1700" b="1" dirty="0">
                <a:solidFill>
                  <a:srgbClr val="101828"/>
                </a:solidFill>
              </a:rPr>
              <a:t>개인정보</a:t>
            </a:r>
            <a:endParaRPr lang="en-US" sz="1700" dirty="0"/>
          </a:p>
        </p:txBody>
      </p:sp>
      <p:sp>
        <p:nvSpPr>
          <p:cNvPr id="29" name="Text 26"/>
          <p:cNvSpPr txBox="1"/>
          <p:nvPr/>
        </p:nvSpPr>
        <p:spPr>
          <a:xfrm>
            <a:off x="8321040" y="5093208"/>
            <a:ext cx="3200400" cy="1005840"/>
          </a:xfrm>
          <a:prstGeom prst="rect">
            <a:avLst/>
          </a:prstGeom>
          <a:noFill/>
          <a:ln/>
        </p:spPr>
        <p:txBody>
          <a:bodyPr wrap="square" lIns="0" tIns="0" rIns="0" bIns="0" rtlCol="0" anchor="t"/>
          <a:lstStyle/>
          <a:p>
            <a:pPr marL="0" indent="0">
              <a:spcAft>
                <a:spcPts val="300"/>
              </a:spcAft>
              <a:buNone/>
            </a:pPr>
            <a:r>
              <a:rPr lang="en-US" sz="1400" dirty="0">
                <a:solidFill>
                  <a:srgbClr val="5B6573"/>
                </a:solidFill>
              </a:rPr>
              <a:t>지상 영상의 얼굴과 차량번호는 비식별화한 뒤 저장하고 공유합니다.</a:t>
            </a:r>
            <a:endParaRPr lang="en-US" sz="1400" dirty="0"/>
          </a:p>
        </p:txBody>
      </p:sp>
      <p:sp>
        <p:nvSpPr>
          <p:cNvPr id="30"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운영 원칙은 제안안입니다. 실제 운영 전 산업안전보건, 도로교통, 개인정보보호 관련 법령 검토가 필요합니다.</a:t>
            </a:r>
            <a:endParaRPr lang="en-US" sz="1000" dirty="0"/>
          </a:p>
        </p:txBody>
      </p:sp>
      <p:sp>
        <p:nvSpPr>
          <p:cNvPr id="31"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3 사업 모델</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탐사 용역에서 시작해 연간 관제 계약과 패키지로 넓힌다</a:t>
            </a:r>
            <a:endParaRPr lang="en-US" sz="1900" dirty="0"/>
          </a:p>
        </p:txBody>
      </p:sp>
      <p:sp>
        <p:nvSpPr>
          <p:cNvPr id="4" name="Text 2"/>
          <p:cNvSpPr txBox="1"/>
          <p:nvPr/>
        </p:nvSpPr>
        <p:spPr>
          <a:xfrm>
            <a:off x="54864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1단계</a:t>
            </a:r>
            <a:endParaRPr lang="en-US" sz="1300" dirty="0"/>
          </a:p>
        </p:txBody>
      </p:sp>
      <p:sp>
        <p:nvSpPr>
          <p:cNvPr id="5" name="Text 3"/>
          <p:cNvSpPr txBox="1"/>
          <p:nvPr/>
        </p:nvSpPr>
        <p:spPr>
          <a:xfrm>
            <a:off x="54864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탐사 용역</a:t>
            </a:r>
            <a:endParaRPr lang="en-US" sz="2200" dirty="0"/>
          </a:p>
        </p:txBody>
      </p:sp>
      <p:sp>
        <p:nvSpPr>
          <p:cNvPr id="6" name="rule"/>
          <p:cNvSpPr/>
          <p:nvPr/>
        </p:nvSpPr>
        <p:spPr>
          <a:xfrm>
            <a:off x="548640" y="1828800"/>
            <a:ext cx="3520440" cy="0"/>
          </a:xfrm>
          <a:prstGeom prst="line">
            <a:avLst/>
          </a:prstGeom>
          <a:noFill/>
          <a:ln w="12700">
            <a:solidFill>
              <a:srgbClr val="101828"/>
            </a:solidFill>
            <a:prstDash val="solid"/>
          </a:ln>
        </p:spPr>
        <p:txBody>
          <a:bodyPr/>
          <a:lstStyle/>
          <a:p>
            <a:endParaRPr lang="ko-KR" altLang="en-US"/>
          </a:p>
        </p:txBody>
      </p:sp>
      <p:sp>
        <p:nvSpPr>
          <p:cNvPr id="7" name="Text 5"/>
          <p:cNvSpPr txBox="1"/>
          <p:nvPr/>
        </p:nvSpPr>
        <p:spPr>
          <a:xfrm>
            <a:off x="54864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주행 거리 기반 과금</a:t>
            </a:r>
            <a:endParaRPr lang="en-US" sz="1500" dirty="0"/>
          </a:p>
          <a:p>
            <a:pPr marL="342900" indent="-342900">
              <a:spcAft>
                <a:spcPts val="700"/>
              </a:spcAft>
              <a:buSzPct val="100000"/>
              <a:buChar char="•"/>
            </a:pPr>
            <a:r>
              <a:rPr lang="en-US" sz="1500" dirty="0">
                <a:solidFill>
                  <a:srgbClr val="101828"/>
                </a:solidFill>
              </a:rPr>
              <a:t>위험지역 집중 탐사</a:t>
            </a:r>
            <a:endParaRPr lang="en-US" sz="1500" dirty="0"/>
          </a:p>
          <a:p>
            <a:pPr marL="342900" indent="-342900">
              <a:spcAft>
                <a:spcPts val="700"/>
              </a:spcAft>
              <a:buSzPct val="100000"/>
              <a:buChar char="•"/>
            </a:pPr>
            <a:r>
              <a:rPr lang="en-US" sz="1500" dirty="0">
                <a:solidFill>
                  <a:srgbClr val="101828"/>
                </a:solidFill>
              </a:rPr>
              <a:t>공사 전후 비교 탐사</a:t>
            </a:r>
            <a:endParaRPr lang="en-US" sz="1500" dirty="0"/>
          </a:p>
          <a:p>
            <a:pPr marL="342900" indent="-342900">
              <a:spcAft>
                <a:spcPts val="700"/>
              </a:spcAft>
              <a:buSzPct val="100000"/>
              <a:buChar char="•"/>
            </a:pPr>
            <a:r>
              <a:rPr lang="en-US" sz="1500" dirty="0">
                <a:solidFill>
                  <a:srgbClr val="101828"/>
                </a:solidFill>
              </a:rPr>
              <a:t>집중호우 후 긴급 탐사</a:t>
            </a:r>
            <a:endParaRPr lang="en-US" sz="1500" dirty="0"/>
          </a:p>
          <a:p>
            <a:pPr marL="342900" indent="-342900">
              <a:spcAft>
                <a:spcPts val="700"/>
              </a:spcAft>
              <a:buSzPct val="100000"/>
              <a:buChar char="•"/>
            </a:pPr>
            <a:r>
              <a:rPr lang="en-US" sz="1500" dirty="0">
                <a:solidFill>
                  <a:srgbClr val="101828"/>
                </a:solidFill>
              </a:rPr>
              <a:t>정밀 재탐사</a:t>
            </a:r>
            <a:endParaRPr lang="en-US" sz="1500" dirty="0"/>
          </a:p>
        </p:txBody>
      </p:sp>
      <p:sp>
        <p:nvSpPr>
          <p:cNvPr id="8" name="arrow"/>
          <p:cNvSpPr/>
          <p:nvPr/>
        </p:nvSpPr>
        <p:spPr>
          <a:xfrm>
            <a:off x="4096512" y="1527048"/>
            <a:ext cx="201168" cy="914"/>
          </a:xfrm>
          <a:prstGeom prst="line">
            <a:avLst/>
          </a:prstGeom>
          <a:noFill/>
          <a:ln w="22225">
            <a:solidFill>
              <a:srgbClr val="8A94A3"/>
            </a:solidFill>
            <a:prstDash val="solid"/>
            <a:tailEnd type="triangle"/>
          </a:ln>
        </p:spPr>
        <p:txBody>
          <a:bodyPr/>
          <a:lstStyle/>
          <a:p>
            <a:endParaRPr lang="ko-KR" altLang="en-US"/>
          </a:p>
        </p:txBody>
      </p:sp>
      <p:sp>
        <p:nvSpPr>
          <p:cNvPr id="9" name="Text 7"/>
          <p:cNvSpPr txBox="1"/>
          <p:nvPr/>
        </p:nvSpPr>
        <p:spPr>
          <a:xfrm>
            <a:off x="434340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2단계</a:t>
            </a:r>
            <a:endParaRPr lang="en-US" sz="1300" dirty="0"/>
          </a:p>
        </p:txBody>
      </p:sp>
      <p:sp>
        <p:nvSpPr>
          <p:cNvPr id="10" name="Text 8"/>
          <p:cNvSpPr txBox="1"/>
          <p:nvPr/>
        </p:nvSpPr>
        <p:spPr>
          <a:xfrm>
            <a:off x="434340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연간 관제 계약</a:t>
            </a:r>
            <a:endParaRPr lang="en-US" sz="2200" dirty="0"/>
          </a:p>
        </p:txBody>
      </p:sp>
      <p:sp>
        <p:nvSpPr>
          <p:cNvPr id="11" name="rule"/>
          <p:cNvSpPr/>
          <p:nvPr/>
        </p:nvSpPr>
        <p:spPr>
          <a:xfrm>
            <a:off x="4343400" y="1828800"/>
            <a:ext cx="3520440" cy="0"/>
          </a:xfrm>
          <a:prstGeom prst="line">
            <a:avLst/>
          </a:prstGeom>
          <a:noFill/>
          <a:ln w="12700">
            <a:solidFill>
              <a:srgbClr val="101828"/>
            </a:solidFill>
            <a:prstDash val="solid"/>
          </a:ln>
        </p:spPr>
        <p:txBody>
          <a:bodyPr/>
          <a:lstStyle/>
          <a:p>
            <a:endParaRPr lang="ko-KR" altLang="en-US"/>
          </a:p>
        </p:txBody>
      </p:sp>
      <p:sp>
        <p:nvSpPr>
          <p:cNvPr id="12" name="Text 10"/>
          <p:cNvSpPr txBox="1"/>
          <p:nvPr/>
        </p:nvSpPr>
        <p:spPr>
          <a:xfrm>
            <a:off x="434340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정기 순찰과 4D 변화지도</a:t>
            </a:r>
            <a:endParaRPr lang="en-US" sz="1500" dirty="0"/>
          </a:p>
          <a:p>
            <a:pPr marL="342900" indent="-342900">
              <a:spcAft>
                <a:spcPts val="700"/>
              </a:spcAft>
              <a:buSzPct val="100000"/>
              <a:buChar char="•"/>
            </a:pPr>
            <a:r>
              <a:rPr lang="en-US" sz="1500" dirty="0">
                <a:solidFill>
                  <a:srgbClr val="101828"/>
                </a:solidFill>
              </a:rPr>
              <a:t>AI 변화 감지와 GIS 대시보드</a:t>
            </a:r>
            <a:endParaRPr lang="en-US" sz="1500" dirty="0"/>
          </a:p>
          <a:p>
            <a:pPr marL="342900" indent="-342900">
              <a:spcAft>
                <a:spcPts val="700"/>
              </a:spcAft>
              <a:buSzPct val="100000"/>
              <a:buChar char="•"/>
            </a:pPr>
            <a:r>
              <a:rPr lang="en-US" sz="1500" dirty="0">
                <a:solidFill>
                  <a:srgbClr val="101828"/>
                </a:solidFill>
              </a:rPr>
              <a:t>정기 보고서와 우선순위</a:t>
            </a:r>
            <a:endParaRPr lang="en-US" sz="1500" dirty="0"/>
          </a:p>
          <a:p>
            <a:pPr marL="342900" indent="-342900">
              <a:spcAft>
                <a:spcPts val="700"/>
              </a:spcAft>
              <a:buSzPct val="100000"/>
              <a:buChar char="•"/>
            </a:pPr>
            <a:r>
              <a:rPr lang="en-US" sz="1500" dirty="0">
                <a:solidFill>
                  <a:srgbClr val="101828"/>
                </a:solidFill>
              </a:rPr>
              <a:t>이력 관리와 보수 후 재검증</a:t>
            </a:r>
            <a:endParaRPr lang="en-US" sz="1500" dirty="0"/>
          </a:p>
          <a:p>
            <a:pPr marL="342900" indent="-342900">
              <a:spcAft>
                <a:spcPts val="700"/>
              </a:spcAft>
              <a:buSzPct val="100000"/>
              <a:buChar char="•"/>
            </a:pPr>
            <a:r>
              <a:rPr lang="en-US" sz="1500" dirty="0">
                <a:solidFill>
                  <a:srgbClr val="101828"/>
                </a:solidFill>
              </a:rPr>
              <a:t>공공기관 연간 구독</a:t>
            </a:r>
            <a:endParaRPr lang="en-US" sz="1500" dirty="0"/>
          </a:p>
        </p:txBody>
      </p:sp>
      <p:sp>
        <p:nvSpPr>
          <p:cNvPr id="13" name="arrow"/>
          <p:cNvSpPr/>
          <p:nvPr/>
        </p:nvSpPr>
        <p:spPr>
          <a:xfrm>
            <a:off x="7891272" y="1527048"/>
            <a:ext cx="201168" cy="914"/>
          </a:xfrm>
          <a:prstGeom prst="line">
            <a:avLst/>
          </a:prstGeom>
          <a:noFill/>
          <a:ln w="22225">
            <a:solidFill>
              <a:srgbClr val="8A94A3"/>
            </a:solidFill>
            <a:prstDash val="solid"/>
            <a:tailEnd type="triangle"/>
          </a:ln>
        </p:spPr>
        <p:txBody>
          <a:bodyPr/>
          <a:lstStyle/>
          <a:p>
            <a:endParaRPr lang="ko-KR" altLang="en-US"/>
          </a:p>
        </p:txBody>
      </p:sp>
      <p:sp>
        <p:nvSpPr>
          <p:cNvPr id="14" name="Text 12"/>
          <p:cNvSpPr txBox="1"/>
          <p:nvPr/>
        </p:nvSpPr>
        <p:spPr>
          <a:xfrm>
            <a:off x="8138160" y="1005840"/>
            <a:ext cx="3520440" cy="292608"/>
          </a:xfrm>
          <a:prstGeom prst="rect">
            <a:avLst/>
          </a:prstGeom>
          <a:noFill/>
          <a:ln/>
        </p:spPr>
        <p:txBody>
          <a:bodyPr wrap="square" lIns="0" tIns="0" rIns="0" bIns="0" rtlCol="0" anchor="ctr"/>
          <a:lstStyle/>
          <a:p>
            <a:pPr marL="0" indent="0">
              <a:buNone/>
            </a:pPr>
            <a:r>
              <a:rPr lang="en-US" sz="1300" b="1" dirty="0">
                <a:solidFill>
                  <a:srgbClr val="5B6573"/>
                </a:solidFill>
              </a:rPr>
              <a:t>3단계</a:t>
            </a:r>
            <a:endParaRPr lang="en-US" sz="1300" dirty="0"/>
          </a:p>
        </p:txBody>
      </p:sp>
      <p:sp>
        <p:nvSpPr>
          <p:cNvPr id="15" name="Text 13"/>
          <p:cNvSpPr txBox="1"/>
          <p:nvPr/>
        </p:nvSpPr>
        <p:spPr>
          <a:xfrm>
            <a:off x="8138160" y="1298448"/>
            <a:ext cx="3520440" cy="457200"/>
          </a:xfrm>
          <a:prstGeom prst="rect">
            <a:avLst/>
          </a:prstGeom>
          <a:noFill/>
          <a:ln/>
        </p:spPr>
        <p:txBody>
          <a:bodyPr wrap="square" lIns="0" tIns="0" rIns="0" bIns="0" rtlCol="0" anchor="ctr"/>
          <a:lstStyle/>
          <a:p>
            <a:pPr marL="0" indent="0">
              <a:buNone/>
            </a:pPr>
            <a:r>
              <a:rPr lang="en-US" sz="2200" b="1" dirty="0">
                <a:solidFill>
                  <a:srgbClr val="0B1F3A"/>
                </a:solidFill>
              </a:rPr>
              <a:t>차량·소프트웨어 패키지</a:t>
            </a:r>
            <a:endParaRPr lang="en-US" sz="2200" dirty="0"/>
          </a:p>
        </p:txBody>
      </p:sp>
      <p:sp>
        <p:nvSpPr>
          <p:cNvPr id="16" name="rule"/>
          <p:cNvSpPr/>
          <p:nvPr/>
        </p:nvSpPr>
        <p:spPr>
          <a:xfrm>
            <a:off x="8138160" y="1828800"/>
            <a:ext cx="3520440" cy="0"/>
          </a:xfrm>
          <a:prstGeom prst="line">
            <a:avLst/>
          </a:prstGeom>
          <a:noFill/>
          <a:ln w="12700">
            <a:solidFill>
              <a:srgbClr val="101828"/>
            </a:solidFill>
            <a:prstDash val="solid"/>
          </a:ln>
        </p:spPr>
        <p:txBody>
          <a:bodyPr/>
          <a:lstStyle/>
          <a:p>
            <a:endParaRPr lang="ko-KR" altLang="en-US"/>
          </a:p>
        </p:txBody>
      </p:sp>
      <p:sp>
        <p:nvSpPr>
          <p:cNvPr id="17" name="Text 15"/>
          <p:cNvSpPr txBox="1"/>
          <p:nvPr/>
        </p:nvSpPr>
        <p:spPr>
          <a:xfrm>
            <a:off x="8138160" y="1965960"/>
            <a:ext cx="3520440" cy="21945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01828"/>
                </a:solidFill>
              </a:rPr>
              <a:t>PV5 GroundWatch 컨버전 차량</a:t>
            </a:r>
            <a:endParaRPr lang="en-US" sz="1500" dirty="0"/>
          </a:p>
          <a:p>
            <a:pPr marL="342900" indent="-342900">
              <a:spcAft>
                <a:spcPts val="700"/>
              </a:spcAft>
              <a:buSzPct val="100000"/>
              <a:buChar char="•"/>
            </a:pPr>
            <a:r>
              <a:rPr lang="en-US" sz="1500" dirty="0">
                <a:solidFill>
                  <a:srgbClr val="101828"/>
                </a:solidFill>
              </a:rPr>
              <a:t>GPR·카메라 센서 패키지</a:t>
            </a:r>
            <a:endParaRPr lang="en-US" sz="1500" dirty="0"/>
          </a:p>
          <a:p>
            <a:pPr marL="342900" indent="-342900">
              <a:spcAft>
                <a:spcPts val="700"/>
              </a:spcAft>
              <a:buSzPct val="100000"/>
              <a:buChar char="•"/>
            </a:pPr>
            <a:r>
              <a:rPr lang="en-US" sz="1500" dirty="0">
                <a:solidFill>
                  <a:srgbClr val="101828"/>
                </a:solidFill>
              </a:rPr>
              <a:t>Patrol 앱, Edge Gateway, AR</a:t>
            </a:r>
            <a:endParaRPr lang="en-US" sz="1500" dirty="0"/>
          </a:p>
          <a:p>
            <a:pPr marL="342900" indent="-342900">
              <a:spcAft>
                <a:spcPts val="700"/>
              </a:spcAft>
              <a:buSzPct val="100000"/>
              <a:buChar char="•"/>
            </a:pPr>
            <a:r>
              <a:rPr lang="en-US" sz="1500" dirty="0">
                <a:solidFill>
                  <a:srgbClr val="101828"/>
                </a:solidFill>
              </a:rPr>
              <a:t>AI 분석 SW와 관제 대시보드</a:t>
            </a:r>
            <a:endParaRPr lang="en-US" sz="1500" dirty="0"/>
          </a:p>
          <a:p>
            <a:pPr marL="342900" indent="-342900">
              <a:spcAft>
                <a:spcPts val="700"/>
              </a:spcAft>
              <a:buSzPct val="100000"/>
              <a:buChar char="•"/>
            </a:pPr>
            <a:r>
              <a:rPr lang="en-US" sz="1500" dirty="0">
                <a:solidFill>
                  <a:srgbClr val="101828"/>
                </a:solidFill>
              </a:rPr>
              <a:t>유지보수와 교육</a:t>
            </a:r>
            <a:endParaRPr lang="en-US" sz="1500" dirty="0"/>
          </a:p>
        </p:txBody>
      </p:sp>
      <p:sp>
        <p:nvSpPr>
          <p:cNvPr id="18" name="rule"/>
          <p:cNvSpPr/>
          <p:nvPr/>
        </p:nvSpPr>
        <p:spPr>
          <a:xfrm>
            <a:off x="548640" y="4434840"/>
            <a:ext cx="11094415" cy="0"/>
          </a:xfrm>
          <a:prstGeom prst="line">
            <a:avLst/>
          </a:prstGeom>
          <a:noFill/>
          <a:ln w="12700">
            <a:solidFill>
              <a:srgbClr val="DCE1E8"/>
            </a:solidFill>
            <a:prstDash val="solid"/>
          </a:ln>
        </p:spPr>
        <p:txBody>
          <a:bodyPr/>
          <a:lstStyle/>
          <a:p>
            <a:endParaRPr lang="ko-KR" altLang="en-US"/>
          </a:p>
        </p:txBody>
      </p:sp>
      <p:sp>
        <p:nvSpPr>
          <p:cNvPr id="19" name="Text 17"/>
          <p:cNvSpPr txBox="1"/>
          <p:nvPr/>
        </p:nvSpPr>
        <p:spPr>
          <a:xfrm>
            <a:off x="548640" y="4572000"/>
            <a:ext cx="2743200" cy="329184"/>
          </a:xfrm>
          <a:prstGeom prst="rect">
            <a:avLst/>
          </a:prstGeom>
          <a:noFill/>
          <a:ln/>
        </p:spPr>
        <p:txBody>
          <a:bodyPr wrap="square" lIns="0" tIns="0" rIns="0" bIns="0" rtlCol="0" anchor="ctr"/>
          <a:lstStyle/>
          <a:p>
            <a:pPr marL="0" indent="0">
              <a:buNone/>
            </a:pPr>
            <a:r>
              <a:rPr lang="en-US" sz="1500" b="1" dirty="0">
                <a:solidFill>
                  <a:srgbClr val="101828"/>
                </a:solidFill>
              </a:rPr>
              <a:t>주요 고객</a:t>
            </a:r>
            <a:endParaRPr lang="en-US" sz="1500" dirty="0"/>
          </a:p>
        </p:txBody>
      </p:sp>
      <p:sp>
        <p:nvSpPr>
          <p:cNvPr id="20" name="Text 18"/>
          <p:cNvSpPr txBox="1"/>
          <p:nvPr/>
        </p:nvSpPr>
        <p:spPr>
          <a:xfrm>
            <a:off x="548640" y="4919472"/>
            <a:ext cx="11094415" cy="548640"/>
          </a:xfrm>
          <a:prstGeom prst="rect">
            <a:avLst/>
          </a:prstGeom>
          <a:noFill/>
          <a:ln/>
        </p:spPr>
        <p:txBody>
          <a:bodyPr wrap="square" lIns="0" tIns="0" rIns="0" bIns="0" rtlCol="0" anchor="t"/>
          <a:lstStyle/>
          <a:p>
            <a:pPr marL="0" indent="0">
              <a:buNone/>
            </a:pPr>
            <a:r>
              <a:rPr lang="en-US" sz="1500" dirty="0">
                <a:solidFill>
                  <a:srgbClr val="5B6573"/>
                </a:solidFill>
              </a:rPr>
              <a:t>서울시와 자치구 도로관리 부서, 서울교통공사와 철도 운영기관, 상하수도 관리기관, 지하안전 조사기업, 도심 굴착공사 건설사</a:t>
            </a:r>
            <a:endParaRPr lang="en-US" sz="1500" dirty="0"/>
          </a:p>
        </p:txBody>
      </p:sp>
      <p:sp>
        <p:nvSpPr>
          <p:cNvPr id="21" name="Text 19"/>
          <p:cNvSpPr txBox="1"/>
          <p:nvPr/>
        </p:nvSpPr>
        <p:spPr>
          <a:xfrm>
            <a:off x="548640" y="5577840"/>
            <a:ext cx="11094415" cy="548640"/>
          </a:xfrm>
          <a:prstGeom prst="rect">
            <a:avLst/>
          </a:prstGeom>
          <a:noFill/>
          <a:ln/>
        </p:spPr>
        <p:txBody>
          <a:bodyPr wrap="square" lIns="0" tIns="0" rIns="0" bIns="0" rtlCol="0" anchor="t"/>
          <a:lstStyle/>
          <a:p>
            <a:pPr marL="0" indent="0">
              <a:buNone/>
            </a:pPr>
            <a:r>
              <a:rPr lang="en-US" sz="1400" b="1" dirty="0">
                <a:solidFill>
                  <a:srgbClr val="D93025"/>
                </a:solidFill>
              </a:rPr>
              <a:t>[가설] </a:t>
            </a:r>
            <a:r>
              <a:rPr lang="en-US" sz="1400" dirty="0">
                <a:solidFill>
                  <a:srgbClr val="101828"/>
                </a:solidFill>
              </a:rPr>
              <a:t>가격과 단가는 원가와 발주기관의 지불 의사를 확인한 뒤 설계합니다. 지하정보는 팔지 않고 접근제어형 서비스로만 제공합니다.</a:t>
            </a:r>
            <a:endParaRPr lang="en-US" sz="14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B2G 중심, B2B 확장. 단가와 계약 형태는 실증 단계에서 확정합니다.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0B1F3A"/>
          </a:solidFill>
          <a:ln>
            <a:solidFill>
              <a:srgbClr val="0B1F3A"/>
            </a:solidFill>
          </a:ln>
        </p:spPr>
        <p:txBody>
          <a:bodyPr wrap="square" lIns="0" tIns="0" rIns="0" bIns="0" rtlCol="0" anchor="ctr"/>
          <a:lstStyle/>
          <a:p>
            <a:pPr marL="0" indent="0" algn="ctr">
              <a:buNone/>
            </a:pPr>
            <a:r>
              <a:rPr lang="en-US" sz="1400" b="1" dirty="0">
                <a:solidFill>
                  <a:srgbClr val="FFFFFF"/>
                </a:solidFill>
              </a:rPr>
              <a:t>부록 4 근거와 검증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확인된 사실과 검증할 가설을 나눠 관리한다</a:t>
            </a:r>
            <a:endParaRPr lang="en-US" sz="1900" dirty="0"/>
          </a:p>
        </p:txBody>
      </p:sp>
      <p:sp>
        <p:nvSpPr>
          <p:cNvPr id="4" name="Text 2"/>
          <p:cNvSpPr txBox="1"/>
          <p:nvPr/>
        </p:nvSpPr>
        <p:spPr>
          <a:xfrm>
            <a:off x="548640" y="1005840"/>
            <a:ext cx="5394960" cy="347472"/>
          </a:xfrm>
          <a:prstGeom prst="rect">
            <a:avLst/>
          </a:prstGeom>
          <a:noFill/>
          <a:ln/>
        </p:spPr>
        <p:txBody>
          <a:bodyPr wrap="square" lIns="0" tIns="0" rIns="0" bIns="0" rtlCol="0" anchor="ctr"/>
          <a:lstStyle/>
          <a:p>
            <a:pPr marL="0" indent="0">
              <a:buNone/>
            </a:pPr>
            <a:r>
              <a:rPr lang="en-US" sz="1600" b="1" dirty="0">
                <a:solidFill>
                  <a:srgbClr val="101828"/>
                </a:solidFill>
              </a:rPr>
              <a:t>확정 데이터와 출처</a:t>
            </a:r>
            <a:endParaRPr lang="en-US" sz="1600" dirty="0"/>
          </a:p>
        </p:txBody>
      </p:sp>
      <p:graphicFrame>
        <p:nvGraphicFramePr>
          <p:cNvPr id="28" name="facts"/>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5B6573"/>
                          </a:solidFill>
                        </a:rPr>
                        <a:t>항목</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300" b="1" dirty="0">
                          <a:solidFill>
                            <a:srgbClr val="5B6573"/>
                          </a:solidFill>
                        </a:rPr>
                        <a:t>출처</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01828"/>
                          </a:solidFill>
                        </a:rPr>
                        <a:t>명일동 사고 규모와 원인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국토부 조사결과(2025.12.3)</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01828"/>
                          </a:solidFill>
                        </a:rPr>
                        <a:t>연희동 5월 탐사 미발견</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설명(뉴시스 2024.8.30)</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01828"/>
                          </a:solidFill>
                        </a:rPr>
                        <a:t>서울시 탐사 실적과 계획</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보도자료, 경향신문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01828"/>
                          </a:solidFill>
                        </a:rPr>
                        <a:t>고주파 GPR 약 2m</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 인용 보도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01828"/>
                          </a:solidFill>
                        </a:rPr>
                        <a:t>PV5 제원과 V2L 3.6kW</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기아, 현대차그룹</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01828"/>
                          </a:solidFill>
                        </a:rPr>
                        <a:t>AAOS IVI와 App Market</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Kia PBV(개발 목표 고지)</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01828"/>
                          </a:solidFill>
                        </a:rPr>
                        <a:t>GPR 원리와 한계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FHWA</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txBox="1"/>
          <p:nvPr/>
        </p:nvSpPr>
        <p:spPr>
          <a:xfrm>
            <a:off x="6309360" y="1005840"/>
            <a:ext cx="5330952" cy="347472"/>
          </a:xfrm>
          <a:prstGeom prst="rect">
            <a:avLst/>
          </a:prstGeom>
          <a:noFill/>
          <a:ln/>
        </p:spPr>
        <p:txBody>
          <a:bodyPr wrap="square" lIns="0" tIns="0" rIns="0" bIns="0" rtlCol="0" anchor="ctr"/>
          <a:lstStyle/>
          <a:p>
            <a:pPr marL="0" indent="0">
              <a:buNone/>
            </a:pPr>
            <a:r>
              <a:rPr lang="en-US" sz="1600" b="1" dirty="0">
                <a:solidFill>
                  <a:srgbClr val="D93025"/>
                </a:solidFill>
              </a:rPr>
              <a:t>실증이 필요한 항목</a:t>
            </a:r>
            <a:endParaRPr lang="en-US" sz="1600" dirty="0"/>
          </a:p>
        </p:txBody>
      </p:sp>
      <p:sp>
        <p:nvSpPr>
          <p:cNvPr id="7" name="Text 4"/>
          <p:cNvSpPr txBox="1"/>
          <p:nvPr/>
        </p:nvSpPr>
        <p:spPr>
          <a:xfrm>
            <a:off x="6309360" y="1417320"/>
            <a:ext cx="5330952" cy="3108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01828"/>
                </a:solidFill>
              </a:rPr>
              <a:t>GPR와 전기차 전자파 간섭, 배터리팩 영향</a:t>
            </a:r>
            <a:endParaRPr lang="en-US" sz="1400" dirty="0"/>
          </a:p>
          <a:p>
            <a:pPr marL="342900" indent="-342900">
              <a:spcAft>
                <a:spcPts val="500"/>
              </a:spcAft>
              <a:buSzPct val="100000"/>
              <a:buChar char="•"/>
            </a:pPr>
            <a:r>
              <a:rPr lang="en-US" sz="1400" dirty="0">
                <a:solidFill>
                  <a:srgbClr val="101828"/>
                </a:solidFill>
              </a:rPr>
              <a:t>장비 소비전력과 V2L 운용, 주행거리 영향</a:t>
            </a:r>
            <a:endParaRPr lang="en-US" sz="1400" dirty="0"/>
          </a:p>
          <a:p>
            <a:pPr marL="342900" indent="-342900">
              <a:spcAft>
                <a:spcPts val="500"/>
              </a:spcAft>
              <a:buSzPct val="100000"/>
              <a:buChar char="•"/>
            </a:pPr>
            <a:r>
              <a:rPr lang="en-US" sz="1400" dirty="0">
                <a:solidFill>
                  <a:srgbClr val="101828"/>
                </a:solidFill>
              </a:rPr>
              <a:t>적재중량, 차량총중량, 축하중, 구조변경</a:t>
            </a:r>
            <a:endParaRPr lang="en-US" sz="1400" dirty="0"/>
          </a:p>
          <a:p>
            <a:pPr marL="342900" indent="-342900">
              <a:spcAft>
                <a:spcPts val="500"/>
              </a:spcAft>
              <a:buSzPct val="100000"/>
              <a:buChar char="•"/>
            </a:pPr>
            <a:r>
              <a:rPr lang="en-US" sz="1400" dirty="0">
                <a:solidFill>
                  <a:srgbClr val="101828"/>
                </a:solidFill>
              </a:rPr>
              <a:t>AR 위치 정확도와 야간 기준점 인식</a:t>
            </a:r>
            <a:endParaRPr lang="en-US" sz="1400" dirty="0"/>
          </a:p>
          <a:p>
            <a:pPr marL="342900" indent="-342900">
              <a:spcAft>
                <a:spcPts val="500"/>
              </a:spcAft>
              <a:buSzPct val="100000"/>
              <a:buChar char="•"/>
            </a:pPr>
            <a:r>
              <a:rPr lang="en-US" sz="1400" dirty="0">
                <a:solidFill>
                  <a:srgbClr val="101828"/>
                </a:solidFill>
              </a:rPr>
              <a:t>차량 앱 배포 경로와 공식 API 범위</a:t>
            </a:r>
            <a:endParaRPr lang="en-US" sz="1400" dirty="0"/>
          </a:p>
          <a:p>
            <a:pPr marL="342900" indent="-342900">
              <a:spcAft>
                <a:spcPts val="500"/>
              </a:spcAft>
              <a:buSzPct val="100000"/>
              <a:buChar char="•"/>
            </a:pPr>
            <a:r>
              <a:rPr lang="en-US" sz="1400" dirty="0">
                <a:solidFill>
                  <a:srgbClr val="101828"/>
                </a:solidFill>
              </a:rPr>
              <a:t>앱, 게이트웨이, 글래스 통신 지연과 단절 대응</a:t>
            </a:r>
            <a:endParaRPr lang="en-US" sz="1400" dirty="0"/>
          </a:p>
          <a:p>
            <a:pPr marL="342900" indent="-342900">
              <a:spcAft>
                <a:spcPts val="500"/>
              </a:spcAft>
              <a:buSzPct val="100000"/>
              <a:buChar char="•"/>
            </a:pPr>
            <a:r>
              <a:rPr lang="en-US" sz="1400" dirty="0">
                <a:solidFill>
                  <a:srgbClr val="101828"/>
                </a:solidFill>
              </a:rPr>
              <a:t>AI 탐지율, 오탐률, 미탐률(천공 확인 기준)</a:t>
            </a:r>
            <a:endParaRPr lang="en-US" sz="1400" dirty="0"/>
          </a:p>
          <a:p>
            <a:pPr marL="342900" indent="-342900">
              <a:spcAft>
                <a:spcPts val="500"/>
              </a:spcAft>
              <a:buSzPct val="100000"/>
              <a:buChar char="•"/>
            </a:pPr>
            <a:r>
              <a:rPr lang="en-US" sz="1400" dirty="0">
                <a:solidFill>
                  <a:srgbClr val="101828"/>
                </a:solidFill>
              </a:rPr>
              <a:t>발주기관 지불 의사와 현재 방식의 공백</a:t>
            </a:r>
            <a:endParaRPr lang="en-US" sz="1400" dirty="0"/>
          </a:p>
        </p:txBody>
      </p:sp>
      <p:sp>
        <p:nvSpPr>
          <p:cNvPr id="8" name="rule"/>
          <p:cNvSpPr/>
          <p:nvPr/>
        </p:nvSpPr>
        <p:spPr>
          <a:xfrm>
            <a:off x="548640" y="4709160"/>
            <a:ext cx="11094415" cy="0"/>
          </a:xfrm>
          <a:prstGeom prst="line">
            <a:avLst/>
          </a:prstGeom>
          <a:noFill/>
          <a:ln w="12700">
            <a:solidFill>
              <a:srgbClr val="DCE1E8"/>
            </a:solidFill>
            <a:prstDash val="solid"/>
          </a:ln>
        </p:spPr>
        <p:txBody>
          <a:bodyPr/>
          <a:lstStyle/>
          <a:p>
            <a:endParaRPr lang="ko-KR" altLang="en-US"/>
          </a:p>
        </p:txBody>
      </p:sp>
      <p:sp>
        <p:nvSpPr>
          <p:cNvPr id="9" name="Text 6"/>
          <p:cNvSpPr txBox="1"/>
          <p:nvPr/>
        </p:nvSpPr>
        <p:spPr>
          <a:xfrm>
            <a:off x="54864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[가설]</a:t>
            </a:r>
            <a:endParaRPr lang="en-US" sz="1400" dirty="0"/>
          </a:p>
        </p:txBody>
      </p:sp>
      <p:sp>
        <p:nvSpPr>
          <p:cNvPr id="10" name="Text 7"/>
          <p:cNvSpPr txBox="1"/>
          <p:nvPr/>
        </p:nvSpPr>
        <p:spPr>
          <a:xfrm>
            <a:off x="54864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사업과 운영상 가정, 인터뷰와 파일럿으로 검증</a:t>
            </a:r>
            <a:endParaRPr lang="en-US" sz="1300" dirty="0"/>
          </a:p>
        </p:txBody>
      </p:sp>
      <p:sp>
        <p:nvSpPr>
          <p:cNvPr id="11" name="Text 8"/>
          <p:cNvSpPr txBox="1"/>
          <p:nvPr/>
        </p:nvSpPr>
        <p:spPr>
          <a:xfrm>
            <a:off x="338328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[실증 필요]</a:t>
            </a:r>
            <a:endParaRPr lang="en-US" sz="1400" dirty="0"/>
          </a:p>
        </p:txBody>
      </p:sp>
      <p:sp>
        <p:nvSpPr>
          <p:cNvPr id="12" name="Text 9"/>
          <p:cNvSpPr txBox="1"/>
          <p:nvPr/>
        </p:nvSpPr>
        <p:spPr>
          <a:xfrm>
            <a:off x="338328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차량과 장비 시험으로 확인</a:t>
            </a:r>
            <a:endParaRPr lang="en-US" sz="1300" dirty="0"/>
          </a:p>
        </p:txBody>
      </p:sp>
      <p:sp>
        <p:nvSpPr>
          <p:cNvPr id="13" name="Text 10"/>
          <p:cNvSpPr txBox="1"/>
          <p:nvPr/>
        </p:nvSpPr>
        <p:spPr>
          <a:xfrm>
            <a:off x="621792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[추가 확인 필요]</a:t>
            </a:r>
            <a:endParaRPr lang="en-US" sz="1400" dirty="0"/>
          </a:p>
        </p:txBody>
      </p:sp>
      <p:sp>
        <p:nvSpPr>
          <p:cNvPr id="14" name="Text 11"/>
          <p:cNvSpPr txBox="1"/>
          <p:nvPr/>
        </p:nvSpPr>
        <p:spPr>
          <a:xfrm>
            <a:off x="621792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공식 자료 확인 전</a:t>
            </a:r>
            <a:endParaRPr lang="en-US" sz="1300" dirty="0"/>
          </a:p>
        </p:txBody>
      </p:sp>
      <p:sp>
        <p:nvSpPr>
          <p:cNvPr id="15" name="Text 12"/>
          <p:cNvSpPr txBox="1"/>
          <p:nvPr/>
        </p:nvSpPr>
        <p:spPr>
          <a:xfrm>
            <a:off x="905256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[예시]</a:t>
            </a:r>
            <a:endParaRPr lang="en-US" sz="1400" dirty="0"/>
          </a:p>
        </p:txBody>
      </p:sp>
      <p:sp>
        <p:nvSpPr>
          <p:cNvPr id="16" name="Text 13"/>
          <p:cNvSpPr txBox="1"/>
          <p:nvPr/>
        </p:nvSpPr>
        <p:spPr>
          <a:xfrm>
            <a:off x="905256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화면과 수치 설명용</a:t>
            </a:r>
            <a:endParaRPr lang="en-US" sz="1300" dirty="0"/>
          </a:p>
        </p:txBody>
      </p:sp>
      <p:sp>
        <p:nvSpPr>
          <p:cNvPr id="17" name="Text 14"/>
          <p:cNvSpPr txBox="1"/>
          <p:nvPr/>
        </p:nvSpPr>
        <p:spPr>
          <a:xfrm>
            <a:off x="548640" y="5852160"/>
            <a:ext cx="11094415" cy="347472"/>
          </a:xfrm>
          <a:prstGeom prst="rect">
            <a:avLst/>
          </a:prstGeom>
          <a:noFill/>
          <a:ln/>
        </p:spPr>
        <p:txBody>
          <a:bodyPr wrap="square" lIns="0" tIns="0" rIns="0" bIns="0" rtlCol="0" anchor="ctr"/>
          <a:lstStyle/>
          <a:p>
            <a:pPr marL="0" indent="0">
              <a:buNone/>
            </a:pPr>
            <a:r>
              <a:rPr lang="en-US" sz="1300" b="1" dirty="0">
                <a:solidFill>
                  <a:srgbClr val="101828"/>
                </a:solidFill>
              </a:rPr>
              <a:t>작성 기준일 2026.10.10. 링크 전체는 발표자 노트에 있습니다.</a:t>
            </a:r>
            <a:endParaRPr lang="en-US" sz="1300" dirty="0"/>
          </a:p>
        </p:txBody>
      </p:sp>
      <p:sp>
        <p:nvSpPr>
          <p:cNvPr id="18"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공식 자료를 우선하고, 언론 보도는 공식 발표를 인용한 경우만 썼습니다. 값이 다르면 공식 수치를 채택했습니다(서울시 2026 탐사 16,423km).</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GroundWatch">
  <a:themeElements>
    <a:clrScheme name="GroundWatch">
      <a:dk1>
        <a:srgbClr val="101828"/>
      </a:dk1>
      <a:lt1>
        <a:srgbClr val="FFFFFF"/>
      </a:lt1>
      <a:dk2>
        <a:srgbClr val="0B1F3A"/>
      </a:dk2>
      <a:lt2>
        <a:srgbClr val="F2F4F7"/>
      </a:lt2>
      <a:accent1>
        <a:srgbClr val="0B1F3A"/>
      </a:accent1>
      <a:accent2>
        <a:srgbClr val="F5B400"/>
      </a:accent2>
      <a:accent3>
        <a:srgbClr val="D93025"/>
      </a:accent3>
      <a:accent4>
        <a:srgbClr val="2F9E44"/>
      </a:accent4>
      <a:accent5>
        <a:srgbClr val="1C64B5"/>
      </a:accent5>
      <a:accent6>
        <a:srgbClr val="5B6573"/>
      </a:accent6>
      <a:hlink>
        <a:srgbClr val="1C64B5"/>
      </a:hlink>
      <a:folHlink>
        <a:srgbClr val="7048E8"/>
      </a:folHlink>
    </a:clrScheme>
    <a:fontScheme name="GroundWatch">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5656</Words>
  <Application>Microsoft Macintosh PowerPoint</Application>
  <PresentationFormat>와이드스크린</PresentationFormat>
  <Paragraphs>532</Paragraphs>
  <Slides>27</Slides>
  <Notes>27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Pretendard</vt:lpstr>
      <vt:lpstr>Arial</vt:lpstr>
      <vt:lpstr>GroundWatch</vt:lpstr>
      <vt:lpstr>PowerPoint 프레젠테이션</vt:lpstr>
      <vt:lpstr>붕괴는 갑자기 보였지만, 원인은 지하에서 쌓이고 있었다</vt:lpstr>
      <vt:lpstr>서울시는 이미 GPR로 도로 아래를 탐사하고 있다</vt:lpstr>
      <vt:lpstr>탐사와 탐사 사이, 지하의 변화는 기록되지 않는다</vt:lpstr>
      <vt:lpstr>같은 길을 반복해서 보고, 달라진 곳만 다시 확인한다</vt:lpstr>
      <vt:lpstr>PV5 GroundWatch</vt:lpstr>
      <vt:lpstr>교통량이 적은 시간에 도로 아래 변화를 기록합니다</vt:lpstr>
      <vt:lpstr>PV5는 센서 운반차가 아니라 이동형 탐사·분석·검증 플랫폼</vt:lpstr>
      <vt:lpstr>실제로 달린 도로만, 위치·깊이·시간으로 기록합니다</vt:lpstr>
      <vt:lpstr>AI는 공동을 확정하지 않고, 달라진 곳의 검토 순서를 정합니다</vt:lpstr>
      <vt:lpstr>전문가가 승인한 지점만 다음 순찰의 재확인 업무가 됩니다</vt:lpstr>
      <vt:lpstr>PV5의 디스플레이가 새벽 순찰의 업무 화면이 된다</vt:lpstr>
      <vt:lpstr>차량 앱과 엣지 게이트웨이가 AR 글래스에 작업정보를 전달한다</vt:lpstr>
      <vt:lpstr>작업자는 고정된 기준점을 인식해 지하 데이터의 위치를 맞춘다</vt:lpstr>
      <vt:lpstr>AR이 표시한 검색 범위를 따라 양손으로 수동 GPR을 조작한다</vt:lpstr>
      <vt:lpstr>넓게 선별하고, 좁게 다른 방향으로 다시 본다</vt:lpstr>
      <vt:lpstr>확인 결과는 지도와 AI로 돌아가 다음 판단을 더 정확하게 만든다</vt:lpstr>
      <vt:lpstr>PV5 GroundWatch</vt:lpstr>
      <vt:lpstr>위험한 곳은 더 자주, 비가 온 뒤에는 바로</vt:lpstr>
      <vt:lpstr>여러 대의 PV5가 권역을 나눠 같은 기준으로 순찰한다</vt:lpstr>
      <vt:lpstr>GPR 변화 신호를 도시의 다른 지하 데이터와 겹쳐 본다</vt:lpstr>
      <vt:lpstr>시간이 쌓이면, 도로 아래가 변하는 모습이 보인다</vt:lpstr>
      <vt:lpstr>PowerPoint 프레젠테이션</vt:lpstr>
      <vt:lpstr>GPR은 만능이 아니다. 깊이, 토질, 금속의 한계를 먼저 밝힌다</vt:lpstr>
      <vt:lpstr>새벽 도로 작업은 사람이 먼저 안전해야 한다</vt:lpstr>
      <vt:lpstr>탐사 용역에서 시작해 연간 관제 계약과 패키지로 넓힌다</vt:lpstr>
      <vt:lpstr>확인된 사실과 검증할 가설을 나눠 관리한다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PptxGenJS Presentation</dc:subject>
  <dc:creator>한 명이라도 살릴 수 있다면</dc:creator>
  <cp:lastModifiedBy>서호균</cp:lastModifiedBy>
  <cp:revision>1</cp:revision>
  <dcterms:created xsi:type="dcterms:W3CDTF">2026-10-10T13:37:44Z</dcterms:created>
  <dcterms:modified xsi:type="dcterms:W3CDTF">2026-10-10T13:42:35Z</dcterms:modified>
</cp:coreProperties>
</file>